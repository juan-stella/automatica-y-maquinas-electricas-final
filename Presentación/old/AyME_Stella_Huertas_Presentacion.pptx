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301" r:id="rId9"/>
    <p:sldId id="263" r:id="rId10"/>
    <p:sldId id="302" r:id="rId11"/>
    <p:sldId id="264" r:id="rId12"/>
    <p:sldId id="265" r:id="rId13"/>
    <p:sldId id="303" r:id="rId14"/>
    <p:sldId id="266" r:id="rId15"/>
    <p:sldId id="267" r:id="rId16"/>
    <p:sldId id="304" r:id="rId17"/>
    <p:sldId id="305" r:id="rId18"/>
    <p:sldId id="268" r:id="rId19"/>
    <p:sldId id="269" r:id="rId20"/>
    <p:sldId id="306" r:id="rId21"/>
    <p:sldId id="307" r:id="rId22"/>
    <p:sldId id="270" r:id="rId23"/>
    <p:sldId id="308" r:id="rId24"/>
    <p:sldId id="309" r:id="rId25"/>
    <p:sldId id="271" r:id="rId26"/>
    <p:sldId id="311" r:id="rId27"/>
    <p:sldId id="310" r:id="rId28"/>
    <p:sldId id="314" r:id="rId29"/>
    <p:sldId id="312"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302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72914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87574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24530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811680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68498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343821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027809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966301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062170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40298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250569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692257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0300157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1737360"/>
          </a:xfrm>
          <a:prstGeom prst="rect">
            <a:avLst/>
          </a:prstGeom>
          <a:solidFill>
            <a:srgbClr val="1A386B"/>
          </a:solidFill>
          <a:ln w="12700">
            <a:solidFill>
              <a:srgbClr val="1A386B"/>
            </a:solidFill>
            <a:prstDash val="solid"/>
          </a:ln>
        </p:spPr>
      </p:sp>
      <p:sp>
        <p:nvSpPr>
          <p:cNvPr id="3" name="Shape 1"/>
          <p:cNvSpPr/>
          <p:nvPr/>
        </p:nvSpPr>
        <p:spPr>
          <a:xfrm>
            <a:off x="0" y="1737360"/>
            <a:ext cx="12161520" cy="73152"/>
          </a:xfrm>
          <a:prstGeom prst="rect">
            <a:avLst/>
          </a:prstGeom>
          <a:solidFill>
            <a:srgbClr val="C0392B"/>
          </a:solidFill>
          <a:ln w="12700">
            <a:solidFill>
              <a:srgbClr val="C0392B"/>
            </a:solidFill>
            <a:prstDash val="solid"/>
          </a:ln>
        </p:spPr>
      </p:sp>
      <p:sp>
        <p:nvSpPr>
          <p:cNvPr id="4" name="Shape 2"/>
          <p:cNvSpPr/>
          <p:nvPr/>
        </p:nvSpPr>
        <p:spPr>
          <a:xfrm>
            <a:off x="0" y="5852160"/>
            <a:ext cx="1216152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9" name="Text 7"/>
          <p:cNvSpPr/>
          <p:nvPr/>
        </p:nvSpPr>
        <p:spPr>
          <a:xfrm>
            <a:off x="914400" y="3931920"/>
            <a:ext cx="10332720" cy="548640"/>
          </a:xfrm>
          <a:prstGeom prst="rect">
            <a:avLst/>
          </a:prstGeom>
          <a:noFill/>
          <a:ln/>
        </p:spPr>
        <p:txBody>
          <a:bodyPr wrap="square" rtlCol="0" anchor="ctr"/>
          <a:lstStyle/>
          <a:p>
            <a:pPr marL="0" indent="0" algn="ctr">
              <a:buNone/>
            </a:pPr>
            <a:r>
              <a:rPr lang="en-US" sz="1500" i="1" dirty="0">
                <a:solidFill>
                  <a:srgbClr val="555555"/>
                </a:solidFill>
                <a:latin typeface="Calibri" pitchFamily="34" charset="0"/>
                <a:ea typeface="Calibri" pitchFamily="34" charset="-122"/>
                <a:cs typeface="Calibri" pitchFamily="34" charset="-120"/>
              </a:rPr>
              <a:t>Control vectorial de movimiento — Manipulador robótico de 1 GDL</a:t>
            </a:r>
            <a:endParaRPr lang="en-US" sz="1500" dirty="0"/>
          </a:p>
        </p:txBody>
      </p:sp>
      <p:sp>
        <p:nvSpPr>
          <p:cNvPr id="10" name="Text 8"/>
          <p:cNvSpPr/>
          <p:nvPr/>
        </p:nvSpPr>
        <p:spPr>
          <a:xfrm>
            <a:off x="1371600" y="461772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Leg. 12552        Juan Francisco Huertas  —  Leg.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r>
              <a:rPr lang="en-US" sz="1300" dirty="0">
                <a:solidFill>
                  <a:srgbClr val="B0CBEE"/>
                </a:solidFill>
                <a:latin typeface="Calibri" pitchFamily="34" charset="0"/>
                <a:ea typeface="Calibri" pitchFamily="34" charset="-122"/>
                <a:cs typeface="Calibri" pitchFamily="34" charset="-120"/>
              </a:rPr>
              <a:t>9 de Abril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 / 67</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68680" y="8321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0" name="Text 8"/>
          <p:cNvSpPr/>
          <p:nvPr/>
        </p:nvSpPr>
        <p:spPr>
          <a:xfrm>
            <a:off x="868680" y="1179576"/>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PMSM, caja reductora, carga mecánica, inversor, sensores</a:t>
            </a:r>
            <a:endParaRPr lang="en-US" sz="95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68680" y="153619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4" name="Text 12"/>
          <p:cNvSpPr/>
          <p:nvPr/>
        </p:nvSpPr>
        <p:spPr>
          <a:xfrm>
            <a:off x="868680" y="1883664"/>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Carga + transmisión + motor → modelo equivalente referido al eje motor</a:t>
            </a:r>
            <a:endParaRPr lang="en-US" sz="95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68680" y="224028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8" name="Text 16"/>
          <p:cNvSpPr/>
          <p:nvPr/>
        </p:nvSpPr>
        <p:spPr>
          <a:xfrm>
            <a:off x="868680" y="2587752"/>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Transformada de Park, ecuaciones en coordenadas qd0r</a:t>
            </a:r>
            <a:endParaRPr lang="en-US" sz="95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68680" y="294436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2" name="Text 20"/>
          <p:cNvSpPr/>
          <p:nvPr/>
        </p:nvSpPr>
        <p:spPr>
          <a:xfrm>
            <a:off x="868680" y="3291840"/>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Pérdidas Joule, balance energético, ecuación diferencial de Ts</a:t>
            </a:r>
            <a:endParaRPr lang="en-US" sz="95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68680" y="3648456"/>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6" name="Text 24"/>
          <p:cNvSpPr/>
          <p:nvPr/>
        </p:nvSpPr>
        <p:spPr>
          <a:xfrm>
            <a:off x="868680" y="3995928"/>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Linealización, restricciones, ley de control mínima</a:t>
            </a:r>
            <a:endParaRPr lang="en-US" sz="95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68680" y="4352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0" name="Text 28"/>
          <p:cNvSpPr/>
          <p:nvPr/>
        </p:nvSpPr>
        <p:spPr>
          <a:xfrm>
            <a:off x="868680" y="4700016"/>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Estabilidad, observabilidad, controlabilidad, FdT</a:t>
            </a:r>
            <a:endParaRPr lang="en-US" sz="95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68680" y="505663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4" name="Text 32"/>
          <p:cNvSpPr/>
          <p:nvPr/>
        </p:nvSpPr>
        <p:spPr>
          <a:xfrm>
            <a:off x="868680" y="5404104"/>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Simulación temporal, torque-velocidad, 4 cuadrantes</a:t>
            </a:r>
            <a:endParaRPr lang="en-US" sz="95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321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8" name="Text 36"/>
          <p:cNvSpPr/>
          <p:nvPr/>
        </p:nvSpPr>
        <p:spPr>
          <a:xfrm>
            <a:off x="6858000" y="1179576"/>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Desacople, lazos PI de corriente, consigna de torque</a:t>
            </a:r>
            <a:endParaRPr lang="en-US" sz="95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3619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2" name="Text 40"/>
          <p:cNvSpPr/>
          <p:nvPr/>
        </p:nvSpPr>
        <p:spPr>
          <a:xfrm>
            <a:off x="6858000" y="1883664"/>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Diseño por asignación de polos, set-point trapezoidal</a:t>
            </a:r>
            <a:endParaRPr lang="en-US" sz="95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24028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6" name="Text 44"/>
          <p:cNvSpPr/>
          <p:nvPr/>
        </p:nvSpPr>
        <p:spPr>
          <a:xfrm>
            <a:off x="6858000" y="2587752"/>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Seguimiento de consigna, rechazo a perturbaciones</a:t>
            </a:r>
            <a:endParaRPr lang="en-US" sz="95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294436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0" name="Text 48"/>
          <p:cNvSpPr/>
          <p:nvPr/>
        </p:nvSpPr>
        <p:spPr>
          <a:xfrm>
            <a:off x="6858000" y="3291840"/>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Obs. integral, análisis térmico, sensores y modulador no ideales</a:t>
            </a:r>
            <a:endParaRPr lang="en-US" sz="95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648456"/>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Diseño final y discretización (Tustin)</a:t>
            </a:r>
            <a:endParaRPr lang="en-US" sz="1200" dirty="0"/>
          </a:p>
        </p:txBody>
      </p:sp>
      <p:sp>
        <p:nvSpPr>
          <p:cNvPr id="54" name="Text 52"/>
          <p:cNvSpPr/>
          <p:nvPr/>
        </p:nvSpPr>
        <p:spPr>
          <a:xfrm>
            <a:off x="6858000" y="3995928"/>
            <a:ext cx="5394960" cy="27432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Período de muestreo, ecuaciones en diferencias, validación</a:t>
            </a:r>
            <a:endParaRPr lang="en-US" sz="95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352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Conclusiones</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PMSM · Caja reductora · Carga mecánica · Inversor · Sensores</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3 / 67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 / 67</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365760" y="242316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p:sp>
        <p:nvSpPr>
          <p:cNvPr id="10" name="Text 8"/>
          <p:cNvSpPr/>
          <p:nvPr/>
        </p:nvSpPr>
        <p:spPr>
          <a:xfrm>
            <a:off x="365760" y="2816352"/>
            <a:ext cx="5303520"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ml ∈ [0, 1.5] kg</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Posición q(t) ≡ θl(t) medida desde vertical, positivo en sentido horario</a:t>
            </a:r>
            <a:endParaRPr lang="en-US" sz="1300" dirty="0"/>
          </a:p>
        </p:txBody>
      </p:sp>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242316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p:sp>
        <p:nvSpPr>
          <p:cNvPr id="14" name="Text 12"/>
          <p:cNvSpPr/>
          <p:nvPr/>
        </p:nvSpPr>
        <p:spPr>
          <a:xfrm>
            <a:off x="6400800" y="2816352"/>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Modelo promediado: modulador ideal de tensión trifásica vectorial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Parámetros ajustables: módulo Vsl(t) y frecuencia ωe(t)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Vsl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fe ∈ [-330, +330] Hz (determina sentido de giro)</a:t>
            </a:r>
            <a:endParaRPr lang="en-US" sz="1300" dirty="0"/>
          </a:p>
        </p:txBody>
      </p:sp>
      <p:sp>
        <p:nvSpPr>
          <p:cNvPr id="15" name="Text 13"/>
          <p:cNvSpPr/>
          <p:nvPr/>
        </p:nvSpPr>
        <p:spPr>
          <a:xfrm>
            <a:off x="6400800" y="4800600"/>
            <a:ext cx="5394960" cy="4572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Sensores (inicialmente ideales): posición θm, corrientes iabc, temperatura 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5 / 67</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Pp</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λ'm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Lq</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Ld</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Lls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αcu</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Jm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Is,nom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Is,max</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Vsl,nom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6 / 67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7 / 67</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3"/>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4"/>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383280"/>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749040"/>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0.1±0.03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=1.0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=9.80665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=0.25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=0.0208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=0.50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0⋯1.5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=0.0833+</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0⋯0.75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0.25+</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0⋯0.75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0±5.0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749040"/>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8 / 67</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4"/>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=120.0:1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=45.0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5"/>
                <a:stretch>
                  <a:fillRect l="-222" t="-1563"/>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207008"/>
            <a:ext cx="5486400" cy="41148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Rotor referido al estator — parámetros concentrados:</a:t>
            </a:r>
            <a:endParaRPr lang="en-US" sz="13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7" name="Text 15"/>
              <p:cNvSpPr/>
              <p:nvPr/>
            </p:nvSpPr>
            <p:spPr>
              <a:xfrm>
                <a:off x="6583680" y="1691640"/>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p:sp>
            <p:nvSpPr>
              <p:cNvPr id="17" name="Text 15"/>
              <p:cNvSpPr>
                <a:spLocks noRot="1" noChangeAspect="1" noMove="1" noResize="1" noEditPoints="1" noAdjustHandles="1" noChangeArrowheads="1" noChangeShapeType="1" noTextEdit="1"/>
              </p:cNvSpPr>
              <p:nvPr/>
            </p:nvSpPr>
            <p:spPr>
              <a:xfrm>
                <a:off x="6583680" y="1691640"/>
                <a:ext cx="5120640" cy="530352"/>
              </a:xfrm>
              <a:prstGeom prst="rect">
                <a:avLst/>
              </a:prstGeom>
              <a:blipFill>
                <a:blip r:embed="rId6"/>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7"/>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≈15∙</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691.15 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8"/>
                <a:stretch>
                  <a:fillRect l="-222" b="-7080"/>
                </a:stretch>
              </a:blipFill>
              <a:ln/>
            </p:spPr>
            <p:txBody>
              <a:bodyPr/>
              <a:lstStyle/>
              <a:p>
                <a:r>
                  <a:rPr lang="es-AR">
                    <a:noFill/>
                  </a:rPr>
                  <a:t> </a:t>
                </a:r>
              </a:p>
            </p:txBody>
          </p:sp>
        </mc:Fallback>
      </mc:AlternateContent>
      <p:sp>
        <p:nvSpPr>
          <p:cNvPr id="21" name="Text 19"/>
          <p:cNvSpPr/>
          <p:nvPr/>
        </p:nvSpPr>
        <p:spPr>
          <a:xfrm>
            <a:off x="365760" y="3794760"/>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Modelo mecánico equivalente completo (referido al eje del motor):</a:t>
            </a:r>
            <a:endParaRPr lang="en-US" sz="1400" dirty="0"/>
          </a:p>
        </p:txBody>
      </p:sp>
      <p:sp>
        <p:nvSpPr>
          <p:cNvPr id="22" name="Shape 20"/>
          <p:cNvSpPr/>
          <p:nvPr/>
        </p:nvSpPr>
        <p:spPr>
          <a:xfrm>
            <a:off x="457200" y="4279392"/>
            <a:ext cx="11247120" cy="1435608"/>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3" name="Text 21"/>
              <p:cNvSpPr/>
              <p:nvPr/>
            </p:nvSpPr>
            <p:spPr>
              <a:xfrm>
                <a:off x="239086" y="4679295"/>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p:sp>
            <p:nvSpPr>
              <p:cNvPr id="23" name="Text 21"/>
              <p:cNvSpPr>
                <a:spLocks noRot="1" noChangeAspect="1" noMove="1" noResize="1" noEditPoints="1" noAdjustHandles="1" noChangeArrowheads="1" noChangeShapeType="1" noTextEdit="1"/>
              </p:cNvSpPr>
              <p:nvPr/>
            </p:nvSpPr>
            <p:spPr>
              <a:xfrm>
                <a:off x="239086" y="4679295"/>
                <a:ext cx="5178523" cy="594360"/>
              </a:xfrm>
              <a:prstGeom prst="rect">
                <a:avLst/>
              </a:prstGeom>
              <a:blipFill>
                <a:blip r:embed="rId9"/>
                <a:stretch>
                  <a:fillRect t="-37113" b="-44330"/>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6" name="Text 21">
                <a:extLst>
                  <a:ext uri="{FF2B5EF4-FFF2-40B4-BE49-F238E27FC236}">
                    <a16:creationId xmlns:a16="http://schemas.microsoft.com/office/drawing/2014/main" id="{3E8A8B98-568D-4FF1-9C7B-B91B6DBA189B}"/>
                  </a:ext>
                </a:extLst>
              </p:cNvPr>
              <p:cNvSpPr/>
              <p:nvPr/>
            </p:nvSpPr>
            <p:spPr>
              <a:xfrm>
                <a:off x="5417609" y="4658868"/>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eqArr>
                            <m:eqArrPr>
                              <m:ctrlPr>
                                <a:rPr lang="es-AR" sz="1050" i="1">
                                  <a:effectLst/>
                                  <a:latin typeface="Cambria Math" panose="02040503050406030204" pitchFamily="18" charset="0"/>
                                  <a:ea typeface="Times New Roman" panose="02020603050405020304" pitchFamily="18" charset="0"/>
                                </a:rPr>
                              </m:ctrlPr>
                            </m:eqArrPr>
                            <m:e>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050" i="1">
                                                    <a:effectLst/>
                                                    <a:latin typeface="Cambria Math" panose="02040503050406030204" pitchFamily="18" charset="0"/>
                                                    <a:ea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050" i="1">
                                                    <a:effectLst/>
                                                    <a:latin typeface="Cambria Math" panose="02040503050406030204" pitchFamily="18" charset="0"/>
                                                    <a:ea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050" i="1">
                                          <a:effectLst/>
                                          <a:latin typeface="Cambria Math" panose="02040503050406030204" pitchFamily="18" charset="0"/>
                                          <a:ea typeface="Times New Roman" panose="02020603050405020304" pitchFamily="18" charset="0"/>
                                        </a:rPr>
                                      </m:ctrlPr>
                                    </m:mPr>
                                    <m:m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050" i="1">
                                                <a:effectLst/>
                                                <a:latin typeface="Cambria Math" panose="02040503050406030204" pitchFamily="18" charset="0"/>
                                                <a:ea typeface="Times New Roman" panose="02020603050405020304" pitchFamily="18" charset="0"/>
                                              </a:rPr>
                                            </m:ctrlPr>
                                          </m:boxPr>
                                          <m:e>
                                            <m:argPr>
                                              <m:argSz m:val="-1"/>
                                            </m:argPr>
                                            <m:f>
                                              <m:fPr>
                                                <m:ctrlPr>
                                                  <a:rPr lang="es-AR" sz="1050" i="1">
                                                    <a:effectLst/>
                                                    <a:latin typeface="Cambria Math" panose="02040503050406030204" pitchFamily="18" charset="0"/>
                                                    <a:ea typeface="Times New Roman" panose="02020603050405020304" pitchFamily="18" charset="0"/>
                                                  </a:rPr>
                                                </m:ctrlPr>
                                              </m:fPr>
                                              <m:num>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050" i="1">
                                                <a:effectLst/>
                                                <a:latin typeface="Cambria Math" panose="02040503050406030204" pitchFamily="18" charset="0"/>
                                                <a:ea typeface="Times New Roman" panose="02020603050405020304" pitchFamily="18" charset="0"/>
                                              </a:rPr>
                                            </m:ctrlPr>
                                          </m:boxPr>
                                          <m:e>
                                            <m:argPr>
                                              <m:argSz m:val="-1"/>
                                            </m:argP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050" i="1">
                                                <a:effectLst/>
                                                <a:latin typeface="Cambria Math" panose="02040503050406030204" pitchFamily="18" charset="0"/>
                                                <a:ea typeface="Times New Roman" panose="02020603050405020304" pitchFamily="18" charset="0"/>
                                              </a:rPr>
                                            </m:ctrlPr>
                                          </m:boxPr>
                                          <m:e>
                                            <m:argPr>
                                              <m:argSz m:val="-1"/>
                                            </m:argP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050" i="1">
                                          <a:effectLst/>
                                          <a:latin typeface="Cambria Math" panose="02040503050406030204" pitchFamily="18" charset="0"/>
                                          <a:ea typeface="Times New Roman" panose="02020603050405020304" pitchFamily="18" charset="0"/>
                                        </a:rPr>
                                      </m:ctrlPr>
                                    </m:mPr>
                                    <m:m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100" dirty="0"/>
              </a:p>
            </p:txBody>
          </p:sp>
        </mc:Choice>
        <mc:Fallback>
          <p:sp>
            <p:nvSpPr>
              <p:cNvPr id="26" name="Text 21">
                <a:extLst>
                  <a:ext uri="{FF2B5EF4-FFF2-40B4-BE49-F238E27FC236}">
                    <a16:creationId xmlns:a16="http://schemas.microsoft.com/office/drawing/2014/main" id="{3E8A8B98-568D-4FF1-9C7B-B91B6DBA189B}"/>
                  </a:ext>
                </a:extLst>
              </p:cNvPr>
              <p:cNvSpPr>
                <a:spLocks noRot="1" noChangeAspect="1" noMove="1" noResize="1" noEditPoints="1" noAdjustHandles="1" noChangeArrowheads="1" noChangeShapeType="1" noTextEdit="1"/>
              </p:cNvSpPr>
              <p:nvPr/>
            </p:nvSpPr>
            <p:spPr>
              <a:xfrm>
                <a:off x="5417609" y="4658868"/>
                <a:ext cx="5178523" cy="594360"/>
              </a:xfrm>
              <a:prstGeom prst="rect">
                <a:avLst/>
              </a:prstGeom>
              <a:blipFill>
                <a:blip r:embed="rId10"/>
                <a:stretch>
                  <a:fillRect t="-30612" b="-33673"/>
                </a:stretch>
              </a:blipFill>
              <a:ln/>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8 / 67</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36" name="Imagen 35">
            <a:extLst>
              <a:ext uri="{FF2B5EF4-FFF2-40B4-BE49-F238E27FC236}">
                <a16:creationId xmlns:a16="http://schemas.microsoft.com/office/drawing/2014/main" id="{0310985F-59F1-408A-8ED6-D492666590C2}"/>
              </a:ext>
            </a:extLst>
          </p:cNvPr>
          <p:cNvPicPr>
            <a:picLocks noChangeAspect="1"/>
          </p:cNvPicPr>
          <p:nvPr/>
        </p:nvPicPr>
        <p:blipFill>
          <a:blip r:embed="rId3"/>
          <a:stretch>
            <a:fillRect/>
          </a:stretch>
        </p:blipFill>
        <p:spPr>
          <a:xfrm>
            <a:off x="883425" y="1557547"/>
            <a:ext cx="10184450" cy="35890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Transformada de Park</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9 / 67</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365760" y="2000334"/>
            <a:ext cx="11430000" cy="7315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La Transformada de Park convierte el sistema trifásico estacionario abc a un sistema rotante qd0r. Las señales sinusoidales en abc se transforman en variables aproximadamente constantes en régimen permanente, facilitando el diseño del control.</a:t>
            </a:r>
            <a:endParaRPr lang="en-US" sz="1300" dirty="0"/>
          </a:p>
        </p:txBody>
      </p:sp>
      <p:sp>
        <p:nvSpPr>
          <p:cNvPr id="12" name="Text 10"/>
          <p:cNvSpPr/>
          <p:nvPr/>
        </p:nvSpPr>
        <p:spPr>
          <a:xfrm>
            <a:off x="472440" y="5216652"/>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transformada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4"/>
          <a:stretch>
            <a:fillRect/>
          </a:stretch>
        </p:blipFill>
        <p:spPr>
          <a:xfrm>
            <a:off x="3410992" y="2641945"/>
            <a:ext cx="5065215" cy="2455862"/>
          </a:xfrm>
          <a:prstGeom prst="rect">
            <a:avLst/>
          </a:prstGeom>
        </p:spPr>
      </p:pic>
    </p:spTree>
    <p:extLst>
      <p:ext uri="{BB962C8B-B14F-4D97-AF65-F5344CB8AC3E}">
        <p14:creationId xmlns:p14="http://schemas.microsoft.com/office/powerpoint/2010/main" val="222957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Transformada de Park</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9 / 67</a:t>
            </a:r>
            <a:endParaRPr lang="en-US" sz="900" dirty="0"/>
          </a:p>
        </p:txBody>
      </p:sp>
      <p:sp>
        <p:nvSpPr>
          <p:cNvPr id="13" name="Text 11"/>
          <p:cNvSpPr/>
          <p:nvPr/>
        </p:nvSpPr>
        <p:spPr>
          <a:xfrm>
            <a:off x="365760" y="774467"/>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79465"/>
            <a:ext cx="11430000" cy="1607901"/>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5" name="Text 13"/>
              <p:cNvSpPr/>
              <p:nvPr/>
            </p:nvSpPr>
            <p:spPr>
              <a:xfrm>
                <a:off x="-151002" y="1704134"/>
                <a:ext cx="7449424"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05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p:sp>
            <p:nvSpPr>
              <p:cNvPr id="15" name="Text 13"/>
              <p:cNvSpPr>
                <a:spLocks noRot="1" noChangeAspect="1" noMove="1" noResize="1" noEditPoints="1" noAdjustHandles="1" noChangeArrowheads="1" noChangeShapeType="1" noTextEdit="1"/>
              </p:cNvSpPr>
              <p:nvPr/>
            </p:nvSpPr>
            <p:spPr>
              <a:xfrm>
                <a:off x="-151002" y="1704134"/>
                <a:ext cx="7449424" cy="548640"/>
              </a:xfrm>
              <a:prstGeom prst="rect">
                <a:avLst/>
              </a:prstGeom>
              <a:blipFill>
                <a:blip r:embed="rId3"/>
                <a:stretch>
                  <a:fillRect t="-67778" b="-68889"/>
                </a:stretch>
              </a:blipFill>
              <a:ln/>
            </p:spPr>
            <p:txBody>
              <a:bodyPr/>
              <a:lstStyle/>
              <a:p>
                <a:r>
                  <a:rPr lang="es-AR">
                    <a:noFill/>
                  </a:rPr>
                  <a:t> </a:t>
                </a:r>
              </a:p>
            </p:txBody>
          </p:sp>
        </mc:Fallback>
      </mc:AlternateContent>
      <p:sp>
        <p:nvSpPr>
          <p:cNvPr id="16" name="Shape 14"/>
          <p:cNvSpPr/>
          <p:nvPr/>
        </p:nvSpPr>
        <p:spPr>
          <a:xfrm>
            <a:off x="381000" y="3545033"/>
            <a:ext cx="11430000" cy="1781976"/>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7" name="Text 15"/>
              <p:cNvSpPr/>
              <p:nvPr/>
            </p:nvSpPr>
            <p:spPr>
              <a:xfrm>
                <a:off x="-234891" y="4178697"/>
                <a:ext cx="8148227"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p:sp>
            <p:nvSpPr>
              <p:cNvPr id="17" name="Text 15"/>
              <p:cNvSpPr>
                <a:spLocks noRot="1" noChangeAspect="1" noMove="1" noResize="1" noEditPoints="1" noAdjustHandles="1" noChangeArrowheads="1" noChangeShapeType="1" noTextEdit="1"/>
              </p:cNvSpPr>
              <p:nvPr/>
            </p:nvSpPr>
            <p:spPr>
              <a:xfrm>
                <a:off x="-234891" y="4178697"/>
                <a:ext cx="8148227" cy="548640"/>
              </a:xfrm>
              <a:prstGeom prst="rect">
                <a:avLst/>
              </a:prstGeom>
              <a:blipFill>
                <a:blip r:embed="rId4"/>
                <a:stretch>
                  <a:fillRect t="-78889" b="-8000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879952"/>
                <a:ext cx="11430000" cy="457200"/>
              </a:xfrm>
              <a:prstGeom prst="rect">
                <a:avLst/>
              </a:prstGeom>
              <a:noFill/>
              <a:ln/>
            </p:spPr>
            <p:txBody>
              <a:bodyPr wrap="square" rtlCol="0" anchor="t"/>
              <a:lstStyle/>
              <a:p>
                <a:pPr marL="0" indent="0" algn="l">
                  <a:buNone/>
                </a:pPr>
                <a:r>
                  <a:rPr lang="en-US" sz="1200" i="1" dirty="0">
                    <a:latin typeface="Calibri" pitchFamily="34" charset="0"/>
                    <a:ea typeface="Calibri" pitchFamily="34" charset="-122"/>
                    <a:cs typeface="Calibri" pitchFamily="34" charset="-120"/>
                  </a:rPr>
                  <a:t>Nótese el acoplamiento cruzado entre ejes q y d a través de ωm(t). La resistencia Rs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879952"/>
                <a:ext cx="11430000" cy="457200"/>
              </a:xfrm>
              <a:prstGeom prst="rect">
                <a:avLst/>
              </a:prstGeom>
              <a:blipFill>
                <a:blip r:embed="rId5"/>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 5">
                <a:extLst>
                  <a:ext uri="{FF2B5EF4-FFF2-40B4-BE49-F238E27FC236}">
                    <a16:creationId xmlns:a16="http://schemas.microsoft.com/office/drawing/2014/main" id="{1E87B317-5267-44EA-9CD2-BA0AA07589B3}"/>
                  </a:ext>
                </a:extLst>
              </p:cNvPr>
              <p:cNvSpPr/>
              <p:nvPr/>
            </p:nvSpPr>
            <p:spPr>
              <a:xfrm>
                <a:off x="274320" y="3200400"/>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corrientes y aplicando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400" dirty="0">
                    <a:solidFill>
                      <a:srgbClr val="111111"/>
                    </a:solidFill>
                    <a:latin typeface="Calibri" pitchFamily="34" charset="0"/>
                    <a:ea typeface="Calibri" pitchFamily="34" charset="-122"/>
                    <a:cs typeface="Calibri" pitchFamily="34" charset="-120"/>
                  </a:rPr>
                  <a:t> ≡ 0 (neutro flotante):</a:t>
                </a:r>
                <a:endParaRPr lang="en-US" sz="1400" dirty="0"/>
              </a:p>
            </p:txBody>
          </p:sp>
        </mc:Choice>
        <mc:Fallback xmlns="">
          <p:sp>
            <p:nvSpPr>
              <p:cNvPr id="24" name="Text 5">
                <a:extLst>
                  <a:ext uri="{FF2B5EF4-FFF2-40B4-BE49-F238E27FC236}">
                    <a16:creationId xmlns:a16="http://schemas.microsoft.com/office/drawing/2014/main" id="{1E87B317-5267-44EA-9CD2-BA0AA07589B3}"/>
                  </a:ext>
                </a:extLst>
              </p:cNvPr>
              <p:cNvSpPr>
                <a:spLocks noRot="1" noChangeAspect="1" noMove="1" noResize="1" noEditPoints="1" noAdjustHandles="1" noChangeArrowheads="1" noChangeShapeType="1" noTextEdit="1"/>
              </p:cNvSpPr>
              <p:nvPr/>
            </p:nvSpPr>
            <p:spPr>
              <a:xfrm>
                <a:off x="274320" y="3200400"/>
                <a:ext cx="11430000" cy="457200"/>
              </a:xfrm>
              <a:prstGeom prst="rect">
                <a:avLst/>
              </a:prstGeom>
              <a:blipFill>
                <a:blip r:embed="rId6"/>
                <a:stretch>
                  <a:fillRect l="-160" t="-2667"/>
                </a:stretch>
              </a:blipFill>
              <a:ln/>
            </p:spPr>
            <p:txBody>
              <a:bodyPr/>
              <a:lstStyle/>
              <a:p>
                <a:r>
                  <a:rPr lang="es-AR">
                    <a:noFill/>
                  </a:rPr>
                  <a:t> </a:t>
                </a:r>
              </a:p>
            </p:txBody>
          </p:sp>
        </mc:Fallback>
      </mc:AlternateContent>
      <p:sp>
        <p:nvSpPr>
          <p:cNvPr id="25" name="Text 10">
            <a:extLst>
              <a:ext uri="{FF2B5EF4-FFF2-40B4-BE49-F238E27FC236}">
                <a16:creationId xmlns:a16="http://schemas.microsoft.com/office/drawing/2014/main" id="{C0D6C996-7D83-4288-B527-2A4E55EA4457}"/>
              </a:ext>
            </a:extLst>
          </p:cNvPr>
          <p:cNvSpPr/>
          <p:nvPr/>
        </p:nvSpPr>
        <p:spPr>
          <a:xfrm>
            <a:off x="365760" y="5377783"/>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p:sp>
        <p:nvSpPr>
          <p:cNvPr id="26" name="Text 13">
            <a:extLst>
              <a:ext uri="{FF2B5EF4-FFF2-40B4-BE49-F238E27FC236}">
                <a16:creationId xmlns:a16="http://schemas.microsoft.com/office/drawing/2014/main" id="{12E79842-49C7-463E-B87B-0AD84247764F}"/>
              </a:ext>
            </a:extLst>
          </p:cNvPr>
          <p:cNvSpPr/>
          <p:nvPr/>
        </p:nvSpPr>
        <p:spPr>
          <a:xfrm>
            <a:off x="365760" y="5652534"/>
            <a:ext cx="11430000" cy="594360"/>
          </a:xfrm>
          <a:prstGeom prst="rect">
            <a:avLst/>
          </a:prstGeom>
          <a:noFill/>
          <a:ln/>
        </p:spPr>
        <p:txBody>
          <a:bodyPr wrap="square" rtlCol="0" anchor="t"/>
          <a:lstStyle/>
          <a:p>
            <a:pPr marL="0" indent="0" algn="l">
              <a:buNone/>
            </a:pPr>
            <a:r>
              <a:rPr lang="en-US" sz="1400" dirty="0">
                <a:solidFill>
                  <a:srgbClr val="111111"/>
                </a:solidFill>
                <a:latin typeface="Calibri" pitchFamily="34" charset="0"/>
                <a:cs typeface="Calibri" pitchFamily="34" charset="-120"/>
              </a:rPr>
              <a:t>Para el PMSM con Ld ≈ Lq, el torque depende principalmente de iqs^r (torque de imanes). El término (Ld−Lq)·ids^r es el torque de </a:t>
            </a:r>
            <a:r>
              <a:rPr lang="en-US" sz="1400" dirty="0" err="1">
                <a:solidFill>
                  <a:srgbClr val="111111"/>
                </a:solidFill>
                <a:latin typeface="Calibri" pitchFamily="34" charset="0"/>
                <a:cs typeface="Calibri" pitchFamily="34" charset="-120"/>
              </a:rPr>
              <a:t>reluctancia</a:t>
            </a:r>
            <a:r>
              <a:rPr lang="en-US" sz="1400" dirty="0">
                <a:solidFill>
                  <a:srgbClr val="111111"/>
                </a:solidFill>
                <a:latin typeface="Calibri" pitchFamily="34" charset="0"/>
                <a:cs typeface="Calibri" pitchFamily="34" charset="-120"/>
              </a:rPr>
              <a:t>.</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rgbClr val="836967"/>
                              </a:solidFill>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solidFill>
                                <a:srgbClr val="836967"/>
                              </a:solidFill>
                              <a:latin typeface="Cambria Math" panose="02040503050406030204" pitchFamily="18" charset="0"/>
                            </a:rPr>
                          </m:ctrlPr>
                        </m:dPr>
                        <m:e>
                          <m:r>
                            <a:rPr lang="es-AR" sz="1600" i="1">
                              <a:latin typeface="Cambria Math" panose="02040503050406030204" pitchFamily="18" charset="0"/>
                            </a:rPr>
                            <m:t>𝑡</m:t>
                          </m:r>
                        </m:e>
                      </m:d>
                      <m:r>
                        <a:rPr lang="es-AR" sz="1600" i="0">
                          <a:latin typeface="Cambria Math" panose="02040503050406030204" pitchFamily="18" charset="0"/>
                        </a:rPr>
                        <m:t>=</m:t>
                      </m:r>
                      <m:f>
                        <m:fPr>
                          <m:ctrlPr>
                            <a:rPr lang="es-AR" sz="1600" i="1">
                              <a:solidFill>
                                <a:srgbClr val="836967"/>
                              </a:solidFill>
                              <a:latin typeface="Cambria Math" panose="02040503050406030204" pitchFamily="18" charset="0"/>
                            </a:rPr>
                          </m:ctrlPr>
                        </m:fPr>
                        <m:num>
                          <m:r>
                            <a:rPr lang="es-AR" sz="1600" i="0">
                              <a:latin typeface="Cambria Math" panose="02040503050406030204" pitchFamily="18" charset="0"/>
                            </a:rPr>
                            <m:t>3</m:t>
                          </m:r>
                        </m:num>
                        <m:den>
                          <m:r>
                            <a:rPr lang="es-AR" sz="1600" i="0">
                              <a:latin typeface="Cambria Math" panose="02040503050406030204" pitchFamily="18" charset="0"/>
                            </a:rPr>
                            <m:t>2</m:t>
                          </m:r>
                        </m:den>
                      </m:f>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d>
                        <m:dPr>
                          <m:begChr m:val="["/>
                          <m:endChr m:val="]"/>
                          <m:ctrlPr>
                            <a:rPr lang="es-AR" sz="1600" i="1">
                              <a:solidFill>
                                <a:srgbClr val="836967"/>
                              </a:solidFill>
                              <a:latin typeface="Cambria Math" panose="02040503050406030204" pitchFamily="18" charset="0"/>
                            </a:rPr>
                          </m:ctrlPr>
                        </m:dPr>
                        <m:e>
                          <m:sSubSup>
                            <m:sSubSupPr>
                              <m:ctrlPr>
                                <a:rPr lang="es-AR" sz="1600" i="1">
                                  <a:solidFill>
                                    <a:srgbClr val="836967"/>
                                  </a:solidFill>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0">
                                  <a:latin typeface="Cambria Math" panose="02040503050406030204" pitchFamily="18" charset="0"/>
                                </a:rPr>
                                <m:t>ˊ</m:t>
                              </m:r>
                              <m:r>
                                <a:rPr lang="es-AR" sz="1600" i="1">
                                  <a:latin typeface="Cambria Math" panose="02040503050406030204" pitchFamily="18" charset="0"/>
                                </a:rPr>
                                <m:t>𝑟</m:t>
                              </m:r>
                            </m:sup>
                          </m:sSubSup>
                          <m:r>
                            <a:rPr lang="es-AR" sz="1600" i="0">
                              <a:latin typeface="Cambria Math" panose="02040503050406030204" pitchFamily="18" charset="0"/>
                            </a:rPr>
                            <m:t>+</m:t>
                          </m:r>
                          <m:d>
                            <m:dPr>
                              <m:ctrlPr>
                                <a:rPr lang="es-AR" sz="1600" i="1">
                                  <a:solidFill>
                                    <a:srgbClr val="836967"/>
                                  </a:solidFill>
                                  <a:latin typeface="Cambria Math" panose="02040503050406030204" pitchFamily="18" charset="0"/>
                                </a:rPr>
                              </m:ctrlPr>
                            </m:dPr>
                            <m:e>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r>
                                <a:rPr lang="es-AR" sz="1600" i="0">
                                  <a:latin typeface="Cambria Math" panose="02040503050406030204" pitchFamily="18" charset="0"/>
                                </a:rPr>
                                <m:t>−</m:t>
                              </m:r>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r>
                            <a:rPr lang="es-AR" sz="1600" i="0">
                              <a:latin typeface="Cambria Math" panose="02040503050406030204" pitchFamily="18" charset="0"/>
                            </a:rPr>
                            <m:t> </m:t>
                          </m:r>
                          <m:sSubSup>
                            <m:sSubSupPr>
                              <m:ctrlPr>
                                <a:rPr lang="es-AR" sz="1600" i="1">
                                  <a:solidFill>
                                    <a:srgbClr val="836967"/>
                                  </a:solidFill>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solidFill>
                                    <a:srgbClr val="836967"/>
                                  </a:solidFill>
                                  <a:latin typeface="Cambria Math" panose="02040503050406030204" pitchFamily="18" charset="0"/>
                                </a:rPr>
                              </m:ctrlPr>
                            </m:dPr>
                            <m:e>
                              <m:r>
                                <a:rPr lang="es-AR" sz="1600" i="1">
                                  <a:latin typeface="Cambria Math" panose="02040503050406030204" pitchFamily="18" charset="0"/>
                                </a:rPr>
                                <m:t>𝑡</m:t>
                              </m:r>
                            </m:e>
                          </m:d>
                        </m:e>
                      </m:d>
                      <m:r>
                        <a:rPr lang="es-AR" sz="1600" i="0">
                          <a:latin typeface="Cambria Math" panose="02040503050406030204" pitchFamily="18" charset="0"/>
                        </a:rPr>
                        <m:t>∙</m:t>
                      </m:r>
                      <m:sSubSup>
                        <m:sSubSupPr>
                          <m:ctrlPr>
                            <a:rPr lang="es-AR" sz="1600" i="1">
                              <a:solidFill>
                                <a:srgbClr val="836967"/>
                              </a:solidFill>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solidFill>
                                <a:srgbClr val="836967"/>
                              </a:solidFill>
                              <a:latin typeface="Cambria Math" panose="02040503050406030204" pitchFamily="18" charset="0"/>
                            </a:rPr>
                          </m:ctrlPr>
                        </m:dPr>
                        <m:e>
                          <m:r>
                            <a:rPr lang="es-AR" sz="1600" i="1">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7"/>
                <a:stretch>
                  <a:fillRect/>
                </a:stretch>
              </a:blipFill>
            </p:spPr>
            <p:txBody>
              <a:bodyPr/>
              <a:lstStyle/>
              <a:p>
                <a:r>
                  <a:rPr lang="es-AR">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10 / 67</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4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electromagnético</a:t>
            </a:r>
            <a:endParaRPr lang="en-US" sz="1100" dirty="0"/>
          </a:p>
        </p:txBody>
      </p:sp>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3"/>
          <a:stretch>
            <a:fillRect/>
          </a:stretch>
        </p:blipFill>
        <p:spPr>
          <a:xfrm>
            <a:off x="2165065" y="690663"/>
            <a:ext cx="7595200" cy="52810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11 / 67</a:t>
            </a:r>
            <a:endParaRPr lang="en-US" sz="900" dirty="0"/>
          </a:p>
        </p:txBody>
      </p:sp>
      <p:sp>
        <p:nvSpPr>
          <p:cNvPr id="7" name="Text 5"/>
          <p:cNvSpPr/>
          <p:nvPr/>
        </p:nvSpPr>
        <p:spPr>
          <a:xfrm>
            <a:off x="274320" y="877824"/>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365760" y="1636776"/>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365760" y="2121408"/>
            <a:ext cx="11430000" cy="566928"/>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0" name="Text 8"/>
              <p:cNvSpPr/>
              <p:nvPr/>
            </p:nvSpPr>
            <p:spPr>
              <a:xfrm>
                <a:off x="1463040" y="2121408"/>
                <a:ext cx="8961120" cy="566928"/>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100" dirty="0"/>
              </a:p>
            </p:txBody>
          </p:sp>
        </mc:Choice>
        <mc:Fallback>
          <p:sp>
            <p:nvSpPr>
              <p:cNvPr id="10" name="Text 8"/>
              <p:cNvSpPr>
                <a:spLocks noRot="1" noChangeAspect="1" noMove="1" noResize="1" noEditPoints="1" noAdjustHandles="1" noChangeArrowheads="1" noChangeShapeType="1" noTextEdit="1"/>
              </p:cNvSpPr>
              <p:nvPr/>
            </p:nvSpPr>
            <p:spPr>
              <a:xfrm>
                <a:off x="1463040" y="2121408"/>
                <a:ext cx="8961120" cy="566928"/>
              </a:xfrm>
              <a:prstGeom prst="rect">
                <a:avLst/>
              </a:prstGeom>
              <a:blipFill>
                <a:blip r:embed="rId3"/>
                <a:stretch>
                  <a:fillRect/>
                </a:stretch>
              </a:blipFill>
              <a:ln/>
            </p:spPr>
            <p:txBody>
              <a:bodyPr/>
              <a:lstStyle/>
              <a:p>
                <a:r>
                  <a:rPr lang="es-AR">
                    <a:noFill/>
                  </a:rPr>
                  <a:t> </a:t>
                </a:r>
              </a:p>
            </p:txBody>
          </p:sp>
        </mc:Fallback>
      </mc:AlternateContent>
      <p:sp>
        <p:nvSpPr>
          <p:cNvPr id="11" name="Text 9"/>
          <p:cNvSpPr/>
          <p:nvPr/>
        </p:nvSpPr>
        <p:spPr>
          <a:xfrm>
            <a:off x="365760" y="2788920"/>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381000" y="3264408"/>
            <a:ext cx="11414760" cy="749808"/>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3" name="Text 11"/>
              <p:cNvSpPr/>
              <p:nvPr/>
            </p:nvSpPr>
            <p:spPr>
              <a:xfrm>
                <a:off x="457200" y="3329171"/>
                <a:ext cx="11247120" cy="62179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050" i="1">
                              <a:effectLst/>
                              <a:latin typeface="Cambria Math" panose="02040503050406030204" pitchFamily="18" charset="0"/>
                            </a:rPr>
                          </m:ctrlPr>
                        </m:dPr>
                        <m:e>
                          <m:sSub>
                            <m:sSubPr>
                              <m:ctrlPr>
                                <a:rPr lang="es-AR" sz="1050" i="1">
                                  <a:effectLst/>
                                  <a:latin typeface="Cambria Math" panose="02040503050406030204" pitchFamily="18" charset="0"/>
                                </a:rPr>
                              </m:ctrlPr>
                            </m:sSubPr>
                            <m:e>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p:sp>
            <p:nvSpPr>
              <p:cNvPr id="13" name="Text 11"/>
              <p:cNvSpPr>
                <a:spLocks noRot="1" noChangeAspect="1" noMove="1" noResize="1" noEditPoints="1" noAdjustHandles="1" noChangeArrowheads="1" noChangeShapeType="1" noTextEdit="1"/>
              </p:cNvSpPr>
              <p:nvPr/>
            </p:nvSpPr>
            <p:spPr>
              <a:xfrm>
                <a:off x="457200" y="3329171"/>
                <a:ext cx="11247120" cy="621792"/>
              </a:xfrm>
              <a:prstGeom prst="rect">
                <a:avLst/>
              </a:prstGeom>
              <a:blipFill>
                <a:blip r:embed="rId4"/>
                <a:stretch>
                  <a:fillRect/>
                </a:stretch>
              </a:blipFill>
              <a:ln/>
            </p:spPr>
            <p:txBody>
              <a:bodyPr/>
              <a:lstStyle/>
              <a:p>
                <a:r>
                  <a:rPr lang="es-AR">
                    <a:noFill/>
                  </a:rPr>
                  <a:t> </a:t>
                </a:r>
              </a:p>
            </p:txBody>
          </p:sp>
        </mc:Fallback>
      </mc:AlternateContent>
      <p:sp>
        <p:nvSpPr>
          <p:cNvPr id="14" name="Text 12"/>
          <p:cNvSpPr/>
          <p:nvPr/>
        </p:nvSpPr>
        <p:spPr>
          <a:xfrm>
            <a:off x="365760" y="420103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mc:Choice xmlns:a14="http://schemas.microsoft.com/office/drawing/2010/main" Requires="a14">
          <p:sp>
            <p:nvSpPr>
              <p:cNvPr id="15" name="Text 13"/>
              <p:cNvSpPr/>
              <p:nvPr/>
            </p:nvSpPr>
            <p:spPr>
              <a:xfrm>
                <a:off x="365760" y="4585087"/>
                <a:ext cx="11430000" cy="141732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≈0.818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≈146.7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−15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≤40°</m:t>
                    </m:r>
                    <m:r>
                      <a:rPr lang="es-AR" sz="1400" i="1">
                        <a:latin typeface="Cambria Math" panose="02040503050406030204" pitchFamily="18" charset="0"/>
                      </a:rPr>
                      <m:t>𝐶</m:t>
                    </m:r>
                  </m:oMath>
                </a14:m>
                <a:endParaRPr lang="en-US" sz="1400" dirty="0"/>
              </a:p>
            </p:txBody>
          </p:sp>
        </mc:Choice>
        <mc:Fallback>
          <p:sp>
            <p:nvSpPr>
              <p:cNvPr id="15" name="Text 13"/>
              <p:cNvSpPr>
                <a:spLocks noRot="1" noChangeAspect="1" noMove="1" noResize="1" noEditPoints="1" noAdjustHandles="1" noChangeArrowheads="1" noChangeShapeType="1" noTextEdit="1"/>
              </p:cNvSpPr>
              <p:nvPr/>
            </p:nvSpPr>
            <p:spPr>
              <a:xfrm>
                <a:off x="365760" y="4585087"/>
                <a:ext cx="11430000" cy="1417320"/>
              </a:xfrm>
              <a:prstGeom prst="rect">
                <a:avLst/>
              </a:prstGeom>
              <a:blipFill>
                <a:blip r:embed="rId5"/>
                <a:stretch>
                  <a:fillRect l="-160" t="-20601"/>
                </a:stretch>
              </a:blipFill>
              <a:ln/>
            </p:spPr>
            <p:txBody>
              <a:bodyPr/>
              <a:lstStyle/>
              <a:p>
                <a:r>
                  <a:rPr lang="es-AR">
                    <a:noFill/>
                  </a:rPr>
                  <a:t> </a:t>
                </a:r>
              </a:p>
            </p:txBody>
          </p:sp>
        </mc:Fallback>
      </mc:AlternateContent>
    </p:spTree>
    <p:extLst>
      <p:ext uri="{BB962C8B-B14F-4D97-AF65-F5344CB8AC3E}">
        <p14:creationId xmlns:p14="http://schemas.microsoft.com/office/powerpoint/2010/main" val="305834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11 / 67</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3"/>
          <a:stretch>
            <a:fillRect/>
          </a:stretch>
        </p:blipFill>
        <p:spPr>
          <a:xfrm>
            <a:off x="889231" y="1162472"/>
            <a:ext cx="10452685" cy="43700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Inversor trifásico y sensores — Modelo global no lineal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12 / 67</a:t>
            </a:r>
            <a:endParaRPr lang="en-US" sz="900" dirty="0"/>
          </a:p>
        </p:txBody>
      </p:sp>
      <p:sp>
        <p:nvSpPr>
          <p:cNvPr id="7" name="Text 5"/>
          <p:cNvSpPr/>
          <p:nvPr/>
        </p:nvSpPr>
        <p:spPr>
          <a:xfrm>
            <a:off x="365760" y="804672"/>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Inversor trifásico (modelo promediado):</a:t>
            </a:r>
            <a:endParaRPr lang="en-US" sz="1300" dirty="0"/>
          </a:p>
        </p:txBody>
      </p:sp>
      <mc:AlternateContent xmlns:mc="http://schemas.openxmlformats.org/markup-compatibility/2006">
        <mc:Choice xmlns:a14="http://schemas.microsoft.com/office/drawing/2010/main" Requires="a14">
          <p:sp>
            <p:nvSpPr>
              <p:cNvPr id="8" name="Text 6"/>
              <p:cNvSpPr/>
              <p:nvPr/>
            </p:nvSpPr>
            <p:spPr>
              <a:xfrm>
                <a:off x="365760" y="1207008"/>
                <a:ext cx="548640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m:ctrlPr>
                      </m:sSubPr>
                      <m:e>
                        <m:r>
                          <a:rPr lang="es-AR" sz="1200" i="1"/>
                          <m:t>⍵</m:t>
                        </m:r>
                      </m:e>
                      <m:sub>
                        <m:r>
                          <a:rPr lang="es-AR" sz="1200" i="1"/>
                          <m:t>𝑒</m:t>
                        </m:r>
                      </m:sub>
                    </m:sSub>
                    <m:d>
                      <m:dPr>
                        <m:ctrlPr>
                          <a:rPr lang="es-AR" sz="1200" i="1"/>
                        </m:ctrlPr>
                      </m:dPr>
                      <m:e>
                        <m:r>
                          <a:rPr lang="es-AR" sz="1200" i="1"/>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p:sp>
            <p:nvSpPr>
              <p:cNvPr id="8" name="Text 6"/>
              <p:cNvSpPr>
                <a:spLocks noRot="1" noChangeAspect="1" noMove="1" noResize="1" noEditPoints="1" noAdjustHandles="1" noChangeArrowheads="1" noChangeShapeType="1" noTextEdit="1"/>
              </p:cNvSpPr>
              <p:nvPr/>
            </p:nvSpPr>
            <p:spPr>
              <a:xfrm>
                <a:off x="365760" y="1207008"/>
                <a:ext cx="5486400" cy="777240"/>
              </a:xfrm>
              <a:prstGeom prst="rect">
                <a:avLst/>
              </a:prstGeom>
              <a:blipFill>
                <a:blip r:embed="rId3"/>
                <a:stretch>
                  <a:fillRect/>
                </a:stretch>
              </a:blipFill>
              <a:ln/>
            </p:spPr>
            <p:txBody>
              <a:bodyPr/>
              <a:lstStyle/>
              <a:p>
                <a:r>
                  <a:rPr lang="es-AR">
                    <a:noFill/>
                  </a:rPr>
                  <a:t> </a:t>
                </a:r>
              </a:p>
            </p:txBody>
          </p:sp>
        </mc:Fallback>
      </mc:AlternateContent>
      <p:sp>
        <p:nvSpPr>
          <p:cNvPr id="9" name="Text 7"/>
          <p:cNvSpPr/>
          <p:nvPr/>
        </p:nvSpPr>
        <p:spPr>
          <a:xfrm>
            <a:off x="365760" y="2057400"/>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Sensores (inicialmente ideales):</a:t>
            </a:r>
            <a:endParaRPr lang="en-US" sz="1300" dirty="0"/>
          </a:p>
        </p:txBody>
      </p:sp>
      <mc:AlternateContent xmlns:mc="http://schemas.openxmlformats.org/markup-compatibility/2006">
        <mc:Choice xmlns:a14="http://schemas.microsoft.com/office/drawing/2010/main" Requires="a14">
          <p:sp>
            <p:nvSpPr>
              <p:cNvPr id="10" name="Text 8"/>
              <p:cNvSpPr/>
              <p:nvPr/>
            </p:nvSpPr>
            <p:spPr>
              <a:xfrm>
                <a:off x="365760" y="2468880"/>
                <a:ext cx="5486400" cy="1554480"/>
              </a:xfrm>
              <a:prstGeom prst="rect">
                <a:avLst/>
              </a:prstGeom>
              <a:noFill/>
              <a:ln/>
            </p:spPr>
            <p:txBody>
              <a:bodyPr wrap="square" rtlCol="0" anchor="t"/>
              <a:lstStyle/>
              <a:p>
                <a:pPr marL="342900" indent="-342900">
                  <a:buSzPct val="100000"/>
                  <a:buChar char="•"/>
                </a:pPr>
                <a:r>
                  <a:rPr lang="en-US" sz="12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200" i="1" smtClean="0">
                            <a:effectLst/>
                            <a:latin typeface="Cambria Math" panose="02040503050406030204" pitchFamily="18" charset="0"/>
                            <a:cs typeface="Calibri" panose="020F0502020204030204" pitchFamily="34" charset="0"/>
                          </a:rPr>
                        </m:ctrlPr>
                      </m:sSubPr>
                      <m:e>
                        <m:r>
                          <a:rPr lang="es-AR" sz="12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2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200" i="1">
                            <a:effectLst/>
                            <a:latin typeface="Cambria Math" panose="02040503050406030204" pitchFamily="18" charset="0"/>
                            <a:cs typeface="Calibri" panose="020F0502020204030204" pitchFamily="34" charset="0"/>
                          </a:rPr>
                        </m:ctrlPr>
                      </m:dPr>
                      <m:e>
                        <m:r>
                          <a:rPr lang="es-AR" sz="12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rgbClr val="111111"/>
                    </a:solidFill>
                    <a:latin typeface="Calibri" pitchFamily="34" charset="0"/>
                    <a:ea typeface="Calibri" pitchFamily="34" charset="-122"/>
                    <a:cs typeface="Calibri" pitchFamily="34" charset="-120"/>
                  </a:rPr>
                  <a:t> — absoluta, multi-vuelta</a:t>
                </a:r>
                <a:endParaRPr lang="en-US" sz="1200" dirty="0"/>
              </a:p>
              <a:p>
                <a:pPr marL="342900" indent="-342900">
                  <a:buSzPct val="100000"/>
                  <a:buChar char="•"/>
                </a:pPr>
                <a:r>
                  <a:rPr lang="en-US" sz="12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200" i="1" smtClean="0">
                            <a:effectLst/>
                            <a:latin typeface="Cambria Math" panose="02040503050406030204" pitchFamily="18" charset="0"/>
                            <a:cs typeface="Calibri" panose="020F0502020204030204" pitchFamily="34" charset="0"/>
                          </a:rPr>
                        </m:ctrlPr>
                      </m:sSubPr>
                      <m:e>
                        <m:r>
                          <a:rPr lang="es-AR" sz="12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200" i="1">
                            <a:effectLst/>
                            <a:latin typeface="Cambria Math" panose="02040503050406030204" pitchFamily="18" charset="0"/>
                            <a:cs typeface="Calibri" panose="020F0502020204030204" pitchFamily="34" charset="0"/>
                          </a:rPr>
                        </m:ctrlPr>
                      </m:dPr>
                      <m:e>
                        <m:r>
                          <a:rPr lang="es-AR" sz="12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rgbClr val="111111"/>
                    </a:solidFill>
                    <a:latin typeface="Calibri" pitchFamily="34" charset="0"/>
                    <a:ea typeface="Calibri" pitchFamily="34" charset="-122"/>
                    <a:cs typeface="Calibri" pitchFamily="34" charset="-120"/>
                  </a:rPr>
                  <a:t> — en salida del inversor</a:t>
                </a:r>
                <a:endParaRPr lang="en-US" sz="1200" dirty="0"/>
              </a:p>
              <a:p>
                <a:pPr marL="342900" indent="-342900">
                  <a:buSzPct val="100000"/>
                  <a:buChar char="•"/>
                </a:pPr>
                <a:r>
                  <a:rPr lang="en-US" sz="12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2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2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200" dirty="0">
                    <a:solidFill>
                      <a:srgbClr val="111111"/>
                    </a:solidFill>
                    <a:latin typeface="Calibri" pitchFamily="34" charset="0"/>
                    <a:ea typeface="Calibri" pitchFamily="34" charset="-122"/>
                    <a:cs typeface="Calibri" pitchFamily="34" charset="-120"/>
                  </a:rPr>
                  <a:t>— embebido en bobinado</a:t>
                </a:r>
                <a:endParaRPr lang="en-US" sz="1200" dirty="0"/>
              </a:p>
              <a:p>
                <a:pPr marL="342900" indent="-342900">
                  <a:buSzPct val="100000"/>
                  <a:buChar char="•"/>
                </a:pPr>
                <a:r>
                  <a:rPr lang="en-US" sz="12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200" dirty="0">
                    <a:solidFill>
                      <a:srgbClr val="111111"/>
                    </a:solidFill>
                    <a:latin typeface="Calibri" pitchFamily="34" charset="0"/>
                    <a:ea typeface="Calibri" pitchFamily="34" charset="-122"/>
                    <a:cs typeface="Calibri" pitchFamily="34" charset="-120"/>
                  </a:rPr>
                  <a:t>(ganancia unitaria, BW infinito)</a:t>
                </a:r>
                <a:endParaRPr lang="en-US" sz="1200" dirty="0"/>
              </a:p>
            </p:txBody>
          </p:sp>
        </mc:Choice>
        <mc:Fallback>
          <p:sp>
            <p:nvSpPr>
              <p:cNvPr id="10" name="Text 8"/>
              <p:cNvSpPr>
                <a:spLocks noRot="1" noChangeAspect="1" noMove="1" noResize="1" noEditPoints="1" noAdjustHandles="1" noChangeArrowheads="1" noChangeShapeType="1" noTextEdit="1"/>
              </p:cNvSpPr>
              <p:nvPr/>
            </p:nvSpPr>
            <p:spPr>
              <a:xfrm>
                <a:off x="365760" y="2468880"/>
                <a:ext cx="5486400" cy="1554480"/>
              </a:xfrm>
              <a:prstGeom prst="rect">
                <a:avLst/>
              </a:prstGeom>
              <a:blipFill>
                <a:blip r:embed="rId4"/>
                <a:stretch>
                  <a:fillRect l="-111" t="-784"/>
                </a:stretch>
              </a:blipFill>
              <a:ln/>
            </p:spPr>
            <p:txBody>
              <a:bodyPr/>
              <a:lstStyle/>
              <a:p>
                <a:r>
                  <a:rPr lang="es-AR">
                    <a:noFill/>
                  </a:rPr>
                  <a:t> </a:t>
                </a:r>
              </a:p>
            </p:txBody>
          </p:sp>
        </mc:Fallback>
      </mc:AlternateContent>
      <p:sp>
        <p:nvSpPr>
          <p:cNvPr id="11" name="Text 9"/>
          <p:cNvSpPr/>
          <p:nvPr/>
        </p:nvSpPr>
        <p:spPr>
          <a:xfrm>
            <a:off x="6400800" y="804672"/>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Modelo global no lineal — orden 5+1:</a:t>
            </a:r>
            <a:endParaRPr lang="en-US" sz="1300" dirty="0"/>
          </a:p>
        </p:txBody>
      </p:sp>
      <mc:AlternateContent xmlns:mc="http://schemas.openxmlformats.org/markup-compatibility/2006">
        <mc:Choice xmlns:a14="http://schemas.microsoft.com/office/drawing/2010/main" Requires="a14">
          <p:sp>
            <p:nvSpPr>
              <p:cNvPr id="12" name="Text 10"/>
              <p:cNvSpPr/>
              <p:nvPr/>
            </p:nvSpPr>
            <p:spPr>
              <a:xfrm>
                <a:off x="6400800" y="1207008"/>
                <a:ext cx="5486400" cy="13075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Estado: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200" i="1">
                            <a:effectLst/>
                            <a:latin typeface="Cambria Math" panose="02040503050406030204" pitchFamily="18" charset="0"/>
                          </a:rPr>
                        </m:ctrlPr>
                      </m:sSupPr>
                      <m:e>
                        <m:d>
                          <m:dPr>
                            <m:begChr m:val="["/>
                            <m:endChr m:val="]"/>
                            <m:ctrlPr>
                              <a:rPr lang="es-AR" sz="1200" i="1">
                                <a:effectLst/>
                                <a:latin typeface="Cambria Math" panose="02040503050406030204" pitchFamily="18" charset="0"/>
                              </a:rPr>
                            </m:ctrlPr>
                          </m:dPr>
                          <m:e>
                            <m:m>
                              <m:mPr>
                                <m:mcs>
                                  <m:mc>
                                    <m:mcPr>
                                      <m:count m:val="3"/>
                                      <m:mcJc m:val="center"/>
                                    </m:mcPr>
                                  </m:mc>
                                </m:mcs>
                                <m:ctrlPr>
                                  <a:rPr lang="es-AR" sz="1200" i="1">
                                    <a:effectLst/>
                                    <a:latin typeface="Cambria Math" panose="02040503050406030204" pitchFamily="18" charset="0"/>
                                  </a:rPr>
                                </m:ctrlPr>
                              </m:mPr>
                              <m:mr>
                                <m:e>
                                  <m:sSub>
                                    <m:sSubPr>
                                      <m:ctrlPr>
                                        <a:rPr lang="es-AR" sz="12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
                                    <m:sSubPr>
                                      <m:ctrlPr>
                                        <a:rPr lang="es-AR" sz="12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200" i="1">
                                          <a:effectLst/>
                                          <a:latin typeface="Cambria Math" panose="02040503050406030204" pitchFamily="18" charset="0"/>
                                        </a:rPr>
                                      </m:ctrlPr>
                                    </m:mPr>
                                    <m:mr>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2"/>
                                                  <m:mcJc m:val="center"/>
                                                </m:mcPr>
                                              </m:mc>
                                            </m:mcs>
                                            <m:ctrlPr>
                                              <a:rPr lang="es-AR" sz="1200" i="1">
                                                <a:effectLst/>
                                                <a:latin typeface="Cambria Math" panose="02040503050406030204" pitchFamily="18" charset="0"/>
                                              </a:rPr>
                                            </m:ctrlPr>
                                          </m:mPr>
                                          <m:mr>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mr>
                            </m:m>
                          </m:e>
                        </m:d>
                      </m:e>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200" dirty="0">
                  <a:solidFill>
                    <a:srgbClr val="111111"/>
                  </a:solidFill>
                  <a:latin typeface="Calibri" pitchFamily="34" charset="0"/>
                  <a:ea typeface="Calibri" pitchFamily="34" charset="-122"/>
                  <a:cs typeface="Calibri" pitchFamily="34" charset="-120"/>
                </a:endParaRPr>
              </a:p>
              <a:p>
                <a:pPr marL="0" indent="0" algn="l">
                  <a:buNone/>
                </a:pPr>
                <a:endParaRPr lang="en-US" sz="1200" dirty="0">
                  <a:solidFill>
                    <a:srgbClr val="111111"/>
                  </a:solidFill>
                  <a:latin typeface="Calibri" pitchFamily="34" charset="0"/>
                  <a:ea typeface="Calibri" pitchFamily="34" charset="-122"/>
                  <a:cs typeface="Calibri" pitchFamily="34" charset="-120"/>
                </a:endParaRPr>
              </a:p>
              <a:p>
                <a:pPr marL="0" indent="0" algn="l">
                  <a:buNone/>
                </a:pPr>
                <a:r>
                  <a:rPr lang="en-US" sz="1200" dirty="0">
                    <a:solidFill>
                      <a:srgbClr val="111111"/>
                    </a:solidFill>
                    <a:latin typeface="Calibri" pitchFamily="34" charset="0"/>
                    <a:ea typeface="Calibri" pitchFamily="34" charset="-122"/>
                    <a:cs typeface="Calibri" pitchFamily="34" charset="-120"/>
                  </a:rPr>
                  <a:t>Control: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200" i="1">
                            <a:effectLst/>
                            <a:latin typeface="Cambria Math" panose="02040503050406030204" pitchFamily="18" charset="0"/>
                          </a:rPr>
                        </m:ctrlPr>
                      </m:dPr>
                      <m:e>
                        <m:m>
                          <m:mPr>
                            <m:mcs>
                              <m:mc>
                                <m:mcPr>
                                  <m:count m:val="3"/>
                                  <m:mcJc m:val="center"/>
                                </m:mcPr>
                              </m:mc>
                            </m:mcs>
                            <m:ctrlPr>
                              <a:rPr lang="es-AR" sz="1200" i="1">
                                <a:effectLst/>
                                <a:latin typeface="Cambria Math" panose="02040503050406030204" pitchFamily="18" charset="0"/>
                              </a:rPr>
                            </m:ctrlPr>
                          </m:mPr>
                          <m:mr>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oMath>
                </a14:m>
                <a:endParaRPr lang="en-US" sz="1200" dirty="0">
                  <a:solidFill>
                    <a:srgbClr val="111111"/>
                  </a:solidFill>
                  <a:latin typeface="Calibri" pitchFamily="34" charset="0"/>
                  <a:ea typeface="Calibri" pitchFamily="34" charset="-122"/>
                  <a:cs typeface="Calibri" pitchFamily="34" charset="-120"/>
                </a:endParaRPr>
              </a:p>
              <a:p>
                <a:pPr marL="0" indent="0" algn="l">
                  <a:buNone/>
                </a:pPr>
                <a:endParaRPr lang="en-US" sz="1200" dirty="0">
                  <a:solidFill>
                    <a:srgbClr val="111111"/>
                  </a:solidFill>
                  <a:latin typeface="Calibri" pitchFamily="34" charset="0"/>
                  <a:ea typeface="Calibri" pitchFamily="34" charset="-122"/>
                  <a:cs typeface="Calibri" pitchFamily="34" charset="-120"/>
                </a:endParaRPr>
              </a:p>
              <a:p>
                <a:pPr marL="0" indent="0" algn="l">
                  <a:buNone/>
                </a:pPr>
                <a:r>
                  <a:rPr lang="en-US" sz="1200" dirty="0">
                    <a:solidFill>
                      <a:srgbClr val="111111"/>
                    </a:solidFill>
                    <a:latin typeface="Calibri" pitchFamily="34" charset="0"/>
                    <a:ea typeface="Calibri" pitchFamily="34" charset="-122"/>
                    <a:cs typeface="Calibri" pitchFamily="34" charset="-120"/>
                  </a:rPr>
                  <a:t>Perturbación: </a:t>
                </a:r>
                <a14:m>
                  <m:oMath xmlns:m="http://schemas.openxmlformats.org/officeDocument/2006/math">
                    <m:r>
                      <a:rPr lang="es-AR" sz="1200" i="1" smtClean="0">
                        <a:effectLst/>
                        <a:latin typeface="Cambria Math" panose="02040503050406030204" pitchFamily="18" charset="0"/>
                        <a:ea typeface="Times New Roman" panose="02020603050405020304" pitchFamily="18" charset="0"/>
                        <a:cs typeface="Times New Roman" panose="02020603050405020304" pitchFamily="18" charset="0"/>
                      </a:rPr>
                      <m:t>𝑑</m:t>
                    </m:r>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2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200" i="1">
                                <a:effectLst/>
                                <a:latin typeface="Cambria Math" panose="02040503050406030204" pitchFamily="18" charset="0"/>
                                <a:ea typeface="Times New Roman" panose="02020603050405020304" pitchFamily="18" charset="0"/>
                              </a:rPr>
                            </m:ctrlPr>
                          </m:mPr>
                          <m:mr>
                            <m:e>
                              <m:sSub>
                                <m:sSubPr>
                                  <m:ctrlPr>
                                    <a:rPr lang="es-AR" sz="12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𝑙𝑑</m:t>
                                  </m:r>
                                </m:sub>
                              </m:sSub>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200" i="1">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d>
                  </m:oMath>
                </a14:m>
                <a:endParaRPr lang="en-US" sz="1200" dirty="0">
                  <a:solidFill>
                    <a:srgbClr val="111111"/>
                  </a:solidFill>
                  <a:latin typeface="Calibri" pitchFamily="34" charset="0"/>
                  <a:ea typeface="Calibri" pitchFamily="34" charset="-122"/>
                  <a:cs typeface="Calibri" pitchFamily="34" charset="-120"/>
                </a:endParaRPr>
              </a:p>
              <a:p>
                <a:pPr marL="0" indent="0" algn="l">
                  <a:buNone/>
                </a:pPr>
                <a:endParaRPr lang="en-US" sz="1200" dirty="0">
                  <a:solidFill>
                    <a:srgbClr val="111111"/>
                  </a:solidFill>
                  <a:latin typeface="Calibri" pitchFamily="34" charset="0"/>
                  <a:ea typeface="Calibri" pitchFamily="34" charset="-122"/>
                  <a:cs typeface="Calibri" pitchFamily="34" charset="-120"/>
                </a:endParaRPr>
              </a:p>
              <a:p>
                <a:pPr marL="0" indent="0" algn="l">
                  <a:buNone/>
                </a:pPr>
                <a:r>
                  <a:rPr lang="en-US" sz="1200" dirty="0">
                    <a:solidFill>
                      <a:srgbClr val="111111"/>
                    </a:solidFill>
                    <a:latin typeface="Calibri" pitchFamily="34" charset="0"/>
                    <a:ea typeface="Calibri" pitchFamily="34" charset="-122"/>
                    <a:cs typeface="Calibri" pitchFamily="34" charset="-120"/>
                  </a:rPr>
                  <a:t>Salida: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200" i="1">
                            <a:effectLst/>
                            <a:latin typeface="Cambria Math" panose="02040503050406030204" pitchFamily="18" charset="0"/>
                          </a:rPr>
                        </m:ctrlPr>
                      </m:sSupPr>
                      <m:e>
                        <m:d>
                          <m:dPr>
                            <m:begChr m:val="["/>
                            <m:endChr m:val="]"/>
                            <m:ctrlPr>
                              <a:rPr lang="es-AR" sz="1200" i="1">
                                <a:effectLst/>
                                <a:latin typeface="Cambria Math" panose="02040503050406030204" pitchFamily="18" charset="0"/>
                              </a:rPr>
                            </m:ctrlPr>
                          </m:dPr>
                          <m:e>
                            <m:m>
                              <m:mPr>
                                <m:mcs>
                                  <m:mc>
                                    <m:mcPr>
                                      <m:count m:val="3"/>
                                      <m:mcJc m:val="center"/>
                                    </m:mcPr>
                                  </m:mc>
                                </m:mcs>
                                <m:ctrlPr>
                                  <a:rPr lang="es-AR" sz="1200" i="1">
                                    <a:effectLst/>
                                    <a:latin typeface="Cambria Math" panose="02040503050406030204" pitchFamily="18" charset="0"/>
                                  </a:rPr>
                                </m:ctrlPr>
                              </m:mPr>
                              <m:mr>
                                <m:e>
                                  <m:sSub>
                                    <m:sSubPr>
                                      <m:ctrlPr>
                                        <a:rPr lang="es-AR" sz="12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200" i="1">
                                          <a:effectLst/>
                                          <a:latin typeface="Cambria Math" panose="02040503050406030204" pitchFamily="18" charset="0"/>
                                          <a:ea typeface="Times New Roman" panose="02020603050405020304" pitchFamily="18" charset="0"/>
                                        </a:rPr>
                                      </m:ctrlPr>
                                    </m:mPr>
                                    <m:mr>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ea typeface="Times New Roman" panose="02020603050405020304" pitchFamily="18" charset="0"/>
                                              </a:rPr>
                                            </m:ctrlPr>
                                          </m:sSubSup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2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200" i="1">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d>
                      </m:e>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200" dirty="0"/>
              </a:p>
            </p:txBody>
          </p:sp>
        </mc:Choice>
        <mc:Fallback>
          <p:sp>
            <p:nvSpPr>
              <p:cNvPr id="12" name="Text 10"/>
              <p:cNvSpPr>
                <a:spLocks noRot="1" noChangeAspect="1" noMove="1" noResize="1" noEditPoints="1" noAdjustHandles="1" noChangeArrowheads="1" noChangeShapeType="1" noTextEdit="1"/>
              </p:cNvSpPr>
              <p:nvPr/>
            </p:nvSpPr>
            <p:spPr>
              <a:xfrm>
                <a:off x="6400800" y="1207008"/>
                <a:ext cx="5486400" cy="1307592"/>
              </a:xfrm>
              <a:prstGeom prst="rect">
                <a:avLst/>
              </a:prstGeom>
              <a:blipFill>
                <a:blip r:embed="rId5"/>
                <a:stretch>
                  <a:fillRect b="-25116"/>
                </a:stretch>
              </a:blipFill>
              <a:ln/>
            </p:spPr>
            <p:txBody>
              <a:bodyPr/>
              <a:lstStyle/>
              <a:p>
                <a:r>
                  <a:rPr lang="es-AR">
                    <a:noFill/>
                  </a:rPr>
                  <a:t> </a:t>
                </a:r>
              </a:p>
            </p:txBody>
          </p:sp>
        </mc:Fallback>
      </mc:AlternateContent>
      <p:sp>
        <p:nvSpPr>
          <p:cNvPr id="13" name="Text 11"/>
          <p:cNvSpPr/>
          <p:nvPr/>
        </p:nvSpPr>
        <p:spPr>
          <a:xfrm>
            <a:off x="6400800" y="2848356"/>
            <a:ext cx="54864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El modelo es no lineal por: (1) productos entre variables en el torque electromagnético, (2) acoplamiento ωm en las ecuaciones eléctricas, (3) sin(θl) en la carga gravitatoria.</a:t>
            </a:r>
            <a:endParaRPr lang="en-US" sz="1200" dirty="0"/>
          </a:p>
        </p:txBody>
      </p:sp>
      <p:sp>
        <p:nvSpPr>
          <p:cNvPr id="17" name="Text 6">
            <a:extLst>
              <a:ext uri="{FF2B5EF4-FFF2-40B4-BE49-F238E27FC236}">
                <a16:creationId xmlns:a16="http://schemas.microsoft.com/office/drawing/2014/main" id="{6CA994F5-5B76-4FE5-ADD8-755E0BDF1F61}"/>
              </a:ext>
            </a:extLst>
          </p:cNvPr>
          <p:cNvSpPr/>
          <p:nvPr/>
        </p:nvSpPr>
        <p:spPr>
          <a:xfrm>
            <a:off x="343109" y="3835572"/>
            <a:ext cx="11018101" cy="777240"/>
          </a:xfrm>
          <a:prstGeom prst="rect">
            <a:avLst/>
          </a:prstGeom>
          <a:noFill/>
          <a:ln/>
        </p:spPr>
        <p:txBody>
          <a:bodyPr wrap="square" rtlCol="0" anchor="t"/>
          <a:lstStyle/>
          <a:p>
            <a:r>
              <a:rPr lang="es-MX" sz="1200" dirty="0">
                <a:solidFill>
                  <a:srgbClr val="111111"/>
                </a:solidFill>
                <a:latin typeface="Calibri" pitchFamily="34" charset="0"/>
                <a:ea typeface="Calibri" pitchFamily="34" charset="-122"/>
                <a:cs typeface="Calibri" pitchFamily="34" charset="-120"/>
              </a:rPr>
              <a:t>Reemplazando la expresión del torque electromagnético en las ecuaciones del sistema mecánico:</a:t>
            </a:r>
          </a:p>
          <a:p>
            <a:endParaRPr lang="en-US" sz="1200" dirty="0"/>
          </a:p>
        </p:txBody>
      </p:sp>
      <mc:AlternateContent xmlns:mc="http://schemas.openxmlformats.org/markup-compatibility/2006">
        <mc:Choice xmlns:a14="http://schemas.microsoft.com/office/drawing/2010/main" Requires="a14">
          <p:sp>
            <p:nvSpPr>
              <p:cNvPr id="18" name="Shape 7">
                <a:extLst>
                  <a:ext uri="{FF2B5EF4-FFF2-40B4-BE49-F238E27FC236}">
                    <a16:creationId xmlns:a16="http://schemas.microsoft.com/office/drawing/2014/main" id="{52FCF1F0-8786-4B71-9288-844B59F154A1}"/>
                  </a:ext>
                </a:extLst>
              </p:cNvPr>
              <p:cNvSpPr/>
              <p:nvPr/>
            </p:nvSpPr>
            <p:spPr>
              <a:xfrm>
                <a:off x="381000" y="4288200"/>
                <a:ext cx="11430000" cy="685800"/>
              </a:xfrm>
              <a:prstGeom prst="rect">
                <a:avLst/>
              </a:prstGeom>
              <a:solidFill>
                <a:srgbClr val="FFF8E8"/>
              </a:solidFill>
              <a:ln w="19050">
                <a:solidFill>
                  <a:srgbClr val="DDAA00"/>
                </a:solidFill>
                <a:prstDash val="solid"/>
              </a:ln>
            </p:spPr>
            <p:txBody>
              <a:bodyPr/>
              <a:lstStyle/>
              <a:p>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acc>
                            <m:accPr>
                              <m:chr m:val="̇"/>
                              <m:ctrlPr>
                                <a:rPr lang="es-AR" sz="1600" i="1">
                                  <a:effectLst/>
                                  <a:latin typeface="Cambria Math" panose="02040503050406030204" pitchFamily="18" charset="0"/>
                                </a:rPr>
                              </m:ctrlPr>
                            </m:acc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acc>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60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d>
                        <m:dPr>
                          <m:begChr m:val="["/>
                          <m:endChr m:val="]"/>
                          <m:ctrlPr>
                            <a:rPr lang="es-AR" sz="1600" i="1">
                              <a:effectLst/>
                              <a:latin typeface="Cambria Math" panose="02040503050406030204" pitchFamily="18" charset="0"/>
                              <a:ea typeface="Times New Roman" panose="02020603050405020304" pitchFamily="18" charset="0"/>
                            </a:rPr>
                          </m:ctrlPr>
                        </m:dPr>
                        <m:e>
                          <m:f>
                            <m:fPr>
                              <m:ctrlPr>
                                <a:rPr lang="es-AR" sz="160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2</m:t>
                              </m:r>
                            </m:den>
                          </m:f>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d>
                            <m:dPr>
                              <m:ctrlPr>
                                <a:rPr lang="es-AR" sz="1600" i="1">
                                  <a:effectLst/>
                                  <a:latin typeface="Cambria Math" panose="02040503050406030204" pitchFamily="18" charset="0"/>
                                  <a:ea typeface="Times New Roman" panose="02020603050405020304" pitchFamily="18" charset="0"/>
                                </a:rPr>
                              </m:ctrlPr>
                            </m:dPr>
                            <m:e>
                              <m:sSubSup>
                                <m:sSubSupPr>
                                  <m:ctrlPr>
                                    <a:rPr lang="es-AR" sz="160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600" i="1">
                                      <a:effectLst/>
                                      <a:latin typeface="Cambria Math" panose="02040503050406030204" pitchFamily="18" charset="0"/>
                                      <a:ea typeface="Times New Roman" panose="02020603050405020304" pitchFamily="18" charset="0"/>
                                    </a:rPr>
                                  </m:ctrlPr>
                                </m:dPr>
                                <m:e>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e>
                              </m:d>
                              <m:sSubSup>
                                <m:sSubSupPr>
                                  <m:ctrlPr>
                                    <a:rPr lang="es-AR" sz="160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60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sSubSup>
                            <m:sSubSupPr>
                              <m:ctrlPr>
                                <a:rPr lang="es-AR" sz="160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60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rPr>
                              </m:ctrlPr>
                            </m:sSubPr>
                            <m:e>
                              <m:r>
                                <m:rPr>
                                  <m:sty m:val="p"/>
                                </m:rPr>
                                <a:rPr lang="es-AR" sz="1600">
                                  <a:effectLst/>
                                  <a:latin typeface="Cambria Math" panose="02040503050406030204" pitchFamily="18" charset="0"/>
                                  <a:ea typeface="Times New Roman" panose="02020603050405020304" pitchFamily="18" charset="0"/>
                                  <a:cs typeface="Times New Roman" panose="02020603050405020304" pitchFamily="18" charset="0"/>
                                </a:rPr>
                                <m:t>ω</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60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m:t>
                              </m:r>
                            </m:sub>
                          </m:sSub>
                          <m:d>
                            <m:dPr>
                              <m:ctrlPr>
                                <a:rPr lang="es-AR" sz="160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oMath>
                  </m:oMathPara>
                </a14:m>
                <a:endParaRPr lang="es-AR" dirty="0"/>
              </a:p>
            </p:txBody>
          </p:sp>
        </mc:Choice>
        <mc:Fallback>
          <p:sp>
            <p:nvSpPr>
              <p:cNvPr id="18" name="Shape 7">
                <a:extLst>
                  <a:ext uri="{FF2B5EF4-FFF2-40B4-BE49-F238E27FC236}">
                    <a16:creationId xmlns:a16="http://schemas.microsoft.com/office/drawing/2014/main" id="{52FCF1F0-8786-4B71-9288-844B59F154A1}"/>
                  </a:ext>
                </a:extLst>
              </p:cNvPr>
              <p:cNvSpPr>
                <a:spLocks noRot="1" noChangeAspect="1" noMove="1" noResize="1" noEditPoints="1" noAdjustHandles="1" noChangeArrowheads="1" noChangeShapeType="1" noTextEdit="1"/>
              </p:cNvSpPr>
              <p:nvPr/>
            </p:nvSpPr>
            <p:spPr>
              <a:xfrm>
                <a:off x="381000" y="4288200"/>
                <a:ext cx="11430000" cy="685800"/>
              </a:xfrm>
              <a:prstGeom prst="rect">
                <a:avLst/>
              </a:prstGeom>
              <a:blipFill>
                <a:blip r:embed="rId6"/>
                <a:stretch>
                  <a:fillRect/>
                </a:stretch>
              </a:blipFill>
              <a:ln w="19050">
                <a:solidFill>
                  <a:srgbClr val="DDAA00"/>
                </a:solidFill>
                <a:prstDash val="solid"/>
              </a:ln>
            </p:spPr>
            <p:txBody>
              <a:bodyPr/>
              <a:lstStyle/>
              <a:p>
                <a:r>
                  <a:rPr lang="es-AR">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Inversor trifásico y sensores — Modelo global no lineal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12 / 67</a:t>
            </a:r>
            <a:endParaRPr lang="en-US" sz="900" dirty="0"/>
          </a:p>
        </p:txBody>
      </p:sp>
      <p:sp>
        <p:nvSpPr>
          <p:cNvPr id="18" name="Text 6">
            <a:extLst>
              <a:ext uri="{FF2B5EF4-FFF2-40B4-BE49-F238E27FC236}">
                <a16:creationId xmlns:a16="http://schemas.microsoft.com/office/drawing/2014/main" id="{DB86A14F-2892-4C19-832C-72B4C18FF5BD}"/>
              </a:ext>
            </a:extLst>
          </p:cNvPr>
          <p:cNvSpPr/>
          <p:nvPr/>
        </p:nvSpPr>
        <p:spPr>
          <a:xfrm>
            <a:off x="116606" y="1075594"/>
            <a:ext cx="11018101" cy="777240"/>
          </a:xfrm>
          <a:prstGeom prst="rect">
            <a:avLst/>
          </a:prstGeom>
          <a:noFill/>
          <a:ln/>
        </p:spPr>
        <p:txBody>
          <a:bodyPr wrap="square" rtlCol="0" anchor="t"/>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combinan las ecuaciones correspondientes a los subsistemas mecánico, electromagnético y térmico ya desarrollados, obteniéndose el siguiente modelo dinámico no lineal para el sistema físico completo:</a:t>
            </a:r>
          </a:p>
          <a:p>
            <a:endParaRPr lang="en-US" sz="1200" dirty="0"/>
          </a:p>
        </p:txBody>
      </p:sp>
      <mc:AlternateContent xmlns:mc="http://schemas.openxmlformats.org/markup-compatibility/2006">
        <mc:Choice xmlns:a14="http://schemas.microsoft.com/office/drawing/2010/main" Requires="a14">
          <p:sp>
            <p:nvSpPr>
              <p:cNvPr id="19" name="Shape 7">
                <a:extLst>
                  <a:ext uri="{FF2B5EF4-FFF2-40B4-BE49-F238E27FC236}">
                    <a16:creationId xmlns:a16="http://schemas.microsoft.com/office/drawing/2014/main" id="{1E27AC72-650E-4CCC-B475-1352A198EA0A}"/>
                  </a:ext>
                </a:extLst>
              </p:cNvPr>
              <p:cNvSpPr/>
              <p:nvPr/>
            </p:nvSpPr>
            <p:spPr>
              <a:xfrm>
                <a:off x="215597" y="1782595"/>
                <a:ext cx="11018101" cy="3421242"/>
              </a:xfrm>
              <a:prstGeom prst="rect">
                <a:avLst/>
              </a:prstGeom>
              <a:solidFill>
                <a:srgbClr val="FFF8E8"/>
              </a:solidFill>
              <a:ln w="19050">
                <a:solidFill>
                  <a:srgbClr val="DDAA00"/>
                </a:solidFill>
                <a:prstDash val="solid"/>
              </a:ln>
            </p:spPr>
            <p:txBody>
              <a:bodyPr/>
              <a:lstStyle/>
              <a:p>
                <a14:m>
                  <m:oMathPara xmlns:m="http://schemas.openxmlformats.org/officeDocument/2006/math">
                    <m:oMathParaPr>
                      <m:jc m:val="centerGroup"/>
                    </m:oMathParaPr>
                    <m:oMath xmlns:m="http://schemas.openxmlformats.org/officeDocument/2006/math">
                      <m:d>
                        <m:dPr>
                          <m:begChr m:val="{"/>
                          <m:endChr m:val=""/>
                          <m:ctrlPr>
                            <a:rPr lang="es-AR" sz="1600" i="1"/>
                          </m:ctrlPr>
                        </m:dPr>
                        <m:e>
                          <m:m>
                            <m:mPr>
                              <m:mcs>
                                <m:mc>
                                  <m:mcPr>
                                    <m:count m:val="1"/>
                                    <m:mcJc m:val="center"/>
                                  </m:mcPr>
                                </m:mc>
                              </m:mcs>
                              <m:ctrlPr>
                                <a:rPr lang="es-AR" sz="1600" i="1"/>
                              </m:ctrlPr>
                            </m:mPr>
                            <m:mr>
                              <m:e>
                                <m:sSub>
                                  <m:sSubPr>
                                    <m:ctrlPr>
                                      <a:rPr lang="es-AR" sz="1600" i="1"/>
                                    </m:ctrlPr>
                                  </m:sSubPr>
                                  <m:e>
                                    <m:acc>
                                      <m:accPr>
                                        <m:chr m:val="̇"/>
                                        <m:ctrlPr>
                                          <a:rPr lang="es-AR" sz="1600" i="1"/>
                                        </m:ctrlPr>
                                      </m:accPr>
                                      <m:e>
                                        <m:r>
                                          <a:rPr lang="es-AR" sz="1600" i="1"/>
                                          <m:t>𝜃</m:t>
                                        </m:r>
                                      </m:e>
                                    </m:acc>
                                  </m:e>
                                  <m:sub>
                                    <m:r>
                                      <a:rPr lang="es-AR" sz="1600" i="1"/>
                                      <m:t>𝑚</m:t>
                                    </m:r>
                                  </m:sub>
                                </m:sSub>
                                <m:d>
                                  <m:dPr>
                                    <m:ctrlPr>
                                      <a:rPr lang="es-AR" sz="1600" i="1"/>
                                    </m:ctrlPr>
                                  </m:dPr>
                                  <m:e>
                                    <m:r>
                                      <a:rPr lang="es-AR" sz="1600" i="1"/>
                                      <m:t>𝑡</m:t>
                                    </m:r>
                                  </m:e>
                                </m:d>
                                <m:r>
                                  <a:rPr lang="es-AR" sz="1600" i="1"/>
                                  <m:t>=</m:t>
                                </m:r>
                                <m:sSub>
                                  <m:sSubPr>
                                    <m:ctrlPr>
                                      <a:rPr lang="es-AR" sz="1600" i="1"/>
                                    </m:ctrlPr>
                                  </m:sSubPr>
                                  <m:e>
                                    <m:r>
                                      <a:rPr lang="es-AR" sz="1600" i="1"/>
                                      <m:t>𝜔</m:t>
                                    </m:r>
                                  </m:e>
                                  <m:sub>
                                    <m:r>
                                      <a:rPr lang="es-AR" sz="1600" i="1"/>
                                      <m:t>𝑚</m:t>
                                    </m:r>
                                  </m:sub>
                                </m:sSub>
                                <m:d>
                                  <m:dPr>
                                    <m:ctrlPr>
                                      <a:rPr lang="es-AR" sz="1600" i="1"/>
                                    </m:ctrlPr>
                                  </m:dPr>
                                  <m:e>
                                    <m:r>
                                      <a:rPr lang="es-AR" sz="1600" i="1"/>
                                      <m:t>𝑡</m:t>
                                    </m:r>
                                  </m:e>
                                </m:d>
                                <m:r>
                                  <a:rPr lang="es-AR" sz="1600" i="1"/>
                                  <m:t>                                                                                                                                                                 </m:t>
                                </m:r>
                              </m:e>
                            </m:mr>
                            <m:mr>
                              <m:e>
                                <m:sSub>
                                  <m:sSubPr>
                                    <m:ctrlPr>
                                      <a:rPr lang="es-AR" sz="1600" i="1"/>
                                    </m:ctrlPr>
                                  </m:sSubPr>
                                  <m:e>
                                    <m:acc>
                                      <m:accPr>
                                        <m:chr m:val="̇"/>
                                        <m:ctrlPr>
                                          <a:rPr lang="es-AR" sz="1600" i="1"/>
                                        </m:ctrlPr>
                                      </m:accPr>
                                      <m:e>
                                        <m:r>
                                          <a:rPr lang="es-AR" sz="1600" i="1"/>
                                          <m:t>⍵</m:t>
                                        </m:r>
                                      </m:e>
                                    </m:acc>
                                  </m:e>
                                  <m:sub>
                                    <m:r>
                                      <a:rPr lang="es-AR" sz="1600" i="1"/>
                                      <m:t>𝑚</m:t>
                                    </m:r>
                                  </m:sub>
                                </m:sSub>
                                <m:d>
                                  <m:dPr>
                                    <m:ctrlPr>
                                      <a:rPr lang="es-AR" sz="1600" i="1"/>
                                    </m:ctrlPr>
                                  </m:dPr>
                                  <m:e>
                                    <m:r>
                                      <a:rPr lang="es-AR" sz="1600" i="1"/>
                                      <m:t>𝑡</m:t>
                                    </m:r>
                                  </m:e>
                                </m:d>
                                <m:r>
                                  <a:rPr lang="es-AR" sz="1600" i="1"/>
                                  <m:t>=</m:t>
                                </m:r>
                                <m:f>
                                  <m:fPr>
                                    <m:ctrlPr>
                                      <a:rPr lang="es-AR" sz="1600" i="1"/>
                                    </m:ctrlPr>
                                  </m:fPr>
                                  <m:num>
                                    <m:r>
                                      <a:rPr lang="es-AR" sz="1600" i="1"/>
                                      <m:t>1</m:t>
                                    </m:r>
                                  </m:num>
                                  <m:den>
                                    <m:sSub>
                                      <m:sSubPr>
                                        <m:ctrlPr>
                                          <a:rPr lang="es-AR" sz="1600" i="1"/>
                                        </m:ctrlPr>
                                      </m:sSubPr>
                                      <m:e>
                                        <m:r>
                                          <a:rPr lang="es-AR" sz="1600" i="1"/>
                                          <m:t>𝐽</m:t>
                                        </m:r>
                                      </m:e>
                                      <m:sub>
                                        <m:r>
                                          <a:rPr lang="es-AR" sz="1600" i="1"/>
                                          <m:t>𝑒𝑞</m:t>
                                        </m:r>
                                      </m:sub>
                                    </m:sSub>
                                  </m:den>
                                </m:f>
                                <m:d>
                                  <m:dPr>
                                    <m:begChr m:val="["/>
                                    <m:endChr m:val="]"/>
                                    <m:ctrlPr>
                                      <a:rPr lang="es-AR" sz="1600" i="1"/>
                                    </m:ctrlPr>
                                  </m:dPr>
                                  <m:e>
                                    <m:f>
                                      <m:fPr>
                                        <m:ctrlPr>
                                          <a:rPr lang="es-AR" sz="1600" i="1"/>
                                        </m:ctrlPr>
                                      </m:fPr>
                                      <m:num>
                                        <m:r>
                                          <a:rPr lang="es-AR" sz="1600" i="1"/>
                                          <m:t>3</m:t>
                                        </m:r>
                                      </m:num>
                                      <m:den>
                                        <m:r>
                                          <a:rPr lang="es-AR" sz="1600" i="1"/>
                                          <m:t>2</m:t>
                                        </m:r>
                                      </m:den>
                                    </m:f>
                                    <m:sSub>
                                      <m:sSubPr>
                                        <m:ctrlPr>
                                          <a:rPr lang="es-AR" sz="1600" i="1"/>
                                        </m:ctrlPr>
                                      </m:sSubPr>
                                      <m:e>
                                        <m:r>
                                          <a:rPr lang="es-AR" sz="1600" i="1"/>
                                          <m:t>𝑃</m:t>
                                        </m:r>
                                      </m:e>
                                      <m:sub>
                                        <m:r>
                                          <a:rPr lang="es-AR" sz="1600" i="1"/>
                                          <m:t>𝑝</m:t>
                                        </m:r>
                                      </m:sub>
                                    </m:sSub>
                                    <m:d>
                                      <m:dPr>
                                        <m:ctrlPr>
                                          <a:rPr lang="es-AR" sz="1600" i="1"/>
                                        </m:ctrlPr>
                                      </m:dPr>
                                      <m:e>
                                        <m:sSubSup>
                                          <m:sSubSupPr>
                                            <m:ctrlPr>
                                              <a:rPr lang="es-AR" sz="1600" i="1"/>
                                            </m:ctrlPr>
                                          </m:sSubSupPr>
                                          <m:e>
                                            <m:r>
                                              <a:rPr lang="es-AR" sz="1600" i="1"/>
                                              <m:t>𝜆</m:t>
                                            </m:r>
                                          </m:e>
                                          <m:sub>
                                            <m:r>
                                              <a:rPr lang="es-AR" sz="1600" i="1"/>
                                              <m:t>𝑚</m:t>
                                            </m:r>
                                          </m:sub>
                                          <m:sup>
                                            <m:r>
                                              <a:rPr lang="es-AR" sz="1600" i="1"/>
                                              <m:t>ˊ</m:t>
                                            </m:r>
                                            <m:r>
                                              <a:rPr lang="es-AR" sz="1600" i="1"/>
                                              <m:t>𝑟</m:t>
                                            </m:r>
                                          </m:sup>
                                        </m:sSubSup>
                                        <m:r>
                                          <a:rPr lang="es-AR" sz="1600" i="1"/>
                                          <m:t>+</m:t>
                                        </m:r>
                                        <m:d>
                                          <m:dPr>
                                            <m:ctrlPr>
                                              <a:rPr lang="es-AR" sz="1600" i="1"/>
                                            </m:ctrlPr>
                                          </m:dPr>
                                          <m:e>
                                            <m:sSub>
                                              <m:sSubPr>
                                                <m:ctrlPr>
                                                  <a:rPr lang="es-AR" sz="1600" i="1"/>
                                                </m:ctrlPr>
                                              </m:sSubPr>
                                              <m:e>
                                                <m:r>
                                                  <a:rPr lang="es-AR" sz="1600" i="1"/>
                                                  <m:t>𝐿</m:t>
                                                </m:r>
                                              </m:e>
                                              <m:sub>
                                                <m:r>
                                                  <a:rPr lang="es-AR" sz="1600" i="1"/>
                                                  <m:t>𝑑</m:t>
                                                </m:r>
                                              </m:sub>
                                            </m:sSub>
                                            <m:r>
                                              <a:rPr lang="es-AR" sz="1600" i="1"/>
                                              <m:t>−</m:t>
                                            </m:r>
                                            <m:sSub>
                                              <m:sSubPr>
                                                <m:ctrlPr>
                                                  <a:rPr lang="es-AR" sz="1600" i="1"/>
                                                </m:ctrlPr>
                                              </m:sSubPr>
                                              <m:e>
                                                <m:r>
                                                  <a:rPr lang="es-AR" sz="1600" i="1"/>
                                                  <m:t>𝐿</m:t>
                                                </m:r>
                                              </m:e>
                                              <m:sub>
                                                <m:r>
                                                  <a:rPr lang="es-AR" sz="1600" i="1"/>
                                                  <m:t>𝑞</m:t>
                                                </m:r>
                                              </m:sub>
                                            </m:sSub>
                                          </m:e>
                                        </m:d>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e>
                                    </m:d>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𝑏</m:t>
                                        </m:r>
                                      </m:e>
                                      <m:sub>
                                        <m:r>
                                          <a:rPr lang="es-AR" sz="1600" i="1"/>
                                          <m:t>𝑒𝑞</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r>
                                      <a:rPr lang="es-AR" sz="1600" i="1"/>
                                      <m:t>−</m:t>
                                    </m:r>
                                    <m:f>
                                      <m:fPr>
                                        <m:ctrlPr>
                                          <a:rPr lang="es-AR" sz="1600" i="1"/>
                                        </m:ctrlPr>
                                      </m:fPr>
                                      <m:num>
                                        <m:r>
                                          <a:rPr lang="es-AR" sz="1600" i="1"/>
                                          <m:t>1</m:t>
                                        </m:r>
                                      </m:num>
                                      <m:den>
                                        <m:r>
                                          <a:rPr lang="es-AR" sz="1600" i="1"/>
                                          <m:t>𝑟</m:t>
                                        </m:r>
                                      </m:den>
                                    </m:f>
                                    <m:d>
                                      <m:dPr>
                                        <m:ctrlPr>
                                          <a:rPr lang="es-AR" sz="1600" i="1"/>
                                        </m:ctrlPr>
                                      </m:dPr>
                                      <m:e>
                                        <m:sSub>
                                          <m:sSubPr>
                                            <m:ctrlPr>
                                              <a:rPr lang="es-AR" sz="1600" i="1"/>
                                            </m:ctrlPr>
                                          </m:sSubPr>
                                          <m:e>
                                            <m:r>
                                              <a:rPr lang="es-AR" sz="1600" i="1"/>
                                              <m:t>𝑇</m:t>
                                            </m:r>
                                          </m:e>
                                          <m:sub>
                                            <m:r>
                                              <a:rPr lang="es-AR" sz="1600" i="1"/>
                                              <m:t>𝑙𝑑</m:t>
                                            </m:r>
                                          </m:sub>
                                        </m:sSub>
                                        <m:d>
                                          <m:dPr>
                                            <m:ctrlPr>
                                              <a:rPr lang="es-AR" sz="1600" i="1"/>
                                            </m:ctrlPr>
                                          </m:dPr>
                                          <m:e>
                                            <m:r>
                                              <a:rPr lang="es-AR" sz="1600" i="1"/>
                                              <m:t>𝑡</m:t>
                                            </m:r>
                                          </m:e>
                                        </m:d>
                                        <m:r>
                                          <a:rPr lang="es-AR" sz="1600" i="1"/>
                                          <m:t>+</m:t>
                                        </m:r>
                                        <m:r>
                                          <a:rPr lang="es-AR" sz="1600" i="1"/>
                                          <m:t>𝑔</m:t>
                                        </m:r>
                                        <m:r>
                                          <a:rPr lang="es-AR" sz="1600" i="1"/>
                                          <m:t> </m:t>
                                        </m:r>
                                        <m:sSub>
                                          <m:sSubPr>
                                            <m:ctrlPr>
                                              <a:rPr lang="es-AR" sz="1600" i="1"/>
                                            </m:ctrlPr>
                                          </m:sSubPr>
                                          <m:e>
                                            <m:r>
                                              <a:rPr lang="es-AR" sz="1600" i="1"/>
                                              <m:t>𝑘</m:t>
                                            </m:r>
                                          </m:e>
                                          <m:sub>
                                            <m:r>
                                              <a:rPr lang="es-AR" sz="1600" i="1"/>
                                              <m:t>𝑙</m:t>
                                            </m:r>
                                          </m:sub>
                                        </m:sSub>
                                        <m:func>
                                          <m:funcPr>
                                            <m:ctrlPr>
                                              <a:rPr lang="es-AR" sz="1600" i="1"/>
                                            </m:ctrlPr>
                                          </m:funcPr>
                                          <m:fName>
                                            <m:r>
                                              <a:rPr lang="es-AR" sz="1600" i="1"/>
                                              <m:t>𝑠𝑖𝑛</m:t>
                                            </m:r>
                                          </m:fName>
                                          <m:e>
                                            <m:d>
                                              <m:dPr>
                                                <m:ctrlPr>
                                                  <a:rPr lang="es-AR" sz="1600" i="1"/>
                                                </m:ctrlPr>
                                              </m:dPr>
                                              <m:e>
                                                <m:f>
                                                  <m:fPr>
                                                    <m:ctrlPr>
                                                      <a:rPr lang="es-AR" sz="1600" i="1"/>
                                                    </m:ctrlPr>
                                                  </m:fPr>
                                                  <m:num>
                                                    <m:sSub>
                                                      <m:sSubPr>
                                                        <m:ctrlPr>
                                                          <a:rPr lang="es-AR" sz="1600" i="1"/>
                                                        </m:ctrlPr>
                                                      </m:sSubPr>
                                                      <m:e>
                                                        <m:r>
                                                          <a:rPr lang="es-AR" sz="1600" i="1"/>
                                                          <m:t>𝜃</m:t>
                                                        </m:r>
                                                      </m:e>
                                                      <m:sub>
                                                        <m:r>
                                                          <a:rPr lang="es-AR" sz="1600" i="1"/>
                                                          <m:t>𝑚</m:t>
                                                        </m:r>
                                                      </m:sub>
                                                    </m:sSub>
                                                    <m:d>
                                                      <m:dPr>
                                                        <m:ctrlPr>
                                                          <a:rPr lang="es-AR" sz="1600" i="1"/>
                                                        </m:ctrlPr>
                                                      </m:dPr>
                                                      <m:e>
                                                        <m:r>
                                                          <a:rPr lang="es-AR" sz="1600" i="1"/>
                                                          <m:t>𝑡</m:t>
                                                        </m:r>
                                                      </m:e>
                                                    </m:d>
                                                  </m:num>
                                                  <m:den>
                                                    <m:r>
                                                      <a:rPr lang="es-AR" sz="1600" i="1"/>
                                                      <m:t>𝑟</m:t>
                                                    </m:r>
                                                  </m:den>
                                                </m:f>
                                              </m:e>
                                            </m:d>
                                          </m:e>
                                        </m:func>
                                      </m:e>
                                    </m:d>
                                  </m:e>
                                </m:d>
                                <m:r>
                                  <a:rPr lang="es-AR" sz="1600" i="1"/>
                                  <m:t>          </m:t>
                                </m:r>
                              </m:e>
                            </m:mr>
                            <m:mr>
                              <m:e>
                                <m:m>
                                  <m:mPr>
                                    <m:mcs>
                                      <m:mc>
                                        <m:mcPr>
                                          <m:count m:val="1"/>
                                          <m:mcJc m:val="center"/>
                                        </m:mcPr>
                                      </m:mc>
                                    </m:mcs>
                                    <m:ctrlPr>
                                      <a:rPr lang="es-AR" sz="1600" i="1"/>
                                    </m:ctrlPr>
                                  </m:mPr>
                                  <m:mr>
                                    <m:e>
                                      <m:f>
                                        <m:fPr>
                                          <m:ctrlPr>
                                            <a:rPr lang="es-AR" sz="1600" i="1"/>
                                          </m:ctrlPr>
                                        </m:fPr>
                                        <m:num>
                                          <m:r>
                                            <a:rPr lang="es-AR" sz="1600" i="1"/>
                                            <m:t>𝑑</m:t>
                                          </m:r>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num>
                                        <m:den>
                                          <m:r>
                                            <a:rPr lang="es-AR" sz="1600" i="1"/>
                                            <m:t>𝑑𝑡</m:t>
                                          </m:r>
                                        </m:den>
                                      </m:f>
                                      <m:r>
                                        <a:rPr lang="es-AR" sz="1600" i="1"/>
                                        <m:t>=</m:t>
                                      </m:r>
                                      <m:f>
                                        <m:fPr>
                                          <m:ctrlPr>
                                            <a:rPr lang="es-AR" sz="1600" i="1"/>
                                          </m:ctrlPr>
                                        </m:fPr>
                                        <m:num>
                                          <m:r>
                                            <a:rPr lang="es-AR" sz="1600" i="1"/>
                                            <m:t>1</m:t>
                                          </m:r>
                                        </m:num>
                                        <m:den>
                                          <m:sSub>
                                            <m:sSubPr>
                                              <m:ctrlPr>
                                                <a:rPr lang="es-AR" sz="1600" i="1"/>
                                              </m:ctrlPr>
                                            </m:sSubPr>
                                            <m:e>
                                              <m:r>
                                                <a:rPr lang="es-AR" sz="1600" i="1"/>
                                                <m:t>𝐿</m:t>
                                              </m:r>
                                            </m:e>
                                            <m:sub>
                                              <m:r>
                                                <a:rPr lang="es-AR" sz="1600" i="1"/>
                                                <m:t>𝑞</m:t>
                                              </m:r>
                                            </m:sub>
                                          </m:sSub>
                                        </m:den>
                                      </m:f>
                                      <m:d>
                                        <m:dPr>
                                          <m:begChr m:val="["/>
                                          <m:endChr m:val="]"/>
                                          <m:ctrlPr>
                                            <a:rPr lang="es-AR" sz="1600" i="1"/>
                                          </m:ctrlPr>
                                        </m:dPr>
                                        <m:e>
                                          <m:sSubSup>
                                            <m:sSubSupPr>
                                              <m:ctrlPr>
                                                <a:rPr lang="es-AR" sz="1600" i="1"/>
                                              </m:ctrlPr>
                                            </m:sSubSupPr>
                                            <m:e>
                                              <m:r>
                                                <a:rPr lang="es-AR" sz="1600" i="1"/>
                                                <m:t>𝑣</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𝑅</m:t>
                                              </m:r>
                                            </m:e>
                                            <m:sub>
                                              <m:r>
                                                <a:rPr lang="es-AR" sz="1600" i="1"/>
                                                <m:t>𝑠</m:t>
                                              </m:r>
                                            </m:sub>
                                          </m:sSub>
                                          <m:d>
                                            <m:dPr>
                                              <m:ctrlPr>
                                                <a:rPr lang="es-AR" sz="1600" i="1"/>
                                              </m:ctrlPr>
                                            </m:dPr>
                                            <m:e>
                                              <m:sSubSup>
                                                <m:sSubSupPr>
                                                  <m:ctrlPr>
                                                    <a:rPr lang="es-AR" sz="1600" i="1"/>
                                                  </m:ctrlPr>
                                                </m:sSubSupPr>
                                                <m:e>
                                                  <m:r>
                                                    <a:rPr lang="es-AR" sz="1600" i="1"/>
                                                    <m:t>𝑇</m:t>
                                                  </m:r>
                                                </m:e>
                                                <m:sub>
                                                  <m:r>
                                                    <a:rPr lang="es-AR" sz="1600" i="1"/>
                                                    <m:t>𝑠</m:t>
                                                  </m:r>
                                                </m:sub>
                                                <m:sup>
                                                  <m:r>
                                                    <a:rPr lang="es-AR" sz="1600" i="1"/>
                                                    <m:t>𝑜</m:t>
                                                  </m:r>
                                                </m:sup>
                                              </m:sSubSup>
                                              <m:d>
                                                <m:dPr>
                                                  <m:ctrlPr>
                                                    <a:rPr lang="es-AR" sz="1600" i="1"/>
                                                  </m:ctrlPr>
                                                </m:dPr>
                                                <m:e>
                                                  <m:r>
                                                    <a:rPr lang="es-AR" sz="1600" i="1"/>
                                                    <m:t>𝑡</m:t>
                                                  </m:r>
                                                </m:e>
                                              </m:d>
                                            </m:e>
                                          </m:d>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d>
                                            <m:dPr>
                                              <m:ctrlPr>
                                                <a:rPr lang="es-AR" sz="1600" i="1"/>
                                              </m:ctrlPr>
                                            </m:dPr>
                                            <m:e>
                                              <m:sSubSup>
                                                <m:sSubSupPr>
                                                  <m:ctrlPr>
                                                    <a:rPr lang="es-AR" sz="1600" i="1"/>
                                                  </m:ctrlPr>
                                                </m:sSubSupPr>
                                                <m:e>
                                                  <m:r>
                                                    <a:rPr lang="es-AR" sz="1600" i="1"/>
                                                    <m:t>𝜆</m:t>
                                                  </m:r>
                                                </m:e>
                                                <m:sub>
                                                  <m:r>
                                                    <a:rPr lang="es-AR" sz="1600" i="1"/>
                                                    <m:t>𝑚</m:t>
                                                  </m:r>
                                                </m:sub>
                                                <m:sup>
                                                  <m:r>
                                                    <a:rPr lang="es-AR" sz="1600" i="1"/>
                                                    <m:t>ˊ</m:t>
                                                  </m:r>
                                                  <m:r>
                                                    <a:rPr lang="es-AR" sz="1600" i="1"/>
                                                    <m:t>𝑟</m:t>
                                                  </m:r>
                                                </m:sup>
                                              </m:sSubSup>
                                              <m:r>
                                                <a:rPr lang="es-AR" sz="1600" i="1"/>
                                                <m:t>+</m:t>
                                              </m:r>
                                              <m:sSub>
                                                <m:sSubPr>
                                                  <m:ctrlPr>
                                                    <a:rPr lang="es-AR" sz="1600" i="1"/>
                                                  </m:ctrlPr>
                                                </m:sSubPr>
                                                <m:e>
                                                  <m:r>
                                                    <a:rPr lang="es-AR" sz="1600" i="1"/>
                                                    <m:t>𝐿</m:t>
                                                  </m:r>
                                                </m:e>
                                                <m:sub>
                                                  <m:r>
                                                    <a:rPr lang="es-AR" sz="1600" i="1"/>
                                                    <m:t>𝑑</m:t>
                                                  </m:r>
                                                </m:sub>
                                              </m:sSub>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e>
                                          </m:d>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e>
                                      </m:d>
                                      <m:r>
                                        <a:rPr lang="es-AR" sz="1600" i="1"/>
                                        <m:t>                                                             </m:t>
                                      </m:r>
                                    </m:e>
                                  </m:mr>
                                  <m:mr>
                                    <m:e>
                                      <m:f>
                                        <m:fPr>
                                          <m:ctrlPr>
                                            <a:rPr lang="es-AR" sz="1600" i="1"/>
                                          </m:ctrlPr>
                                        </m:fPr>
                                        <m:num>
                                          <m:r>
                                            <a:rPr lang="es-AR" sz="1600" i="1"/>
                                            <m:t>𝑑</m:t>
                                          </m:r>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num>
                                        <m:den>
                                          <m:r>
                                            <a:rPr lang="es-AR" sz="1600" i="1"/>
                                            <m:t>𝑑𝑡</m:t>
                                          </m:r>
                                        </m:den>
                                      </m:f>
                                      <m:r>
                                        <a:rPr lang="es-AR" sz="1600" i="1"/>
                                        <m:t>=</m:t>
                                      </m:r>
                                      <m:f>
                                        <m:fPr>
                                          <m:ctrlPr>
                                            <a:rPr lang="es-AR" sz="1600" i="1"/>
                                          </m:ctrlPr>
                                        </m:fPr>
                                        <m:num>
                                          <m:r>
                                            <a:rPr lang="es-AR" sz="1600" i="1"/>
                                            <m:t>1</m:t>
                                          </m:r>
                                        </m:num>
                                        <m:den>
                                          <m:sSub>
                                            <m:sSubPr>
                                              <m:ctrlPr>
                                                <a:rPr lang="es-AR" sz="1600" i="1"/>
                                              </m:ctrlPr>
                                            </m:sSubPr>
                                            <m:e>
                                              <m:r>
                                                <a:rPr lang="es-AR" sz="1600" i="1"/>
                                                <m:t>𝐿</m:t>
                                              </m:r>
                                            </m:e>
                                            <m:sub>
                                              <m:r>
                                                <a:rPr lang="es-AR" sz="1600" i="1"/>
                                                <m:t>𝑑</m:t>
                                              </m:r>
                                            </m:sub>
                                          </m:sSub>
                                        </m:den>
                                      </m:f>
                                      <m:d>
                                        <m:dPr>
                                          <m:begChr m:val="["/>
                                          <m:endChr m:val="]"/>
                                          <m:ctrlPr>
                                            <a:rPr lang="es-AR" sz="1600" i="1"/>
                                          </m:ctrlPr>
                                        </m:dPr>
                                        <m:e>
                                          <m:sSubSup>
                                            <m:sSubSupPr>
                                              <m:ctrlPr>
                                                <a:rPr lang="es-AR" sz="1600" i="1"/>
                                              </m:ctrlPr>
                                            </m:sSubSupPr>
                                            <m:e>
                                              <m:r>
                                                <a:rPr lang="es-AR" sz="1600" i="1"/>
                                                <m:t>𝑣</m:t>
                                              </m:r>
                                            </m:e>
                                            <m:sub>
                                              <m:r>
                                                <a:rPr lang="es-AR" sz="1600" i="1"/>
                                                <m:t>𝑑𝑠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𝑅</m:t>
                                              </m:r>
                                            </m:e>
                                            <m:sub>
                                              <m:r>
                                                <a:rPr lang="es-AR" sz="1600" i="1"/>
                                                <m:t>𝑠</m:t>
                                              </m:r>
                                            </m:sub>
                                          </m:sSub>
                                          <m:d>
                                            <m:dPr>
                                              <m:ctrlPr>
                                                <a:rPr lang="es-AR" sz="1600" i="1"/>
                                              </m:ctrlPr>
                                            </m:dPr>
                                            <m:e>
                                              <m:sSubSup>
                                                <m:sSubSupPr>
                                                  <m:ctrlPr>
                                                    <a:rPr lang="es-AR" sz="1600" i="1"/>
                                                  </m:ctrlPr>
                                                </m:sSubSupPr>
                                                <m:e>
                                                  <m:r>
                                                    <a:rPr lang="es-AR" sz="1600" i="1"/>
                                                    <m:t>𝑇</m:t>
                                                  </m:r>
                                                </m:e>
                                                <m:sub>
                                                  <m:r>
                                                    <a:rPr lang="es-AR" sz="1600" i="1"/>
                                                    <m:t>𝑠</m:t>
                                                  </m:r>
                                                </m:sub>
                                                <m:sup>
                                                  <m:r>
                                                    <a:rPr lang="es-AR" sz="1600" i="1"/>
                                                    <m:t>𝑜</m:t>
                                                  </m:r>
                                                </m:sup>
                                              </m:sSubSup>
                                              <m:d>
                                                <m:dPr>
                                                  <m:ctrlPr>
                                                    <a:rPr lang="es-AR" sz="1600" i="1"/>
                                                  </m:ctrlPr>
                                                </m:dPr>
                                                <m:e>
                                                  <m:r>
                                                    <a:rPr lang="es-AR" sz="1600" i="1"/>
                                                    <m:t>𝑡</m:t>
                                                  </m:r>
                                                </m:e>
                                              </m:d>
                                            </m:e>
                                          </m:d>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𝐿</m:t>
                                              </m:r>
                                            </m:e>
                                            <m:sub>
                                              <m:r>
                                                <a:rPr lang="es-AR" sz="1600" i="1"/>
                                                <m:t>𝑞</m:t>
                                              </m:r>
                                            </m:sub>
                                          </m:sSub>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e>
                                      </m:d>
                                      <m:r>
                                        <a:rPr lang="es-AR" sz="1600" i="1"/>
                                        <m:t>                                                                             </m:t>
                                      </m:r>
                                    </m:e>
                                  </m:mr>
                                  <m:mr>
                                    <m:e>
                                      <m:m>
                                        <m:mPr>
                                          <m:mcs>
                                            <m:mc>
                                              <m:mcPr>
                                                <m:count m:val="1"/>
                                                <m:mcJc m:val="center"/>
                                              </m:mcPr>
                                            </m:mc>
                                          </m:mcs>
                                          <m:ctrlPr>
                                            <a:rPr lang="es-AR" sz="1600" i="1"/>
                                          </m:ctrlPr>
                                        </m:mPr>
                                        <m:mr>
                                          <m:e>
                                            <m:f>
                                              <m:fPr>
                                                <m:ctrlPr>
                                                  <a:rPr lang="es-AR" sz="1600" i="1"/>
                                                </m:ctrlPr>
                                              </m:fPr>
                                              <m:num>
                                                <m:r>
                                                  <a:rPr lang="es-AR" sz="1600" i="1"/>
                                                  <m:t>𝑑</m:t>
                                                </m:r>
                                                <m:sSubSup>
                                                  <m:sSubSupPr>
                                                    <m:ctrlPr>
                                                      <a:rPr lang="es-AR" sz="1600" i="1"/>
                                                    </m:ctrlPr>
                                                  </m:sSubSupPr>
                                                  <m:e>
                                                    <m:r>
                                                      <a:rPr lang="es-AR" sz="1600" i="1"/>
                                                      <m:t>𝑖</m:t>
                                                    </m:r>
                                                  </m:e>
                                                  <m:sub>
                                                    <m:r>
                                                      <a:rPr lang="es-AR" sz="1600" i="1"/>
                                                      <m:t>0</m:t>
                                                    </m:r>
                                                    <m:r>
                                                      <a:rPr lang="es-AR" sz="1600" i="1"/>
                                                      <m:t>𝑠</m:t>
                                                    </m:r>
                                                  </m:sub>
                                                  <m:sup>
                                                    <m:r>
                                                      <a:rPr lang="es-AR" sz="1600" i="1"/>
                                                      <m:t>𝑟</m:t>
                                                    </m:r>
                                                  </m:sup>
                                                </m:sSubSup>
                                                <m:d>
                                                  <m:dPr>
                                                    <m:ctrlPr>
                                                      <a:rPr lang="es-AR" sz="1600" i="1"/>
                                                    </m:ctrlPr>
                                                  </m:dPr>
                                                  <m:e>
                                                    <m:r>
                                                      <a:rPr lang="es-AR" sz="1600" i="1"/>
                                                      <m:t>𝑡</m:t>
                                                    </m:r>
                                                  </m:e>
                                                </m:d>
                                              </m:num>
                                              <m:den>
                                                <m:r>
                                                  <a:rPr lang="es-AR" sz="1600" i="1"/>
                                                  <m:t>𝑑𝑡</m:t>
                                                </m:r>
                                              </m:den>
                                            </m:f>
                                            <m:r>
                                              <a:rPr lang="es-AR" sz="1600" i="1"/>
                                              <m:t>=</m:t>
                                            </m:r>
                                            <m:f>
                                              <m:fPr>
                                                <m:ctrlPr>
                                                  <a:rPr lang="es-AR" sz="1600" i="1"/>
                                                </m:ctrlPr>
                                              </m:fPr>
                                              <m:num>
                                                <m:r>
                                                  <a:rPr lang="es-AR" sz="1600" i="1"/>
                                                  <m:t>1</m:t>
                                                </m:r>
                                              </m:num>
                                              <m:den>
                                                <m:sSub>
                                                  <m:sSubPr>
                                                    <m:ctrlPr>
                                                      <a:rPr lang="es-AR" sz="1600" i="1"/>
                                                    </m:ctrlPr>
                                                  </m:sSubPr>
                                                  <m:e>
                                                    <m:r>
                                                      <a:rPr lang="es-AR" sz="1600" i="1"/>
                                                      <m:t>𝐿</m:t>
                                                    </m:r>
                                                  </m:e>
                                                  <m:sub>
                                                    <m:r>
                                                      <a:rPr lang="es-AR" sz="1600" i="1"/>
                                                      <m:t>𝑙𝑠</m:t>
                                                    </m:r>
                                                  </m:sub>
                                                </m:sSub>
                                              </m:den>
                                            </m:f>
                                            <m:d>
                                              <m:dPr>
                                                <m:begChr m:val="["/>
                                                <m:endChr m:val="]"/>
                                                <m:ctrlPr>
                                                  <a:rPr lang="es-AR" sz="1600" i="1"/>
                                                </m:ctrlPr>
                                              </m:dPr>
                                              <m:e>
                                                <m:sSubSup>
                                                  <m:sSubSupPr>
                                                    <m:ctrlPr>
                                                      <a:rPr lang="es-AR" sz="1600" i="1"/>
                                                    </m:ctrlPr>
                                                  </m:sSubSupPr>
                                                  <m:e>
                                                    <m:r>
                                                      <a:rPr lang="es-AR" sz="1600" i="1"/>
                                                      <m:t>𝑣</m:t>
                                                    </m:r>
                                                  </m:e>
                                                  <m:sub>
                                                    <m:r>
                                                      <a:rPr lang="es-AR" sz="1600" i="1"/>
                                                      <m:t>0</m:t>
                                                    </m:r>
                                                    <m:r>
                                                      <a:rPr lang="es-AR" sz="1600" i="1"/>
                                                      <m:t>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𝑅</m:t>
                                                    </m:r>
                                                  </m:e>
                                                  <m:sub>
                                                    <m:r>
                                                      <a:rPr lang="es-AR" sz="1600" i="1"/>
                                                      <m:t>𝑠</m:t>
                                                    </m:r>
                                                  </m:sub>
                                                </m:sSub>
                                                <m:d>
                                                  <m:dPr>
                                                    <m:ctrlPr>
                                                      <a:rPr lang="es-AR" sz="1600" i="1"/>
                                                    </m:ctrlPr>
                                                  </m:dPr>
                                                  <m:e>
                                                    <m:sSubSup>
                                                      <m:sSubSupPr>
                                                        <m:ctrlPr>
                                                          <a:rPr lang="es-AR" sz="1600" i="1"/>
                                                        </m:ctrlPr>
                                                      </m:sSubSupPr>
                                                      <m:e>
                                                        <m:r>
                                                          <a:rPr lang="es-AR" sz="1600" i="1"/>
                                                          <m:t>𝑇</m:t>
                                                        </m:r>
                                                      </m:e>
                                                      <m:sub>
                                                        <m:r>
                                                          <a:rPr lang="es-AR" sz="1600" i="1"/>
                                                          <m:t>𝑠</m:t>
                                                        </m:r>
                                                      </m:sub>
                                                      <m:sup>
                                                        <m:r>
                                                          <a:rPr lang="es-AR" sz="1600" i="1"/>
                                                          <m:t>𝑜</m:t>
                                                        </m:r>
                                                      </m:sup>
                                                    </m:sSubSup>
                                                    <m:d>
                                                      <m:dPr>
                                                        <m:ctrlPr>
                                                          <a:rPr lang="es-AR" sz="1600" i="1"/>
                                                        </m:ctrlPr>
                                                      </m:dPr>
                                                      <m:e>
                                                        <m:r>
                                                          <a:rPr lang="es-AR" sz="1600" i="1"/>
                                                          <m:t>𝑡</m:t>
                                                        </m:r>
                                                      </m:e>
                                                    </m:d>
                                                  </m:e>
                                                </m:d>
                                                <m:sSubSup>
                                                  <m:sSubSupPr>
                                                    <m:ctrlPr>
                                                      <a:rPr lang="es-AR" sz="1600" i="1"/>
                                                    </m:ctrlPr>
                                                  </m:sSubSupPr>
                                                  <m:e>
                                                    <m:r>
                                                      <a:rPr lang="es-AR" sz="1600" i="1"/>
                                                      <m:t>𝑖</m:t>
                                                    </m:r>
                                                  </m:e>
                                                  <m:sub>
                                                    <m:r>
                                                      <a:rPr lang="es-AR" sz="1600" i="1"/>
                                                      <m:t>0</m:t>
                                                    </m:r>
                                                    <m:r>
                                                      <a:rPr lang="es-AR" sz="1600" i="1"/>
                                                      <m:t>𝑠</m:t>
                                                    </m:r>
                                                  </m:sub>
                                                  <m:sup>
                                                    <m:r>
                                                      <a:rPr lang="es-AR" sz="1600" i="1"/>
                                                      <m:t>𝑟</m:t>
                                                    </m:r>
                                                  </m:sup>
                                                </m:sSubSup>
                                                <m:d>
                                                  <m:dPr>
                                                    <m:ctrlPr>
                                                      <a:rPr lang="es-AR" sz="1600" i="1"/>
                                                    </m:ctrlPr>
                                                  </m:dPr>
                                                  <m:e>
                                                    <m:r>
                                                      <a:rPr lang="es-AR" sz="1600" i="1"/>
                                                      <m:t>𝑡</m:t>
                                                    </m:r>
                                                  </m:e>
                                                </m:d>
                                              </m:e>
                                            </m:d>
                                            <m:r>
                                              <a:rPr lang="es-AR" sz="1600" i="1"/>
                                              <m:t>                                                                                                                 </m:t>
                                            </m:r>
                                          </m:e>
                                        </m:mr>
                                        <m:mr>
                                          <m:e>
                                            <m:f>
                                              <m:fPr>
                                                <m:ctrlPr>
                                                  <a:rPr lang="es-AR" sz="1600" i="1"/>
                                                </m:ctrlPr>
                                              </m:fPr>
                                              <m:num>
                                                <m:r>
                                                  <a:rPr lang="es-AR" sz="1600" i="1"/>
                                                  <m:t>𝑑</m:t>
                                                </m:r>
                                                <m:sSub>
                                                  <m:sSubPr>
                                                    <m:ctrlPr>
                                                      <a:rPr lang="es-AR" sz="1600" i="1"/>
                                                    </m:ctrlPr>
                                                  </m:sSubPr>
                                                  <m:e>
                                                    <m:r>
                                                      <a:rPr lang="es-AR" sz="1600" i="1"/>
                                                      <m:t>𝑇</m:t>
                                                    </m:r>
                                                  </m:e>
                                                  <m:sub>
                                                    <m:r>
                                                      <a:rPr lang="es-AR" sz="1600" i="1"/>
                                                      <m:t>𝑠</m:t>
                                                    </m:r>
                                                  </m:sub>
                                                </m:sSub>
                                                <m:d>
                                                  <m:dPr>
                                                    <m:ctrlPr>
                                                      <a:rPr lang="es-AR" sz="1600" i="1"/>
                                                    </m:ctrlPr>
                                                  </m:dPr>
                                                  <m:e>
                                                    <m:r>
                                                      <a:rPr lang="es-AR" sz="1600" i="1"/>
                                                      <m:t>𝑡</m:t>
                                                    </m:r>
                                                  </m:e>
                                                </m:d>
                                              </m:num>
                                              <m:den>
                                                <m:r>
                                                  <a:rPr lang="es-AR" sz="1600" i="1"/>
                                                  <m:t>𝑑𝑡</m:t>
                                                </m:r>
                                              </m:den>
                                            </m:f>
                                            <m:r>
                                              <a:rPr lang="es-AR" sz="1600" i="1"/>
                                              <m:t>=</m:t>
                                            </m:r>
                                            <m:f>
                                              <m:fPr>
                                                <m:ctrlPr>
                                                  <a:rPr lang="es-AR" sz="1600" i="1"/>
                                                </m:ctrlPr>
                                              </m:fPr>
                                              <m:num>
                                                <m:r>
                                                  <a:rPr lang="es-AR" sz="1600" i="1"/>
                                                  <m:t>1</m:t>
                                                </m:r>
                                              </m:num>
                                              <m:den>
                                                <m:sSub>
                                                  <m:sSubPr>
                                                    <m:ctrlPr>
                                                      <a:rPr lang="es-AR" sz="1600" i="1"/>
                                                    </m:ctrlPr>
                                                  </m:sSubPr>
                                                  <m:e>
                                                    <m:r>
                                                      <a:rPr lang="es-AR" sz="1600" i="1"/>
                                                      <m:t>𝐶</m:t>
                                                    </m:r>
                                                  </m:e>
                                                  <m:sub>
                                                    <m:r>
                                                      <a:rPr lang="es-AR" sz="1600" i="1"/>
                                                      <m:t>𝑡𝑠</m:t>
                                                    </m:r>
                                                  </m:sub>
                                                </m:sSub>
                                              </m:den>
                                            </m:f>
                                            <m:d>
                                              <m:dPr>
                                                <m:begChr m:val="["/>
                                                <m:endChr m:val="]"/>
                                                <m:ctrlPr>
                                                  <a:rPr lang="es-AR" sz="1600" i="1"/>
                                                </m:ctrlPr>
                                              </m:dPr>
                                              <m:e>
                                                <m:f>
                                                  <m:fPr>
                                                    <m:ctrlPr>
                                                      <a:rPr lang="es-AR" sz="1600" i="1"/>
                                                    </m:ctrlPr>
                                                  </m:fPr>
                                                  <m:num>
                                                    <m:r>
                                                      <a:rPr lang="es-AR" sz="1600" i="1"/>
                                                      <m:t>3</m:t>
                                                    </m:r>
                                                  </m:num>
                                                  <m:den>
                                                    <m:r>
                                                      <a:rPr lang="es-AR" sz="1600" i="1"/>
                                                      <m:t>2</m:t>
                                                    </m:r>
                                                  </m:den>
                                                </m:f>
                                                <m:sSub>
                                                  <m:sSubPr>
                                                    <m:ctrlPr>
                                                      <a:rPr lang="es-AR" sz="1600" i="1"/>
                                                    </m:ctrlPr>
                                                  </m:sSubPr>
                                                  <m:e>
                                                    <m:r>
                                                      <a:rPr lang="es-AR" sz="1600" i="1"/>
                                                      <m:t>𝑅</m:t>
                                                    </m:r>
                                                  </m:e>
                                                  <m:sub>
                                                    <m:r>
                                                      <a:rPr lang="es-AR" sz="1600" i="1"/>
                                                      <m:t>𝑠</m:t>
                                                    </m:r>
                                                  </m:sub>
                                                </m:sSub>
                                                <m:d>
                                                  <m:dPr>
                                                    <m:ctrlPr>
                                                      <a:rPr lang="es-AR" sz="1600" i="1"/>
                                                    </m:ctrlPr>
                                                  </m:dPr>
                                                  <m:e>
                                                    <m:sSubSup>
                                                      <m:sSubSupPr>
                                                        <m:ctrlPr>
                                                          <a:rPr lang="es-AR" sz="1600" i="1"/>
                                                        </m:ctrlPr>
                                                      </m:sSubSupPr>
                                                      <m:e>
                                                        <m:r>
                                                          <a:rPr lang="es-AR" sz="1600" i="1"/>
                                                          <m:t>𝑇</m:t>
                                                        </m:r>
                                                      </m:e>
                                                      <m:sub>
                                                        <m:r>
                                                          <a:rPr lang="es-AR" sz="1600" i="1"/>
                                                          <m:t>𝑠</m:t>
                                                        </m:r>
                                                      </m:sub>
                                                      <m:sup>
                                                        <m:r>
                                                          <a:rPr lang="es-AR" sz="1600" i="1"/>
                                                          <m:t>𝑜</m:t>
                                                        </m:r>
                                                      </m:sup>
                                                    </m:sSubSup>
                                                    <m:d>
                                                      <m:dPr>
                                                        <m:ctrlPr>
                                                          <a:rPr lang="es-AR" sz="1600" i="1"/>
                                                        </m:ctrlPr>
                                                      </m:dPr>
                                                      <m:e>
                                                        <m:r>
                                                          <a:rPr lang="es-AR" sz="1600" i="1"/>
                                                          <m:t>𝑡</m:t>
                                                        </m:r>
                                                      </m:e>
                                                    </m:d>
                                                  </m:e>
                                                </m:d>
                                                <m:d>
                                                  <m:dPr>
                                                    <m:ctrlPr>
                                                      <a:rPr lang="es-AR" sz="1600" i="1"/>
                                                    </m:ctrlPr>
                                                  </m:dPr>
                                                  <m:e>
                                                    <m:sSup>
                                                      <m:sSupPr>
                                                        <m:ctrlPr>
                                                          <a:rPr lang="es-AR" sz="1600" i="1"/>
                                                        </m:ctrlPr>
                                                      </m:sSupPr>
                                                      <m:e>
                                                        <m:d>
                                                          <m:dPr>
                                                            <m:ctrlPr>
                                                              <a:rPr lang="es-AR" sz="1600" i="1"/>
                                                            </m:ctrlPr>
                                                          </m:dPr>
                                                          <m:e>
                                                            <m:sSubSup>
                                                              <m:sSubSupPr>
                                                                <m:ctrlPr>
                                                                  <a:rPr lang="es-AR" sz="1600" i="1"/>
                                                                </m:ctrlPr>
                                                              </m:sSubSupPr>
                                                              <m:e>
                                                                <m:r>
                                                                  <a:rPr lang="es-AR" sz="1600" i="1"/>
                                                                  <m:t>𝑖</m:t>
                                                                </m:r>
                                                              </m:e>
                                                              <m:sub>
                                                                <m:r>
                                                                  <a:rPr lang="es-AR" sz="1600" i="1"/>
                                                                  <m:t>𝑞𝑠</m:t>
                                                                </m:r>
                                                              </m:sub>
                                                              <m:sup>
                                                                <m:r>
                                                                  <a:rPr lang="es-AR" sz="1600" i="1"/>
                                                                  <m:t>𝑟</m:t>
                                                                </m:r>
                                                              </m:sup>
                                                            </m:sSubSup>
                                                          </m:e>
                                                        </m:d>
                                                      </m:e>
                                                      <m:sup>
                                                        <m:r>
                                                          <a:rPr lang="es-AR" sz="1600" i="1"/>
                                                          <m:t>2</m:t>
                                                        </m:r>
                                                      </m:sup>
                                                    </m:sSup>
                                                    <m:r>
                                                      <a:rPr lang="es-AR" sz="1600" i="1"/>
                                                      <m:t>+</m:t>
                                                    </m:r>
                                                    <m:sSup>
                                                      <m:sSupPr>
                                                        <m:ctrlPr>
                                                          <a:rPr lang="es-AR" sz="1600" i="1"/>
                                                        </m:ctrlPr>
                                                      </m:sSupPr>
                                                      <m:e>
                                                        <m:d>
                                                          <m:dPr>
                                                            <m:ctrlPr>
                                                              <a:rPr lang="es-AR" sz="1600" i="1"/>
                                                            </m:ctrlPr>
                                                          </m:dPr>
                                                          <m:e>
                                                            <m:sSubSup>
                                                              <m:sSubSupPr>
                                                                <m:ctrlPr>
                                                                  <a:rPr lang="es-AR" sz="1600" i="1"/>
                                                                </m:ctrlPr>
                                                              </m:sSubSupPr>
                                                              <m:e>
                                                                <m:r>
                                                                  <a:rPr lang="es-AR" sz="1600" i="1"/>
                                                                  <m:t>𝑖</m:t>
                                                                </m:r>
                                                              </m:e>
                                                              <m:sub>
                                                                <m:r>
                                                                  <a:rPr lang="es-AR" sz="1600" i="1"/>
                                                                  <m:t>𝑑𝑠</m:t>
                                                                </m:r>
                                                              </m:sub>
                                                              <m:sup>
                                                                <m:r>
                                                                  <a:rPr lang="es-AR" sz="1600" i="1"/>
                                                                  <m:t>𝑟</m:t>
                                                                </m:r>
                                                              </m:sup>
                                                            </m:sSubSup>
                                                          </m:e>
                                                        </m:d>
                                                      </m:e>
                                                      <m:sup>
                                                        <m:r>
                                                          <a:rPr lang="es-AR" sz="1600" i="1"/>
                                                          <m:t>2</m:t>
                                                        </m:r>
                                                      </m:sup>
                                                    </m:sSup>
                                                    <m:r>
                                                      <a:rPr lang="es-AR" sz="1600" i="1"/>
                                                      <m:t>+2</m:t>
                                                    </m:r>
                                                    <m:sSup>
                                                      <m:sSupPr>
                                                        <m:ctrlPr>
                                                          <a:rPr lang="es-AR" sz="1600" i="1"/>
                                                        </m:ctrlPr>
                                                      </m:sSupPr>
                                                      <m:e>
                                                        <m:d>
                                                          <m:dPr>
                                                            <m:ctrlPr>
                                                              <a:rPr lang="es-AR" sz="1600" i="1"/>
                                                            </m:ctrlPr>
                                                          </m:dPr>
                                                          <m:e>
                                                            <m:sSubSup>
                                                              <m:sSubSupPr>
                                                                <m:ctrlPr>
                                                                  <a:rPr lang="es-AR" sz="1600" i="1"/>
                                                                </m:ctrlPr>
                                                              </m:sSubSupPr>
                                                              <m:e>
                                                                <m:r>
                                                                  <a:rPr lang="es-AR" sz="1600" i="1"/>
                                                                  <m:t>𝑖</m:t>
                                                                </m:r>
                                                              </m:e>
                                                              <m:sub>
                                                                <m:r>
                                                                  <a:rPr lang="es-AR" sz="1600" i="1"/>
                                                                  <m:t>0</m:t>
                                                                </m:r>
                                                                <m:r>
                                                                  <a:rPr lang="es-AR" sz="1600" i="1"/>
                                                                  <m:t>𝑠</m:t>
                                                                </m:r>
                                                              </m:sub>
                                                              <m:sup>
                                                                <m:r>
                                                                  <a:rPr lang="es-AR" sz="1600" i="1"/>
                                                                  <m:t>𝑟</m:t>
                                                                </m:r>
                                                              </m:sup>
                                                            </m:sSubSup>
                                                          </m:e>
                                                        </m:d>
                                                      </m:e>
                                                      <m:sup>
                                                        <m:r>
                                                          <a:rPr lang="es-AR" sz="1600" i="1"/>
                                                          <m:t>2</m:t>
                                                        </m:r>
                                                      </m:sup>
                                                    </m:sSup>
                                                  </m:e>
                                                </m:d>
                                                <m:r>
                                                  <a:rPr lang="es-AR" sz="1600" i="1"/>
                                                  <m:t>−</m:t>
                                                </m:r>
                                                <m:f>
                                                  <m:fPr>
                                                    <m:ctrlPr>
                                                      <a:rPr lang="es-AR" sz="1600" i="1"/>
                                                    </m:ctrlPr>
                                                  </m:fPr>
                                                  <m:num>
                                                    <m:r>
                                                      <a:rPr lang="es-AR" sz="1600" i="1"/>
                                                      <m:t>1</m:t>
                                                    </m:r>
                                                  </m:num>
                                                  <m:den>
                                                    <m:sSub>
                                                      <m:sSubPr>
                                                        <m:ctrlPr>
                                                          <a:rPr lang="es-AR" sz="1600" i="1"/>
                                                        </m:ctrlPr>
                                                      </m:sSubPr>
                                                      <m:e>
                                                        <m:r>
                                                          <a:rPr lang="es-AR" sz="1600" i="1"/>
                                                          <m:t>𝑅</m:t>
                                                        </m:r>
                                                      </m:e>
                                                      <m:sub>
                                                        <m:r>
                                                          <a:rPr lang="es-AR" sz="1600" i="1"/>
                                                          <m:t>𝑡𝑠</m:t>
                                                        </m:r>
                                                        <m:r>
                                                          <a:rPr lang="es-AR" sz="1600" i="1"/>
                                                          <m:t>−</m:t>
                                                        </m:r>
                                                        <m:r>
                                                          <a:rPr lang="es-AR" sz="1600" i="1"/>
                                                          <m:t>𝑎𝑚𝑏</m:t>
                                                        </m:r>
                                                      </m:sub>
                                                    </m:sSub>
                                                  </m:den>
                                                </m:f>
                                                <m:d>
                                                  <m:dPr>
                                                    <m:ctrlPr>
                                                      <a:rPr lang="es-AR" sz="1600" i="1"/>
                                                    </m:ctrlPr>
                                                  </m:dPr>
                                                  <m:e>
                                                    <m:sSubSup>
                                                      <m:sSubSupPr>
                                                        <m:ctrlPr>
                                                          <a:rPr lang="es-AR" sz="1600" i="1"/>
                                                        </m:ctrlPr>
                                                      </m:sSubSupPr>
                                                      <m:e>
                                                        <m:r>
                                                          <a:rPr lang="es-AR" sz="1600" i="1"/>
                                                          <m:t>𝑇</m:t>
                                                        </m:r>
                                                      </m:e>
                                                      <m:sub>
                                                        <m:r>
                                                          <a:rPr lang="es-AR" sz="1600" i="1"/>
                                                          <m:t>𝑠</m:t>
                                                        </m:r>
                                                      </m:sub>
                                                      <m:sup>
                                                        <m:r>
                                                          <a:rPr lang="es-AR" sz="1600" i="1"/>
                                                          <m:t>𝑜</m:t>
                                                        </m:r>
                                                      </m:sup>
                                                    </m:sSubSup>
                                                    <m:d>
                                                      <m:dPr>
                                                        <m:ctrlPr>
                                                          <a:rPr lang="es-AR" sz="1600" i="1"/>
                                                        </m:ctrlPr>
                                                      </m:dPr>
                                                      <m:e>
                                                        <m:r>
                                                          <a:rPr lang="es-AR" sz="1600" i="1"/>
                                                          <m:t>𝑡</m:t>
                                                        </m:r>
                                                      </m:e>
                                                    </m:d>
                                                    <m:sSubSup>
                                                      <m:sSubSupPr>
                                                        <m:ctrlPr>
                                                          <a:rPr lang="es-AR" sz="1600" i="1"/>
                                                        </m:ctrlPr>
                                                      </m:sSubSupPr>
                                                      <m:e>
                                                        <m:r>
                                                          <a:rPr lang="es-AR" sz="1600" i="1"/>
                                                          <m:t>−</m:t>
                                                        </m:r>
                                                        <m:r>
                                                          <a:rPr lang="es-AR" sz="1600" i="1"/>
                                                          <m:t>𝑇</m:t>
                                                        </m:r>
                                                      </m:e>
                                                      <m:sub>
                                                        <m:r>
                                                          <a:rPr lang="es-AR" sz="1600" i="1"/>
                                                          <m:t>𝑎𝑚𝑏</m:t>
                                                        </m:r>
                                                      </m:sub>
                                                      <m:sup>
                                                        <m:r>
                                                          <a:rPr lang="es-AR" sz="1600" i="1"/>
                                                          <m:t>𝑜</m:t>
                                                        </m:r>
                                                      </m:sup>
                                                    </m:sSubSup>
                                                    <m:d>
                                                      <m:dPr>
                                                        <m:ctrlPr>
                                                          <a:rPr lang="es-AR" sz="1600" i="1"/>
                                                        </m:ctrlPr>
                                                      </m:dPr>
                                                      <m:e>
                                                        <m:r>
                                                          <a:rPr lang="es-AR" sz="1600" i="1"/>
                                                          <m:t>𝑡</m:t>
                                                        </m:r>
                                                      </m:e>
                                                    </m:d>
                                                  </m:e>
                                                </m:d>
                                              </m:e>
                                            </m:d>
                                            <m:r>
                                              <a:rPr lang="es-AR" sz="1600" i="1"/>
                                              <m:t>                               </m:t>
                                            </m:r>
                                          </m:e>
                                        </m:mr>
                                      </m:m>
                                    </m:e>
                                  </m:mr>
                                </m:m>
                              </m:e>
                            </m:mr>
                          </m:m>
                        </m:e>
                      </m:d>
                    </m:oMath>
                  </m:oMathPara>
                </a14:m>
                <a:endParaRPr lang="es-AR" dirty="0"/>
              </a:p>
            </p:txBody>
          </p:sp>
        </mc:Choice>
        <mc:Fallback>
          <p:sp>
            <p:nvSpPr>
              <p:cNvPr id="19" name="Shape 7">
                <a:extLst>
                  <a:ext uri="{FF2B5EF4-FFF2-40B4-BE49-F238E27FC236}">
                    <a16:creationId xmlns:a16="http://schemas.microsoft.com/office/drawing/2014/main" id="{1E27AC72-650E-4CCC-B475-1352A198EA0A}"/>
                  </a:ext>
                </a:extLst>
              </p:cNvPr>
              <p:cNvSpPr>
                <a:spLocks noRot="1" noChangeAspect="1" noMove="1" noResize="1" noEditPoints="1" noAdjustHandles="1" noChangeArrowheads="1" noChangeShapeType="1" noTextEdit="1"/>
              </p:cNvSpPr>
              <p:nvPr/>
            </p:nvSpPr>
            <p:spPr>
              <a:xfrm>
                <a:off x="215597" y="1782595"/>
                <a:ext cx="11018101" cy="3421242"/>
              </a:xfrm>
              <a:prstGeom prst="rect">
                <a:avLst/>
              </a:prstGeom>
              <a:blipFill>
                <a:blip r:embed="rId3"/>
                <a:stretch>
                  <a:fillRect/>
                </a:stretch>
              </a:blipFill>
              <a:ln w="19050">
                <a:solidFill>
                  <a:srgbClr val="DDAA00"/>
                </a:solidFill>
                <a:prstDash val="solid"/>
              </a:ln>
            </p:spPr>
            <p:txBody>
              <a:bodyPr/>
              <a:lstStyle/>
              <a:p>
                <a:r>
                  <a:rPr lang="es-AR">
                    <a:noFill/>
                  </a:rPr>
                  <a:t> </a:t>
                </a:r>
              </a:p>
            </p:txBody>
          </p:sp>
        </mc:Fallback>
      </mc:AlternateContent>
    </p:spTree>
    <p:extLst>
      <p:ext uri="{BB962C8B-B14F-4D97-AF65-F5344CB8AC3E}">
        <p14:creationId xmlns:p14="http://schemas.microsoft.com/office/powerpoint/2010/main" val="335662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Inversor trifásico y sensores — Modelo global no lineal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12 / 67</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3"/>
          <a:stretch>
            <a:fillRect/>
          </a:stretch>
        </p:blipFill>
        <p:spPr>
          <a:xfrm>
            <a:off x="1077227" y="961185"/>
            <a:ext cx="10007065" cy="4651050"/>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Modelo LTI equivalente y análisis</a:t>
            </a:r>
            <a:endParaRPr lang="en-US" sz="34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13 / 67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14 / 67</a:t>
            </a:r>
            <a:endParaRPr lang="en-US" sz="900" dirty="0"/>
          </a:p>
        </p:txBody>
      </p:sp>
      <p:sp>
        <p:nvSpPr>
          <p:cNvPr id="7" name="Text 5"/>
          <p:cNvSpPr/>
          <p:nvPr/>
        </p:nvSpPr>
        <p:spPr>
          <a:xfrm>
            <a:off x="365760" y="777240"/>
            <a:ext cx="11430000" cy="6858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El sistema es no lineal por acoplamientos entre variables de estado y entre ejes d-q. Para usar herramientas de control lineal, se descompone cada variable en un punto de operación cuasi-estacionario y una perturbación de pequeña magnitud:</a:t>
            </a:r>
            <a:endParaRPr lang="en-US" sz="1300" dirty="0"/>
          </a:p>
        </p:txBody>
      </p:sp>
      <p:sp>
        <p:nvSpPr>
          <p:cNvPr id="8" name="Shape 6"/>
          <p:cNvSpPr/>
          <p:nvPr/>
        </p:nvSpPr>
        <p:spPr>
          <a:xfrm>
            <a:off x="1371600" y="1401968"/>
            <a:ext cx="914400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1463040" y="1401968"/>
                <a:ext cx="896112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1463040" y="1401968"/>
                <a:ext cx="8961120"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365760" y="2148840"/>
            <a:ext cx="11430000" cy="38404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Entonces, el sistema no lineal queda expresado como: </a:t>
            </a:r>
            <a:endParaRPr lang="es-AR" sz="1300" dirty="0"/>
          </a:p>
        </p:txBody>
      </p:sp>
      <p:sp>
        <p:nvSpPr>
          <p:cNvPr id="18" name="Shape 6">
            <a:extLst>
              <a:ext uri="{FF2B5EF4-FFF2-40B4-BE49-F238E27FC236}">
                <a16:creationId xmlns:a16="http://schemas.microsoft.com/office/drawing/2014/main" id="{BBAC01EC-E856-4860-B292-FF94F5A2DFFA}"/>
              </a:ext>
            </a:extLst>
          </p:cNvPr>
          <p:cNvSpPr/>
          <p:nvPr/>
        </p:nvSpPr>
        <p:spPr>
          <a:xfrm>
            <a:off x="1371600" y="2575421"/>
            <a:ext cx="9144000" cy="1199626"/>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9" name="Text 7">
                <a:extLst>
                  <a:ext uri="{FF2B5EF4-FFF2-40B4-BE49-F238E27FC236}">
                    <a16:creationId xmlns:a16="http://schemas.microsoft.com/office/drawing/2014/main" id="{43434609-4479-46CB-A4E2-9F9A2E6B04CF}"/>
                  </a:ext>
                </a:extLst>
              </p:cNvPr>
              <p:cNvSpPr/>
              <p:nvPr/>
            </p:nvSpPr>
            <p:spPr>
              <a:xfrm>
                <a:off x="1463040" y="2892021"/>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m:ctrlPr>
                        </m:dPr>
                        <m:e>
                          <m:m>
                            <m:mPr>
                              <m:mcs>
                                <m:mc>
                                  <m:mcPr>
                                    <m:count m:val="1"/>
                                    <m:mcJc m:val="center"/>
                                  </m:mcPr>
                                </m:mc>
                              </m:mcs>
                              <m:ctrlPr>
                                <a:rPr lang="es-AR" sz="1600" i="1"/>
                              </m:ctrlPr>
                            </m:mPr>
                            <m:mr>
                              <m:e>
                                <m:acc>
                                  <m:accPr>
                                    <m:chr m:val="̇"/>
                                    <m:ctrlPr>
                                      <a:rPr lang="es-AR" sz="1600" i="1"/>
                                    </m:ctrlPr>
                                  </m:accPr>
                                  <m:e>
                                    <m:r>
                                      <a:rPr lang="es-AR" sz="1600" i="1"/>
                                      <m:t>𝑥</m:t>
                                    </m:r>
                                  </m:e>
                                </m:acc>
                                <m:d>
                                  <m:dPr>
                                    <m:ctrlPr>
                                      <a:rPr lang="es-AR" sz="1600" i="1"/>
                                    </m:ctrlPr>
                                  </m:dPr>
                                  <m:e>
                                    <m:r>
                                      <a:rPr lang="es-AR" sz="1600" i="1"/>
                                      <m:t>𝑡</m:t>
                                    </m:r>
                                  </m:e>
                                </m:d>
                                <m:r>
                                  <a:rPr lang="es-AR" sz="1600" i="1"/>
                                  <m:t>=</m:t>
                                </m:r>
                                <m:sSub>
                                  <m:sSubPr>
                                    <m:ctrlPr>
                                      <a:rPr lang="es-AR" sz="1600" i="1"/>
                                    </m:ctrlPr>
                                  </m:sSubPr>
                                  <m:e>
                                    <m:acc>
                                      <m:accPr>
                                        <m:chr m:val="̇"/>
                                        <m:ctrlPr>
                                          <a:rPr lang="es-AR" sz="1600" i="1"/>
                                        </m:ctrlPr>
                                      </m:accPr>
                                      <m:e>
                                        <m:r>
                                          <a:rPr lang="es-AR" sz="1600" i="1"/>
                                          <m:t>𝑋</m:t>
                                        </m:r>
                                      </m:e>
                                    </m:acc>
                                  </m:e>
                                  <m:sub>
                                    <m:r>
                                      <a:rPr lang="es-AR" sz="1600" i="1"/>
                                      <m:t>0</m:t>
                                    </m:r>
                                  </m:sub>
                                </m:sSub>
                                <m:d>
                                  <m:dPr>
                                    <m:ctrlPr>
                                      <a:rPr lang="es-AR" sz="1600" i="1"/>
                                    </m:ctrlPr>
                                  </m:dPr>
                                  <m:e>
                                    <m:r>
                                      <a:rPr lang="es-AR" sz="1600" i="1"/>
                                      <m:t>𝑡</m:t>
                                    </m:r>
                                  </m:e>
                                </m:d>
                                <m:r>
                                  <a:rPr lang="es-AR" sz="1600" i="1"/>
                                  <m:t>+</m:t>
                                </m:r>
                                <m:r>
                                  <a:rPr lang="es-AR" sz="1600" i="1"/>
                                  <m:t>𝛥</m:t>
                                </m:r>
                                <m:acc>
                                  <m:accPr>
                                    <m:chr m:val="̇"/>
                                    <m:ctrlPr>
                                      <a:rPr lang="es-AR" sz="1600" i="1"/>
                                    </m:ctrlPr>
                                  </m:accPr>
                                  <m:e>
                                    <m:r>
                                      <a:rPr lang="es-AR" sz="1600" i="1"/>
                                      <m:t>𝑥</m:t>
                                    </m:r>
                                  </m:e>
                                </m:acc>
                                <m:d>
                                  <m:dPr>
                                    <m:ctrlPr>
                                      <a:rPr lang="es-AR" sz="1600" i="1"/>
                                    </m:ctrlPr>
                                  </m:dPr>
                                  <m:e>
                                    <m:r>
                                      <a:rPr lang="es-AR" sz="1600" i="1"/>
                                      <m:t>𝑡</m:t>
                                    </m:r>
                                  </m:e>
                                </m:d>
                                <m:r>
                                  <a:rPr lang="es-AR" sz="1600" i="1"/>
                                  <m:t>=</m:t>
                                </m:r>
                                <m:r>
                                  <a:rPr lang="es-AR" sz="1600" i="1"/>
                                  <m:t>𝑓</m:t>
                                </m:r>
                                <m:d>
                                  <m:dPr>
                                    <m:ctrlPr>
                                      <a:rPr lang="es-AR" sz="1600" i="1"/>
                                    </m:ctrlPr>
                                  </m:dPr>
                                  <m:e>
                                    <m:sSub>
                                      <m:sSubPr>
                                        <m:ctrlPr>
                                          <a:rPr lang="es-AR" sz="1600" i="1"/>
                                        </m:ctrlPr>
                                      </m:sSubPr>
                                      <m:e>
                                        <m:r>
                                          <a:rPr lang="es-AR" sz="1600" i="1"/>
                                          <m:t>𝑋</m:t>
                                        </m:r>
                                      </m:e>
                                      <m:sub>
                                        <m:r>
                                          <a:rPr lang="es-AR" sz="1600" i="1"/>
                                          <m:t>0</m:t>
                                        </m:r>
                                      </m:sub>
                                    </m:sSub>
                                    <m:d>
                                      <m:dPr>
                                        <m:ctrlPr>
                                          <a:rPr lang="es-AR" sz="1600" i="1"/>
                                        </m:ctrlPr>
                                      </m:dPr>
                                      <m:e>
                                        <m:r>
                                          <a:rPr lang="es-AR" sz="1600" i="1"/>
                                          <m:t>𝑡</m:t>
                                        </m:r>
                                      </m:e>
                                    </m:d>
                                    <m:r>
                                      <a:rPr lang="es-AR" sz="1600" i="1"/>
                                      <m:t>+</m:t>
                                    </m:r>
                                    <m:r>
                                      <a:rPr lang="es-AR" sz="1600" i="1"/>
                                      <m:t>𝛥</m:t>
                                    </m:r>
                                    <m:r>
                                      <a:rPr lang="es-AR" sz="1600" i="1"/>
                                      <m:t>𝑥</m:t>
                                    </m:r>
                                    <m:d>
                                      <m:dPr>
                                        <m:ctrlPr>
                                          <a:rPr lang="es-AR" sz="1600" i="1"/>
                                        </m:ctrlPr>
                                      </m:dPr>
                                      <m:e>
                                        <m:r>
                                          <a:rPr lang="es-AR" sz="1600" i="1"/>
                                          <m:t>𝑡</m:t>
                                        </m:r>
                                      </m:e>
                                    </m:d>
                                    <m:r>
                                      <a:rPr lang="es-AR" sz="1600" i="1"/>
                                      <m:t>,</m:t>
                                    </m:r>
                                    <m:sSub>
                                      <m:sSubPr>
                                        <m:ctrlPr>
                                          <a:rPr lang="es-AR" sz="1600" i="1"/>
                                        </m:ctrlPr>
                                      </m:sSubPr>
                                      <m:e>
                                        <m:r>
                                          <a:rPr lang="es-AR" sz="1600" i="1"/>
                                          <m:t> </m:t>
                                        </m:r>
                                        <m:r>
                                          <a:rPr lang="es-AR" sz="1600" i="1"/>
                                          <m:t>𝑈</m:t>
                                        </m:r>
                                      </m:e>
                                      <m:sub>
                                        <m:r>
                                          <a:rPr lang="es-AR" sz="1600" i="1"/>
                                          <m:t>0</m:t>
                                        </m:r>
                                      </m:sub>
                                    </m:sSub>
                                    <m:d>
                                      <m:dPr>
                                        <m:ctrlPr>
                                          <a:rPr lang="es-AR" sz="1600" i="1"/>
                                        </m:ctrlPr>
                                      </m:dPr>
                                      <m:e>
                                        <m:r>
                                          <a:rPr lang="es-AR" sz="1600" i="1"/>
                                          <m:t>𝑡</m:t>
                                        </m:r>
                                      </m:e>
                                    </m:d>
                                    <m:r>
                                      <a:rPr lang="es-AR" sz="1600" i="1"/>
                                      <m:t>+</m:t>
                                    </m:r>
                                    <m:r>
                                      <a:rPr lang="es-AR" sz="1600" i="1"/>
                                      <m:t>𝛥</m:t>
                                    </m:r>
                                    <m:r>
                                      <a:rPr lang="es-AR" sz="1600" i="1"/>
                                      <m:t>𝑢</m:t>
                                    </m:r>
                                    <m:d>
                                      <m:dPr>
                                        <m:ctrlPr>
                                          <a:rPr lang="es-AR" sz="1600" i="1"/>
                                        </m:ctrlPr>
                                      </m:dPr>
                                      <m:e>
                                        <m:r>
                                          <a:rPr lang="es-AR" sz="1600" i="1"/>
                                          <m:t>𝑡</m:t>
                                        </m:r>
                                      </m:e>
                                    </m:d>
                                  </m:e>
                                </m:d>
                              </m:e>
                            </m:mr>
                            <m:mr>
                              <m:e>
                                <m:sSub>
                                  <m:sSubPr>
                                    <m:ctrlPr>
                                      <a:rPr lang="es-AR" sz="1600" i="1"/>
                                    </m:ctrlPr>
                                  </m:sSubPr>
                                  <m:e>
                                    <m:r>
                                      <a:rPr lang="es-AR" sz="1600" i="1"/>
                                      <m:t>𝑋</m:t>
                                    </m:r>
                                  </m:e>
                                  <m:sub>
                                    <m:r>
                                      <a:rPr lang="es-AR" sz="1600" i="1"/>
                                      <m:t>0</m:t>
                                    </m:r>
                                  </m:sub>
                                </m:sSub>
                                <m:d>
                                  <m:dPr>
                                    <m:ctrlPr>
                                      <a:rPr lang="es-AR" sz="1600" i="1"/>
                                    </m:ctrlPr>
                                  </m:dPr>
                                  <m:e>
                                    <m:r>
                                      <a:rPr lang="es-AR" sz="1600" i="1"/>
                                      <m:t>0</m:t>
                                    </m:r>
                                  </m:e>
                                </m:d>
                                <m:r>
                                  <a:rPr lang="es-AR" sz="1600" i="1"/>
                                  <m:t>+</m:t>
                                </m:r>
                                <m:r>
                                  <a:rPr lang="es-AR" sz="1600" i="1"/>
                                  <m:t>𝛥</m:t>
                                </m:r>
                                <m:r>
                                  <a:rPr lang="es-AR" sz="1600" i="1"/>
                                  <m:t>𝑥</m:t>
                                </m:r>
                                <m:d>
                                  <m:dPr>
                                    <m:ctrlPr>
                                      <a:rPr lang="es-AR" sz="1600" i="1"/>
                                    </m:ctrlPr>
                                  </m:dPr>
                                  <m:e>
                                    <m:r>
                                      <a:rPr lang="es-AR" sz="1600" i="1"/>
                                      <m:t>0</m:t>
                                    </m:r>
                                  </m:e>
                                </m:d>
                                <m:r>
                                  <a:rPr lang="es-AR" sz="1600" i="1"/>
                                  <m:t>=</m:t>
                                </m:r>
                                <m:sSub>
                                  <m:sSubPr>
                                    <m:ctrlPr>
                                      <a:rPr lang="es-AR" sz="1600" i="1"/>
                                    </m:ctrlPr>
                                  </m:sSubPr>
                                  <m:e>
                                    <m:r>
                                      <a:rPr lang="es-AR" sz="1600" i="1"/>
                                      <m:t>𝑥</m:t>
                                    </m:r>
                                  </m:e>
                                  <m:sub>
                                    <m:r>
                                      <a:rPr lang="es-AR" sz="1600" i="1"/>
                                      <m:t>0</m:t>
                                    </m:r>
                                  </m:sub>
                                </m:sSub>
                                <m:r>
                                  <a:rPr lang="es-AR" sz="1600" i="1"/>
                                  <m:t>⇒</m:t>
                                </m:r>
                                <m:sSub>
                                  <m:sSubPr>
                                    <m:ctrlPr>
                                      <a:rPr lang="es-AR" sz="1600" i="1"/>
                                    </m:ctrlPr>
                                  </m:sSubPr>
                                  <m:e>
                                    <m:r>
                                      <a:rPr lang="es-AR" sz="1600" i="1"/>
                                      <m:t>𝑋</m:t>
                                    </m:r>
                                  </m:e>
                                  <m:sub>
                                    <m:r>
                                      <a:rPr lang="es-AR" sz="1600" i="1"/>
                                      <m:t>0</m:t>
                                    </m:r>
                                  </m:sub>
                                </m:sSub>
                                <m:d>
                                  <m:dPr>
                                    <m:ctrlPr>
                                      <a:rPr lang="es-AR" sz="1600" i="1"/>
                                    </m:ctrlPr>
                                  </m:dPr>
                                  <m:e>
                                    <m:r>
                                      <a:rPr lang="es-AR" sz="1600" i="1"/>
                                      <m:t>0</m:t>
                                    </m:r>
                                  </m:e>
                                </m:d>
                                <m:r>
                                  <a:rPr lang="es-AR" sz="1600" i="1"/>
                                  <m:t>≡</m:t>
                                </m:r>
                                <m:sSub>
                                  <m:sSubPr>
                                    <m:ctrlPr>
                                      <a:rPr lang="es-AR" sz="1600" i="1"/>
                                    </m:ctrlPr>
                                  </m:sSubPr>
                                  <m:e>
                                    <m:r>
                                      <a:rPr lang="es-AR" sz="1600" i="1"/>
                                      <m:t>𝑥</m:t>
                                    </m:r>
                                  </m:e>
                                  <m:sub>
                                    <m:r>
                                      <a:rPr lang="es-AR" sz="1600" i="1"/>
                                      <m:t>0</m:t>
                                    </m:r>
                                  </m:sub>
                                </m:sSub>
                                <m:r>
                                  <a:rPr lang="es-AR" sz="1600" i="1"/>
                                  <m:t>,      </m:t>
                                </m:r>
                                <m:r>
                                  <a:rPr lang="es-AR" sz="1600" i="1"/>
                                  <m:t>𝛥</m:t>
                                </m:r>
                                <m:r>
                                  <a:rPr lang="es-AR" sz="1600" i="1"/>
                                  <m:t>𝑥</m:t>
                                </m:r>
                                <m:d>
                                  <m:dPr>
                                    <m:ctrlPr>
                                      <a:rPr lang="es-AR" sz="1600" i="1"/>
                                    </m:ctrlPr>
                                  </m:dPr>
                                  <m:e>
                                    <m:r>
                                      <a:rPr lang="es-AR" sz="1600" i="1"/>
                                      <m:t>0</m:t>
                                    </m:r>
                                  </m:e>
                                </m:d>
                                <m:r>
                                  <a:rPr lang="es-AR" sz="1600" i="1"/>
                                  <m:t>≡0                     </m:t>
                                </m:r>
                              </m:e>
                            </m:mr>
                            <m:mr>
                              <m:e>
                                <m:sSub>
                                  <m:sSubPr>
                                    <m:ctrlPr>
                                      <a:rPr lang="es-AR" sz="1600" i="1"/>
                                    </m:ctrlPr>
                                  </m:sSubPr>
                                  <m:e>
                                    <m:r>
                                      <a:rPr lang="es-AR" sz="1600" i="1"/>
                                      <m:t>𝑌</m:t>
                                    </m:r>
                                  </m:e>
                                  <m:sub>
                                    <m:r>
                                      <a:rPr lang="es-AR" sz="1600" i="1"/>
                                      <m:t>0</m:t>
                                    </m:r>
                                  </m:sub>
                                </m:sSub>
                                <m:d>
                                  <m:dPr>
                                    <m:ctrlPr>
                                      <a:rPr lang="es-AR" sz="1600" i="1"/>
                                    </m:ctrlPr>
                                  </m:dPr>
                                  <m:e>
                                    <m:r>
                                      <a:rPr lang="es-AR" sz="1600" i="1"/>
                                      <m:t>𝑡</m:t>
                                    </m:r>
                                  </m:e>
                                </m:d>
                                <m:r>
                                  <a:rPr lang="es-AR" sz="1600" i="1"/>
                                  <m:t>+</m:t>
                                </m:r>
                                <m:r>
                                  <a:rPr lang="es-AR" sz="1600" i="1"/>
                                  <m:t>𝛥</m:t>
                                </m:r>
                                <m:r>
                                  <a:rPr lang="es-AR" sz="1600" i="1"/>
                                  <m:t>𝑦</m:t>
                                </m:r>
                                <m:d>
                                  <m:dPr>
                                    <m:ctrlPr>
                                      <a:rPr lang="es-AR" sz="1600" i="1"/>
                                    </m:ctrlPr>
                                  </m:dPr>
                                  <m:e>
                                    <m:r>
                                      <a:rPr lang="es-AR" sz="1600" i="1"/>
                                      <m:t>𝑡</m:t>
                                    </m:r>
                                  </m:e>
                                </m:d>
                                <m:r>
                                  <a:rPr lang="es-AR" sz="1600" i="1"/>
                                  <m:t>=</m:t>
                                </m:r>
                                <m:r>
                                  <a:rPr lang="es-AR" sz="1600" i="1"/>
                                  <m:t>𝐶</m:t>
                                </m:r>
                                <m:r>
                                  <a:rPr lang="es-AR" sz="1600" i="1"/>
                                  <m:t> </m:t>
                                </m:r>
                                <m:sSub>
                                  <m:sSubPr>
                                    <m:ctrlPr>
                                      <a:rPr lang="es-AR" sz="1600" i="1"/>
                                    </m:ctrlPr>
                                  </m:sSubPr>
                                  <m:e>
                                    <m:r>
                                      <a:rPr lang="es-AR" sz="1600" i="1"/>
                                      <m:t>𝑋</m:t>
                                    </m:r>
                                  </m:e>
                                  <m:sub>
                                    <m:r>
                                      <a:rPr lang="es-AR" sz="1600" i="1"/>
                                      <m:t>0</m:t>
                                    </m:r>
                                  </m:sub>
                                </m:sSub>
                                <m:d>
                                  <m:dPr>
                                    <m:ctrlPr>
                                      <a:rPr lang="es-AR" sz="1600" i="1"/>
                                    </m:ctrlPr>
                                  </m:dPr>
                                  <m:e>
                                    <m:r>
                                      <a:rPr lang="es-AR" sz="1600" i="1"/>
                                      <m:t>𝑡</m:t>
                                    </m:r>
                                  </m:e>
                                </m:d>
                                <m:r>
                                  <a:rPr lang="es-AR" sz="1600" i="1"/>
                                  <m:t>+</m:t>
                                </m:r>
                                <m:r>
                                  <a:rPr lang="es-AR" sz="1600" i="1"/>
                                  <m:t>𝐶</m:t>
                                </m:r>
                                <m:r>
                                  <a:rPr lang="es-AR" sz="1600" i="1"/>
                                  <m:t> </m:t>
                                </m:r>
                                <m:r>
                                  <a:rPr lang="es-AR" sz="1600" i="1"/>
                                  <m:t>𝛥</m:t>
                                </m:r>
                                <m:r>
                                  <a:rPr lang="es-AR" sz="1600" i="1"/>
                                  <m:t>𝑥</m:t>
                                </m:r>
                                <m:d>
                                  <m:dPr>
                                    <m:ctrlPr>
                                      <a:rPr lang="es-AR" sz="1600" i="1"/>
                                    </m:ctrlPr>
                                  </m:dPr>
                                  <m:e>
                                    <m:r>
                                      <a:rPr lang="es-AR" sz="1600" i="1"/>
                                      <m:t>𝑡</m:t>
                                    </m:r>
                                  </m:e>
                                </m:d>
                                <m:r>
                                  <a:rPr lang="es-AR" sz="1600" i="1"/>
                                  <m:t>                                                </m:t>
                                </m:r>
                              </m:e>
                            </m:mr>
                          </m:m>
                        </m:e>
                      </m:d>
                    </m:oMath>
                  </m:oMathPara>
                </a14:m>
                <a:endParaRPr lang="en-US" sz="1100" dirty="0"/>
              </a:p>
            </p:txBody>
          </p:sp>
        </mc:Choice>
        <mc:Fallback>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1463040" y="2892021"/>
                <a:ext cx="8961120" cy="530352"/>
              </a:xfrm>
              <a:prstGeom prst="rect">
                <a:avLst/>
              </a:prstGeom>
              <a:blipFill>
                <a:blip r:embed="rId4"/>
                <a:stretch>
                  <a:fillRect t="-27586" b="-36782"/>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462233" y="4034041"/>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371600" y="4489243"/>
            <a:ext cx="9144000" cy="728709"/>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3" name="Text 7">
                <a:extLst>
                  <a:ext uri="{FF2B5EF4-FFF2-40B4-BE49-F238E27FC236}">
                    <a16:creationId xmlns:a16="http://schemas.microsoft.com/office/drawing/2014/main" id="{03D3DAA2-D292-4B97-81CA-1484AD1CF633}"/>
                  </a:ext>
                </a:extLst>
              </p:cNvPr>
              <p:cNvSpPr/>
              <p:nvPr/>
            </p:nvSpPr>
            <p:spPr>
              <a:xfrm>
                <a:off x="1463040" y="456279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m:t>𝑓</m:t>
                      </m:r>
                      <m:d>
                        <m:dPr>
                          <m:ctrlPr>
                            <a:rPr lang="es-AR" sz="1600" i="1"/>
                          </m:ctrlPr>
                        </m:dPr>
                        <m:e>
                          <m:sSub>
                            <m:sSubPr>
                              <m:ctrlPr>
                                <a:rPr lang="es-AR" sz="1600" i="1"/>
                              </m:ctrlPr>
                            </m:sSubPr>
                            <m:e>
                              <m:r>
                                <a:rPr lang="es-AR" sz="1600" i="1"/>
                                <m:t>𝑋</m:t>
                              </m:r>
                            </m:e>
                            <m:sub>
                              <m:r>
                                <a:rPr lang="es-AR" sz="1600" i="1"/>
                                <m:t>0</m:t>
                              </m:r>
                            </m:sub>
                          </m:sSub>
                          <m:d>
                            <m:dPr>
                              <m:ctrlPr>
                                <a:rPr lang="es-AR" sz="1600" i="1"/>
                              </m:ctrlPr>
                            </m:dPr>
                            <m:e>
                              <m:r>
                                <a:rPr lang="es-AR" sz="1600" i="1"/>
                                <m:t>𝑡</m:t>
                              </m:r>
                            </m:e>
                          </m:d>
                          <m:r>
                            <a:rPr lang="es-AR" sz="1600" i="1"/>
                            <m:t>+</m:t>
                          </m:r>
                          <m:r>
                            <m:rPr>
                              <m:sty m:val="p"/>
                            </m:rPr>
                            <a:rPr lang="es-AR" sz="1600"/>
                            <m:t>Δ</m:t>
                          </m:r>
                          <m:r>
                            <a:rPr lang="es-AR" sz="1600" i="1"/>
                            <m:t>𝑥</m:t>
                          </m:r>
                          <m:d>
                            <m:dPr>
                              <m:ctrlPr>
                                <a:rPr lang="es-AR" sz="1600" i="1"/>
                              </m:ctrlPr>
                            </m:dPr>
                            <m:e>
                              <m:r>
                                <a:rPr lang="es-AR" sz="1600" i="1"/>
                                <m:t>𝑡</m:t>
                              </m:r>
                            </m:e>
                          </m:d>
                          <m:r>
                            <a:rPr lang="es-AR" sz="1600" i="1"/>
                            <m:t>,</m:t>
                          </m:r>
                          <m:sSub>
                            <m:sSubPr>
                              <m:ctrlPr>
                                <a:rPr lang="es-AR" sz="1600" i="1"/>
                              </m:ctrlPr>
                            </m:sSubPr>
                            <m:e>
                              <m:r>
                                <a:rPr lang="es-AR" sz="1600" i="1"/>
                                <m:t>𝑈</m:t>
                              </m:r>
                            </m:e>
                            <m:sub>
                              <m:r>
                                <a:rPr lang="es-AR" sz="1600" i="1"/>
                                <m:t>0</m:t>
                              </m:r>
                            </m:sub>
                          </m:sSub>
                          <m:d>
                            <m:dPr>
                              <m:ctrlPr>
                                <a:rPr lang="es-AR" sz="1600" i="1"/>
                              </m:ctrlPr>
                            </m:dPr>
                            <m:e>
                              <m:r>
                                <a:rPr lang="es-AR" sz="1600" i="1"/>
                                <m:t>𝑡</m:t>
                              </m:r>
                            </m:e>
                          </m:d>
                          <m:r>
                            <a:rPr lang="es-AR" sz="1600" i="1"/>
                            <m:t>+</m:t>
                          </m:r>
                          <m:r>
                            <m:rPr>
                              <m:sty m:val="p"/>
                            </m:rPr>
                            <a:rPr lang="es-AR" sz="1600"/>
                            <m:t>Δ</m:t>
                          </m:r>
                          <m:r>
                            <a:rPr lang="es-AR" sz="1600" i="1"/>
                            <m:t>𝑢</m:t>
                          </m:r>
                          <m:d>
                            <m:dPr>
                              <m:ctrlPr>
                                <a:rPr lang="es-AR" sz="1600" i="1"/>
                              </m:ctrlPr>
                            </m:dPr>
                            <m:e>
                              <m:r>
                                <a:rPr lang="es-AR" sz="1600" i="1"/>
                                <m:t>𝑡</m:t>
                              </m:r>
                            </m:e>
                          </m:d>
                        </m:e>
                      </m:d>
                      <m:r>
                        <a:rPr lang="es-AR" sz="1600"/>
                        <m:t>≈</m:t>
                      </m:r>
                      <m:r>
                        <a:rPr lang="es-AR" sz="1600" i="1"/>
                        <m:t>𝑓</m:t>
                      </m:r>
                      <m:d>
                        <m:dPr>
                          <m:ctrlPr>
                            <a:rPr lang="es-AR" sz="1600" i="1"/>
                          </m:ctrlPr>
                        </m:dPr>
                        <m:e>
                          <m:sSub>
                            <m:sSubPr>
                              <m:ctrlPr>
                                <a:rPr lang="es-AR" sz="1600" i="1"/>
                              </m:ctrlPr>
                            </m:sSubPr>
                            <m:e>
                              <m:r>
                                <a:rPr lang="es-AR" sz="1600" i="1"/>
                                <m:t>𝑋</m:t>
                              </m:r>
                            </m:e>
                            <m:sub>
                              <m:r>
                                <a:rPr lang="es-AR" sz="1600" i="1"/>
                                <m:t>0</m:t>
                              </m:r>
                            </m:sub>
                          </m:sSub>
                          <m:d>
                            <m:dPr>
                              <m:ctrlPr>
                                <a:rPr lang="es-AR" sz="1600" i="1"/>
                              </m:ctrlPr>
                            </m:dPr>
                            <m:e>
                              <m:r>
                                <a:rPr lang="es-AR" sz="1600" i="1"/>
                                <m:t>𝑡</m:t>
                              </m:r>
                            </m:e>
                          </m:d>
                          <m:r>
                            <a:rPr lang="es-AR" sz="1600" i="1"/>
                            <m:t>,</m:t>
                          </m:r>
                          <m:sSub>
                            <m:sSubPr>
                              <m:ctrlPr>
                                <a:rPr lang="es-AR" sz="1600" i="1"/>
                              </m:ctrlPr>
                            </m:sSubPr>
                            <m:e>
                              <m:r>
                                <a:rPr lang="es-AR" sz="1600" i="1"/>
                                <m:t>𝑈</m:t>
                              </m:r>
                            </m:e>
                            <m:sub>
                              <m:r>
                                <a:rPr lang="es-AR" sz="1600" i="1"/>
                                <m:t>0</m:t>
                              </m:r>
                            </m:sub>
                          </m:sSub>
                          <m:d>
                            <m:dPr>
                              <m:ctrlPr>
                                <a:rPr lang="es-AR" sz="1600" i="1"/>
                              </m:ctrlPr>
                            </m:dPr>
                            <m:e>
                              <m:r>
                                <a:rPr lang="es-AR" sz="1600" i="1"/>
                                <m:t>𝑡</m:t>
                              </m:r>
                            </m:e>
                          </m:d>
                        </m:e>
                      </m:d>
                      <m:r>
                        <a:rPr lang="es-AR" sz="1600" i="1"/>
                        <m:t>+</m:t>
                      </m:r>
                      <m:sSub>
                        <m:sSubPr>
                          <m:ctrlPr>
                            <a:rPr lang="es-AR" sz="1600" i="1"/>
                          </m:ctrlPr>
                        </m:sSubPr>
                        <m:e>
                          <m:d>
                            <m:dPr>
                              <m:begChr m:val=""/>
                              <m:endChr m:val="|"/>
                              <m:ctrlPr>
                                <a:rPr lang="es-AR" sz="1600" i="1"/>
                              </m:ctrlPr>
                            </m:dPr>
                            <m:e>
                              <m:f>
                                <m:fPr>
                                  <m:ctrlPr>
                                    <a:rPr lang="es-AR" sz="1600" i="1"/>
                                  </m:ctrlPr>
                                </m:fPr>
                                <m:num>
                                  <m:r>
                                    <a:rPr lang="es-AR" sz="1600" i="1"/>
                                    <m:t>𝜕</m:t>
                                  </m:r>
                                  <m:r>
                                    <a:rPr lang="es-AR" sz="1600" i="1"/>
                                    <m:t>𝑓</m:t>
                                  </m:r>
                                </m:num>
                                <m:den>
                                  <m:r>
                                    <a:rPr lang="es-AR" sz="1600" i="1"/>
                                    <m:t>𝜕</m:t>
                                  </m:r>
                                  <m:r>
                                    <a:rPr lang="es-AR" sz="1600" i="1"/>
                                    <m:t>𝑥</m:t>
                                  </m:r>
                                </m:den>
                              </m:f>
                            </m:e>
                          </m:d>
                        </m:e>
                        <m:sub>
                          <m:r>
                            <a:rPr lang="es-AR" sz="1600" i="1"/>
                            <m:t>0</m:t>
                          </m:r>
                        </m:sub>
                      </m:sSub>
                      <m:d>
                        <m:dPr>
                          <m:ctrlPr>
                            <a:rPr lang="es-AR" sz="1600" i="1"/>
                          </m:ctrlPr>
                        </m:dPr>
                        <m:e>
                          <m:r>
                            <a:rPr lang="es-AR" sz="1600" i="1"/>
                            <m:t>𝑡</m:t>
                          </m:r>
                        </m:e>
                      </m:d>
                      <m:r>
                        <a:rPr lang="es-AR" sz="1600"/>
                        <m:t>∙</m:t>
                      </m:r>
                      <m:r>
                        <m:rPr>
                          <m:sty m:val="p"/>
                        </m:rPr>
                        <a:rPr lang="es-AR" sz="1600"/>
                        <m:t>Δ</m:t>
                      </m:r>
                      <m:r>
                        <a:rPr lang="es-AR" sz="1600" i="1"/>
                        <m:t>𝑥</m:t>
                      </m:r>
                      <m:d>
                        <m:dPr>
                          <m:ctrlPr>
                            <a:rPr lang="es-AR" sz="1600" i="1"/>
                          </m:ctrlPr>
                        </m:dPr>
                        <m:e>
                          <m:r>
                            <a:rPr lang="es-AR" sz="1600" i="1"/>
                            <m:t>𝑡</m:t>
                          </m:r>
                        </m:e>
                      </m:d>
                      <m:r>
                        <a:rPr lang="es-AR" sz="1600" i="1"/>
                        <m:t>+</m:t>
                      </m:r>
                      <m:sSub>
                        <m:sSubPr>
                          <m:ctrlPr>
                            <a:rPr lang="es-AR" sz="1600" i="1"/>
                          </m:ctrlPr>
                        </m:sSubPr>
                        <m:e>
                          <m:d>
                            <m:dPr>
                              <m:begChr m:val=""/>
                              <m:endChr m:val="|"/>
                              <m:ctrlPr>
                                <a:rPr lang="es-AR" sz="1600" i="1"/>
                              </m:ctrlPr>
                            </m:dPr>
                            <m:e>
                              <m:f>
                                <m:fPr>
                                  <m:ctrlPr>
                                    <a:rPr lang="es-AR" sz="1600" i="1"/>
                                  </m:ctrlPr>
                                </m:fPr>
                                <m:num>
                                  <m:r>
                                    <a:rPr lang="es-AR" sz="1600" i="1"/>
                                    <m:t>𝜕</m:t>
                                  </m:r>
                                  <m:r>
                                    <a:rPr lang="es-AR" sz="1600" i="1"/>
                                    <m:t>𝑓</m:t>
                                  </m:r>
                                </m:num>
                                <m:den>
                                  <m:r>
                                    <a:rPr lang="es-AR" sz="1600" i="1"/>
                                    <m:t>𝜕</m:t>
                                  </m:r>
                                  <m:r>
                                    <a:rPr lang="es-AR" sz="1600" i="1"/>
                                    <m:t>𝑢</m:t>
                                  </m:r>
                                </m:den>
                              </m:f>
                            </m:e>
                          </m:d>
                        </m:e>
                        <m:sub>
                          <m:r>
                            <a:rPr lang="es-AR" sz="1600" i="1"/>
                            <m:t>0</m:t>
                          </m:r>
                        </m:sub>
                      </m:sSub>
                      <m:d>
                        <m:dPr>
                          <m:ctrlPr>
                            <a:rPr lang="es-AR" sz="1600" i="1"/>
                          </m:ctrlPr>
                        </m:dPr>
                        <m:e>
                          <m:r>
                            <a:rPr lang="es-AR" sz="1600" i="1"/>
                            <m:t>𝑡</m:t>
                          </m:r>
                        </m:e>
                      </m:d>
                      <m:r>
                        <a:rPr lang="es-AR" sz="1600"/>
                        <m:t>∙</m:t>
                      </m:r>
                      <m:r>
                        <m:rPr>
                          <m:sty m:val="p"/>
                        </m:rPr>
                        <a:rPr lang="es-AR" sz="1600"/>
                        <m:t>Δ</m:t>
                      </m:r>
                      <m:r>
                        <a:rPr lang="es-AR" sz="1600" i="1"/>
                        <m:t>𝑢</m:t>
                      </m:r>
                      <m:d>
                        <m:dPr>
                          <m:ctrlPr>
                            <a:rPr lang="es-AR" sz="1600" i="1"/>
                          </m:ctrlPr>
                        </m:dPr>
                        <m:e>
                          <m:r>
                            <a:rPr lang="es-AR" sz="1600" i="1"/>
                            <m:t>𝑡</m:t>
                          </m:r>
                        </m:e>
                      </m:d>
                    </m:oMath>
                  </m:oMathPara>
                </a14:m>
                <a:endParaRPr lang="en-US" sz="1100" dirty="0"/>
              </a:p>
            </p:txBody>
          </p:sp>
        </mc:Choice>
        <mc:Fallback>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1463040" y="456279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462233" y="5660774"/>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14 / 67</a:t>
            </a:r>
            <a:endParaRPr lang="en-US" sz="900" dirty="0"/>
          </a:p>
        </p:txBody>
      </p:sp>
      <p:sp>
        <p:nvSpPr>
          <p:cNvPr id="11" name="Text 9"/>
          <p:cNvSpPr/>
          <p:nvPr/>
        </p:nvSpPr>
        <p:spPr>
          <a:xfrm>
            <a:off x="365760" y="877906"/>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1.  Espacio de puntos de operación (NL, lentamente variable):</a:t>
            </a:r>
            <a:endParaRPr lang="en-US" sz="1300" dirty="0"/>
          </a:p>
        </p:txBody>
      </p:sp>
      <p:sp>
        <p:nvSpPr>
          <p:cNvPr id="12" name="Shape 10"/>
          <p:cNvSpPr/>
          <p:nvPr/>
        </p:nvSpPr>
        <p:spPr>
          <a:xfrm>
            <a:off x="1371599" y="1262457"/>
            <a:ext cx="9223695" cy="2613258"/>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mc:Choice xmlns:a14="http://schemas.microsoft.com/office/drawing/2010/main" Requires="a14">
          <p:sp>
            <p:nvSpPr>
              <p:cNvPr id="13" name="Text 11"/>
              <p:cNvSpPr/>
              <p:nvPr/>
            </p:nvSpPr>
            <p:spPr>
              <a:xfrm>
                <a:off x="1463040" y="2267795"/>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200" i="1"/>
                          </m:ctrlPr>
                        </m:dPr>
                        <m:e>
                          <m:m>
                            <m:mPr>
                              <m:mcs>
                                <m:mc>
                                  <m:mcPr>
                                    <m:count m:val="1"/>
                                    <m:mcJc m:val="center"/>
                                  </m:mcPr>
                                </m:mc>
                              </m:mcs>
                              <m:ctrlPr>
                                <a:rPr lang="es-AR" sz="1200" i="1"/>
                              </m:ctrlPr>
                            </m:mPr>
                            <m:mr>
                              <m:e>
                                <m:sSub>
                                  <m:sSubPr>
                                    <m:ctrlPr>
                                      <a:rPr lang="es-AR" sz="1200" i="1"/>
                                    </m:ctrlPr>
                                  </m:sSubPr>
                                  <m:e>
                                    <m:acc>
                                      <m:accPr>
                                        <m:chr m:val="̇"/>
                                        <m:ctrlPr>
                                          <a:rPr lang="es-AR" sz="1200" i="1"/>
                                        </m:ctrlPr>
                                      </m:accPr>
                                      <m:e>
                                        <m:r>
                                          <a:rPr lang="es-AR" sz="1200" i="1"/>
                                          <m:t>𝜃</m:t>
                                        </m:r>
                                      </m:e>
                                    </m:acc>
                                  </m:e>
                                  <m:sub>
                                    <m:r>
                                      <a:rPr lang="es-AR" sz="1200" i="1"/>
                                      <m:t>𝑚</m:t>
                                    </m:r>
                                    <m:r>
                                      <a:rPr lang="es-AR" sz="1200" i="1"/>
                                      <m:t>0</m:t>
                                    </m:r>
                                  </m:sub>
                                </m:sSub>
                                <m:d>
                                  <m:dPr>
                                    <m:ctrlPr>
                                      <a:rPr lang="es-AR" sz="1200" i="1"/>
                                    </m:ctrlPr>
                                  </m:dPr>
                                  <m:e>
                                    <m:r>
                                      <a:rPr lang="es-AR" sz="1200" i="1"/>
                                      <m:t>𝑡</m:t>
                                    </m:r>
                                  </m:e>
                                </m:d>
                                <m:r>
                                  <a:rPr lang="es-AR" sz="1200" i="1"/>
                                  <m:t>=</m:t>
                                </m:r>
                                <m:sSub>
                                  <m:sSubPr>
                                    <m:ctrlPr>
                                      <a:rPr lang="es-AR" sz="1200" i="1"/>
                                    </m:ctrlPr>
                                  </m:sSubPr>
                                  <m:e>
                                    <m:r>
                                      <a:rPr lang="es-AR" sz="1200" i="1"/>
                                      <m:t>𝜔</m:t>
                                    </m:r>
                                  </m:e>
                                  <m:sub>
                                    <m:r>
                                      <a:rPr lang="es-AR" sz="1200" i="1"/>
                                      <m:t>𝑚</m:t>
                                    </m:r>
                                    <m:r>
                                      <a:rPr lang="es-AR" sz="1200" i="1"/>
                                      <m:t>0</m:t>
                                    </m:r>
                                  </m:sub>
                                </m:sSub>
                                <m:d>
                                  <m:dPr>
                                    <m:ctrlPr>
                                      <a:rPr lang="es-AR" sz="1200" i="1"/>
                                    </m:ctrlPr>
                                  </m:dPr>
                                  <m:e>
                                    <m:r>
                                      <a:rPr lang="es-AR" sz="1200" i="1"/>
                                      <m:t>𝑡</m:t>
                                    </m:r>
                                  </m:e>
                                </m:d>
                                <m:r>
                                  <a:rPr lang="es-AR" sz="1200" i="1"/>
                                  <m:t>= </m:t>
                                </m:r>
                                <m:r>
                                  <a:rPr lang="es-AR" sz="1200" i="1"/>
                                  <m:t>𝑐𝑡𝑒</m:t>
                                </m:r>
                                <m:r>
                                  <a:rPr lang="es-AR" sz="1200" i="1"/>
                                  <m:t>                                                                                                                                                           </m:t>
                                </m:r>
                              </m:e>
                            </m:mr>
                            <m:mr>
                              <m:e>
                                <m:sSub>
                                  <m:sSubPr>
                                    <m:ctrlPr>
                                      <a:rPr lang="es-AR" sz="1200" i="1"/>
                                    </m:ctrlPr>
                                  </m:sSubPr>
                                  <m:e>
                                    <m:acc>
                                      <m:accPr>
                                        <m:chr m:val="̇"/>
                                        <m:ctrlPr>
                                          <a:rPr lang="es-AR" sz="1200" i="1"/>
                                        </m:ctrlPr>
                                      </m:accPr>
                                      <m:e>
                                        <m:r>
                                          <a:rPr lang="es-AR" sz="1200" i="1"/>
                                          <m:t>⍵</m:t>
                                        </m:r>
                                      </m:e>
                                    </m:acc>
                                  </m:e>
                                  <m:sub>
                                    <m:r>
                                      <a:rPr lang="es-AR" sz="1200" i="1"/>
                                      <m:t>𝑚</m:t>
                                    </m:r>
                                    <m:r>
                                      <a:rPr lang="es-AR" sz="1200" i="1"/>
                                      <m:t>0</m:t>
                                    </m:r>
                                  </m:sub>
                                </m:sSub>
                                <m:d>
                                  <m:dPr>
                                    <m:ctrlPr>
                                      <a:rPr lang="es-AR" sz="1200" i="1"/>
                                    </m:ctrlPr>
                                  </m:dPr>
                                  <m:e>
                                    <m:r>
                                      <a:rPr lang="es-AR" sz="1200" i="1"/>
                                      <m:t>𝑡</m:t>
                                    </m:r>
                                  </m:e>
                                </m:d>
                                <m:r>
                                  <a:rPr lang="es-AR" sz="1200" i="1"/>
                                  <m:t>=</m:t>
                                </m:r>
                                <m:f>
                                  <m:fPr>
                                    <m:ctrlPr>
                                      <a:rPr lang="es-AR" sz="1200" i="1"/>
                                    </m:ctrlPr>
                                  </m:fPr>
                                  <m:num>
                                    <m:r>
                                      <a:rPr lang="es-AR" sz="1200" i="1"/>
                                      <m:t>1</m:t>
                                    </m:r>
                                  </m:num>
                                  <m:den>
                                    <m:sSub>
                                      <m:sSubPr>
                                        <m:ctrlPr>
                                          <a:rPr lang="es-AR" sz="1200" i="1"/>
                                        </m:ctrlPr>
                                      </m:sSubPr>
                                      <m:e>
                                        <m:r>
                                          <a:rPr lang="es-AR" sz="1200" i="1"/>
                                          <m:t>𝐽</m:t>
                                        </m:r>
                                      </m:e>
                                      <m:sub>
                                        <m:r>
                                          <a:rPr lang="es-AR" sz="1200" i="1"/>
                                          <m:t>𝑒𝑞</m:t>
                                        </m:r>
                                      </m:sub>
                                    </m:sSub>
                                  </m:den>
                                </m:f>
                                <m:d>
                                  <m:dPr>
                                    <m:begChr m:val="["/>
                                    <m:endChr m:val="]"/>
                                    <m:ctrlPr>
                                      <a:rPr lang="es-AR" sz="1200" i="1"/>
                                    </m:ctrlPr>
                                  </m:dPr>
                                  <m:e>
                                    <m:f>
                                      <m:fPr>
                                        <m:ctrlPr>
                                          <a:rPr lang="es-AR" sz="1200" i="1"/>
                                        </m:ctrlPr>
                                      </m:fPr>
                                      <m:num>
                                        <m:r>
                                          <a:rPr lang="es-AR" sz="1200" i="1"/>
                                          <m:t>3</m:t>
                                        </m:r>
                                      </m:num>
                                      <m:den>
                                        <m:r>
                                          <a:rPr lang="es-AR" sz="1200" i="1"/>
                                          <m:t>2</m:t>
                                        </m:r>
                                      </m:den>
                                    </m:f>
                                    <m:sSub>
                                      <m:sSubPr>
                                        <m:ctrlPr>
                                          <a:rPr lang="es-AR" sz="1200" i="1"/>
                                        </m:ctrlPr>
                                      </m:sSubPr>
                                      <m:e>
                                        <m:r>
                                          <a:rPr lang="es-AR" sz="1200" i="1"/>
                                          <m:t>𝑃</m:t>
                                        </m:r>
                                      </m:e>
                                      <m:sub>
                                        <m:r>
                                          <a:rPr lang="es-AR" sz="1200" i="1"/>
                                          <m:t>𝑝</m:t>
                                        </m:r>
                                      </m:sub>
                                    </m:sSub>
                                    <m:d>
                                      <m:dPr>
                                        <m:ctrlPr>
                                          <a:rPr lang="es-AR" sz="1200" i="1"/>
                                        </m:ctrlPr>
                                      </m:dPr>
                                      <m:e>
                                        <m:sSubSup>
                                          <m:sSubSupPr>
                                            <m:ctrlPr>
                                              <a:rPr lang="es-AR" sz="1200" i="1"/>
                                            </m:ctrlPr>
                                          </m:sSubSupPr>
                                          <m:e>
                                            <m:r>
                                              <a:rPr lang="es-AR" sz="1200" i="1"/>
                                              <m:t>𝜆</m:t>
                                            </m:r>
                                          </m:e>
                                          <m:sub>
                                            <m:r>
                                              <a:rPr lang="es-AR" sz="1200" i="1"/>
                                              <m:t>𝑚</m:t>
                                            </m:r>
                                          </m:sub>
                                          <m:sup>
                                            <m:r>
                                              <a:rPr lang="es-AR" sz="1200" i="1"/>
                                              <m:t>ˊ</m:t>
                                            </m:r>
                                            <m:r>
                                              <a:rPr lang="es-AR" sz="1200" i="1"/>
                                              <m:t>𝑟</m:t>
                                            </m:r>
                                          </m:sup>
                                        </m:sSubSup>
                                        <m:r>
                                          <a:rPr lang="es-AR" sz="1200" i="1"/>
                                          <m:t>+</m:t>
                                        </m:r>
                                        <m:d>
                                          <m:dPr>
                                            <m:ctrlPr>
                                              <a:rPr lang="es-AR" sz="1200" i="1"/>
                                            </m:ctrlPr>
                                          </m:dPr>
                                          <m:e>
                                            <m:sSub>
                                              <m:sSubPr>
                                                <m:ctrlPr>
                                                  <a:rPr lang="es-AR" sz="1200" i="1"/>
                                                </m:ctrlPr>
                                              </m:sSubPr>
                                              <m:e>
                                                <m:r>
                                                  <a:rPr lang="es-AR" sz="1200" i="1"/>
                                                  <m:t>𝐿</m:t>
                                                </m:r>
                                              </m:e>
                                              <m:sub>
                                                <m:r>
                                                  <a:rPr lang="es-AR" sz="1200" i="1"/>
                                                  <m:t>𝑑</m:t>
                                                </m:r>
                                              </m:sub>
                                            </m:sSub>
                                            <m:r>
                                              <a:rPr lang="es-AR" sz="1200" i="1"/>
                                              <m:t>−</m:t>
                                            </m:r>
                                            <m:sSub>
                                              <m:sSubPr>
                                                <m:ctrlPr>
                                                  <a:rPr lang="es-AR" sz="1200" i="1"/>
                                                </m:ctrlPr>
                                              </m:sSubPr>
                                              <m:e>
                                                <m:r>
                                                  <a:rPr lang="es-AR" sz="1200" i="1"/>
                                                  <m:t>𝐿</m:t>
                                                </m:r>
                                              </m:e>
                                              <m:sub>
                                                <m:r>
                                                  <a:rPr lang="es-AR" sz="1200" i="1"/>
                                                  <m:t>𝑞</m:t>
                                                </m:r>
                                              </m:sub>
                                            </m:sSub>
                                          </m:e>
                                        </m:d>
                                        <m:sSubSup>
                                          <m:sSubSupPr>
                                            <m:ctrlPr>
                                              <a:rPr lang="es-AR" sz="1200" i="1"/>
                                            </m:ctrlPr>
                                          </m:sSubSupPr>
                                          <m:e>
                                            <m:r>
                                              <a:rPr lang="es-AR" sz="1200" i="1"/>
                                              <m:t>𝑖</m:t>
                                            </m:r>
                                          </m:e>
                                          <m:sub>
                                            <m:r>
                                              <a:rPr lang="es-AR" sz="1200" i="1"/>
                                              <m:t>𝑑𝑠</m:t>
                                            </m:r>
                                            <m:r>
                                              <a:rPr lang="es-AR" sz="1200" i="1"/>
                                              <m:t>0</m:t>
                                            </m:r>
                                          </m:sub>
                                          <m:sup>
                                            <m:r>
                                              <a:rPr lang="es-AR" sz="1200" i="1"/>
                                              <m:t>𝑟</m:t>
                                            </m:r>
                                          </m:sup>
                                        </m:sSubSup>
                                        <m:d>
                                          <m:dPr>
                                            <m:ctrlPr>
                                              <a:rPr lang="es-AR" sz="1200" i="1"/>
                                            </m:ctrlPr>
                                          </m:dPr>
                                          <m:e>
                                            <m:r>
                                              <a:rPr lang="es-AR" sz="1200" i="1"/>
                                              <m:t>𝑡</m:t>
                                            </m:r>
                                          </m:e>
                                        </m:d>
                                      </m:e>
                                    </m:d>
                                    <m:sSubSup>
                                      <m:sSubSupPr>
                                        <m:ctrlPr>
                                          <a:rPr lang="es-AR" sz="1200" i="1"/>
                                        </m:ctrlPr>
                                      </m:sSubSupPr>
                                      <m:e>
                                        <m:r>
                                          <a:rPr lang="es-AR" sz="1200" i="1"/>
                                          <m:t>𝑖</m:t>
                                        </m:r>
                                      </m:e>
                                      <m:sub>
                                        <m:r>
                                          <a:rPr lang="es-AR" sz="1200" i="1"/>
                                          <m:t>𝑞𝑠</m:t>
                                        </m:r>
                                        <m:r>
                                          <a:rPr lang="es-AR" sz="1200" i="1"/>
                                          <m:t>0</m:t>
                                        </m:r>
                                      </m:sub>
                                      <m:sup>
                                        <m:r>
                                          <a:rPr lang="es-AR" sz="1200" i="1"/>
                                          <m:t>𝑟</m:t>
                                        </m:r>
                                      </m:sup>
                                    </m:sSubSup>
                                    <m:d>
                                      <m:dPr>
                                        <m:ctrlPr>
                                          <a:rPr lang="es-AR" sz="1200" i="1"/>
                                        </m:ctrlPr>
                                      </m:dPr>
                                      <m:e>
                                        <m:r>
                                          <a:rPr lang="es-AR" sz="1200" i="1"/>
                                          <m:t>𝑡</m:t>
                                        </m:r>
                                      </m:e>
                                    </m:d>
                                    <m:r>
                                      <a:rPr lang="es-AR" sz="1200" i="1"/>
                                      <m:t>−</m:t>
                                    </m:r>
                                    <m:sSub>
                                      <m:sSubPr>
                                        <m:ctrlPr>
                                          <a:rPr lang="es-AR" sz="1200" i="1"/>
                                        </m:ctrlPr>
                                      </m:sSubPr>
                                      <m:e>
                                        <m:r>
                                          <a:rPr lang="es-AR" sz="1200" i="1"/>
                                          <m:t>𝑏</m:t>
                                        </m:r>
                                      </m:e>
                                      <m:sub>
                                        <m:r>
                                          <a:rPr lang="es-AR" sz="1200" i="1"/>
                                          <m:t>𝑒𝑞</m:t>
                                        </m:r>
                                      </m:sub>
                                    </m:sSub>
                                    <m:sSub>
                                      <m:sSubPr>
                                        <m:ctrlPr>
                                          <a:rPr lang="es-AR" sz="1200" i="1"/>
                                        </m:ctrlPr>
                                      </m:sSubPr>
                                      <m:e>
                                        <m:r>
                                          <a:rPr lang="es-AR" sz="1200" i="1"/>
                                          <m:t>𝜔</m:t>
                                        </m:r>
                                      </m:e>
                                      <m:sub>
                                        <m:r>
                                          <a:rPr lang="es-AR" sz="1200" i="1"/>
                                          <m:t>𝑚</m:t>
                                        </m:r>
                                        <m:r>
                                          <a:rPr lang="es-AR" sz="1200" i="1"/>
                                          <m:t>0</m:t>
                                        </m:r>
                                      </m:sub>
                                    </m:sSub>
                                    <m:d>
                                      <m:dPr>
                                        <m:ctrlPr>
                                          <a:rPr lang="es-AR" sz="1200" i="1"/>
                                        </m:ctrlPr>
                                      </m:dPr>
                                      <m:e>
                                        <m:r>
                                          <a:rPr lang="es-AR" sz="1200" i="1"/>
                                          <m:t>𝑡</m:t>
                                        </m:r>
                                      </m:e>
                                    </m:d>
                                    <m:r>
                                      <a:rPr lang="es-AR" sz="1200" i="1"/>
                                      <m:t>−</m:t>
                                    </m:r>
                                    <m:f>
                                      <m:fPr>
                                        <m:ctrlPr>
                                          <a:rPr lang="es-AR" sz="1200" i="1"/>
                                        </m:ctrlPr>
                                      </m:fPr>
                                      <m:num>
                                        <m:r>
                                          <a:rPr lang="es-AR" sz="1200" i="1"/>
                                          <m:t>1</m:t>
                                        </m:r>
                                      </m:num>
                                      <m:den>
                                        <m:r>
                                          <a:rPr lang="es-AR" sz="1200" i="1"/>
                                          <m:t>𝑟</m:t>
                                        </m:r>
                                      </m:den>
                                    </m:f>
                                    <m:d>
                                      <m:dPr>
                                        <m:ctrlPr>
                                          <a:rPr lang="es-AR" sz="1200" i="1"/>
                                        </m:ctrlPr>
                                      </m:dPr>
                                      <m:e>
                                        <m:sSub>
                                          <m:sSubPr>
                                            <m:ctrlPr>
                                              <a:rPr lang="es-AR" sz="1200" i="1"/>
                                            </m:ctrlPr>
                                          </m:sSubPr>
                                          <m:e>
                                            <m:r>
                                              <a:rPr lang="es-AR" sz="1200" i="1"/>
                                              <m:t>𝑇</m:t>
                                            </m:r>
                                          </m:e>
                                          <m:sub>
                                            <m:r>
                                              <a:rPr lang="es-AR" sz="1200" i="1"/>
                                              <m:t>𝑙𝑑</m:t>
                                            </m:r>
                                          </m:sub>
                                        </m:sSub>
                                        <m:d>
                                          <m:dPr>
                                            <m:ctrlPr>
                                              <a:rPr lang="es-AR" sz="1200" i="1"/>
                                            </m:ctrlPr>
                                          </m:dPr>
                                          <m:e>
                                            <m:r>
                                              <a:rPr lang="es-AR" sz="1200" i="1"/>
                                              <m:t>𝑡</m:t>
                                            </m:r>
                                          </m:e>
                                        </m:d>
                                        <m:r>
                                          <a:rPr lang="es-AR" sz="1200" i="1"/>
                                          <m:t>+</m:t>
                                        </m:r>
                                        <m:r>
                                          <a:rPr lang="es-AR" sz="1200" i="1"/>
                                          <m:t>𝑔</m:t>
                                        </m:r>
                                        <m:r>
                                          <a:rPr lang="es-AR" sz="1200" i="1"/>
                                          <m:t> </m:t>
                                        </m:r>
                                        <m:sSub>
                                          <m:sSubPr>
                                            <m:ctrlPr>
                                              <a:rPr lang="es-AR" sz="1200" i="1"/>
                                            </m:ctrlPr>
                                          </m:sSubPr>
                                          <m:e>
                                            <m:r>
                                              <a:rPr lang="es-AR" sz="1200" i="1"/>
                                              <m:t>𝑘</m:t>
                                            </m:r>
                                          </m:e>
                                          <m:sub>
                                            <m:r>
                                              <a:rPr lang="es-AR" sz="1200" i="1"/>
                                              <m:t>𝑙</m:t>
                                            </m:r>
                                          </m:sub>
                                        </m:sSub>
                                        <m:func>
                                          <m:funcPr>
                                            <m:ctrlPr>
                                              <a:rPr lang="es-AR" sz="1200" i="1"/>
                                            </m:ctrlPr>
                                          </m:funcPr>
                                          <m:fName>
                                            <m:r>
                                              <a:rPr lang="es-AR" sz="1200" i="1"/>
                                              <m:t>𝑠𝑖𝑛</m:t>
                                            </m:r>
                                          </m:fName>
                                          <m:e>
                                            <m:d>
                                              <m:dPr>
                                                <m:ctrlPr>
                                                  <a:rPr lang="es-AR" sz="1200" i="1"/>
                                                </m:ctrlPr>
                                              </m:dPr>
                                              <m:e>
                                                <m:f>
                                                  <m:fPr>
                                                    <m:ctrlPr>
                                                      <a:rPr lang="es-AR" sz="1200" i="1"/>
                                                    </m:ctrlPr>
                                                  </m:fPr>
                                                  <m:num>
                                                    <m:sSub>
                                                      <m:sSubPr>
                                                        <m:ctrlPr>
                                                          <a:rPr lang="es-AR" sz="1200" i="1"/>
                                                        </m:ctrlPr>
                                                      </m:sSubPr>
                                                      <m:e>
                                                        <m:r>
                                                          <a:rPr lang="es-AR" sz="1200" i="1"/>
                                                          <m:t>𝜃</m:t>
                                                        </m:r>
                                                      </m:e>
                                                      <m:sub>
                                                        <m:r>
                                                          <a:rPr lang="es-AR" sz="1200" i="1"/>
                                                          <m:t>𝑚</m:t>
                                                        </m:r>
                                                      </m:sub>
                                                    </m:sSub>
                                                    <m:r>
                                                      <a:rPr lang="es-AR" sz="1200" i="1"/>
                                                      <m:t>0</m:t>
                                                    </m:r>
                                                    <m:d>
                                                      <m:dPr>
                                                        <m:ctrlPr>
                                                          <a:rPr lang="es-AR" sz="1200" i="1"/>
                                                        </m:ctrlPr>
                                                      </m:dPr>
                                                      <m:e>
                                                        <m:r>
                                                          <a:rPr lang="es-AR" sz="1200" i="1"/>
                                                          <m:t>𝑡</m:t>
                                                        </m:r>
                                                      </m:e>
                                                    </m:d>
                                                  </m:num>
                                                  <m:den>
                                                    <m:r>
                                                      <a:rPr lang="es-AR" sz="1200" i="1"/>
                                                      <m:t>𝑟</m:t>
                                                    </m:r>
                                                  </m:den>
                                                </m:f>
                                              </m:e>
                                            </m:d>
                                          </m:e>
                                        </m:func>
                                      </m:e>
                                    </m:d>
                                  </m:e>
                                </m:d>
                                <m:r>
                                  <a:rPr lang="es-AR" sz="1200" i="1"/>
                                  <m:t> =0 </m:t>
                                </m:r>
                              </m:e>
                            </m:mr>
                            <m:mr>
                              <m:e>
                                <m:m>
                                  <m:mPr>
                                    <m:mcs>
                                      <m:mc>
                                        <m:mcPr>
                                          <m:count m:val="1"/>
                                          <m:mcJc m:val="center"/>
                                        </m:mcPr>
                                      </m:mc>
                                    </m:mcs>
                                    <m:ctrlPr>
                                      <a:rPr lang="es-AR" sz="1200" i="1"/>
                                    </m:ctrlPr>
                                  </m:mPr>
                                  <m:mr>
                                    <m:e>
                                      <m:f>
                                        <m:fPr>
                                          <m:ctrlPr>
                                            <a:rPr lang="es-AR" sz="1200" i="1"/>
                                          </m:ctrlPr>
                                        </m:fPr>
                                        <m:num>
                                          <m:r>
                                            <a:rPr lang="es-AR" sz="1200" i="1"/>
                                            <m:t>𝑑</m:t>
                                          </m:r>
                                          <m:sSubSup>
                                            <m:sSubSupPr>
                                              <m:ctrlPr>
                                                <a:rPr lang="es-AR" sz="1200" i="1"/>
                                              </m:ctrlPr>
                                            </m:sSubSupPr>
                                            <m:e>
                                              <m:r>
                                                <a:rPr lang="es-AR" sz="1200" i="1"/>
                                                <m:t>𝑖</m:t>
                                              </m:r>
                                            </m:e>
                                            <m:sub>
                                              <m:r>
                                                <a:rPr lang="es-AR" sz="1200" i="1"/>
                                                <m:t>𝑞𝑠</m:t>
                                              </m:r>
                                              <m:r>
                                                <a:rPr lang="es-AR" sz="1200" i="1"/>
                                                <m:t>0</m:t>
                                              </m:r>
                                            </m:sub>
                                            <m:sup>
                                              <m:r>
                                                <a:rPr lang="es-AR" sz="1200" i="1"/>
                                                <m:t>𝑟</m:t>
                                              </m:r>
                                            </m:sup>
                                          </m:sSubSup>
                                          <m:d>
                                            <m:dPr>
                                              <m:ctrlPr>
                                                <a:rPr lang="es-AR" sz="1200" i="1"/>
                                              </m:ctrlPr>
                                            </m:dPr>
                                            <m:e>
                                              <m:r>
                                                <a:rPr lang="es-AR" sz="1200" i="1"/>
                                                <m:t>𝑡</m:t>
                                              </m:r>
                                            </m:e>
                                          </m:d>
                                        </m:num>
                                        <m:den>
                                          <m:r>
                                            <a:rPr lang="es-AR" sz="1200" i="1"/>
                                            <m:t>𝑑𝑡</m:t>
                                          </m:r>
                                        </m:den>
                                      </m:f>
                                      <m:r>
                                        <a:rPr lang="es-AR" sz="1200" i="1"/>
                                        <m:t>=</m:t>
                                      </m:r>
                                      <m:f>
                                        <m:fPr>
                                          <m:ctrlPr>
                                            <a:rPr lang="es-AR" sz="1200" i="1"/>
                                          </m:ctrlPr>
                                        </m:fPr>
                                        <m:num>
                                          <m:r>
                                            <a:rPr lang="es-AR" sz="1200" i="1"/>
                                            <m:t>1</m:t>
                                          </m:r>
                                        </m:num>
                                        <m:den>
                                          <m:sSub>
                                            <m:sSubPr>
                                              <m:ctrlPr>
                                                <a:rPr lang="es-AR" sz="1200" i="1"/>
                                              </m:ctrlPr>
                                            </m:sSubPr>
                                            <m:e>
                                              <m:r>
                                                <a:rPr lang="es-AR" sz="1200" i="1"/>
                                                <m:t>𝐿</m:t>
                                              </m:r>
                                            </m:e>
                                            <m:sub>
                                              <m:r>
                                                <a:rPr lang="es-AR" sz="1200" i="1"/>
                                                <m:t>𝑞</m:t>
                                              </m:r>
                                            </m:sub>
                                          </m:sSub>
                                        </m:den>
                                      </m:f>
                                      <m:d>
                                        <m:dPr>
                                          <m:begChr m:val="["/>
                                          <m:endChr m:val="]"/>
                                          <m:ctrlPr>
                                            <a:rPr lang="es-AR" sz="1200" i="1"/>
                                          </m:ctrlPr>
                                        </m:dPr>
                                        <m:e>
                                          <m:sSubSup>
                                            <m:sSubSupPr>
                                              <m:ctrlPr>
                                                <a:rPr lang="es-AR" sz="1200" i="1"/>
                                              </m:ctrlPr>
                                            </m:sSubSupPr>
                                            <m:e>
                                              <m:r>
                                                <a:rPr lang="es-AR" sz="1200" i="1"/>
                                                <m:t>𝑣</m:t>
                                              </m:r>
                                            </m:e>
                                            <m:sub>
                                              <m:r>
                                                <a:rPr lang="es-AR" sz="1200" i="1"/>
                                                <m:t>𝑞𝑠</m:t>
                                              </m:r>
                                              <m:r>
                                                <a:rPr lang="es-AR" sz="1200" i="1"/>
                                                <m:t>0</m:t>
                                              </m:r>
                                            </m:sub>
                                            <m:sup>
                                              <m:r>
                                                <a:rPr lang="es-AR" sz="1200" i="1"/>
                                                <m:t>𝑟</m:t>
                                              </m:r>
                                            </m:sup>
                                          </m:sSubSup>
                                          <m:d>
                                            <m:dPr>
                                              <m:ctrlPr>
                                                <a:rPr lang="es-AR" sz="1200" i="1"/>
                                              </m:ctrlPr>
                                            </m:dPr>
                                            <m:e>
                                              <m:r>
                                                <a:rPr lang="es-AR" sz="1200" i="1"/>
                                                <m:t>𝑡</m:t>
                                              </m:r>
                                            </m:e>
                                          </m:d>
                                          <m:r>
                                            <a:rPr lang="es-AR" sz="1200" i="1"/>
                                            <m:t>−</m:t>
                                          </m:r>
                                          <m:sSub>
                                            <m:sSubPr>
                                              <m:ctrlPr>
                                                <a:rPr lang="es-AR" sz="1200" i="1"/>
                                              </m:ctrlPr>
                                            </m:sSubPr>
                                            <m:e>
                                              <m:r>
                                                <a:rPr lang="es-AR" sz="1200" i="1"/>
                                                <m:t>𝑅</m:t>
                                              </m:r>
                                            </m:e>
                                            <m:sub>
                                              <m:r>
                                                <a:rPr lang="es-AR" sz="1200" i="1"/>
                                                <m:t>𝑠</m:t>
                                              </m:r>
                                              <m:r>
                                                <a:rPr lang="es-AR" sz="1200" i="1"/>
                                                <m:t>0</m:t>
                                              </m:r>
                                            </m:sub>
                                          </m:sSub>
                                          <m:d>
                                            <m:dPr>
                                              <m:ctrlPr>
                                                <a:rPr lang="es-AR" sz="1200" i="1"/>
                                              </m:ctrlPr>
                                            </m:dPr>
                                            <m:e>
                                              <m:sSubSup>
                                                <m:sSubSupPr>
                                                  <m:ctrlPr>
                                                    <a:rPr lang="es-AR" sz="1200" i="1"/>
                                                  </m:ctrlPr>
                                                </m:sSubSupPr>
                                                <m:e>
                                                  <m:r>
                                                    <a:rPr lang="es-AR" sz="1200" i="1"/>
                                                    <m:t>𝑇</m:t>
                                                  </m:r>
                                                </m:e>
                                                <m:sub>
                                                  <m:r>
                                                    <a:rPr lang="es-AR" sz="1200" i="1"/>
                                                    <m:t>𝑠</m:t>
                                                  </m:r>
                                                  <m:r>
                                                    <a:rPr lang="es-AR" sz="1200" i="1"/>
                                                    <m:t>0</m:t>
                                                  </m:r>
                                                </m:sub>
                                                <m:sup>
                                                  <m:r>
                                                    <a:rPr lang="es-AR" sz="1200" i="1"/>
                                                    <m:t>𝑜</m:t>
                                                  </m:r>
                                                </m:sup>
                                              </m:sSubSup>
                                              <m:d>
                                                <m:dPr>
                                                  <m:ctrlPr>
                                                    <a:rPr lang="es-AR" sz="1200" i="1"/>
                                                  </m:ctrlPr>
                                                </m:dPr>
                                                <m:e>
                                                  <m:r>
                                                    <a:rPr lang="es-AR" sz="1200" i="1"/>
                                                    <m:t>𝑡</m:t>
                                                  </m:r>
                                                </m:e>
                                              </m:d>
                                            </m:e>
                                          </m:d>
                                          <m:sSubSup>
                                            <m:sSubSupPr>
                                              <m:ctrlPr>
                                                <a:rPr lang="es-AR" sz="1200" i="1"/>
                                              </m:ctrlPr>
                                            </m:sSubSupPr>
                                            <m:e>
                                              <m:r>
                                                <a:rPr lang="es-AR" sz="1200" i="1"/>
                                                <m:t>𝑖</m:t>
                                              </m:r>
                                            </m:e>
                                            <m:sub>
                                              <m:r>
                                                <a:rPr lang="es-AR" sz="1200" i="1"/>
                                                <m:t>𝑞𝑠</m:t>
                                              </m:r>
                                              <m:r>
                                                <a:rPr lang="es-AR" sz="1200" i="1"/>
                                                <m:t>0</m:t>
                                              </m:r>
                                            </m:sub>
                                            <m:sup>
                                              <m:r>
                                                <a:rPr lang="es-AR" sz="1200" i="1"/>
                                                <m:t>𝑟</m:t>
                                              </m:r>
                                            </m:sup>
                                          </m:sSubSup>
                                          <m:d>
                                            <m:dPr>
                                              <m:ctrlPr>
                                                <a:rPr lang="es-AR" sz="1200" i="1"/>
                                              </m:ctrlPr>
                                            </m:dPr>
                                            <m:e>
                                              <m:r>
                                                <a:rPr lang="es-AR" sz="1200" i="1"/>
                                                <m:t>𝑡</m:t>
                                              </m:r>
                                            </m:e>
                                          </m:d>
                                          <m:r>
                                            <a:rPr lang="es-AR" sz="1200" i="1"/>
                                            <m:t>−</m:t>
                                          </m:r>
                                          <m:d>
                                            <m:dPr>
                                              <m:ctrlPr>
                                                <a:rPr lang="es-AR" sz="1200" i="1"/>
                                              </m:ctrlPr>
                                            </m:dPr>
                                            <m:e>
                                              <m:sSubSup>
                                                <m:sSubSupPr>
                                                  <m:ctrlPr>
                                                    <a:rPr lang="es-AR" sz="1200" i="1"/>
                                                  </m:ctrlPr>
                                                </m:sSubSupPr>
                                                <m:e>
                                                  <m:r>
                                                    <a:rPr lang="es-AR" sz="1200" i="1"/>
                                                    <m:t>𝜆</m:t>
                                                  </m:r>
                                                </m:e>
                                                <m:sub>
                                                  <m:r>
                                                    <a:rPr lang="es-AR" sz="1200" i="1"/>
                                                    <m:t>𝑚</m:t>
                                                  </m:r>
                                                </m:sub>
                                                <m:sup>
                                                  <m:r>
                                                    <a:rPr lang="es-AR" sz="1200" i="1"/>
                                                    <m:t>ˊ</m:t>
                                                  </m:r>
                                                  <m:r>
                                                    <a:rPr lang="es-AR" sz="1200" i="1"/>
                                                    <m:t>𝑟</m:t>
                                                  </m:r>
                                                </m:sup>
                                              </m:sSubSup>
                                              <m:r>
                                                <a:rPr lang="es-AR" sz="1200" i="1"/>
                                                <m:t>+</m:t>
                                              </m:r>
                                              <m:sSub>
                                                <m:sSubPr>
                                                  <m:ctrlPr>
                                                    <a:rPr lang="es-AR" sz="1200" i="1"/>
                                                  </m:ctrlPr>
                                                </m:sSubPr>
                                                <m:e>
                                                  <m:r>
                                                    <a:rPr lang="es-AR" sz="1200" i="1"/>
                                                    <m:t>𝐿</m:t>
                                                  </m:r>
                                                </m:e>
                                                <m:sub>
                                                  <m:r>
                                                    <a:rPr lang="es-AR" sz="1200" i="1"/>
                                                    <m:t>𝑑</m:t>
                                                  </m:r>
                                                </m:sub>
                                              </m:sSub>
                                              <m:sSubSup>
                                                <m:sSubSupPr>
                                                  <m:ctrlPr>
                                                    <a:rPr lang="es-AR" sz="1200" i="1"/>
                                                  </m:ctrlPr>
                                                </m:sSubSupPr>
                                                <m:e>
                                                  <m:r>
                                                    <a:rPr lang="es-AR" sz="1200" i="1"/>
                                                    <m:t>𝑖</m:t>
                                                  </m:r>
                                                </m:e>
                                                <m:sub>
                                                  <m:r>
                                                    <a:rPr lang="es-AR" sz="1200" i="1"/>
                                                    <m:t>𝑑𝑠</m:t>
                                                  </m:r>
                                                  <m:r>
                                                    <a:rPr lang="es-AR" sz="1200" i="1"/>
                                                    <m:t>0</m:t>
                                                  </m:r>
                                                </m:sub>
                                                <m:sup>
                                                  <m:r>
                                                    <a:rPr lang="es-AR" sz="1200" i="1"/>
                                                    <m:t>𝑟</m:t>
                                                  </m:r>
                                                </m:sup>
                                              </m:sSubSup>
                                              <m:d>
                                                <m:dPr>
                                                  <m:ctrlPr>
                                                    <a:rPr lang="es-AR" sz="1200" i="1"/>
                                                  </m:ctrlPr>
                                                </m:dPr>
                                                <m:e>
                                                  <m:r>
                                                    <a:rPr lang="es-AR" sz="1200" i="1"/>
                                                    <m:t>𝑡</m:t>
                                                  </m:r>
                                                </m:e>
                                              </m:d>
                                            </m:e>
                                          </m:d>
                                          <m:sSub>
                                            <m:sSubPr>
                                              <m:ctrlPr>
                                                <a:rPr lang="es-AR" sz="1200" i="1"/>
                                              </m:ctrlPr>
                                            </m:sSubPr>
                                            <m:e>
                                              <m:r>
                                                <a:rPr lang="es-AR" sz="1200" i="1"/>
                                                <m:t>𝑃</m:t>
                                              </m:r>
                                            </m:e>
                                            <m:sub>
                                              <m:r>
                                                <a:rPr lang="es-AR" sz="1200" i="1"/>
                                                <m:t>𝑝</m:t>
                                              </m:r>
                                            </m:sub>
                                          </m:sSub>
                                          <m:sSub>
                                            <m:sSubPr>
                                              <m:ctrlPr>
                                                <a:rPr lang="es-AR" sz="1200" i="1"/>
                                              </m:ctrlPr>
                                            </m:sSubPr>
                                            <m:e>
                                              <m:r>
                                                <a:rPr lang="es-AR" sz="1200" i="1"/>
                                                <m:t>𝜔</m:t>
                                              </m:r>
                                            </m:e>
                                            <m:sub>
                                              <m:r>
                                                <a:rPr lang="es-AR" sz="1200" i="1"/>
                                                <m:t>𝑚</m:t>
                                              </m:r>
                                              <m:r>
                                                <a:rPr lang="es-AR" sz="1200" i="1"/>
                                                <m:t>0</m:t>
                                              </m:r>
                                            </m:sub>
                                          </m:sSub>
                                          <m:d>
                                            <m:dPr>
                                              <m:ctrlPr>
                                                <a:rPr lang="es-AR" sz="1200" i="1"/>
                                              </m:ctrlPr>
                                            </m:dPr>
                                            <m:e>
                                              <m:r>
                                                <a:rPr lang="es-AR" sz="1200" i="1"/>
                                                <m:t>𝑡</m:t>
                                              </m:r>
                                            </m:e>
                                          </m:d>
                                        </m:e>
                                      </m:d>
                                      <m:r>
                                        <a:rPr lang="es-AR" sz="1200" i="1"/>
                                        <m:t>=0                                                   </m:t>
                                      </m:r>
                                    </m:e>
                                  </m:mr>
                                  <m:mr>
                                    <m:e>
                                      <m:f>
                                        <m:fPr>
                                          <m:ctrlPr>
                                            <a:rPr lang="es-AR" sz="1200" i="1"/>
                                          </m:ctrlPr>
                                        </m:fPr>
                                        <m:num>
                                          <m:r>
                                            <a:rPr lang="es-AR" sz="1200" i="1"/>
                                            <m:t>𝑑</m:t>
                                          </m:r>
                                          <m:sSubSup>
                                            <m:sSubSupPr>
                                              <m:ctrlPr>
                                                <a:rPr lang="es-AR" sz="1200" i="1"/>
                                              </m:ctrlPr>
                                            </m:sSubSupPr>
                                            <m:e>
                                              <m:r>
                                                <a:rPr lang="es-AR" sz="1200" i="1"/>
                                                <m:t>𝑖</m:t>
                                              </m:r>
                                            </m:e>
                                            <m:sub>
                                              <m:r>
                                                <a:rPr lang="es-AR" sz="1200" i="1"/>
                                                <m:t>𝑑𝑠</m:t>
                                              </m:r>
                                              <m:r>
                                                <a:rPr lang="es-AR" sz="1200" i="1"/>
                                                <m:t>0</m:t>
                                              </m:r>
                                            </m:sub>
                                            <m:sup>
                                              <m:r>
                                                <a:rPr lang="es-AR" sz="1200" i="1"/>
                                                <m:t>𝑟</m:t>
                                              </m:r>
                                            </m:sup>
                                          </m:sSubSup>
                                          <m:d>
                                            <m:dPr>
                                              <m:ctrlPr>
                                                <a:rPr lang="es-AR" sz="1200" i="1"/>
                                              </m:ctrlPr>
                                            </m:dPr>
                                            <m:e>
                                              <m:r>
                                                <a:rPr lang="es-AR" sz="1200" i="1"/>
                                                <m:t>𝑡</m:t>
                                              </m:r>
                                            </m:e>
                                          </m:d>
                                        </m:num>
                                        <m:den>
                                          <m:r>
                                            <a:rPr lang="es-AR" sz="1200" i="1"/>
                                            <m:t>𝑑𝑡</m:t>
                                          </m:r>
                                        </m:den>
                                      </m:f>
                                      <m:r>
                                        <a:rPr lang="es-AR" sz="1200" i="1"/>
                                        <m:t>=</m:t>
                                      </m:r>
                                      <m:f>
                                        <m:fPr>
                                          <m:ctrlPr>
                                            <a:rPr lang="es-AR" sz="1200" i="1"/>
                                          </m:ctrlPr>
                                        </m:fPr>
                                        <m:num>
                                          <m:r>
                                            <a:rPr lang="es-AR" sz="1200" i="1"/>
                                            <m:t>1</m:t>
                                          </m:r>
                                        </m:num>
                                        <m:den>
                                          <m:sSub>
                                            <m:sSubPr>
                                              <m:ctrlPr>
                                                <a:rPr lang="es-AR" sz="1200" i="1"/>
                                              </m:ctrlPr>
                                            </m:sSubPr>
                                            <m:e>
                                              <m:r>
                                                <a:rPr lang="es-AR" sz="1200" i="1"/>
                                                <m:t>𝐿</m:t>
                                              </m:r>
                                            </m:e>
                                            <m:sub>
                                              <m:r>
                                                <a:rPr lang="es-AR" sz="1200" i="1"/>
                                                <m:t>𝑑</m:t>
                                              </m:r>
                                            </m:sub>
                                          </m:sSub>
                                        </m:den>
                                      </m:f>
                                      <m:d>
                                        <m:dPr>
                                          <m:begChr m:val="["/>
                                          <m:endChr m:val="]"/>
                                          <m:ctrlPr>
                                            <a:rPr lang="es-AR" sz="1200" i="1"/>
                                          </m:ctrlPr>
                                        </m:dPr>
                                        <m:e>
                                          <m:sSubSup>
                                            <m:sSubSupPr>
                                              <m:ctrlPr>
                                                <a:rPr lang="es-AR" sz="1200" i="1"/>
                                              </m:ctrlPr>
                                            </m:sSubSupPr>
                                            <m:e>
                                              <m:r>
                                                <a:rPr lang="es-AR" sz="1200" i="1"/>
                                                <m:t>𝑣</m:t>
                                              </m:r>
                                            </m:e>
                                            <m:sub>
                                              <m:r>
                                                <a:rPr lang="es-AR" sz="1200" i="1"/>
                                                <m:t>𝑑𝑠</m:t>
                                              </m:r>
                                              <m:r>
                                                <a:rPr lang="es-AR" sz="1200" i="1"/>
                                                <m:t>0</m:t>
                                              </m:r>
                                            </m:sub>
                                            <m:sup>
                                              <m:r>
                                                <a:rPr lang="es-AR" sz="1200" i="1"/>
                                                <m:t>𝑟</m:t>
                                              </m:r>
                                            </m:sup>
                                          </m:sSubSup>
                                          <m:d>
                                            <m:dPr>
                                              <m:ctrlPr>
                                                <a:rPr lang="es-AR" sz="1200" i="1"/>
                                              </m:ctrlPr>
                                            </m:dPr>
                                            <m:e>
                                              <m:r>
                                                <a:rPr lang="es-AR" sz="1200" i="1"/>
                                                <m:t>𝑡</m:t>
                                              </m:r>
                                            </m:e>
                                          </m:d>
                                          <m:r>
                                            <a:rPr lang="es-AR" sz="1200" i="1"/>
                                            <m:t>−</m:t>
                                          </m:r>
                                          <m:sSub>
                                            <m:sSubPr>
                                              <m:ctrlPr>
                                                <a:rPr lang="es-AR" sz="1200" i="1"/>
                                              </m:ctrlPr>
                                            </m:sSubPr>
                                            <m:e>
                                              <m:r>
                                                <a:rPr lang="es-AR" sz="1200" i="1"/>
                                                <m:t>𝑅</m:t>
                                              </m:r>
                                            </m:e>
                                            <m:sub>
                                              <m:r>
                                                <a:rPr lang="es-AR" sz="1200" i="1"/>
                                                <m:t>𝑠</m:t>
                                              </m:r>
                                            </m:sub>
                                          </m:sSub>
                                          <m:d>
                                            <m:dPr>
                                              <m:ctrlPr>
                                                <a:rPr lang="es-AR" sz="1200" i="1"/>
                                              </m:ctrlPr>
                                            </m:dPr>
                                            <m:e>
                                              <m:sSubSup>
                                                <m:sSubSupPr>
                                                  <m:ctrlPr>
                                                    <a:rPr lang="es-AR" sz="1200" i="1"/>
                                                  </m:ctrlPr>
                                                </m:sSubSupPr>
                                                <m:e>
                                                  <m:r>
                                                    <a:rPr lang="es-AR" sz="1200" i="1"/>
                                                    <m:t>𝑇</m:t>
                                                  </m:r>
                                                </m:e>
                                                <m:sub>
                                                  <m:r>
                                                    <a:rPr lang="es-AR" sz="1200" i="1"/>
                                                    <m:t>𝑠</m:t>
                                                  </m:r>
                                                  <m:r>
                                                    <a:rPr lang="es-AR" sz="1200" i="1"/>
                                                    <m:t>0</m:t>
                                                  </m:r>
                                                </m:sub>
                                                <m:sup>
                                                  <m:r>
                                                    <a:rPr lang="es-AR" sz="1200" i="1"/>
                                                    <m:t>𝑜</m:t>
                                                  </m:r>
                                                </m:sup>
                                              </m:sSubSup>
                                              <m:d>
                                                <m:dPr>
                                                  <m:ctrlPr>
                                                    <a:rPr lang="es-AR" sz="1200" i="1"/>
                                                  </m:ctrlPr>
                                                </m:dPr>
                                                <m:e>
                                                  <m:r>
                                                    <a:rPr lang="es-AR" sz="1200" i="1"/>
                                                    <m:t>𝑡</m:t>
                                                  </m:r>
                                                </m:e>
                                              </m:d>
                                            </m:e>
                                          </m:d>
                                          <m:sSubSup>
                                            <m:sSubSupPr>
                                              <m:ctrlPr>
                                                <a:rPr lang="es-AR" sz="1200" i="1"/>
                                              </m:ctrlPr>
                                            </m:sSubSupPr>
                                            <m:e>
                                              <m:r>
                                                <a:rPr lang="es-AR" sz="1200" i="1"/>
                                                <m:t>𝑖</m:t>
                                              </m:r>
                                            </m:e>
                                            <m:sub>
                                              <m:r>
                                                <a:rPr lang="es-AR" sz="1200" i="1"/>
                                                <m:t>𝑑𝑠</m:t>
                                              </m:r>
                                              <m:r>
                                                <a:rPr lang="es-AR" sz="1200" i="1"/>
                                                <m:t>0</m:t>
                                              </m:r>
                                            </m:sub>
                                            <m:sup>
                                              <m:r>
                                                <a:rPr lang="es-AR" sz="1200" i="1"/>
                                                <m:t>𝑟</m:t>
                                              </m:r>
                                            </m:sup>
                                          </m:sSubSup>
                                          <m:d>
                                            <m:dPr>
                                              <m:ctrlPr>
                                                <a:rPr lang="es-AR" sz="1200" i="1"/>
                                              </m:ctrlPr>
                                            </m:dPr>
                                            <m:e>
                                              <m:r>
                                                <a:rPr lang="es-AR" sz="1200" i="1"/>
                                                <m:t>𝑡</m:t>
                                              </m:r>
                                            </m:e>
                                          </m:d>
                                          <m:r>
                                            <a:rPr lang="es-AR" sz="1200" i="1"/>
                                            <m:t>+</m:t>
                                          </m:r>
                                          <m:sSub>
                                            <m:sSubPr>
                                              <m:ctrlPr>
                                                <a:rPr lang="es-AR" sz="1200" i="1"/>
                                              </m:ctrlPr>
                                            </m:sSubPr>
                                            <m:e>
                                              <m:r>
                                                <a:rPr lang="es-AR" sz="1200" i="1"/>
                                                <m:t>𝐿</m:t>
                                              </m:r>
                                            </m:e>
                                            <m:sub>
                                              <m:r>
                                                <a:rPr lang="es-AR" sz="1200" i="1"/>
                                                <m:t>𝑞</m:t>
                                              </m:r>
                                            </m:sub>
                                          </m:sSub>
                                          <m:sSubSup>
                                            <m:sSubSupPr>
                                              <m:ctrlPr>
                                                <a:rPr lang="es-AR" sz="1200" i="1"/>
                                              </m:ctrlPr>
                                            </m:sSubSupPr>
                                            <m:e>
                                              <m:r>
                                                <a:rPr lang="es-AR" sz="1200" i="1"/>
                                                <m:t>𝑖</m:t>
                                              </m:r>
                                            </m:e>
                                            <m:sub>
                                              <m:r>
                                                <a:rPr lang="es-AR" sz="1200" i="1"/>
                                                <m:t>𝑞𝑠</m:t>
                                              </m:r>
                                              <m:r>
                                                <a:rPr lang="es-AR" sz="1200" i="1"/>
                                                <m:t>0</m:t>
                                              </m:r>
                                            </m:sub>
                                            <m:sup>
                                              <m:r>
                                                <a:rPr lang="es-AR" sz="1200" i="1"/>
                                                <m:t>𝑟</m:t>
                                              </m:r>
                                            </m:sup>
                                          </m:sSubSup>
                                          <m:d>
                                            <m:dPr>
                                              <m:ctrlPr>
                                                <a:rPr lang="es-AR" sz="1200" i="1"/>
                                              </m:ctrlPr>
                                            </m:dPr>
                                            <m:e>
                                              <m:r>
                                                <a:rPr lang="es-AR" sz="1200" i="1"/>
                                                <m:t>𝑡</m:t>
                                              </m:r>
                                            </m:e>
                                          </m:d>
                                          <m:sSub>
                                            <m:sSubPr>
                                              <m:ctrlPr>
                                                <a:rPr lang="es-AR" sz="1200" i="1"/>
                                              </m:ctrlPr>
                                            </m:sSubPr>
                                            <m:e>
                                              <m:r>
                                                <a:rPr lang="es-AR" sz="1200" i="1"/>
                                                <m:t>𝑃</m:t>
                                              </m:r>
                                            </m:e>
                                            <m:sub>
                                              <m:r>
                                                <a:rPr lang="es-AR" sz="1200" i="1"/>
                                                <m:t>𝑝</m:t>
                                              </m:r>
                                            </m:sub>
                                          </m:sSub>
                                          <m:sSub>
                                            <m:sSubPr>
                                              <m:ctrlPr>
                                                <a:rPr lang="es-AR" sz="1200" i="1"/>
                                              </m:ctrlPr>
                                            </m:sSubPr>
                                            <m:e>
                                              <m:r>
                                                <a:rPr lang="es-AR" sz="1200" i="1"/>
                                                <m:t>𝜔</m:t>
                                              </m:r>
                                            </m:e>
                                            <m:sub>
                                              <m:r>
                                                <a:rPr lang="es-AR" sz="1200" i="1"/>
                                                <m:t>𝑚</m:t>
                                              </m:r>
                                              <m:r>
                                                <a:rPr lang="es-AR" sz="1200" i="1"/>
                                                <m:t>0</m:t>
                                              </m:r>
                                            </m:sub>
                                          </m:sSub>
                                          <m:d>
                                            <m:dPr>
                                              <m:ctrlPr>
                                                <a:rPr lang="es-AR" sz="1200" i="1"/>
                                              </m:ctrlPr>
                                            </m:dPr>
                                            <m:e>
                                              <m:r>
                                                <a:rPr lang="es-AR" sz="1200" i="1"/>
                                                <m:t>𝑡</m:t>
                                              </m:r>
                                            </m:e>
                                          </m:d>
                                        </m:e>
                                      </m:d>
                                      <m:r>
                                        <a:rPr lang="es-AR" sz="1200" i="1"/>
                                        <m:t>=0                                                    </m:t>
                                      </m:r>
                                      <m:r>
                                        <m:rPr>
                                          <m:nor/>
                                        </m:rPr>
                                        <a:rPr lang="es-AR" sz="1200"/>
                                        <m:t>(31)         </m:t>
                                      </m:r>
                                    </m:e>
                                  </m:mr>
                                  <m:mr>
                                    <m:e>
                                      <m:m>
                                        <m:mPr>
                                          <m:mcs>
                                            <m:mc>
                                              <m:mcPr>
                                                <m:count m:val="1"/>
                                                <m:mcJc m:val="center"/>
                                              </m:mcPr>
                                            </m:mc>
                                          </m:mcs>
                                          <m:ctrlPr>
                                            <a:rPr lang="es-AR" sz="1200" i="1"/>
                                          </m:ctrlPr>
                                        </m:mPr>
                                        <m:mr>
                                          <m:e>
                                            <m:f>
                                              <m:fPr>
                                                <m:ctrlPr>
                                                  <a:rPr lang="es-AR" sz="1200" i="1"/>
                                                </m:ctrlPr>
                                              </m:fPr>
                                              <m:num>
                                                <m:r>
                                                  <a:rPr lang="es-AR" sz="1200" i="1"/>
                                                  <m:t>𝑑</m:t>
                                                </m:r>
                                                <m:sSubSup>
                                                  <m:sSubSupPr>
                                                    <m:ctrlPr>
                                                      <a:rPr lang="es-AR" sz="1200" i="1"/>
                                                    </m:ctrlPr>
                                                  </m:sSubSupPr>
                                                  <m:e>
                                                    <m:r>
                                                      <a:rPr lang="es-AR" sz="1200" i="1"/>
                                                      <m:t>𝑖</m:t>
                                                    </m:r>
                                                  </m:e>
                                                  <m:sub>
                                                    <m:r>
                                                      <a:rPr lang="es-AR" sz="1200" i="1"/>
                                                      <m:t>0</m:t>
                                                    </m:r>
                                                    <m:r>
                                                      <a:rPr lang="es-AR" sz="1200" i="1"/>
                                                      <m:t>𝑠</m:t>
                                                    </m:r>
                                                    <m:r>
                                                      <a:rPr lang="es-AR" sz="1200" i="1"/>
                                                      <m:t>0</m:t>
                                                    </m:r>
                                                  </m:sub>
                                                  <m:sup>
                                                    <m:r>
                                                      <a:rPr lang="es-AR" sz="1200" i="1"/>
                                                      <m:t>𝑟</m:t>
                                                    </m:r>
                                                  </m:sup>
                                                </m:sSubSup>
                                                <m:d>
                                                  <m:dPr>
                                                    <m:ctrlPr>
                                                      <a:rPr lang="es-AR" sz="1200" i="1"/>
                                                    </m:ctrlPr>
                                                  </m:dPr>
                                                  <m:e>
                                                    <m:r>
                                                      <a:rPr lang="es-AR" sz="1200" i="1"/>
                                                      <m:t>𝑡</m:t>
                                                    </m:r>
                                                  </m:e>
                                                </m:d>
                                              </m:num>
                                              <m:den>
                                                <m:r>
                                                  <a:rPr lang="es-AR" sz="1200" i="1"/>
                                                  <m:t>𝑑𝑡</m:t>
                                                </m:r>
                                              </m:den>
                                            </m:f>
                                            <m:r>
                                              <a:rPr lang="es-AR" sz="1200" i="1"/>
                                              <m:t>=</m:t>
                                            </m:r>
                                            <m:f>
                                              <m:fPr>
                                                <m:ctrlPr>
                                                  <a:rPr lang="es-AR" sz="1200" i="1"/>
                                                </m:ctrlPr>
                                              </m:fPr>
                                              <m:num>
                                                <m:r>
                                                  <a:rPr lang="es-AR" sz="1200" i="1"/>
                                                  <m:t>1</m:t>
                                                </m:r>
                                              </m:num>
                                              <m:den>
                                                <m:sSub>
                                                  <m:sSubPr>
                                                    <m:ctrlPr>
                                                      <a:rPr lang="es-AR" sz="1200" i="1"/>
                                                    </m:ctrlPr>
                                                  </m:sSubPr>
                                                  <m:e>
                                                    <m:r>
                                                      <a:rPr lang="es-AR" sz="1200" i="1"/>
                                                      <m:t>𝐿</m:t>
                                                    </m:r>
                                                  </m:e>
                                                  <m:sub>
                                                    <m:r>
                                                      <a:rPr lang="es-AR" sz="1200" i="1"/>
                                                      <m:t>𝑙𝑠</m:t>
                                                    </m:r>
                                                  </m:sub>
                                                </m:sSub>
                                              </m:den>
                                            </m:f>
                                            <m:d>
                                              <m:dPr>
                                                <m:begChr m:val="["/>
                                                <m:endChr m:val="]"/>
                                                <m:ctrlPr>
                                                  <a:rPr lang="es-AR" sz="1200" i="1"/>
                                                </m:ctrlPr>
                                              </m:dPr>
                                              <m:e>
                                                <m:sSubSup>
                                                  <m:sSubSupPr>
                                                    <m:ctrlPr>
                                                      <a:rPr lang="es-AR" sz="1200" i="1"/>
                                                    </m:ctrlPr>
                                                  </m:sSubSupPr>
                                                  <m:e>
                                                    <m:r>
                                                      <a:rPr lang="es-AR" sz="1200" i="1"/>
                                                      <m:t>𝑣</m:t>
                                                    </m:r>
                                                  </m:e>
                                                  <m:sub>
                                                    <m:r>
                                                      <a:rPr lang="es-AR" sz="1200" i="1"/>
                                                      <m:t>0</m:t>
                                                    </m:r>
                                                    <m:r>
                                                      <a:rPr lang="es-AR" sz="1200" i="1"/>
                                                      <m:t>𝑠</m:t>
                                                    </m:r>
                                                    <m:r>
                                                      <a:rPr lang="es-AR" sz="1200" i="1"/>
                                                      <m:t>0</m:t>
                                                    </m:r>
                                                  </m:sub>
                                                  <m:sup>
                                                    <m:r>
                                                      <a:rPr lang="es-AR" sz="1200" i="1"/>
                                                      <m:t>𝑟</m:t>
                                                    </m:r>
                                                  </m:sup>
                                                </m:sSubSup>
                                                <m:d>
                                                  <m:dPr>
                                                    <m:ctrlPr>
                                                      <a:rPr lang="es-AR" sz="1200" i="1"/>
                                                    </m:ctrlPr>
                                                  </m:dPr>
                                                  <m:e>
                                                    <m:r>
                                                      <a:rPr lang="es-AR" sz="1200" i="1"/>
                                                      <m:t>𝑡</m:t>
                                                    </m:r>
                                                  </m:e>
                                                </m:d>
                                                <m:r>
                                                  <a:rPr lang="es-AR" sz="1200" i="1"/>
                                                  <m:t>−</m:t>
                                                </m:r>
                                                <m:sSub>
                                                  <m:sSubPr>
                                                    <m:ctrlPr>
                                                      <a:rPr lang="es-AR" sz="1200" i="1"/>
                                                    </m:ctrlPr>
                                                  </m:sSubPr>
                                                  <m:e>
                                                    <m:r>
                                                      <a:rPr lang="es-AR" sz="1200" i="1"/>
                                                      <m:t>𝑅</m:t>
                                                    </m:r>
                                                  </m:e>
                                                  <m:sub>
                                                    <m:r>
                                                      <a:rPr lang="es-AR" sz="1200" i="1"/>
                                                      <m:t>𝑠</m:t>
                                                    </m:r>
                                                  </m:sub>
                                                </m:sSub>
                                                <m:d>
                                                  <m:dPr>
                                                    <m:ctrlPr>
                                                      <a:rPr lang="es-AR" sz="1200" i="1"/>
                                                    </m:ctrlPr>
                                                  </m:dPr>
                                                  <m:e>
                                                    <m:sSubSup>
                                                      <m:sSubSupPr>
                                                        <m:ctrlPr>
                                                          <a:rPr lang="es-AR" sz="1200" i="1"/>
                                                        </m:ctrlPr>
                                                      </m:sSubSupPr>
                                                      <m:e>
                                                        <m:r>
                                                          <a:rPr lang="es-AR" sz="1200" i="1"/>
                                                          <m:t>𝑇</m:t>
                                                        </m:r>
                                                      </m:e>
                                                      <m:sub>
                                                        <m:r>
                                                          <a:rPr lang="es-AR" sz="1200" i="1"/>
                                                          <m:t>𝑠</m:t>
                                                        </m:r>
                                                        <m:r>
                                                          <a:rPr lang="es-AR" sz="1200" i="1"/>
                                                          <m:t>0</m:t>
                                                        </m:r>
                                                      </m:sub>
                                                      <m:sup>
                                                        <m:r>
                                                          <a:rPr lang="es-AR" sz="1200" i="1"/>
                                                          <m:t>𝑜</m:t>
                                                        </m:r>
                                                      </m:sup>
                                                    </m:sSubSup>
                                                    <m:d>
                                                      <m:dPr>
                                                        <m:ctrlPr>
                                                          <a:rPr lang="es-AR" sz="1200" i="1"/>
                                                        </m:ctrlPr>
                                                      </m:dPr>
                                                      <m:e>
                                                        <m:r>
                                                          <a:rPr lang="es-AR" sz="1200" i="1"/>
                                                          <m:t>𝑡</m:t>
                                                        </m:r>
                                                      </m:e>
                                                    </m:d>
                                                  </m:e>
                                                </m:d>
                                                <m:sSubSup>
                                                  <m:sSubSupPr>
                                                    <m:ctrlPr>
                                                      <a:rPr lang="es-AR" sz="1200" i="1"/>
                                                    </m:ctrlPr>
                                                  </m:sSubSupPr>
                                                  <m:e>
                                                    <m:r>
                                                      <a:rPr lang="es-AR" sz="1200" i="1"/>
                                                      <m:t>𝑖</m:t>
                                                    </m:r>
                                                  </m:e>
                                                  <m:sub>
                                                    <m:r>
                                                      <a:rPr lang="es-AR" sz="1200" i="1"/>
                                                      <m:t>0</m:t>
                                                    </m:r>
                                                    <m:r>
                                                      <a:rPr lang="es-AR" sz="1200" i="1"/>
                                                      <m:t>𝑠</m:t>
                                                    </m:r>
                                                    <m:r>
                                                      <a:rPr lang="es-AR" sz="1200" i="1"/>
                                                      <m:t>0</m:t>
                                                    </m:r>
                                                  </m:sub>
                                                  <m:sup>
                                                    <m:r>
                                                      <a:rPr lang="es-AR" sz="1200" i="1"/>
                                                      <m:t>𝑟</m:t>
                                                    </m:r>
                                                  </m:sup>
                                                </m:sSubSup>
                                                <m:d>
                                                  <m:dPr>
                                                    <m:ctrlPr>
                                                      <a:rPr lang="es-AR" sz="1200" i="1"/>
                                                    </m:ctrlPr>
                                                  </m:dPr>
                                                  <m:e>
                                                    <m:r>
                                                      <a:rPr lang="es-AR" sz="1200" i="1"/>
                                                      <m:t>𝑡</m:t>
                                                    </m:r>
                                                  </m:e>
                                                </m:d>
                                              </m:e>
                                            </m:d>
                                            <m:r>
                                              <a:rPr lang="es-AR" sz="1200" i="1"/>
                                              <m:t>=0                                                                                                              </m:t>
                                            </m:r>
                                          </m:e>
                                        </m:mr>
                                        <m:mr>
                                          <m:e>
                                            <m:f>
                                              <m:fPr>
                                                <m:ctrlPr>
                                                  <a:rPr lang="es-AR" sz="1200" i="1"/>
                                                </m:ctrlPr>
                                              </m:fPr>
                                              <m:num>
                                                <m:r>
                                                  <a:rPr lang="es-AR" sz="1200" i="1"/>
                                                  <m:t>𝑑</m:t>
                                                </m:r>
                                                <m:sSub>
                                                  <m:sSubPr>
                                                    <m:ctrlPr>
                                                      <a:rPr lang="es-AR" sz="1200" i="1"/>
                                                    </m:ctrlPr>
                                                  </m:sSubPr>
                                                  <m:e>
                                                    <m:r>
                                                      <a:rPr lang="es-AR" sz="1200" i="1"/>
                                                      <m:t>𝑇</m:t>
                                                    </m:r>
                                                  </m:e>
                                                  <m:sub>
                                                    <m:r>
                                                      <a:rPr lang="es-AR" sz="1200" i="1"/>
                                                      <m:t>𝑠</m:t>
                                                    </m:r>
                                                    <m:r>
                                                      <a:rPr lang="es-AR" sz="1200" i="1"/>
                                                      <m:t>0</m:t>
                                                    </m:r>
                                                  </m:sub>
                                                </m:sSub>
                                                <m:d>
                                                  <m:dPr>
                                                    <m:ctrlPr>
                                                      <a:rPr lang="es-AR" sz="1200" i="1"/>
                                                    </m:ctrlPr>
                                                  </m:dPr>
                                                  <m:e>
                                                    <m:r>
                                                      <a:rPr lang="es-AR" sz="1200" i="1"/>
                                                      <m:t>𝑡</m:t>
                                                    </m:r>
                                                  </m:e>
                                                </m:d>
                                              </m:num>
                                              <m:den>
                                                <m:r>
                                                  <a:rPr lang="es-AR" sz="1200" i="1"/>
                                                  <m:t>𝑑𝑡</m:t>
                                                </m:r>
                                              </m:den>
                                            </m:f>
                                            <m:r>
                                              <a:rPr lang="es-AR" sz="1200" i="1"/>
                                              <m:t>=</m:t>
                                            </m:r>
                                            <m:f>
                                              <m:fPr>
                                                <m:ctrlPr>
                                                  <a:rPr lang="es-AR" sz="1200" i="1"/>
                                                </m:ctrlPr>
                                              </m:fPr>
                                              <m:num>
                                                <m:r>
                                                  <a:rPr lang="es-AR" sz="1200" i="1"/>
                                                  <m:t>1</m:t>
                                                </m:r>
                                              </m:num>
                                              <m:den>
                                                <m:sSub>
                                                  <m:sSubPr>
                                                    <m:ctrlPr>
                                                      <a:rPr lang="es-AR" sz="1200" i="1"/>
                                                    </m:ctrlPr>
                                                  </m:sSubPr>
                                                  <m:e>
                                                    <m:r>
                                                      <a:rPr lang="es-AR" sz="1200" i="1"/>
                                                      <m:t>𝐶</m:t>
                                                    </m:r>
                                                  </m:e>
                                                  <m:sub>
                                                    <m:r>
                                                      <a:rPr lang="es-AR" sz="1200" i="1"/>
                                                      <m:t>𝑡𝑠</m:t>
                                                    </m:r>
                                                  </m:sub>
                                                </m:sSub>
                                              </m:den>
                                            </m:f>
                                            <m:d>
                                              <m:dPr>
                                                <m:begChr m:val="["/>
                                                <m:endChr m:val="]"/>
                                                <m:ctrlPr>
                                                  <a:rPr lang="es-AR" sz="1200" i="1"/>
                                                </m:ctrlPr>
                                              </m:dPr>
                                              <m:e>
                                                <m:f>
                                                  <m:fPr>
                                                    <m:ctrlPr>
                                                      <a:rPr lang="es-AR" sz="1200" i="1"/>
                                                    </m:ctrlPr>
                                                  </m:fPr>
                                                  <m:num>
                                                    <m:r>
                                                      <a:rPr lang="es-AR" sz="1200" i="1"/>
                                                      <m:t>3</m:t>
                                                    </m:r>
                                                  </m:num>
                                                  <m:den>
                                                    <m:r>
                                                      <a:rPr lang="es-AR" sz="1200" i="1"/>
                                                      <m:t>2</m:t>
                                                    </m:r>
                                                  </m:den>
                                                </m:f>
                                                <m:sSub>
                                                  <m:sSubPr>
                                                    <m:ctrlPr>
                                                      <a:rPr lang="es-AR" sz="1200" i="1"/>
                                                    </m:ctrlPr>
                                                  </m:sSubPr>
                                                  <m:e>
                                                    <m:r>
                                                      <a:rPr lang="es-AR" sz="1200" i="1"/>
                                                      <m:t>𝑅</m:t>
                                                    </m:r>
                                                  </m:e>
                                                  <m:sub>
                                                    <m:r>
                                                      <a:rPr lang="es-AR" sz="1200" i="1"/>
                                                      <m:t>𝑠</m:t>
                                                    </m:r>
                                                  </m:sub>
                                                </m:sSub>
                                                <m:d>
                                                  <m:dPr>
                                                    <m:ctrlPr>
                                                      <a:rPr lang="es-AR" sz="1200" i="1"/>
                                                    </m:ctrlPr>
                                                  </m:dPr>
                                                  <m:e>
                                                    <m:sSubSup>
                                                      <m:sSubSupPr>
                                                        <m:ctrlPr>
                                                          <a:rPr lang="es-AR" sz="1200" i="1"/>
                                                        </m:ctrlPr>
                                                      </m:sSubSupPr>
                                                      <m:e>
                                                        <m:r>
                                                          <a:rPr lang="es-AR" sz="1200" i="1"/>
                                                          <m:t>𝑇</m:t>
                                                        </m:r>
                                                      </m:e>
                                                      <m:sub>
                                                        <m:r>
                                                          <a:rPr lang="es-AR" sz="1200" i="1"/>
                                                          <m:t>𝑠</m:t>
                                                        </m:r>
                                                        <m:r>
                                                          <a:rPr lang="es-AR" sz="1200" i="1"/>
                                                          <m:t>0</m:t>
                                                        </m:r>
                                                      </m:sub>
                                                      <m:sup>
                                                        <m:r>
                                                          <a:rPr lang="es-AR" sz="1200" i="1"/>
                                                          <m:t>𝑜</m:t>
                                                        </m:r>
                                                      </m:sup>
                                                    </m:sSubSup>
                                                    <m:d>
                                                      <m:dPr>
                                                        <m:ctrlPr>
                                                          <a:rPr lang="es-AR" sz="1200" i="1"/>
                                                        </m:ctrlPr>
                                                      </m:dPr>
                                                      <m:e>
                                                        <m:r>
                                                          <a:rPr lang="es-AR" sz="1200" i="1"/>
                                                          <m:t>𝑡</m:t>
                                                        </m:r>
                                                      </m:e>
                                                    </m:d>
                                                  </m:e>
                                                </m:d>
                                                <m:d>
                                                  <m:dPr>
                                                    <m:ctrlPr>
                                                      <a:rPr lang="es-AR" sz="1200" i="1"/>
                                                    </m:ctrlPr>
                                                  </m:dPr>
                                                  <m:e>
                                                    <m:sSup>
                                                      <m:sSupPr>
                                                        <m:ctrlPr>
                                                          <a:rPr lang="es-AR" sz="1200" i="1"/>
                                                        </m:ctrlPr>
                                                      </m:sSupPr>
                                                      <m:e>
                                                        <m:d>
                                                          <m:dPr>
                                                            <m:ctrlPr>
                                                              <a:rPr lang="es-AR" sz="1200" i="1"/>
                                                            </m:ctrlPr>
                                                          </m:dPr>
                                                          <m:e>
                                                            <m:sSubSup>
                                                              <m:sSubSupPr>
                                                                <m:ctrlPr>
                                                                  <a:rPr lang="es-AR" sz="1200" i="1"/>
                                                                </m:ctrlPr>
                                                              </m:sSubSupPr>
                                                              <m:e>
                                                                <m:r>
                                                                  <a:rPr lang="es-AR" sz="1200" i="1"/>
                                                                  <m:t>𝑖</m:t>
                                                                </m:r>
                                                              </m:e>
                                                              <m:sub>
                                                                <m:r>
                                                                  <a:rPr lang="es-AR" sz="1200" i="1"/>
                                                                  <m:t>𝑞𝑠</m:t>
                                                                </m:r>
                                                                <m:r>
                                                                  <a:rPr lang="es-AR" sz="1200" i="1"/>
                                                                  <m:t>0</m:t>
                                                                </m:r>
                                                              </m:sub>
                                                              <m:sup>
                                                                <m:r>
                                                                  <a:rPr lang="es-AR" sz="1200" i="1"/>
                                                                  <m:t>𝑟</m:t>
                                                                </m:r>
                                                              </m:sup>
                                                            </m:sSubSup>
                                                          </m:e>
                                                        </m:d>
                                                      </m:e>
                                                      <m:sup>
                                                        <m:r>
                                                          <a:rPr lang="es-AR" sz="1200" i="1"/>
                                                          <m:t>2</m:t>
                                                        </m:r>
                                                      </m:sup>
                                                    </m:sSup>
                                                    <m:r>
                                                      <a:rPr lang="es-AR" sz="1200" i="1"/>
                                                      <m:t>+</m:t>
                                                    </m:r>
                                                    <m:sSup>
                                                      <m:sSupPr>
                                                        <m:ctrlPr>
                                                          <a:rPr lang="es-AR" sz="1200" i="1"/>
                                                        </m:ctrlPr>
                                                      </m:sSupPr>
                                                      <m:e>
                                                        <m:d>
                                                          <m:dPr>
                                                            <m:ctrlPr>
                                                              <a:rPr lang="es-AR" sz="1200" i="1"/>
                                                            </m:ctrlPr>
                                                          </m:dPr>
                                                          <m:e>
                                                            <m:sSubSup>
                                                              <m:sSubSupPr>
                                                                <m:ctrlPr>
                                                                  <a:rPr lang="es-AR" sz="1200" i="1"/>
                                                                </m:ctrlPr>
                                                              </m:sSubSupPr>
                                                              <m:e>
                                                                <m:r>
                                                                  <a:rPr lang="es-AR" sz="1200" i="1"/>
                                                                  <m:t>𝑖</m:t>
                                                                </m:r>
                                                              </m:e>
                                                              <m:sub>
                                                                <m:r>
                                                                  <a:rPr lang="es-AR" sz="1200" i="1"/>
                                                                  <m:t>𝑑𝑠</m:t>
                                                                </m:r>
                                                                <m:r>
                                                                  <a:rPr lang="es-AR" sz="1200" i="1"/>
                                                                  <m:t>0</m:t>
                                                                </m:r>
                                                              </m:sub>
                                                              <m:sup>
                                                                <m:r>
                                                                  <a:rPr lang="es-AR" sz="1200" i="1"/>
                                                                  <m:t>𝑟</m:t>
                                                                </m:r>
                                                              </m:sup>
                                                            </m:sSubSup>
                                                          </m:e>
                                                        </m:d>
                                                      </m:e>
                                                      <m:sup>
                                                        <m:r>
                                                          <a:rPr lang="es-AR" sz="1200" i="1"/>
                                                          <m:t>2</m:t>
                                                        </m:r>
                                                      </m:sup>
                                                    </m:sSup>
                                                    <m:r>
                                                      <a:rPr lang="es-AR" sz="1200" i="1"/>
                                                      <m:t>+2</m:t>
                                                    </m:r>
                                                    <m:sSup>
                                                      <m:sSupPr>
                                                        <m:ctrlPr>
                                                          <a:rPr lang="es-AR" sz="1200" i="1"/>
                                                        </m:ctrlPr>
                                                      </m:sSupPr>
                                                      <m:e>
                                                        <m:d>
                                                          <m:dPr>
                                                            <m:ctrlPr>
                                                              <a:rPr lang="es-AR" sz="1200" i="1"/>
                                                            </m:ctrlPr>
                                                          </m:dPr>
                                                          <m:e>
                                                            <m:sSubSup>
                                                              <m:sSubSupPr>
                                                                <m:ctrlPr>
                                                                  <a:rPr lang="es-AR" sz="1200" i="1"/>
                                                                </m:ctrlPr>
                                                              </m:sSubSupPr>
                                                              <m:e>
                                                                <m:r>
                                                                  <a:rPr lang="es-AR" sz="1200" i="1"/>
                                                                  <m:t>𝑖</m:t>
                                                                </m:r>
                                                              </m:e>
                                                              <m:sub>
                                                                <m:r>
                                                                  <a:rPr lang="es-AR" sz="1200" i="1"/>
                                                                  <m:t>0</m:t>
                                                                </m:r>
                                                                <m:r>
                                                                  <a:rPr lang="es-AR" sz="1200" i="1"/>
                                                                  <m:t>𝑠</m:t>
                                                                </m:r>
                                                                <m:r>
                                                                  <a:rPr lang="es-AR" sz="1200" i="1"/>
                                                                  <m:t>0</m:t>
                                                                </m:r>
                                                              </m:sub>
                                                              <m:sup>
                                                                <m:r>
                                                                  <a:rPr lang="es-AR" sz="1200" i="1"/>
                                                                  <m:t>𝑟</m:t>
                                                                </m:r>
                                                              </m:sup>
                                                            </m:sSubSup>
                                                          </m:e>
                                                        </m:d>
                                                      </m:e>
                                                      <m:sup>
                                                        <m:r>
                                                          <a:rPr lang="es-AR" sz="1200" i="1"/>
                                                          <m:t>2</m:t>
                                                        </m:r>
                                                      </m:sup>
                                                    </m:sSup>
                                                  </m:e>
                                                </m:d>
                                                <m:r>
                                                  <a:rPr lang="es-AR" sz="1200" i="1"/>
                                                  <m:t>−</m:t>
                                                </m:r>
                                                <m:f>
                                                  <m:fPr>
                                                    <m:ctrlPr>
                                                      <a:rPr lang="es-AR" sz="1200" i="1"/>
                                                    </m:ctrlPr>
                                                  </m:fPr>
                                                  <m:num>
                                                    <m:r>
                                                      <a:rPr lang="es-AR" sz="1200" i="1"/>
                                                      <m:t>1</m:t>
                                                    </m:r>
                                                  </m:num>
                                                  <m:den>
                                                    <m:sSub>
                                                      <m:sSubPr>
                                                        <m:ctrlPr>
                                                          <a:rPr lang="es-AR" sz="1200" i="1"/>
                                                        </m:ctrlPr>
                                                      </m:sSubPr>
                                                      <m:e>
                                                        <m:r>
                                                          <a:rPr lang="es-AR" sz="1200" i="1"/>
                                                          <m:t>𝑅</m:t>
                                                        </m:r>
                                                      </m:e>
                                                      <m:sub>
                                                        <m:r>
                                                          <a:rPr lang="es-AR" sz="1200" i="1"/>
                                                          <m:t>𝑡𝑠</m:t>
                                                        </m:r>
                                                        <m:r>
                                                          <a:rPr lang="es-AR" sz="1200" i="1"/>
                                                          <m:t>−</m:t>
                                                        </m:r>
                                                        <m:r>
                                                          <a:rPr lang="es-AR" sz="1200" i="1"/>
                                                          <m:t>𝑎𝑚𝑏</m:t>
                                                        </m:r>
                                                      </m:sub>
                                                    </m:sSub>
                                                  </m:den>
                                                </m:f>
                                                <m:d>
                                                  <m:dPr>
                                                    <m:ctrlPr>
                                                      <a:rPr lang="es-AR" sz="1200" i="1"/>
                                                    </m:ctrlPr>
                                                  </m:dPr>
                                                  <m:e>
                                                    <m:sSubSup>
                                                      <m:sSubSupPr>
                                                        <m:ctrlPr>
                                                          <a:rPr lang="es-AR" sz="1200" i="1"/>
                                                        </m:ctrlPr>
                                                      </m:sSubSupPr>
                                                      <m:e>
                                                        <m:r>
                                                          <a:rPr lang="es-AR" sz="1200" i="1"/>
                                                          <m:t>𝑇</m:t>
                                                        </m:r>
                                                      </m:e>
                                                      <m:sub>
                                                        <m:r>
                                                          <a:rPr lang="es-AR" sz="1200" i="1"/>
                                                          <m:t>𝑠</m:t>
                                                        </m:r>
                                                        <m:r>
                                                          <a:rPr lang="es-AR" sz="1200" i="1"/>
                                                          <m:t>0</m:t>
                                                        </m:r>
                                                      </m:sub>
                                                      <m:sup>
                                                        <m:r>
                                                          <a:rPr lang="es-AR" sz="1200" i="1"/>
                                                          <m:t>𝑜</m:t>
                                                        </m:r>
                                                      </m:sup>
                                                    </m:sSubSup>
                                                    <m:d>
                                                      <m:dPr>
                                                        <m:ctrlPr>
                                                          <a:rPr lang="es-AR" sz="1200" i="1"/>
                                                        </m:ctrlPr>
                                                      </m:dPr>
                                                      <m:e>
                                                        <m:r>
                                                          <a:rPr lang="es-AR" sz="1200" i="1"/>
                                                          <m:t>𝑡</m:t>
                                                        </m:r>
                                                      </m:e>
                                                    </m:d>
                                                    <m:sSubSup>
                                                      <m:sSubSupPr>
                                                        <m:ctrlPr>
                                                          <a:rPr lang="es-AR" sz="1200" i="1"/>
                                                        </m:ctrlPr>
                                                      </m:sSubSupPr>
                                                      <m:e>
                                                        <m:r>
                                                          <a:rPr lang="es-AR" sz="1200" i="1"/>
                                                          <m:t>−</m:t>
                                                        </m:r>
                                                        <m:r>
                                                          <a:rPr lang="es-AR" sz="1200" i="1"/>
                                                          <m:t>𝑇</m:t>
                                                        </m:r>
                                                      </m:e>
                                                      <m:sub>
                                                        <m:r>
                                                          <a:rPr lang="es-AR" sz="1200" i="1"/>
                                                          <m:t>𝑎𝑚𝑏</m:t>
                                                        </m:r>
                                                      </m:sub>
                                                      <m:sup>
                                                        <m:r>
                                                          <a:rPr lang="es-AR" sz="1200" i="1"/>
                                                          <m:t>𝑜</m:t>
                                                        </m:r>
                                                      </m:sup>
                                                    </m:sSubSup>
                                                    <m:d>
                                                      <m:dPr>
                                                        <m:ctrlPr>
                                                          <a:rPr lang="es-AR" sz="1200" i="1"/>
                                                        </m:ctrlPr>
                                                      </m:dPr>
                                                      <m:e>
                                                        <m:r>
                                                          <a:rPr lang="es-AR" sz="1200" i="1"/>
                                                          <m:t>𝑡</m:t>
                                                        </m:r>
                                                      </m:e>
                                                    </m:d>
                                                  </m:e>
                                                </m:d>
                                              </m:e>
                                            </m:d>
                                            <m:r>
                                              <a:rPr lang="es-AR" sz="1200" i="1"/>
                                              <m:t>=0                         </m:t>
                                            </m:r>
                                          </m:e>
                                        </m:mr>
                                      </m:m>
                                    </m:e>
                                  </m:mr>
                                </m:m>
                              </m:e>
                            </m:mr>
                          </m:m>
                        </m:e>
                      </m:d>
                    </m:oMath>
                  </m:oMathPara>
                </a14:m>
                <a:endParaRPr lang="en-US" sz="1100" dirty="0"/>
              </a:p>
            </p:txBody>
          </p:sp>
        </mc:Choice>
        <mc:Fallback>
          <p:sp>
            <p:nvSpPr>
              <p:cNvPr id="13" name="Text 11"/>
              <p:cNvSpPr>
                <a:spLocks noRot="1" noChangeAspect="1" noMove="1" noResize="1" noEditPoints="1" noAdjustHandles="1" noChangeArrowheads="1" noChangeShapeType="1" noTextEdit="1"/>
              </p:cNvSpPr>
              <p:nvPr/>
            </p:nvSpPr>
            <p:spPr>
              <a:xfrm>
                <a:off x="1463040" y="2267795"/>
                <a:ext cx="8961120" cy="530352"/>
              </a:xfrm>
              <a:prstGeom prst="rect">
                <a:avLst/>
              </a:prstGeom>
              <a:blipFill>
                <a:blip r:embed="rId3"/>
                <a:stretch>
                  <a:fillRect t="-171264" b="-175862"/>
                </a:stretch>
              </a:blipFill>
              <a:ln/>
            </p:spPr>
            <p:txBody>
              <a:bodyPr/>
              <a:lstStyle/>
              <a:p>
                <a:r>
                  <a:rPr lang="es-AR">
                    <a:noFill/>
                  </a:rPr>
                  <a:t> </a:t>
                </a:r>
              </a:p>
            </p:txBody>
          </p:sp>
        </mc:Fallback>
      </mc:AlternateContent>
      <p:sp>
        <p:nvSpPr>
          <p:cNvPr id="14" name="Text 12"/>
          <p:cNvSpPr/>
          <p:nvPr/>
        </p:nvSpPr>
        <p:spPr>
          <a:xfrm>
            <a:off x="365760" y="4129649"/>
            <a:ext cx="11430000" cy="47548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2.  Modelo de pequeñas desviaciones Δx(t) (LPV — matrices A(p) y B(p) varían con el punto de operación):</a:t>
            </a:r>
            <a:endParaRPr lang="en-US" sz="1300" dirty="0"/>
          </a:p>
        </p:txBody>
      </p:sp>
      <p:sp>
        <p:nvSpPr>
          <p:cNvPr id="15" name="Shape 13"/>
          <p:cNvSpPr/>
          <p:nvPr/>
        </p:nvSpPr>
        <p:spPr>
          <a:xfrm>
            <a:off x="1371600" y="4454260"/>
            <a:ext cx="9144000" cy="1317365"/>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6" name="Text 14"/>
              <p:cNvSpPr/>
              <p:nvPr/>
            </p:nvSpPr>
            <p:spPr>
              <a:xfrm>
                <a:off x="1371600" y="4758402"/>
                <a:ext cx="8961120"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r>
                        <a:rPr lang="es-AR" sz="1400" i="1"/>
                        <m:t>𝐴</m:t>
                      </m:r>
                      <m:d>
                        <m:dPr>
                          <m:ctrlPr>
                            <a:rPr lang="es-AR" sz="1400" i="1"/>
                          </m:ctrlPr>
                        </m:dPr>
                        <m:e>
                          <m:r>
                            <a:rPr lang="es-AR" sz="1400" i="1"/>
                            <m:t>𝑡</m:t>
                          </m:r>
                        </m:e>
                      </m:d>
                      <m:r>
                        <a:rPr lang="es-AR" sz="1400" i="1"/>
                        <m:t>=</m:t>
                      </m:r>
                      <m:d>
                        <m:dPr>
                          <m:begChr m:val="["/>
                          <m:endChr m:val="]"/>
                          <m:ctrlPr>
                            <a:rPr lang="es-AR" sz="1400" i="1"/>
                          </m:ctrlPr>
                        </m:dPr>
                        <m:e>
                          <m:m>
                            <m:mPr>
                              <m:mcs>
                                <m:mc>
                                  <m:mcPr>
                                    <m:count m:val="3"/>
                                    <m:mcJc m:val="center"/>
                                  </m:mcPr>
                                </m:mc>
                              </m:mcs>
                              <m:ctrlPr>
                                <a:rPr lang="es-AR" sz="1400" i="1"/>
                              </m:ctrlPr>
                            </m:mPr>
                            <m:mr>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1</m:t>
                                                </m:r>
                                              </m:sub>
                                            </m:sSub>
                                          </m:num>
                                          <m:den>
                                            <m:sSub>
                                              <m:sSubPr>
                                                <m:ctrlPr>
                                                  <a:rPr lang="es-AR" sz="1400" i="1"/>
                                                </m:ctrlPr>
                                              </m:sSubPr>
                                              <m:e>
                                                <m:r>
                                                  <a:rPr lang="es-AR" sz="1400" i="1"/>
                                                  <m:t>𝜕</m:t>
                                                </m:r>
                                                <m:r>
                                                  <a:rPr lang="es-AR" sz="1400" i="1"/>
                                                  <m:t>𝑥</m:t>
                                                </m:r>
                                              </m:e>
                                              <m:sub>
                                                <m:r>
                                                  <a:rPr lang="es-AR" sz="1400" i="1"/>
                                                  <m:t>1</m:t>
                                                </m:r>
                                              </m:sub>
                                            </m:sSub>
                                          </m:den>
                                        </m:f>
                                      </m:e>
                                    </m:d>
                                  </m:e>
                                  <m:sub>
                                    <m:r>
                                      <a:rPr lang="es-AR" sz="1400" i="1"/>
                                      <m:t>0</m:t>
                                    </m:r>
                                  </m:sub>
                                </m:sSub>
                              </m:e>
                              <m:e>
                                <m:r>
                                  <a:rPr lang="es-AR" sz="1400" i="1"/>
                                  <m:t>⋯</m:t>
                                </m:r>
                              </m:e>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1</m:t>
                                                </m:r>
                                              </m:sub>
                                            </m:sSub>
                                          </m:num>
                                          <m:den>
                                            <m:sSub>
                                              <m:sSubPr>
                                                <m:ctrlPr>
                                                  <a:rPr lang="es-AR" sz="1400" i="1"/>
                                                </m:ctrlPr>
                                              </m:sSubPr>
                                              <m:e>
                                                <m:r>
                                                  <a:rPr lang="es-AR" sz="1400" i="1"/>
                                                  <m:t>𝜕</m:t>
                                                </m:r>
                                                <m:r>
                                                  <a:rPr lang="es-AR" sz="1400" i="1"/>
                                                  <m:t>𝑥</m:t>
                                                </m:r>
                                              </m:e>
                                              <m:sub>
                                                <m:r>
                                                  <a:rPr lang="es-AR" sz="1400" i="1"/>
                                                  <m:t>𝑛</m:t>
                                                </m:r>
                                              </m:sub>
                                            </m:sSub>
                                          </m:den>
                                        </m:f>
                                      </m:e>
                                    </m:d>
                                  </m:e>
                                  <m:sub>
                                    <m:r>
                                      <a:rPr lang="es-AR" sz="1400" i="1"/>
                                      <m:t>0</m:t>
                                    </m:r>
                                  </m:sub>
                                </m:sSub>
                              </m:e>
                            </m:mr>
                            <m:mr>
                              <m:e>
                                <m:r>
                                  <a:rPr lang="es-AR" sz="1400" i="1"/>
                                  <m:t>⋮</m:t>
                                </m:r>
                              </m:e>
                              <m:e>
                                <m:r>
                                  <a:rPr lang="es-AR" sz="1400" i="1"/>
                                  <m:t>⋱</m:t>
                                </m:r>
                              </m:e>
                              <m:e>
                                <m:r>
                                  <a:rPr lang="es-AR" sz="1400" i="1"/>
                                  <m:t>⋮</m:t>
                                </m:r>
                              </m:e>
                            </m:mr>
                            <m:mr>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𝑛</m:t>
                                                </m:r>
                                              </m:sub>
                                            </m:sSub>
                                          </m:num>
                                          <m:den>
                                            <m:sSub>
                                              <m:sSubPr>
                                                <m:ctrlPr>
                                                  <a:rPr lang="es-AR" sz="1400" i="1"/>
                                                </m:ctrlPr>
                                              </m:sSubPr>
                                              <m:e>
                                                <m:r>
                                                  <a:rPr lang="es-AR" sz="1400" i="1"/>
                                                  <m:t>𝜕</m:t>
                                                </m:r>
                                                <m:r>
                                                  <a:rPr lang="es-AR" sz="1400" i="1"/>
                                                  <m:t>𝑥</m:t>
                                                </m:r>
                                              </m:e>
                                              <m:sub>
                                                <m:r>
                                                  <a:rPr lang="es-AR" sz="1400" i="1"/>
                                                  <m:t>1</m:t>
                                                </m:r>
                                              </m:sub>
                                            </m:sSub>
                                          </m:den>
                                        </m:f>
                                      </m:e>
                                    </m:d>
                                  </m:e>
                                  <m:sub>
                                    <m:r>
                                      <a:rPr lang="es-AR" sz="1400" i="1"/>
                                      <m:t>0</m:t>
                                    </m:r>
                                  </m:sub>
                                </m:sSub>
                              </m:e>
                              <m:e>
                                <m:r>
                                  <a:rPr lang="es-AR" sz="1400" i="1"/>
                                  <m:t>⋯</m:t>
                                </m:r>
                              </m:e>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𝑛</m:t>
                                                </m:r>
                                              </m:sub>
                                            </m:sSub>
                                          </m:num>
                                          <m:den>
                                            <m:sSub>
                                              <m:sSubPr>
                                                <m:ctrlPr>
                                                  <a:rPr lang="es-AR" sz="1400" i="1"/>
                                                </m:ctrlPr>
                                              </m:sSubPr>
                                              <m:e>
                                                <m:r>
                                                  <a:rPr lang="es-AR" sz="1400" i="1"/>
                                                  <m:t>𝜕</m:t>
                                                </m:r>
                                                <m:r>
                                                  <a:rPr lang="es-AR" sz="1400" i="1"/>
                                                  <m:t>𝑥</m:t>
                                                </m:r>
                                              </m:e>
                                              <m:sub>
                                                <m:r>
                                                  <a:rPr lang="es-AR" sz="1400" i="1"/>
                                                  <m:t>𝑛</m:t>
                                                </m:r>
                                              </m:sub>
                                            </m:sSub>
                                          </m:den>
                                        </m:f>
                                      </m:e>
                                    </m:d>
                                  </m:e>
                                  <m:sub>
                                    <m:r>
                                      <a:rPr lang="es-AR" sz="1400" i="1"/>
                                      <m:t>0</m:t>
                                    </m:r>
                                  </m:sub>
                                </m:sSub>
                              </m:e>
                            </m:mr>
                          </m:m>
                        </m:e>
                      </m:d>
                      <m:r>
                        <a:rPr lang="es-AR" sz="1400" i="1"/>
                        <m:t> ,                              </m:t>
                      </m:r>
                      <m:r>
                        <a:rPr lang="es-AR" sz="1400" i="1"/>
                        <m:t>𝐵</m:t>
                      </m:r>
                      <m:d>
                        <m:dPr>
                          <m:ctrlPr>
                            <a:rPr lang="es-AR" sz="1400" i="1"/>
                          </m:ctrlPr>
                        </m:dPr>
                        <m:e>
                          <m:r>
                            <a:rPr lang="es-AR" sz="1400" i="1"/>
                            <m:t>𝑡</m:t>
                          </m:r>
                        </m:e>
                      </m:d>
                      <m:r>
                        <a:rPr lang="es-AR" sz="1400" i="1"/>
                        <m:t>=</m:t>
                      </m:r>
                      <m:d>
                        <m:dPr>
                          <m:begChr m:val="["/>
                          <m:endChr m:val="]"/>
                          <m:ctrlPr>
                            <a:rPr lang="es-AR" sz="1400" i="1"/>
                          </m:ctrlPr>
                        </m:dPr>
                        <m:e>
                          <m:m>
                            <m:mPr>
                              <m:mcs>
                                <m:mc>
                                  <m:mcPr>
                                    <m:count m:val="3"/>
                                    <m:mcJc m:val="center"/>
                                  </m:mcPr>
                                </m:mc>
                              </m:mcs>
                              <m:ctrlPr>
                                <a:rPr lang="es-AR" sz="1400" i="1"/>
                              </m:ctrlPr>
                            </m:mPr>
                            <m:mr>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1</m:t>
                                                </m:r>
                                              </m:sub>
                                            </m:sSub>
                                          </m:num>
                                          <m:den>
                                            <m:sSub>
                                              <m:sSubPr>
                                                <m:ctrlPr>
                                                  <a:rPr lang="es-AR" sz="1400" i="1"/>
                                                </m:ctrlPr>
                                              </m:sSubPr>
                                              <m:e>
                                                <m:r>
                                                  <a:rPr lang="es-AR" sz="1400" i="1"/>
                                                  <m:t>𝜕</m:t>
                                                </m:r>
                                                <m:r>
                                                  <a:rPr lang="es-AR" sz="1400" i="1"/>
                                                  <m:t>𝑢</m:t>
                                                </m:r>
                                              </m:e>
                                              <m:sub>
                                                <m:r>
                                                  <a:rPr lang="es-AR" sz="1400" i="1"/>
                                                  <m:t>1</m:t>
                                                </m:r>
                                              </m:sub>
                                            </m:sSub>
                                          </m:den>
                                        </m:f>
                                      </m:e>
                                    </m:d>
                                  </m:e>
                                  <m:sub>
                                    <m:r>
                                      <a:rPr lang="es-AR" sz="1400" i="1"/>
                                      <m:t>0</m:t>
                                    </m:r>
                                  </m:sub>
                                </m:sSub>
                              </m:e>
                              <m:e>
                                <m:r>
                                  <a:rPr lang="es-AR" sz="1400" i="1"/>
                                  <m:t>⋯</m:t>
                                </m:r>
                              </m:e>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1</m:t>
                                                </m:r>
                                              </m:sub>
                                            </m:sSub>
                                          </m:num>
                                          <m:den>
                                            <m:sSub>
                                              <m:sSubPr>
                                                <m:ctrlPr>
                                                  <a:rPr lang="es-AR" sz="1400" i="1"/>
                                                </m:ctrlPr>
                                              </m:sSubPr>
                                              <m:e>
                                                <m:r>
                                                  <a:rPr lang="es-AR" sz="1400" i="1"/>
                                                  <m:t>𝜕</m:t>
                                                </m:r>
                                                <m:r>
                                                  <a:rPr lang="es-AR" sz="1400" i="1"/>
                                                  <m:t>𝑢</m:t>
                                                </m:r>
                                              </m:e>
                                              <m:sub>
                                                <m:r>
                                                  <a:rPr lang="es-AR" sz="1400" i="1"/>
                                                  <m:t>𝑛</m:t>
                                                </m:r>
                                              </m:sub>
                                            </m:sSub>
                                          </m:den>
                                        </m:f>
                                      </m:e>
                                    </m:d>
                                  </m:e>
                                  <m:sub>
                                    <m:r>
                                      <a:rPr lang="es-AR" sz="1400" i="1"/>
                                      <m:t>0</m:t>
                                    </m:r>
                                  </m:sub>
                                </m:sSub>
                              </m:e>
                            </m:mr>
                            <m:mr>
                              <m:e>
                                <m:r>
                                  <a:rPr lang="es-AR" sz="1400" i="1"/>
                                  <m:t>⋮</m:t>
                                </m:r>
                              </m:e>
                              <m:e>
                                <m:r>
                                  <a:rPr lang="es-AR" sz="1400" i="1"/>
                                  <m:t>⋱</m:t>
                                </m:r>
                              </m:e>
                              <m:e>
                                <m:r>
                                  <a:rPr lang="es-AR" sz="1400" i="1"/>
                                  <m:t>⋮</m:t>
                                </m:r>
                              </m:e>
                            </m:mr>
                            <m:mr>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𝑛</m:t>
                                                </m:r>
                                              </m:sub>
                                            </m:sSub>
                                          </m:num>
                                          <m:den>
                                            <m:sSub>
                                              <m:sSubPr>
                                                <m:ctrlPr>
                                                  <a:rPr lang="es-AR" sz="1400" i="1"/>
                                                </m:ctrlPr>
                                              </m:sSubPr>
                                              <m:e>
                                                <m:r>
                                                  <a:rPr lang="es-AR" sz="1400" i="1"/>
                                                  <m:t>𝜕</m:t>
                                                </m:r>
                                                <m:r>
                                                  <a:rPr lang="es-AR" sz="1400" i="1"/>
                                                  <m:t>𝑢</m:t>
                                                </m:r>
                                              </m:e>
                                              <m:sub>
                                                <m:r>
                                                  <a:rPr lang="es-AR" sz="1400" i="1"/>
                                                  <m:t>1</m:t>
                                                </m:r>
                                              </m:sub>
                                            </m:sSub>
                                          </m:den>
                                        </m:f>
                                      </m:e>
                                    </m:d>
                                  </m:e>
                                  <m:sub>
                                    <m:r>
                                      <a:rPr lang="es-AR" sz="1400" i="1"/>
                                      <m:t>0</m:t>
                                    </m:r>
                                  </m:sub>
                                </m:sSub>
                              </m:e>
                              <m:e>
                                <m:r>
                                  <a:rPr lang="es-AR" sz="1400" i="1"/>
                                  <m:t>⋯</m:t>
                                </m:r>
                              </m:e>
                              <m:e>
                                <m:sSub>
                                  <m:sSubPr>
                                    <m:ctrlPr>
                                      <a:rPr lang="es-AR" sz="1400" i="1"/>
                                    </m:ctrlPr>
                                  </m:sSubPr>
                                  <m:e>
                                    <m:d>
                                      <m:dPr>
                                        <m:begChr m:val=""/>
                                        <m:endChr m:val="|"/>
                                        <m:ctrlPr>
                                          <a:rPr lang="es-AR" sz="1400" i="1"/>
                                        </m:ctrlPr>
                                      </m:dPr>
                                      <m:e>
                                        <m:f>
                                          <m:fPr>
                                            <m:ctrlPr>
                                              <a:rPr lang="es-AR" sz="1400" i="1"/>
                                            </m:ctrlPr>
                                          </m:fPr>
                                          <m:num>
                                            <m:sSub>
                                              <m:sSubPr>
                                                <m:ctrlPr>
                                                  <a:rPr lang="es-AR" sz="1400" i="1"/>
                                                </m:ctrlPr>
                                              </m:sSubPr>
                                              <m:e>
                                                <m:r>
                                                  <a:rPr lang="es-AR" sz="1400" i="1"/>
                                                  <m:t>𝜕</m:t>
                                                </m:r>
                                                <m:r>
                                                  <a:rPr lang="es-AR" sz="1400" i="1"/>
                                                  <m:t>𝑓</m:t>
                                                </m:r>
                                              </m:e>
                                              <m:sub>
                                                <m:r>
                                                  <a:rPr lang="es-AR" sz="1400" i="1"/>
                                                  <m:t>𝑛</m:t>
                                                </m:r>
                                              </m:sub>
                                            </m:sSub>
                                          </m:num>
                                          <m:den>
                                            <m:sSub>
                                              <m:sSubPr>
                                                <m:ctrlPr>
                                                  <a:rPr lang="es-AR" sz="1400" i="1"/>
                                                </m:ctrlPr>
                                              </m:sSubPr>
                                              <m:e>
                                                <m:r>
                                                  <a:rPr lang="es-AR" sz="1400" i="1"/>
                                                  <m:t>𝜕</m:t>
                                                </m:r>
                                                <m:r>
                                                  <a:rPr lang="es-AR" sz="1400" i="1"/>
                                                  <m:t>𝑢</m:t>
                                                </m:r>
                                              </m:e>
                                              <m:sub>
                                                <m:r>
                                                  <a:rPr lang="es-AR" sz="1400" i="1"/>
                                                  <m:t>𝑛</m:t>
                                                </m:r>
                                              </m:sub>
                                            </m:sSub>
                                          </m:den>
                                        </m:f>
                                      </m:e>
                                    </m:d>
                                  </m:e>
                                  <m:sub>
                                    <m:r>
                                      <a:rPr lang="es-AR" sz="1400" i="1"/>
                                      <m:t>0</m:t>
                                    </m:r>
                                  </m:sub>
                                </m:sSub>
                              </m:e>
                            </m:mr>
                          </m:m>
                        </m:e>
                      </m:d>
                    </m:oMath>
                  </m:oMathPara>
                </a14:m>
                <a:endParaRPr lang="en-US" sz="1100" dirty="0"/>
              </a:p>
            </p:txBody>
          </p:sp>
        </mc:Choice>
        <mc:Fallback>
          <p:sp>
            <p:nvSpPr>
              <p:cNvPr id="16" name="Text 14"/>
              <p:cNvSpPr>
                <a:spLocks noRot="1" noChangeAspect="1" noMove="1" noResize="1" noEditPoints="1" noAdjustHandles="1" noChangeArrowheads="1" noChangeShapeType="1" noTextEdit="1"/>
              </p:cNvSpPr>
              <p:nvPr/>
            </p:nvSpPr>
            <p:spPr>
              <a:xfrm>
                <a:off x="1371600" y="4758402"/>
                <a:ext cx="8961120" cy="530352"/>
              </a:xfrm>
              <a:prstGeom prst="rect">
                <a:avLst/>
              </a:prstGeom>
              <a:blipFill>
                <a:blip r:embed="rId4"/>
                <a:stretch>
                  <a:fillRect t="-42529" b="-81609"/>
                </a:stretch>
              </a:blipFill>
              <a:ln/>
            </p:spPr>
            <p:txBody>
              <a:bodyPr/>
              <a:lstStyle/>
              <a:p>
                <a:r>
                  <a:rPr lang="es-AR">
                    <a:noFill/>
                  </a:rPr>
                  <a:t> </a:t>
                </a:r>
              </a:p>
            </p:txBody>
          </p:sp>
        </mc:Fallback>
      </mc:AlternateContent>
      <p:sp>
        <p:nvSpPr>
          <p:cNvPr id="17" name="Text 15"/>
          <p:cNvSpPr/>
          <p:nvPr/>
        </p:nvSpPr>
        <p:spPr>
          <a:xfrm>
            <a:off x="365760" y="5858621"/>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2552072-93AD-44B7-AA9E-5C03109DB1C9}"/>
                  </a:ext>
                </a:extLst>
              </p:cNvPr>
              <p:cNvSpPr txBox="1"/>
              <p:nvPr/>
            </p:nvSpPr>
            <p:spPr>
              <a:xfrm>
                <a:off x="3046602" y="843816"/>
                <a:ext cx="6098796" cy="34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panose="020F0502020204030204" pitchFamily="34" charset="0"/>
                            </a:rPr>
                          </m:ctrlPr>
                        </m:sSubPr>
                        <m:e>
                          <m:acc>
                            <m:accPr>
                              <m:chr m:val="̇"/>
                              <m:ctrlPr>
                                <a:rPr lang="es-AR" sz="1050" i="1" smtClean="0">
                                  <a:effectLst/>
                                  <a:latin typeface="Cambria Math" panose="02040503050406030204" pitchFamily="18" charset="0"/>
                                  <a:cs typeface="Calibri" panose="020F0502020204030204" pitchFamily="34" charset="0"/>
                                </a:rPr>
                              </m:ctrlPr>
                            </m:accPr>
                            <m:e>
                              <m:r>
                                <a:rPr lang="es-AR" sz="1600" i="1">
                                  <a:effectLst/>
                                  <a:latin typeface="Cambria Math" panose="02040503050406030204" pitchFamily="18" charset="0"/>
                                  <a:ea typeface="Calibri" panose="020F0502020204030204" pitchFamily="34" charset="0"/>
                                  <a:cs typeface="Calibri" panose="020F0502020204030204" pitchFamily="34" charset="0"/>
                                </a:rPr>
                                <m:t>𝑋</m:t>
                              </m:r>
                            </m:e>
                          </m:acc>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s-AR" sz="1050" i="1">
                              <a:effectLst/>
                              <a:latin typeface="Cambria Math" panose="02040503050406030204" pitchFamily="18" charset="0"/>
                            </a:rPr>
                          </m:ctrlPr>
                        </m:dPr>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𝑈</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𝑐𝑡𝑒</m:t>
                      </m:r>
                    </m:oMath>
                  </m:oMathPara>
                </a14:m>
                <a:endParaRPr lang="es-AR" dirty="0"/>
              </a:p>
            </p:txBody>
          </p:sp>
        </mc:Choice>
        <mc:Fallback>
          <p:sp>
            <p:nvSpPr>
              <p:cNvPr id="20" name="CuadroTexto 19">
                <a:extLst>
                  <a:ext uri="{FF2B5EF4-FFF2-40B4-BE49-F238E27FC236}">
                    <a16:creationId xmlns:a16="http://schemas.microsoft.com/office/drawing/2014/main" id="{62552072-93AD-44B7-AA9E-5C03109DB1C9}"/>
                  </a:ext>
                </a:extLst>
              </p:cNvPr>
              <p:cNvSpPr txBox="1">
                <a:spLocks noRot="1" noChangeAspect="1" noMove="1" noResize="1" noEditPoints="1" noAdjustHandles="1" noChangeArrowheads="1" noChangeShapeType="1" noTextEdit="1"/>
              </p:cNvSpPr>
              <p:nvPr/>
            </p:nvSpPr>
            <p:spPr>
              <a:xfrm>
                <a:off x="3046602" y="843816"/>
                <a:ext cx="6098796" cy="348685"/>
              </a:xfrm>
              <a:prstGeom prst="rect">
                <a:avLst/>
              </a:prstGeom>
              <a:blipFill>
                <a:blip r:embed="rId5"/>
                <a:stretch>
                  <a:fillRect b="-3448"/>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778FF9FF-370D-406E-B50A-A717C2ABCFAC}"/>
                  </a:ext>
                </a:extLst>
              </p:cNvPr>
              <p:cNvSpPr txBox="1"/>
              <p:nvPr/>
            </p:nvSpPr>
            <p:spPr>
              <a:xfrm>
                <a:off x="5983446" y="4076250"/>
                <a:ext cx="609879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600" smtClean="0">
                          <a:effectLst/>
                          <a:latin typeface="Cambria Math" panose="02040503050406030204" pitchFamily="18" charset="0"/>
                          <a:ea typeface="Calibri" panose="020F0502020204030204" pitchFamily="34" charset="0"/>
                          <a:cs typeface="Times New Roman" panose="02020603050405020304" pitchFamily="18" charset="0"/>
                        </a:rPr>
                        <m:t>Δ</m:t>
                      </m:r>
                      <m:acc>
                        <m:accPr>
                          <m:chr m:val="̇"/>
                          <m:ctrlPr>
                            <a:rPr lang="es-AR" sz="1050" i="1">
                              <a:effectLst/>
                              <a:latin typeface="Cambria Math" panose="02040503050406030204" pitchFamily="18" charset="0"/>
                            </a:rPr>
                          </m:ctrlPr>
                        </m:acc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𝐴</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𝐵</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s-AR" dirty="0"/>
              </a:p>
            </p:txBody>
          </p:sp>
        </mc:Choice>
        <mc:Fallback>
          <p:sp>
            <p:nvSpPr>
              <p:cNvPr id="22" name="CuadroTexto 21">
                <a:extLst>
                  <a:ext uri="{FF2B5EF4-FFF2-40B4-BE49-F238E27FC236}">
                    <a16:creationId xmlns:a16="http://schemas.microsoft.com/office/drawing/2014/main" id="{778FF9FF-370D-406E-B50A-A717C2ABCFAC}"/>
                  </a:ext>
                </a:extLst>
              </p:cNvPr>
              <p:cNvSpPr txBox="1">
                <a:spLocks noRot="1" noChangeAspect="1" noMove="1" noResize="1" noEditPoints="1" noAdjustHandles="1" noChangeArrowheads="1" noChangeShapeType="1" noTextEdit="1"/>
              </p:cNvSpPr>
              <p:nvPr/>
            </p:nvSpPr>
            <p:spPr>
              <a:xfrm>
                <a:off x="5983446" y="4076250"/>
                <a:ext cx="6098796" cy="338554"/>
              </a:xfrm>
              <a:prstGeom prst="rect">
                <a:avLst/>
              </a:prstGeom>
              <a:blipFill>
                <a:blip r:embed="rId6"/>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198965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14 / 67</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mc:Choice xmlns:a14="http://schemas.microsoft.com/office/drawing/2010/main"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m:ctrlPr>
                        </m:dPr>
                        <m:e>
                          <m:eqArr>
                            <m:eqArrPr>
                              <m:ctrlPr>
                                <a:rPr lang="es-AR" sz="1400" i="1"/>
                              </m:ctrlPr>
                            </m:eqArrPr>
                            <m:e>
                              <m:r>
                                <m:rPr>
                                  <m:sty m:val="p"/>
                                </m:rPr>
                                <a:rPr lang="es-AR" sz="1400"/>
                                <m:t>Δ</m:t>
                              </m:r>
                              <m:sSub>
                                <m:sSubPr>
                                  <m:ctrlPr>
                                    <a:rPr lang="es-AR" sz="1400" i="1"/>
                                  </m:ctrlPr>
                                </m:sSubPr>
                                <m:e>
                                  <m:acc>
                                    <m:accPr>
                                      <m:chr m:val="̇"/>
                                      <m:ctrlPr>
                                        <a:rPr lang="es-AR" sz="1400" i="1"/>
                                      </m:ctrlPr>
                                    </m:accPr>
                                    <m:e>
                                      <m:r>
                                        <a:rPr lang="es-AR" sz="1400" i="1"/>
                                        <m:t>𝜃</m:t>
                                      </m:r>
                                    </m:e>
                                  </m:acc>
                                </m:e>
                                <m:sub>
                                  <m:r>
                                    <a:rPr lang="es-AR" sz="1400" i="1"/>
                                    <m:t>𝑚</m:t>
                                  </m:r>
                                </m:sub>
                              </m:sSub>
                              <m:d>
                                <m:dPr>
                                  <m:ctrlPr>
                                    <a:rPr lang="es-AR" sz="1400" i="1"/>
                                  </m:ctrlPr>
                                </m:dPr>
                                <m:e>
                                  <m:r>
                                    <a:rPr lang="es-AR" sz="1400" i="1"/>
                                    <m:t>𝑡</m:t>
                                  </m:r>
                                </m:e>
                              </m:d>
                              <m:r>
                                <a:rPr lang="es-AR" sz="1400"/>
                                <m:t>=</m:t>
                              </m:r>
                              <m:r>
                                <m:rPr>
                                  <m:sty m:val="p"/>
                                </m:rPr>
                                <a:rPr lang="es-AR" sz="1400"/>
                                <m:t>Δ</m:t>
                              </m:r>
                              <m:sSub>
                                <m:sSubPr>
                                  <m:ctrlPr>
                                    <a:rPr lang="es-AR" sz="1400" i="1"/>
                                  </m:ctrlPr>
                                </m:sSubPr>
                                <m:e>
                                  <m:r>
                                    <a:rPr lang="es-AR" sz="1400" i="1"/>
                                    <m:t>𝜔</m:t>
                                  </m:r>
                                </m:e>
                                <m:sub>
                                  <m:r>
                                    <a:rPr lang="es-AR" sz="1400" i="1"/>
                                    <m:t>𝑚</m:t>
                                  </m:r>
                                </m:sub>
                              </m:sSub>
                              <m:d>
                                <m:dPr>
                                  <m:ctrlPr>
                                    <a:rPr lang="es-AR" sz="1400" i="1"/>
                                  </m:ctrlPr>
                                </m:dPr>
                                <m:e>
                                  <m:r>
                                    <a:rPr lang="es-AR" sz="1400" i="1"/>
                                    <m:t>𝑡</m:t>
                                  </m:r>
                                </m:e>
                              </m:d>
                              <m:r>
                                <a:rPr lang="es-AR" sz="1400"/>
                                <m:t>  </m:t>
                              </m:r>
                              <m:r>
                                <a:rPr lang="es-AR" sz="1400" i="1"/>
                                <m:t>                                                                                                                                                                                                                        </m:t>
                              </m:r>
                            </m:e>
                            <m:e>
                              <m:m>
                                <m:mPr>
                                  <m:mcs>
                                    <m:mc>
                                      <m:mcPr>
                                        <m:count m:val="1"/>
                                        <m:mcJc m:val="center"/>
                                      </m:mcPr>
                                    </m:mc>
                                  </m:mcs>
                                  <m:ctrlPr>
                                    <a:rPr lang="es-AR" sz="1400" i="1"/>
                                  </m:ctrlPr>
                                </m:mPr>
                                <m:mr>
                                  <m:e>
                                    <m:r>
                                      <m:rPr>
                                        <m:sty m:val="p"/>
                                      </m:rPr>
                                      <a:rPr lang="es-AR" sz="1400"/>
                                      <m:t>Δ</m:t>
                                    </m:r>
                                    <m:sSub>
                                      <m:sSubPr>
                                        <m:ctrlPr>
                                          <a:rPr lang="es-AR" sz="1400" i="1"/>
                                        </m:ctrlPr>
                                      </m:sSubPr>
                                      <m:e>
                                        <m:acc>
                                          <m:accPr>
                                            <m:chr m:val="̇"/>
                                            <m:ctrlPr>
                                              <a:rPr lang="es-AR" sz="1400" i="1"/>
                                            </m:ctrlPr>
                                          </m:accPr>
                                          <m:e>
                                            <m:r>
                                              <a:rPr lang="es-AR" sz="1400"/>
                                              <m:t>⍵</m:t>
                                            </m:r>
                                          </m:e>
                                        </m:acc>
                                      </m:e>
                                      <m:sub>
                                        <m:r>
                                          <a:rPr lang="es-AR" sz="1400" i="1"/>
                                          <m:t>𝑚</m:t>
                                        </m:r>
                                      </m:sub>
                                    </m:sSub>
                                    <m:d>
                                      <m:dPr>
                                        <m:ctrlPr>
                                          <a:rPr lang="es-AR" sz="1400" i="1"/>
                                        </m:ctrlPr>
                                      </m:dPr>
                                      <m:e>
                                        <m:r>
                                          <a:rPr lang="es-AR" sz="1400" i="1"/>
                                          <m:t>𝑡</m:t>
                                        </m:r>
                                      </m:e>
                                    </m:d>
                                    <m:r>
                                      <a:rPr lang="es-AR" sz="1400" i="1"/>
                                      <m:t>=</m:t>
                                    </m:r>
                                    <m:f>
                                      <m:fPr>
                                        <m:ctrlPr>
                                          <a:rPr lang="es-AR" sz="1400" i="1"/>
                                        </m:ctrlPr>
                                      </m:fPr>
                                      <m:num>
                                        <m:r>
                                          <a:rPr lang="es-AR" sz="1400" i="1"/>
                                          <m:t>1</m:t>
                                        </m:r>
                                      </m:num>
                                      <m:den>
                                        <m:sSub>
                                          <m:sSubPr>
                                            <m:ctrlPr>
                                              <a:rPr lang="es-AR" sz="1400" i="1"/>
                                            </m:ctrlPr>
                                          </m:sSubPr>
                                          <m:e>
                                            <m:r>
                                              <a:rPr lang="es-AR" sz="1400" i="1"/>
                                              <m:t>𝐽</m:t>
                                            </m:r>
                                          </m:e>
                                          <m:sub>
                                            <m:r>
                                              <a:rPr lang="es-AR" sz="1400" i="1"/>
                                              <m:t>𝑒𝑞</m:t>
                                            </m:r>
                                          </m:sub>
                                        </m:sSub>
                                      </m:den>
                                    </m:f>
                                    <m:d>
                                      <m:dPr>
                                        <m:begChr m:val="["/>
                                        <m:endChr m:val="]"/>
                                        <m:ctrlPr>
                                          <a:rPr lang="es-AR" sz="1400" i="1"/>
                                        </m:ctrlPr>
                                      </m:dPr>
                                      <m:e>
                                        <m:r>
                                          <a:rPr lang="es-AR" sz="1400" i="1"/>
                                          <m:t>−</m:t>
                                        </m:r>
                                        <m:sSub>
                                          <m:sSubPr>
                                            <m:ctrlPr>
                                              <a:rPr lang="es-AR" sz="1400" i="1"/>
                                            </m:ctrlPr>
                                          </m:sSubPr>
                                          <m:e>
                                            <m:r>
                                              <a:rPr lang="es-AR" sz="1400" i="1"/>
                                              <m:t>𝑏</m:t>
                                            </m:r>
                                          </m:e>
                                          <m:sub>
                                            <m:r>
                                              <a:rPr lang="es-AR" sz="1400" i="1"/>
                                              <m:t>𝑒𝑞</m:t>
                                            </m:r>
                                          </m:sub>
                                        </m:sSub>
                                        <m:r>
                                          <a:rPr lang="es-AR" sz="1400"/>
                                          <m:t>⋅</m:t>
                                        </m:r>
                                        <m:r>
                                          <m:rPr>
                                            <m:sty m:val="p"/>
                                          </m:rPr>
                                          <a:rPr lang="es-AR" sz="1400"/>
                                          <m:t>Δ</m:t>
                                        </m:r>
                                        <m:sSub>
                                          <m:sSubPr>
                                            <m:ctrlPr>
                                              <a:rPr lang="es-AR" sz="1400" i="1"/>
                                            </m:ctrlPr>
                                          </m:sSubPr>
                                          <m:e>
                                            <m:r>
                                              <a:rPr lang="es-AR" sz="1400" i="1"/>
                                              <m:t>𝜔</m:t>
                                            </m:r>
                                          </m:e>
                                          <m:sub>
                                            <m:r>
                                              <a:rPr lang="es-AR" sz="1400" i="1"/>
                                              <m:t>𝑚</m:t>
                                            </m:r>
                                          </m:sub>
                                        </m:sSub>
                                        <m:d>
                                          <m:dPr>
                                            <m:ctrlPr>
                                              <a:rPr lang="es-AR" sz="1400" i="1"/>
                                            </m:ctrlPr>
                                          </m:dPr>
                                          <m:e>
                                            <m:r>
                                              <a:rPr lang="es-AR" sz="1400" i="1"/>
                                              <m:t>𝑡</m:t>
                                            </m:r>
                                          </m:e>
                                        </m:d>
                                        <m:r>
                                          <a:rPr lang="es-AR" sz="1400" i="1"/>
                                          <m:t>+</m:t>
                                        </m:r>
                                        <m:f>
                                          <m:fPr>
                                            <m:ctrlPr>
                                              <a:rPr lang="es-AR" sz="1400" i="1"/>
                                            </m:ctrlPr>
                                          </m:fPr>
                                          <m:num>
                                            <m:r>
                                              <a:rPr lang="es-AR" sz="1400" i="1"/>
                                              <m:t>3</m:t>
                                            </m:r>
                                          </m:num>
                                          <m:den>
                                            <m:r>
                                              <a:rPr lang="es-AR" sz="1400" i="1"/>
                                              <m:t>2</m:t>
                                            </m:r>
                                          </m:den>
                                        </m:f>
                                        <m:sSub>
                                          <m:sSubPr>
                                            <m:ctrlPr>
                                              <a:rPr lang="es-AR" sz="1400" i="1"/>
                                            </m:ctrlPr>
                                          </m:sSubPr>
                                          <m:e>
                                            <m:r>
                                              <a:rPr lang="es-AR" sz="1400" i="1"/>
                                              <m:t>𝑃</m:t>
                                            </m:r>
                                          </m:e>
                                          <m:sub>
                                            <m:r>
                                              <a:rPr lang="es-AR" sz="1400" i="1"/>
                                              <m:t>𝑝</m:t>
                                            </m:r>
                                          </m:sub>
                                        </m:sSub>
                                        <m:r>
                                          <a:rPr lang="es-AR" sz="1400"/>
                                          <m:t>⋅</m:t>
                                        </m:r>
                                        <m:sSubSup>
                                          <m:sSubSupPr>
                                            <m:ctrlPr>
                                              <a:rPr lang="es-AR" sz="1400" i="1"/>
                                            </m:ctrlPr>
                                          </m:sSubSupPr>
                                          <m:e>
                                            <m:r>
                                              <a:rPr lang="es-AR" sz="1400" i="1"/>
                                              <m:t>𝜆</m:t>
                                            </m:r>
                                          </m:e>
                                          <m:sub>
                                            <m:r>
                                              <a:rPr lang="es-AR" sz="1400" i="1"/>
                                              <m:t>𝑚</m:t>
                                            </m:r>
                                          </m:sub>
                                          <m:sup>
                                            <m:r>
                                              <a:rPr lang="es-AR" sz="1400" i="1"/>
                                              <m:t>ˊ</m:t>
                                            </m:r>
                                            <m:r>
                                              <a:rPr lang="es-AR" sz="1400" i="1"/>
                                              <m:t>𝑟</m:t>
                                            </m:r>
                                          </m:sup>
                                        </m:sSubSup>
                                        <m:r>
                                          <a:rPr lang="es-AR" sz="1400"/>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r>
                                          <a:rPr lang="es-AR" sz="1400" i="1"/>
                                          <m:t>+</m:t>
                                        </m:r>
                                        <m:f>
                                          <m:fPr>
                                            <m:ctrlPr>
                                              <a:rPr lang="es-AR" sz="1400" i="1"/>
                                            </m:ctrlPr>
                                          </m:fPr>
                                          <m:num>
                                            <m:r>
                                              <a:rPr lang="es-AR" sz="1400" i="1"/>
                                              <m:t>3</m:t>
                                            </m:r>
                                          </m:num>
                                          <m:den>
                                            <m:r>
                                              <a:rPr lang="es-AR" sz="1400" i="1"/>
                                              <m:t>2</m:t>
                                            </m:r>
                                          </m:den>
                                        </m:f>
                                        <m:sSub>
                                          <m:sSubPr>
                                            <m:ctrlPr>
                                              <a:rPr lang="es-AR" sz="1400" i="1"/>
                                            </m:ctrlPr>
                                          </m:sSubPr>
                                          <m:e>
                                            <m:r>
                                              <a:rPr lang="es-AR" sz="1400" i="1"/>
                                              <m:t>𝑃</m:t>
                                            </m:r>
                                          </m:e>
                                          <m:sub>
                                            <m:r>
                                              <a:rPr lang="es-AR" sz="1400" i="1"/>
                                              <m:t>𝑝</m:t>
                                            </m:r>
                                          </m:sub>
                                        </m:sSub>
                                        <m:r>
                                          <a:rPr lang="es-AR" sz="1400"/>
                                          <m:t>⋅</m:t>
                                        </m:r>
                                        <m:d>
                                          <m:dPr>
                                            <m:ctrlPr>
                                              <a:rPr lang="es-AR" sz="1400" i="1"/>
                                            </m:ctrlPr>
                                          </m:dPr>
                                          <m:e>
                                            <m:sSub>
                                              <m:sSubPr>
                                                <m:ctrlPr>
                                                  <a:rPr lang="es-AR" sz="1400" i="1"/>
                                                </m:ctrlPr>
                                              </m:sSubPr>
                                              <m:e>
                                                <m:r>
                                                  <a:rPr lang="es-AR" sz="1400" i="1"/>
                                                  <m:t>𝐿</m:t>
                                                </m:r>
                                              </m:e>
                                              <m:sub>
                                                <m:r>
                                                  <a:rPr lang="es-AR" sz="1400" i="1"/>
                                                  <m:t>𝑑</m:t>
                                                </m:r>
                                              </m:sub>
                                            </m:sSub>
                                            <m:r>
                                              <a:rPr lang="es-AR" sz="1400" i="1"/>
                                              <m:t>−</m:t>
                                            </m:r>
                                            <m:sSub>
                                              <m:sSubPr>
                                                <m:ctrlPr>
                                                  <a:rPr lang="es-AR" sz="1400" i="1"/>
                                                </m:ctrlPr>
                                              </m:sSubPr>
                                              <m:e>
                                                <m:r>
                                                  <a:rPr lang="es-AR" sz="1400" i="1"/>
                                                  <m:t>𝐿</m:t>
                                                </m:r>
                                              </m:e>
                                              <m:sub>
                                                <m:r>
                                                  <a:rPr lang="es-AR" sz="1400" i="1"/>
                                                  <m:t>𝑞</m:t>
                                                </m:r>
                                              </m:sub>
                                            </m:sSub>
                                          </m:e>
                                        </m:d>
                                        <m:d>
                                          <m:dPr>
                                            <m:ctrlPr>
                                              <a:rPr lang="es-AR" sz="1400" i="1"/>
                                            </m:ctrlPr>
                                          </m:dPr>
                                          <m:e>
                                            <m:sSubSup>
                                              <m:sSubSupPr>
                                                <m:ctrlPr>
                                                  <a:rPr lang="es-AR" sz="1400" i="1"/>
                                                </m:ctrlPr>
                                              </m:sSubSupPr>
                                              <m:e>
                                                <m:r>
                                                  <a:rPr lang="es-AR" sz="1400" i="1"/>
                                                  <m:t>𝑖</m:t>
                                                </m:r>
                                              </m:e>
                                              <m:sub>
                                                <m:r>
                                                  <a:rPr lang="es-AR" sz="1400" i="1"/>
                                                  <m:t>𝑑𝑠</m:t>
                                                </m:r>
                                                <m:r>
                                                  <a:rPr lang="es-AR" sz="1400" i="1"/>
                                                  <m:t>0</m:t>
                                                </m:r>
                                              </m:sub>
                                              <m:sup>
                                                <m:r>
                                                  <a:rPr lang="es-AR" sz="1400" i="1"/>
                                                  <m:t>𝑟</m:t>
                                                </m:r>
                                              </m:sup>
                                            </m:sSubSup>
                                            <m:r>
                                              <a:rPr lang="es-AR" sz="1400"/>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r>
                                              <a:rPr lang="es-AR" sz="1400" i="1"/>
                                              <m:t>+</m:t>
                                            </m:r>
                                            <m:sSubSup>
                                              <m:sSubSupPr>
                                                <m:ctrlPr>
                                                  <a:rPr lang="es-AR" sz="1400" i="1"/>
                                                </m:ctrlPr>
                                              </m:sSubSupPr>
                                              <m:e>
                                                <m:r>
                                                  <a:rPr lang="es-AR" sz="1400" i="1"/>
                                                  <m:t>𝑖</m:t>
                                                </m:r>
                                              </m:e>
                                              <m:sub>
                                                <m:r>
                                                  <a:rPr lang="es-AR" sz="1400" i="1"/>
                                                  <m:t>𝑞𝑠</m:t>
                                                </m:r>
                                                <m:r>
                                                  <a:rPr lang="es-AR" sz="1400" i="1"/>
                                                  <m:t>0</m:t>
                                                </m:r>
                                              </m:sub>
                                              <m:sup>
                                                <m:r>
                                                  <a:rPr lang="es-AR" sz="1400" i="1"/>
                                                  <m:t>𝑟</m:t>
                                                </m:r>
                                              </m:sup>
                                            </m:sSubSup>
                                            <m:r>
                                              <a:rPr lang="es-AR" sz="1400"/>
                                              <m:t>⋅</m:t>
                                            </m:r>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e>
                                        </m:d>
                                        <m:r>
                                          <a:rPr lang="es-AR" sz="1400" i="1"/>
                                          <m:t>−</m:t>
                                        </m:r>
                                        <m:f>
                                          <m:fPr>
                                            <m:ctrlPr>
                                              <a:rPr lang="es-AR" sz="1400" i="1"/>
                                            </m:ctrlPr>
                                          </m:fPr>
                                          <m:num>
                                            <m:r>
                                              <a:rPr lang="es-AR" sz="1400" i="1"/>
                                              <m:t>1</m:t>
                                            </m:r>
                                          </m:num>
                                          <m:den>
                                            <m:r>
                                              <a:rPr lang="es-AR" sz="1400" i="1"/>
                                              <m:t>𝑟</m:t>
                                            </m:r>
                                          </m:den>
                                        </m:f>
                                        <m:r>
                                          <a:rPr lang="es-AR" sz="1400"/>
                                          <m:t>⋅</m:t>
                                        </m:r>
                                        <m:d>
                                          <m:dPr>
                                            <m:ctrlPr>
                                              <a:rPr lang="es-AR" sz="1400" i="1"/>
                                            </m:ctrlPr>
                                          </m:dPr>
                                          <m:e>
                                            <m:r>
                                              <a:rPr lang="es-AR" sz="1400" i="1"/>
                                              <m:t>𝑔</m:t>
                                            </m:r>
                                            <m:r>
                                              <a:rPr lang="es-AR" sz="1400"/>
                                              <m:t>⋅</m:t>
                                            </m:r>
                                            <m:sSub>
                                              <m:sSubPr>
                                                <m:ctrlPr>
                                                  <a:rPr lang="es-AR" sz="1400" i="1"/>
                                                </m:ctrlPr>
                                              </m:sSubPr>
                                              <m:e>
                                                <m:r>
                                                  <a:rPr lang="es-AR" sz="1400" i="1"/>
                                                  <m:t>𝑘</m:t>
                                                </m:r>
                                              </m:e>
                                              <m:sub>
                                                <m:r>
                                                  <a:rPr lang="es-AR" sz="1400" i="1"/>
                                                  <m:t>𝑙</m:t>
                                                </m:r>
                                              </m:sub>
                                            </m:sSub>
                                            <m:r>
                                              <a:rPr lang="es-AR" sz="1400"/>
                                              <m:t>⋅</m:t>
                                            </m:r>
                                            <m:r>
                                              <m:rPr>
                                                <m:sty m:val="p"/>
                                              </m:rPr>
                                              <a:rPr lang="es-AR" sz="1400"/>
                                              <m:t>Δ</m:t>
                                            </m:r>
                                            <m:sSub>
                                              <m:sSubPr>
                                                <m:ctrlPr>
                                                  <a:rPr lang="es-AR" sz="1400" i="1"/>
                                                </m:ctrlPr>
                                              </m:sSubPr>
                                              <m:e>
                                                <m:r>
                                                  <a:rPr lang="es-AR" sz="1400" i="1"/>
                                                  <m:t>𝜃</m:t>
                                                </m:r>
                                              </m:e>
                                              <m:sub>
                                                <m:r>
                                                  <a:rPr lang="es-AR" sz="1400" i="1"/>
                                                  <m:t>𝑚</m:t>
                                                </m:r>
                                              </m:sub>
                                            </m:sSub>
                                            <m:d>
                                              <m:dPr>
                                                <m:ctrlPr>
                                                  <a:rPr lang="es-AR" sz="1400" i="1"/>
                                                </m:ctrlPr>
                                              </m:dPr>
                                              <m:e>
                                                <m:r>
                                                  <a:rPr lang="es-AR" sz="1400" i="1"/>
                                                  <m:t>𝑡</m:t>
                                                </m:r>
                                              </m:e>
                                            </m:d>
                                            <m:r>
                                              <a:rPr lang="es-AR" sz="1400" i="1"/>
                                              <m:t>+</m:t>
                                            </m:r>
                                            <m:r>
                                              <m:rPr>
                                                <m:sty m:val="p"/>
                                              </m:rPr>
                                              <a:rPr lang="es-AR" sz="1400"/>
                                              <m:t>Δ</m:t>
                                            </m:r>
                                            <m:sSub>
                                              <m:sSubPr>
                                                <m:ctrlPr>
                                                  <a:rPr lang="es-AR" sz="1400" i="1"/>
                                                </m:ctrlPr>
                                              </m:sSubPr>
                                              <m:e>
                                                <m:r>
                                                  <a:rPr lang="es-AR" sz="1400" i="1"/>
                                                  <m:t>𝑇</m:t>
                                                </m:r>
                                              </m:e>
                                              <m:sub>
                                                <m:r>
                                                  <a:rPr lang="es-AR" sz="1400" i="1"/>
                                                  <m:t>𝑙𝑑</m:t>
                                                </m:r>
                                              </m:sub>
                                            </m:sSub>
                                            <m:d>
                                              <m:dPr>
                                                <m:ctrlPr>
                                                  <a:rPr lang="es-AR" sz="1400" i="1"/>
                                                </m:ctrlPr>
                                              </m:dPr>
                                              <m:e>
                                                <m:r>
                                                  <a:rPr lang="es-AR" sz="1400" i="1"/>
                                                  <m:t>𝑡</m:t>
                                                </m:r>
                                              </m:e>
                                            </m:d>
                                          </m:e>
                                        </m:d>
                                      </m:e>
                                    </m:d>
                                  </m:e>
                                </m:mr>
                                <m:mr>
                                  <m:e>
                                    <m:m>
                                      <m:mPr>
                                        <m:mcs>
                                          <m:mc>
                                            <m:mcPr>
                                              <m:count m:val="1"/>
                                              <m:mcJc m:val="center"/>
                                            </m:mcPr>
                                          </m:mc>
                                        </m:mcs>
                                        <m:ctrlPr>
                                          <a:rPr lang="es-AR" sz="1400" i="1"/>
                                        </m:ctrlPr>
                                      </m:mPr>
                                      <m:mr>
                                        <m:e>
                                          <m:f>
                                            <m:fPr>
                                              <m:ctrlPr>
                                                <a:rPr lang="es-AR" sz="1400" i="1"/>
                                              </m:ctrlPr>
                                            </m:fPr>
                                            <m:num>
                                              <m:r>
                                                <a:rPr lang="es-AR" sz="1400" i="1"/>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num>
                                            <m:den>
                                              <m:r>
                                                <a:rPr lang="es-AR" sz="1400" i="1"/>
                                                <m:t>𝜕</m:t>
                                              </m:r>
                                              <m:r>
                                                <a:rPr lang="es-AR" sz="1400" i="1"/>
                                                <m:t>𝑡</m:t>
                                              </m:r>
                                            </m:den>
                                          </m:f>
                                          <m:r>
                                            <a:rPr lang="es-AR" sz="1400" i="1"/>
                                            <m:t>=</m:t>
                                          </m:r>
                                          <m:f>
                                            <m:fPr>
                                              <m:ctrlPr>
                                                <a:rPr lang="es-AR" sz="1400" i="1"/>
                                              </m:ctrlPr>
                                            </m:fPr>
                                            <m:num>
                                              <m:r>
                                                <a:rPr lang="es-AR" sz="1400" i="1"/>
                                                <m:t>1</m:t>
                                              </m:r>
                                            </m:num>
                                            <m:den>
                                              <m:sSub>
                                                <m:sSubPr>
                                                  <m:ctrlPr>
                                                    <a:rPr lang="es-AR" sz="1400" i="1"/>
                                                  </m:ctrlPr>
                                                </m:sSubPr>
                                                <m:e>
                                                  <m:r>
                                                    <a:rPr lang="es-AR" sz="1400" i="1"/>
                                                    <m:t>𝐿</m:t>
                                                  </m:r>
                                                </m:e>
                                                <m:sub>
                                                  <m:r>
                                                    <a:rPr lang="es-AR" sz="1400" i="1"/>
                                                    <m:t>𝑞</m:t>
                                                  </m:r>
                                                </m:sub>
                                              </m:sSub>
                                            </m:den>
                                          </m:f>
                                          <m:d>
                                            <m:dPr>
                                              <m:ctrlPr>
                                                <a:rPr lang="es-AR" sz="1400" i="1"/>
                                              </m:ctrlPr>
                                            </m:dPr>
                                            <m:e>
                                              <m:r>
                                                <m:rPr>
                                                  <m:sty m:val="p"/>
                                                </m:rPr>
                                                <a:rPr lang="es-AR" sz="1400"/>
                                                <m:t>Δ</m:t>
                                              </m:r>
                                              <m:sSubSup>
                                                <m:sSubSupPr>
                                                  <m:ctrlPr>
                                                    <a:rPr lang="es-AR" sz="1400" i="1"/>
                                                  </m:ctrlPr>
                                                </m:sSubSupPr>
                                                <m:e>
                                                  <m:r>
                                                    <a:rPr lang="es-AR" sz="1400" i="1"/>
                                                    <m:t>𝑣</m:t>
                                                  </m:r>
                                                </m:e>
                                                <m:sub>
                                                  <m:r>
                                                    <a:rPr lang="es-AR" sz="1400" i="1"/>
                                                    <m:t>𝑞𝑠</m:t>
                                                  </m:r>
                                                </m:sub>
                                                <m:sup>
                                                  <m:r>
                                                    <a:rPr lang="es-AR" sz="1400" i="1"/>
                                                    <m:t>𝑟</m:t>
                                                  </m:r>
                                                </m:sup>
                                              </m:sSubSup>
                                              <m:d>
                                                <m:dPr>
                                                  <m:ctrlPr>
                                                    <a:rPr lang="es-AR" sz="1400" i="1"/>
                                                  </m:ctrlPr>
                                                </m:dPr>
                                                <m:e>
                                                  <m:r>
                                                    <a:rPr lang="es-AR" sz="1400" i="1"/>
                                                    <m:t>𝑡</m:t>
                                                  </m:r>
                                                </m:e>
                                              </m:d>
                                              <m:r>
                                                <a:rPr lang="es-AR" sz="1400" i="1"/>
                                                <m:t>−</m:t>
                                              </m:r>
                                              <m:sSub>
                                                <m:sSubPr>
                                                  <m:ctrlPr>
                                                    <a:rPr lang="es-AR" sz="1400" i="1"/>
                                                  </m:ctrlPr>
                                                </m:sSubPr>
                                                <m:e>
                                                  <m:r>
                                                    <a:rPr lang="es-AR" sz="1400" i="1"/>
                                                    <m:t>𝑅</m:t>
                                                  </m:r>
                                                </m:e>
                                                <m:sub>
                                                  <m:r>
                                                    <a:rPr lang="es-AR" sz="1400" i="1"/>
                                                    <m:t>𝑠</m:t>
                                                  </m:r>
                                                </m:sub>
                                              </m:sSub>
                                              <m:d>
                                                <m:dPr>
                                                  <m:ctrlPr>
                                                    <a:rPr lang="es-AR" sz="1400" i="1"/>
                                                  </m:ctrlPr>
                                                </m:dPr>
                                                <m:e>
                                                  <m:sSubSup>
                                                    <m:sSubSupPr>
                                                      <m:ctrlPr>
                                                        <a:rPr lang="es-AR" sz="1400" i="1"/>
                                                      </m:ctrlPr>
                                                    </m:sSubSupPr>
                                                    <m:e>
                                                      <m:r>
                                                        <a:rPr lang="es-AR" sz="1400" i="1"/>
                                                        <m:t>𝑇</m:t>
                                                      </m:r>
                                                    </m:e>
                                                    <m:sub>
                                                      <m:r>
                                                        <a:rPr lang="es-AR" sz="1400" i="1"/>
                                                        <m:t>𝑠</m:t>
                                                      </m:r>
                                                    </m:sub>
                                                    <m:sup>
                                                      <m:r>
                                                        <a:rPr lang="es-AR" sz="1400"/>
                                                        <m:t>∘</m:t>
                                                      </m:r>
                                                    </m:sup>
                                                  </m:sSubSup>
                                                </m:e>
                                              </m:d>
                                              <m:r>
                                                <a:rPr lang="es-AR" sz="1400"/>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r>
                                                <a:rPr lang="es-AR" sz="1400" i="1"/>
                                                <m:t>−</m:t>
                                              </m:r>
                                              <m:sSub>
                                                <m:sSubPr>
                                                  <m:ctrlPr>
                                                    <a:rPr lang="es-AR" sz="1400" i="1"/>
                                                  </m:ctrlPr>
                                                </m:sSubPr>
                                                <m:e>
                                                  <m:r>
                                                    <a:rPr lang="es-AR" sz="1400" i="1"/>
                                                    <m:t>𝑃</m:t>
                                                  </m:r>
                                                </m:e>
                                                <m:sub>
                                                  <m:r>
                                                    <a:rPr lang="es-AR" sz="1400" i="1"/>
                                                    <m:t>𝑝</m:t>
                                                  </m:r>
                                                </m:sub>
                                              </m:sSub>
                                              <m:d>
                                                <m:dPr>
                                                  <m:ctrlPr>
                                                    <a:rPr lang="es-AR" sz="1400" i="1"/>
                                                  </m:ctrlPr>
                                                </m:dPr>
                                                <m:e>
                                                  <m:sSubSup>
                                                    <m:sSubSupPr>
                                                      <m:ctrlPr>
                                                        <a:rPr lang="es-AR" sz="1400" i="1"/>
                                                      </m:ctrlPr>
                                                    </m:sSubSupPr>
                                                    <m:e>
                                                      <m:r>
                                                        <a:rPr lang="es-AR" sz="1400" i="1"/>
                                                        <m:t>𝜆</m:t>
                                                      </m:r>
                                                    </m:e>
                                                    <m:sub>
                                                      <m:r>
                                                        <a:rPr lang="es-AR" sz="1400" i="1"/>
                                                        <m:t>𝑚</m:t>
                                                      </m:r>
                                                    </m:sub>
                                                    <m:sup>
                                                      <m:r>
                                                        <a:rPr lang="es-AR" sz="1400" i="1"/>
                                                        <m:t>ˊ</m:t>
                                                      </m:r>
                                                      <m:r>
                                                        <a:rPr lang="es-AR" sz="1400" i="1"/>
                                                        <m:t>𝑟</m:t>
                                                      </m:r>
                                                    </m:sup>
                                                  </m:sSubSup>
                                                  <m:r>
                                                    <a:rPr lang="es-AR" sz="1400" i="1"/>
                                                    <m:t>+</m:t>
                                                  </m:r>
                                                  <m:sSub>
                                                    <m:sSubPr>
                                                      <m:ctrlPr>
                                                        <a:rPr lang="es-AR" sz="1400" i="1"/>
                                                      </m:ctrlPr>
                                                    </m:sSubPr>
                                                    <m:e>
                                                      <m:r>
                                                        <a:rPr lang="es-AR" sz="1400" i="1"/>
                                                        <m:t>𝐿</m:t>
                                                      </m:r>
                                                    </m:e>
                                                    <m:sub>
                                                      <m:r>
                                                        <a:rPr lang="es-AR" sz="1400" i="1"/>
                                                        <m:t>𝑑</m:t>
                                                      </m:r>
                                                    </m:sub>
                                                  </m:sSub>
                                                  <m:r>
                                                    <a:rPr lang="es-AR" sz="1400"/>
                                                    <m:t>⋅</m:t>
                                                  </m:r>
                                                  <m:sSubSup>
                                                    <m:sSubSupPr>
                                                      <m:ctrlPr>
                                                        <a:rPr lang="es-AR" sz="1400" i="1"/>
                                                      </m:ctrlPr>
                                                    </m:sSubSupPr>
                                                    <m:e>
                                                      <m:r>
                                                        <a:rPr lang="es-AR" sz="1400" i="1"/>
                                                        <m:t>𝑖</m:t>
                                                      </m:r>
                                                    </m:e>
                                                    <m:sub>
                                                      <m:r>
                                                        <a:rPr lang="es-AR" sz="1400" i="1"/>
                                                        <m:t>𝑑𝑠</m:t>
                                                      </m:r>
                                                      <m:r>
                                                        <a:rPr lang="es-AR" sz="1400" i="1"/>
                                                        <m:t>0</m:t>
                                                      </m:r>
                                                    </m:sub>
                                                    <m:sup>
                                                      <m:r>
                                                        <a:rPr lang="es-AR" sz="1400" i="1"/>
                                                        <m:t>𝑟</m:t>
                                                      </m:r>
                                                    </m:sup>
                                                  </m:sSubSup>
                                                </m:e>
                                              </m:d>
                                              <m:r>
                                                <a:rPr lang="es-AR" sz="1400"/>
                                                <m:t>⋅</m:t>
                                              </m:r>
                                              <m:r>
                                                <m:rPr>
                                                  <m:sty m:val="p"/>
                                                </m:rPr>
                                                <a:rPr lang="es-AR" sz="1400"/>
                                                <m:t>Δ</m:t>
                                              </m:r>
                                              <m:sSub>
                                                <m:sSubPr>
                                                  <m:ctrlPr>
                                                    <a:rPr lang="es-AR" sz="1400" i="1"/>
                                                  </m:ctrlPr>
                                                </m:sSubPr>
                                                <m:e>
                                                  <m:r>
                                                    <a:rPr lang="es-AR" sz="1400" i="1"/>
                                                    <m:t>𝜔</m:t>
                                                  </m:r>
                                                </m:e>
                                                <m:sub>
                                                  <m:r>
                                                    <a:rPr lang="es-AR" sz="1400" i="1"/>
                                                    <m:t>𝑚</m:t>
                                                  </m:r>
                                                </m:sub>
                                              </m:sSub>
                                              <m:d>
                                                <m:dPr>
                                                  <m:ctrlPr>
                                                    <a:rPr lang="es-AR" sz="1400" i="1"/>
                                                  </m:ctrlPr>
                                                </m:dPr>
                                                <m:e>
                                                  <m:r>
                                                    <a:rPr lang="es-AR" sz="1400" i="1"/>
                                                    <m:t>𝑡</m:t>
                                                  </m:r>
                                                </m:e>
                                              </m:d>
                                              <m:r>
                                                <a:rPr lang="es-AR" sz="1400" i="1"/>
                                                <m:t>−</m:t>
                                              </m:r>
                                              <m:sSub>
                                                <m:sSubPr>
                                                  <m:ctrlPr>
                                                    <a:rPr lang="es-AR" sz="1400" i="1"/>
                                                  </m:ctrlPr>
                                                </m:sSubPr>
                                                <m:e>
                                                  <m:r>
                                                    <a:rPr lang="es-AR" sz="1400" i="1"/>
                                                    <m:t>𝑃</m:t>
                                                  </m:r>
                                                </m:e>
                                                <m:sub>
                                                  <m:r>
                                                    <a:rPr lang="es-AR" sz="1400" i="1"/>
                                                    <m:t>𝑝</m:t>
                                                  </m:r>
                                                </m:sub>
                                              </m:sSub>
                                              <m:r>
                                                <a:rPr lang="es-AR" sz="1400"/>
                                                <m:t>⋅</m:t>
                                              </m:r>
                                              <m:d>
                                                <m:dPr>
                                                  <m:ctrlPr>
                                                    <a:rPr lang="es-AR" sz="1400" i="1"/>
                                                  </m:ctrlPr>
                                                </m:dPr>
                                                <m:e>
                                                  <m:sSubSup>
                                                    <m:sSubSupPr>
                                                      <m:ctrlPr>
                                                        <a:rPr lang="es-AR" sz="1400" i="1"/>
                                                      </m:ctrlPr>
                                                    </m:sSubSupPr>
                                                    <m:e>
                                                      <m:r>
                                                        <a:rPr lang="es-AR" sz="1400" i="1"/>
                                                        <m:t>𝜆</m:t>
                                                      </m:r>
                                                    </m:e>
                                                    <m:sub>
                                                      <m:r>
                                                        <a:rPr lang="es-AR" sz="1400" i="1"/>
                                                        <m:t>𝑚</m:t>
                                                      </m:r>
                                                    </m:sub>
                                                    <m:sup>
                                                      <m:r>
                                                        <a:rPr lang="es-AR" sz="1400" i="1"/>
                                                        <m:t>ˊ</m:t>
                                                      </m:r>
                                                      <m:r>
                                                        <a:rPr lang="es-AR" sz="1400" i="1"/>
                                                        <m:t>𝑟</m:t>
                                                      </m:r>
                                                    </m:sup>
                                                  </m:sSubSup>
                                                  <m:r>
                                                    <a:rPr lang="es-AR" sz="1400" i="1"/>
                                                    <m:t>+</m:t>
                                                  </m:r>
                                                  <m:sSub>
                                                    <m:sSubPr>
                                                      <m:ctrlPr>
                                                        <a:rPr lang="es-AR" sz="1400" i="1"/>
                                                      </m:ctrlPr>
                                                    </m:sSubPr>
                                                    <m:e>
                                                      <m:r>
                                                        <a:rPr lang="es-AR" sz="1400" i="1"/>
                                                        <m:t>𝐿</m:t>
                                                      </m:r>
                                                    </m:e>
                                                    <m:sub>
                                                      <m:r>
                                                        <a:rPr lang="es-AR" sz="1400" i="1"/>
                                                        <m:t>𝑑</m:t>
                                                      </m:r>
                                                    </m:sub>
                                                  </m:sSub>
                                                  <m:r>
                                                    <a:rPr lang="es-AR" sz="1400"/>
                                                    <m:t>⋅</m:t>
                                                  </m:r>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e>
                                              </m:d>
                                              <m:r>
                                                <a:rPr lang="es-AR" sz="1400"/>
                                                <m:t>⋅</m:t>
                                              </m:r>
                                              <m:sSub>
                                                <m:sSubPr>
                                                  <m:ctrlPr>
                                                    <a:rPr lang="es-AR" sz="1400" i="1"/>
                                                  </m:ctrlPr>
                                                </m:sSubPr>
                                                <m:e>
                                                  <m:r>
                                                    <a:rPr lang="es-AR" sz="1400" i="1"/>
                                                    <m:t>𝜔</m:t>
                                                  </m:r>
                                                </m:e>
                                                <m:sub>
                                                  <m:r>
                                                    <a:rPr lang="es-AR" sz="1400" i="1"/>
                                                    <m:t>𝑚</m:t>
                                                  </m:r>
                                                  <m:r>
                                                    <a:rPr lang="es-AR" sz="1400" i="1"/>
                                                    <m:t>0</m:t>
                                                  </m:r>
                                                </m:sub>
                                              </m:sSub>
                                              <m:d>
                                                <m:dPr>
                                                  <m:ctrlPr>
                                                    <a:rPr lang="es-AR" sz="1400" i="1"/>
                                                  </m:ctrlPr>
                                                </m:dPr>
                                                <m:e>
                                                  <m:r>
                                                    <a:rPr lang="es-AR" sz="1400" i="1"/>
                                                    <m:t>𝑡</m:t>
                                                  </m:r>
                                                </m:e>
                                              </m:d>
                                            </m:e>
                                          </m:d>
                                          <m:r>
                                            <a:rPr lang="es-AR" sz="1400" i="1"/>
                                            <m:t>,                         </m:t>
                                          </m:r>
                                          <m:r>
                                            <m:rPr>
                                              <m:nor/>
                                            </m:rPr>
                                            <a:rPr lang="es-MX" sz="1400" b="0" i="0" smtClean="0"/>
                                            <m:t>   </m:t>
                                          </m:r>
                                          <m:r>
                                            <m:rPr>
                                              <m:nor/>
                                            </m:rPr>
                                            <a:rPr lang="es-AR" sz="1400"/>
                                            <m:t>       </m:t>
                                          </m:r>
                                          <m:r>
                                            <a:rPr lang="es-AR" sz="1400" i="1"/>
                                            <m:t>   </m:t>
                                          </m:r>
                                        </m:e>
                                      </m:mr>
                                      <m:mr>
                                        <m:e>
                                          <m:f>
                                            <m:fPr>
                                              <m:ctrlPr>
                                                <a:rPr lang="es-AR" sz="1400" i="1"/>
                                              </m:ctrlPr>
                                            </m:fPr>
                                            <m:num>
                                              <m:r>
                                                <a:rPr lang="es-AR" sz="1400" i="1"/>
                                                <m:t>𝜕</m:t>
                                              </m:r>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num>
                                            <m:den>
                                              <m:r>
                                                <a:rPr lang="es-AR" sz="1400" i="1"/>
                                                <m:t>𝜕</m:t>
                                              </m:r>
                                              <m:r>
                                                <a:rPr lang="es-AR" sz="1400" i="1"/>
                                                <m:t>𝑡</m:t>
                                              </m:r>
                                            </m:den>
                                          </m:f>
                                          <m:r>
                                            <a:rPr lang="es-AR" sz="1400" i="1"/>
                                            <m:t>=</m:t>
                                          </m:r>
                                          <m:f>
                                            <m:fPr>
                                              <m:ctrlPr>
                                                <a:rPr lang="es-AR" sz="1400" i="1"/>
                                              </m:ctrlPr>
                                            </m:fPr>
                                            <m:num>
                                              <m:r>
                                                <a:rPr lang="es-AR" sz="1400" i="1"/>
                                                <m:t>1</m:t>
                                              </m:r>
                                            </m:num>
                                            <m:den>
                                              <m:sSub>
                                                <m:sSubPr>
                                                  <m:ctrlPr>
                                                    <a:rPr lang="es-AR" sz="1400" i="1"/>
                                                  </m:ctrlPr>
                                                </m:sSubPr>
                                                <m:e>
                                                  <m:r>
                                                    <a:rPr lang="es-AR" sz="1400" i="1"/>
                                                    <m:t>𝐿</m:t>
                                                  </m:r>
                                                </m:e>
                                                <m:sub>
                                                  <m:r>
                                                    <a:rPr lang="es-AR" sz="1400" i="1"/>
                                                    <m:t>𝑑</m:t>
                                                  </m:r>
                                                </m:sub>
                                              </m:sSub>
                                            </m:den>
                                          </m:f>
                                          <m:d>
                                            <m:dPr>
                                              <m:ctrlPr>
                                                <a:rPr lang="es-AR" sz="1400" i="1"/>
                                              </m:ctrlPr>
                                            </m:dPr>
                                            <m:e>
                                              <m:r>
                                                <m:rPr>
                                                  <m:sty m:val="p"/>
                                                </m:rPr>
                                                <a:rPr lang="es-AR" sz="1400"/>
                                                <m:t>Δ</m:t>
                                              </m:r>
                                              <m:sSubSup>
                                                <m:sSubSupPr>
                                                  <m:ctrlPr>
                                                    <a:rPr lang="es-AR" sz="1400" i="1"/>
                                                  </m:ctrlPr>
                                                </m:sSubSupPr>
                                                <m:e>
                                                  <m:r>
                                                    <a:rPr lang="es-AR" sz="1400" i="1"/>
                                                    <m:t>𝑣</m:t>
                                                  </m:r>
                                                </m:e>
                                                <m:sub>
                                                  <m:r>
                                                    <a:rPr lang="es-AR" sz="1400" i="1"/>
                                                    <m:t>𝑑𝑠</m:t>
                                                  </m:r>
                                                </m:sub>
                                                <m:sup>
                                                  <m:r>
                                                    <a:rPr lang="es-AR" sz="1400" i="1"/>
                                                    <m:t>𝑟</m:t>
                                                  </m:r>
                                                </m:sup>
                                              </m:sSubSup>
                                              <m:d>
                                                <m:dPr>
                                                  <m:ctrlPr>
                                                    <a:rPr lang="es-AR" sz="1400" i="1"/>
                                                  </m:ctrlPr>
                                                </m:dPr>
                                                <m:e>
                                                  <m:r>
                                                    <a:rPr lang="es-AR" sz="1400" i="1"/>
                                                    <m:t>𝑡</m:t>
                                                  </m:r>
                                                </m:e>
                                              </m:d>
                                              <m:r>
                                                <a:rPr lang="es-AR" sz="1400" i="1"/>
                                                <m:t>−</m:t>
                                              </m:r>
                                              <m:sSub>
                                                <m:sSubPr>
                                                  <m:ctrlPr>
                                                    <a:rPr lang="es-AR" sz="1400" i="1"/>
                                                  </m:ctrlPr>
                                                </m:sSubPr>
                                                <m:e>
                                                  <m:r>
                                                    <a:rPr lang="es-AR" sz="1400" i="1"/>
                                                    <m:t>𝑅</m:t>
                                                  </m:r>
                                                </m:e>
                                                <m:sub>
                                                  <m:r>
                                                    <a:rPr lang="es-AR" sz="1400" i="1"/>
                                                    <m:t>𝑠</m:t>
                                                  </m:r>
                                                </m:sub>
                                              </m:sSub>
                                              <m:d>
                                                <m:dPr>
                                                  <m:ctrlPr>
                                                    <a:rPr lang="es-AR" sz="1400" i="1"/>
                                                  </m:ctrlPr>
                                                </m:dPr>
                                                <m:e>
                                                  <m:sSubSup>
                                                    <m:sSubSupPr>
                                                      <m:ctrlPr>
                                                        <a:rPr lang="es-AR" sz="1400" i="1"/>
                                                      </m:ctrlPr>
                                                    </m:sSubSupPr>
                                                    <m:e>
                                                      <m:r>
                                                        <a:rPr lang="es-AR" sz="1400" i="1"/>
                                                        <m:t>𝑇</m:t>
                                                      </m:r>
                                                    </m:e>
                                                    <m:sub>
                                                      <m:r>
                                                        <a:rPr lang="es-AR" sz="1400" i="1"/>
                                                        <m:t>𝑠</m:t>
                                                      </m:r>
                                                    </m:sub>
                                                    <m:sup>
                                                      <m:r>
                                                        <a:rPr lang="es-AR" sz="1400"/>
                                                        <m:t>∘</m:t>
                                                      </m:r>
                                                    </m:sup>
                                                  </m:sSubSup>
                                                </m:e>
                                              </m:d>
                                              <m:r>
                                                <a:rPr lang="es-AR" sz="1400"/>
                                                <m:t>⋅</m:t>
                                              </m:r>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r>
                                                <a:rPr lang="es-AR" sz="1400" i="1"/>
                                                <m:t>+</m:t>
                                              </m:r>
                                              <m:sSub>
                                                <m:sSubPr>
                                                  <m:ctrlPr>
                                                    <a:rPr lang="es-AR" sz="1400" i="1"/>
                                                  </m:ctrlPr>
                                                </m:sSubPr>
                                                <m:e>
                                                  <m:r>
                                                    <a:rPr lang="es-AR" sz="1400" i="1"/>
                                                    <m:t>𝐿</m:t>
                                                  </m:r>
                                                </m:e>
                                                <m:sub>
                                                  <m:r>
                                                    <a:rPr lang="es-AR" sz="1400" i="1"/>
                                                    <m:t>𝑞</m:t>
                                                  </m:r>
                                                </m:sub>
                                              </m:sSub>
                                              <m:r>
                                                <a:rPr lang="es-AR" sz="1400"/>
                                                <m:t>⋅</m:t>
                                              </m:r>
                                              <m:sSub>
                                                <m:sSubPr>
                                                  <m:ctrlPr>
                                                    <a:rPr lang="es-AR" sz="1400" i="1"/>
                                                  </m:ctrlPr>
                                                </m:sSubPr>
                                                <m:e>
                                                  <m:r>
                                                    <a:rPr lang="es-AR" sz="1400" i="1"/>
                                                    <m:t>𝑃</m:t>
                                                  </m:r>
                                                </m:e>
                                                <m:sub>
                                                  <m:r>
                                                    <a:rPr lang="es-AR" sz="1400" i="1"/>
                                                    <m:t>𝑝</m:t>
                                                  </m:r>
                                                </m:sub>
                                              </m:sSub>
                                              <m:d>
                                                <m:dPr>
                                                  <m:ctrlPr>
                                                    <a:rPr lang="es-AR" sz="1400" i="1"/>
                                                  </m:ctrlPr>
                                                </m:dPr>
                                                <m:e>
                                                  <m:sSubSup>
                                                    <m:sSubSupPr>
                                                      <m:ctrlPr>
                                                        <a:rPr lang="es-AR" sz="1400" i="1"/>
                                                      </m:ctrlPr>
                                                    </m:sSubSupPr>
                                                    <m:e>
                                                      <m:r>
                                                        <a:rPr lang="es-AR" sz="1400" i="1"/>
                                                        <m:t>𝑖</m:t>
                                                      </m:r>
                                                    </m:e>
                                                    <m:sub>
                                                      <m:r>
                                                        <a:rPr lang="es-AR" sz="1400" i="1"/>
                                                        <m:t>𝑞𝑠</m:t>
                                                      </m:r>
                                                      <m:r>
                                                        <a:rPr lang="es-AR" sz="1400" i="1"/>
                                                        <m:t>0</m:t>
                                                      </m:r>
                                                    </m:sub>
                                                    <m:sup>
                                                      <m:r>
                                                        <a:rPr lang="es-AR" sz="1400" i="1"/>
                                                        <m:t>𝑟</m:t>
                                                      </m:r>
                                                    </m:sup>
                                                  </m:sSubSup>
                                                  <m:r>
                                                    <a:rPr lang="es-AR" sz="1400"/>
                                                    <m:t>⋅</m:t>
                                                  </m:r>
                                                  <m:r>
                                                    <m:rPr>
                                                      <m:sty m:val="p"/>
                                                    </m:rPr>
                                                    <a:rPr lang="es-AR" sz="1400"/>
                                                    <m:t>Δ</m:t>
                                                  </m:r>
                                                  <m:sSub>
                                                    <m:sSubPr>
                                                      <m:ctrlPr>
                                                        <a:rPr lang="es-AR" sz="1400" i="1"/>
                                                      </m:ctrlPr>
                                                    </m:sSubPr>
                                                    <m:e>
                                                      <m:r>
                                                        <a:rPr lang="es-AR" sz="1400" i="1"/>
                                                        <m:t>𝜔</m:t>
                                                      </m:r>
                                                    </m:e>
                                                    <m:sub>
                                                      <m:r>
                                                        <a:rPr lang="es-AR" sz="1400" i="1"/>
                                                        <m:t>𝑚</m:t>
                                                      </m:r>
                                                    </m:sub>
                                                  </m:sSub>
                                                  <m:d>
                                                    <m:dPr>
                                                      <m:ctrlPr>
                                                        <a:rPr lang="es-AR" sz="1400" i="1"/>
                                                      </m:ctrlPr>
                                                    </m:dPr>
                                                    <m:e>
                                                      <m:r>
                                                        <a:rPr lang="es-AR" sz="1400" i="1"/>
                                                        <m:t>𝑡</m:t>
                                                      </m:r>
                                                    </m:e>
                                                  </m:d>
                                                  <m:r>
                                                    <a:rPr lang="es-AR" sz="1400" i="1"/>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r>
                                                    <a:rPr lang="es-AR" sz="1400"/>
                                                    <m:t>⋅</m:t>
                                                  </m:r>
                                                  <m:sSub>
                                                    <m:sSubPr>
                                                      <m:ctrlPr>
                                                        <a:rPr lang="es-AR" sz="1400" i="1"/>
                                                      </m:ctrlPr>
                                                    </m:sSubPr>
                                                    <m:e>
                                                      <m:r>
                                                        <a:rPr lang="es-AR" sz="1400" i="1"/>
                                                        <m:t>𝜔</m:t>
                                                      </m:r>
                                                    </m:e>
                                                    <m:sub>
                                                      <m:r>
                                                        <a:rPr lang="es-AR" sz="1400" i="1"/>
                                                        <m:t>𝑚</m:t>
                                                      </m:r>
                                                      <m:r>
                                                        <a:rPr lang="es-AR" sz="1400" i="1"/>
                                                        <m:t>0</m:t>
                                                      </m:r>
                                                    </m:sub>
                                                  </m:sSub>
                                                  <m:d>
                                                    <m:dPr>
                                                      <m:ctrlPr>
                                                        <a:rPr lang="es-AR" sz="1400" i="1"/>
                                                      </m:ctrlPr>
                                                    </m:dPr>
                                                    <m:e>
                                                      <m:r>
                                                        <a:rPr lang="es-AR" sz="1400" i="1"/>
                                                        <m:t>𝑡</m:t>
                                                      </m:r>
                                                    </m:e>
                                                  </m:d>
                                                </m:e>
                                              </m:d>
                                            </m:e>
                                          </m:d>
                                          <m:r>
                                            <a:rPr lang="es-AR" sz="1400" i="1"/>
                                            <m:t>,                                                                                     </m:t>
                                          </m:r>
                                        </m:e>
                                      </m:mr>
                                      <m:mr>
                                        <m:e>
                                          <m:m>
                                            <m:mPr>
                                              <m:mcs>
                                                <m:mc>
                                                  <m:mcPr>
                                                    <m:count m:val="1"/>
                                                    <m:mcJc m:val="center"/>
                                                  </m:mcPr>
                                                </m:mc>
                                              </m:mcs>
                                              <m:ctrlPr>
                                                <a:rPr lang="es-AR" sz="1400" i="1"/>
                                              </m:ctrlPr>
                                            </m:mPr>
                                            <m:mr>
                                              <m:e>
                                                <m:f>
                                                  <m:fPr>
                                                    <m:ctrlPr>
                                                      <a:rPr lang="es-AR" sz="1400" i="1"/>
                                                    </m:ctrlPr>
                                                  </m:fPr>
                                                  <m:num>
                                                    <m:r>
                                                      <a:rPr lang="es-AR" sz="1400" i="1"/>
                                                      <m:t>𝜕</m:t>
                                                    </m:r>
                                                    <m:r>
                                                      <m:rPr>
                                                        <m:sty m:val="p"/>
                                                      </m:rPr>
                                                      <a:rPr lang="es-AR" sz="1400"/>
                                                      <m:t>Δ</m:t>
                                                    </m:r>
                                                    <m:sSub>
                                                      <m:sSubPr>
                                                        <m:ctrlPr>
                                                          <a:rPr lang="es-AR" sz="1400" i="1"/>
                                                        </m:ctrlPr>
                                                      </m:sSubPr>
                                                      <m:e>
                                                        <m:r>
                                                          <a:rPr lang="es-AR" sz="1400" i="1"/>
                                                          <m:t>𝑖</m:t>
                                                        </m:r>
                                                      </m:e>
                                                      <m:sub>
                                                        <m:r>
                                                          <a:rPr lang="es-AR" sz="1400" i="1"/>
                                                          <m:t>0</m:t>
                                                        </m:r>
                                                        <m:r>
                                                          <a:rPr lang="es-AR" sz="1400" i="1"/>
                                                          <m:t>𝑠</m:t>
                                                        </m:r>
                                                      </m:sub>
                                                    </m:sSub>
                                                    <m:d>
                                                      <m:dPr>
                                                        <m:ctrlPr>
                                                          <a:rPr lang="es-AR" sz="1400" i="1"/>
                                                        </m:ctrlPr>
                                                      </m:dPr>
                                                      <m:e>
                                                        <m:r>
                                                          <a:rPr lang="es-AR" sz="1400" i="1"/>
                                                          <m:t>𝑡</m:t>
                                                        </m:r>
                                                      </m:e>
                                                    </m:d>
                                                  </m:num>
                                                  <m:den>
                                                    <m:r>
                                                      <a:rPr lang="es-AR" sz="1400" i="1"/>
                                                      <m:t>𝜕</m:t>
                                                    </m:r>
                                                    <m:r>
                                                      <a:rPr lang="es-AR" sz="1400" i="1"/>
                                                      <m:t>𝑡</m:t>
                                                    </m:r>
                                                  </m:den>
                                                </m:f>
                                                <m:r>
                                                  <a:rPr lang="es-AR" sz="1400" i="1"/>
                                                  <m:t>=</m:t>
                                                </m:r>
                                                <m:f>
                                                  <m:fPr>
                                                    <m:ctrlPr>
                                                      <a:rPr lang="es-AR" sz="1400" i="1"/>
                                                    </m:ctrlPr>
                                                  </m:fPr>
                                                  <m:num>
                                                    <m:r>
                                                      <a:rPr lang="es-AR" sz="1400" i="1"/>
                                                      <m:t>1</m:t>
                                                    </m:r>
                                                  </m:num>
                                                  <m:den>
                                                    <m:sSub>
                                                      <m:sSubPr>
                                                        <m:ctrlPr>
                                                          <a:rPr lang="es-AR" sz="1400" i="1"/>
                                                        </m:ctrlPr>
                                                      </m:sSubPr>
                                                      <m:e>
                                                        <m:r>
                                                          <a:rPr lang="es-AR" sz="1400" i="1"/>
                                                          <m:t>𝐿</m:t>
                                                        </m:r>
                                                      </m:e>
                                                      <m:sub>
                                                        <m:r>
                                                          <a:rPr lang="es-AR" sz="1400" i="1"/>
                                                          <m:t>𝑙𝑠</m:t>
                                                        </m:r>
                                                      </m:sub>
                                                    </m:sSub>
                                                  </m:den>
                                                </m:f>
                                                <m:d>
                                                  <m:dPr>
                                                    <m:ctrlPr>
                                                      <a:rPr lang="es-AR" sz="1400" i="1"/>
                                                    </m:ctrlPr>
                                                  </m:dPr>
                                                  <m:e>
                                                    <m:r>
                                                      <m:rPr>
                                                        <m:sty m:val="p"/>
                                                      </m:rPr>
                                                      <a:rPr lang="es-AR" sz="1400"/>
                                                      <m:t>Δ</m:t>
                                                    </m:r>
                                                    <m:sSub>
                                                      <m:sSubPr>
                                                        <m:ctrlPr>
                                                          <a:rPr lang="es-AR" sz="1400" i="1"/>
                                                        </m:ctrlPr>
                                                      </m:sSubPr>
                                                      <m:e>
                                                        <m:r>
                                                          <a:rPr lang="es-AR" sz="1400" i="1"/>
                                                          <m:t>𝑣</m:t>
                                                        </m:r>
                                                      </m:e>
                                                      <m:sub>
                                                        <m:r>
                                                          <a:rPr lang="es-AR" sz="1400" i="1"/>
                                                          <m:t>0</m:t>
                                                        </m:r>
                                                        <m:r>
                                                          <a:rPr lang="es-AR" sz="1400" i="1"/>
                                                          <m:t>𝑠</m:t>
                                                        </m:r>
                                                      </m:sub>
                                                    </m:sSub>
                                                    <m:d>
                                                      <m:dPr>
                                                        <m:ctrlPr>
                                                          <a:rPr lang="es-AR" sz="1400" i="1"/>
                                                        </m:ctrlPr>
                                                      </m:dPr>
                                                      <m:e>
                                                        <m:r>
                                                          <a:rPr lang="es-AR" sz="1400" i="1"/>
                                                          <m:t>𝑡</m:t>
                                                        </m:r>
                                                      </m:e>
                                                    </m:d>
                                                    <m:r>
                                                      <a:rPr lang="es-AR" sz="1400" i="1"/>
                                                      <m:t>−</m:t>
                                                    </m:r>
                                                    <m:sSub>
                                                      <m:sSubPr>
                                                        <m:ctrlPr>
                                                          <a:rPr lang="es-AR" sz="1400" i="1"/>
                                                        </m:ctrlPr>
                                                      </m:sSubPr>
                                                      <m:e>
                                                        <m:r>
                                                          <a:rPr lang="es-AR" sz="1400" i="1"/>
                                                          <m:t>𝑅</m:t>
                                                        </m:r>
                                                      </m:e>
                                                      <m:sub>
                                                        <m:r>
                                                          <a:rPr lang="es-AR" sz="1400" i="1"/>
                                                          <m:t>𝑠</m:t>
                                                        </m:r>
                                                      </m:sub>
                                                    </m:sSub>
                                                    <m:d>
                                                      <m:dPr>
                                                        <m:ctrlPr>
                                                          <a:rPr lang="es-AR" sz="1400" i="1"/>
                                                        </m:ctrlPr>
                                                      </m:dPr>
                                                      <m:e>
                                                        <m:sSubSup>
                                                          <m:sSubSupPr>
                                                            <m:ctrlPr>
                                                              <a:rPr lang="es-AR" sz="1400" i="1"/>
                                                            </m:ctrlPr>
                                                          </m:sSubSupPr>
                                                          <m:e>
                                                            <m:r>
                                                              <a:rPr lang="es-AR" sz="1400" i="1"/>
                                                              <m:t>𝑇</m:t>
                                                            </m:r>
                                                          </m:e>
                                                          <m:sub>
                                                            <m:r>
                                                              <a:rPr lang="es-AR" sz="1400" i="1"/>
                                                              <m:t>𝑠</m:t>
                                                            </m:r>
                                                          </m:sub>
                                                          <m:sup>
                                                            <m:r>
                                                              <a:rPr lang="es-AR" sz="1400"/>
                                                              <m:t>∘</m:t>
                                                            </m:r>
                                                          </m:sup>
                                                        </m:sSubSup>
                                                      </m:e>
                                                    </m:d>
                                                    <m:r>
                                                      <a:rPr lang="es-AR" sz="1400"/>
                                                      <m:t>⋅</m:t>
                                                    </m:r>
                                                    <m:r>
                                                      <m:rPr>
                                                        <m:sty m:val="p"/>
                                                      </m:rPr>
                                                      <a:rPr lang="es-AR" sz="1400"/>
                                                      <m:t>Δ</m:t>
                                                    </m:r>
                                                    <m:sSub>
                                                      <m:sSubPr>
                                                        <m:ctrlPr>
                                                          <a:rPr lang="es-AR" sz="1400" i="1"/>
                                                        </m:ctrlPr>
                                                      </m:sSubPr>
                                                      <m:e>
                                                        <m:r>
                                                          <a:rPr lang="es-AR" sz="1400" i="1"/>
                                                          <m:t>𝑖</m:t>
                                                        </m:r>
                                                      </m:e>
                                                      <m:sub>
                                                        <m:r>
                                                          <a:rPr lang="es-AR" sz="1400" i="1"/>
                                                          <m:t>0</m:t>
                                                        </m:r>
                                                        <m:r>
                                                          <a:rPr lang="es-AR" sz="1400" i="1"/>
                                                          <m:t>𝑠</m:t>
                                                        </m:r>
                                                      </m:sub>
                                                    </m:sSub>
                                                    <m:d>
                                                      <m:dPr>
                                                        <m:ctrlPr>
                                                          <a:rPr lang="es-AR" sz="1400" i="1"/>
                                                        </m:ctrlPr>
                                                      </m:dPr>
                                                      <m:e>
                                                        <m:r>
                                                          <a:rPr lang="es-AR" sz="1400" i="1"/>
                                                          <m:t>𝑡</m:t>
                                                        </m:r>
                                                      </m:e>
                                                    </m:d>
                                                  </m:e>
                                                </m:d>
                                                <m:r>
                                                  <a:rPr lang="es-AR" sz="1400" i="1"/>
                                                  <m:t>,                                                                                                                                                                          </m:t>
                                                </m:r>
                                              </m:e>
                                            </m:mr>
                                            <m:mr>
                                              <m:e>
                                                <m:f>
                                                  <m:fPr>
                                                    <m:ctrlPr>
                                                      <a:rPr lang="es-AR" sz="1400" i="1"/>
                                                    </m:ctrlPr>
                                                  </m:fPr>
                                                  <m:num>
                                                    <m:r>
                                                      <a:rPr lang="es-AR" sz="1400" i="1"/>
                                                      <m:t>𝜕</m:t>
                                                    </m:r>
                                                    <m:r>
                                                      <m:rPr>
                                                        <m:sty m:val="p"/>
                                                      </m:rPr>
                                                      <a:rPr lang="es-AR" sz="1400"/>
                                                      <m:t>Δ</m:t>
                                                    </m:r>
                                                    <m:sSubSup>
                                                      <m:sSubSupPr>
                                                        <m:ctrlPr>
                                                          <a:rPr lang="es-AR" sz="1400" i="1"/>
                                                        </m:ctrlPr>
                                                      </m:sSubSupPr>
                                                      <m:e>
                                                        <m:r>
                                                          <a:rPr lang="es-AR" sz="1400" i="1"/>
                                                          <m:t>𝑇</m:t>
                                                        </m:r>
                                                      </m:e>
                                                      <m:sub>
                                                        <m:r>
                                                          <a:rPr lang="es-AR" sz="1400" i="1"/>
                                                          <m:t>𝑠</m:t>
                                                        </m:r>
                                                      </m:sub>
                                                      <m:sup>
                                                        <m:r>
                                                          <a:rPr lang="es-AR" sz="1400"/>
                                                          <m:t>∘</m:t>
                                                        </m:r>
                                                      </m:sup>
                                                    </m:sSubSup>
                                                    <m:d>
                                                      <m:dPr>
                                                        <m:ctrlPr>
                                                          <a:rPr lang="es-AR" sz="1400" i="1"/>
                                                        </m:ctrlPr>
                                                      </m:dPr>
                                                      <m:e>
                                                        <m:r>
                                                          <a:rPr lang="es-AR" sz="1400" i="1"/>
                                                          <m:t>𝑡</m:t>
                                                        </m:r>
                                                      </m:e>
                                                    </m:d>
                                                  </m:num>
                                                  <m:den>
                                                    <m:r>
                                                      <a:rPr lang="es-AR" sz="1400" i="1"/>
                                                      <m:t>𝜕</m:t>
                                                    </m:r>
                                                    <m:r>
                                                      <a:rPr lang="es-AR" sz="1400" i="1"/>
                                                      <m:t>𝑡</m:t>
                                                    </m:r>
                                                  </m:den>
                                                </m:f>
                                                <m:r>
                                                  <a:rPr lang="es-AR" sz="1400" i="1"/>
                                                  <m:t>=</m:t>
                                                </m:r>
                                                <m:f>
                                                  <m:fPr>
                                                    <m:ctrlPr>
                                                      <a:rPr lang="es-AR" sz="1400" i="1"/>
                                                    </m:ctrlPr>
                                                  </m:fPr>
                                                  <m:num>
                                                    <m:r>
                                                      <a:rPr lang="es-AR" sz="1400" i="1"/>
                                                      <m:t>1</m:t>
                                                    </m:r>
                                                  </m:num>
                                                  <m:den>
                                                    <m:sSub>
                                                      <m:sSubPr>
                                                        <m:ctrlPr>
                                                          <a:rPr lang="es-AR" sz="1400" i="1"/>
                                                        </m:ctrlPr>
                                                      </m:sSubPr>
                                                      <m:e>
                                                        <m:r>
                                                          <a:rPr lang="es-AR" sz="1400" i="1"/>
                                                          <m:t>𝐶</m:t>
                                                        </m:r>
                                                      </m:e>
                                                      <m:sub>
                                                        <m:r>
                                                          <a:rPr lang="es-AR" sz="1400" i="1"/>
                                                          <m:t>𝑡𝑠</m:t>
                                                        </m:r>
                                                      </m:sub>
                                                    </m:sSub>
                                                  </m:den>
                                                </m:f>
                                                <m:d>
                                                  <m:dPr>
                                                    <m:begChr m:val="["/>
                                                    <m:endChr m:val="]"/>
                                                    <m:ctrlPr>
                                                      <a:rPr lang="es-AR" sz="1400" i="1"/>
                                                    </m:ctrlPr>
                                                  </m:dPr>
                                                  <m:e>
                                                    <m:r>
                                                      <a:rPr lang="es-AR" sz="1400" i="1"/>
                                                      <m:t>3</m:t>
                                                    </m:r>
                                                    <m:r>
                                                      <a:rPr lang="es-AR" sz="1400"/>
                                                      <m:t>⋅</m:t>
                                                    </m:r>
                                                    <m:sSub>
                                                      <m:sSubPr>
                                                        <m:ctrlPr>
                                                          <a:rPr lang="es-AR" sz="1400" i="1"/>
                                                        </m:ctrlPr>
                                                      </m:sSubPr>
                                                      <m:e>
                                                        <m:r>
                                                          <a:rPr lang="es-AR" sz="1400" i="1"/>
                                                          <m:t>𝑅</m:t>
                                                        </m:r>
                                                      </m:e>
                                                      <m:sub>
                                                        <m:r>
                                                          <a:rPr lang="es-AR" sz="1400" i="1"/>
                                                          <m:t>𝑠</m:t>
                                                        </m:r>
                                                      </m:sub>
                                                    </m:sSub>
                                                    <m:d>
                                                      <m:dPr>
                                                        <m:ctrlPr>
                                                          <a:rPr lang="es-AR" sz="1400" i="1"/>
                                                        </m:ctrlPr>
                                                      </m:dPr>
                                                      <m:e>
                                                        <m:sSubSup>
                                                          <m:sSubSupPr>
                                                            <m:ctrlPr>
                                                              <a:rPr lang="es-AR" sz="1400" i="1"/>
                                                            </m:ctrlPr>
                                                          </m:sSubSupPr>
                                                          <m:e>
                                                            <m:r>
                                                              <a:rPr lang="es-AR" sz="1400" i="1"/>
                                                              <m:t>𝑇</m:t>
                                                            </m:r>
                                                          </m:e>
                                                          <m:sub>
                                                            <m:r>
                                                              <a:rPr lang="es-AR" sz="1400" i="1"/>
                                                              <m:t>𝑠</m:t>
                                                            </m:r>
                                                          </m:sub>
                                                          <m:sup>
                                                            <m:r>
                                                              <a:rPr lang="es-AR" sz="1400"/>
                                                              <m:t>∘</m:t>
                                                            </m:r>
                                                          </m:sup>
                                                        </m:sSubSup>
                                                      </m:e>
                                                    </m:d>
                                                    <m:d>
                                                      <m:dPr>
                                                        <m:ctrlPr>
                                                          <a:rPr lang="es-AR" sz="1400" i="1"/>
                                                        </m:ctrlPr>
                                                      </m:dPr>
                                                      <m:e>
                                                        <m:sSubSup>
                                                          <m:sSubSupPr>
                                                            <m:ctrlPr>
                                                              <a:rPr lang="es-AR" sz="1400" i="1"/>
                                                            </m:ctrlPr>
                                                          </m:sSubSupPr>
                                                          <m:e>
                                                            <m:r>
                                                              <a:rPr lang="es-AR" sz="1400" i="1"/>
                                                              <m:t>𝑖</m:t>
                                                            </m:r>
                                                          </m:e>
                                                          <m:sub>
                                                            <m:r>
                                                              <a:rPr lang="es-AR" sz="1400" i="1"/>
                                                              <m:t>𝑞𝑠</m:t>
                                                            </m:r>
                                                            <m:r>
                                                              <a:rPr lang="es-AR" sz="1400" i="1"/>
                                                              <m:t>0</m:t>
                                                            </m:r>
                                                          </m:sub>
                                                          <m:sup>
                                                            <m:r>
                                                              <a:rPr lang="es-AR" sz="1400" i="1"/>
                                                              <m:t>𝑟</m:t>
                                                            </m:r>
                                                          </m:sup>
                                                        </m:sSubSup>
                                                        <m:r>
                                                          <a:rPr lang="es-AR" sz="1400"/>
                                                          <m:t>⋅</m:t>
                                                        </m:r>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r>
                                                          <a:rPr lang="es-AR" sz="1400" i="1"/>
                                                          <m:t>+</m:t>
                                                        </m:r>
                                                        <m:sSubSup>
                                                          <m:sSubSupPr>
                                                            <m:ctrlPr>
                                                              <a:rPr lang="es-AR" sz="1400" i="1"/>
                                                            </m:ctrlPr>
                                                          </m:sSubSupPr>
                                                          <m:e>
                                                            <m:r>
                                                              <a:rPr lang="es-AR" sz="1400" i="1"/>
                                                              <m:t>𝑖</m:t>
                                                            </m:r>
                                                          </m:e>
                                                          <m:sub>
                                                            <m:r>
                                                              <a:rPr lang="es-AR" sz="1400" i="1"/>
                                                              <m:t>𝑑𝑠</m:t>
                                                            </m:r>
                                                            <m:r>
                                                              <a:rPr lang="es-AR" sz="1400" i="1"/>
                                                              <m:t>0</m:t>
                                                            </m:r>
                                                          </m:sub>
                                                          <m:sup>
                                                            <m:r>
                                                              <a:rPr lang="es-AR" sz="1400" i="1"/>
                                                              <m:t>𝑟</m:t>
                                                            </m:r>
                                                          </m:sup>
                                                        </m:sSubSup>
                                                        <m:r>
                                                          <a:rPr lang="es-AR" sz="1400"/>
                                                          <m:t>⋅</m:t>
                                                        </m:r>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r>
                                                          <a:rPr lang="es-AR" sz="1400" i="1"/>
                                                          <m:t>+2</m:t>
                                                        </m:r>
                                                        <m:r>
                                                          <a:rPr lang="es-AR" sz="1400"/>
                                                          <m:t>⋅</m:t>
                                                        </m:r>
                                                        <m:sSub>
                                                          <m:sSubPr>
                                                            <m:ctrlPr>
                                                              <a:rPr lang="es-AR" sz="1400" i="1"/>
                                                            </m:ctrlPr>
                                                          </m:sSubPr>
                                                          <m:e>
                                                            <m:r>
                                                              <a:rPr lang="es-AR" sz="1400" i="1"/>
                                                              <m:t>𝑖</m:t>
                                                            </m:r>
                                                          </m:e>
                                                          <m:sub>
                                                            <m:r>
                                                              <a:rPr lang="es-AR" sz="1400" i="1"/>
                                                              <m:t>0</m:t>
                                                            </m:r>
                                                            <m:r>
                                                              <a:rPr lang="es-AR" sz="1400" i="1"/>
                                                              <m:t>𝑠</m:t>
                                                            </m:r>
                                                            <m:r>
                                                              <a:rPr lang="es-AR" sz="1400" i="1"/>
                                                              <m:t>0</m:t>
                                                            </m:r>
                                                          </m:sub>
                                                        </m:sSub>
                                                        <m:r>
                                                          <a:rPr lang="es-AR" sz="1400"/>
                                                          <m:t>⋅</m:t>
                                                        </m:r>
                                                        <m:r>
                                                          <m:rPr>
                                                            <m:sty m:val="p"/>
                                                          </m:rPr>
                                                          <a:rPr lang="es-AR" sz="1400"/>
                                                          <m:t>Δ</m:t>
                                                        </m:r>
                                                        <m:sSub>
                                                          <m:sSubPr>
                                                            <m:ctrlPr>
                                                              <a:rPr lang="es-AR" sz="1400" i="1"/>
                                                            </m:ctrlPr>
                                                          </m:sSubPr>
                                                          <m:e>
                                                            <m:r>
                                                              <a:rPr lang="es-AR" sz="1400" i="1"/>
                                                              <m:t>𝑖</m:t>
                                                            </m:r>
                                                          </m:e>
                                                          <m:sub>
                                                            <m:r>
                                                              <a:rPr lang="es-AR" sz="1400" i="1"/>
                                                              <m:t>0</m:t>
                                                            </m:r>
                                                            <m:r>
                                                              <a:rPr lang="es-AR" sz="1400" i="1"/>
                                                              <m:t>𝑠</m:t>
                                                            </m:r>
                                                          </m:sub>
                                                        </m:sSub>
                                                        <m:d>
                                                          <m:dPr>
                                                            <m:ctrlPr>
                                                              <a:rPr lang="es-AR" sz="1400" i="1"/>
                                                            </m:ctrlPr>
                                                          </m:dPr>
                                                          <m:e>
                                                            <m:r>
                                                              <a:rPr lang="es-AR" sz="1400" i="1"/>
                                                              <m:t>𝑡</m:t>
                                                            </m:r>
                                                          </m:e>
                                                        </m:d>
                                                      </m:e>
                                                    </m:d>
                                                    <m:r>
                                                      <a:rPr lang="es-AR" sz="1400" i="1"/>
                                                      <m:t>−</m:t>
                                                    </m:r>
                                                    <m:f>
                                                      <m:fPr>
                                                        <m:ctrlPr>
                                                          <a:rPr lang="es-AR" sz="1400" i="1"/>
                                                        </m:ctrlPr>
                                                      </m:fPr>
                                                      <m:num>
                                                        <m:r>
                                                          <m:rPr>
                                                            <m:sty m:val="p"/>
                                                          </m:rPr>
                                                          <a:rPr lang="es-AR" sz="1400"/>
                                                          <m:t>Δ</m:t>
                                                        </m:r>
                                                        <m:sSubSup>
                                                          <m:sSubSupPr>
                                                            <m:ctrlPr>
                                                              <a:rPr lang="es-AR" sz="1400" i="1"/>
                                                            </m:ctrlPr>
                                                          </m:sSubSupPr>
                                                          <m:e>
                                                            <m:r>
                                                              <a:rPr lang="es-AR" sz="1400" i="1"/>
                                                              <m:t>𝑇</m:t>
                                                            </m:r>
                                                          </m:e>
                                                          <m:sub>
                                                            <m:r>
                                                              <a:rPr lang="es-AR" sz="1400" i="1"/>
                                                              <m:t>𝑠</m:t>
                                                            </m:r>
                                                          </m:sub>
                                                          <m:sup>
                                                            <m:r>
                                                              <a:rPr lang="es-AR" sz="1400"/>
                                                              <m:t>∘</m:t>
                                                            </m:r>
                                                          </m:sup>
                                                        </m:sSubSup>
                                                        <m:d>
                                                          <m:dPr>
                                                            <m:ctrlPr>
                                                              <a:rPr lang="es-AR" sz="1400" i="1"/>
                                                            </m:ctrlPr>
                                                          </m:dPr>
                                                          <m:e>
                                                            <m:r>
                                                              <a:rPr lang="es-AR" sz="1400" i="1"/>
                                                              <m:t>𝑡</m:t>
                                                            </m:r>
                                                          </m:e>
                                                        </m:d>
                                                        <m:r>
                                                          <a:rPr lang="es-AR" sz="1400" i="1"/>
                                                          <m:t>−</m:t>
                                                        </m:r>
                                                        <m:r>
                                                          <m:rPr>
                                                            <m:sty m:val="p"/>
                                                          </m:rPr>
                                                          <a:rPr lang="es-AR" sz="1400"/>
                                                          <m:t>Δ</m:t>
                                                        </m:r>
                                                        <m:sSubSup>
                                                          <m:sSubSupPr>
                                                            <m:ctrlPr>
                                                              <a:rPr lang="es-AR" sz="1400" i="1"/>
                                                            </m:ctrlPr>
                                                          </m:sSubSupPr>
                                                          <m:e>
                                                            <m:r>
                                                              <a:rPr lang="es-AR" sz="1400" i="1"/>
                                                              <m:t>𝑇</m:t>
                                                            </m:r>
                                                          </m:e>
                                                          <m:sub>
                                                            <m:r>
                                                              <a:rPr lang="es-AR" sz="1400" i="1"/>
                                                              <m:t>𝑎𝑚𝑏</m:t>
                                                            </m:r>
                                                          </m:sub>
                                                          <m:sup>
                                                            <m:r>
                                                              <a:rPr lang="es-AR" sz="1400"/>
                                                              <m:t>∘</m:t>
                                                            </m:r>
                                                          </m:sup>
                                                        </m:sSubSup>
                                                        <m:d>
                                                          <m:dPr>
                                                            <m:ctrlPr>
                                                              <a:rPr lang="es-AR" sz="1400" i="1"/>
                                                            </m:ctrlPr>
                                                          </m:dPr>
                                                          <m:e>
                                                            <m:r>
                                                              <a:rPr lang="es-AR" sz="1400" i="1"/>
                                                              <m:t>𝑡</m:t>
                                                            </m:r>
                                                          </m:e>
                                                        </m:d>
                                                      </m:num>
                                                      <m:den>
                                                        <m:sSub>
                                                          <m:sSubPr>
                                                            <m:ctrlPr>
                                                              <a:rPr lang="es-AR" sz="1400" i="1"/>
                                                            </m:ctrlPr>
                                                          </m:sSubPr>
                                                          <m:e>
                                                            <m:r>
                                                              <a:rPr lang="es-AR" sz="1400" i="1"/>
                                                              <m:t>𝑅</m:t>
                                                            </m:r>
                                                          </m:e>
                                                          <m:sub>
                                                            <m:r>
                                                              <a:rPr lang="es-AR" sz="1400" i="1"/>
                                                              <m:t>𝑡𝑠</m:t>
                                                            </m:r>
                                                            <m:r>
                                                              <a:rPr lang="es-AR" sz="1400" i="1"/>
                                                              <m:t>−</m:t>
                                                            </m:r>
                                                            <m:r>
                                                              <a:rPr lang="es-AR" sz="1400" i="1"/>
                                                              <m:t>𝑎𝑚𝑏</m:t>
                                                            </m:r>
                                                          </m:sub>
                                                        </m:sSub>
                                                      </m:den>
                                                    </m:f>
                                                  </m:e>
                                                </m:d>
                                                <m:r>
                                                  <a:rPr lang="es-AR" sz="1400" i="1"/>
                                                  <m:t>                                                                   </m:t>
                                                </m:r>
                                              </m:e>
                                            </m:mr>
                                          </m:m>
                                        </m:e>
                                      </m:mr>
                                    </m:m>
                                  </m:e>
                                </m:mr>
                              </m:m>
                            </m:e>
                          </m:eqArr>
                        </m:e>
                      </m:d>
                    </m:oMath>
                  </m:oMathPara>
                </a14:m>
                <a:endParaRPr lang="en-US" sz="1100" dirty="0"/>
              </a:p>
            </p:txBody>
          </p:sp>
        </mc:Choice>
        <mc:Fallback>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3"/>
                <a:stretch>
                  <a:fillRect l="-5474" t="-60199" r="-3805" b="-62687"/>
                </a:stretch>
              </a:blipFill>
              <a:ln/>
            </p:spPr>
            <p:txBody>
              <a:bodyPr/>
              <a:lstStyle/>
              <a:p>
                <a:r>
                  <a:rPr lang="es-AR">
                    <a:noFill/>
                  </a:rPr>
                  <a:t> </a:t>
                </a:r>
              </a:p>
            </p:txBody>
          </p:sp>
        </mc:Fallback>
      </mc:AlternateContent>
      <p:sp>
        <p:nvSpPr>
          <p:cNvPr id="17" name="Text 15"/>
          <p:cNvSpPr/>
          <p:nvPr/>
        </p:nvSpPr>
        <p:spPr>
          <a:xfrm>
            <a:off x="365760"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460324"/>
            <a:ext cx="9144000" cy="15000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1" name="Text 7">
                <a:extLst>
                  <a:ext uri="{FF2B5EF4-FFF2-40B4-BE49-F238E27FC236}">
                    <a16:creationId xmlns:a16="http://schemas.microsoft.com/office/drawing/2014/main" id="{ED8989D8-139E-4C98-8026-F7FCFD551A71}"/>
                  </a:ext>
                </a:extLst>
              </p:cNvPr>
              <p:cNvSpPr/>
              <p:nvPr/>
            </p:nvSpPr>
            <p:spPr>
              <a:xfrm>
                <a:off x="611557" y="4975678"/>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m:t>𝑋</m:t>
                      </m:r>
                      <m:r>
                        <a:rPr lang="es-AR" sz="1400" i="1"/>
                        <m:t>=</m:t>
                      </m:r>
                      <m:d>
                        <m:dPr>
                          <m:begChr m:val="{"/>
                          <m:endChr m:val="}"/>
                          <m:ctrlPr>
                            <a:rPr lang="es-AR" sz="1400" i="1"/>
                          </m:ctrlPr>
                        </m:dPr>
                        <m:e>
                          <m:eqArr>
                            <m:eqArrPr>
                              <m:ctrlPr>
                                <a:rPr lang="es-AR" sz="1400" i="1"/>
                              </m:ctrlPr>
                            </m:eqArrPr>
                            <m:e>
                              <m:r>
                                <m:rPr>
                                  <m:sty m:val="p"/>
                                </m:rPr>
                                <a:rPr lang="es-AR" sz="1400"/>
                                <m:t>Δ</m:t>
                              </m:r>
                              <m:sSub>
                                <m:sSubPr>
                                  <m:ctrlPr>
                                    <a:rPr lang="es-AR" sz="1400" i="1"/>
                                  </m:ctrlPr>
                                </m:sSubPr>
                                <m:e>
                                  <m:r>
                                    <a:rPr lang="es-AR" sz="1400" i="1"/>
                                    <m:t>𝜃</m:t>
                                  </m:r>
                                </m:e>
                                <m:sub>
                                  <m:r>
                                    <a:rPr lang="es-AR" sz="1400" i="1"/>
                                    <m:t>𝑚</m:t>
                                  </m:r>
                                </m:sub>
                              </m:sSub>
                              <m:d>
                                <m:dPr>
                                  <m:ctrlPr>
                                    <a:rPr lang="es-AR" sz="1400" i="1"/>
                                  </m:ctrlPr>
                                </m:dPr>
                                <m:e>
                                  <m:r>
                                    <a:rPr lang="es-AR" sz="1400" i="1"/>
                                    <m:t>𝑡</m:t>
                                  </m:r>
                                </m:e>
                              </m:d>
                            </m:e>
                            <m:e>
                              <m:r>
                                <m:rPr>
                                  <m:sty m:val="p"/>
                                </m:rPr>
                                <a:rPr lang="es-AR" sz="1400"/>
                                <m:t>Δ</m:t>
                              </m:r>
                              <m:sSub>
                                <m:sSubPr>
                                  <m:ctrlPr>
                                    <a:rPr lang="es-AR" sz="1400" i="1"/>
                                  </m:ctrlPr>
                                </m:sSubPr>
                                <m:e>
                                  <m:r>
                                    <a:rPr lang="es-AR" sz="1400" i="1"/>
                                    <m:t>𝜔</m:t>
                                  </m:r>
                                </m:e>
                                <m:sub>
                                  <m:r>
                                    <a:rPr lang="es-AR" sz="1400" i="1"/>
                                    <m:t>𝑚</m:t>
                                  </m:r>
                                </m:sub>
                              </m:sSub>
                              <m:d>
                                <m:dPr>
                                  <m:ctrlPr>
                                    <a:rPr lang="es-AR" sz="1400" i="1"/>
                                  </m:ctrlPr>
                                </m:dPr>
                                <m:e>
                                  <m:r>
                                    <a:rPr lang="es-AR" sz="1400" i="1"/>
                                    <m:t>𝑡</m:t>
                                  </m:r>
                                </m:e>
                              </m:d>
                            </m:e>
                            <m:e>
                              <m:m>
                                <m:mPr>
                                  <m:mcs>
                                    <m:mc>
                                      <m:mcPr>
                                        <m:count m:val="1"/>
                                        <m:mcJc m:val="center"/>
                                      </m:mcPr>
                                    </m:mc>
                                  </m:mcs>
                                  <m:ctrlPr>
                                    <a:rPr lang="es-AR" sz="1400" i="1"/>
                                  </m:ctrlPr>
                                </m:mPr>
                                <m:mr>
                                  <m:e>
                                    <m:r>
                                      <m:rPr>
                                        <m:sty m:val="p"/>
                                      </m:rPr>
                                      <a:rPr lang="es-AR" sz="1400"/>
                                      <m:t>Δ</m:t>
                                    </m:r>
                                    <m:sSubSup>
                                      <m:sSubSupPr>
                                        <m:ctrlPr>
                                          <a:rPr lang="es-AR" sz="1400" i="1"/>
                                        </m:ctrlPr>
                                      </m:sSubSupPr>
                                      <m:e>
                                        <m:r>
                                          <a:rPr lang="es-AR" sz="1400" i="1"/>
                                          <m:t>𝑖</m:t>
                                        </m:r>
                                      </m:e>
                                      <m:sub>
                                        <m:r>
                                          <a:rPr lang="es-AR" sz="1400" i="1"/>
                                          <m:t>𝑞𝑠</m:t>
                                        </m:r>
                                      </m:sub>
                                      <m:sup>
                                        <m:r>
                                          <a:rPr lang="es-AR" sz="1400" i="1"/>
                                          <m:t>𝑟</m:t>
                                        </m:r>
                                      </m:sup>
                                    </m:sSubSup>
                                    <m:d>
                                      <m:dPr>
                                        <m:ctrlPr>
                                          <a:rPr lang="es-AR" sz="1400" i="1"/>
                                        </m:ctrlPr>
                                      </m:dPr>
                                      <m:e>
                                        <m:r>
                                          <a:rPr lang="es-AR" sz="1400" i="1"/>
                                          <m:t>𝑡</m:t>
                                        </m:r>
                                      </m:e>
                                    </m:d>
                                  </m:e>
                                </m:mr>
                                <m:mr>
                                  <m:e>
                                    <m:r>
                                      <m:rPr>
                                        <m:sty m:val="p"/>
                                      </m:rPr>
                                      <a:rPr lang="es-AR" sz="1400"/>
                                      <m:t>Δ</m:t>
                                    </m:r>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e>
                                </m:mr>
                                <m:mr>
                                  <m:e>
                                    <m:m>
                                      <m:mPr>
                                        <m:mcs>
                                          <m:mc>
                                            <m:mcPr>
                                              <m:count m:val="1"/>
                                              <m:mcJc m:val="center"/>
                                            </m:mcPr>
                                          </m:mc>
                                        </m:mcs>
                                        <m:ctrlPr>
                                          <a:rPr lang="es-AR" sz="1400" i="1"/>
                                        </m:ctrlPr>
                                      </m:mPr>
                                      <m:mr>
                                        <m:e>
                                          <m:r>
                                            <m:rPr>
                                              <m:sty m:val="p"/>
                                            </m:rPr>
                                            <a:rPr lang="es-AR" sz="1400"/>
                                            <m:t>Δ</m:t>
                                          </m:r>
                                          <m:sSub>
                                            <m:sSubPr>
                                              <m:ctrlPr>
                                                <a:rPr lang="es-AR" sz="1400" i="1"/>
                                              </m:ctrlPr>
                                            </m:sSubPr>
                                            <m:e>
                                              <m:r>
                                                <a:rPr lang="es-AR" sz="1400" i="1"/>
                                                <m:t>𝑖</m:t>
                                              </m:r>
                                            </m:e>
                                            <m:sub>
                                              <m:r>
                                                <a:rPr lang="es-AR" sz="1400"/>
                                                <m:t>0</m:t>
                                              </m:r>
                                              <m:r>
                                                <a:rPr lang="es-AR" sz="1400" i="1"/>
                                                <m:t>𝑠</m:t>
                                              </m:r>
                                            </m:sub>
                                          </m:sSub>
                                          <m:d>
                                            <m:dPr>
                                              <m:ctrlPr>
                                                <a:rPr lang="es-AR" sz="1400" i="1"/>
                                              </m:ctrlPr>
                                            </m:dPr>
                                            <m:e>
                                              <m:r>
                                                <a:rPr lang="es-AR" sz="1400" i="1"/>
                                                <m:t>𝑡</m:t>
                                              </m:r>
                                            </m:e>
                                          </m:d>
                                        </m:e>
                                      </m:mr>
                                      <m:mr>
                                        <m:e>
                                          <m:r>
                                            <m:rPr>
                                              <m:sty m:val="p"/>
                                            </m:rPr>
                                            <a:rPr lang="es-AR" sz="1400"/>
                                            <m:t>Δ</m:t>
                                          </m:r>
                                          <m:sSubSup>
                                            <m:sSubSupPr>
                                              <m:ctrlPr>
                                                <a:rPr lang="es-AR" sz="1400" i="1"/>
                                              </m:ctrlPr>
                                            </m:sSubSupPr>
                                            <m:e>
                                              <m:r>
                                                <a:rPr lang="es-AR" sz="1400" i="1"/>
                                                <m:t>𝑇</m:t>
                                              </m:r>
                                            </m:e>
                                            <m:sub>
                                              <m:r>
                                                <a:rPr lang="es-AR" sz="1400" i="1"/>
                                                <m:t>𝑠</m:t>
                                              </m:r>
                                            </m:sub>
                                            <m:sup>
                                              <m:r>
                                                <a:rPr lang="es-AR" sz="1400"/>
                                                <m:t>∘</m:t>
                                              </m:r>
                                            </m:sup>
                                          </m:sSubSup>
                                          <m:d>
                                            <m:dPr>
                                              <m:ctrlPr>
                                                <a:rPr lang="es-AR" sz="1400" i="1"/>
                                              </m:ctrlPr>
                                            </m:dPr>
                                            <m:e>
                                              <m:r>
                                                <a:rPr lang="es-AR" sz="1400" i="1"/>
                                                <m:t>𝑡</m:t>
                                              </m:r>
                                            </m:e>
                                          </m:d>
                                        </m:e>
                                      </m:mr>
                                    </m:m>
                                  </m:e>
                                </m:mr>
                              </m:m>
                            </m:e>
                          </m:eqArr>
                        </m:e>
                      </m:d>
                      <m:r>
                        <a:rPr lang="es-AR" sz="1400" i="1"/>
                        <m:t>,           </m:t>
                      </m:r>
                      <m:r>
                        <a:rPr lang="es-AR" sz="1400" i="1"/>
                        <m:t>𝑢</m:t>
                      </m:r>
                      <m:r>
                        <a:rPr lang="es-AR" sz="1400" i="1"/>
                        <m:t>=</m:t>
                      </m:r>
                      <m:d>
                        <m:dPr>
                          <m:begChr m:val="{"/>
                          <m:endChr m:val="}"/>
                          <m:ctrlPr>
                            <a:rPr lang="es-AR" sz="1400" i="1"/>
                          </m:ctrlPr>
                        </m:dPr>
                        <m:e>
                          <m:eqArr>
                            <m:eqArrPr>
                              <m:ctrlPr>
                                <a:rPr lang="es-AR" sz="1400" i="1"/>
                              </m:ctrlPr>
                            </m:eqArrPr>
                            <m:e>
                              <m:r>
                                <m:rPr>
                                  <m:sty m:val="p"/>
                                </m:rPr>
                                <a:rPr lang="es-AR" sz="1400"/>
                                <m:t>Δ</m:t>
                              </m:r>
                              <m:sSub>
                                <m:sSubPr>
                                  <m:ctrlPr>
                                    <a:rPr lang="es-AR" sz="1400" i="1"/>
                                  </m:ctrlPr>
                                </m:sSubPr>
                                <m:e>
                                  <m:r>
                                    <a:rPr lang="es-AR" sz="1400" i="1"/>
                                    <m:t>𝑇</m:t>
                                  </m:r>
                                </m:e>
                                <m:sub>
                                  <m:r>
                                    <a:rPr lang="es-AR" sz="1400" i="1"/>
                                    <m:t>𝑙𝑑</m:t>
                                  </m:r>
                                </m:sub>
                              </m:sSub>
                              <m:d>
                                <m:dPr>
                                  <m:ctrlPr>
                                    <a:rPr lang="es-AR" sz="1400" i="1"/>
                                  </m:ctrlPr>
                                </m:dPr>
                                <m:e>
                                  <m:r>
                                    <a:rPr lang="es-AR" sz="1400" i="1"/>
                                    <m:t>𝑡</m:t>
                                  </m:r>
                                </m:e>
                              </m:d>
                            </m:e>
                            <m:e>
                              <m:r>
                                <m:rPr>
                                  <m:sty m:val="p"/>
                                </m:rPr>
                                <a:rPr lang="es-AR" sz="1400"/>
                                <m:t>Δ</m:t>
                              </m:r>
                              <m:sSubSup>
                                <m:sSubSupPr>
                                  <m:ctrlPr>
                                    <a:rPr lang="es-AR" sz="1400" i="1"/>
                                  </m:ctrlPr>
                                </m:sSubSupPr>
                                <m:e>
                                  <m:r>
                                    <a:rPr lang="es-AR" sz="1400" i="1"/>
                                    <m:t>𝑣</m:t>
                                  </m:r>
                                </m:e>
                                <m:sub>
                                  <m:r>
                                    <a:rPr lang="es-AR" sz="1400" i="1"/>
                                    <m:t>𝑞𝑠</m:t>
                                  </m:r>
                                </m:sub>
                                <m:sup>
                                  <m:r>
                                    <a:rPr lang="es-AR" sz="1400" i="1"/>
                                    <m:t>𝑟</m:t>
                                  </m:r>
                                </m:sup>
                              </m:sSubSup>
                              <m:d>
                                <m:dPr>
                                  <m:ctrlPr>
                                    <a:rPr lang="es-AR" sz="1400" i="1"/>
                                  </m:ctrlPr>
                                </m:dPr>
                                <m:e>
                                  <m:r>
                                    <a:rPr lang="es-AR" sz="1400" i="1"/>
                                    <m:t>𝑡</m:t>
                                  </m:r>
                                </m:e>
                              </m:d>
                            </m:e>
                            <m:e>
                              <m:m>
                                <m:mPr>
                                  <m:mcs>
                                    <m:mc>
                                      <m:mcPr>
                                        <m:count m:val="1"/>
                                        <m:mcJc m:val="center"/>
                                      </m:mcPr>
                                    </m:mc>
                                  </m:mcs>
                                  <m:ctrlPr>
                                    <a:rPr lang="es-AR" sz="1400" i="1"/>
                                  </m:ctrlPr>
                                </m:mPr>
                                <m:mr>
                                  <m:e>
                                    <m:r>
                                      <m:rPr>
                                        <m:sty m:val="p"/>
                                      </m:rPr>
                                      <a:rPr lang="es-AR" sz="1400"/>
                                      <m:t>Δ</m:t>
                                    </m:r>
                                    <m:sSubSup>
                                      <m:sSubSupPr>
                                        <m:ctrlPr>
                                          <a:rPr lang="es-AR" sz="1400" i="1"/>
                                        </m:ctrlPr>
                                      </m:sSubSupPr>
                                      <m:e>
                                        <m:r>
                                          <a:rPr lang="es-AR" sz="1400" i="1"/>
                                          <m:t>𝑣</m:t>
                                        </m:r>
                                      </m:e>
                                      <m:sub>
                                        <m:r>
                                          <a:rPr lang="es-AR" sz="1400" i="1"/>
                                          <m:t>𝑑𝑠</m:t>
                                        </m:r>
                                      </m:sub>
                                      <m:sup>
                                        <m:r>
                                          <a:rPr lang="es-AR" sz="1400" i="1"/>
                                          <m:t>𝑟</m:t>
                                        </m:r>
                                      </m:sup>
                                    </m:sSubSup>
                                    <m:d>
                                      <m:dPr>
                                        <m:ctrlPr>
                                          <a:rPr lang="es-AR" sz="1400" i="1"/>
                                        </m:ctrlPr>
                                      </m:dPr>
                                      <m:e>
                                        <m:r>
                                          <a:rPr lang="es-AR" sz="1400" i="1"/>
                                          <m:t>𝑡</m:t>
                                        </m:r>
                                      </m:e>
                                    </m:d>
                                  </m:e>
                                </m:mr>
                                <m:mr>
                                  <m:e>
                                    <m:r>
                                      <m:rPr>
                                        <m:sty m:val="p"/>
                                      </m:rPr>
                                      <a:rPr lang="es-AR" sz="1400"/>
                                      <m:t>Δ</m:t>
                                    </m:r>
                                    <m:sSub>
                                      <m:sSubPr>
                                        <m:ctrlPr>
                                          <a:rPr lang="es-AR" sz="1400" i="1"/>
                                        </m:ctrlPr>
                                      </m:sSubPr>
                                      <m:e>
                                        <m:r>
                                          <a:rPr lang="es-AR" sz="1400" i="1"/>
                                          <m:t>𝑣</m:t>
                                        </m:r>
                                      </m:e>
                                      <m:sub>
                                        <m:r>
                                          <a:rPr lang="es-AR" sz="1400"/>
                                          <m:t>0</m:t>
                                        </m:r>
                                        <m:r>
                                          <a:rPr lang="es-AR" sz="1400" i="1"/>
                                          <m:t>𝑠</m:t>
                                        </m:r>
                                      </m:sub>
                                    </m:sSub>
                                    <m:d>
                                      <m:dPr>
                                        <m:ctrlPr>
                                          <a:rPr lang="es-AR" sz="1400" i="1"/>
                                        </m:ctrlPr>
                                      </m:dPr>
                                      <m:e>
                                        <m:r>
                                          <a:rPr lang="es-AR" sz="1400" i="1"/>
                                          <m:t>𝑡</m:t>
                                        </m:r>
                                      </m:e>
                                    </m:d>
                                  </m:e>
                                </m:mr>
                                <m:mr>
                                  <m:e>
                                    <m:r>
                                      <m:rPr>
                                        <m:sty m:val="p"/>
                                      </m:rPr>
                                      <a:rPr lang="es-AR" sz="1400"/>
                                      <m:t>Δ</m:t>
                                    </m:r>
                                    <m:sSubSup>
                                      <m:sSubSupPr>
                                        <m:ctrlPr>
                                          <a:rPr lang="es-AR" sz="1400" i="1"/>
                                        </m:ctrlPr>
                                      </m:sSubSupPr>
                                      <m:e>
                                        <m:r>
                                          <a:rPr lang="es-AR" sz="1400" i="1"/>
                                          <m:t>𝑇</m:t>
                                        </m:r>
                                      </m:e>
                                      <m:sub>
                                        <m:r>
                                          <a:rPr lang="es-AR" sz="1400" i="1"/>
                                          <m:t>𝑎𝑚𝑏</m:t>
                                        </m:r>
                                      </m:sub>
                                      <m:sup>
                                        <m:r>
                                          <a:rPr lang="es-AR" sz="1400"/>
                                          <m:t>∘</m:t>
                                        </m:r>
                                      </m:sup>
                                    </m:sSubSup>
                                    <m:d>
                                      <m:dPr>
                                        <m:ctrlPr>
                                          <a:rPr lang="es-AR" sz="1400" i="1"/>
                                        </m:ctrlPr>
                                      </m:dPr>
                                      <m:e>
                                        <m:r>
                                          <a:rPr lang="es-AR" sz="1400" i="1"/>
                                          <m:t>𝑡</m:t>
                                        </m:r>
                                      </m:e>
                                    </m:d>
                                  </m:e>
                                </m:mr>
                              </m:m>
                            </m:e>
                          </m:eqArr>
                        </m:e>
                      </m:d>
                    </m:oMath>
                  </m:oMathPara>
                </a14:m>
                <a:endParaRPr lang="en-US" sz="1100" dirty="0"/>
              </a:p>
            </p:txBody>
          </p:sp>
        </mc:Choice>
        <mc:Fallback>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975678"/>
                <a:ext cx="8961120" cy="530352"/>
              </a:xfrm>
              <a:prstGeom prst="rect">
                <a:avLst/>
              </a:prstGeom>
              <a:blipFill>
                <a:blip r:embed="rId4"/>
                <a:stretch>
                  <a:fillRect t="-73563" b="-80460"/>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97D5BEB0-0EEC-4E07-8711-A04C9C73D21E}"/>
                  </a:ext>
                </a:extLst>
              </p:cNvPr>
              <p:cNvSpPr txBox="1"/>
              <p:nvPr/>
            </p:nvSpPr>
            <p:spPr>
              <a:xfrm>
                <a:off x="274319" y="3864998"/>
                <a:ext cx="11397563" cy="542328"/>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Considerando la dependencia térmica de la resistencia de estator </a:t>
                </a:r>
                <a14:m>
                  <m:oMath xmlns:m="http://schemas.openxmlformats.org/officeDocument/2006/math">
                    <m:sSub>
                      <m:sSubPr>
                        <m:ctrlPr>
                          <a:rPr lang="es-AR" sz="13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3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3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3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3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3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300" i="1">
                                <a:effectLst/>
                                <a:latin typeface="Cambria Math" panose="02040503050406030204" pitchFamily="18" charset="0"/>
                                <a:ea typeface="Times New Roman" panose="02020603050405020304" pitchFamily="18" charset="0"/>
                                <a:cs typeface="Calibri" panose="020F0502020204030204" pitchFamily="34" charset="0"/>
                              </a:rPr>
                              <m:t>𝑠</m:t>
                            </m:r>
                            <m:r>
                              <a:rPr lang="es-AR" sz="1300" i="1">
                                <a:effectLst/>
                                <a:latin typeface="Cambria Math" panose="02040503050406030204" pitchFamily="18" charset="0"/>
                                <a:ea typeface="Times New Roman" panose="02020603050405020304" pitchFamily="18" charset="0"/>
                                <a:cs typeface="Calibri" panose="020F0502020204030204" pitchFamily="34" charset="0"/>
                              </a:rPr>
                              <m:t>,</m:t>
                            </m:r>
                            <m:r>
                              <a:rPr lang="es-AR" sz="1300" i="1">
                                <a:effectLst/>
                                <a:latin typeface="Cambria Math" panose="02040503050406030204" pitchFamily="18" charset="0"/>
                                <a:ea typeface="Times New Roman" panose="02020603050405020304" pitchFamily="18" charset="0"/>
                                <a:cs typeface="Calibri" panose="020F0502020204030204" pitchFamily="34" charset="0"/>
                              </a:rPr>
                              <m:t>𝑜𝑝</m:t>
                            </m:r>
                          </m:sub>
                          <m:sup>
                            <m:r>
                              <a:rPr lang="es-AR" sz="1300" i="1">
                                <a:effectLst/>
                                <a:latin typeface="Cambria Math" panose="02040503050406030204" pitchFamily="18" charset="0"/>
                                <a:ea typeface="Times New Roman" panose="02020603050405020304" pitchFamily="18" charset="0"/>
                                <a:cs typeface="Calibri" panose="020F0502020204030204" pitchFamily="34" charset="0"/>
                              </a:rPr>
                              <m:t>𝑜</m:t>
                            </m:r>
                          </m:sup>
                        </m:sSubSup>
                      </m:e>
                    </m:d>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 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19" y="3864998"/>
                <a:ext cx="11397563" cy="542328"/>
              </a:xfrm>
              <a:prstGeom prst="rect">
                <a:avLst/>
              </a:prstGeom>
              <a:blipFill>
                <a:blip r:embed="rId5"/>
                <a:stretch>
                  <a:fillRect l="-53" r="-53" b="-8989"/>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15 / 67</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mc:Choice xmlns:a14="http://schemas.microsoft.com/office/drawing/2010/main"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3"/>
                <a:stretch>
                  <a:fillRect l="-55"/>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4"/>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sp>
        <p:nvSpPr>
          <p:cNvPr id="13" name="Text 11"/>
          <p:cNvSpPr/>
          <p:nvPr/>
        </p:nvSpPr>
        <p:spPr>
          <a:xfrm>
            <a:off x="502920" y="326440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Se desprecia la variación de Rs con Ts dentro del modelo eléctrico. El subsistema térmico se modela como independiente (sin realimentación hacia las ecuaciones eléctricas).</a:t>
            </a:r>
            <a:endParaRPr lang="en-US" sz="1200" dirty="0"/>
          </a:p>
        </p:txBody>
      </p:sp>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mc:Choice xmlns:a14="http://schemas.microsoft.com/office/drawing/2010/main"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6" name="Text 14"/>
              <p:cNvSpPr/>
              <p:nvPr/>
            </p:nvSpPr>
            <p:spPr>
              <a:xfrm>
                <a:off x="50292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transformada de Park: </a:t>
                </a:r>
                <a14:m>
                  <m:oMath xmlns:m="http://schemas.openxmlformats.org/officeDocument/2006/math">
                    <m:sSub>
                      <m:sSubPr>
                        <m:ctrlPr>
                          <a:rPr lang="es-AR" sz="1200" i="1"/>
                        </m:ctrlPr>
                      </m:sSubPr>
                      <m:e>
                        <m:r>
                          <a:rPr lang="es-AR" sz="1200" i="1"/>
                          <m:t>𝑖</m:t>
                        </m:r>
                      </m:e>
                      <m:sub>
                        <m:r>
                          <a:rPr lang="es-AR" sz="1200" i="1"/>
                          <m:t>0</m:t>
                        </m:r>
                        <m:r>
                          <a:rPr lang="es-AR" sz="1200" i="1"/>
                          <m:t>𝑠</m:t>
                        </m:r>
                      </m:sub>
                    </m:sSub>
                    <m:d>
                      <m:dPr>
                        <m:ctrlPr>
                          <a:rPr lang="es-AR" sz="1200" i="1"/>
                        </m:ctrlPr>
                      </m:dPr>
                      <m:e>
                        <m:r>
                          <a:rPr lang="es-AR" sz="1200" i="1"/>
                          <m:t>𝑡</m:t>
                        </m:r>
                      </m:e>
                    </m:d>
                    <m:r>
                      <a:rPr lang="es-AR" sz="1200" i="1"/>
                      <m:t>=</m:t>
                    </m:r>
                    <m:f>
                      <m:fPr>
                        <m:ctrlPr>
                          <a:rPr lang="es-AR" sz="1200" i="1"/>
                        </m:ctrlPr>
                      </m:fPr>
                      <m:num>
                        <m:r>
                          <a:rPr lang="es-AR" sz="1200" i="1"/>
                          <m:t>1</m:t>
                        </m:r>
                      </m:num>
                      <m:den>
                        <m:r>
                          <a:rPr lang="es-AR" sz="1200" i="1"/>
                          <m:t>3</m:t>
                        </m:r>
                      </m:den>
                    </m:f>
                    <m:d>
                      <m:dPr>
                        <m:ctrlPr>
                          <a:rPr lang="es-AR" sz="1200" i="1"/>
                        </m:ctrlPr>
                      </m:dPr>
                      <m:e>
                        <m:sSub>
                          <m:sSubPr>
                            <m:ctrlPr>
                              <a:rPr lang="es-AR" sz="1200" i="1"/>
                            </m:ctrlPr>
                          </m:sSubPr>
                          <m:e>
                            <m:r>
                              <a:rPr lang="es-AR" sz="1200" i="1"/>
                              <m:t>𝑖</m:t>
                            </m:r>
                          </m:e>
                          <m:sub>
                            <m:r>
                              <a:rPr lang="es-AR" sz="1200" i="1"/>
                              <m:t>𝑎𝑠</m:t>
                            </m:r>
                          </m:sub>
                        </m:sSub>
                        <m:d>
                          <m:dPr>
                            <m:ctrlPr>
                              <a:rPr lang="es-AR" sz="1200" i="1"/>
                            </m:ctrlPr>
                          </m:dPr>
                          <m:e>
                            <m:r>
                              <a:rPr lang="es-AR" sz="1200" i="1"/>
                              <m:t>𝑡</m:t>
                            </m:r>
                          </m:e>
                        </m:d>
                        <m:r>
                          <a:rPr lang="es-AR" sz="1200" i="1"/>
                          <m:t>+</m:t>
                        </m:r>
                        <m:sSub>
                          <m:sSubPr>
                            <m:ctrlPr>
                              <a:rPr lang="es-AR" sz="1200" i="1"/>
                            </m:ctrlPr>
                          </m:sSubPr>
                          <m:e>
                            <m:r>
                              <a:rPr lang="es-AR" sz="1200" i="1"/>
                              <m:t>𝑖</m:t>
                            </m:r>
                          </m:e>
                          <m:sub>
                            <m:r>
                              <a:rPr lang="es-AR" sz="1200" i="1"/>
                              <m:t>𝑏𝑠</m:t>
                            </m:r>
                          </m:sub>
                        </m:sSub>
                        <m:d>
                          <m:dPr>
                            <m:ctrlPr>
                              <a:rPr lang="es-AR" sz="1200" i="1"/>
                            </m:ctrlPr>
                          </m:dPr>
                          <m:e>
                            <m:r>
                              <a:rPr lang="es-AR" sz="1200" i="1"/>
                              <m:t>𝑡</m:t>
                            </m:r>
                          </m:e>
                        </m:d>
                        <m:r>
                          <a:rPr lang="es-AR" sz="1200" i="1"/>
                          <m:t>+</m:t>
                        </m:r>
                        <m:sSub>
                          <m:sSubPr>
                            <m:ctrlPr>
                              <a:rPr lang="es-AR" sz="1200" i="1"/>
                            </m:ctrlPr>
                          </m:sSubPr>
                          <m:e>
                            <m:r>
                              <a:rPr lang="es-AR" sz="1200" i="1"/>
                              <m:t>𝑖</m:t>
                            </m:r>
                          </m:e>
                          <m:sub>
                            <m:r>
                              <a:rPr lang="es-AR" sz="1200" i="1"/>
                              <m:t>𝑐𝑠</m:t>
                            </m:r>
                          </m:sub>
                        </m:sSub>
                        <m:d>
                          <m:dPr>
                            <m:ctrlPr>
                              <a:rPr lang="es-AR" sz="1200" i="1"/>
                            </m:ctrlPr>
                          </m:dPr>
                          <m:e>
                            <m:r>
                              <a:rPr lang="es-AR" sz="1200" i="1"/>
                              <m:t>𝑡</m:t>
                            </m:r>
                          </m:e>
                        </m:d>
                      </m:e>
                    </m:d>
                    <m:r>
                      <a:rPr lang="es-AR" sz="1200" i="1"/>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m:ctrlPr>
                      </m:sSubPr>
                      <m:e>
                        <m:r>
                          <a:rPr lang="es-AR" sz="1200" i="1"/>
                          <m:t>𝑖</m:t>
                        </m:r>
                      </m:e>
                      <m:sub>
                        <m:r>
                          <a:rPr lang="es-AR" sz="1200" i="1"/>
                          <m:t>0</m:t>
                        </m:r>
                        <m:r>
                          <a:rPr lang="es-AR" sz="1200" i="1"/>
                          <m:t>𝑠</m:t>
                        </m:r>
                      </m:sub>
                    </m:sSub>
                    <m:d>
                      <m:dPr>
                        <m:ctrlPr>
                          <a:rPr lang="es-AR" sz="1200" i="1"/>
                        </m:ctrlPr>
                      </m:dPr>
                      <m:e>
                        <m:r>
                          <a:rPr lang="es-AR" sz="1200" i="1"/>
                          <m:t>𝑡</m:t>
                        </m:r>
                      </m:e>
                    </m:d>
                    <m:r>
                      <a:rPr lang="es-AR" sz="1200" i="1"/>
                      <m:t>≡0 ∴    </m:t>
                    </m:r>
                    <m:f>
                      <m:fPr>
                        <m:ctrlPr>
                          <a:rPr lang="es-AR" sz="1200" i="1"/>
                        </m:ctrlPr>
                      </m:fPr>
                      <m:num>
                        <m:r>
                          <a:rPr lang="es-AR" sz="1200" i="1"/>
                          <m:t>𝑑</m:t>
                        </m:r>
                        <m:sSub>
                          <m:sSubPr>
                            <m:ctrlPr>
                              <a:rPr lang="es-AR" sz="1200" i="1"/>
                            </m:ctrlPr>
                          </m:sSubPr>
                          <m:e>
                            <m:r>
                              <a:rPr lang="es-AR" sz="1200" i="1"/>
                              <m:t>𝑖</m:t>
                            </m:r>
                          </m:e>
                          <m:sub>
                            <m:r>
                              <a:rPr lang="es-AR" sz="1200" i="1"/>
                              <m:t>0</m:t>
                            </m:r>
                            <m:r>
                              <a:rPr lang="es-AR" sz="1200" i="1"/>
                              <m:t>𝑠</m:t>
                            </m:r>
                          </m:sub>
                        </m:sSub>
                        <m:d>
                          <m:dPr>
                            <m:ctrlPr>
                              <a:rPr lang="es-AR" sz="1200" i="1"/>
                            </m:ctrlPr>
                          </m:dPr>
                          <m:e>
                            <m:r>
                              <a:rPr lang="es-AR" sz="1200" i="1"/>
                              <m:t>𝑡</m:t>
                            </m:r>
                          </m:e>
                        </m:d>
                      </m:num>
                      <m:den>
                        <m:r>
                          <a:rPr lang="es-AR" sz="1200" i="1"/>
                          <m:t>𝑑𝑡</m:t>
                        </m:r>
                      </m:den>
                    </m:f>
                    <m:r>
                      <a:rPr lang="es-AR" sz="1200" i="1"/>
                      <m:t>≡0,   </m:t>
                    </m:r>
                    <m:sSub>
                      <m:sSubPr>
                        <m:ctrlPr>
                          <a:rPr lang="es-AR" sz="1200" i="1"/>
                        </m:ctrlPr>
                      </m:sSubPr>
                      <m:e>
                        <m:r>
                          <a:rPr lang="es-AR" sz="1200" i="1"/>
                          <m:t>𝑣</m:t>
                        </m:r>
                      </m:e>
                      <m:sub>
                        <m:r>
                          <a:rPr lang="es-AR" sz="1200" i="1"/>
                          <m:t>0</m:t>
                        </m:r>
                        <m:r>
                          <a:rPr lang="es-AR" sz="1200" i="1"/>
                          <m:t>𝑠</m:t>
                        </m:r>
                      </m:sub>
                    </m:sSub>
                    <m:d>
                      <m:dPr>
                        <m:ctrlPr>
                          <a:rPr lang="es-AR" sz="1200" i="1"/>
                        </m:ctrlPr>
                      </m:dPr>
                      <m:e>
                        <m:r>
                          <a:rPr lang="es-AR" sz="1200" i="1"/>
                          <m:t>𝑡</m:t>
                        </m:r>
                      </m:e>
                    </m:d>
                    <m:r>
                      <a:rPr lang="es-AR" sz="1200" i="1"/>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p:sp>
            <p:nvSpPr>
              <p:cNvPr id="16" name="Text 14"/>
              <p:cNvSpPr>
                <a:spLocks noRot="1" noChangeAspect="1" noMove="1" noResize="1" noEditPoints="1" noAdjustHandles="1" noChangeArrowheads="1" noChangeShapeType="1" noTextEdit="1"/>
              </p:cNvSpPr>
              <p:nvPr/>
            </p:nvSpPr>
            <p:spPr>
              <a:xfrm>
                <a:off x="502920" y="4773168"/>
                <a:ext cx="11155680" cy="1005840"/>
              </a:xfrm>
              <a:prstGeom prst="rect">
                <a:avLst/>
              </a:prstGeom>
              <a:blipFill>
                <a:blip r:embed="rId6"/>
                <a:stretch>
                  <a:fillRect l="-55"/>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547872"/>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𝑎𝑚𝑏</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dirty="0">
                  <a:solidFill>
                    <a:schemeClr val="tx1"/>
                  </a:solidFill>
                </a:endParaRPr>
              </a:p>
            </p:txBody>
          </p:sp>
        </mc:Choice>
        <mc:Fallback>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547872"/>
                <a:ext cx="6098796" cy="571760"/>
              </a:xfrm>
              <a:prstGeom prst="rect">
                <a:avLst/>
              </a:prstGeom>
              <a:blipFill>
                <a:blip r:embed="rId7"/>
                <a:stretch>
                  <a:fillRect/>
                </a:stretch>
              </a:blipFill>
            </p:spPr>
            <p:txBody>
              <a:bodyPr/>
              <a:lstStyle/>
              <a:p>
                <a:r>
                  <a:rPr lang="es-AR">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15 / 67</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mc:Choice xmlns:a14="http://schemas.microsoft.com/office/drawing/2010/main" Requires="a14">
          <p:sp>
            <p:nvSpPr>
              <p:cNvPr id="16" name="Text 14"/>
              <p:cNvSpPr/>
              <p:nvPr/>
            </p:nvSpPr>
            <p:spPr>
              <a:xfrm>
                <a:off x="274320" y="834453"/>
                <a:ext cx="11155680"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m:ctrlPr>
                      </m:sSubSupPr>
                      <m:e>
                        <m:r>
                          <a:rPr lang="es-AR" sz="1400" i="1"/>
                          <m:t>𝑖</m:t>
                        </m:r>
                      </m:e>
                      <m:sub>
                        <m:r>
                          <a:rPr lang="es-AR" sz="1400" i="1"/>
                          <m:t>𝑑𝑠</m:t>
                        </m:r>
                      </m:sub>
                      <m:sup>
                        <m:r>
                          <a:rPr lang="es-AR" sz="1400" i="1"/>
                          <m:t>𝑟</m:t>
                        </m:r>
                      </m:sup>
                    </m:sSubSup>
                    <m:d>
                      <m:dPr>
                        <m:ctrlPr>
                          <a:rPr lang="es-AR" sz="1400" i="1"/>
                        </m:ctrlPr>
                      </m:dPr>
                      <m:e>
                        <m:r>
                          <a:rPr lang="es-AR" sz="1400" i="1"/>
                          <m:t>𝑡</m:t>
                        </m:r>
                      </m:e>
                    </m:d>
                    <m:r>
                      <a:rPr lang="es-AR" sz="1400"/>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p:sp>
            <p:nvSpPr>
              <p:cNvPr id="16" name="Text 14"/>
              <p:cNvSpPr>
                <a:spLocks noRot="1" noChangeAspect="1" noMove="1" noResize="1" noEditPoints="1" noAdjustHandles="1" noChangeArrowheads="1" noChangeShapeType="1" noTextEdit="1"/>
              </p:cNvSpPr>
              <p:nvPr/>
            </p:nvSpPr>
            <p:spPr>
              <a:xfrm>
                <a:off x="274320" y="834453"/>
                <a:ext cx="11155680" cy="1005840"/>
              </a:xfrm>
              <a:prstGeom prst="rect">
                <a:avLst/>
              </a:prstGeom>
              <a:blipFill>
                <a:blip r:embed="rId3"/>
                <a:stretch>
                  <a:fillRect l="-164" t="-1212"/>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56531" y="1929467"/>
            <a:ext cx="11073469" cy="1770077"/>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0" name="Text 14">
                <a:extLst>
                  <a:ext uri="{FF2B5EF4-FFF2-40B4-BE49-F238E27FC236}">
                    <a16:creationId xmlns:a16="http://schemas.microsoft.com/office/drawing/2014/main" id="{6681E64D-8DA0-46E4-A62C-0B74117F54E5}"/>
                  </a:ext>
                </a:extLst>
              </p:cNvPr>
              <p:cNvSpPr/>
              <p:nvPr/>
            </p:nvSpPr>
            <p:spPr>
              <a:xfrm>
                <a:off x="379325" y="2408648"/>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m:ctrlPr>
                        </m:dPr>
                        <m:e>
                          <m:eqArr>
                            <m:eqArrPr>
                              <m:ctrlPr>
                                <a:rPr lang="es-AR" sz="1600" i="1"/>
                              </m:ctrlPr>
                            </m:eqArrPr>
                            <m:e>
                              <m:sSub>
                                <m:sSubPr>
                                  <m:ctrlPr>
                                    <a:rPr lang="es-AR" sz="1600" i="1"/>
                                  </m:ctrlPr>
                                </m:sSubPr>
                                <m:e>
                                  <m:acc>
                                    <m:accPr>
                                      <m:chr m:val="̇"/>
                                      <m:ctrlPr>
                                        <a:rPr lang="es-AR" sz="1600" i="1"/>
                                      </m:ctrlPr>
                                    </m:accPr>
                                    <m:e>
                                      <m:r>
                                        <a:rPr lang="es-AR" sz="1600" i="1"/>
                                        <m:t>𝜃</m:t>
                                      </m:r>
                                    </m:e>
                                  </m:acc>
                                </m:e>
                                <m:sub>
                                  <m:r>
                                    <a:rPr lang="es-AR" sz="1600" i="1"/>
                                    <m:t>𝑚</m:t>
                                  </m:r>
                                </m:sub>
                              </m:sSub>
                              <m:d>
                                <m:dPr>
                                  <m:ctrlPr>
                                    <a:rPr lang="es-AR" sz="1600" i="1"/>
                                  </m:ctrlPr>
                                </m:dPr>
                                <m:e>
                                  <m:r>
                                    <a:rPr lang="es-AR" sz="1600" i="1"/>
                                    <m:t>𝑡</m:t>
                                  </m:r>
                                </m:e>
                              </m:d>
                              <m:r>
                                <a:rPr lang="es-AR" sz="1600" i="1"/>
                                <m:t>=</m:t>
                              </m:r>
                              <m:sSub>
                                <m:sSubPr>
                                  <m:ctrlPr>
                                    <a:rPr lang="es-AR" sz="1600" i="1"/>
                                  </m:ctrlPr>
                                </m:sSubPr>
                                <m:e>
                                  <m:r>
                                    <a:rPr lang="es-AR" sz="1600" i="1"/>
                                    <m:t>𝜔</m:t>
                                  </m:r>
                                </m:e>
                                <m:sub>
                                  <m:r>
                                    <a:rPr lang="es-AR" sz="1600" i="1"/>
                                    <m:t>𝑚</m:t>
                                  </m:r>
                                </m:sub>
                              </m:sSub>
                              <m:d>
                                <m:dPr>
                                  <m:ctrlPr>
                                    <a:rPr lang="es-AR" sz="1600" i="1"/>
                                  </m:ctrlPr>
                                </m:dPr>
                                <m:e>
                                  <m:r>
                                    <a:rPr lang="es-AR" sz="1600" i="1"/>
                                    <m:t>𝑡</m:t>
                                  </m:r>
                                </m:e>
                              </m:d>
                              <m:r>
                                <a:rPr lang="es-AR" sz="1600" i="1"/>
                                <m:t>                                                                </m:t>
                              </m:r>
                            </m:e>
                            <m:e>
                              <m:sSub>
                                <m:sSubPr>
                                  <m:ctrlPr>
                                    <a:rPr lang="es-AR" sz="1600" i="1"/>
                                  </m:ctrlPr>
                                </m:sSubPr>
                                <m:e>
                                  <m:acc>
                                    <m:accPr>
                                      <m:chr m:val="̇"/>
                                      <m:ctrlPr>
                                        <a:rPr lang="es-AR" sz="1600" i="1"/>
                                      </m:ctrlPr>
                                    </m:accPr>
                                    <m:e>
                                      <m:r>
                                        <a:rPr lang="es-AR" sz="1600" i="1"/>
                                        <m:t>𝜔</m:t>
                                      </m:r>
                                    </m:e>
                                  </m:acc>
                                </m:e>
                                <m:sub>
                                  <m:r>
                                    <a:rPr lang="es-AR" sz="1600" i="1"/>
                                    <m:t>𝑚</m:t>
                                  </m:r>
                                </m:sub>
                              </m:sSub>
                              <m:d>
                                <m:dPr>
                                  <m:ctrlPr>
                                    <a:rPr lang="es-AR" sz="1600" i="1"/>
                                  </m:ctrlPr>
                                </m:dPr>
                                <m:e>
                                  <m:r>
                                    <a:rPr lang="es-AR" sz="1600" i="1"/>
                                    <m:t>𝑡</m:t>
                                  </m:r>
                                </m:e>
                              </m:d>
                              <m:r>
                                <a:rPr lang="es-AR" sz="1600" i="1"/>
                                <m:t>=</m:t>
                              </m:r>
                              <m:f>
                                <m:fPr>
                                  <m:ctrlPr>
                                    <a:rPr lang="es-AR" sz="1600" i="1"/>
                                  </m:ctrlPr>
                                </m:fPr>
                                <m:num>
                                  <m:r>
                                    <a:rPr lang="es-AR" sz="1600" i="1"/>
                                    <m:t>1</m:t>
                                  </m:r>
                                </m:num>
                                <m:den>
                                  <m:sSub>
                                    <m:sSubPr>
                                      <m:ctrlPr>
                                        <a:rPr lang="es-AR" sz="1600" i="1"/>
                                      </m:ctrlPr>
                                    </m:sSubPr>
                                    <m:e>
                                      <m:r>
                                        <a:rPr lang="es-AR" sz="1600" i="1"/>
                                        <m:t>𝐽</m:t>
                                      </m:r>
                                    </m:e>
                                    <m:sub>
                                      <m:r>
                                        <a:rPr lang="es-AR" sz="1600" i="1"/>
                                        <m:t>𝑒𝑞</m:t>
                                      </m:r>
                                    </m:sub>
                                  </m:sSub>
                                </m:den>
                              </m:f>
                              <m:d>
                                <m:dPr>
                                  <m:begChr m:val="["/>
                                  <m:endChr m:val="]"/>
                                  <m:ctrlPr>
                                    <a:rPr lang="es-AR" sz="1600" i="1"/>
                                  </m:ctrlPr>
                                </m:dPr>
                                <m:e>
                                  <m:f>
                                    <m:fPr>
                                      <m:ctrlPr>
                                        <a:rPr lang="es-AR" sz="1600" i="1"/>
                                      </m:ctrlPr>
                                    </m:fPr>
                                    <m:num>
                                      <m:r>
                                        <a:rPr lang="es-AR" sz="1600" i="1"/>
                                        <m:t>3</m:t>
                                      </m:r>
                                    </m:num>
                                    <m:den>
                                      <m:r>
                                        <a:rPr lang="es-AR" sz="1600" i="1"/>
                                        <m:t>2</m:t>
                                      </m:r>
                                    </m:den>
                                  </m:f>
                                  <m:sSub>
                                    <m:sSubPr>
                                      <m:ctrlPr>
                                        <a:rPr lang="es-AR" sz="1600" i="1"/>
                                      </m:ctrlPr>
                                    </m:sSubPr>
                                    <m:e>
                                      <m:r>
                                        <a:rPr lang="es-AR" sz="1600" i="1"/>
                                        <m:t>𝑃</m:t>
                                      </m:r>
                                    </m:e>
                                    <m:sub>
                                      <m:r>
                                        <a:rPr lang="es-AR" sz="1600" i="1"/>
                                        <m:t>𝑝</m:t>
                                      </m:r>
                                    </m:sub>
                                  </m:sSub>
                                  <m:sSubSup>
                                    <m:sSubSupPr>
                                      <m:ctrlPr>
                                        <a:rPr lang="es-AR" sz="1600" i="1"/>
                                      </m:ctrlPr>
                                    </m:sSubSupPr>
                                    <m:e>
                                      <m:r>
                                        <a:rPr lang="es-AR" sz="1600" i="1"/>
                                        <m:t>𝜆</m:t>
                                      </m:r>
                                    </m:e>
                                    <m:sub>
                                      <m:r>
                                        <a:rPr lang="es-AR" sz="1600" i="1"/>
                                        <m:t>𝑚</m:t>
                                      </m:r>
                                    </m:sub>
                                    <m:sup>
                                      <m:r>
                                        <a:rPr lang="es-AR" sz="1600" i="1"/>
                                        <m:t>ˊ</m:t>
                                      </m:r>
                                      <m:r>
                                        <a:rPr lang="es-AR" sz="1600" i="1"/>
                                        <m:t>𝑟</m:t>
                                      </m:r>
                                    </m:sup>
                                  </m:sSubSup>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𝑏</m:t>
                                      </m:r>
                                    </m:e>
                                    <m:sub>
                                      <m:r>
                                        <a:rPr lang="es-AR" sz="1600" i="1"/>
                                        <m:t>𝑒𝑞</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r>
                                    <a:rPr lang="es-AR" sz="1600" i="1"/>
                                    <m:t>−</m:t>
                                  </m:r>
                                  <m:f>
                                    <m:fPr>
                                      <m:ctrlPr>
                                        <a:rPr lang="es-AR" sz="1600" i="1"/>
                                      </m:ctrlPr>
                                    </m:fPr>
                                    <m:num>
                                      <m:r>
                                        <a:rPr lang="es-AR" sz="1600" i="1"/>
                                        <m:t>1</m:t>
                                      </m:r>
                                    </m:num>
                                    <m:den>
                                      <m:r>
                                        <a:rPr lang="es-AR" sz="1600" i="1"/>
                                        <m:t>𝑟</m:t>
                                      </m:r>
                                    </m:den>
                                  </m:f>
                                  <m:sSub>
                                    <m:sSubPr>
                                      <m:ctrlPr>
                                        <a:rPr lang="es-AR" sz="1600" i="1"/>
                                      </m:ctrlPr>
                                    </m:sSubPr>
                                    <m:e>
                                      <m:r>
                                        <a:rPr lang="es-AR" sz="1600" i="1"/>
                                        <m:t>𝑇</m:t>
                                      </m:r>
                                    </m:e>
                                    <m:sub>
                                      <m:r>
                                        <a:rPr lang="es-AR" sz="1600" i="1"/>
                                        <m:t>𝑙</m:t>
                                      </m:r>
                                    </m:sub>
                                  </m:sSub>
                                  <m:d>
                                    <m:dPr>
                                      <m:ctrlPr>
                                        <a:rPr lang="es-AR" sz="1600" i="1"/>
                                      </m:ctrlPr>
                                    </m:dPr>
                                    <m:e>
                                      <m:r>
                                        <a:rPr lang="es-AR" sz="1600" i="1"/>
                                        <m:t>𝑡</m:t>
                                      </m:r>
                                    </m:e>
                                  </m:d>
                                </m:e>
                              </m:d>
                            </m:e>
                            <m:e>
                              <m:f>
                                <m:fPr>
                                  <m:ctrlPr>
                                    <a:rPr lang="es-AR" sz="1600" i="1"/>
                                  </m:ctrlPr>
                                </m:fPr>
                                <m:num>
                                  <m:r>
                                    <a:rPr lang="es-AR" sz="1600" i="1"/>
                                    <m:t>𝑑</m:t>
                                  </m:r>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num>
                                <m:den>
                                  <m:r>
                                    <a:rPr lang="es-AR" sz="1600" i="1"/>
                                    <m:t>𝑑𝑡</m:t>
                                  </m:r>
                                </m:den>
                              </m:f>
                              <m:r>
                                <a:rPr lang="es-AR" sz="1600" i="1"/>
                                <m:t>=</m:t>
                              </m:r>
                              <m:f>
                                <m:fPr>
                                  <m:ctrlPr>
                                    <a:rPr lang="es-AR" sz="1600" i="1"/>
                                  </m:ctrlPr>
                                </m:fPr>
                                <m:num>
                                  <m:r>
                                    <a:rPr lang="es-AR" sz="1600" i="1"/>
                                    <m:t>1</m:t>
                                  </m:r>
                                </m:num>
                                <m:den>
                                  <m:sSub>
                                    <m:sSubPr>
                                      <m:ctrlPr>
                                        <a:rPr lang="es-AR" sz="1600" i="1"/>
                                      </m:ctrlPr>
                                    </m:sSubPr>
                                    <m:e>
                                      <m:r>
                                        <a:rPr lang="es-AR" sz="1600" i="1"/>
                                        <m:t>𝐿</m:t>
                                      </m:r>
                                    </m:e>
                                    <m:sub>
                                      <m:r>
                                        <a:rPr lang="es-AR" sz="1600" i="1"/>
                                        <m:t>𝑞</m:t>
                                      </m:r>
                                    </m:sub>
                                  </m:sSub>
                                </m:den>
                              </m:f>
                              <m:d>
                                <m:dPr>
                                  <m:begChr m:val="["/>
                                  <m:endChr m:val="]"/>
                                  <m:ctrlPr>
                                    <a:rPr lang="es-AR" sz="1600" i="1"/>
                                  </m:ctrlPr>
                                </m:dPr>
                                <m:e>
                                  <m:sSubSup>
                                    <m:sSubSupPr>
                                      <m:ctrlPr>
                                        <a:rPr lang="es-AR" sz="1600" i="1"/>
                                      </m:ctrlPr>
                                    </m:sSubSupPr>
                                    <m:e>
                                      <m:r>
                                        <a:rPr lang="es-AR" sz="1600" i="1"/>
                                        <m:t>𝑣</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𝑅</m:t>
                                      </m:r>
                                    </m:e>
                                    <m:sub>
                                      <m:r>
                                        <a:rPr lang="es-AR" sz="1600" i="1"/>
                                        <m:t>𝑠</m:t>
                                      </m:r>
                                    </m:sub>
                                  </m:sSub>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sSubSup>
                                    <m:sSubSupPr>
                                      <m:ctrlPr>
                                        <a:rPr lang="es-AR" sz="1600" i="1"/>
                                      </m:ctrlPr>
                                    </m:sSubSupPr>
                                    <m:e>
                                      <m:r>
                                        <a:rPr lang="es-AR" sz="1600" i="1"/>
                                        <m:t>𝜆</m:t>
                                      </m:r>
                                    </m:e>
                                    <m:sub>
                                      <m:r>
                                        <a:rPr lang="es-AR" sz="1600" i="1"/>
                                        <m:t>𝑚</m:t>
                                      </m:r>
                                    </m:sub>
                                    <m:sup>
                                      <m:r>
                                        <a:rPr lang="es-AR" sz="1600" i="1"/>
                                        <m:t>ˊ</m:t>
                                      </m:r>
                                      <m:r>
                                        <a:rPr lang="es-AR" sz="1600" i="1"/>
                                        <m:t>𝑟</m:t>
                                      </m:r>
                                    </m:sup>
                                  </m:sSubSup>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e>
                              </m:d>
                              <m:r>
                                <a:rPr lang="es-AR" sz="1600" i="1"/>
                                <m:t>     </m:t>
                              </m:r>
                            </m:e>
                          </m:eqArr>
                        </m:e>
                      </m:d>
                    </m:oMath>
                  </m:oMathPara>
                </a14:m>
                <a:endParaRPr lang="en-US" sz="1100" dirty="0"/>
              </a:p>
            </p:txBody>
          </p:sp>
        </mc:Choice>
        <mc:Fallback>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79325" y="2408648"/>
                <a:ext cx="4544034" cy="530352"/>
              </a:xfrm>
              <a:prstGeom prst="rect">
                <a:avLst/>
              </a:prstGeom>
              <a:blipFill>
                <a:blip r:embed="rId4"/>
                <a:stretch>
                  <a:fillRect t="-66667" b="-105747"/>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1" name="Text 14">
                <a:extLst>
                  <a:ext uri="{FF2B5EF4-FFF2-40B4-BE49-F238E27FC236}">
                    <a16:creationId xmlns:a16="http://schemas.microsoft.com/office/drawing/2014/main" id="{FB8015F6-289C-42FB-ADFF-05DE85785676}"/>
                  </a:ext>
                </a:extLst>
              </p:cNvPr>
              <p:cNvSpPr/>
              <p:nvPr/>
            </p:nvSpPr>
            <p:spPr>
              <a:xfrm>
                <a:off x="5326450" y="2504345"/>
                <a:ext cx="582923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m:ctrlPr>
                        </m:dPr>
                        <m:e>
                          <m:m>
                            <m:mPr>
                              <m:mcs>
                                <m:mc>
                                  <m:mcPr>
                                    <m:count m:val="1"/>
                                    <m:mcJc m:val="center"/>
                                  </m:mcPr>
                                </m:mc>
                              </m:mcs>
                              <m:ctrlPr>
                                <a:rPr lang="es-AR" sz="1600" i="1"/>
                              </m:ctrlPr>
                            </m:mPr>
                            <m:mr>
                              <m:e>
                                <m:sSub>
                                  <m:sSubPr>
                                    <m:ctrlPr>
                                      <a:rPr lang="es-AR" sz="1600" i="1"/>
                                    </m:ctrlPr>
                                  </m:sSubPr>
                                  <m:e>
                                    <m:acc>
                                      <m:accPr>
                                        <m:chr m:val="̇"/>
                                        <m:ctrlPr>
                                          <a:rPr lang="es-AR" sz="1600" i="1"/>
                                        </m:ctrlPr>
                                      </m:accPr>
                                      <m:e>
                                        <m:r>
                                          <a:rPr lang="es-AR" sz="1600" i="1"/>
                                          <m:t>𝜃</m:t>
                                        </m:r>
                                      </m:e>
                                    </m:acc>
                                  </m:e>
                                  <m:sub>
                                    <m:r>
                                      <a:rPr lang="es-AR" sz="1600" i="1"/>
                                      <m:t>𝑚</m:t>
                                    </m:r>
                                  </m:sub>
                                </m:sSub>
                                <m:d>
                                  <m:dPr>
                                    <m:ctrlPr>
                                      <a:rPr lang="es-AR" sz="1600" i="1"/>
                                    </m:ctrlPr>
                                  </m:dPr>
                                  <m:e>
                                    <m:r>
                                      <a:rPr lang="es-AR" sz="1600" i="1"/>
                                      <m:t>𝑡</m:t>
                                    </m:r>
                                  </m:e>
                                </m:d>
                              </m:e>
                            </m:mr>
                            <m:mr>
                              <m:e>
                                <m:sSub>
                                  <m:sSubPr>
                                    <m:ctrlPr>
                                      <a:rPr lang="es-AR" sz="1600" i="1"/>
                                    </m:ctrlPr>
                                  </m:sSubPr>
                                  <m:e>
                                    <m:acc>
                                      <m:accPr>
                                        <m:chr m:val="̇"/>
                                        <m:ctrlPr>
                                          <a:rPr lang="es-AR" sz="1600" i="1"/>
                                        </m:ctrlPr>
                                      </m:accPr>
                                      <m:e>
                                        <m:r>
                                          <a:rPr lang="es-AR" sz="1600" i="1"/>
                                          <m:t>𝜔</m:t>
                                        </m:r>
                                      </m:e>
                                    </m:acc>
                                  </m:e>
                                  <m:sub>
                                    <m:r>
                                      <a:rPr lang="es-AR" sz="1600" i="1"/>
                                      <m:t>𝑚</m:t>
                                    </m:r>
                                  </m:sub>
                                </m:sSub>
                                <m:d>
                                  <m:dPr>
                                    <m:ctrlPr>
                                      <a:rPr lang="es-AR" sz="1600" i="1"/>
                                    </m:ctrlPr>
                                  </m:dPr>
                                  <m:e>
                                    <m:r>
                                      <a:rPr lang="es-AR" sz="1600" i="1"/>
                                      <m:t>𝑡</m:t>
                                    </m:r>
                                  </m:e>
                                </m:d>
                              </m:e>
                            </m:mr>
                            <m:mr>
                              <m:e>
                                <m:f>
                                  <m:fPr>
                                    <m:ctrlPr>
                                      <a:rPr lang="es-AR" sz="1600" i="1"/>
                                    </m:ctrlPr>
                                  </m:fPr>
                                  <m:num>
                                    <m:r>
                                      <a:rPr lang="es-AR" sz="1600" i="1"/>
                                      <m:t>𝑑</m:t>
                                    </m:r>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num>
                                  <m:den>
                                    <m:r>
                                      <a:rPr lang="es-AR" sz="1600" i="1"/>
                                      <m:t>𝑑𝑡</m:t>
                                    </m:r>
                                  </m:den>
                                </m:f>
                              </m:e>
                            </m:mr>
                          </m:m>
                        </m:e>
                      </m:d>
                      <m:r>
                        <a:rPr lang="es-AR" sz="1600" i="1"/>
                        <m:t>=</m:t>
                      </m:r>
                      <m:d>
                        <m:dPr>
                          <m:begChr m:val="["/>
                          <m:endChr m:val="]"/>
                          <m:ctrlPr>
                            <a:rPr lang="es-AR" sz="1600" i="1"/>
                          </m:ctrlPr>
                        </m:dPr>
                        <m:e>
                          <m:m>
                            <m:mPr>
                              <m:mcs>
                                <m:mc>
                                  <m:mcPr>
                                    <m:count m:val="3"/>
                                    <m:mcJc m:val="center"/>
                                  </m:mcPr>
                                </m:mc>
                              </m:mcs>
                              <m:ctrlPr>
                                <a:rPr lang="es-AR" sz="1600" i="1"/>
                              </m:ctrlPr>
                            </m:mPr>
                            <m:mr>
                              <m:e>
                                <m:r>
                                  <a:rPr lang="es-AR" sz="1600" i="1"/>
                                  <m:t>0</m:t>
                                </m:r>
                              </m:e>
                              <m:e>
                                <m:r>
                                  <a:rPr lang="es-AR" sz="1600" i="1"/>
                                  <m:t>1</m:t>
                                </m:r>
                              </m:e>
                              <m:e>
                                <m:r>
                                  <a:rPr lang="es-AR" sz="1600" i="1"/>
                                  <m:t>0</m:t>
                                </m:r>
                              </m:e>
                            </m:mr>
                            <m:mr>
                              <m:e>
                                <m:r>
                                  <a:rPr lang="es-AR" sz="1600" i="1"/>
                                  <m:t>0</m:t>
                                </m:r>
                              </m:e>
                              <m:e>
                                <m:r>
                                  <a:rPr lang="es-AR" sz="1600" i="1"/>
                                  <m:t>−</m:t>
                                </m:r>
                                <m:box>
                                  <m:boxPr>
                                    <m:ctrlPr>
                                      <a:rPr lang="es-AR" sz="1600" i="1"/>
                                    </m:ctrlPr>
                                  </m:boxPr>
                                  <m:e>
                                    <m:argPr>
                                      <m:argSz m:val="-1"/>
                                    </m:argPr>
                                    <m:f>
                                      <m:fPr>
                                        <m:ctrlPr>
                                          <a:rPr lang="es-AR" sz="1600" i="1"/>
                                        </m:ctrlPr>
                                      </m:fPr>
                                      <m:num>
                                        <m:sSub>
                                          <m:sSubPr>
                                            <m:ctrlPr>
                                              <a:rPr lang="es-AR" sz="1600" i="1"/>
                                            </m:ctrlPr>
                                          </m:sSubPr>
                                          <m:e>
                                            <m:r>
                                              <a:rPr lang="es-AR" sz="1600" i="1"/>
                                              <m:t>𝑏</m:t>
                                            </m:r>
                                          </m:e>
                                          <m:sub>
                                            <m:r>
                                              <a:rPr lang="es-AR" sz="1600" i="1"/>
                                              <m:t>𝑒𝑞</m:t>
                                            </m:r>
                                          </m:sub>
                                        </m:sSub>
                                      </m:num>
                                      <m:den>
                                        <m:sSub>
                                          <m:sSubPr>
                                            <m:ctrlPr>
                                              <a:rPr lang="es-AR" sz="1600" i="1"/>
                                            </m:ctrlPr>
                                          </m:sSubPr>
                                          <m:e>
                                            <m:r>
                                              <a:rPr lang="es-AR" sz="1600" i="1"/>
                                              <m:t>𝐽</m:t>
                                            </m:r>
                                          </m:e>
                                          <m:sub>
                                            <m:r>
                                              <a:rPr lang="es-AR" sz="1600" i="1"/>
                                              <m:t>𝑒𝑞</m:t>
                                            </m:r>
                                          </m:sub>
                                        </m:sSub>
                                      </m:den>
                                    </m:f>
                                  </m:e>
                                </m:box>
                              </m:e>
                              <m:e>
                                <m:box>
                                  <m:boxPr>
                                    <m:ctrlPr>
                                      <a:rPr lang="es-AR" sz="1600" i="1"/>
                                    </m:ctrlPr>
                                  </m:boxPr>
                                  <m:e>
                                    <m:argPr>
                                      <m:argSz m:val="-1"/>
                                    </m:argPr>
                                    <m:f>
                                      <m:fPr>
                                        <m:ctrlPr>
                                          <a:rPr lang="es-AR" sz="1600" i="1"/>
                                        </m:ctrlPr>
                                      </m:fPr>
                                      <m:num>
                                        <m:r>
                                          <a:rPr lang="es-AR" sz="1600" i="1"/>
                                          <m:t>3</m:t>
                                        </m:r>
                                        <m:sSub>
                                          <m:sSubPr>
                                            <m:ctrlPr>
                                              <a:rPr lang="es-AR" sz="1600" i="1"/>
                                            </m:ctrlPr>
                                          </m:sSubPr>
                                          <m:e>
                                            <m:r>
                                              <a:rPr lang="es-AR" sz="1600" i="1"/>
                                              <m:t>𝑃</m:t>
                                            </m:r>
                                          </m:e>
                                          <m:sub>
                                            <m:r>
                                              <a:rPr lang="es-AR" sz="1600" i="1"/>
                                              <m:t>𝑝</m:t>
                                            </m:r>
                                          </m:sub>
                                        </m:sSub>
                                        <m:sSubSup>
                                          <m:sSubSupPr>
                                            <m:ctrlPr>
                                              <a:rPr lang="es-AR" sz="1600" i="1"/>
                                            </m:ctrlPr>
                                          </m:sSubSupPr>
                                          <m:e>
                                            <m:r>
                                              <a:rPr lang="es-AR" sz="1600" i="1"/>
                                              <m:t>𝜆</m:t>
                                            </m:r>
                                          </m:e>
                                          <m:sub>
                                            <m:r>
                                              <a:rPr lang="es-AR" sz="1600" i="1"/>
                                              <m:t>𝑚</m:t>
                                            </m:r>
                                          </m:sub>
                                          <m:sup>
                                            <m:r>
                                              <a:rPr lang="es-AR" sz="1600" i="1"/>
                                              <m:t>ˊ</m:t>
                                            </m:r>
                                            <m:r>
                                              <a:rPr lang="es-AR" sz="1600" i="1"/>
                                              <m:t>𝑟</m:t>
                                            </m:r>
                                          </m:sup>
                                        </m:sSubSup>
                                      </m:num>
                                      <m:den>
                                        <m:r>
                                          <a:rPr lang="es-AR" sz="1600" i="1"/>
                                          <m:t>2</m:t>
                                        </m:r>
                                        <m:sSub>
                                          <m:sSubPr>
                                            <m:ctrlPr>
                                              <a:rPr lang="es-AR" sz="1600" i="1"/>
                                            </m:ctrlPr>
                                          </m:sSubPr>
                                          <m:e>
                                            <m:r>
                                              <a:rPr lang="es-AR" sz="1600" i="1"/>
                                              <m:t>𝐽</m:t>
                                            </m:r>
                                          </m:e>
                                          <m:sub>
                                            <m:r>
                                              <a:rPr lang="es-AR" sz="1600" i="1"/>
                                              <m:t>𝑒𝑞</m:t>
                                            </m:r>
                                          </m:sub>
                                        </m:sSub>
                                      </m:den>
                                    </m:f>
                                  </m:e>
                                </m:box>
                              </m:e>
                            </m:mr>
                            <m:mr>
                              <m:e>
                                <m:r>
                                  <a:rPr lang="es-AR" sz="1600" i="1"/>
                                  <m:t>0</m:t>
                                </m:r>
                              </m:e>
                              <m:e>
                                <m:r>
                                  <a:rPr lang="es-AR" sz="1600" i="1"/>
                                  <m:t>−</m:t>
                                </m:r>
                                <m:box>
                                  <m:boxPr>
                                    <m:ctrlPr>
                                      <a:rPr lang="es-AR" sz="1600" i="1"/>
                                    </m:ctrlPr>
                                  </m:boxPr>
                                  <m:e>
                                    <m:argPr>
                                      <m:argSz m:val="-1"/>
                                    </m:argPr>
                                    <m:f>
                                      <m:fPr>
                                        <m:ctrlPr>
                                          <a:rPr lang="es-AR" sz="1600" i="1"/>
                                        </m:ctrlPr>
                                      </m:fPr>
                                      <m:num>
                                        <m:sSub>
                                          <m:sSubPr>
                                            <m:ctrlPr>
                                              <a:rPr lang="es-AR" sz="1600" i="1"/>
                                            </m:ctrlPr>
                                          </m:sSubPr>
                                          <m:e>
                                            <m:r>
                                              <a:rPr lang="es-AR" sz="1600" i="1"/>
                                              <m:t>𝑃</m:t>
                                            </m:r>
                                          </m:e>
                                          <m:sub>
                                            <m:r>
                                              <a:rPr lang="es-AR" sz="1600" i="1"/>
                                              <m:t>𝑝</m:t>
                                            </m:r>
                                          </m:sub>
                                        </m:sSub>
                                        <m:sSubSup>
                                          <m:sSubSupPr>
                                            <m:ctrlPr>
                                              <a:rPr lang="es-AR" sz="1600" i="1"/>
                                            </m:ctrlPr>
                                          </m:sSubSupPr>
                                          <m:e>
                                            <m:r>
                                              <a:rPr lang="es-AR" sz="1600" i="1"/>
                                              <m:t>𝜆</m:t>
                                            </m:r>
                                          </m:e>
                                          <m:sub>
                                            <m:r>
                                              <a:rPr lang="es-AR" sz="1600" i="1"/>
                                              <m:t>𝑚</m:t>
                                            </m:r>
                                          </m:sub>
                                          <m:sup>
                                            <m:r>
                                              <a:rPr lang="es-AR" sz="1600" i="1"/>
                                              <m:t>ˊ</m:t>
                                            </m:r>
                                            <m:r>
                                              <a:rPr lang="es-AR" sz="1600" i="1"/>
                                              <m:t>𝑟</m:t>
                                            </m:r>
                                          </m:sup>
                                        </m:sSubSup>
                                      </m:num>
                                      <m:den>
                                        <m:sSub>
                                          <m:sSubPr>
                                            <m:ctrlPr>
                                              <a:rPr lang="es-AR" sz="1600" i="1"/>
                                            </m:ctrlPr>
                                          </m:sSubPr>
                                          <m:e>
                                            <m:r>
                                              <a:rPr lang="es-AR" sz="1600" i="1"/>
                                              <m:t>𝐿</m:t>
                                            </m:r>
                                          </m:e>
                                          <m:sub>
                                            <m:r>
                                              <a:rPr lang="es-AR" sz="1600" i="1"/>
                                              <m:t>𝑞</m:t>
                                            </m:r>
                                          </m:sub>
                                        </m:sSub>
                                      </m:den>
                                    </m:f>
                                  </m:e>
                                </m:box>
                              </m:e>
                              <m:e>
                                <m:r>
                                  <a:rPr lang="es-AR" sz="1600" i="1"/>
                                  <m:t>−</m:t>
                                </m:r>
                                <m:box>
                                  <m:boxPr>
                                    <m:ctrlPr>
                                      <a:rPr lang="es-AR" sz="1600" i="1"/>
                                    </m:ctrlPr>
                                  </m:boxPr>
                                  <m:e>
                                    <m:argPr>
                                      <m:argSz m:val="-1"/>
                                    </m:argPr>
                                    <m:f>
                                      <m:fPr>
                                        <m:ctrlPr>
                                          <a:rPr lang="es-AR" sz="1600" i="1"/>
                                        </m:ctrlPr>
                                      </m:fPr>
                                      <m:num>
                                        <m:sSub>
                                          <m:sSubPr>
                                            <m:ctrlPr>
                                              <a:rPr lang="es-AR" sz="1600" i="1"/>
                                            </m:ctrlPr>
                                          </m:sSubPr>
                                          <m:e>
                                            <m:r>
                                              <a:rPr lang="es-AR" sz="1600" i="1"/>
                                              <m:t>𝑅</m:t>
                                            </m:r>
                                          </m:e>
                                          <m:sub>
                                            <m:r>
                                              <a:rPr lang="es-AR" sz="1600" i="1"/>
                                              <m:t>𝑠</m:t>
                                            </m:r>
                                          </m:sub>
                                        </m:sSub>
                                      </m:num>
                                      <m:den>
                                        <m:sSub>
                                          <m:sSubPr>
                                            <m:ctrlPr>
                                              <a:rPr lang="es-AR" sz="1600" i="1"/>
                                            </m:ctrlPr>
                                          </m:sSubPr>
                                          <m:e>
                                            <m:r>
                                              <a:rPr lang="es-AR" sz="1600" i="1"/>
                                              <m:t>𝐿</m:t>
                                            </m:r>
                                          </m:e>
                                          <m:sub>
                                            <m:r>
                                              <a:rPr lang="es-AR" sz="1600" i="1"/>
                                              <m:t>𝑞</m:t>
                                            </m:r>
                                          </m:sub>
                                        </m:sSub>
                                      </m:den>
                                    </m:f>
                                  </m:e>
                                </m:box>
                              </m:e>
                            </m:mr>
                          </m:m>
                        </m:e>
                      </m:d>
                      <m:d>
                        <m:dPr>
                          <m:begChr m:val="["/>
                          <m:endChr m:val="]"/>
                          <m:ctrlPr>
                            <a:rPr lang="es-AR" sz="1600" i="1"/>
                          </m:ctrlPr>
                        </m:dPr>
                        <m:e>
                          <m:m>
                            <m:mPr>
                              <m:mcs>
                                <m:mc>
                                  <m:mcPr>
                                    <m:count m:val="1"/>
                                    <m:mcJc m:val="center"/>
                                  </m:mcPr>
                                </m:mc>
                              </m:mcs>
                              <m:ctrlPr>
                                <a:rPr lang="es-AR" sz="1600" i="1"/>
                              </m:ctrlPr>
                            </m:mPr>
                            <m:mr>
                              <m:e>
                                <m:sSub>
                                  <m:sSubPr>
                                    <m:ctrlPr>
                                      <a:rPr lang="es-AR" sz="1600" i="1"/>
                                    </m:ctrlPr>
                                  </m:sSubPr>
                                  <m:e>
                                    <m:r>
                                      <a:rPr lang="es-AR" sz="1600" i="1"/>
                                      <m:t>𝜃</m:t>
                                    </m:r>
                                  </m:e>
                                  <m:sub>
                                    <m:r>
                                      <a:rPr lang="es-AR" sz="1600" i="1"/>
                                      <m:t>𝑚</m:t>
                                    </m:r>
                                  </m:sub>
                                </m:sSub>
                                <m:d>
                                  <m:dPr>
                                    <m:ctrlPr>
                                      <a:rPr lang="es-AR" sz="1600" i="1"/>
                                    </m:ctrlPr>
                                  </m:dPr>
                                  <m:e>
                                    <m:r>
                                      <a:rPr lang="es-AR" sz="1600" i="1"/>
                                      <m:t>𝑡</m:t>
                                    </m:r>
                                  </m:e>
                                </m:d>
                              </m:e>
                            </m:mr>
                            <m:mr>
                              <m:e>
                                <m:sSub>
                                  <m:sSubPr>
                                    <m:ctrlPr>
                                      <a:rPr lang="es-AR" sz="1600" i="1"/>
                                    </m:ctrlPr>
                                  </m:sSubPr>
                                  <m:e>
                                    <m:r>
                                      <a:rPr lang="es-AR" sz="1600" i="1"/>
                                      <m:t>𝜔</m:t>
                                    </m:r>
                                  </m:e>
                                  <m:sub>
                                    <m:r>
                                      <a:rPr lang="es-AR" sz="1600" i="1"/>
                                      <m:t>𝑚</m:t>
                                    </m:r>
                                  </m:sub>
                                </m:sSub>
                                <m:d>
                                  <m:dPr>
                                    <m:ctrlPr>
                                      <a:rPr lang="es-AR" sz="1600" i="1"/>
                                    </m:ctrlPr>
                                  </m:dPr>
                                  <m:e>
                                    <m:r>
                                      <a:rPr lang="es-AR" sz="1600" i="1"/>
                                      <m:t>𝑡</m:t>
                                    </m:r>
                                  </m:e>
                                </m:d>
                              </m:e>
                            </m:mr>
                            <m:mr>
                              <m:e>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e>
                            </m:mr>
                          </m:m>
                        </m:e>
                      </m:d>
                      <m:r>
                        <a:rPr lang="es-AR" sz="1600" i="1"/>
                        <m:t>+</m:t>
                      </m:r>
                      <m:d>
                        <m:dPr>
                          <m:begChr m:val="["/>
                          <m:endChr m:val="]"/>
                          <m:ctrlPr>
                            <a:rPr lang="es-AR" sz="1600" i="1"/>
                          </m:ctrlPr>
                        </m:dPr>
                        <m:e>
                          <m:m>
                            <m:mPr>
                              <m:mcs>
                                <m:mc>
                                  <m:mcPr>
                                    <m:count m:val="1"/>
                                    <m:mcJc m:val="center"/>
                                  </m:mcPr>
                                </m:mc>
                              </m:mcs>
                              <m:ctrlPr>
                                <a:rPr lang="es-AR" sz="1600" i="1"/>
                              </m:ctrlPr>
                            </m:mPr>
                            <m:mr>
                              <m:e>
                                <m:r>
                                  <a:rPr lang="es-AR" sz="1600" i="1"/>
                                  <m:t>0</m:t>
                                </m:r>
                              </m:e>
                            </m:mr>
                            <m:mr>
                              <m:e>
                                <m:r>
                                  <a:rPr lang="es-AR" sz="1600" i="1"/>
                                  <m:t>0</m:t>
                                </m:r>
                              </m:e>
                            </m:mr>
                            <m:mr>
                              <m:e>
                                <m:box>
                                  <m:boxPr>
                                    <m:ctrlPr>
                                      <a:rPr lang="es-AR" sz="1600" i="1"/>
                                    </m:ctrlPr>
                                  </m:boxPr>
                                  <m:e>
                                    <m:argPr>
                                      <m:argSz m:val="-1"/>
                                    </m:argPr>
                                    <m:f>
                                      <m:fPr>
                                        <m:ctrlPr>
                                          <a:rPr lang="es-AR" sz="1600" i="1"/>
                                        </m:ctrlPr>
                                      </m:fPr>
                                      <m:num>
                                        <m:r>
                                          <a:rPr lang="es-AR" sz="1600" i="1"/>
                                          <m:t>1</m:t>
                                        </m:r>
                                      </m:num>
                                      <m:den>
                                        <m:sSub>
                                          <m:sSubPr>
                                            <m:ctrlPr>
                                              <a:rPr lang="es-AR" sz="1600" i="1"/>
                                            </m:ctrlPr>
                                          </m:sSubPr>
                                          <m:e>
                                            <m:r>
                                              <a:rPr lang="es-AR" sz="1600" i="1"/>
                                              <m:t>𝐿</m:t>
                                            </m:r>
                                          </m:e>
                                          <m:sub>
                                            <m:r>
                                              <a:rPr lang="es-AR" sz="1600" i="1"/>
                                              <m:t>𝑞</m:t>
                                            </m:r>
                                          </m:sub>
                                        </m:sSub>
                                      </m:den>
                                    </m:f>
                                  </m:e>
                                </m:box>
                              </m:e>
                            </m:mr>
                          </m:m>
                        </m:e>
                      </m:d>
                      <m:sSubSup>
                        <m:sSubSupPr>
                          <m:ctrlPr>
                            <a:rPr lang="es-AR" sz="1600" i="1"/>
                          </m:ctrlPr>
                        </m:sSubSupPr>
                        <m:e>
                          <m:r>
                            <a:rPr lang="es-AR" sz="1600" i="1"/>
                            <m:t>𝑣</m:t>
                          </m:r>
                        </m:e>
                        <m:sub>
                          <m:r>
                            <a:rPr lang="es-AR" sz="1600" i="1"/>
                            <m:t>𝑞𝑠</m:t>
                          </m:r>
                        </m:sub>
                        <m:sup>
                          <m:r>
                            <a:rPr lang="es-AR" sz="1600" i="1"/>
                            <m:t>𝑟</m:t>
                          </m:r>
                        </m:sup>
                      </m:sSubSup>
                      <m:d>
                        <m:dPr>
                          <m:ctrlPr>
                            <a:rPr lang="es-AR" sz="1600" i="1"/>
                          </m:ctrlPr>
                        </m:dPr>
                        <m:e>
                          <m:r>
                            <a:rPr lang="es-AR" sz="1600" i="1"/>
                            <m:t>𝑡</m:t>
                          </m:r>
                        </m:e>
                      </m:d>
                      <m:r>
                        <a:rPr lang="es-AR" sz="1600" i="1"/>
                        <m:t>+</m:t>
                      </m:r>
                      <m:d>
                        <m:dPr>
                          <m:begChr m:val="["/>
                          <m:endChr m:val="]"/>
                          <m:ctrlPr>
                            <a:rPr lang="es-AR" sz="1600" i="1"/>
                          </m:ctrlPr>
                        </m:dPr>
                        <m:e>
                          <m:m>
                            <m:mPr>
                              <m:mcs>
                                <m:mc>
                                  <m:mcPr>
                                    <m:count m:val="1"/>
                                    <m:mcJc m:val="center"/>
                                  </m:mcPr>
                                </m:mc>
                              </m:mcs>
                              <m:ctrlPr>
                                <a:rPr lang="es-AR" sz="1600" i="1"/>
                              </m:ctrlPr>
                            </m:mPr>
                            <m:mr>
                              <m:e>
                                <m:r>
                                  <a:rPr lang="es-AR" sz="1600" i="1"/>
                                  <m:t>0</m:t>
                                </m:r>
                              </m:e>
                            </m:mr>
                            <m:mr>
                              <m:e>
                                <m:box>
                                  <m:boxPr>
                                    <m:ctrlPr>
                                      <a:rPr lang="es-AR" sz="1600" i="1"/>
                                    </m:ctrlPr>
                                  </m:boxPr>
                                  <m:e>
                                    <m:argPr>
                                      <m:argSz m:val="-1"/>
                                    </m:argPr>
                                    <m:f>
                                      <m:fPr>
                                        <m:ctrlPr>
                                          <a:rPr lang="es-AR" sz="1600" i="1"/>
                                        </m:ctrlPr>
                                      </m:fPr>
                                      <m:num>
                                        <m:r>
                                          <a:rPr lang="es-AR" sz="1600" i="1"/>
                                          <m:t>1</m:t>
                                        </m:r>
                                      </m:num>
                                      <m:den>
                                        <m:r>
                                          <a:rPr lang="es-AR" sz="1600" i="1"/>
                                          <m:t>𝑟</m:t>
                                        </m:r>
                                        <m:sSub>
                                          <m:sSubPr>
                                            <m:ctrlPr>
                                              <a:rPr lang="es-AR" sz="1600" i="1"/>
                                            </m:ctrlPr>
                                          </m:sSubPr>
                                          <m:e>
                                            <m:r>
                                              <a:rPr lang="es-AR" sz="1600" i="1"/>
                                              <m:t>𝐽</m:t>
                                            </m:r>
                                          </m:e>
                                          <m:sub>
                                            <m:r>
                                              <a:rPr lang="es-AR" sz="1600" i="1"/>
                                              <m:t>𝑒𝑞</m:t>
                                            </m:r>
                                          </m:sub>
                                        </m:sSub>
                                      </m:den>
                                    </m:f>
                                  </m:e>
                                </m:box>
                              </m:e>
                            </m:mr>
                            <m:mr>
                              <m:e>
                                <m:r>
                                  <a:rPr lang="es-AR" sz="1600" i="1"/>
                                  <m:t>0</m:t>
                                </m:r>
                              </m:e>
                            </m:mr>
                          </m:m>
                        </m:e>
                      </m:d>
                      <m:sSub>
                        <m:sSubPr>
                          <m:ctrlPr>
                            <a:rPr lang="es-AR" sz="1600" i="1"/>
                          </m:ctrlPr>
                        </m:sSubPr>
                        <m:e>
                          <m:r>
                            <a:rPr lang="es-AR" sz="1600" i="1"/>
                            <m:t>𝑇</m:t>
                          </m:r>
                        </m:e>
                        <m:sub>
                          <m:r>
                            <a:rPr lang="es-AR" sz="1600" i="1"/>
                            <m:t>𝑙</m:t>
                          </m:r>
                        </m:sub>
                      </m:sSub>
                      <m:d>
                        <m:dPr>
                          <m:ctrlPr>
                            <a:rPr lang="es-AR" sz="1600" i="1"/>
                          </m:ctrlPr>
                        </m:dPr>
                        <m:e>
                          <m:r>
                            <a:rPr lang="es-AR" sz="1600" i="1"/>
                            <m:t>𝑡</m:t>
                          </m:r>
                        </m:e>
                      </m:d>
                    </m:oMath>
                  </m:oMathPara>
                </a14:m>
                <a:endParaRPr lang="en-US" sz="1100" dirty="0"/>
              </a:p>
            </p:txBody>
          </p:sp>
        </mc:Choice>
        <mc:Fallback>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326450" y="2504345"/>
                <a:ext cx="5829230" cy="530352"/>
              </a:xfrm>
              <a:prstGeom prst="rect">
                <a:avLst/>
              </a:prstGeom>
              <a:blipFill>
                <a:blip r:embed="rId5"/>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15 / 67</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3"/>
          <a:stretch>
            <a:fillRect/>
          </a:stretch>
        </p:blipFill>
        <p:spPr>
          <a:xfrm>
            <a:off x="1031845" y="816440"/>
            <a:ext cx="9464149" cy="4841276"/>
          </a:xfrm>
          <a:prstGeom prst="rect">
            <a:avLst/>
          </a:prstGeom>
        </p:spPr>
      </p:pic>
      <p:sp>
        <p:nvSpPr>
          <p:cNvPr id="15" name="CuadroTexto 14">
            <a:extLst>
              <a:ext uri="{FF2B5EF4-FFF2-40B4-BE49-F238E27FC236}">
                <a16:creationId xmlns:a16="http://schemas.microsoft.com/office/drawing/2014/main" id="{9A639F6C-1BED-47BA-BB04-A7534BAF33FF}"/>
              </a:ext>
            </a:extLst>
          </p:cNvPr>
          <p:cNvSpPr txBox="1"/>
          <p:nvPr/>
        </p:nvSpPr>
        <p:spPr>
          <a:xfrm>
            <a:off x="2915174" y="5657716"/>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Ley de control </a:t>
            </a:r>
            <a:r>
              <a:rPr lang="en-US" sz="1900" b="1" dirty="0" err="1">
                <a:solidFill>
                  <a:srgbClr val="FFFFFF"/>
                </a:solidFill>
                <a:latin typeface="Calibri" pitchFamily="34" charset="0"/>
                <a:ea typeface="Calibri" pitchFamily="34" charset="-122"/>
                <a:cs typeface="Calibri" pitchFamily="34" charset="-120"/>
              </a:rPr>
              <a:t>mínima</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16 / 67</a:t>
            </a:r>
            <a:endParaRPr lang="en-US" sz="900" dirty="0"/>
          </a:p>
        </p:txBody>
      </p:sp>
      <mc:AlternateContent xmlns:mc="http://schemas.openxmlformats.org/markup-compatibility/2006">
        <mc:Choice xmlns:a14="http://schemas.microsoft.com/office/drawing/2010/main" Requires="a14">
          <p:sp>
            <p:nvSpPr>
              <p:cNvPr id="7" name="Text 5"/>
              <p:cNvSpPr/>
              <p:nvPr/>
            </p:nvSpPr>
            <p:spPr>
              <a:xfrm>
                <a:off x="365760" y="777240"/>
                <a:ext cx="11430000" cy="54864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300" dirty="0"/>
                  <a:t>, es necesario imponer una ley de control sobre las variables manipuladas:</a:t>
                </a:r>
              </a:p>
            </p:txBody>
          </p:sp>
        </mc:Choice>
        <mc:Fallback>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3"/>
                <a:stretch>
                  <a:fillRect l="-53" t="-1111"/>
                </a:stretch>
              </a:blipFill>
              <a:ln/>
            </p:spPr>
            <p:txBody>
              <a:bodyPr/>
              <a:lstStyle/>
              <a:p>
                <a:r>
                  <a:rPr lang="es-AR">
                    <a:noFill/>
                  </a:rPr>
                  <a:t> </a:t>
                </a:r>
              </a:p>
            </p:txBody>
          </p:sp>
        </mc:Fallback>
      </mc:AlternateContent>
      <p:sp>
        <p:nvSpPr>
          <p:cNvPr id="8" name="Shape 6"/>
          <p:cNvSpPr/>
          <p:nvPr/>
        </p:nvSpPr>
        <p:spPr>
          <a:xfrm>
            <a:off x="457200" y="1138428"/>
            <a:ext cx="9164972" cy="50292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4"/>
                <a:stretch>
                  <a:fillRect/>
                </a:stretch>
              </a:blipFill>
              <a:ln/>
            </p:spPr>
            <p:txBody>
              <a:bodyPr/>
              <a:lstStyle/>
              <a:p>
                <a:r>
                  <a:rPr lang="es-AR">
                    <a:noFill/>
                  </a:rPr>
                  <a:t> </a:t>
                </a:r>
              </a:p>
            </p:txBody>
          </p:sp>
        </mc:Fallback>
      </mc:AlternateContent>
      <p:sp>
        <p:nvSpPr>
          <p:cNvPr id="20" name="Text 18"/>
          <p:cNvSpPr/>
          <p:nvPr/>
        </p:nvSpPr>
        <p:spPr>
          <a:xfrm>
            <a:off x="548640" y="5866524"/>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28385"/>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28385"/>
                <a:ext cx="9256412" cy="296363"/>
              </a:xfrm>
              <a:prstGeom prst="rect">
                <a:avLst/>
              </a:prstGeom>
              <a:blipFill>
                <a:blip r:embed="rId5"/>
                <a:stretch>
                  <a:fillRect l="-66" b="-18750"/>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6"/>
          <a:stretch>
            <a:fillRect/>
          </a:stretch>
        </p:blipFill>
        <p:spPr>
          <a:xfrm>
            <a:off x="1292797" y="1980175"/>
            <a:ext cx="8361673" cy="41005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16 / 67</a:t>
            </a:r>
            <a:endParaRPr lang="en-US" sz="900" dirty="0"/>
          </a:p>
        </p:txBody>
      </p:sp>
      <mc:AlternateContent xmlns:mc="http://schemas.openxmlformats.org/markup-compatibility/2006">
        <mc:Choice xmlns:a14="http://schemas.microsoft.com/office/drawing/2010/main" Requires="a14">
          <p:sp>
            <p:nvSpPr>
              <p:cNvPr id="7" name="Text 5"/>
              <p:cNvSpPr/>
              <p:nvPr/>
            </p:nvSpPr>
            <p:spPr>
              <a:xfrm>
                <a:off x="365760" y="777240"/>
                <a:ext cx="11430000" cy="54864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oMath>
                </a14:m>
                <a:endParaRPr lang="es-AR" sz="1300" dirty="0"/>
              </a:p>
            </p:txBody>
          </p:sp>
        </mc:Choice>
        <mc:Fallback>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3"/>
                <a:stretch>
                  <a:fillRect l="-53" t="-1111"/>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4"/>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Esto es una ecuación a un sistema lineal 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r>
                        <a:rPr lang="es-AR" sz="1600" i="1"/>
                        <m:t>=</m:t>
                      </m:r>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0</m:t>
                          </m:r>
                        </m:e>
                      </m:d>
                      <m:sSup>
                        <m:sSupPr>
                          <m:ctrlPr>
                            <a:rPr lang="es-AR" sz="1600" i="1"/>
                          </m:ctrlPr>
                        </m:sSupPr>
                        <m:e>
                          <m:r>
                            <a:rPr lang="es-AR" sz="1600" i="1"/>
                            <m:t>𝑒</m:t>
                          </m:r>
                        </m:e>
                        <m:sup>
                          <m:r>
                            <a:rPr lang="es-AR" sz="1600" i="1"/>
                            <m:t>−</m:t>
                          </m:r>
                          <m:f>
                            <m:fPr>
                              <m:ctrlPr>
                                <a:rPr lang="es-AR" sz="1600" i="1"/>
                              </m:ctrlPr>
                            </m:fPr>
                            <m:num>
                              <m:sSub>
                                <m:sSubPr>
                                  <m:ctrlPr>
                                    <a:rPr lang="es-AR" sz="1600" i="1"/>
                                  </m:ctrlPr>
                                </m:sSubPr>
                                <m:e>
                                  <m:r>
                                    <a:rPr lang="es-AR" sz="1600" i="1"/>
                                    <m:t>𝑅</m:t>
                                  </m:r>
                                </m:e>
                                <m:sub>
                                  <m:r>
                                    <a:rPr lang="es-AR" sz="1600" i="1"/>
                                    <m:t>𝑠</m:t>
                                  </m:r>
                                </m:sub>
                              </m:sSub>
                            </m:num>
                            <m:den>
                              <m:sSub>
                                <m:sSubPr>
                                  <m:ctrlPr>
                                    <a:rPr lang="es-AR" sz="1600" i="1"/>
                                  </m:ctrlPr>
                                </m:sSubPr>
                                <m:e>
                                  <m:r>
                                    <a:rPr lang="es-AR" sz="1600" i="1"/>
                                    <m:t>𝐿</m:t>
                                  </m:r>
                                </m:e>
                                <m:sub>
                                  <m:r>
                                    <a:rPr lang="es-AR" sz="1600" i="1"/>
                                    <m:t>𝑑</m:t>
                                  </m:r>
                                </m:sub>
                              </m:sSub>
                            </m:den>
                          </m:f>
                          <m:r>
                            <a:rPr lang="es-AR" sz="1600" i="1"/>
                            <m:t>𝑡</m:t>
                          </m:r>
                        </m:sup>
                      </m:sSup>
                    </m:oMath>
                  </m:oMathPara>
                </a14:m>
                <a:endParaRPr lang="en-US" sz="1100" dirty="0"/>
              </a:p>
            </p:txBody>
          </p:sp>
        </mc:Choice>
        <mc:Fallback>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5"/>
                <a:stretch>
                  <a:fillRect/>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27288"/>
              </a:xfrm>
              <a:prstGeom prst="rect">
                <a:avLst/>
              </a:prstGeom>
              <a:noFill/>
            </p:spPr>
            <p:txBody>
              <a:bodyPr wrap="square">
                <a:spAutoFit/>
              </a:bodyPr>
              <a:lstStyle/>
              <a:p>
                <a:pPr algn="just">
                  <a:lnSpc>
                    <a:spcPct val="107000"/>
                  </a:lnSpc>
                  <a:spcBef>
                    <a:spcPts val="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3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3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Pr>
                          <m:e>
                            <m:r>
                              <a:rPr lang="es-AR" sz="13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Pr>
                          <m:e>
                            <m:r>
                              <a:rPr lang="es-AR" sz="13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3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27288"/>
              </a:xfrm>
              <a:prstGeom prst="rect">
                <a:avLst/>
              </a:prstGeom>
              <a:blipFill>
                <a:blip r:embed="rId6"/>
                <a:stretch>
                  <a:fillRect l="-52" r="-52" b="-7767"/>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6098796" cy="307841"/>
              </a:xfrm>
              <a:prstGeom prst="rect">
                <a:avLst/>
              </a:prstGeom>
              <a:noFill/>
            </p:spPr>
            <p:txBody>
              <a:bodyPr wrap="square">
                <a:spAutoFit/>
              </a:bodyPr>
              <a:lstStyle/>
              <a:p>
                <a:r>
                  <a:rPr lang="es-AR" sz="13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300" dirty="0"/>
                  <a:t>, podemos despejar </a:t>
                </a:r>
                <a14:m>
                  <m:oMath xmlns:m="http://schemas.openxmlformats.org/officeDocument/2006/math">
                    <m:sSubSup>
                      <m:sSubSupPr>
                        <m:ctrlPr>
                          <a:rPr lang="es-AR" sz="1300" i="1"/>
                        </m:ctrlPr>
                      </m:sSubSupPr>
                      <m:e>
                        <m:r>
                          <a:rPr lang="es-AR" sz="1300" i="1"/>
                          <m:t>𝑣</m:t>
                        </m:r>
                      </m:e>
                      <m:sub>
                        <m:r>
                          <a:rPr lang="es-AR" sz="1300" i="1"/>
                          <m:t>𝑞𝑠</m:t>
                        </m:r>
                      </m:sub>
                      <m:sup>
                        <m:r>
                          <a:rPr lang="es-AR" sz="1300" i="1"/>
                          <m:t>𝑟</m:t>
                        </m:r>
                      </m:sup>
                    </m:sSubSup>
                    <m:d>
                      <m:dPr>
                        <m:ctrlPr>
                          <a:rPr lang="es-AR" sz="1300" i="1"/>
                        </m:ctrlPr>
                      </m:dPr>
                      <m:e>
                        <m:r>
                          <a:rPr lang="es-AR" sz="1300" i="1"/>
                          <m:t>𝑡</m:t>
                        </m:r>
                      </m:e>
                    </m:d>
                  </m:oMath>
                </a14:m>
                <a:r>
                  <a:rPr lang="es-AR" sz="1300" dirty="0"/>
                  <a:t>:</a:t>
                </a:r>
              </a:p>
            </p:txBody>
          </p:sp>
        </mc:Choice>
        <mc:Fallback>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6098796" cy="307841"/>
              </a:xfrm>
              <a:prstGeom prst="rect">
                <a:avLst/>
              </a:prstGeom>
              <a:blipFill>
                <a:blip r:embed="rId7"/>
                <a:stretch>
                  <a:fillRect l="-100" b="-11765"/>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3967668"/>
            <a:ext cx="7589520" cy="605746"/>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1" name="Text 7">
                <a:extLst>
                  <a:ext uri="{FF2B5EF4-FFF2-40B4-BE49-F238E27FC236}">
                    <a16:creationId xmlns:a16="http://schemas.microsoft.com/office/drawing/2014/main" id="{1EE3BB44-59D1-4087-A1C2-E48BC1A3E443}"/>
                  </a:ext>
                </a:extLst>
              </p:cNvPr>
              <p:cNvSpPr/>
              <p:nvPr/>
            </p:nvSpPr>
            <p:spPr>
              <a:xfrm>
                <a:off x="421127" y="4000561"/>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m:ctrlPr>
                        </m:sSubSupPr>
                        <m:e>
                          <m:r>
                            <a:rPr lang="es-AR" sz="1600" i="1"/>
                            <m:t>𝑣</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𝐿</m:t>
                          </m:r>
                        </m:e>
                        <m:sub>
                          <m:r>
                            <a:rPr lang="es-AR" sz="1600" i="1"/>
                            <m:t>𝑞</m:t>
                          </m:r>
                        </m:sub>
                      </m:sSub>
                      <m:f>
                        <m:fPr>
                          <m:ctrlPr>
                            <a:rPr lang="es-AR" sz="1600" i="1"/>
                          </m:ctrlPr>
                        </m:fPr>
                        <m:num>
                          <m:r>
                            <a:rPr lang="es-AR" sz="1600" i="1"/>
                            <m:t>𝑑</m:t>
                          </m:r>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num>
                        <m:den>
                          <m:r>
                            <a:rPr lang="es-AR" sz="1600" i="1"/>
                            <m:t>𝑑𝑡</m:t>
                          </m:r>
                        </m:den>
                      </m:f>
                      <m:r>
                        <a:rPr lang="es-AR" sz="1600" i="1"/>
                        <m:t>+</m:t>
                      </m:r>
                      <m:sSub>
                        <m:sSubPr>
                          <m:ctrlPr>
                            <a:rPr lang="es-AR" sz="1600" i="1"/>
                          </m:ctrlPr>
                        </m:sSubPr>
                        <m:e>
                          <m:r>
                            <a:rPr lang="es-AR" sz="1600" i="1"/>
                            <m:t>𝑅</m:t>
                          </m:r>
                        </m:e>
                        <m:sub>
                          <m:r>
                            <a:rPr lang="es-AR" sz="1600" i="1"/>
                            <m:t>𝑠</m:t>
                          </m:r>
                        </m:sub>
                      </m:sSub>
                      <m:d>
                        <m:dPr>
                          <m:ctrlPr>
                            <a:rPr lang="es-AR" sz="1600" i="1"/>
                          </m:ctrlPr>
                        </m:dPr>
                        <m:e>
                          <m:r>
                            <a:rPr lang="es-AR" sz="1600" i="1"/>
                            <m:t>𝑡</m:t>
                          </m:r>
                        </m:e>
                      </m:d>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sSubSup>
                        <m:sSubSupPr>
                          <m:ctrlPr>
                            <a:rPr lang="es-AR" sz="1600" i="1"/>
                          </m:ctrlPr>
                        </m:sSubSupPr>
                        <m:e>
                          <m:r>
                            <a:rPr lang="es-AR" sz="1600" i="1"/>
                            <m:t>𝜆</m:t>
                          </m:r>
                        </m:e>
                        <m:sub>
                          <m:r>
                            <a:rPr lang="es-AR" sz="1600" i="1"/>
                            <m:t>𝑚</m:t>
                          </m:r>
                        </m:sub>
                        <m:sup>
                          <m:r>
                            <a:rPr lang="es-AR" sz="1600" i="1"/>
                            <m:t>ˊ</m:t>
                          </m:r>
                          <m:r>
                            <a:rPr lang="es-AR" sz="1600" i="1"/>
                            <m:t>𝑟</m:t>
                          </m:r>
                        </m:sup>
                      </m:sSubSup>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r>
                        <a:rPr lang="es-AR" sz="1600" i="1"/>
                        <m:t>+</m:t>
                      </m:r>
                      <m:sSub>
                        <m:sSubPr>
                          <m:ctrlPr>
                            <a:rPr lang="es-AR" sz="1600" i="1"/>
                          </m:ctrlPr>
                        </m:sSubPr>
                        <m:e>
                          <m:r>
                            <a:rPr lang="es-AR" sz="1600" i="1"/>
                            <m:t>𝐿</m:t>
                          </m:r>
                        </m:e>
                        <m:sub>
                          <m:r>
                            <a:rPr lang="es-AR" sz="1600" i="1"/>
                            <m:t>𝑑</m:t>
                          </m:r>
                        </m:sub>
                      </m:sSub>
                      <m:sSubSup>
                        <m:sSubSupPr>
                          <m:ctrlPr>
                            <a:rPr lang="es-AR" sz="1600" i="1"/>
                          </m:ctrlPr>
                        </m:sSubSupPr>
                        <m:e>
                          <m:r>
                            <a:rPr lang="es-AR" sz="1600" i="1"/>
                            <m:t>𝑖</m:t>
                          </m:r>
                        </m:e>
                        <m:sub>
                          <m:r>
                            <a:rPr lang="es-AR" sz="1600" i="1"/>
                            <m:t>𝑑𝑠</m:t>
                          </m:r>
                        </m:sub>
                        <m:sup>
                          <m:r>
                            <a:rPr lang="es-AR" sz="1600" i="1"/>
                            <m:t>𝑟</m:t>
                          </m:r>
                        </m:sup>
                      </m:sSubSup>
                      <m:d>
                        <m:dPr>
                          <m:ctrlPr>
                            <a:rPr lang="es-AR" sz="1600" i="1"/>
                          </m:ctrlPr>
                        </m:dPr>
                        <m:e>
                          <m:r>
                            <a:rPr lang="es-AR" sz="1600" i="1"/>
                            <m:t>𝑡</m:t>
                          </m:r>
                        </m:e>
                      </m:d>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oMath>
                  </m:oMathPara>
                </a14:m>
                <a:endParaRPr lang="en-US" sz="1100" dirty="0"/>
              </a:p>
            </p:txBody>
          </p:sp>
        </mc:Choice>
        <mc:Fallback>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000561"/>
                <a:ext cx="7589520" cy="502920"/>
              </a:xfrm>
              <a:prstGeom prst="rect">
                <a:avLst/>
              </a:prstGeom>
              <a:blipFill>
                <a:blip r:embed="rId8"/>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4774998"/>
            <a:ext cx="7589520" cy="605746"/>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25" name="Text 7">
                <a:extLst>
                  <a:ext uri="{FF2B5EF4-FFF2-40B4-BE49-F238E27FC236}">
                    <a16:creationId xmlns:a16="http://schemas.microsoft.com/office/drawing/2014/main" id="{C536CD7F-DFE4-45ED-AB11-BBB0B11ED666}"/>
                  </a:ext>
                </a:extLst>
              </p:cNvPr>
              <p:cNvSpPr/>
              <p:nvPr/>
            </p:nvSpPr>
            <p:spPr>
              <a:xfrm>
                <a:off x="421127" y="4807891"/>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m:ctrlPr>
                        </m:sSubSupPr>
                        <m:e>
                          <m:r>
                            <a:rPr lang="es-AR" sz="1600" i="1"/>
                            <m:t>𝑣</m:t>
                          </m:r>
                        </m:e>
                        <m:sub>
                          <m:r>
                            <a:rPr lang="es-AR" sz="1600" i="1"/>
                            <m:t>𝑞𝑠</m:t>
                          </m:r>
                        </m:sub>
                        <m:sup>
                          <m:r>
                            <a:rPr lang="es-AR" sz="1600" i="1"/>
                            <m:t>𝑟</m:t>
                          </m:r>
                        </m:sup>
                      </m:sSubSup>
                      <m:d>
                        <m:dPr>
                          <m:ctrlPr>
                            <a:rPr lang="es-AR" sz="1600" i="1"/>
                          </m:ctrlPr>
                        </m:dPr>
                        <m:e>
                          <m:r>
                            <a:rPr lang="es-AR" sz="1600" i="1"/>
                            <m:t>𝑡</m:t>
                          </m:r>
                        </m:e>
                      </m:d>
                      <m:r>
                        <a:rPr lang="es-AR" sz="1600" i="1"/>
                        <m:t>=</m:t>
                      </m:r>
                      <m:sSub>
                        <m:sSubPr>
                          <m:ctrlPr>
                            <a:rPr lang="es-AR" sz="1600" i="1"/>
                          </m:ctrlPr>
                        </m:sSubPr>
                        <m:e>
                          <m:r>
                            <a:rPr lang="es-AR" sz="1600" i="1"/>
                            <m:t>𝐿</m:t>
                          </m:r>
                        </m:e>
                        <m:sub>
                          <m:r>
                            <a:rPr lang="es-AR" sz="1600" i="1"/>
                            <m:t>𝑞</m:t>
                          </m:r>
                        </m:sub>
                      </m:sSub>
                      <m:f>
                        <m:fPr>
                          <m:ctrlPr>
                            <a:rPr lang="es-AR" sz="1600" i="1"/>
                          </m:ctrlPr>
                        </m:fPr>
                        <m:num>
                          <m:r>
                            <a:rPr lang="es-AR" sz="1600" i="1"/>
                            <m:t>𝑑</m:t>
                          </m:r>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num>
                        <m:den>
                          <m:r>
                            <a:rPr lang="es-AR" sz="1600" i="1"/>
                            <m:t>𝑑𝑡</m:t>
                          </m:r>
                        </m:den>
                      </m:f>
                      <m:r>
                        <a:rPr lang="es-AR" sz="1600" i="1"/>
                        <m:t>+</m:t>
                      </m:r>
                      <m:sSub>
                        <m:sSubPr>
                          <m:ctrlPr>
                            <a:rPr lang="es-AR" sz="1600" i="1"/>
                          </m:ctrlPr>
                        </m:sSubPr>
                        <m:e>
                          <m:r>
                            <a:rPr lang="es-AR" sz="1600" i="1"/>
                            <m:t>𝑅</m:t>
                          </m:r>
                        </m:e>
                        <m:sub>
                          <m:r>
                            <a:rPr lang="es-AR" sz="1600" i="1"/>
                            <m:t>𝑠</m:t>
                          </m:r>
                        </m:sub>
                      </m:sSub>
                      <m:sSubSup>
                        <m:sSubSupPr>
                          <m:ctrlPr>
                            <a:rPr lang="es-AR" sz="1600" i="1"/>
                          </m:ctrlPr>
                        </m:sSubSupPr>
                        <m:e>
                          <m:r>
                            <a:rPr lang="es-AR" sz="1600" i="1"/>
                            <m:t>𝑖</m:t>
                          </m:r>
                        </m:e>
                        <m:sub>
                          <m:r>
                            <a:rPr lang="es-AR" sz="1600" i="1"/>
                            <m:t>𝑞𝑠</m:t>
                          </m:r>
                        </m:sub>
                        <m:sup>
                          <m:r>
                            <a:rPr lang="es-AR" sz="1600" i="1"/>
                            <m:t>𝑟</m:t>
                          </m:r>
                        </m:sup>
                      </m:sSubSup>
                      <m:d>
                        <m:dPr>
                          <m:ctrlPr>
                            <a:rPr lang="es-AR" sz="1600" i="1"/>
                          </m:ctrlPr>
                        </m:dPr>
                        <m:e>
                          <m:r>
                            <a:rPr lang="es-AR" sz="1600" i="1"/>
                            <m:t>𝑡</m:t>
                          </m:r>
                        </m:e>
                      </m:d>
                      <m:r>
                        <a:rPr lang="es-AR" sz="1600" i="1"/>
                        <m:t>+</m:t>
                      </m:r>
                      <m:sSubSup>
                        <m:sSubSupPr>
                          <m:ctrlPr>
                            <a:rPr lang="es-AR" sz="1600" i="1"/>
                          </m:ctrlPr>
                        </m:sSubSupPr>
                        <m:e>
                          <m:r>
                            <a:rPr lang="es-AR" sz="1600" i="1"/>
                            <m:t>𝜆</m:t>
                          </m:r>
                        </m:e>
                        <m:sub>
                          <m:r>
                            <a:rPr lang="es-AR" sz="1600" i="1"/>
                            <m:t>𝑚</m:t>
                          </m:r>
                        </m:sub>
                        <m:sup>
                          <m:r>
                            <a:rPr lang="es-AR" sz="1600" i="1"/>
                            <m:t>ˊ</m:t>
                          </m:r>
                          <m:r>
                            <a:rPr lang="es-AR" sz="1600" i="1"/>
                            <m:t>𝑟</m:t>
                          </m:r>
                        </m:sup>
                      </m:sSubSup>
                      <m:sSub>
                        <m:sSubPr>
                          <m:ctrlPr>
                            <a:rPr lang="es-AR" sz="1600" i="1"/>
                          </m:ctrlPr>
                        </m:sSubPr>
                        <m:e>
                          <m:r>
                            <a:rPr lang="es-AR" sz="1600" i="1"/>
                            <m:t>𝑃</m:t>
                          </m:r>
                        </m:e>
                        <m:sub>
                          <m:r>
                            <a:rPr lang="es-AR" sz="1600" i="1"/>
                            <m:t>𝑝</m:t>
                          </m:r>
                        </m:sub>
                      </m:sSub>
                      <m:sSub>
                        <m:sSubPr>
                          <m:ctrlPr>
                            <a:rPr lang="es-AR" sz="1600" i="1"/>
                          </m:ctrlPr>
                        </m:sSubPr>
                        <m:e>
                          <m:r>
                            <a:rPr lang="es-AR" sz="1600" i="1"/>
                            <m:t>𝜔</m:t>
                          </m:r>
                        </m:e>
                        <m:sub>
                          <m:r>
                            <a:rPr lang="es-AR" sz="1600" i="1"/>
                            <m:t>𝑚</m:t>
                          </m:r>
                        </m:sub>
                      </m:sSub>
                      <m:d>
                        <m:dPr>
                          <m:ctrlPr>
                            <a:rPr lang="es-AR" sz="1600" i="1"/>
                          </m:ctrlPr>
                        </m:dPr>
                        <m:e>
                          <m:r>
                            <a:rPr lang="es-AR" sz="1600" i="1"/>
                            <m:t>𝑡</m:t>
                          </m:r>
                        </m:e>
                      </m:d>
                    </m:oMath>
                  </m:oMathPara>
                </a14:m>
                <a:endParaRPr lang="en-US" sz="1100" dirty="0"/>
              </a:p>
            </p:txBody>
          </p:sp>
        </mc:Choice>
        <mc:Fallback>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4807891"/>
                <a:ext cx="7589520" cy="502920"/>
              </a:xfrm>
              <a:prstGeom prst="rect">
                <a:avLst/>
              </a:prstGeom>
              <a:blipFill>
                <a:blip r:embed="rId9"/>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16 / 67</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10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 y q</a:t>
            </a:r>
            <a:endParaRPr lang="en-US" sz="1100" dirty="0"/>
          </a:p>
        </p:txBody>
      </p:sp>
      <p:pic>
        <p:nvPicPr>
          <p:cNvPr id="22" name="Imagen 21">
            <a:extLst>
              <a:ext uri="{FF2B5EF4-FFF2-40B4-BE49-F238E27FC236}">
                <a16:creationId xmlns:a16="http://schemas.microsoft.com/office/drawing/2014/main" id="{3EB8B67E-5ABF-4E7B-A6B2-5D9359B2751E}"/>
              </a:ext>
            </a:extLst>
          </p:cNvPr>
          <p:cNvPicPr>
            <a:picLocks noChangeAspect="1"/>
          </p:cNvPicPr>
          <p:nvPr/>
        </p:nvPicPr>
        <p:blipFill>
          <a:blip r:embed="rId3"/>
          <a:stretch>
            <a:fillRect/>
          </a:stretch>
        </p:blipFill>
        <p:spPr>
          <a:xfrm>
            <a:off x="1126503" y="810142"/>
            <a:ext cx="10341247" cy="5084286"/>
          </a:xfrm>
          <a:prstGeom prst="rect">
            <a:avLst/>
          </a:prstGeom>
        </p:spPr>
      </p:pic>
    </p:spTree>
    <p:extLst>
      <p:ext uri="{BB962C8B-B14F-4D97-AF65-F5344CB8AC3E}">
        <p14:creationId xmlns:p14="http://schemas.microsoft.com/office/powerpoint/2010/main" val="330684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LTI </a:t>
            </a:r>
            <a:r>
              <a:rPr lang="en-US" sz="1900" b="1" dirty="0" err="1">
                <a:solidFill>
                  <a:srgbClr val="FFFFFF"/>
                </a:solidFill>
                <a:latin typeface="Calibri" pitchFamily="34" charset="0"/>
                <a:ea typeface="Calibri" pitchFamily="34" charset="-122"/>
                <a:cs typeface="Calibri" pitchFamily="34" charset="-120"/>
              </a:rPr>
              <a:t>equivalente</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aumentado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16 / 67</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853489"/>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𝑎𝑚𝑏</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d>
                                          </m:e>
                                        </m:mr>
                                      </m:m>
                                    </m:e>
                                  </m:mr>
                                </m:m>
                              </m:e>
                            </m:mr>
                          </m:m>
                        </m:e>
                      </m:d>
                    </m:oMath>
                  </m:oMathPara>
                </a14:m>
                <a:endParaRPr lang="es-AR" dirty="0"/>
              </a:p>
            </p:txBody>
          </p:sp>
        </mc:Choice>
        <mc:Fallback>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Modelo LTI </a:t>
            </a:r>
            <a:r>
              <a:rPr lang="en-US" sz="1900" b="1" dirty="0" err="1">
                <a:solidFill>
                  <a:srgbClr val="FFFFFF"/>
                </a:solidFill>
                <a:latin typeface="Calibri" pitchFamily="34" charset="0"/>
                <a:ea typeface="Calibri" pitchFamily="34" charset="-122"/>
                <a:cs typeface="Calibri" pitchFamily="34" charset="-120"/>
              </a:rPr>
              <a:t>equivalente</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aumentado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16 / 67</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a:blip r:embed="rId3"/>
          <a:stretch>
            <a:fillRect/>
          </a:stretch>
        </p:blipFill>
        <p:spPr>
          <a:xfrm>
            <a:off x="1422918" y="739997"/>
            <a:ext cx="8783968"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Funciones de transferencia y análisis de estabilidad</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17 / 67</a:t>
            </a:r>
            <a:endParaRPr lang="en-US" sz="900" dirty="0"/>
          </a:p>
        </p:txBody>
      </p:sp>
      <p:sp>
        <p:nvSpPr>
          <p:cNvPr id="7" name="Text 5"/>
          <p:cNvSpPr/>
          <p:nvPr/>
        </p:nvSpPr>
        <p:spPr>
          <a:xfrm>
            <a:off x="365760" y="777240"/>
            <a:ext cx="11430000" cy="41148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Aplicando Laplace al modelo LTI simplificado (condiciones iniciales nulas):</a:t>
            </a:r>
            <a:endParaRPr lang="en-US" sz="1300" dirty="0"/>
          </a:p>
        </p:txBody>
      </p:sp>
      <p:sp>
        <p:nvSpPr>
          <p:cNvPr id="8" name="Shape 6"/>
          <p:cNvSpPr/>
          <p:nvPr/>
        </p:nvSpPr>
        <p:spPr>
          <a:xfrm>
            <a:off x="365760" y="1261872"/>
            <a:ext cx="11430000" cy="621792"/>
          </a:xfrm>
          <a:prstGeom prst="rect">
            <a:avLst/>
          </a:prstGeom>
          <a:solidFill>
            <a:srgbClr val="FFF8E8"/>
          </a:solidFill>
          <a:ln w="19050">
            <a:solidFill>
              <a:srgbClr val="DDAA00"/>
            </a:solidFill>
            <a:prstDash val="solid"/>
          </a:ln>
        </p:spPr>
      </p:sp>
      <p:sp>
        <p:nvSpPr>
          <p:cNvPr id="9" name="Text 7"/>
          <p:cNvSpPr/>
          <p:nvPr/>
        </p:nvSpPr>
        <p:spPr>
          <a:xfrm>
            <a:off x="457200" y="1261872"/>
            <a:ext cx="11247120" cy="621792"/>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G_Vqs(s) = Θm(s)/Vqs^r(s) = (3/2)·Pp·λ'm / [Jeq·Lq·s³ + (Jeq·Rs+beq·Lq)·s² + (beq·Rs + (3/2)·Pp²·λ'm²)·s]     [Ec. 49]</a:t>
            </a:r>
            <a:endParaRPr lang="en-US" sz="1100" dirty="0"/>
          </a:p>
        </p:txBody>
      </p:sp>
      <p:sp>
        <p:nvSpPr>
          <p:cNvPr id="10" name="Shape 8"/>
          <p:cNvSpPr/>
          <p:nvPr/>
        </p:nvSpPr>
        <p:spPr>
          <a:xfrm>
            <a:off x="365760" y="1956816"/>
            <a:ext cx="11430000" cy="548640"/>
          </a:xfrm>
          <a:prstGeom prst="rect">
            <a:avLst/>
          </a:prstGeom>
          <a:solidFill>
            <a:srgbClr val="FFF8E8"/>
          </a:solidFill>
          <a:ln w="19050">
            <a:solidFill>
              <a:srgbClr val="DDAA00"/>
            </a:solidFill>
            <a:prstDash val="solid"/>
          </a:ln>
        </p:spPr>
      </p:sp>
      <p:sp>
        <p:nvSpPr>
          <p:cNvPr id="11" name="Text 9"/>
          <p:cNvSpPr/>
          <p:nvPr/>
        </p:nvSpPr>
        <p:spPr>
          <a:xfrm>
            <a:off x="457200" y="1956816"/>
            <a:ext cx="11247120" cy="54864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G_Tl(s) = Θm(s)/(Tl(s)/r) = −(sLq+Rs)/r / [denominador anterior]     [Ec. 50]</a:t>
            </a:r>
            <a:endParaRPr lang="en-US" sz="1100" dirty="0"/>
          </a:p>
        </p:txBody>
      </p:sp>
      <p:sp>
        <p:nvSpPr>
          <p:cNvPr id="12" name="Text 10"/>
          <p:cNvSpPr/>
          <p:nvPr/>
        </p:nvSpPr>
        <p:spPr>
          <a:xfrm>
            <a:off x="365760" y="260604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Polos a lazo abierto:</a:t>
            </a:r>
            <a:endParaRPr lang="en-US" sz="1300" dirty="0"/>
          </a:p>
        </p:txBody>
      </p:sp>
      <p:sp>
        <p:nvSpPr>
          <p:cNvPr id="13" name="Shape 11"/>
          <p:cNvSpPr/>
          <p:nvPr/>
        </p:nvSpPr>
        <p:spPr>
          <a:xfrm>
            <a:off x="365760" y="3063240"/>
            <a:ext cx="11430000" cy="548640"/>
          </a:xfrm>
          <a:prstGeom prst="rect">
            <a:avLst/>
          </a:prstGeom>
          <a:solidFill>
            <a:srgbClr val="FFF8E8"/>
          </a:solidFill>
          <a:ln w="19050">
            <a:solidFill>
              <a:srgbClr val="DDAA00"/>
            </a:solidFill>
            <a:prstDash val="solid"/>
          </a:ln>
        </p:spPr>
      </p:sp>
      <p:sp>
        <p:nvSpPr>
          <p:cNvPr id="14" name="Text 12"/>
          <p:cNvSpPr/>
          <p:nvPr/>
        </p:nvSpPr>
        <p:spPr>
          <a:xfrm>
            <a:off x="457200" y="3063240"/>
            <a:ext cx="11247120" cy="54864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s1 = 0  (integrador de posición)       s2,3 = σ ± jω  (par complejo conjugado)       s4 = −Rs/Ld  (polo eléctrico eje d)     [Ec. 52]</a:t>
            </a:r>
            <a:endParaRPr lang="en-US" sz="1100" dirty="0"/>
          </a:p>
        </p:txBody>
      </p:sp>
      <p:sp>
        <p:nvSpPr>
          <p:cNvPr id="15" name="Text 13"/>
          <p:cNvSpPr/>
          <p:nvPr/>
        </p:nvSpPr>
        <p:spPr>
          <a:xfrm>
            <a:off x="365760" y="370332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Frecuencia natural y amortiguamiento (dependen de Rs, Jeq, beq):</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4169664"/>
          <a:ext cx="11430000" cy="2084832"/>
        </p:xfrm>
        <a:graphic>
          <a:graphicData uri="http://schemas.openxmlformats.org/drawingml/2006/table">
            <a:tbl>
              <a:tblPr/>
              <a:tblGrid>
                <a:gridCol w="6217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Condición</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ωn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ζ</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Rs = 1.10 Ω (40°C), params nominales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174.15</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0.547</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Rs = 1.40 Ω (115°C), params nominales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174.31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0.695</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Jeq,beq mínimos (Rs @ 40°C)</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174.09</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0.547</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Jeq,beq máximos (Rs @ 40°C) — ml=1.5 kg</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114.46</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0.830</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Jeq,beq máximos (Rs @ 115°C)</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114.58</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1.054 — sobreamed.</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Observabilidad y Controlabilidad del modelo LTI</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18 / 67</a:t>
            </a:r>
            <a:endParaRPr lang="en-US" sz="900" dirty="0"/>
          </a:p>
        </p:txBody>
      </p:sp>
      <p:sp>
        <p:nvSpPr>
          <p:cNvPr id="7" name="Shape 5"/>
          <p:cNvSpPr/>
          <p:nvPr/>
        </p:nvSpPr>
        <p:spPr>
          <a:xfrm>
            <a:off x="365760" y="804672"/>
            <a:ext cx="11430000" cy="384048"/>
          </a:xfrm>
          <a:prstGeom prst="rect">
            <a:avLst/>
          </a:prstGeom>
          <a:solidFill>
            <a:srgbClr val="1A386B"/>
          </a:solidFill>
          <a:ln w="12700">
            <a:solidFill>
              <a:srgbClr val="1A386B"/>
            </a:solidFill>
            <a:prstDash val="solid"/>
          </a:ln>
        </p:spPr>
      </p:sp>
      <p:sp>
        <p:nvSpPr>
          <p:cNvPr id="8" name="Text 6"/>
          <p:cNvSpPr/>
          <p:nvPr/>
        </p:nvSpPr>
        <p:spPr>
          <a:xfrm>
            <a:off x="502920" y="804672"/>
            <a:ext cx="11155680" cy="384048"/>
          </a:xfrm>
          <a:prstGeom prst="rect">
            <a:avLst/>
          </a:prstGeom>
          <a:noFill/>
          <a:ln/>
        </p:spPr>
        <p:txBody>
          <a:bodyPr wrap="square" rtlCol="0" anchor="t"/>
          <a:lstStyle/>
          <a:p>
            <a:pPr marL="0" indent="0" algn="l">
              <a:buNone/>
            </a:pPr>
            <a:r>
              <a:rPr lang="en-US" sz="1300" b="1" dirty="0">
                <a:solidFill>
                  <a:srgbClr val="FFFFFF"/>
                </a:solidFill>
                <a:latin typeface="Calibri" pitchFamily="34" charset="0"/>
                <a:ea typeface="Calibri" pitchFamily="34" charset="-122"/>
                <a:cs typeface="Calibri" pitchFamily="34" charset="-120"/>
              </a:rPr>
              <a:t>Análisis de Observabilidad — Criterio de Kalman</a:t>
            </a:r>
            <a:endParaRPr lang="en-US" sz="1300" dirty="0"/>
          </a:p>
        </p:txBody>
      </p:sp>
      <p:sp>
        <p:nvSpPr>
          <p:cNvPr id="9" name="Text 7"/>
          <p:cNvSpPr/>
          <p:nvPr/>
        </p:nvSpPr>
        <p:spPr>
          <a:xfrm>
            <a:off x="365760" y="1261872"/>
            <a:ext cx="114300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Salida medida: y(t) = θm(t)  (posición angular). Se construye la matriz de observabilidad O = [C; CA; CA²; ...]ᵀ de orden 5×5.</a:t>
            </a:r>
            <a:endParaRPr lang="en-US" sz="1300" dirty="0"/>
          </a:p>
        </p:txBody>
      </p:sp>
      <p:sp>
        <p:nvSpPr>
          <p:cNvPr id="10" name="Text 8"/>
          <p:cNvSpPr/>
          <p:nvPr/>
        </p:nvSpPr>
        <p:spPr>
          <a:xfrm>
            <a:off x="365760" y="1810512"/>
            <a:ext cx="11430000" cy="475488"/>
          </a:xfrm>
          <a:prstGeom prst="rect">
            <a:avLst/>
          </a:prstGeom>
          <a:noFill/>
          <a:ln/>
        </p:spPr>
        <p:txBody>
          <a:bodyPr wrap="square" rtlCol="0" anchor="t"/>
          <a:lstStyle/>
          <a:p>
            <a:pPr marL="0" indent="0" algn="l">
              <a:buNone/>
            </a:pPr>
            <a:r>
              <a:rPr lang="en-US" sz="1300" b="1" dirty="0">
                <a:solidFill>
                  <a:srgbClr val="006600"/>
                </a:solidFill>
                <a:latin typeface="Calibri" pitchFamily="34" charset="0"/>
                <a:ea typeface="Calibri" pitchFamily="34" charset="-122"/>
                <a:cs typeface="Calibri" pitchFamily="34" charset="-120"/>
              </a:rPr>
              <a:t>Resultado:  rango(O) = 5  →  det(O) ≠ 0  →  SISTEMA COMPLETAMENTE OBSERVABLE desde la posición.</a:t>
            </a:r>
            <a:endParaRPr lang="en-US" sz="1300" dirty="0"/>
          </a:p>
        </p:txBody>
      </p:sp>
      <p:sp>
        <p:nvSpPr>
          <p:cNvPr id="11" name="Text 9"/>
          <p:cNvSpPr/>
          <p:nvPr/>
        </p:nvSpPr>
        <p:spPr>
          <a:xfrm>
            <a:off x="365760" y="2331720"/>
            <a:ext cx="11430000" cy="594360"/>
          </a:xfrm>
          <a:prstGeom prst="rect">
            <a:avLst/>
          </a:prstGeom>
          <a:noFill/>
          <a:ln/>
        </p:spPr>
        <p:txBody>
          <a:bodyPr wrap="square" rtlCol="0" anchor="t"/>
          <a:lstStyle/>
          <a:p>
            <a:pPr marL="0" indent="0" algn="l">
              <a:buNone/>
            </a:pPr>
            <a:r>
              <a:rPr lang="en-US" sz="1200" dirty="0">
                <a:solidFill>
                  <a:srgbClr val="555555"/>
                </a:solidFill>
                <a:latin typeface="Calibri" pitchFamily="34" charset="0"/>
                <a:ea typeface="Calibri" pitchFamily="34" charset="-122"/>
                <a:cs typeface="Calibri" pitchFamily="34" charset="-120"/>
              </a:rPr>
              <a:t>Todos los estados (θm, ωm, iqs^r, ids^r, Ts°) pueden ser estimados a partir de la medición de posición únicamente. Esto habilita el diseño de un observador de Luenberger de orden reducido.</a:t>
            </a:r>
            <a:endParaRPr lang="en-US" sz="1200" dirty="0"/>
          </a:p>
        </p:txBody>
      </p:sp>
      <p:sp>
        <p:nvSpPr>
          <p:cNvPr id="12" name="Shape 10"/>
          <p:cNvSpPr/>
          <p:nvPr/>
        </p:nvSpPr>
        <p:spPr>
          <a:xfrm>
            <a:off x="365760" y="2999232"/>
            <a:ext cx="11430000" cy="384048"/>
          </a:xfrm>
          <a:prstGeom prst="rect">
            <a:avLst/>
          </a:prstGeom>
          <a:solidFill>
            <a:srgbClr val="1A386B"/>
          </a:solidFill>
          <a:ln w="12700">
            <a:solidFill>
              <a:srgbClr val="1A386B"/>
            </a:solidFill>
            <a:prstDash val="solid"/>
          </a:ln>
        </p:spPr>
      </p:sp>
      <p:sp>
        <p:nvSpPr>
          <p:cNvPr id="13" name="Text 11"/>
          <p:cNvSpPr/>
          <p:nvPr/>
        </p:nvSpPr>
        <p:spPr>
          <a:xfrm>
            <a:off x="502920" y="2999232"/>
            <a:ext cx="11155680" cy="384048"/>
          </a:xfrm>
          <a:prstGeom prst="rect">
            <a:avLst/>
          </a:prstGeom>
          <a:noFill/>
          <a:ln/>
        </p:spPr>
        <p:txBody>
          <a:bodyPr wrap="square" rtlCol="0" anchor="t"/>
          <a:lstStyle/>
          <a:p>
            <a:pPr marL="0" indent="0" algn="l">
              <a:buNone/>
            </a:pPr>
            <a:r>
              <a:rPr lang="en-US" sz="1300" b="1" dirty="0">
                <a:solidFill>
                  <a:srgbClr val="FFFFFF"/>
                </a:solidFill>
                <a:latin typeface="Calibri" pitchFamily="34" charset="0"/>
                <a:ea typeface="Calibri" pitchFamily="34" charset="-122"/>
                <a:cs typeface="Calibri" pitchFamily="34" charset="-120"/>
              </a:rPr>
              <a:t>Análisis de Controlabilidad — Criterio de Kalman</a:t>
            </a:r>
            <a:endParaRPr lang="en-US" sz="1300" dirty="0"/>
          </a:p>
        </p:txBody>
      </p:sp>
      <p:sp>
        <p:nvSpPr>
          <p:cNvPr id="14" name="Text 12"/>
          <p:cNvSpPr/>
          <p:nvPr/>
        </p:nvSpPr>
        <p:spPr>
          <a:xfrm>
            <a:off x="365760" y="3456432"/>
            <a:ext cx="114300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Entradas de control: u(t) = [vqs^r(t), vds^r(t)]. Se construye la matriz de controlabilidad C = [B, AB, A²B, ...]  de orden 5×10.</a:t>
            </a:r>
            <a:endParaRPr lang="en-US" sz="1300" dirty="0"/>
          </a:p>
        </p:txBody>
      </p:sp>
      <p:sp>
        <p:nvSpPr>
          <p:cNvPr id="15" name="Text 13"/>
          <p:cNvSpPr/>
          <p:nvPr/>
        </p:nvSpPr>
        <p:spPr>
          <a:xfrm>
            <a:off x="365760" y="4005072"/>
            <a:ext cx="11430000" cy="475488"/>
          </a:xfrm>
          <a:prstGeom prst="rect">
            <a:avLst/>
          </a:prstGeom>
          <a:noFill/>
          <a:ln/>
        </p:spPr>
        <p:txBody>
          <a:bodyPr wrap="square" rtlCol="0" anchor="t"/>
          <a:lstStyle/>
          <a:p>
            <a:pPr marL="0" indent="0" algn="l">
              <a:buNone/>
            </a:pPr>
            <a:r>
              <a:rPr lang="en-US" sz="1300" b="1" dirty="0">
                <a:solidFill>
                  <a:srgbClr val="006600"/>
                </a:solidFill>
                <a:latin typeface="Calibri" pitchFamily="34" charset="0"/>
                <a:ea typeface="Calibri" pitchFamily="34" charset="-122"/>
                <a:cs typeface="Calibri" pitchFamily="34" charset="-120"/>
              </a:rPr>
              <a:t>Resultado:  rango(C) = 5  →  SISTEMA COMPLETAMENTE CONTROLABLE desde las tensiones vqs^r y vds^r.</a:t>
            </a:r>
            <a:endParaRPr lang="en-US" sz="1300" dirty="0"/>
          </a:p>
        </p:txBody>
      </p:sp>
      <p:sp>
        <p:nvSpPr>
          <p:cNvPr id="16" name="Text 14"/>
          <p:cNvSpPr/>
          <p:nvPr/>
        </p:nvSpPr>
        <p:spPr>
          <a:xfrm>
            <a:off x="365760" y="4526280"/>
            <a:ext cx="11430000" cy="475488"/>
          </a:xfrm>
          <a:prstGeom prst="rect">
            <a:avLst/>
          </a:prstGeom>
          <a:noFill/>
          <a:ln/>
        </p:spPr>
        <p:txBody>
          <a:bodyPr wrap="square" rtlCol="0" anchor="t"/>
          <a:lstStyle/>
          <a:p>
            <a:pPr marL="0" indent="0" algn="l">
              <a:buNone/>
            </a:pPr>
            <a:r>
              <a:rPr lang="en-US" sz="1200" dirty="0">
                <a:solidFill>
                  <a:srgbClr val="555555"/>
                </a:solidFill>
                <a:latin typeface="Calibri" pitchFamily="34" charset="0"/>
                <a:ea typeface="Calibri" pitchFamily="34" charset="-122"/>
                <a:cs typeface="Calibri" pitchFamily="34" charset="-120"/>
              </a:rPr>
              <a:t>Es posible asignar arbitrariamente todos los polos del sistema en lazo cerrado mediante realimentación de estado.</a:t>
            </a:r>
            <a:endParaRPr lang="en-US" sz="1200" dirty="0"/>
          </a:p>
        </p:txBody>
      </p:sp>
      <p:sp>
        <p:nvSpPr>
          <p:cNvPr id="17" name="Shape 15"/>
          <p:cNvSpPr/>
          <p:nvPr/>
        </p:nvSpPr>
        <p:spPr>
          <a:xfrm>
            <a:off x="365760" y="5074920"/>
            <a:ext cx="11430000" cy="685800"/>
          </a:xfrm>
          <a:prstGeom prst="rect">
            <a:avLst/>
          </a:prstGeom>
          <a:solidFill>
            <a:srgbClr val="E8F0FF"/>
          </a:solidFill>
          <a:ln w="12700">
            <a:solidFill>
              <a:srgbClr val="2E5FA3"/>
            </a:solidFill>
            <a:prstDash val="solid"/>
          </a:ln>
        </p:spPr>
      </p:sp>
      <p:sp>
        <p:nvSpPr>
          <p:cNvPr id="18" name="Text 16"/>
          <p:cNvSpPr/>
          <p:nvPr/>
        </p:nvSpPr>
        <p:spPr>
          <a:xfrm>
            <a:off x="502920" y="5120640"/>
            <a:ext cx="11155680" cy="594360"/>
          </a:xfrm>
          <a:prstGeom prst="rect">
            <a:avLst/>
          </a:prstGeom>
          <a:noFill/>
          <a:ln/>
        </p:spPr>
        <p:txBody>
          <a:bodyPr wrap="square" rtlCol="0" anchor="t"/>
          <a:lstStyle/>
          <a:p>
            <a:pPr marL="0" indent="0" algn="l">
              <a:buNone/>
            </a:pPr>
            <a:r>
              <a:rPr lang="en-US" sz="1200" dirty="0">
                <a:solidFill>
                  <a:srgbClr val="1A386B"/>
                </a:solidFill>
                <a:latin typeface="Calibri" pitchFamily="34" charset="0"/>
                <a:ea typeface="Calibri" pitchFamily="34" charset="-122"/>
                <a:cs typeface="Calibri" pitchFamily="34" charset="-120"/>
              </a:rPr>
              <a:t>Conclusión:  El sistema LTI equivalente es completamente observable (desde θm) y controlable (desde vqs^r, vds^r). Esto habilita el diseño riguroso del observador de Luenberger y del controlador por realimentación de estado.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Respuesta dinámica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Simulación del modelo NL · 4 cuadrantes · LTI vs NL</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19 / 67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Respuesta dinámica a lazo abierto — Descripción de la simulación</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20 / 67</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Se simula el modelo global NL con las siguientes entradas:</a:t>
            </a:r>
            <a:endParaRPr lang="en-US" sz="1400" dirty="0"/>
          </a:p>
        </p:txBody>
      </p:sp>
      <p:sp>
        <p:nvSpPr>
          <p:cNvPr id="8" name="Text 6"/>
          <p:cNvSpPr/>
          <p:nvPr/>
        </p:nvSpPr>
        <p:spPr>
          <a:xfrm>
            <a:off x="365760" y="1298448"/>
            <a:ext cx="11430000" cy="128016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Consigna de tensión vqs^r: escalones de ±19.56 V en t = 0.1 s, t = 0.7 s y t = 1.1 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Perturbaciones de torque de carga Tld: doble pulso ±5 N·m entre t = 0.3–0.9 s y t = 1.3–1.9 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Condiciones iniciales nulas: θm = ωm = iqs^r = ids^r = 0  ,  Ts = Tamb = 25°C</a:t>
            </a:r>
            <a:endParaRPr lang="en-US" sz="1300" dirty="0"/>
          </a:p>
        </p:txBody>
      </p:sp>
      <p:sp>
        <p:nvSpPr>
          <p:cNvPr id="9" name="Shape 7"/>
          <p:cNvSpPr/>
          <p:nvPr/>
        </p:nvSpPr>
        <p:spPr>
          <a:xfrm>
            <a:off x="365760" y="2651760"/>
            <a:ext cx="11430000" cy="777240"/>
          </a:xfrm>
          <a:prstGeom prst="rect">
            <a:avLst/>
          </a:prstGeom>
          <a:solidFill>
            <a:srgbClr val="F0F4FF"/>
          </a:solidFill>
          <a:ln w="19050">
            <a:solidFill>
              <a:srgbClr val="4466AA"/>
            </a:solidFill>
            <a:prstDash val="solid"/>
          </a:ln>
        </p:spPr>
      </p:sp>
      <p:sp>
        <p:nvSpPr>
          <p:cNvPr id="10" name="Text 8"/>
          <p:cNvSpPr/>
          <p:nvPr/>
        </p:nvSpPr>
        <p:spPr>
          <a:xfrm>
            <a:off x="457200" y="2651760"/>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14 — Entradas: consigna de tensión vqs^r y torque de perturbación Tld</a:t>
            </a:r>
            <a:endParaRPr lang="en-US" sz="1100" dirty="0"/>
          </a:p>
        </p:txBody>
      </p:sp>
      <p:sp>
        <p:nvSpPr>
          <p:cNvPr id="11" name="Text 9"/>
          <p:cNvSpPr/>
          <p:nvPr/>
        </p:nvSpPr>
        <p:spPr>
          <a:xfrm>
            <a:off x="365760" y="352044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Comportamientos observados:</a:t>
            </a:r>
            <a:endParaRPr lang="en-US" sz="1300" dirty="0"/>
          </a:p>
        </p:txBody>
      </p:sp>
      <p:sp>
        <p:nvSpPr>
          <p:cNvPr id="12" name="Text 10"/>
          <p:cNvSpPr/>
          <p:nvPr/>
        </p:nvSpPr>
        <p:spPr>
          <a:xfrm>
            <a:off x="365760" y="3931920"/>
            <a:ext cx="11430000" cy="173736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Al aplicar tensión positiva (t=0.1s): el rotor acelera rápidamente — operación en 1er cuadrante (motorización directa)</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Perturbaciones de torque: generan transitorios en la velocidad y cambios de signo en el torque electromagnético</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Al anular la tensión (t=0.7s): la velocidad desciende, el torque cambia de signo — 4° cuadrante (frenado regenerativo directo)</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negativa (t=1.1s): inversión del sentido de giro — 2° y 3° cuadrante explorados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Respuesta dinámica — Posición, velocidad y torque</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21 / 67</a:t>
            </a:r>
            <a:endParaRPr lang="en-US" sz="900" dirty="0"/>
          </a:p>
        </p:txBody>
      </p:sp>
      <p:sp>
        <p:nvSpPr>
          <p:cNvPr id="7" name="Shape 5"/>
          <p:cNvSpPr/>
          <p:nvPr/>
        </p:nvSpPr>
        <p:spPr>
          <a:xfrm>
            <a:off x="365760" y="804672"/>
            <a:ext cx="11430000" cy="3200400"/>
          </a:xfrm>
          <a:prstGeom prst="rect">
            <a:avLst/>
          </a:prstGeom>
          <a:solidFill>
            <a:srgbClr val="F0F4FF"/>
          </a:solidFill>
          <a:ln w="19050">
            <a:solidFill>
              <a:srgbClr val="4466AA"/>
            </a:solidFill>
            <a:prstDash val="solid"/>
          </a:ln>
        </p:spPr>
      </p:sp>
      <p:sp>
        <p:nvSpPr>
          <p:cNvPr id="8" name="Text 6"/>
          <p:cNvSpPr/>
          <p:nvPr/>
        </p:nvSpPr>
        <p:spPr>
          <a:xfrm>
            <a:off x="457200" y="804672"/>
            <a:ext cx="11247120" cy="32004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15 — θm(t), ωm(t) y Tm(t): respuesta del sistema NL ante escalones de tensión y perturbaciones de carga</a:t>
            </a:r>
            <a:endParaRPr lang="en-US" sz="1100" dirty="0"/>
          </a:p>
        </p:txBody>
      </p:sp>
      <p:sp>
        <p:nvSpPr>
          <p:cNvPr id="9" name="Text 7"/>
          <p:cNvSpPr/>
          <p:nvPr/>
        </p:nvSpPr>
        <p:spPr>
          <a:xfrm>
            <a:off x="365760" y="4114800"/>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Valores de establecimiento de ωm:</a:t>
            </a:r>
            <a:endParaRPr lang="en-US" sz="1300" dirty="0"/>
          </a:p>
        </p:txBody>
      </p:sp>
      <p:sp>
        <p:nvSpPr>
          <p:cNvPr id="10" name="Text 8"/>
          <p:cNvSpPr/>
          <p:nvPr/>
        </p:nvSpPr>
        <p:spPr>
          <a:xfrm>
            <a:off x="365760" y="4526280"/>
            <a:ext cx="5486400" cy="1234440"/>
          </a:xfrm>
          <a:prstGeom prst="rect">
            <a:avLst/>
          </a:prstGeom>
          <a:noFill/>
          <a:ln/>
        </p:spPr>
        <p:txBody>
          <a:bodyPr wrap="square" rtlCol="0" anchor="t"/>
          <a:lstStyle/>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t=0.3s: ωm = 403 rad/s  (motorización directa)</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t=0.7s: ωm = 416 rad/s, Tm = −0.024 N·m  (frenado regen.)</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t=1.1s: inversión — ωm = −5.9 rad/s transitorio</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t=1.1s RP: ωm = −423 rad/s  (motorización inversa)</a:t>
            </a:r>
            <a:endParaRPr lang="en-US" sz="1100" dirty="0"/>
          </a:p>
        </p:txBody>
      </p:sp>
      <p:sp>
        <p:nvSpPr>
          <p:cNvPr id="11" name="Text 9"/>
          <p:cNvSpPr/>
          <p:nvPr/>
        </p:nvSpPr>
        <p:spPr>
          <a:xfrm>
            <a:off x="6400800" y="4114800"/>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Valores de establecimiento de iqs^r:</a:t>
            </a:r>
            <a:endParaRPr lang="en-US" sz="1300" dirty="0"/>
          </a:p>
        </p:txBody>
      </p:sp>
      <p:sp>
        <p:nvSpPr>
          <p:cNvPr id="12" name="Text 10"/>
          <p:cNvSpPr/>
          <p:nvPr/>
        </p:nvSpPr>
        <p:spPr>
          <a:xfrm>
            <a:off x="6400800" y="4526280"/>
            <a:ext cx="5486400" cy="1234440"/>
          </a:xfrm>
          <a:prstGeom prst="rect">
            <a:avLst/>
          </a:prstGeom>
          <a:noFill/>
          <a:ln/>
        </p:spPr>
        <p:txBody>
          <a:bodyPr wrap="square" rtlCol="0" anchor="t"/>
          <a:lstStyle/>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t=0.1s RP: iqs^r = 0.285 A</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t=0.3s: iqs^r = 1.115 A  (compensando carga)</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t=0.5s: iqs^r = −0.337 A  (carga negativa)</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Picos de corriente altos en cambios de tensión</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Respuesta dinámica — Corrientes, temperatura y curvas Tm vs ωm</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22 / 67</a:t>
            </a:r>
            <a:endParaRPr lang="en-US" sz="900" dirty="0"/>
          </a:p>
        </p:txBody>
      </p:sp>
      <p:sp>
        <p:nvSpPr>
          <p:cNvPr id="7" name="Shape 5"/>
          <p:cNvSpPr/>
          <p:nvPr/>
        </p:nvSpPr>
        <p:spPr>
          <a:xfrm>
            <a:off x="365760" y="804672"/>
            <a:ext cx="11430000" cy="2011680"/>
          </a:xfrm>
          <a:prstGeom prst="rect">
            <a:avLst/>
          </a:prstGeom>
          <a:solidFill>
            <a:srgbClr val="F0F4FF"/>
          </a:solidFill>
          <a:ln w="19050">
            <a:solidFill>
              <a:srgbClr val="4466AA"/>
            </a:solidFill>
            <a:prstDash val="solid"/>
          </a:ln>
        </p:spPr>
      </p:sp>
      <p:sp>
        <p:nvSpPr>
          <p:cNvPr id="8" name="Text 6"/>
          <p:cNvSpPr/>
          <p:nvPr/>
        </p:nvSpPr>
        <p:spPr>
          <a:xfrm>
            <a:off x="457200" y="804672"/>
            <a:ext cx="11247120" cy="20116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18-20 — Corrientes iqs,ids (coordenadas qd) e iabc (reales) y temperatura Ts del estator</a:t>
            </a:r>
            <a:endParaRPr lang="en-US" sz="1100" dirty="0"/>
          </a:p>
        </p:txBody>
      </p:sp>
      <p:sp>
        <p:nvSpPr>
          <p:cNvPr id="9" name="Text 7"/>
          <p:cNvSpPr/>
          <p:nvPr/>
        </p:nvSpPr>
        <p:spPr>
          <a:xfrm>
            <a:off x="365760" y="2907792"/>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Comportamiento de las corrientes y temperatura:</a:t>
            </a:r>
            <a:endParaRPr lang="en-US" sz="1300" dirty="0"/>
          </a:p>
        </p:txBody>
      </p:sp>
      <p:sp>
        <p:nvSpPr>
          <p:cNvPr id="10" name="Text 8"/>
          <p:cNvSpPr/>
          <p:nvPr/>
        </p:nvSpPr>
        <p:spPr>
          <a:xfrm>
            <a:off x="365760" y="3310128"/>
            <a:ext cx="5486400" cy="1371600"/>
          </a:xfrm>
          <a:prstGeom prst="rect">
            <a:avLst/>
          </a:prstGeom>
          <a:noFill/>
          <a:ln/>
        </p:spPr>
        <p:txBody>
          <a:bodyPr wrap="square" rtlCol="0" anchor="t"/>
          <a:lstStyle/>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Picos de corriente en cada cambio de consigna de tensión (t=0.1, 0.7, 1.1s)</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Temperatura crece escalonadamente — mayor pendiente durante perturbaciones de carga</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Ts no supera 56°C en este ensayo (lejos de Ts,max = 115°C)</a:t>
            </a:r>
            <a:endParaRPr lang="en-US" sz="1100" dirty="0"/>
          </a:p>
        </p:txBody>
      </p:sp>
      <p:sp>
        <p:nvSpPr>
          <p:cNvPr id="11" name="Shape 9"/>
          <p:cNvSpPr/>
          <p:nvPr/>
        </p:nvSpPr>
        <p:spPr>
          <a:xfrm>
            <a:off x="6400800" y="2907792"/>
            <a:ext cx="5486400" cy="1828800"/>
          </a:xfrm>
          <a:prstGeom prst="rect">
            <a:avLst/>
          </a:prstGeom>
          <a:solidFill>
            <a:srgbClr val="F0F4FF"/>
          </a:solidFill>
          <a:ln w="19050">
            <a:solidFill>
              <a:srgbClr val="4466AA"/>
            </a:solidFill>
            <a:prstDash val="solid"/>
          </a:ln>
        </p:spPr>
      </p:sp>
      <p:sp>
        <p:nvSpPr>
          <p:cNvPr id="12" name="Text 10"/>
          <p:cNvSpPr/>
          <p:nvPr/>
        </p:nvSpPr>
        <p:spPr>
          <a:xfrm>
            <a:off x="6492240" y="2907792"/>
            <a:ext cx="5303520" cy="1828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25 — Curva Tm(t) vs ωm(t): los 4 cuadrantes de operación</a:t>
            </a:r>
            <a:endParaRPr lang="en-US" sz="1100" dirty="0"/>
          </a:p>
        </p:txBody>
      </p:sp>
      <p:sp>
        <p:nvSpPr>
          <p:cNvPr id="13" name="Text 11"/>
          <p:cNvSpPr/>
          <p:nvPr/>
        </p:nvSpPr>
        <p:spPr>
          <a:xfrm>
            <a:off x="6400800" y="4828032"/>
            <a:ext cx="5486400" cy="777240"/>
          </a:xfrm>
          <a:prstGeom prst="rect">
            <a:avLst/>
          </a:prstGeom>
          <a:noFill/>
          <a:ln/>
        </p:spPr>
        <p:txBody>
          <a:bodyPr wrap="square" rtlCol="0" anchor="t"/>
          <a:lstStyle/>
          <a:p>
            <a:pPr marL="0" indent="0" algn="l">
              <a:buNone/>
            </a:pPr>
            <a:r>
              <a:rPr lang="en-US" sz="1100" dirty="0">
                <a:solidFill>
                  <a:srgbClr val="555555"/>
                </a:solidFill>
                <a:latin typeface="Calibri" pitchFamily="34" charset="0"/>
                <a:ea typeface="Calibri" pitchFamily="34" charset="-122"/>
                <a:cs typeface="Calibri" pitchFamily="34" charset="-120"/>
              </a:rPr>
              <a:t>El sistema opera en los 4 cuadrantes:</a:t>
            </a:r>
            <a:endParaRPr lang="en-US" sz="1100" dirty="0"/>
          </a:p>
          <a:p>
            <a:pPr marL="0" indent="0" algn="l">
              <a:buNone/>
            </a:pPr>
            <a:r>
              <a:rPr lang="en-US" sz="1100" dirty="0">
                <a:solidFill>
                  <a:srgbClr val="555555"/>
                </a:solidFill>
                <a:latin typeface="Calibri" pitchFamily="34" charset="0"/>
                <a:ea typeface="Calibri" pitchFamily="34" charset="-122"/>
                <a:cs typeface="Calibri" pitchFamily="34" charset="-120"/>
              </a:rPr>
              <a:t>1° Motorización directa  |  2° Frenado regen. inverso</a:t>
            </a:r>
            <a:endParaRPr lang="en-US" sz="1100" dirty="0"/>
          </a:p>
          <a:p>
            <a:pPr marL="0" indent="0" algn="l">
              <a:buNone/>
            </a:pPr>
            <a:r>
              <a:rPr lang="en-US" sz="1100" dirty="0">
                <a:solidFill>
                  <a:srgbClr val="555555"/>
                </a:solidFill>
                <a:latin typeface="Calibri" pitchFamily="34" charset="0"/>
                <a:ea typeface="Calibri" pitchFamily="34" charset="-122"/>
                <a:cs typeface="Calibri" pitchFamily="34" charset="-120"/>
              </a:rPr>
              <a:t>3° Motorización inversa   |  4° Frenado regen. directo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Comparación modelo LTI vs. modelo No Lineal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23 / 67</a:t>
            </a:r>
            <a:endParaRPr lang="en-US" sz="900" dirty="0"/>
          </a:p>
        </p:txBody>
      </p:sp>
      <p:sp>
        <p:nvSpPr>
          <p:cNvPr id="7" name="Shape 5"/>
          <p:cNvSpPr/>
          <p:nvPr/>
        </p:nvSpPr>
        <p:spPr>
          <a:xfrm>
            <a:off x="365760" y="804672"/>
            <a:ext cx="11430000" cy="2926080"/>
          </a:xfrm>
          <a:prstGeom prst="rect">
            <a:avLst/>
          </a:prstGeom>
          <a:solidFill>
            <a:srgbClr val="F0F4FF"/>
          </a:solidFill>
          <a:ln w="19050">
            <a:solidFill>
              <a:srgbClr val="4466AA"/>
            </a:solidFill>
            <a:prstDash val="solid"/>
          </a:ln>
        </p:spPr>
      </p:sp>
      <p:sp>
        <p:nvSpPr>
          <p:cNvPr id="8" name="Text 6"/>
          <p:cNvSpPr/>
          <p:nvPr/>
        </p:nvSpPr>
        <p:spPr>
          <a:xfrm>
            <a:off x="457200" y="804672"/>
            <a:ext cx="11247120" cy="29260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21-24 — Comparación LTI vs NL: θm, ωm, Tm, Ts. Las curvas en negro = error entre modelos.</a:t>
            </a:r>
            <a:endParaRPr lang="en-US" sz="1100" dirty="0"/>
          </a:p>
        </p:txBody>
      </p:sp>
      <p:sp>
        <p:nvSpPr>
          <p:cNvPr id="9" name="Text 7"/>
          <p:cNvSpPr/>
          <p:nvPr/>
        </p:nvSpPr>
        <p:spPr>
          <a:xfrm>
            <a:off x="365760" y="3822192"/>
            <a:ext cx="114300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Conclusiones de la comparación:</a:t>
            </a:r>
            <a:endParaRPr lang="en-US" sz="1400" dirty="0"/>
          </a:p>
        </p:txBody>
      </p:sp>
      <p:sp>
        <p:nvSpPr>
          <p:cNvPr id="10" name="Text 8"/>
          <p:cNvSpPr/>
          <p:nvPr/>
        </p:nvSpPr>
        <p:spPr>
          <a:xfrm>
            <a:off x="365760" y="4251960"/>
            <a:ext cx="11430000" cy="182880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El modelo LTI reproduce adecuadamente la dinámica del NL en las condiciones consideradas — las discrepancias son pequeñas y acotadas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Las diferencias se concentran en los instantes de cambio de consigna y aplicación de perturbaciones — no en el régimen permanente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 mayor tiempo de simulación, la temperatura y su efecto sobre Rs tienden a separar progresivamente ambas respuestas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Conclusión:  la linealización es válida para el rango de operación analizado y las condiciones iniciales impuestas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Modulador de Torque Equivalente</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Control vectorial de corriente · Lazo interno del esquema en cascada</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24 / 67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Modulador de torque — Desacople y diseño de lazos de corriente</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25 / 67</a:t>
            </a:r>
            <a:endParaRPr lang="en-US" sz="900" dirty="0"/>
          </a:p>
        </p:txBody>
      </p:sp>
      <p:sp>
        <p:nvSpPr>
          <p:cNvPr id="7" name="Text 5"/>
          <p:cNvSpPr/>
          <p:nvPr/>
        </p:nvSpPr>
        <p:spPr>
          <a:xfrm>
            <a:off x="365760" y="777240"/>
            <a:ext cx="11430000" cy="5943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Objetivo: lograr que vqs^r actúe directamente sobre iqs^r y, por ende, sobre el torque, compensando los acoplamientos electromagnéticos naturales.</a:t>
            </a:r>
            <a:endParaRPr lang="en-US" sz="1300" dirty="0"/>
          </a:p>
        </p:txBody>
      </p:sp>
      <p:sp>
        <p:nvSpPr>
          <p:cNvPr id="8" name="Text 6"/>
          <p:cNvSpPr/>
          <p:nvPr/>
        </p:nvSpPr>
        <p:spPr>
          <a:xfrm>
            <a:off x="365760" y="1444752"/>
            <a:ext cx="11430000" cy="502920"/>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Las retroalimentaciones físicas del modelo electromagnético (caídas resistivas y acoplamientos cruzados) se compensan sumando a la consigna de tensión los términos correspondientes:</a:t>
            </a:r>
            <a:endParaRPr lang="en-US" sz="1300" dirty="0"/>
          </a:p>
        </p:txBody>
      </p:sp>
      <p:sp>
        <p:nvSpPr>
          <p:cNvPr id="9" name="Shape 7"/>
          <p:cNvSpPr/>
          <p:nvPr/>
        </p:nvSpPr>
        <p:spPr>
          <a:xfrm>
            <a:off x="365760" y="2011680"/>
            <a:ext cx="11430000" cy="566928"/>
          </a:xfrm>
          <a:prstGeom prst="rect">
            <a:avLst/>
          </a:prstGeom>
          <a:solidFill>
            <a:srgbClr val="FFF8E8"/>
          </a:solidFill>
          <a:ln w="19050">
            <a:solidFill>
              <a:srgbClr val="DDAA00"/>
            </a:solidFill>
            <a:prstDash val="solid"/>
          </a:ln>
        </p:spPr>
      </p:sp>
      <p:sp>
        <p:nvSpPr>
          <p:cNvPr id="10" name="Text 8"/>
          <p:cNvSpPr/>
          <p:nvPr/>
        </p:nvSpPr>
        <p:spPr>
          <a:xfrm>
            <a:off x="457200" y="2011680"/>
            <a:ext cx="11247120" cy="566928"/>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vqs^r(t) = v*qs^r(t) + Rs(Ts)·iqs^r + [λ'm + Ld·ids^r(t)]·Pp·ωm(t)     [Ec. compensación eje q]</a:t>
            </a:r>
            <a:endParaRPr lang="en-US" sz="1100" dirty="0"/>
          </a:p>
        </p:txBody>
      </p:sp>
      <p:sp>
        <p:nvSpPr>
          <p:cNvPr id="11" name="Shape 9"/>
          <p:cNvSpPr/>
          <p:nvPr/>
        </p:nvSpPr>
        <p:spPr>
          <a:xfrm>
            <a:off x="365760" y="2651760"/>
            <a:ext cx="11430000" cy="566928"/>
          </a:xfrm>
          <a:prstGeom prst="rect">
            <a:avLst/>
          </a:prstGeom>
          <a:solidFill>
            <a:srgbClr val="FFF8E8"/>
          </a:solidFill>
          <a:ln w="19050">
            <a:solidFill>
              <a:srgbClr val="DDAA00"/>
            </a:solidFill>
            <a:prstDash val="solid"/>
          </a:ln>
        </p:spPr>
      </p:sp>
      <p:sp>
        <p:nvSpPr>
          <p:cNvPr id="12" name="Text 10"/>
          <p:cNvSpPr/>
          <p:nvPr/>
        </p:nvSpPr>
        <p:spPr>
          <a:xfrm>
            <a:off x="457200" y="2651760"/>
            <a:ext cx="11247120" cy="566928"/>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vds^r(t) = v*ds^r(t) + Rs(Ts)·ids^r − Lq·iqs^r·Pp·ωm(t)                  [Ec. compensación eje d]</a:t>
            </a:r>
            <a:endParaRPr lang="en-US" sz="1100" dirty="0"/>
          </a:p>
        </p:txBody>
      </p:sp>
      <p:sp>
        <p:nvSpPr>
          <p:cNvPr id="13" name="Text 11"/>
          <p:cNvSpPr/>
          <p:nvPr/>
        </p:nvSpPr>
        <p:spPr>
          <a:xfrm>
            <a:off x="365760" y="3310128"/>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Resultado del desacople:</a:t>
            </a:r>
            <a:endParaRPr lang="en-US" sz="1300" dirty="0"/>
          </a:p>
        </p:txBody>
      </p:sp>
      <p:sp>
        <p:nvSpPr>
          <p:cNvPr id="14" name="Shape 12"/>
          <p:cNvSpPr/>
          <p:nvPr/>
        </p:nvSpPr>
        <p:spPr>
          <a:xfrm>
            <a:off x="365760" y="3767328"/>
            <a:ext cx="5486400" cy="548640"/>
          </a:xfrm>
          <a:prstGeom prst="rect">
            <a:avLst/>
          </a:prstGeom>
          <a:solidFill>
            <a:srgbClr val="FFF8E8"/>
          </a:solidFill>
          <a:ln w="19050">
            <a:solidFill>
              <a:srgbClr val="DDAA00"/>
            </a:solidFill>
            <a:prstDash val="solid"/>
          </a:ln>
        </p:spPr>
      </p:sp>
      <p:sp>
        <p:nvSpPr>
          <p:cNvPr id="15" name="Text 13"/>
          <p:cNvSpPr/>
          <p:nvPr/>
        </p:nvSpPr>
        <p:spPr>
          <a:xfrm>
            <a:off x="457200" y="3767328"/>
            <a:ext cx="5303520" cy="54864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diqs^r/dt = (1/Lq)·v*qs^r     diids^r/dt = (1/Ld)·v*ds^r     [Ec. 57]</a:t>
            </a:r>
            <a:endParaRPr lang="en-US" sz="1100" dirty="0"/>
          </a:p>
        </p:txBody>
      </p:sp>
      <p:sp>
        <p:nvSpPr>
          <p:cNvPr id="16" name="Text 14"/>
          <p:cNvSpPr/>
          <p:nvPr/>
        </p:nvSpPr>
        <p:spPr>
          <a:xfrm>
            <a:off x="6309360" y="3310128"/>
            <a:ext cx="54864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Controlador proporcional — Diseño:</a:t>
            </a:r>
            <a:endParaRPr lang="en-US" sz="1300" dirty="0"/>
          </a:p>
        </p:txBody>
      </p:sp>
      <p:sp>
        <p:nvSpPr>
          <p:cNvPr id="17" name="Text 15"/>
          <p:cNvSpPr/>
          <p:nvPr/>
        </p:nvSpPr>
        <p:spPr>
          <a:xfrm>
            <a:off x="6309360" y="3767328"/>
            <a:ext cx="5486400" cy="64008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Sistema de 1° orden estable con polo en pi = −Ri'/Li. Se ubica el polo en p = −5000 rad/s (BW ≈ 796 Hz):</a:t>
            </a:r>
            <a:endParaRPr lang="en-US" sz="1200" dirty="0"/>
          </a:p>
        </p:txBody>
      </p:sp>
      <p:sp>
        <p:nvSpPr>
          <p:cNvPr id="18" name="Shape 16"/>
          <p:cNvSpPr/>
          <p:nvPr/>
        </p:nvSpPr>
        <p:spPr>
          <a:xfrm>
            <a:off x="6309360" y="4480560"/>
            <a:ext cx="5486400" cy="548640"/>
          </a:xfrm>
          <a:prstGeom prst="rect">
            <a:avLst/>
          </a:prstGeom>
          <a:solidFill>
            <a:srgbClr val="FFF8E8"/>
          </a:solidFill>
          <a:ln w="19050">
            <a:solidFill>
              <a:srgbClr val="DDAA00"/>
            </a:solidFill>
            <a:prstDash val="solid"/>
          </a:ln>
        </p:spPr>
      </p:sp>
      <p:sp>
        <p:nvSpPr>
          <p:cNvPr id="19" name="Text 17"/>
          <p:cNvSpPr/>
          <p:nvPr/>
        </p:nvSpPr>
        <p:spPr>
          <a:xfrm>
            <a:off x="6400800" y="4480560"/>
            <a:ext cx="5303520" cy="54864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R'q = 5000·Lq = 29 Ω    R'd = 5000·Ld = 33 Ω    R'0 = 5000·Lls = 4 Ω</a:t>
            </a:r>
            <a:endParaRPr lang="en-US" sz="1100" dirty="0"/>
          </a:p>
        </p:txBody>
      </p:sp>
      <p:sp>
        <p:nvSpPr>
          <p:cNvPr id="20" name="Text 18"/>
          <p:cNvSpPr/>
          <p:nvPr/>
        </p:nvSpPr>
        <p:spPr>
          <a:xfrm>
            <a:off x="365760" y="4407408"/>
            <a:ext cx="5486400" cy="777240"/>
          </a:xfrm>
          <a:prstGeom prst="rect">
            <a:avLst/>
          </a:prstGeom>
          <a:noFill/>
          <a:ln/>
        </p:spPr>
        <p:txBody>
          <a:bodyPr wrap="square" rtlCol="0" anchor="t"/>
          <a:lstStyle/>
          <a:p>
            <a:pPr marL="0" indent="0" algn="l">
              <a:buNone/>
            </a:pPr>
            <a:r>
              <a:rPr lang="en-US" sz="1100" i="1" dirty="0">
                <a:solidFill>
                  <a:srgbClr val="555555"/>
                </a:solidFill>
                <a:latin typeface="Calibri" pitchFamily="34" charset="0"/>
                <a:ea typeface="Calibri" pitchFamily="34" charset="-122"/>
                <a:cs typeface="Calibri" pitchFamily="34" charset="-120"/>
              </a:rPr>
              <a:t>τcc = Lq/R'q ≈ 0.2 ms — la dinámica del lazo de corriente es ≈20× más rápida que la mecánica. Esto valida la hipótesis de la estructura en cascada.</a:t>
            </a:r>
            <a:endParaRPr lang="en-US" sz="1100" dirty="0"/>
          </a:p>
        </p:txBody>
      </p:sp>
      <p:sp>
        <p:nvSpPr>
          <p:cNvPr id="21" name="Shape 19"/>
          <p:cNvSpPr/>
          <p:nvPr/>
        </p:nvSpPr>
        <p:spPr>
          <a:xfrm>
            <a:off x="365760" y="5257800"/>
            <a:ext cx="11430000" cy="886968"/>
          </a:xfrm>
          <a:prstGeom prst="rect">
            <a:avLst/>
          </a:prstGeom>
          <a:solidFill>
            <a:srgbClr val="F0F4FF"/>
          </a:solidFill>
          <a:ln w="19050">
            <a:solidFill>
              <a:srgbClr val="4466AA"/>
            </a:solidFill>
            <a:prstDash val="solid"/>
          </a:ln>
        </p:spPr>
      </p:sp>
      <p:sp>
        <p:nvSpPr>
          <p:cNvPr id="22" name="Text 20"/>
          <p:cNvSpPr/>
          <p:nvPr/>
        </p:nvSpPr>
        <p:spPr>
          <a:xfrm>
            <a:off x="457200" y="5257800"/>
            <a:ext cx="11247120" cy="886968"/>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34 — Diagrama de bloques Simulink del lazo de corriente (modulador de corriente)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Modulador de torque — Consigna de torque y feedforward gravitacional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26 / 67</a:t>
            </a:r>
            <a:endParaRPr lang="en-US" sz="900" dirty="0"/>
          </a:p>
        </p:txBody>
      </p:sp>
      <p:sp>
        <p:nvSpPr>
          <p:cNvPr id="7" name="Text 5"/>
          <p:cNvSpPr/>
          <p:nvPr/>
        </p:nvSpPr>
        <p:spPr>
          <a:xfrm>
            <a:off x="365760" y="777240"/>
            <a:ext cx="11430000" cy="6858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La consigna de torque total incluye: referencia de torque T'm*(t) + compensación de fricción viscosa + compensación feedforward del torque gravitatorio (anticipa el efecto gravitacional para mejorar la respuesta dinámica):</a:t>
            </a:r>
            <a:endParaRPr lang="en-US" sz="1300" dirty="0"/>
          </a:p>
        </p:txBody>
      </p:sp>
      <p:sp>
        <p:nvSpPr>
          <p:cNvPr id="8" name="Shape 6"/>
          <p:cNvSpPr/>
          <p:nvPr/>
        </p:nvSpPr>
        <p:spPr>
          <a:xfrm>
            <a:off x="1371600" y="1536192"/>
            <a:ext cx="9144000" cy="594360"/>
          </a:xfrm>
          <a:prstGeom prst="rect">
            <a:avLst/>
          </a:prstGeom>
          <a:solidFill>
            <a:srgbClr val="FFF8E8"/>
          </a:solidFill>
          <a:ln w="19050">
            <a:solidFill>
              <a:srgbClr val="DDAA00"/>
            </a:solidFill>
            <a:prstDash val="solid"/>
          </a:ln>
        </p:spPr>
      </p:sp>
      <p:sp>
        <p:nvSpPr>
          <p:cNvPr id="9" name="Text 7"/>
          <p:cNvSpPr/>
          <p:nvPr/>
        </p:nvSpPr>
        <p:spPr>
          <a:xfrm>
            <a:off x="1463040" y="1536192"/>
            <a:ext cx="8961120" cy="59436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T*m(t) = T*'m(t) + beq·ωm(t) + (kl·g/r)·sin(θm(t)/r)     [Ec. 6]</a:t>
            </a:r>
            <a:endParaRPr lang="en-US" sz="1100" dirty="0"/>
          </a:p>
        </p:txBody>
      </p:sp>
      <p:sp>
        <p:nvSpPr>
          <p:cNvPr id="10" name="Text 8"/>
          <p:cNvSpPr/>
          <p:nvPr/>
        </p:nvSpPr>
        <p:spPr>
          <a:xfrm>
            <a:off x="365760" y="2212848"/>
            <a:ext cx="11430000" cy="411480"/>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Despejando la consigna de corriente (ley de control mínima i*ds^r = 0):</a:t>
            </a:r>
            <a:endParaRPr lang="en-US" sz="1300" dirty="0"/>
          </a:p>
        </p:txBody>
      </p:sp>
      <p:sp>
        <p:nvSpPr>
          <p:cNvPr id="11" name="Shape 9"/>
          <p:cNvSpPr/>
          <p:nvPr/>
        </p:nvSpPr>
        <p:spPr>
          <a:xfrm>
            <a:off x="1371600" y="2697480"/>
            <a:ext cx="9144000" cy="566928"/>
          </a:xfrm>
          <a:prstGeom prst="rect">
            <a:avLst/>
          </a:prstGeom>
          <a:solidFill>
            <a:srgbClr val="FFF8E8"/>
          </a:solidFill>
          <a:ln w="19050">
            <a:solidFill>
              <a:srgbClr val="DDAA00"/>
            </a:solidFill>
            <a:prstDash val="solid"/>
          </a:ln>
        </p:spPr>
      </p:sp>
      <p:sp>
        <p:nvSpPr>
          <p:cNvPr id="12" name="Text 10"/>
          <p:cNvSpPr/>
          <p:nvPr/>
        </p:nvSpPr>
        <p:spPr>
          <a:xfrm>
            <a:off x="1463040" y="2697480"/>
            <a:ext cx="8961120" cy="566928"/>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i*qs^r(t) = T*m(t) / [(3/2)·Pp·(λ'm + (Ld−Lq)·ids^r(t))]</a:t>
            </a:r>
            <a:endParaRPr lang="en-US" sz="1100" dirty="0"/>
          </a:p>
        </p:txBody>
      </p:sp>
      <p:sp>
        <p:nvSpPr>
          <p:cNvPr id="13" name="Text 11"/>
          <p:cNvSpPr/>
          <p:nvPr/>
        </p:nvSpPr>
        <p:spPr>
          <a:xfrm>
            <a:off x="365760" y="3337560"/>
            <a:ext cx="11430000" cy="41148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Con ids^r ≈ 0:  i*qs^r ≈ T*m / [(3/2)·Pp·λ'm]  →  máximo torque por unidad de corriente.</a:t>
            </a:r>
            <a:endParaRPr lang="en-US" sz="1200" dirty="0"/>
          </a:p>
        </p:txBody>
      </p:sp>
      <p:sp>
        <p:nvSpPr>
          <p:cNvPr id="14" name="Shape 12"/>
          <p:cNvSpPr/>
          <p:nvPr/>
        </p:nvSpPr>
        <p:spPr>
          <a:xfrm>
            <a:off x="365760" y="3822192"/>
            <a:ext cx="5394960" cy="1371600"/>
          </a:xfrm>
          <a:prstGeom prst="rect">
            <a:avLst/>
          </a:prstGeom>
          <a:solidFill>
            <a:srgbClr val="F0F4FF"/>
          </a:solidFill>
          <a:ln w="19050">
            <a:solidFill>
              <a:srgbClr val="4466AA"/>
            </a:solidFill>
            <a:prstDash val="solid"/>
          </a:ln>
        </p:spPr>
      </p:sp>
      <p:sp>
        <p:nvSpPr>
          <p:cNvPr id="15" name="Text 13"/>
          <p:cNvSpPr/>
          <p:nvPr/>
        </p:nvSpPr>
        <p:spPr>
          <a:xfrm>
            <a:off x="457200" y="3822192"/>
            <a:ext cx="5212080" cy="13716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35 — Diagrama de bloques Simulink del lazo de torque</a:t>
            </a:r>
            <a:endParaRPr lang="en-US" sz="1100" dirty="0"/>
          </a:p>
        </p:txBody>
      </p:sp>
      <p:sp>
        <p:nvSpPr>
          <p:cNvPr id="16" name="Shape 14"/>
          <p:cNvSpPr/>
          <p:nvPr/>
        </p:nvSpPr>
        <p:spPr>
          <a:xfrm>
            <a:off x="5943600" y="3822192"/>
            <a:ext cx="5852160" cy="1371600"/>
          </a:xfrm>
          <a:prstGeom prst="rect">
            <a:avLst/>
          </a:prstGeom>
          <a:solidFill>
            <a:srgbClr val="F0F4FF"/>
          </a:solidFill>
          <a:ln w="19050">
            <a:solidFill>
              <a:srgbClr val="4466AA"/>
            </a:solidFill>
            <a:prstDash val="solid"/>
          </a:ln>
        </p:spPr>
      </p:sp>
      <p:sp>
        <p:nvSpPr>
          <p:cNvPr id="17" name="Text 15"/>
          <p:cNvSpPr/>
          <p:nvPr/>
        </p:nvSpPr>
        <p:spPr>
          <a:xfrm>
            <a:off x="6035040" y="3822192"/>
            <a:ext cx="5669280" cy="13716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36 — Diagrama de bloques Simulink del modulador de torque completo (lazo de corriente + desacople)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Controlador externo PID y Observador de estado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Lazo externo de posición/velocidad · Observador de Luenberger</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27 / 67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Controlador externo de movimiento — Diseño del PID</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28 / 67</a:t>
            </a:r>
            <a:endParaRPr lang="en-US" sz="900" dirty="0"/>
          </a:p>
        </p:txBody>
      </p:sp>
      <p:sp>
        <p:nvSpPr>
          <p:cNvPr id="7" name="Text 5"/>
          <p:cNvSpPr/>
          <p:nvPr/>
        </p:nvSpPr>
        <p:spPr>
          <a:xfrm>
            <a:off x="365760" y="777240"/>
            <a:ext cx="11430000" cy="64008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Lazo externo de posición y velocidad. Para evitar derivadores sobre señales ruidosas, se realimenta directamente ωm(t) y la posición se obtiene por integración. Salida del PID: consigna de torque T'm*(t):</a:t>
            </a:r>
            <a:endParaRPr lang="en-US" sz="1300" dirty="0"/>
          </a:p>
        </p:txBody>
      </p:sp>
      <p:sp>
        <p:nvSpPr>
          <p:cNvPr id="8" name="Shape 6"/>
          <p:cNvSpPr/>
          <p:nvPr/>
        </p:nvSpPr>
        <p:spPr>
          <a:xfrm>
            <a:off x="1371600" y="1490472"/>
            <a:ext cx="9144000" cy="566928"/>
          </a:xfrm>
          <a:prstGeom prst="rect">
            <a:avLst/>
          </a:prstGeom>
          <a:solidFill>
            <a:srgbClr val="FFF8E8"/>
          </a:solidFill>
          <a:ln w="19050">
            <a:solidFill>
              <a:srgbClr val="DDAA00"/>
            </a:solidFill>
            <a:prstDash val="solid"/>
          </a:ln>
        </p:spPr>
      </p:sp>
      <p:sp>
        <p:nvSpPr>
          <p:cNvPr id="9" name="Text 7"/>
          <p:cNvSpPr/>
          <p:nvPr/>
        </p:nvSpPr>
        <p:spPr>
          <a:xfrm>
            <a:off x="1463040" y="1490472"/>
            <a:ext cx="8961120" cy="566928"/>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T*'m(t) = eω(t)·ba + eθ(t)·Ksa + Ksia·∫eθ(t)dt     [Ec. 60]</a:t>
            </a:r>
            <a:endParaRPr lang="en-US" sz="1100" dirty="0"/>
          </a:p>
        </p:txBody>
      </p:sp>
      <p:sp>
        <p:nvSpPr>
          <p:cNvPr id="10" name="Shape 8"/>
          <p:cNvSpPr/>
          <p:nvPr/>
        </p:nvSpPr>
        <p:spPr>
          <a:xfrm>
            <a:off x="1371600" y="2130552"/>
            <a:ext cx="9144000" cy="530352"/>
          </a:xfrm>
          <a:prstGeom prst="rect">
            <a:avLst/>
          </a:prstGeom>
          <a:solidFill>
            <a:srgbClr val="FFF8E8"/>
          </a:solidFill>
          <a:ln w="19050">
            <a:solidFill>
              <a:srgbClr val="DDAA00"/>
            </a:solidFill>
            <a:prstDash val="solid"/>
          </a:ln>
        </p:spPr>
      </p:sp>
      <p:sp>
        <p:nvSpPr>
          <p:cNvPr id="11" name="Text 9"/>
          <p:cNvSpPr/>
          <p:nvPr/>
        </p:nvSpPr>
        <p:spPr>
          <a:xfrm>
            <a:off x="1463040" y="2130552"/>
            <a:ext cx="8961120" cy="530352"/>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eθ = θ*m − θm     eω = θ̇*m − ωm = eθ·s (Laplace)</a:t>
            </a:r>
            <a:endParaRPr lang="en-US" sz="1100" dirty="0"/>
          </a:p>
        </p:txBody>
      </p:sp>
      <p:sp>
        <p:nvSpPr>
          <p:cNvPr id="12" name="Text 10"/>
          <p:cNvSpPr/>
          <p:nvPr/>
        </p:nvSpPr>
        <p:spPr>
          <a:xfrm>
            <a:off x="365760" y="2761488"/>
            <a:ext cx="11430000" cy="411480"/>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Diseño por sintonía serie (ζ=0.75, n=2·ζ+1=2.5, ωpos=800 rad/s):</a:t>
            </a:r>
            <a:endParaRPr lang="en-US" sz="1300" dirty="0"/>
          </a:p>
        </p:txBody>
      </p:sp>
      <p:sp>
        <p:nvSpPr>
          <p:cNvPr id="13" name="Shape 11"/>
          <p:cNvSpPr/>
          <p:nvPr/>
        </p:nvSpPr>
        <p:spPr>
          <a:xfrm>
            <a:off x="365760" y="3246120"/>
            <a:ext cx="11430000" cy="640080"/>
          </a:xfrm>
          <a:prstGeom prst="rect">
            <a:avLst/>
          </a:prstGeom>
          <a:solidFill>
            <a:srgbClr val="FFF8E8"/>
          </a:solidFill>
          <a:ln w="19050">
            <a:solidFill>
              <a:srgbClr val="DDAA00"/>
            </a:solidFill>
            <a:prstDash val="solid"/>
          </a:ln>
        </p:spPr>
      </p:sp>
      <p:sp>
        <p:nvSpPr>
          <p:cNvPr id="14" name="Text 12"/>
          <p:cNvSpPr/>
          <p:nvPr/>
        </p:nvSpPr>
        <p:spPr>
          <a:xfrm>
            <a:off x="457200" y="3246120"/>
            <a:ext cx="11247120" cy="64008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ba = Jeq·n·ωpos = 0.03957 N·m/(rad/s)     Ksa = Jeq·n·ω²pos = 31.656 N·m/rad     Ksia = Jeq·ω³pos = 10129.78 N·m/(rad·s)</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3977640"/>
          <a:ext cx="11430000" cy="1188720"/>
        </p:xfrm>
        <a:graphic>
          <a:graphicData uri="http://schemas.openxmlformats.org/drawingml/2006/table">
            <a:tbl>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9319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Condición Jeq</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Jeq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Polo 1</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Polo 2,3</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Mínimo /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1.978×10⁻⁵</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−800</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−600 ± 529i</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Máximo (ml=1.5 kg)</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4.583×10⁻⁵</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−438</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−212 ± 678i</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6" name="Text 13"/>
          <p:cNvSpPr/>
          <p:nvPr/>
        </p:nvSpPr>
        <p:spPr>
          <a:xfrm>
            <a:off x="365760" y="5239512"/>
            <a:ext cx="11430000" cy="411480"/>
          </a:xfrm>
          <a:prstGeom prst="rect">
            <a:avLst/>
          </a:prstGeom>
          <a:noFill/>
          <a:ln/>
        </p:spPr>
        <p:txBody>
          <a:bodyPr wrap="square" rtlCol="0" anchor="t"/>
          <a:lstStyle/>
          <a:p>
            <a:pPr marL="0" indent="0" algn="l">
              <a:buNone/>
            </a:pPr>
            <a:r>
              <a:rPr lang="en-US" sz="1200" dirty="0">
                <a:solidFill>
                  <a:srgbClr val="006600"/>
                </a:solidFill>
                <a:latin typeface="Calibri" pitchFamily="34" charset="0"/>
                <a:ea typeface="Calibri" pitchFamily="34" charset="-122"/>
                <a:cs typeface="Calibri" pitchFamily="34" charset="-120"/>
              </a:rPr>
              <a:t>En ambos casos los polos tienen parte real negativa → sistema estable en todo el rango de operación.</a:t>
            </a:r>
            <a:endParaRPr lang="en-US" sz="1200" dirty="0"/>
          </a:p>
        </p:txBody>
      </p:sp>
      <p:sp>
        <p:nvSpPr>
          <p:cNvPr id="17" name="Shape 14"/>
          <p:cNvSpPr/>
          <p:nvPr/>
        </p:nvSpPr>
        <p:spPr>
          <a:xfrm>
            <a:off x="365760" y="5705856"/>
            <a:ext cx="11430000" cy="886968"/>
          </a:xfrm>
          <a:prstGeom prst="rect">
            <a:avLst/>
          </a:prstGeom>
          <a:solidFill>
            <a:srgbClr val="F0F4FF"/>
          </a:solidFill>
          <a:ln w="19050">
            <a:solidFill>
              <a:srgbClr val="4466AA"/>
            </a:solidFill>
            <a:prstDash val="solid"/>
          </a:ln>
        </p:spPr>
      </p:sp>
      <p:sp>
        <p:nvSpPr>
          <p:cNvPr id="18" name="Text 15"/>
          <p:cNvSpPr/>
          <p:nvPr/>
        </p:nvSpPr>
        <p:spPr>
          <a:xfrm>
            <a:off x="457200" y="5705856"/>
            <a:ext cx="11247120" cy="886968"/>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37 — Diagrama de polos: lazo abierto vs. lazo corriente vs. controlador PID</a:t>
            </a:r>
            <a:endParaRPr lang="en-US" sz="1100" dirty="0"/>
          </a:p>
          <a:p>
            <a:pPr marL="0" indent="0" algn="ctr">
              <a:buNone/>
            </a:pPr>
            <a:r>
              <a:rPr lang="en-US" sz="1100" i="1" dirty="0">
                <a:solidFill>
                  <a:srgbClr val="224488"/>
                </a:solidFill>
                <a:latin typeface="Calibri" pitchFamily="34" charset="0"/>
                <a:ea typeface="Calibri" pitchFamily="34" charset="-122"/>
                <a:cs typeface="Calibri" pitchFamily="34" charset="-120"/>
              </a:rPr>
              <a:t>Figura 38 — Diagrama de bloques Simulink del controlador PID</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Set-point de posición y Observador de estado de orden reducido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29 / 67</a:t>
            </a:r>
            <a:endParaRPr lang="en-US" sz="900" dirty="0"/>
          </a:p>
        </p:txBody>
      </p:sp>
      <p:sp>
        <p:nvSpPr>
          <p:cNvPr id="7" name="Text 5"/>
          <p:cNvSpPr/>
          <p:nvPr/>
        </p:nvSpPr>
        <p:spPr>
          <a:xfrm>
            <a:off x="365760" y="804672"/>
            <a:ext cx="54864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Set-point de posición:</a:t>
            </a:r>
            <a:endParaRPr lang="en-US" sz="1400" dirty="0"/>
          </a:p>
        </p:txBody>
      </p:sp>
      <p:sp>
        <p:nvSpPr>
          <p:cNvPr id="8" name="Text 6"/>
          <p:cNvSpPr/>
          <p:nvPr/>
        </p:nvSpPr>
        <p:spPr>
          <a:xfrm>
            <a:off x="365760" y="1207008"/>
            <a:ext cx="5486400" cy="59436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Relaciona la posición articular q*(t) con la referencia del eje motor θ*m(t) a través de la relación de transmisión r:</a:t>
            </a:r>
            <a:endParaRPr lang="en-US" sz="1200" dirty="0"/>
          </a:p>
        </p:txBody>
      </p:sp>
      <p:sp>
        <p:nvSpPr>
          <p:cNvPr id="9" name="Shape 7"/>
          <p:cNvSpPr/>
          <p:nvPr/>
        </p:nvSpPr>
        <p:spPr>
          <a:xfrm>
            <a:off x="365760" y="1874520"/>
            <a:ext cx="5486400" cy="530352"/>
          </a:xfrm>
          <a:prstGeom prst="rect">
            <a:avLst/>
          </a:prstGeom>
          <a:solidFill>
            <a:srgbClr val="FFF8E8"/>
          </a:solidFill>
          <a:ln w="19050">
            <a:solidFill>
              <a:srgbClr val="DDAA00"/>
            </a:solidFill>
            <a:prstDash val="solid"/>
          </a:ln>
        </p:spPr>
      </p:sp>
      <p:sp>
        <p:nvSpPr>
          <p:cNvPr id="10" name="Text 8"/>
          <p:cNvSpPr/>
          <p:nvPr/>
        </p:nvSpPr>
        <p:spPr>
          <a:xfrm>
            <a:off x="457200" y="1874520"/>
            <a:ext cx="5303520" cy="530352"/>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θ*m(t) = r·q*(t)     ω*m(t) = r·q̇*(t)     [Ec. 71]</a:t>
            </a:r>
            <a:endParaRPr lang="en-US" sz="1100" dirty="0"/>
          </a:p>
        </p:txBody>
      </p:sp>
      <p:sp>
        <p:nvSpPr>
          <p:cNvPr id="11" name="Text 9"/>
          <p:cNvSpPr/>
          <p:nvPr/>
        </p:nvSpPr>
        <p:spPr>
          <a:xfrm>
            <a:off x="365760" y="2487168"/>
            <a:ext cx="5486400" cy="685800"/>
          </a:xfrm>
          <a:prstGeom prst="rect">
            <a:avLst/>
          </a:prstGeom>
          <a:noFill/>
          <a:ln/>
        </p:spPr>
        <p:txBody>
          <a:bodyPr wrap="square" rtlCol="0" anchor="t"/>
          <a:lstStyle/>
          <a:p>
            <a:pPr marL="0" indent="0" algn="l">
              <a:buNone/>
            </a:pPr>
            <a:r>
              <a:rPr lang="en-US" sz="1100" dirty="0">
                <a:solidFill>
                  <a:srgbClr val="555555"/>
                </a:solidFill>
                <a:latin typeface="Calibri" pitchFamily="34" charset="0"/>
                <a:ea typeface="Calibri" pitchFamily="34" charset="-122"/>
                <a:cs typeface="Calibri" pitchFamily="34" charset="-120"/>
              </a:rPr>
              <a:t>La derivada de la consigna no introduce ruido (opera sobre señales de referencia internas). Se adopta perfil trapezoidal de velocidad para suavizar los transitorios.</a:t>
            </a:r>
            <a:endParaRPr lang="en-US" sz="1100" dirty="0"/>
          </a:p>
        </p:txBody>
      </p:sp>
      <p:sp>
        <p:nvSpPr>
          <p:cNvPr id="12" name="Shape 10"/>
          <p:cNvSpPr/>
          <p:nvPr/>
        </p:nvSpPr>
        <p:spPr>
          <a:xfrm>
            <a:off x="365760" y="3246120"/>
            <a:ext cx="5486400" cy="1097280"/>
          </a:xfrm>
          <a:prstGeom prst="rect">
            <a:avLst/>
          </a:prstGeom>
          <a:solidFill>
            <a:srgbClr val="F0F4FF"/>
          </a:solidFill>
          <a:ln w="19050">
            <a:solidFill>
              <a:srgbClr val="4466AA"/>
            </a:solidFill>
            <a:prstDash val="solid"/>
          </a:ln>
        </p:spPr>
      </p:sp>
      <p:sp>
        <p:nvSpPr>
          <p:cNvPr id="13" name="Text 11"/>
          <p:cNvSpPr/>
          <p:nvPr/>
        </p:nvSpPr>
        <p:spPr>
          <a:xfrm>
            <a:off x="457200" y="3246120"/>
            <a:ext cx="5303520" cy="10972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39 — Diagrama de bloques del set-point de posición/velocidad</a:t>
            </a:r>
            <a:endParaRPr lang="en-US" sz="1100" dirty="0"/>
          </a:p>
        </p:txBody>
      </p:sp>
      <p:sp>
        <p:nvSpPr>
          <p:cNvPr id="14" name="Text 12"/>
          <p:cNvSpPr/>
          <p:nvPr/>
        </p:nvSpPr>
        <p:spPr>
          <a:xfrm>
            <a:off x="6400800" y="804672"/>
            <a:ext cx="54864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Observador de Luenberger de orden reducido:</a:t>
            </a:r>
            <a:endParaRPr lang="en-US" sz="1400" dirty="0"/>
          </a:p>
        </p:txBody>
      </p:sp>
      <p:sp>
        <p:nvSpPr>
          <p:cNvPr id="15" name="Text 13"/>
          <p:cNvSpPr/>
          <p:nvPr/>
        </p:nvSpPr>
        <p:spPr>
          <a:xfrm>
            <a:off x="6400800" y="1207008"/>
            <a:ext cx="5486400" cy="59436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Solo se mide θm. Como el sistema es observable, se puede estimar ωm a partir de un observador asintótico (Luenberger):</a:t>
            </a:r>
            <a:endParaRPr lang="en-US" sz="1200" dirty="0"/>
          </a:p>
        </p:txBody>
      </p:sp>
      <p:sp>
        <p:nvSpPr>
          <p:cNvPr id="16" name="Shape 14"/>
          <p:cNvSpPr/>
          <p:nvPr/>
        </p:nvSpPr>
        <p:spPr>
          <a:xfrm>
            <a:off x="6400800" y="1874520"/>
            <a:ext cx="5486400" cy="502920"/>
          </a:xfrm>
          <a:prstGeom prst="rect">
            <a:avLst/>
          </a:prstGeom>
          <a:solidFill>
            <a:srgbClr val="FFF8E8"/>
          </a:solidFill>
          <a:ln w="19050">
            <a:solidFill>
              <a:srgbClr val="DDAA00"/>
            </a:solidFill>
            <a:prstDash val="solid"/>
          </a:ln>
        </p:spPr>
      </p:sp>
      <p:sp>
        <p:nvSpPr>
          <p:cNvPr id="17" name="Text 15"/>
          <p:cNvSpPr/>
          <p:nvPr/>
        </p:nvSpPr>
        <p:spPr>
          <a:xfrm>
            <a:off x="6492240" y="1874520"/>
            <a:ext cx="5303520" cy="50292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θ̃̇m = ω̃m + kθ·(θm−θ̃m)     [corrección posición]</a:t>
            </a:r>
            <a:endParaRPr lang="en-US" sz="1100" dirty="0"/>
          </a:p>
        </p:txBody>
      </p:sp>
      <p:sp>
        <p:nvSpPr>
          <p:cNvPr id="18" name="Shape 16"/>
          <p:cNvSpPr/>
          <p:nvPr/>
        </p:nvSpPr>
        <p:spPr>
          <a:xfrm>
            <a:off x="6400800" y="2450592"/>
            <a:ext cx="5486400" cy="502920"/>
          </a:xfrm>
          <a:prstGeom prst="rect">
            <a:avLst/>
          </a:prstGeom>
          <a:solidFill>
            <a:srgbClr val="FFF8E8"/>
          </a:solidFill>
          <a:ln w="19050">
            <a:solidFill>
              <a:srgbClr val="DDAA00"/>
            </a:solidFill>
            <a:prstDash val="solid"/>
          </a:ln>
        </p:spPr>
      </p:sp>
      <p:sp>
        <p:nvSpPr>
          <p:cNvPr id="19" name="Text 17"/>
          <p:cNvSpPr/>
          <p:nvPr/>
        </p:nvSpPr>
        <p:spPr>
          <a:xfrm>
            <a:off x="6492240" y="2450592"/>
            <a:ext cx="5303520" cy="50292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ω̃̇m = T*'m/Jeq + kω·(θm−θ̃m)   [corrección velocidad]</a:t>
            </a:r>
            <a:endParaRPr lang="en-US" sz="1100" dirty="0"/>
          </a:p>
        </p:txBody>
      </p:sp>
      <p:sp>
        <p:nvSpPr>
          <p:cNvPr id="20" name="Text 18"/>
          <p:cNvSpPr/>
          <p:nvPr/>
        </p:nvSpPr>
        <p:spPr>
          <a:xfrm>
            <a:off x="6400800" y="3035808"/>
            <a:ext cx="5486400" cy="384048"/>
          </a:xfrm>
          <a:prstGeom prst="rect">
            <a:avLst/>
          </a:prstGeom>
          <a:noFill/>
          <a:ln/>
        </p:spPr>
        <p:txBody>
          <a:bodyPr wrap="square" rtlCol="0" anchor="t"/>
          <a:lstStyle/>
          <a:p>
            <a:pPr marL="0" indent="0" algn="l">
              <a:buNone/>
            </a:pPr>
            <a:r>
              <a:rPr lang="en-US" sz="1200" b="1" dirty="0">
                <a:solidFill>
                  <a:srgbClr val="1A386B"/>
                </a:solidFill>
                <a:latin typeface="Calibri" pitchFamily="34" charset="0"/>
                <a:ea typeface="Calibri" pitchFamily="34" charset="-122"/>
                <a:cs typeface="Calibri" pitchFamily="34" charset="-120"/>
              </a:rPr>
              <a:t>Diseño: polos dobles reales en p1,2 = −3200 rad/s (≫ polos PID):</a:t>
            </a:r>
            <a:endParaRPr lang="en-US" sz="1200" dirty="0"/>
          </a:p>
        </p:txBody>
      </p:sp>
      <p:sp>
        <p:nvSpPr>
          <p:cNvPr id="21" name="Shape 19"/>
          <p:cNvSpPr/>
          <p:nvPr/>
        </p:nvSpPr>
        <p:spPr>
          <a:xfrm>
            <a:off x="6400800" y="3493008"/>
            <a:ext cx="5486400" cy="502920"/>
          </a:xfrm>
          <a:prstGeom prst="rect">
            <a:avLst/>
          </a:prstGeom>
          <a:solidFill>
            <a:srgbClr val="FFF8E8"/>
          </a:solidFill>
          <a:ln w="19050">
            <a:solidFill>
              <a:srgbClr val="DDAA00"/>
            </a:solidFill>
            <a:prstDash val="solid"/>
          </a:ln>
        </p:spPr>
      </p:sp>
      <p:sp>
        <p:nvSpPr>
          <p:cNvPr id="22" name="Text 20"/>
          <p:cNvSpPr/>
          <p:nvPr/>
        </p:nvSpPr>
        <p:spPr>
          <a:xfrm>
            <a:off x="6492240" y="3493008"/>
            <a:ext cx="5303520" cy="50292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kθ = 6400 rad/s     kω = 1.024×10⁷ rad²/s²</a:t>
            </a:r>
            <a:endParaRPr lang="en-US" sz="1100" dirty="0"/>
          </a:p>
        </p:txBody>
      </p:sp>
      <p:sp>
        <p:nvSpPr>
          <p:cNvPr id="23" name="Shape 21"/>
          <p:cNvSpPr/>
          <p:nvPr/>
        </p:nvSpPr>
        <p:spPr>
          <a:xfrm>
            <a:off x="6400800" y="4069080"/>
            <a:ext cx="5486400" cy="777240"/>
          </a:xfrm>
          <a:prstGeom prst="rect">
            <a:avLst/>
          </a:prstGeom>
          <a:solidFill>
            <a:srgbClr val="F0F4FF"/>
          </a:solidFill>
          <a:ln w="19050">
            <a:solidFill>
              <a:srgbClr val="4466AA"/>
            </a:solidFill>
            <a:prstDash val="solid"/>
          </a:ln>
        </p:spPr>
      </p:sp>
      <p:sp>
        <p:nvSpPr>
          <p:cNvPr id="24" name="Text 22"/>
          <p:cNvSpPr/>
          <p:nvPr/>
        </p:nvSpPr>
        <p:spPr>
          <a:xfrm>
            <a:off x="6492240" y="4069080"/>
            <a:ext cx="53035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40 — Diagrama de bloques Simulink del observador de estado reducido</a:t>
            </a:r>
            <a:endParaRPr lang="en-US" sz="1100" dirty="0"/>
          </a:p>
        </p:txBody>
      </p:sp>
      <p:sp>
        <p:nvSpPr>
          <p:cNvPr id="25" name="Text 23"/>
          <p:cNvSpPr/>
          <p:nvPr/>
        </p:nvSpPr>
        <p:spPr>
          <a:xfrm>
            <a:off x="6400800" y="4919472"/>
            <a:ext cx="5486400" cy="777240"/>
          </a:xfrm>
          <a:prstGeom prst="rect">
            <a:avLst/>
          </a:prstGeom>
          <a:noFill/>
          <a:ln/>
        </p:spPr>
        <p:txBody>
          <a:bodyPr wrap="square" rtlCol="0" anchor="t"/>
          <a:lstStyle/>
          <a:p>
            <a:pPr marL="0" indent="0" algn="l">
              <a:buNone/>
            </a:pPr>
            <a:r>
              <a:rPr lang="en-US" sz="1100" i="1" dirty="0">
                <a:solidFill>
                  <a:srgbClr val="996600"/>
                </a:solidFill>
                <a:latin typeface="Calibri" pitchFamily="34" charset="0"/>
                <a:ea typeface="Calibri" pitchFamily="34" charset="-122"/>
                <a:cs typeface="Calibri" pitchFamily="34" charset="-120"/>
              </a:rPr>
              <a:t>Nota: el observador básico (sin integral) presentará error estacionario frente a perturbaciones de torque constante → se mejora en la sección de mejoras.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Simulación en tiempo continuo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Seguimiento de consigna · Rechazo a perturbaciones · Análisis de variables</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30 / 67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Seguimiento de consigna — Consigna trapezoidal de posición</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31 / 67</a:t>
            </a:r>
            <a:endParaRPr lang="en-US" sz="900" dirty="0"/>
          </a:p>
        </p:txBody>
      </p:sp>
      <p:sp>
        <p:nvSpPr>
          <p:cNvPr id="7" name="Text 5"/>
          <p:cNvSpPr/>
          <p:nvPr/>
        </p:nvSpPr>
        <p:spPr>
          <a:xfrm>
            <a:off x="365760" y="777240"/>
            <a:ext cx="11430000" cy="6858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Consigna: trayectoria articular q*(t) trapezoidal de posición (1 revolución completa de la articulación, rampas de 5 s). Se evalúa el seguimiento de θm(t), ωm(t) y la estimación del observador.</a:t>
            </a:r>
            <a:endParaRPr lang="en-US" sz="1300" dirty="0"/>
          </a:p>
        </p:txBody>
      </p:sp>
      <p:sp>
        <p:nvSpPr>
          <p:cNvPr id="8" name="Shape 6"/>
          <p:cNvSpPr/>
          <p:nvPr/>
        </p:nvSpPr>
        <p:spPr>
          <a:xfrm>
            <a:off x="365760" y="1536192"/>
            <a:ext cx="11430000" cy="1234440"/>
          </a:xfrm>
          <a:prstGeom prst="rect">
            <a:avLst/>
          </a:prstGeom>
          <a:solidFill>
            <a:srgbClr val="F0F4FF"/>
          </a:solidFill>
          <a:ln w="19050">
            <a:solidFill>
              <a:srgbClr val="4466AA"/>
            </a:solidFill>
            <a:prstDash val="solid"/>
          </a:ln>
        </p:spPr>
      </p:sp>
      <p:sp>
        <p:nvSpPr>
          <p:cNvPr id="9" name="Text 7"/>
          <p:cNvSpPr/>
          <p:nvPr/>
        </p:nvSpPr>
        <p:spPr>
          <a:xfrm>
            <a:off x="457200" y="1536192"/>
            <a:ext cx="11247120" cy="12344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41-42 — Consignas articular q*(t) y de eje motor θ*m(t) con perfil trapezoidal de posición</a:t>
            </a:r>
            <a:endParaRPr lang="en-US" sz="1100" dirty="0"/>
          </a:p>
        </p:txBody>
      </p:sp>
      <p:sp>
        <p:nvSpPr>
          <p:cNvPr id="10" name="Shape 8"/>
          <p:cNvSpPr/>
          <p:nvPr/>
        </p:nvSpPr>
        <p:spPr>
          <a:xfrm>
            <a:off x="365760" y="2852928"/>
            <a:ext cx="11430000" cy="1234440"/>
          </a:xfrm>
          <a:prstGeom prst="rect">
            <a:avLst/>
          </a:prstGeom>
          <a:solidFill>
            <a:srgbClr val="F0F4FF"/>
          </a:solidFill>
          <a:ln w="19050">
            <a:solidFill>
              <a:srgbClr val="4466AA"/>
            </a:solidFill>
            <a:prstDash val="solid"/>
          </a:ln>
        </p:spPr>
      </p:sp>
      <p:sp>
        <p:nvSpPr>
          <p:cNvPr id="11" name="Text 9"/>
          <p:cNvSpPr/>
          <p:nvPr/>
        </p:nvSpPr>
        <p:spPr>
          <a:xfrm>
            <a:off x="457200" y="2852928"/>
            <a:ext cx="11247120" cy="12344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43-44 — Comparación θm(t) real vs. estimado vs. consigna. Detalle del transitorio en t=5s (sobrepaso y oscilación amortiguada corta).</a:t>
            </a:r>
            <a:endParaRPr lang="en-US" sz="1100" dirty="0"/>
          </a:p>
        </p:txBody>
      </p:sp>
      <p:sp>
        <p:nvSpPr>
          <p:cNvPr id="12" name="Shape 10"/>
          <p:cNvSpPr/>
          <p:nvPr/>
        </p:nvSpPr>
        <p:spPr>
          <a:xfrm>
            <a:off x="365760" y="4160520"/>
            <a:ext cx="11430000" cy="1097280"/>
          </a:xfrm>
          <a:prstGeom prst="rect">
            <a:avLst/>
          </a:prstGeom>
          <a:solidFill>
            <a:srgbClr val="F0F4FF"/>
          </a:solidFill>
          <a:ln w="19050">
            <a:solidFill>
              <a:srgbClr val="4466AA"/>
            </a:solidFill>
            <a:prstDash val="solid"/>
          </a:ln>
        </p:spPr>
      </p:sp>
      <p:sp>
        <p:nvSpPr>
          <p:cNvPr id="13" name="Text 11"/>
          <p:cNvSpPr/>
          <p:nvPr/>
        </p:nvSpPr>
        <p:spPr>
          <a:xfrm>
            <a:off x="457200" y="4160520"/>
            <a:ext cx="11247120" cy="10972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45-46 — Comparación ωm(t) real vs. estimado vs. consigna. El observador sigue adecuadamente la velocidad real.</a:t>
            </a:r>
            <a:endParaRPr lang="en-US" sz="1100" dirty="0"/>
          </a:p>
        </p:txBody>
      </p:sp>
      <p:sp>
        <p:nvSpPr>
          <p:cNvPr id="14" name="Text 12"/>
          <p:cNvSpPr/>
          <p:nvPr/>
        </p:nvSpPr>
        <p:spPr>
          <a:xfrm>
            <a:off x="365760" y="5330952"/>
            <a:ext cx="11430000" cy="411480"/>
          </a:xfrm>
          <a:prstGeom prst="rect">
            <a:avLst/>
          </a:prstGeom>
          <a:noFill/>
          <a:ln/>
        </p:spPr>
        <p:txBody>
          <a:bodyPr wrap="square" rtlCol="0" anchor="t"/>
          <a:lstStyle/>
          <a:p>
            <a:pPr marL="0" indent="0" algn="l">
              <a:buNone/>
            </a:pPr>
            <a:r>
              <a:rPr lang="en-US" sz="1200" dirty="0">
                <a:solidFill>
                  <a:srgbClr val="006600"/>
                </a:solidFill>
                <a:latin typeface="Calibri" pitchFamily="34" charset="0"/>
                <a:ea typeface="Calibri" pitchFamily="34" charset="-122"/>
                <a:cs typeface="Calibri" pitchFamily="34" charset="-120"/>
              </a:rPr>
              <a:t>Resultado:  seguimiento de posición muy bueno, error mínimo en RP. El observador estima correctamente en ausencia de perturbaciones.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Seguimiento de consigna — Variables eléctricas y limitaciones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32 / 67</a:t>
            </a:r>
            <a:endParaRPr lang="en-US" sz="900" dirty="0"/>
          </a:p>
        </p:txBody>
      </p:sp>
      <p:sp>
        <p:nvSpPr>
          <p:cNvPr id="7" name="Shape 5"/>
          <p:cNvSpPr/>
          <p:nvPr/>
        </p:nvSpPr>
        <p:spPr>
          <a:xfrm>
            <a:off x="365760" y="804672"/>
            <a:ext cx="11430000" cy="2286000"/>
          </a:xfrm>
          <a:prstGeom prst="rect">
            <a:avLst/>
          </a:prstGeom>
          <a:solidFill>
            <a:srgbClr val="F0F4FF"/>
          </a:solidFill>
          <a:ln w="19050">
            <a:solidFill>
              <a:srgbClr val="4466AA"/>
            </a:solidFill>
            <a:prstDash val="solid"/>
          </a:ln>
        </p:spPr>
      </p:sp>
      <p:sp>
        <p:nvSpPr>
          <p:cNvPr id="8" name="Text 6"/>
          <p:cNvSpPr/>
          <p:nvPr/>
        </p:nvSpPr>
        <p:spPr>
          <a:xfrm>
            <a:off x="457200" y="804672"/>
            <a:ext cx="11247120" cy="22860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47-50 — Torque Tm(t), corrientes iabc(t), tensiones vabc(t) y temperatura Ts del estator durante seguimiento de consigna trapezoidal de posición.</a:t>
            </a:r>
            <a:endParaRPr lang="en-US" sz="1100" dirty="0"/>
          </a:p>
        </p:txBody>
      </p:sp>
      <p:sp>
        <p:nvSpPr>
          <p:cNvPr id="9" name="Text 7"/>
          <p:cNvSpPr/>
          <p:nvPr/>
        </p:nvSpPr>
        <p:spPr>
          <a:xfrm>
            <a:off x="365760" y="3182112"/>
            <a:ext cx="11430000" cy="411480"/>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Especificaciones de operación vs. valores de simulación (consigna trapezoidal brusca):</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3657600"/>
          <a:ext cx="11430000" cy="1965960"/>
        </p:xfrm>
        <a:graphic>
          <a:graphicData uri="http://schemas.openxmlformats.org/drawingml/2006/table">
            <a:tbl>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9319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Espec. continuo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Espec. pico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Sim. continuo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Sim. pico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Torque (caja)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17.0 N·m</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45.0 N·m</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0.039 N·m</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5.011 N·m ✓</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Vel. angular (caja)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6.28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6.28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1.00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1.595 rad/s ✓</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Vel. angular (motor)</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691.15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691.15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120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191.41 rad/s ✓</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Corriente (estator)</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0.4 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2.0 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0.541 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72.5 A ⚠</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Tensión de fase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 V</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48 V</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5.07 V</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1972 V ⚠</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Text 8"/>
          <p:cNvSpPr/>
          <p:nvPr/>
        </p:nvSpPr>
        <p:spPr>
          <a:xfrm>
            <a:off x="365760" y="5687568"/>
            <a:ext cx="11430000" cy="475488"/>
          </a:xfrm>
          <a:prstGeom prst="rect">
            <a:avLst/>
          </a:prstGeom>
          <a:noFill/>
          <a:ln/>
        </p:spPr>
        <p:txBody>
          <a:bodyPr wrap="square" rtlCol="0" anchor="t"/>
          <a:lstStyle/>
          <a:p>
            <a:pPr marL="0" indent="0" algn="l">
              <a:buNone/>
            </a:pPr>
            <a:r>
              <a:rPr lang="en-US" sz="1100" dirty="0">
                <a:solidFill>
                  <a:srgbClr val="990000"/>
                </a:solidFill>
                <a:latin typeface="Calibri" pitchFamily="34" charset="0"/>
                <a:ea typeface="Calibri" pitchFamily="34" charset="-122"/>
                <a:cs typeface="Calibri" pitchFamily="34" charset="-120"/>
              </a:rPr>
              <a:t>⚠ Los valores pico de corriente (72.5 A vs. 2.0 A spec.) y tensión (1972 V vs. 48 V spec.) superan ampliamente los límites admisibles. La consigna trapezoidal brusca no es adecuada para el sistema físico real. Solución: usar consigna de velocidad trapezoidal.</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Rechazo a perturbaciones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33 / 67</a:t>
            </a:r>
            <a:endParaRPr lang="en-US" sz="900" dirty="0"/>
          </a:p>
        </p:txBody>
      </p:sp>
      <p:sp>
        <p:nvSpPr>
          <p:cNvPr id="7" name="Text 5"/>
          <p:cNvSpPr/>
          <p:nvPr/>
        </p:nvSpPr>
        <p:spPr>
          <a:xfrm>
            <a:off x="365760" y="777240"/>
            <a:ext cx="11430000" cy="5943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 una perturbación de par resistente: Tld = −5 N·m en t=5s y luego +5 N·m en t=10s (cambio de signo — condición más exigente).</a:t>
            </a:r>
            <a:endParaRPr lang="en-US" sz="1300" dirty="0"/>
          </a:p>
        </p:txBody>
      </p:sp>
      <p:sp>
        <p:nvSpPr>
          <p:cNvPr id="8" name="Shape 6"/>
          <p:cNvSpPr/>
          <p:nvPr/>
        </p:nvSpPr>
        <p:spPr>
          <a:xfrm>
            <a:off x="365760" y="1444752"/>
            <a:ext cx="5394960" cy="1280160"/>
          </a:xfrm>
          <a:prstGeom prst="rect">
            <a:avLst/>
          </a:prstGeom>
          <a:solidFill>
            <a:srgbClr val="F0F4FF"/>
          </a:solidFill>
          <a:ln w="19050">
            <a:solidFill>
              <a:srgbClr val="4466AA"/>
            </a:solidFill>
            <a:prstDash val="solid"/>
          </a:ln>
        </p:spPr>
      </p:sp>
      <p:sp>
        <p:nvSpPr>
          <p:cNvPr id="9" name="Text 7"/>
          <p:cNvSpPr/>
          <p:nvPr/>
        </p:nvSpPr>
        <p:spPr>
          <a:xfrm>
            <a:off x="457200" y="1444752"/>
            <a:ext cx="5212080" cy="128016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51 — Perfil de perturbación Tld(t)</a:t>
            </a:r>
            <a:endParaRPr lang="en-US" sz="1100" dirty="0"/>
          </a:p>
        </p:txBody>
      </p:sp>
      <p:sp>
        <p:nvSpPr>
          <p:cNvPr id="10" name="Shape 8"/>
          <p:cNvSpPr/>
          <p:nvPr/>
        </p:nvSpPr>
        <p:spPr>
          <a:xfrm>
            <a:off x="5943600" y="1444752"/>
            <a:ext cx="5852160" cy="1280160"/>
          </a:xfrm>
          <a:prstGeom prst="rect">
            <a:avLst/>
          </a:prstGeom>
          <a:solidFill>
            <a:srgbClr val="F0F4FF"/>
          </a:solidFill>
          <a:ln w="19050">
            <a:solidFill>
              <a:srgbClr val="4466AA"/>
            </a:solidFill>
            <a:prstDash val="solid"/>
          </a:ln>
        </p:spPr>
      </p:sp>
      <p:sp>
        <p:nvSpPr>
          <p:cNvPr id="11" name="Text 9"/>
          <p:cNvSpPr/>
          <p:nvPr/>
        </p:nvSpPr>
        <p:spPr>
          <a:xfrm>
            <a:off x="6035040" y="1444752"/>
            <a:ext cx="5669280" cy="128016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52 — Respuesta de θm(t) con error de estado estacionario frente a Tld</a:t>
            </a:r>
            <a:endParaRPr lang="en-US" sz="1100" dirty="0"/>
          </a:p>
        </p:txBody>
      </p:sp>
      <p:sp>
        <p:nvSpPr>
          <p:cNvPr id="12" name="Text 10"/>
          <p:cNvSpPr/>
          <p:nvPr/>
        </p:nvSpPr>
        <p:spPr>
          <a:xfrm>
            <a:off x="365760" y="2834640"/>
            <a:ext cx="114300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Análisis de resultados:</a:t>
            </a:r>
            <a:endParaRPr lang="en-US" sz="1400" dirty="0"/>
          </a:p>
        </p:txBody>
      </p:sp>
      <p:sp>
        <p:nvSpPr>
          <p:cNvPr id="13" name="Text 11"/>
          <p:cNvSpPr/>
          <p:nvPr/>
        </p:nvSpPr>
        <p:spPr>
          <a:xfrm>
            <a:off x="365760" y="3273552"/>
            <a:ext cx="11430000" cy="196596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El controlador compensa eficazmente la variación de carga — el error transitorio es acotado y rápidamente amortiguado</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Aparece un error de estado estacionario en la posición frente a Tld constante — el observador básico no tiene acción integral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La señal estimada sigue consistentemente la posición real sin discrepancias significativas durante el transitorio</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Conclusión:  sistema con buen rechazo a perturbaciones, pero se requiere acción integral en el observador para eliminar el error estacionario → mejora en la sección 4.5.2</a:t>
            </a:r>
            <a:endParaRPr lang="en-US" sz="1300" dirty="0"/>
          </a:p>
        </p:txBody>
      </p:sp>
      <p:sp>
        <p:nvSpPr>
          <p:cNvPr id="14" name="Shape 12"/>
          <p:cNvSpPr/>
          <p:nvPr/>
        </p:nvSpPr>
        <p:spPr>
          <a:xfrm>
            <a:off x="365760" y="5330952"/>
            <a:ext cx="11430000" cy="822960"/>
          </a:xfrm>
          <a:prstGeom prst="rect">
            <a:avLst/>
          </a:prstGeom>
          <a:solidFill>
            <a:srgbClr val="F0F4FF"/>
          </a:solidFill>
          <a:ln w="19050">
            <a:solidFill>
              <a:srgbClr val="4466AA"/>
            </a:solidFill>
            <a:prstDash val="solid"/>
          </a:ln>
        </p:spPr>
      </p:sp>
      <p:sp>
        <p:nvSpPr>
          <p:cNvPr id="15" name="Text 13"/>
          <p:cNvSpPr/>
          <p:nvPr/>
        </p:nvSpPr>
        <p:spPr>
          <a:xfrm>
            <a:off x="457200" y="5330952"/>
            <a:ext cx="11247120" cy="82296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Resultado con consigna de velocidad trapezoidal suavizada — Figuras 53-60 — (ver sección siguiente)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Verificación de desempeño y mejoras</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Consigna suavizada · Observador integral · Análisis térmico · Sensores no ideales · Modulador no ideal</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34 / 67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Modificación de consigna — Resultados con perfil de velocidad trapezoidal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35 / 67</a:t>
            </a:r>
            <a:endParaRPr lang="en-US" sz="900" dirty="0"/>
          </a:p>
        </p:txBody>
      </p:sp>
      <p:sp>
        <p:nvSpPr>
          <p:cNvPr id="7" name="Text 5"/>
          <p:cNvSpPr/>
          <p:nvPr/>
        </p:nvSpPr>
        <p:spPr>
          <a:xfrm>
            <a:off x="365760" y="777240"/>
            <a:ext cx="11430000" cy="5943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Reemplazando la consigna de posición trapezoidal brusca por una consigna de velocidad trapezoidal suavizada, se obtienen transitorios compatibles con los límites del sistema:</a:t>
            </a:r>
            <a:endParaRPr lang="en-US" sz="1300" dirty="0"/>
          </a:p>
        </p:txBody>
      </p:sp>
      <p:sp>
        <p:nvSpPr>
          <p:cNvPr id="8" name="Shape 6"/>
          <p:cNvSpPr/>
          <p:nvPr/>
        </p:nvSpPr>
        <p:spPr>
          <a:xfrm>
            <a:off x="365760" y="1444752"/>
            <a:ext cx="11430000" cy="2011680"/>
          </a:xfrm>
          <a:prstGeom prst="rect">
            <a:avLst/>
          </a:prstGeom>
          <a:solidFill>
            <a:srgbClr val="F0F4FF"/>
          </a:solidFill>
          <a:ln w="19050">
            <a:solidFill>
              <a:srgbClr val="4466AA"/>
            </a:solidFill>
            <a:prstDash val="solid"/>
          </a:ln>
        </p:spPr>
      </p:sp>
      <p:sp>
        <p:nvSpPr>
          <p:cNvPr id="9" name="Text 7"/>
          <p:cNvSpPr/>
          <p:nvPr/>
        </p:nvSpPr>
        <p:spPr>
          <a:xfrm>
            <a:off x="457200" y="1444752"/>
            <a:ext cx="11247120" cy="20116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53-60 — Perfil de velocidad, θm, ωm, Tm, iabc, vabc y Ts con consigna suavizada. Corrientes y tensiones dentro de límites. Ts &lt; 41°C.</a:t>
            </a:r>
            <a:endParaRPr lang="en-US" sz="1100" dirty="0"/>
          </a:p>
        </p:txBody>
      </p:sp>
      <p:sp>
        <p:nvSpPr>
          <p:cNvPr id="10" name="Text 8"/>
          <p:cNvSpPr/>
          <p:nvPr/>
        </p:nvSpPr>
        <p:spPr>
          <a:xfrm>
            <a:off x="365760" y="3547872"/>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Mejora en el observador — Acción integral:</a:t>
            </a:r>
            <a:endParaRPr lang="en-US" sz="1400" dirty="0"/>
          </a:p>
        </p:txBody>
      </p:sp>
      <p:sp>
        <p:nvSpPr>
          <p:cNvPr id="11" name="Text 9"/>
          <p:cNvSpPr/>
          <p:nvPr/>
        </p:nvSpPr>
        <p:spPr>
          <a:xfrm>
            <a:off x="365760" y="4005072"/>
            <a:ext cx="11430000" cy="54864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añade una variable de estado integral xI(t) = ∫(θm − θ̃m)dt que permite estimar la perturbación constante de carga y eliminar el error de estado estacionario:</a:t>
            </a:r>
            <a:endParaRPr lang="en-US" sz="1300" dirty="0"/>
          </a:p>
        </p:txBody>
      </p:sp>
      <p:sp>
        <p:nvSpPr>
          <p:cNvPr id="12" name="Shape 10"/>
          <p:cNvSpPr/>
          <p:nvPr/>
        </p:nvSpPr>
        <p:spPr>
          <a:xfrm>
            <a:off x="365760" y="4626864"/>
            <a:ext cx="5486400" cy="530352"/>
          </a:xfrm>
          <a:prstGeom prst="rect">
            <a:avLst/>
          </a:prstGeom>
          <a:solidFill>
            <a:srgbClr val="FFF8E8"/>
          </a:solidFill>
          <a:ln w="19050">
            <a:solidFill>
              <a:srgbClr val="DDAA00"/>
            </a:solidFill>
            <a:prstDash val="solid"/>
          </a:ln>
        </p:spPr>
      </p:sp>
      <p:sp>
        <p:nvSpPr>
          <p:cNvPr id="13" name="Text 11"/>
          <p:cNvSpPr/>
          <p:nvPr/>
        </p:nvSpPr>
        <p:spPr>
          <a:xfrm>
            <a:off x="457200" y="4626864"/>
            <a:ext cx="5303520" cy="530352"/>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ẋI = θm − θ̃m     (integración del error de estimación)</a:t>
            </a:r>
            <a:endParaRPr lang="en-US" sz="1100" dirty="0"/>
          </a:p>
        </p:txBody>
      </p:sp>
      <p:sp>
        <p:nvSpPr>
          <p:cNvPr id="14" name="Shape 12"/>
          <p:cNvSpPr/>
          <p:nvPr/>
        </p:nvSpPr>
        <p:spPr>
          <a:xfrm>
            <a:off x="6126480" y="4626864"/>
            <a:ext cx="5669280" cy="530352"/>
          </a:xfrm>
          <a:prstGeom prst="rect">
            <a:avLst/>
          </a:prstGeom>
          <a:solidFill>
            <a:srgbClr val="FFF8E8"/>
          </a:solidFill>
          <a:ln w="19050">
            <a:solidFill>
              <a:srgbClr val="DDAA00"/>
            </a:solidFill>
            <a:prstDash val="solid"/>
          </a:ln>
        </p:spPr>
      </p:sp>
      <p:sp>
        <p:nvSpPr>
          <p:cNvPr id="15" name="Text 13"/>
          <p:cNvSpPr/>
          <p:nvPr/>
        </p:nvSpPr>
        <p:spPr>
          <a:xfrm>
            <a:off x="6217920" y="4626864"/>
            <a:ext cx="5486400" cy="530352"/>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uI(t) = Jeq·ki·xI(t)     (acción integral sobre la dinámica del observador)</a:t>
            </a:r>
            <a:endParaRPr lang="en-US" sz="1100" dirty="0"/>
          </a:p>
        </p:txBody>
      </p:sp>
      <p:sp>
        <p:nvSpPr>
          <p:cNvPr id="16" name="Text 14"/>
          <p:cNvSpPr/>
          <p:nvPr/>
        </p:nvSpPr>
        <p:spPr>
          <a:xfrm>
            <a:off x="365760" y="5239512"/>
            <a:ext cx="11430000" cy="475488"/>
          </a:xfrm>
          <a:prstGeom prst="rect">
            <a:avLst/>
          </a:prstGeom>
          <a:noFill/>
          <a:ln/>
        </p:spPr>
        <p:txBody>
          <a:bodyPr wrap="square" rtlCol="0" anchor="t"/>
          <a:lstStyle/>
          <a:p>
            <a:pPr marL="0" indent="0" algn="l">
              <a:buNone/>
            </a:pPr>
            <a:r>
              <a:rPr lang="en-US" sz="1200" dirty="0">
                <a:solidFill>
                  <a:srgbClr val="1A386B"/>
                </a:solidFill>
                <a:latin typeface="Calibri" pitchFamily="34" charset="0"/>
                <a:ea typeface="Calibri" pitchFamily="34" charset="-122"/>
                <a:cs typeface="Calibri" pitchFamily="34" charset="-120"/>
              </a:rPr>
              <a:t>Polos del observador aumentado: p1,2,3 = −3200 rad/s → kθ = 9600, kω = 3.072×10⁷, ki = 3.277×10¹⁰</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Observador con acción integral — Resultados y comportamiento térmico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36 / 67</a:t>
            </a:r>
            <a:endParaRPr lang="en-US" sz="900" dirty="0"/>
          </a:p>
        </p:txBody>
      </p:sp>
      <p:sp>
        <p:nvSpPr>
          <p:cNvPr id="7" name="Shape 5"/>
          <p:cNvSpPr/>
          <p:nvPr/>
        </p:nvSpPr>
        <p:spPr>
          <a:xfrm>
            <a:off x="365760" y="804672"/>
            <a:ext cx="11430000" cy="1828800"/>
          </a:xfrm>
          <a:prstGeom prst="rect">
            <a:avLst/>
          </a:prstGeom>
          <a:solidFill>
            <a:srgbClr val="F0F4FF"/>
          </a:solidFill>
          <a:ln w="19050">
            <a:solidFill>
              <a:srgbClr val="4466AA"/>
            </a:solidFill>
            <a:prstDash val="solid"/>
          </a:ln>
        </p:spPr>
      </p:sp>
      <p:sp>
        <p:nvSpPr>
          <p:cNvPr id="8" name="Text 6"/>
          <p:cNvSpPr/>
          <p:nvPr/>
        </p:nvSpPr>
        <p:spPr>
          <a:xfrm>
            <a:off x="457200" y="804672"/>
            <a:ext cx="11247120" cy="1828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62 — θm(t) con observador aumentado: error de estado estacionario → 0. Detalle en t=10s.</a:t>
            </a:r>
            <a:endParaRPr lang="en-US" sz="1100" dirty="0"/>
          </a:p>
        </p:txBody>
      </p:sp>
      <p:sp>
        <p:nvSpPr>
          <p:cNvPr id="9" name="Text 7"/>
          <p:cNvSpPr/>
          <p:nvPr/>
        </p:nvSpPr>
        <p:spPr>
          <a:xfrm>
            <a:off x="365760" y="2743200"/>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Comportamiento térmico a largo plazo (300–600 s, operación cíclica con consigna de velocidad):</a:t>
            </a:r>
            <a:endParaRPr lang="en-US" sz="1400" dirty="0"/>
          </a:p>
        </p:txBody>
      </p:sp>
      <p:sp>
        <p:nvSpPr>
          <p:cNvPr id="10" name="Text 8"/>
          <p:cNvSpPr/>
          <p:nvPr/>
        </p:nvSpPr>
        <p:spPr>
          <a:xfrm>
            <a:off x="365760" y="3200400"/>
            <a:ext cx="11430000" cy="13258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Sin perturbación de carga (300 s = 20 ciclos): Ts &lt; 48°C — muy por debajo de Ts,max = 115°C ✓</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 perturbación cíclica Tld: Ts continúa creciendo hasta estabilizarse ≈500 s (30 ciclos) — cerca del límite pero sin superarlo</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 carga máxima ml=1.5 kg en el extremo: Ts SUPERA Ts,max → CONDICIÓN DE RIESGO ⚠</a:t>
            </a:r>
            <a:endParaRPr lang="en-US" sz="1300" dirty="0"/>
          </a:p>
        </p:txBody>
      </p:sp>
      <p:sp>
        <p:nvSpPr>
          <p:cNvPr id="11" name="Shape 9"/>
          <p:cNvSpPr/>
          <p:nvPr/>
        </p:nvSpPr>
        <p:spPr>
          <a:xfrm>
            <a:off x="365760" y="4617720"/>
            <a:ext cx="11430000" cy="1463040"/>
          </a:xfrm>
          <a:prstGeom prst="rect">
            <a:avLst/>
          </a:prstGeom>
          <a:solidFill>
            <a:srgbClr val="F0F4FF"/>
          </a:solidFill>
          <a:ln w="19050">
            <a:solidFill>
              <a:srgbClr val="4466AA"/>
            </a:solidFill>
            <a:prstDash val="solid"/>
          </a:ln>
        </p:spPr>
      </p:sp>
      <p:sp>
        <p:nvSpPr>
          <p:cNvPr id="12" name="Text 10"/>
          <p:cNvSpPr/>
          <p:nvPr/>
        </p:nvSpPr>
        <p:spPr>
          <a:xfrm>
            <a:off x="457200" y="4617720"/>
            <a:ext cx="11247120" cy="14630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63-65 — Temperatura Ts(t): sin carga (300 s), con carga cíclica (500 s), con ml=1.5 kg (supera 115°C)</a:t>
            </a:r>
            <a:endParaRPr lang="en-US" sz="1100" dirty="0"/>
          </a:p>
        </p:txBody>
      </p:sp>
      <p:sp>
        <p:nvSpPr>
          <p:cNvPr id="13" name="Text 11"/>
          <p:cNvSpPr/>
          <p:nvPr/>
        </p:nvSpPr>
        <p:spPr>
          <a:xfrm>
            <a:off x="365760" y="6144768"/>
            <a:ext cx="11430000" cy="411480"/>
          </a:xfrm>
          <a:prstGeom prst="rect">
            <a:avLst/>
          </a:prstGeom>
          <a:noFill/>
          <a:ln/>
        </p:spPr>
        <p:txBody>
          <a:bodyPr wrap="square" rtlCol="0" anchor="t"/>
          <a:lstStyle/>
          <a:p>
            <a:pPr marL="0" indent="0" algn="l">
              <a:buNone/>
            </a:pPr>
            <a:r>
              <a:rPr lang="en-US" sz="1100" dirty="0">
                <a:solidFill>
                  <a:srgbClr val="990000"/>
                </a:solidFill>
                <a:latin typeface="Calibri" pitchFamily="34" charset="0"/>
                <a:ea typeface="Calibri" pitchFamily="34" charset="-122"/>
                <a:cs typeface="Calibri" pitchFamily="34" charset="-120"/>
              </a:rPr>
              <a:t>Con ml = 1.5 kg es necesario limitar la duración de la operación o reducir la consigna para evitar sobretemperatura.</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Sensores no ideales — Modelos y análisis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37 / 67</a:t>
            </a:r>
            <a:endParaRPr lang="en-US" sz="900" dirty="0"/>
          </a:p>
        </p:txBody>
      </p:sp>
      <p:sp>
        <p:nvSpPr>
          <p:cNvPr id="7" name="Text 5"/>
          <p:cNvSpPr/>
          <p:nvPr/>
        </p:nvSpPr>
        <p:spPr>
          <a:xfrm>
            <a:off x="365760" y="777240"/>
            <a:ext cx="114300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Los sensores reales tienen ancho de banda finito. Se modelan como filtros pasa-bajos de ganancia unitaria en espacio de estados:</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65760" y="1353312"/>
          <a:ext cx="11430000" cy="1554480"/>
        </p:xfrm>
        <a:graphic>
          <a:graphicData uri="http://schemas.openxmlformats.org/drawingml/2006/table">
            <a:tbl>
              <a:tblPr/>
              <a:tblGrid>
                <a:gridCol w="27432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Sensor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Tipo de filtro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Parámetros iniciales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Parámetros finales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Posición θm</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LP 2° orden, ζ=1</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ωn = 2000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ωn = 6000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Corrientes iabc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LP 2° orden, ζ=1</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ωn = 6000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ωn = 18000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Temperatura Ts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LP 1° orden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τ = 20 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τ = 0.05 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365760" y="2999232"/>
            <a:ext cx="11430000" cy="2011680"/>
          </a:xfrm>
          <a:prstGeom prst="rect">
            <a:avLst/>
          </a:prstGeom>
          <a:solidFill>
            <a:srgbClr val="F0F4FF"/>
          </a:solidFill>
          <a:ln w="19050">
            <a:solidFill>
              <a:srgbClr val="4466AA"/>
            </a:solidFill>
            <a:prstDash val="solid"/>
          </a:ln>
        </p:spPr>
      </p:sp>
      <p:sp>
        <p:nvSpPr>
          <p:cNvPr id="10" name="Text 7"/>
          <p:cNvSpPr/>
          <p:nvPr/>
        </p:nvSpPr>
        <p:spPr>
          <a:xfrm>
            <a:off x="457200" y="2999232"/>
            <a:ext cx="11247120" cy="20116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68-78 — Respuesta con sensores no ideales: comparación ωn=2000/4000/6000 rad/s (posición), ωn=6000/12000/18000 (corriente), τ=20/5/0.5/0.05 s (temperatura)</a:t>
            </a:r>
            <a:endParaRPr lang="en-US" sz="1100" dirty="0"/>
          </a:p>
        </p:txBody>
      </p:sp>
      <p:sp>
        <p:nvSpPr>
          <p:cNvPr id="11" name="Text 8"/>
          <p:cNvSpPr/>
          <p:nvPr/>
        </p:nvSpPr>
        <p:spPr>
          <a:xfrm>
            <a:off x="365760" y="5102352"/>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Conclusiones:</a:t>
            </a:r>
            <a:endParaRPr lang="en-US" sz="1300" dirty="0"/>
          </a:p>
        </p:txBody>
      </p:sp>
      <p:sp>
        <p:nvSpPr>
          <p:cNvPr id="12" name="Text 9"/>
          <p:cNvSpPr/>
          <p:nvPr/>
        </p:nvSpPr>
        <p:spPr>
          <a:xfrm>
            <a:off x="365760" y="5532120"/>
            <a:ext cx="11430000" cy="1078992"/>
          </a:xfrm>
          <a:prstGeom prst="rect">
            <a:avLst/>
          </a:prstGeom>
          <a:noFill/>
          <a:ln/>
        </p:spPr>
        <p:txBody>
          <a:bodyPr wrap="square" rtlCol="0" anchor="t"/>
          <a:lstStyle/>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Sensor de posición: ωn ≥ 6000 rad/s no muestra diferencias apreciables — no se requiere mayor resolución</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Sensor de corriente: ωn = 18000 rad/s ofrece buena respuesta — duplicar o triplicar no aporta mejoras significativas</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Sensor de temperatura: la variable más afectada — τ = 0.05 s necesario para seguir correctamente la señal; para detectar máximos τ puede ser mayor</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Modulador de tensión trifásico no ideal</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38 / 67</a:t>
            </a:r>
            <a:endParaRPr lang="en-US" sz="900" dirty="0"/>
          </a:p>
        </p:txBody>
      </p:sp>
      <p:sp>
        <p:nvSpPr>
          <p:cNvPr id="7" name="Text 5"/>
          <p:cNvSpPr/>
          <p:nvPr/>
        </p:nvSpPr>
        <p:spPr>
          <a:xfrm>
            <a:off x="365760" y="777240"/>
            <a:ext cx="11430000" cy="54864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El modulador real (inversor PWM) tiene ancho de banda finito y limitación de tensión. Se modela como filtro pasa-bajos LP de 2° orden + saturación:</a:t>
            </a:r>
            <a:endParaRPr lang="en-US" sz="1300" dirty="0"/>
          </a:p>
        </p:txBody>
      </p:sp>
      <p:sp>
        <p:nvSpPr>
          <p:cNvPr id="8" name="Text 6"/>
          <p:cNvSpPr/>
          <p:nvPr/>
        </p:nvSpPr>
        <p:spPr>
          <a:xfrm>
            <a:off x="365760" y="1389888"/>
            <a:ext cx="11430000" cy="777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Saturación de tensión de fase:  |vabc(t)| ≤ (√2/√3)·Vsl,max = (√2/√3)·48 ≈ 39.2 V</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Dinámica del modulador:  LP 2° orden, ζ = 1  (igual que los sensores)</a:t>
            </a:r>
            <a:endParaRPr lang="en-US" sz="1300" dirty="0"/>
          </a:p>
        </p:txBody>
      </p:sp>
      <p:sp>
        <p:nvSpPr>
          <p:cNvPr id="9" name="Shape 7"/>
          <p:cNvSpPr/>
          <p:nvPr/>
        </p:nvSpPr>
        <p:spPr>
          <a:xfrm>
            <a:off x="365760" y="2240280"/>
            <a:ext cx="11430000" cy="1188720"/>
          </a:xfrm>
          <a:prstGeom prst="rect">
            <a:avLst/>
          </a:prstGeom>
          <a:solidFill>
            <a:srgbClr val="F0F4FF"/>
          </a:solidFill>
          <a:ln w="19050">
            <a:solidFill>
              <a:srgbClr val="4466AA"/>
            </a:solidFill>
            <a:prstDash val="solid"/>
          </a:ln>
        </p:spPr>
      </p:sp>
      <p:sp>
        <p:nvSpPr>
          <p:cNvPr id="10" name="Text 8"/>
          <p:cNvSpPr/>
          <p:nvPr/>
        </p:nvSpPr>
        <p:spPr>
          <a:xfrm>
            <a:off x="457200" y="2240280"/>
            <a:ext cx="11247120" cy="11887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81 — Diagrama de bloques Simulink del modulador trifásico no ideal (LP + saturación)</a:t>
            </a:r>
            <a:endParaRPr lang="en-US" sz="1100" dirty="0"/>
          </a:p>
        </p:txBody>
      </p:sp>
      <p:sp>
        <p:nvSpPr>
          <p:cNvPr id="11" name="Text 9"/>
          <p:cNvSpPr/>
          <p:nvPr/>
        </p:nvSpPr>
        <p:spPr>
          <a:xfrm>
            <a:off x="365760" y="352044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Resultados:</a:t>
            </a:r>
            <a:endParaRPr lang="en-US" sz="1300" dirty="0"/>
          </a:p>
        </p:txBody>
      </p:sp>
      <p:sp>
        <p:nvSpPr>
          <p:cNvPr id="12" name="Text 10"/>
          <p:cNvSpPr/>
          <p:nvPr/>
        </p:nvSpPr>
        <p:spPr>
          <a:xfrm>
            <a:off x="365760" y="3950208"/>
            <a:ext cx="11430000" cy="182880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ωn = 6000 rad/s (inicial): el sistema se vuelve inestable — la dinámica del modulador es insuficiente para las demandas del controlador</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ωn = 18000 rad/s: mejora significativa — el sistema puede seguir las variaciones de tensión con mayor fidelidad y precisión</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Conclusión: la dinámica del modulador debe ser considerablemente más rápida que el resto del sistema</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Si los sensores tienen dinámica más lenta, el modulador debe operar con frecuencia aún mayor para compensar</a:t>
            </a:r>
            <a:endParaRPr lang="en-US" sz="1300" dirty="0"/>
          </a:p>
        </p:txBody>
      </p:sp>
      <p:sp>
        <p:nvSpPr>
          <p:cNvPr id="13" name="Shape 11"/>
          <p:cNvSpPr/>
          <p:nvPr/>
        </p:nvSpPr>
        <p:spPr>
          <a:xfrm>
            <a:off x="365760" y="5833872"/>
            <a:ext cx="11430000" cy="777240"/>
          </a:xfrm>
          <a:prstGeom prst="rect">
            <a:avLst/>
          </a:prstGeom>
          <a:solidFill>
            <a:srgbClr val="F0F4FF"/>
          </a:solidFill>
          <a:ln w="19050">
            <a:solidFill>
              <a:srgbClr val="4466AA"/>
            </a:solidFill>
            <a:prstDash val="solid"/>
          </a:ln>
        </p:spPr>
      </p:sp>
      <p:sp>
        <p:nvSpPr>
          <p:cNvPr id="14" name="Text 12"/>
          <p:cNvSpPr/>
          <p:nvPr/>
        </p:nvSpPr>
        <p:spPr>
          <a:xfrm>
            <a:off x="457200" y="5833872"/>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82-89 — Posición, velocidad, vabc, iabc con modulador ωn=6000 (inestable) y ωn=18000 (estable)</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Diseño final y discretización</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Sistema continuo completo · Tustin · Validación del controlador discreto</a:t>
            </a:r>
            <a:endParaRPr lang="en-US" sz="1600" dirty="0"/>
          </a:p>
        </p:txBody>
      </p:sp>
      <p:sp>
        <p:nvSpPr>
          <p:cNvPr id="6" name="Shape 4"/>
          <p:cNvSpPr/>
          <p:nvPr/>
        </p:nvSpPr>
        <p:spPr>
          <a:xfrm>
            <a:off x="0" y="6565392"/>
            <a:ext cx="12161520" cy="292608"/>
          </a:xfrm>
          <a:prstGeom prst="rect">
            <a:avLst/>
          </a:prstGeom>
          <a:solidFill>
            <a:srgbClr val="14213D"/>
          </a:solidFill>
          <a:ln w="12700">
            <a:solidFill>
              <a:srgbClr val="14213D"/>
            </a:solidFill>
            <a:prstDash val="solid"/>
          </a:ln>
        </p:spPr>
      </p:sp>
      <p:sp>
        <p:nvSpPr>
          <p:cNvPr id="7" name="Text 5"/>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9EC5F5"/>
                </a:solidFill>
                <a:latin typeface="Calibri" pitchFamily="34" charset="0"/>
                <a:ea typeface="Calibri" pitchFamily="34" charset="-122"/>
                <a:cs typeface="Calibri" pitchFamily="34" charset="-120"/>
              </a:rPr>
              <a:t>39 / 67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Sistema continuo completo — Parámetros finales del controlador</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40 / 67</a:t>
            </a:r>
            <a:endParaRPr lang="en-US" sz="900" dirty="0"/>
          </a:p>
        </p:txBody>
      </p:sp>
      <p:sp>
        <p:nvSpPr>
          <p:cNvPr id="7" name="Shape 5"/>
          <p:cNvSpPr/>
          <p:nvPr/>
        </p:nvSpPr>
        <p:spPr>
          <a:xfrm>
            <a:off x="365760" y="804672"/>
            <a:ext cx="11430000" cy="1645920"/>
          </a:xfrm>
          <a:prstGeom prst="rect">
            <a:avLst/>
          </a:prstGeom>
          <a:solidFill>
            <a:srgbClr val="F0F4FF"/>
          </a:solidFill>
          <a:ln w="19050">
            <a:solidFill>
              <a:srgbClr val="4466AA"/>
            </a:solidFill>
            <a:prstDash val="solid"/>
          </a:ln>
        </p:spPr>
      </p:sp>
      <p:sp>
        <p:nvSpPr>
          <p:cNvPr id="8" name="Text 6"/>
          <p:cNvSpPr/>
          <p:nvPr/>
        </p:nvSpPr>
        <p:spPr>
          <a:xfrm>
            <a:off x="457200" y="804672"/>
            <a:ext cx="11247120" cy="16459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90 — Diagrama de bloques Simulink del sistema continuo completo (todos los bloques integrados)</a:t>
            </a:r>
            <a:endParaRPr lang="en-US" sz="1100" dirty="0"/>
          </a:p>
        </p:txBody>
      </p:sp>
      <p:sp>
        <p:nvSpPr>
          <p:cNvPr id="9" name="Text 7"/>
          <p:cNvSpPr/>
          <p:nvPr/>
        </p:nvSpPr>
        <p:spPr>
          <a:xfrm>
            <a:off x="365760" y="2542032"/>
            <a:ext cx="114300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 del controlador completo:</a:t>
            </a:r>
            <a:endParaRPr lang="en-US" sz="1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65760" y="2999232"/>
          <a:ext cx="11430000" cy="3154680"/>
        </p:xfrm>
        <a:graphic>
          <a:graphicData uri="http://schemas.openxmlformats.org/drawingml/2006/table">
            <a:tbl>
              <a:tblPr/>
              <a:tblGrid>
                <a:gridCol w="292608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39319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Bloque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Parámetros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PID externo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 = 0.03957 N·m/(rad/s)   ;   Ksa = 31.6556 N·m/rad   ;   Ksia = 10129.78 N·m/(rad·s)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Observador aumentado</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kθ = 9600 rad/s   ;   Kω = 3.072×10⁷ rad²/s²   ;   Ki = 3.277×10¹⁰ rad³/s³</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Lazo de corriente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R'q = 29 Ω   ;   R'd = 33 Ω   ;   polo en p = −5000 rad/s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Sensor de posición</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LP 2° orden,  ωn = 6000 rad/s,  ξ = 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Sensor de corriente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LP 2° orden,  ωn = 18000 rad/s,  ξ = 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Sensor de temperatura</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LP 1° orden,  τ = 0.05 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Modulador de tensión</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LP 2° orden,  ωn = 18000 rad/s,  ξ = 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Discretización — Método de Tustin y elección del período de muestreo</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41 / 67</a:t>
            </a:r>
            <a:endParaRPr lang="en-US" sz="900" dirty="0"/>
          </a:p>
        </p:txBody>
      </p:sp>
      <p:sp>
        <p:nvSpPr>
          <p:cNvPr id="7" name="Text 5"/>
          <p:cNvSpPr/>
          <p:nvPr/>
        </p:nvSpPr>
        <p:spPr>
          <a:xfrm>
            <a:off x="365760" y="777240"/>
            <a:ext cx="11430000" cy="6858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utiliza el método de emulación (equivalente discreto): se conservan las ganancias del controlador continuo y se reemplazan las integraciones continuas por integraciones discretas (Tustin). La validez depende de que Ts sea suficientemente pequeño.</a:t>
            </a:r>
            <a:endParaRPr lang="en-US" sz="1300" dirty="0"/>
          </a:p>
        </p:txBody>
      </p:sp>
      <p:sp>
        <p:nvSpPr>
          <p:cNvPr id="8" name="Text 6"/>
          <p:cNvSpPr/>
          <p:nvPr/>
        </p:nvSpPr>
        <p:spPr>
          <a:xfrm>
            <a:off x="365760" y="1536192"/>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Método de Tustin (integración trapezoidal):</a:t>
            </a:r>
            <a:endParaRPr lang="en-US" sz="1300" dirty="0"/>
          </a:p>
        </p:txBody>
      </p:sp>
      <p:sp>
        <p:nvSpPr>
          <p:cNvPr id="9" name="Shape 7"/>
          <p:cNvSpPr/>
          <p:nvPr/>
        </p:nvSpPr>
        <p:spPr>
          <a:xfrm>
            <a:off x="1371600" y="1993392"/>
            <a:ext cx="9144000" cy="566928"/>
          </a:xfrm>
          <a:prstGeom prst="rect">
            <a:avLst/>
          </a:prstGeom>
          <a:solidFill>
            <a:srgbClr val="FFF8E8"/>
          </a:solidFill>
          <a:ln w="19050">
            <a:solidFill>
              <a:srgbClr val="DDAA00"/>
            </a:solidFill>
            <a:prstDash val="solid"/>
          </a:ln>
        </p:spPr>
      </p:sp>
      <p:sp>
        <p:nvSpPr>
          <p:cNvPr id="10" name="Text 8"/>
          <p:cNvSpPr/>
          <p:nvPr/>
        </p:nvSpPr>
        <p:spPr>
          <a:xfrm>
            <a:off x="1463040" y="1993392"/>
            <a:ext cx="8961120" cy="566928"/>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x[k] = x[k−1] + (Ts/2)·(x'[k] + x'[k−1])     ↔     s → (2/Ts)·(z−1)/(z+1)</a:t>
            </a:r>
            <a:endParaRPr lang="en-US" sz="1100" dirty="0"/>
          </a:p>
        </p:txBody>
      </p:sp>
      <p:sp>
        <p:nvSpPr>
          <p:cNvPr id="11" name="Text 9"/>
          <p:cNvSpPr/>
          <p:nvPr/>
        </p:nvSpPr>
        <p:spPr>
          <a:xfrm>
            <a:off x="365760" y="2670048"/>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Elección del período de muestreo — Criterio práctico (Nyquist × 10):</a:t>
            </a:r>
            <a:endParaRPr lang="en-US" sz="1300" dirty="0"/>
          </a:p>
        </p:txBody>
      </p:sp>
      <p:sp>
        <p:nvSpPr>
          <p:cNvPr id="12" name="Text 10"/>
          <p:cNvSpPr/>
          <p:nvPr/>
        </p:nvSpPr>
        <p:spPr>
          <a:xfrm>
            <a:off x="365760" y="310896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El polo más rápido del sistema es el lazo de corriente: pcorriente = −5000 rad/s → fmax = 5000/(2π) ≈ 796 Hz.</a:t>
            </a:r>
            <a:endParaRPr lang="en-US" sz="1300" dirty="0"/>
          </a:p>
        </p:txBody>
      </p:sp>
      <p:sp>
        <p:nvSpPr>
          <p:cNvPr id="13" name="Shape 11"/>
          <p:cNvSpPr/>
          <p:nvPr/>
        </p:nvSpPr>
        <p:spPr>
          <a:xfrm>
            <a:off x="365760" y="3639312"/>
            <a:ext cx="11430000" cy="594360"/>
          </a:xfrm>
          <a:prstGeom prst="rect">
            <a:avLst/>
          </a:prstGeom>
          <a:solidFill>
            <a:srgbClr val="FFF8E8"/>
          </a:solidFill>
          <a:ln w="19050">
            <a:solidFill>
              <a:srgbClr val="DDAA00"/>
            </a:solidFill>
            <a:prstDash val="solid"/>
          </a:ln>
        </p:spPr>
      </p:sp>
      <p:sp>
        <p:nvSpPr>
          <p:cNvPr id="14" name="Text 12"/>
          <p:cNvSpPr/>
          <p:nvPr/>
        </p:nvSpPr>
        <p:spPr>
          <a:xfrm>
            <a:off x="457200" y="3639312"/>
            <a:ext cx="11247120" cy="594360"/>
          </a:xfrm>
          <a:prstGeom prst="rect">
            <a:avLst/>
          </a:prstGeom>
          <a:noFill/>
          <a:ln/>
        </p:spPr>
        <p:txBody>
          <a:bodyPr wrap="square" rtlCol="0" anchor="ctr"/>
          <a:lstStyle/>
          <a:p>
            <a:pPr marL="0" indent="0" algn="ctr">
              <a:buNone/>
            </a:pPr>
            <a:r>
              <a:rPr lang="en-US" sz="1100" i="1" dirty="0">
                <a:solidFill>
                  <a:srgbClr val="996600"/>
                </a:solidFill>
                <a:latin typeface="Calibri" pitchFamily="34" charset="0"/>
                <a:ea typeface="Calibri" pitchFamily="34" charset="-122"/>
                <a:cs typeface="Calibri" pitchFamily="34" charset="-120"/>
              </a:rPr>
              <a:t>📐 ECUACIÓN: fs ≥ 10·fmax = 10·796 Hz     →     Ts = 2π/(10·5000) ≈ 1.2566×10⁻⁴ s  (fs ≈ 7958 Hz)</a:t>
            </a:r>
            <a:endParaRPr lang="en-US" sz="1100" dirty="0"/>
          </a:p>
        </p:txBody>
      </p:sp>
      <p:sp>
        <p:nvSpPr>
          <p:cNvPr id="15" name="Text 13"/>
          <p:cNvSpPr/>
          <p:nvPr/>
        </p:nvSpPr>
        <p:spPr>
          <a:xfrm>
            <a:off x="365760" y="4315968"/>
            <a:ext cx="11430000" cy="502920"/>
          </a:xfrm>
          <a:prstGeom prst="rect">
            <a:avLst/>
          </a:prstGeom>
          <a:noFill/>
          <a:ln/>
        </p:spPr>
        <p:txBody>
          <a:bodyPr wrap="square" rtlCol="0" anchor="t"/>
          <a:lstStyle/>
          <a:p>
            <a:pPr marL="0" indent="0" algn="l">
              <a:buNone/>
            </a:pPr>
            <a:r>
              <a:rPr lang="en-US" sz="1200" dirty="0">
                <a:solidFill>
                  <a:srgbClr val="555555"/>
                </a:solidFill>
                <a:latin typeface="Calibri" pitchFamily="34" charset="0"/>
                <a:ea typeface="Calibri" pitchFamily="34" charset="-122"/>
                <a:cs typeface="Calibri" pitchFamily="34" charset="-120"/>
              </a:rPr>
              <a:t>Este Ts es conservador para todo el sistema: los polos del observador (−3200 rad/s) y del PID externo (−800 rad/s) son más lentos que el lazo de corriente.</a:t>
            </a:r>
            <a:endParaRPr lang="en-US" sz="1200" dirty="0"/>
          </a:p>
        </p:txBody>
      </p:sp>
      <p:sp>
        <p:nvSpPr>
          <p:cNvPr id="16" name="Text 14"/>
          <p:cNvSpPr/>
          <p:nvPr/>
        </p:nvSpPr>
        <p:spPr>
          <a:xfrm>
            <a:off x="365760" y="4919472"/>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Ecuaciones en diferencias (Tustin) — principales bloques:</a:t>
            </a:r>
            <a:endParaRPr lang="en-US" sz="1300" dirty="0"/>
          </a:p>
        </p:txBody>
      </p:sp>
      <p:sp>
        <p:nvSpPr>
          <p:cNvPr id="17" name="Text 15"/>
          <p:cNvSpPr/>
          <p:nvPr/>
        </p:nvSpPr>
        <p:spPr>
          <a:xfrm>
            <a:off x="365760" y="5349240"/>
            <a:ext cx="11430000" cy="1261872"/>
          </a:xfrm>
          <a:prstGeom prst="rect">
            <a:avLst/>
          </a:prstGeom>
          <a:noFill/>
          <a:ln/>
        </p:spPr>
        <p:txBody>
          <a:bodyPr wrap="square" rtlCol="0" anchor="t"/>
          <a:lstStyle/>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Set-point:  ω*m[k] = (θ*m[k] − θ*m[k−1]) / Ts</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PID: p[k] = p[k−1] + (Ts/2)·(eω[k]+eω[k−1])  ;  I[k] = I[k−1] + (Ts/2)·(p[k]+p[k−1])</a:t>
            </a:r>
            <a:endParaRPr lang="en-US" sz="1100" dirty="0"/>
          </a:p>
          <a:p>
            <a:pPr marL="342900" indent="-342900">
              <a:buSzPct val="100000"/>
              <a:buChar char="•"/>
            </a:pPr>
            <a:r>
              <a:rPr lang="en-US" sz="1100" dirty="0">
                <a:solidFill>
                  <a:srgbClr val="111111"/>
                </a:solidFill>
                <a:latin typeface="Calibri" pitchFamily="34" charset="0"/>
                <a:ea typeface="Calibri" pitchFamily="34" charset="-122"/>
                <a:cs typeface="Calibri" pitchFamily="34" charset="-120"/>
              </a:rPr>
              <a:t>Observador: θ̃m[k] = θ̃m[k−1] + (Ts/2)·(θ̃̇m[k]+θ̃̇m[k−1])  (ídem para ω̃m y xI)</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Bloques discretizados — Sistema completo discreto y resultados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42 / 67</a:t>
            </a:r>
            <a:endParaRPr lang="en-US" sz="900" dirty="0"/>
          </a:p>
        </p:txBody>
      </p:sp>
      <p:sp>
        <p:nvSpPr>
          <p:cNvPr id="7" name="Shape 5"/>
          <p:cNvSpPr/>
          <p:nvPr/>
        </p:nvSpPr>
        <p:spPr>
          <a:xfrm>
            <a:off x="365760" y="804672"/>
            <a:ext cx="5486400" cy="1371600"/>
          </a:xfrm>
          <a:prstGeom prst="rect">
            <a:avLst/>
          </a:prstGeom>
          <a:solidFill>
            <a:srgbClr val="F0F4FF"/>
          </a:solidFill>
          <a:ln w="19050">
            <a:solidFill>
              <a:srgbClr val="4466AA"/>
            </a:solidFill>
            <a:prstDash val="solid"/>
          </a:ln>
        </p:spPr>
      </p:sp>
      <p:sp>
        <p:nvSpPr>
          <p:cNvPr id="8" name="Text 6"/>
          <p:cNvSpPr/>
          <p:nvPr/>
        </p:nvSpPr>
        <p:spPr>
          <a:xfrm>
            <a:off x="457200" y="804672"/>
            <a:ext cx="5303520" cy="13716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92 — Set-point discretizado</a:t>
            </a:r>
            <a:endParaRPr lang="en-US" sz="1100" dirty="0"/>
          </a:p>
          <a:p>
            <a:pPr marL="0" indent="0" algn="ctr">
              <a:buNone/>
            </a:pPr>
            <a:r>
              <a:rPr lang="en-US" sz="1100" i="1" dirty="0">
                <a:solidFill>
                  <a:srgbClr val="224488"/>
                </a:solidFill>
                <a:latin typeface="Calibri" pitchFamily="34" charset="0"/>
                <a:ea typeface="Calibri" pitchFamily="34" charset="-122"/>
                <a:cs typeface="Calibri" pitchFamily="34" charset="-120"/>
              </a:rPr>
              <a:t>Figura 93 — Controlador PID externo discretizado</a:t>
            </a:r>
            <a:endParaRPr lang="en-US" sz="1100" dirty="0"/>
          </a:p>
        </p:txBody>
      </p:sp>
      <p:sp>
        <p:nvSpPr>
          <p:cNvPr id="9" name="Shape 7"/>
          <p:cNvSpPr/>
          <p:nvPr/>
        </p:nvSpPr>
        <p:spPr>
          <a:xfrm>
            <a:off x="6126480" y="804672"/>
            <a:ext cx="5669280" cy="1371600"/>
          </a:xfrm>
          <a:prstGeom prst="rect">
            <a:avLst/>
          </a:prstGeom>
          <a:solidFill>
            <a:srgbClr val="F0F4FF"/>
          </a:solidFill>
          <a:ln w="19050">
            <a:solidFill>
              <a:srgbClr val="4466AA"/>
            </a:solidFill>
            <a:prstDash val="solid"/>
          </a:ln>
        </p:spPr>
      </p:sp>
      <p:sp>
        <p:nvSpPr>
          <p:cNvPr id="10" name="Text 8"/>
          <p:cNvSpPr/>
          <p:nvPr/>
        </p:nvSpPr>
        <p:spPr>
          <a:xfrm>
            <a:off x="6217920" y="804672"/>
            <a:ext cx="5486400" cy="13716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 94 — Observador aumentado discretizado (con acción integral)</a:t>
            </a:r>
            <a:endParaRPr lang="en-US" sz="1100" dirty="0"/>
          </a:p>
          <a:p>
            <a:pPr marL="0" indent="0" algn="ctr">
              <a:buNone/>
            </a:pPr>
            <a:r>
              <a:rPr lang="en-US" sz="1100" i="1" dirty="0">
                <a:solidFill>
                  <a:srgbClr val="224488"/>
                </a:solidFill>
                <a:latin typeface="Calibri" pitchFamily="34" charset="0"/>
                <a:ea typeface="Calibri" pitchFamily="34" charset="-122"/>
                <a:cs typeface="Calibri" pitchFamily="34" charset="-120"/>
              </a:rPr>
              <a:t>Figura 95 — Sistema completo discretizado</a:t>
            </a:r>
            <a:endParaRPr lang="en-US" sz="1100" dirty="0"/>
          </a:p>
        </p:txBody>
      </p:sp>
      <p:sp>
        <p:nvSpPr>
          <p:cNvPr id="11" name="Shape 9"/>
          <p:cNvSpPr/>
          <p:nvPr/>
        </p:nvSpPr>
        <p:spPr>
          <a:xfrm>
            <a:off x="365760" y="2267712"/>
            <a:ext cx="11430000" cy="2011680"/>
          </a:xfrm>
          <a:prstGeom prst="rect">
            <a:avLst/>
          </a:prstGeom>
          <a:solidFill>
            <a:srgbClr val="F0F4FF"/>
          </a:solidFill>
          <a:ln w="19050">
            <a:solidFill>
              <a:srgbClr val="4466AA"/>
            </a:solidFill>
            <a:prstDash val="solid"/>
          </a:ln>
        </p:spPr>
      </p:sp>
      <p:sp>
        <p:nvSpPr>
          <p:cNvPr id="12" name="Text 10"/>
          <p:cNvSpPr/>
          <p:nvPr/>
        </p:nvSpPr>
        <p:spPr>
          <a:xfrm>
            <a:off x="457200" y="2267712"/>
            <a:ext cx="11247120" cy="201168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96-100 — Resultados con controlador discreto: θm(t), ωm(t), iabc(t), vabc(t) y Tm(t). Concordancia con el sistema continuo.</a:t>
            </a:r>
            <a:endParaRPr lang="en-US" sz="1100" dirty="0"/>
          </a:p>
        </p:txBody>
      </p:sp>
      <p:sp>
        <p:nvSpPr>
          <p:cNvPr id="13" name="Text 11"/>
          <p:cNvSpPr/>
          <p:nvPr/>
        </p:nvSpPr>
        <p:spPr>
          <a:xfrm>
            <a:off x="365760" y="4370832"/>
            <a:ext cx="1143000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Validación:</a:t>
            </a:r>
            <a:endParaRPr lang="en-US" sz="1400" dirty="0"/>
          </a:p>
        </p:txBody>
      </p:sp>
      <p:sp>
        <p:nvSpPr>
          <p:cNvPr id="14" name="Text 12"/>
          <p:cNvSpPr/>
          <p:nvPr/>
        </p:nvSpPr>
        <p:spPr>
          <a:xfrm>
            <a:off x="365760" y="4828032"/>
            <a:ext cx="11430000" cy="77724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El controlador discreto se reescribió como un bloque MATLAB Function (código embebido secuencial — emula implementación en microcontrolador/DSP). La comparación con el modelo por bloques muestra concordancia prácticamente exacta, confirmando que la reescritura en código preserva fielmente la dinámica del sistema.</a:t>
            </a:r>
            <a:endParaRPr lang="en-US" sz="1300" dirty="0"/>
          </a:p>
        </p:txBody>
      </p:sp>
      <p:sp>
        <p:nvSpPr>
          <p:cNvPr id="15" name="Shape 13"/>
          <p:cNvSpPr/>
          <p:nvPr/>
        </p:nvSpPr>
        <p:spPr>
          <a:xfrm>
            <a:off x="365760" y="5669280"/>
            <a:ext cx="11430000" cy="886968"/>
          </a:xfrm>
          <a:prstGeom prst="rect">
            <a:avLst/>
          </a:prstGeom>
          <a:solidFill>
            <a:srgbClr val="F0F4FF"/>
          </a:solidFill>
          <a:ln w="19050">
            <a:solidFill>
              <a:srgbClr val="4466AA"/>
            </a:solidFill>
            <a:prstDash val="solid"/>
          </a:ln>
        </p:spPr>
      </p:sp>
      <p:sp>
        <p:nvSpPr>
          <p:cNvPr id="16" name="Text 14"/>
          <p:cNvSpPr/>
          <p:nvPr/>
        </p:nvSpPr>
        <p:spPr>
          <a:xfrm>
            <a:off x="457200" y="5669280"/>
            <a:ext cx="11247120" cy="886968"/>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Figuras 101-103 — Bloque MATLAB Function y validación: θm y ωm con controlador codificado vs. por bloques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Conclusiones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43 / 67</a:t>
            </a:r>
            <a:endParaRPr lang="en-US" sz="900" dirty="0"/>
          </a:p>
        </p:txBody>
      </p:sp>
      <p:sp>
        <p:nvSpPr>
          <p:cNvPr id="7" name="Shape 5"/>
          <p:cNvSpPr/>
          <p:nvPr/>
        </p:nvSpPr>
        <p:spPr>
          <a:xfrm>
            <a:off x="365760" y="804672"/>
            <a:ext cx="530352" cy="685800"/>
          </a:xfrm>
          <a:prstGeom prst="rect">
            <a:avLst/>
          </a:prstGeom>
          <a:solidFill>
            <a:srgbClr val="1A386B"/>
          </a:solidFill>
          <a:ln w="12700">
            <a:solidFill>
              <a:srgbClr val="1A386B"/>
            </a:solidFill>
            <a:prstDash val="solid"/>
          </a:ln>
        </p:spPr>
      </p:sp>
      <p:sp>
        <p:nvSpPr>
          <p:cNvPr id="8" name="Text 6"/>
          <p:cNvSpPr/>
          <p:nvPr/>
        </p:nvSpPr>
        <p:spPr>
          <a:xfrm>
            <a:off x="365760" y="804672"/>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05840" y="841248"/>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Modelado completo integrado:  </a:t>
            </a:r>
            <a:r>
              <a:rPr lang="en-US" sz="1150" dirty="0">
                <a:solidFill>
                  <a:srgbClr val="111111"/>
                </a:solidFill>
                <a:latin typeface="Calibri" pitchFamily="34" charset="0"/>
                <a:ea typeface="Calibri" pitchFamily="34" charset="-122"/>
                <a:cs typeface="Calibri" pitchFamily="34" charset="-120"/>
              </a:rPr>
              <a:t>Se desarrolló el modelo dinámico del accionamiento PMSM integrando los subsistemas mecánico, electromagnético y térmico (orden 5). Validación frente al modelo no lineal.</a:t>
            </a:r>
            <a:endParaRPr lang="en-US" sz="1150" dirty="0"/>
          </a:p>
        </p:txBody>
      </p:sp>
      <p:sp>
        <p:nvSpPr>
          <p:cNvPr id="10" name="Shape 8"/>
          <p:cNvSpPr/>
          <p:nvPr/>
        </p:nvSpPr>
        <p:spPr>
          <a:xfrm>
            <a:off x="365760" y="1700784"/>
            <a:ext cx="530352" cy="685800"/>
          </a:xfrm>
          <a:prstGeom prst="rect">
            <a:avLst/>
          </a:prstGeom>
          <a:solidFill>
            <a:srgbClr val="1A386B"/>
          </a:solidFill>
          <a:ln w="12700">
            <a:solidFill>
              <a:srgbClr val="1A386B"/>
            </a:solidFill>
            <a:prstDash val="solid"/>
          </a:ln>
        </p:spPr>
      </p:sp>
      <p:sp>
        <p:nvSpPr>
          <p:cNvPr id="11" name="Text 9"/>
          <p:cNvSpPr/>
          <p:nvPr/>
        </p:nvSpPr>
        <p:spPr>
          <a:xfrm>
            <a:off x="365760" y="1700784"/>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05840" y="1737360"/>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Modelo LTI observable y controlable:  </a:t>
            </a:r>
            <a:r>
              <a:rPr lang="en-US" sz="1150" dirty="0">
                <a:solidFill>
                  <a:srgbClr val="111111"/>
                </a:solidFill>
                <a:latin typeface="Calibri" pitchFamily="34" charset="0"/>
                <a:ea typeface="Calibri" pitchFamily="34" charset="-122"/>
                <a:cs typeface="Calibri" pitchFamily="34" charset="-120"/>
              </a:rPr>
              <a:t>La ley de control mínima (ids^r = 0) y las hipótesis de linealización permiten obtener un modelo LTI de orden 5 completamente observable (desde θm) y controlable (desde vqs^r).</a:t>
            </a:r>
            <a:endParaRPr lang="en-US" sz="1150" dirty="0"/>
          </a:p>
        </p:txBody>
      </p:sp>
      <p:sp>
        <p:nvSpPr>
          <p:cNvPr id="13" name="Shape 11"/>
          <p:cNvSpPr/>
          <p:nvPr/>
        </p:nvSpPr>
        <p:spPr>
          <a:xfrm>
            <a:off x="365760" y="2596896"/>
            <a:ext cx="530352" cy="685800"/>
          </a:xfrm>
          <a:prstGeom prst="rect">
            <a:avLst/>
          </a:prstGeom>
          <a:solidFill>
            <a:srgbClr val="1A386B"/>
          </a:solidFill>
          <a:ln w="12700">
            <a:solidFill>
              <a:srgbClr val="1A386B"/>
            </a:solidFill>
            <a:prstDash val="solid"/>
          </a:ln>
        </p:spPr>
      </p:sp>
      <p:sp>
        <p:nvSpPr>
          <p:cNvPr id="14" name="Text 12"/>
          <p:cNvSpPr/>
          <p:nvPr/>
        </p:nvSpPr>
        <p:spPr>
          <a:xfrm>
            <a:off x="365760" y="2596896"/>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05840" y="2633472"/>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Estabilidad confirmada:  </a:t>
            </a:r>
            <a:r>
              <a:rPr lang="en-US" sz="1150" dirty="0">
                <a:solidFill>
                  <a:srgbClr val="111111"/>
                </a:solidFill>
                <a:latin typeface="Calibri" pitchFamily="34" charset="0"/>
                <a:ea typeface="Calibri" pitchFamily="34" charset="-122"/>
                <a:cs typeface="Calibri" pitchFamily="34" charset="-120"/>
              </a:rPr>
              <a:t>El análisis del LTI confirma estabilidad BIBO en todo el rango: ωn ≈ 174 rad/s, ζ ∈ [0.55, 1.05] según temperatura y carga. Mayor Jeq → ωn disminuye; mayor Ts → ζ crece.</a:t>
            </a:r>
            <a:endParaRPr lang="en-US" sz="1150" dirty="0"/>
          </a:p>
        </p:txBody>
      </p:sp>
      <p:sp>
        <p:nvSpPr>
          <p:cNvPr id="16" name="Shape 14"/>
          <p:cNvSpPr/>
          <p:nvPr/>
        </p:nvSpPr>
        <p:spPr>
          <a:xfrm>
            <a:off x="365760" y="3493008"/>
            <a:ext cx="530352" cy="685800"/>
          </a:xfrm>
          <a:prstGeom prst="rect">
            <a:avLst/>
          </a:prstGeom>
          <a:solidFill>
            <a:srgbClr val="1A386B"/>
          </a:solidFill>
          <a:ln w="12700">
            <a:solidFill>
              <a:srgbClr val="1A386B"/>
            </a:solidFill>
            <a:prstDash val="solid"/>
          </a:ln>
        </p:spPr>
      </p:sp>
      <p:sp>
        <p:nvSpPr>
          <p:cNvPr id="17" name="Text 15"/>
          <p:cNvSpPr/>
          <p:nvPr/>
        </p:nvSpPr>
        <p:spPr>
          <a:xfrm>
            <a:off x="365760" y="3493008"/>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05840" y="3529584"/>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Control en cascada eficaz:  </a:t>
            </a:r>
            <a:r>
              <a:rPr lang="en-US" sz="1150" dirty="0">
                <a:solidFill>
                  <a:srgbClr val="111111"/>
                </a:solidFill>
                <a:latin typeface="Calibri" pitchFamily="34" charset="0"/>
                <a:ea typeface="Calibri" pitchFamily="34" charset="-122"/>
                <a:cs typeface="Calibri" pitchFamily="34" charset="-120"/>
              </a:rPr>
              <a:t>El modulador de torque + PID externo + observador aumentado con acción integral logra seguimiento preciso, rechazo a perturbaciones y eliminación del error estacionario.</a:t>
            </a:r>
            <a:endParaRPr lang="en-US" sz="1150" dirty="0"/>
          </a:p>
        </p:txBody>
      </p:sp>
      <p:sp>
        <p:nvSpPr>
          <p:cNvPr id="19" name="Shape 17"/>
          <p:cNvSpPr/>
          <p:nvPr/>
        </p:nvSpPr>
        <p:spPr>
          <a:xfrm>
            <a:off x="365760" y="4389120"/>
            <a:ext cx="530352" cy="685800"/>
          </a:xfrm>
          <a:prstGeom prst="rect">
            <a:avLst/>
          </a:prstGeom>
          <a:solidFill>
            <a:srgbClr val="1A386B"/>
          </a:solidFill>
          <a:ln w="12700">
            <a:solidFill>
              <a:srgbClr val="1A386B"/>
            </a:solidFill>
            <a:prstDash val="solid"/>
          </a:ln>
        </p:spPr>
      </p:sp>
      <p:sp>
        <p:nvSpPr>
          <p:cNvPr id="20" name="Text 18"/>
          <p:cNvSpPr/>
          <p:nvPr/>
        </p:nvSpPr>
        <p:spPr>
          <a:xfrm>
            <a:off x="365760" y="4389120"/>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1005840" y="4425696"/>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Comportamiento térmico:  </a:t>
            </a:r>
            <a:r>
              <a:rPr lang="en-US" sz="1150" dirty="0">
                <a:solidFill>
                  <a:srgbClr val="111111"/>
                </a:solidFill>
                <a:latin typeface="Calibri" pitchFamily="34" charset="0"/>
                <a:ea typeface="Calibri" pitchFamily="34" charset="-122"/>
                <a:cs typeface="Calibri" pitchFamily="34" charset="-120"/>
              </a:rPr>
              <a:t>Ts &lt; 115°C en condiciones nominales. Con ml=1.5 kg y carga cíclica prolongada Ts supera el límite → necesaria limitación de corriente o reducción de consigna.</a:t>
            </a:r>
            <a:endParaRPr lang="en-US" sz="1150" dirty="0"/>
          </a:p>
        </p:txBody>
      </p:sp>
      <p:sp>
        <p:nvSpPr>
          <p:cNvPr id="22" name="Shape 20"/>
          <p:cNvSpPr/>
          <p:nvPr/>
        </p:nvSpPr>
        <p:spPr>
          <a:xfrm>
            <a:off x="365760" y="5285232"/>
            <a:ext cx="530352" cy="685800"/>
          </a:xfrm>
          <a:prstGeom prst="rect">
            <a:avLst/>
          </a:prstGeom>
          <a:solidFill>
            <a:srgbClr val="1A386B"/>
          </a:solidFill>
          <a:ln w="12700">
            <a:solidFill>
              <a:srgbClr val="1A386B"/>
            </a:solidFill>
            <a:prstDash val="solid"/>
          </a:ln>
        </p:spPr>
      </p:sp>
      <p:sp>
        <p:nvSpPr>
          <p:cNvPr id="23" name="Text 21"/>
          <p:cNvSpPr/>
          <p:nvPr/>
        </p:nvSpPr>
        <p:spPr>
          <a:xfrm>
            <a:off x="365760" y="5285232"/>
            <a:ext cx="530352" cy="6858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1005840" y="5321808"/>
            <a:ext cx="10972800" cy="640080"/>
          </a:xfrm>
          <a:prstGeom prst="rect">
            <a:avLst/>
          </a:prstGeom>
          <a:noFill/>
          <a:ln/>
        </p:spPr>
        <p:txBody>
          <a:bodyPr wrap="square" rtlCol="0" anchor="ctr"/>
          <a:lstStyle/>
          <a:p>
            <a:pPr marL="0" indent="0">
              <a:buNone/>
            </a:pPr>
            <a:r>
              <a:rPr lang="en-US" sz="1150" b="1" dirty="0">
                <a:solidFill>
                  <a:srgbClr val="1A386B"/>
                </a:solidFill>
                <a:latin typeface="Calibri" pitchFamily="34" charset="0"/>
                <a:ea typeface="Calibri" pitchFamily="34" charset="-122"/>
                <a:cs typeface="Calibri" pitchFamily="34" charset="-120"/>
              </a:rPr>
              <a:t>Discretización y validación:  </a:t>
            </a:r>
            <a:r>
              <a:rPr lang="en-US" sz="1150" dirty="0">
                <a:solidFill>
                  <a:srgbClr val="111111"/>
                </a:solidFill>
                <a:latin typeface="Calibri" pitchFamily="34" charset="0"/>
                <a:ea typeface="Calibri" pitchFamily="34" charset="-122"/>
                <a:cs typeface="Calibri" pitchFamily="34" charset="-120"/>
              </a:rPr>
              <a:t>La discretización por Tustin con Ts = 1.25×10⁻⁴ s valida el diseño continuo. Concordancia numérica prácticamente exacta entre implementación por bloques y MATLAB Function.</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Referencias</a:t>
            </a:r>
            <a:endParaRPr lang="en-US" sz="1900" dirty="0"/>
          </a:p>
        </p:txBody>
      </p:sp>
      <p:sp>
        <p:nvSpPr>
          <p:cNvPr id="4" name="Shape 2"/>
          <p:cNvSpPr/>
          <p:nvPr/>
        </p:nvSpPr>
        <p:spPr>
          <a:xfrm>
            <a:off x="0" y="6565392"/>
            <a:ext cx="1216152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6" name="Text 4"/>
          <p:cNvSpPr/>
          <p:nvPr/>
        </p:nvSpPr>
        <p:spPr>
          <a:xfrm>
            <a:off x="10332720" y="6565392"/>
            <a:ext cx="1645920" cy="292608"/>
          </a:xfrm>
          <a:prstGeom prst="rect">
            <a:avLst/>
          </a:prstGeom>
          <a:noFill/>
          <a:ln/>
        </p:spPr>
        <p:txBody>
          <a:bodyPr wrap="square" rtlCol="0" anchor="ctr"/>
          <a:lstStyle/>
          <a:p>
            <a:pPr marL="0" indent="0" algn="r">
              <a:buNone/>
            </a:pPr>
            <a:r>
              <a:rPr lang="en-US" sz="900" dirty="0">
                <a:solidFill>
                  <a:srgbClr val="C0D0F0"/>
                </a:solidFill>
                <a:latin typeface="Calibri" pitchFamily="34" charset="0"/>
                <a:ea typeface="Calibri" pitchFamily="34" charset="-122"/>
                <a:cs typeface="Calibri" pitchFamily="34" charset="-120"/>
              </a:rPr>
              <a:t>44 / 67</a:t>
            </a:r>
            <a:endParaRPr lang="en-US" sz="900" dirty="0"/>
          </a:p>
        </p:txBody>
      </p:sp>
      <p:sp>
        <p:nvSpPr>
          <p:cNvPr id="7" name="Text 5"/>
          <p:cNvSpPr/>
          <p:nvPr/>
        </p:nvSpPr>
        <p:spPr>
          <a:xfrm>
            <a:off x="457200" y="822960"/>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[1] G. Julián, Proyecto Global Integrador: Control de Accionamiento de CA con Motor Síncrono de Imanes Permanentes. UNCuyo, Ing. en Mecatrónica, 2024.</a:t>
            </a:r>
            <a:endParaRPr lang="en-US" sz="1200" dirty="0"/>
          </a:p>
        </p:txBody>
      </p:sp>
      <p:sp>
        <p:nvSpPr>
          <p:cNvPr id="8" name="Shape 6"/>
          <p:cNvSpPr/>
          <p:nvPr/>
        </p:nvSpPr>
        <p:spPr>
          <a:xfrm>
            <a:off x="457200" y="1444752"/>
            <a:ext cx="11247120" cy="0"/>
          </a:xfrm>
          <a:prstGeom prst="line">
            <a:avLst/>
          </a:prstGeom>
          <a:noFill/>
          <a:ln w="6350">
            <a:solidFill>
              <a:srgbClr val="D0D8E8"/>
            </a:solidFill>
            <a:prstDash val="solid"/>
          </a:ln>
        </p:spPr>
      </p:sp>
      <p:sp>
        <p:nvSpPr>
          <p:cNvPr id="9" name="Text 7"/>
          <p:cNvSpPr/>
          <p:nvPr/>
        </p:nvSpPr>
        <p:spPr>
          <a:xfrm>
            <a:off x="457200" y="1490472"/>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[2] G. Julián, Guía de trabajo — Proyecto Global Integrador. UNCuyo, 2024.</a:t>
            </a:r>
            <a:endParaRPr lang="en-US" sz="1200" dirty="0"/>
          </a:p>
        </p:txBody>
      </p:sp>
      <p:sp>
        <p:nvSpPr>
          <p:cNvPr id="10" name="Shape 8"/>
          <p:cNvSpPr/>
          <p:nvPr/>
        </p:nvSpPr>
        <p:spPr>
          <a:xfrm>
            <a:off x="457200" y="2112264"/>
            <a:ext cx="11247120" cy="0"/>
          </a:xfrm>
          <a:prstGeom prst="line">
            <a:avLst/>
          </a:prstGeom>
          <a:noFill/>
          <a:ln w="6350">
            <a:solidFill>
              <a:srgbClr val="D0D8E8"/>
            </a:solidFill>
            <a:prstDash val="solid"/>
          </a:ln>
        </p:spPr>
      </p:sp>
      <p:sp>
        <p:nvSpPr>
          <p:cNvPr id="11" name="Text 9"/>
          <p:cNvSpPr/>
          <p:nvPr/>
        </p:nvSpPr>
        <p:spPr>
          <a:xfrm>
            <a:off x="457200" y="2157984"/>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[3] P. Krause, O. Wasynczuk, S. D. Sudhoff, S. Pekarek. Analysis of Electric Machinery and Drive Systems. 3ª ed. Wiley-IEEE Press, 2013.</a:t>
            </a:r>
            <a:endParaRPr lang="en-US" sz="1200" dirty="0"/>
          </a:p>
        </p:txBody>
      </p:sp>
      <p:sp>
        <p:nvSpPr>
          <p:cNvPr id="12" name="Shape 10"/>
          <p:cNvSpPr/>
          <p:nvPr/>
        </p:nvSpPr>
        <p:spPr>
          <a:xfrm>
            <a:off x="457200" y="2779776"/>
            <a:ext cx="11247120" cy="0"/>
          </a:xfrm>
          <a:prstGeom prst="line">
            <a:avLst/>
          </a:prstGeom>
          <a:noFill/>
          <a:ln w="6350">
            <a:solidFill>
              <a:srgbClr val="D0D8E8"/>
            </a:solidFill>
            <a:prstDash val="solid"/>
          </a:ln>
        </p:spPr>
      </p:sp>
      <p:sp>
        <p:nvSpPr>
          <p:cNvPr id="13" name="Text 11"/>
          <p:cNvSpPr/>
          <p:nvPr/>
        </p:nvSpPr>
        <p:spPr>
          <a:xfrm>
            <a:off x="457200" y="2825496"/>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[4] G. F. Franklin, J. D. Powell, A. Emami-Naeni. Feedback Control of Dynamic Systems. 7ª ed. Pearson, 2015.</a:t>
            </a:r>
            <a:endParaRPr lang="en-US" sz="1200" dirty="0"/>
          </a:p>
        </p:txBody>
      </p:sp>
      <p:sp>
        <p:nvSpPr>
          <p:cNvPr id="14" name="Shape 12"/>
          <p:cNvSpPr/>
          <p:nvPr/>
        </p:nvSpPr>
        <p:spPr>
          <a:xfrm>
            <a:off x="457200" y="3447288"/>
            <a:ext cx="11247120" cy="0"/>
          </a:xfrm>
          <a:prstGeom prst="line">
            <a:avLst/>
          </a:prstGeom>
          <a:noFill/>
          <a:ln w="6350">
            <a:solidFill>
              <a:srgbClr val="D0D8E8"/>
            </a:solidFill>
            <a:prstDash val="solid"/>
          </a:ln>
        </p:spPr>
      </p:sp>
      <p:sp>
        <p:nvSpPr>
          <p:cNvPr id="15" name="Text 13"/>
          <p:cNvSpPr/>
          <p:nvPr/>
        </p:nvSpPr>
        <p:spPr>
          <a:xfrm>
            <a:off x="457200" y="3493008"/>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[5] K. Ogata. Ingeniería de Control Moderna. 5ª ed. Prentice Hall, 2010.</a:t>
            </a:r>
            <a:endParaRPr lang="en-US" sz="1200" dirty="0"/>
          </a:p>
        </p:txBody>
      </p:sp>
      <p:sp>
        <p:nvSpPr>
          <p:cNvPr id="16" name="Shape 14"/>
          <p:cNvSpPr/>
          <p:nvPr/>
        </p:nvSpPr>
        <p:spPr>
          <a:xfrm>
            <a:off x="457200" y="4114800"/>
            <a:ext cx="11247120" cy="0"/>
          </a:xfrm>
          <a:prstGeom prst="line">
            <a:avLst/>
          </a:prstGeom>
          <a:noFill/>
          <a:ln w="6350">
            <a:solidFill>
              <a:srgbClr val="D0D8E8"/>
            </a:solidFill>
            <a:prstDash val="solid"/>
          </a:ln>
        </p:spPr>
      </p:sp>
      <p:sp>
        <p:nvSpPr>
          <p:cNvPr id="17" name="Text 15"/>
          <p:cNvSpPr/>
          <p:nvPr/>
        </p:nvSpPr>
        <p:spPr>
          <a:xfrm>
            <a:off x="457200" y="4160520"/>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[6] K. M. Lynch, F. C. Park. Modern Robotics: Mechanics, Planning, and Control. Cambridge University Press, 2017.</a:t>
            </a:r>
            <a:endParaRPr lang="en-US" sz="1200" dirty="0"/>
          </a:p>
        </p:txBody>
      </p:sp>
      <p:sp>
        <p:nvSpPr>
          <p:cNvPr id="18" name="Shape 16"/>
          <p:cNvSpPr/>
          <p:nvPr/>
        </p:nvSpPr>
        <p:spPr>
          <a:xfrm>
            <a:off x="457200" y="4782312"/>
            <a:ext cx="11247120" cy="0"/>
          </a:xfrm>
          <a:prstGeom prst="line">
            <a:avLst/>
          </a:prstGeom>
          <a:noFill/>
          <a:ln w="6350">
            <a:solidFill>
              <a:srgbClr val="D0D8E8"/>
            </a:solidFill>
            <a:prstDash val="solid"/>
          </a:ln>
        </p:spPr>
      </p:sp>
      <p:sp>
        <p:nvSpPr>
          <p:cNvPr id="19" name="Text 17"/>
          <p:cNvSpPr/>
          <p:nvPr/>
        </p:nvSpPr>
        <p:spPr>
          <a:xfrm>
            <a:off x="457200" y="4828032"/>
            <a:ext cx="11247120" cy="621792"/>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[7] MathWorks. MATLAB/Simulink R2024b Documentation.</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386B"/>
          </a:solidFill>
          <a:ln w="12700">
            <a:solidFill>
              <a:srgbClr val="1A386B"/>
            </a:solidFill>
            <a:prstDash val="solid"/>
          </a:ln>
        </p:spPr>
      </p:sp>
      <p:sp>
        <p:nvSpPr>
          <p:cNvPr id="3" name="Shape 1"/>
          <p:cNvSpPr/>
          <p:nvPr/>
        </p:nvSpPr>
        <p:spPr>
          <a:xfrm>
            <a:off x="0" y="5577840"/>
            <a:ext cx="12161520" cy="109728"/>
          </a:xfrm>
          <a:prstGeom prst="rect">
            <a:avLst/>
          </a:prstGeom>
          <a:solidFill>
            <a:srgbClr val="C0392B"/>
          </a:solidFill>
          <a:ln w="12700">
            <a:solidFill>
              <a:srgbClr val="C0392B"/>
            </a:solidFill>
            <a:prstDash val="solid"/>
          </a:ln>
        </p:spPr>
      </p:sp>
      <p:sp>
        <p:nvSpPr>
          <p:cNvPr id="4" name="Shape 2"/>
          <p:cNvSpPr/>
          <p:nvPr/>
        </p:nvSpPr>
        <p:spPr>
          <a:xfrm>
            <a:off x="0" y="5687568"/>
            <a:ext cx="12161520" cy="1170432"/>
          </a:xfrm>
          <a:prstGeom prst="rect">
            <a:avLst/>
          </a:prstGeom>
          <a:solidFill>
            <a:srgbClr val="14213D"/>
          </a:solidFill>
          <a:ln w="12700">
            <a:solidFill>
              <a:srgbClr val="14213D"/>
            </a:solidFill>
            <a:prstDash val="solid"/>
          </a:ln>
        </p:spPr>
      </p:sp>
      <p:sp>
        <p:nvSpPr>
          <p:cNvPr id="5" name="Text 3"/>
          <p:cNvSpPr/>
          <p:nvPr/>
        </p:nvSpPr>
        <p:spPr>
          <a:xfrm>
            <a:off x="0" y="1828800"/>
            <a:ext cx="12161520" cy="137160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Muchas gracias</a:t>
            </a:r>
            <a:endParaRPr lang="en-US" sz="5200" dirty="0"/>
          </a:p>
        </p:txBody>
      </p:sp>
      <p:sp>
        <p:nvSpPr>
          <p:cNvPr id="6" name="Text 4"/>
          <p:cNvSpPr/>
          <p:nvPr/>
        </p:nvSpPr>
        <p:spPr>
          <a:xfrm>
            <a:off x="914400" y="3383280"/>
            <a:ext cx="10332720" cy="594360"/>
          </a:xfrm>
          <a:prstGeom prst="rect">
            <a:avLst/>
          </a:prstGeom>
          <a:noFill/>
          <a:ln/>
        </p:spPr>
        <p:txBody>
          <a:bodyPr wrap="square" rtlCol="0" anchor="ctr"/>
          <a:lstStyle/>
          <a:p>
            <a:pPr marL="0" indent="0" algn="ctr">
              <a:buNone/>
            </a:pPr>
            <a:r>
              <a:rPr lang="en-US" sz="2000" dirty="0">
                <a:solidFill>
                  <a:srgbClr val="9EC5F5"/>
                </a:solidFill>
                <a:latin typeface="Calibri" pitchFamily="34" charset="0"/>
                <a:ea typeface="Calibri" pitchFamily="34" charset="-122"/>
                <a:cs typeface="Calibri" pitchFamily="34" charset="-120"/>
              </a:rPr>
              <a:t>Control de Accionamiento de CA con PMSM</a:t>
            </a:r>
            <a:endParaRPr lang="en-US" sz="2000" dirty="0"/>
          </a:p>
        </p:txBody>
      </p:sp>
      <p:sp>
        <p:nvSpPr>
          <p:cNvPr id="7" name="Text 5"/>
          <p:cNvSpPr/>
          <p:nvPr/>
        </p:nvSpPr>
        <p:spPr>
          <a:xfrm>
            <a:off x="914400" y="4114800"/>
            <a:ext cx="10332720" cy="82296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Juan Stella  —  12552   |   Juan Francisco Huertas  —  12620</a:t>
            </a:r>
            <a:endParaRPr lang="en-US" sz="1400" dirty="0"/>
          </a:p>
          <a:p>
            <a:pPr marL="0" indent="0" algn="ctr">
              <a:buNone/>
            </a:pPr>
            <a:r>
              <a:rPr lang="en-US" sz="1400" dirty="0">
                <a:solidFill>
                  <a:srgbClr val="B0CBEE"/>
                </a:solidFill>
                <a:latin typeface="Calibri" pitchFamily="34" charset="0"/>
                <a:ea typeface="Calibri" pitchFamily="34" charset="-122"/>
                <a:cs typeface="Calibri" pitchFamily="34" charset="-120"/>
              </a:rPr>
              <a:t>Automática y Máquinas Eléctricas  ·  UNCuyo, Ing. Mecatrónica  ·  2025</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751</TotalTime>
  <Words>7746</Words>
  <Application>Microsoft Office PowerPoint</Application>
  <PresentationFormat>Panorámica</PresentationFormat>
  <Paragraphs>725</Paragraphs>
  <Slides>58</Slides>
  <Notes>58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58</vt:i4>
      </vt:variant>
    </vt:vector>
  </HeadingPairs>
  <TitlesOfParts>
    <vt:vector size="63" baseType="lpstr">
      <vt:lpstr>Arial</vt:lpstr>
      <vt:lpstr>Calibri</vt:lpstr>
      <vt:lpstr>Cambria</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de Accionamiento de CA con PMSM</dc:title>
  <dc:subject>PptxGenJS Presentation</dc:subject>
  <dc:creator>Juan Stella - Juan Francisco Huertas</dc:creator>
  <cp:lastModifiedBy>juan stella</cp:lastModifiedBy>
  <cp:revision>26</cp:revision>
  <dcterms:created xsi:type="dcterms:W3CDTF">2026-04-10T01:49:35Z</dcterms:created>
  <dcterms:modified xsi:type="dcterms:W3CDTF">2026-04-10T23:58:28Z</dcterms:modified>
</cp:coreProperties>
</file>