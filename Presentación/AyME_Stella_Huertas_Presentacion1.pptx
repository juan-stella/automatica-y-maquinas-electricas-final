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p:scale>
          <a:sx n="80" d="100"/>
          <a:sy n="80" d="100"/>
        </p:scale>
        <p:origin x="830"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26/4/2026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6.png"/><Relationship Id="rId2" Type="http://schemas.openxmlformats.org/officeDocument/2006/relationships/image" Target="../media/image34.png"/><Relationship Id="rId1" Type="http://schemas.openxmlformats.org/officeDocument/2006/relationships/slideLayout" Target="../slideLayouts/slideLayout7.xml"/><Relationship Id="rId5" Type="http://schemas.openxmlformats.org/officeDocument/2006/relationships/image" Target="../media/image340.png"/><Relationship Id="rId4" Type="http://schemas.openxmlformats.org/officeDocument/2006/relationships/image" Target="../media/image341.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mc:Choice xmlns:a14="http://schemas.microsoft.com/office/drawing/2010/main"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m:ctrlPr>
                      </m:dPr>
                      <m:e>
                        <m:r>
                          <a:rPr lang="es-AR" sz="1400" i="1"/>
                          <m:t>𝑚</m:t>
                        </m:r>
                        <m:r>
                          <a:rPr lang="es-AR" sz="1400" i="1"/>
                          <m:t>∙</m:t>
                        </m:r>
                        <m:sSubSup>
                          <m:sSubSupPr>
                            <m:ctrlPr>
                              <a:rPr lang="es-AR" sz="1400" i="1"/>
                            </m:ctrlPr>
                          </m:sSubSupPr>
                          <m:e>
                            <m:r>
                              <a:rPr lang="es-AR" sz="1400" i="1"/>
                              <m:t>𝑙</m:t>
                            </m:r>
                          </m:e>
                          <m:sub>
                            <m:r>
                              <a:rPr lang="es-AR" sz="1400" i="1"/>
                              <m:t>𝑐𝑚</m:t>
                            </m:r>
                          </m:sub>
                          <m:sup>
                            <m:r>
                              <a:rPr lang="es-AR" sz="1400" i="1"/>
                              <m:t>2</m:t>
                            </m:r>
                          </m:sup>
                        </m:sSubSup>
                        <m:r>
                          <a:rPr lang="es-AR" sz="1400" i="1"/>
                          <m:t>+</m:t>
                        </m:r>
                        <m:sSub>
                          <m:sSubPr>
                            <m:ctrlPr>
                              <a:rPr lang="es-AR" sz="1400" i="1"/>
                            </m:ctrlPr>
                          </m:sSubPr>
                          <m:e>
                            <m:r>
                              <a:rPr lang="es-AR" sz="1400" i="1"/>
                              <m:t>𝐽</m:t>
                            </m:r>
                          </m:e>
                          <m:sub>
                            <m:r>
                              <a:rPr lang="es-AR" sz="1400" i="1"/>
                              <m:t>𝑐𝑚</m:t>
                            </m:r>
                          </m:sub>
                        </m:sSub>
                      </m:e>
                    </m:d>
                    <m:r>
                      <a:rPr lang="es-AR" sz="1400" i="1"/>
                      <m:t>+</m:t>
                    </m:r>
                    <m:sSub>
                      <m:sSubPr>
                        <m:ctrlPr>
                          <a:rPr lang="es-AR" sz="1400" i="1"/>
                        </m:ctrlPr>
                      </m:sSubPr>
                      <m:e>
                        <m:r>
                          <a:rPr lang="es-AR" sz="1400" i="1"/>
                          <m:t>𝑚</m:t>
                        </m:r>
                      </m:e>
                      <m:sub>
                        <m:r>
                          <a:rPr lang="es-AR" sz="1400" i="1"/>
                          <m:t>𝑙</m:t>
                        </m:r>
                      </m:sub>
                    </m:sSub>
                    <m:r>
                      <a:rPr lang="es-AR" sz="1400" i="1"/>
                      <m:t>∙</m:t>
                    </m:r>
                    <m:sSubSup>
                      <m:sSubSupPr>
                        <m:ctrlPr>
                          <a:rPr lang="es-AR" sz="1400" i="1"/>
                        </m:ctrlPr>
                      </m:sSubSupPr>
                      <m:e>
                        <m:r>
                          <a:rPr lang="es-AR" sz="1400" i="1"/>
                          <m:t>𝑙</m:t>
                        </m:r>
                      </m:e>
                      <m:sub>
                        <m:r>
                          <a:rPr lang="es-AR" sz="1400" i="1"/>
                          <m:t>𝑙</m:t>
                        </m:r>
                      </m:sub>
                      <m:sup>
                        <m:r>
                          <a:rPr lang="es-AR" sz="1400" i="1"/>
                          <m:t>2</m:t>
                        </m:r>
                      </m:sup>
                    </m:sSubSup>
                    <m:r>
                      <a:rPr lang="es-AR" sz="1400" i="1"/>
                      <m:t>=</m:t>
                    </m:r>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m:t>𝑚</m:t>
                    </m:r>
                    <m:r>
                      <a:rPr lang="es-AR" sz="1400" i="1"/>
                      <m:t>∙</m:t>
                    </m:r>
                    <m:sSub>
                      <m:sSubPr>
                        <m:ctrlPr>
                          <a:rPr lang="es-AR" sz="1400" i="1"/>
                        </m:ctrlPr>
                      </m:sSubPr>
                      <m:e>
                        <m:r>
                          <a:rPr lang="es-AR" sz="1400" i="1"/>
                          <m:t>𝑙</m:t>
                        </m:r>
                      </m:e>
                      <m:sub>
                        <m:r>
                          <a:rPr lang="es-AR" sz="1400" i="1"/>
                          <m:t>𝑐𝑚</m:t>
                        </m:r>
                      </m:sub>
                    </m:sSub>
                    <m:r>
                      <a:rPr lang="es-AR" sz="1400" i="1"/>
                      <m:t>+</m:t>
                    </m:r>
                    <m:sSub>
                      <m:sSubPr>
                        <m:ctrlPr>
                          <a:rPr lang="es-AR" sz="1400" i="1"/>
                        </m:ctrlPr>
                      </m:sSubPr>
                      <m:e>
                        <m:r>
                          <a:rPr lang="es-AR" sz="1400" i="1"/>
                          <m:t>𝑚</m:t>
                        </m:r>
                      </m:e>
                      <m:sub>
                        <m:r>
                          <a:rPr lang="es-AR" sz="1400" i="1"/>
                          <m:t>𝑙</m:t>
                        </m:r>
                      </m:sub>
                    </m:sSub>
                    <m:r>
                      <a:rPr lang="es-AR" sz="1400" i="1"/>
                      <m:t>∙</m:t>
                    </m:r>
                    <m:sSub>
                      <m:sSubPr>
                        <m:ctrlPr>
                          <a:rPr lang="es-AR" sz="1400" i="1"/>
                        </m:ctrlPr>
                      </m:sSubPr>
                      <m:e>
                        <m:r>
                          <a:rPr lang="es-AR" sz="1400" i="1"/>
                          <m:t>𝑙</m:t>
                        </m:r>
                      </m:e>
                      <m:sub>
                        <m:r>
                          <a:rPr lang="es-AR" sz="1400" i="1"/>
                          <m:t>𝑙</m:t>
                        </m:r>
                      </m:sub>
                    </m:sSub>
                    <m:r>
                      <a:rPr lang="es-AR" sz="1400" i="1"/>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365760" y="2844200"/>
                <a:ext cx="5178523"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365760" y="2844200"/>
                <a:ext cx="5178523"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m:t>
                    </m:r>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n-US" sz="1300" i="1" dirty="0" smtClean="0">
                        <a:solidFill>
                          <a:srgbClr val="111111"/>
                        </a:solidFill>
                        <a:latin typeface="Cambria Math" panose="02040503050406030204" pitchFamily="18" charset="0"/>
                        <a:ea typeface="Calibri" pitchFamily="34" charset="-122"/>
                        <a:cs typeface="Calibri" pitchFamily="34" charset="-120"/>
                      </a:rPr>
                      <m:t>𝑑</m:t>
                    </m:r>
                    <m:r>
                      <a:rPr lang="en-US" sz="1300" i="1" dirty="0" smtClean="0">
                        <a:solidFill>
                          <a:srgbClr val="111111"/>
                        </a:solidFill>
                        <a:latin typeface="Cambria Math" panose="02040503050406030204" pitchFamily="18" charset="0"/>
                        <a:ea typeface="Calibri" pitchFamily="34" charset="-122"/>
                        <a:cs typeface="Calibri" pitchFamily="34" charset="-120"/>
                      </a:rPr>
                      <m:t>−</m:t>
                    </m:r>
                    <m:r>
                      <a:rPr lang="en-US" sz="1300" i="1" dirty="0" smtClean="0">
                        <a:solidFill>
                          <a:srgbClr val="111111"/>
                        </a:solidFill>
                        <a:latin typeface="Cambria Math" panose="02040503050406030204" pitchFamily="18" charset="0"/>
                        <a:ea typeface="Calibri" pitchFamily="34" charset="-122"/>
                        <a:cs typeface="Calibri" pitchFamily="34" charset="-120"/>
                      </a:rPr>
                      <m:t>𝑞</m:t>
                    </m:r>
                  </m:oMath>
                </a14:m>
                <a:r>
                  <a:rPr lang="en-US" sz="1300" dirty="0">
                    <a:solidFill>
                      <a:srgbClr val="111111"/>
                    </a:solidFill>
                    <a:latin typeface="Calibri" pitchFamily="34" charset="0"/>
                    <a:ea typeface="Calibri" pitchFamily="34" charset="-122"/>
                    <a:cs typeface="Calibri" pitchFamily="34" charset="-120"/>
                  </a:rPr>
                  <a:t>. Para usar herramientas de control lineal, se descompone cada variable en un punto de operación cuasi-estacionario y una perturbación de pequeña magnitud:</a:t>
                </a: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685800"/>
              </a:xfrm>
              <a:prstGeom prst="rect">
                <a:avLst/>
              </a:prstGeom>
              <a:blipFill>
                <a:blip r:embed="rId2"/>
                <a:stretch>
                  <a:fillRect l="-53" t="-893"/>
                </a:stretch>
              </a:blipFill>
              <a:ln/>
            </p:spPr>
            <p:txBody>
              <a:bodyPr/>
              <a:lstStyle/>
              <a:p>
                <a:r>
                  <a:rPr lang="es-AR">
                    <a:noFill/>
                  </a:rPr>
                  <a:t> </a:t>
                </a:r>
              </a:p>
            </p:txBody>
          </p:sp>
        </mc:Fallback>
      </mc:AlternateContent>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371600" y="2701999"/>
                <a:ext cx="9052560"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371600" y="2701999"/>
                <a:ext cx="9052560" cy="815929"/>
              </a:xfrm>
              <a:prstGeom prst="rect">
                <a:avLst/>
              </a:prstGeom>
              <a:blipFill>
                <a:blip r:embed="rId4"/>
                <a:stretch>
                  <a:fillRect t="-746" b="-5970"/>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m:t>
                    </m:r>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4285</TotalTime>
  <Words>13779</Words>
  <Application>Microsoft Office PowerPoint</Application>
  <PresentationFormat>Panorámica</PresentationFormat>
  <Paragraphs>1361</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194</cp:revision>
  <dcterms:created xsi:type="dcterms:W3CDTF">2013-01-27T09:14:16Z</dcterms:created>
  <dcterms:modified xsi:type="dcterms:W3CDTF">2026-04-26T16:32:27Z</dcterms:modified>
  <cp:category/>
</cp:coreProperties>
</file>