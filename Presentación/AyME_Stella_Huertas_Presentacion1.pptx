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002" autoAdjust="0"/>
    <p:restoredTop sz="96357" autoAdjust="0"/>
  </p:normalViewPr>
  <p:slideViewPr>
    <p:cSldViewPr snapToGrid="0" snapToObjects="1">
      <p:cViewPr varScale="1">
        <p:scale>
          <a:sx n="114" d="100"/>
          <a:sy n="114" d="100"/>
        </p:scale>
        <p:origin x="528"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5/5/2026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29</a:t>
            </a:fld>
            <a:endParaRPr lang="es-AR"/>
          </a:p>
        </p:txBody>
      </p:sp>
    </p:spTree>
    <p:extLst>
      <p:ext uri="{BB962C8B-B14F-4D97-AF65-F5344CB8AC3E}">
        <p14:creationId xmlns:p14="http://schemas.microsoft.com/office/powerpoint/2010/main" val="16879002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42</a:t>
            </a:fld>
            <a:endParaRPr lang="es-AR"/>
          </a:p>
        </p:txBody>
      </p:sp>
    </p:spTree>
    <p:extLst>
      <p:ext uri="{BB962C8B-B14F-4D97-AF65-F5344CB8AC3E}">
        <p14:creationId xmlns:p14="http://schemas.microsoft.com/office/powerpoint/2010/main" val="11077983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67</a:t>
            </a:fld>
            <a:endParaRPr lang="es-AR"/>
          </a:p>
        </p:txBody>
      </p:sp>
    </p:spTree>
    <p:extLst>
      <p:ext uri="{BB962C8B-B14F-4D97-AF65-F5344CB8AC3E}">
        <p14:creationId xmlns:p14="http://schemas.microsoft.com/office/powerpoint/2010/main" val="13182277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80</a:t>
            </a:fld>
            <a:endParaRPr lang="es-AR"/>
          </a:p>
        </p:txBody>
      </p:sp>
    </p:spTree>
    <p:extLst>
      <p:ext uri="{BB962C8B-B14F-4D97-AF65-F5344CB8AC3E}">
        <p14:creationId xmlns:p14="http://schemas.microsoft.com/office/powerpoint/2010/main" val="11438117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90</a:t>
            </a:fld>
            <a:endParaRPr lang="es-AR"/>
          </a:p>
        </p:txBody>
      </p:sp>
    </p:spTree>
    <p:extLst>
      <p:ext uri="{BB962C8B-B14F-4D97-AF65-F5344CB8AC3E}">
        <p14:creationId xmlns:p14="http://schemas.microsoft.com/office/powerpoint/2010/main" val="2847072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94</a:t>
            </a:fld>
            <a:endParaRPr lang="es-AR"/>
          </a:p>
        </p:txBody>
      </p:sp>
    </p:spTree>
    <p:extLst>
      <p:ext uri="{BB962C8B-B14F-4D97-AF65-F5344CB8AC3E}">
        <p14:creationId xmlns:p14="http://schemas.microsoft.com/office/powerpoint/2010/main" val="39320188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95</a:t>
            </a:fld>
            <a:endParaRPr lang="es-AR"/>
          </a:p>
        </p:txBody>
      </p:sp>
    </p:spTree>
    <p:extLst>
      <p:ext uri="{BB962C8B-B14F-4D97-AF65-F5344CB8AC3E}">
        <p14:creationId xmlns:p14="http://schemas.microsoft.com/office/powerpoint/2010/main" val="7895085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11.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0.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0.pn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0.png"/><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24.xml.rels><?xml version="1.0" encoding="UTF-8" standalone="yes"?>
<Relationships xmlns="http://schemas.openxmlformats.org/package/2006/relationships"><Relationship Id="rId8" Type="http://schemas.openxmlformats.org/officeDocument/2006/relationships/image" Target="../media/image45.png"/><Relationship Id="rId7" Type="http://schemas.openxmlformats.org/officeDocument/2006/relationships/image" Target="../media/image410.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 Id="rId9" Type="http://schemas.openxmlformats.org/officeDocument/2006/relationships/image" Target="../media/image46.png"/></Relationships>
</file>

<file path=ppt/slides/_rels/slide25.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image" Target="../media/image47.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55.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1" Type="http://schemas.openxmlformats.org/officeDocument/2006/relationships/image" Target="../media/image531.png"/><Relationship Id="rId10" Type="http://schemas.openxmlformats.org/officeDocument/2006/relationships/image" Target="../media/image501.png"/><Relationship Id="rId9" Type="http://schemas.openxmlformats.org/officeDocument/2006/relationships/image" Target="../media/image491.png"/></Relationships>
</file>

<file path=ppt/slides/_rels/slide2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58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1.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6.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7.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68.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1.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7" Type="http://schemas.openxmlformats.org/officeDocument/2006/relationships/image" Target="../media/image112.png"/><Relationship Id="rId2" Type="http://schemas.openxmlformats.org/officeDocument/2006/relationships/image" Target="../media/image108.png"/><Relationship Id="rId1" Type="http://schemas.openxmlformats.org/officeDocument/2006/relationships/slideLayout" Target="../slideLayouts/slideLayout7.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6.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15.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0.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0.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1.png"/><Relationship Id="rId1" Type="http://schemas.openxmlformats.org/officeDocument/2006/relationships/slideLayout" Target="../slideLayouts/slideLayout7.xml"/><Relationship Id="rId5" Type="http://schemas.openxmlformats.org/officeDocument/2006/relationships/image" Target="../media/image135.png"/><Relationship Id="rId4" Type="http://schemas.openxmlformats.org/officeDocument/2006/relationships/image" Target="../media/image134.png"/></Relationships>
</file>

<file path=ppt/slides/_rels/slide62.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38.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1.png"/><Relationship Id="rId1" Type="http://schemas.openxmlformats.org/officeDocument/2006/relationships/slideLayout" Target="../slideLayouts/slideLayout7.xml"/><Relationship Id="rId4" Type="http://schemas.openxmlformats.org/officeDocument/2006/relationships/image" Target="../media/image147.png"/></Relationships>
</file>

<file path=ppt/slides/_rels/slide6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8.png"/><Relationship Id="rId1" Type="http://schemas.openxmlformats.org/officeDocument/2006/relationships/slideLayout" Target="../slideLayouts/slideLayout7.xml"/><Relationship Id="rId6" Type="http://schemas.openxmlformats.org/officeDocument/2006/relationships/image" Target="../media/image153.png"/><Relationship Id="rId5" Type="http://schemas.openxmlformats.org/officeDocument/2006/relationships/image" Target="../media/image152.png"/><Relationship Id="rId4" Type="http://schemas.openxmlformats.org/officeDocument/2006/relationships/image" Target="../media/image151.png"/></Relationships>
</file>

<file path=ppt/slides/_rels/slide67.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5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5.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87.png"/><Relationship Id="rId7" Type="http://schemas.openxmlformats.org/officeDocument/2006/relationships/image" Target="../media/image189.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88.png"/><Relationship Id="rId5" Type="http://schemas.openxmlformats.org/officeDocument/2006/relationships/image" Target="../media/image186.png"/><Relationship Id="rId4" Type="http://schemas.openxmlformats.org/officeDocument/2006/relationships/image" Target="../media/image177.png"/><Relationship Id="rId9" Type="http://schemas.openxmlformats.org/officeDocument/2006/relationships/image" Target="../media/image191.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3.png"/><Relationship Id="rId4" Type="http://schemas.openxmlformats.org/officeDocument/2006/relationships/image" Target="../media/image192.png"/></Relationships>
</file>

<file path=ppt/slides/_rels/slide79.xml.rels><?xml version="1.0" encoding="UTF-8" standalone="yes"?>
<Relationships xmlns="http://schemas.openxmlformats.org/package/2006/relationships"><Relationship Id="rId8" Type="http://schemas.openxmlformats.org/officeDocument/2006/relationships/image" Target="../media/image202.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198.png"/><Relationship Id="rId5" Type="http://schemas.openxmlformats.org/officeDocument/2006/relationships/image" Target="../media/image197.png"/><Relationship Id="rId4" Type="http://schemas.openxmlformats.org/officeDocument/2006/relationships/image" Target="../media/image194.png"/></Relationships>
</file>

<file path=ppt/slides/_rels/slide80.xml.rels><?xml version="1.0" encoding="UTF-8" standalone="yes"?>
<Relationships xmlns="http://schemas.openxmlformats.org/package/2006/relationships"><Relationship Id="rId3" Type="http://schemas.openxmlformats.org/officeDocument/2006/relationships/image" Target="../media/image207.png"/><Relationship Id="rId7" Type="http://schemas.openxmlformats.org/officeDocument/2006/relationships/image" Target="../media/image204.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210.png"/><Relationship Id="rId5" Type="http://schemas.openxmlformats.org/officeDocument/2006/relationships/image" Target="../media/image203.png"/><Relationship Id="rId4" Type="http://schemas.openxmlformats.org/officeDocument/2006/relationships/image" Target="../media/image20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06.png"/><Relationship Id="rId1" Type="http://schemas.openxmlformats.org/officeDocument/2006/relationships/slideLayout" Target="../slideLayouts/slideLayout7.xml"/><Relationship Id="rId4" Type="http://schemas.openxmlformats.org/officeDocument/2006/relationships/image" Target="../media/image209.png"/></Relationships>
</file>

<file path=ppt/slides/_rels/slide83.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4.png"/><Relationship Id="rId2" Type="http://schemas.openxmlformats.org/officeDocument/2006/relationships/image" Target="../media/image212.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6.png"/><Relationship Id="rId4" Type="http://schemas.openxmlformats.org/officeDocument/2006/relationships/image" Target="../media/image215.png"/></Relationships>
</file>

<file path=ppt/slides/_rels/slide86.xml.rels><?xml version="1.0" encoding="UTF-8" standalone="yes"?>
<Relationships xmlns="http://schemas.openxmlformats.org/package/2006/relationships"><Relationship Id="rId3" Type="http://schemas.openxmlformats.org/officeDocument/2006/relationships/image" Target="../media/image217.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0.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4.png"/><Relationship Id="rId2" Type="http://schemas.openxmlformats.org/officeDocument/2006/relationships/image" Target="../media/image221.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32.png"/><Relationship Id="rId1" Type="http://schemas.openxmlformats.org/officeDocument/2006/relationships/slideLayout" Target="../slideLayouts/slideLayout7.xml"/><Relationship Id="rId6" Type="http://schemas.openxmlformats.org/officeDocument/2006/relationships/image" Target="../media/image236.png"/><Relationship Id="rId5" Type="http://schemas.openxmlformats.org/officeDocument/2006/relationships/image" Target="../media/image235.png"/><Relationship Id="rId4" Type="http://schemas.openxmlformats.org/officeDocument/2006/relationships/image" Target="../media/image233.png"/></Relationships>
</file>

<file path=ppt/slides/_rels/slide90.xml.rels><?xml version="1.0" encoding="UTF-8" standalone="yes"?>
<Relationships xmlns="http://schemas.openxmlformats.org/package/2006/relationships"><Relationship Id="rId3" Type="http://schemas.openxmlformats.org/officeDocument/2006/relationships/image" Target="../media/image237.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240.png"/><Relationship Id="rId5" Type="http://schemas.openxmlformats.org/officeDocument/2006/relationships/image" Target="../media/image239.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430.png"/><Relationship Id="rId5" Type="http://schemas.openxmlformats.org/officeDocument/2006/relationships/image" Target="../media/image243.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5.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248.png"/><Relationship Id="rId5" Type="http://schemas.openxmlformats.org/officeDocument/2006/relationships/image" Target="../media/image247.png"/><Relationship Id="rId4" Type="http://schemas.openxmlformats.org/officeDocument/2006/relationships/image" Target="../media/image246.png"/></Relationships>
</file>

<file path=ppt/slides/_rels/slide95.xml.rels><?xml version="1.0" encoding="UTF-8" standalone="yes"?>
<Relationships xmlns="http://schemas.openxmlformats.org/package/2006/relationships"><Relationship Id="rId8" Type="http://schemas.openxmlformats.org/officeDocument/2006/relationships/image" Target="../media/image254.png"/><Relationship Id="rId3" Type="http://schemas.openxmlformats.org/officeDocument/2006/relationships/image" Target="../media/image249.png"/><Relationship Id="rId7" Type="http://schemas.openxmlformats.org/officeDocument/2006/relationships/image" Target="../media/image253.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52.png"/><Relationship Id="rId5" Type="http://schemas.openxmlformats.org/officeDocument/2006/relationships/image" Target="../media/image251.png"/><Relationship Id="rId4" Type="http://schemas.openxmlformats.org/officeDocument/2006/relationships/image" Target="../media/image250.png"/></Relationships>
</file>

<file path=ppt/slides/_rels/slide96.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7.png"/></Relationships>
</file>

<file path=ppt/slides/_rels/slide9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6.png"/><Relationship Id="rId4" Type="http://schemas.openxmlformats.org/officeDocument/2006/relationships/image" Target="../media/image265.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1.png"/><Relationship Id="rId5" Type="http://schemas.openxmlformats.org/officeDocument/2006/relationships/image" Target="../media/image270.png"/><Relationship Id="rId4" Type="http://schemas.openxmlformats.org/officeDocument/2006/relationships/image" Target="../media/image269.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7.png"/><Relationship Id="rId4" Type="http://schemas.openxmlformats.org/officeDocument/2006/relationships/image" Target="../media/image276.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281.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7.png"/><Relationship Id="rId4" Type="http://schemas.openxmlformats.org/officeDocument/2006/relationships/image" Target="../media/image29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302.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5.png"/></Relationships>
</file>

<file path=ppt/slides/_rels/slide111.xml.rels><?xml version="1.0" encoding="UTF-8" standalone="yes"?>
<Relationships xmlns="http://schemas.openxmlformats.org/package/2006/relationships"><Relationship Id="rId3" Type="http://schemas.openxmlformats.org/officeDocument/2006/relationships/image" Target="../media/image309.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3.png"/><Relationship Id="rId7" Type="http://schemas.openxmlformats.org/officeDocument/2006/relationships/image" Target="../media/image1600.png"/><Relationship Id="rId2" Type="http://schemas.openxmlformats.org/officeDocument/2006/relationships/image" Target="../media/image312.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5.png"/><Relationship Id="rId4" Type="http://schemas.openxmlformats.org/officeDocument/2006/relationships/image" Target="../media/image314.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6.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20.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4.png"/><Relationship Id="rId7" Type="http://schemas.openxmlformats.org/officeDocument/2006/relationships/image" Target="../media/image1730.png"/><Relationship Id="rId2" Type="http://schemas.openxmlformats.org/officeDocument/2006/relationships/image" Target="../media/image323.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71023" y="6565392"/>
            <a:ext cx="12263021" cy="292608"/>
          </a:xfrm>
          <a:prstGeom prst="rect">
            <a:avLst/>
          </a:prstGeom>
          <a:solidFill>
            <a:srgbClr val="14213D"/>
          </a:solidFill>
          <a:ln w="12700">
            <a:solidFill>
              <a:srgbClr val="14213D"/>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122493"/>
            <a:ext cx="5486400" cy="411480"/>
          </a:xfrm>
          <a:prstGeom prst="rect">
            <a:avLst/>
          </a:prstGeom>
          <a:noFill/>
          <a:ln/>
        </p:spPr>
        <p:txBody>
          <a:bodyPr wrap="square" rtlCol="0" anchor="t"/>
          <a:lstStyle/>
          <a:p>
            <a:pPr marL="0" indent="0" algn="l">
              <a:buNone/>
            </a:pPr>
            <a:r>
              <a:rPr lang="es-MX" sz="1400" dirty="0"/>
              <a:t>El subsistema mecánico del motor corresponde al rotor referido al estator estacionario</a:t>
            </a:r>
            <a:r>
              <a:rPr lang="en-US" sz="1400" dirty="0">
                <a:solidFill>
                  <a:srgbClr val="111111"/>
                </a:solidFill>
                <a:latin typeface="Calibri" pitchFamily="34" charset="0"/>
                <a:ea typeface="Calibri" pitchFamily="34" charset="-122"/>
                <a:cs typeface="Calibri" pitchFamily="34" charset="-120"/>
              </a:rPr>
              <a:t>— parámetros concentrados:</a:t>
            </a:r>
            <a:endParaRPr lang="en-US" sz="14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a:solidFill>
                  <a:srgbClr val="FFFFFF"/>
                </a:solidFill>
                <a:latin typeface="Calibri" pitchFamily="34" charset="0"/>
                <a:ea typeface="Calibri" pitchFamily="34" charset="-122"/>
                <a:cs typeface="Calibri" pitchFamily="34" charset="-120"/>
              </a:rPr>
              <a:t>Subsistema</a:t>
            </a:r>
            <a:r>
              <a:rPr lang="en-US" sz="1900" b="1" dirty="0">
                <a:solidFill>
                  <a:srgbClr val="FFFFFF"/>
                </a:solidFill>
                <a:latin typeface="Calibri" pitchFamily="34" charset="0"/>
                <a:ea typeface="Calibri" pitchFamily="34" charset="-122"/>
                <a:cs typeface="Calibri" pitchFamily="34" charset="-120"/>
              </a:rPr>
              <a:t>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177198" y="1882411"/>
            <a:ext cx="11341401"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182880" y="2335739"/>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373473" y="2625559"/>
                <a:ext cx="5178523" cy="59436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600" dirty="0"/>
              </a:p>
            </p:txBody>
          </p:sp>
        </mc:Choice>
        <mc:Fallback xmlns="">
          <p:sp>
            <p:nvSpPr>
              <p:cNvPr id="23" name="Text 21"/>
              <p:cNvSpPr>
                <a:spLocks noRot="1" noChangeAspect="1" noMove="1" noResize="1" noEditPoints="1" noAdjustHandles="1" noChangeArrowheads="1" noChangeShapeType="1" noTextEdit="1"/>
              </p:cNvSpPr>
              <p:nvPr/>
            </p:nvSpPr>
            <p:spPr>
              <a:xfrm>
                <a:off x="-373473" y="2625559"/>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177198" y="715313"/>
            <a:ext cx="11618562"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182879" y="1057709"/>
            <a:ext cx="11244279" cy="79176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8" name="Text 21">
                <a:extLst>
                  <a:ext uri="{FF2B5EF4-FFF2-40B4-BE49-F238E27FC236}">
                    <a16:creationId xmlns:a16="http://schemas.microsoft.com/office/drawing/2014/main" id="{9CB1D5DA-B895-49EC-AF0F-2B5E12F4D128}"/>
                  </a:ext>
                </a:extLst>
              </p:cNvPr>
              <p:cNvSpPr/>
              <p:nvPr/>
            </p:nvSpPr>
            <p:spPr>
              <a:xfrm>
                <a:off x="91440" y="1109831"/>
                <a:ext cx="5387571" cy="594360"/>
              </a:xfrm>
              <a:prstGeom prst="rect">
                <a:avLst/>
              </a:prstGeom>
              <a:noFill/>
              <a:ln/>
            </p:spPr>
            <p:txBody>
              <a:bodyPr wrap="square" rtlCol="0" anchor="ctr"/>
              <a:lstStyle/>
              <a:p>
                <a:pPr algn="ctr"/>
                <a14:m>
                  <m:oMath xmlns:m="http://schemas.openxmlformats.org/officeDocument/2006/math">
                    <m:r>
                      <a:rPr lang="es-AR" sz="1600" i="1" smtClean="0">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MX" sz="1600" b="0" i="1" smtClean="0">
                        <a:latin typeface="Cambria Math" panose="02040503050406030204" pitchFamily="18" charset="0"/>
                      </a:rPr>
                      <m:t>    </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xmlns="">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91440" y="1109831"/>
                <a:ext cx="5387571" cy="594360"/>
              </a:xfrm>
              <a:prstGeom prst="rect">
                <a:avLst/>
              </a:prstGeom>
              <a:blipFill>
                <a:blip r:embed="rId3"/>
                <a:stretch>
                  <a:fillRect b="-2041"/>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227179" y="3681280"/>
            <a:ext cx="1129142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Representación matricial en espacio de estados:</a:t>
            </a:r>
            <a:endParaRPr lang="es-AR" sz="1400" dirty="0"/>
          </a:p>
        </p:txBody>
      </p:sp>
      <p:sp>
        <p:nvSpPr>
          <p:cNvPr id="30" name="Shape 20">
            <a:extLst>
              <a:ext uri="{FF2B5EF4-FFF2-40B4-BE49-F238E27FC236}">
                <a16:creationId xmlns:a16="http://schemas.microsoft.com/office/drawing/2014/main" id="{8B4DE1EB-B212-4A92-A0D0-0B0C5C1971DD}"/>
              </a:ext>
            </a:extLst>
          </p:cNvPr>
          <p:cNvSpPr/>
          <p:nvPr/>
        </p:nvSpPr>
        <p:spPr>
          <a:xfrm>
            <a:off x="227179" y="4231196"/>
            <a:ext cx="11158521" cy="121446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91440" y="4558603"/>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eqArr>
                            <m:eqArrPr>
                              <m:ctrlPr>
                                <a:rPr lang="es-AR" sz="1400" i="1">
                                  <a:effectLst/>
                                  <a:latin typeface="Cambria Math" panose="02040503050406030204" pitchFamily="18" charset="0"/>
                                  <a:ea typeface="Times New Roman" panose="02020603050405020304" pitchFamily="18" charset="0"/>
                                </a:rPr>
                              </m:ctrlPr>
                            </m:eqArrPr>
                            <m:e>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b="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400" i="1">
                                      <a:effectLst/>
                                      <a:latin typeface="Cambria Math" panose="02040503050406030204" pitchFamily="18" charset="0"/>
                                      <a:ea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4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91440" y="4558603"/>
                <a:ext cx="5178523" cy="594360"/>
              </a:xfrm>
              <a:prstGeom prst="rect">
                <a:avLst/>
              </a:prstGeom>
              <a:blipFill>
                <a:blip r:embed="rId4"/>
                <a:stretch>
                  <a:fillRect t="-31959" b="-3608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a:t>
            </a:r>
            <a:r>
              <a:rPr lang="en-US" sz="1900" b="1" dirty="0" err="1">
                <a:solidFill>
                  <a:srgbClr val="FFFFFF"/>
                </a:solidFill>
                <a:latin typeface="Calibri" pitchFamily="34" charset="0"/>
                <a:ea typeface="Calibri" pitchFamily="34" charset="-122"/>
                <a:cs typeface="Calibri" pitchFamily="34" charset="-120"/>
              </a:rPr>
              <a:t>Transformación</a:t>
            </a:r>
            <a:r>
              <a:rPr lang="en-US" sz="1900" b="1" dirty="0">
                <a:solidFill>
                  <a:srgbClr val="FFFFFF"/>
                </a:solidFill>
                <a:latin typeface="Calibri" pitchFamily="34" charset="0"/>
                <a:ea typeface="Calibri" pitchFamily="34" charset="-122"/>
                <a:cs typeface="Calibri" pitchFamily="34" charset="-120"/>
              </a:rPr>
              <a:t>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457200" y="4991559"/>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1025880"/>
            <a:ext cx="7702771" cy="3734677"/>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381000" y="4085986"/>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381000" y="4085986"/>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213360" y="4076755"/>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f>
                        <m:fPr>
                          <m:ctrlPr>
                            <a:rPr lang="es-AR" sz="1400" i="1" smtClean="0">
                              <a:solidFill>
                                <a:schemeClr val="tx1"/>
                              </a:solidFill>
                              <a:effectLst/>
                              <a:latin typeface="Cambria Math" panose="02040503050406030204" pitchFamily="18" charset="0"/>
                              <a:ea typeface="Times New Roman" panose="02020603050405020304" pitchFamily="18" charset="0"/>
                            </a:rPr>
                          </m:ctrlPr>
                        </m:fPr>
                        <m:num>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rPr>
                              </m:ctrlPr>
                            </m:sSub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400" i="1">
                              <a:solidFill>
                                <a:schemeClr val="tx1"/>
                              </a:solidFill>
                              <a:effectLst/>
                              <a:latin typeface="Cambria Math" panose="02040503050406030204" pitchFamily="18" charset="0"/>
                            </a:rPr>
                          </m:ctrlPr>
                        </m:dPr>
                        <m:e>
                          <m:sSub>
                            <m:sSubPr>
                              <m:ctrlPr>
                                <a:rPr lang="es-AR" sz="1400" i="1">
                                  <a:solidFill>
                                    <a:schemeClr val="tx1"/>
                                  </a:solidFill>
                                  <a:effectLst/>
                                  <a:latin typeface="Cambria Math" panose="02040503050406030204" pitchFamily="18" charset="0"/>
                                </a:rPr>
                              </m:ctrlPr>
                            </m:sSubPr>
                            <m:e>
                              <m:f>
                                <m:fPr>
                                  <m:ctrlPr>
                                    <a:rPr lang="es-AR" sz="1400" i="1">
                                      <a:solidFill>
                                        <a:schemeClr val="tx1"/>
                                      </a:solidFill>
                                      <a:effectLst/>
                                      <a:latin typeface="Cambria Math" panose="02040503050406030204" pitchFamily="18" charset="0"/>
                                    </a:rPr>
                                  </m:ctrlPr>
                                </m:fPr>
                                <m:num>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400" i="1">
                                  <a:solidFill>
                                    <a:schemeClr val="tx1"/>
                                  </a:solidFill>
                                  <a:effectLst/>
                                  <a:latin typeface="Cambria Math" panose="02040503050406030204" pitchFamily="18" charset="0"/>
                                </a:rPr>
                              </m:ctrlPr>
                            </m:dPr>
                            <m:e>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400" i="1">
                                  <a:solidFill>
                                    <a:schemeClr val="tx1"/>
                                  </a:solidFill>
                                  <a:effectLst/>
                                  <a:latin typeface="Cambria Math" panose="02040503050406030204" pitchFamily="18" charset="0"/>
                                </a:rPr>
                              </m:ctrlPr>
                            </m:dPr>
                            <m:e>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ea typeface="Times New Roman" panose="02020603050405020304" pitchFamily="18"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e>
                      </m:d>
                      <m:r>
                        <a:rPr lang="es-MX" sz="1400" b="0"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a:solidFill>
                                <a:schemeClr val="tx1"/>
                              </a:solidFill>
                              <a:latin typeface="Cambria Math" panose="02040503050406030204" pitchFamily="18" charset="0"/>
                            </a:rPr>
                            <m:t>1+</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𝛼</m:t>
                              </m:r>
                            </m:e>
                            <m:sub>
                              <m:r>
                                <a:rPr lang="es-AR" sz="1400" i="1">
                                  <a:solidFill>
                                    <a:schemeClr val="tx1"/>
                                  </a:solidFill>
                                  <a:latin typeface="Cambria Math" panose="02040503050406030204" pitchFamily="18" charset="0"/>
                                </a:rPr>
                                <m:t>𝑐𝑢</m:t>
                              </m:r>
                            </m:sub>
                          </m:sSub>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n-US" sz="1400" dirty="0">
                  <a:solidFill>
                    <a:schemeClr val="tx1"/>
                  </a:solidFill>
                </a:endParaRPr>
              </a:p>
            </p:txBody>
          </p:sp>
        </mc:Choice>
        <mc:Fallback xmlns="">
          <p:sp>
            <p:nvSpPr>
              <p:cNvPr id="13" name="Text 11"/>
              <p:cNvSpPr>
                <a:spLocks noRot="1" noChangeAspect="1" noMove="1" noResize="1" noEditPoints="1" noAdjustHandles="1" noChangeArrowheads="1" noChangeShapeType="1" noTextEdit="1"/>
              </p:cNvSpPr>
              <p:nvPr/>
            </p:nvSpPr>
            <p:spPr>
              <a:xfrm>
                <a:off x="213360" y="4076755"/>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global no lineal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smtClean="0">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9" name="Text 10">
                <a:extLst>
                  <a:ext uri="{FF2B5EF4-FFF2-40B4-BE49-F238E27FC236}">
                    <a16:creationId xmlns:a16="http://schemas.microsoft.com/office/drawing/2014/main" id="{8487B241-9AC0-49F2-B841-AFF136F1385B}"/>
                  </a:ext>
                </a:extLst>
              </p:cNvPr>
              <p:cNvSpPr/>
              <p:nvPr/>
            </p:nvSpPr>
            <p:spPr>
              <a:xfrm>
                <a:off x="274320" y="4596542"/>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74320" y="4596542"/>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err="1">
                <a:solidFill>
                  <a:srgbClr val="FFFFFF"/>
                </a:solidFill>
                <a:latin typeface="Cambria" pitchFamily="34" charset="0"/>
                <a:ea typeface="Cambria" pitchFamily="34" charset="-122"/>
                <a:cs typeface="Cambria" pitchFamily="34" charset="-120"/>
              </a:rPr>
              <a:t>Modelo</a:t>
            </a:r>
            <a:r>
              <a:rPr lang="en-US" sz="3400" b="1" dirty="0">
                <a:solidFill>
                  <a:srgbClr val="FFFFFF"/>
                </a:solidFill>
                <a:latin typeface="Cambria" pitchFamily="34" charset="0"/>
                <a:ea typeface="Cambria" pitchFamily="34" charset="-122"/>
                <a:cs typeface="Cambria" pitchFamily="34" charset="-120"/>
              </a:rPr>
              <a:t>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22594"/>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22594"/>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xmlns="">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599" y="4528622"/>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599" y="4832764"/>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599" y="4832764"/>
                <a:ext cx="8961120" cy="530352"/>
              </a:xfrm>
              <a:prstGeom prst="rect">
                <a:avLst/>
              </a:prstGeom>
              <a:blipFill>
                <a:blip r:embed="rId3"/>
                <a:stretch>
                  <a:fillRect t="-42529" b="-81609"/>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600" i="1" smtClean="0">
                              <a:effectLst/>
                              <a:latin typeface="Cambria Math" panose="02040503050406030204" pitchFamily="18" charset="0"/>
                              <a:cs typeface="Times New Roman" panose="02020603050405020304" pitchFamily="18" charset="0"/>
                            </a:rPr>
                          </m:ctrlPr>
                        </m:accPr>
                        <m:e>
                          <m:r>
                            <a:rPr lang="es-MX" sz="1600" b="0" i="1" smtClean="0">
                              <a:effectLst/>
                              <a:latin typeface="Cambria Math" panose="02040503050406030204" pitchFamily="18"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6"/>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9564"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336920"/>
            <a:ext cx="10343626"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852274"/>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852274"/>
                <a:ext cx="8961120" cy="530352"/>
              </a:xfrm>
              <a:prstGeom prst="rect">
                <a:avLst/>
              </a:prstGeom>
              <a:blipFill>
                <a:blip r:embed="rId3"/>
                <a:stretch>
                  <a:fillRect t="-73563" b="-7816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20" y="3943989"/>
                <a:ext cx="11397563"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20" y="3943989"/>
                <a:ext cx="11397563" cy="296363"/>
              </a:xfrm>
              <a:prstGeom prst="rect">
                <a:avLst/>
              </a:prstGeom>
              <a:blipFill>
                <a:blip r:embed="rId4"/>
                <a:stretch>
                  <a:fillRect l="-53" b="-16327"/>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1816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transformación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18160" y="4773168"/>
                <a:ext cx="11155680" cy="1005840"/>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614036"/>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614036"/>
                <a:ext cx="6098796" cy="571760"/>
              </a:xfrm>
              <a:prstGeom prst="rect">
                <a:avLst/>
              </a:prstGeom>
              <a:blipFill>
                <a:blip r:embed="rId9"/>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163483" y="796620"/>
                <a:ext cx="11843789"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163483" y="796620"/>
                <a:ext cx="11843789" cy="1005840"/>
              </a:xfrm>
              <a:prstGeom prst="rect">
                <a:avLst/>
              </a:prstGeom>
              <a:blipFill>
                <a:blip r:embed="rId2"/>
                <a:stretch>
                  <a:fillRect l="-154" t="-1212" r="-154"/>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Ley de control mínima</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68453"/>
              </a:xfrm>
              <a:prstGeom prst="rect">
                <a:avLst/>
              </a:prstGeom>
              <a:noFill/>
            </p:spPr>
            <p:txBody>
              <a:bodyPr wrap="square">
                <a:spAutoFit/>
              </a:bodyPr>
              <a:lstStyle/>
              <a:p>
                <a:pPr algn="just">
                  <a:lnSpc>
                    <a:spcPct val="107000"/>
                  </a:lnSpc>
                  <a:spcBef>
                    <a:spcPts val="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Calibri" panose="020F0502020204030204" pitchFamily="34"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68453"/>
              </a:xfrm>
              <a:prstGeom prst="rect">
                <a:avLst/>
              </a:prstGeom>
              <a:blipFill>
                <a:blip r:embed="rId8"/>
                <a:stretch>
                  <a:fillRect l="-157" r="-157" b="-917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9"/>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10"/>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1"/>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3"/>
          <a:srcRect/>
          <a:stretch/>
        </p:blipFill>
        <p:spPr>
          <a:xfrm>
            <a:off x="493611" y="864951"/>
            <a:ext cx="11174298" cy="5493857"/>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10 — Modelo global NL con ley de control mínima en eje d y q</a:t>
            </a:r>
            <a:endParaRPr lang="es-AR"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r>
                                              <a:rPr lang="es-MX" sz="1600" b="0" i="0" smtClean="0">
                                                <a:solidFill>
                                                  <a:schemeClr val="tx1"/>
                                                </a:solidFill>
                                                <a:latin typeface="Cambria Math" panose="02040503050406030204" pitchFamily="18" charset="0"/>
                                              </a:rPr>
                                              <m:t>       </m:t>
                                            </m:r>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E9AB88BD-473F-457C-BE0D-6B5E7369D8B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035A1F7F-6008-498D-AE98-60FE7149D92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3B6330C9-AE53-465F-8E68-60BE235EA6A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8A5A027C-DD61-4AAD-95E4-31BD96243E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
        <p:nvSpPr>
          <p:cNvPr id="14" name="Shape 2">
            <a:extLst>
              <a:ext uri="{FF2B5EF4-FFF2-40B4-BE49-F238E27FC236}">
                <a16:creationId xmlns:a16="http://schemas.microsoft.com/office/drawing/2014/main" id="{713C4DB4-2557-4CC5-B40B-56F1839661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159E7C06-6CD3-4BE1-8A88-E83C2573745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C08E497B-ECA8-4D23-BF7F-9E20B033DA4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26B81D0-53DF-485F-BB96-6AED60AE41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2027296961"/>
                  </p:ext>
                </p:extLst>
              </p:nvPr>
            </p:nvGraphicFramePr>
            <p:xfrm>
              <a:off x="3567356" y="5179873"/>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2027296961"/>
                  </p:ext>
                </p:extLst>
              </p:nvPr>
            </p:nvGraphicFramePr>
            <p:xfrm>
              <a:off x="3567356" y="5179873"/>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125" b="-313793"/>
                          </a:stretch>
                        </a:blipFill>
                      </a:tcPr>
                    </a:tc>
                    <a:tc>
                      <a:txBody>
                        <a:bodyPr/>
                        <a:lstStyle/>
                        <a:p>
                          <a:endParaRPr lang="es-AR"/>
                        </a:p>
                      </a:txBody>
                      <a:tcPr marL="68580" marR="68580" marT="0" marB="0">
                        <a:blipFill>
                          <a:blip r:embed="rId5"/>
                          <a:stretch>
                            <a:fillRect l="-220856" t="-84483" r="-433155"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5573" b="-313793"/>
                          </a:stretch>
                        </a:blipFill>
                      </a:tcPr>
                    </a:tc>
                    <a:tc>
                      <a:txBody>
                        <a:bodyPr/>
                        <a:lstStyle/>
                        <a:p>
                          <a:endParaRPr lang="es-AR"/>
                        </a:p>
                      </a:txBody>
                      <a:tcPr marL="68580" marR="68580" marT="0" marB="0">
                        <a:blipFill>
                          <a:blip r:embed="rId5"/>
                          <a:stretch>
                            <a:fillRect l="-1380000" t="-84483" r="-4211"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B235AFBD-3FDD-4ED8-A44F-F79C276D30E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A40EF86F-C0A8-499F-AFDA-E9B2920A42E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301083141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AR" sz="1200" b="0" i="1" smtClean="0">
                                      <a:latin typeface="Cambria Math" panose="02040503050406030204" pitchFamily="18" charset="0"/>
                                    </a:rPr>
                                    <m:t>𝑚</m:t>
                                  </m:r>
                                </m:e>
                                <m:sub>
                                  <m:r>
                                    <a:rPr lang="es-AR"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301083141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569940"/>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569940"/>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C285BC6C-CC9C-4A7F-9DC9-46277DC56D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7F0E2F02-B34A-438E-AA40-05A39917580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BF761FD9-1C08-4F3D-BCBB-17D6D1C0936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99EF442-B346-4B16-A4E1-C99E05B7948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3961982" cy="415498"/>
          </a:xfrm>
          <a:prstGeom prst="rect">
            <a:avLst/>
          </a:prstGeom>
          <a:noFill/>
        </p:spPr>
        <p:txBody>
          <a:bodyPr wrap="none">
            <a:spAutoFit/>
          </a:bodyPr>
          <a:lstStyle/>
          <a:p>
            <a:pPr algn="l"/>
            <a:r>
              <a:rPr lang="es-AR" sz="2100" b="1" dirty="0">
                <a:solidFill>
                  <a:srgbClr val="FFFFFF"/>
                </a:solidFill>
                <a:latin typeface="Cambria"/>
              </a:rPr>
              <a:t>Observabilidad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0470EBB-D6CB-4D7C-A74A-2F6DBF978C5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B9C7D1E3-FF31-4895-B1EC-0865CB5DA00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232" y="73210"/>
            <a:ext cx="11551615" cy="658368"/>
          </a:xfrm>
          <a:prstGeom prst="rect">
            <a:avLst/>
          </a:prstGeom>
          <a:noFill/>
        </p:spPr>
        <p:txBody>
          <a:bodyPr wrap="none">
            <a:spAutoFit/>
          </a:bodyPr>
          <a:lstStyle/>
          <a:p>
            <a:pPr algn="l"/>
            <a:r>
              <a:rPr sz="2100" b="1" dirty="0" err="1">
                <a:solidFill>
                  <a:srgbClr val="FFFFFF"/>
                </a:solidFill>
                <a:latin typeface="Cambria"/>
              </a:rPr>
              <a:t>Controlabilidad</a:t>
            </a:r>
            <a:r>
              <a:rPr sz="2100" b="1" dirty="0">
                <a:solidFill>
                  <a:srgbClr val="FFFFFF"/>
                </a:solidFill>
                <a:latin typeface="Cambria"/>
              </a:rPr>
              <a:t>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22B6A428-420C-4A3D-898C-D3482F948E4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9B63925-0C75-4087-A3AF-B51B2009572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
        <p:nvSpPr>
          <p:cNvPr id="7" name="Shape 2">
            <a:extLst>
              <a:ext uri="{FF2B5EF4-FFF2-40B4-BE49-F238E27FC236}">
                <a16:creationId xmlns:a16="http://schemas.microsoft.com/office/drawing/2014/main" id="{980706F5-6513-4AE0-B1B9-F15A452A04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1FD6463C-8ECC-4B5E-BE9A-6E2DA717194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3758605" y="3429000"/>
            <a:ext cx="4674485" cy="353943"/>
          </a:xfrm>
          <a:prstGeom prst="rect">
            <a:avLst/>
          </a:prstGeom>
          <a:noFill/>
        </p:spPr>
        <p:txBody>
          <a:bodyPr wrap="none">
            <a:spAutoFit/>
          </a:bodyPr>
          <a:lstStyle/>
          <a:p>
            <a:pPr algn="ctr"/>
            <a:r>
              <a:rPr lang="es-AR" sz="1700" dirty="0">
                <a:solidFill>
                  <a:srgbClr val="A0C4FF"/>
                </a:solidFill>
                <a:latin typeface="Calibri"/>
              </a:rPr>
              <a:t>Simulación del modelo NL · 4 cuadrantes · LTI vs NL</a:t>
            </a:r>
          </a:p>
        </p:txBody>
      </p:sp>
      <p:sp>
        <p:nvSpPr>
          <p:cNvPr id="5" name="Shape 4">
            <a:extLst>
              <a:ext uri="{FF2B5EF4-FFF2-40B4-BE49-F238E27FC236}">
                <a16:creationId xmlns:a16="http://schemas.microsoft.com/office/drawing/2014/main" id="{3D60419B-BD00-4C61-AA51-52AC809A8D5E}"/>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rotWithShape="1">
          <a:blip r:embed="rId2"/>
          <a:srcRect l="-1634" r="-816"/>
          <a:stretch/>
        </p:blipFill>
        <p:spPr bwMode="auto">
          <a:xfrm>
            <a:off x="1322773" y="2259275"/>
            <a:ext cx="9072978"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9153" y="117547"/>
            <a:ext cx="6599820" cy="415498"/>
          </a:xfrm>
          <a:prstGeom prst="rect">
            <a:avLst/>
          </a:prstGeom>
          <a:noFill/>
        </p:spPr>
        <p:txBody>
          <a:bodyPr wrap="none">
            <a:spAutoFit/>
          </a:bodyPr>
          <a:lstStyle/>
          <a:p>
            <a:pPr algn="l"/>
            <a:r>
              <a:rPr lang="es-AR" sz="2100" b="1" dirty="0">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428342" y="1188720"/>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m:t>
                        </m:r>
                      </m:sub>
                    </m:sSub>
                  </m:oMath>
                </a14:m>
                <a:r>
                  <a:rPr lang="es-AR" sz="1400" dirty="0">
                    <a:solidFill>
                      <a:srgbClr val="1A1A2E"/>
                    </a:solidFill>
                    <a:latin typeface="Calibri"/>
                  </a:rPr>
                  <a:t>: doble pulso ±6.28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428342" y="1188720"/>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
        <p:nvSpPr>
          <p:cNvPr id="10" name="Shape 2">
            <a:extLst>
              <a:ext uri="{FF2B5EF4-FFF2-40B4-BE49-F238E27FC236}">
                <a16:creationId xmlns:a16="http://schemas.microsoft.com/office/drawing/2014/main" id="{4F73D3C3-3B70-4D8D-955E-0DE7B68503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D11588B5-281D-4505-BC79-F69EED3594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E5E0C3D0-923E-47FD-B4FD-91F6262E4A2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500AFDC3-8ADA-460C-9388-E9E2B4E86E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BC3361F0-1365-4F4C-94B6-A9CDF91AD3A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7C597987-757D-4200-942F-5B725AF77E6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1" name="Shape 2">
            <a:extLst>
              <a:ext uri="{FF2B5EF4-FFF2-40B4-BE49-F238E27FC236}">
                <a16:creationId xmlns:a16="http://schemas.microsoft.com/office/drawing/2014/main" id="{5634863D-8B8E-413B-8641-345DFB627C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87F7CBF-CA10-47E5-ACEA-018937E4693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39B605E8-EC05-4DAA-B938-3B532F8FBA6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97432940-C47E-4E1F-81D8-56AD14D45D8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
        <p:nvSpPr>
          <p:cNvPr id="14" name="Shape 2">
            <a:extLst>
              <a:ext uri="{FF2B5EF4-FFF2-40B4-BE49-F238E27FC236}">
                <a16:creationId xmlns:a16="http://schemas.microsoft.com/office/drawing/2014/main" id="{4A5B1CD4-E06D-491A-9CC6-8D42A91C3DF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29D29585-3B9D-438F-B508-D97C505F8EC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5863015" cy="415498"/>
          </a:xfrm>
          <a:prstGeom prst="rect">
            <a:avLst/>
          </a:prstGeom>
          <a:noFill/>
        </p:spPr>
        <p:txBody>
          <a:bodyPr wrap="none">
            <a:spAutoFit/>
          </a:bodyPr>
          <a:lstStyle/>
          <a:p>
            <a:pPr algn="l"/>
            <a:r>
              <a:rPr lang="es-AR" sz="2100" b="1" dirty="0">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
        <p:nvSpPr>
          <p:cNvPr id="9" name="Shape 2">
            <a:extLst>
              <a:ext uri="{FF2B5EF4-FFF2-40B4-BE49-F238E27FC236}">
                <a16:creationId xmlns:a16="http://schemas.microsoft.com/office/drawing/2014/main" id="{7429C8DB-F505-447F-B37B-E8E225B772F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A70B4DE0-D2D3-42E7-B8CA-51A3FB08B53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
        <p:nvSpPr>
          <p:cNvPr id="14" name="Shape 2">
            <a:extLst>
              <a:ext uri="{FF2B5EF4-FFF2-40B4-BE49-F238E27FC236}">
                <a16:creationId xmlns:a16="http://schemas.microsoft.com/office/drawing/2014/main" id="{A8E89DB0-F321-4B3B-8F66-7E178CBCAA9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61B8B311-9197-4F07-B0BB-52679E7E55E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81467AAA-8A13-4367-8851-BCC9A15D155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1C33BD35-B93D-4080-AA88-8446AD371BE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8" name="TextBox 23">
                <a:extLst>
                  <a:ext uri="{FF2B5EF4-FFF2-40B4-BE49-F238E27FC236}">
                    <a16:creationId xmlns:a16="http://schemas.microsoft.com/office/drawing/2014/main" id="{05947E8B-63DE-46BB-9C21-E783C1807622}"/>
                  </a:ext>
                </a:extLst>
              </p:cNvPr>
              <p:cNvSpPr txBox="1"/>
              <p:nvPr/>
            </p:nvSpPr>
            <p:spPr>
              <a:xfrm>
                <a:off x="8906257" y="879903"/>
                <a:ext cx="594359" cy="464423"/>
              </a:xfrm>
              <a:prstGeom prst="rect">
                <a:avLst/>
              </a:prstGeom>
              <a:noFill/>
            </p:spPr>
            <p:txBody>
              <a:bodyPr wrap="square">
                <a:spAutoFit/>
              </a:bodyPr>
              <a:lstStyle/>
              <a:p>
                <a:pPr algn="ctr"/>
                <a14:m>
                  <m:oMath xmlns:m="http://schemas.openxmlformats.org/officeDocument/2006/math">
                    <m:sSub>
                      <m:sSubPr>
                        <m:ctrlPr>
                          <a:rPr lang="ar-AE" sz="1400" i="1" smtClean="0">
                            <a:solidFill>
                              <a:schemeClr val="bg1"/>
                            </a:solidFill>
                            <a:latin typeface="Cambria Math" panose="02040503050406030204" pitchFamily="18" charset="0"/>
                            <a:ea typeface="Calibri" pitchFamily="34" charset="-122"/>
                            <a:cs typeface="Calibri" pitchFamily="34" charset="-120"/>
                          </a:rPr>
                        </m:ctrlPr>
                      </m:sSubPr>
                      <m:e>
                        <m:r>
                          <a:rPr lang="ar-AE" sz="1400" i="1">
                            <a:solidFill>
                              <a:schemeClr val="bg1"/>
                            </a:solidFill>
                            <a:latin typeface="Cambria Math" panose="02040503050406030204" pitchFamily="18" charset="0"/>
                            <a:ea typeface="Calibri" pitchFamily="34" charset="-122"/>
                            <a:cs typeface="Calibri" pitchFamily="34" charset="-120"/>
                          </a:rPr>
                          <m:t>𝑇</m:t>
                        </m:r>
                      </m:e>
                      <m:sub>
                        <m:r>
                          <a:rPr lang="ar-AE" sz="1400" b="0" i="1" smtClean="0">
                            <a:solidFill>
                              <a:schemeClr val="bg1"/>
                            </a:solidFill>
                            <a:latin typeface="Cambria Math" panose="02040503050406030204" pitchFamily="18" charset="0"/>
                            <a:ea typeface="Calibri" pitchFamily="34" charset="-122"/>
                            <a:cs typeface="Calibri" pitchFamily="34" charset="-120"/>
                          </a:rPr>
                          <m:t>𝑙</m:t>
                        </m:r>
                        <m:r>
                          <a:rPr lang="es-MX" sz="1400" b="0" i="1" smtClean="0">
                            <a:solidFill>
                              <a:schemeClr val="bg1"/>
                            </a:solidFill>
                            <a:latin typeface="Cambria Math" panose="02040503050406030204" pitchFamily="18" charset="0"/>
                            <a:ea typeface="Calibri" pitchFamily="34" charset="-122"/>
                            <a:cs typeface="Calibri" pitchFamily="34" charset="-120"/>
                          </a:rPr>
                          <m:t>𝑑</m:t>
                        </m:r>
                      </m:sub>
                    </m:sSub>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N·m]</a:t>
                </a:r>
                <a:endParaRPr sz="1050" b="1" dirty="0">
                  <a:solidFill>
                    <a:schemeClr val="bg1"/>
                  </a:solidFill>
                  <a:latin typeface="Calibri"/>
                </a:endParaRPr>
              </a:p>
            </p:txBody>
          </p:sp>
        </mc:Choice>
        <mc:Fallback xmlns="">
          <p:sp>
            <p:nvSpPr>
              <p:cNvPr id="28" name="TextBox 23">
                <a:extLst>
                  <a:ext uri="{FF2B5EF4-FFF2-40B4-BE49-F238E27FC236}">
                    <a16:creationId xmlns:a16="http://schemas.microsoft.com/office/drawing/2014/main" id="{05947E8B-63DE-46BB-9C21-E783C1807622}"/>
                  </a:ext>
                </a:extLst>
              </p:cNvPr>
              <p:cNvSpPr txBox="1">
                <a:spLocks noRot="1" noChangeAspect="1" noMove="1" noResize="1" noEditPoints="1" noAdjustHandles="1" noChangeArrowheads="1" noChangeShapeType="1" noTextEdit="1"/>
              </p:cNvSpPr>
              <p:nvPr/>
            </p:nvSpPr>
            <p:spPr>
              <a:xfrm>
                <a:off x="8906257" y="879903"/>
                <a:ext cx="594359" cy="464423"/>
              </a:xfrm>
              <a:prstGeom prst="rect">
                <a:avLst/>
              </a:prstGeom>
              <a:blipFill>
                <a:blip r:embed="rId4"/>
                <a:stretch>
                  <a:fillRect b="-6494"/>
                </a:stretch>
              </a:blipFill>
            </p:spPr>
            <p:txBody>
              <a:bodyPr/>
              <a:lstStyle/>
              <a:p>
                <a:r>
                  <a:rPr lang="es-AR">
                    <a:noFill/>
                  </a:rPr>
                  <a:t> </a:t>
                </a:r>
              </a:p>
            </p:txBody>
          </p:sp>
        </mc:Fallback>
      </mc:AlternateContent>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0" name="TextBox 25">
                <a:extLst>
                  <a:ext uri="{FF2B5EF4-FFF2-40B4-BE49-F238E27FC236}">
                    <a16:creationId xmlns:a16="http://schemas.microsoft.com/office/drawing/2014/main" id="{F4A45EC6-BB19-4D3F-877D-ACEC3109C603}"/>
                  </a:ext>
                </a:extLst>
              </p:cNvPr>
              <p:cNvSpPr txBox="1"/>
              <p:nvPr/>
            </p:nvSpPr>
            <p:spPr>
              <a:xfrm>
                <a:off x="9546335" y="859764"/>
                <a:ext cx="548641" cy="485967"/>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bg1"/>
                            </a:solidFill>
                            <a:latin typeface="Cambria Math" panose="02040503050406030204" pitchFamily="18" charset="0"/>
                          </a:rPr>
                        </m:ctrlPr>
                      </m:sSubSupPr>
                      <m:e>
                        <m:r>
                          <a:rPr lang="ar-AE" sz="1400">
                            <a:solidFill>
                              <a:schemeClr val="bg1"/>
                            </a:solidFill>
                            <a:latin typeface="Cambria Math" panose="02040503050406030204" pitchFamily="18" charset="0"/>
                          </a:rPr>
                          <m:t>𝑣</m:t>
                        </m:r>
                      </m:e>
                      <m:sub>
                        <m:r>
                          <a:rPr lang="ar-AE" sz="1400">
                            <a:solidFill>
                              <a:schemeClr val="bg1"/>
                            </a:solidFill>
                            <a:latin typeface="Cambria Math" panose="02040503050406030204" pitchFamily="18" charset="0"/>
                          </a:rPr>
                          <m:t>𝑞𝑠</m:t>
                        </m:r>
                      </m:sub>
                      <m:sup>
                        <m:r>
                          <a:rPr lang="ar-AE" sz="1400">
                            <a:solidFill>
                              <a:schemeClr val="bg1"/>
                            </a:solidFill>
                            <a:latin typeface="Cambria Math" panose="02040503050406030204" pitchFamily="18" charset="0"/>
                          </a:rPr>
                          <m:t>𝑟</m:t>
                        </m:r>
                      </m:sup>
                    </m:sSubSup>
                    <m:r>
                      <a:rPr lang="ar-AE" sz="1400" i="1">
                        <a:solidFill>
                          <a:schemeClr val="bg1"/>
                        </a:solidFill>
                        <a:latin typeface="Cambria Math" panose="02040503050406030204" pitchFamily="18" charset="0"/>
                      </a:rPr>
                      <m:t> </m:t>
                    </m:r>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V]</a:t>
                </a:r>
              </a:p>
            </p:txBody>
          </p:sp>
        </mc:Choice>
        <mc:Fallback xmlns="">
          <p:sp>
            <p:nvSpPr>
              <p:cNvPr id="30" name="TextBox 25">
                <a:extLst>
                  <a:ext uri="{FF2B5EF4-FFF2-40B4-BE49-F238E27FC236}">
                    <a16:creationId xmlns:a16="http://schemas.microsoft.com/office/drawing/2014/main" id="{F4A45EC6-BB19-4D3F-877D-ACEC3109C603}"/>
                  </a:ext>
                </a:extLst>
              </p:cNvPr>
              <p:cNvSpPr txBox="1">
                <a:spLocks noRot="1" noChangeAspect="1" noMove="1" noResize="1" noEditPoints="1" noAdjustHandles="1" noChangeArrowheads="1" noChangeShapeType="1" noTextEdit="1"/>
              </p:cNvSpPr>
              <p:nvPr/>
            </p:nvSpPr>
            <p:spPr>
              <a:xfrm>
                <a:off x="9546335" y="859764"/>
                <a:ext cx="548641" cy="485967"/>
              </a:xfrm>
              <a:prstGeom prst="rect">
                <a:avLst/>
              </a:prstGeom>
              <a:blipFill>
                <a:blip r:embed="rId5"/>
                <a:stretch>
                  <a:fillRect b="-6250"/>
                </a:stretch>
              </a:blipFill>
            </p:spPr>
            <p:txBody>
              <a:bodyPr/>
              <a:lstStyle/>
              <a:p>
                <a:r>
                  <a:rPr lang="es-AR">
                    <a:noFill/>
                  </a:rPr>
                  <a:t> </a:t>
                </a:r>
              </a:p>
            </p:txBody>
          </p:sp>
        </mc:Fallback>
      </mc:AlternateContent>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9840" y="859942"/>
                <a:ext cx="630936"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𝜔</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9840" y="859942"/>
                <a:ext cx="630936" cy="464423"/>
              </a:xfrm>
              <a:prstGeom prst="rect">
                <a:avLst/>
              </a:prstGeom>
              <a:blipFill>
                <a:blip r:embed="rId6"/>
                <a:stretch>
                  <a:fillRect b="-7895"/>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888981"/>
                <a:ext cx="585215"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𝑇</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888981"/>
                <a:ext cx="585215" cy="464423"/>
              </a:xfrm>
              <a:prstGeom prst="rect">
                <a:avLst/>
              </a:prstGeom>
              <a:blipFill>
                <a:blip r:embed="rId7"/>
                <a:stretch>
                  <a:fillRect b="-7895"/>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518903" y="1323380"/>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
        <p:nvSpPr>
          <p:cNvPr id="255" name="Shape 2">
            <a:extLst>
              <a:ext uri="{FF2B5EF4-FFF2-40B4-BE49-F238E27FC236}">
                <a16:creationId xmlns:a16="http://schemas.microsoft.com/office/drawing/2014/main" id="{7A162447-8E9E-431F-8149-D9F8735A808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56" name="Text 3">
            <a:extLst>
              <a:ext uri="{FF2B5EF4-FFF2-40B4-BE49-F238E27FC236}">
                <a16:creationId xmlns:a16="http://schemas.microsoft.com/office/drawing/2014/main" id="{2DF6ED85-A63B-4136-9C7B-CE8B790A5C5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E01814-9600-4AEF-BDF0-744B4D83E99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AC5BD68-9430-46F7-90AE-2D05E2EA6DF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71994" y="130174"/>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a:t>
            </a:r>
            <a:r>
              <a:rPr sz="2100" b="1" dirty="0" err="1">
                <a:solidFill>
                  <a:srgbClr val="FFFFFF"/>
                </a:solidFill>
                <a:latin typeface="Cambria"/>
              </a:rPr>
              <a:t>Valores</a:t>
            </a:r>
            <a:r>
              <a:rPr sz="2100" b="1" dirty="0">
                <a:solidFill>
                  <a:srgbClr val="FFFFFF"/>
                </a:solidFill>
                <a:latin typeface="Cambria"/>
              </a:rPr>
              <a:t> de </a:t>
            </a:r>
            <a:r>
              <a:rPr sz="2100" b="1" dirty="0" err="1">
                <a:solidFill>
                  <a:srgbClr val="FFFFFF"/>
                </a:solidFill>
                <a:latin typeface="Cambria"/>
              </a:rPr>
              <a:t>establecimiento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lang="es-A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0C141F22-F7EB-4D51-9B98-6F1FC6853F8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ADD542E5-309A-4DD4-A463-49CEAD352D9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E4FF14AB-BB78-408D-95E3-BC8E15106A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7FBEB7B7-F20F-46A1-838A-B4A405BE833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=±1.9596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=0.5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BBE4DB17-AF0A-4661-B7DE-830302ECB74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0D9FE4DC-D15D-4403-BF49-65E139591E3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
        <p:nvSpPr>
          <p:cNvPr id="8" name="Shape 2">
            <a:extLst>
              <a:ext uri="{FF2B5EF4-FFF2-40B4-BE49-F238E27FC236}">
                <a16:creationId xmlns:a16="http://schemas.microsoft.com/office/drawing/2014/main" id="{063FFE7D-A6E3-4CC1-B323-C85423966D0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F90C6B3C-720B-46E6-B974-5CB64BAD75B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519043A7-E6C6-45A2-97DF-D7430E0542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85E39923-92A6-4B6A-946A-44FE6F12D0A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
        <p:nvSpPr>
          <p:cNvPr id="4" name="Shape 4">
            <a:extLst>
              <a:ext uri="{FF2B5EF4-FFF2-40B4-BE49-F238E27FC236}">
                <a16:creationId xmlns:a16="http://schemas.microsoft.com/office/drawing/2014/main" id="{48310B8E-CE7E-4936-AE50-D6846DB98121}"/>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6E2D4AFC-E308-4676-A366-47E0821BF784}"/>
                  </a:ext>
                </a:extLst>
              </p:cNvPr>
              <p:cNvSpPr txBox="1"/>
              <p:nvPr/>
            </p:nvSpPr>
            <p:spPr>
              <a:xfrm>
                <a:off x="365760" y="2689165"/>
                <a:ext cx="11217250" cy="2496133"/>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r>
                  <a:rPr lang="es-AR" sz="1600" dirty="0">
                    <a:latin typeface="Calibri" panose="020F0502020204030204" pitchFamily="34" charset="0"/>
                    <a:ea typeface="Calibri" panose="020F0502020204030204" pitchFamily="34" charset="0"/>
                  </a:rPr>
                  <a:t> Se basa en el modelo dinámico linealizado del sistema expresado en el marco de referencia </a:t>
                </a:r>
                <a14:m>
                  <m:oMath xmlns:m="http://schemas.openxmlformats.org/officeDocument/2006/math">
                    <m:sSup>
                      <m:sSupPr>
                        <m:ctrlPr>
                          <a:rPr lang="es-AR" sz="1600" i="1">
                            <a:latin typeface="Cambria Math" panose="02040503050406030204" pitchFamily="18" charset="0"/>
                            <a:ea typeface="Calibri" panose="020F0502020204030204" pitchFamily="34" charset="0"/>
                          </a:rPr>
                        </m:ctrlPr>
                      </m:sSupPr>
                      <m:e>
                        <m:r>
                          <a:rPr lang="es-AR" sz="1600">
                            <a:latin typeface="Cambria Math" panose="02040503050406030204" pitchFamily="18" charset="0"/>
                            <a:ea typeface="Calibri" panose="020F0502020204030204" pitchFamily="34" charset="0"/>
                          </a:rPr>
                          <m:t>𝑞𝑑</m:t>
                        </m:r>
                        <m:r>
                          <a:rPr lang="es-AR" sz="1600">
                            <a:latin typeface="Cambria Math" panose="02040503050406030204" pitchFamily="18" charset="0"/>
                            <a:ea typeface="Calibri" panose="020F0502020204030204" pitchFamily="34" charset="0"/>
                          </a:rPr>
                          <m:t>0</m:t>
                        </m:r>
                      </m:e>
                      <m:sup>
                        <m:r>
                          <a:rPr lang="es-AR" sz="1600">
                            <a:latin typeface="Cambria Math" panose="02040503050406030204" pitchFamily="18" charset="0"/>
                            <a:ea typeface="Calibri" panose="020F0502020204030204" pitchFamily="34" charset="0"/>
                          </a:rPr>
                          <m:t>𝑟</m:t>
                        </m:r>
                      </m:sup>
                    </m:sSup>
                  </m:oMath>
                </a14:m>
                <a:r>
                  <a:rPr lang="es-AR" sz="16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endParaRPr lang="es-AR" sz="1600" dirty="0">
                  <a:latin typeface="Calibri"/>
                </a:endParaRP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mc:Choice>
        <mc:Fallback xmlns="">
          <p:sp>
            <p:nvSpPr>
              <p:cNvPr id="14" name="CuadroTexto 13">
                <a:extLst>
                  <a:ext uri="{FF2B5EF4-FFF2-40B4-BE49-F238E27FC236}">
                    <a16:creationId xmlns:a16="http://schemas.microsoft.com/office/drawing/2014/main" id="{6E2D4AFC-E308-4676-A366-47E0821BF784}"/>
                  </a:ext>
                </a:extLst>
              </p:cNvPr>
              <p:cNvSpPr txBox="1">
                <a:spLocks noRot="1" noChangeAspect="1" noMove="1" noResize="1" noEditPoints="1" noAdjustHandles="1" noChangeArrowheads="1" noChangeShapeType="1" noTextEdit="1"/>
              </p:cNvSpPr>
              <p:nvPr/>
            </p:nvSpPr>
            <p:spPr>
              <a:xfrm>
                <a:off x="365760" y="2689165"/>
                <a:ext cx="11217250" cy="2496133"/>
              </a:xfrm>
              <a:prstGeom prst="rect">
                <a:avLst/>
              </a:prstGeom>
              <a:blipFill>
                <a:blip r:embed="rId2"/>
                <a:stretch>
                  <a:fillRect l="-272" t="-488" r="-272" b="-2195"/>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2DD9985C-73BA-4B1C-8A2A-B735A3AD1D8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D490DB2B-E035-48A3-983E-EC38E31977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01967" y="3178313"/>
            <a:ext cx="11285737"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1538154"/>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22695"/>
                <a:ext cx="11643055"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transformación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22695"/>
                <a:ext cx="11643055" cy="523220"/>
              </a:xfrm>
              <a:prstGeom prst="rect">
                <a:avLst/>
              </a:prstGeom>
              <a:blipFill>
                <a:blip r:embed="rId2"/>
                <a:stretch>
                  <a:fillRect l="-157" t="-2326" b="-104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115857" y="1591489"/>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115857" y="1591489"/>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14521" y="211664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559291" y="3222044"/>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559291" y="3222044"/>
                <a:ext cx="4714490" cy="1608902"/>
              </a:xfrm>
              <a:prstGeom prst="rect">
                <a:avLst/>
              </a:prstGeom>
              <a:blipFill>
                <a:blip r:embed="rId4"/>
                <a:stretch>
                  <a:fillRect l="-2458" r="-142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201967" y="5107450"/>
                <a:ext cx="11383392" cy="755271"/>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201967" y="5107450"/>
                <a:ext cx="11383392" cy="755271"/>
              </a:xfrm>
              <a:prstGeom prst="rect">
                <a:avLst/>
              </a:prstGeom>
              <a:blipFill>
                <a:blip r:embed="rId5"/>
                <a:stretch>
                  <a:fillRect l="-161" t="-806" r="-161" b="-7258"/>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DE230A35-33E7-4BA4-99FB-96707DE6BE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6CDBB0F7-993D-45C6-B754-6A64CA824A1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49346F34-CB4D-4D3A-96BA-1413BBFB4AE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A0C04DAB-FCE4-4164-803D-01C982FDE5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
        <p:nvSpPr>
          <p:cNvPr id="9" name="Shape 2">
            <a:extLst>
              <a:ext uri="{FF2B5EF4-FFF2-40B4-BE49-F238E27FC236}">
                <a16:creationId xmlns:a16="http://schemas.microsoft.com/office/drawing/2014/main" id="{6D441CE2-4E83-4CEA-A4BF-9C1453A3FF9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FA3C24C-57DB-4329-91EC-17BB2CB8815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03902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El </a:t>
                </a:r>
                <a:r>
                  <a:rPr lang="es-AR" sz="1400" dirty="0">
                    <a:effectLst/>
                    <a:latin typeface="Calibri" panose="020F0502020204030204" pitchFamily="34" charset="0"/>
                    <a:ea typeface="Calibri" panose="020F0502020204030204" pitchFamily="34" charset="0"/>
                    <a:cs typeface="Calibri" panose="020F0502020204030204" pitchFamily="34" charset="0"/>
                  </a:rPr>
                  <a:t>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039020"/>
              </a:xfrm>
              <a:prstGeom prst="rect">
                <a:avLst/>
              </a:prstGeom>
              <a:blipFill>
                <a:blip r:embed="rId2"/>
                <a:stretch>
                  <a:fillRect l="-155" t="-29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239A412A-7335-4C00-9E35-B74EB37D557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877AE57F-C662-4235-A070-66572E399BD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a:t>
                </a:r>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29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33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4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
        <p:nvSpPr>
          <p:cNvPr id="10" name="Shape 2">
            <a:extLst>
              <a:ext uri="{FF2B5EF4-FFF2-40B4-BE49-F238E27FC236}">
                <a16:creationId xmlns:a16="http://schemas.microsoft.com/office/drawing/2014/main" id="{F97CCC8C-46F5-4B6B-A362-3233E5198A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1DB57E92-4BC0-48DE-BF51-548C4E5ED4F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28752" y="4601237"/>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738664"/>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 </a:t>
                </a:r>
                <a:br>
                  <a:rPr lang="es-MX" sz="1400" dirty="0"/>
                </a:br>
                <a:r>
                  <a:rPr lang="es-MX" sz="1400" dirty="0"/>
                  <a:t>Se obtiene la relación entre las consignas de corriente y la consigna de torque deseada:</a:t>
                </a:r>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738664"/>
              </a:xfrm>
              <a:prstGeom prst="rect">
                <a:avLst/>
              </a:prstGeom>
              <a:blipFill>
                <a:blip r:embed="rId2"/>
                <a:stretch>
                  <a:fillRect l="-160" t="-2479" b="-7438"/>
                </a:stretch>
              </a:blipFill>
            </p:spPr>
            <p:txBody>
              <a:bodyPr/>
              <a:lstStyle/>
              <a:p>
                <a:r>
                  <a:rPr lang="es-AR">
                    <a:noFill/>
                  </a:rPr>
                  <a:t> </a:t>
                </a:r>
              </a:p>
            </p:txBody>
          </p:sp>
        </mc:Fallback>
      </mc:AlternateContent>
      <p:sp>
        <p:nvSpPr>
          <p:cNvPr id="8" name="Rectangle 7"/>
          <p:cNvSpPr/>
          <p:nvPr/>
        </p:nvSpPr>
        <p:spPr>
          <a:xfrm>
            <a:off x="213512" y="1513749"/>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526981"/>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526981"/>
                <a:ext cx="3741050" cy="434158"/>
              </a:xfrm>
              <a:prstGeom prst="rect">
                <a:avLst/>
              </a:prstGeom>
              <a:blipFill>
                <a:blip r:embed="rId3"/>
                <a:stretch>
                  <a:fillRect b="-2778"/>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2105544"/>
            <a:ext cx="11876538" cy="1169551"/>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actuando de manera preventiva.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3268265"/>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3268265"/>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3268265"/>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213512" y="4099937"/>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4578958"/>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4578958"/>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
        <p:nvSpPr>
          <p:cNvPr id="16" name="Shape 2">
            <a:extLst>
              <a:ext uri="{FF2B5EF4-FFF2-40B4-BE49-F238E27FC236}">
                <a16:creationId xmlns:a16="http://schemas.microsoft.com/office/drawing/2014/main" id="{AF9F5F0B-188A-4A1A-9E81-8E6C6010F2D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0E200651-F0BE-4087-A7C5-087F729DDA0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3"/>
          <a:srcRect/>
          <a:stretch/>
        </p:blipFill>
        <p:spPr>
          <a:xfrm>
            <a:off x="80652" y="761883"/>
            <a:ext cx="6497701" cy="3312420"/>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143916" y="606869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
        <p:nvSpPr>
          <p:cNvPr id="10" name="Shape 2">
            <a:extLst>
              <a:ext uri="{FF2B5EF4-FFF2-40B4-BE49-F238E27FC236}">
                <a16:creationId xmlns:a16="http://schemas.microsoft.com/office/drawing/2014/main" id="{84CDED2B-BE29-4E13-BA83-1A3F399B5B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2D7F693-9753-4C2B-B4FD-1F65F356A1A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7" name="Imagen 6">
            <a:extLst>
              <a:ext uri="{FF2B5EF4-FFF2-40B4-BE49-F238E27FC236}">
                <a16:creationId xmlns:a16="http://schemas.microsoft.com/office/drawing/2014/main" id="{FF46F6BC-8810-4171-9482-9FC43F26766D}"/>
              </a:ext>
            </a:extLst>
          </p:cNvPr>
          <p:cNvPicPr>
            <a:picLocks noChangeAspect="1"/>
          </p:cNvPicPr>
          <p:nvPr/>
        </p:nvPicPr>
        <p:blipFill>
          <a:blip r:embed="rId4"/>
          <a:stretch>
            <a:fillRect/>
          </a:stretch>
        </p:blipFill>
        <p:spPr>
          <a:xfrm>
            <a:off x="4364576" y="3025517"/>
            <a:ext cx="7746772" cy="3096473"/>
          </a:xfrm>
          <a:prstGeom prst="rect">
            <a:avLst/>
          </a:prstGeom>
        </p:spPr>
      </p:pic>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
        <p:nvSpPr>
          <p:cNvPr id="5" name="Shape 4">
            <a:extLst>
              <a:ext uri="{FF2B5EF4-FFF2-40B4-BE49-F238E27FC236}">
                <a16:creationId xmlns:a16="http://schemas.microsoft.com/office/drawing/2014/main" id="{030235C3-D523-400D-93E4-C8874C5EA4BB}"/>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1606" y="99835"/>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D97017DD-3277-4E25-9730-01F843BBB52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5D1A550-1B2F-4138-A9A2-3F53FE3B4EF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5146" y="113877"/>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DA088553-DDC9-4DF5-824A-8089A3413CC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C0FF2FB2-94B1-4B7C-A589-304E902A5AB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8940"/>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Polos y </a:t>
            </a:r>
            <a:r>
              <a:rPr sz="2100" b="1" dirty="0" err="1">
                <a:solidFill>
                  <a:srgbClr val="FFFFFF"/>
                </a:solidFill>
                <a:latin typeface="Cambria"/>
              </a:rPr>
              <a:t>estabilidad</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
        <p:nvSpPr>
          <p:cNvPr id="17" name="Shape 2">
            <a:extLst>
              <a:ext uri="{FF2B5EF4-FFF2-40B4-BE49-F238E27FC236}">
                <a16:creationId xmlns:a16="http://schemas.microsoft.com/office/drawing/2014/main" id="{F86B6778-6EED-4105-8746-98647D8B90A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B09C948-0EBD-41CA-AA58-1AA2998234F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024"/>
            <a:ext cx="11551615" cy="658368"/>
          </a:xfrm>
          <a:prstGeom prst="rect">
            <a:avLst/>
          </a:prstGeom>
          <a:noFill/>
        </p:spPr>
        <p:txBody>
          <a:bodyPr wrap="none">
            <a:spAutoFit/>
          </a:bodyPr>
          <a:lstStyle/>
          <a:p>
            <a:pPr algn="l"/>
            <a:r>
              <a:rPr sz="2100" b="1" dirty="0">
                <a:solidFill>
                  <a:srgbClr val="FFFFFF"/>
                </a:solidFill>
                <a:latin typeface="Cambria"/>
              </a:rPr>
              <a:t>Set-point de </a:t>
            </a:r>
            <a:r>
              <a:rPr sz="2100" b="1" dirty="0" err="1">
                <a:solidFill>
                  <a:srgbClr val="FFFFFF"/>
                </a:solidFill>
                <a:latin typeface="Cambria"/>
              </a:rPr>
              <a:t>posición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
        <p:nvSpPr>
          <p:cNvPr id="13" name="Shape 2">
            <a:extLst>
              <a:ext uri="{FF2B5EF4-FFF2-40B4-BE49-F238E27FC236}">
                <a16:creationId xmlns:a16="http://schemas.microsoft.com/office/drawing/2014/main" id="{C218C579-0388-44A7-B884-CE7413FDB5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0C8A6E9C-D87F-4224-904C-59C55FF67E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
        <p:nvSpPr>
          <p:cNvPr id="5" name="Shape 4">
            <a:extLst>
              <a:ext uri="{FF2B5EF4-FFF2-40B4-BE49-F238E27FC236}">
                <a16:creationId xmlns:a16="http://schemas.microsoft.com/office/drawing/2014/main" id="{48BEC760-AC5E-4178-AEC8-5C091D4CAC7A}"/>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472" y="106511"/>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A7FAA145-2C6F-4207-96A5-CA196531109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3" name="Text 3">
            <a:extLst>
              <a:ext uri="{FF2B5EF4-FFF2-40B4-BE49-F238E27FC236}">
                <a16:creationId xmlns:a16="http://schemas.microsoft.com/office/drawing/2014/main" id="{F22E5FAB-DE83-49F7-BB93-2C8957C78F5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830" y="101084"/>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
        <p:nvSpPr>
          <p:cNvPr id="15" name="Shape 2">
            <a:extLst>
              <a:ext uri="{FF2B5EF4-FFF2-40B4-BE49-F238E27FC236}">
                <a16:creationId xmlns:a16="http://schemas.microsoft.com/office/drawing/2014/main" id="{52BEB054-17D1-43A8-984D-91DB4C8A4E1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630444CC-1A9A-4EBD-9BC9-F18F8FE2C3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
        <p:nvSpPr>
          <p:cNvPr id="5" name="Shape 4">
            <a:extLst>
              <a:ext uri="{FF2B5EF4-FFF2-40B4-BE49-F238E27FC236}">
                <a16:creationId xmlns:a16="http://schemas.microsoft.com/office/drawing/2014/main" id="{5480A3CE-E5A4-41F1-8EBB-50C4BFC2B1C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167"/>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58425"/>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097478"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097478" y="4058425"/>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29477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29477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
        <p:nvSpPr>
          <p:cNvPr id="14" name="Shape 2">
            <a:extLst>
              <a:ext uri="{FF2B5EF4-FFF2-40B4-BE49-F238E27FC236}">
                <a16:creationId xmlns:a16="http://schemas.microsoft.com/office/drawing/2014/main" id="{5EBBAB15-9550-4660-B8A5-CB43C9AEAD2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79343C35-30C7-451B-8C3B-BB9C08A197E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6104"/>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D64C0AE-D2B1-47B1-A136-2460EA20372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E28F1685-7A62-41DF-BF47-4E95EE68416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82159"/>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8" name="Shape 2">
            <a:extLst>
              <a:ext uri="{FF2B5EF4-FFF2-40B4-BE49-F238E27FC236}">
                <a16:creationId xmlns:a16="http://schemas.microsoft.com/office/drawing/2014/main" id="{A3C6A6B6-B076-45DD-A2B4-000DEFD369D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2" name="Text 3">
            <a:extLst>
              <a:ext uri="{FF2B5EF4-FFF2-40B4-BE49-F238E27FC236}">
                <a16:creationId xmlns:a16="http://schemas.microsoft.com/office/drawing/2014/main" id="{D0763BF3-8321-43D6-ABC0-2EC0E2BDD38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613"/>
            <a:ext cx="11551615" cy="658368"/>
          </a:xfrm>
          <a:prstGeom prst="rect">
            <a:avLst/>
          </a:prstGeom>
          <a:noFill/>
        </p:spPr>
        <p:txBody>
          <a:bodyPr wrap="none">
            <a:spAutoFit/>
          </a:bodyPr>
          <a:lstStyle/>
          <a:p>
            <a:pPr algn="l"/>
            <a:r>
              <a:rPr sz="2100" b="1" dirty="0" err="1">
                <a:solidFill>
                  <a:srgbClr val="FFFFFF"/>
                </a:solidFill>
                <a:latin typeface="Cambria"/>
              </a:rPr>
              <a:t>Rechazo</a:t>
            </a:r>
            <a:r>
              <a:rPr sz="2100" b="1" dirty="0">
                <a:solidFill>
                  <a:srgbClr val="FFFFFF"/>
                </a:solidFill>
                <a:latin typeface="Cambria"/>
              </a:rPr>
              <a:t> a </a:t>
            </a:r>
            <a:r>
              <a:rPr sz="2100" b="1" dirty="0" err="1">
                <a:solidFill>
                  <a:srgbClr val="FFFFFF"/>
                </a:solidFill>
                <a:latin typeface="Cambria"/>
              </a:rPr>
              <a:t>perturbaciones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3"/>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4"/>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5"/>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6"/>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7">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
        <p:nvSpPr>
          <p:cNvPr id="19" name="Shape 2">
            <a:extLst>
              <a:ext uri="{FF2B5EF4-FFF2-40B4-BE49-F238E27FC236}">
                <a16:creationId xmlns:a16="http://schemas.microsoft.com/office/drawing/2014/main" id="{BABB2CB2-FEC1-4A08-9FCE-5033699B1A0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45EAF211-E266-4BF9-B7F9-FDEE7E303BB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
        <p:nvSpPr>
          <p:cNvPr id="5" name="Shape 4">
            <a:extLst>
              <a:ext uri="{FF2B5EF4-FFF2-40B4-BE49-F238E27FC236}">
                <a16:creationId xmlns:a16="http://schemas.microsoft.com/office/drawing/2014/main" id="{F1DC7B78-74F9-482B-ADCD-F312C9F6E530}"/>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2417"/>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2651962099"/>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smtClean="0">
                                    <a:effectLst/>
                                    <a:latin typeface="Cambria Math" panose="02040503050406030204" pitchFamily="18" charset="0"/>
                                  </a:rPr>
                                  <m:t>45</m:t>
                                </m:r>
                                <m:r>
                                  <a:rPr lang="es-AR" sz="1100" smtClean="0">
                                    <a:effectLst/>
                                    <a:latin typeface="Cambria Math" panose="02040503050406030204" pitchFamily="18" charset="0"/>
                                  </a:rPr>
                                  <m:t>.</m:t>
                                </m:r>
                                <m:r>
                                  <a:rPr lang="es-AR" sz="1100" smtClean="0">
                                    <a:effectLst/>
                                    <a:latin typeface="Cambria Math" panose="02040503050406030204" pitchFamily="18" charset="0"/>
                                  </a:rPr>
                                  <m:t>0</m:t>
                                </m:r>
                                <m:r>
                                  <a:rPr lang="es-AR" sz="1100" smtClean="0">
                                    <a:effectLst/>
                                    <a:latin typeface="Cambria Math" panose="02040503050406030204" pitchFamily="18" charset="0"/>
                                  </a:rPr>
                                  <m:t>  </m:t>
                                </m:r>
                                <m:r>
                                  <a:rPr lang="es-AR" sz="1100" smtClean="0">
                                    <a:effectLst/>
                                    <a:latin typeface="Cambria Math" panose="02040503050406030204" pitchFamily="18" charset="0"/>
                                  </a:rPr>
                                  <m:t>𝑁</m:t>
                                </m:r>
                                <m:r>
                                  <a:rPr lang="es-AR" sz="1100" smtClean="0">
                                    <a:effectLst/>
                                    <a:latin typeface="Cambria Math" panose="02040503050406030204" pitchFamily="18" charset="0"/>
                                  </a:rPr>
                                  <m:t>.</m:t>
                                </m:r>
                                <m:r>
                                  <a:rPr lang="es-AR" sz="1100" smtClean="0">
                                    <a:effectLst/>
                                    <a:latin typeface="Cambria Math" panose="02040503050406030204" pitchFamily="18" charset="0"/>
                                  </a:rPr>
                                  <m:t>𝑚</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2651962099"/>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
        <p:nvSpPr>
          <p:cNvPr id="11" name="Shape 2">
            <a:extLst>
              <a:ext uri="{FF2B5EF4-FFF2-40B4-BE49-F238E27FC236}">
                <a16:creationId xmlns:a16="http://schemas.microsoft.com/office/drawing/2014/main" id="{8AA5AC5B-3D5E-4FE3-9E45-B2F0132CE5D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9FD6D717-42EF-4AFA-957E-07CEEDFB8E1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8173"/>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
        <p:nvSpPr>
          <p:cNvPr id="8" name="Shape 2">
            <a:extLst>
              <a:ext uri="{FF2B5EF4-FFF2-40B4-BE49-F238E27FC236}">
                <a16:creationId xmlns:a16="http://schemas.microsoft.com/office/drawing/2014/main" id="{240E8FA4-96E7-4138-B987-ED8F154384E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BA817797-FAC4-4B8A-9BFE-85CCBB90805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590"/>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
        <p:nvSpPr>
          <p:cNvPr id="12" name="Shape 2">
            <a:extLst>
              <a:ext uri="{FF2B5EF4-FFF2-40B4-BE49-F238E27FC236}">
                <a16:creationId xmlns:a16="http://schemas.microsoft.com/office/drawing/2014/main" id="{F84031A5-D1AC-49B4-8D96-CB8A1D5D61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F3174D3-BFEF-4F57-9409-79F07D8D7C1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7809"/>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
        <p:nvSpPr>
          <p:cNvPr id="10" name="Shape 2">
            <a:extLst>
              <a:ext uri="{FF2B5EF4-FFF2-40B4-BE49-F238E27FC236}">
                <a16:creationId xmlns:a16="http://schemas.microsoft.com/office/drawing/2014/main" id="{DB89B4B5-5098-427E-985B-DEE4C704E3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212FA254-4F88-44E2-B4DD-AF3DA373DF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8771"/>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
        <p:nvSpPr>
          <p:cNvPr id="12" name="Shape 2">
            <a:extLst>
              <a:ext uri="{FF2B5EF4-FFF2-40B4-BE49-F238E27FC236}">
                <a16:creationId xmlns:a16="http://schemas.microsoft.com/office/drawing/2014/main" id="{68A1AD0B-77C9-4BEB-BBB2-F3D9AEF273C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3CDFEB8B-7AB2-4624-B516-3765B6A118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8" y="113388"/>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3D968CEA-AC52-4252-B94C-60CC9FF2492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3558FD33-D855-40C9-9CD3-5783452C377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0660"/>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D7A4C12E-D7AF-4908-88F9-92DDB9C0BDE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3C5A4B8-0450-45AC-BBC1-C3A7C75F244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5839"/>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16779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897651"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897651" y="5514755"/>
                <a:ext cx="4547015" cy="430887"/>
              </a:xfrm>
              <a:prstGeom prst="rect">
                <a:avLst/>
              </a:prstGeom>
              <a:blipFill>
                <a:blip r:embed="rId4"/>
                <a:stretch>
                  <a:fillRect/>
                </a:stretch>
              </a:blipFill>
            </p:spPr>
            <p:txBody>
              <a:bodyPr/>
              <a:lstStyle/>
              <a:p>
                <a:r>
                  <a:rPr lang="es-AR">
                    <a:noFill/>
                  </a:rPr>
                  <a:t> </a:t>
                </a:r>
              </a:p>
            </p:txBody>
          </p:sp>
        </mc:Fallback>
      </mc:AlternateContent>
      <p:pic>
        <p:nvPicPr>
          <p:cNvPr id="9" name="Imagen 8">
            <a:extLst>
              <a:ext uri="{FF2B5EF4-FFF2-40B4-BE49-F238E27FC236}">
                <a16:creationId xmlns:a16="http://schemas.microsoft.com/office/drawing/2014/main" id="{48F949A2-41F8-4679-A9FD-2D3252616ECB}"/>
              </a:ext>
            </a:extLst>
          </p:cNvPr>
          <p:cNvPicPr/>
          <p:nvPr/>
        </p:nvPicPr>
        <p:blipFill rotWithShape="1">
          <a:blip r:embed="rId5">
            <a:extLst>
              <a:ext uri="{28A0092B-C50C-407E-A947-70E740481C1C}">
                <a14:useLocalDpi xmlns:a14="http://schemas.microsoft.com/office/drawing/2010/main" val="0"/>
              </a:ext>
            </a:extLst>
          </a:blip>
          <a:srcRect l="798"/>
          <a:stretch/>
        </p:blipFill>
        <p:spPr bwMode="auto">
          <a:xfrm>
            <a:off x="6096000" y="1374648"/>
            <a:ext cx="5000081" cy="4132269"/>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63AA3D83-1C35-4420-B8B8-8D779F7F2DB6}"/>
                  </a:ext>
                </a:extLst>
              </p:cNvPr>
              <p:cNvSpPr txBox="1"/>
              <p:nvPr/>
            </p:nvSpPr>
            <p:spPr>
              <a:xfrm>
                <a:off x="6396844" y="5520585"/>
                <a:ext cx="517331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0" name="CuadroTexto 9">
                <a:extLst>
                  <a:ext uri="{FF2B5EF4-FFF2-40B4-BE49-F238E27FC236}">
                    <a16:creationId xmlns:a16="http://schemas.microsoft.com/office/drawing/2014/main" id="{63AA3D83-1C35-4420-B8B8-8D779F7F2DB6}"/>
                  </a:ext>
                </a:extLst>
              </p:cNvPr>
              <p:cNvSpPr txBox="1">
                <a:spLocks noRot="1" noChangeAspect="1" noMove="1" noResize="1" noEditPoints="1" noAdjustHandles="1" noChangeArrowheads="1" noChangeShapeType="1" noTextEdit="1"/>
              </p:cNvSpPr>
              <p:nvPr/>
            </p:nvSpPr>
            <p:spPr>
              <a:xfrm>
                <a:off x="6396844" y="5520585"/>
                <a:ext cx="5173314" cy="430887"/>
              </a:xfrm>
              <a:prstGeom prst="rect">
                <a:avLst/>
              </a:prstGeom>
              <a:blipFill>
                <a:blip r:embed="rId6"/>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BCA25307-751D-4CAF-8E3A-DC1060D8189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C818F10-FEB3-48AC-9B29-B7687051DD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17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71630" y="990243"/>
            <a:ext cx="5537559" cy="4185439"/>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274320"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sin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274320" y="5175682"/>
                <a:ext cx="5334870" cy="430887"/>
              </a:xfrm>
              <a:prstGeom prst="rect">
                <a:avLst/>
              </a:prstGeom>
              <a:blipFill>
                <a:blip r:embed="rId4"/>
                <a:stretch>
                  <a:fillRect/>
                </a:stretch>
              </a:blipFill>
            </p:spPr>
            <p:txBody>
              <a:bodyPr/>
              <a:lstStyle/>
              <a:p>
                <a:r>
                  <a:rPr lang="es-AR">
                    <a:noFill/>
                  </a:rPr>
                  <a:t> </a:t>
                </a:r>
              </a:p>
            </p:txBody>
          </p:sp>
        </mc:Fallback>
      </mc:AlternateContent>
      <p:pic>
        <p:nvPicPr>
          <p:cNvPr id="7" name="Imagen 6">
            <a:extLst>
              <a:ext uri="{FF2B5EF4-FFF2-40B4-BE49-F238E27FC236}">
                <a16:creationId xmlns:a16="http://schemas.microsoft.com/office/drawing/2014/main" id="{E1238489-EDDB-4235-828A-104F5821054F}"/>
              </a:ext>
            </a:extLst>
          </p:cNvPr>
          <p:cNvPicPr>
            <a:picLocks noChangeAspect="1"/>
          </p:cNvPicPr>
          <p:nvPr/>
        </p:nvPicPr>
        <p:blipFill rotWithShape="1">
          <a:blip r:embed="rId5"/>
          <a:srcRect r="-2126"/>
          <a:stretch/>
        </p:blipFill>
        <p:spPr>
          <a:xfrm>
            <a:off x="6000338" y="935476"/>
            <a:ext cx="5673798" cy="4185439"/>
          </a:xfrm>
          <a:prstGeom prst="rect">
            <a:avLst/>
          </a:prstGeom>
        </p:spPr>
      </p:pic>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DB771B73-7F0F-413B-ABF6-968A103C3765}"/>
                  </a:ext>
                </a:extLst>
              </p:cNvPr>
              <p:cNvSpPr txBox="1"/>
              <p:nvPr/>
            </p:nvSpPr>
            <p:spPr>
              <a:xfrm>
                <a:off x="6536785"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con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2" name="CuadroTexto 11">
                <a:extLst>
                  <a:ext uri="{FF2B5EF4-FFF2-40B4-BE49-F238E27FC236}">
                    <a16:creationId xmlns:a16="http://schemas.microsoft.com/office/drawing/2014/main" id="{DB771B73-7F0F-413B-ABF6-968A103C3765}"/>
                  </a:ext>
                </a:extLst>
              </p:cNvPr>
              <p:cNvSpPr txBox="1">
                <a:spLocks noRot="1" noChangeAspect="1" noMove="1" noResize="1" noEditPoints="1" noAdjustHandles="1" noChangeArrowheads="1" noChangeShapeType="1" noTextEdit="1"/>
              </p:cNvSpPr>
              <p:nvPr/>
            </p:nvSpPr>
            <p:spPr>
              <a:xfrm>
                <a:off x="6536785" y="5175682"/>
                <a:ext cx="5334870" cy="430887"/>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10D747D1-F355-4EC8-8ACF-3E48A215738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5014411-3702-4184-A058-B6FC4A5458B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9015" y="12878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2923877"/>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400" dirty="0"/>
          </a:p>
          <a:p>
            <a:pPr marL="285750" indent="-285750">
              <a:buFont typeface="Arial" panose="020B0604020202020204" pitchFamily="34" charset="0"/>
              <a:buChar char="•"/>
            </a:pPr>
            <a:r>
              <a:rPr lang="es-MX" sz="1400" dirty="0"/>
              <a:t>Limitar o evitar perturbaciones de carga sostenidas</a:t>
            </a:r>
          </a:p>
          <a:p>
            <a:pPr marL="285750" indent="-285750">
              <a:buFont typeface="Arial" panose="020B0604020202020204" pitchFamily="34" charset="0"/>
              <a:buChar char="•"/>
            </a:pPr>
            <a:r>
              <a:rPr lang="es-AR" sz="1400" dirty="0">
                <a:latin typeface="Calibri" panose="020F0502020204030204" pitchFamily="34" charset="0"/>
                <a:ea typeface="Calibri" panose="020F0502020204030204" pitchFamily="34" charset="0"/>
                <a:cs typeface="Times New Roman" panose="02020603050405020304" pitchFamily="18" charset="0"/>
              </a:rPr>
              <a:t>M</a:t>
            </a:r>
            <a:r>
              <a:rPr lang="es-AR" sz="14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400" dirty="0"/>
              <a:t>Incorporar un mecanismo de refrigeración</a:t>
            </a:r>
          </a:p>
        </p:txBody>
      </p:sp>
      <p:sp>
        <p:nvSpPr>
          <p:cNvPr id="8" name="Shape 2">
            <a:extLst>
              <a:ext uri="{FF2B5EF4-FFF2-40B4-BE49-F238E27FC236}">
                <a16:creationId xmlns:a16="http://schemas.microsoft.com/office/drawing/2014/main" id="{98BB5D27-3F5B-46DC-9A6F-FD2444BCF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AB115AD5-C0F7-49EF-AAC0-43AFCEDF78C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04952" y="9772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lang="es-AR" sz="1350" dirty="0">
                    <a:solidFill>
                      <a:srgbClr val="1A1A2E"/>
                    </a:solidFill>
                    <a:latin typeface="Calibri"/>
                  </a:rPr>
                  <a:t>Posición: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6000 rad/s no muestra diferencias apreciables → no se requiere mayor resolución</a:t>
                </a:r>
              </a:p>
              <a:p>
                <a:pPr>
                  <a:spcBef>
                    <a:spcPts val="400"/>
                  </a:spcBef>
                </a:pPr>
                <a:r>
                  <a:rPr lang="es-AR" sz="1350" dirty="0">
                    <a:solidFill>
                      <a:srgbClr val="1A1A2E"/>
                    </a:solidFill>
                    <a:latin typeface="Calibri"/>
                  </a:rPr>
                  <a:t>Corriente: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18000 rad/s ofrece buena respuesta sin necesidad de valores más altos</a:t>
                </a:r>
              </a:p>
              <a:p>
                <a:pPr>
                  <a:spcBef>
                    <a:spcPts val="400"/>
                  </a:spcBef>
                </a:pPr>
                <a:r>
                  <a:rPr lang="es-AR" sz="1350" dirty="0">
                    <a:solidFill>
                      <a:srgbClr val="1A1A2E"/>
                    </a:solidFill>
                    <a:latin typeface="Calibri"/>
                  </a:rPr>
                  <a:t>Temperatura: variable más afectada; τ = 0.05 s necesario para rastrear señal; para detectar máximos τ puede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A13DA14F-329A-4BAE-9092-E3E33EFA7F8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7" name="Text 3">
            <a:extLst>
              <a:ext uri="{FF2B5EF4-FFF2-40B4-BE49-F238E27FC236}">
                <a16:creationId xmlns:a16="http://schemas.microsoft.com/office/drawing/2014/main" id="{01DC0182-6FE6-425C-A178-6591D2A845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1995015" y="92540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3956905"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
        <p:nvSpPr>
          <p:cNvPr id="9" name="Shape 2">
            <a:extLst>
              <a:ext uri="{FF2B5EF4-FFF2-40B4-BE49-F238E27FC236}">
                <a16:creationId xmlns:a16="http://schemas.microsoft.com/office/drawing/2014/main" id="{3B1129F7-0672-4BA0-9D9F-9C7BC2EAD1E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7DF94D9-6FB6-458F-A15F-3B82DCC9734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4"/>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5"/>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6">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
        <p:nvSpPr>
          <p:cNvPr id="18" name="Shape 2">
            <a:extLst>
              <a:ext uri="{FF2B5EF4-FFF2-40B4-BE49-F238E27FC236}">
                <a16:creationId xmlns:a16="http://schemas.microsoft.com/office/drawing/2014/main" id="{FBA580B0-2C99-4F47-8075-B9ADB5C2243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946DC70-B070-4E6C-B1D9-0A1D5EA371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6054" y="769861"/>
                <a:ext cx="8357730" cy="366575"/>
              </a:xfrm>
              <a:prstGeom prst="rect">
                <a:avLst/>
              </a:prstGeom>
              <a:noFill/>
            </p:spPr>
            <p:txBody>
              <a:bodyPr wrap="square">
                <a:spAutoFit/>
              </a:bodyPr>
              <a:lstStyle/>
              <a:p>
                <a:pPr algn="just">
                  <a:lnSpc>
                    <a:spcPct val="107000"/>
                  </a:lnSpc>
                  <a:spcBef>
                    <a:spcPts val="1800"/>
                  </a:spcBef>
                  <a:spcAft>
                    <a:spcPts val="1800"/>
                  </a:spcAft>
                </a:pPr>
                <a:r>
                  <a:rPr lang="es-MX" sz="1400" b="0" dirty="0">
                    <a:effectLst/>
                    <a:ea typeface="Calibri" panose="020F0502020204030204" pitchFamily="34" charset="0"/>
                    <a:cs typeface="Times New Roman" panose="02020603050405020304" pitchFamily="18" charset="0"/>
                  </a:rPr>
                  <a:t>Para</a:t>
                </a:r>
                <a14:m>
                  <m:oMath xmlns:m="http://schemas.openxmlformats.org/officeDocument/2006/math">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4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6054" y="769861"/>
                <a:ext cx="8357730" cy="366575"/>
              </a:xfrm>
              <a:prstGeom prst="rect">
                <a:avLst/>
              </a:prstGeom>
              <a:blipFill>
                <a:blip r:embed="rId4"/>
                <a:stretch>
                  <a:fillRect l="-219" b="-8333"/>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5">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6">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7"/>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8"/>
                <a:stretch>
                  <a:fillRect b="-11111"/>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973F290B-C0C6-467C-8EB9-CE00A9CDE38C}"/>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B0AA8044-5B87-40F3-955D-E7E28828787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60A39584-7769-4FBA-9E21-F0365D4083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D37AEF7-A22D-40F4-BB5C-7304EBB9794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325C8D78-021C-487A-99CA-523FDE6349B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EF997396-FF3F-415B-BA53-32C7ACB9895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73660"/>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73660"/>
                <a:ext cx="4040254" cy="276742"/>
              </a:xfrm>
              <a:prstGeom prst="rect">
                <a:avLst/>
              </a:prstGeom>
              <a:blipFill>
                <a:blip r:embed="rId3"/>
                <a:stretch>
                  <a:fillRect b="-8696"/>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69480" y="5364017"/>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704458"/>
          </a:xfrm>
          <a:prstGeom prst="rect">
            <a:avLst/>
          </a:prstGeom>
        </p:spPr>
      </p:pic>
      <p:sp>
        <p:nvSpPr>
          <p:cNvPr id="11" name="Shape 2">
            <a:extLst>
              <a:ext uri="{FF2B5EF4-FFF2-40B4-BE49-F238E27FC236}">
                <a16:creationId xmlns:a16="http://schemas.microsoft.com/office/drawing/2014/main" id="{A85E4BF2-DEB9-47DA-9AC5-03C2089386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4AEE53A0-3336-41F5-8A04-6DD03ED73B6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C8509D-1A86-43E7-8D86-976EBF31EC5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46C00EB-FCA4-4A07-9F4E-966D6A24650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
        <p:nvSpPr>
          <p:cNvPr id="11" name="Shape 2">
            <a:extLst>
              <a:ext uri="{FF2B5EF4-FFF2-40B4-BE49-F238E27FC236}">
                <a16:creationId xmlns:a16="http://schemas.microsoft.com/office/drawing/2014/main" id="{50E7B2D0-E5D1-4833-AB58-377488E1066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6F3B043-FEC4-434B-8EA4-1E7E66A1F51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0722" y="116036"/>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
        <p:nvSpPr>
          <p:cNvPr id="12" name="Shape 2">
            <a:extLst>
              <a:ext uri="{FF2B5EF4-FFF2-40B4-BE49-F238E27FC236}">
                <a16:creationId xmlns:a16="http://schemas.microsoft.com/office/drawing/2014/main" id="{9CD9A43E-425E-44CA-9898-70312589551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599C1D2D-E224-4B6A-ACA2-9565EA94229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0805"/>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CC3B270-7FB9-41C0-8F26-B6E27D8CF48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70F81246-E218-43E2-B959-73110BCD28A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25188"/>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
        <p:nvSpPr>
          <p:cNvPr id="12" name="Shape 2">
            <a:extLst>
              <a:ext uri="{FF2B5EF4-FFF2-40B4-BE49-F238E27FC236}">
                <a16:creationId xmlns:a16="http://schemas.microsoft.com/office/drawing/2014/main" id="{03F873A4-2695-4F27-9435-8C89E6399DC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04B0837-F3DD-4019-A95E-07E441F9485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54687"/>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
        <p:nvSpPr>
          <p:cNvPr id="11" name="Shape 2">
            <a:extLst>
              <a:ext uri="{FF2B5EF4-FFF2-40B4-BE49-F238E27FC236}">
                <a16:creationId xmlns:a16="http://schemas.microsoft.com/office/drawing/2014/main" id="{1DDBC64F-DC1B-4F09-BB50-4286848ECAF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7ACFD22-4DCB-49C8-9CB9-18B18129296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06641"/>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
        <p:nvSpPr>
          <p:cNvPr id="12" name="Shape 2">
            <a:extLst>
              <a:ext uri="{FF2B5EF4-FFF2-40B4-BE49-F238E27FC236}">
                <a16:creationId xmlns:a16="http://schemas.microsoft.com/office/drawing/2014/main" id="{F3A8D687-6101-4B62-B00D-5E521EAFA2E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802A1B3-E2DE-48B5-BCFA-A72B89EF8A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97178" y="91479"/>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
        <p:nvSpPr>
          <p:cNvPr id="8" name="Shape 2">
            <a:extLst>
              <a:ext uri="{FF2B5EF4-FFF2-40B4-BE49-F238E27FC236}">
                <a16:creationId xmlns:a16="http://schemas.microsoft.com/office/drawing/2014/main" id="{B20DBDDD-CAF2-4802-AD89-F2BF028F931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01D5CA00-3EB7-4B9F-A894-03874397A09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
        <p:nvSpPr>
          <p:cNvPr id="5" name="Shape 4">
            <a:extLst>
              <a:ext uri="{FF2B5EF4-FFF2-40B4-BE49-F238E27FC236}">
                <a16:creationId xmlns:a16="http://schemas.microsoft.com/office/drawing/2014/main" id="{1F9414B9-10F4-4036-B821-DE35287CE68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218"/>
            <a:ext cx="11551615" cy="658368"/>
          </a:xfrm>
          <a:prstGeom prst="rect">
            <a:avLst/>
          </a:prstGeom>
          <a:noFill/>
        </p:spPr>
        <p:txBody>
          <a:bodyPr wrap="none">
            <a:spAutoFit/>
          </a:bodyPr>
          <a:lstStyle/>
          <a:p>
            <a:pPr algn="l"/>
            <a:r>
              <a:rPr sz="2100" b="1" dirty="0">
                <a:solidFill>
                  <a:srgbClr val="FFFFFF"/>
                </a:solidFill>
                <a:latin typeface="Cambria"/>
              </a:rPr>
              <a:t>Sistema continuo </a:t>
            </a:r>
            <a:r>
              <a:rPr sz="2100" b="1" dirty="0" err="1">
                <a:solidFill>
                  <a:srgbClr val="FFFFFF"/>
                </a:solidFill>
                <a:latin typeface="Cambria"/>
              </a:rPr>
              <a:t>completo</a:t>
            </a:r>
            <a:r>
              <a:rPr sz="2100" b="1" dirty="0">
                <a:solidFill>
                  <a:srgbClr val="FFFFFF"/>
                </a:solidFill>
                <a:latin typeface="Cambria"/>
              </a:rPr>
              <a:t> — </a:t>
            </a:r>
            <a:r>
              <a:rPr sz="2100" b="1" dirty="0" err="1">
                <a:solidFill>
                  <a:srgbClr val="FFFFFF"/>
                </a:solidFill>
                <a:latin typeface="Cambria"/>
              </a:rPr>
              <a:t>Parámetros</a:t>
            </a:r>
            <a:r>
              <a:rPr sz="2100" b="1" dirty="0">
                <a:solidFill>
                  <a:srgbClr val="FFFFFF"/>
                </a:solidFill>
                <a:latin typeface="Cambria"/>
              </a:rPr>
              <a:t> finales del </a:t>
            </a:r>
            <a:r>
              <a:rPr sz="2100" b="1" dirty="0" err="1">
                <a:solidFill>
                  <a:srgbClr val="FFFFFF"/>
                </a:solidFill>
                <a:latin typeface="Cambria"/>
              </a:rPr>
              <a:t>controlador</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
        <p:nvSpPr>
          <p:cNvPr id="9" name="Shape 2">
            <a:extLst>
              <a:ext uri="{FF2B5EF4-FFF2-40B4-BE49-F238E27FC236}">
                <a16:creationId xmlns:a16="http://schemas.microsoft.com/office/drawing/2014/main" id="{F1A018D6-6668-4EB9-851C-AB2AB998A90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A29213D-9EFF-4B15-A8B4-277241B7DB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19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
        <p:nvSpPr>
          <p:cNvPr id="18" name="Shape 2">
            <a:extLst>
              <a:ext uri="{FF2B5EF4-FFF2-40B4-BE49-F238E27FC236}">
                <a16:creationId xmlns:a16="http://schemas.microsoft.com/office/drawing/2014/main" id="{0088565B-890C-47A8-A875-90A6D3DA455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44A63500-EE49-4377-AAE3-2B1BBA674E7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9788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
        <p:nvSpPr>
          <p:cNvPr id="18" name="Shape 2">
            <a:extLst>
              <a:ext uri="{FF2B5EF4-FFF2-40B4-BE49-F238E27FC236}">
                <a16:creationId xmlns:a16="http://schemas.microsoft.com/office/drawing/2014/main" id="{85ED1E0F-A9C6-4E87-BDAF-DC82C07BB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0739E89-9090-4B51-943B-8C8CF4B6F0D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4998"/>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
        <p:nvSpPr>
          <p:cNvPr id="13" name="Shape 2">
            <a:extLst>
              <a:ext uri="{FF2B5EF4-FFF2-40B4-BE49-F238E27FC236}">
                <a16:creationId xmlns:a16="http://schemas.microsoft.com/office/drawing/2014/main" id="{42B3901B-0064-48A3-A656-95C27C5ABF0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106A1CFA-ED65-4F74-AD27-F01362250D65}"/>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7321"/>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
        <p:nvSpPr>
          <p:cNvPr id="9" name="Shape 2">
            <a:extLst>
              <a:ext uri="{FF2B5EF4-FFF2-40B4-BE49-F238E27FC236}">
                <a16:creationId xmlns:a16="http://schemas.microsoft.com/office/drawing/2014/main" id="{E48B6EC8-A82B-4093-AAAA-64BCD54E5F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52D28B1D-53B3-4502-8332-33196D41246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65899"/>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
        <p:nvSpPr>
          <p:cNvPr id="9" name="Shape 2">
            <a:extLst>
              <a:ext uri="{FF2B5EF4-FFF2-40B4-BE49-F238E27FC236}">
                <a16:creationId xmlns:a16="http://schemas.microsoft.com/office/drawing/2014/main" id="{3FF759CE-C7C8-49A1-9280-9BCA1000D24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A001E546-08C0-4B59-B0D7-BF89E62E174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7021"/>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
        <p:nvSpPr>
          <p:cNvPr id="30" name="Shape 2">
            <a:extLst>
              <a:ext uri="{FF2B5EF4-FFF2-40B4-BE49-F238E27FC236}">
                <a16:creationId xmlns:a16="http://schemas.microsoft.com/office/drawing/2014/main" id="{DF209EEB-6677-4C00-8073-05612CF599E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31" name="Text 3">
            <a:extLst>
              <a:ext uri="{FF2B5EF4-FFF2-40B4-BE49-F238E27FC236}">
                <a16:creationId xmlns:a16="http://schemas.microsoft.com/office/drawing/2014/main" id="{6701EE98-416F-4147-BA2D-1E709D39E77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568"/>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D3311189-B744-4EFD-BA00-1A74FEE392C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81E208C3-6D93-4665-9F14-981A6731BF0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4593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2DA11B25-2160-468C-9C12-C5728FF05D1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61CC0F0E-27FA-482A-AE85-DC199926C92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4348"/>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
        <p:nvSpPr>
          <p:cNvPr id="15" name="Shape 2">
            <a:extLst>
              <a:ext uri="{FF2B5EF4-FFF2-40B4-BE49-F238E27FC236}">
                <a16:creationId xmlns:a16="http://schemas.microsoft.com/office/drawing/2014/main" id="{699C05DC-E197-46D4-9BC0-57D72EFDD4B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3DD8B458-E2F3-40D8-A839-9BD9531390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2016"/>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94367"/>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841F5B3E-D2AC-42F7-990D-5ABFDFC9D1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36D5DDB2-3C29-455E-85B7-C5FB179F250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8291"/>
            <a:ext cx="11551615" cy="658368"/>
          </a:xfrm>
          <a:prstGeom prst="rect">
            <a:avLst/>
          </a:prstGeom>
          <a:noFill/>
        </p:spPr>
        <p:txBody>
          <a:bodyPr wrap="none">
            <a:spAutoFit/>
          </a:bodyPr>
          <a:lstStyle/>
          <a:p>
            <a:pPr algn="l"/>
            <a:r>
              <a:rPr sz="2100" b="1" dirty="0" err="1">
                <a:solidFill>
                  <a:srgbClr val="FFFFFF"/>
                </a:solidFill>
                <a:latin typeface="Cambria"/>
              </a:rPr>
              <a:t>Referencias</a:t>
            </a:r>
            <a:endParaRPr sz="2100" b="1" dirty="0">
              <a:solidFill>
                <a:srgbClr val="FFFFFF"/>
              </a:solidFill>
              <a:latin typeface="Cambria"/>
            </a:endParaRP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3862596"/>
          </a:xfrm>
          <a:prstGeom prst="rect">
            <a:avLst/>
          </a:prstGeom>
          <a:noFill/>
        </p:spPr>
        <p:txBody>
          <a:bodyPr wrap="square">
            <a:spAutoFit/>
          </a:bodyPr>
          <a:lstStyle/>
          <a:p>
            <a:r>
              <a:rPr sz="2000" dirty="0">
                <a:solidFill>
                  <a:srgbClr val="1A1A2E"/>
                </a:solidFill>
                <a:latin typeface="Calibri"/>
              </a:rPr>
              <a:t>[1] G. Julián. Proyecto Global </a:t>
            </a:r>
            <a:r>
              <a:rPr sz="2000" dirty="0" err="1">
                <a:solidFill>
                  <a:srgbClr val="1A1A2E"/>
                </a:solidFill>
                <a:latin typeface="Calibri"/>
              </a:rPr>
              <a:t>Integrador</a:t>
            </a:r>
            <a:r>
              <a:rPr sz="2000" dirty="0">
                <a:solidFill>
                  <a:srgbClr val="1A1A2E"/>
                </a:solidFill>
                <a:latin typeface="Calibri"/>
              </a:rPr>
              <a:t>: Control de </a:t>
            </a:r>
            <a:r>
              <a:rPr sz="2000" dirty="0" err="1">
                <a:solidFill>
                  <a:srgbClr val="1A1A2E"/>
                </a:solidFill>
                <a:latin typeface="Calibri"/>
              </a:rPr>
              <a:t>Accionamiento</a:t>
            </a:r>
            <a:r>
              <a:rPr sz="2000" dirty="0">
                <a:solidFill>
                  <a:srgbClr val="1A1A2E"/>
                </a:solidFill>
                <a:latin typeface="Calibri"/>
              </a:rPr>
              <a:t> de CA con Motor </a:t>
            </a:r>
            <a:r>
              <a:rPr sz="2000" dirty="0" err="1">
                <a:solidFill>
                  <a:srgbClr val="1A1A2E"/>
                </a:solidFill>
                <a:latin typeface="Calibri"/>
              </a:rPr>
              <a:t>Síncrono</a:t>
            </a:r>
            <a:r>
              <a:rPr sz="2000" dirty="0">
                <a:solidFill>
                  <a:srgbClr val="1A1A2E"/>
                </a:solidFill>
                <a:latin typeface="Calibri"/>
              </a:rPr>
              <a:t> de </a:t>
            </a:r>
            <a:r>
              <a:rPr sz="2000" dirty="0" err="1">
                <a:solidFill>
                  <a:srgbClr val="1A1A2E"/>
                </a:solidFill>
                <a:latin typeface="Calibri"/>
              </a:rPr>
              <a:t>Imanes</a:t>
            </a:r>
            <a:r>
              <a:rPr sz="2000" dirty="0">
                <a:solidFill>
                  <a:srgbClr val="1A1A2E"/>
                </a:solidFill>
                <a:latin typeface="Calibri"/>
              </a:rPr>
              <a:t> </a:t>
            </a:r>
            <a:r>
              <a:rPr sz="2000" dirty="0" err="1">
                <a:solidFill>
                  <a:srgbClr val="1A1A2E"/>
                </a:solidFill>
                <a:latin typeface="Calibri"/>
              </a:rPr>
              <a:t>Permanentes</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Ing. </a:t>
            </a:r>
            <a:r>
              <a:rPr sz="2000" dirty="0" err="1">
                <a:solidFill>
                  <a:srgbClr val="1A1A2E"/>
                </a:solidFill>
                <a:latin typeface="Calibri"/>
              </a:rPr>
              <a:t>en</a:t>
            </a:r>
            <a:r>
              <a:rPr sz="2000" dirty="0">
                <a:solidFill>
                  <a:srgbClr val="1A1A2E"/>
                </a:solidFill>
                <a:latin typeface="Calibri"/>
              </a:rPr>
              <a:t> </a:t>
            </a:r>
            <a:r>
              <a:rPr sz="2000" dirty="0" err="1">
                <a:solidFill>
                  <a:srgbClr val="1A1A2E"/>
                </a:solidFill>
                <a:latin typeface="Calibri"/>
              </a:rPr>
              <a:t>Mecatrónica</a:t>
            </a:r>
            <a:r>
              <a:rPr sz="2000" dirty="0">
                <a:solidFill>
                  <a:srgbClr val="1A1A2E"/>
                </a:solidFill>
                <a:latin typeface="Calibri"/>
              </a:rPr>
              <a:t>, 2024.</a:t>
            </a:r>
          </a:p>
          <a:p>
            <a:pPr>
              <a:spcBef>
                <a:spcPts val="900"/>
              </a:spcBef>
            </a:pPr>
            <a:r>
              <a:rPr sz="2000" dirty="0">
                <a:solidFill>
                  <a:srgbClr val="1A1A2E"/>
                </a:solidFill>
                <a:latin typeface="Calibri"/>
              </a:rPr>
              <a:t>[2] G. Julián. </a:t>
            </a:r>
            <a:r>
              <a:rPr sz="2000" dirty="0" err="1">
                <a:solidFill>
                  <a:srgbClr val="1A1A2E"/>
                </a:solidFill>
                <a:latin typeface="Calibri"/>
              </a:rPr>
              <a:t>Guía</a:t>
            </a:r>
            <a:r>
              <a:rPr sz="2000" dirty="0">
                <a:solidFill>
                  <a:srgbClr val="1A1A2E"/>
                </a:solidFill>
                <a:latin typeface="Calibri"/>
              </a:rPr>
              <a:t> de </a:t>
            </a:r>
            <a:r>
              <a:rPr sz="2000" dirty="0" err="1">
                <a:solidFill>
                  <a:srgbClr val="1A1A2E"/>
                </a:solidFill>
                <a:latin typeface="Calibri"/>
              </a:rPr>
              <a:t>trabajo</a:t>
            </a:r>
            <a:r>
              <a:rPr sz="2000" dirty="0">
                <a:solidFill>
                  <a:srgbClr val="1A1A2E"/>
                </a:solidFill>
                <a:latin typeface="Calibri"/>
              </a:rPr>
              <a:t> — Proyecto Global </a:t>
            </a:r>
            <a:r>
              <a:rPr sz="2000" dirty="0" err="1">
                <a:solidFill>
                  <a:srgbClr val="1A1A2E"/>
                </a:solidFill>
                <a:latin typeface="Calibri"/>
              </a:rPr>
              <a:t>Integrador</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2024.</a:t>
            </a:r>
          </a:p>
          <a:p>
            <a:pPr>
              <a:spcBef>
                <a:spcPts val="900"/>
              </a:spcBef>
            </a:pPr>
            <a:r>
              <a:rPr sz="2000" dirty="0">
                <a:solidFill>
                  <a:srgbClr val="1A1A2E"/>
                </a:solidFill>
                <a:latin typeface="Calibri"/>
              </a:rPr>
              <a:t>[3] P. Krause, O. </a:t>
            </a:r>
            <a:r>
              <a:rPr sz="2000" dirty="0" err="1">
                <a:solidFill>
                  <a:srgbClr val="1A1A2E"/>
                </a:solidFill>
                <a:latin typeface="Calibri"/>
              </a:rPr>
              <a:t>Wasynczuk</a:t>
            </a:r>
            <a:r>
              <a:rPr sz="2000" dirty="0">
                <a:solidFill>
                  <a:srgbClr val="1A1A2E"/>
                </a:solidFill>
                <a:latin typeface="Calibri"/>
              </a:rPr>
              <a:t>, S. D. </a:t>
            </a:r>
            <a:r>
              <a:rPr sz="2000" dirty="0" err="1">
                <a:solidFill>
                  <a:srgbClr val="1A1A2E"/>
                </a:solidFill>
                <a:latin typeface="Calibri"/>
              </a:rPr>
              <a:t>Sudhoff</a:t>
            </a:r>
            <a:r>
              <a:rPr sz="2000" dirty="0">
                <a:solidFill>
                  <a:srgbClr val="1A1A2E"/>
                </a:solidFill>
                <a:latin typeface="Calibri"/>
              </a:rPr>
              <a:t>, S. </a:t>
            </a:r>
            <a:r>
              <a:rPr sz="2000" dirty="0" err="1">
                <a:solidFill>
                  <a:srgbClr val="1A1A2E"/>
                </a:solidFill>
                <a:latin typeface="Calibri"/>
              </a:rPr>
              <a:t>Pekarek</a:t>
            </a:r>
            <a:r>
              <a:rPr sz="2000" dirty="0">
                <a:solidFill>
                  <a:srgbClr val="1A1A2E"/>
                </a:solidFill>
                <a:latin typeface="Calibri"/>
              </a:rPr>
              <a:t>. Analysis of Electric Machinery and Drive Systems. 3ª ed. Wiley-IEEE Press, 2013.</a:t>
            </a:r>
          </a:p>
          <a:p>
            <a:pPr>
              <a:spcBef>
                <a:spcPts val="900"/>
              </a:spcBef>
            </a:pPr>
            <a:r>
              <a:rPr sz="2000" dirty="0">
                <a:solidFill>
                  <a:srgbClr val="1A1A2E"/>
                </a:solidFill>
                <a:latin typeface="Calibri"/>
              </a:rPr>
              <a:t>[4] G. F. Franklin, J. D. Powell, A. </a:t>
            </a:r>
            <a:r>
              <a:rPr sz="2000" dirty="0" err="1">
                <a:solidFill>
                  <a:srgbClr val="1A1A2E"/>
                </a:solidFill>
                <a:latin typeface="Calibri"/>
              </a:rPr>
              <a:t>Emami-Naeni</a:t>
            </a:r>
            <a:r>
              <a:rPr sz="2000" dirty="0">
                <a:solidFill>
                  <a:srgbClr val="1A1A2E"/>
                </a:solidFill>
                <a:latin typeface="Calibri"/>
              </a:rPr>
              <a:t>. Feedback Control of Dynamic Systems. 7ª ed. Pearson, 2015.</a:t>
            </a:r>
          </a:p>
          <a:p>
            <a:pPr>
              <a:spcBef>
                <a:spcPts val="900"/>
              </a:spcBef>
            </a:pPr>
            <a:r>
              <a:rPr sz="2000" dirty="0">
                <a:solidFill>
                  <a:srgbClr val="1A1A2E"/>
                </a:solidFill>
                <a:latin typeface="Calibri"/>
              </a:rPr>
              <a:t>[5] K. Ogata. </a:t>
            </a:r>
            <a:r>
              <a:rPr sz="2000" dirty="0" err="1">
                <a:solidFill>
                  <a:srgbClr val="1A1A2E"/>
                </a:solidFill>
                <a:latin typeface="Calibri"/>
              </a:rPr>
              <a:t>Ingeniería</a:t>
            </a:r>
            <a:r>
              <a:rPr sz="2000" dirty="0">
                <a:solidFill>
                  <a:srgbClr val="1A1A2E"/>
                </a:solidFill>
                <a:latin typeface="Calibri"/>
              </a:rPr>
              <a:t> de Control Moderna. 5ª ed. Prentice Hall, 2010.</a:t>
            </a:r>
          </a:p>
          <a:p>
            <a:pPr>
              <a:spcBef>
                <a:spcPts val="900"/>
              </a:spcBef>
            </a:pPr>
            <a:r>
              <a:rPr sz="2000" dirty="0">
                <a:solidFill>
                  <a:srgbClr val="1A1A2E"/>
                </a:solidFill>
                <a:latin typeface="Calibri"/>
              </a:rPr>
              <a:t>[6] K. M. Lynch, F. C. Park. Modern Robotics: Mechanics, Planning, and Control. Cambridge University Press, 2017.</a:t>
            </a:r>
          </a:p>
          <a:p>
            <a:pPr>
              <a:spcBef>
                <a:spcPts val="900"/>
              </a:spcBef>
            </a:pPr>
            <a:r>
              <a:rPr sz="2000" dirty="0">
                <a:solidFill>
                  <a:srgbClr val="1A1A2E"/>
                </a:solidFill>
                <a:latin typeface="Calibri"/>
              </a:rPr>
              <a:t>[7] MathWorks. MATLAB/Simulink R2024b Documentation. www.mathworks.com</a:t>
            </a:r>
          </a:p>
        </p:txBody>
      </p:sp>
      <p:sp>
        <p:nvSpPr>
          <p:cNvPr id="7" name="Shape 2">
            <a:extLst>
              <a:ext uri="{FF2B5EF4-FFF2-40B4-BE49-F238E27FC236}">
                <a16:creationId xmlns:a16="http://schemas.microsoft.com/office/drawing/2014/main" id="{9D9668B5-8702-41AB-A269-7116182D662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2952A8C6-EC75-4352-911C-8F166453E33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6442</TotalTime>
  <Words>14318</Words>
  <Application>Microsoft Office PowerPoint</Application>
  <PresentationFormat>Panorámica</PresentationFormat>
  <Paragraphs>1410</Paragraphs>
  <Slides>119</Slides>
  <Notes>15</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260</cp:revision>
  <dcterms:created xsi:type="dcterms:W3CDTF">2013-01-27T09:14:16Z</dcterms:created>
  <dcterms:modified xsi:type="dcterms:W3CDTF">2026-05-06T01:01:30Z</dcterms:modified>
  <cp:category/>
</cp:coreProperties>
</file>