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333" r:id="rId44"/>
    <p:sldId id="295" r:id="rId45"/>
    <p:sldId id="334" r:id="rId46"/>
    <p:sldId id="297" r:id="rId47"/>
    <p:sldId id="337" r:id="rId48"/>
    <p:sldId id="336" r:id="rId49"/>
    <p:sldId id="296" r:id="rId50"/>
    <p:sldId id="338" r:id="rId51"/>
    <p:sldId id="339" r:id="rId52"/>
    <p:sldId id="335"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 id="320" r:id="rId76"/>
    <p:sldId id="321" r:id="rId77"/>
    <p:sldId id="322" r:id="rId78"/>
    <p:sldId id="323" r:id="rId79"/>
    <p:sldId id="324" r:id="rId80"/>
    <p:sldId id="325" r:id="rId81"/>
    <p:sldId id="326" r:id="rId82"/>
    <p:sldId id="327" r:id="rId8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678"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14/4/2026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4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m:t>
                    </m:r>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e>
                        </m:box>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endParaRPr lang="es-AR" sz="16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𝑹</m:t>
                                    </m:r>
                                  </m:e>
                                  <m:sub>
                                    <m:r>
                                      <a:rPr lang="es-AR" sz="1100">
                                        <a:effectLst/>
                                        <a:latin typeface="Cambria Math" panose="02040503050406030204" pitchFamily="18" charset="0"/>
                                      </a:rPr>
                                      <m:t>𝒔</m:t>
                                    </m:r>
                                  </m:sub>
                                </m:sSub>
                                <m:d>
                                  <m:dPr>
                                    <m:begChr m:val="["/>
                                    <m:endChr m:val="]"/>
                                    <m:ctrlPr>
                                      <a:rPr lang="es-AR" sz="1100" i="1">
                                        <a:effectLst/>
                                        <a:latin typeface="Cambria Math" panose="02040503050406030204" pitchFamily="18" charset="0"/>
                                      </a:rPr>
                                    </m:ctrlPr>
                                  </m:dPr>
                                  <m:e>
                                    <m:r>
                                      <a:rPr lang="es-AR" sz="1100">
                                        <a:effectLst/>
                                        <a:latin typeface="Cambria Math" panose="02040503050406030204" pitchFamily="18" charset="0"/>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m:t>
                                    </m:r>
                                  </m:e>
                                  <m:sub>
                                    <m:r>
                                      <a:rPr lang="es-AR" sz="1100">
                                        <a:effectLst/>
                                        <a:latin typeface="Cambria Math" panose="02040503050406030204" pitchFamily="18" charset="0"/>
                                      </a:rPr>
                                      <m:t>𝒏</m:t>
                                    </m:r>
                                  </m:sub>
                                </m:sSub>
                                <m:d>
                                  <m:dPr>
                                    <m:begChr m:val="["/>
                                    <m:endChr m:val="]"/>
                                    <m:ctrlPr>
                                      <a:rPr lang="es-AR" sz="1100" i="1">
                                        <a:effectLst/>
                                        <a:latin typeface="Cambria Math" panose="02040503050406030204" pitchFamily="18" charset="0"/>
                                      </a:rPr>
                                    </m:ctrlPr>
                                  </m:dPr>
                                  <m:e>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𝒓𝒂𝒅</m:t>
                                        </m:r>
                                      </m:num>
                                      <m:den>
                                        <m:r>
                                          <a:rPr lang="es-AR" sz="1100">
                                            <a:effectLst/>
                                            <a:latin typeface="Cambria Math" panose="02040503050406030204" pitchFamily="18" charset="0"/>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953580" y="5217152"/>
                <a:ext cx="7705288" cy="446020"/>
              </a:xfrm>
              <a:prstGeom prst="rect">
                <a:avLst/>
              </a:prstGeom>
              <a:noFill/>
            </p:spPr>
            <p:txBody>
              <a:bodyPr wrap="square">
                <a:spAutoFit/>
              </a:bodyPr>
              <a:lstStyle/>
              <a:p>
                <a:pPr algn="ct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953580" y="5217152"/>
                <a:ext cx="7705288" cy="446020"/>
              </a:xfrm>
              <a:prstGeom prst="rect">
                <a:avLst/>
              </a:prstGeom>
              <a:blipFill>
                <a:blip r:embed="rId2"/>
                <a:stretch>
                  <a:fillRect/>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3"/>
          <a:srcRect/>
          <a:stretch/>
        </p:blipFill>
        <p:spPr>
          <a:xfrm>
            <a:off x="114700" y="835467"/>
            <a:ext cx="5568729" cy="4350255"/>
          </a:xfrm>
          <a:prstGeom prst="rect">
            <a:avLst/>
          </a:prstGeom>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29260">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82778">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03053" t="-77778" r="-729008" b="-369841"/>
                          </a:stretch>
                        </a:blipFill>
                      </a:tcPr>
                    </a:tc>
                    <a:tc>
                      <a:txBody>
                        <a:bodyPr/>
                        <a:lstStyle/>
                        <a:p>
                          <a:endParaRPr lang="es-AR"/>
                        </a:p>
                      </a:txBody>
                      <a:tcPr marL="68580" marR="68580" marT="0" marB="0">
                        <a:blipFill>
                          <a:blip r:embed="rId5"/>
                          <a:stretch>
                            <a:fillRect l="-140741" t="-77778" r="-405291" b="-369841"/>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735821" t="-77778" r="-75373" b="-369841"/>
                          </a:stretch>
                        </a:blipFill>
                      </a:tcPr>
                    </a:tc>
                    <a:tc>
                      <a:txBody>
                        <a:bodyPr/>
                        <a:lstStyle/>
                        <a:p>
                          <a:endParaRPr lang="es-AR"/>
                        </a:p>
                      </a:txBody>
                      <a:tcPr marL="68580" marR="68580" marT="0" marB="0">
                        <a:blipFill>
                          <a:blip r:embed="rId5"/>
                          <a:stretch>
                            <a:fillRect l="-1166667" t="-77778" r="-5208" b="-369841"/>
                          </a:stretch>
                        </a:blipFill>
                      </a:tcPr>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65760" y="1352223"/>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523220"/>
          </a:xfrm>
          <a:prstGeom prst="rect">
            <a:avLst/>
          </a:prstGeom>
          <a:noFill/>
        </p:spPr>
        <p:txBody>
          <a:bodyPr wrap="square">
            <a:spAutoFit/>
          </a:bodyPr>
          <a:lstStyle/>
          <a:p>
            <a:pPr algn="l"/>
            <a:r>
              <a:rPr lang="es-AR" sz="1400" b="0" i="0" dirty="0">
                <a:solidFill>
                  <a:srgbClr val="1A1A2E"/>
                </a:solidFill>
                <a:latin typeface="Calibri"/>
              </a:rPr>
              <a:t>Comparando el polinomio característico de s₂,₃ con la forma canónica de segundo orden s²+2ζωn·s+ωn²=0, se obtienen </a:t>
            </a:r>
            <a:r>
              <a:rPr lang="es-AR" sz="1400" b="0" i="0" dirty="0" err="1">
                <a:solidFill>
                  <a:srgbClr val="1A1A2E"/>
                </a:solidFill>
                <a:latin typeface="Calibri"/>
              </a:rPr>
              <a:t>ωn</a:t>
            </a:r>
            <a:r>
              <a:rPr lang="es-AR" sz="1400" b="0" i="0" dirty="0">
                <a:solidFill>
                  <a:srgbClr val="1A1A2E"/>
                </a:solidFill>
                <a:latin typeface="Calibri"/>
              </a:rPr>
              <a:t> y ζ en función de los parámetros del sistema:</a:t>
            </a:r>
          </a:p>
        </p:txBody>
      </p:sp>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ml=1.5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endParaRPr lang="es-AR"/>
                        </a:p>
                      </a:txBody>
                      <a:tcPr>
                        <a:blipFill>
                          <a:blip r:embed="rId2"/>
                          <a:stretch>
                            <a:fillRect l="-169485" t="-1370" r="-118557" b="-500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endParaRPr lang="es-AR"/>
                        </a:p>
                      </a:txBody>
                      <a:tcPr>
                        <a:blipFill>
                          <a:blip r:embed="rId2"/>
                          <a:stretch>
                            <a:fillRect l="-244" t="-300000" r="-129268" b="-201370"/>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endParaRPr lang="es-AR"/>
                        </a:p>
                      </a:txBody>
                      <a:tcPr>
                        <a:blipFill>
                          <a:blip r:embed="rId2"/>
                          <a:stretch>
                            <a:fillRect l="-244" t="-405556" r="-129268" b="-104167"/>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endParaRPr lang="es-AR"/>
                        </a:p>
                      </a:txBody>
                      <a:tcPr>
                        <a:blipFill>
                          <a:blip r:embed="rId2"/>
                          <a:stretch>
                            <a:fillRect l="-244" t="-498630" r="-129268" b="-2740"/>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441655" y="5310157"/>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a:t>
                </a:r>
                <a:r>
                  <a:rPr lang="es-AR" sz="1300" dirty="0" err="1">
                    <a:solidFill>
                      <a:srgbClr val="1A1A2E"/>
                    </a:solidFill>
                    <a:latin typeface="Calibri"/>
                  </a:rPr>
                  <a:t>sobreamortiguado</a:t>
                </a:r>
                <a:r>
                  <a:rPr lang="es-AR" sz="1300" dirty="0">
                    <a:solidFill>
                      <a:srgbClr val="1A1A2E"/>
                    </a:solidFill>
                    <a:latin typeface="Calibri"/>
                  </a:rPr>
                  <a:t>)</a:t>
                </a:r>
              </a:p>
            </p:txBody>
          </p:sp>
        </mc:Choice>
        <mc:Fallback xmlns="">
          <p:sp>
            <p:nvSpPr>
              <p:cNvPr id="13" name="TextBox 12"/>
              <p:cNvSpPr txBox="1">
                <a:spLocks noRot="1" noChangeAspect="1" noMove="1" noResize="1" noEditPoints="1" noAdjustHandles="1" noChangeArrowheads="1" noChangeShapeType="1" noTextEdit="1"/>
              </p:cNvSpPr>
              <p:nvPr/>
            </p:nvSpPr>
            <p:spPr>
              <a:xfrm>
                <a:off x="441655" y="5310157"/>
                <a:ext cx="11430000" cy="812915"/>
              </a:xfrm>
              <a:prstGeom prst="rect">
                <a:avLst/>
              </a:prstGeom>
              <a:blipFill>
                <a:blip r:embed="rId3"/>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58283" y="1338975"/>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58283" y="1338975"/>
                <a:ext cx="6143346" cy="93051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63593" y="1557479"/>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f>
                        <m:fPr>
                          <m:ctrlPr>
                            <a:rPr lang="es-AR" sz="1400" i="1">
                              <a:solidFill>
                                <a:srgbClr val="836967"/>
                              </a:solidFill>
                              <a:latin typeface="Cambria Math" panose="02040503050406030204" pitchFamily="18" charset="0"/>
                            </a:rPr>
                          </m:ctrlPr>
                        </m:fPr>
                        <m:num>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b</m:t>
                              </m:r>
                            </m:e>
                            <m:sub>
                              <m:r>
                                <m:rPr>
                                  <m:sty m:val="p"/>
                                </m:rPr>
                                <a:rPr lang="es-AR" sz="1400" i="0">
                                  <a:latin typeface="Cambria Math" panose="02040503050406030204" pitchFamily="18" charset="0"/>
                                </a:rPr>
                                <m:t>eq</m:t>
                              </m:r>
                            </m:sub>
                          </m:sSub>
                          <m:r>
                            <a:rPr lang="es-AR" sz="1400" i="0">
                              <a:latin typeface="Cambria Math" panose="02040503050406030204" pitchFamily="18" charset="0"/>
                            </a:rPr>
                            <m:t>+</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R</m:t>
                              </m:r>
                            </m:e>
                            <m:sub>
                              <m:r>
                                <m:rPr>
                                  <m:sty m:val="p"/>
                                </m:rPr>
                                <a:rPr lang="es-AR" sz="1400" i="0">
                                  <a:latin typeface="Cambria Math" panose="02040503050406030204" pitchFamily="18" charset="0"/>
                                </a:rPr>
                                <m:t>s</m:t>
                              </m:r>
                            </m:sub>
                          </m:sSub>
                          <m:d>
                            <m:dPr>
                              <m:ctrlPr>
                                <a:rPr lang="es-AR" sz="1400" i="1">
                                  <a:solidFill>
                                    <a:srgbClr val="836967"/>
                                  </a:solidFill>
                                  <a:latin typeface="Cambria Math" panose="02040503050406030204" pitchFamily="18" charset="0"/>
                                </a:rPr>
                              </m:ctrlPr>
                            </m:dPr>
                            <m:e>
                              <m:sSubSup>
                                <m:sSubSupPr>
                                  <m:ctrlPr>
                                    <a:rPr lang="es-AR" sz="1400" i="1">
                                      <a:solidFill>
                                        <a:srgbClr val="836967"/>
                                      </a:solidFill>
                                      <a:latin typeface="Cambria Math" panose="02040503050406030204" pitchFamily="18" charset="0"/>
                                    </a:rPr>
                                  </m:ctrlPr>
                                </m:sSubSupPr>
                                <m:e>
                                  <m:r>
                                    <m:rPr>
                                      <m:sty m:val="p"/>
                                    </m:rPr>
                                    <a:rPr lang="es-AR" sz="1400" i="0">
                                      <a:latin typeface="Cambria Math" panose="02040503050406030204" pitchFamily="18" charset="0"/>
                                    </a:rPr>
                                    <m:t>T</m:t>
                                  </m:r>
                                </m:e>
                                <m:sub>
                                  <m:r>
                                    <m:rPr>
                                      <m:sty m:val="p"/>
                                    </m:rPr>
                                    <a:rPr lang="es-AR" sz="1400" i="0">
                                      <a:latin typeface="Cambria Math" panose="02040503050406030204" pitchFamily="18" charset="0"/>
                                    </a:rPr>
                                    <m:t>s</m:t>
                                  </m:r>
                                </m:sub>
                                <m:sup>
                                  <m:r>
                                    <a:rPr lang="es-AR" sz="1400" i="0">
                                      <a:latin typeface="Cambria Math" panose="02040503050406030204" pitchFamily="18" charset="0"/>
                                    </a:rPr>
                                    <m:t>∘</m:t>
                                  </m:r>
                                </m:sup>
                              </m:sSubSup>
                            </m:e>
                          </m:d>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num>
                        <m:den>
                          <m:r>
                            <a:rPr lang="es-AR" sz="1400" i="0">
                              <a:latin typeface="Cambria Math" panose="02040503050406030204" pitchFamily="18" charset="0"/>
                            </a:rPr>
                            <m:t>2 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ω</m:t>
                              </m:r>
                            </m:e>
                            <m:sub>
                              <m:r>
                                <m:rPr>
                                  <m:sty m:val="p"/>
                                </m:rPr>
                                <a:rPr lang="es-AR" sz="1400" i="0">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63593" y="1557479"/>
                <a:ext cx="6143346" cy="581057"/>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35126" y="1347892"/>
                <a:ext cx="6829153"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35126" y="1347892"/>
                <a:ext cx="6829153"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4942883"/>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11481" y="5017554"/>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11481" y="5017554"/>
                <a:ext cx="11155680" cy="492443"/>
              </a:xfrm>
              <a:prstGeom prst="rect">
                <a:avLst/>
              </a:prstGeom>
              <a:blipFill>
                <a:blip r:embed="rId3"/>
                <a:stretch>
                  <a:fillRect l="-109"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145364"/>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145364"/>
                <a:ext cx="11430000" cy="523861"/>
              </a:xfrm>
              <a:prstGeom prst="rect">
                <a:avLst/>
              </a:prstGeom>
              <a:blipFill>
                <a:blip r:embed="rId4"/>
                <a:stretch>
                  <a:fillRect l="-160" t="-2326" b="-10465"/>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691194"/>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320484" y="3698220"/>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320484" y="3698220"/>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59775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621792"/>
          </a:xfrm>
          <a:prstGeom prst="rect">
            <a:avLst/>
          </a:prstGeom>
          <a:noFill/>
        </p:spPr>
        <p:txBody>
          <a:bodyPr wrap="square">
            <a:spAutoFit/>
          </a:bodyPr>
          <a:lstStyle/>
          <a:p>
            <a:pPr algn="l"/>
            <a:r>
              <a:rPr sz="1400" b="0" i="0" dirty="0" err="1">
                <a:solidFill>
                  <a:srgbClr val="1A1A2E"/>
                </a:solidFill>
                <a:latin typeface="Calibri"/>
              </a:rPr>
              <a:t>Criterio</a:t>
            </a:r>
            <a:r>
              <a:rPr sz="1400" b="0" i="0" dirty="0">
                <a:solidFill>
                  <a:srgbClr val="1A1A2E"/>
                </a:solidFill>
                <a:latin typeface="Calibri"/>
              </a:rPr>
              <a:t> de Kalman: un </a:t>
            </a:r>
            <a:r>
              <a:rPr sz="1400" b="0" i="0" dirty="0" err="1">
                <a:solidFill>
                  <a:srgbClr val="1A1A2E"/>
                </a:solidFill>
                <a:latin typeface="Calibri"/>
              </a:rPr>
              <a:t>sistema</a:t>
            </a:r>
            <a:r>
              <a:rPr sz="1400" b="0" i="0" dirty="0">
                <a:solidFill>
                  <a:srgbClr val="1A1A2E"/>
                </a:solidFill>
                <a:latin typeface="Calibri"/>
              </a:rPr>
              <a:t> LTI de </a:t>
            </a:r>
            <a:r>
              <a:rPr sz="1400" b="0" i="0" dirty="0" err="1">
                <a:solidFill>
                  <a:srgbClr val="1A1A2E"/>
                </a:solidFill>
                <a:latin typeface="Calibri"/>
              </a:rPr>
              <a:t>orden</a:t>
            </a:r>
            <a:r>
              <a:rPr sz="1400" b="0" i="0" dirty="0">
                <a:solidFill>
                  <a:srgbClr val="1A1A2E"/>
                </a:solidFill>
                <a:latin typeface="Calibri"/>
              </a:rPr>
              <a:t> n con p entradas es </a:t>
            </a:r>
            <a:r>
              <a:rPr sz="1400" b="0" i="0" dirty="0" err="1">
                <a:solidFill>
                  <a:srgbClr val="1A1A2E"/>
                </a:solidFill>
                <a:latin typeface="Calibri"/>
              </a:rPr>
              <a:t>completamente</a:t>
            </a:r>
            <a:r>
              <a:rPr sz="1400" b="0" i="0" dirty="0">
                <a:solidFill>
                  <a:srgbClr val="1A1A2E"/>
                </a:solidFill>
                <a:latin typeface="Calibri"/>
              </a:rPr>
              <a:t> </a:t>
            </a:r>
            <a:r>
              <a:rPr sz="1400" b="0" i="0" dirty="0" err="1">
                <a:solidFill>
                  <a:srgbClr val="1A1A2E"/>
                </a:solidFill>
                <a:latin typeface="Calibri"/>
              </a:rPr>
              <a:t>controlable</a:t>
            </a:r>
            <a:r>
              <a:rPr sz="1400" b="0" i="0" dirty="0">
                <a:solidFill>
                  <a:srgbClr val="1A1A2E"/>
                </a:solidFill>
                <a:latin typeface="Calibri"/>
              </a:rPr>
              <a:t> </a:t>
            </a:r>
            <a:r>
              <a:rPr sz="1400" b="0" i="0" dirty="0" err="1">
                <a:solidFill>
                  <a:srgbClr val="1A1A2E"/>
                </a:solidFill>
                <a:latin typeface="Calibri"/>
              </a:rPr>
              <a:t>si</a:t>
            </a:r>
            <a:r>
              <a:rPr sz="1400" b="0" i="0" dirty="0">
                <a:solidFill>
                  <a:srgbClr val="1A1A2E"/>
                </a:solidFill>
                <a:latin typeface="Calibri"/>
              </a:rPr>
              <a:t> </a:t>
            </a:r>
            <a:r>
              <a:rPr sz="1400" b="0" i="0" dirty="0" err="1">
                <a:solidFill>
                  <a:srgbClr val="1A1A2E"/>
                </a:solidFill>
                <a:latin typeface="Calibri"/>
              </a:rPr>
              <a:t>el</a:t>
            </a:r>
            <a:r>
              <a:rPr sz="1400" b="0" i="0" dirty="0">
                <a:solidFill>
                  <a:srgbClr val="1A1A2E"/>
                </a:solidFill>
                <a:latin typeface="Calibri"/>
              </a:rPr>
              <a:t> </a:t>
            </a:r>
            <a:r>
              <a:rPr sz="1400" b="0" i="0" dirty="0" err="1">
                <a:solidFill>
                  <a:srgbClr val="1A1A2E"/>
                </a:solidFill>
                <a:latin typeface="Calibri"/>
              </a:rPr>
              <a:t>rango</a:t>
            </a:r>
            <a:r>
              <a:rPr sz="1400" b="0" i="0" dirty="0">
                <a:solidFill>
                  <a:srgbClr val="1A1A2E"/>
                </a:solidFill>
                <a:latin typeface="Calibri"/>
              </a:rPr>
              <a:t> de la </a:t>
            </a:r>
            <a:r>
              <a:rPr sz="1400" b="0" i="0" dirty="0" err="1">
                <a:solidFill>
                  <a:srgbClr val="1A1A2E"/>
                </a:solidFill>
                <a:latin typeface="Calibri"/>
              </a:rPr>
              <a:t>matriz</a:t>
            </a:r>
            <a:r>
              <a:rPr sz="1400" b="0" i="0" dirty="0">
                <a:solidFill>
                  <a:srgbClr val="1A1A2E"/>
                </a:solidFill>
                <a:latin typeface="Calibri"/>
              </a:rPr>
              <a:t> de </a:t>
            </a:r>
            <a:r>
              <a:rPr sz="1400" b="0" i="0" dirty="0" err="1">
                <a:solidFill>
                  <a:srgbClr val="1A1A2E"/>
                </a:solidFill>
                <a:latin typeface="Calibri"/>
              </a:rPr>
              <a:t>controlabilidad</a:t>
            </a:r>
            <a:r>
              <a:rPr sz="1400" b="0" i="0" dirty="0">
                <a:solidFill>
                  <a:srgbClr val="1A1A2E"/>
                </a:solidFill>
                <a:latin typeface="Calibri"/>
              </a:rPr>
              <a:t>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95976"/>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95976"/>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29212"/>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29212"/>
                <a:ext cx="11672359" cy="560346"/>
              </a:xfrm>
              <a:prstGeom prst="rect">
                <a:avLst/>
              </a:prstGeom>
              <a:blipFill>
                <a:blip r:embed="rId3"/>
                <a:stretch>
                  <a:fillRect l="-157" r="-157" b="-978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1068310" y="3609548"/>
                <a:ext cx="7496270" cy="17593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1068310" y="3609548"/>
                <a:ext cx="7496270" cy="175939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473371"/>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473371"/>
                <a:ext cx="11672360" cy="790858"/>
              </a:xfrm>
              <a:prstGeom prst="rect">
                <a:avLst/>
              </a:prstGeom>
              <a:blipFill>
                <a:blip r:embed="rId5"/>
                <a:stretch>
                  <a:fillRect l="-157" r="-157" b="-6923"/>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759521"/>
              </a:xfrm>
              <a:prstGeom prst="rect">
                <a:avLst/>
              </a:prstGeom>
              <a:noFill/>
            </p:spPr>
            <p:txBody>
              <a:bodyPr wrap="square">
                <a:spAutoFit/>
              </a:bodyPr>
              <a:lstStyle/>
              <a:p>
                <a:pPr algn="just">
                  <a:spcBef>
                    <a:spcPts val="400"/>
                  </a:spcBef>
                  <a:spcAft>
                    <a:spcPts val="400"/>
                  </a:spcAft>
                </a:pPr>
                <a:r>
                  <a:rPr lang="es-AR" b="1" dirty="0">
                    <a:effectLst/>
                    <a:latin typeface="Calibri" panose="020F0502020204030204" pitchFamily="34" charset="0"/>
                    <a:ea typeface="Times New Roman" panose="02020603050405020304" pitchFamily="18" charset="0"/>
                  </a:rPr>
                  <a:t>Interpretación física:</a:t>
                </a:r>
                <a:endParaRPr lang="es-AR"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(Ec. 16). Para controlarla se necesita actuar sobre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  </a:t>
                </a:r>
                <a:endParaRPr lang="es-AR"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r>
                      <a:rPr lang="es-AR" i="1">
                        <a:solidFill>
                          <a:schemeClr val="tx1"/>
                        </a:solidFill>
                        <a:effectLst/>
                        <a:latin typeface="Cambria Math" panose="02040503050406030204" pitchFamily="18" charset="0"/>
                        <a:ea typeface="Times New Roman" panose="02020603050405020304" pitchFamily="18" charset="0"/>
                      </a:rPr>
                      <m:t>+</m:t>
                    </m:r>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oMath>
                </a14:m>
                <a:r>
                  <a:rPr lang="es-AR" dirty="0">
                    <a:solidFill>
                      <a:schemeClr val="tx1"/>
                    </a:solidFill>
                    <a:effectLst/>
                    <a:latin typeface="Calibri" panose="020F0502020204030204" pitchFamily="34" charset="0"/>
                    <a:ea typeface="Times New Roman" panose="02020603050405020304" pitchFamily="18" charset="0"/>
                  </a:rPr>
                  <a:t> (Ec. 19). Aunque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a:t>
                </a:r>
                <a:r>
                  <a:rPr lang="es-AR"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a:t>
                </a:r>
                <a:r>
                  <a:rPr lang="es-AR" b="1" dirty="0">
                    <a:solidFill>
                      <a:schemeClr val="tx1"/>
                    </a:solidFill>
                    <a:effectLst/>
                    <a:latin typeface="Calibri" panose="020F0502020204030204" pitchFamily="34" charset="0"/>
                    <a:ea typeface="Times New Roman" panose="02020603050405020304" pitchFamily="18" charset="0"/>
                  </a:rPr>
                  <a:t> a un valor arbitrario </a:t>
                </a:r>
                <a:r>
                  <a:rPr lang="es-AR"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759521"/>
              </a:xfrm>
              <a:prstGeom prst="rect">
                <a:avLst/>
              </a:prstGeom>
              <a:blipFill>
                <a:blip r:embed="rId2"/>
                <a:stretch>
                  <a:fillRect l="-503" t="-2083" r="-447" b="-4861"/>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2"/>
                <a:stretch>
                  <a:fillRect l="-161" t="-694" b="-4167"/>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C4E0C6ED-563E-49AB-8131-0DE0A9CB5BCD}"/>
              </a:ext>
            </a:extLst>
          </p:cNvPr>
          <p:cNvPicPr/>
          <p:nvPr/>
        </p:nvPicPr>
        <p:blipFill>
          <a:blip r:embed="rId3">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dirty="0">
                <a:solidFill>
                  <a:srgbClr val="C35A00"/>
                </a:solidFill>
                <a:latin typeface="Calibri"/>
              </a:rPr>
              <a:t>🖼  FIGURA: </a:t>
            </a:r>
            <a:r>
              <a:rPr sz="1100" b="1" dirty="0" err="1">
                <a:solidFill>
                  <a:srgbClr val="C35A00"/>
                </a:solidFill>
                <a:latin typeface="Calibri"/>
              </a:rPr>
              <a:t>Figuras</a:t>
            </a:r>
            <a:r>
              <a:rPr sz="1100" b="1" dirty="0">
                <a:solidFill>
                  <a:srgbClr val="C35A00"/>
                </a:solidFill>
                <a:latin typeface="Calibri"/>
              </a:rPr>
              <a:t> 18-19 — Corrientes iqd0^r e </a:t>
            </a:r>
            <a:r>
              <a:rPr sz="1100" b="1" dirty="0" err="1">
                <a:solidFill>
                  <a:srgbClr val="C35A00"/>
                </a:solidFill>
                <a:latin typeface="Calibri"/>
              </a:rPr>
              <a:t>iabc</a:t>
            </a:r>
            <a:r>
              <a:rPr sz="1100" b="1" dirty="0">
                <a:solidFill>
                  <a:srgbClr val="C35A00"/>
                </a:solidFill>
                <a:latin typeface="Calibri"/>
              </a:rPr>
              <a:t>(t)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2"/>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3"/>
          <a:stretch>
            <a:fillRect/>
          </a:stretch>
        </p:blipFill>
        <p:spPr>
          <a:xfrm>
            <a:off x="4209973" y="692533"/>
            <a:ext cx="3742379" cy="2759327"/>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5"/>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6"/>
          <a:srcRect r="4768" b="9471"/>
          <a:stretch/>
        </p:blipFill>
        <p:spPr>
          <a:xfrm>
            <a:off x="4209973" y="3517623"/>
            <a:ext cx="4060741" cy="28436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mc:Choice xmlns:a14="http://schemas.microsoft.com/office/drawing/2010/main"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15" name="Imagen 14">
            <a:extLst>
              <a:ext uri="{FF2B5EF4-FFF2-40B4-BE49-F238E27FC236}">
                <a16:creationId xmlns:a16="http://schemas.microsoft.com/office/drawing/2014/main" id="{0A4402D5-71DC-4F8E-8186-C69EECD7BEBD}"/>
              </a:ext>
            </a:extLst>
          </p:cNvPr>
          <p:cNvPicPr>
            <a:picLocks noChangeAspect="1"/>
          </p:cNvPicPr>
          <p:nvPr/>
        </p:nvPicPr>
        <p:blipFill>
          <a:blip r:embed="rId2"/>
          <a:stretch>
            <a:fillRect/>
          </a:stretch>
        </p:blipFill>
        <p:spPr>
          <a:xfrm>
            <a:off x="-1" y="658368"/>
            <a:ext cx="6312023" cy="4757054"/>
          </a:xfrm>
          <a:prstGeom prst="rect">
            <a:avLst/>
          </a:prstGeom>
        </p:spPr>
      </p:pic>
      <p:pic>
        <p:nvPicPr>
          <p:cNvPr id="17" name="Imagen 16">
            <a:extLst>
              <a:ext uri="{FF2B5EF4-FFF2-40B4-BE49-F238E27FC236}">
                <a16:creationId xmlns:a16="http://schemas.microsoft.com/office/drawing/2014/main" id="{FEC60C37-66A5-4CF6-A1EB-4E49A908F589}"/>
              </a:ext>
            </a:extLst>
          </p:cNvPr>
          <p:cNvPicPr>
            <a:picLocks noChangeAspect="1"/>
          </p:cNvPicPr>
          <p:nvPr/>
        </p:nvPicPr>
        <p:blipFill>
          <a:blip r:embed="rId3"/>
          <a:stretch>
            <a:fillRect/>
          </a:stretch>
        </p:blipFill>
        <p:spPr>
          <a:xfrm>
            <a:off x="5872243" y="658367"/>
            <a:ext cx="6319758" cy="4757054"/>
          </a:xfrm>
          <a:prstGeom prst="rect">
            <a:avLst/>
          </a:prstGeom>
        </p:spPr>
      </p:pic>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9" name="Imagen 8">
            <a:extLst>
              <a:ext uri="{FF2B5EF4-FFF2-40B4-BE49-F238E27FC236}">
                <a16:creationId xmlns:a16="http://schemas.microsoft.com/office/drawing/2014/main" id="{5A9CC299-DB2E-4EA5-AC56-56D9FFCA2E37}"/>
              </a:ext>
            </a:extLst>
          </p:cNvPr>
          <p:cNvPicPr>
            <a:picLocks noChangeAspect="1"/>
          </p:cNvPicPr>
          <p:nvPr/>
        </p:nvPicPr>
        <p:blipFill>
          <a:blip r:embed="rId2"/>
          <a:stretch>
            <a:fillRect/>
          </a:stretch>
        </p:blipFill>
        <p:spPr>
          <a:xfrm>
            <a:off x="-1" y="658368"/>
            <a:ext cx="6070222" cy="4623846"/>
          </a:xfrm>
          <a:prstGeom prst="rect">
            <a:avLst/>
          </a:prstGeom>
        </p:spPr>
      </p:pic>
      <p:pic>
        <p:nvPicPr>
          <p:cNvPr id="8" name="Imagen 7">
            <a:extLst>
              <a:ext uri="{FF2B5EF4-FFF2-40B4-BE49-F238E27FC236}">
                <a16:creationId xmlns:a16="http://schemas.microsoft.com/office/drawing/2014/main" id="{38CDA7E1-D4C3-407A-BBAA-BC621CE06E1E}"/>
              </a:ext>
            </a:extLst>
          </p:cNvPr>
          <p:cNvPicPr>
            <a:picLocks noChangeAspect="1"/>
          </p:cNvPicPr>
          <p:nvPr/>
        </p:nvPicPr>
        <p:blipFill>
          <a:blip r:embed="rId3"/>
          <a:stretch>
            <a:fillRect/>
          </a:stretch>
        </p:blipFill>
        <p:spPr>
          <a:xfrm>
            <a:off x="6048903" y="658367"/>
            <a:ext cx="6142792" cy="4623847"/>
          </a:xfrm>
          <a:prstGeom prst="rect">
            <a:avLst/>
          </a:prstGeom>
        </p:spPr>
      </p:pic>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extLst>
      <p:ext uri="{BB962C8B-B14F-4D97-AF65-F5344CB8AC3E}">
        <p14:creationId xmlns:p14="http://schemas.microsoft.com/office/powerpoint/2010/main" val="9716209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110799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En régimen permanente el modelo LTI es una buena aproximación</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27140"/>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𝜔</m:t>
                        </m:r>
                      </m:e>
                      <m:sub>
                        <m:r>
                          <a:rPr lang="es-AR" sz="1100" i="1">
                            <a:solidFill>
                              <a:srgbClr val="224488"/>
                            </a:solidFill>
                            <a:latin typeface="Calibri" pitchFamily="34"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𝑇</m:t>
                        </m:r>
                      </m:e>
                      <m:sub>
                        <m:r>
                          <a:rPr lang="es-AR" sz="1100" i="1">
                            <a:solidFill>
                              <a:srgbClr val="224488"/>
                            </a:solidFill>
                            <a:latin typeface="Calibri" pitchFamily="34"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27140"/>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11430000" cy="104355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38527"/>
          </a:xfrm>
          <a:prstGeom prst="rect">
            <a:avLst/>
          </a:prstGeom>
          <a:noFill/>
        </p:spPr>
        <p:txBody>
          <a:bodyPr wrap="square">
            <a:spAutoFit/>
          </a:bodyPr>
          <a:lstStyle/>
          <a:p>
            <a:pPr algn="ctr"/>
            <a:r>
              <a:rPr sz="9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38527"/>
          </a:xfrm>
          <a:prstGeom prst="rect">
            <a:avLst/>
          </a:prstGeom>
          <a:noFill/>
        </p:spPr>
        <p:txBody>
          <a:bodyPr wrap="square">
            <a:spAutoFit/>
          </a:bodyPr>
          <a:lstStyle/>
          <a:p>
            <a:pPr algn="ctr"/>
            <a:r>
              <a:rPr sz="9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238527"/>
          </a:xfrm>
          <a:prstGeom prst="rect">
            <a:avLst/>
          </a:prstGeom>
          <a:noFill/>
        </p:spPr>
        <p:txBody>
          <a:bodyPr wrap="square">
            <a:spAutoFit/>
          </a:bodyPr>
          <a:lstStyle/>
          <a:p>
            <a:pPr algn="ctr"/>
            <a:r>
              <a:rPr sz="950" b="1">
                <a:solidFill>
                  <a:schemeClr val="bg1"/>
                </a:solidFill>
                <a:latin typeface="Calibri"/>
              </a:rPr>
              <a:t>ωm</a:t>
            </a:r>
          </a:p>
        </p:txBody>
      </p:sp>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238527"/>
          </a:xfrm>
          <a:prstGeom prst="rect">
            <a:avLst/>
          </a:prstGeom>
          <a:noFill/>
        </p:spPr>
        <p:txBody>
          <a:bodyPr wrap="square">
            <a:spAutoFit/>
          </a:bodyPr>
          <a:lstStyle/>
          <a:p>
            <a:pPr algn="ctr"/>
            <a:r>
              <a:rPr sz="950" b="1">
                <a:solidFill>
                  <a:schemeClr val="bg1"/>
                </a:solidFill>
                <a:latin typeface="Calibri"/>
              </a:rPr>
              <a:t>Tm</a:t>
            </a:r>
          </a:p>
        </p:txBody>
      </p:sp>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38527"/>
          </a:xfrm>
          <a:prstGeom prst="rect">
            <a:avLst/>
          </a:prstGeom>
          <a:noFill/>
        </p:spPr>
        <p:txBody>
          <a:bodyPr wrap="square">
            <a:spAutoFit/>
          </a:bodyPr>
          <a:lstStyle/>
          <a:p>
            <a:pPr algn="ctr"/>
            <a:r>
              <a:rPr sz="9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38527"/>
          </a:xfrm>
          <a:prstGeom prst="rect">
            <a:avLst/>
          </a:prstGeom>
          <a:noFill/>
        </p:spPr>
        <p:txBody>
          <a:bodyPr wrap="square">
            <a:spAutoFit/>
          </a:bodyPr>
          <a:lstStyle/>
          <a:p>
            <a:pPr algn="ctr"/>
            <a:r>
              <a:rPr sz="9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384721"/>
          </a:xfrm>
          <a:prstGeom prst="rect">
            <a:avLst/>
          </a:prstGeom>
          <a:noFill/>
        </p:spPr>
        <p:txBody>
          <a:bodyPr wrap="square">
            <a:spAutoFit/>
          </a:bodyPr>
          <a:lstStyle/>
          <a:p>
            <a:pPr algn="ctr"/>
            <a:r>
              <a:rPr sz="9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384721"/>
          </a:xfrm>
          <a:prstGeom prst="rect">
            <a:avLst/>
          </a:prstGeom>
          <a:noFill/>
        </p:spPr>
        <p:txBody>
          <a:bodyPr wrap="square">
            <a:spAutoFit/>
          </a:bodyPr>
          <a:lstStyle/>
          <a:p>
            <a:pPr algn="ctr"/>
            <a:r>
              <a:rPr sz="9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384721"/>
          </a:xfrm>
          <a:prstGeom prst="rect">
            <a:avLst/>
          </a:prstGeom>
          <a:noFill/>
        </p:spPr>
        <p:txBody>
          <a:bodyPr wrap="square">
            <a:spAutoFit/>
          </a:bodyPr>
          <a:lstStyle/>
          <a:p>
            <a:pPr algn="ctr"/>
            <a:r>
              <a:rPr sz="950" b="1">
                <a:solidFill>
                  <a:schemeClr val="bg1"/>
                </a:solidFill>
                <a:latin typeface="Calibri"/>
              </a:rPr>
              <a:t>ωm
[rad/s]</a:t>
            </a:r>
          </a:p>
        </p:txBody>
      </p:sp>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384721"/>
          </a:xfrm>
          <a:prstGeom prst="rect">
            <a:avLst/>
          </a:prstGeom>
          <a:noFill/>
        </p:spPr>
        <p:txBody>
          <a:bodyPr wrap="square">
            <a:spAutoFit/>
          </a:bodyPr>
          <a:lstStyle/>
          <a:p>
            <a:pPr algn="ctr"/>
            <a:r>
              <a:rPr sz="950" b="1">
                <a:solidFill>
                  <a:schemeClr val="bg1"/>
                </a:solidFill>
                <a:latin typeface="Calibri"/>
              </a:rPr>
              <a:t>Tm
[N·m]</a:t>
            </a:r>
          </a:p>
        </p:txBody>
      </p:sp>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38527"/>
          </a:xfrm>
          <a:prstGeom prst="rect">
            <a:avLst/>
          </a:prstGeom>
          <a:noFill/>
        </p:spPr>
        <p:txBody>
          <a:bodyPr wrap="square">
            <a:spAutoFit/>
          </a:bodyPr>
          <a:lstStyle/>
          <a:p>
            <a:pPr algn="ctr"/>
            <a:r>
              <a:rPr sz="9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38527"/>
          </a:xfrm>
          <a:prstGeom prst="rect">
            <a:avLst/>
          </a:prstGeom>
          <a:noFill/>
        </p:spPr>
        <p:txBody>
          <a:bodyPr wrap="square">
            <a:spAutoFit/>
          </a:bodyPr>
          <a:lstStyle/>
          <a:p>
            <a:pPr algn="ctr"/>
            <a:r>
              <a:rPr sz="9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38527"/>
          </a:xfrm>
          <a:prstGeom prst="rect">
            <a:avLst/>
          </a:prstGeom>
          <a:noFill/>
        </p:spPr>
        <p:txBody>
          <a:bodyPr wrap="square">
            <a:spAutoFit/>
          </a:bodyPr>
          <a:lstStyle/>
          <a:p>
            <a:pPr algn="ctr"/>
            <a:r>
              <a:rPr sz="9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38527"/>
          </a:xfrm>
          <a:prstGeom prst="rect">
            <a:avLst/>
          </a:prstGeom>
          <a:noFill/>
        </p:spPr>
        <p:txBody>
          <a:bodyPr wrap="square">
            <a:spAutoFit/>
          </a:bodyPr>
          <a:lstStyle/>
          <a:p>
            <a:pPr algn="ctr"/>
            <a:r>
              <a:rPr sz="9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38527"/>
          </a:xfrm>
          <a:prstGeom prst="rect">
            <a:avLst/>
          </a:prstGeom>
          <a:noFill/>
        </p:spPr>
        <p:txBody>
          <a:bodyPr wrap="square">
            <a:spAutoFit/>
          </a:bodyPr>
          <a:lstStyle/>
          <a:p>
            <a:pPr algn="ctr"/>
            <a:r>
              <a:rPr sz="9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30832"/>
          </a:xfrm>
          <a:prstGeom prst="rect">
            <a:avLst/>
          </a:prstGeom>
          <a:noFill/>
        </p:spPr>
        <p:txBody>
          <a:bodyPr wrap="square">
            <a:spAutoFit/>
          </a:bodyPr>
          <a:lstStyle/>
          <a:p>
            <a:pPr algn="ctr"/>
            <a:r>
              <a:rPr sz="90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38527"/>
          </a:xfrm>
          <a:prstGeom prst="rect">
            <a:avLst/>
          </a:prstGeom>
          <a:noFill/>
        </p:spPr>
        <p:txBody>
          <a:bodyPr wrap="square">
            <a:spAutoFit/>
          </a:bodyPr>
          <a:lstStyle/>
          <a:p>
            <a:pPr algn="ctr"/>
            <a:r>
              <a:rPr sz="9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38527"/>
          </a:xfrm>
          <a:prstGeom prst="rect">
            <a:avLst/>
          </a:prstGeom>
          <a:noFill/>
        </p:spPr>
        <p:txBody>
          <a:bodyPr wrap="square">
            <a:spAutoFit/>
          </a:bodyPr>
          <a:lstStyle/>
          <a:p>
            <a:pPr algn="ctr"/>
            <a:r>
              <a:rPr sz="9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38527"/>
          </a:xfrm>
          <a:prstGeom prst="rect">
            <a:avLst/>
          </a:prstGeom>
          <a:noFill/>
        </p:spPr>
        <p:txBody>
          <a:bodyPr wrap="square">
            <a:spAutoFit/>
          </a:bodyPr>
          <a:lstStyle/>
          <a:p>
            <a:pPr algn="ctr"/>
            <a:r>
              <a:rPr sz="9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38527"/>
          </a:xfrm>
          <a:prstGeom prst="rect">
            <a:avLst/>
          </a:prstGeom>
          <a:noFill/>
        </p:spPr>
        <p:txBody>
          <a:bodyPr wrap="square">
            <a:spAutoFit/>
          </a:bodyPr>
          <a:lstStyle/>
          <a:p>
            <a:pPr algn="ctr"/>
            <a:r>
              <a:rPr sz="950" b="0">
                <a:latin typeface="Calibri"/>
              </a:rPr>
              <a:t>—</a:t>
            </a:r>
          </a:p>
        </p:txBody>
      </p:sp>
      <p:sp>
        <p:nvSpPr>
          <p:cNvPr id="55" name="Rectangle 50">
            <a:extLst>
              <a:ext uri="{FF2B5EF4-FFF2-40B4-BE49-F238E27FC236}">
                <a16:creationId xmlns:a16="http://schemas.microsoft.com/office/drawing/2014/main" id="{DDDC1051-58C6-4ECC-89A9-757DB69A8976}"/>
              </a:ext>
            </a:extLst>
          </p:cNvPr>
          <p:cNvSpPr/>
          <p:nvPr/>
        </p:nvSpPr>
        <p:spPr>
          <a:xfrm>
            <a:off x="4645152" y="178113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6" name="TextBox 51">
            <a:extLst>
              <a:ext uri="{FF2B5EF4-FFF2-40B4-BE49-F238E27FC236}">
                <a16:creationId xmlns:a16="http://schemas.microsoft.com/office/drawing/2014/main" id="{09226CA6-1B1E-4F89-942D-926A89916AF7}"/>
              </a:ext>
            </a:extLst>
          </p:cNvPr>
          <p:cNvSpPr txBox="1"/>
          <p:nvPr/>
        </p:nvSpPr>
        <p:spPr>
          <a:xfrm>
            <a:off x="4672584" y="1799422"/>
            <a:ext cx="329184" cy="238527"/>
          </a:xfrm>
          <a:prstGeom prst="rect">
            <a:avLst/>
          </a:prstGeom>
          <a:noFill/>
        </p:spPr>
        <p:txBody>
          <a:bodyPr wrap="square">
            <a:spAutoFit/>
          </a:bodyPr>
          <a:lstStyle/>
          <a:p>
            <a:pPr algn="ctr"/>
            <a:r>
              <a:rPr sz="950" b="0">
                <a:latin typeface="Calibri"/>
              </a:rPr>
              <a:t>1</a:t>
            </a:r>
          </a:p>
        </p:txBody>
      </p:sp>
      <p:sp>
        <p:nvSpPr>
          <p:cNvPr id="57" name="Rectangle 52">
            <a:extLst>
              <a:ext uri="{FF2B5EF4-FFF2-40B4-BE49-F238E27FC236}">
                <a16:creationId xmlns:a16="http://schemas.microsoft.com/office/drawing/2014/main" id="{6F94B535-F7C5-4062-A5B1-2E750D458518}"/>
              </a:ext>
            </a:extLst>
          </p:cNvPr>
          <p:cNvSpPr/>
          <p:nvPr/>
        </p:nvSpPr>
        <p:spPr>
          <a:xfrm>
            <a:off x="5029200" y="178113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8" name="TextBox 53">
            <a:extLst>
              <a:ext uri="{FF2B5EF4-FFF2-40B4-BE49-F238E27FC236}">
                <a16:creationId xmlns:a16="http://schemas.microsoft.com/office/drawing/2014/main" id="{0E7C2503-457C-423C-BE1A-1C3EE7B8AD6C}"/>
              </a:ext>
            </a:extLst>
          </p:cNvPr>
          <p:cNvSpPr txBox="1"/>
          <p:nvPr/>
        </p:nvSpPr>
        <p:spPr>
          <a:xfrm>
            <a:off x="5056632" y="1799422"/>
            <a:ext cx="512064" cy="238527"/>
          </a:xfrm>
          <a:prstGeom prst="rect">
            <a:avLst/>
          </a:prstGeom>
          <a:noFill/>
        </p:spPr>
        <p:txBody>
          <a:bodyPr wrap="square">
            <a:spAutoFit/>
          </a:bodyPr>
          <a:lstStyle/>
          <a:p>
            <a:pPr algn="ctr"/>
            <a:r>
              <a:rPr sz="950" b="0">
                <a:latin typeface="Calibri"/>
              </a:rPr>
              <a:t>t=0.1</a:t>
            </a:r>
          </a:p>
        </p:txBody>
      </p:sp>
      <p:sp>
        <p:nvSpPr>
          <p:cNvPr id="59" name="Rectangle 54">
            <a:extLst>
              <a:ext uri="{FF2B5EF4-FFF2-40B4-BE49-F238E27FC236}">
                <a16:creationId xmlns:a16="http://schemas.microsoft.com/office/drawing/2014/main" id="{46A834A0-D248-494D-B707-A5A69437CEF6}"/>
              </a:ext>
            </a:extLst>
          </p:cNvPr>
          <p:cNvSpPr/>
          <p:nvPr/>
        </p:nvSpPr>
        <p:spPr>
          <a:xfrm>
            <a:off x="55961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0" name="TextBox 55">
            <a:extLst>
              <a:ext uri="{FF2B5EF4-FFF2-40B4-BE49-F238E27FC236}">
                <a16:creationId xmlns:a16="http://schemas.microsoft.com/office/drawing/2014/main" id="{0583AC92-8B0D-4602-B1DD-24867F1870A4}"/>
              </a:ext>
            </a:extLst>
          </p:cNvPr>
          <p:cNvSpPr txBox="1"/>
          <p:nvPr/>
        </p:nvSpPr>
        <p:spPr>
          <a:xfrm>
            <a:off x="5623560" y="1799422"/>
            <a:ext cx="402336" cy="238527"/>
          </a:xfrm>
          <a:prstGeom prst="rect">
            <a:avLst/>
          </a:prstGeom>
          <a:noFill/>
        </p:spPr>
        <p:txBody>
          <a:bodyPr wrap="square">
            <a:spAutoFit/>
          </a:bodyPr>
          <a:lstStyle/>
          <a:p>
            <a:pPr algn="ctr"/>
            <a:r>
              <a:rPr sz="950" b="1">
                <a:latin typeface="Calibri"/>
              </a:rPr>
              <a:t>&gt;0</a:t>
            </a:r>
          </a:p>
        </p:txBody>
      </p:sp>
      <p:sp>
        <p:nvSpPr>
          <p:cNvPr id="61" name="Rectangle 56">
            <a:extLst>
              <a:ext uri="{FF2B5EF4-FFF2-40B4-BE49-F238E27FC236}">
                <a16:creationId xmlns:a16="http://schemas.microsoft.com/office/drawing/2014/main" id="{4A07B0C7-EAB6-429D-B735-5030A3EA01B7}"/>
              </a:ext>
            </a:extLst>
          </p:cNvPr>
          <p:cNvSpPr/>
          <p:nvPr/>
        </p:nvSpPr>
        <p:spPr>
          <a:xfrm>
            <a:off x="60533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2" name="TextBox 57">
            <a:extLst>
              <a:ext uri="{FF2B5EF4-FFF2-40B4-BE49-F238E27FC236}">
                <a16:creationId xmlns:a16="http://schemas.microsoft.com/office/drawing/2014/main" id="{11F82071-21D3-4013-AD23-7F7B05177822}"/>
              </a:ext>
            </a:extLst>
          </p:cNvPr>
          <p:cNvSpPr txBox="1"/>
          <p:nvPr/>
        </p:nvSpPr>
        <p:spPr>
          <a:xfrm>
            <a:off x="6080760" y="1799422"/>
            <a:ext cx="402336" cy="238527"/>
          </a:xfrm>
          <a:prstGeom prst="rect">
            <a:avLst/>
          </a:prstGeom>
          <a:noFill/>
        </p:spPr>
        <p:txBody>
          <a:bodyPr wrap="square">
            <a:spAutoFit/>
          </a:bodyPr>
          <a:lstStyle/>
          <a:p>
            <a:pPr algn="ctr"/>
            <a:r>
              <a:rPr sz="950" b="1">
                <a:latin typeface="Calibri"/>
              </a:rPr>
              <a:t>&gt;0</a:t>
            </a:r>
          </a:p>
        </p:txBody>
      </p:sp>
      <p:sp>
        <p:nvSpPr>
          <p:cNvPr id="63" name="Rectangle 58">
            <a:extLst>
              <a:ext uri="{FF2B5EF4-FFF2-40B4-BE49-F238E27FC236}">
                <a16:creationId xmlns:a16="http://schemas.microsoft.com/office/drawing/2014/main" id="{F6EFC604-33DB-4697-AB58-424CF4E7AC7D}"/>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4" name="TextBox 59">
            <a:extLst>
              <a:ext uri="{FF2B5EF4-FFF2-40B4-BE49-F238E27FC236}">
                <a16:creationId xmlns:a16="http://schemas.microsoft.com/office/drawing/2014/main" id="{53E15754-156B-4B84-934F-0DE3F2B0D400}"/>
              </a:ext>
            </a:extLst>
          </p:cNvPr>
          <p:cNvSpPr txBox="1"/>
          <p:nvPr/>
        </p:nvSpPr>
        <p:spPr>
          <a:xfrm>
            <a:off x="6537960" y="1799422"/>
            <a:ext cx="384048" cy="238527"/>
          </a:xfrm>
          <a:prstGeom prst="rect">
            <a:avLst/>
          </a:prstGeom>
          <a:noFill/>
        </p:spPr>
        <p:txBody>
          <a:bodyPr wrap="square">
            <a:spAutoFit/>
          </a:bodyPr>
          <a:lstStyle/>
          <a:p>
            <a:pPr algn="ctr"/>
            <a:r>
              <a:rPr sz="950" b="1">
                <a:latin typeface="Calibri"/>
              </a:rPr>
              <a:t>1°</a:t>
            </a:r>
          </a:p>
        </p:txBody>
      </p:sp>
      <p:sp>
        <p:nvSpPr>
          <p:cNvPr id="65" name="Rectangle 60">
            <a:extLst>
              <a:ext uri="{FF2B5EF4-FFF2-40B4-BE49-F238E27FC236}">
                <a16:creationId xmlns:a16="http://schemas.microsoft.com/office/drawing/2014/main" id="{E643D5DE-ED17-47F6-82AA-06F4602FA4BB}"/>
              </a:ext>
            </a:extLst>
          </p:cNvPr>
          <p:cNvSpPr/>
          <p:nvPr/>
        </p:nvSpPr>
        <p:spPr>
          <a:xfrm>
            <a:off x="6949440" y="178113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6" name="TextBox 61">
            <a:extLst>
              <a:ext uri="{FF2B5EF4-FFF2-40B4-BE49-F238E27FC236}">
                <a16:creationId xmlns:a16="http://schemas.microsoft.com/office/drawing/2014/main" id="{FE2B67C2-96BE-4326-A3BF-42435E65A217}"/>
              </a:ext>
            </a:extLst>
          </p:cNvPr>
          <p:cNvSpPr txBox="1"/>
          <p:nvPr/>
        </p:nvSpPr>
        <p:spPr>
          <a:xfrm>
            <a:off x="6976871" y="1799422"/>
            <a:ext cx="1938528" cy="230832"/>
          </a:xfrm>
          <a:prstGeom prst="rect">
            <a:avLst/>
          </a:prstGeom>
          <a:noFill/>
        </p:spPr>
        <p:txBody>
          <a:bodyPr wrap="square">
            <a:spAutoFit/>
          </a:bodyPr>
          <a:lstStyle/>
          <a:p>
            <a:pPr algn="ctr"/>
            <a:r>
              <a:rPr sz="900" b="0">
                <a:latin typeface="Calibri"/>
              </a:rPr>
              <a:t>Motorización directa</a:t>
            </a:r>
          </a:p>
        </p:txBody>
      </p:sp>
      <p:sp>
        <p:nvSpPr>
          <p:cNvPr id="67" name="Rectangle 62">
            <a:extLst>
              <a:ext uri="{FF2B5EF4-FFF2-40B4-BE49-F238E27FC236}">
                <a16:creationId xmlns:a16="http://schemas.microsoft.com/office/drawing/2014/main" id="{015C1441-CC9F-4D24-97D8-B730ADB332E9}"/>
              </a:ext>
            </a:extLst>
          </p:cNvPr>
          <p:cNvSpPr/>
          <p:nvPr/>
        </p:nvSpPr>
        <p:spPr>
          <a:xfrm>
            <a:off x="8942832" y="178113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8" name="TextBox 63">
            <a:extLst>
              <a:ext uri="{FF2B5EF4-FFF2-40B4-BE49-F238E27FC236}">
                <a16:creationId xmlns:a16="http://schemas.microsoft.com/office/drawing/2014/main" id="{7211E053-EBAF-42DC-BA10-0925B3BC9241}"/>
              </a:ext>
            </a:extLst>
          </p:cNvPr>
          <p:cNvSpPr txBox="1"/>
          <p:nvPr/>
        </p:nvSpPr>
        <p:spPr>
          <a:xfrm>
            <a:off x="8970263" y="1799422"/>
            <a:ext cx="493776" cy="238527"/>
          </a:xfrm>
          <a:prstGeom prst="rect">
            <a:avLst/>
          </a:prstGeom>
          <a:noFill/>
        </p:spPr>
        <p:txBody>
          <a:bodyPr wrap="square">
            <a:spAutoFit/>
          </a:bodyPr>
          <a:lstStyle/>
          <a:p>
            <a:pPr algn="ctr"/>
            <a:r>
              <a:rPr sz="950" b="0">
                <a:latin typeface="Calibri"/>
              </a:rPr>
              <a:t>0</a:t>
            </a:r>
          </a:p>
        </p:txBody>
      </p:sp>
      <p:sp>
        <p:nvSpPr>
          <p:cNvPr id="69" name="Rectangle 64">
            <a:extLst>
              <a:ext uri="{FF2B5EF4-FFF2-40B4-BE49-F238E27FC236}">
                <a16:creationId xmlns:a16="http://schemas.microsoft.com/office/drawing/2014/main" id="{4D8E7CC1-56DF-48E0-BEA6-1412F9057BCF}"/>
              </a:ext>
            </a:extLst>
          </p:cNvPr>
          <p:cNvSpPr/>
          <p:nvPr/>
        </p:nvSpPr>
        <p:spPr>
          <a:xfrm>
            <a:off x="9491471" y="178113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0" name="TextBox 65">
            <a:extLst>
              <a:ext uri="{FF2B5EF4-FFF2-40B4-BE49-F238E27FC236}">
                <a16:creationId xmlns:a16="http://schemas.microsoft.com/office/drawing/2014/main" id="{5263B8CB-2060-4A98-9F73-DEB74F90BCCE}"/>
              </a:ext>
            </a:extLst>
          </p:cNvPr>
          <p:cNvSpPr txBox="1"/>
          <p:nvPr/>
        </p:nvSpPr>
        <p:spPr>
          <a:xfrm>
            <a:off x="9518903" y="1799422"/>
            <a:ext cx="566928" cy="238527"/>
          </a:xfrm>
          <a:prstGeom prst="rect">
            <a:avLst/>
          </a:prstGeom>
          <a:noFill/>
        </p:spPr>
        <p:txBody>
          <a:bodyPr wrap="square">
            <a:spAutoFit/>
          </a:bodyPr>
          <a:lstStyle/>
          <a:p>
            <a:pPr algn="ctr"/>
            <a:r>
              <a:rPr sz="950" b="0">
                <a:latin typeface="Calibri"/>
              </a:rPr>
              <a:t>+19.56</a:t>
            </a:r>
          </a:p>
        </p:txBody>
      </p:sp>
      <p:sp>
        <p:nvSpPr>
          <p:cNvPr id="71" name="Rectangle 66">
            <a:extLst>
              <a:ext uri="{FF2B5EF4-FFF2-40B4-BE49-F238E27FC236}">
                <a16:creationId xmlns:a16="http://schemas.microsoft.com/office/drawing/2014/main" id="{F9A88BF7-B587-42C3-9DD1-2E566CC9905B}"/>
              </a:ext>
            </a:extLst>
          </p:cNvPr>
          <p:cNvSpPr/>
          <p:nvPr/>
        </p:nvSpPr>
        <p:spPr>
          <a:xfrm>
            <a:off x="10113263" y="178113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2" name="TextBox 67">
            <a:extLst>
              <a:ext uri="{FF2B5EF4-FFF2-40B4-BE49-F238E27FC236}">
                <a16:creationId xmlns:a16="http://schemas.microsoft.com/office/drawing/2014/main" id="{E5BF452F-6EDE-4567-9C40-A1F3696FA615}"/>
              </a:ext>
            </a:extLst>
          </p:cNvPr>
          <p:cNvSpPr txBox="1"/>
          <p:nvPr/>
        </p:nvSpPr>
        <p:spPr>
          <a:xfrm>
            <a:off x="10140695" y="1799422"/>
            <a:ext cx="630936" cy="238527"/>
          </a:xfrm>
          <a:prstGeom prst="rect">
            <a:avLst/>
          </a:prstGeom>
          <a:noFill/>
        </p:spPr>
        <p:txBody>
          <a:bodyPr wrap="square">
            <a:spAutoFit/>
          </a:bodyPr>
          <a:lstStyle/>
          <a:p>
            <a:pPr algn="ctr"/>
            <a:r>
              <a:rPr sz="950" b="0">
                <a:latin typeface="Calibri"/>
              </a:rPr>
              <a:t>→ acel.</a:t>
            </a:r>
          </a:p>
        </p:txBody>
      </p:sp>
      <p:sp>
        <p:nvSpPr>
          <p:cNvPr id="73" name="Rectangle 68">
            <a:extLst>
              <a:ext uri="{FF2B5EF4-FFF2-40B4-BE49-F238E27FC236}">
                <a16:creationId xmlns:a16="http://schemas.microsoft.com/office/drawing/2014/main" id="{2D2F1C66-BB38-470D-B873-5B64125B00EE}"/>
              </a:ext>
            </a:extLst>
          </p:cNvPr>
          <p:cNvSpPr/>
          <p:nvPr/>
        </p:nvSpPr>
        <p:spPr>
          <a:xfrm>
            <a:off x="10799063" y="178113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4" name="TextBox 69">
            <a:extLst>
              <a:ext uri="{FF2B5EF4-FFF2-40B4-BE49-F238E27FC236}">
                <a16:creationId xmlns:a16="http://schemas.microsoft.com/office/drawing/2014/main" id="{74316535-02BE-42BD-8ADD-28460A574682}"/>
              </a:ext>
            </a:extLst>
          </p:cNvPr>
          <p:cNvSpPr txBox="1"/>
          <p:nvPr/>
        </p:nvSpPr>
        <p:spPr>
          <a:xfrm>
            <a:off x="10826495" y="1799422"/>
            <a:ext cx="585215" cy="238527"/>
          </a:xfrm>
          <a:prstGeom prst="rect">
            <a:avLst/>
          </a:prstGeom>
          <a:noFill/>
        </p:spPr>
        <p:txBody>
          <a:bodyPr wrap="square">
            <a:spAutoFit/>
          </a:bodyPr>
          <a:lstStyle/>
          <a:p>
            <a:pPr algn="ctr"/>
            <a:r>
              <a:rPr sz="9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222690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2245192"/>
            <a:ext cx="329184" cy="238527"/>
          </a:xfrm>
          <a:prstGeom prst="rect">
            <a:avLst/>
          </a:prstGeom>
          <a:noFill/>
        </p:spPr>
        <p:txBody>
          <a:bodyPr wrap="square">
            <a:spAutoFit/>
          </a:bodyPr>
          <a:lstStyle/>
          <a:p>
            <a:pPr algn="ctr"/>
            <a:r>
              <a:rPr sz="950" b="0">
                <a:latin typeface="Calibri"/>
              </a:rPr>
              <a:t>2</a:t>
            </a:r>
          </a:p>
        </p:txBody>
      </p:sp>
      <p:sp>
        <p:nvSpPr>
          <p:cNvPr id="77" name="Rectangle 72">
            <a:extLst>
              <a:ext uri="{FF2B5EF4-FFF2-40B4-BE49-F238E27FC236}">
                <a16:creationId xmlns:a16="http://schemas.microsoft.com/office/drawing/2014/main" id="{25CBEB9A-83B4-4EB7-9EB2-97CCE78BA6FC}"/>
              </a:ext>
            </a:extLst>
          </p:cNvPr>
          <p:cNvSpPr/>
          <p:nvPr/>
        </p:nvSpPr>
        <p:spPr>
          <a:xfrm>
            <a:off x="5029200" y="222690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2245192"/>
            <a:ext cx="512064" cy="238527"/>
          </a:xfrm>
          <a:prstGeom prst="rect">
            <a:avLst/>
          </a:prstGeom>
          <a:noFill/>
        </p:spPr>
        <p:txBody>
          <a:bodyPr wrap="square">
            <a:spAutoFit/>
          </a:bodyPr>
          <a:lstStyle/>
          <a:p>
            <a:pPr algn="ctr"/>
            <a:r>
              <a:rPr sz="9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2245192"/>
            <a:ext cx="402336" cy="238527"/>
          </a:xfrm>
          <a:prstGeom prst="rect">
            <a:avLst/>
          </a:prstGeom>
          <a:noFill/>
        </p:spPr>
        <p:txBody>
          <a:bodyPr wrap="square">
            <a:spAutoFit/>
          </a:bodyPr>
          <a:lstStyle/>
          <a:p>
            <a:pPr algn="ctr"/>
            <a:r>
              <a:rPr sz="9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2245192"/>
            <a:ext cx="402336" cy="238527"/>
          </a:xfrm>
          <a:prstGeom prst="rect">
            <a:avLst/>
          </a:prstGeom>
          <a:noFill/>
        </p:spPr>
        <p:txBody>
          <a:bodyPr wrap="square">
            <a:spAutoFit/>
          </a:bodyPr>
          <a:lstStyle/>
          <a:p>
            <a:pPr algn="ctr"/>
            <a:r>
              <a:rPr sz="9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2245192"/>
            <a:ext cx="384048" cy="238527"/>
          </a:xfrm>
          <a:prstGeom prst="rect">
            <a:avLst/>
          </a:prstGeom>
          <a:noFill/>
        </p:spPr>
        <p:txBody>
          <a:bodyPr wrap="square">
            <a:spAutoFit/>
          </a:bodyPr>
          <a:lstStyle/>
          <a:p>
            <a:pPr algn="ctr"/>
            <a:r>
              <a:rPr sz="9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222690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2245192"/>
            <a:ext cx="1938528" cy="230832"/>
          </a:xfrm>
          <a:prstGeom prst="rect">
            <a:avLst/>
          </a:prstGeom>
          <a:noFill/>
        </p:spPr>
        <p:txBody>
          <a:bodyPr wrap="square">
            <a:spAutoFit/>
          </a:bodyPr>
          <a:lstStyle/>
          <a:p>
            <a:pPr algn="ctr"/>
            <a:r>
              <a:rPr sz="90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222690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2245192"/>
            <a:ext cx="493776" cy="238527"/>
          </a:xfrm>
          <a:prstGeom prst="rect">
            <a:avLst/>
          </a:prstGeom>
          <a:noFill/>
        </p:spPr>
        <p:txBody>
          <a:bodyPr wrap="square">
            <a:spAutoFit/>
          </a:bodyPr>
          <a:lstStyle/>
          <a:p>
            <a:pPr algn="ctr"/>
            <a:r>
              <a:rPr sz="9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222690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2245192"/>
            <a:ext cx="566928" cy="238527"/>
          </a:xfrm>
          <a:prstGeom prst="rect">
            <a:avLst/>
          </a:prstGeom>
          <a:noFill/>
        </p:spPr>
        <p:txBody>
          <a:bodyPr wrap="square">
            <a:spAutoFit/>
          </a:bodyPr>
          <a:lstStyle/>
          <a:p>
            <a:pPr algn="ctr"/>
            <a:r>
              <a:rPr sz="9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222690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2245192"/>
            <a:ext cx="630936" cy="238527"/>
          </a:xfrm>
          <a:prstGeom prst="rect">
            <a:avLst/>
          </a:prstGeom>
          <a:noFill/>
        </p:spPr>
        <p:txBody>
          <a:bodyPr wrap="square">
            <a:spAutoFit/>
          </a:bodyPr>
          <a:lstStyle/>
          <a:p>
            <a:pPr algn="ctr"/>
            <a:r>
              <a:rPr sz="9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222690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2245192"/>
            <a:ext cx="585215" cy="238527"/>
          </a:xfrm>
          <a:prstGeom prst="rect">
            <a:avLst/>
          </a:prstGeom>
          <a:noFill/>
        </p:spPr>
        <p:txBody>
          <a:bodyPr wrap="square">
            <a:spAutoFit/>
          </a:bodyPr>
          <a:lstStyle/>
          <a:p>
            <a:pPr algn="ctr"/>
            <a:r>
              <a:rPr sz="9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67267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690962"/>
            <a:ext cx="329184" cy="238527"/>
          </a:xfrm>
          <a:prstGeom prst="rect">
            <a:avLst/>
          </a:prstGeom>
          <a:noFill/>
        </p:spPr>
        <p:txBody>
          <a:bodyPr wrap="square">
            <a:spAutoFit/>
          </a:bodyPr>
          <a:lstStyle/>
          <a:p>
            <a:pPr algn="ctr"/>
            <a:r>
              <a:rPr sz="950" b="0">
                <a:latin typeface="Calibri"/>
              </a:rPr>
              <a:t>3</a:t>
            </a: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67267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690962"/>
            <a:ext cx="512064" cy="238527"/>
          </a:xfrm>
          <a:prstGeom prst="rect">
            <a:avLst/>
          </a:prstGeom>
          <a:noFill/>
        </p:spPr>
        <p:txBody>
          <a:bodyPr wrap="square">
            <a:spAutoFit/>
          </a:bodyPr>
          <a:lstStyle/>
          <a:p>
            <a:pPr algn="ctr"/>
            <a:r>
              <a:rPr sz="9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690962"/>
            <a:ext cx="402336" cy="238527"/>
          </a:xfrm>
          <a:prstGeom prst="rect">
            <a:avLst/>
          </a:prstGeom>
          <a:noFill/>
        </p:spPr>
        <p:txBody>
          <a:bodyPr wrap="square">
            <a:spAutoFit/>
          </a:bodyPr>
          <a:lstStyle/>
          <a:p>
            <a:pPr algn="ctr"/>
            <a:r>
              <a:rPr sz="9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690962"/>
            <a:ext cx="402336" cy="238527"/>
          </a:xfrm>
          <a:prstGeom prst="rect">
            <a:avLst/>
          </a:prstGeom>
          <a:noFill/>
        </p:spPr>
        <p:txBody>
          <a:bodyPr wrap="square">
            <a:spAutoFit/>
          </a:bodyPr>
          <a:lstStyle/>
          <a:p>
            <a:pPr algn="ctr"/>
            <a:r>
              <a:rPr sz="9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67267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690962"/>
            <a:ext cx="384048" cy="238527"/>
          </a:xfrm>
          <a:prstGeom prst="rect">
            <a:avLst/>
          </a:prstGeom>
          <a:noFill/>
        </p:spPr>
        <p:txBody>
          <a:bodyPr wrap="square">
            <a:spAutoFit/>
          </a:bodyPr>
          <a:lstStyle/>
          <a:p>
            <a:pPr algn="ctr"/>
            <a:r>
              <a:rPr sz="9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67267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690962"/>
            <a:ext cx="1938528" cy="230832"/>
          </a:xfrm>
          <a:prstGeom prst="rect">
            <a:avLst/>
          </a:prstGeom>
          <a:noFill/>
        </p:spPr>
        <p:txBody>
          <a:bodyPr wrap="square">
            <a:spAutoFit/>
          </a:bodyPr>
          <a:lstStyle/>
          <a:p>
            <a:pPr algn="ctr"/>
            <a:r>
              <a:rPr sz="900" b="0" dirty="0">
                <a:latin typeface="Calibri"/>
              </a:rPr>
              <a:t>Motor. </a:t>
            </a:r>
            <a:r>
              <a:rPr sz="900" b="0" dirty="0" err="1">
                <a:latin typeface="Calibri"/>
              </a:rPr>
              <a:t>directa</a:t>
            </a:r>
            <a:endParaRPr sz="90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67267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690962"/>
            <a:ext cx="493776" cy="238527"/>
          </a:xfrm>
          <a:prstGeom prst="rect">
            <a:avLst/>
          </a:prstGeom>
          <a:noFill/>
        </p:spPr>
        <p:txBody>
          <a:bodyPr wrap="square">
            <a:spAutoFit/>
          </a:bodyPr>
          <a:lstStyle/>
          <a:p>
            <a:pPr algn="ctr"/>
            <a:r>
              <a:rPr sz="9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67267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690962"/>
            <a:ext cx="566928" cy="238527"/>
          </a:xfrm>
          <a:prstGeom prst="rect">
            <a:avLst/>
          </a:prstGeom>
          <a:noFill/>
        </p:spPr>
        <p:txBody>
          <a:bodyPr wrap="square">
            <a:spAutoFit/>
          </a:bodyPr>
          <a:lstStyle/>
          <a:p>
            <a:pPr algn="ctr"/>
            <a:r>
              <a:rPr sz="9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67267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690962"/>
            <a:ext cx="630936" cy="238527"/>
          </a:xfrm>
          <a:prstGeom prst="rect">
            <a:avLst/>
          </a:prstGeom>
          <a:noFill/>
        </p:spPr>
        <p:txBody>
          <a:bodyPr wrap="square">
            <a:spAutoFit/>
          </a:bodyPr>
          <a:lstStyle/>
          <a:p>
            <a:pPr algn="ctr"/>
            <a:r>
              <a:rPr sz="9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67267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690962"/>
            <a:ext cx="585215" cy="238527"/>
          </a:xfrm>
          <a:prstGeom prst="rect">
            <a:avLst/>
          </a:prstGeom>
          <a:noFill/>
        </p:spPr>
        <p:txBody>
          <a:bodyPr wrap="square">
            <a:spAutoFit/>
          </a:bodyPr>
          <a:lstStyle/>
          <a:p>
            <a:pPr algn="ctr"/>
            <a:r>
              <a:rPr sz="9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311844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3136732"/>
            <a:ext cx="329184" cy="238527"/>
          </a:xfrm>
          <a:prstGeom prst="rect">
            <a:avLst/>
          </a:prstGeom>
          <a:noFill/>
        </p:spPr>
        <p:txBody>
          <a:bodyPr wrap="square">
            <a:spAutoFit/>
          </a:bodyPr>
          <a:lstStyle/>
          <a:p>
            <a:pPr algn="ctr"/>
            <a:r>
              <a:rPr sz="950" b="0">
                <a:latin typeface="Calibri"/>
              </a:rPr>
              <a:t>4</a:t>
            </a: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311844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3136732"/>
            <a:ext cx="512064" cy="238527"/>
          </a:xfrm>
          <a:prstGeom prst="rect">
            <a:avLst/>
          </a:prstGeom>
          <a:noFill/>
        </p:spPr>
        <p:txBody>
          <a:bodyPr wrap="square">
            <a:spAutoFit/>
          </a:bodyPr>
          <a:lstStyle/>
          <a:p>
            <a:pPr algn="ctr"/>
            <a:r>
              <a:rPr sz="9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3136732"/>
            <a:ext cx="402336" cy="238527"/>
          </a:xfrm>
          <a:prstGeom prst="rect">
            <a:avLst/>
          </a:prstGeom>
          <a:noFill/>
        </p:spPr>
        <p:txBody>
          <a:bodyPr wrap="square">
            <a:spAutoFit/>
          </a:bodyPr>
          <a:lstStyle/>
          <a:p>
            <a:pPr algn="ctr"/>
            <a:r>
              <a:rPr sz="9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3136732"/>
            <a:ext cx="402336" cy="238527"/>
          </a:xfrm>
          <a:prstGeom prst="rect">
            <a:avLst/>
          </a:prstGeom>
          <a:noFill/>
        </p:spPr>
        <p:txBody>
          <a:bodyPr wrap="square">
            <a:spAutoFit/>
          </a:bodyPr>
          <a:lstStyle/>
          <a:p>
            <a:pPr algn="ctr"/>
            <a:r>
              <a:rPr sz="9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3136732"/>
            <a:ext cx="384048" cy="238527"/>
          </a:xfrm>
          <a:prstGeom prst="rect">
            <a:avLst/>
          </a:prstGeom>
          <a:noFill/>
        </p:spPr>
        <p:txBody>
          <a:bodyPr wrap="square">
            <a:spAutoFit/>
          </a:bodyPr>
          <a:lstStyle/>
          <a:p>
            <a:pPr algn="ctr"/>
            <a:r>
              <a:rPr sz="9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311844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3136732"/>
            <a:ext cx="1938528" cy="230832"/>
          </a:xfrm>
          <a:prstGeom prst="rect">
            <a:avLst/>
          </a:prstGeom>
          <a:noFill/>
        </p:spPr>
        <p:txBody>
          <a:bodyPr wrap="square">
            <a:spAutoFit/>
          </a:bodyPr>
          <a:lstStyle/>
          <a:p>
            <a:pPr algn="ctr"/>
            <a:r>
              <a:rPr sz="90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311844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3136732"/>
            <a:ext cx="493776" cy="238527"/>
          </a:xfrm>
          <a:prstGeom prst="rect">
            <a:avLst/>
          </a:prstGeom>
          <a:noFill/>
        </p:spPr>
        <p:txBody>
          <a:bodyPr wrap="square">
            <a:spAutoFit/>
          </a:bodyPr>
          <a:lstStyle/>
          <a:p>
            <a:pPr algn="ctr"/>
            <a:r>
              <a:rPr sz="9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311844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3136732"/>
            <a:ext cx="566928" cy="238527"/>
          </a:xfrm>
          <a:prstGeom prst="rect">
            <a:avLst/>
          </a:prstGeom>
          <a:noFill/>
        </p:spPr>
        <p:txBody>
          <a:bodyPr wrap="square">
            <a:spAutoFit/>
          </a:bodyPr>
          <a:lstStyle/>
          <a:p>
            <a:pPr algn="ctr"/>
            <a:r>
              <a:rPr sz="9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311844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3136732"/>
            <a:ext cx="630936" cy="238527"/>
          </a:xfrm>
          <a:prstGeom prst="rect">
            <a:avLst/>
          </a:prstGeom>
          <a:noFill/>
        </p:spPr>
        <p:txBody>
          <a:bodyPr wrap="square">
            <a:spAutoFit/>
          </a:bodyPr>
          <a:lstStyle/>
          <a:p>
            <a:pPr algn="ctr"/>
            <a:r>
              <a:rPr sz="9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311844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3136732"/>
            <a:ext cx="585215" cy="238527"/>
          </a:xfrm>
          <a:prstGeom prst="rect">
            <a:avLst/>
          </a:prstGeom>
          <a:noFill/>
        </p:spPr>
        <p:txBody>
          <a:bodyPr wrap="square">
            <a:spAutoFit/>
          </a:bodyPr>
          <a:lstStyle/>
          <a:p>
            <a:pPr algn="ctr"/>
            <a:r>
              <a:rPr sz="9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56421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582501"/>
            <a:ext cx="329184" cy="238527"/>
          </a:xfrm>
          <a:prstGeom prst="rect">
            <a:avLst/>
          </a:prstGeom>
          <a:noFill/>
        </p:spPr>
        <p:txBody>
          <a:bodyPr wrap="square">
            <a:spAutoFit/>
          </a:bodyPr>
          <a:lstStyle/>
          <a:p>
            <a:pPr algn="ctr"/>
            <a:r>
              <a:rPr sz="950" b="0">
                <a:latin typeface="Calibri"/>
              </a:rPr>
              <a:t>5</a:t>
            </a: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56421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582501"/>
            <a:ext cx="512064" cy="238527"/>
          </a:xfrm>
          <a:prstGeom prst="rect">
            <a:avLst/>
          </a:prstGeom>
          <a:noFill/>
        </p:spPr>
        <p:txBody>
          <a:bodyPr wrap="square">
            <a:spAutoFit/>
          </a:bodyPr>
          <a:lstStyle/>
          <a:p>
            <a:pPr algn="ctr"/>
            <a:r>
              <a:rPr sz="9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582501"/>
            <a:ext cx="402336" cy="238527"/>
          </a:xfrm>
          <a:prstGeom prst="rect">
            <a:avLst/>
          </a:prstGeom>
          <a:noFill/>
        </p:spPr>
        <p:txBody>
          <a:bodyPr wrap="square">
            <a:spAutoFit/>
          </a:bodyPr>
          <a:lstStyle/>
          <a:p>
            <a:pPr algn="ctr"/>
            <a:r>
              <a:rPr sz="9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582501"/>
            <a:ext cx="402336" cy="238527"/>
          </a:xfrm>
          <a:prstGeom prst="rect">
            <a:avLst/>
          </a:prstGeom>
          <a:noFill/>
        </p:spPr>
        <p:txBody>
          <a:bodyPr wrap="square">
            <a:spAutoFit/>
          </a:bodyPr>
          <a:lstStyle/>
          <a:p>
            <a:pPr algn="ctr"/>
            <a:r>
              <a:rPr sz="9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56421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582501"/>
            <a:ext cx="384048" cy="238527"/>
          </a:xfrm>
          <a:prstGeom prst="rect">
            <a:avLst/>
          </a:prstGeom>
          <a:noFill/>
        </p:spPr>
        <p:txBody>
          <a:bodyPr wrap="square">
            <a:spAutoFit/>
          </a:bodyPr>
          <a:lstStyle/>
          <a:p>
            <a:pPr algn="ctr"/>
            <a:r>
              <a:rPr sz="9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56421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582501"/>
            <a:ext cx="1938528" cy="230832"/>
          </a:xfrm>
          <a:prstGeom prst="rect">
            <a:avLst/>
          </a:prstGeom>
          <a:noFill/>
        </p:spPr>
        <p:txBody>
          <a:bodyPr wrap="square">
            <a:spAutoFit/>
          </a:bodyPr>
          <a:lstStyle/>
          <a:p>
            <a:pPr algn="ctr"/>
            <a:r>
              <a:rPr sz="900" b="0">
                <a:latin typeface="Calibri"/>
              </a:rPr>
              <a:t>Fren. regen. dir. (reposo)</a:t>
            </a: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56421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582501"/>
            <a:ext cx="493776" cy="238527"/>
          </a:xfrm>
          <a:prstGeom prst="rect">
            <a:avLst/>
          </a:prstGeom>
          <a:noFill/>
        </p:spPr>
        <p:txBody>
          <a:bodyPr wrap="square">
            <a:spAutoFit/>
          </a:bodyPr>
          <a:lstStyle/>
          <a:p>
            <a:pPr algn="ctr"/>
            <a:r>
              <a:rPr sz="9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56421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582501"/>
            <a:ext cx="566928" cy="238527"/>
          </a:xfrm>
          <a:prstGeom prst="rect">
            <a:avLst/>
          </a:prstGeom>
          <a:noFill/>
        </p:spPr>
        <p:txBody>
          <a:bodyPr wrap="square">
            <a:spAutoFit/>
          </a:bodyPr>
          <a:lstStyle/>
          <a:p>
            <a:pPr algn="ctr"/>
            <a:r>
              <a:rPr sz="9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56421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582501"/>
            <a:ext cx="630936" cy="238527"/>
          </a:xfrm>
          <a:prstGeom prst="rect">
            <a:avLst/>
          </a:prstGeom>
          <a:noFill/>
        </p:spPr>
        <p:txBody>
          <a:bodyPr wrap="square">
            <a:spAutoFit/>
          </a:bodyPr>
          <a:lstStyle/>
          <a:p>
            <a:pPr algn="ctr"/>
            <a:r>
              <a:rPr sz="9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56421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582501"/>
            <a:ext cx="585215" cy="238527"/>
          </a:xfrm>
          <a:prstGeom prst="rect">
            <a:avLst/>
          </a:prstGeom>
          <a:noFill/>
        </p:spPr>
        <p:txBody>
          <a:bodyPr wrap="square">
            <a:spAutoFit/>
          </a:bodyPr>
          <a:lstStyle/>
          <a:p>
            <a:pPr algn="ctr"/>
            <a:r>
              <a:rPr sz="9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400998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4028272"/>
            <a:ext cx="329184" cy="238527"/>
          </a:xfrm>
          <a:prstGeom prst="rect">
            <a:avLst/>
          </a:prstGeom>
          <a:noFill/>
        </p:spPr>
        <p:txBody>
          <a:bodyPr wrap="square">
            <a:spAutoFit/>
          </a:bodyPr>
          <a:lstStyle/>
          <a:p>
            <a:pPr algn="ctr"/>
            <a:r>
              <a:rPr sz="950" b="0">
                <a:latin typeface="Calibri"/>
              </a:rPr>
              <a:t>6</a:t>
            </a: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400998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4028272"/>
            <a:ext cx="512064" cy="238527"/>
          </a:xfrm>
          <a:prstGeom prst="rect">
            <a:avLst/>
          </a:prstGeom>
          <a:noFill/>
        </p:spPr>
        <p:txBody>
          <a:bodyPr wrap="square">
            <a:spAutoFit/>
          </a:bodyPr>
          <a:lstStyle/>
          <a:p>
            <a:pPr algn="ctr"/>
            <a:r>
              <a:rPr sz="9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4028272"/>
            <a:ext cx="402336" cy="238527"/>
          </a:xfrm>
          <a:prstGeom prst="rect">
            <a:avLst/>
          </a:prstGeom>
          <a:noFill/>
        </p:spPr>
        <p:txBody>
          <a:bodyPr wrap="square">
            <a:spAutoFit/>
          </a:bodyPr>
          <a:lstStyle/>
          <a:p>
            <a:pPr algn="ctr"/>
            <a:r>
              <a:rPr sz="9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4028272"/>
            <a:ext cx="402336" cy="238527"/>
          </a:xfrm>
          <a:prstGeom prst="rect">
            <a:avLst/>
          </a:prstGeom>
          <a:noFill/>
        </p:spPr>
        <p:txBody>
          <a:bodyPr wrap="square">
            <a:spAutoFit/>
          </a:bodyPr>
          <a:lstStyle/>
          <a:p>
            <a:pPr algn="ctr"/>
            <a:r>
              <a:rPr sz="9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4028272"/>
            <a:ext cx="384048" cy="238527"/>
          </a:xfrm>
          <a:prstGeom prst="rect">
            <a:avLst/>
          </a:prstGeom>
          <a:noFill/>
        </p:spPr>
        <p:txBody>
          <a:bodyPr wrap="square">
            <a:spAutoFit/>
          </a:bodyPr>
          <a:lstStyle/>
          <a:p>
            <a:pPr algn="ctr"/>
            <a:r>
              <a:rPr sz="9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400998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4028272"/>
            <a:ext cx="1938528" cy="230832"/>
          </a:xfrm>
          <a:prstGeom prst="rect">
            <a:avLst/>
          </a:prstGeom>
          <a:noFill/>
        </p:spPr>
        <p:txBody>
          <a:bodyPr wrap="square">
            <a:spAutoFit/>
          </a:bodyPr>
          <a:lstStyle/>
          <a:p>
            <a:pPr algn="ctr"/>
            <a:r>
              <a:rPr sz="90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400998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4028272"/>
            <a:ext cx="493776" cy="238527"/>
          </a:xfrm>
          <a:prstGeom prst="rect">
            <a:avLst/>
          </a:prstGeom>
          <a:noFill/>
        </p:spPr>
        <p:txBody>
          <a:bodyPr wrap="square">
            <a:spAutoFit/>
          </a:bodyPr>
          <a:lstStyle/>
          <a:p>
            <a:pPr algn="ctr"/>
            <a:r>
              <a:rPr sz="9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400998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4028272"/>
            <a:ext cx="566928" cy="238527"/>
          </a:xfrm>
          <a:prstGeom prst="rect">
            <a:avLst/>
          </a:prstGeom>
          <a:noFill/>
        </p:spPr>
        <p:txBody>
          <a:bodyPr wrap="square">
            <a:spAutoFit/>
          </a:bodyPr>
          <a:lstStyle/>
          <a:p>
            <a:pPr algn="ctr"/>
            <a:r>
              <a:rPr sz="9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400998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4028272"/>
            <a:ext cx="630936" cy="238527"/>
          </a:xfrm>
          <a:prstGeom prst="rect">
            <a:avLst/>
          </a:prstGeom>
          <a:noFill/>
        </p:spPr>
        <p:txBody>
          <a:bodyPr wrap="square">
            <a:spAutoFit/>
          </a:bodyPr>
          <a:lstStyle/>
          <a:p>
            <a:pPr algn="ctr"/>
            <a:r>
              <a:rPr sz="9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400998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4028272"/>
            <a:ext cx="585215" cy="238527"/>
          </a:xfrm>
          <a:prstGeom prst="rect">
            <a:avLst/>
          </a:prstGeom>
          <a:noFill/>
        </p:spPr>
        <p:txBody>
          <a:bodyPr wrap="square">
            <a:spAutoFit/>
          </a:bodyPr>
          <a:lstStyle/>
          <a:p>
            <a:pPr algn="ctr"/>
            <a:r>
              <a:rPr sz="9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45575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474041"/>
            <a:ext cx="329184" cy="238527"/>
          </a:xfrm>
          <a:prstGeom prst="rect">
            <a:avLst/>
          </a:prstGeom>
          <a:noFill/>
        </p:spPr>
        <p:txBody>
          <a:bodyPr wrap="square">
            <a:spAutoFit/>
          </a:bodyPr>
          <a:lstStyle/>
          <a:p>
            <a:pPr algn="ctr"/>
            <a:r>
              <a:rPr sz="950" b="0">
                <a:latin typeface="Calibri"/>
              </a:rPr>
              <a:t>7</a:t>
            </a: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45575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474041"/>
            <a:ext cx="512064" cy="238527"/>
          </a:xfrm>
          <a:prstGeom prst="rect">
            <a:avLst/>
          </a:prstGeom>
          <a:noFill/>
        </p:spPr>
        <p:txBody>
          <a:bodyPr wrap="square">
            <a:spAutoFit/>
          </a:bodyPr>
          <a:lstStyle/>
          <a:p>
            <a:pPr algn="ctr"/>
            <a:r>
              <a:rPr sz="9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474041"/>
            <a:ext cx="402336" cy="238527"/>
          </a:xfrm>
          <a:prstGeom prst="rect">
            <a:avLst/>
          </a:prstGeom>
          <a:noFill/>
        </p:spPr>
        <p:txBody>
          <a:bodyPr wrap="square">
            <a:spAutoFit/>
          </a:bodyPr>
          <a:lstStyle/>
          <a:p>
            <a:pPr algn="ctr"/>
            <a:r>
              <a:rPr sz="9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474041"/>
            <a:ext cx="402336" cy="238527"/>
          </a:xfrm>
          <a:prstGeom prst="rect">
            <a:avLst/>
          </a:prstGeom>
          <a:noFill/>
        </p:spPr>
        <p:txBody>
          <a:bodyPr wrap="square">
            <a:spAutoFit/>
          </a:bodyPr>
          <a:lstStyle/>
          <a:p>
            <a:pPr algn="ctr"/>
            <a:r>
              <a:rPr sz="9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474041"/>
            <a:ext cx="384048" cy="238527"/>
          </a:xfrm>
          <a:prstGeom prst="rect">
            <a:avLst/>
          </a:prstGeom>
          <a:noFill/>
        </p:spPr>
        <p:txBody>
          <a:bodyPr wrap="square">
            <a:spAutoFit/>
          </a:bodyPr>
          <a:lstStyle/>
          <a:p>
            <a:pPr algn="ctr"/>
            <a:r>
              <a:rPr sz="9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45575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474041"/>
            <a:ext cx="1938528" cy="230832"/>
          </a:xfrm>
          <a:prstGeom prst="rect">
            <a:avLst/>
          </a:prstGeom>
          <a:noFill/>
        </p:spPr>
        <p:txBody>
          <a:bodyPr wrap="square">
            <a:spAutoFit/>
          </a:bodyPr>
          <a:lstStyle/>
          <a:p>
            <a:pPr algn="ctr"/>
            <a:r>
              <a:rPr sz="90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45575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474041"/>
            <a:ext cx="493776" cy="238527"/>
          </a:xfrm>
          <a:prstGeom prst="rect">
            <a:avLst/>
          </a:prstGeom>
          <a:noFill/>
        </p:spPr>
        <p:txBody>
          <a:bodyPr wrap="square">
            <a:spAutoFit/>
          </a:bodyPr>
          <a:lstStyle/>
          <a:p>
            <a:pPr algn="ctr"/>
            <a:r>
              <a:rPr sz="9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45575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474041"/>
            <a:ext cx="566928" cy="238527"/>
          </a:xfrm>
          <a:prstGeom prst="rect">
            <a:avLst/>
          </a:prstGeom>
          <a:noFill/>
        </p:spPr>
        <p:txBody>
          <a:bodyPr wrap="square">
            <a:spAutoFit/>
          </a:bodyPr>
          <a:lstStyle/>
          <a:p>
            <a:pPr algn="ctr"/>
            <a:r>
              <a:rPr sz="9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45575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474041"/>
            <a:ext cx="630936" cy="238527"/>
          </a:xfrm>
          <a:prstGeom prst="rect">
            <a:avLst/>
          </a:prstGeom>
          <a:noFill/>
        </p:spPr>
        <p:txBody>
          <a:bodyPr wrap="square">
            <a:spAutoFit/>
          </a:bodyPr>
          <a:lstStyle/>
          <a:p>
            <a:pPr algn="ctr"/>
            <a:r>
              <a:rPr sz="9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45575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474041"/>
            <a:ext cx="585215" cy="238527"/>
          </a:xfrm>
          <a:prstGeom prst="rect">
            <a:avLst/>
          </a:prstGeom>
          <a:noFill/>
        </p:spPr>
        <p:txBody>
          <a:bodyPr wrap="square">
            <a:spAutoFit/>
          </a:bodyPr>
          <a:lstStyle/>
          <a:p>
            <a:pPr algn="ctr"/>
            <a:r>
              <a:rPr sz="9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90152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919812"/>
            <a:ext cx="329184" cy="238527"/>
          </a:xfrm>
          <a:prstGeom prst="rect">
            <a:avLst/>
          </a:prstGeom>
          <a:noFill/>
        </p:spPr>
        <p:txBody>
          <a:bodyPr wrap="square">
            <a:spAutoFit/>
          </a:bodyPr>
          <a:lstStyle/>
          <a:p>
            <a:pPr algn="ctr"/>
            <a:r>
              <a:rPr sz="950" b="0">
                <a:latin typeface="Calibri"/>
              </a:rPr>
              <a:t>8</a:t>
            </a: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90152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919812"/>
            <a:ext cx="512064" cy="238527"/>
          </a:xfrm>
          <a:prstGeom prst="rect">
            <a:avLst/>
          </a:prstGeom>
          <a:noFill/>
        </p:spPr>
        <p:txBody>
          <a:bodyPr wrap="square">
            <a:spAutoFit/>
          </a:bodyPr>
          <a:lstStyle/>
          <a:p>
            <a:pPr algn="ctr"/>
            <a:r>
              <a:rPr sz="9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919812"/>
            <a:ext cx="402336" cy="238527"/>
          </a:xfrm>
          <a:prstGeom prst="rect">
            <a:avLst/>
          </a:prstGeom>
          <a:noFill/>
        </p:spPr>
        <p:txBody>
          <a:bodyPr wrap="square">
            <a:spAutoFit/>
          </a:bodyPr>
          <a:lstStyle/>
          <a:p>
            <a:pPr algn="ctr"/>
            <a:r>
              <a:rPr sz="9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919812"/>
            <a:ext cx="402336" cy="238527"/>
          </a:xfrm>
          <a:prstGeom prst="rect">
            <a:avLst/>
          </a:prstGeom>
          <a:noFill/>
        </p:spPr>
        <p:txBody>
          <a:bodyPr wrap="square">
            <a:spAutoFit/>
          </a:bodyPr>
          <a:lstStyle/>
          <a:p>
            <a:pPr algn="ctr"/>
            <a:r>
              <a:rPr sz="9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90152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919812"/>
            <a:ext cx="384048" cy="238527"/>
          </a:xfrm>
          <a:prstGeom prst="rect">
            <a:avLst/>
          </a:prstGeom>
          <a:noFill/>
        </p:spPr>
        <p:txBody>
          <a:bodyPr wrap="square">
            <a:spAutoFit/>
          </a:bodyPr>
          <a:lstStyle/>
          <a:p>
            <a:pPr algn="ctr"/>
            <a:r>
              <a:rPr sz="9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90152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919812"/>
            <a:ext cx="1938528" cy="230832"/>
          </a:xfrm>
          <a:prstGeom prst="rect">
            <a:avLst/>
          </a:prstGeom>
          <a:noFill/>
        </p:spPr>
        <p:txBody>
          <a:bodyPr wrap="square">
            <a:spAutoFit/>
          </a:bodyPr>
          <a:lstStyle/>
          <a:p>
            <a:pPr algn="ctr"/>
            <a:r>
              <a:rPr sz="90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90152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919812"/>
            <a:ext cx="493776" cy="238527"/>
          </a:xfrm>
          <a:prstGeom prst="rect">
            <a:avLst/>
          </a:prstGeom>
          <a:noFill/>
        </p:spPr>
        <p:txBody>
          <a:bodyPr wrap="square">
            <a:spAutoFit/>
          </a:bodyPr>
          <a:lstStyle/>
          <a:p>
            <a:pPr algn="ctr"/>
            <a:r>
              <a:rPr sz="9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90152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919812"/>
            <a:ext cx="566928" cy="238527"/>
          </a:xfrm>
          <a:prstGeom prst="rect">
            <a:avLst/>
          </a:prstGeom>
          <a:noFill/>
        </p:spPr>
        <p:txBody>
          <a:bodyPr wrap="square">
            <a:spAutoFit/>
          </a:bodyPr>
          <a:lstStyle/>
          <a:p>
            <a:pPr algn="ctr"/>
            <a:r>
              <a:rPr sz="9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90152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919812"/>
            <a:ext cx="630936" cy="238527"/>
          </a:xfrm>
          <a:prstGeom prst="rect">
            <a:avLst/>
          </a:prstGeom>
          <a:noFill/>
        </p:spPr>
        <p:txBody>
          <a:bodyPr wrap="square">
            <a:spAutoFit/>
          </a:bodyPr>
          <a:lstStyle/>
          <a:p>
            <a:pPr algn="ctr"/>
            <a:r>
              <a:rPr sz="9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90152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919812"/>
            <a:ext cx="585215" cy="238527"/>
          </a:xfrm>
          <a:prstGeom prst="rect">
            <a:avLst/>
          </a:prstGeom>
          <a:noFill/>
        </p:spPr>
        <p:txBody>
          <a:bodyPr wrap="square">
            <a:spAutoFit/>
          </a:bodyPr>
          <a:lstStyle/>
          <a:p>
            <a:pPr algn="ctr"/>
            <a:r>
              <a:rPr sz="9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534729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5365582"/>
            <a:ext cx="329184" cy="238527"/>
          </a:xfrm>
          <a:prstGeom prst="rect">
            <a:avLst/>
          </a:prstGeom>
          <a:noFill/>
        </p:spPr>
        <p:txBody>
          <a:bodyPr wrap="square">
            <a:spAutoFit/>
          </a:bodyPr>
          <a:lstStyle/>
          <a:p>
            <a:pPr algn="ctr"/>
            <a:r>
              <a:rPr sz="950" b="0">
                <a:latin typeface="Calibri"/>
              </a:rPr>
              <a:t>9</a:t>
            </a: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534729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5365582"/>
            <a:ext cx="512064" cy="238527"/>
          </a:xfrm>
          <a:prstGeom prst="rect">
            <a:avLst/>
          </a:prstGeom>
          <a:noFill/>
        </p:spPr>
        <p:txBody>
          <a:bodyPr wrap="square">
            <a:spAutoFit/>
          </a:bodyPr>
          <a:lstStyle/>
          <a:p>
            <a:pPr algn="ctr"/>
            <a:r>
              <a:rPr sz="9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5365582"/>
            <a:ext cx="402336" cy="238527"/>
          </a:xfrm>
          <a:prstGeom prst="rect">
            <a:avLst/>
          </a:prstGeom>
          <a:noFill/>
        </p:spPr>
        <p:txBody>
          <a:bodyPr wrap="square">
            <a:spAutoFit/>
          </a:bodyPr>
          <a:lstStyle/>
          <a:p>
            <a:pPr algn="ctr"/>
            <a:r>
              <a:rPr sz="9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5365582"/>
            <a:ext cx="402336" cy="238527"/>
          </a:xfrm>
          <a:prstGeom prst="rect">
            <a:avLst/>
          </a:prstGeom>
          <a:noFill/>
        </p:spPr>
        <p:txBody>
          <a:bodyPr wrap="square">
            <a:spAutoFit/>
          </a:bodyPr>
          <a:lstStyle/>
          <a:p>
            <a:pPr algn="ctr"/>
            <a:r>
              <a:rPr sz="9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534729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5365582"/>
            <a:ext cx="384048" cy="238527"/>
          </a:xfrm>
          <a:prstGeom prst="rect">
            <a:avLst/>
          </a:prstGeom>
          <a:noFill/>
        </p:spPr>
        <p:txBody>
          <a:bodyPr wrap="square">
            <a:spAutoFit/>
          </a:bodyPr>
          <a:lstStyle/>
          <a:p>
            <a:pPr algn="ctr"/>
            <a:r>
              <a:rPr sz="9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534729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5365582"/>
            <a:ext cx="1938528" cy="230832"/>
          </a:xfrm>
          <a:prstGeom prst="rect">
            <a:avLst/>
          </a:prstGeom>
          <a:noFill/>
        </p:spPr>
        <p:txBody>
          <a:bodyPr wrap="square">
            <a:spAutoFit/>
          </a:bodyPr>
          <a:lstStyle/>
          <a:p>
            <a:pPr algn="ctr"/>
            <a:r>
              <a:rPr sz="90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534729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5365582"/>
            <a:ext cx="493776" cy="238527"/>
          </a:xfrm>
          <a:prstGeom prst="rect">
            <a:avLst/>
          </a:prstGeom>
          <a:noFill/>
        </p:spPr>
        <p:txBody>
          <a:bodyPr wrap="square">
            <a:spAutoFit/>
          </a:bodyPr>
          <a:lstStyle/>
          <a:p>
            <a:pPr algn="ctr"/>
            <a:r>
              <a:rPr sz="9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534729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5365582"/>
            <a:ext cx="566928" cy="238527"/>
          </a:xfrm>
          <a:prstGeom prst="rect">
            <a:avLst/>
          </a:prstGeom>
          <a:noFill/>
        </p:spPr>
        <p:txBody>
          <a:bodyPr wrap="square">
            <a:spAutoFit/>
          </a:bodyPr>
          <a:lstStyle/>
          <a:p>
            <a:pPr algn="ctr"/>
            <a:r>
              <a:rPr sz="9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534729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5365582"/>
            <a:ext cx="630936" cy="238527"/>
          </a:xfrm>
          <a:prstGeom prst="rect">
            <a:avLst/>
          </a:prstGeom>
          <a:noFill/>
        </p:spPr>
        <p:txBody>
          <a:bodyPr wrap="square">
            <a:spAutoFit/>
          </a:bodyPr>
          <a:lstStyle/>
          <a:p>
            <a:pPr algn="ctr"/>
            <a:r>
              <a:rPr sz="9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534729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5365582"/>
            <a:ext cx="585215" cy="238527"/>
          </a:xfrm>
          <a:prstGeom prst="rect">
            <a:avLst/>
          </a:prstGeom>
          <a:noFill/>
        </p:spPr>
        <p:txBody>
          <a:bodyPr wrap="square">
            <a:spAutoFit/>
          </a:bodyPr>
          <a:lstStyle/>
          <a:p>
            <a:pPr algn="ctr"/>
            <a:r>
              <a:rPr sz="9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7930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811352"/>
            <a:ext cx="329184" cy="238527"/>
          </a:xfrm>
          <a:prstGeom prst="rect">
            <a:avLst/>
          </a:prstGeom>
          <a:noFill/>
        </p:spPr>
        <p:txBody>
          <a:bodyPr wrap="square">
            <a:spAutoFit/>
          </a:bodyPr>
          <a:lstStyle/>
          <a:p>
            <a:pPr algn="ctr"/>
            <a:r>
              <a:rPr sz="950" b="0">
                <a:latin typeface="Calibri"/>
              </a:rPr>
              <a:t>10</a:t>
            </a: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7930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811352"/>
            <a:ext cx="512064" cy="238527"/>
          </a:xfrm>
          <a:prstGeom prst="rect">
            <a:avLst/>
          </a:prstGeom>
          <a:noFill/>
        </p:spPr>
        <p:txBody>
          <a:bodyPr wrap="square">
            <a:spAutoFit/>
          </a:bodyPr>
          <a:lstStyle/>
          <a:p>
            <a:pPr algn="ctr"/>
            <a:r>
              <a:rPr sz="9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811352"/>
            <a:ext cx="402336" cy="238527"/>
          </a:xfrm>
          <a:prstGeom prst="rect">
            <a:avLst/>
          </a:prstGeom>
          <a:noFill/>
        </p:spPr>
        <p:txBody>
          <a:bodyPr wrap="square">
            <a:spAutoFit/>
          </a:bodyPr>
          <a:lstStyle/>
          <a:p>
            <a:pPr algn="ctr"/>
            <a:r>
              <a:rPr sz="9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811352"/>
            <a:ext cx="402336" cy="238527"/>
          </a:xfrm>
          <a:prstGeom prst="rect">
            <a:avLst/>
          </a:prstGeom>
          <a:noFill/>
        </p:spPr>
        <p:txBody>
          <a:bodyPr wrap="square">
            <a:spAutoFit/>
          </a:bodyPr>
          <a:lstStyle/>
          <a:p>
            <a:pPr algn="ctr"/>
            <a:r>
              <a:rPr sz="9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79306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811352"/>
            <a:ext cx="384048" cy="238527"/>
          </a:xfrm>
          <a:prstGeom prst="rect">
            <a:avLst/>
          </a:prstGeom>
          <a:noFill/>
        </p:spPr>
        <p:txBody>
          <a:bodyPr wrap="square">
            <a:spAutoFit/>
          </a:bodyPr>
          <a:lstStyle/>
          <a:p>
            <a:pPr algn="ctr"/>
            <a:r>
              <a:rPr sz="9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7930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811352"/>
            <a:ext cx="1938528" cy="230832"/>
          </a:xfrm>
          <a:prstGeom prst="rect">
            <a:avLst/>
          </a:prstGeom>
          <a:noFill/>
        </p:spPr>
        <p:txBody>
          <a:bodyPr wrap="square">
            <a:spAutoFit/>
          </a:bodyPr>
          <a:lstStyle/>
          <a:p>
            <a:pPr algn="ctr"/>
            <a:r>
              <a:rPr sz="90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7930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811352"/>
            <a:ext cx="493776" cy="238527"/>
          </a:xfrm>
          <a:prstGeom prst="rect">
            <a:avLst/>
          </a:prstGeom>
          <a:noFill/>
        </p:spPr>
        <p:txBody>
          <a:bodyPr wrap="square">
            <a:spAutoFit/>
          </a:bodyPr>
          <a:lstStyle/>
          <a:p>
            <a:pPr algn="ctr"/>
            <a:r>
              <a:rPr sz="9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7930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811352"/>
            <a:ext cx="566928" cy="238527"/>
          </a:xfrm>
          <a:prstGeom prst="rect">
            <a:avLst/>
          </a:prstGeom>
          <a:noFill/>
        </p:spPr>
        <p:txBody>
          <a:bodyPr wrap="square">
            <a:spAutoFit/>
          </a:bodyPr>
          <a:lstStyle/>
          <a:p>
            <a:pPr algn="ctr"/>
            <a:r>
              <a:rPr sz="9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7930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811352"/>
            <a:ext cx="630936" cy="238527"/>
          </a:xfrm>
          <a:prstGeom prst="rect">
            <a:avLst/>
          </a:prstGeom>
          <a:noFill/>
        </p:spPr>
        <p:txBody>
          <a:bodyPr wrap="square">
            <a:spAutoFit/>
          </a:bodyPr>
          <a:lstStyle/>
          <a:p>
            <a:pPr algn="ctr"/>
            <a:r>
              <a:rPr sz="9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7930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811352"/>
            <a:ext cx="585215" cy="238527"/>
          </a:xfrm>
          <a:prstGeom prst="rect">
            <a:avLst/>
          </a:prstGeom>
          <a:noFill/>
        </p:spPr>
        <p:txBody>
          <a:bodyPr wrap="square">
            <a:spAutoFit/>
          </a:bodyPr>
          <a:lstStyle/>
          <a:p>
            <a:pPr algn="ctr"/>
            <a:r>
              <a:rPr sz="9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11430000" cy="104355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mc:AlternateContent xmlns:mc="http://schemas.openxmlformats.org/markup-compatibility/2006">
        <mc:Choice xmlns:a14="http://schemas.microsoft.com/office/drawing/2010/main" Requires="a14">
          <p:graphicFrame>
            <p:nvGraphicFramePr>
              <p:cNvPr id="14" name="Table 13"/>
              <p:cNvGraphicFramePr>
                <a:graphicFrameLocks noGrp="1"/>
              </p:cNvGraphicFramePr>
              <p:nvPr/>
            </p:nvGraphicFramePr>
            <p:xfrm>
              <a:off x="365760" y="1436844"/>
              <a:ext cx="11430001" cy="2429129"/>
            </p:xfrm>
            <a:graphic>
              <a:graphicData uri="http://schemas.openxmlformats.org/drawingml/2006/table">
                <a:tbl>
                  <a:tblPr firstRow="1" bandRow="1">
                    <a:tableStyleId>{5C22544A-7EE6-4342-B048-85BDC9FD1C3A}</a:tableStyleId>
                  </a:tblPr>
                  <a:tblGrid>
                    <a:gridCol w="707526">
                      <a:extLst>
                        <a:ext uri="{9D8B030D-6E8A-4147-A177-3AD203B41FA5}">
                          <a16:colId xmlns:a16="http://schemas.microsoft.com/office/drawing/2014/main" val="20000"/>
                        </a:ext>
                      </a:extLst>
                    </a:gridCol>
                    <a:gridCol w="399173">
                      <a:extLst>
                        <a:ext uri="{9D8B030D-6E8A-4147-A177-3AD203B41FA5}">
                          <a16:colId xmlns:a16="http://schemas.microsoft.com/office/drawing/2014/main" val="20001"/>
                        </a:ext>
                      </a:extLst>
                    </a:gridCol>
                    <a:gridCol w="513825">
                      <a:extLst>
                        <a:ext uri="{9D8B030D-6E8A-4147-A177-3AD203B41FA5}">
                          <a16:colId xmlns:a16="http://schemas.microsoft.com/office/drawing/2014/main" val="20002"/>
                        </a:ext>
                      </a:extLst>
                    </a:gridCol>
                    <a:gridCol w="1014368">
                      <a:extLst>
                        <a:ext uri="{9D8B030D-6E8A-4147-A177-3AD203B41FA5}">
                          <a16:colId xmlns:a16="http://schemas.microsoft.com/office/drawing/2014/main" val="20003"/>
                        </a:ext>
                      </a:extLst>
                    </a:gridCol>
                    <a:gridCol w="2814222">
                      <a:extLst>
                        <a:ext uri="{9D8B030D-6E8A-4147-A177-3AD203B41FA5}">
                          <a16:colId xmlns:a16="http://schemas.microsoft.com/office/drawing/2014/main" val="20004"/>
                        </a:ext>
                      </a:extLst>
                    </a:gridCol>
                    <a:gridCol w="2823099">
                      <a:extLst>
                        <a:ext uri="{9D8B030D-6E8A-4147-A177-3AD203B41FA5}">
                          <a16:colId xmlns:a16="http://schemas.microsoft.com/office/drawing/2014/main" val="2361017872"/>
                        </a:ext>
                      </a:extLst>
                    </a:gridCol>
                    <a:gridCol w="3157788">
                      <a:extLst>
                        <a:ext uri="{9D8B030D-6E8A-4147-A177-3AD203B41FA5}">
                          <a16:colId xmlns:a16="http://schemas.microsoft.com/office/drawing/2014/main" val="1131909835"/>
                        </a:ext>
                      </a:extLst>
                    </a:gridCol>
                  </a:tblGrid>
                  <a:tr h="335280">
                    <a:tc>
                      <a:txBody>
                        <a:bodyPr/>
                        <a:lstStyle/>
                        <a:p>
                          <a:r>
                            <a:rPr sz="1200" b="1">
                              <a:solidFill>
                                <a:srgbClr val="FFFFFF"/>
                              </a:solidFill>
                              <a:latin typeface="Calibri"/>
                            </a:rPr>
                            <a:t>Instant.</a:t>
                          </a:r>
                        </a:p>
                      </a:txBody>
                      <a:tcPr>
                        <a:solidFill>
                          <a:srgbClr val="1A3A6B"/>
                        </a:solidFill>
                      </a:tcPr>
                    </a:tc>
                    <a:tc>
                      <a:txBody>
                        <a:bodyPr/>
                        <a:lstStyle/>
                        <a:p>
                          <a:pPr/>
                          <a14:m>
                            <m:oMathPara xmlns:m="http://schemas.openxmlformats.org/officeDocument/2006/math">
                              <m:oMathParaPr>
                                <m:jc m:val="centerGroup"/>
                              </m:oMathParaPr>
                              <m:oMath xmlns:m="http://schemas.openxmlformats.org/officeDocument/2006/math">
                                <m:sSub>
                                  <m:sSubPr>
                                    <m:ctrlPr>
                                      <a:rPr lang="ar-AE" sz="1400" b="1" i="1" kern="1200" smtClean="0">
                                        <a:solidFill>
                                          <a:srgbClr val="FFFFFF"/>
                                        </a:solidFill>
                                        <a:latin typeface="Cambria Math" panose="02040503050406030204" pitchFamily="18" charset="0"/>
                                        <a:ea typeface="+mn-ea"/>
                                        <a:cs typeface="+mn-cs"/>
                                      </a:rPr>
                                    </m:ctrlPr>
                                  </m:sSubPr>
                                  <m:e>
                                    <m:r>
                                      <a:rPr lang="ar-AE" sz="1400" b="1" kern="1200">
                                        <a:solidFill>
                                          <a:srgbClr val="FFFFFF"/>
                                        </a:solidFill>
                                        <a:latin typeface="Cambria Math" panose="02040503050406030204" pitchFamily="18" charset="0"/>
                                        <a:ea typeface="+mn-ea"/>
                                        <a:cs typeface="+mn-cs"/>
                                      </a:rPr>
                                      <m:t>𝜔</m:t>
                                    </m:r>
                                  </m:e>
                                  <m:sub>
                                    <m:r>
                                      <a:rPr lang="ar-AE" sz="1400" b="1" kern="1200">
                                        <a:solidFill>
                                          <a:srgbClr val="FFFFFF"/>
                                        </a:solidFill>
                                        <a:latin typeface="Cambria Math" panose="02040503050406030204" pitchFamily="18" charset="0"/>
                                        <a:ea typeface="+mn-ea"/>
                                        <a:cs typeface="+mn-cs"/>
                                      </a:rPr>
                                      <m:t>𝑚</m:t>
                                    </m:r>
                                  </m:sub>
                                </m:sSub>
                              </m:oMath>
                            </m:oMathPara>
                          </a14:m>
                          <a:endParaRPr lang="ar-AE" sz="1200" b="1" kern="1200" dirty="0">
                            <a:solidFill>
                              <a:srgbClr val="FFFFFF"/>
                            </a:solidFill>
                            <a:latin typeface="Calibri"/>
                            <a:ea typeface="+mn-ea"/>
                            <a:cs typeface="+mn-cs"/>
                          </a:endParaRPr>
                        </a:p>
                      </a:txBody>
                      <a:tcPr>
                        <a:solidFill>
                          <a:srgbClr val="1A3A6B"/>
                        </a:solidFill>
                      </a:tcPr>
                    </a:tc>
                    <a:tc>
                      <a:txBody>
                        <a:bodyPr/>
                        <a:lstStyle/>
                        <a:p>
                          <a:pPr/>
                          <a14:m>
                            <m:oMathPara xmlns:m="http://schemas.openxmlformats.org/officeDocument/2006/math">
                              <m:oMathParaPr>
                                <m:jc m:val="centerGroup"/>
                              </m:oMathParaPr>
                              <m:oMath xmlns:m="http://schemas.openxmlformats.org/officeDocument/2006/math">
                                <m:sSub>
                                  <m:sSubPr>
                                    <m:ctrlPr>
                                      <a:rPr lang="ar-AE" sz="1400" b="1" i="1" kern="1200" smtClean="0">
                                        <a:solidFill>
                                          <a:srgbClr val="FFFFFF"/>
                                        </a:solidFill>
                                        <a:latin typeface="Cambria Math" panose="02040503050406030204" pitchFamily="18" charset="0"/>
                                        <a:ea typeface="+mn-ea"/>
                                        <a:cs typeface="+mn-cs"/>
                                      </a:rPr>
                                    </m:ctrlPr>
                                  </m:sSubPr>
                                  <m:e>
                                    <m:r>
                                      <a:rPr lang="ar-AE" sz="1400" b="1" kern="1200" smtClean="0">
                                        <a:solidFill>
                                          <a:srgbClr val="FFFFFF"/>
                                        </a:solidFill>
                                        <a:latin typeface="Cambria Math" panose="02040503050406030204" pitchFamily="18" charset="0"/>
                                        <a:ea typeface="+mn-ea"/>
                                        <a:cs typeface="+mn-cs"/>
                                      </a:rPr>
                                      <m:t>𝑻</m:t>
                                    </m:r>
                                  </m:e>
                                  <m:sub>
                                    <m:r>
                                      <a:rPr lang="ar-AE" sz="1400" b="1" kern="1200">
                                        <a:solidFill>
                                          <a:srgbClr val="FFFFFF"/>
                                        </a:solidFill>
                                        <a:latin typeface="Cambria Math" panose="02040503050406030204" pitchFamily="18" charset="0"/>
                                        <a:ea typeface="+mn-ea"/>
                                        <a:cs typeface="+mn-cs"/>
                                      </a:rPr>
                                      <m:t>𝑚</m:t>
                                    </m:r>
                                  </m:sub>
                                </m:sSub>
                              </m:oMath>
                            </m:oMathPara>
                          </a14:m>
                          <a:endParaRPr lang="ar-AE" sz="1200" b="1" kern="1200" dirty="0">
                            <a:solidFill>
                              <a:srgbClr val="FFFFFF"/>
                            </a:solidFill>
                            <a:latin typeface="Calibri"/>
                            <a:ea typeface="+mn-ea"/>
                            <a:cs typeface="+mn-cs"/>
                          </a:endParaRPr>
                        </a:p>
                      </a:txBody>
                      <a:tcPr>
                        <a:solidFill>
                          <a:srgbClr val="1A3A6B"/>
                        </a:solidFill>
                      </a:tcPr>
                    </a:tc>
                    <a:tc>
                      <a:txBody>
                        <a:bodyPr/>
                        <a:lstStyle/>
                        <a:p>
                          <a:r>
                            <a:rPr sz="1200" b="1" dirty="0" err="1">
                              <a:solidFill>
                                <a:srgbClr val="FFFFFF"/>
                              </a:solidFill>
                              <a:latin typeface="Calibri"/>
                            </a:rPr>
                            <a:t>Cuadrante</a:t>
                          </a:r>
                          <a:endParaRPr sz="1200" b="1" dirty="0">
                            <a:solidFill>
                              <a:srgbClr val="FFFFFF"/>
                            </a:solidFill>
                            <a:latin typeface="Calibri"/>
                          </a:endParaRPr>
                        </a:p>
                      </a:txBody>
                      <a:tcPr>
                        <a:solidFill>
                          <a:srgbClr val="1A3A6B"/>
                        </a:solidFill>
                      </a:tcPr>
                    </a:tc>
                    <a:tc>
                      <a:txBody>
                        <a:bodyPr/>
                        <a:lstStyle/>
                        <a:p>
                          <a:r>
                            <a:rPr sz="1200" b="1" dirty="0" err="1">
                              <a:solidFill>
                                <a:srgbClr val="FFFFFF"/>
                              </a:solidFill>
                              <a:latin typeface="Calibri"/>
                            </a:rPr>
                            <a:t>Régimen</a:t>
                          </a:r>
                          <a:endParaRPr sz="1200" b="1" dirty="0">
                            <a:solidFill>
                              <a:srgbClr val="FFFFFF"/>
                            </a:solidFill>
                            <a:latin typeface="Calibri"/>
                          </a:endParaRPr>
                        </a:p>
                      </a:txBody>
                      <a:tcPr>
                        <a:solidFill>
                          <a:srgbClr val="1A3A6B"/>
                        </a:solidFill>
                      </a:tcPr>
                    </a:tc>
                    <a:tc>
                      <a:txBody>
                        <a:bodyPr/>
                        <a:lstStyle/>
                        <a:p>
                          <a:pPr/>
                          <a14:m>
                            <m:oMathPara xmlns:m="http://schemas.openxmlformats.org/officeDocument/2006/math">
                              <m:oMathParaPr>
                                <m:jc m:val="centerGroup"/>
                              </m:oMathParaPr>
                              <m:oMath xmlns:m="http://schemas.openxmlformats.org/officeDocument/2006/math">
                                <m:sSub>
                                  <m:sSubPr>
                                    <m:ctrlPr>
                                      <a:rPr lang="es-AR" sz="1400" b="1" i="1" kern="1200" smtClean="0">
                                        <a:solidFill>
                                          <a:schemeClr val="lt1"/>
                                        </a:solidFill>
                                        <a:effectLst/>
                                        <a:latin typeface="Cambria Math" panose="02040503050406030204" pitchFamily="18" charset="0"/>
                                        <a:ea typeface="+mn-ea"/>
                                        <a:cs typeface="+mn-cs"/>
                                      </a:rPr>
                                    </m:ctrlPr>
                                  </m:sSubPr>
                                  <m:e>
                                    <m:r>
                                      <a:rPr lang="es-AR" sz="1400" b="1" i="1" kern="1200">
                                        <a:solidFill>
                                          <a:schemeClr val="lt1"/>
                                        </a:solidFill>
                                        <a:effectLst/>
                                        <a:latin typeface="Cambria Math" panose="02040503050406030204" pitchFamily="18" charset="0"/>
                                        <a:ea typeface="+mn-ea"/>
                                        <a:cs typeface="+mn-cs"/>
                                      </a:rPr>
                                      <m:t>𝑇</m:t>
                                    </m:r>
                                  </m:e>
                                  <m:sub>
                                    <m:r>
                                      <a:rPr lang="es-AR" sz="1400" b="1" i="1" kern="1200">
                                        <a:solidFill>
                                          <a:schemeClr val="lt1"/>
                                        </a:solidFill>
                                        <a:effectLst/>
                                        <a:latin typeface="Cambria Math" panose="02040503050406030204" pitchFamily="18" charset="0"/>
                                        <a:ea typeface="+mn-ea"/>
                                        <a:cs typeface="+mn-cs"/>
                                      </a:rPr>
                                      <m:t>𝑙𝑑</m:t>
                                    </m:r>
                                  </m:sub>
                                </m:sSub>
                              </m:oMath>
                            </m:oMathPara>
                          </a14:m>
                          <a:endParaRPr sz="1200" b="1" dirty="0">
                            <a:solidFill>
                              <a:srgbClr val="FFFFFF"/>
                            </a:solidFill>
                            <a:latin typeface="Calibri"/>
                          </a:endParaRPr>
                        </a:p>
                      </a:txBody>
                      <a:tcPr>
                        <a:solidFill>
                          <a:srgbClr val="1A3A6B"/>
                        </a:solidFill>
                      </a:tcPr>
                    </a:tc>
                    <a:tc>
                      <a:txBody>
                        <a:bodyPr/>
                        <a:lstStyle/>
                        <a:p>
                          <a:pPr/>
                          <a14:m>
                            <m:oMathPara xmlns:m="http://schemas.openxmlformats.org/officeDocument/2006/math">
                              <m:oMathParaPr>
                                <m:jc m:val="centerGroup"/>
                              </m:oMathParaPr>
                              <m:oMath xmlns:m="http://schemas.openxmlformats.org/officeDocument/2006/math">
                                <m:sSubSup>
                                  <m:sSubSupPr>
                                    <m:ctrlPr>
                                      <a:rPr lang="es-AR" sz="1800" b="1" i="1" kern="1200" smtClean="0">
                                        <a:solidFill>
                                          <a:schemeClr val="lt1"/>
                                        </a:solidFill>
                                        <a:effectLst/>
                                        <a:latin typeface="Cambria Math" panose="02040503050406030204" pitchFamily="18" charset="0"/>
                                        <a:ea typeface="+mn-ea"/>
                                        <a:cs typeface="+mn-cs"/>
                                      </a:rPr>
                                    </m:ctrlPr>
                                  </m:sSubSupPr>
                                  <m:e>
                                    <m:r>
                                      <a:rPr lang="es-AR" sz="1800" b="1" i="1" kern="1200">
                                        <a:solidFill>
                                          <a:schemeClr val="lt1"/>
                                        </a:solidFill>
                                        <a:effectLst/>
                                        <a:latin typeface="Cambria Math" panose="02040503050406030204" pitchFamily="18" charset="0"/>
                                        <a:ea typeface="+mn-ea"/>
                                        <a:cs typeface="+mn-cs"/>
                                      </a:rPr>
                                      <m:t>𝑣</m:t>
                                    </m:r>
                                  </m:e>
                                  <m:sub>
                                    <m:r>
                                      <a:rPr lang="es-AR" sz="1800" b="1" i="1" kern="1200">
                                        <a:solidFill>
                                          <a:schemeClr val="lt1"/>
                                        </a:solidFill>
                                        <a:effectLst/>
                                        <a:latin typeface="Cambria Math" panose="02040503050406030204" pitchFamily="18" charset="0"/>
                                        <a:ea typeface="+mn-ea"/>
                                        <a:cs typeface="+mn-cs"/>
                                      </a:rPr>
                                      <m:t>𝑞𝑠</m:t>
                                    </m:r>
                                  </m:sub>
                                  <m:sup>
                                    <m:r>
                                      <a:rPr lang="es-AR" sz="1800" b="1" i="1" kern="1200">
                                        <a:solidFill>
                                          <a:schemeClr val="lt1"/>
                                        </a:solidFill>
                                        <a:effectLst/>
                                        <a:latin typeface="Cambria Math" panose="02040503050406030204" pitchFamily="18" charset="0"/>
                                        <a:ea typeface="+mn-ea"/>
                                        <a:cs typeface="+mn-cs"/>
                                      </a:rPr>
                                      <m:t>𝑟</m:t>
                                    </m:r>
                                  </m:sup>
                                </m:sSubSup>
                              </m:oMath>
                            </m:oMathPara>
                          </a14:m>
                          <a:endParaRPr sz="1200" b="1" dirty="0">
                            <a:solidFill>
                              <a:srgbClr val="FFFFFF"/>
                            </a:solidFill>
                            <a:latin typeface="Calibri"/>
                          </a:endParaRPr>
                        </a:p>
                      </a:txBody>
                      <a:tcPr>
                        <a:solidFill>
                          <a:srgbClr val="1A3A6B"/>
                        </a:solidFill>
                      </a:tcPr>
                    </a:tc>
                    <a:extLst>
                      <a:ext uri="{0D108BD9-81ED-4DB2-BD59-A6C34878D82A}">
                        <a16:rowId xmlns:a16="http://schemas.microsoft.com/office/drawing/2014/main" val="10000"/>
                      </a:ext>
                    </a:extLst>
                  </a:tr>
                  <a:tr h="335280">
                    <a:tc>
                      <a:txBody>
                        <a:bodyPr/>
                        <a:lstStyle/>
                        <a:p>
                          <a:r>
                            <a:rPr lang="es-AR" sz="1200" noProof="0">
                              <a:latin typeface="Calibri"/>
                            </a:rPr>
                            <a:t>t=0.1s</a:t>
                          </a:r>
                        </a:p>
                      </a:txBody>
                      <a:tcPr/>
                    </a:tc>
                    <a:tc>
                      <a:txBody>
                        <a:bodyPr/>
                        <a:lstStyle/>
                        <a:p>
                          <a:r>
                            <a:rPr lang="es-AR" sz="1200" noProof="0" dirty="0">
                              <a:latin typeface="Calibri"/>
                            </a:rPr>
                            <a:t>&gt; 0</a:t>
                          </a:r>
                        </a:p>
                      </a:txBody>
                      <a:tcPr/>
                    </a:tc>
                    <a:tc>
                      <a:txBody>
                        <a:bodyPr/>
                        <a:lstStyle/>
                        <a:p>
                          <a:r>
                            <a:rPr lang="es-AR" sz="1200" noProof="0">
                              <a:latin typeface="Calibri"/>
                            </a:rPr>
                            <a:t>&gt; 0</a:t>
                          </a:r>
                        </a:p>
                      </a:txBody>
                      <a:tcPr/>
                    </a:tc>
                    <a:tc>
                      <a:txBody>
                        <a:bodyPr/>
                        <a:lstStyle/>
                        <a:p>
                          <a:r>
                            <a:rPr lang="es-AR" sz="1200" noProof="0">
                              <a:latin typeface="Calibri"/>
                            </a:rPr>
                            <a:t>1°</a:t>
                          </a:r>
                        </a:p>
                      </a:txBody>
                      <a:tcPr/>
                    </a:tc>
                    <a:tc>
                      <a:txBody>
                        <a:bodyPr/>
                        <a:lstStyle/>
                        <a:p>
                          <a:r>
                            <a:rPr lang="es-AR" sz="1200" noProof="0">
                              <a:latin typeface="Calibri"/>
                            </a:rPr>
                            <a:t>Motorización directa</a:t>
                          </a:r>
                        </a:p>
                      </a:txBody>
                      <a:tcPr/>
                    </a:tc>
                    <a:tc>
                      <a:txBody>
                        <a:bodyPr/>
                        <a:lstStyle/>
                        <a:p>
                          <a:endParaRPr lang="es-AR" sz="1200" noProof="0" dirty="0">
                            <a:latin typeface="Calibri"/>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s-AR" sz="1200" noProof="0" dirty="0">
                            <a:latin typeface="+mn-lt"/>
                          </a:endParaRPr>
                        </a:p>
                      </a:txBody>
                      <a:tcPr/>
                    </a:tc>
                    <a:extLst>
                      <a:ext uri="{0D108BD9-81ED-4DB2-BD59-A6C34878D82A}">
                        <a16:rowId xmlns:a16="http://schemas.microsoft.com/office/drawing/2014/main" val="10001"/>
                      </a:ext>
                    </a:extLst>
                  </a:tr>
                  <a:tr h="335280">
                    <a:tc>
                      <a:txBody>
                        <a:bodyPr/>
                        <a:lstStyle/>
                        <a:p>
                          <a:r>
                            <a:rPr lang="es-AR" sz="1200" noProof="0" dirty="0">
                              <a:latin typeface="Calibri"/>
                            </a:rPr>
                            <a:t>t=0.3s</a:t>
                          </a:r>
                        </a:p>
                      </a:txBody>
                      <a:tcPr>
                        <a:solidFill>
                          <a:srgbClr val="F0F4F8"/>
                        </a:solidFill>
                      </a:tcPr>
                    </a:tc>
                    <a:tc>
                      <a:txBody>
                        <a:bodyPr/>
                        <a:lstStyle/>
                        <a:p>
                          <a:r>
                            <a:rPr lang="es-AR" sz="1200" noProof="0">
                              <a:latin typeface="Calibri"/>
                            </a:rPr>
                            <a:t>&gt; 0</a:t>
                          </a:r>
                        </a:p>
                      </a:txBody>
                      <a:tcPr>
                        <a:solidFill>
                          <a:srgbClr val="F0F4F8"/>
                        </a:solidFill>
                      </a:tcPr>
                    </a:tc>
                    <a:tc>
                      <a:txBody>
                        <a:bodyPr/>
                        <a:lstStyle/>
                        <a:p>
                          <a:r>
                            <a:rPr lang="es-AR" sz="1200" noProof="0">
                              <a:latin typeface="Calibri"/>
                            </a:rPr>
                            <a:t>&gt; 0</a:t>
                          </a:r>
                        </a:p>
                      </a:txBody>
                      <a:tcPr>
                        <a:solidFill>
                          <a:srgbClr val="F0F4F8"/>
                        </a:solidFill>
                      </a:tcPr>
                    </a:tc>
                    <a:tc>
                      <a:txBody>
                        <a:bodyPr/>
                        <a:lstStyle/>
                        <a:p>
                          <a:r>
                            <a:rPr lang="es-AR" sz="1200" noProof="0">
                              <a:latin typeface="Calibri"/>
                            </a:rPr>
                            <a:t>1°</a:t>
                          </a:r>
                        </a:p>
                      </a:txBody>
                      <a:tcPr>
                        <a:solidFill>
                          <a:srgbClr val="F0F4F8"/>
                        </a:solidFill>
                      </a:tcPr>
                    </a:tc>
                    <a:tc>
                      <a:txBody>
                        <a:bodyPr/>
                        <a:lstStyle/>
                        <a:p>
                          <a:r>
                            <a:rPr lang="es-AR" sz="1200" noProof="0" dirty="0">
                              <a:latin typeface="Calibri"/>
                            </a:rPr>
                            <a:t>Motorización directa + carga</a:t>
                          </a:r>
                        </a:p>
                      </a:txBody>
                      <a:tcPr>
                        <a:solidFill>
                          <a:srgbClr val="F0F4F8"/>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s-AR" sz="1200" noProof="0" dirty="0">
                            <a:latin typeface="+mn-lt"/>
                          </a:endParaRPr>
                        </a:p>
                      </a:txBody>
                      <a:tcPr>
                        <a:solidFill>
                          <a:srgbClr val="F0F4F8"/>
                        </a:solidFill>
                      </a:tcPr>
                    </a:tc>
                    <a:tc>
                      <a:txBody>
                        <a:bodyPr/>
                        <a:lstStyle/>
                        <a:p>
                          <a:endParaRPr lang="es-AR" sz="1200" noProof="0" dirty="0">
                            <a:latin typeface="Calibri"/>
                          </a:endParaRPr>
                        </a:p>
                      </a:txBody>
                      <a:tcPr>
                        <a:solidFill>
                          <a:srgbClr val="F0F4F8"/>
                        </a:solidFill>
                      </a:tcPr>
                    </a:tc>
                    <a:extLst>
                      <a:ext uri="{0D108BD9-81ED-4DB2-BD59-A6C34878D82A}">
                        <a16:rowId xmlns:a16="http://schemas.microsoft.com/office/drawing/2014/main" val="10002"/>
                      </a:ext>
                    </a:extLst>
                  </a:tr>
                  <a:tr h="335280">
                    <a:tc>
                      <a:txBody>
                        <a:bodyPr/>
                        <a:lstStyle/>
                        <a:p>
                          <a:r>
                            <a:rPr lang="es-AR" sz="1200" noProof="0" dirty="0">
                              <a:latin typeface="Calibri"/>
                            </a:rPr>
                            <a:t>t=0.7s → 1.0s</a:t>
                          </a:r>
                        </a:p>
                      </a:txBody>
                      <a:tcPr/>
                    </a:tc>
                    <a:tc>
                      <a:txBody>
                        <a:bodyPr/>
                        <a:lstStyle/>
                        <a:p>
                          <a:r>
                            <a:rPr lang="es-AR" sz="1200" noProof="0">
                              <a:latin typeface="Calibri"/>
                            </a:rPr>
                            <a:t>&gt; 0</a:t>
                          </a:r>
                        </a:p>
                      </a:txBody>
                      <a:tcPr/>
                    </a:tc>
                    <a:tc>
                      <a:txBody>
                        <a:bodyPr/>
                        <a:lstStyle/>
                        <a:p>
                          <a:r>
                            <a:rPr lang="es-AR" sz="1200" noProof="0">
                              <a:latin typeface="Calibri"/>
                            </a:rPr>
                            <a:t>&lt; 0</a:t>
                          </a:r>
                        </a:p>
                      </a:txBody>
                      <a:tcPr/>
                    </a:tc>
                    <a:tc>
                      <a:txBody>
                        <a:bodyPr/>
                        <a:lstStyle/>
                        <a:p>
                          <a:r>
                            <a:rPr lang="es-AR" sz="1200" noProof="0">
                              <a:latin typeface="Calibri"/>
                            </a:rPr>
                            <a:t>4°</a:t>
                          </a:r>
                        </a:p>
                      </a:txBody>
                      <a:tcPr/>
                    </a:tc>
                    <a:tc>
                      <a:txBody>
                        <a:bodyPr/>
                        <a:lstStyle/>
                        <a:p>
                          <a:r>
                            <a:rPr lang="es-AR" sz="1200" noProof="0">
                              <a:latin typeface="Calibri"/>
                            </a:rPr>
                            <a:t>Frenado regenerativo directo</a:t>
                          </a:r>
                        </a:p>
                      </a:txBody>
                      <a:tcPr/>
                    </a:tc>
                    <a:tc>
                      <a:txBody>
                        <a:bodyPr/>
                        <a:lstStyle/>
                        <a:p>
                          <a:endParaRPr lang="es-AR" sz="1200" noProof="0" dirty="0">
                            <a:latin typeface="Calibri"/>
                          </a:endParaRPr>
                        </a:p>
                      </a:txBody>
                      <a:tcPr/>
                    </a:tc>
                    <a:tc>
                      <a:txBody>
                        <a:bodyPr/>
                        <a:lstStyle/>
                        <a:p>
                          <a:endParaRPr lang="es-AR" sz="1200" noProof="0">
                            <a:latin typeface="Calibri"/>
                          </a:endParaRPr>
                        </a:p>
                      </a:txBody>
                      <a:tcPr/>
                    </a:tc>
                    <a:extLst>
                      <a:ext uri="{0D108BD9-81ED-4DB2-BD59-A6C34878D82A}">
                        <a16:rowId xmlns:a16="http://schemas.microsoft.com/office/drawing/2014/main" val="10003"/>
                      </a:ext>
                    </a:extLst>
                  </a:tr>
                  <a:tr h="335280">
                    <a:tc>
                      <a:txBody>
                        <a:bodyPr/>
                        <a:lstStyle/>
                        <a:p>
                          <a:r>
                            <a:rPr lang="es-AR" sz="1200" noProof="0">
                              <a:latin typeface="Calibri"/>
                            </a:rPr>
                            <a:t>t=1.1s → 1.7s</a:t>
                          </a:r>
                        </a:p>
                      </a:txBody>
                      <a:tcPr>
                        <a:solidFill>
                          <a:srgbClr val="F0F4F8"/>
                        </a:solidFill>
                      </a:tcPr>
                    </a:tc>
                    <a:tc>
                      <a:txBody>
                        <a:bodyPr/>
                        <a:lstStyle/>
                        <a:p>
                          <a:r>
                            <a:rPr lang="es-AR" sz="1200" noProof="0">
                              <a:latin typeface="Calibri"/>
                            </a:rPr>
                            <a:t>&lt; 0</a:t>
                          </a:r>
                        </a:p>
                      </a:txBody>
                      <a:tcPr>
                        <a:solidFill>
                          <a:srgbClr val="F0F4F8"/>
                        </a:solidFill>
                      </a:tcPr>
                    </a:tc>
                    <a:tc>
                      <a:txBody>
                        <a:bodyPr/>
                        <a:lstStyle/>
                        <a:p>
                          <a:r>
                            <a:rPr lang="es-AR" sz="1200" noProof="0">
                              <a:latin typeface="Calibri"/>
                            </a:rPr>
                            <a:t>&lt; 0</a:t>
                          </a:r>
                        </a:p>
                      </a:txBody>
                      <a:tcPr>
                        <a:solidFill>
                          <a:srgbClr val="F0F4F8"/>
                        </a:solidFill>
                      </a:tcPr>
                    </a:tc>
                    <a:tc>
                      <a:txBody>
                        <a:bodyPr/>
                        <a:lstStyle/>
                        <a:p>
                          <a:r>
                            <a:rPr lang="es-AR" sz="1200" noProof="0">
                              <a:latin typeface="Calibri"/>
                            </a:rPr>
                            <a:t>3°</a:t>
                          </a:r>
                        </a:p>
                      </a:txBody>
                      <a:tcPr>
                        <a:solidFill>
                          <a:srgbClr val="F0F4F8"/>
                        </a:solidFill>
                      </a:tcPr>
                    </a:tc>
                    <a:tc>
                      <a:txBody>
                        <a:bodyPr/>
                        <a:lstStyle/>
                        <a:p>
                          <a:r>
                            <a:rPr lang="es-AR" sz="1200" noProof="0">
                              <a:latin typeface="Calibri"/>
                            </a:rPr>
                            <a:t>Motorización inversa</a:t>
                          </a:r>
                        </a:p>
                      </a:txBody>
                      <a:tcPr>
                        <a:solidFill>
                          <a:srgbClr val="F0F4F8"/>
                        </a:solidFill>
                      </a:tcPr>
                    </a:tc>
                    <a:tc>
                      <a:txBody>
                        <a:bodyPr/>
                        <a:lstStyle/>
                        <a:p>
                          <a:endParaRPr lang="es-AR" sz="1200" noProof="0">
                            <a:latin typeface="Calibri"/>
                          </a:endParaRPr>
                        </a:p>
                      </a:txBody>
                      <a:tcPr>
                        <a:solidFill>
                          <a:srgbClr val="F0F4F8"/>
                        </a:solidFill>
                      </a:tcPr>
                    </a:tc>
                    <a:tc>
                      <a:txBody>
                        <a:bodyPr/>
                        <a:lstStyle/>
                        <a:p>
                          <a:endParaRPr lang="es-AR" sz="1200" noProof="0">
                            <a:latin typeface="Calibri"/>
                          </a:endParaRPr>
                        </a:p>
                      </a:txBody>
                      <a:tcPr>
                        <a:solidFill>
                          <a:srgbClr val="F0F4F8"/>
                        </a:solidFill>
                      </a:tcPr>
                    </a:tc>
                    <a:extLst>
                      <a:ext uri="{0D108BD9-81ED-4DB2-BD59-A6C34878D82A}">
                        <a16:rowId xmlns:a16="http://schemas.microsoft.com/office/drawing/2014/main" val="10004"/>
                      </a:ext>
                    </a:extLst>
                  </a:tr>
                  <a:tr h="335280">
                    <a:tc>
                      <a:txBody>
                        <a:bodyPr/>
                        <a:lstStyle/>
                        <a:p>
                          <a:r>
                            <a:rPr lang="es-AR" sz="1200" noProof="0">
                              <a:latin typeface="Calibri"/>
                            </a:rPr>
                            <a:t>t=1.7s → 1.9s</a:t>
                          </a:r>
                        </a:p>
                      </a:txBody>
                      <a:tcPr/>
                    </a:tc>
                    <a:tc>
                      <a:txBody>
                        <a:bodyPr/>
                        <a:lstStyle/>
                        <a:p>
                          <a:r>
                            <a:rPr lang="es-AR" sz="1200" noProof="0">
                              <a:latin typeface="Calibri"/>
                            </a:rPr>
                            <a:t>&lt; 0</a:t>
                          </a:r>
                        </a:p>
                      </a:txBody>
                      <a:tcPr/>
                    </a:tc>
                    <a:tc>
                      <a:txBody>
                        <a:bodyPr/>
                        <a:lstStyle/>
                        <a:p>
                          <a:r>
                            <a:rPr lang="es-AR" sz="1200" noProof="0">
                              <a:latin typeface="Calibri"/>
                            </a:rPr>
                            <a:t>&gt; 0</a:t>
                          </a:r>
                        </a:p>
                      </a:txBody>
                      <a:tcPr/>
                    </a:tc>
                    <a:tc>
                      <a:txBody>
                        <a:bodyPr/>
                        <a:lstStyle/>
                        <a:p>
                          <a:r>
                            <a:rPr lang="es-AR" sz="1200" noProof="0" dirty="0">
                              <a:latin typeface="Calibri"/>
                            </a:rPr>
                            <a:t>2°</a:t>
                          </a:r>
                        </a:p>
                      </a:txBody>
                      <a:tcPr/>
                    </a:tc>
                    <a:tc>
                      <a:txBody>
                        <a:bodyPr/>
                        <a:lstStyle/>
                        <a:p>
                          <a:r>
                            <a:rPr lang="es-AR" sz="1200" noProof="0" dirty="0">
                              <a:latin typeface="Calibri"/>
                            </a:rPr>
                            <a:t>Frenado regenerativo inverso</a:t>
                          </a:r>
                        </a:p>
                      </a:txBody>
                      <a:tcPr/>
                    </a:tc>
                    <a:tc>
                      <a:txBody>
                        <a:bodyPr/>
                        <a:lstStyle/>
                        <a:p>
                          <a:endParaRPr lang="es-AR" sz="1200" noProof="0" dirty="0">
                            <a:latin typeface="Calibri"/>
                          </a:endParaRPr>
                        </a:p>
                      </a:txBody>
                      <a:tcPr/>
                    </a:tc>
                    <a:tc>
                      <a:txBody>
                        <a:bodyPr/>
                        <a:lstStyle/>
                        <a:p>
                          <a:endParaRPr lang="es-AR" sz="1200" noProof="0" dirty="0">
                            <a:latin typeface="Calibri"/>
                          </a:endParaRPr>
                        </a:p>
                      </a:txBody>
                      <a:tcPr/>
                    </a:tc>
                    <a:extLst>
                      <a:ext uri="{0D108BD9-81ED-4DB2-BD59-A6C34878D82A}">
                        <a16:rowId xmlns:a16="http://schemas.microsoft.com/office/drawing/2014/main" val="10005"/>
                      </a:ext>
                    </a:extLst>
                  </a:tr>
                </a:tbl>
              </a:graphicData>
            </a:graphic>
          </p:graphicFrame>
        </mc:Choice>
        <mc:Fallback>
          <p:graphicFrame>
            <p:nvGraphicFramePr>
              <p:cNvPr id="14" name="Table 13"/>
              <p:cNvGraphicFramePr>
                <a:graphicFrameLocks noGrp="1"/>
              </p:cNvGraphicFramePr>
              <p:nvPr/>
            </p:nvGraphicFramePr>
            <p:xfrm>
              <a:off x="365760" y="1436844"/>
              <a:ext cx="11430001" cy="2429129"/>
            </p:xfrm>
            <a:graphic>
              <a:graphicData uri="http://schemas.openxmlformats.org/drawingml/2006/table">
                <a:tbl>
                  <a:tblPr firstRow="1" bandRow="1">
                    <a:tableStyleId>{5C22544A-7EE6-4342-B048-85BDC9FD1C3A}</a:tableStyleId>
                  </a:tblPr>
                  <a:tblGrid>
                    <a:gridCol w="707526">
                      <a:extLst>
                        <a:ext uri="{9D8B030D-6E8A-4147-A177-3AD203B41FA5}">
                          <a16:colId xmlns:a16="http://schemas.microsoft.com/office/drawing/2014/main" val="20000"/>
                        </a:ext>
                      </a:extLst>
                    </a:gridCol>
                    <a:gridCol w="399173">
                      <a:extLst>
                        <a:ext uri="{9D8B030D-6E8A-4147-A177-3AD203B41FA5}">
                          <a16:colId xmlns:a16="http://schemas.microsoft.com/office/drawing/2014/main" val="20001"/>
                        </a:ext>
                      </a:extLst>
                    </a:gridCol>
                    <a:gridCol w="513825">
                      <a:extLst>
                        <a:ext uri="{9D8B030D-6E8A-4147-A177-3AD203B41FA5}">
                          <a16:colId xmlns:a16="http://schemas.microsoft.com/office/drawing/2014/main" val="20002"/>
                        </a:ext>
                      </a:extLst>
                    </a:gridCol>
                    <a:gridCol w="1014368">
                      <a:extLst>
                        <a:ext uri="{9D8B030D-6E8A-4147-A177-3AD203B41FA5}">
                          <a16:colId xmlns:a16="http://schemas.microsoft.com/office/drawing/2014/main" val="20003"/>
                        </a:ext>
                      </a:extLst>
                    </a:gridCol>
                    <a:gridCol w="2814222">
                      <a:extLst>
                        <a:ext uri="{9D8B030D-6E8A-4147-A177-3AD203B41FA5}">
                          <a16:colId xmlns:a16="http://schemas.microsoft.com/office/drawing/2014/main" val="20004"/>
                        </a:ext>
                      </a:extLst>
                    </a:gridCol>
                    <a:gridCol w="2823099">
                      <a:extLst>
                        <a:ext uri="{9D8B030D-6E8A-4147-A177-3AD203B41FA5}">
                          <a16:colId xmlns:a16="http://schemas.microsoft.com/office/drawing/2014/main" val="2361017872"/>
                        </a:ext>
                      </a:extLst>
                    </a:gridCol>
                    <a:gridCol w="3157788">
                      <a:extLst>
                        <a:ext uri="{9D8B030D-6E8A-4147-A177-3AD203B41FA5}">
                          <a16:colId xmlns:a16="http://schemas.microsoft.com/office/drawing/2014/main" val="1131909835"/>
                        </a:ext>
                      </a:extLst>
                    </a:gridCol>
                  </a:tblGrid>
                  <a:tr h="386969">
                    <a:tc>
                      <a:txBody>
                        <a:bodyPr/>
                        <a:lstStyle/>
                        <a:p>
                          <a:r>
                            <a:rPr sz="1200" b="1">
                              <a:solidFill>
                                <a:srgbClr val="FFFFFF"/>
                              </a:solidFill>
                              <a:latin typeface="Calibri"/>
                            </a:rPr>
                            <a:t>Instant.</a:t>
                          </a:r>
                        </a:p>
                      </a:txBody>
                      <a:tcPr>
                        <a:solidFill>
                          <a:srgbClr val="1A3A6B"/>
                        </a:solidFill>
                      </a:tcPr>
                    </a:tc>
                    <a:tc>
                      <a:txBody>
                        <a:bodyPr/>
                        <a:lstStyle/>
                        <a:p>
                          <a:endParaRPr lang="es-AR"/>
                        </a:p>
                      </a:txBody>
                      <a:tcPr>
                        <a:blipFill>
                          <a:blip r:embed="rId2"/>
                          <a:stretch>
                            <a:fillRect l="-178788" t="-1563" r="-2572727" b="-535938"/>
                          </a:stretch>
                        </a:blipFill>
                      </a:tcPr>
                    </a:tc>
                    <a:tc>
                      <a:txBody>
                        <a:bodyPr/>
                        <a:lstStyle/>
                        <a:p>
                          <a:endParaRPr lang="es-AR"/>
                        </a:p>
                      </a:txBody>
                      <a:tcPr>
                        <a:blipFill>
                          <a:blip r:embed="rId2"/>
                          <a:stretch>
                            <a:fillRect l="-219048" t="-1563" r="-1921429" b="-535938"/>
                          </a:stretch>
                        </a:blipFill>
                      </a:tcPr>
                    </a:tc>
                    <a:tc>
                      <a:txBody>
                        <a:bodyPr/>
                        <a:lstStyle/>
                        <a:p>
                          <a:r>
                            <a:rPr sz="1200" b="1" dirty="0" err="1">
                              <a:solidFill>
                                <a:srgbClr val="FFFFFF"/>
                              </a:solidFill>
                              <a:latin typeface="Calibri"/>
                            </a:rPr>
                            <a:t>Cuadrante</a:t>
                          </a:r>
                          <a:endParaRPr sz="1200" b="1" dirty="0">
                            <a:solidFill>
                              <a:srgbClr val="FFFFFF"/>
                            </a:solidFill>
                            <a:latin typeface="Calibri"/>
                          </a:endParaRPr>
                        </a:p>
                      </a:txBody>
                      <a:tcPr>
                        <a:solidFill>
                          <a:srgbClr val="1A3A6B"/>
                        </a:solidFill>
                      </a:tcPr>
                    </a:tc>
                    <a:tc>
                      <a:txBody>
                        <a:bodyPr/>
                        <a:lstStyle/>
                        <a:p>
                          <a:r>
                            <a:rPr sz="1200" b="1" dirty="0" err="1">
                              <a:solidFill>
                                <a:srgbClr val="FFFFFF"/>
                              </a:solidFill>
                              <a:latin typeface="Calibri"/>
                            </a:rPr>
                            <a:t>Régimen</a:t>
                          </a:r>
                          <a:endParaRPr sz="1200" b="1" dirty="0">
                            <a:solidFill>
                              <a:srgbClr val="FFFFFF"/>
                            </a:solidFill>
                            <a:latin typeface="Calibri"/>
                          </a:endParaRPr>
                        </a:p>
                      </a:txBody>
                      <a:tcPr>
                        <a:solidFill>
                          <a:srgbClr val="1A3A6B"/>
                        </a:solidFill>
                      </a:tcPr>
                    </a:tc>
                    <a:tc>
                      <a:txBody>
                        <a:bodyPr/>
                        <a:lstStyle/>
                        <a:p>
                          <a:endParaRPr lang="es-AR"/>
                        </a:p>
                      </a:txBody>
                      <a:tcPr>
                        <a:blipFill>
                          <a:blip r:embed="rId2"/>
                          <a:stretch>
                            <a:fillRect l="-193103" t="-1563" r="-112500" b="-535938"/>
                          </a:stretch>
                        </a:blipFill>
                      </a:tcPr>
                    </a:tc>
                    <a:tc>
                      <a:txBody>
                        <a:bodyPr/>
                        <a:lstStyle/>
                        <a:p>
                          <a:endParaRPr lang="es-AR"/>
                        </a:p>
                      </a:txBody>
                      <a:tcPr>
                        <a:blipFill>
                          <a:blip r:embed="rId2"/>
                          <a:stretch>
                            <a:fillRect l="-262548" t="-1563" r="-772" b="-535938"/>
                          </a:stretch>
                        </a:blipFill>
                      </a:tcPr>
                    </a:tc>
                    <a:extLst>
                      <a:ext uri="{0D108BD9-81ED-4DB2-BD59-A6C34878D82A}">
                        <a16:rowId xmlns:a16="http://schemas.microsoft.com/office/drawing/2014/main" val="10000"/>
                      </a:ext>
                    </a:extLst>
                  </a:tr>
                  <a:tr h="335280">
                    <a:tc>
                      <a:txBody>
                        <a:bodyPr/>
                        <a:lstStyle/>
                        <a:p>
                          <a:r>
                            <a:rPr lang="es-AR" sz="1200" noProof="0">
                              <a:latin typeface="Calibri"/>
                            </a:rPr>
                            <a:t>t=0.1s</a:t>
                          </a:r>
                        </a:p>
                      </a:txBody>
                      <a:tcPr/>
                    </a:tc>
                    <a:tc>
                      <a:txBody>
                        <a:bodyPr/>
                        <a:lstStyle/>
                        <a:p>
                          <a:r>
                            <a:rPr lang="es-AR" sz="1200" noProof="0" dirty="0">
                              <a:latin typeface="Calibri"/>
                            </a:rPr>
                            <a:t>&gt; 0</a:t>
                          </a:r>
                        </a:p>
                      </a:txBody>
                      <a:tcPr/>
                    </a:tc>
                    <a:tc>
                      <a:txBody>
                        <a:bodyPr/>
                        <a:lstStyle/>
                        <a:p>
                          <a:r>
                            <a:rPr lang="es-AR" sz="1200" noProof="0">
                              <a:latin typeface="Calibri"/>
                            </a:rPr>
                            <a:t>&gt; 0</a:t>
                          </a:r>
                        </a:p>
                      </a:txBody>
                      <a:tcPr/>
                    </a:tc>
                    <a:tc>
                      <a:txBody>
                        <a:bodyPr/>
                        <a:lstStyle/>
                        <a:p>
                          <a:r>
                            <a:rPr lang="es-AR" sz="1200" noProof="0">
                              <a:latin typeface="Calibri"/>
                            </a:rPr>
                            <a:t>1°</a:t>
                          </a:r>
                        </a:p>
                      </a:txBody>
                      <a:tcPr/>
                    </a:tc>
                    <a:tc>
                      <a:txBody>
                        <a:bodyPr/>
                        <a:lstStyle/>
                        <a:p>
                          <a:r>
                            <a:rPr lang="es-AR" sz="1200" noProof="0">
                              <a:latin typeface="Calibri"/>
                            </a:rPr>
                            <a:t>Motorización directa</a:t>
                          </a:r>
                        </a:p>
                      </a:txBody>
                      <a:tcPr/>
                    </a:tc>
                    <a:tc>
                      <a:txBody>
                        <a:bodyPr/>
                        <a:lstStyle/>
                        <a:p>
                          <a:endParaRPr lang="es-AR" sz="1200" noProof="0" dirty="0">
                            <a:latin typeface="Calibri"/>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s-AR" sz="1200" noProof="0" dirty="0">
                            <a:latin typeface="+mn-lt"/>
                          </a:endParaRPr>
                        </a:p>
                      </a:txBody>
                      <a:tcPr/>
                    </a:tc>
                    <a:extLst>
                      <a:ext uri="{0D108BD9-81ED-4DB2-BD59-A6C34878D82A}">
                        <a16:rowId xmlns:a16="http://schemas.microsoft.com/office/drawing/2014/main" val="10001"/>
                      </a:ext>
                    </a:extLst>
                  </a:tr>
                  <a:tr h="335280">
                    <a:tc>
                      <a:txBody>
                        <a:bodyPr/>
                        <a:lstStyle/>
                        <a:p>
                          <a:r>
                            <a:rPr lang="es-AR" sz="1200" noProof="0" dirty="0">
                              <a:latin typeface="Calibri"/>
                            </a:rPr>
                            <a:t>t=0.3s</a:t>
                          </a:r>
                        </a:p>
                      </a:txBody>
                      <a:tcPr>
                        <a:solidFill>
                          <a:srgbClr val="F0F4F8"/>
                        </a:solidFill>
                      </a:tcPr>
                    </a:tc>
                    <a:tc>
                      <a:txBody>
                        <a:bodyPr/>
                        <a:lstStyle/>
                        <a:p>
                          <a:r>
                            <a:rPr lang="es-AR" sz="1200" noProof="0">
                              <a:latin typeface="Calibri"/>
                            </a:rPr>
                            <a:t>&gt; 0</a:t>
                          </a:r>
                        </a:p>
                      </a:txBody>
                      <a:tcPr>
                        <a:solidFill>
                          <a:srgbClr val="F0F4F8"/>
                        </a:solidFill>
                      </a:tcPr>
                    </a:tc>
                    <a:tc>
                      <a:txBody>
                        <a:bodyPr/>
                        <a:lstStyle/>
                        <a:p>
                          <a:r>
                            <a:rPr lang="es-AR" sz="1200" noProof="0">
                              <a:latin typeface="Calibri"/>
                            </a:rPr>
                            <a:t>&gt; 0</a:t>
                          </a:r>
                        </a:p>
                      </a:txBody>
                      <a:tcPr>
                        <a:solidFill>
                          <a:srgbClr val="F0F4F8"/>
                        </a:solidFill>
                      </a:tcPr>
                    </a:tc>
                    <a:tc>
                      <a:txBody>
                        <a:bodyPr/>
                        <a:lstStyle/>
                        <a:p>
                          <a:r>
                            <a:rPr lang="es-AR" sz="1200" noProof="0">
                              <a:latin typeface="Calibri"/>
                            </a:rPr>
                            <a:t>1°</a:t>
                          </a:r>
                        </a:p>
                      </a:txBody>
                      <a:tcPr>
                        <a:solidFill>
                          <a:srgbClr val="F0F4F8"/>
                        </a:solidFill>
                      </a:tcPr>
                    </a:tc>
                    <a:tc>
                      <a:txBody>
                        <a:bodyPr/>
                        <a:lstStyle/>
                        <a:p>
                          <a:r>
                            <a:rPr lang="es-AR" sz="1200" noProof="0" dirty="0">
                              <a:latin typeface="Calibri"/>
                            </a:rPr>
                            <a:t>Motorización directa + carga</a:t>
                          </a:r>
                        </a:p>
                      </a:txBody>
                      <a:tcPr>
                        <a:solidFill>
                          <a:srgbClr val="F0F4F8"/>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s-AR" sz="1200" noProof="0" dirty="0">
                            <a:latin typeface="+mn-lt"/>
                          </a:endParaRPr>
                        </a:p>
                      </a:txBody>
                      <a:tcPr>
                        <a:solidFill>
                          <a:srgbClr val="F0F4F8"/>
                        </a:solidFill>
                      </a:tcPr>
                    </a:tc>
                    <a:tc>
                      <a:txBody>
                        <a:bodyPr/>
                        <a:lstStyle/>
                        <a:p>
                          <a:endParaRPr lang="es-AR" sz="1200" noProof="0" dirty="0">
                            <a:latin typeface="Calibri"/>
                          </a:endParaRPr>
                        </a:p>
                      </a:txBody>
                      <a:tcPr>
                        <a:solidFill>
                          <a:srgbClr val="F0F4F8"/>
                        </a:solidFill>
                      </a:tcPr>
                    </a:tc>
                    <a:extLst>
                      <a:ext uri="{0D108BD9-81ED-4DB2-BD59-A6C34878D82A}">
                        <a16:rowId xmlns:a16="http://schemas.microsoft.com/office/drawing/2014/main" val="10002"/>
                      </a:ext>
                    </a:extLst>
                  </a:tr>
                  <a:tr h="457200">
                    <a:tc>
                      <a:txBody>
                        <a:bodyPr/>
                        <a:lstStyle/>
                        <a:p>
                          <a:r>
                            <a:rPr lang="es-AR" sz="1200" noProof="0" dirty="0">
                              <a:latin typeface="Calibri"/>
                            </a:rPr>
                            <a:t>t=0.7s → 1.0s</a:t>
                          </a:r>
                        </a:p>
                      </a:txBody>
                      <a:tcPr/>
                    </a:tc>
                    <a:tc>
                      <a:txBody>
                        <a:bodyPr/>
                        <a:lstStyle/>
                        <a:p>
                          <a:r>
                            <a:rPr lang="es-AR" sz="1200" noProof="0">
                              <a:latin typeface="Calibri"/>
                            </a:rPr>
                            <a:t>&gt; 0</a:t>
                          </a:r>
                        </a:p>
                      </a:txBody>
                      <a:tcPr/>
                    </a:tc>
                    <a:tc>
                      <a:txBody>
                        <a:bodyPr/>
                        <a:lstStyle/>
                        <a:p>
                          <a:r>
                            <a:rPr lang="es-AR" sz="1200" noProof="0">
                              <a:latin typeface="Calibri"/>
                            </a:rPr>
                            <a:t>&lt; 0</a:t>
                          </a:r>
                        </a:p>
                      </a:txBody>
                      <a:tcPr/>
                    </a:tc>
                    <a:tc>
                      <a:txBody>
                        <a:bodyPr/>
                        <a:lstStyle/>
                        <a:p>
                          <a:r>
                            <a:rPr lang="es-AR" sz="1200" noProof="0">
                              <a:latin typeface="Calibri"/>
                            </a:rPr>
                            <a:t>4°</a:t>
                          </a:r>
                        </a:p>
                      </a:txBody>
                      <a:tcPr/>
                    </a:tc>
                    <a:tc>
                      <a:txBody>
                        <a:bodyPr/>
                        <a:lstStyle/>
                        <a:p>
                          <a:r>
                            <a:rPr lang="es-AR" sz="1200" noProof="0">
                              <a:latin typeface="Calibri"/>
                            </a:rPr>
                            <a:t>Frenado regenerativo directo</a:t>
                          </a:r>
                        </a:p>
                      </a:txBody>
                      <a:tcPr/>
                    </a:tc>
                    <a:tc>
                      <a:txBody>
                        <a:bodyPr/>
                        <a:lstStyle/>
                        <a:p>
                          <a:endParaRPr lang="es-AR" sz="1200" noProof="0" dirty="0">
                            <a:latin typeface="Calibri"/>
                          </a:endParaRPr>
                        </a:p>
                      </a:txBody>
                      <a:tcPr/>
                    </a:tc>
                    <a:tc>
                      <a:txBody>
                        <a:bodyPr/>
                        <a:lstStyle/>
                        <a:p>
                          <a:endParaRPr lang="es-AR" sz="1200" noProof="0">
                            <a:latin typeface="Calibri"/>
                          </a:endParaRPr>
                        </a:p>
                      </a:txBody>
                      <a:tcPr/>
                    </a:tc>
                    <a:extLst>
                      <a:ext uri="{0D108BD9-81ED-4DB2-BD59-A6C34878D82A}">
                        <a16:rowId xmlns:a16="http://schemas.microsoft.com/office/drawing/2014/main" val="10003"/>
                      </a:ext>
                    </a:extLst>
                  </a:tr>
                  <a:tr h="457200">
                    <a:tc>
                      <a:txBody>
                        <a:bodyPr/>
                        <a:lstStyle/>
                        <a:p>
                          <a:r>
                            <a:rPr lang="es-AR" sz="1200" noProof="0">
                              <a:latin typeface="Calibri"/>
                            </a:rPr>
                            <a:t>t=1.1s → 1.7s</a:t>
                          </a:r>
                        </a:p>
                      </a:txBody>
                      <a:tcPr>
                        <a:solidFill>
                          <a:srgbClr val="F0F4F8"/>
                        </a:solidFill>
                      </a:tcPr>
                    </a:tc>
                    <a:tc>
                      <a:txBody>
                        <a:bodyPr/>
                        <a:lstStyle/>
                        <a:p>
                          <a:r>
                            <a:rPr lang="es-AR" sz="1200" noProof="0">
                              <a:latin typeface="Calibri"/>
                            </a:rPr>
                            <a:t>&lt; 0</a:t>
                          </a:r>
                        </a:p>
                      </a:txBody>
                      <a:tcPr>
                        <a:solidFill>
                          <a:srgbClr val="F0F4F8"/>
                        </a:solidFill>
                      </a:tcPr>
                    </a:tc>
                    <a:tc>
                      <a:txBody>
                        <a:bodyPr/>
                        <a:lstStyle/>
                        <a:p>
                          <a:r>
                            <a:rPr lang="es-AR" sz="1200" noProof="0">
                              <a:latin typeface="Calibri"/>
                            </a:rPr>
                            <a:t>&lt; 0</a:t>
                          </a:r>
                        </a:p>
                      </a:txBody>
                      <a:tcPr>
                        <a:solidFill>
                          <a:srgbClr val="F0F4F8"/>
                        </a:solidFill>
                      </a:tcPr>
                    </a:tc>
                    <a:tc>
                      <a:txBody>
                        <a:bodyPr/>
                        <a:lstStyle/>
                        <a:p>
                          <a:r>
                            <a:rPr lang="es-AR" sz="1200" noProof="0">
                              <a:latin typeface="Calibri"/>
                            </a:rPr>
                            <a:t>3°</a:t>
                          </a:r>
                        </a:p>
                      </a:txBody>
                      <a:tcPr>
                        <a:solidFill>
                          <a:srgbClr val="F0F4F8"/>
                        </a:solidFill>
                      </a:tcPr>
                    </a:tc>
                    <a:tc>
                      <a:txBody>
                        <a:bodyPr/>
                        <a:lstStyle/>
                        <a:p>
                          <a:r>
                            <a:rPr lang="es-AR" sz="1200" noProof="0">
                              <a:latin typeface="Calibri"/>
                            </a:rPr>
                            <a:t>Motorización inversa</a:t>
                          </a:r>
                        </a:p>
                      </a:txBody>
                      <a:tcPr>
                        <a:solidFill>
                          <a:srgbClr val="F0F4F8"/>
                        </a:solidFill>
                      </a:tcPr>
                    </a:tc>
                    <a:tc>
                      <a:txBody>
                        <a:bodyPr/>
                        <a:lstStyle/>
                        <a:p>
                          <a:endParaRPr lang="es-AR" sz="1200" noProof="0">
                            <a:latin typeface="Calibri"/>
                          </a:endParaRPr>
                        </a:p>
                      </a:txBody>
                      <a:tcPr>
                        <a:solidFill>
                          <a:srgbClr val="F0F4F8"/>
                        </a:solidFill>
                      </a:tcPr>
                    </a:tc>
                    <a:tc>
                      <a:txBody>
                        <a:bodyPr/>
                        <a:lstStyle/>
                        <a:p>
                          <a:endParaRPr lang="es-AR" sz="1200" noProof="0">
                            <a:latin typeface="Calibri"/>
                          </a:endParaRPr>
                        </a:p>
                      </a:txBody>
                      <a:tcPr>
                        <a:solidFill>
                          <a:srgbClr val="F0F4F8"/>
                        </a:solidFill>
                      </a:tcPr>
                    </a:tc>
                    <a:extLst>
                      <a:ext uri="{0D108BD9-81ED-4DB2-BD59-A6C34878D82A}">
                        <a16:rowId xmlns:a16="http://schemas.microsoft.com/office/drawing/2014/main" val="10004"/>
                      </a:ext>
                    </a:extLst>
                  </a:tr>
                  <a:tr h="457200">
                    <a:tc>
                      <a:txBody>
                        <a:bodyPr/>
                        <a:lstStyle/>
                        <a:p>
                          <a:r>
                            <a:rPr lang="es-AR" sz="1200" noProof="0">
                              <a:latin typeface="Calibri"/>
                            </a:rPr>
                            <a:t>t=1.7s → 1.9s</a:t>
                          </a:r>
                        </a:p>
                      </a:txBody>
                      <a:tcPr/>
                    </a:tc>
                    <a:tc>
                      <a:txBody>
                        <a:bodyPr/>
                        <a:lstStyle/>
                        <a:p>
                          <a:r>
                            <a:rPr lang="es-AR" sz="1200" noProof="0">
                              <a:latin typeface="Calibri"/>
                            </a:rPr>
                            <a:t>&lt; 0</a:t>
                          </a:r>
                        </a:p>
                      </a:txBody>
                      <a:tcPr/>
                    </a:tc>
                    <a:tc>
                      <a:txBody>
                        <a:bodyPr/>
                        <a:lstStyle/>
                        <a:p>
                          <a:r>
                            <a:rPr lang="es-AR" sz="1200" noProof="0">
                              <a:latin typeface="Calibri"/>
                            </a:rPr>
                            <a:t>&gt; 0</a:t>
                          </a:r>
                        </a:p>
                      </a:txBody>
                      <a:tcPr/>
                    </a:tc>
                    <a:tc>
                      <a:txBody>
                        <a:bodyPr/>
                        <a:lstStyle/>
                        <a:p>
                          <a:r>
                            <a:rPr lang="es-AR" sz="1200" noProof="0" dirty="0">
                              <a:latin typeface="Calibri"/>
                            </a:rPr>
                            <a:t>2°</a:t>
                          </a:r>
                        </a:p>
                      </a:txBody>
                      <a:tcPr/>
                    </a:tc>
                    <a:tc>
                      <a:txBody>
                        <a:bodyPr/>
                        <a:lstStyle/>
                        <a:p>
                          <a:r>
                            <a:rPr lang="es-AR" sz="1200" noProof="0" dirty="0">
                              <a:latin typeface="Calibri"/>
                            </a:rPr>
                            <a:t>Frenado regenerativo inverso</a:t>
                          </a:r>
                        </a:p>
                      </a:txBody>
                      <a:tcPr/>
                    </a:tc>
                    <a:tc>
                      <a:txBody>
                        <a:bodyPr/>
                        <a:lstStyle/>
                        <a:p>
                          <a:endParaRPr lang="es-AR" sz="1200" noProof="0" dirty="0">
                            <a:latin typeface="Calibri"/>
                          </a:endParaRPr>
                        </a:p>
                      </a:txBody>
                      <a:tcPr/>
                    </a:tc>
                    <a:tc>
                      <a:txBody>
                        <a:bodyPr/>
                        <a:lstStyle/>
                        <a:p>
                          <a:endParaRPr lang="es-AR" sz="1200" noProof="0" dirty="0">
                            <a:latin typeface="Calibri"/>
                          </a:endParaRPr>
                        </a:p>
                      </a:txBody>
                      <a:tcPr/>
                    </a:tc>
                    <a:extLst>
                      <a:ext uri="{0D108BD9-81ED-4DB2-BD59-A6C34878D82A}">
                        <a16:rowId xmlns:a16="http://schemas.microsoft.com/office/drawing/2014/main" val="10005"/>
                      </a:ext>
                    </a:extLst>
                  </a:tr>
                </a:tbl>
              </a:graphicData>
            </a:graphic>
          </p:graphicFrame>
        </mc:Fallback>
      </mc:AlternateContent>
    </p:spTree>
    <p:extLst>
      <p:ext uri="{BB962C8B-B14F-4D97-AF65-F5344CB8AC3E}">
        <p14:creationId xmlns:p14="http://schemas.microsoft.com/office/powerpoint/2010/main" val="20996193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7" name="Rectangle 6"/>
          <p:cNvSpPr/>
          <p:nvPr/>
        </p:nvSpPr>
        <p:spPr>
          <a:xfrm>
            <a:off x="36576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03120"/>
            <a:ext cx="5303520" cy="548640"/>
          </a:xfrm>
          <a:prstGeom prst="rect">
            <a:avLst/>
          </a:prstGeom>
          <a:noFill/>
        </p:spPr>
        <p:txBody>
          <a:bodyPr wrap="square">
            <a:spAutoFit/>
          </a:bodyPr>
          <a:lstStyle/>
          <a:p>
            <a:pPr algn="ctr"/>
            <a:r>
              <a:rPr sz="1100" b="1">
                <a:solidFill>
                  <a:srgbClr val="C35A00"/>
                </a:solidFill>
                <a:latin typeface="Calibri"/>
              </a:rPr>
              <a:t>🖼  FIGURA: Figura 25 — Curva Tm vs ωm
(plano de fases: los 4 cuadrantes de operación del accionamiento)</a:t>
            </a:r>
          </a:p>
        </p:txBody>
      </p:sp>
      <p:sp>
        <p:nvSpPr>
          <p:cNvPr id="9" name="TextBox 8"/>
          <p:cNvSpPr txBox="1"/>
          <p:nvPr/>
        </p:nvSpPr>
        <p:spPr>
          <a:xfrm>
            <a:off x="45720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03120"/>
            <a:ext cx="5303520" cy="548640"/>
          </a:xfrm>
          <a:prstGeom prst="rect">
            <a:avLst/>
          </a:prstGeom>
          <a:noFill/>
        </p:spPr>
        <p:txBody>
          <a:bodyPr wrap="square">
            <a:spAutoFit/>
          </a:bodyPr>
          <a:lstStyle/>
          <a:p>
            <a:pPr algn="ctr"/>
            <a:r>
              <a:rPr sz="1100" b="1">
                <a:solidFill>
                  <a:srgbClr val="C35A00"/>
                </a:solidFill>
                <a:latin typeface="Calibri"/>
              </a:rPr>
              <a:t>🖼  FIGURA: Figura 26 — Evolución temporal del ángulo de desfasaje electromagnético δ(t)</a:t>
            </a:r>
          </a:p>
        </p:txBody>
      </p:sp>
      <p:sp>
        <p:nvSpPr>
          <p:cNvPr id="12" name="TextBox 11"/>
          <p:cNvSpPr txBox="1"/>
          <p:nvPr/>
        </p:nvSpPr>
        <p:spPr>
          <a:xfrm>
            <a:off x="621792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365760" y="4096512"/>
            <a:ext cx="11430000" cy="365760"/>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graphicFrame>
        <p:nvGraphicFramePr>
          <p:cNvPr id="14" name="Table 13"/>
          <p:cNvGraphicFramePr>
            <a:graphicFrameLocks noGrp="1"/>
          </p:cNvGraphicFramePr>
          <p:nvPr/>
        </p:nvGraphicFramePr>
        <p:xfrm>
          <a:off x="365760" y="4526280"/>
          <a:ext cx="11430000" cy="20116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6309360">
                  <a:extLst>
                    <a:ext uri="{9D8B030D-6E8A-4147-A177-3AD203B41FA5}">
                      <a16:colId xmlns:a16="http://schemas.microsoft.com/office/drawing/2014/main" val="20004"/>
                    </a:ext>
                  </a:extLst>
                </a:gridCol>
              </a:tblGrid>
              <a:tr h="335280">
                <a:tc>
                  <a:txBody>
                    <a:bodyPr/>
                    <a:lstStyle/>
                    <a:p>
                      <a:r>
                        <a:rPr sz="1200" b="1">
                          <a:solidFill>
                            <a:srgbClr val="FFFFFF"/>
                          </a:solidFill>
                          <a:latin typeface="Calibri"/>
                        </a:rPr>
                        <a:t>Instant.</a:t>
                      </a:r>
                    </a:p>
                  </a:txBody>
                  <a:tcPr>
                    <a:solidFill>
                      <a:srgbClr val="1A3A6B"/>
                    </a:solidFill>
                  </a:tcPr>
                </a:tc>
                <a:tc>
                  <a:txBody>
                    <a:bodyPr/>
                    <a:lstStyle/>
                    <a:p>
                      <a:r>
                        <a:rPr sz="1200" b="1">
                          <a:solidFill>
                            <a:srgbClr val="FFFFFF"/>
                          </a:solidFill>
                          <a:latin typeface="Calibri"/>
                        </a:rPr>
                        <a:t>ωm</a:t>
                      </a:r>
                    </a:p>
                  </a:txBody>
                  <a:tcPr>
                    <a:solidFill>
                      <a:srgbClr val="1A3A6B"/>
                    </a:solidFill>
                  </a:tcPr>
                </a:tc>
                <a:tc>
                  <a:txBody>
                    <a:bodyPr/>
                    <a:lstStyle/>
                    <a:p>
                      <a:r>
                        <a:rPr sz="1200" b="1">
                          <a:solidFill>
                            <a:srgbClr val="FFFFFF"/>
                          </a:solidFill>
                          <a:latin typeface="Calibri"/>
                        </a:rPr>
                        <a:t>Tm</a:t>
                      </a:r>
                    </a:p>
                  </a:txBody>
                  <a:tcPr>
                    <a:solidFill>
                      <a:srgbClr val="1A3A6B"/>
                    </a:solidFill>
                  </a:tcPr>
                </a:tc>
                <a:tc>
                  <a:txBody>
                    <a:bodyPr/>
                    <a:lstStyle/>
                    <a:p>
                      <a:r>
                        <a:rPr sz="1200" b="1">
                          <a:solidFill>
                            <a:srgbClr val="FFFFFF"/>
                          </a:solidFill>
                          <a:latin typeface="Calibri"/>
                        </a:rPr>
                        <a:t>Cuadrante</a:t>
                      </a:r>
                    </a:p>
                  </a:txBody>
                  <a:tcPr>
                    <a:solidFill>
                      <a:srgbClr val="1A3A6B"/>
                    </a:solidFill>
                  </a:tcPr>
                </a:tc>
                <a:tc>
                  <a:txBody>
                    <a:bodyPr/>
                    <a:lstStyle/>
                    <a:p>
                      <a:r>
                        <a:rPr sz="1200" b="1">
                          <a:solidFill>
                            <a:srgbClr val="FFFFFF"/>
                          </a:solidFill>
                          <a:latin typeface="Calibri"/>
                        </a:rPr>
                        <a:t>Régimen</a:t>
                      </a:r>
                    </a:p>
                  </a:txBody>
                  <a:tcPr>
                    <a:solidFill>
                      <a:srgbClr val="1A3A6B"/>
                    </a:solidFill>
                  </a:tcPr>
                </a:tc>
                <a:extLst>
                  <a:ext uri="{0D108BD9-81ED-4DB2-BD59-A6C34878D82A}">
                    <a16:rowId xmlns:a16="http://schemas.microsoft.com/office/drawing/2014/main" val="10000"/>
                  </a:ext>
                </a:extLst>
              </a:tr>
              <a:tr h="335280">
                <a:tc>
                  <a:txBody>
                    <a:bodyPr/>
                    <a:lstStyle/>
                    <a:p>
                      <a:r>
                        <a:rPr sz="1200">
                          <a:latin typeface="Calibri"/>
                        </a:rPr>
                        <a:t>t=0.1s</a:t>
                      </a:r>
                    </a:p>
                  </a:txBody>
                  <a:tcPr/>
                </a:tc>
                <a:tc>
                  <a:txBody>
                    <a:bodyPr/>
                    <a:lstStyle/>
                    <a:p>
                      <a:r>
                        <a:rPr sz="1200">
                          <a:latin typeface="Calibri"/>
                        </a:rPr>
                        <a:t>&gt; 0</a:t>
                      </a:r>
                    </a:p>
                  </a:txBody>
                  <a:tcPr/>
                </a:tc>
                <a:tc>
                  <a:txBody>
                    <a:bodyPr/>
                    <a:lstStyle/>
                    <a:p>
                      <a:r>
                        <a:rPr sz="1200">
                          <a:latin typeface="Calibri"/>
                        </a:rPr>
                        <a:t>&gt; 0</a:t>
                      </a:r>
                    </a:p>
                  </a:txBody>
                  <a:tcPr/>
                </a:tc>
                <a:tc>
                  <a:txBody>
                    <a:bodyPr/>
                    <a:lstStyle/>
                    <a:p>
                      <a:r>
                        <a:rPr sz="1200">
                          <a:latin typeface="Calibri"/>
                        </a:rPr>
                        <a:t>1°</a:t>
                      </a:r>
                    </a:p>
                  </a:txBody>
                  <a:tcPr/>
                </a:tc>
                <a:tc>
                  <a:txBody>
                    <a:bodyPr/>
                    <a:lstStyle/>
                    <a:p>
                      <a:r>
                        <a:rPr sz="1200">
                          <a:latin typeface="Calibri"/>
                        </a:rPr>
                        <a:t>Motorización directa</a:t>
                      </a:r>
                    </a:p>
                  </a:txBody>
                  <a:tcPr/>
                </a:tc>
                <a:extLst>
                  <a:ext uri="{0D108BD9-81ED-4DB2-BD59-A6C34878D82A}">
                    <a16:rowId xmlns:a16="http://schemas.microsoft.com/office/drawing/2014/main" val="10001"/>
                  </a:ext>
                </a:extLst>
              </a:tr>
              <a:tr h="335280">
                <a:tc>
                  <a:txBody>
                    <a:bodyPr/>
                    <a:lstStyle/>
                    <a:p>
                      <a:r>
                        <a:rPr sz="1200">
                          <a:latin typeface="Calibri"/>
                        </a:rPr>
                        <a:t>t=0.3s</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1°</a:t>
                      </a:r>
                    </a:p>
                  </a:txBody>
                  <a:tcPr>
                    <a:solidFill>
                      <a:srgbClr val="F0F4F8"/>
                    </a:solidFill>
                  </a:tcPr>
                </a:tc>
                <a:tc>
                  <a:txBody>
                    <a:bodyPr/>
                    <a:lstStyle/>
                    <a:p>
                      <a:r>
                        <a:rPr sz="1200">
                          <a:latin typeface="Calibri"/>
                        </a:rPr>
                        <a:t>Motorización directa + carga</a:t>
                      </a:r>
                    </a:p>
                  </a:txBody>
                  <a:tcPr>
                    <a:solidFill>
                      <a:srgbClr val="F0F4F8"/>
                    </a:solidFill>
                  </a:tcPr>
                </a:tc>
                <a:extLst>
                  <a:ext uri="{0D108BD9-81ED-4DB2-BD59-A6C34878D82A}">
                    <a16:rowId xmlns:a16="http://schemas.microsoft.com/office/drawing/2014/main" val="10002"/>
                  </a:ext>
                </a:extLst>
              </a:tr>
              <a:tr h="335280">
                <a:tc>
                  <a:txBody>
                    <a:bodyPr/>
                    <a:lstStyle/>
                    <a:p>
                      <a:r>
                        <a:rPr sz="1200">
                          <a:latin typeface="Calibri"/>
                        </a:rPr>
                        <a:t>t=0.7s → 1.0s</a:t>
                      </a:r>
                    </a:p>
                  </a:txBody>
                  <a:tcPr/>
                </a:tc>
                <a:tc>
                  <a:txBody>
                    <a:bodyPr/>
                    <a:lstStyle/>
                    <a:p>
                      <a:r>
                        <a:rPr sz="1200">
                          <a:latin typeface="Calibri"/>
                        </a:rPr>
                        <a:t>&gt; 0</a:t>
                      </a:r>
                    </a:p>
                  </a:txBody>
                  <a:tcPr/>
                </a:tc>
                <a:tc>
                  <a:txBody>
                    <a:bodyPr/>
                    <a:lstStyle/>
                    <a:p>
                      <a:r>
                        <a:rPr sz="1200">
                          <a:latin typeface="Calibri"/>
                        </a:rPr>
                        <a:t>&lt; 0</a:t>
                      </a:r>
                    </a:p>
                  </a:txBody>
                  <a:tcPr/>
                </a:tc>
                <a:tc>
                  <a:txBody>
                    <a:bodyPr/>
                    <a:lstStyle/>
                    <a:p>
                      <a:r>
                        <a:rPr sz="1200">
                          <a:latin typeface="Calibri"/>
                        </a:rPr>
                        <a:t>4°</a:t>
                      </a:r>
                    </a:p>
                  </a:txBody>
                  <a:tcPr/>
                </a:tc>
                <a:tc>
                  <a:txBody>
                    <a:bodyPr/>
                    <a:lstStyle/>
                    <a:p>
                      <a:r>
                        <a:rPr sz="1200">
                          <a:latin typeface="Calibri"/>
                        </a:rPr>
                        <a:t>Frenado regenerativo directo</a:t>
                      </a:r>
                    </a:p>
                  </a:txBody>
                  <a:tcPr/>
                </a:tc>
                <a:extLst>
                  <a:ext uri="{0D108BD9-81ED-4DB2-BD59-A6C34878D82A}">
                    <a16:rowId xmlns:a16="http://schemas.microsoft.com/office/drawing/2014/main" val="10003"/>
                  </a:ext>
                </a:extLst>
              </a:tr>
              <a:tr h="335280">
                <a:tc>
                  <a:txBody>
                    <a:bodyPr/>
                    <a:lstStyle/>
                    <a:p>
                      <a:r>
                        <a:rPr sz="1200">
                          <a:latin typeface="Calibri"/>
                        </a:rPr>
                        <a:t>t=1.1s → 1.7s</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3°</a:t>
                      </a:r>
                    </a:p>
                  </a:txBody>
                  <a:tcPr>
                    <a:solidFill>
                      <a:srgbClr val="F0F4F8"/>
                    </a:solidFill>
                  </a:tcPr>
                </a:tc>
                <a:tc>
                  <a:txBody>
                    <a:bodyPr/>
                    <a:lstStyle/>
                    <a:p>
                      <a:r>
                        <a:rPr sz="1200">
                          <a:latin typeface="Calibri"/>
                        </a:rPr>
                        <a:t>Motorización inversa</a:t>
                      </a:r>
                    </a:p>
                  </a:txBody>
                  <a:tcPr>
                    <a:solidFill>
                      <a:srgbClr val="F0F4F8"/>
                    </a:solidFill>
                  </a:tcPr>
                </a:tc>
                <a:extLst>
                  <a:ext uri="{0D108BD9-81ED-4DB2-BD59-A6C34878D82A}">
                    <a16:rowId xmlns:a16="http://schemas.microsoft.com/office/drawing/2014/main" val="10004"/>
                  </a:ext>
                </a:extLst>
              </a:tr>
              <a:tr h="335280">
                <a:tc>
                  <a:txBody>
                    <a:bodyPr/>
                    <a:lstStyle/>
                    <a:p>
                      <a:r>
                        <a:rPr sz="1200">
                          <a:latin typeface="Calibri"/>
                        </a:rPr>
                        <a:t>t=1.7s → 1.9s</a:t>
                      </a:r>
                    </a:p>
                  </a:txBody>
                  <a:tcPr/>
                </a:tc>
                <a:tc>
                  <a:txBody>
                    <a:bodyPr/>
                    <a:lstStyle/>
                    <a:p>
                      <a:r>
                        <a:rPr sz="1200">
                          <a:latin typeface="Calibri"/>
                        </a:rPr>
                        <a:t>&lt; 0</a:t>
                      </a:r>
                    </a:p>
                  </a:txBody>
                  <a:tcPr/>
                </a:tc>
                <a:tc>
                  <a:txBody>
                    <a:bodyPr/>
                    <a:lstStyle/>
                    <a:p>
                      <a:r>
                        <a:rPr sz="1200">
                          <a:latin typeface="Calibri"/>
                        </a:rPr>
                        <a:t>&gt; 0</a:t>
                      </a:r>
                    </a:p>
                  </a:txBody>
                  <a:tcPr/>
                </a:tc>
                <a:tc>
                  <a:txBody>
                    <a:bodyPr/>
                    <a:lstStyle/>
                    <a:p>
                      <a:r>
                        <a:rPr sz="1200">
                          <a:latin typeface="Calibri"/>
                        </a:rPr>
                        <a:t>2°</a:t>
                      </a:r>
                    </a:p>
                  </a:txBody>
                  <a:tcPr/>
                </a:tc>
                <a:tc>
                  <a:txBody>
                    <a:bodyPr/>
                    <a:lstStyle/>
                    <a:p>
                      <a:r>
                        <a:rPr sz="1200">
                          <a:latin typeface="Calibri"/>
                        </a:rPr>
                        <a:t>Frenado regenerativo inverso</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924983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p:sp>
        <p:nvSpPr>
          <p:cNvPr id="8" name="TextBox 7"/>
          <p:cNvSpPr txBox="1"/>
          <p:nvPr/>
        </p:nvSpPr>
        <p:spPr>
          <a:xfrm>
            <a:off x="365760" y="1261872"/>
            <a:ext cx="5486400" cy="347472"/>
          </a:xfrm>
          <a:prstGeom prst="rect">
            <a:avLst/>
          </a:prstGeom>
          <a:noFill/>
        </p:spPr>
        <p:txBody>
          <a:bodyPr wrap="square">
            <a:spAutoFit/>
          </a:bodyPr>
          <a:lstStyle/>
          <a:p>
            <a:pPr algn="l"/>
            <a:r>
              <a:rPr sz="1400" b="1" i="0">
                <a:solidFill>
                  <a:srgbClr val="1A3A6B"/>
                </a:solidFill>
                <a:latin typeface="Calibri"/>
              </a:rPr>
              <a:t>Tabla para ωm(t):</a:t>
            </a:r>
          </a:p>
        </p:txBody>
      </p:sp>
      <p:graphicFrame>
        <p:nvGraphicFramePr>
          <p:cNvPr id="9" name="Table 8"/>
          <p:cNvGraphicFramePr>
            <a:graphicFrameLocks noGrp="1"/>
          </p:cNvGraphicFramePr>
          <p:nvPr/>
        </p:nvGraphicFramePr>
        <p:xfrm>
          <a:off x="365760" y="1664208"/>
          <a:ext cx="7772400" cy="1828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5720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ωm RP [rad/s]</a:t>
                      </a:r>
                    </a:p>
                  </a:txBody>
                  <a:tcPr>
                    <a:solidFill>
                      <a:srgbClr val="1A3A6B"/>
                    </a:solidFill>
                  </a:tcPr>
                </a:tc>
                <a:extLst>
                  <a:ext uri="{0D108BD9-81ED-4DB2-BD59-A6C34878D82A}">
                    <a16:rowId xmlns:a16="http://schemas.microsoft.com/office/drawing/2014/main" val="10000"/>
                  </a:ext>
                </a:extLst>
              </a:tr>
              <a:tr h="457200">
                <a:tc>
                  <a:txBody>
                    <a:bodyPr/>
                    <a:lstStyle/>
                    <a:p>
                      <a:r>
                        <a:rPr sz="1200">
                          <a:latin typeface="Calibri"/>
                        </a:rPr>
                        <a:t>0.1000</a:t>
                      </a:r>
                    </a:p>
                  </a:txBody>
                  <a:tcPr/>
                </a:tc>
                <a:tc>
                  <a:txBody>
                    <a:bodyPr/>
                    <a:lstStyle/>
                    <a:p>
                      <a:r>
                        <a:rPr sz="1200">
                          <a:latin typeface="Calibri"/>
                        </a:rPr>
                        <a:t>9.5</a:t>
                      </a:r>
                    </a:p>
                  </a:txBody>
                  <a:tcPr/>
                </a:tc>
                <a:tc>
                  <a:txBody>
                    <a:bodyPr/>
                    <a:lstStyle/>
                    <a:p>
                      <a:r>
                        <a:rPr sz="1200">
                          <a:latin typeface="Calibri"/>
                        </a:rPr>
                        <a:t>68.3</a:t>
                      </a:r>
                    </a:p>
                  </a:txBody>
                  <a:tcPr/>
                </a:tc>
                <a:tc>
                  <a:txBody>
                    <a:bodyPr/>
                    <a:lstStyle/>
                    <a:p>
                      <a:r>
                        <a:rPr sz="1200">
                          <a:latin typeface="Calibri"/>
                        </a:rPr>
                        <a:t>22.97</a:t>
                      </a:r>
                    </a:p>
                  </a:txBody>
                  <a:tcPr/>
                </a:tc>
                <a:tc>
                  <a:txBody>
                    <a:bodyPr/>
                    <a:lstStyle/>
                    <a:p>
                      <a:r>
                        <a:rPr sz="1200">
                          <a:latin typeface="Calibri"/>
                        </a:rPr>
                        <a:t>403.0</a:t>
                      </a:r>
                    </a:p>
                  </a:txBody>
                  <a:tcPr/>
                </a:tc>
                <a:extLst>
                  <a:ext uri="{0D108BD9-81ED-4DB2-BD59-A6C34878D82A}">
                    <a16:rowId xmlns:a16="http://schemas.microsoft.com/office/drawing/2014/main" val="10001"/>
                  </a:ext>
                </a:extLst>
              </a:tr>
              <a:tr h="457200">
                <a:tc>
                  <a:txBody>
                    <a:bodyPr/>
                    <a:lstStyle/>
                    <a:p>
                      <a:r>
                        <a:rPr sz="1200">
                          <a:latin typeface="Calibri"/>
                        </a:rPr>
                        <a:t>0.3000</a:t>
                      </a:r>
                    </a:p>
                  </a:txBody>
                  <a:tcPr>
                    <a:solidFill>
                      <a:srgbClr val="F0F4F8"/>
                    </a:solidFill>
                  </a:tcPr>
                </a:tc>
                <a:tc>
                  <a:txBody>
                    <a:bodyPr/>
                    <a:lstStyle/>
                    <a:p>
                      <a:r>
                        <a:rPr sz="1200">
                          <a:latin typeface="Calibri"/>
                        </a:rPr>
                        <a:t>6.0</a:t>
                      </a:r>
                    </a:p>
                  </a:txBody>
                  <a:tcPr>
                    <a:solidFill>
                      <a:srgbClr val="F0F4F8"/>
                    </a:solidFill>
                  </a:tcPr>
                </a:tc>
                <a:tc>
                  <a:txBody>
                    <a:bodyPr/>
                    <a:lstStyle/>
                    <a:p>
                      <a:r>
                        <a:rPr sz="1200">
                          <a:latin typeface="Calibri"/>
                        </a:rPr>
                        <a:t>163.3</a:t>
                      </a:r>
                    </a:p>
                  </a:txBody>
                  <a:tcPr>
                    <a:solidFill>
                      <a:srgbClr val="F0F4F8"/>
                    </a:solidFill>
                  </a:tcPr>
                </a:tc>
                <a:tc>
                  <a:txBody>
                    <a:bodyPr/>
                    <a:lstStyle/>
                    <a:p>
                      <a:r>
                        <a:rPr sz="1200">
                          <a:latin typeface="Calibri"/>
                        </a:rPr>
                        <a:t>27.13</a:t>
                      </a:r>
                    </a:p>
                  </a:txBody>
                  <a:tcPr>
                    <a:solidFill>
                      <a:srgbClr val="F0F4F8"/>
                    </a:solidFill>
                  </a:tcPr>
                </a:tc>
                <a:tc>
                  <a:txBody>
                    <a:bodyPr/>
                    <a:lstStyle/>
                    <a:p>
                      <a:r>
                        <a:rPr sz="1200">
                          <a:latin typeface="Calibri"/>
                        </a:rPr>
                        <a:t>388.0</a:t>
                      </a:r>
                    </a:p>
                  </a:txBody>
                  <a:tcPr>
                    <a:solidFill>
                      <a:srgbClr val="F0F4F8"/>
                    </a:solidFill>
                  </a:tcPr>
                </a:tc>
                <a:extLst>
                  <a:ext uri="{0D108BD9-81ED-4DB2-BD59-A6C34878D82A}">
                    <a16:rowId xmlns:a16="http://schemas.microsoft.com/office/drawing/2014/main" val="10002"/>
                  </a:ext>
                </a:extLst>
              </a:tr>
              <a:tr h="457200">
                <a:tc>
                  <a:txBody>
                    <a:bodyPr/>
                    <a:lstStyle/>
                    <a:p>
                      <a:r>
                        <a:rPr sz="1200">
                          <a:latin typeface="Calibri"/>
                        </a:rPr>
                        <a:t>0.5000</a:t>
                      </a:r>
                    </a:p>
                  </a:txBody>
                  <a:tcPr/>
                </a:tc>
                <a:tc>
                  <a:txBody>
                    <a:bodyPr/>
                    <a:lstStyle/>
                    <a:p>
                      <a:r>
                        <a:rPr sz="1200">
                          <a:latin typeface="Calibri"/>
                        </a:rPr>
                        <a:t>4.6</a:t>
                      </a:r>
                    </a:p>
                  </a:txBody>
                  <a:tcPr/>
                </a:tc>
                <a:tc>
                  <a:txBody>
                    <a:bodyPr/>
                    <a:lstStyle/>
                    <a:p>
                      <a:r>
                        <a:rPr sz="1200">
                          <a:latin typeface="Calibri"/>
                        </a:rPr>
                        <a:t>143.6</a:t>
                      </a:r>
                    </a:p>
                  </a:txBody>
                  <a:tcPr/>
                </a:tc>
                <a:tc>
                  <a:txBody>
                    <a:bodyPr/>
                    <a:lstStyle/>
                    <a:p>
                      <a:r>
                        <a:rPr sz="1200">
                          <a:latin typeface="Calibri"/>
                        </a:rPr>
                        <a:t>42.24</a:t>
                      </a:r>
                    </a:p>
                  </a:txBody>
                  <a:tcPr/>
                </a:tc>
                <a:tc>
                  <a:txBody>
                    <a:bodyPr/>
                    <a:lstStyle/>
                    <a:p>
                      <a:r>
                        <a:rPr sz="1200">
                          <a:latin typeface="Calibri"/>
                        </a:rPr>
                        <a:t>414.4</a:t>
                      </a:r>
                    </a:p>
                  </a:txBody>
                  <a:tcPr/>
                </a:tc>
                <a:extLst>
                  <a:ext uri="{0D108BD9-81ED-4DB2-BD59-A6C34878D82A}">
                    <a16:rowId xmlns:a16="http://schemas.microsoft.com/office/drawing/2014/main" val="10003"/>
                  </a:ext>
                </a:extLst>
              </a:tr>
            </a:tbl>
          </a:graphicData>
        </a:graphic>
      </p:graphicFrame>
      <p:sp>
        <p:nvSpPr>
          <p:cNvPr id="10" name="TextBox 9"/>
          <p:cNvSpPr txBox="1"/>
          <p:nvPr/>
        </p:nvSpPr>
        <p:spPr>
          <a:xfrm>
            <a:off x="365760" y="3703320"/>
            <a:ext cx="7772400" cy="347472"/>
          </a:xfrm>
          <a:prstGeom prst="rect">
            <a:avLst/>
          </a:prstGeom>
          <a:noFill/>
        </p:spPr>
        <p:txBody>
          <a:bodyPr wrap="square">
            <a:spAutoFit/>
          </a:bodyPr>
          <a:lstStyle/>
          <a:p>
            <a:pPr algn="l"/>
            <a:r>
              <a:rPr sz="1400" b="1" i="0">
                <a:solidFill>
                  <a:srgbClr val="1A3A6B"/>
                </a:solidFill>
                <a:latin typeface="Calibri"/>
              </a:rPr>
              <a:t>Tabla para iqs^r(t):</a:t>
            </a:r>
          </a:p>
        </p:txBody>
      </p:sp>
      <p:graphicFrame>
        <p:nvGraphicFramePr>
          <p:cNvPr id="11" name="Table 10"/>
          <p:cNvGraphicFramePr>
            <a:graphicFrameLocks noGrp="1"/>
          </p:cNvGraphicFramePr>
          <p:nvPr/>
        </p:nvGraphicFramePr>
        <p:xfrm>
          <a:off x="365760" y="4114800"/>
          <a:ext cx="7772400" cy="242316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0386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iqs RP [A]</a:t>
                      </a:r>
                    </a:p>
                  </a:txBody>
                  <a:tcPr>
                    <a:solidFill>
                      <a:srgbClr val="1A3A6B"/>
                    </a:solidFill>
                  </a:tcPr>
                </a:tc>
                <a:extLst>
                  <a:ext uri="{0D108BD9-81ED-4DB2-BD59-A6C34878D82A}">
                    <a16:rowId xmlns:a16="http://schemas.microsoft.com/office/drawing/2014/main" val="10000"/>
                  </a:ext>
                </a:extLst>
              </a:tr>
              <a:tr h="403860">
                <a:tc>
                  <a:txBody>
                    <a:bodyPr/>
                    <a:lstStyle/>
                    <a:p>
                      <a:r>
                        <a:rPr sz="1200">
                          <a:latin typeface="Calibri"/>
                        </a:rPr>
                        <a:t>0.1000</a:t>
                      </a:r>
                    </a:p>
                  </a:txBody>
                  <a:tcPr/>
                </a:tc>
                <a:tc>
                  <a:txBody>
                    <a:bodyPr/>
                    <a:lstStyle/>
                    <a:p>
                      <a:r>
                        <a:rPr sz="1200">
                          <a:latin typeface="Calibri"/>
                        </a:rPr>
                        <a:t>200.0</a:t>
                      </a:r>
                    </a:p>
                  </a:txBody>
                  <a:tcPr/>
                </a:tc>
                <a:tc>
                  <a:txBody>
                    <a:bodyPr/>
                    <a:lstStyle/>
                    <a:p>
                      <a:r>
                        <a:rPr sz="1200">
                          <a:latin typeface="Calibri"/>
                        </a:rPr>
                        <a:t>200.0</a:t>
                      </a:r>
                    </a:p>
                  </a:txBody>
                  <a:tcPr/>
                </a:tc>
                <a:tc>
                  <a:txBody>
                    <a:bodyPr/>
                    <a:lstStyle/>
                    <a:p>
                      <a:r>
                        <a:rPr sz="1200">
                          <a:latin typeface="Calibri"/>
                        </a:rPr>
                        <a:t>3897.8</a:t>
                      </a:r>
                    </a:p>
                  </a:txBody>
                  <a:tcPr/>
                </a:tc>
                <a:tc>
                  <a:txBody>
                    <a:bodyPr/>
                    <a:lstStyle/>
                    <a:p>
                      <a:r>
                        <a:rPr sz="1200">
                          <a:latin typeface="Calibri"/>
                        </a:rPr>
                        <a:t>0.285</a:t>
                      </a:r>
                    </a:p>
                  </a:txBody>
                  <a:tcPr/>
                </a:tc>
                <a:extLst>
                  <a:ext uri="{0D108BD9-81ED-4DB2-BD59-A6C34878D82A}">
                    <a16:rowId xmlns:a16="http://schemas.microsoft.com/office/drawing/2014/main" val="10001"/>
                  </a:ext>
                </a:extLst>
              </a:tr>
              <a:tr h="403860">
                <a:tc>
                  <a:txBody>
                    <a:bodyPr/>
                    <a:lstStyle/>
                    <a:p>
                      <a:r>
                        <a:rPr sz="1200">
                          <a:latin typeface="Calibri"/>
                        </a:rPr>
                        <a:t>0.3000</a:t>
                      </a:r>
                    </a:p>
                  </a:txBody>
                  <a:tcPr>
                    <a:solidFill>
                      <a:srgbClr val="F0F4F8"/>
                    </a:solidFill>
                  </a:tcPr>
                </a:tc>
                <a:tc>
                  <a:txBody>
                    <a:bodyPr/>
                    <a:lstStyle/>
                    <a:p>
                      <a:r>
                        <a:rPr sz="1200">
                          <a:latin typeface="Calibri"/>
                        </a:rPr>
                        <a:t>10.0</a:t>
                      </a:r>
                    </a:p>
                  </a:txBody>
                  <a:tcPr>
                    <a:solidFill>
                      <a:srgbClr val="F0F4F8"/>
                    </a:solidFill>
                  </a:tcPr>
                </a:tc>
                <a:tc>
                  <a:txBody>
                    <a:bodyPr/>
                    <a:lstStyle/>
                    <a:p>
                      <a:r>
                        <a:rPr sz="1200">
                          <a:latin typeface="Calibri"/>
                        </a:rPr>
                        <a:t>164.3</a:t>
                      </a:r>
                    </a:p>
                  </a:txBody>
                  <a:tcPr>
                    <a:solidFill>
                      <a:srgbClr val="F0F4F8"/>
                    </a:solidFill>
                  </a:tcPr>
                </a:tc>
                <a:tc>
                  <a:txBody>
                    <a:bodyPr/>
                    <a:lstStyle/>
                    <a:p>
                      <a:r>
                        <a:rPr sz="1200">
                          <a:latin typeface="Calibri"/>
                        </a:rPr>
                        <a:t>8.76</a:t>
                      </a:r>
                    </a:p>
                  </a:txBody>
                  <a:tcPr>
                    <a:solidFill>
                      <a:srgbClr val="F0F4F8"/>
                    </a:solidFill>
                  </a:tcPr>
                </a:tc>
                <a:tc>
                  <a:txBody>
                    <a:bodyPr/>
                    <a:lstStyle/>
                    <a:p>
                      <a:r>
                        <a:rPr sz="1200">
                          <a:latin typeface="Calibri"/>
                        </a:rPr>
                        <a:t>1.115</a:t>
                      </a:r>
                    </a:p>
                  </a:txBody>
                  <a:tcPr>
                    <a:solidFill>
                      <a:srgbClr val="F0F4F8"/>
                    </a:solidFill>
                  </a:tcPr>
                </a:tc>
                <a:extLst>
                  <a:ext uri="{0D108BD9-81ED-4DB2-BD59-A6C34878D82A}">
                    <a16:rowId xmlns:a16="http://schemas.microsoft.com/office/drawing/2014/main" val="10002"/>
                  </a:ext>
                </a:extLst>
              </a:tr>
              <a:tr h="403860">
                <a:tc>
                  <a:txBody>
                    <a:bodyPr/>
                    <a:lstStyle/>
                    <a:p>
                      <a:r>
                        <a:rPr sz="1200">
                          <a:latin typeface="Calibri"/>
                        </a:rPr>
                        <a:t>0.5000</a:t>
                      </a:r>
                    </a:p>
                  </a:txBody>
                  <a:tcPr/>
                </a:tc>
                <a:tc>
                  <a:txBody>
                    <a:bodyPr/>
                    <a:lstStyle/>
                    <a:p>
                      <a:r>
                        <a:rPr sz="1200">
                          <a:latin typeface="Calibri"/>
                        </a:rPr>
                        <a:t>9.0</a:t>
                      </a:r>
                    </a:p>
                  </a:txBody>
                  <a:tcPr/>
                </a:tc>
                <a:tc>
                  <a:txBody>
                    <a:bodyPr/>
                    <a:lstStyle/>
                    <a:p>
                      <a:r>
                        <a:rPr sz="1200">
                          <a:latin typeface="Calibri"/>
                        </a:rPr>
                        <a:t>138.6</a:t>
                      </a:r>
                    </a:p>
                  </a:txBody>
                  <a:tcPr/>
                </a:tc>
                <a:tc>
                  <a:txBody>
                    <a:bodyPr/>
                    <a:lstStyle/>
                    <a:p>
                      <a:r>
                        <a:rPr sz="1200">
                          <a:latin typeface="Calibri"/>
                        </a:rPr>
                        <a:t>20.89</a:t>
                      </a:r>
                    </a:p>
                  </a:txBody>
                  <a:tcPr/>
                </a:tc>
                <a:tc>
                  <a:txBody>
                    <a:bodyPr/>
                    <a:lstStyle/>
                    <a:p>
                      <a:r>
                        <a:rPr sz="1200">
                          <a:latin typeface="Calibri"/>
                        </a:rPr>
                        <a:t>−0.337</a:t>
                      </a:r>
                    </a:p>
                  </a:txBody>
                  <a:tcPr/>
                </a:tc>
                <a:extLst>
                  <a:ext uri="{0D108BD9-81ED-4DB2-BD59-A6C34878D82A}">
                    <a16:rowId xmlns:a16="http://schemas.microsoft.com/office/drawing/2014/main" val="10003"/>
                  </a:ext>
                </a:extLst>
              </a:tr>
              <a:tr h="403860">
                <a:tc>
                  <a:txBody>
                    <a:bodyPr/>
                    <a:lstStyle/>
                    <a:p>
                      <a:r>
                        <a:rPr sz="1200">
                          <a:latin typeface="Calibri"/>
                        </a:rPr>
                        <a:t>0.7000</a:t>
                      </a:r>
                    </a:p>
                  </a:txBody>
                  <a:tcPr>
                    <a:solidFill>
                      <a:srgbClr val="F0F4F8"/>
                    </a:solidFill>
                  </a:tcPr>
                </a:tc>
                <a:tc>
                  <a:txBody>
                    <a:bodyPr/>
                    <a:lstStyle/>
                    <a:p>
                      <a:r>
                        <a:rPr sz="1200">
                          <a:latin typeface="Calibri"/>
                        </a:rPr>
                        <a:t>200.0</a:t>
                      </a:r>
                    </a:p>
                  </a:txBody>
                  <a:tcPr>
                    <a:solidFill>
                      <a:srgbClr val="F0F4F8"/>
                    </a:solidFill>
                  </a:tcPr>
                </a:tc>
                <a:tc>
                  <a:txBody>
                    <a:bodyPr/>
                    <a:lstStyle/>
                    <a:p>
                      <a:r>
                        <a:rPr sz="1200">
                          <a:latin typeface="Calibri"/>
                        </a:rPr>
                        <a:t>119.6</a:t>
                      </a:r>
                    </a:p>
                  </a:txBody>
                  <a:tcPr>
                    <a:solidFill>
                      <a:srgbClr val="F0F4F8"/>
                    </a:solidFill>
                  </a:tcPr>
                </a:tc>
                <a:tc>
                  <a:txBody>
                    <a:bodyPr/>
                    <a:lstStyle/>
                    <a:p>
                      <a:r>
                        <a:rPr sz="1200">
                          <a:latin typeface="Calibri"/>
                        </a:rPr>
                        <a:t>8568.4</a:t>
                      </a:r>
                    </a:p>
                  </a:txBody>
                  <a:tcPr>
                    <a:solidFill>
                      <a:srgbClr val="F0F4F8"/>
                    </a:solidFill>
                  </a:tcPr>
                </a:tc>
                <a:tc>
                  <a:txBody>
                    <a:bodyPr/>
                    <a:lstStyle/>
                    <a:p>
                      <a:r>
                        <a:rPr sz="1200">
                          <a:latin typeface="Calibri"/>
                        </a:rPr>
                        <a:t>−0.469</a:t>
                      </a:r>
                    </a:p>
                  </a:txBody>
                  <a:tcPr>
                    <a:solidFill>
                      <a:srgbClr val="F0F4F8"/>
                    </a:solidFill>
                  </a:tcPr>
                </a:tc>
                <a:extLst>
                  <a:ext uri="{0D108BD9-81ED-4DB2-BD59-A6C34878D82A}">
                    <a16:rowId xmlns:a16="http://schemas.microsoft.com/office/drawing/2014/main" val="10004"/>
                  </a:ext>
                </a:extLst>
              </a:tr>
              <a:tr h="403860">
                <a:tc>
                  <a:txBody>
                    <a:bodyPr/>
                    <a:lstStyle/>
                    <a:p>
                      <a:r>
                        <a:rPr sz="1200">
                          <a:latin typeface="Calibri"/>
                        </a:rPr>
                        <a:t>0.9000</a:t>
                      </a:r>
                    </a:p>
                  </a:txBody>
                  <a:tcPr/>
                </a:tc>
                <a:tc>
                  <a:txBody>
                    <a:bodyPr/>
                    <a:lstStyle/>
                    <a:p>
                      <a:r>
                        <a:rPr sz="1200">
                          <a:latin typeface="Calibri"/>
                        </a:rPr>
                        <a:t>9.0</a:t>
                      </a:r>
                    </a:p>
                  </a:txBody>
                  <a:tcPr/>
                </a:tc>
                <a:tc>
                  <a:txBody>
                    <a:bodyPr/>
                    <a:lstStyle/>
                    <a:p>
                      <a:r>
                        <a:rPr sz="1200">
                          <a:latin typeface="Calibri"/>
                        </a:rPr>
                        <a:t>51.6</a:t>
                      </a:r>
                    </a:p>
                  </a:txBody>
                  <a:tcPr/>
                </a:tc>
                <a:tc>
                  <a:txBody>
                    <a:bodyPr/>
                    <a:lstStyle/>
                    <a:p>
                      <a:r>
                        <a:rPr sz="1200">
                          <a:latin typeface="Calibri"/>
                        </a:rPr>
                        <a:t>21.23</a:t>
                      </a:r>
                    </a:p>
                  </a:txBody>
                  <a:tcPr/>
                </a:tc>
                <a:tc>
                  <a:txBody>
                    <a:bodyPr/>
                    <a:lstStyle/>
                    <a:p>
                      <a:r>
                        <a:rPr sz="1200">
                          <a:latin typeface="Calibri"/>
                        </a:rPr>
                        <a:t>0.254</a:t>
                      </a:r>
                    </a:p>
                  </a:txBody>
                  <a:tcPr/>
                </a:tc>
                <a:extLst>
                  <a:ext uri="{0D108BD9-81ED-4DB2-BD59-A6C34878D82A}">
                    <a16:rowId xmlns:a16="http://schemas.microsoft.com/office/drawing/2014/main" val="10005"/>
                  </a:ext>
                </a:extLst>
              </a:tr>
            </a:tbl>
          </a:graphicData>
        </a:graphic>
      </p:graphicFrame>
      <p:sp>
        <p:nvSpPr>
          <p:cNvPr id="12" name="TextBox 11"/>
          <p:cNvSpPr txBox="1"/>
          <p:nvPr/>
        </p:nvSpPr>
        <p:spPr>
          <a:xfrm>
            <a:off x="8366760" y="3703320"/>
            <a:ext cx="3520440" cy="1371600"/>
          </a:xfrm>
          <a:prstGeom prst="rect">
            <a:avLst/>
          </a:prstGeom>
          <a:noFill/>
        </p:spPr>
        <p:txBody>
          <a:bodyPr wrap="square">
            <a:spAutoFit/>
          </a:bodyPr>
          <a:lstStyle/>
          <a:p>
            <a:pPr algn="l"/>
            <a:r>
              <a:rPr sz="1300" b="0" i="0">
                <a:solidFill>
                  <a:srgbClr val="1A1A2E"/>
                </a:solidFill>
                <a:latin typeface="Calibri"/>
              </a:rPr>
              <a:t>Los cambios de tensión vqs^r afectan principalmente ωm; las perturbaciones de carga Tld impactan principalmente en iqs^r.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El ángulo de desfasaje δ(t) se define como el desplazamiento angular entre la coordenada eléctrica de tensión θev(t) y la coordenada eléctrica del rotor θr(t):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δ(t) = θev(t) − θr(t)     →     indica el desfasaje entre el campo girador de tensión y el rotor</a:t>
            </a:r>
          </a:p>
        </p:txBody>
      </p:sp>
      <p:sp>
        <p:nvSpPr>
          <p:cNvPr id="10" name="Rectangle 9"/>
          <p:cNvSpPr/>
          <p:nvPr/>
        </p:nvSpPr>
        <p:spPr>
          <a:xfrm>
            <a:off x="365760" y="2011680"/>
            <a:ext cx="7772400" cy="36576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566160"/>
            <a:ext cx="7589520" cy="548640"/>
          </a:xfrm>
          <a:prstGeom prst="rect">
            <a:avLst/>
          </a:prstGeom>
          <a:noFill/>
        </p:spPr>
        <p:txBody>
          <a:bodyPr wrap="square">
            <a:spAutoFit/>
          </a:bodyPr>
          <a:lstStyle/>
          <a:p>
            <a:pPr algn="ctr"/>
            <a:r>
              <a:rPr sz="1100" b="1">
                <a:solidFill>
                  <a:srgbClr val="C35A00"/>
                </a:solidFill>
                <a:latin typeface="Calibri"/>
              </a:rPr>
              <a:t>🖼  FIGURA: Figura 26 — Evolución temporal de δ(t) durante la simulación
(compárese con los cuadrantes de operación identificados en la curva Tm–ωm)</a:t>
            </a:r>
          </a:p>
        </p:txBody>
      </p:sp>
      <p:sp>
        <p:nvSpPr>
          <p:cNvPr id="12" name="TextBox 11"/>
          <p:cNvSpPr txBox="1"/>
          <p:nvPr/>
        </p:nvSpPr>
        <p:spPr>
          <a:xfrm>
            <a:off x="457200" y="3950208"/>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8412480" y="777240"/>
            <a:ext cx="3566160" cy="365760"/>
          </a:xfrm>
          <a:prstGeom prst="rect">
            <a:avLst/>
          </a:prstGeom>
          <a:noFill/>
        </p:spPr>
        <p:txBody>
          <a:bodyPr wrap="square">
            <a:spAutoFit/>
          </a:bodyPr>
          <a:lstStyle/>
          <a:p>
            <a:pPr algn="l"/>
            <a:r>
              <a:rPr sz="1400" b="1" i="0">
                <a:solidFill>
                  <a:srgbClr val="1A3A6B"/>
                </a:solidFill>
                <a:latin typeface="Calibri"/>
              </a:rPr>
              <a:t>Consistencia con los cuadrantes de operación:</a:t>
            </a:r>
          </a:p>
        </p:txBody>
      </p:sp>
      <p:sp>
        <p:nvSpPr>
          <p:cNvPr id="14" name="TextBox 13"/>
          <p:cNvSpPr txBox="1"/>
          <p:nvPr/>
        </p:nvSpPr>
        <p:spPr>
          <a:xfrm>
            <a:off x="8412480" y="1261872"/>
            <a:ext cx="3566160" cy="4114800"/>
          </a:xfrm>
          <a:prstGeom prst="rect">
            <a:avLst/>
          </a:prstGeom>
          <a:noFill/>
        </p:spPr>
        <p:txBody>
          <a:bodyPr wrap="square">
            <a:spAutoFit/>
          </a:bodyPr>
          <a:lstStyle/>
          <a:p>
            <a:r>
              <a:rPr sz="1350">
                <a:solidFill>
                  <a:srgbClr val="1A1A2E"/>
                </a:solidFill>
                <a:latin typeface="Calibri"/>
              </a:rPr>
              <a:t>δ(t) &gt; 0: motorización directa y frenado regen. inverso  (1°  y 2°  cuadrante)</a:t>
            </a:r>
          </a:p>
          <a:p>
            <a:pPr>
              <a:spcBef>
                <a:spcPts val="400"/>
              </a:spcBef>
            </a:pPr>
            <a:r>
              <a:rPr sz="1350">
                <a:solidFill>
                  <a:srgbClr val="1A1A2E"/>
                </a:solidFill>
                <a:latin typeface="Calibri"/>
              </a:rPr>
              <a:t>δ(t) &lt; 0: frenado regen. directo y motorización inversa  (4°  y 3°  cuadrante)</a:t>
            </a:r>
          </a:p>
          <a:p>
            <a:pPr>
              <a:spcBef>
                <a:spcPts val="400"/>
              </a:spcBef>
            </a:pPr>
            <a:r>
              <a:rPr sz="1350">
                <a:solidFill>
                  <a:srgbClr val="1A1A2E"/>
                </a:solidFill>
                <a:latin typeface="Calibri"/>
              </a:rPr>
              <a:t>El signo de δ(t) es coherente con los signos de ωm y Tm — confirma la consistencia del modelo</a:t>
            </a:r>
          </a:p>
          <a:p>
            <a:pPr>
              <a:spcBef>
                <a:spcPts val="400"/>
              </a:spcBef>
            </a:pPr>
            <a:r>
              <a:rPr sz="1350">
                <a:solidFill>
                  <a:srgbClr val="1A1A2E"/>
                </a:solidFill>
                <a:latin typeface="Calibri"/>
              </a:rPr>
              <a:t>Los transitorios de δ coinciden temporalmente con los cambios de consigna y perturbaciones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Modulador de Torque Equivalente</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Control vectorial de corriente · Lazo interno del esquema en cascada</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Arquitectura de control en cascada</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457200"/>
          </a:xfrm>
          <a:prstGeom prst="rect">
            <a:avLst/>
          </a:prstGeom>
          <a:noFill/>
        </p:spPr>
        <p:txBody>
          <a:bodyPr wrap="square">
            <a:spAutoFit/>
          </a:bodyPr>
          <a:lstStyle/>
          <a:p>
            <a:pPr algn="l"/>
            <a:r>
              <a:rPr sz="1400" b="0" i="0">
                <a:solidFill>
                  <a:srgbClr val="1A1A2E"/>
                </a:solidFill>
                <a:latin typeface="Calibri"/>
              </a:rPr>
              <a:t>Se adopta una estructura de control en cascada con dos niveles jerárquicos:</a:t>
            </a:r>
          </a:p>
        </p:txBody>
      </p:sp>
      <p:sp>
        <p:nvSpPr>
          <p:cNvPr id="8" name="TextBox 7"/>
          <p:cNvSpPr txBox="1"/>
          <p:nvPr/>
        </p:nvSpPr>
        <p:spPr>
          <a:xfrm>
            <a:off x="365760" y="1298448"/>
            <a:ext cx="11430000" cy="1188720"/>
          </a:xfrm>
          <a:prstGeom prst="rect">
            <a:avLst/>
          </a:prstGeom>
          <a:noFill/>
        </p:spPr>
        <p:txBody>
          <a:bodyPr wrap="square">
            <a:spAutoFit/>
          </a:bodyPr>
          <a:lstStyle/>
          <a:p>
            <a:r>
              <a:rPr sz="1350" b="1">
                <a:solidFill>
                  <a:srgbClr val="1A3A6B"/>
                </a:solidFill>
                <a:latin typeface="Calibri"/>
              </a:rPr>
              <a:t>Lazo interno (modulador de torque):  regula rápidamente las variables eléctricas (corrientes) para seguir una consigna de torque</a:t>
            </a:r>
          </a:p>
          <a:p>
            <a:pPr>
              <a:spcBef>
                <a:spcPts val="400"/>
              </a:spcBef>
            </a:pPr>
            <a:r>
              <a:rPr sz="1350" b="1">
                <a:solidFill>
                  <a:srgbClr val="1A3A6B"/>
                </a:solidFill>
                <a:latin typeface="Calibri"/>
              </a:rPr>
              <a:t>Lazo externo (PID de movimiento):  genera consignas de torque para seguir la referencia de posición/velocidad</a:t>
            </a:r>
          </a:p>
        </p:txBody>
      </p:sp>
      <p:sp>
        <p:nvSpPr>
          <p:cNvPr id="9" name="TextBox 8"/>
          <p:cNvSpPr txBox="1"/>
          <p:nvPr/>
        </p:nvSpPr>
        <p:spPr>
          <a:xfrm>
            <a:off x="365760" y="2633472"/>
            <a:ext cx="11430000" cy="365760"/>
          </a:xfrm>
          <a:prstGeom prst="rect">
            <a:avLst/>
          </a:prstGeom>
          <a:noFill/>
        </p:spPr>
        <p:txBody>
          <a:bodyPr wrap="square">
            <a:spAutoFit/>
          </a:bodyPr>
          <a:lstStyle/>
          <a:p>
            <a:pPr algn="l"/>
            <a:r>
              <a:rPr sz="1400" b="1" i="0">
                <a:solidFill>
                  <a:srgbClr val="1A3A6B"/>
                </a:solidFill>
                <a:latin typeface="Calibri"/>
              </a:rPr>
              <a:t>Bloques principales del sistema de control:</a:t>
            </a:r>
          </a:p>
        </p:txBody>
      </p:sp>
      <p:graphicFrame>
        <p:nvGraphicFramePr>
          <p:cNvPr id="10" name="Table 9"/>
          <p:cNvGraphicFramePr>
            <a:graphicFrameLocks noGrp="1"/>
          </p:cNvGraphicFramePr>
          <p:nvPr/>
        </p:nvGraphicFramePr>
        <p:xfrm>
          <a:off x="365760" y="3063240"/>
          <a:ext cx="11430000" cy="31089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44137">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Función</a:t>
                      </a:r>
                    </a:p>
                  </a:txBody>
                  <a:tcPr>
                    <a:solidFill>
                      <a:srgbClr val="1A3A6B"/>
                    </a:solidFill>
                  </a:tcPr>
                </a:tc>
                <a:tc>
                  <a:txBody>
                    <a:bodyPr/>
                    <a:lstStyle/>
                    <a:p>
                      <a:r>
                        <a:rPr sz="1200" b="1">
                          <a:solidFill>
                            <a:srgbClr val="FFFFFF"/>
                          </a:solidFill>
                          <a:latin typeface="Calibri"/>
                        </a:rPr>
                        <a:t>Velocidad de respuesta</a:t>
                      </a:r>
                    </a:p>
                  </a:txBody>
                  <a:tcPr>
                    <a:solidFill>
                      <a:srgbClr val="1A3A6B"/>
                    </a:solidFill>
                  </a:tcPr>
                </a:tc>
                <a:extLst>
                  <a:ext uri="{0D108BD9-81ED-4DB2-BD59-A6C34878D82A}">
                    <a16:rowId xmlns:a16="http://schemas.microsoft.com/office/drawing/2014/main" val="10000"/>
                  </a:ext>
                </a:extLst>
              </a:tr>
              <a:tr h="444137">
                <a:tc>
                  <a:txBody>
                    <a:bodyPr/>
                    <a:lstStyle/>
                    <a:p>
                      <a:r>
                        <a:rPr sz="1200">
                          <a:latin typeface="Calibri"/>
                        </a:rPr>
                        <a:t>Modulador de tensión</a:t>
                      </a:r>
                    </a:p>
                  </a:txBody>
                  <a:tcPr/>
                </a:tc>
                <a:tc>
                  <a:txBody>
                    <a:bodyPr/>
                    <a:lstStyle/>
                    <a:p>
                      <a:r>
                        <a:rPr sz="1200">
                          <a:latin typeface="Calibri"/>
                        </a:rPr>
                        <a:t>vqs^r → vabc aplicadas al motor (inversor PWM)</a:t>
                      </a:r>
                    </a:p>
                  </a:txBody>
                  <a:tcPr/>
                </a:tc>
                <a:tc>
                  <a:txBody>
                    <a:bodyPr/>
                    <a:lstStyle/>
                    <a:p>
                      <a:r>
                        <a:rPr sz="1200">
                          <a:latin typeface="Calibri"/>
                        </a:rPr>
                        <a:t>Más rápido del sistema</a:t>
                      </a:r>
                    </a:p>
                  </a:txBody>
                  <a:tcPr/>
                </a:tc>
                <a:extLst>
                  <a:ext uri="{0D108BD9-81ED-4DB2-BD59-A6C34878D82A}">
                    <a16:rowId xmlns:a16="http://schemas.microsoft.com/office/drawing/2014/main" val="10001"/>
                  </a:ext>
                </a:extLst>
              </a:tr>
              <a:tr h="444137">
                <a:tc>
                  <a:txBody>
                    <a:bodyPr/>
                    <a:lstStyle/>
                    <a:p>
                      <a:r>
                        <a:rPr sz="1200">
                          <a:latin typeface="Calibri"/>
                        </a:rPr>
                        <a:t>Modulador de corriente</a:t>
                      </a:r>
                    </a:p>
                  </a:txBody>
                  <a:tcPr>
                    <a:solidFill>
                      <a:srgbClr val="F0F4F8"/>
                    </a:solidFill>
                  </a:tcPr>
                </a:tc>
                <a:tc>
                  <a:txBody>
                    <a:bodyPr/>
                    <a:lstStyle/>
                    <a:p>
                      <a:r>
                        <a:rPr sz="1200">
                          <a:latin typeface="Calibri"/>
                        </a:rPr>
                        <a:t>Compensa acoplamientos e impone iqs^r, ids^r</a:t>
                      </a:r>
                    </a:p>
                  </a:txBody>
                  <a:tcPr>
                    <a:solidFill>
                      <a:srgbClr val="F0F4F8"/>
                    </a:solidFill>
                  </a:tcPr>
                </a:tc>
                <a:tc>
                  <a:txBody>
                    <a:bodyPr/>
                    <a:lstStyle/>
                    <a:p>
                      <a:r>
                        <a:rPr sz="1200">
                          <a:latin typeface="Calibri"/>
                        </a:rPr>
                        <a:t>~5000 rad/s (τcc ≈ 0.2 ms)</a:t>
                      </a:r>
                    </a:p>
                  </a:txBody>
                  <a:tcPr>
                    <a:solidFill>
                      <a:srgbClr val="F0F4F8"/>
                    </a:solidFill>
                  </a:tcPr>
                </a:tc>
                <a:extLst>
                  <a:ext uri="{0D108BD9-81ED-4DB2-BD59-A6C34878D82A}">
                    <a16:rowId xmlns:a16="http://schemas.microsoft.com/office/drawing/2014/main" val="10002"/>
                  </a:ext>
                </a:extLst>
              </a:tr>
              <a:tr h="444137">
                <a:tc>
                  <a:txBody>
                    <a:bodyPr/>
                    <a:lstStyle/>
                    <a:p>
                      <a:r>
                        <a:rPr sz="1200">
                          <a:latin typeface="Calibri"/>
                        </a:rPr>
                        <a:t>Modulador de torque</a:t>
                      </a:r>
                    </a:p>
                  </a:txBody>
                  <a:tcPr/>
                </a:tc>
                <a:tc>
                  <a:txBody>
                    <a:bodyPr/>
                    <a:lstStyle/>
                    <a:p>
                      <a:r>
                        <a:rPr sz="1200">
                          <a:latin typeface="Calibri"/>
                        </a:rPr>
                        <a:t>T*m → i*qs^r (ley de control mínima + feedforward)</a:t>
                      </a:r>
                    </a:p>
                  </a:txBody>
                  <a:tcPr/>
                </a:tc>
                <a:tc>
                  <a:txBody>
                    <a:bodyPr/>
                    <a:lstStyle/>
                    <a:p>
                      <a:r>
                        <a:rPr sz="1200">
                          <a:latin typeface="Calibri"/>
                        </a:rPr>
                        <a:t>~5000 rad/s</a:t>
                      </a:r>
                    </a:p>
                  </a:txBody>
                  <a:tcPr/>
                </a:tc>
                <a:extLst>
                  <a:ext uri="{0D108BD9-81ED-4DB2-BD59-A6C34878D82A}">
                    <a16:rowId xmlns:a16="http://schemas.microsoft.com/office/drawing/2014/main" val="10003"/>
                  </a:ext>
                </a:extLst>
              </a:tr>
              <a:tr h="444137">
                <a:tc>
                  <a:txBody>
                    <a:bodyPr/>
                    <a:lstStyle/>
                    <a:p>
                      <a:r>
                        <a:rPr sz="1200">
                          <a:latin typeface="Calibri"/>
                        </a:rPr>
                        <a:t>Observador de estado</a:t>
                      </a:r>
                    </a:p>
                  </a:txBody>
                  <a:tcPr>
                    <a:solidFill>
                      <a:srgbClr val="F0F4F8"/>
                    </a:solidFill>
                  </a:tcPr>
                </a:tc>
                <a:tc>
                  <a:txBody>
                    <a:bodyPr/>
                    <a:lstStyle/>
                    <a:p>
                      <a:r>
                        <a:rPr sz="1200">
                          <a:latin typeface="Calibri"/>
                        </a:rPr>
                        <a:t>Estima ωm a partir de θm medido</a:t>
                      </a:r>
                    </a:p>
                  </a:txBody>
                  <a:tcPr>
                    <a:solidFill>
                      <a:srgbClr val="F0F4F8"/>
                    </a:solidFill>
                  </a:tcPr>
                </a:tc>
                <a:tc>
                  <a:txBody>
                    <a:bodyPr/>
                    <a:lstStyle/>
                    <a:p>
                      <a:r>
                        <a:rPr sz="1200">
                          <a:latin typeface="Calibri"/>
                        </a:rPr>
                        <a:t>~3200 rad/s</a:t>
                      </a:r>
                    </a:p>
                  </a:txBody>
                  <a:tcPr>
                    <a:solidFill>
                      <a:srgbClr val="F0F4F8"/>
                    </a:solidFill>
                  </a:tcPr>
                </a:tc>
                <a:extLst>
                  <a:ext uri="{0D108BD9-81ED-4DB2-BD59-A6C34878D82A}">
                    <a16:rowId xmlns:a16="http://schemas.microsoft.com/office/drawing/2014/main" val="10004"/>
                  </a:ext>
                </a:extLst>
              </a:tr>
              <a:tr h="444137">
                <a:tc>
                  <a:txBody>
                    <a:bodyPr/>
                    <a:lstStyle/>
                    <a:p>
                      <a:r>
                        <a:rPr sz="1200">
                          <a:latin typeface="Calibri"/>
                        </a:rPr>
                        <a:t>PID externo</a:t>
                      </a:r>
                    </a:p>
                  </a:txBody>
                  <a:tcPr/>
                </a:tc>
                <a:tc>
                  <a:txBody>
                    <a:bodyPr/>
                    <a:lstStyle/>
                    <a:p>
                      <a:r>
                        <a:rPr sz="1200">
                          <a:latin typeface="Calibri"/>
                        </a:rPr>
                        <a:t>θ*m, ω*m → T*m (control de movimiento)</a:t>
                      </a:r>
                    </a:p>
                  </a:txBody>
                  <a:tcPr/>
                </a:tc>
                <a:tc>
                  <a:txBody>
                    <a:bodyPr/>
                    <a:lstStyle/>
                    <a:p>
                      <a:r>
                        <a:rPr sz="1200">
                          <a:latin typeface="Calibri"/>
                        </a:rPr>
                        <a:t>~800 rad/s</a:t>
                      </a:r>
                    </a:p>
                  </a:txBody>
                  <a:tcPr/>
                </a:tc>
                <a:extLst>
                  <a:ext uri="{0D108BD9-81ED-4DB2-BD59-A6C34878D82A}">
                    <a16:rowId xmlns:a16="http://schemas.microsoft.com/office/drawing/2014/main" val="10005"/>
                  </a:ext>
                </a:extLst>
              </a:tr>
              <a:tr h="444138">
                <a:tc>
                  <a:txBody>
                    <a:bodyPr/>
                    <a:lstStyle/>
                    <a:p>
                      <a:r>
                        <a:rPr sz="1200">
                          <a:latin typeface="Calibri"/>
                        </a:rPr>
                        <a:t>Set-point</a:t>
                      </a:r>
                    </a:p>
                  </a:txBody>
                  <a:tcPr>
                    <a:solidFill>
                      <a:srgbClr val="F0F4F8"/>
                    </a:solidFill>
                  </a:tcPr>
                </a:tc>
                <a:tc>
                  <a:txBody>
                    <a:bodyPr/>
                    <a:lstStyle/>
                    <a:p>
                      <a:r>
                        <a:rPr sz="1200">
                          <a:latin typeface="Calibri"/>
                        </a:rPr>
                        <a:t>q*(t) articular → θ*m(t), ω*m(t) del eje motor</a:t>
                      </a:r>
                    </a:p>
                  </a:txBody>
                  <a:tcPr>
                    <a:solidFill>
                      <a:srgbClr val="F0F4F8"/>
                    </a:solidFill>
                  </a:tcPr>
                </a:tc>
                <a:tc>
                  <a:txBody>
                    <a:bodyPr/>
                    <a:lstStyle/>
                    <a:p>
                      <a:r>
                        <a:rPr sz="1200">
                          <a:latin typeface="Calibri"/>
                        </a:rPr>
                        <a:t>Generación de referencia</a:t>
                      </a:r>
                    </a:p>
                  </a:txBody>
                  <a:tcPr>
                    <a:solidFill>
                      <a:srgbClr val="F0F4F8"/>
                    </a:solidFill>
                  </a:tcPr>
                </a:tc>
                <a:extLst>
                  <a:ext uri="{0D108BD9-81ED-4DB2-BD59-A6C34878D82A}">
                    <a16:rowId xmlns:a16="http://schemas.microsoft.com/office/drawing/2014/main" val="10006"/>
                  </a:ext>
                </a:extLst>
              </a:tr>
            </a:tbl>
          </a:graphicData>
        </a:graphic>
      </p:graphicFrame>
      <p:sp>
        <p:nvSpPr>
          <p:cNvPr id="11" name="Rectangle 10"/>
          <p:cNvSpPr/>
          <p:nvPr/>
        </p:nvSpPr>
        <p:spPr>
          <a:xfrm>
            <a:off x="365760" y="6263640"/>
            <a:ext cx="11430000" cy="6858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6309359"/>
            <a:ext cx="11155680" cy="594360"/>
          </a:xfrm>
          <a:prstGeom prst="rect">
            <a:avLst/>
          </a:prstGeom>
          <a:noFill/>
        </p:spPr>
        <p:txBody>
          <a:bodyPr wrap="square">
            <a:spAutoFit/>
          </a:bodyPr>
          <a:lstStyle/>
          <a:p>
            <a:pPr algn="l"/>
            <a:r>
              <a:rPr sz="1300">
                <a:solidFill>
                  <a:srgbClr val="1A3A6B"/>
                </a:solidFill>
                <a:latin typeface="Calibri"/>
              </a:rPr>
              <a:t>La separación de escalas de tiempo (~6:1 entre lazo interno y externo) valida la hipótesis de cascada: el lazo de corriente está prácticamente en régimen permanente cuando el PID externo actúa.</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Desacople electromagnético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7" name="TextBox 6"/>
          <p:cNvSpPr txBox="1"/>
          <p:nvPr/>
        </p:nvSpPr>
        <p:spPr>
          <a:xfrm>
            <a:off x="365760" y="777240"/>
            <a:ext cx="11430000" cy="713232"/>
          </a:xfrm>
          <a:prstGeom prst="rect">
            <a:avLst/>
          </a:prstGeom>
          <a:noFill/>
        </p:spPr>
        <p:txBody>
          <a:bodyPr wrap="square">
            <a:spAutoFit/>
          </a:bodyPr>
          <a:lstStyle/>
          <a:p>
            <a:pPr algn="l"/>
            <a:r>
              <a:rPr sz="1400" b="0" i="0">
                <a:solidFill>
                  <a:srgbClr val="1A1A2E"/>
                </a:solidFill>
                <a:latin typeface="Calibri"/>
              </a:rPr>
              <a:t>El modelo del subsistema electromagnético presenta retroalimentaciones físicas naturales: caídas resistivas y acoplamientos cruzados entre ejes q y d a través de ωm. Se compensan sumando feedforward a las consignas de tensión:</a:t>
            </a:r>
          </a:p>
        </p:txBody>
      </p:sp>
      <p:sp>
        <p:nvSpPr>
          <p:cNvPr id="8" name="Rectangle 7"/>
          <p:cNvSpPr/>
          <p:nvPr/>
        </p:nvSpPr>
        <p:spPr>
          <a:xfrm>
            <a:off x="365760" y="155448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54480"/>
            <a:ext cx="11247120" cy="475488"/>
          </a:xfrm>
          <a:prstGeom prst="rect">
            <a:avLst/>
          </a:prstGeom>
          <a:noFill/>
        </p:spPr>
        <p:txBody>
          <a:bodyPr wrap="square">
            <a:spAutoFit/>
          </a:bodyPr>
          <a:lstStyle/>
          <a:p>
            <a:pPr algn="ctr"/>
            <a:r>
              <a:rPr sz="1100" b="1">
                <a:solidFill>
                  <a:srgbClr val="1B6B2A"/>
                </a:solidFill>
                <a:latin typeface="Calibri"/>
              </a:rPr>
              <a:t>📐  ECUACIÓN: vqs^r(t) = v*qs^r(t) + Rs(Ts)·iqs^r + [λ'm + Ld·ids^r]·Pp·ωm(t)     [compensación eje q]</a:t>
            </a:r>
          </a:p>
        </p:txBody>
      </p:sp>
      <p:sp>
        <p:nvSpPr>
          <p:cNvPr id="10" name="Rectangle 9"/>
          <p:cNvSpPr/>
          <p:nvPr/>
        </p:nvSpPr>
        <p:spPr>
          <a:xfrm>
            <a:off x="365760" y="209397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93976"/>
            <a:ext cx="11247120" cy="475488"/>
          </a:xfrm>
          <a:prstGeom prst="rect">
            <a:avLst/>
          </a:prstGeom>
          <a:noFill/>
        </p:spPr>
        <p:txBody>
          <a:bodyPr wrap="square">
            <a:spAutoFit/>
          </a:bodyPr>
          <a:lstStyle/>
          <a:p>
            <a:pPr algn="ctr"/>
            <a:r>
              <a:rPr sz="1100" b="1">
                <a:solidFill>
                  <a:srgbClr val="1B6B2A"/>
                </a:solidFill>
                <a:latin typeface="Calibri"/>
              </a:rPr>
              <a:t>📐  ECUACIÓN: vds^r(t) = v*ds^r(t) + Rs(Ts)·ids^r − Lq·iqs^r·Pp·ωm(t)                    [compensación eje d]</a:t>
            </a:r>
          </a:p>
        </p:txBody>
      </p:sp>
      <p:sp>
        <p:nvSpPr>
          <p:cNvPr id="12" name="TextBox 11"/>
          <p:cNvSpPr txBox="1"/>
          <p:nvPr/>
        </p:nvSpPr>
        <p:spPr>
          <a:xfrm>
            <a:off x="365760" y="2697480"/>
            <a:ext cx="11430000" cy="365760"/>
          </a:xfrm>
          <a:prstGeom prst="rect">
            <a:avLst/>
          </a:prstGeom>
          <a:noFill/>
        </p:spPr>
        <p:txBody>
          <a:bodyPr wrap="square">
            <a:spAutoFit/>
          </a:bodyPr>
          <a:lstStyle/>
          <a:p>
            <a:pPr algn="l"/>
            <a:r>
              <a:rPr sz="1400" b="1" i="0">
                <a:solidFill>
                  <a:srgbClr val="1A3A6B"/>
                </a:solidFill>
                <a:latin typeface="Calibri"/>
              </a:rPr>
              <a:t>Resultado del desacople:</a:t>
            </a:r>
          </a:p>
        </p:txBody>
      </p:sp>
      <p:sp>
        <p:nvSpPr>
          <p:cNvPr id="13" name="Rectangle 12"/>
          <p:cNvSpPr/>
          <p:nvPr/>
        </p:nvSpPr>
        <p:spPr>
          <a:xfrm>
            <a:off x="365760" y="3127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27248"/>
            <a:ext cx="7589520" cy="475488"/>
          </a:xfrm>
          <a:prstGeom prst="rect">
            <a:avLst/>
          </a:prstGeom>
          <a:noFill/>
        </p:spPr>
        <p:txBody>
          <a:bodyPr wrap="square">
            <a:spAutoFit/>
          </a:bodyPr>
          <a:lstStyle/>
          <a:p>
            <a:pPr algn="ctr"/>
            <a:r>
              <a:rPr sz="1100" b="1">
                <a:solidFill>
                  <a:srgbClr val="1B6B2A"/>
                </a:solidFill>
                <a:latin typeface="Calibri"/>
              </a:rPr>
              <a:t>📐  ECUACIÓN: diqs^r/dt = (1/Lq)·v*qs^r(t)     |     dids^r/dt = (1/Ld)·v*ds^r(t)     [Ec. 57]</a:t>
            </a:r>
          </a:p>
        </p:txBody>
      </p:sp>
      <p:sp>
        <p:nvSpPr>
          <p:cNvPr id="15" name="TextBox 14"/>
          <p:cNvSpPr txBox="1"/>
          <p:nvPr/>
        </p:nvSpPr>
        <p:spPr>
          <a:xfrm>
            <a:off x="365760" y="3703320"/>
            <a:ext cx="7772400" cy="621792"/>
          </a:xfrm>
          <a:prstGeom prst="rect">
            <a:avLst/>
          </a:prstGeom>
          <a:noFill/>
        </p:spPr>
        <p:txBody>
          <a:bodyPr wrap="square">
            <a:spAutoFit/>
          </a:bodyPr>
          <a:lstStyle/>
          <a:p>
            <a:pPr algn="l"/>
            <a:r>
              <a:rPr sz="1300" b="0" i="0">
                <a:solidFill>
                  <a:srgbClr val="1A1A2E"/>
                </a:solidFill>
                <a:latin typeface="Calibri"/>
              </a:rPr>
              <a:t>Cada tensión virtual v* actúa directamente sobre la derivada de su corriente correspondiente. El sistema queda desacoplado: se pueden diseñar controladores independientes para cada eje.</a:t>
            </a:r>
          </a:p>
        </p:txBody>
      </p:sp>
      <p:sp>
        <p:nvSpPr>
          <p:cNvPr id="16" name="Rectangle 15"/>
          <p:cNvSpPr/>
          <p:nvPr/>
        </p:nvSpPr>
        <p:spPr>
          <a:xfrm>
            <a:off x="8412480" y="2697480"/>
            <a:ext cx="356616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3931920"/>
            <a:ext cx="3383279" cy="548640"/>
          </a:xfrm>
          <a:prstGeom prst="rect">
            <a:avLst/>
          </a:prstGeom>
          <a:noFill/>
        </p:spPr>
        <p:txBody>
          <a:bodyPr wrap="square">
            <a:spAutoFit/>
          </a:bodyPr>
          <a:lstStyle/>
          <a:p>
            <a:pPr algn="ctr"/>
            <a:r>
              <a:rPr sz="1100" b="1">
                <a:solidFill>
                  <a:srgbClr val="C35A00"/>
                </a:solidFill>
                <a:latin typeface="Calibri"/>
              </a:rPr>
              <a:t>🖼  FIGURA: Figura 34 — Diagrama de bloques Simulink del modulador de corriente
(feedforward + controlador P por eje)</a:t>
            </a:r>
          </a:p>
        </p:txBody>
      </p:sp>
      <p:sp>
        <p:nvSpPr>
          <p:cNvPr id="18" name="TextBox 17"/>
          <p:cNvSpPr txBox="1"/>
          <p:nvPr/>
        </p:nvSpPr>
        <p:spPr>
          <a:xfrm>
            <a:off x="8503919" y="4315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4434840"/>
            <a:ext cx="7772400" cy="68580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434840"/>
            <a:ext cx="7589520" cy="685800"/>
          </a:xfrm>
          <a:prstGeom prst="rect">
            <a:avLst/>
          </a:prstGeom>
          <a:noFill/>
        </p:spPr>
        <p:txBody>
          <a:bodyPr wrap="square">
            <a:spAutoFit/>
          </a:bodyPr>
          <a:lstStyle/>
          <a:p>
            <a:pPr algn="ctr"/>
            <a:r>
              <a:rPr sz="1100" b="1">
                <a:solidFill>
                  <a:srgbClr val="1B6B2A"/>
                </a:solidFill>
                <a:latin typeface="Calibri"/>
              </a:rPr>
              <a:t>📐  ECUACIÓN: R'q = 5000·Lq = 29 Ω   |   R'd = 5000·Ld = 33 Ω   |   R'0 = 5000·Lls = 4 Ω
Polo en p = −5000 rad/s   →   τcc ≈ 0.2 ms   (≈20× más rápido que la dinámica mecánica)</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Diseño de lazos de control de corriente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Con el desacople implementado, se diseña un controlador proporcional para cada eje. La consigna de tensión es proporcional al error de corriente:</a:t>
            </a:r>
          </a:p>
        </p:txBody>
      </p:sp>
      <p:sp>
        <p:nvSpPr>
          <p:cNvPr id="8" name="Rectangle 7"/>
          <p:cNvSpPr/>
          <p:nvPr/>
        </p:nvSpPr>
        <p:spPr>
          <a:xfrm>
            <a:off x="365760" y="1444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11247120" cy="475488"/>
          </a:xfrm>
          <a:prstGeom prst="rect">
            <a:avLst/>
          </a:prstGeom>
          <a:noFill/>
        </p:spPr>
        <p:txBody>
          <a:bodyPr wrap="square">
            <a:spAutoFit/>
          </a:bodyPr>
          <a:lstStyle/>
          <a:p>
            <a:pPr algn="ctr"/>
            <a:r>
              <a:rPr sz="1100" b="1">
                <a:solidFill>
                  <a:srgbClr val="1B6B2A"/>
                </a:solidFill>
                <a:latin typeface="Calibri"/>
              </a:rPr>
              <a:t>📐  ECUACIÓN: v*qs^r(t) = R'q · [i*qs^r(t) − iqs^r(t)]     |     v*ds^r(t) = R'd · [i*ds^r(t) − ids^r(t)]</a:t>
            </a:r>
          </a:p>
        </p:txBody>
      </p:sp>
      <p:sp>
        <p:nvSpPr>
          <p:cNvPr id="10" name="TextBox 9"/>
          <p:cNvSpPr txBox="1"/>
          <p:nvPr/>
        </p:nvSpPr>
        <p:spPr>
          <a:xfrm>
            <a:off x="365760" y="2029968"/>
            <a:ext cx="7772400" cy="365760"/>
          </a:xfrm>
          <a:prstGeom prst="rect">
            <a:avLst/>
          </a:prstGeom>
          <a:noFill/>
        </p:spPr>
        <p:txBody>
          <a:bodyPr wrap="square">
            <a:spAutoFit/>
          </a:bodyPr>
          <a:lstStyle/>
          <a:p>
            <a:pPr algn="l"/>
            <a:r>
              <a:rPr sz="1400" b="1" i="0">
                <a:solidFill>
                  <a:srgbClr val="1A3A6B"/>
                </a:solidFill>
                <a:latin typeface="Calibri"/>
              </a:rPr>
              <a:t>Función de transferencia de lazo cerrado (sistema de 1° orden):</a:t>
            </a:r>
          </a:p>
        </p:txBody>
      </p:sp>
      <p:sp>
        <p:nvSpPr>
          <p:cNvPr id="11" name="Rectangle 10"/>
          <p:cNvSpPr/>
          <p:nvPr/>
        </p:nvSpPr>
        <p:spPr>
          <a:xfrm>
            <a:off x="365760" y="24505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450592"/>
            <a:ext cx="7589520" cy="475488"/>
          </a:xfrm>
          <a:prstGeom prst="rect">
            <a:avLst/>
          </a:prstGeom>
          <a:noFill/>
        </p:spPr>
        <p:txBody>
          <a:bodyPr wrap="square">
            <a:spAutoFit/>
          </a:bodyPr>
          <a:lstStyle/>
          <a:p>
            <a:pPr algn="ctr"/>
            <a:r>
              <a:rPr sz="1100" b="1">
                <a:solidFill>
                  <a:srgbClr val="1B6B2A"/>
                </a:solidFill>
                <a:latin typeface="Calibri"/>
              </a:rPr>
              <a:t>📐  ECUACIÓN: G_iqs(s) = Iqs^r(s)/I*qs^r(s) = 1/(s·Lq/R'q + 1)     →     polo en p = −R'q/Lq   [Ec. 58]</a:t>
            </a:r>
          </a:p>
        </p:txBody>
      </p:sp>
      <p:sp>
        <p:nvSpPr>
          <p:cNvPr id="13" name="TextBox 12"/>
          <p:cNvSpPr txBox="1"/>
          <p:nvPr/>
        </p:nvSpPr>
        <p:spPr>
          <a:xfrm>
            <a:off x="365760" y="3017520"/>
            <a:ext cx="7772400" cy="2103120"/>
          </a:xfrm>
          <a:prstGeom prst="rect">
            <a:avLst/>
          </a:prstGeom>
          <a:noFill/>
        </p:spPr>
        <p:txBody>
          <a:bodyPr wrap="square">
            <a:spAutoFit/>
          </a:bodyPr>
          <a:lstStyle/>
          <a:p>
            <a:r>
              <a:rPr sz="1350">
                <a:solidFill>
                  <a:srgbClr val="1A1A2E"/>
                </a:solidFill>
                <a:latin typeface="Calibri"/>
              </a:rPr>
              <a:t>Sistema de 1° orden estable: polo con parte real negativa → estabilidad garantizada</a:t>
            </a:r>
          </a:p>
          <a:p>
            <a:pPr>
              <a:spcBef>
                <a:spcPts val="400"/>
              </a:spcBef>
            </a:pPr>
            <a:r>
              <a:rPr sz="1350">
                <a:solidFill>
                  <a:srgbClr val="1A1A2E"/>
                </a:solidFill>
                <a:latin typeface="Calibri"/>
              </a:rPr>
              <a:t>Sin ceros → respuesta monotónica, sin sobrepaso en la corriente</a:t>
            </a:r>
          </a:p>
          <a:p>
            <a:pPr>
              <a:spcBef>
                <a:spcPts val="400"/>
              </a:spcBef>
            </a:pPr>
            <a:r>
              <a:rPr sz="1350">
                <a:solidFill>
                  <a:srgbClr val="1A1A2E"/>
                </a:solidFill>
                <a:latin typeface="Calibri"/>
              </a:rPr>
              <a:t>Seguimiento sin error de estado estacionario ante escalón (ganancia estática = 1)</a:t>
            </a:r>
          </a:p>
          <a:p>
            <a:pPr>
              <a:spcBef>
                <a:spcPts val="400"/>
              </a:spcBef>
            </a:pPr>
            <a:r>
              <a:rPr sz="1350">
                <a:solidFill>
                  <a:srgbClr val="1A1A2E"/>
                </a:solidFill>
                <a:latin typeface="Calibri"/>
              </a:rPr>
              <a:t>Frecuencia de corte: fc = R'q/(2π·Lq) = 5000/(2π) ≈ 796 Hz</a:t>
            </a:r>
          </a:p>
        </p:txBody>
      </p:sp>
      <p:sp>
        <p:nvSpPr>
          <p:cNvPr id="14" name="Rectangle 13"/>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35 — Diagrama Simulink del lazo de torque
(conversión T*m → i*qs^r)</a:t>
            </a:r>
          </a:p>
        </p:txBody>
      </p:sp>
      <p:sp>
        <p:nvSpPr>
          <p:cNvPr id="16" name="TextBox 15"/>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8412480" y="342900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19" y="4434840"/>
            <a:ext cx="3383279" cy="548640"/>
          </a:xfrm>
          <a:prstGeom prst="rect">
            <a:avLst/>
          </a:prstGeom>
          <a:noFill/>
        </p:spPr>
        <p:txBody>
          <a:bodyPr wrap="square">
            <a:spAutoFit/>
          </a:bodyPr>
          <a:lstStyle/>
          <a:p>
            <a:pPr algn="ctr"/>
            <a:r>
              <a:rPr sz="1100" b="1">
                <a:solidFill>
                  <a:srgbClr val="C35A00"/>
                </a:solidFill>
                <a:latin typeface="Calibri"/>
              </a:rPr>
              <a:t>🖼  FIGURA: Figura 36 — Modulador de torque completo
(lazo corriente + feedforward + compensación gravitacional)</a:t>
            </a:r>
          </a:p>
        </p:txBody>
      </p:sp>
      <p:sp>
        <p:nvSpPr>
          <p:cNvPr id="19" name="TextBox 18"/>
          <p:cNvSpPr txBox="1"/>
          <p:nvPr/>
        </p:nvSpPr>
        <p:spPr>
          <a:xfrm>
            <a:off x="8503919" y="481888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0" name="Rectangle 19"/>
          <p:cNvSpPr/>
          <p:nvPr/>
        </p:nvSpPr>
        <p:spPr>
          <a:xfrm>
            <a:off x="365760" y="5230368"/>
            <a:ext cx="7772400" cy="8046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230368"/>
            <a:ext cx="7589520" cy="804672"/>
          </a:xfrm>
          <a:prstGeom prst="rect">
            <a:avLst/>
          </a:prstGeom>
          <a:noFill/>
        </p:spPr>
        <p:txBody>
          <a:bodyPr wrap="square">
            <a:spAutoFit/>
          </a:bodyPr>
          <a:lstStyle/>
          <a:p>
            <a:pPr algn="ctr"/>
            <a:r>
              <a:rPr sz="1100" b="1">
                <a:solidFill>
                  <a:srgbClr val="1B6B2A"/>
                </a:solidFill>
                <a:latin typeface="Calibri"/>
              </a:rPr>
              <a:t>📐  ECUACIÓN: Separación de escalas de tiempo:  τcc ≈ 0.2 ms  &lt;&lt;  τmec ≈ Jeq/beq ≈ 1.3 s
El lazo de corriente converge ~6500 veces más rápido que la dinámica mecánica → hipótesis de cascada válida</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La etapa final del modulador convierte la consigna de torque T*m(t) en la referencia de corriente i*qs^r. Se incorpora compensación de fricción viscosa y del torque gravitatorio (feedforward):</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T*m(t) = T*'m(t) + beq·ωm(t) + (kl·g/r)·sin(θm(t)/r)     [Ec. 6]</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i*qs^r(t) = T*m(t) / [(3/2)·Pp·(λ'm + (Ld−Lq)·ids^r(t))]     [Ec. torque electromagnético invertido]</a:t>
            </a:r>
          </a:p>
        </p:txBody>
      </p:sp>
      <p:sp>
        <p:nvSpPr>
          <p:cNvPr id="12" name="TextBox 11"/>
          <p:cNvSpPr txBox="1"/>
          <p:nvPr/>
        </p:nvSpPr>
        <p:spPr>
          <a:xfrm>
            <a:off x="365760" y="2651760"/>
            <a:ext cx="5943600" cy="365760"/>
          </a:xfrm>
          <a:prstGeom prst="rect">
            <a:avLst/>
          </a:prstGeom>
          <a:noFill/>
        </p:spPr>
        <p:txBody>
          <a:bodyPr wrap="square">
            <a:spAutoFit/>
          </a:bodyPr>
          <a:lstStyle/>
          <a:p>
            <a:pPr algn="l"/>
            <a:r>
              <a:rPr sz="1400" b="1" i="0">
                <a:solidFill>
                  <a:srgbClr val="1A3A6B"/>
                </a:solidFill>
                <a:latin typeface="Calibri"/>
              </a:rPr>
              <a:t>Ley de control mínima  i*ds^r = 0:</a:t>
            </a:r>
          </a:p>
        </p:txBody>
      </p:sp>
      <p:sp>
        <p:nvSpPr>
          <p:cNvPr id="13" name="TextBox 12"/>
          <p:cNvSpPr txBox="1"/>
          <p:nvPr/>
        </p:nvSpPr>
        <p:spPr>
          <a:xfrm>
            <a:off x="365760" y="3090672"/>
            <a:ext cx="5943600" cy="2194560"/>
          </a:xfrm>
          <a:prstGeom prst="rect">
            <a:avLst/>
          </a:prstGeom>
          <a:noFill/>
        </p:spPr>
        <p:txBody>
          <a:bodyPr wrap="square">
            <a:spAutoFit/>
          </a:bodyPr>
          <a:lstStyle/>
          <a:p>
            <a:r>
              <a:rPr sz="1350">
                <a:solidFill>
                  <a:srgbClr val="1A1A2E"/>
                </a:solidFill>
                <a:latin typeface="Calibri"/>
              </a:rPr>
              <a:t>Con ids^r = 0: Tm = (3/2)·Pp·λ'm·iqs^r  →  torque proporcional solo a iqs^r</a:t>
            </a:r>
          </a:p>
          <a:p>
            <a:pPr>
              <a:spcBef>
                <a:spcPts val="400"/>
              </a:spcBef>
            </a:pPr>
            <a:r>
              <a:rPr sz="1350">
                <a:solidFill>
                  <a:srgbClr val="1A1A2E"/>
                </a:solidFill>
                <a:latin typeface="Calibri"/>
              </a:rPr>
              <a:t>Máximo torque por unidad de corriente (eficiencia óptima en motores con Ld ≈ Lq)</a:t>
            </a:r>
          </a:p>
          <a:p>
            <a:pPr>
              <a:spcBef>
                <a:spcPts val="400"/>
              </a:spcBef>
            </a:pPr>
            <a:r>
              <a:rPr sz="1350">
                <a:solidFill>
                  <a:srgbClr val="1A1A2E"/>
                </a:solidFill>
                <a:latin typeface="Calibri"/>
              </a:rPr>
              <a:t>El torque reluctante (Ld−Lq)·ids·iqs es despreciable para este motor (Ld ≈ Lq)</a:t>
            </a:r>
          </a:p>
        </p:txBody>
      </p:sp>
      <p:sp>
        <p:nvSpPr>
          <p:cNvPr id="14" name="TextBox 13"/>
          <p:cNvSpPr txBox="1"/>
          <p:nvPr/>
        </p:nvSpPr>
        <p:spPr>
          <a:xfrm>
            <a:off x="6583680" y="2651760"/>
            <a:ext cx="5029200" cy="365760"/>
          </a:xfrm>
          <a:prstGeom prst="rect">
            <a:avLst/>
          </a:prstGeom>
          <a:noFill/>
        </p:spPr>
        <p:txBody>
          <a:bodyPr wrap="square">
            <a:spAutoFit/>
          </a:bodyPr>
          <a:lstStyle/>
          <a:p>
            <a:pPr algn="l"/>
            <a:r>
              <a:rPr sz="1400" b="1" i="0">
                <a:solidFill>
                  <a:srgbClr val="1A3A6B"/>
                </a:solidFill>
                <a:latin typeface="Calibri"/>
              </a:rPr>
              <a:t>Feedforward gravitacional:</a:t>
            </a:r>
          </a:p>
        </p:txBody>
      </p:sp>
      <p:sp>
        <p:nvSpPr>
          <p:cNvPr id="15" name="TextBox 14"/>
          <p:cNvSpPr txBox="1"/>
          <p:nvPr/>
        </p:nvSpPr>
        <p:spPr>
          <a:xfrm>
            <a:off x="6583680" y="3090672"/>
            <a:ext cx="5029200" cy="2194560"/>
          </a:xfrm>
          <a:prstGeom prst="rect">
            <a:avLst/>
          </a:prstGeom>
          <a:noFill/>
        </p:spPr>
        <p:txBody>
          <a:bodyPr wrap="square">
            <a:spAutoFit/>
          </a:bodyPr>
          <a:lstStyle/>
          <a:p>
            <a:r>
              <a:rPr sz="1350">
                <a:solidFill>
                  <a:srgbClr val="1A1A2E"/>
                </a:solidFill>
                <a:latin typeface="Calibri"/>
              </a:rPr>
              <a:t>El término (kl·g/r)·sin(θm/r) estima el torque de gravedad y lo compensa directamente</a:t>
            </a:r>
          </a:p>
          <a:p>
            <a:pPr>
              <a:spcBef>
                <a:spcPts val="400"/>
              </a:spcBef>
            </a:pPr>
            <a:r>
              <a:rPr sz="1350">
                <a:solidFill>
                  <a:srgbClr val="1A1A2E"/>
                </a:solidFill>
                <a:latin typeface="Calibri"/>
              </a:rPr>
              <a:t>El controlador no necesita generar este torque como respuesta al error → mejora la respuesta dinámica</a:t>
            </a:r>
          </a:p>
          <a:p>
            <a:pPr>
              <a:spcBef>
                <a:spcPts val="400"/>
              </a:spcBef>
            </a:pPr>
            <a:r>
              <a:rPr sz="1350">
                <a:solidFill>
                  <a:srgbClr val="1A1A2E"/>
                </a:solidFill>
                <a:latin typeface="Calibri"/>
              </a:rPr>
              <a:t>Reduce el esfuerzo del lazo externo PID ante variaciones de posición articular</a:t>
            </a:r>
          </a:p>
          <a:p>
            <a:pPr>
              <a:spcBef>
                <a:spcPts val="400"/>
              </a:spcBef>
            </a:pPr>
            <a:r>
              <a:rPr sz="1350">
                <a:solidFill>
                  <a:srgbClr val="1A1A2E"/>
                </a:solidFill>
                <a:latin typeface="Calibri"/>
              </a:rPr>
              <a:t>kl = m·lcm + ml·ll varía con la carga útil ml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Lazo externo de posición y velocidad. Para evitar amplificar ruido con el derivador, se realimenta ωm(t) directamente. La salida es la consigna de torque T*'m(t):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T*'m(t) = eω(t)·ba + eθ(t)·Ksa + Ksia·∫eθ(t)dt     [Ec. 60]</a:t>
            </a:r>
          </a:p>
        </p:txBody>
      </p:sp>
      <p:sp>
        <p:nvSpPr>
          <p:cNvPr id="10" name="Rectangle 9"/>
          <p:cNvSpPr/>
          <p:nvPr/>
        </p:nvSpPr>
        <p:spPr>
          <a:xfrm>
            <a:off x="365760" y="2002536"/>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02536"/>
            <a:ext cx="7589520" cy="475488"/>
          </a:xfrm>
          <a:prstGeom prst="rect">
            <a:avLst/>
          </a:prstGeom>
          <a:noFill/>
        </p:spPr>
        <p:txBody>
          <a:bodyPr wrap="square">
            <a:spAutoFit/>
          </a:bodyPr>
          <a:lstStyle/>
          <a:p>
            <a:pPr algn="ctr"/>
            <a:r>
              <a:rPr sz="1100" b="1">
                <a:solidFill>
                  <a:srgbClr val="1B6B2A"/>
                </a:solidFill>
                <a:latin typeface="Calibri"/>
              </a:rPr>
              <a:t>📐  ECUACIÓN: eθ(s) = Θ*m(s) − Θm(s)     |     eω(s) = s·Eθ(s)     [Ecs. 61, 62]</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38 — Diagrama de bloques del controlador PID externo (Simulink)</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2606040"/>
            <a:ext cx="7772400" cy="365760"/>
          </a:xfrm>
          <a:prstGeom prst="rect">
            <a:avLst/>
          </a:prstGeom>
          <a:noFill/>
        </p:spPr>
        <p:txBody>
          <a:bodyPr wrap="square">
            <a:spAutoFit/>
          </a:bodyPr>
          <a:lstStyle/>
          <a:p>
            <a:pPr algn="l"/>
            <a:r>
              <a:rPr sz="1400" b="1" i="0">
                <a:solidFill>
                  <a:srgbClr val="1A3A6B"/>
                </a:solidFill>
                <a:latin typeface="Calibri"/>
              </a:rPr>
              <a:t>Funciones de transferencia de lazo cerrado:</a:t>
            </a:r>
          </a:p>
        </p:txBody>
      </p:sp>
      <p:sp>
        <p:nvSpPr>
          <p:cNvPr id="16" name="Rectangle 15"/>
          <p:cNvSpPr/>
          <p:nvPr/>
        </p:nvSpPr>
        <p:spPr>
          <a:xfrm>
            <a:off x="365760" y="303580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035808"/>
            <a:ext cx="7589520" cy="475488"/>
          </a:xfrm>
          <a:prstGeom prst="rect">
            <a:avLst/>
          </a:prstGeom>
          <a:noFill/>
        </p:spPr>
        <p:txBody>
          <a:bodyPr wrap="square">
            <a:spAutoFit/>
          </a:bodyPr>
          <a:lstStyle/>
          <a:p>
            <a:pPr algn="ctr"/>
            <a:r>
              <a:rPr sz="1100" b="1">
                <a:solidFill>
                  <a:srgbClr val="1B6B2A"/>
                </a:solidFill>
                <a:latin typeface="Calibri"/>
              </a:rPr>
              <a:t>📐  ECUACIÓN: Gθm(s) = (s²·ba + s·Ksa + Ksia) / (Jeq·s³ + s²·ba + s·Ksa + Ksia)     [Ec. 65]</a:t>
            </a:r>
          </a:p>
        </p:txBody>
      </p:sp>
      <p:sp>
        <p:nvSpPr>
          <p:cNvPr id="18" name="Rectangle 17"/>
          <p:cNvSpPr/>
          <p:nvPr/>
        </p:nvSpPr>
        <p:spPr>
          <a:xfrm>
            <a:off x="365760" y="357530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75304"/>
            <a:ext cx="7589520" cy="475488"/>
          </a:xfrm>
          <a:prstGeom prst="rect">
            <a:avLst/>
          </a:prstGeom>
          <a:noFill/>
        </p:spPr>
        <p:txBody>
          <a:bodyPr wrap="square">
            <a:spAutoFit/>
          </a:bodyPr>
          <a:lstStyle/>
          <a:p>
            <a:pPr algn="ctr"/>
            <a:r>
              <a:rPr sz="1100" b="1">
                <a:solidFill>
                  <a:srgbClr val="1B6B2A"/>
                </a:solidFill>
                <a:latin typeface="Calibri"/>
              </a:rPr>
              <a:t>📐  ECUACIÓN: GTld(s) = −s / r·(Jeq·s³ + s²·ba + s·Ksa + Ksia)     [Ec. 66]</a:t>
            </a:r>
          </a:p>
        </p:txBody>
      </p:sp>
      <p:sp>
        <p:nvSpPr>
          <p:cNvPr id="20" name="TextBox 19"/>
          <p:cNvSpPr txBox="1"/>
          <p:nvPr/>
        </p:nvSpPr>
        <p:spPr>
          <a:xfrm>
            <a:off x="365760" y="4169663"/>
            <a:ext cx="7772400" cy="365760"/>
          </a:xfrm>
          <a:prstGeom prst="rect">
            <a:avLst/>
          </a:prstGeom>
          <a:noFill/>
        </p:spPr>
        <p:txBody>
          <a:bodyPr wrap="square">
            <a:spAutoFit/>
          </a:bodyPr>
          <a:lstStyle/>
          <a:p>
            <a:pPr algn="l"/>
            <a:r>
              <a:rPr sz="1400" b="1" i="0">
                <a:solidFill>
                  <a:srgbClr val="1A3A6B"/>
                </a:solidFill>
                <a:latin typeface="Calibri"/>
              </a:rPr>
              <a:t>Diseño por sintonía serie  (ζ=0.75, n=2.5, ωpos=800 rad/s):</a:t>
            </a:r>
          </a:p>
        </p:txBody>
      </p:sp>
      <p:sp>
        <p:nvSpPr>
          <p:cNvPr id="21" name="Rectangle 20"/>
          <p:cNvSpPr/>
          <p:nvPr/>
        </p:nvSpPr>
        <p:spPr>
          <a:xfrm>
            <a:off x="365760" y="45902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590288"/>
            <a:ext cx="7589520" cy="502920"/>
          </a:xfrm>
          <a:prstGeom prst="rect">
            <a:avLst/>
          </a:prstGeom>
          <a:noFill/>
        </p:spPr>
        <p:txBody>
          <a:bodyPr wrap="square">
            <a:spAutoFit/>
          </a:bodyPr>
          <a:lstStyle/>
          <a:p>
            <a:pPr algn="ctr"/>
            <a:r>
              <a:rPr sz="1100" b="1">
                <a:solidFill>
                  <a:srgbClr val="1B6B2A"/>
                </a:solidFill>
                <a:latin typeface="Calibri"/>
              </a:rPr>
              <a:t>📐  ECUACIÓN: ba = Jeq·n·ωpos = 0.03957 N·m/(rad/s)   |   Ksa = Jeq·n·ω²pos = 31.656 N·m/rad   |   Ksia = Jeq·ω³pos = 10129.78 N·m/(rad·s)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El polinomio característico del sistema en lazo cerrado es de 3° orden. Se analiza el movimiento de los polos cuando Jeq varía con la carga:</a:t>
            </a:r>
          </a:p>
        </p:txBody>
      </p:sp>
      <p:graphicFrame>
        <p:nvGraphicFramePr>
          <p:cNvPr id="8" name="Table 7"/>
          <p:cNvGraphicFramePr>
            <a:graphicFrameLocks noGrp="1"/>
          </p:cNvGraphicFramePr>
          <p:nvPr/>
        </p:nvGraphicFramePr>
        <p:xfrm>
          <a:off x="365760" y="1444752"/>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sz="1200" b="1">
                          <a:solidFill>
                            <a:srgbClr val="FFFFFF"/>
                          </a:solidFill>
                          <a:latin typeface="Calibri"/>
                        </a:rPr>
                        <a:t>Condición Jeq</a:t>
                      </a:r>
                    </a:p>
                  </a:txBody>
                  <a:tcPr>
                    <a:solidFill>
                      <a:srgbClr val="1A3A6B"/>
                    </a:solidFill>
                  </a:tcPr>
                </a:tc>
                <a:tc>
                  <a:txBody>
                    <a:bodyPr/>
                    <a:lstStyle/>
                    <a:p>
                      <a:r>
                        <a:rPr sz="1200" b="1">
                          <a:solidFill>
                            <a:srgbClr val="FFFFFF"/>
                          </a:solidFill>
                          <a:latin typeface="Calibri"/>
                        </a:rPr>
                        <a:t>Jeq [kg·m²]</a:t>
                      </a:r>
                    </a:p>
                  </a:txBody>
                  <a:tcPr>
                    <a:solidFill>
                      <a:srgbClr val="1A3A6B"/>
                    </a:solidFill>
                  </a:tcPr>
                </a:tc>
                <a:tc>
                  <a:txBody>
                    <a:bodyPr/>
                    <a:lstStyle/>
                    <a:p>
                      <a:r>
                        <a:rPr sz="1200" b="1">
                          <a:solidFill>
                            <a:srgbClr val="FFFFFF"/>
                          </a:solidFill>
                          <a:latin typeface="Calibri"/>
                        </a:rPr>
                        <a:t>Polo 1 [rad/s]</a:t>
                      </a:r>
                    </a:p>
                  </a:txBody>
                  <a:tcPr>
                    <a:solidFill>
                      <a:srgbClr val="1A3A6B"/>
                    </a:solidFill>
                  </a:tcPr>
                </a:tc>
                <a:tc>
                  <a:txBody>
                    <a:bodyPr/>
                    <a:lstStyle/>
                    <a:p>
                      <a:r>
                        <a:rPr sz="1200" b="1">
                          <a:solidFill>
                            <a:srgbClr val="FFFFFF"/>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sz="1200">
                          <a:latin typeface="Calibri"/>
                        </a:rPr>
                        <a:t>Mínimo / Nominal  (ml=0)</a:t>
                      </a:r>
                    </a:p>
                  </a:txBody>
                  <a:tcPr/>
                </a:tc>
                <a:tc>
                  <a:txBody>
                    <a:bodyPr/>
                    <a:lstStyle/>
                    <a:p>
                      <a:r>
                        <a:rPr sz="120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a:latin typeface="Calibri"/>
                        </a:rPr>
                        <a:t>Máximo  (ml=1.5 kg)</a:t>
                      </a:r>
                    </a:p>
                  </a:txBody>
                  <a:tcPr>
                    <a:solidFill>
                      <a:srgbClr val="F0F4F8"/>
                    </a:solidFill>
                  </a:tcPr>
                </a:tc>
                <a:tc>
                  <a:txBody>
                    <a:bodyPr/>
                    <a:lstStyle/>
                    <a:p>
                      <a:r>
                        <a:rPr sz="120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p:sp>
        <p:nvSpPr>
          <p:cNvPr id="9" name="Rectangle 8"/>
          <p:cNvSpPr/>
          <p:nvPr/>
        </p:nvSpPr>
        <p:spPr>
          <a:xfrm>
            <a:off x="365760" y="3035808"/>
            <a:ext cx="777240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4270248"/>
            <a:ext cx="7589520" cy="548640"/>
          </a:xfrm>
          <a:prstGeom prst="rect">
            <a:avLst/>
          </a:prstGeom>
          <a:noFill/>
        </p:spPr>
        <p:txBody>
          <a:bodyPr wrap="square">
            <a:spAutoFit/>
          </a:bodyPr>
          <a:lstStyle/>
          <a:p>
            <a:pPr algn="ctr"/>
            <a:r>
              <a:rPr sz="1100" b="1">
                <a:solidFill>
                  <a:srgbClr val="C35A00"/>
                </a:solidFill>
                <a:latin typeface="Calibri"/>
              </a:rPr>
              <a:t>🖼  FIGURA: Figura 37 — Diagrama de polos: lazo abierto (planta) vs. lazo de corriente vs. controlador PID externo
(obsérvese la separación de escalas de tiempo entre los tres lazos)</a:t>
            </a:r>
          </a:p>
        </p:txBody>
      </p:sp>
      <p:sp>
        <p:nvSpPr>
          <p:cNvPr id="11" name="TextBox 10"/>
          <p:cNvSpPr txBox="1"/>
          <p:nvPr/>
        </p:nvSpPr>
        <p:spPr>
          <a:xfrm>
            <a:off x="457200" y="4654296"/>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TextBox 11"/>
          <p:cNvSpPr txBox="1"/>
          <p:nvPr/>
        </p:nvSpPr>
        <p:spPr>
          <a:xfrm>
            <a:off x="8412480" y="1444752"/>
            <a:ext cx="3566160" cy="4114800"/>
          </a:xfrm>
          <a:prstGeom prst="rect">
            <a:avLst/>
          </a:prstGeom>
          <a:noFill/>
        </p:spPr>
        <p:txBody>
          <a:bodyPr wrap="square">
            <a:spAutoFit/>
          </a:bodyPr>
          <a:lstStyle/>
          <a:p>
            <a:r>
              <a:rPr sz="1350">
                <a:solidFill>
                  <a:srgbClr val="1A1A2E"/>
                </a:solidFill>
                <a:latin typeface="Calibri"/>
              </a:rPr>
              <a:t>Todos los polos tienen parte real negativa → sistema estable en todo el rango de operación</a:t>
            </a:r>
          </a:p>
          <a:p>
            <a:pPr>
              <a:spcBef>
                <a:spcPts val="400"/>
              </a:spcBef>
            </a:pPr>
            <a:r>
              <a:rPr sz="1350">
                <a:solidFill>
                  <a:srgbClr val="1A1A2E"/>
                </a:solidFill>
                <a:latin typeface="Calibri"/>
              </a:rPr>
              <a:t>Con mayor carga (mayor Jeq): los polos se acercan al eje imaginario → respuesta más lenta y con mayor amortiguamiento</a:t>
            </a:r>
          </a:p>
          <a:p>
            <a:pPr>
              <a:spcBef>
                <a:spcPts val="400"/>
              </a:spcBef>
            </a:pPr>
            <a:r>
              <a:rPr sz="1350">
                <a:solidFill>
                  <a:srgbClr val="1A1A2E"/>
                </a:solidFill>
                <a:latin typeface="Calibri"/>
              </a:rPr>
              <a:t>El lazo de corriente (~5000 rad/s) es ~6× más rápido que el PID (~800 rad/s) → hipótesis de cascada verificada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365760" y="777240"/>
            <a:ext cx="7772400" cy="685800"/>
          </a:xfrm>
          <a:prstGeom prst="rect">
            <a:avLst/>
          </a:prstGeom>
          <a:noFill/>
        </p:spPr>
        <p:txBody>
          <a:bodyPr wrap="square">
            <a:spAutoFit/>
          </a:bodyPr>
          <a:lstStyle/>
          <a:p>
            <a:pPr algn="l"/>
            <a:r>
              <a:rPr sz="1400" b="0" i="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365760" y="15361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36192"/>
            <a:ext cx="7589520" cy="475488"/>
          </a:xfrm>
          <a:prstGeom prst="rect">
            <a:avLst/>
          </a:prstGeom>
          <a:noFill/>
        </p:spPr>
        <p:txBody>
          <a:bodyPr wrap="square">
            <a:spAutoFit/>
          </a:bodyPr>
          <a:lstStyle/>
          <a:p>
            <a:pPr algn="ctr"/>
            <a:r>
              <a:rPr sz="1100" b="1">
                <a:solidFill>
                  <a:srgbClr val="1B6B2A"/>
                </a:solidFill>
                <a:latin typeface="Calibri"/>
              </a:rPr>
              <a:t>📐  ECUACIÓN: θ*m(t) = r·q*(t)     |     ω*m(t) = r·q̇*(t)     [Ec. 71]</a:t>
            </a:r>
          </a:p>
        </p:txBody>
      </p:sp>
      <p:sp>
        <p:nvSpPr>
          <p:cNvPr id="10" name="TextBox 9"/>
          <p:cNvSpPr txBox="1"/>
          <p:nvPr/>
        </p:nvSpPr>
        <p:spPr>
          <a:xfrm>
            <a:off x="365760" y="2121408"/>
            <a:ext cx="7772400" cy="365760"/>
          </a:xfrm>
          <a:prstGeom prst="rect">
            <a:avLst/>
          </a:prstGeom>
          <a:noFill/>
        </p:spPr>
        <p:txBody>
          <a:bodyPr wrap="square">
            <a:spAutoFit/>
          </a:bodyPr>
          <a:lstStyle/>
          <a:p>
            <a:pPr algn="l"/>
            <a:r>
              <a:rPr sz="1400" b="1" i="0">
                <a:solidFill>
                  <a:srgbClr val="1A3A6B"/>
                </a:solidFill>
                <a:latin typeface="Calibri"/>
              </a:rPr>
              <a:t>Perfil trapezoidal de velocidad (consigna suavizada):</a:t>
            </a:r>
          </a:p>
        </p:txBody>
      </p:sp>
      <p:sp>
        <p:nvSpPr>
          <p:cNvPr id="11" name="TextBox 10"/>
          <p:cNvSpPr txBox="1"/>
          <p:nvPr/>
        </p:nvSpPr>
        <p:spPr>
          <a:xfrm>
            <a:off x="365760" y="2560320"/>
            <a:ext cx="7772400" cy="2560320"/>
          </a:xfrm>
          <a:prstGeom prst="rect">
            <a:avLst/>
          </a:prstGeom>
          <a:noFill/>
        </p:spPr>
        <p:txBody>
          <a:bodyPr wrap="square">
            <a:spAutoFit/>
          </a:bodyPr>
          <a:lstStyle/>
          <a:p>
            <a:r>
              <a:rPr sz="1350">
                <a:solidFill>
                  <a:srgbClr val="1A1A2E"/>
                </a:solidFill>
                <a:latin typeface="Calibri"/>
              </a:rPr>
              <a:t>La derivada de la consigna es interna al bloque de set-point → no amplifica ruido externo</a:t>
            </a:r>
          </a:p>
          <a:p>
            <a:pPr>
              <a:spcBef>
                <a:spcPts val="400"/>
              </a:spcBef>
            </a:pPr>
            <a:r>
              <a:rPr sz="1350">
                <a:solidFill>
                  <a:srgbClr val="1A1A2E"/>
                </a:solidFill>
                <a:latin typeface="Calibri"/>
              </a:rPr>
              <a:t>El perfil trapezoidal impone transiciones suaves de velocidad y aceleración</a:t>
            </a:r>
          </a:p>
          <a:p>
            <a:pPr>
              <a:spcBef>
                <a:spcPts val="400"/>
              </a:spcBef>
            </a:pPr>
            <a:r>
              <a:rPr sz="1350">
                <a:solidFill>
                  <a:srgbClr val="1A1A2E"/>
                </a:solidFill>
                <a:latin typeface="Calibri"/>
              </a:rPr>
              <a:t>Evita las exigencias dinámicas excesivas generadas por la consigna de posición trapezoidal directa</a:t>
            </a:r>
          </a:p>
          <a:p>
            <a:pPr>
              <a:spcBef>
                <a:spcPts val="400"/>
              </a:spcBef>
            </a:pPr>
            <a:r>
              <a:rPr sz="1350">
                <a:solidFill>
                  <a:srgbClr val="1A1A2E"/>
                </a:solidFill>
                <a:latin typeface="Calibri"/>
              </a:rPr>
              <a:t>Permite evaluar el desempeño en condiciones representativas de operación (1 revolución, rampas de 5 s)</a:t>
            </a:r>
          </a:p>
        </p:txBody>
      </p:sp>
      <p:sp>
        <p:nvSpPr>
          <p:cNvPr id="12" name="Rectangle 11"/>
          <p:cNvSpPr/>
          <p:nvPr/>
        </p:nvSpPr>
        <p:spPr>
          <a:xfrm>
            <a:off x="8412480" y="777240"/>
            <a:ext cx="356616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645920"/>
            <a:ext cx="3383279" cy="548640"/>
          </a:xfrm>
          <a:prstGeom prst="rect">
            <a:avLst/>
          </a:prstGeom>
          <a:noFill/>
        </p:spPr>
        <p:txBody>
          <a:bodyPr wrap="square">
            <a:spAutoFit/>
          </a:bodyPr>
          <a:lstStyle/>
          <a:p>
            <a:pPr algn="ctr"/>
            <a:r>
              <a:rPr sz="1100" b="1">
                <a:solidFill>
                  <a:srgbClr val="C35A00"/>
                </a:solidFill>
                <a:latin typeface="Calibri"/>
              </a:rPr>
              <a:t>🖼  FIGURA: Figura 39 — Diagrama de bloques Simulink del set-point de posición/velocidad</a:t>
            </a:r>
          </a:p>
        </p:txBody>
      </p:sp>
      <p:sp>
        <p:nvSpPr>
          <p:cNvPr id="14" name="TextBox 13"/>
          <p:cNvSpPr txBox="1"/>
          <p:nvPr/>
        </p:nvSpPr>
        <p:spPr>
          <a:xfrm>
            <a:off x="8503919" y="2029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8412480" y="3154680"/>
            <a:ext cx="3566160" cy="20116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03919" y="3886200"/>
            <a:ext cx="3383279" cy="548640"/>
          </a:xfrm>
          <a:prstGeom prst="rect">
            <a:avLst/>
          </a:prstGeom>
          <a:noFill/>
        </p:spPr>
        <p:txBody>
          <a:bodyPr wrap="square">
            <a:spAutoFit/>
          </a:bodyPr>
          <a:lstStyle/>
          <a:p>
            <a:pPr algn="ctr"/>
            <a:r>
              <a:rPr sz="1100" b="1">
                <a:solidFill>
                  <a:srgbClr val="C35A00"/>
                </a:solidFill>
                <a:latin typeface="Calibri"/>
              </a:rPr>
              <a:t>🖼  FIGURA: Figuras 41-42 — Consignas q*(t) articular y θ*m(t) del eje motor con perfil trapezoidal</a:t>
            </a:r>
          </a:p>
        </p:txBody>
      </p:sp>
      <p:sp>
        <p:nvSpPr>
          <p:cNvPr id="17" name="TextBox 16"/>
          <p:cNvSpPr txBox="1"/>
          <p:nvPr/>
        </p:nvSpPr>
        <p:spPr>
          <a:xfrm>
            <a:off x="8503919" y="427024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Solo se dispone del encoder de posición θm. Se diseña un observador asintótico de Luenberger sobre el subsistema mecánico de orden 2 (las corrientes y Ts se miden directamente):</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θ̃̇m = ω̃m + kθ·(θm − θ̃m)     [corrección de posición]     [Ec. 73a]</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ω̃̇m = T*'m/Jeq + kω·(θm − θ̃m)     [corrección de velocidad]     [Ec. 73b]</a:t>
            </a:r>
          </a:p>
        </p:txBody>
      </p:sp>
      <p:sp>
        <p:nvSpPr>
          <p:cNvPr id="12" name="Rectangle 11"/>
          <p:cNvSpPr/>
          <p:nvPr/>
        </p:nvSpPr>
        <p:spPr>
          <a:xfrm>
            <a:off x="365760" y="2587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87752"/>
            <a:ext cx="11247120" cy="475488"/>
          </a:xfrm>
          <a:prstGeom prst="rect">
            <a:avLst/>
          </a:prstGeom>
          <a:noFill/>
        </p:spPr>
        <p:txBody>
          <a:bodyPr wrap="square">
            <a:spAutoFit/>
          </a:bodyPr>
          <a:lstStyle/>
          <a:p>
            <a:pPr algn="ctr"/>
            <a:r>
              <a:rPr sz="1100" b="1">
                <a:solidFill>
                  <a:srgbClr val="1B6B2A"/>
                </a:solidFill>
                <a:latin typeface="Calibri"/>
              </a:rPr>
              <a:t>📐  ECUACIÓN: Dinámica del error:  ė(t) = (A − Ke·C)·e(t)     →     A' = [−kθ  1 ; −kω  0]</a:t>
            </a:r>
          </a:p>
        </p:txBody>
      </p:sp>
      <p:sp>
        <p:nvSpPr>
          <p:cNvPr id="14" name="Rectangle 13"/>
          <p:cNvSpPr/>
          <p:nvPr/>
        </p:nvSpPr>
        <p:spPr>
          <a:xfrm>
            <a:off x="365760" y="3127248"/>
            <a:ext cx="114300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27248"/>
            <a:ext cx="11247120" cy="502920"/>
          </a:xfrm>
          <a:prstGeom prst="rect">
            <a:avLst/>
          </a:prstGeom>
          <a:noFill/>
        </p:spPr>
        <p:txBody>
          <a:bodyPr wrap="square">
            <a:spAutoFit/>
          </a:bodyPr>
          <a:lstStyle/>
          <a:p>
            <a:pPr algn="ctr"/>
            <a:r>
              <a:rPr sz="1100" b="1">
                <a:solidFill>
                  <a:srgbClr val="1B6B2A"/>
                </a:solidFill>
                <a:latin typeface="Calibri"/>
              </a:rPr>
              <a:t>📐  ECUACIÓN: p(s) = s² + kθ·s + kω     →     polos deseados p₁,₂ = −3200 rad/s     →     kθ = 6400 rad/s,  kω = 1.024×10⁷ rad²/s²</a:t>
            </a:r>
          </a:p>
        </p:txBody>
      </p:sp>
      <p:sp>
        <p:nvSpPr>
          <p:cNvPr id="16" name="Rectangle 15"/>
          <p:cNvSpPr/>
          <p:nvPr/>
        </p:nvSpPr>
        <p:spPr>
          <a:xfrm>
            <a:off x="365760" y="3749039"/>
            <a:ext cx="5943600" cy="23317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40580"/>
            <a:ext cx="5760720" cy="548640"/>
          </a:xfrm>
          <a:prstGeom prst="rect">
            <a:avLst/>
          </a:prstGeom>
          <a:noFill/>
        </p:spPr>
        <p:txBody>
          <a:bodyPr wrap="square">
            <a:spAutoFit/>
          </a:bodyPr>
          <a:lstStyle/>
          <a:p>
            <a:pPr algn="ctr"/>
            <a:r>
              <a:rPr sz="1100" b="1">
                <a:solidFill>
                  <a:srgbClr val="C35A00"/>
                </a:solidFill>
                <a:latin typeface="Calibri"/>
              </a:rPr>
              <a:t>🖼  FIGURA: Figura 40 — Diagrama de bloques Simulink del observador de estado reducido</a:t>
            </a:r>
          </a:p>
        </p:txBody>
      </p:sp>
      <p:sp>
        <p:nvSpPr>
          <p:cNvPr id="18" name="TextBox 17"/>
          <p:cNvSpPr txBox="1"/>
          <p:nvPr/>
        </p:nvSpPr>
        <p:spPr>
          <a:xfrm>
            <a:off x="457200" y="502462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TextBox 18"/>
          <p:cNvSpPr txBox="1"/>
          <p:nvPr/>
        </p:nvSpPr>
        <p:spPr>
          <a:xfrm>
            <a:off x="6492240" y="3749039"/>
            <a:ext cx="5212080" cy="2331720"/>
          </a:xfrm>
          <a:prstGeom prst="rect">
            <a:avLst/>
          </a:prstGeom>
          <a:noFill/>
        </p:spPr>
        <p:txBody>
          <a:bodyPr wrap="square">
            <a:spAutoFit/>
          </a:bodyPr>
          <a:lstStyle/>
          <a:p>
            <a:r>
              <a:rPr sz="1350">
                <a:solidFill>
                  <a:srgbClr val="1A1A2E"/>
                </a:solidFill>
                <a:latin typeface="Calibri"/>
              </a:rPr>
              <a:t>Los polos del observador (−3200 rad/s) son 4× más rápidos que el PID (−800 rad/s) → converge antes de que el controlador actúe</a:t>
            </a:r>
          </a:p>
          <a:p>
            <a:pPr>
              <a:spcBef>
                <a:spcPts val="400"/>
              </a:spcBef>
            </a:pPr>
            <a:r>
              <a:rPr sz="1350" b="0">
                <a:solidFill>
                  <a:srgbClr val="C35A00"/>
                </a:solidFill>
                <a:latin typeface="Calibri"/>
              </a:rPr>
              <a:t>Limitación: sin acción integral → error estacionario frente a Tld constante → se corrige con observador aumentado</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Posición y velocidad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p:sp>
        <p:nvSpPr>
          <p:cNvPr id="7" name="TextBox 6"/>
          <p:cNvSpPr txBox="1"/>
          <p:nvPr/>
        </p:nvSpPr>
        <p:spPr>
          <a:xfrm>
            <a:off x="365760" y="777240"/>
            <a:ext cx="11430000" cy="384048"/>
          </a:xfrm>
          <a:prstGeom prst="rect">
            <a:avLst/>
          </a:prstGeom>
          <a:noFill/>
        </p:spPr>
        <p:txBody>
          <a:bodyPr wrap="square">
            <a:spAutoFit/>
          </a:bodyPr>
          <a:lstStyle/>
          <a:p>
            <a:pPr algn="l"/>
            <a:r>
              <a:rPr sz="1400" b="1" i="0">
                <a:solidFill>
                  <a:srgbClr val="1A3A6B"/>
                </a:solidFill>
                <a:latin typeface="Calibri"/>
              </a:rPr>
              <a:t>Consigna trapezoidal de posición (1 revolución, rampas de 5 s):</a:t>
            </a:r>
          </a:p>
        </p:txBody>
      </p:sp>
      <p:sp>
        <p:nvSpPr>
          <p:cNvPr id="8" name="Rectangle 7"/>
          <p:cNvSpPr/>
          <p:nvPr/>
        </p:nvSpPr>
        <p:spPr>
          <a:xfrm>
            <a:off x="36576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240280"/>
            <a:ext cx="5303520" cy="548640"/>
          </a:xfrm>
          <a:prstGeom prst="rect">
            <a:avLst/>
          </a:prstGeom>
          <a:noFill/>
        </p:spPr>
        <p:txBody>
          <a:bodyPr wrap="square">
            <a:spAutoFit/>
          </a:bodyPr>
          <a:lstStyle/>
          <a:p>
            <a:pPr algn="ctr"/>
            <a:r>
              <a:rPr sz="1100" b="1">
                <a:solidFill>
                  <a:srgbClr val="C35A00"/>
                </a:solidFill>
                <a:latin typeface="Calibri"/>
              </a:rPr>
              <a:t>🖼  FIGURA: Figuras 43-44 — θm(t): posición real vs. estimada vs. consigna
+ detalle del transitorio en t=5s (sobrepaso + oscilación amortiguada)</a:t>
            </a:r>
          </a:p>
        </p:txBody>
      </p:sp>
      <p:sp>
        <p:nvSpPr>
          <p:cNvPr id="10" name="TextBox 9"/>
          <p:cNvSpPr txBox="1"/>
          <p:nvPr/>
        </p:nvSpPr>
        <p:spPr>
          <a:xfrm>
            <a:off x="45720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240280"/>
            <a:ext cx="5303520" cy="548640"/>
          </a:xfrm>
          <a:prstGeom prst="rect">
            <a:avLst/>
          </a:prstGeom>
          <a:noFill/>
        </p:spPr>
        <p:txBody>
          <a:bodyPr wrap="square">
            <a:spAutoFit/>
          </a:bodyPr>
          <a:lstStyle/>
          <a:p>
            <a:pPr algn="ctr"/>
            <a:r>
              <a:rPr sz="1100" b="1">
                <a:solidFill>
                  <a:srgbClr val="C35A00"/>
                </a:solidFill>
                <a:latin typeface="Calibri"/>
              </a:rPr>
              <a:t>🖼  FIGURA: Figuras 45-46 — ωm(t): velocidad real vs. estimada vs. consigna
+ detalle transitorio en t=5s (sobrepico negativo + recuperación rápida)</a:t>
            </a:r>
          </a:p>
        </p:txBody>
      </p:sp>
      <p:sp>
        <p:nvSpPr>
          <p:cNvPr id="13" name="TextBox 12"/>
          <p:cNvSpPr txBox="1"/>
          <p:nvPr/>
        </p:nvSpPr>
        <p:spPr>
          <a:xfrm>
            <a:off x="621792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931920"/>
            <a:ext cx="11430000" cy="2286000"/>
          </a:xfrm>
          <a:prstGeom prst="rect">
            <a:avLst/>
          </a:prstGeom>
          <a:noFill/>
        </p:spPr>
        <p:txBody>
          <a:bodyPr wrap="square">
            <a:spAutoFit/>
          </a:bodyPr>
          <a:lstStyle/>
          <a:p>
            <a:r>
              <a:rPr sz="1350">
                <a:solidFill>
                  <a:srgbClr val="1A1A2E"/>
                </a:solidFill>
                <a:latin typeface="Calibri"/>
              </a:rPr>
              <a:t>Seguimiento de posición muy bueno: error mínimo en régimen permanente</a:t>
            </a:r>
          </a:p>
          <a:p>
            <a:pPr>
              <a:spcBef>
                <a:spcPts val="400"/>
              </a:spcBef>
            </a:pPr>
            <a:r>
              <a:rPr sz="1350">
                <a:solidFill>
                  <a:srgbClr val="1A1A2E"/>
                </a:solidFill>
                <a:latin typeface="Calibri"/>
              </a:rPr>
              <a:t>Velocidad: sobrepico transitorio más pronunciado (derivativa de la posición)</a:t>
            </a:r>
          </a:p>
          <a:p>
            <a:pPr>
              <a:spcBef>
                <a:spcPts val="400"/>
              </a:spcBef>
            </a:pPr>
            <a:r>
              <a:rPr sz="1350">
                <a:solidFill>
                  <a:srgbClr val="1A1A2E"/>
                </a:solidFill>
                <a:latin typeface="Calibri"/>
              </a:rPr>
              <a:t>El observador estima correctamente θm y ωm en ausencia de perturbaciones externas</a:t>
            </a:r>
          </a:p>
          <a:p>
            <a:pPr>
              <a:spcBef>
                <a:spcPts val="400"/>
              </a:spcBef>
            </a:pPr>
            <a:r>
              <a:rPr sz="1350">
                <a:solidFill>
                  <a:srgbClr val="1A1A2E"/>
                </a:solidFill>
                <a:latin typeface="Calibri"/>
              </a:rPr>
              <a:t>La señal estimada es prácticamente coincidente con la real</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Variables eléctricas y limitaciones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58 / ~75</a:t>
            </a:r>
          </a:p>
        </p:txBody>
      </p:sp>
      <p:sp>
        <p:nvSpPr>
          <p:cNvPr id="7" name="Rectangle 6"/>
          <p:cNvSpPr/>
          <p:nvPr/>
        </p:nvSpPr>
        <p:spPr>
          <a:xfrm>
            <a:off x="365760" y="777240"/>
            <a:ext cx="114300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45920"/>
            <a:ext cx="11247120" cy="548640"/>
          </a:xfrm>
          <a:prstGeom prst="rect">
            <a:avLst/>
          </a:prstGeom>
          <a:noFill/>
        </p:spPr>
        <p:txBody>
          <a:bodyPr wrap="square">
            <a:spAutoFit/>
          </a:bodyPr>
          <a:lstStyle/>
          <a:p>
            <a:pPr algn="ctr"/>
            <a:r>
              <a:rPr sz="1100" b="1">
                <a:solidFill>
                  <a:srgbClr val="C35A00"/>
                </a:solidFill>
                <a:latin typeface="Calibri"/>
              </a:rPr>
              <a:t>🖼  FIGURA: Figuras 47-50 — Torque Tm(t), corrientes iabc(t), tensiones vabc(t), temperatura Ts°(t)
durante seguimiento de consigna trapezoidal de posición</a:t>
            </a:r>
          </a:p>
        </p:txBody>
      </p:sp>
      <p:sp>
        <p:nvSpPr>
          <p:cNvPr id="9" name="TextBox 8"/>
          <p:cNvSpPr txBox="1"/>
          <p:nvPr/>
        </p:nvSpPr>
        <p:spPr>
          <a:xfrm>
            <a:off x="457200" y="20299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200400"/>
          <a:ext cx="11430000" cy="26060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434340">
                <a:tc>
                  <a:txBody>
                    <a:bodyPr/>
                    <a:lstStyle/>
                    <a:p>
                      <a:r>
                        <a:rPr sz="1200" b="1">
                          <a:solidFill>
                            <a:srgbClr val="FFFFFF"/>
                          </a:solidFill>
                          <a:latin typeface="Calibri"/>
                        </a:rPr>
                        <a:t>Variable</a:t>
                      </a:r>
                    </a:p>
                  </a:txBody>
                  <a:tcPr>
                    <a:solidFill>
                      <a:srgbClr val="1A3A6B"/>
                    </a:solidFill>
                  </a:tcPr>
                </a:tc>
                <a:tc>
                  <a:txBody>
                    <a:bodyPr/>
                    <a:lstStyle/>
                    <a:p>
                      <a:r>
                        <a:rPr sz="1200" b="1">
                          <a:solidFill>
                            <a:srgbClr val="FFFFFF"/>
                          </a:solidFill>
                          <a:latin typeface="Calibri"/>
                        </a:rPr>
                        <a:t>Espec. continuo</a:t>
                      </a:r>
                    </a:p>
                  </a:txBody>
                  <a:tcPr>
                    <a:solidFill>
                      <a:srgbClr val="1A3A6B"/>
                    </a:solidFill>
                  </a:tcPr>
                </a:tc>
                <a:tc>
                  <a:txBody>
                    <a:bodyPr/>
                    <a:lstStyle/>
                    <a:p>
                      <a:r>
                        <a:rPr sz="1200" b="1">
                          <a:solidFill>
                            <a:srgbClr val="FFFFFF"/>
                          </a:solidFill>
                          <a:latin typeface="Calibri"/>
                        </a:rPr>
                        <a:t>Espec. pico</a:t>
                      </a:r>
                    </a:p>
                  </a:txBody>
                  <a:tcPr>
                    <a:solidFill>
                      <a:srgbClr val="1A3A6B"/>
                    </a:solidFill>
                  </a:tcPr>
                </a:tc>
                <a:tc>
                  <a:txBody>
                    <a:bodyPr/>
                    <a:lstStyle/>
                    <a:p>
                      <a:r>
                        <a:rPr sz="1200" b="1">
                          <a:solidFill>
                            <a:srgbClr val="FFFFFF"/>
                          </a:solidFill>
                          <a:latin typeface="Calibri"/>
                        </a:rPr>
                        <a:t>Sim. continuo</a:t>
                      </a:r>
                    </a:p>
                  </a:txBody>
                  <a:tcPr>
                    <a:solidFill>
                      <a:srgbClr val="1A3A6B"/>
                    </a:solidFill>
                  </a:tcPr>
                </a:tc>
                <a:tc>
                  <a:txBody>
                    <a:bodyPr/>
                    <a:lstStyle/>
                    <a:p>
                      <a:r>
                        <a:rPr sz="1200" b="1">
                          <a:solidFill>
                            <a:srgbClr val="FFFFFF"/>
                          </a:solidFill>
                          <a:latin typeface="Calibri"/>
                        </a:rPr>
                        <a:t>Sim. pico</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Torque (caja)</a:t>
                      </a:r>
                    </a:p>
                  </a:txBody>
                  <a:tcPr/>
                </a:tc>
                <a:tc>
                  <a:txBody>
                    <a:bodyPr/>
                    <a:lstStyle/>
                    <a:p>
                      <a:r>
                        <a:rPr sz="1200">
                          <a:latin typeface="Calibri"/>
                        </a:rPr>
                        <a:t>17.0 N·m</a:t>
                      </a:r>
                    </a:p>
                  </a:txBody>
                  <a:tcPr/>
                </a:tc>
                <a:tc>
                  <a:txBody>
                    <a:bodyPr/>
                    <a:lstStyle/>
                    <a:p>
                      <a:r>
                        <a:rPr sz="1200">
                          <a:latin typeface="Calibri"/>
                        </a:rPr>
                        <a:t>45.0 N·m</a:t>
                      </a:r>
                    </a:p>
                  </a:txBody>
                  <a:tcPr/>
                </a:tc>
                <a:tc>
                  <a:txBody>
                    <a:bodyPr/>
                    <a:lstStyle/>
                    <a:p>
                      <a:r>
                        <a:rPr sz="1200">
                          <a:latin typeface="Calibri"/>
                        </a:rPr>
                        <a:t>0.039 N·m</a:t>
                      </a:r>
                    </a:p>
                  </a:txBody>
                  <a:tcPr/>
                </a:tc>
                <a:tc>
                  <a:txBody>
                    <a:bodyPr/>
                    <a:lstStyle/>
                    <a:p>
                      <a:r>
                        <a:rPr sz="1200">
                          <a:latin typeface="Calibri"/>
                        </a:rPr>
                        <a:t>5.011 N·m ✓</a:t>
                      </a:r>
                    </a:p>
                  </a:txBody>
                  <a:tcPr/>
                </a:tc>
                <a:extLst>
                  <a:ext uri="{0D108BD9-81ED-4DB2-BD59-A6C34878D82A}">
                    <a16:rowId xmlns:a16="http://schemas.microsoft.com/office/drawing/2014/main" val="10001"/>
                  </a:ext>
                </a:extLst>
              </a:tr>
              <a:tr h="434340">
                <a:tc>
                  <a:txBody>
                    <a:bodyPr/>
                    <a:lstStyle/>
                    <a:p>
                      <a:r>
                        <a:rPr sz="1200">
                          <a:latin typeface="Calibri"/>
                        </a:rPr>
                        <a:t>Vel. angular (caja)</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1.00 rad/s</a:t>
                      </a:r>
                    </a:p>
                  </a:txBody>
                  <a:tcPr>
                    <a:solidFill>
                      <a:srgbClr val="F0F4F8"/>
                    </a:solidFill>
                  </a:tcPr>
                </a:tc>
                <a:tc>
                  <a:txBody>
                    <a:bodyPr/>
                    <a:lstStyle/>
                    <a:p>
                      <a:r>
                        <a:rPr sz="1200">
                          <a:latin typeface="Calibri"/>
                        </a:rPr>
                        <a:t>1.595 rad/s ✓</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Vel. angular (motor)</a:t>
                      </a:r>
                    </a:p>
                  </a:txBody>
                  <a:tcPr/>
                </a:tc>
                <a:tc>
                  <a:txBody>
                    <a:bodyPr/>
                    <a:lstStyle/>
                    <a:p>
                      <a:r>
                        <a:rPr sz="1200">
                          <a:latin typeface="Calibri"/>
                        </a:rPr>
                        <a:t>691 rad/s</a:t>
                      </a:r>
                    </a:p>
                  </a:txBody>
                  <a:tcPr/>
                </a:tc>
                <a:tc>
                  <a:txBody>
                    <a:bodyPr/>
                    <a:lstStyle/>
                    <a:p>
                      <a:r>
                        <a:rPr sz="1200">
                          <a:latin typeface="Calibri"/>
                        </a:rPr>
                        <a:t>691 rad/s</a:t>
                      </a:r>
                    </a:p>
                  </a:txBody>
                  <a:tcPr/>
                </a:tc>
                <a:tc>
                  <a:txBody>
                    <a:bodyPr/>
                    <a:lstStyle/>
                    <a:p>
                      <a:r>
                        <a:rPr sz="1200">
                          <a:latin typeface="Calibri"/>
                        </a:rPr>
                        <a:t>120 rad/s</a:t>
                      </a:r>
                    </a:p>
                  </a:txBody>
                  <a:tcPr/>
                </a:tc>
                <a:tc>
                  <a:txBody>
                    <a:bodyPr/>
                    <a:lstStyle/>
                    <a:p>
                      <a:r>
                        <a:rPr sz="1200">
                          <a:latin typeface="Calibri"/>
                        </a:rPr>
                        <a:t>191.4 rad/s ✓</a:t>
                      </a:r>
                    </a:p>
                  </a:txBody>
                  <a:tcPr/>
                </a:tc>
                <a:extLst>
                  <a:ext uri="{0D108BD9-81ED-4DB2-BD59-A6C34878D82A}">
                    <a16:rowId xmlns:a16="http://schemas.microsoft.com/office/drawing/2014/main" val="10003"/>
                  </a:ext>
                </a:extLst>
              </a:tr>
              <a:tr h="434340">
                <a:tc>
                  <a:txBody>
                    <a:bodyPr/>
                    <a:lstStyle/>
                    <a:p>
                      <a:r>
                        <a:rPr sz="1200">
                          <a:latin typeface="Calibri"/>
                        </a:rPr>
                        <a:t>Corriente (estator)</a:t>
                      </a:r>
                    </a:p>
                  </a:txBody>
                  <a:tcPr>
                    <a:solidFill>
                      <a:srgbClr val="F0F4F8"/>
                    </a:solidFill>
                  </a:tcPr>
                </a:tc>
                <a:tc>
                  <a:txBody>
                    <a:bodyPr/>
                    <a:lstStyle/>
                    <a:p>
                      <a:r>
                        <a:rPr sz="1200">
                          <a:latin typeface="Calibri"/>
                        </a:rPr>
                        <a:t>0.4 A</a:t>
                      </a:r>
                    </a:p>
                  </a:txBody>
                  <a:tcPr>
                    <a:solidFill>
                      <a:srgbClr val="F0F4F8"/>
                    </a:solidFill>
                  </a:tcPr>
                </a:tc>
                <a:tc>
                  <a:txBody>
                    <a:bodyPr/>
                    <a:lstStyle/>
                    <a:p>
                      <a:r>
                        <a:rPr sz="1200">
                          <a:latin typeface="Calibri"/>
                        </a:rPr>
                        <a:t>2.0 A</a:t>
                      </a:r>
                    </a:p>
                  </a:txBody>
                  <a:tcPr>
                    <a:solidFill>
                      <a:srgbClr val="F0F4F8"/>
                    </a:solidFill>
                  </a:tcPr>
                </a:tc>
                <a:tc>
                  <a:txBody>
                    <a:bodyPr/>
                    <a:lstStyle/>
                    <a:p>
                      <a:r>
                        <a:rPr sz="1200">
                          <a:latin typeface="Calibri"/>
                        </a:rPr>
                        <a:t>0.541 A</a:t>
                      </a:r>
                    </a:p>
                  </a:txBody>
                  <a:tcPr>
                    <a:solidFill>
                      <a:srgbClr val="F0F4F8"/>
                    </a:solidFill>
                  </a:tcPr>
                </a:tc>
                <a:tc>
                  <a:txBody>
                    <a:bodyPr/>
                    <a:lstStyle/>
                    <a:p>
                      <a:r>
                        <a:rPr sz="1200">
                          <a:latin typeface="Calibri"/>
                        </a:rPr>
                        <a:t>72.5 A  ✗</a:t>
                      </a:r>
                    </a:p>
                  </a:txBody>
                  <a:tcPr>
                    <a:solidFill>
                      <a:srgbClr val="F0F4F8"/>
                    </a:solidFill>
                  </a:tcPr>
                </a:tc>
                <a:extLst>
                  <a:ext uri="{0D108BD9-81ED-4DB2-BD59-A6C34878D82A}">
                    <a16:rowId xmlns:a16="http://schemas.microsoft.com/office/drawing/2014/main" val="10004"/>
                  </a:ext>
                </a:extLst>
              </a:tr>
              <a:tr h="434340">
                <a:tc>
                  <a:txBody>
                    <a:bodyPr/>
                    <a:lstStyle/>
                    <a:p>
                      <a:r>
                        <a:rPr sz="1200">
                          <a:latin typeface="Calibri"/>
                        </a:rPr>
                        <a:t>Tensión de fase</a:t>
                      </a:r>
                    </a:p>
                  </a:txBody>
                  <a:tcPr/>
                </a:tc>
                <a:tc>
                  <a:txBody>
                    <a:bodyPr/>
                    <a:lstStyle/>
                    <a:p>
                      <a:r>
                        <a:rPr sz="1200">
                          <a:latin typeface="Calibri"/>
                        </a:rPr>
                        <a:t>30 V</a:t>
                      </a:r>
                    </a:p>
                  </a:txBody>
                  <a:tcPr/>
                </a:tc>
                <a:tc>
                  <a:txBody>
                    <a:bodyPr/>
                    <a:lstStyle/>
                    <a:p>
                      <a:r>
                        <a:rPr sz="1200">
                          <a:latin typeface="Calibri"/>
                        </a:rPr>
                        <a:t>48 V</a:t>
                      </a:r>
                    </a:p>
                  </a:txBody>
                  <a:tcPr/>
                </a:tc>
                <a:tc>
                  <a:txBody>
                    <a:bodyPr/>
                    <a:lstStyle/>
                    <a:p>
                      <a:r>
                        <a:rPr sz="1200">
                          <a:latin typeface="Calibri"/>
                        </a:rPr>
                        <a:t>5.07 V</a:t>
                      </a:r>
                    </a:p>
                  </a:txBody>
                  <a:tcPr/>
                </a:tc>
                <a:tc>
                  <a:txBody>
                    <a:bodyPr/>
                    <a:lstStyle/>
                    <a:p>
                      <a:r>
                        <a:rPr sz="1200">
                          <a:latin typeface="Calibri"/>
                        </a:rPr>
                        <a:t>1972 V  ✗</a:t>
                      </a:r>
                    </a:p>
                  </a:txBody>
                  <a:tcPr/>
                </a:tc>
                <a:extLst>
                  <a:ext uri="{0D108BD9-81ED-4DB2-BD59-A6C34878D82A}">
                    <a16:rowId xmlns:a16="http://schemas.microsoft.com/office/drawing/2014/main" val="10005"/>
                  </a:ext>
                </a:extLst>
              </a:tr>
            </a:tbl>
          </a:graphicData>
        </a:graphic>
      </p:graphicFrame>
      <p:sp>
        <p:nvSpPr>
          <p:cNvPr id="11" name="Rectangle 10"/>
          <p:cNvSpPr/>
          <p:nvPr/>
        </p:nvSpPr>
        <p:spPr>
          <a:xfrm>
            <a:off x="365760" y="5925312"/>
            <a:ext cx="11430000" cy="658368"/>
          </a:xfrm>
          <a:prstGeom prst="rect">
            <a:avLst/>
          </a:prstGeom>
          <a:solidFill>
            <a:srgbClr val="FFF3E0"/>
          </a:solidFill>
          <a:ln w="1270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5971032"/>
            <a:ext cx="11155680" cy="566928"/>
          </a:xfrm>
          <a:prstGeom prst="rect">
            <a:avLst/>
          </a:prstGeom>
          <a:noFill/>
        </p:spPr>
        <p:txBody>
          <a:bodyPr wrap="square">
            <a:spAutoFit/>
          </a:bodyPr>
          <a:lstStyle/>
          <a:p>
            <a:pPr algn="l"/>
            <a:r>
              <a:rPr sz="1300">
                <a:solidFill>
                  <a:srgbClr val="1A3A6B"/>
                </a:solidFill>
                <a:latin typeface="Calibri"/>
              </a:rPr>
              <a:t>⚠  Los valores pico de corriente (72.5 A &gt;&gt; 2.0 A) y tensión (1972 V &gt;&gt; 48 V) superan ampliamente los límites. La consigna trapezoidal de posición brusca no es apta para el sistema real. Solución: usar consigna de velocidad trapezoidal suavizada.</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aplica un escalón de par resistente Tld = −5 N·m en t=5s y luego +5 N·m en t=10s (cambio de signo — condición más exigente que involucra frenado activo del sistema).</a:t>
            </a:r>
          </a:p>
        </p:txBody>
      </p:sp>
      <p:sp>
        <p:nvSpPr>
          <p:cNvPr id="8" name="Rectangle 7"/>
          <p:cNvSpPr/>
          <p:nvPr/>
        </p:nvSpPr>
        <p:spPr>
          <a:xfrm>
            <a:off x="365760" y="1444752"/>
            <a:ext cx="41148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3931920" cy="548640"/>
          </a:xfrm>
          <a:prstGeom prst="rect">
            <a:avLst/>
          </a:prstGeom>
          <a:noFill/>
        </p:spPr>
        <p:txBody>
          <a:bodyPr wrap="square">
            <a:spAutoFit/>
          </a:bodyPr>
          <a:lstStyle/>
          <a:p>
            <a:pPr algn="ctr"/>
            <a:r>
              <a:rPr sz="1100" b="1">
                <a:solidFill>
                  <a:srgbClr val="C35A00"/>
                </a:solidFill>
                <a:latin typeface="Calibri"/>
              </a:rPr>
              <a:t>🖼  FIGURA: Figura 51 — Perfil de perturbación Tld(t)</a:t>
            </a:r>
          </a:p>
        </p:txBody>
      </p:sp>
      <p:sp>
        <p:nvSpPr>
          <p:cNvPr id="10" name="TextBox 9"/>
          <p:cNvSpPr txBox="1"/>
          <p:nvPr/>
        </p:nvSpPr>
        <p:spPr>
          <a:xfrm>
            <a:off x="457200" y="2697480"/>
            <a:ext cx="39319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754880" y="1444752"/>
            <a:ext cx="713232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46320" y="2313432"/>
            <a:ext cx="6949440" cy="548640"/>
          </a:xfrm>
          <a:prstGeom prst="rect">
            <a:avLst/>
          </a:prstGeom>
          <a:noFill/>
        </p:spPr>
        <p:txBody>
          <a:bodyPr wrap="square">
            <a:spAutoFit/>
          </a:bodyPr>
          <a:lstStyle/>
          <a:p>
            <a:pPr algn="ctr"/>
            <a:r>
              <a:rPr sz="1100" b="1">
                <a:solidFill>
                  <a:srgbClr val="C35A00"/>
                </a:solidFill>
                <a:latin typeface="Calibri"/>
              </a:rPr>
              <a:t>🖼  FIGURA: Figura 52 — Respuesta de θm(t) con error de estado estacionario frente a Tld</a:t>
            </a:r>
          </a:p>
        </p:txBody>
      </p:sp>
      <p:sp>
        <p:nvSpPr>
          <p:cNvPr id="13" name="TextBox 12"/>
          <p:cNvSpPr txBox="1"/>
          <p:nvPr/>
        </p:nvSpPr>
        <p:spPr>
          <a:xfrm>
            <a:off x="4846320" y="2697480"/>
            <a:ext cx="694944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858768"/>
            <a:ext cx="11430000" cy="347472"/>
          </a:xfrm>
          <a:prstGeom prst="rect">
            <a:avLst/>
          </a:prstGeom>
          <a:noFill/>
        </p:spPr>
        <p:txBody>
          <a:bodyPr wrap="square">
            <a:spAutoFit/>
          </a:bodyPr>
          <a:lstStyle/>
          <a:p>
            <a:pPr algn="l"/>
            <a:r>
              <a:rPr sz="1400" b="1" i="0">
                <a:solidFill>
                  <a:srgbClr val="1A3A6B"/>
                </a:solidFill>
                <a:latin typeface="Calibri"/>
              </a:rPr>
              <a:t>Análisis de resultados:</a:t>
            </a:r>
          </a:p>
        </p:txBody>
      </p:sp>
      <p:sp>
        <p:nvSpPr>
          <p:cNvPr id="15" name="TextBox 14"/>
          <p:cNvSpPr txBox="1"/>
          <p:nvPr/>
        </p:nvSpPr>
        <p:spPr>
          <a:xfrm>
            <a:off x="365760" y="4270248"/>
            <a:ext cx="11430000" cy="2331720"/>
          </a:xfrm>
          <a:prstGeom prst="rect">
            <a:avLst/>
          </a:prstGeom>
          <a:noFill/>
        </p:spPr>
        <p:txBody>
          <a:bodyPr wrap="square">
            <a:spAutoFit/>
          </a:bodyPr>
          <a:lstStyle/>
          <a:p>
            <a:r>
              <a:rPr sz="1350">
                <a:solidFill>
                  <a:srgbClr val="1A1A2E"/>
                </a:solidFill>
                <a:latin typeface="Calibri"/>
              </a:rPr>
              <a:t>El controlador compensa eficazmente la variación de carga — el error transitorio es acotado y rápidamente amortiguado</a:t>
            </a:r>
          </a:p>
          <a:p>
            <a:pPr>
              <a:spcBef>
                <a:spcPts val="400"/>
              </a:spcBef>
            </a:pPr>
            <a:r>
              <a:rPr sz="1350">
                <a:solidFill>
                  <a:srgbClr val="1A1A2E"/>
                </a:solidFill>
                <a:latin typeface="Calibri"/>
              </a:rPr>
              <a:t>Aparece un error de estado estacionario frente a Tld constante — el observador básico no tiene acción integral</a:t>
            </a:r>
          </a:p>
          <a:p>
            <a:pPr>
              <a:spcBef>
                <a:spcPts val="400"/>
              </a:spcBef>
            </a:pPr>
            <a:r>
              <a:rPr sz="1350">
                <a:solidFill>
                  <a:srgbClr val="1A1A2E"/>
                </a:solidFill>
                <a:latin typeface="Calibri"/>
              </a:rPr>
              <a:t>La señal estimada sigue consistentemente la posición real sin discrepancias significativas</a:t>
            </a:r>
          </a:p>
          <a:p>
            <a:pPr>
              <a:spcBef>
                <a:spcPts val="400"/>
              </a:spcBef>
            </a:pPr>
            <a:r>
              <a:rPr sz="1350">
                <a:solidFill>
                  <a:srgbClr val="1A1A2E"/>
                </a:solidFill>
                <a:latin typeface="Calibri"/>
              </a:rPr>
              <a:t>El instante t=10s (cambio de signo de la carga) genera el transitorio más exigente</a:t>
            </a:r>
          </a:p>
          <a:p>
            <a:pPr>
              <a:spcBef>
                <a:spcPts val="400"/>
              </a:spcBef>
            </a:pPr>
            <a:r>
              <a:rPr sz="1350" b="0">
                <a:solidFill>
                  <a:srgbClr val="C35A00"/>
                </a:solidFill>
                <a:latin typeface="Calibri"/>
              </a:rPr>
              <a:t>→  Solución: incorporar acción integral al observador para eliminar el error estacionario (Sección 4.5.2)</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Reemplazando la consigna de posición trapezoidal brusca por un perfil de velocidad trapezoidal suavizado, se obtienen transitorios compatibles con los límites físicos del sistema:</a:t>
            </a:r>
          </a:p>
        </p:txBody>
      </p:sp>
      <p:sp>
        <p:nvSpPr>
          <p:cNvPr id="8" name="Rectangle 7"/>
          <p:cNvSpPr/>
          <p:nvPr/>
        </p:nvSpPr>
        <p:spPr>
          <a:xfrm>
            <a:off x="36576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5303520" cy="548640"/>
          </a:xfrm>
          <a:prstGeom prst="rect">
            <a:avLst/>
          </a:prstGeom>
          <a:noFill/>
        </p:spPr>
        <p:txBody>
          <a:bodyPr wrap="square">
            <a:spAutoFit/>
          </a:bodyPr>
          <a:lstStyle/>
          <a:p>
            <a:pPr algn="ctr"/>
            <a:r>
              <a:rPr sz="1100" b="1">
                <a:solidFill>
                  <a:srgbClr val="C35A00"/>
                </a:solidFill>
                <a:latin typeface="Calibri"/>
              </a:rPr>
              <a:t>🖼  FIGURA: Figuras 53-54 — Perfil de velocidad ωm*(t) y seguimiento de velocidad angular</a:t>
            </a:r>
          </a:p>
        </p:txBody>
      </p:sp>
      <p:sp>
        <p:nvSpPr>
          <p:cNvPr id="10" name="TextBox 9"/>
          <p:cNvSpPr txBox="1"/>
          <p:nvPr/>
        </p:nvSpPr>
        <p:spPr>
          <a:xfrm>
            <a:off x="45720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313432"/>
            <a:ext cx="5303520" cy="548640"/>
          </a:xfrm>
          <a:prstGeom prst="rect">
            <a:avLst/>
          </a:prstGeom>
          <a:noFill/>
        </p:spPr>
        <p:txBody>
          <a:bodyPr wrap="square">
            <a:spAutoFit/>
          </a:bodyPr>
          <a:lstStyle/>
          <a:p>
            <a:pPr algn="ctr"/>
            <a:r>
              <a:rPr sz="1100" b="1">
                <a:solidFill>
                  <a:srgbClr val="C35A00"/>
                </a:solidFill>
                <a:latin typeface="Calibri"/>
              </a:rPr>
              <a:t>🖼  FIGURA: Figuras 55-58 — θm(t), detalle posición, Tm(t), iabc(t)</a:t>
            </a:r>
          </a:p>
        </p:txBody>
      </p:sp>
      <p:sp>
        <p:nvSpPr>
          <p:cNvPr id="13" name="TextBox 12"/>
          <p:cNvSpPr txBox="1"/>
          <p:nvPr/>
        </p:nvSpPr>
        <p:spPr>
          <a:xfrm>
            <a:off x="621792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365760" y="3840480"/>
            <a:ext cx="11430000" cy="21945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663440"/>
            <a:ext cx="11247120" cy="548640"/>
          </a:xfrm>
          <a:prstGeom prst="rect">
            <a:avLst/>
          </a:prstGeom>
          <a:noFill/>
        </p:spPr>
        <p:txBody>
          <a:bodyPr wrap="square">
            <a:spAutoFit/>
          </a:bodyPr>
          <a:lstStyle/>
          <a:p>
            <a:pPr algn="ctr"/>
            <a:r>
              <a:rPr sz="1100" b="1">
                <a:solidFill>
                  <a:srgbClr val="C35A00"/>
                </a:solidFill>
                <a:latin typeface="Calibri"/>
              </a:rPr>
              <a:t>🖼  FIGURA: Figuras 59-60 — Tensiones vabc(t) y temperatura Ts°(t)
Ts &lt; 41°C (fue 56°C con consigna trapezoidal de posición)</a:t>
            </a:r>
          </a:p>
        </p:txBody>
      </p:sp>
      <p:sp>
        <p:nvSpPr>
          <p:cNvPr id="16" name="TextBox 15"/>
          <p:cNvSpPr txBox="1"/>
          <p:nvPr/>
        </p:nvSpPr>
        <p:spPr>
          <a:xfrm>
            <a:off x="457200" y="504748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Para anular el error de estado estacionario ante perturbaciones Tld constantes, se incorpora una variable de estado xI(t) que integra el error de estimación: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ẋI(t) = θm(t) − θ̃m(t)     (integración del error de estimación de posición)</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uI(t) = Jeq·ki·xI(t)     (acción integral sobre la dinámica del observador)</a:t>
            </a:r>
          </a:p>
        </p:txBody>
      </p:sp>
      <p:sp>
        <p:nvSpPr>
          <p:cNvPr id="12" name="Rectangle 11"/>
          <p:cNvSpPr/>
          <p:nvPr/>
        </p:nvSpPr>
        <p:spPr>
          <a:xfrm>
            <a:off x="365760" y="252374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23744"/>
            <a:ext cx="7589520" cy="475488"/>
          </a:xfrm>
          <a:prstGeom prst="rect">
            <a:avLst/>
          </a:prstGeom>
          <a:noFill/>
        </p:spPr>
        <p:txBody>
          <a:bodyPr wrap="square">
            <a:spAutoFit/>
          </a:bodyPr>
          <a:lstStyle/>
          <a:p>
            <a:pPr algn="ctr"/>
            <a:r>
              <a:rPr sz="1100" b="1">
                <a:solidFill>
                  <a:srgbClr val="1B6B2A"/>
                </a:solidFill>
                <a:latin typeface="Calibri"/>
              </a:rPr>
              <a:t>📐  ECUACIÓN: Polos deseados: p₁,₂,₃ = −3200 rad/s     →     pd(s) = (s+3200)³</a:t>
            </a:r>
          </a:p>
        </p:txBody>
      </p:sp>
      <p:sp>
        <p:nvSpPr>
          <p:cNvPr id="14" name="Rectangle 13"/>
          <p:cNvSpPr/>
          <p:nvPr/>
        </p:nvSpPr>
        <p:spPr>
          <a:xfrm>
            <a:off x="365760" y="30632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63240"/>
            <a:ext cx="7589520" cy="475488"/>
          </a:xfrm>
          <a:prstGeom prst="rect">
            <a:avLst/>
          </a:prstGeom>
          <a:noFill/>
        </p:spPr>
        <p:txBody>
          <a:bodyPr wrap="square">
            <a:spAutoFit/>
          </a:bodyPr>
          <a:lstStyle/>
          <a:p>
            <a:pPr algn="ctr"/>
            <a:r>
              <a:rPr sz="1100" b="1">
                <a:solidFill>
                  <a:srgbClr val="1B6B2A"/>
                </a:solidFill>
                <a:latin typeface="Calibri"/>
              </a:rPr>
              <a:t>📐  ECUACIÓN: kθ = 9600 rad/s   |   kω = 3.072×10⁷ rad²/s²   |   ki = 3.277×10¹⁰ rad³/s³</a:t>
            </a:r>
          </a:p>
        </p:txBody>
      </p:sp>
      <p:sp>
        <p:nvSpPr>
          <p:cNvPr id="16" name="Rectangle 15"/>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61 — Diagrama de bloques del observador aumentado con acción integral</a:t>
            </a:r>
          </a:p>
        </p:txBody>
      </p:sp>
      <p:sp>
        <p:nvSpPr>
          <p:cNvPr id="18" name="TextBox 17"/>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3703320"/>
            <a:ext cx="11430000" cy="24231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40580"/>
            <a:ext cx="11247120" cy="548640"/>
          </a:xfrm>
          <a:prstGeom prst="rect">
            <a:avLst/>
          </a:prstGeom>
          <a:noFill/>
        </p:spPr>
        <p:txBody>
          <a:bodyPr wrap="square">
            <a:spAutoFit/>
          </a:bodyPr>
          <a:lstStyle/>
          <a:p>
            <a:pPr algn="ctr"/>
            <a:r>
              <a:rPr sz="1100" b="1">
                <a:solidFill>
                  <a:srgbClr val="C35A00"/>
                </a:solidFill>
                <a:latin typeface="Calibri"/>
              </a:rPr>
              <a:t>🖼  FIGURA: Figura 62 — θm(t) con observador aumentado: error de estado estacionario → 0
(detalle en t=10s con perturbación)</a:t>
            </a:r>
          </a:p>
        </p:txBody>
      </p:sp>
      <p:sp>
        <p:nvSpPr>
          <p:cNvPr id="21" name="TextBox 20"/>
          <p:cNvSpPr txBox="1"/>
          <p:nvPr/>
        </p:nvSpPr>
        <p:spPr>
          <a:xfrm>
            <a:off x="457200" y="50246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analiza la evolución de Ts° durante 300–600 s de operación cíclica continua con consigna de velocidad trapezoidal. Temperatura ambiente inicial: 25°C.</a:t>
            </a:r>
          </a:p>
        </p:txBody>
      </p:sp>
      <p:sp>
        <p:nvSpPr>
          <p:cNvPr id="8" name="Rectangle 7"/>
          <p:cNvSpPr/>
          <p:nvPr/>
        </p:nvSpPr>
        <p:spPr>
          <a:xfrm>
            <a:off x="3657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50592"/>
            <a:ext cx="3474720" cy="548640"/>
          </a:xfrm>
          <a:prstGeom prst="rect">
            <a:avLst/>
          </a:prstGeom>
          <a:noFill/>
        </p:spPr>
        <p:txBody>
          <a:bodyPr wrap="square">
            <a:spAutoFit/>
          </a:bodyPr>
          <a:lstStyle/>
          <a:p>
            <a:pPr algn="ctr"/>
            <a:r>
              <a:rPr sz="1100" b="1">
                <a:solidFill>
                  <a:srgbClr val="C35A00"/>
                </a:solidFill>
                <a:latin typeface="Calibri"/>
              </a:rPr>
              <a:t>🖼  FIGURA: Figura 63 — Ts°(t) durante 300 s (≈20 ciclos) SIN perturbación Tld
Ts &lt; 48°C  &lt;&lt;  Ts,max = 115°C  ✓  Operación térmica segura</a:t>
            </a:r>
          </a:p>
        </p:txBody>
      </p:sp>
      <p:sp>
        <p:nvSpPr>
          <p:cNvPr id="10" name="TextBox 9"/>
          <p:cNvSpPr txBox="1"/>
          <p:nvPr/>
        </p:nvSpPr>
        <p:spPr>
          <a:xfrm>
            <a:off x="4572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2519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50592"/>
            <a:ext cx="3474720" cy="548640"/>
          </a:xfrm>
          <a:prstGeom prst="rect">
            <a:avLst/>
          </a:prstGeom>
          <a:noFill/>
        </p:spPr>
        <p:txBody>
          <a:bodyPr wrap="square">
            <a:spAutoFit/>
          </a:bodyPr>
          <a:lstStyle/>
          <a:p>
            <a:pPr algn="ctr"/>
            <a:r>
              <a:rPr sz="1100" b="1">
                <a:solidFill>
                  <a:srgbClr val="C35A00"/>
                </a:solidFill>
                <a:latin typeface="Calibri"/>
              </a:rPr>
              <a:t>🖼  FIGURA: Figura 64 — Ts°(t) CON perturbación cíclica Tld
Ts sube y se estabiliza ~500 s (30 ciclos) — cerca del límite pero sin superarlo</a:t>
            </a:r>
          </a:p>
        </p:txBody>
      </p:sp>
      <p:sp>
        <p:nvSpPr>
          <p:cNvPr id="13" name="TextBox 12"/>
          <p:cNvSpPr txBox="1"/>
          <p:nvPr/>
        </p:nvSpPr>
        <p:spPr>
          <a:xfrm>
            <a:off x="43434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8503920" y="1444752"/>
            <a:ext cx="347472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0" y="2450592"/>
            <a:ext cx="3291839" cy="548640"/>
          </a:xfrm>
          <a:prstGeom prst="rect">
            <a:avLst/>
          </a:prstGeom>
          <a:noFill/>
        </p:spPr>
        <p:txBody>
          <a:bodyPr wrap="square">
            <a:spAutoFit/>
          </a:bodyPr>
          <a:lstStyle/>
          <a:p>
            <a:pPr algn="ctr"/>
            <a:r>
              <a:rPr sz="1100" b="1">
                <a:solidFill>
                  <a:srgbClr val="C35A00"/>
                </a:solidFill>
                <a:latin typeface="Calibri"/>
              </a:rPr>
              <a:t>🖼  FIGURA: Figura 65 — Ts°(t) con ml=1.5 kg (carga máxima)
Ts SUPERA Ts,max = 115°C  ⚠  Condición de riesgo</a:t>
            </a:r>
          </a:p>
        </p:txBody>
      </p:sp>
      <p:sp>
        <p:nvSpPr>
          <p:cNvPr id="16" name="TextBox 15"/>
          <p:cNvSpPr txBox="1"/>
          <p:nvPr/>
        </p:nvSpPr>
        <p:spPr>
          <a:xfrm>
            <a:off x="8595360" y="2834640"/>
            <a:ext cx="329183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TextBox 16"/>
          <p:cNvSpPr txBox="1"/>
          <p:nvPr/>
        </p:nvSpPr>
        <p:spPr>
          <a:xfrm>
            <a:off x="365760" y="4160520"/>
            <a:ext cx="11430000" cy="347472"/>
          </a:xfrm>
          <a:prstGeom prst="rect">
            <a:avLst/>
          </a:prstGeom>
          <a:noFill/>
        </p:spPr>
        <p:txBody>
          <a:bodyPr wrap="square">
            <a:spAutoFit/>
          </a:bodyPr>
          <a:lstStyle/>
          <a:p>
            <a:pPr algn="l"/>
            <a:r>
              <a:rPr sz="1400" b="1" i="0">
                <a:solidFill>
                  <a:srgbClr val="1A3A6B"/>
                </a:solidFill>
                <a:latin typeface="Calibri"/>
              </a:rPr>
              <a:t>Conclusiones y acciones correctivas:</a:t>
            </a:r>
          </a:p>
        </p:txBody>
      </p:sp>
      <p:sp>
        <p:nvSpPr>
          <p:cNvPr id="18" name="TextBox 17"/>
          <p:cNvSpPr txBox="1"/>
          <p:nvPr/>
        </p:nvSpPr>
        <p:spPr>
          <a:xfrm>
            <a:off x="365760" y="4572000"/>
            <a:ext cx="11430000" cy="1965960"/>
          </a:xfrm>
          <a:prstGeom prst="rect">
            <a:avLst/>
          </a:prstGeom>
          <a:noFill/>
        </p:spPr>
        <p:txBody>
          <a:bodyPr wrap="square">
            <a:spAutoFit/>
          </a:bodyPr>
          <a:lstStyle/>
          <a:p>
            <a:r>
              <a:rPr sz="1350">
                <a:solidFill>
                  <a:srgbClr val="1A1A2E"/>
                </a:solidFill>
                <a:latin typeface="Calibri"/>
              </a:rPr>
              <a:t>Sin carga extra: operación térmica segura en todo el rango analizado</a:t>
            </a:r>
          </a:p>
          <a:p>
            <a:pPr>
              <a:spcBef>
                <a:spcPts val="400"/>
              </a:spcBef>
            </a:pPr>
            <a:r>
              <a:rPr sz="1350">
                <a:solidFill>
                  <a:srgbClr val="1A1A2E"/>
                </a:solidFill>
                <a:latin typeface="Calibri"/>
              </a:rPr>
              <a:t>Con perturbación cíclica Tld: la temperatura llega cerca del límite tras 30 ciclos → monitoreo necesario</a:t>
            </a:r>
          </a:p>
          <a:p>
            <a:pPr>
              <a:spcBef>
                <a:spcPts val="400"/>
              </a:spcBef>
            </a:pPr>
            <a:r>
              <a:rPr sz="1350" b="0">
                <a:solidFill>
                  <a:srgbClr val="C35A00"/>
                </a:solidFill>
                <a:latin typeface="Calibri"/>
              </a:rPr>
              <a:t>Con ml=1.5 kg (carga máxima + perturbación): Ts supera 115°C → necesaria acción correctiva</a:t>
            </a:r>
          </a:p>
          <a:p>
            <a:pPr>
              <a:spcBef>
                <a:spcPts val="400"/>
              </a:spcBef>
            </a:pPr>
            <a:r>
              <a:rPr sz="1350">
                <a:solidFill>
                  <a:srgbClr val="1A1A2E"/>
                </a:solidFill>
                <a:latin typeface="Calibri"/>
              </a:rPr>
              <a:t>Alternativas: reducir la consigna de velocidad, limitar la corriente por protección térmica, o incorporar refrigeración forzada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Los sensores reales tienen ancho de banda finito. Se modelan como filtros LP con ganancia unitaria:</a:t>
            </a:r>
          </a:p>
        </p:txBody>
      </p:sp>
      <p:graphicFrame>
        <p:nvGraphicFramePr>
          <p:cNvPr id="8" name="Table 7"/>
          <p:cNvGraphicFramePr>
            <a:graphicFrameLocks noGrp="1"/>
          </p:cNvGraphicFramePr>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Posición θm</a:t>
                      </a:r>
                    </a:p>
                  </a:txBody>
                  <a:tcPr/>
                </a:tc>
                <a:tc>
                  <a:txBody>
                    <a:bodyPr/>
                    <a:lstStyle/>
                    <a:p>
                      <a:r>
                        <a:rPr sz="1200">
                          <a:latin typeface="Calibri"/>
                        </a:rPr>
                        <a:t>LP 2° orden, ζ=1</a:t>
                      </a:r>
                    </a:p>
                  </a:txBody>
                  <a:tcPr/>
                </a:tc>
                <a:tc>
                  <a:txBody>
                    <a:bodyPr/>
                    <a:lstStyle/>
                    <a:p>
                      <a:r>
                        <a:rPr sz="1200">
                          <a:latin typeface="Calibri"/>
                        </a:rPr>
                        <a:t>ωn = 2000 rad/s</a:t>
                      </a:r>
                    </a:p>
                  </a:txBody>
                  <a:tcPr/>
                </a:tc>
                <a:tc>
                  <a:txBody>
                    <a:bodyPr/>
                    <a:lstStyle/>
                    <a:p>
                      <a:r>
                        <a:rPr sz="1200">
                          <a:latin typeface="Calibri"/>
                        </a:rPr>
                        <a:t>ωn = 6000 rad/s</a:t>
                      </a:r>
                    </a:p>
                  </a:txBody>
                  <a:tcPr/>
                </a:tc>
                <a:extLst>
                  <a:ext uri="{0D108BD9-81ED-4DB2-BD59-A6C34878D82A}">
                    <a16:rowId xmlns:a16="http://schemas.microsoft.com/office/drawing/2014/main" val="10001"/>
                  </a:ext>
                </a:extLst>
              </a:tr>
              <a:tr h="434340">
                <a:tc>
                  <a:txBody>
                    <a:bodyPr/>
                    <a:lstStyle/>
                    <a:p>
                      <a:r>
                        <a:rPr sz="1200">
                          <a:latin typeface="Calibri"/>
                        </a:rPr>
                        <a:t>Corrientes iabc</a:t>
                      </a:r>
                    </a:p>
                  </a:txBody>
                  <a:tcPr>
                    <a:solidFill>
                      <a:srgbClr val="F0F4F8"/>
                    </a:solidFill>
                  </a:tcPr>
                </a:tc>
                <a:tc>
                  <a:txBody>
                    <a:bodyPr/>
                    <a:lstStyle/>
                    <a:p>
                      <a:r>
                        <a:rPr sz="1200">
                          <a:latin typeface="Calibri"/>
                        </a:rPr>
                        <a:t>LP 2° orden, ζ=1</a:t>
                      </a:r>
                    </a:p>
                  </a:txBody>
                  <a:tcPr>
                    <a:solidFill>
                      <a:srgbClr val="F0F4F8"/>
                    </a:solidFill>
                  </a:tcPr>
                </a:tc>
                <a:tc>
                  <a:txBody>
                    <a:bodyPr/>
                    <a:lstStyle/>
                    <a:p>
                      <a:r>
                        <a:rPr sz="1200">
                          <a:latin typeface="Calibri"/>
                        </a:rPr>
                        <a:t>ωn = 6000 rad/s</a:t>
                      </a:r>
                    </a:p>
                  </a:txBody>
                  <a:tcPr>
                    <a:solidFill>
                      <a:srgbClr val="F0F4F8"/>
                    </a:solidFill>
                  </a:tcPr>
                </a:tc>
                <a:tc>
                  <a:txBody>
                    <a:bodyPr/>
                    <a:lstStyle/>
                    <a:p>
                      <a:r>
                        <a:rPr sz="1200">
                          <a:latin typeface="Calibri"/>
                        </a:rPr>
                        <a:t>ωn = 18000 rad/s</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Temperatura Ts°</a:t>
                      </a:r>
                    </a:p>
                  </a:txBody>
                  <a:tcPr/>
                </a:tc>
                <a:tc>
                  <a:txBody>
                    <a:bodyPr/>
                    <a:lstStyle/>
                    <a:p>
                      <a:r>
                        <a:rPr sz="1200">
                          <a:latin typeface="Calibri"/>
                        </a:rPr>
                        <a:t>LP 1° orden</a:t>
                      </a:r>
                    </a:p>
                  </a:txBody>
                  <a:tcPr/>
                </a:tc>
                <a:tc>
                  <a:txBody>
                    <a:bodyPr/>
                    <a:lstStyle/>
                    <a:p>
                      <a:r>
                        <a:rPr sz="1200">
                          <a:latin typeface="Calibri"/>
                        </a:rPr>
                        <a:t>τ = 20 s</a:t>
                      </a:r>
                    </a:p>
                  </a:txBody>
                  <a:tcPr/>
                </a:tc>
                <a:tc>
                  <a:txBody>
                    <a:bodyPr/>
                    <a:lstStyle/>
                    <a:p>
                      <a:r>
                        <a:rPr sz="1200">
                          <a:latin typeface="Calibri"/>
                        </a:rPr>
                        <a:t>τ = 0.05 s</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365760" y="3127248"/>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127248"/>
            <a:ext cx="11247120" cy="475488"/>
          </a:xfrm>
          <a:prstGeom prst="rect">
            <a:avLst/>
          </a:prstGeom>
          <a:noFill/>
        </p:spPr>
        <p:txBody>
          <a:bodyPr wrap="square">
            <a:spAutoFit/>
          </a:bodyPr>
          <a:lstStyle/>
          <a:p>
            <a:pPr algn="ctr"/>
            <a:r>
              <a:rPr sz="1100" b="1">
                <a:solidFill>
                  <a:srgbClr val="1B6B2A"/>
                </a:solidFill>
                <a:latin typeface="Calibri"/>
              </a:rPr>
              <a:t>📐  ECUACIÓN: G_LP2(s) = ωn² / (s² + 2ζωn·s + ωn²)     |     G_LP1(s) = 1/(τs+1)</a:t>
            </a:r>
          </a:p>
        </p:txBody>
      </p:sp>
      <p:sp>
        <p:nvSpPr>
          <p:cNvPr id="11" name="Rectangle 10"/>
          <p:cNvSpPr/>
          <p:nvPr/>
        </p:nvSpPr>
        <p:spPr>
          <a:xfrm>
            <a:off x="365760" y="3703320"/>
            <a:ext cx="11430000" cy="169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4274820"/>
            <a:ext cx="11247120" cy="548640"/>
          </a:xfrm>
          <a:prstGeom prst="rect">
            <a:avLst/>
          </a:prstGeom>
          <a:noFill/>
        </p:spPr>
        <p:txBody>
          <a:bodyPr wrap="square">
            <a:spAutoFit/>
          </a:bodyPr>
          <a:lstStyle/>
          <a:p>
            <a:pPr algn="ctr"/>
            <a:r>
              <a:rPr sz="1100" b="1">
                <a:solidFill>
                  <a:srgbClr val="C35A00"/>
                </a:solidFill>
                <a:latin typeface="Calibri"/>
              </a:rPr>
              <a:t>🖼  FIGURA: Figuras 68-78 — Comparación respuesta con distintos ωn (posición, corriente) y τ (temperatura)
(ωn=2000/4000/6000 para posición; ωn=6000/12000/18000 para corriente; τ=20/5/0.5/0.05 s para temperatura)</a:t>
            </a:r>
          </a:p>
        </p:txBody>
      </p:sp>
      <p:sp>
        <p:nvSpPr>
          <p:cNvPr id="13" name="TextBox 12"/>
          <p:cNvSpPr txBox="1"/>
          <p:nvPr/>
        </p:nvSpPr>
        <p:spPr>
          <a:xfrm>
            <a:off x="457200" y="46588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5532120"/>
            <a:ext cx="11430000" cy="1005840"/>
          </a:xfrm>
          <a:prstGeom prst="rect">
            <a:avLst/>
          </a:prstGeom>
          <a:noFill/>
        </p:spPr>
        <p:txBody>
          <a:bodyPr wrap="square">
            <a:spAutoFit/>
          </a:bodyPr>
          <a:lstStyle/>
          <a:p>
            <a:r>
              <a:rPr sz="1350">
                <a:solidFill>
                  <a:srgbClr val="1A1A2E"/>
                </a:solidFill>
                <a:latin typeface="Calibri"/>
              </a:rPr>
              <a:t>Posición: ωn ≥ 6000 rad/s no muestra diferencias apreciables → no se requiere mayor resolución</a:t>
            </a:r>
          </a:p>
          <a:p>
            <a:pPr>
              <a:spcBef>
                <a:spcPts val="400"/>
              </a:spcBef>
            </a:pPr>
            <a:r>
              <a:rPr sz="1350">
                <a:solidFill>
                  <a:srgbClr val="1A1A2E"/>
                </a:solidFill>
                <a:latin typeface="Calibri"/>
              </a:rPr>
              <a:t>Corriente: ωn = 18000 rad/s ofrece buena respuesta sin necesidad de valores más altos</a:t>
            </a:r>
          </a:p>
          <a:p>
            <a:pPr>
              <a:spcBef>
                <a:spcPts val="400"/>
              </a:spcBef>
            </a:pPr>
            <a:r>
              <a:rPr sz="1350">
                <a:solidFill>
                  <a:srgbClr val="1A1A2E"/>
                </a:solidFill>
                <a:latin typeface="Calibri"/>
              </a:rPr>
              <a:t>Temperatura: variable más afectada; τ = 0.05 s necesario para rastrear señal; para detectar máximos τ puede ser mayor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547</TotalTime>
  <Words>11187</Words>
  <Application>Microsoft Office PowerPoint</Application>
  <PresentationFormat>Panorámica</PresentationFormat>
  <Paragraphs>1180</Paragraphs>
  <Slides>82</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82</vt:i4>
      </vt:variant>
    </vt:vector>
  </HeadingPairs>
  <TitlesOfParts>
    <vt:vector size="89"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31</cp:revision>
  <dcterms:created xsi:type="dcterms:W3CDTF">2013-01-27T09:14:16Z</dcterms:created>
  <dcterms:modified xsi:type="dcterms:W3CDTF">2026-04-15T02:50:12Z</dcterms:modified>
  <cp:category/>
</cp:coreProperties>
</file>