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-14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9002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jpe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jpe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65960"/>
            <a:ext cx="11155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Global Integrador
</a:t>
            </a:r>
            <a:endParaRPr lang="en-US" sz="28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Accionamiento de CA con
Motor Síncrono de Imanes Permanentes
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4343400"/>
            <a:ext cx="11155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Stella – 12552     |     Juan Francisco Huertas – 12620</a:t>
            </a:r>
            <a:endParaRPr lang="en-US" sz="15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 y Máquinas Eléctricas  ·  UNCuyo – Ingeniería en Mecatrónica – 2025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trabajo se aborda el modelado, análisis, diseño y simulación de un sistema de control automático para un accionamiento eléctrico de corriente alterna (CA), basado en un motor síncrono de imanes permanentes (PMSM).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considerada es el control de movimiento de la articulación de un manipulador robótico elemental de un grado de libertad, sometido a la gravedad y a perturbaciones externas.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se organiza en tres etapas principales: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11155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dinámico completo del sistema físico a lazo abierto — integrando los subsistemas mecánico, electromagnético y térmico.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sistema de control en cascada — control vectorial de corriente (lazo interno) y control PID de posición/velocidad (lazo externo) con observador de estado.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discreta y validación — discretización por Tustin y codificación en MATLAB Function equivalente a </a:t>
            </a:r>
            <a:r>
              <a:rPr lang="en-US" sz="14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CB4B3C97-4478-4A99-BCFF-791B4BE84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317" y="2326640"/>
            <a:ext cx="4014346" cy="291470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— Descripción del sistema físico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busca controlar el movimiento de la articulación de un brazo robótico de 1 GDL accionado por un motor PMSM: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502920" y="1554480"/>
                <a:ext cx="11155680" cy="25603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spcAft>
                    <a:spcPts val="400"/>
                  </a:spcAft>
                  <a:buSzPct val="100000"/>
                  <a:buChar char="•"/>
                </a:pPr>
                <a:r>
                  <a:rPr lang="en-US" sz="14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La coordenada articular </a:t>
                </a:r>
                <a14:m>
                  <m:oMath xmlns:m="http://schemas.openxmlformats.org/officeDocument/2006/math">
                    <m:r>
                      <a:rPr lang="es-AR" sz="1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𝑞</m:t>
                    </m:r>
                    <m:d>
                      <m:dPr>
                        <m:ctrlPr>
                          <a:rPr lang="es-AR" sz="14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≡</m:t>
                    </m:r>
                    <m:sSub>
                      <m:sSubPr>
                        <m:ctrlPr>
                          <a:rPr lang="es-AR" sz="1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s-AR" sz="14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se mide respecto de la vertical hacia abajo, positiva en sentido horario.</a:t>
                </a:r>
                <a:endParaRPr lang="en-US" sz="1400" dirty="0"/>
              </a:p>
              <a:p>
                <a:pPr marL="342900" indent="-342900">
                  <a:spcAft>
                    <a:spcPts val="400"/>
                  </a:spcAft>
                  <a:buSzPct val="100000"/>
                  <a:buChar char="•"/>
                </a:pPr>
                <a:r>
                  <a:rPr lang="en-US" sz="14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El torque de carga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400" i="1"/>
                        </m:ctrlPr>
                      </m:sSubPr>
                      <m:e>
                        <m:r>
                          <a:rPr lang="es-AR" sz="1400" i="1"/>
                          <m:t>𝑇</m:t>
                        </m:r>
                      </m:e>
                      <m:sub>
                        <m:r>
                          <a:rPr lang="es-AR" sz="1400" i="1"/>
                          <m:t>𝑙</m:t>
                        </m:r>
                      </m:sub>
                    </m:sSub>
                    <m:d>
                      <m:dPr>
                        <m:ctrlPr>
                          <a:rPr lang="es-AR" sz="1400" i="1"/>
                        </m:ctrlPr>
                      </m:dPr>
                      <m:e>
                        <m:r>
                          <a:rPr lang="es-AR" sz="1400" i="1"/>
                          <m:t>𝑡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incluye la perturbación de torque de contacto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1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  <m:sub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𝑙𝑑</m:t>
                        </m:r>
                      </m:sub>
                    </m:sSub>
                    <m:d>
                      <m:dPr>
                        <m:ctrlPr>
                          <a:rPr lang="es-AR" sz="1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y el torque recuperador gravitacional </a:t>
                </a:r>
                <a14:m>
                  <m:oMath xmlns:m="http://schemas.openxmlformats.org/officeDocument/2006/math">
                    <m:r>
                      <a:rPr lang="es-AR" sz="1400" i="1"/>
                      <m:t>𝑔</m:t>
                    </m:r>
                    <m:r>
                      <a:rPr lang="es-AR" sz="1400" i="1"/>
                      <m:t>∙</m:t>
                    </m:r>
                    <m:sSub>
                      <m:sSubPr>
                        <m:ctrlPr>
                          <a:rPr lang="es-AR" sz="1400" i="1"/>
                        </m:ctrlPr>
                      </m:sSubPr>
                      <m:e>
                        <m:r>
                          <a:rPr lang="es-AR" sz="1400" i="1"/>
                          <m:t>𝑘</m:t>
                        </m:r>
                      </m:e>
                      <m:sub>
                        <m:r>
                          <a:rPr lang="es-AR" sz="1400" i="1"/>
                          <m:t>𝑙</m:t>
                        </m:r>
                      </m:sub>
                    </m:sSub>
                    <m:r>
                      <a:rPr lang="es-AR" sz="1400" i="1"/>
                      <m:t>∙</m:t>
                    </m:r>
                    <m:func>
                      <m:funcPr>
                        <m:ctrlPr>
                          <a:rPr lang="es-AR" sz="1400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AR" sz="1400"/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s-AR" sz="1400" i="1"/>
                            </m:ctrlPr>
                          </m:sSubPr>
                          <m:e>
                            <m:r>
                              <a:rPr lang="es-AR" sz="1400" i="1"/>
                              <m:t>(</m:t>
                            </m:r>
                            <m:r>
                              <a:rPr lang="es-AR" sz="1400" i="1"/>
                              <m:t>𝜃</m:t>
                            </m:r>
                          </m:e>
                          <m:sub>
                            <m:r>
                              <a:rPr lang="es-AR" sz="1400" i="1"/>
                              <m:t>𝑙</m:t>
                            </m:r>
                          </m:sub>
                        </m:sSub>
                        <m:r>
                          <a:rPr lang="es-AR" sz="1400" i="1"/>
                          <m:t>)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func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554480"/>
                <a:ext cx="11155680" cy="2560320"/>
              </a:xfrm>
              <a:prstGeom prst="rect">
                <a:avLst/>
              </a:prstGeom>
              <a:blipFill>
                <a:blip r:embed="rId4"/>
                <a:stretch>
                  <a:fillRect l="-219" t="-714"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4144248" y="5303181"/>
            <a:ext cx="290848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AR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</a:t>
            </a: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Modelo físico del </a:t>
            </a:r>
            <a:r>
              <a:rPr lang="es-AR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0332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físico y modelado a lazo abierto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898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mecánica, transmisión, PMSM, subsistema térmico, modelo NL completo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7568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116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Linealización — Modelos LPV y LTI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Linealización jacobiana, linealización por realimentación, funciones de transferencia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05409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9900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modelo LTI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3467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Estabilidad, observabilidad, controlabilidad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03250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9684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dinámica a lazo abierto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3251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temporal, corrientes, temperatura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50109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9469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de torque equivalente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5303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Desacoplamiento, lazos de corriente, consigna de torque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10972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10332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externo de movimiento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13898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de posición, set-point, diseño por polos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07568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20116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Observador de estado de orden reducido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9400" y="23682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Observador básico y mejorado con acción integral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305409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29900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en tiempo continuo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33467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consigna, rechazo a perturbaciones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03250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29400" y="39684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y mejoras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43251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térmico, sensores no ideales, modulador no ideal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109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29400" y="49469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final y discretización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5303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Tustin, período de muestreo, ecuaciones en diferencias, validación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1005840"/>
            <a:ext cx="0" cy="493776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146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Físico y Modelado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Lazo Abierto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mecánica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dinámico equivalente simplificado no lineal referido al eje de salida del tren de transmisión: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502920" y="1554480"/>
                <a:ext cx="111556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1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f>
                        <m:f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AR" sz="12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AR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12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AR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554480"/>
                <a:ext cx="11155680" cy="457200"/>
              </a:xfrm>
              <a:prstGeom prst="rect">
                <a:avLst/>
              </a:prstGeom>
              <a:blipFill>
                <a:blip r:embed="rId3"/>
                <a:stretch>
                  <a:fillRect b="-9333"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502920" y="2103120"/>
                <a:ext cx="111556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1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AR" sz="12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AR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12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AR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16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 ⇔ </m:t>
                      </m:r>
                      <m:sSub>
                        <m:sSub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s-AR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trlPr>
                            <a:rPr lang="es-AR" sz="1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AR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s-AR" sz="12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AR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12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</m:e>
                          </m:d>
                        </m:e>
                      </m:nary>
                      <m:r>
                        <a:rPr lang="es-AR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 </m:t>
                      </m:r>
                      <m:r>
                        <a:rPr lang="es-AR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s-AR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𝜉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103120"/>
                <a:ext cx="11155680" cy="457200"/>
              </a:xfrm>
              <a:prstGeom prst="rect">
                <a:avLst/>
              </a:prstGeom>
              <a:blipFill>
                <a:blip r:embed="rId4"/>
                <a:stretch>
                  <a:fillRect t="-160000" b="-245333"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502920" y="3785616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502920" y="4160520"/>
                <a:ext cx="11155680" cy="22860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spcAft>
                    <a:spcPts val="4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Coeficiente de fricción viscosa: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1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l</m:t>
                        </m:r>
                      </m:sub>
                    </m:sSub>
                    <m:r>
                      <a:rPr lang="es-AR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≈</m:t>
                    </m:r>
                    <m:d>
                      <m:dPr>
                        <m:ctrlPr>
                          <a:rPr lang="es-AR" sz="1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  <m: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03</m:t>
                        </m:r>
                      </m:e>
                    </m:d>
                    <m:r>
                      <a:rPr lang="es-AR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s-AR" sz="1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rad</m:t>
                        </m:r>
                        <m:r>
                          <m:rPr>
                            <m:lit/>
                          </m:rP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s-AR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den>
                    </m:f>
                  </m:oMath>
                </a14:m>
                <a:endParaRPr lang="en-US" sz="1300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342900" indent="-342900">
                  <a:spcAft>
                    <a:spcPts val="4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Masa del brazo: m = 1.0 kg;  longitud total: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1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  <m:sub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𝑙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sub>
                    </m:sSub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.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50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𝑚</m:t>
                    </m:r>
                  </m:oMath>
                </a14:m>
                <a:endParaRPr lang="en-US" sz="1300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342900" indent="-342900">
                  <a:spcAft>
                    <a:spcPts val="400"/>
                  </a:spcAft>
                  <a:buSzPct val="100000"/>
                  <a:buFontTx/>
                  <a:buChar char="•"/>
                </a:pPr>
                <a:r>
                  <a:rPr lang="en-US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Inercia total al eje de rotación: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𝐽</m:t>
                        </m:r>
                      </m:e>
                      <m:sub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sub>
                    </m:sSub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.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0833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0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⋯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0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75</m:t>
                        </m:r>
                      </m:e>
                    </m:d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𝑘𝑔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∙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𝑚</m:t>
                    </m:r>
                  </m:oMath>
                </a14:m>
                <a:endParaRPr lang="en-US" sz="1300" dirty="0"/>
              </a:p>
              <a:p>
                <a:pPr marL="342900" indent="-342900">
                  <a:spcAft>
                    <a:spcPts val="4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Coeficiente gravitacional: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1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b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sub>
                    </m:sSub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.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25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s-AR" sz="1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0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⋯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0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75</m:t>
                        </m:r>
                      </m:e>
                    </m:d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𝑘𝑔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∙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𝑚</m:t>
                    </m:r>
                  </m:oMath>
                </a14:m>
                <a:endParaRPr lang="en-US" sz="1300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342900" indent="-342900">
                  <a:spcAft>
                    <a:spcPts val="4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Perturbación de contacto: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1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  <m:sub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𝑙𝑑</m:t>
                        </m:r>
                      </m:sub>
                    </m:sSub>
                    <m:d>
                      <m:dPr>
                        <m:ctrlPr>
                          <a:rPr lang="es-AR" sz="1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≈</m:t>
                    </m:r>
                    <m:d>
                      <m:dPr>
                        <m:ctrlPr>
                          <a:rPr lang="es-AR" sz="1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0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±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5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e>
                    </m:d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∙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(escalón)</a:t>
                </a:r>
                <a:endParaRPr lang="en-US" sz="130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160520"/>
                <a:ext cx="11155680" cy="2286000"/>
              </a:xfrm>
              <a:prstGeom prst="rect">
                <a:avLst/>
              </a:prstGeom>
              <a:blipFill>
                <a:blip r:embed="rId5"/>
                <a:stretch>
                  <a:fillRect l="-109"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6">
            <a:extLst>
              <a:ext uri="{FF2B5EF4-FFF2-40B4-BE49-F238E27FC236}">
                <a16:creationId xmlns:a16="http://schemas.microsoft.com/office/drawing/2014/main" id="{B1B1E25A-BCA9-4D99-84F5-F8F339A952FE}"/>
              </a:ext>
            </a:extLst>
          </p:cNvPr>
          <p:cNvSpPr/>
          <p:nvPr/>
        </p:nvSpPr>
        <p:spPr>
          <a:xfrm>
            <a:off x="518160" y="2673096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AR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</a:t>
            </a: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5">
                <a:extLst>
                  <a:ext uri="{FF2B5EF4-FFF2-40B4-BE49-F238E27FC236}">
                    <a16:creationId xmlns:a16="http://schemas.microsoft.com/office/drawing/2014/main" id="{3A3A61C8-55CD-43A4-8EAA-A491646FE2BD}"/>
                  </a:ext>
                </a:extLst>
              </p:cNvPr>
              <p:cNvSpPr/>
              <p:nvPr/>
            </p:nvSpPr>
            <p:spPr>
              <a:xfrm>
                <a:off x="518160" y="2912364"/>
                <a:ext cx="111556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1600" i="1"/>
                          </m:ctrlPr>
                        </m:sSubPr>
                        <m:e>
                          <m:r>
                            <a:rPr lang="es-AR" sz="1600" i="1"/>
                            <m:t>𝑇</m:t>
                          </m:r>
                        </m:e>
                        <m:sub>
                          <m:r>
                            <a:rPr lang="es-AR" sz="1600" i="1"/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s-AR" sz="1600" i="1"/>
                          </m:ctrlPr>
                        </m:dPr>
                        <m:e>
                          <m:r>
                            <a:rPr lang="es-AR" sz="1600" i="1"/>
                            <m:t>𝑡</m:t>
                          </m:r>
                        </m:e>
                      </m:d>
                      <m:r>
                        <a:rPr lang="es-AR" sz="1600" i="1"/>
                        <m:t>=</m:t>
                      </m:r>
                      <m:sSub>
                        <m:sSubPr>
                          <m:ctrlPr>
                            <a:rPr lang="es-AR" sz="1600" i="1"/>
                          </m:ctrlPr>
                        </m:sSubPr>
                        <m:e>
                          <m:r>
                            <a:rPr lang="es-AR" sz="1600" i="1"/>
                            <m:t>𝑇</m:t>
                          </m:r>
                        </m:e>
                        <m:sub>
                          <m:r>
                            <a:rPr lang="es-AR" sz="1600" i="1"/>
                            <m:t>𝑙𝑑</m:t>
                          </m:r>
                        </m:sub>
                      </m:sSub>
                      <m:d>
                        <m:dPr>
                          <m:ctrlPr>
                            <a:rPr lang="es-AR" sz="1600" i="1"/>
                          </m:ctrlPr>
                        </m:dPr>
                        <m:e>
                          <m:r>
                            <a:rPr lang="es-AR" sz="1600" i="1"/>
                            <m:t>𝑡</m:t>
                          </m:r>
                        </m:e>
                      </m:d>
                      <m:r>
                        <a:rPr lang="es-AR" sz="1600" i="1"/>
                        <m:t>+</m:t>
                      </m:r>
                      <m:r>
                        <a:rPr lang="es-AR" sz="1600" i="1"/>
                        <m:t>𝑔</m:t>
                      </m:r>
                      <m:r>
                        <a:rPr lang="es-AR" sz="1600" i="1"/>
                        <m:t>∙</m:t>
                      </m:r>
                      <m:sSub>
                        <m:sSubPr>
                          <m:ctrlPr>
                            <a:rPr lang="es-AR" sz="1600" i="1"/>
                          </m:ctrlPr>
                        </m:sSubPr>
                        <m:e>
                          <m:r>
                            <a:rPr lang="es-AR" sz="1600" i="1"/>
                            <m:t>𝑘</m:t>
                          </m:r>
                        </m:e>
                        <m:sub>
                          <m:r>
                            <a:rPr lang="es-AR" sz="1600" i="1"/>
                            <m:t>𝑙</m:t>
                          </m:r>
                        </m:sub>
                      </m:sSub>
                      <m:r>
                        <a:rPr lang="es-AR" sz="1600" i="1"/>
                        <m:t>∙</m:t>
                      </m:r>
                      <m:func>
                        <m:funcPr>
                          <m:ctrlPr>
                            <a:rPr lang="es-AR" sz="1600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AR" sz="1600"/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s-AR" sz="1600" i="1"/>
                              </m:ctrlPr>
                            </m:sSubPr>
                            <m:e>
                              <m:r>
                                <a:rPr lang="es-AR" sz="1600" i="1"/>
                                <m:t>(</m:t>
                              </m:r>
                              <m:r>
                                <a:rPr lang="es-AR" sz="1600" i="1"/>
                                <m:t>𝜃</m:t>
                              </m:r>
                            </m:e>
                            <m:sub>
                              <m:r>
                                <a:rPr lang="es-AR" sz="1600" i="1"/>
                                <m:t>𝑙</m:t>
                              </m:r>
                            </m:sub>
                          </m:sSub>
                          <m:r>
                            <a:rPr lang="es-AR" sz="1600" i="1"/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1" name="Text 5">
                <a:extLst>
                  <a:ext uri="{FF2B5EF4-FFF2-40B4-BE49-F238E27FC236}">
                    <a16:creationId xmlns:a16="http://schemas.microsoft.com/office/drawing/2014/main" id="{3A3A61C8-55CD-43A4-8EAA-A491646FE2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" y="2912364"/>
                <a:ext cx="1115568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de transmisión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reductora reversible con engranajes planetarios, acoplamiento rígido (sin backlash ni elasticidad torsional):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-312420" y="1463040"/>
                <a:ext cx="111556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AR" sz="1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⍵</m:t>
                        </m:r>
                      </m:e>
                      <m:sub>
                        <m:r>
                          <a:rPr lang="es-AR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s-AR" sz="12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s-AR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AR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AR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AR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den>
                    </m:f>
                    <m:r>
                      <a:rPr lang="es-AR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∙</m:t>
                    </m:r>
                    <m:sSub>
                      <m:sSubPr>
                        <m:ctrlPr>
                          <a:rPr lang="es-AR" sz="1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⍵</m:t>
                        </m:r>
                      </m:e>
                      <m:sub>
                        <m:r>
                          <a:rPr lang="es-AR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s-AR" sz="12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400" i="1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AR" sz="16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s-A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A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16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AR" sz="1600" i="1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s-A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AR" sz="16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s-A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12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2420" y="1463040"/>
                <a:ext cx="1115568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502920" y="2194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 constante: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502920" y="2651760"/>
                <a:ext cx="111556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spcAft>
                    <a:spcPts val="4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Relación de reducción total:  </a:t>
                </a:r>
                <a14:m>
                  <m:oMath xmlns:m="http://schemas.openxmlformats.org/officeDocument/2006/math">
                    <m:r>
                      <a:rPr lang="es-AR" sz="1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s-AR" sz="1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=120.0:1</m:t>
                    </m:r>
                  </m:oMath>
                </a14:m>
                <a:endParaRPr lang="en-US" sz="13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651760"/>
                <a:ext cx="11155680" cy="457200"/>
              </a:xfrm>
              <a:prstGeom prst="rect">
                <a:avLst/>
              </a:prstGeom>
              <a:blipFill>
                <a:blip r:embed="rId4"/>
                <a:stretch>
                  <a:fillRect l="-109"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502920" y="32004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Especificaciones de operación (valores límite):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502920" y="3657600"/>
                <a:ext cx="11155680" cy="16459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spcAft>
                    <a:spcPts val="4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Velocidad nominal (</a:t>
                </a:r>
                <a:r>
                  <a:rPr lang="es-AR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salida</a:t>
                </a:r>
                <a:r>
                  <a:rPr lang="en-US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1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⍵</m:t>
                        </m:r>
                      </m:e>
                      <m:sub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𝑛𝑜𝑚</m:t>
                        </m:r>
                      </m:sub>
                    </m:sSub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=6.28 </m:t>
                    </m:r>
                    <m:f>
                      <m:fPr>
                        <m:ctrlPr>
                          <a:rPr lang="es-AR" sz="1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𝑟𝑎𝑑</m:t>
                        </m:r>
                      </m:num>
                      <m:den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1300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342900" indent="-342900">
                  <a:spcAft>
                    <a:spcPts val="4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Torque nominal (salida):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1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𝑛𝑜𝑚</m:t>
                        </m:r>
                      </m:sub>
                    </m:sSub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=17.0 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(régimen continuo)</a:t>
                </a:r>
                <a:endParaRPr lang="en-US" sz="1300" dirty="0"/>
              </a:p>
              <a:p>
                <a:pPr marL="342900" indent="-342900">
                  <a:spcAft>
                    <a:spcPts val="4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Torque pico (salida):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1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=45.0 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(corta duración, aceleración)</a:t>
                </a:r>
                <a:endParaRPr lang="en-US" sz="13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657600"/>
                <a:ext cx="11155680" cy="1645920"/>
              </a:xfrm>
              <a:prstGeom prst="rect">
                <a:avLst/>
              </a:prstGeom>
              <a:blipFill>
                <a:blip r:embed="rId5"/>
                <a:stretch>
                  <a:fillRect l="-109"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eléctrica — Subsistema mecánico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CA trifásico síncrono con imanes permanentes (PMSM). Ecuaciones dinámicas del rotor: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502920" y="1600200"/>
                <a:ext cx="111556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11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f>
                        <m:f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AR" sz="11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AR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11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AR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600200"/>
                <a:ext cx="11155680" cy="457200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502920" y="2194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mecánico equivalente completo (motor + caja + carga referidos al eje del motor):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502920" y="2743200"/>
                <a:ext cx="111556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11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AR" sz="1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A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1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AR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 ⇔ </m:t>
                      </m:r>
                      <m:sSub>
                        <m:sSub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s-AR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trlPr>
                            <a:rPr lang="es-AR" sz="11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A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s-AR" sz="1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A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1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𝜁</m:t>
                              </m:r>
                            </m:e>
                          </m:d>
                        </m:e>
                      </m:nary>
                      <m:r>
                        <a:rPr lang="es-AR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 </m:t>
                      </m:r>
                      <m:r>
                        <a:rPr lang="es-AR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s-AR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𝜁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743200"/>
                <a:ext cx="11155680" cy="457200"/>
              </a:xfrm>
              <a:prstGeom prst="rect">
                <a:avLst/>
              </a:prstGeom>
              <a:blipFill>
                <a:blip r:embed="rId4"/>
                <a:stretch>
                  <a:fillRect t="-141333" b="-217333"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502920" y="3291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AR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</a:t>
            </a: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502920" y="3671316"/>
                <a:ext cx="11155680" cy="192024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spcAft>
                    <a:spcPts val="400"/>
                  </a:spcAft>
                  <a:buSzPct val="100000"/>
                  <a:buChar char="•"/>
                </a:pPr>
                <a:r>
                  <a:rPr lang="es-AR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Momento de inercia: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1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≈1.4∙</m:t>
                    </m:r>
                    <m:sSup>
                      <m:sSupPr>
                        <m:ctrlPr>
                          <a:rPr lang="es-AR" sz="11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−4</m:t>
                        </m:r>
                      </m:sup>
                    </m:sSup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𝑘𝑔</m:t>
                    </m:r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es-AR" sz="11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AR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(nominal);</a:t>
                </a:r>
              </a:p>
              <a:p>
                <a:pPr marL="342900" indent="-342900">
                  <a:spcAft>
                    <a:spcPts val="400"/>
                  </a:spcAft>
                  <a:buSzPct val="100000"/>
                  <a:buChar char="•"/>
                </a:pPr>
                <a:r>
                  <a:rPr lang="es-AR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Amortiguamiento viscoso: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400" i="1"/>
                        </m:ctrlPr>
                      </m:sSubPr>
                      <m:e>
                        <m:r>
                          <a:rPr lang="es-AR" sz="1400" i="1"/>
                          <m:t>𝑏</m:t>
                        </m:r>
                      </m:e>
                      <m:sub>
                        <m:r>
                          <a:rPr lang="es-AR" sz="1400" i="1"/>
                          <m:t>𝑚</m:t>
                        </m:r>
                      </m:sub>
                    </m:sSub>
                    <m:r>
                      <a:rPr lang="es-AR" sz="1400" i="1"/>
                      <m:t>≈15∙</m:t>
                    </m:r>
                    <m:sSup>
                      <m:sSupPr>
                        <m:ctrlPr>
                          <a:rPr lang="es-AR" sz="1400" i="1"/>
                        </m:ctrlPr>
                      </m:sSupPr>
                      <m:e>
                        <m:r>
                          <a:rPr lang="es-AR" sz="1400" i="1"/>
                          <m:t>10</m:t>
                        </m:r>
                      </m:e>
                      <m:sup>
                        <m:r>
                          <a:rPr lang="es-AR" sz="1400" i="1"/>
                          <m:t>−6</m:t>
                        </m:r>
                      </m:sup>
                    </m:sSup>
                    <m:r>
                      <a:rPr lang="es-AR" sz="1400" i="1"/>
                      <m:t> </m:t>
                    </m:r>
                    <m:f>
                      <m:fPr>
                        <m:ctrlPr>
                          <a:rPr lang="es-AR" sz="1400" i="1"/>
                        </m:ctrlPr>
                      </m:fPr>
                      <m:num>
                        <m:r>
                          <a:rPr lang="es-AR" sz="1400" i="1"/>
                          <m:t>𝑁</m:t>
                        </m:r>
                        <m:r>
                          <a:rPr lang="es-AR" sz="1400" i="1"/>
                          <m:t>∙</m:t>
                        </m:r>
                        <m:r>
                          <a:rPr lang="es-AR" sz="1400" i="1"/>
                          <m:t>𝑚</m:t>
                        </m:r>
                      </m:num>
                      <m:den>
                        <m:r>
                          <a:rPr lang="es-AR" sz="1400" i="1"/>
                          <m:t>𝑟𝑎𝑑</m:t>
                        </m:r>
                        <m:r>
                          <m:rPr>
                            <m:lit/>
                          </m:rPr>
                          <a:rPr lang="es-AR" sz="1400" i="1"/>
                          <m:t>/</m:t>
                        </m:r>
                        <m:r>
                          <a:rPr lang="es-AR" sz="1400" i="1"/>
                          <m:t>𝑠</m:t>
                        </m:r>
                      </m:den>
                    </m:f>
                  </m:oMath>
                </a14:m>
                <a:endParaRPr lang="es-AR" sz="1300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342900" indent="-342900">
                  <a:spcAft>
                    <a:spcPts val="400"/>
                  </a:spcAft>
                  <a:buSzPct val="100000"/>
                  <a:buChar char="•"/>
                </a:pPr>
                <a:r>
                  <a:rPr lang="es-AR" sz="1300" dirty="0">
                    <a:solidFill>
                      <a:srgbClr val="11111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Velocidad nominal motor: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1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⍵</m:t>
                        </m:r>
                      </m:e>
                      <m:sub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𝑛𝑜𝑚</m:t>
                        </m:r>
                      </m:sub>
                    </m:sSub>
                    <m:r>
                      <a:rPr lang="es-A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=691.15 </m:t>
                    </m:r>
                    <m:f>
                      <m:fPr>
                        <m:ctrlPr>
                          <a:rPr lang="es-AR" sz="1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𝑟𝑎𝑑</m:t>
                        </m:r>
                      </m:num>
                      <m:den>
                        <m:r>
                          <a:rPr lang="es-AR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s-AR" sz="13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671316"/>
                <a:ext cx="11155680" cy="1920240"/>
              </a:xfrm>
              <a:prstGeom prst="rect">
                <a:avLst/>
              </a:prstGeom>
              <a:blipFill>
                <a:blip r:embed="rId5"/>
                <a:stretch>
                  <a:fillRect l="-109" t="-635"/>
                </a:stretch>
              </a:blipFill>
              <a:ln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Subsistema electromagnético — Transformación de Park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emplea la transformación de Park para pasar de coordenadas abc a qd0ʳ (marco rotante):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ωr(t)  =  Pp · ωm(t)         θr(t)  =  Pp · θm(t)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 tensiones en coordenadas qd0ʳ: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vqs^r(t) = Rs(Ts) · iqs^r(t) + Lq · d(iqs^r)/dt + [λ'm^r + Ld · ids^r(t)] · Pp · ωm(t)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vds^r(t) = Rs(Ts) · ids^r(t) + Ld · d(ids^r)/dt − Lq · iqs^r(t) · Pp · ωm(t)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749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eléctricos nominales: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= 3 pares de polos;   λ'm^r = 0.016 Wb·t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 ≈ 5.8 mH;   Ld ≈ 6.6 mH;   Lls ≈ 0.8 mH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≈ 1.02 Ω @ 20°C;   αcu = 3.9 × 10⁻³ °C⁻¹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Corriente nominal: Is,nom = 0.4 A rms;   máxima: Is,max = 2.0 A rms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del subsistema electromagnético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Despejando las derivadas de corriente en las ecuaciones de tensión: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d(iqs^r)/dt = (1/Lq)[−Rs(Ts)·iqs^r − (λ'm^r + Ld·ids^r)·Pp·ωm + vqs^r]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d(ids^r)/dt = (1/Ld)[−Rs(Ts)·ids^r + Lq·iqs^r·Pp·ωm + vds^r]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electromagnético: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Tm(t)  =  (3/2) · Pp · [λ'm^r + (Ld − Lq) · ids^r(t)] · iqs^r(t)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023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observamos el acoplamiento entre los ejes q y d a través del producto ids^r(t) · iqs^r(t), y la dependencia no lineal de Tm en ωm(t).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Subsistema térmico del estator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resistencia del estator varía con la temperatura del bobinado: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Rs(Ts) = Rs,REF · [1 + αcu · (Ts(t) − Ts,REF)]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energético en el bobinado — potencia de pérdidas Joule: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Ps,perd(t)  =  (3/2) · Rs(Ts) · [iqs^r²(t) + ids^r²(t)]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térmica (modelo de primer orden):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· dTs/dt  =  Ps,perd(t)  −  (Ts(t) − Tamb) / Rts-amb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3891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térmicos: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Capacitancia térmica del estator: Cts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térmica estator-ambiente: Rts-amb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máxima admisible: Ts,max = 115°C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global no lineal — Sistema completo de orden 5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subsistemas mecánico, electromagnético y térmico, el estado es x = [θm, ωm, iqs^r, ids^r, Ts]ᵀ: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θ̇m(t) = ωm(t)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ω̇m(t) = (1/Jeq)[(3/2)Pp(λ'm^r + (Ld−Lq)ids^r)iqs^r − beq·ωm − (1/r)Tl(t)]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d(iqs^r)/dt = (1/Lq)[−Rs·iqs^r − (λ'm^r + Ld·ids^r)·Pp·ωm + vqs^r]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d(ids^r)/dt = (1/Ld)[−Rs·ids^r + Lq·iqs^r·Pp·ωm + vds^r]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· dTs/dt = (3/2)·Rs(Ts)·[iqs^r² + ids^r²] − (Ts − Tamb)/Rts-amb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3434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de control: u = [vqs^r(t), vds^r(t)]ᵀ.   Salida medida: y = θm(t).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146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Linealización: Modelos LPV y LTI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88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Linealización jacobiana — Modelo LPV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presenta no linealidades por productos entre variables de estado y dependencia de parámetros en el punto de operación. Se linealiza mediante Taylor truncado a 1° orden: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Δẋ(t)  =  A(t) · Δx(t)  +  B(t) · Δu(t)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A(t) depende del punto de operación (ωm0, iqs0, ids0, Ts0):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coeficientes de A(t) varían lentamente → modelo LPV de orden 5.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 para variaciones pequeñas alrededor del punto de operación.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análisis de estabilidad local y diseño de controladores adaptativos.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023" y="2743200"/>
            <a:ext cx="3705474" cy="2468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257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7: Sistema físico completo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Linealización por realimentación — Modelo LTI equivalente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Imponiendo la ley de control mínima ids^r*(t) = 0 y compensando los términos de acoplamiento: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vds^r(t)  =  −Lq · Pp · iqs^r(t) · ωm(t)      (ley de control mínima eje 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vqs^r(t)  =  v*qs^r(t)  +  Rs·iqs^r  +  λ'm^r·Pp·ωm      (feedforward eje q)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obtiene el modelo LTI equivalente aumentado de orden 5: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ẋ(t) = A · x(t) + B · u(t) + Bd · d(t)        y(t) = C · x(t)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 Tm(t) = (3/2) · Pp · λ'm^r · iqs^r(t)  (sin reluctancia, ya que ids^r = 0)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38912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LTI facilita el diseño de controladores lineales clásicos.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 en el régimen de operación ωm &lt; 100 rad/s.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dinámica residual de ids^r decae con constante de tiempo τd = Ld/Rs.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transferencia — Modelo LTI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modelo LTI con ids^r = 0 se obtienen las funciones de transferencia: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Gωm(s)  =  ωm(s) / I*qs^r(s)  =  (3Pp·λ'm^r/2Jeq) / [s(s + beq/Jeq)]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Giqs(s)  =  Iqs^r(s) / V*qs^r(s)  =  (1/Lq) / (s + Rs/Lq)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polinomio característico del sistema de 3° orden (θm, ωm, iqs^r) resulta: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p(s) = s · [Jeq·Lq·s² + (Lq·beq + Jeq·Rs)·s + Rs·beq + (3/2)·Pp²·(λ'm^r)²]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023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Raíces: s₁ = 0  (integrador de posición);  s₂,₃ = par complejo con ωn ≈ 174 rad/s.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146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Modelo LTI: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Estabilidad, Observabilidad,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Controlabilidad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88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estabilidad a lazo abierto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Polos del modelo LTI equivalente aumentado (condición nominal, Rs @ 40°C):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Jeq [kg·m²]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[rad/s]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P2,3 [rad/s]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ωn [rad/s]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 (Jeq,beq mín)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1.978×10⁻⁵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−95.3 ± 145.7j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Jeq,beq máx (ml=1.5kg)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4.583×10⁻⁵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−95.1 ± 63.8j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@ 115°C (Jeq mín)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1.978×10⁻⁵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−121.0 ± 131.5j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@ 115°C (Jeq máx)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4.583×10⁻⁵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−95.1 ± 15.7j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840480"/>
            <a:ext cx="11155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polo en s = 0 corresponde al integrador de posición (marginalmente estable).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polos s₂,₃ tienen parte real negativa → sistema BIBO-estable.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aumentar Rs (temperatura) el amortiguamiento ζ crece; ωn casi no varía.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aumentar Jeq (carga máx.) ωn disminuye notablemente → dinámica más lenta.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natural y amortiguamiento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con el polinomio característico de 2° orden s² + 2ζωn·s + ωn² = 0: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ωn²  =  [Rs·beq + (3/2)·Pp²·(λ'm^r)²] / (Jeq·Lq)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  =  [Lq·beq + Rs·Jeq] / (2·Jeq·Lq·ωn)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43200"/>
          <a:ext cx="11155680" cy="914400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ωn [rad/s]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= 1.0996 Ω (40°C), Jeq nominal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= 1.3979 Ω (115°C), Jeq nominal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174.312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Jeq,beq mínimos, Rs @ 40°C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174.091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Jeq,beq máximos, Rs @ 40°C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114.464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Jeq,beq mínimos, Rs @ 115°C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174.239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Jeq,beq máximos, Rs @ 115°C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114.582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observabilidad completa de estado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medida: θm(t)  →  C = [1 0 0 0 0].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observabilidad del par (A, C):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= [C; CA; CA²; CA³; CA⁴]ᵀ     →     rank(O) = 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el sistema LTI de orden 5 es completamente observable desde la posición θm(t).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11155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estimar todos los estados (θm, ωm, iqs^r, ids^r, Ts) a partir de la medición de posición.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 el diseño de un observador de estado de orden reducido.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se mide también iqs^r e ids^r para el lazo de corriente — se prescinde de observarlas.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controlabilidad completa de estado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de control: v*qs^r(t) y v*ds^r(t)  →  B de dimensión 5×2.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controlabilidad: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= [B | AB | A²B | A³B | A⁴B]     →     rank(Co) = 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el sistema LTI es completamente controlable desde las tensiones v*qs^r y v*ds^r.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11155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asignación arbitraria de polos mediante realimentación de estado completo.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vectorial puede llevar al sistema a cualquier estado en tiempo finito.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el diseño del PID externo y el lazo de corriente.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146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Dinámica a Lazo Abierto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Simulación en Dominio del Tiempo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88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a lazo abierto — Consignas y condiciones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simulan el modelo NL y el modelo LTI bajo consignas de tensión escalonadas con perturbaciones de torque: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1155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Consignas vqs^r: escalones en t = 0.1 s, 0.7 s y 1.1 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Perturbación de torque Tld(t): escalones en t = 0.3 s y 1.3 s con amplitud ±5 N·m.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inicial: sistema en reposo — θm(0) = 0, ωm(0) = 0, iqs^r(0) = 0, Ts(0) = 25°C.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ambiente Tamb = 25°C.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823" y="1828800"/>
            <a:ext cx="3949874" cy="3017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8920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14: Entrada de tensión y torque de perturbación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dinámica — Posición y velocidad angular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735" y="1143000"/>
            <a:ext cx="7002049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56616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21-24: Comparación LTI vs. NL (θm, ωm, Tm, Ts)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concordancia entre LTI y NL para ωm &lt; 100 rad/s.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Divergencia apreciable en transitorios rápidos (alta ωm).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LTI subestima levemente la velocidad máxima.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dinámica — Corrientes y temperatura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790" y="1143000"/>
            <a:ext cx="618794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38328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18-20: Corrientes iqd0 y temperatura del estator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de corriente en cada escalón de consigna de tensión.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escalonado de Ts con cada transitorio.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perturbaciones de torque: corriente aumenta para compensar → mayor pendiente en 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cesar la excitación, las corrientes decaen y Ts se estabiliza.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torque vs. velocidad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344" y="1371600"/>
            <a:ext cx="5626831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16636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25: Velocidad ωm vs torque Tm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566160"/>
            <a:ext cx="11155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accionamiento opera en los 4 cuadrantes del plano (torque, velocidad).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trayectoria sigue una elipse en la transición entre modos de operación.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torque máximo se acota por la corriente máxima admisible Is,max = 2.0 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operación en régimen permanente coincide con los valores nominales.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establecimiento — Corriente iqs^r(t)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característicos para la corriente de eje cuadratura ante cada perturbación: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Perturbación [s]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Rise/Fall time [ms]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Settling time [ms]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Overshoot [%]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estac. [A]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3897.8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8568.4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84048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altos valores de overshoot en t = 0.1 s y t = 0.7 s se deben a los escalones bruscos de consigna.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régimen permanente la corriente tiende a un valor estacionario proporcional al torque requerido.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146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de Torque Equivalente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Control Vectorial de Corriente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88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de torque equivalente — Compensación de acoplamientos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Compensación de retroalimentaciones físicas del subsistema electromagnético. Se propone despejar las tensiones como consigna más compensación: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vqs^r = v*qs^r + Rs·iqs^r + [λ'm^r + Ld·ids^r] · Pp · ωm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vds^r = v*ds^r + Rs·ids^r − Lq·iqs^r · Pp · ωm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obtienen relaciones directas entre entradas de tensión virtual y derivadas de corrientes: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d(iqs^r)/dt = (1/Lq) · v*qs^r          d(ids^r)/dt = (1/Ld) · v*ds^r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ejes q y d quedan completamente desacoplados. Aquí observamos las retroalimentaciones compensadas.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lazos de control de corrientes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consignas de tensión virtual serán proporcionales al error de corriente (control P):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 · d(iqs^r)/dt ≈ v*qs^r = R'q · (i*qs^r − iqs^r)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 · d(ids^r)/dt ≈ v*ds^r = R'd · (i*ds^r − ids^r)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transferencia resultantes: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Giqs(s) = 1 / (s · Lq/R'q + 1)          Gids(s) = 1 / (s · Ld/R'd + 1)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Diseño: se ubica el polo de cada lazo en pi = −Ri/Li = −5000 rad/s: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297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R'q = 5000 · Lq = 29 Ω          R'd = 5000 · Ld = 33 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892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constante de tiempo del lazo de corriente:  τcc = Lq/R'q ≈ 0.2 ms  &lt;&lt;  τmec.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de torque equivalente — Diagrama de bloques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542" y="1280160"/>
            <a:ext cx="8340436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16636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34: Diagrama de bloques del modulador de corriente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93192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compensación feedforward elimina el acoplamiento entre ejes q y 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proporcional de corriente es equivalente a un polo de primer orden de alta velocidad.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de escalas de tiempo (τcc &lt;&lt; τmec) valida la jerarquía del control en cascada.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de torque — Consigna de torque y desacoplamiento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Incorporación de consigna de torque con compensación de fricción viscosa y torque gravitacional: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T*m(t)  =  T*'m(t)  +  beq · ωm(t)  +  (kl · g / r) · sin(θm(t)/r)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Despejando la corriente de referencia de la ecuación de torque electromagnético: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i*qs^r(t)  =  T*m(t) / [(3/2) · Pp · (λ'm^r + (Ld−Lq)·ids^r(t))]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ley de control mínima ids^r* = 0: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i*qs^r(t)  =  T*m(t) / [(3/2) · Pp · λ'm^r]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173" y="2468880"/>
            <a:ext cx="9583174" cy="3108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562356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35-36: Diagramas del lazo de torque y modulador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146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Externo de Movimiento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Posición/Velocidad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88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externo de movimiento — PID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objetivo de regular la consigna de torque, se diseña un controlador PID a partir de una consigna de posición o velocidad. Para evitar derivadores se realimenta ωm(t):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T*m(s)  =  eω(s) · ba  +  eθ(s) · Ksa  +  Ksia · eθ(s)/s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transferencia del sistema controlado: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G*θm(s)  =  (ba·s² + Ksa·s + Ksia) / (s³·Jeq + ba·s² + Ksa·s + Ksia)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GTl(s)  =  −s / (s³·Jeq + ba·s² + Ksa·s + Ksia)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543" y="2057400"/>
            <a:ext cx="4254434" cy="2834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93776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37-38: Polos del sistema y diagrama PID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controlador PID — Sintonía por asignación de polos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con método de sintonía serie, ζ = 0.75, n = 2ζ + 1 = 2.5, ωpos = 800 rad/s: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Polinomio deseado: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pdes(s)  =  s³ + n·ωpos·s² + n·ωn²·s + ωn³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Igualando término a término se obtienen los parámetros del PID: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= Jeq · n · ωpos = 0.039 N·m/(rad/s)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4747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= Jeq · n · ωpos² = 31.656 N·m/rad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931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Ksia = Jeq · ωpos³ = 10129.78 N·m/(rad·s)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Polos del controlador según carga útil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de los polos del sistema controlado cuando Jeq toma su valor máximo (ml = 1.5 kg):</a:t>
            </a:r>
            <a:endParaRPr lang="en-US" sz="1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Jeq [kg·m²]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Polo 1 [rad/s]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Polo 2 [rad/s]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Polo 3 [rad/s]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(Jeq nominal)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1.978 × 10⁻⁵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−600.00 + 529.15j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−600.00 − 529.15j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 (ml = 1.5 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4.583 × 10⁻⁵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−438.22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−212.63 + 677.65j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−212.63 − 677.65j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017520"/>
            <a:ext cx="11155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carga máxima, los polos se desplazan hacia el eje imaginario → peor amortiguamiento.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permanece estable para toda la gama de carga útil.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Diagrama de polos del sistema — lazo abierto, corriente y PID.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842" y="3566160"/>
            <a:ext cx="2195837" cy="1463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507492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12: Variación de polos con temperatura Rs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Incorporación de set-point de posición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 un generador de perfil de trayectoria (set-point trapezoidal) para obtener una referencia de posición de la articulación: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q*(t)  =  θ*l(t)  =  (1/r) · θ*m(t)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set-point genera una consigna de velocidad trapezoidal suavizada para el motor.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 de la referencia de velocidad produce la referencia de posición.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escalones bruscos de posición que generarían transitorios de corriente muy elevados.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consigna de velocidad se satura en el valor nominal: ωm,ref ≤ ωm,nom.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783" y="2651760"/>
            <a:ext cx="3979954" cy="2651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3492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39: Set-point de posición y velocidad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146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Observador de Estado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Orden Reducido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88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Observador de estado de orden reducido — Modelo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del subsistema mecánico luego de aplicar los desacoplamientos: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[θ̇m; ω̇m]  =  [0 1; 0 0]·[θm; ωm]  +  [0; 1/Jeq]·T*m  +  [0; −1/(r·Jeq)]·Td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del observador asintótico (estado inicial nulo):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dx̃/dt  =  (A − Ke·C)·x̃(t)  +  B·u(t)  +  Ke·y(t)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estimación y su dinámica: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ė(t)  =  (A − Ke·C)·e(t)  +  Bd·d(t)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5720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Ajustando Ke se controla la dinámica del error. Si Tld ≠ 0 existirá un error de estado estacionario.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observador — Asignación de polos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Polinomio característico del error del observador: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p(s) = det(sI − A') = s² + Keθ · s + Keω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ubican dos polos reales en p₁,₂ = −3200 rad/s (4× más rápido que el lazo de posición):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p₁,₂(s)  =  (s + 3200)²  =  s² + 6400·s + 3200²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Ganancias del observador: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kθ  =  6.4 × 10³ rad/s          kω  =  1.024 × 10⁷ rad/s²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543" y="2377440"/>
            <a:ext cx="4254434" cy="2834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5257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40: Observador de estado reducido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146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en Tiempo Continuo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Modelo Completo NL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88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completo NL en lazo cerrado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11155680" cy="150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9220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9: Modelo NL con ley de control mínima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438" y="4297680"/>
            <a:ext cx="5160645" cy="1920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10: Modelo NL con ley de control mínima q y d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02920" y="3749040"/>
            <a:ext cx="11155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de torque equivalente (desacople + lazos de corriente).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PID externo de posición/velocidad.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Observador de estado de orden 2.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Set-point trapezoidal de posición.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ideales de posición, corriente y temperatura.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consignas de movimiento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 trapezoidal de posición referida al eje de la articulación robótica.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912" y="1371600"/>
            <a:ext cx="5509697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44068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41-43: Seguimiento de consigna — posición, velocidad, torque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angular — medida, estimada y consigna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295" y="1280160"/>
            <a:ext cx="7258929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angular — medida, estimada y consigna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angular — medida, estimada y consigna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295" y="1280160"/>
            <a:ext cx="7258929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angular — medida, estimada y consigna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electromagnético — aplicado y consigna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295" y="1280160"/>
            <a:ext cx="7258929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electromagnético — aplicado y consigna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Tensiones y corrientes durante el seguimiento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766" y="1143000"/>
            <a:ext cx="5309988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10896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16-17: Tensiones vqd y vabc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790" y="3566160"/>
            <a:ext cx="6187940" cy="2194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58064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18-20: Corrientes iqd y iabc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— Conclusiones del seguimiento de consigna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11155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control es capaz de seguir la consigna de movimiento trapezoidal.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físico no podría seguir esta consigna trapezoidal en la práctica, ya que los transitorios de tensión y corriente superan los máximos nominales del modulador (aquí asumido ideal).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observador hace una correcta estimación de posición y velocidad cuando no hay perturbaciones de torque de carga.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Figura: Diagrama de bloques del modelo NL completo.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a perturbaciones — Configuración de simulación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una perturbación de torque de carga Tld(t) con forma de escalón: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 de posición: perfil trapezoidal suavizado.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Perturbación de torque: escalón de 5 N·m durante intervalos definidos.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evalúan dos casos: Jeq mínimo (ml = 0) y Jeq máximo (ml = 1.5 kg).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118" y="1828800"/>
            <a:ext cx="9567283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62356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51-52: Perturbación de torque y error de posición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— Jeq mínimo (ml = 0)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240" y="1280160"/>
            <a:ext cx="349504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70332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angular medida, observada y consigna (Jeq nominal).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742" y="4114800"/>
            <a:ext cx="2882036" cy="1920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08076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49-50: Tensiones y temperatura durante rechazo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estimación de posición — Jeq mínimo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240" y="1280160"/>
            <a:ext cx="349504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70332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entre posición medida y estimada por el observador.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742" y="4114800"/>
            <a:ext cx="2882036" cy="1920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08076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49-50: Tensiones y temperatura durante rechazo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— Jeq máximo (ml = 1.5 kg)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240" y="1280160"/>
            <a:ext cx="349504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70332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angular medida, observada y consigna (carga máxima).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742" y="4114800"/>
            <a:ext cx="2882036" cy="1920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08076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49-50: Tensiones y temperatura durante rechazo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a perturbaciones — Conclusiones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11155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un error estacionario entre la consigna y la posición medida ante la presencia de torque de perturbación.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permanece porque el observador básico no posee acción integral del error.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simular con carga máxima (ml = 1.5 kg), el error disminuye levemente ya que el torque recuperador gravitacional es mayor (depende de la masa).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mejorar el observador incorporando acción integral.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146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Desempeño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Mejoras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88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Especificaciones de operación vs. valores de simulación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88</a:t>
            </a:r>
            <a:endParaRPr lang="en-US" sz="1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15568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Espec. Continuo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Espec. Pico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Sim. Continuo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Sim. Pico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Torque (Caja)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 N·m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 N·m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 N·m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5.012 N·m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Vel. Angular (Caja)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6.28 rad/s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6.28 rad/s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rad/s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1.595 rad/s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Vel. Angular (Motor)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691.15 rad/s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691.15 rad/s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120.000 rad/s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191.414 rad/s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Corriente (Estator)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0.541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72.485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Tensión de Fase (Estator)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5.066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1972.150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84048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de régimen continuo están dentro de especificaciones.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picos de corriente y tensión superan ampliamente los límites durante transitorios bruscos → necesaria modificación de la consigna.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Modificación de consigna — Velocidad trapezoidal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reducir los transitorios excesivos se cambia la consigna de posición por una consigna de velocidad trapezoidal suavizada: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240" y="1371600"/>
            <a:ext cx="34950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79476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53-56: Posición angular, detalle y torque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742" y="4251960"/>
            <a:ext cx="2882036" cy="1920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21792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59-60: Corrientes y temperatura con nueva consigna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4389120"/>
            <a:ext cx="11155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consigna de velocidad suavizada, los transitorios de corriente se reducen drásticamente.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tensión máxima queda dentro del rango del modulador real.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Corrientes reales abc — consigna de velocidad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286" y="1280160"/>
            <a:ext cx="7410949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Corrientes reales abc — consigna de velocidad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Tensiones reales abc — consigna de velocidad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286" y="1280160"/>
            <a:ext cx="7410949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Tensiones reales abc — consigna de velocidad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electromagnético — consigna de velocidad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286" y="1280160"/>
            <a:ext cx="7410949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electromagnético — consigna de velocidad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el observador — Incorporación de acción integral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eliminar el error estacionario ante perturbación de torque de carga, se agrega un tercer estado integral al observador: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θ̃̇m = ω̃m + Keθ·(θm − θ̃m)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ω̃̇m = (1/Jeq)·T*'m + Keω·(θm − θ̃m) + z(t)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ż(t) = Kei·(θm − θ̃m)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dinámica del error del observador aumentado: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611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 = [−Keθ 1 0; −Keω 0 1; −Kei 0 0]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Observador mejorado — Diseño y ganancias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Polinomio característico del observador aumentado: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p(s)  =  s³ + Keθ·s² + Keω·s + Kei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ubican los tres polos en p₁,₂,₃ = −3200 rad/s: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 + 3200)³  =  s³ + 3·3200·s² + 3·3200²·s + 3200³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Ganancias del observador mejorado: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840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kθ = 9.6 × 10³ rad/s      kω = 3.072 × 10⁷ rad/s²      ki = 3.2768 × 10¹⁰ rad/s³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543" y="2468880"/>
            <a:ext cx="4254434" cy="2834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53492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61: Observador de estados con acción integral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con observador mejorado — t = 5 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11155680" cy="19198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245695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con observador mejorado — t = 5 s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estimación con observador mejorado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11155680" cy="17122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038147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estimación con observador mejorado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5661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estacionario se elimina completamente ante escalón de perturbación de torque.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observador con acción integral estima correctamente ωm y θm en régimen permanente.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térmico — Operación continua cíclica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temperatura del bobinado durante operación continua con ciclo repetitivo: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≈ 600 s siguiendo la consigna de velocidad.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Perturbación cíclica Tld(t) = 5 N·m (escalón periódico, período 10 s).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inicial: Tamb = Ts(0) = 25°C.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evalúan Jeq mínimo (ml = 0) y Jeq máximo (ml = 1.5 kg).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11155680" cy="17122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221027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62: Posición con observador integral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886200"/>
            <a:ext cx="11155680" cy="19198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5851735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63-64: Temperatura del estator (300s y carga cíclica)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térmico — Carga máxima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11155680" cy="19198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245695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65: Temperatura con ml = 1.5 kg (supera Ts,max)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566160"/>
            <a:ext cx="11155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Jeq mínimo (ml = 0): la temperatura se estabiliza por debajo de Ts,max = 115°C. Sistema operativamente seguro.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Jeq máximo (ml = 1.5 kg): la temperatura supera el límite Ts,max → necesaria limitación de corriente o reducción de carga.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inclusión del modelo térmico en lazo cerrado permite supervisar el límite térmico en tiempo real.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146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 Sensores No Ideales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/ 88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no ideales — Modelos de filtros pasa-bajos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modelados como filtros LP con ganancia unitaria implementados en espacio de estados: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Corrientes ias(t), ibs(t), ics(t): filtro LP de 2° orden,  ωn = 6000 rad/s,  ζ = 1.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angular θm(t): filtro LP de 2° orden,  ωn = 2000 rad/s,  ζ = 1.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Ts(t): filtro LP de 1° orden,  τ = 20 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5661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transferencia filtro LP de 2° orden: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069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G(s)  =  ωn² / (s² + 2·ωn·ζ·s + ωn²)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no ideales — Modelo en espacio de estados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en espacio de estados del filtro LP de 2° orden: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[ẋ₁; ẋ₂]  =  [0 1; −ωn² −2ζωn]·[x₁; x₂]  +  [0; ωn²]·u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para el sensor de corriente (ωn = 6000 rad/s):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= [0 1; −36×10⁶ −12000]          Bi = [0; 36×10⁶]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para el sensor de posición (ωn = 2000 rad/s):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840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 = [0 1; −4×10⁶ −4000]          Bpos = [0; 4×10⁶]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480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LP de 1° orden (temperatura, τ = 20 s):  AT = −0.05,  BT = 0.05.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posición no ideal — Efecto de ωn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de posición con sensor  ωn = 2000 rad/s.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de posición con sensor  ωn = 4000 rad/s.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023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de posición con sensor  ωn = 6000 rad/s.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corriente no ideal — Efecto de ωn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742" y="1188720"/>
            <a:ext cx="2882036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15468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66-67: Modelos de sensores no ideales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6288" y="3611880"/>
            <a:ext cx="6028944" cy="2103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576072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68-70: Posición y velocidad con ωn_pos = 2000 rad/s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temperatura no ideal — Efecto de 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de temperatura con sensor  τ = 20 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de temperatura con sensor  τ = 1 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023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de temperatura con sensor  τ = 0.01 s.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completo con todos los sensores no ideales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82" y="1280160"/>
            <a:ext cx="9714155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24612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79-80: Corrientes con ωn_corriente = 12000/18000 rad/s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03320"/>
            <a:ext cx="11155680" cy="14917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5240788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74-78: Velocidad y temperatura con distintos ωn_pos y τ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02920" y="3931920"/>
            <a:ext cx="11155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mantiene estabilidad y buen seguimiento con los sensores no ideales elegidos.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ancho de banda del sensor de posición (ωn = 6000 rad/s) no introduce degradación significativa.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de temperatura no afecta el control porque la dinámica térmica es mucho más lenta.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146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Trifásico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Tensión No Ideal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/ 88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trifásico no ideal — Modelo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modulador se modela con características de filtro LP y saturación: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Saturación: |vabcs(t)| ≤ √2 · Vsl,max/√3 ≈ 39.19 V.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Tensiones vabcs(t): filtro LP de 2° orden,  ωn = 6000 rad/s,  ζ = 1.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923" y="2560320"/>
            <a:ext cx="4391673" cy="2926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53212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81: Diagrama del modulador trifásico no ideal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44805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incorpora la saturación al diagrama del modulador para limitar las tensiones al bus DC disponible.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no ideal — Simulación con ωn = 6000 rad/s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posición con modulador no ideal ωn = 6000 rad/s.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velocidad con modulador no ideal ωn = 6000 rad/s.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2062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Corrientes abc y tensiones a la salida del modulador.</a:t>
            </a:r>
            <a:endParaRPr 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no ideal — Punto óptimo ωn = 25000 rad/s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posición con modulador no ideal ωn = 25000 rad/s.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velocidad con modulador no ideal ωn = 25000 rad/s.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2062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con modulador no ideal ωn = 25000 rad/s.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146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Final — Discretización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 Implementación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88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 de planta y controlador completo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controlador final integra en orden todos los bloques desarrollados: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Set-point trapezoidal de posición (sección 4.2.1).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Observador aumentado con acción integral (sección 4.5.2).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externo de movimiento (sección 4.2).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de torque equivalente con compensación (sección 4.1.3).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Lazos de corriente PI (sección 4.1.2).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de tensión trifásico no ideal y sensores no ideales (secciones 4.5.4 y 4.5.5).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34640"/>
            <a:ext cx="11155680" cy="20106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890977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90: Sistema continuo completo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Discretización del controlador — Método de Tustin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realiza la discretización del controlador mediante el método de Tustin (integración por trapecios):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y[n]  =  y[n−1]  +  (Ts/2) · (x[n] + x[n−1])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la transformada Z: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Y[z]  =  Y[z]·z⁻¹  +  (Ts/2) · (X[z] + X[z]·z⁻¹)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agregan retenedores de orden cero (ZOH) en las entradas y salidas del controlador.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543" y="2377440"/>
            <a:ext cx="4254434" cy="2834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257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91: Integrador por trapecios (Tustin)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 del período de muestreo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práctico basado en el teorema de Nyquist (10× la frecuencia de corte):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 =  1/Ts  ≥  10 · BWcont      →      fs ≥ 10 · 796 Hz  =  7960 Hz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 =  1/fs  =  1/(10 · 796 Hz)  ≈  1.25 × 10⁻⁴ s  =  0.125 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muestreo elegido: Ts = 0.125 ms (fs ≈ 8 kHz).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valor garantiza el teorema de Nyquist con margen suficiente.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bloques del controlador operan al mismo período de muestreo.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122" y="4206240"/>
            <a:ext cx="3019275" cy="2011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92-93: Set-point y PID externo discretizados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bloques del controlador discretizado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883" y="1188720"/>
            <a:ext cx="3293755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4290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94: Observador aumentado discretizado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650" y="3840480"/>
            <a:ext cx="2974221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1722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95-99: Sistema completo discreto y resultados de simulación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Sistema con controlador discretizado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/ 88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165" y="1097280"/>
            <a:ext cx="309319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5204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95-99: Posición, velocidad, corrientes, tensiones (controlador discreto)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883" y="3931920"/>
            <a:ext cx="3293755" cy="2194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1722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100: Torque Tm con controlador discreto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1115568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desarrolló el modelado, análisis y simulación del accionamiento de un brazo manipulador robótico de 1 GDL accionado mediante un motor PMSM.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desempeño del sistema depende fuertemente de la consideración de efectos no ideales: fue necesario incrementar las frecuencias de los sensores (ωn_pos = 6000 rad/s, ωn_corr = 18000 rad/s) y del modulador (ωn = 18000 rad/s) para evitar inestabilidades.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consignas de posición con variaciones bruscas exigen elevadas corrientes y tensiones que superan los límites nominales; la adopción de consignas de velocidad trapezoidales reduce los transitorios y mantiene el sistema dentro de las especificaciones.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incorporación del observador aumentado con acción integral permite eliminar el error estacionario ante perturbaciones de torque de carga.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discreta del controlador mediante un bloque MATLAB Function reproduce exactamente el comportamiento del esquema por bloques, validando la viabilidad de una implementación secuencial del control en microcontrolador o DSP.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conjunto, el trabajo resalta la importancia de considerar simultáneamente el diseño del controlador, las limitaciones físicas del sistema y la forma de las consignas para lograr un comportamiento estable y realista.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/ 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G. Julián, Proyecto global integrador: Control de accionamiento de CA con motor síncrono de imanes permanentes. UNCuyo – Ing. en Mecatrónica.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G. Julián, Guía de trabajo – Proyecto Global Integrador. UNCuyo – Ing. en Mecatrónica.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P. Krause, O. Wasynczuk, S. D. Sudhoff y S. Pekarek, Analysis of Electric Machinery and Drive Systems, 3ra ed., Wiley-IEEE Press, 2013.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G. F. Franklin, J. D. Powell y A. Emami-Naeni, Feedback Control of Dynamic Systems, 7ma ed., Pearson, 2015.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K. Ogata, Ingeniería de Control Moderna, 6ta ed., Prentice Hall.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K. M. Lynch y F. C. Park, Modern Robotics: Mechanics, Planning, and Control. Cambridge University Press, 2017.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MathWorks, MATLAB/Simulink Documentation.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7180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Gracias por su atención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656539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/ 88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7362</Words>
  <Application>Microsoft Office PowerPoint</Application>
  <PresentationFormat>Panorámica</PresentationFormat>
  <Paragraphs>768</Paragraphs>
  <Slides>85</Slides>
  <Notes>85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85</vt:i4>
      </vt:variant>
    </vt:vector>
  </HeadingPairs>
  <TitlesOfParts>
    <vt:vector size="89" baseType="lpstr">
      <vt:lpstr>Arial</vt:lpstr>
      <vt:lpstr>Calibri</vt:lpstr>
      <vt:lpstr>Cambria Math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</cp:lastModifiedBy>
  <cp:revision>5</cp:revision>
  <dcterms:created xsi:type="dcterms:W3CDTF">2026-04-09T20:54:49Z</dcterms:created>
  <dcterms:modified xsi:type="dcterms:W3CDTF">2026-04-09T21:43:03Z</dcterms:modified>
</cp:coreProperties>
</file>