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1"/>
  </p:notesMasterIdLst>
  <p:sldIdLst>
    <p:sldId id="256" r:id="rId2"/>
    <p:sldId id="257" r:id="rId3"/>
    <p:sldId id="258" r:id="rId4"/>
    <p:sldId id="384" r:id="rId5"/>
    <p:sldId id="260" r:id="rId6"/>
    <p:sldId id="261" r:id="rId7"/>
    <p:sldId id="262" r:id="rId8"/>
    <p:sldId id="263" r:id="rId9"/>
    <p:sldId id="382" r:id="rId10"/>
    <p:sldId id="264" r:id="rId11"/>
    <p:sldId id="265" r:id="rId12"/>
    <p:sldId id="383"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4" r:id="rId31"/>
    <p:sldId id="285" r:id="rId32"/>
    <p:sldId id="286" r:id="rId33"/>
    <p:sldId id="287" r:id="rId34"/>
    <p:sldId id="328" r:id="rId35"/>
    <p:sldId id="329" r:id="rId36"/>
    <p:sldId id="330" r:id="rId37"/>
    <p:sldId id="288" r:id="rId38"/>
    <p:sldId id="290" r:id="rId39"/>
    <p:sldId id="331" r:id="rId40"/>
    <p:sldId id="291" r:id="rId41"/>
    <p:sldId id="332" r:id="rId42"/>
    <p:sldId id="292" r:id="rId43"/>
    <p:sldId id="293" r:id="rId44"/>
    <p:sldId id="294" r:id="rId45"/>
    <p:sldId id="333" r:id="rId46"/>
    <p:sldId id="295" r:id="rId47"/>
    <p:sldId id="334" r:id="rId48"/>
    <p:sldId id="297" r:id="rId49"/>
    <p:sldId id="337" r:id="rId50"/>
    <p:sldId id="336" r:id="rId51"/>
    <p:sldId id="296" r:id="rId52"/>
    <p:sldId id="338" r:id="rId53"/>
    <p:sldId id="299" r:id="rId54"/>
    <p:sldId id="298" r:id="rId55"/>
    <p:sldId id="339" r:id="rId56"/>
    <p:sldId id="340" r:id="rId57"/>
    <p:sldId id="385" r:id="rId58"/>
    <p:sldId id="341" r:id="rId59"/>
    <p:sldId id="300" r:id="rId60"/>
    <p:sldId id="301" r:id="rId61"/>
    <p:sldId id="302" r:id="rId62"/>
    <p:sldId id="343" r:id="rId63"/>
    <p:sldId id="344" r:id="rId64"/>
    <p:sldId id="303" r:id="rId65"/>
    <p:sldId id="345" r:id="rId66"/>
    <p:sldId id="304" r:id="rId67"/>
    <p:sldId id="346" r:id="rId68"/>
    <p:sldId id="305" r:id="rId69"/>
    <p:sldId id="306" r:id="rId70"/>
    <p:sldId id="347" r:id="rId71"/>
    <p:sldId id="307" r:id="rId72"/>
    <p:sldId id="348" r:id="rId73"/>
    <p:sldId id="309" r:id="rId74"/>
    <p:sldId id="310" r:id="rId75"/>
    <p:sldId id="349" r:id="rId76"/>
    <p:sldId id="311" r:id="rId77"/>
    <p:sldId id="312" r:id="rId78"/>
    <p:sldId id="350" r:id="rId79"/>
    <p:sldId id="351" r:id="rId80"/>
    <p:sldId id="314" r:id="rId81"/>
    <p:sldId id="315" r:id="rId82"/>
    <p:sldId id="316" r:id="rId83"/>
    <p:sldId id="352" r:id="rId84"/>
    <p:sldId id="353" r:id="rId85"/>
    <p:sldId id="354" r:id="rId86"/>
    <p:sldId id="355" r:id="rId87"/>
    <p:sldId id="317" r:id="rId88"/>
    <p:sldId id="356" r:id="rId89"/>
    <p:sldId id="318" r:id="rId90"/>
    <p:sldId id="357" r:id="rId91"/>
    <p:sldId id="358" r:id="rId92"/>
    <p:sldId id="319" r:id="rId93"/>
    <p:sldId id="359" r:id="rId94"/>
    <p:sldId id="360" r:id="rId95"/>
    <p:sldId id="361" r:id="rId96"/>
    <p:sldId id="363" r:id="rId97"/>
    <p:sldId id="364" r:id="rId98"/>
    <p:sldId id="362" r:id="rId99"/>
    <p:sldId id="365" r:id="rId100"/>
    <p:sldId id="366" r:id="rId101"/>
    <p:sldId id="320" r:id="rId102"/>
    <p:sldId id="367" r:id="rId103"/>
    <p:sldId id="368" r:id="rId104"/>
    <p:sldId id="369" r:id="rId105"/>
    <p:sldId id="370" r:id="rId106"/>
    <p:sldId id="371" r:id="rId107"/>
    <p:sldId id="321" r:id="rId108"/>
    <p:sldId id="322" r:id="rId109"/>
    <p:sldId id="323" r:id="rId110"/>
    <p:sldId id="372" r:id="rId111"/>
    <p:sldId id="373" r:id="rId112"/>
    <p:sldId id="374" r:id="rId113"/>
    <p:sldId id="375" r:id="rId114"/>
    <p:sldId id="377" r:id="rId115"/>
    <p:sldId id="378" r:id="rId116"/>
    <p:sldId id="379" r:id="rId117"/>
    <p:sldId id="380" r:id="rId118"/>
    <p:sldId id="381" r:id="rId119"/>
    <p:sldId id="326" r:id="rId1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96357" autoAdjust="0"/>
  </p:normalViewPr>
  <p:slideViewPr>
    <p:cSldViewPr snapToGrid="0" snapToObjects="1">
      <p:cViewPr varScale="1">
        <p:scale>
          <a:sx n="114" d="100"/>
          <a:sy n="114" d="100"/>
        </p:scale>
        <p:origin x="528"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0EF5A6-2F60-400E-8415-C9D2D2E0D30C}" type="datetimeFigureOut">
              <a:rPr lang="es-AR" smtClean="0"/>
              <a:t>8/5/2026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0AEA6E-7F1E-4587-89A6-F004A649745A}" type="slidenum">
              <a:rPr lang="es-AR" smtClean="0"/>
              <a:t>‹Nº›</a:t>
            </a:fld>
            <a:endParaRPr lang="es-AR"/>
          </a:p>
        </p:txBody>
      </p:sp>
    </p:spTree>
    <p:extLst>
      <p:ext uri="{BB962C8B-B14F-4D97-AF65-F5344CB8AC3E}">
        <p14:creationId xmlns:p14="http://schemas.microsoft.com/office/powerpoint/2010/main" val="3640963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1</a:t>
            </a:fld>
            <a:endParaRPr lang="es-AR"/>
          </a:p>
        </p:txBody>
      </p:sp>
    </p:spTree>
    <p:extLst>
      <p:ext uri="{BB962C8B-B14F-4D97-AF65-F5344CB8AC3E}">
        <p14:creationId xmlns:p14="http://schemas.microsoft.com/office/powerpoint/2010/main" val="534224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29</a:t>
            </a:fld>
            <a:endParaRPr lang="es-AR"/>
          </a:p>
        </p:txBody>
      </p:sp>
    </p:spTree>
    <p:extLst>
      <p:ext uri="{BB962C8B-B14F-4D97-AF65-F5344CB8AC3E}">
        <p14:creationId xmlns:p14="http://schemas.microsoft.com/office/powerpoint/2010/main" val="1687900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42</a:t>
            </a:fld>
            <a:endParaRPr lang="es-AR"/>
          </a:p>
        </p:txBody>
      </p:sp>
    </p:spTree>
    <p:extLst>
      <p:ext uri="{BB962C8B-B14F-4D97-AF65-F5344CB8AC3E}">
        <p14:creationId xmlns:p14="http://schemas.microsoft.com/office/powerpoint/2010/main" val="1107798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56</a:t>
            </a:fld>
            <a:endParaRPr lang="es-AR"/>
          </a:p>
        </p:txBody>
      </p:sp>
    </p:spTree>
    <p:extLst>
      <p:ext uri="{BB962C8B-B14F-4D97-AF65-F5344CB8AC3E}">
        <p14:creationId xmlns:p14="http://schemas.microsoft.com/office/powerpoint/2010/main" val="499156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57</a:t>
            </a:fld>
            <a:endParaRPr lang="es-AR"/>
          </a:p>
        </p:txBody>
      </p:sp>
    </p:spTree>
    <p:extLst>
      <p:ext uri="{BB962C8B-B14F-4D97-AF65-F5344CB8AC3E}">
        <p14:creationId xmlns:p14="http://schemas.microsoft.com/office/powerpoint/2010/main" val="3888759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58</a:t>
            </a:fld>
            <a:endParaRPr lang="es-AR"/>
          </a:p>
        </p:txBody>
      </p:sp>
    </p:spTree>
    <p:extLst>
      <p:ext uri="{BB962C8B-B14F-4D97-AF65-F5344CB8AC3E}">
        <p14:creationId xmlns:p14="http://schemas.microsoft.com/office/powerpoint/2010/main" val="164273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67</a:t>
            </a:fld>
            <a:endParaRPr lang="es-AR"/>
          </a:p>
        </p:txBody>
      </p:sp>
    </p:spTree>
    <p:extLst>
      <p:ext uri="{BB962C8B-B14F-4D97-AF65-F5344CB8AC3E}">
        <p14:creationId xmlns:p14="http://schemas.microsoft.com/office/powerpoint/2010/main" val="1318227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74</a:t>
            </a:fld>
            <a:endParaRPr lang="es-AR"/>
          </a:p>
        </p:txBody>
      </p:sp>
    </p:spTree>
    <p:extLst>
      <p:ext uri="{BB962C8B-B14F-4D97-AF65-F5344CB8AC3E}">
        <p14:creationId xmlns:p14="http://schemas.microsoft.com/office/powerpoint/2010/main" val="2292566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77</a:t>
            </a:fld>
            <a:endParaRPr lang="es-AR"/>
          </a:p>
        </p:txBody>
      </p:sp>
    </p:spTree>
    <p:extLst>
      <p:ext uri="{BB962C8B-B14F-4D97-AF65-F5344CB8AC3E}">
        <p14:creationId xmlns:p14="http://schemas.microsoft.com/office/powerpoint/2010/main" val="25172467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80</a:t>
            </a:fld>
            <a:endParaRPr lang="es-AR"/>
          </a:p>
        </p:txBody>
      </p:sp>
    </p:spTree>
    <p:extLst>
      <p:ext uri="{BB962C8B-B14F-4D97-AF65-F5344CB8AC3E}">
        <p14:creationId xmlns:p14="http://schemas.microsoft.com/office/powerpoint/2010/main" val="11438117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90</a:t>
            </a:fld>
            <a:endParaRPr lang="es-AR"/>
          </a:p>
        </p:txBody>
      </p:sp>
    </p:spTree>
    <p:extLst>
      <p:ext uri="{BB962C8B-B14F-4D97-AF65-F5344CB8AC3E}">
        <p14:creationId xmlns:p14="http://schemas.microsoft.com/office/powerpoint/2010/main" val="2847072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92</a:t>
            </a:fld>
            <a:endParaRPr lang="es-AR"/>
          </a:p>
        </p:txBody>
      </p:sp>
    </p:spTree>
    <p:extLst>
      <p:ext uri="{BB962C8B-B14F-4D97-AF65-F5344CB8AC3E}">
        <p14:creationId xmlns:p14="http://schemas.microsoft.com/office/powerpoint/2010/main" val="145126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94</a:t>
            </a:fld>
            <a:endParaRPr lang="es-AR"/>
          </a:p>
        </p:txBody>
      </p:sp>
    </p:spTree>
    <p:extLst>
      <p:ext uri="{BB962C8B-B14F-4D97-AF65-F5344CB8AC3E}">
        <p14:creationId xmlns:p14="http://schemas.microsoft.com/office/powerpoint/2010/main" val="39320188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95</a:t>
            </a:fld>
            <a:endParaRPr lang="es-AR"/>
          </a:p>
        </p:txBody>
      </p:sp>
    </p:spTree>
    <p:extLst>
      <p:ext uri="{BB962C8B-B14F-4D97-AF65-F5344CB8AC3E}">
        <p14:creationId xmlns:p14="http://schemas.microsoft.com/office/powerpoint/2010/main" val="789508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E10AEA6E-7F1E-4587-89A6-F004A649745A}" type="slidenum">
              <a:rPr lang="es-AR" smtClean="0"/>
              <a:t>101</a:t>
            </a:fld>
            <a:endParaRPr lang="es-AR"/>
          </a:p>
        </p:txBody>
      </p:sp>
    </p:spTree>
    <p:extLst>
      <p:ext uri="{BB962C8B-B14F-4D97-AF65-F5344CB8AC3E}">
        <p14:creationId xmlns:p14="http://schemas.microsoft.com/office/powerpoint/2010/main" val="753014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00.png"/><Relationship Id="rId1" Type="http://schemas.openxmlformats.org/officeDocument/2006/relationships/slideLayout" Target="../slideLayouts/slideLayout7.xml"/><Relationship Id="rId6" Type="http://schemas.openxmlformats.org/officeDocument/2006/relationships/image" Target="../media/image511.png"/><Relationship Id="rId5" Type="http://schemas.openxmlformats.org/officeDocument/2006/relationships/image" Target="../media/image2100.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327.png"/><Relationship Id="rId3" Type="http://schemas.openxmlformats.org/officeDocument/2006/relationships/image" Target="../media/image510.png"/><Relationship Id="rId12"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11" Type="http://schemas.openxmlformats.org/officeDocument/2006/relationships/image" Target="../media/image9.png"/><Relationship Id="rId10" Type="http://schemas.openxmlformats.org/officeDocument/2006/relationships/image" Target="../media/image8.png"/><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10.png"/><Relationship Id="rId1" Type="http://schemas.openxmlformats.org/officeDocument/2006/relationships/slideLayout" Target="../slideLayouts/slideLayout7.xml"/><Relationship Id="rId6" Type="http://schemas.openxmlformats.org/officeDocument/2006/relationships/image" Target="../media/image1611.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5.png"/><Relationship Id="rId4" Type="http://schemas.openxmlformats.org/officeDocument/2006/relationships/image" Target="../media/image22.png"/><Relationship Id="rId9" Type="http://schemas.openxmlformats.org/officeDocument/2006/relationships/image" Target="../media/image910.png"/></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1.png"/><Relationship Id="rId2" Type="http://schemas.openxmlformats.org/officeDocument/2006/relationships/image" Target="../media/image2610.png"/><Relationship Id="rId1" Type="http://schemas.openxmlformats.org/officeDocument/2006/relationships/slideLayout" Target="../slideLayouts/slideLayout7.xml"/><Relationship Id="rId6" Type="http://schemas.openxmlformats.org/officeDocument/2006/relationships/image" Target="../media/image3010.png"/><Relationship Id="rId5" Type="http://schemas.openxmlformats.org/officeDocument/2006/relationships/image" Target="../media/image2910.png"/><Relationship Id="rId4" Type="http://schemas.openxmlformats.org/officeDocument/2006/relationships/image" Target="../media/image2810.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30.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1.png"/><Relationship Id="rId4" Type="http://schemas.openxmlformats.org/officeDocument/2006/relationships/image" Target="../media/image350.png"/></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60.png"/></Relationships>
</file>

<file path=ppt/slides/_rels/slide23.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390.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8" Type="http://schemas.openxmlformats.org/officeDocument/2006/relationships/image" Target="../media/image45.png"/><Relationship Id="rId7" Type="http://schemas.openxmlformats.org/officeDocument/2006/relationships/image" Target="../media/image410.pn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4.png"/><Relationship Id="rId9"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5" Type="http://schemas.openxmlformats.org/officeDocument/2006/relationships/image" Target="../media/image53.png"/><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8" Type="http://schemas.openxmlformats.org/officeDocument/2006/relationships/image" Target="../media/image55.png"/><Relationship Id="rId7" Type="http://schemas.openxmlformats.org/officeDocument/2006/relationships/image" Target="../media/image56.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57.png"/><Relationship Id="rId11" Type="http://schemas.openxmlformats.org/officeDocument/2006/relationships/image" Target="../media/image531.png"/><Relationship Id="rId10" Type="http://schemas.openxmlformats.org/officeDocument/2006/relationships/image" Target="../media/image501.png"/><Relationship Id="rId9" Type="http://schemas.openxmlformats.org/officeDocument/2006/relationships/image" Target="../media/image491.png"/></Relationships>
</file>

<file path=ppt/slides/_rels/slide2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8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91.png"/><Relationship Id="rId2" Type="http://schemas.openxmlformats.org/officeDocument/2006/relationships/image" Target="../media/image370.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490.png"/><Relationship Id="rId4" Type="http://schemas.openxmlformats.org/officeDocument/2006/relationships/image" Target="../media/image450.png"/></Relationships>
</file>

<file path=ppt/slides/_rels/slide3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1.png"/><Relationship Id="rId1" Type="http://schemas.openxmlformats.org/officeDocument/2006/relationships/slideLayout" Target="../slideLayouts/slideLayout7.xml"/><Relationship Id="rId4" Type="http://schemas.openxmlformats.org/officeDocument/2006/relationships/image" Target="../media/image580.png"/></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90.png"/><Relationship Id="rId1" Type="http://schemas.openxmlformats.org/officeDocument/2006/relationships/slideLayout" Target="../slideLayouts/slideLayout7.xml"/><Relationship Id="rId6" Type="http://schemas.openxmlformats.org/officeDocument/2006/relationships/image" Target="../media/image600.png"/><Relationship Id="rId5" Type="http://schemas.openxmlformats.org/officeDocument/2006/relationships/image" Target="../media/image65.png"/><Relationship Id="rId4" Type="http://schemas.openxmlformats.org/officeDocument/2006/relationships/image" Target="../media/image63.png"/></Relationships>
</file>

<file path=ppt/slides/_rels/slide35.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71.png"/><Relationship Id="rId2" Type="http://schemas.openxmlformats.org/officeDocument/2006/relationships/image" Target="../media/image66.png"/><Relationship Id="rId1"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67.png"/><Relationship Id="rId4" Type="http://schemas.openxmlformats.org/officeDocument/2006/relationships/image" Target="../media/image70.png"/></Relationships>
</file>

<file path=ppt/slides/_rels/slide37.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6.png"/><Relationship Id="rId2"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1.png"/></Relationships>
</file>

<file path=ppt/slides/_rels/slide3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png"/></Relationships>
</file>

<file path=ppt/slides/_rels/slide3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 Id="rId4" Type="http://schemas.openxmlformats.org/officeDocument/2006/relationships/image" Target="../media/image83.png"/></Relationships>
</file>

<file path=ppt/slides/_rels/slide4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 Id="rId5" Type="http://schemas.openxmlformats.org/officeDocument/2006/relationships/image" Target="../media/image87.png"/><Relationship Id="rId4" Type="http://schemas.openxmlformats.org/officeDocument/2006/relationships/image" Target="../media/image86.png"/></Relationships>
</file>

<file path=ppt/slides/_rels/slide4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7.xml"/><Relationship Id="rId5" Type="http://schemas.openxmlformats.org/officeDocument/2006/relationships/image" Target="../media/image94.png"/><Relationship Id="rId4" Type="http://schemas.openxmlformats.org/officeDocument/2006/relationships/image" Target="../media/image92.png"/></Relationships>
</file>

<file path=ppt/slides/_rels/slide4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3.png"/><Relationship Id="rId1" Type="http://schemas.openxmlformats.org/officeDocument/2006/relationships/slideLayout" Target="../slideLayouts/slideLayout7.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4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09.png"/><Relationship Id="rId7" Type="http://schemas.openxmlformats.org/officeDocument/2006/relationships/image" Target="../media/image112.png"/><Relationship Id="rId2" Type="http://schemas.openxmlformats.org/officeDocument/2006/relationships/image" Target="../media/image108.png"/><Relationship Id="rId1" Type="http://schemas.openxmlformats.org/officeDocument/2006/relationships/slideLayout" Target="../slideLayouts/slideLayout7.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6.png"/></Relationships>
</file>

<file path=ppt/slides/_rels/slide53.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110.png"/><Relationship Id="rId7" Type="http://schemas.openxmlformats.org/officeDocument/2006/relationships/image" Target="../media/image115.png"/><Relationship Id="rId2" Type="http://schemas.openxmlformats.org/officeDocument/2006/relationships/image" Target="../media/image1101.png"/><Relationship Id="rId1" Type="http://schemas.openxmlformats.org/officeDocument/2006/relationships/slideLayout" Target="../slideLayouts/slideLayout7.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0.png"/></Relationships>
</file>

<file path=ppt/slides/_rels/slide5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7.xml"/><Relationship Id="rId4" Type="http://schemas.openxmlformats.org/officeDocument/2006/relationships/image" Target="../media/image119.png"/></Relationships>
</file>

<file path=ppt/slides/_rels/slide5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150.png"/><Relationship Id="rId1" Type="http://schemas.openxmlformats.org/officeDocument/2006/relationships/slideLayout" Target="../slideLayouts/slideLayout7.xml"/><Relationship Id="rId6" Type="http://schemas.openxmlformats.org/officeDocument/2006/relationships/image" Target="../media/image124.png"/><Relationship Id="rId5" Type="http://schemas.openxmlformats.org/officeDocument/2006/relationships/image" Target="../media/image122.png"/><Relationship Id="rId4" Type="http://schemas.openxmlformats.org/officeDocument/2006/relationships/image" Target="../media/image120.png"/></Relationships>
</file>

<file path=ppt/slides/_rels/slide5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28.png"/><Relationship Id="rId5" Type="http://schemas.openxmlformats.org/officeDocument/2006/relationships/image" Target="../media/image123.png"/><Relationship Id="rId4" Type="http://schemas.openxmlformats.org/officeDocument/2006/relationships/image" Target="../media/image126.png"/></Relationships>
</file>

<file path=ppt/slides/_rels/slide5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27.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3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1.png"/><Relationship Id="rId1" Type="http://schemas.openxmlformats.org/officeDocument/2006/relationships/slideLayout" Target="../slideLayouts/slideLayout7.xml"/><Relationship Id="rId5" Type="http://schemas.openxmlformats.org/officeDocument/2006/relationships/image" Target="../media/image135.png"/><Relationship Id="rId4" Type="http://schemas.openxmlformats.org/officeDocument/2006/relationships/image" Target="../media/image134.png"/></Relationships>
</file>

<file path=ppt/slides/_rels/slide62.xml.rels><?xml version="1.0" encoding="UTF-8" standalone="yes"?>
<Relationships xmlns="http://schemas.openxmlformats.org/package/2006/relationships"><Relationship Id="rId3" Type="http://schemas.openxmlformats.org/officeDocument/2006/relationships/image" Target="../media/image1300.png"/><Relationship Id="rId2" Type="http://schemas.openxmlformats.org/officeDocument/2006/relationships/image" Target="../media/image137.png"/><Relationship Id="rId1" Type="http://schemas.openxmlformats.org/officeDocument/2006/relationships/slideLayout" Target="../slideLayouts/slideLayout7.xml"/><Relationship Id="rId4" Type="http://schemas.openxmlformats.org/officeDocument/2006/relationships/image" Target="../media/image139.png"/></Relationships>
</file>

<file path=ppt/slides/_rels/slide63.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40.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42.png"/><Relationship Id="rId7" Type="http://schemas.openxmlformats.org/officeDocument/2006/relationships/image" Target="../media/image146.png"/><Relationship Id="rId2" Type="http://schemas.openxmlformats.org/officeDocument/2006/relationships/image" Target="../media/image138.png"/><Relationship Id="rId1" Type="http://schemas.openxmlformats.org/officeDocument/2006/relationships/slideLayout" Target="../slideLayouts/slideLayout7.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65.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1.png"/><Relationship Id="rId1" Type="http://schemas.openxmlformats.org/officeDocument/2006/relationships/slideLayout" Target="../slideLayouts/slideLayout7.xml"/><Relationship Id="rId4" Type="http://schemas.openxmlformats.org/officeDocument/2006/relationships/image" Target="../media/image147.png"/></Relationships>
</file>

<file path=ppt/slides/_rels/slide6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8.png"/><Relationship Id="rId1" Type="http://schemas.openxmlformats.org/officeDocument/2006/relationships/slideLayout" Target="../slideLayouts/slideLayout7.xml"/><Relationship Id="rId6" Type="http://schemas.openxmlformats.org/officeDocument/2006/relationships/image" Target="../media/image153.png"/><Relationship Id="rId5" Type="http://schemas.openxmlformats.org/officeDocument/2006/relationships/image" Target="../media/image152.png"/><Relationship Id="rId4" Type="http://schemas.openxmlformats.org/officeDocument/2006/relationships/image" Target="../media/image151.png"/></Relationships>
</file>

<file path=ppt/slides/_rels/slide67.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5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7.xml"/><Relationship Id="rId6" Type="http://schemas.openxmlformats.org/officeDocument/2006/relationships/image" Target="../media/image162.png"/><Relationship Id="rId5" Type="http://schemas.openxmlformats.org/officeDocument/2006/relationships/image" Target="../media/image161.png"/><Relationship Id="rId4" Type="http://schemas.openxmlformats.org/officeDocument/2006/relationships/image" Target="../media/image160.png"/></Relationships>
</file>

<file path=ppt/slides/_rels/slide70.xml.rels><?xml version="1.0" encoding="UTF-8" standalone="yes"?>
<Relationships xmlns="http://schemas.openxmlformats.org/package/2006/relationships"><Relationship Id="rId8" Type="http://schemas.openxmlformats.org/officeDocument/2006/relationships/image" Target="../media/image169.png"/><Relationship Id="rId3" Type="http://schemas.openxmlformats.org/officeDocument/2006/relationships/image" Target="../media/image164.png"/><Relationship Id="rId7" Type="http://schemas.openxmlformats.org/officeDocument/2006/relationships/image" Target="../media/image168.png"/><Relationship Id="rId2" Type="http://schemas.openxmlformats.org/officeDocument/2006/relationships/image" Target="../media/image163.png"/><Relationship Id="rId1" Type="http://schemas.openxmlformats.org/officeDocument/2006/relationships/slideLayout" Target="../slideLayouts/slideLayout7.xml"/><Relationship Id="rId6" Type="http://schemas.openxmlformats.org/officeDocument/2006/relationships/image" Target="../media/image167.png"/><Relationship Id="rId5" Type="http://schemas.openxmlformats.org/officeDocument/2006/relationships/image" Target="../media/image166.png"/><Relationship Id="rId4" Type="http://schemas.openxmlformats.org/officeDocument/2006/relationships/image" Target="../media/image165.png"/><Relationship Id="rId9" Type="http://schemas.openxmlformats.org/officeDocument/2006/relationships/image" Target="../media/image170.png"/></Relationships>
</file>

<file path=ppt/slides/_rels/slide71.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7.xml"/><Relationship Id="rId6" Type="http://schemas.openxmlformats.org/officeDocument/2006/relationships/image" Target="../media/image157.png"/><Relationship Id="rId5" Type="http://schemas.openxmlformats.org/officeDocument/2006/relationships/image" Target="../media/image156.png"/><Relationship Id="rId4" Type="http://schemas.openxmlformats.org/officeDocument/2006/relationships/image" Target="../media/image173.png"/></Relationships>
</file>

<file path=ppt/slides/_rels/slide72.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image" Target="../media/image176.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178.png"/><Relationship Id="rId7" Type="http://schemas.openxmlformats.org/officeDocument/2006/relationships/image" Target="../media/image18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81.png"/><Relationship Id="rId5" Type="http://schemas.openxmlformats.org/officeDocument/2006/relationships/image" Target="../media/image180.png"/><Relationship Id="rId4" Type="http://schemas.openxmlformats.org/officeDocument/2006/relationships/image" Target="../media/image179.png"/></Relationships>
</file>

<file path=ppt/slides/_rels/slide75.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image" Target="../media/image183.png"/><Relationship Id="rId1" Type="http://schemas.openxmlformats.org/officeDocument/2006/relationships/slideLayout" Target="../slideLayouts/slideLayout7.xml"/><Relationship Id="rId5" Type="http://schemas.openxmlformats.org/officeDocument/2006/relationships/image" Target="../media/image175.png"/><Relationship Id="rId4" Type="http://schemas.openxmlformats.org/officeDocument/2006/relationships/image" Target="../media/image18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187.png"/><Relationship Id="rId7" Type="http://schemas.openxmlformats.org/officeDocument/2006/relationships/image" Target="../media/image18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88.png"/><Relationship Id="rId5" Type="http://schemas.openxmlformats.org/officeDocument/2006/relationships/image" Target="../media/image186.png"/><Relationship Id="rId4" Type="http://schemas.openxmlformats.org/officeDocument/2006/relationships/image" Target="../media/image177.png"/><Relationship Id="rId9" Type="http://schemas.openxmlformats.org/officeDocument/2006/relationships/image" Target="../media/image191.png"/></Relationships>
</file>

<file path=ppt/slides/_rels/slide78.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image" Target="../media/image195.png"/><Relationship Id="rId1" Type="http://schemas.openxmlformats.org/officeDocument/2006/relationships/slideLayout" Target="../slideLayouts/slideLayout7.xml"/><Relationship Id="rId6" Type="http://schemas.openxmlformats.org/officeDocument/2006/relationships/image" Target="../media/image199.png"/><Relationship Id="rId5" Type="http://schemas.openxmlformats.org/officeDocument/2006/relationships/image" Target="../media/image193.png"/><Relationship Id="rId4" Type="http://schemas.openxmlformats.org/officeDocument/2006/relationships/image" Target="../media/image192.png"/></Relationships>
</file>

<file path=ppt/slides/_rels/slide79.xml.rels><?xml version="1.0" encoding="UTF-8" standalone="yes"?>
<Relationships xmlns="http://schemas.openxmlformats.org/package/2006/relationships"><Relationship Id="rId8" Type="http://schemas.openxmlformats.org/officeDocument/2006/relationships/image" Target="../media/image202.png"/><Relationship Id="rId3" Type="http://schemas.openxmlformats.org/officeDocument/2006/relationships/image" Target="../media/image201.png"/><Relationship Id="rId7" Type="http://schemas.openxmlformats.org/officeDocument/2006/relationships/image" Target="../media/image205.png"/><Relationship Id="rId2" Type="http://schemas.openxmlformats.org/officeDocument/2006/relationships/image" Target="../media/image200.png"/><Relationship Id="rId1" Type="http://schemas.openxmlformats.org/officeDocument/2006/relationships/slideLayout" Target="../slideLayouts/slideLayout7.xml"/><Relationship Id="rId6" Type="http://schemas.openxmlformats.org/officeDocument/2006/relationships/image" Target="../media/image198.png"/><Relationship Id="rId5" Type="http://schemas.openxmlformats.org/officeDocument/2006/relationships/image" Target="../media/image197.png"/><Relationship Id="rId4" Type="http://schemas.openxmlformats.org/officeDocument/2006/relationships/image" Target="../media/image194.png"/></Relationships>
</file>

<file path=ppt/slides/_rels/slide80.xml.rels><?xml version="1.0" encoding="UTF-8" standalone="yes"?>
<Relationships xmlns="http://schemas.openxmlformats.org/package/2006/relationships"><Relationship Id="rId3" Type="http://schemas.openxmlformats.org/officeDocument/2006/relationships/image" Target="../media/image207.png"/><Relationship Id="rId7" Type="http://schemas.openxmlformats.org/officeDocument/2006/relationships/image" Target="../media/image204.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10.png"/><Relationship Id="rId5" Type="http://schemas.openxmlformats.org/officeDocument/2006/relationships/image" Target="../media/image203.png"/><Relationship Id="rId4" Type="http://schemas.openxmlformats.org/officeDocument/2006/relationships/image" Target="../media/image20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06.png"/><Relationship Id="rId1" Type="http://schemas.openxmlformats.org/officeDocument/2006/relationships/slideLayout" Target="../slideLayouts/slideLayout7.xml"/><Relationship Id="rId4" Type="http://schemas.openxmlformats.org/officeDocument/2006/relationships/image" Target="../media/image209.png"/></Relationships>
</file>

<file path=ppt/slides/_rels/slide83.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image" Target="../media/image212.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image" Target="../media/image218.png"/><Relationship Id="rId1" Type="http://schemas.openxmlformats.org/officeDocument/2006/relationships/slideLayout" Target="../slideLayouts/slideLayout7.xml"/><Relationship Id="rId5" Type="http://schemas.openxmlformats.org/officeDocument/2006/relationships/image" Target="../media/image216.png"/><Relationship Id="rId4" Type="http://schemas.openxmlformats.org/officeDocument/2006/relationships/image" Target="../media/image215.png"/></Relationships>
</file>

<file path=ppt/slides/_rels/slide86.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image" Target="../media/image222.png"/><Relationship Id="rId1" Type="http://schemas.openxmlformats.org/officeDocument/2006/relationships/slideLayout" Target="../slideLayouts/slideLayout7.xml"/><Relationship Id="rId4" Type="http://schemas.openxmlformats.org/officeDocument/2006/relationships/image" Target="../media/image220.png"/></Relationships>
</file>

<file path=ppt/slides/_rels/slide87.xml.rels><?xml version="1.0" encoding="UTF-8" standalone="yes"?>
<Relationships xmlns="http://schemas.openxmlformats.org/package/2006/relationships"><Relationship Id="rId8" Type="http://schemas.openxmlformats.org/officeDocument/2006/relationships/image" Target="../media/image231.png"/><Relationship Id="rId3" Type="http://schemas.openxmlformats.org/officeDocument/2006/relationships/image" Target="../media/image226.png"/><Relationship Id="rId7" Type="http://schemas.openxmlformats.org/officeDocument/2006/relationships/image" Target="../media/image230.png"/><Relationship Id="rId2" Type="http://schemas.openxmlformats.org/officeDocument/2006/relationships/image" Target="../media/image225.png"/><Relationship Id="rId1" Type="http://schemas.openxmlformats.org/officeDocument/2006/relationships/slideLayout" Target="../slideLayouts/slideLayout7.xml"/><Relationship Id="rId6" Type="http://schemas.openxmlformats.org/officeDocument/2006/relationships/image" Target="../media/image223.png"/><Relationship Id="rId5" Type="http://schemas.openxmlformats.org/officeDocument/2006/relationships/image" Target="../media/image228.png"/><Relationship Id="rId4" Type="http://schemas.openxmlformats.org/officeDocument/2006/relationships/image" Target="../media/image227.png"/></Relationships>
</file>

<file path=ppt/slides/_rels/slide88.xml.rels><?xml version="1.0" encoding="UTF-8" standalone="yes"?>
<Relationships xmlns="http://schemas.openxmlformats.org/package/2006/relationships"><Relationship Id="rId3" Type="http://schemas.openxmlformats.org/officeDocument/2006/relationships/image" Target="../media/image224.png"/><Relationship Id="rId2" Type="http://schemas.openxmlformats.org/officeDocument/2006/relationships/image" Target="../media/image221.png"/><Relationship Id="rId1" Type="http://schemas.openxmlformats.org/officeDocument/2006/relationships/slideLayout" Target="../slideLayouts/slideLayout7.xml"/><Relationship Id="rId4" Type="http://schemas.openxmlformats.org/officeDocument/2006/relationships/image" Target="../media/image234.png"/></Relationships>
</file>

<file path=ppt/slides/_rels/slide89.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image" Target="../media/image232.png"/><Relationship Id="rId1" Type="http://schemas.openxmlformats.org/officeDocument/2006/relationships/slideLayout" Target="../slideLayouts/slideLayout7.xml"/><Relationship Id="rId6" Type="http://schemas.openxmlformats.org/officeDocument/2006/relationships/image" Target="../media/image236.png"/><Relationship Id="rId5" Type="http://schemas.openxmlformats.org/officeDocument/2006/relationships/image" Target="../media/image235.png"/><Relationship Id="rId4" Type="http://schemas.openxmlformats.org/officeDocument/2006/relationships/image" Target="../media/image233.png"/></Relationships>
</file>

<file path=ppt/slides/_rels/slide90.xml.rels><?xml version="1.0" encoding="UTF-8" standalone="yes"?>
<Relationships xmlns="http://schemas.openxmlformats.org/package/2006/relationships"><Relationship Id="rId3" Type="http://schemas.openxmlformats.org/officeDocument/2006/relationships/image" Target="../media/image237.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40.png"/><Relationship Id="rId5" Type="http://schemas.openxmlformats.org/officeDocument/2006/relationships/image" Target="../media/image239.png"/><Relationship Id="rId4" Type="http://schemas.openxmlformats.org/officeDocument/2006/relationships/image" Target="../media/image23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430.png"/><Relationship Id="rId5" Type="http://schemas.openxmlformats.org/officeDocument/2006/relationships/image" Target="../media/image243.png"/><Relationship Id="rId4" Type="http://schemas.openxmlformats.org/officeDocument/2006/relationships/image" Target="../media/image242.png"/></Relationships>
</file>

<file path=ppt/slides/_rels/slide93.xml.rels><?xml version="1.0" encoding="UTF-8" standalone="yes"?>
<Relationships xmlns="http://schemas.openxmlformats.org/package/2006/relationships"><Relationship Id="rId2" Type="http://schemas.openxmlformats.org/officeDocument/2006/relationships/image" Target="../media/image244.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48.png"/><Relationship Id="rId5" Type="http://schemas.openxmlformats.org/officeDocument/2006/relationships/image" Target="../media/image247.png"/><Relationship Id="rId4" Type="http://schemas.openxmlformats.org/officeDocument/2006/relationships/image" Target="../media/image246.png"/></Relationships>
</file>

<file path=ppt/slides/_rels/slide95.xml.rels><?xml version="1.0" encoding="UTF-8" standalone="yes"?>
<Relationships xmlns="http://schemas.openxmlformats.org/package/2006/relationships"><Relationship Id="rId8" Type="http://schemas.openxmlformats.org/officeDocument/2006/relationships/image" Target="../media/image254.png"/><Relationship Id="rId3" Type="http://schemas.openxmlformats.org/officeDocument/2006/relationships/image" Target="../media/image249.png"/><Relationship Id="rId7" Type="http://schemas.openxmlformats.org/officeDocument/2006/relationships/image" Target="../media/image253.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52.png"/><Relationship Id="rId5" Type="http://schemas.openxmlformats.org/officeDocument/2006/relationships/image" Target="../media/image251.png"/><Relationship Id="rId4" Type="http://schemas.openxmlformats.org/officeDocument/2006/relationships/image" Target="../media/image250.png"/></Relationships>
</file>

<file path=ppt/slides/_rels/slide96.xml.rels><?xml version="1.0" encoding="UTF-8" standalone="yes"?>
<Relationships xmlns="http://schemas.openxmlformats.org/package/2006/relationships"><Relationship Id="rId3" Type="http://schemas.openxmlformats.org/officeDocument/2006/relationships/image" Target="../media/image256.png"/><Relationship Id="rId2" Type="http://schemas.openxmlformats.org/officeDocument/2006/relationships/image" Target="../media/image255.png"/><Relationship Id="rId1" Type="http://schemas.openxmlformats.org/officeDocument/2006/relationships/slideLayout" Target="../slideLayouts/slideLayout7.xml"/><Relationship Id="rId6" Type="http://schemas.openxmlformats.org/officeDocument/2006/relationships/image" Target="../media/image259.png"/><Relationship Id="rId5" Type="http://schemas.openxmlformats.org/officeDocument/2006/relationships/image" Target="../media/image258.png"/><Relationship Id="rId4" Type="http://schemas.openxmlformats.org/officeDocument/2006/relationships/image" Target="../media/image257.png"/></Relationships>
</file>

<file path=ppt/slides/_rels/slide97.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image" Target="../media/image260.png"/><Relationship Id="rId1" Type="http://schemas.openxmlformats.org/officeDocument/2006/relationships/slideLayout" Target="../slideLayouts/slideLayout7.xml"/><Relationship Id="rId4" Type="http://schemas.openxmlformats.org/officeDocument/2006/relationships/image" Target="../media/image262.png"/></Relationships>
</file>

<file path=ppt/slides/_rels/slide98.xml.rels><?xml version="1.0" encoding="UTF-8" standalone="yes"?>
<Relationships xmlns="http://schemas.openxmlformats.org/package/2006/relationships"><Relationship Id="rId3" Type="http://schemas.openxmlformats.org/officeDocument/2006/relationships/image" Target="../media/image264.png"/><Relationship Id="rId2" Type="http://schemas.openxmlformats.org/officeDocument/2006/relationships/image" Target="../media/image263.png"/><Relationship Id="rId1" Type="http://schemas.openxmlformats.org/officeDocument/2006/relationships/slideLayout" Target="../slideLayouts/slideLayout7.xml"/><Relationship Id="rId5" Type="http://schemas.openxmlformats.org/officeDocument/2006/relationships/image" Target="../media/image266.png"/><Relationship Id="rId4" Type="http://schemas.openxmlformats.org/officeDocument/2006/relationships/image" Target="../media/image265.png"/></Relationships>
</file>

<file path=ppt/slides/_rels/slide99.xml.rels><?xml version="1.0" encoding="UTF-8" standalone="yes"?>
<Relationships xmlns="http://schemas.openxmlformats.org/package/2006/relationships"><Relationship Id="rId8" Type="http://schemas.openxmlformats.org/officeDocument/2006/relationships/image" Target="../media/image273.png"/><Relationship Id="rId3" Type="http://schemas.openxmlformats.org/officeDocument/2006/relationships/image" Target="../media/image268.png"/><Relationship Id="rId7" Type="http://schemas.openxmlformats.org/officeDocument/2006/relationships/image" Target="../media/image272.png"/><Relationship Id="rId2" Type="http://schemas.openxmlformats.org/officeDocument/2006/relationships/image" Target="../media/image267.png"/><Relationship Id="rId1" Type="http://schemas.openxmlformats.org/officeDocument/2006/relationships/slideLayout" Target="../slideLayouts/slideLayout7.xml"/><Relationship Id="rId6" Type="http://schemas.openxmlformats.org/officeDocument/2006/relationships/image" Target="../media/image271.png"/><Relationship Id="rId5" Type="http://schemas.openxmlformats.org/officeDocument/2006/relationships/image" Target="../media/image270.png"/><Relationship Id="rId4" Type="http://schemas.openxmlformats.org/officeDocument/2006/relationships/image" Target="../media/image269.png"/></Relationships>
</file>

<file path=ppt/slides/_rels/slide100.xml.rels><?xml version="1.0" encoding="UTF-8" standalone="yes"?>
<Relationships xmlns="http://schemas.openxmlformats.org/package/2006/relationships"><Relationship Id="rId3" Type="http://schemas.openxmlformats.org/officeDocument/2006/relationships/image" Target="../media/image275.png"/><Relationship Id="rId2" Type="http://schemas.openxmlformats.org/officeDocument/2006/relationships/image" Target="../media/image274.png"/><Relationship Id="rId1" Type="http://schemas.openxmlformats.org/officeDocument/2006/relationships/slideLayout" Target="../slideLayouts/slideLayout7.xml"/><Relationship Id="rId5" Type="http://schemas.openxmlformats.org/officeDocument/2006/relationships/image" Target="../media/image277.png"/><Relationship Id="rId4" Type="http://schemas.openxmlformats.org/officeDocument/2006/relationships/image" Target="../media/image276.png"/></Relationships>
</file>

<file path=ppt/slides/_rels/slide101.xml.rels><?xml version="1.0" encoding="UTF-8" standalone="yes"?>
<Relationships xmlns="http://schemas.openxmlformats.org/package/2006/relationships"><Relationship Id="rId3" Type="http://schemas.openxmlformats.org/officeDocument/2006/relationships/image" Target="../media/image278.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81.png"/><Relationship Id="rId5" Type="http://schemas.openxmlformats.org/officeDocument/2006/relationships/image" Target="../media/image280.png"/><Relationship Id="rId4" Type="http://schemas.openxmlformats.org/officeDocument/2006/relationships/image" Target="../media/image279.png"/></Relationships>
</file>

<file path=ppt/slides/_rels/slide102.xml.rels><?xml version="1.0" encoding="UTF-8" standalone="yes"?>
<Relationships xmlns="http://schemas.openxmlformats.org/package/2006/relationships"><Relationship Id="rId3" Type="http://schemas.openxmlformats.org/officeDocument/2006/relationships/image" Target="../media/image283.png"/><Relationship Id="rId2" Type="http://schemas.openxmlformats.org/officeDocument/2006/relationships/image" Target="../media/image282.png"/><Relationship Id="rId1" Type="http://schemas.openxmlformats.org/officeDocument/2006/relationships/slideLayout" Target="../slideLayouts/slideLayout7.xml"/><Relationship Id="rId5" Type="http://schemas.openxmlformats.org/officeDocument/2006/relationships/image" Target="../media/image285.png"/><Relationship Id="rId4" Type="http://schemas.openxmlformats.org/officeDocument/2006/relationships/image" Target="../media/image284.png"/></Relationships>
</file>

<file path=ppt/slides/_rels/slide103.xml.rels><?xml version="1.0" encoding="UTF-8" standalone="yes"?>
<Relationships xmlns="http://schemas.openxmlformats.org/package/2006/relationships"><Relationship Id="rId3" Type="http://schemas.openxmlformats.org/officeDocument/2006/relationships/image" Target="../media/image287.png"/><Relationship Id="rId2" Type="http://schemas.openxmlformats.org/officeDocument/2006/relationships/image" Target="../media/image286.png"/><Relationship Id="rId1" Type="http://schemas.openxmlformats.org/officeDocument/2006/relationships/slideLayout" Target="../slideLayouts/slideLayout7.xml"/><Relationship Id="rId5" Type="http://schemas.openxmlformats.org/officeDocument/2006/relationships/image" Target="../media/image289.png"/><Relationship Id="rId4" Type="http://schemas.openxmlformats.org/officeDocument/2006/relationships/image" Target="../media/image288.png"/></Relationships>
</file>

<file path=ppt/slides/_rels/slide104.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image" Target="../media/image290.png"/><Relationship Id="rId1" Type="http://schemas.openxmlformats.org/officeDocument/2006/relationships/slideLayout" Target="../slideLayouts/slideLayout7.xml"/><Relationship Id="rId5" Type="http://schemas.openxmlformats.org/officeDocument/2006/relationships/image" Target="../media/image293.png"/><Relationship Id="rId4" Type="http://schemas.openxmlformats.org/officeDocument/2006/relationships/image" Target="../media/image292.png"/></Relationships>
</file>

<file path=ppt/slides/_rels/slide105.xml.rels><?xml version="1.0" encoding="UTF-8" standalone="yes"?>
<Relationships xmlns="http://schemas.openxmlformats.org/package/2006/relationships"><Relationship Id="rId3" Type="http://schemas.openxmlformats.org/officeDocument/2006/relationships/image" Target="../media/image295.png"/><Relationship Id="rId2" Type="http://schemas.openxmlformats.org/officeDocument/2006/relationships/image" Target="../media/image294.png"/><Relationship Id="rId1" Type="http://schemas.openxmlformats.org/officeDocument/2006/relationships/slideLayout" Target="../slideLayouts/slideLayout7.xml"/><Relationship Id="rId5" Type="http://schemas.openxmlformats.org/officeDocument/2006/relationships/image" Target="../media/image297.png"/><Relationship Id="rId4" Type="http://schemas.openxmlformats.org/officeDocument/2006/relationships/image" Target="../media/image296.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2970.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299.png"/><Relationship Id="rId2" Type="http://schemas.openxmlformats.org/officeDocument/2006/relationships/image" Target="../media/image298.png"/><Relationship Id="rId1" Type="http://schemas.openxmlformats.org/officeDocument/2006/relationships/slideLayout" Target="../slideLayouts/slideLayout7.xml"/><Relationship Id="rId6" Type="http://schemas.openxmlformats.org/officeDocument/2006/relationships/image" Target="../media/image302.png"/><Relationship Id="rId5" Type="http://schemas.openxmlformats.org/officeDocument/2006/relationships/image" Target="../media/image301.png"/><Relationship Id="rId4" Type="http://schemas.openxmlformats.org/officeDocument/2006/relationships/image" Target="../media/image300.png"/></Relationships>
</file>

<file path=ppt/slides/_rels/slide110.xml.rels><?xml version="1.0" encoding="UTF-8" standalone="yes"?>
<Relationships xmlns="http://schemas.openxmlformats.org/package/2006/relationships"><Relationship Id="rId3" Type="http://schemas.openxmlformats.org/officeDocument/2006/relationships/image" Target="../media/image304.png"/><Relationship Id="rId2" Type="http://schemas.openxmlformats.org/officeDocument/2006/relationships/image" Target="../media/image303.png"/><Relationship Id="rId1" Type="http://schemas.openxmlformats.org/officeDocument/2006/relationships/slideLayout" Target="../slideLayouts/slideLayout7.xml"/><Relationship Id="rId6" Type="http://schemas.openxmlformats.org/officeDocument/2006/relationships/image" Target="../media/image307.png"/><Relationship Id="rId5" Type="http://schemas.openxmlformats.org/officeDocument/2006/relationships/image" Target="../media/image306.png"/><Relationship Id="rId4" Type="http://schemas.openxmlformats.org/officeDocument/2006/relationships/image" Target="../media/image305.png"/></Relationships>
</file>

<file path=ppt/slides/_rels/slide111.xml.rels><?xml version="1.0" encoding="UTF-8" standalone="yes"?>
<Relationships xmlns="http://schemas.openxmlformats.org/package/2006/relationships"><Relationship Id="rId3" Type="http://schemas.openxmlformats.org/officeDocument/2006/relationships/image" Target="../media/image309.png"/><Relationship Id="rId2" Type="http://schemas.openxmlformats.org/officeDocument/2006/relationships/image" Target="../media/image308.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311.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8" Type="http://schemas.openxmlformats.org/officeDocument/2006/relationships/image" Target="../media/image1610.png"/><Relationship Id="rId3" Type="http://schemas.openxmlformats.org/officeDocument/2006/relationships/image" Target="../media/image313.png"/><Relationship Id="rId7" Type="http://schemas.openxmlformats.org/officeDocument/2006/relationships/image" Target="../media/image1600.png"/><Relationship Id="rId2" Type="http://schemas.openxmlformats.org/officeDocument/2006/relationships/image" Target="../media/image312.png"/><Relationship Id="rId1" Type="http://schemas.openxmlformats.org/officeDocument/2006/relationships/slideLayout" Target="../slideLayouts/slideLayout7.xml"/><Relationship Id="rId6" Type="http://schemas.openxmlformats.org/officeDocument/2006/relationships/image" Target="../media/image1590.png"/><Relationship Id="rId5" Type="http://schemas.openxmlformats.org/officeDocument/2006/relationships/image" Target="../media/image315.png"/><Relationship Id="rId4" Type="http://schemas.openxmlformats.org/officeDocument/2006/relationships/image" Target="../media/image314.png"/><Relationship Id="rId9" Type="http://schemas.openxmlformats.org/officeDocument/2006/relationships/image" Target="../media/image1620.png"/></Relationships>
</file>

<file path=ppt/slides/_rels/slide115.xml.rels><?xml version="1.0" encoding="UTF-8" standalone="yes"?>
<Relationships xmlns="http://schemas.openxmlformats.org/package/2006/relationships"><Relationship Id="rId3" Type="http://schemas.openxmlformats.org/officeDocument/2006/relationships/image" Target="../media/image1600.png"/><Relationship Id="rId2" Type="http://schemas.openxmlformats.org/officeDocument/2006/relationships/image" Target="../media/image1590.png"/><Relationship Id="rId1" Type="http://schemas.openxmlformats.org/officeDocument/2006/relationships/slideLayout" Target="../slideLayouts/slideLayout7.xml"/><Relationship Id="rId5" Type="http://schemas.openxmlformats.org/officeDocument/2006/relationships/image" Target="../media/image317.png"/><Relationship Id="rId4" Type="http://schemas.openxmlformats.org/officeDocument/2006/relationships/image" Target="../media/image316.png"/></Relationships>
</file>

<file path=ppt/slides/_rels/slide116.xml.rels><?xml version="1.0" encoding="UTF-8" standalone="yes"?>
<Relationships xmlns="http://schemas.openxmlformats.org/package/2006/relationships"><Relationship Id="rId3" Type="http://schemas.openxmlformats.org/officeDocument/2006/relationships/image" Target="../media/image319.png"/><Relationship Id="rId2" Type="http://schemas.openxmlformats.org/officeDocument/2006/relationships/image" Target="../media/image318.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321.png"/><Relationship Id="rId2" Type="http://schemas.openxmlformats.org/officeDocument/2006/relationships/image" Target="../media/image320.png"/><Relationship Id="rId1" Type="http://schemas.openxmlformats.org/officeDocument/2006/relationships/slideLayout" Target="../slideLayouts/slideLayout7.xml"/><Relationship Id="rId4" Type="http://schemas.openxmlformats.org/officeDocument/2006/relationships/image" Target="../media/image322.png"/></Relationships>
</file>

<file path=ppt/slides/_rels/slide118.xml.rels><?xml version="1.0" encoding="UTF-8" standalone="yes"?>
<Relationships xmlns="http://schemas.openxmlformats.org/package/2006/relationships"><Relationship Id="rId3" Type="http://schemas.openxmlformats.org/officeDocument/2006/relationships/image" Target="../media/image324.png"/><Relationship Id="rId7" Type="http://schemas.openxmlformats.org/officeDocument/2006/relationships/image" Target="../media/image1730.png"/><Relationship Id="rId2" Type="http://schemas.openxmlformats.org/officeDocument/2006/relationships/image" Target="../media/image323.png"/><Relationship Id="rId1" Type="http://schemas.openxmlformats.org/officeDocument/2006/relationships/slideLayout" Target="../slideLayouts/slideLayout7.xml"/><Relationship Id="rId6" Type="http://schemas.openxmlformats.org/officeDocument/2006/relationships/image" Target="../media/image1720.png"/><Relationship Id="rId5" Type="http://schemas.openxmlformats.org/officeDocument/2006/relationships/image" Target="../media/image1710.png"/><Relationship Id="rId4" Type="http://schemas.openxmlformats.org/officeDocument/2006/relationships/image" Target="../media/image325.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1737360"/>
          </a:xfrm>
          <a:prstGeom prst="rect">
            <a:avLst/>
          </a:prstGeom>
          <a:solidFill>
            <a:srgbClr val="1A386B"/>
          </a:solidFill>
          <a:ln w="12700">
            <a:solidFill>
              <a:srgbClr val="1A386B"/>
            </a:solidFill>
            <a:prstDash val="solid"/>
          </a:ln>
        </p:spPr>
      </p:sp>
      <p:sp>
        <p:nvSpPr>
          <p:cNvPr id="3" name="Shape 1"/>
          <p:cNvSpPr/>
          <p:nvPr/>
        </p:nvSpPr>
        <p:spPr>
          <a:xfrm>
            <a:off x="0" y="1737360"/>
            <a:ext cx="12192000" cy="73152"/>
          </a:xfrm>
          <a:prstGeom prst="rect">
            <a:avLst/>
          </a:prstGeom>
          <a:solidFill>
            <a:srgbClr val="C0392B"/>
          </a:solidFill>
          <a:ln w="12700">
            <a:solidFill>
              <a:srgbClr val="C0392B"/>
            </a:solidFill>
            <a:prstDash val="solid"/>
          </a:ln>
        </p:spPr>
      </p:sp>
      <p:sp>
        <p:nvSpPr>
          <p:cNvPr id="4" name="Shape 2"/>
          <p:cNvSpPr/>
          <p:nvPr/>
        </p:nvSpPr>
        <p:spPr>
          <a:xfrm>
            <a:off x="0" y="5852160"/>
            <a:ext cx="12192000" cy="1005840"/>
          </a:xfrm>
          <a:prstGeom prst="rect">
            <a:avLst/>
          </a:prstGeom>
          <a:solidFill>
            <a:srgbClr val="1A386B"/>
          </a:solidFill>
          <a:ln w="12700">
            <a:solidFill>
              <a:srgbClr val="1A386B"/>
            </a:solidFill>
            <a:prstDash val="solid"/>
          </a:ln>
        </p:spPr>
      </p:sp>
      <p:sp>
        <p:nvSpPr>
          <p:cNvPr id="5" name="Text 3"/>
          <p:cNvSpPr/>
          <p:nvPr/>
        </p:nvSpPr>
        <p:spPr>
          <a:xfrm>
            <a:off x="457200" y="91440"/>
            <a:ext cx="11247120" cy="502920"/>
          </a:xfrm>
          <a:prstGeom prst="rect">
            <a:avLst/>
          </a:prstGeom>
          <a:noFill/>
          <a:ln/>
        </p:spPr>
        <p:txBody>
          <a:bodyPr wrap="square" rtlCol="0" anchor="ctr"/>
          <a:lstStyle/>
          <a:p>
            <a:pPr marL="0" indent="0" algn="ctr">
              <a:buNone/>
            </a:pPr>
            <a:r>
              <a:rPr lang="en-US" sz="1500" dirty="0">
                <a:solidFill>
                  <a:srgbClr val="9EC5F5"/>
                </a:solidFill>
                <a:latin typeface="Calibri" pitchFamily="34" charset="0"/>
                <a:ea typeface="Calibri" pitchFamily="34" charset="-122"/>
                <a:cs typeface="Calibri" pitchFamily="34" charset="-120"/>
              </a:rPr>
              <a:t>Automática y Máquinas Eléctricas</a:t>
            </a:r>
            <a:endParaRPr lang="en-US" sz="1500" dirty="0"/>
          </a:p>
        </p:txBody>
      </p:sp>
      <p:sp>
        <p:nvSpPr>
          <p:cNvPr id="6" name="Text 4"/>
          <p:cNvSpPr/>
          <p:nvPr/>
        </p:nvSpPr>
        <p:spPr>
          <a:xfrm>
            <a:off x="457200" y="566928"/>
            <a:ext cx="11247120" cy="594360"/>
          </a:xfrm>
          <a:prstGeom prst="rect">
            <a:avLst/>
          </a:prstGeom>
          <a:noFill/>
          <a:ln/>
        </p:spPr>
        <p:txBody>
          <a:bodyPr wrap="square" rtlCol="0" anchor="ctr"/>
          <a:lstStyle/>
          <a:p>
            <a:pPr marL="0" indent="0" algn="ctr">
              <a:buNone/>
            </a:pPr>
            <a:r>
              <a:rPr lang="en-US" sz="2300" b="1" dirty="0">
                <a:solidFill>
                  <a:srgbClr val="FFFFFF"/>
                </a:solidFill>
                <a:latin typeface="Calibri" pitchFamily="34" charset="0"/>
                <a:ea typeface="Calibri" pitchFamily="34" charset="-122"/>
                <a:cs typeface="Calibri" pitchFamily="34" charset="-120"/>
              </a:rPr>
              <a:t>Proyecto Global Integrador — 2025</a:t>
            </a:r>
            <a:endParaRPr lang="en-US" sz="2300" dirty="0"/>
          </a:p>
        </p:txBody>
      </p:sp>
      <p:sp>
        <p:nvSpPr>
          <p:cNvPr id="7" name="Text 5"/>
          <p:cNvSpPr/>
          <p:nvPr/>
        </p:nvSpPr>
        <p:spPr>
          <a:xfrm>
            <a:off x="457200" y="1133856"/>
            <a:ext cx="11247120" cy="502920"/>
          </a:xfrm>
          <a:prstGeom prst="rect">
            <a:avLst/>
          </a:prstGeom>
          <a:noFill/>
          <a:ln/>
        </p:spPr>
        <p:txBody>
          <a:bodyPr wrap="square" rtlCol="0" anchor="ctr"/>
          <a:lstStyle/>
          <a:p>
            <a:pPr marL="0" indent="0" algn="ctr">
              <a:buNone/>
            </a:pPr>
            <a:r>
              <a:rPr lang="en-US" sz="1400" dirty="0">
                <a:solidFill>
                  <a:srgbClr val="B0CBEE"/>
                </a:solidFill>
                <a:latin typeface="Calibri" pitchFamily="34" charset="0"/>
                <a:ea typeface="Calibri" pitchFamily="34" charset="-122"/>
                <a:cs typeface="Calibri" pitchFamily="34" charset="-120"/>
              </a:rPr>
              <a:t>UNCuyo — Ingeniería en Mecatrónica</a:t>
            </a:r>
            <a:endParaRPr lang="en-US" sz="1400" dirty="0"/>
          </a:p>
        </p:txBody>
      </p:sp>
      <p:sp>
        <p:nvSpPr>
          <p:cNvPr id="8" name="Text 6"/>
          <p:cNvSpPr/>
          <p:nvPr/>
        </p:nvSpPr>
        <p:spPr>
          <a:xfrm>
            <a:off x="914400" y="2057400"/>
            <a:ext cx="10332720" cy="1828800"/>
          </a:xfrm>
          <a:prstGeom prst="rect">
            <a:avLst/>
          </a:prstGeom>
          <a:noFill/>
          <a:ln/>
        </p:spPr>
        <p:txBody>
          <a:bodyPr wrap="square" rtlCol="0" anchor="ctr"/>
          <a:lstStyle/>
          <a:p>
            <a:pPr marL="0" indent="0" algn="ctr">
              <a:buNone/>
            </a:pPr>
            <a:r>
              <a:rPr lang="en-US" sz="3000" b="1" dirty="0">
                <a:solidFill>
                  <a:srgbClr val="1A386B"/>
                </a:solidFill>
                <a:latin typeface="Cambria" pitchFamily="34" charset="0"/>
                <a:ea typeface="Cambria" pitchFamily="34" charset="-122"/>
                <a:cs typeface="Cambria" pitchFamily="34" charset="-120"/>
              </a:rPr>
              <a:t>Control de Accionamiento de CA con</a:t>
            </a:r>
            <a:endParaRPr lang="en-US" sz="3000" dirty="0"/>
          </a:p>
          <a:p>
            <a:pPr marL="0" indent="0" algn="ctr">
              <a:buNone/>
            </a:pPr>
            <a:r>
              <a:rPr lang="en-US" sz="3000" b="1" dirty="0">
                <a:solidFill>
                  <a:srgbClr val="1A386B"/>
                </a:solidFill>
                <a:latin typeface="Cambria" pitchFamily="34" charset="0"/>
                <a:ea typeface="Cambria" pitchFamily="34" charset="-122"/>
                <a:cs typeface="Cambria" pitchFamily="34" charset="-120"/>
              </a:rPr>
              <a:t>Motor Síncrono de Imanes Permanentes (PMSM)</a:t>
            </a:r>
            <a:endParaRPr lang="en-US" sz="3000" dirty="0"/>
          </a:p>
        </p:txBody>
      </p:sp>
      <p:sp>
        <p:nvSpPr>
          <p:cNvPr id="10" name="Text 8"/>
          <p:cNvSpPr/>
          <p:nvPr/>
        </p:nvSpPr>
        <p:spPr>
          <a:xfrm>
            <a:off x="1371600" y="4114800"/>
            <a:ext cx="9418320" cy="502920"/>
          </a:xfrm>
          <a:prstGeom prst="rect">
            <a:avLst/>
          </a:prstGeom>
          <a:noFill/>
          <a:ln/>
        </p:spPr>
        <p:txBody>
          <a:bodyPr wrap="square" rtlCol="0" anchor="ctr"/>
          <a:lstStyle/>
          <a:p>
            <a:pPr marL="0" indent="0" algn="ctr">
              <a:buNone/>
            </a:pPr>
            <a:r>
              <a:rPr lang="en-US" sz="1600" dirty="0">
                <a:solidFill>
                  <a:srgbClr val="111111"/>
                </a:solidFill>
                <a:latin typeface="Calibri" pitchFamily="34" charset="0"/>
                <a:ea typeface="Calibri" pitchFamily="34" charset="-122"/>
                <a:cs typeface="Calibri" pitchFamily="34" charset="-120"/>
              </a:rPr>
              <a:t>Juan Stella  —  </a:t>
            </a:r>
            <a:r>
              <a:rPr lang="en-US" sz="1600" dirty="0" err="1">
                <a:solidFill>
                  <a:srgbClr val="111111"/>
                </a:solidFill>
                <a:latin typeface="Calibri" pitchFamily="34" charset="0"/>
                <a:ea typeface="Calibri" pitchFamily="34" charset="-122"/>
                <a:cs typeface="Calibri" pitchFamily="34" charset="-120"/>
              </a:rPr>
              <a:t>Legajo</a:t>
            </a:r>
            <a:r>
              <a:rPr lang="en-US" sz="1600" dirty="0">
                <a:solidFill>
                  <a:srgbClr val="111111"/>
                </a:solidFill>
                <a:latin typeface="Calibri" pitchFamily="34" charset="0"/>
                <a:ea typeface="Calibri" pitchFamily="34" charset="-122"/>
                <a:cs typeface="Calibri" pitchFamily="34" charset="-120"/>
              </a:rPr>
              <a:t>: 12552        Juan Francisco Huertas  —  </a:t>
            </a:r>
            <a:r>
              <a:rPr lang="en-US" sz="1600" dirty="0" err="1">
                <a:solidFill>
                  <a:srgbClr val="111111"/>
                </a:solidFill>
                <a:latin typeface="Calibri" pitchFamily="34" charset="0"/>
                <a:ea typeface="Calibri" pitchFamily="34" charset="-122"/>
                <a:cs typeface="Calibri" pitchFamily="34" charset="-120"/>
              </a:rPr>
              <a:t>Legajo</a:t>
            </a:r>
            <a:r>
              <a:rPr lang="en-US" sz="1600" dirty="0">
                <a:solidFill>
                  <a:srgbClr val="111111"/>
                </a:solidFill>
                <a:latin typeface="Calibri" pitchFamily="34" charset="0"/>
                <a:ea typeface="Calibri" pitchFamily="34" charset="-122"/>
                <a:cs typeface="Calibri" pitchFamily="34" charset="-120"/>
              </a:rPr>
              <a:t>: 12620</a:t>
            </a:r>
            <a:endParaRPr lang="en-US" sz="1600" dirty="0"/>
          </a:p>
        </p:txBody>
      </p:sp>
      <p:sp>
        <p:nvSpPr>
          <p:cNvPr id="11" name="Text 9"/>
          <p:cNvSpPr/>
          <p:nvPr/>
        </p:nvSpPr>
        <p:spPr>
          <a:xfrm>
            <a:off x="457200" y="5943600"/>
            <a:ext cx="11247120" cy="640080"/>
          </a:xfrm>
          <a:prstGeom prst="rect">
            <a:avLst/>
          </a:prstGeom>
          <a:noFill/>
          <a:ln/>
        </p:spPr>
        <p:txBody>
          <a:bodyPr wrap="square" rtlCol="0" anchor="ctr"/>
          <a:lstStyle/>
          <a:p>
            <a:pPr marL="0" indent="0" algn="ctr">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Contenidos</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Shape 5"/>
          <p:cNvSpPr/>
          <p:nvPr/>
        </p:nvSpPr>
        <p:spPr>
          <a:xfrm>
            <a:off x="365760" y="896112"/>
            <a:ext cx="411480" cy="411480"/>
          </a:xfrm>
          <a:prstGeom prst="ellipse">
            <a:avLst/>
          </a:prstGeom>
          <a:solidFill>
            <a:srgbClr val="1A386B"/>
          </a:solidFill>
          <a:ln w="12700">
            <a:solidFill>
              <a:srgbClr val="1A386B"/>
            </a:solidFill>
            <a:prstDash val="solid"/>
          </a:ln>
        </p:spPr>
      </p:sp>
      <p:sp>
        <p:nvSpPr>
          <p:cNvPr id="8" name="Text 6"/>
          <p:cNvSpPr/>
          <p:nvPr/>
        </p:nvSpPr>
        <p:spPr>
          <a:xfrm>
            <a:off x="365760" y="89611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845821" y="92354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Presentación del sistema físico</a:t>
            </a:r>
            <a:endParaRPr lang="en-US" sz="1200" dirty="0"/>
          </a:p>
        </p:txBody>
      </p:sp>
      <p:sp>
        <p:nvSpPr>
          <p:cNvPr id="11" name="Shape 9"/>
          <p:cNvSpPr/>
          <p:nvPr/>
        </p:nvSpPr>
        <p:spPr>
          <a:xfrm>
            <a:off x="365760" y="1600200"/>
            <a:ext cx="411480" cy="411480"/>
          </a:xfrm>
          <a:prstGeom prst="ellipse">
            <a:avLst/>
          </a:prstGeom>
          <a:solidFill>
            <a:srgbClr val="1A386B"/>
          </a:solidFill>
          <a:ln w="12700">
            <a:solidFill>
              <a:srgbClr val="1A386B"/>
            </a:solidFill>
            <a:prstDash val="solid"/>
          </a:ln>
        </p:spPr>
      </p:sp>
      <p:sp>
        <p:nvSpPr>
          <p:cNvPr id="12" name="Text 10"/>
          <p:cNvSpPr/>
          <p:nvPr/>
        </p:nvSpPr>
        <p:spPr>
          <a:xfrm>
            <a:off x="365760" y="160020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45821" y="163220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mecánico</a:t>
            </a:r>
            <a:endParaRPr lang="en-US" sz="1200" dirty="0"/>
          </a:p>
        </p:txBody>
      </p:sp>
      <p:sp>
        <p:nvSpPr>
          <p:cNvPr id="15" name="Shape 13"/>
          <p:cNvSpPr/>
          <p:nvPr/>
        </p:nvSpPr>
        <p:spPr>
          <a:xfrm>
            <a:off x="365760" y="2304288"/>
            <a:ext cx="411480" cy="411480"/>
          </a:xfrm>
          <a:prstGeom prst="ellipse">
            <a:avLst/>
          </a:prstGeom>
          <a:solidFill>
            <a:srgbClr val="1A386B"/>
          </a:solidFill>
          <a:ln w="12700">
            <a:solidFill>
              <a:srgbClr val="1A386B"/>
            </a:solidFill>
            <a:prstDash val="solid"/>
          </a:ln>
        </p:spPr>
      </p:sp>
      <p:sp>
        <p:nvSpPr>
          <p:cNvPr id="16" name="Text 14"/>
          <p:cNvSpPr/>
          <p:nvPr/>
        </p:nvSpPr>
        <p:spPr>
          <a:xfrm>
            <a:off x="365760" y="2304288"/>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845821" y="2350008"/>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electromagnético</a:t>
            </a:r>
            <a:endParaRPr lang="en-US" sz="1200" dirty="0"/>
          </a:p>
        </p:txBody>
      </p:sp>
      <p:sp>
        <p:nvSpPr>
          <p:cNvPr id="19" name="Shape 17"/>
          <p:cNvSpPr/>
          <p:nvPr/>
        </p:nvSpPr>
        <p:spPr>
          <a:xfrm>
            <a:off x="365760" y="3008376"/>
            <a:ext cx="411480" cy="411480"/>
          </a:xfrm>
          <a:prstGeom prst="ellipse">
            <a:avLst/>
          </a:prstGeom>
          <a:solidFill>
            <a:srgbClr val="1A386B"/>
          </a:solidFill>
          <a:ln w="12700">
            <a:solidFill>
              <a:srgbClr val="1A386B"/>
            </a:solidFill>
            <a:prstDash val="solid"/>
          </a:ln>
        </p:spPr>
      </p:sp>
      <p:sp>
        <p:nvSpPr>
          <p:cNvPr id="20" name="Text 18"/>
          <p:cNvSpPr/>
          <p:nvPr/>
        </p:nvSpPr>
        <p:spPr>
          <a:xfrm>
            <a:off x="365760" y="3008376"/>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9"/>
          <p:cNvSpPr/>
          <p:nvPr/>
        </p:nvSpPr>
        <p:spPr>
          <a:xfrm>
            <a:off x="845821" y="3067812"/>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térmico</a:t>
            </a:r>
            <a:endParaRPr lang="en-US" sz="1200" dirty="0"/>
          </a:p>
        </p:txBody>
      </p:sp>
      <p:sp>
        <p:nvSpPr>
          <p:cNvPr id="23" name="Shape 21"/>
          <p:cNvSpPr/>
          <p:nvPr/>
        </p:nvSpPr>
        <p:spPr>
          <a:xfrm>
            <a:off x="365760" y="3712464"/>
            <a:ext cx="411480" cy="411480"/>
          </a:xfrm>
          <a:prstGeom prst="ellipse">
            <a:avLst/>
          </a:prstGeom>
          <a:solidFill>
            <a:srgbClr val="1A386B"/>
          </a:solidFill>
          <a:ln w="12700">
            <a:solidFill>
              <a:srgbClr val="1A386B"/>
            </a:solidFill>
            <a:prstDash val="solid"/>
          </a:ln>
        </p:spPr>
      </p:sp>
      <p:sp>
        <p:nvSpPr>
          <p:cNvPr id="24" name="Text 22"/>
          <p:cNvSpPr/>
          <p:nvPr/>
        </p:nvSpPr>
        <p:spPr>
          <a:xfrm>
            <a:off x="365760" y="3712464"/>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5" name="Text 23"/>
          <p:cNvSpPr/>
          <p:nvPr/>
        </p:nvSpPr>
        <p:spPr>
          <a:xfrm>
            <a:off x="845821" y="3747215"/>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Modelo global NL → LPV → LTI equivalente</a:t>
            </a:r>
            <a:endParaRPr lang="en-US" sz="1200" dirty="0"/>
          </a:p>
        </p:txBody>
      </p:sp>
      <p:sp>
        <p:nvSpPr>
          <p:cNvPr id="27" name="Shape 25"/>
          <p:cNvSpPr/>
          <p:nvPr/>
        </p:nvSpPr>
        <p:spPr>
          <a:xfrm>
            <a:off x="365760" y="4416552"/>
            <a:ext cx="411480" cy="411480"/>
          </a:xfrm>
          <a:prstGeom prst="ellipse">
            <a:avLst/>
          </a:prstGeom>
          <a:solidFill>
            <a:srgbClr val="1A386B"/>
          </a:solidFill>
          <a:ln w="12700">
            <a:solidFill>
              <a:srgbClr val="1A386B"/>
            </a:solidFill>
            <a:prstDash val="solid"/>
          </a:ln>
        </p:spPr>
      </p:sp>
      <p:sp>
        <p:nvSpPr>
          <p:cNvPr id="28" name="Text 26"/>
          <p:cNvSpPr/>
          <p:nvPr/>
        </p:nvSpPr>
        <p:spPr>
          <a:xfrm>
            <a:off x="365760" y="441655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9" name="Text 27"/>
          <p:cNvSpPr/>
          <p:nvPr/>
        </p:nvSpPr>
        <p:spPr>
          <a:xfrm>
            <a:off x="845821" y="4469130"/>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Análisis del modelo LTI</a:t>
            </a:r>
            <a:endParaRPr lang="en-US" sz="1200" dirty="0"/>
          </a:p>
        </p:txBody>
      </p:sp>
      <p:sp>
        <p:nvSpPr>
          <p:cNvPr id="31" name="Shape 29"/>
          <p:cNvSpPr/>
          <p:nvPr/>
        </p:nvSpPr>
        <p:spPr>
          <a:xfrm>
            <a:off x="365760" y="5120640"/>
            <a:ext cx="411480" cy="411480"/>
          </a:xfrm>
          <a:prstGeom prst="ellipse">
            <a:avLst/>
          </a:prstGeom>
          <a:solidFill>
            <a:srgbClr val="1A386B"/>
          </a:solidFill>
          <a:ln w="12700">
            <a:solidFill>
              <a:srgbClr val="1A386B"/>
            </a:solidFill>
            <a:prstDash val="solid"/>
          </a:ln>
        </p:spPr>
      </p:sp>
      <p:sp>
        <p:nvSpPr>
          <p:cNvPr id="32" name="Text 30"/>
          <p:cNvSpPr/>
          <p:nvPr/>
        </p:nvSpPr>
        <p:spPr>
          <a:xfrm>
            <a:off x="365760" y="512064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3" name="Text 31"/>
          <p:cNvSpPr/>
          <p:nvPr/>
        </p:nvSpPr>
        <p:spPr>
          <a:xfrm>
            <a:off x="845821" y="517550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Respuesta dinámica a lazo abierto</a:t>
            </a:r>
            <a:endParaRPr lang="en-US" sz="1200" dirty="0"/>
          </a:p>
        </p:txBody>
      </p:sp>
      <p:sp>
        <p:nvSpPr>
          <p:cNvPr id="35" name="Shape 33"/>
          <p:cNvSpPr/>
          <p:nvPr/>
        </p:nvSpPr>
        <p:spPr>
          <a:xfrm>
            <a:off x="6355080" y="896112"/>
            <a:ext cx="411480" cy="411480"/>
          </a:xfrm>
          <a:prstGeom prst="ellipse">
            <a:avLst/>
          </a:prstGeom>
          <a:solidFill>
            <a:srgbClr val="1A386B"/>
          </a:solidFill>
          <a:ln w="12700">
            <a:solidFill>
              <a:srgbClr val="1A386B"/>
            </a:solidFill>
            <a:prstDash val="solid"/>
          </a:ln>
        </p:spPr>
      </p:sp>
      <p:sp>
        <p:nvSpPr>
          <p:cNvPr id="36" name="Text 34"/>
          <p:cNvSpPr/>
          <p:nvPr/>
        </p:nvSpPr>
        <p:spPr>
          <a:xfrm>
            <a:off x="6355080" y="89611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7" name="Text 35"/>
          <p:cNvSpPr/>
          <p:nvPr/>
        </p:nvSpPr>
        <p:spPr>
          <a:xfrm>
            <a:off x="6858000" y="878710"/>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Modulador de torque equivalente</a:t>
            </a:r>
            <a:endParaRPr lang="en-US" sz="1200" dirty="0"/>
          </a:p>
        </p:txBody>
      </p:sp>
      <p:sp>
        <p:nvSpPr>
          <p:cNvPr id="39" name="Shape 37"/>
          <p:cNvSpPr/>
          <p:nvPr/>
        </p:nvSpPr>
        <p:spPr>
          <a:xfrm>
            <a:off x="6355080" y="1600200"/>
            <a:ext cx="411480" cy="411480"/>
          </a:xfrm>
          <a:prstGeom prst="ellipse">
            <a:avLst/>
          </a:prstGeom>
          <a:solidFill>
            <a:srgbClr val="1A386B"/>
          </a:solidFill>
          <a:ln w="12700">
            <a:solidFill>
              <a:srgbClr val="1A386B"/>
            </a:solidFill>
            <a:prstDash val="solid"/>
          </a:ln>
        </p:spPr>
      </p:sp>
      <p:sp>
        <p:nvSpPr>
          <p:cNvPr id="40" name="Text 38"/>
          <p:cNvSpPr/>
          <p:nvPr/>
        </p:nvSpPr>
        <p:spPr>
          <a:xfrm>
            <a:off x="6355080" y="160020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1" name="Text 39"/>
          <p:cNvSpPr/>
          <p:nvPr/>
        </p:nvSpPr>
        <p:spPr>
          <a:xfrm>
            <a:off x="6858000" y="1585687"/>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Controlador externo PID + Observador</a:t>
            </a:r>
            <a:endParaRPr lang="en-US" sz="1200" dirty="0"/>
          </a:p>
        </p:txBody>
      </p:sp>
      <p:sp>
        <p:nvSpPr>
          <p:cNvPr id="43" name="Shape 41"/>
          <p:cNvSpPr/>
          <p:nvPr/>
        </p:nvSpPr>
        <p:spPr>
          <a:xfrm>
            <a:off x="6355080" y="2304288"/>
            <a:ext cx="411480" cy="411480"/>
          </a:xfrm>
          <a:prstGeom prst="ellipse">
            <a:avLst/>
          </a:prstGeom>
          <a:solidFill>
            <a:srgbClr val="1A386B"/>
          </a:solidFill>
          <a:ln w="12700">
            <a:solidFill>
              <a:srgbClr val="1A386B"/>
            </a:solidFill>
            <a:prstDash val="solid"/>
          </a:ln>
        </p:spPr>
      </p:sp>
      <p:sp>
        <p:nvSpPr>
          <p:cNvPr id="44" name="Text 42"/>
          <p:cNvSpPr/>
          <p:nvPr/>
        </p:nvSpPr>
        <p:spPr>
          <a:xfrm>
            <a:off x="6355080" y="2304288"/>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5" name="Text 43"/>
          <p:cNvSpPr/>
          <p:nvPr/>
        </p:nvSpPr>
        <p:spPr>
          <a:xfrm>
            <a:off x="6858000" y="2349211"/>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Simulación en tiempo continuo</a:t>
            </a:r>
            <a:endParaRPr lang="en-US" sz="1200" dirty="0"/>
          </a:p>
        </p:txBody>
      </p:sp>
      <p:sp>
        <p:nvSpPr>
          <p:cNvPr id="47" name="Shape 45"/>
          <p:cNvSpPr/>
          <p:nvPr/>
        </p:nvSpPr>
        <p:spPr>
          <a:xfrm>
            <a:off x="6355080" y="3008376"/>
            <a:ext cx="411480" cy="411480"/>
          </a:xfrm>
          <a:prstGeom prst="ellipse">
            <a:avLst/>
          </a:prstGeom>
          <a:solidFill>
            <a:srgbClr val="1A386B"/>
          </a:solidFill>
          <a:ln w="12700">
            <a:solidFill>
              <a:srgbClr val="1A386B"/>
            </a:solidFill>
            <a:prstDash val="solid"/>
          </a:ln>
        </p:spPr>
      </p:sp>
      <p:sp>
        <p:nvSpPr>
          <p:cNvPr id="48" name="Text 46"/>
          <p:cNvSpPr/>
          <p:nvPr/>
        </p:nvSpPr>
        <p:spPr>
          <a:xfrm>
            <a:off x="6355080" y="3008376"/>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49" name="Text 47"/>
          <p:cNvSpPr/>
          <p:nvPr/>
        </p:nvSpPr>
        <p:spPr>
          <a:xfrm>
            <a:off x="6858000" y="301889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Desempeño y mejoras</a:t>
            </a:r>
            <a:endParaRPr lang="en-US" sz="1200" dirty="0"/>
          </a:p>
        </p:txBody>
      </p:sp>
      <p:sp>
        <p:nvSpPr>
          <p:cNvPr id="51" name="Shape 49"/>
          <p:cNvSpPr/>
          <p:nvPr/>
        </p:nvSpPr>
        <p:spPr>
          <a:xfrm>
            <a:off x="6355080" y="3712464"/>
            <a:ext cx="411480" cy="411480"/>
          </a:xfrm>
          <a:prstGeom prst="ellipse">
            <a:avLst/>
          </a:prstGeom>
          <a:solidFill>
            <a:srgbClr val="1A386B"/>
          </a:solidFill>
          <a:ln w="12700">
            <a:solidFill>
              <a:srgbClr val="1A386B"/>
            </a:solidFill>
            <a:prstDash val="solid"/>
          </a:ln>
        </p:spPr>
      </p:sp>
      <p:sp>
        <p:nvSpPr>
          <p:cNvPr id="52" name="Text 50"/>
          <p:cNvSpPr/>
          <p:nvPr/>
        </p:nvSpPr>
        <p:spPr>
          <a:xfrm>
            <a:off x="6355080" y="3712464"/>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53" name="Text 51"/>
          <p:cNvSpPr/>
          <p:nvPr/>
        </p:nvSpPr>
        <p:spPr>
          <a:xfrm>
            <a:off x="6858000" y="3747215"/>
            <a:ext cx="5394960" cy="347472"/>
          </a:xfrm>
          <a:prstGeom prst="rect">
            <a:avLst/>
          </a:prstGeom>
          <a:noFill/>
          <a:ln/>
        </p:spPr>
        <p:txBody>
          <a:bodyPr wrap="square" rtlCol="0" anchor="ctr"/>
          <a:lstStyle/>
          <a:p>
            <a:pPr marL="0" indent="0">
              <a:buNone/>
            </a:pPr>
            <a:r>
              <a:rPr lang="es-AR" sz="1200" b="1" dirty="0">
                <a:solidFill>
                  <a:srgbClr val="1A386B"/>
                </a:solidFill>
                <a:latin typeface="Calibri" pitchFamily="34" charset="0"/>
                <a:ea typeface="Calibri" pitchFamily="34" charset="-122"/>
                <a:cs typeface="Calibri" pitchFamily="34" charset="-120"/>
              </a:rPr>
              <a:t>Diseño final y discretización </a:t>
            </a:r>
            <a:endParaRPr lang="es-AR" sz="1200" dirty="0"/>
          </a:p>
        </p:txBody>
      </p:sp>
      <p:sp>
        <p:nvSpPr>
          <p:cNvPr id="55" name="Shape 53"/>
          <p:cNvSpPr/>
          <p:nvPr/>
        </p:nvSpPr>
        <p:spPr>
          <a:xfrm>
            <a:off x="6355080" y="4416552"/>
            <a:ext cx="411480" cy="411480"/>
          </a:xfrm>
          <a:prstGeom prst="ellipse">
            <a:avLst/>
          </a:prstGeom>
          <a:solidFill>
            <a:srgbClr val="1A386B"/>
          </a:solidFill>
          <a:ln w="12700">
            <a:solidFill>
              <a:srgbClr val="1A386B"/>
            </a:solidFill>
            <a:prstDash val="solid"/>
          </a:ln>
        </p:spPr>
      </p:sp>
      <p:sp>
        <p:nvSpPr>
          <p:cNvPr id="56" name="Text 54"/>
          <p:cNvSpPr/>
          <p:nvPr/>
        </p:nvSpPr>
        <p:spPr>
          <a:xfrm>
            <a:off x="6355080" y="441655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57" name="Text 55"/>
          <p:cNvSpPr/>
          <p:nvPr/>
        </p:nvSpPr>
        <p:spPr>
          <a:xfrm>
            <a:off x="6858000" y="4455241"/>
            <a:ext cx="5394960" cy="347472"/>
          </a:xfrm>
          <a:prstGeom prst="rect">
            <a:avLst/>
          </a:prstGeom>
          <a:noFill/>
          <a:ln/>
        </p:spPr>
        <p:txBody>
          <a:bodyPr wrap="square" rtlCol="0" anchor="ctr"/>
          <a:lstStyle/>
          <a:p>
            <a:pPr marL="0" indent="0">
              <a:buNone/>
            </a:pPr>
            <a:r>
              <a:rPr lang="es-AR" sz="1200" b="1" dirty="0">
                <a:solidFill>
                  <a:srgbClr val="1A386B"/>
                </a:solidFill>
                <a:latin typeface="Calibri" pitchFamily="34" charset="0"/>
                <a:ea typeface="Calibri" pitchFamily="34" charset="-122"/>
                <a:cs typeface="Calibri" pitchFamily="34" charset="-120"/>
              </a:rPr>
              <a:t>Codificación</a:t>
            </a:r>
            <a:r>
              <a:rPr lang="en-US" sz="1200" b="1" dirty="0">
                <a:solidFill>
                  <a:srgbClr val="1A386B"/>
                </a:solidFill>
                <a:latin typeface="Calibri" pitchFamily="34" charset="0"/>
                <a:ea typeface="Calibri" pitchFamily="34" charset="-122"/>
                <a:cs typeface="Calibri" pitchFamily="34" charset="-120"/>
              </a:rPr>
              <a:t> </a:t>
            </a:r>
            <a:endParaRPr lang="en-US" sz="1200" dirty="0"/>
          </a:p>
        </p:txBody>
      </p:sp>
      <p:sp>
        <p:nvSpPr>
          <p:cNvPr id="58" name="Shape 56"/>
          <p:cNvSpPr/>
          <p:nvPr/>
        </p:nvSpPr>
        <p:spPr>
          <a:xfrm>
            <a:off x="6126480" y="777240"/>
            <a:ext cx="0" cy="5303520"/>
          </a:xfrm>
          <a:prstGeom prst="line">
            <a:avLst/>
          </a:prstGeom>
          <a:noFill/>
          <a:ln w="12700">
            <a:solidFill>
              <a:srgbClr val="C0C8D8"/>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386B"/>
          </a:solidFill>
          <a:ln w="12700">
            <a:solidFill>
              <a:srgbClr val="1A386B"/>
            </a:solidFill>
            <a:prstDash val="solid"/>
          </a:ln>
        </p:spPr>
      </p:sp>
      <p:sp>
        <p:nvSpPr>
          <p:cNvPr id="3" name="Shape 1"/>
          <p:cNvSpPr/>
          <p:nvPr/>
        </p:nvSpPr>
        <p:spPr>
          <a:xfrm>
            <a:off x="0" y="2880360"/>
            <a:ext cx="1219200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Presentación del sistema físico</a:t>
            </a:r>
            <a:endParaRPr lang="en-US" sz="3400" dirty="0"/>
          </a:p>
        </p:txBody>
      </p:sp>
      <p:sp>
        <p:nvSpPr>
          <p:cNvPr id="6" name="Shape 4"/>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1B0CE61A-FC5B-45C3-A219-99BBA00CBA13}"/>
              </a:ext>
            </a:extLst>
          </p:cNvPr>
          <p:cNvPicPr>
            <a:picLocks noChangeAspect="1"/>
          </p:cNvPicPr>
          <p:nvPr/>
        </p:nvPicPr>
        <p:blipFill>
          <a:blip r:embed="rId2"/>
          <a:stretch>
            <a:fillRect/>
          </a:stretch>
        </p:blipFill>
        <p:spPr>
          <a:xfrm>
            <a:off x="9527960" y="1537461"/>
            <a:ext cx="2267800" cy="1487560"/>
          </a:xfrm>
          <a:prstGeom prst="rect">
            <a:avLst/>
          </a:prstGeom>
        </p:spPr>
      </p:pic>
      <p:pic>
        <p:nvPicPr>
          <p:cNvPr id="17" name="Imagen 16">
            <a:extLst>
              <a:ext uri="{FF2B5EF4-FFF2-40B4-BE49-F238E27FC236}">
                <a16:creationId xmlns:a16="http://schemas.microsoft.com/office/drawing/2014/main" id="{BE8F19BD-15C2-416B-8492-42E6BB338E60}"/>
              </a:ext>
            </a:extLst>
          </p:cNvPr>
          <p:cNvPicPr>
            <a:picLocks noChangeAspect="1"/>
          </p:cNvPicPr>
          <p:nvPr/>
        </p:nvPicPr>
        <p:blipFill>
          <a:blip r:embed="rId3"/>
          <a:stretch>
            <a:fillRect/>
          </a:stretch>
        </p:blipFill>
        <p:spPr>
          <a:xfrm>
            <a:off x="4243526" y="1597480"/>
            <a:ext cx="2014399" cy="2014399"/>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Partes del accionamiento</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txBody>
          <a:bodyPr/>
          <a:lstStyle/>
          <a:p>
            <a:endParaRPr lang="es-AR" dirty="0"/>
          </a:p>
        </p:txBody>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365760" y="777240"/>
            <a:ext cx="530352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Máquina Eléctrica PMSM</a:t>
            </a:r>
            <a:endParaRPr lang="en-US" sz="1400" dirty="0"/>
          </a:p>
        </p:txBody>
      </p:sp>
      <p:sp>
        <p:nvSpPr>
          <p:cNvPr id="8" name="Text 6"/>
          <p:cNvSpPr/>
          <p:nvPr/>
        </p:nvSpPr>
        <p:spPr>
          <a:xfrm>
            <a:off x="365760" y="1170432"/>
            <a:ext cx="5303520" cy="118872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Estator simétrico y equilibrado — bornes de fase abc accesibles</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Conexión estrella con neutro flotante (no accesible)</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Excitación por imanes permanentes en el rotor</a:t>
            </a:r>
            <a:endParaRPr lang="en-US" sz="1300" dirty="0"/>
          </a:p>
        </p:txBody>
      </p:sp>
      <p:sp>
        <p:nvSpPr>
          <p:cNvPr id="9" name="Text 7"/>
          <p:cNvSpPr/>
          <p:nvPr/>
        </p:nvSpPr>
        <p:spPr>
          <a:xfrm>
            <a:off x="411333" y="3406902"/>
            <a:ext cx="530352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Carga Mecánica</a:t>
            </a:r>
            <a:endParaRPr lang="en-US" sz="1400" dirty="0"/>
          </a:p>
        </p:txBody>
      </p:sp>
      <mc:AlternateContent xmlns:mc="http://schemas.openxmlformats.org/markup-compatibility/2006" xmlns:a14="http://schemas.microsoft.com/office/drawing/2010/main">
        <mc:Choice Requires="a14">
          <p:sp>
            <p:nvSpPr>
              <p:cNvPr id="10" name="Text 8"/>
              <p:cNvSpPr/>
              <p:nvPr/>
            </p:nvSpPr>
            <p:spPr>
              <a:xfrm>
                <a:off x="411332" y="3792093"/>
                <a:ext cx="5684667" cy="155448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Brazo manipulador robótico de 1 GDL (articulación rotacional)</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Eje horizontal sometido a acción de la gravedad</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Masa del brazo m = 1 kg  |  Carga útil </a:t>
                </a:r>
                <a14:m>
                  <m:oMath xmlns:m="http://schemas.openxmlformats.org/officeDocument/2006/math">
                    <m:sSub>
                      <m:sSubPr>
                        <m:ctrlPr>
                          <a:rPr lang="es-AR" sz="1300" i="1" smtClean="0">
                            <a:effectLst/>
                            <a:latin typeface="Cambria Math" panose="02040503050406030204" pitchFamily="18" charset="0"/>
                          </a:rPr>
                        </m:ctrlPr>
                      </m:sSubPr>
                      <m:e>
                        <m:r>
                          <a:rPr lang="es-AR" sz="1300" b="0" i="1" smtClean="0">
                            <a:effectLst/>
                            <a:latin typeface="Cambria Math" panose="02040503050406030204" pitchFamily="18" charset="0"/>
                          </a:rPr>
                          <m:t>𝑚</m:t>
                        </m:r>
                      </m:e>
                      <m:sub>
                        <m:r>
                          <a:rPr lang="es-AR" sz="1300" b="0" i="1" smtClean="0">
                            <a:effectLst/>
                            <a:latin typeface="Cambria Math" panose="02040503050406030204" pitchFamily="18" charset="0"/>
                          </a:rPr>
                          <m:t>𝑙</m:t>
                        </m:r>
                      </m:sub>
                    </m:sSub>
                  </m:oMath>
                </a14:m>
                <a:r>
                  <a:rPr lang="en-US" sz="1300" dirty="0">
                    <a:solidFill>
                      <a:srgbClr val="111111"/>
                    </a:solidFill>
                    <a:latin typeface="Calibri" pitchFamily="34" charset="0"/>
                    <a:ea typeface="Calibri" pitchFamily="34" charset="-122"/>
                    <a:cs typeface="Calibri" pitchFamily="34" charset="-120"/>
                  </a:rPr>
                  <a:t> ∈ [0, 1.5] kg</a:t>
                </a:r>
                <a:endParaRPr lang="en-US" sz="1300" dirty="0"/>
              </a:p>
              <a:p>
                <a:pPr marL="342900" indent="-342900">
                  <a:buSzPct val="100000"/>
                  <a:buChar char="•"/>
                </a:pPr>
                <a:r>
                  <a:rPr lang="es-AR" sz="1300" dirty="0">
                    <a:solidFill>
                      <a:srgbClr val="111111"/>
                    </a:solidFill>
                    <a:latin typeface="Calibri" pitchFamily="34" charset="0"/>
                    <a:ea typeface="Calibri" pitchFamily="34" charset="-122"/>
                    <a:cs typeface="Calibri" pitchFamily="34" charset="-120"/>
                  </a:rPr>
                  <a:t>Posición q(t) ≡ </a:t>
                </a:r>
                <a14:m>
                  <m:oMath xmlns:m="http://schemas.openxmlformats.org/officeDocument/2006/math">
                    <m:sSub>
                      <m:sSubPr>
                        <m:ctrlPr>
                          <a:rPr lang="es-AR" sz="1300" i="1" smtClean="0">
                            <a:effectLst/>
                            <a:latin typeface="Cambria Math" panose="02040503050406030204" pitchFamily="18" charset="0"/>
                          </a:rPr>
                        </m:ctrlPr>
                      </m:sSubPr>
                      <m:e>
                        <m:r>
                          <a:rPr lang="es-AR" sz="1300" i="1" smtClean="0">
                            <a:effectLst/>
                            <a:latin typeface="Cambria Math" panose="02040503050406030204" pitchFamily="18" charset="0"/>
                            <a:ea typeface="Cambria Math" panose="02040503050406030204" pitchFamily="18" charset="0"/>
                          </a:rPr>
                          <m:t>𝜃</m:t>
                        </m:r>
                      </m:e>
                      <m:sub>
                        <m:r>
                          <a:rPr lang="es-AR" sz="1300" b="0" i="1" smtClean="0">
                            <a:effectLst/>
                            <a:latin typeface="Cambria Math" panose="02040503050406030204" pitchFamily="18" charset="0"/>
                          </a:rPr>
                          <m:t>𝑙</m:t>
                        </m:r>
                      </m:sub>
                    </m:sSub>
                    <m:r>
                      <a:rPr lang="es-AR" sz="1300" b="0" i="1" smtClean="0">
                        <a:effectLst/>
                        <a:latin typeface="Cambria Math" panose="02040503050406030204" pitchFamily="18" charset="0"/>
                      </a:rPr>
                      <m:t> </m:t>
                    </m:r>
                  </m:oMath>
                </a14:m>
                <a:r>
                  <a:rPr lang="es-AR" sz="1300" dirty="0">
                    <a:solidFill>
                      <a:srgbClr val="111111"/>
                    </a:solidFill>
                    <a:latin typeface="Calibri" pitchFamily="34" charset="0"/>
                    <a:ea typeface="Calibri" pitchFamily="34" charset="-122"/>
                    <a:cs typeface="Calibri" pitchFamily="34" charset="-120"/>
                  </a:rPr>
                  <a:t>(t) medida desde vertical, positivo en sentido antihorario</a:t>
                </a:r>
                <a:endParaRPr lang="es-AR" sz="1300" dirty="0"/>
              </a:p>
            </p:txBody>
          </p:sp>
        </mc:Choice>
        <mc:Fallback xmlns="">
          <p:sp>
            <p:nvSpPr>
              <p:cNvPr id="10" name="Text 8"/>
              <p:cNvSpPr>
                <a:spLocks noRot="1" noChangeAspect="1" noMove="1" noResize="1" noEditPoints="1" noAdjustHandles="1" noChangeArrowheads="1" noChangeShapeType="1" noTextEdit="1"/>
              </p:cNvSpPr>
              <p:nvPr/>
            </p:nvSpPr>
            <p:spPr>
              <a:xfrm>
                <a:off x="411332" y="3792093"/>
                <a:ext cx="5684667" cy="1554480"/>
              </a:xfrm>
              <a:prstGeom prst="rect">
                <a:avLst/>
              </a:prstGeom>
              <a:blipFill>
                <a:blip r:embed="rId4"/>
                <a:stretch>
                  <a:fillRect l="-214" t="-784"/>
                </a:stretch>
              </a:blipFill>
              <a:ln/>
            </p:spPr>
            <p:txBody>
              <a:bodyPr/>
              <a:lstStyle/>
              <a:p>
                <a:r>
                  <a:rPr lang="es-AR">
                    <a:noFill/>
                  </a:rPr>
                  <a:t> </a:t>
                </a:r>
              </a:p>
            </p:txBody>
          </p:sp>
        </mc:Fallback>
      </mc:AlternateContent>
      <p:sp>
        <p:nvSpPr>
          <p:cNvPr id="11" name="Text 9"/>
          <p:cNvSpPr/>
          <p:nvPr/>
        </p:nvSpPr>
        <p:spPr>
          <a:xfrm>
            <a:off x="6400800" y="777240"/>
            <a:ext cx="539496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Caja reductora planetaria</a:t>
            </a:r>
            <a:endParaRPr lang="en-US" sz="1400" dirty="0"/>
          </a:p>
        </p:txBody>
      </p:sp>
      <p:sp>
        <p:nvSpPr>
          <p:cNvPr id="12" name="Text 10"/>
          <p:cNvSpPr/>
          <p:nvPr/>
        </p:nvSpPr>
        <p:spPr>
          <a:xfrm>
            <a:off x="6400800" y="1170432"/>
            <a:ext cx="5394960" cy="118872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Relación de reducción r = 120:1</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Acoplamiento rígido — sin backlash, sin elasticidad torsional</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Inercia y pérdidas internas reflejadas al eje del motor</a:t>
            </a:r>
            <a:endParaRPr lang="en-US" sz="1300" dirty="0"/>
          </a:p>
        </p:txBody>
      </p:sp>
      <p:sp>
        <p:nvSpPr>
          <p:cNvPr id="13" name="Text 11"/>
          <p:cNvSpPr/>
          <p:nvPr/>
        </p:nvSpPr>
        <p:spPr>
          <a:xfrm>
            <a:off x="6400800" y="3324987"/>
            <a:ext cx="539496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Inversor trifásico de 4 cuadrantes</a:t>
            </a:r>
            <a:endParaRPr lang="en-US" sz="1400" dirty="0"/>
          </a:p>
        </p:txBody>
      </p:sp>
      <mc:AlternateContent xmlns:mc="http://schemas.openxmlformats.org/markup-compatibility/2006" xmlns:a14="http://schemas.microsoft.com/office/drawing/2010/main">
        <mc:Choice Requires="a14">
          <p:sp>
            <p:nvSpPr>
              <p:cNvPr id="14" name="Text 12"/>
              <p:cNvSpPr/>
              <p:nvPr/>
            </p:nvSpPr>
            <p:spPr>
              <a:xfrm>
                <a:off x="6385707" y="3683508"/>
                <a:ext cx="5394960" cy="192024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Fuente ideal de CC + puente trifásico PWM</a:t>
                </a:r>
                <a:endParaRPr lang="en-US" sz="1300" dirty="0"/>
              </a:p>
              <a:p>
                <a:pPr marL="342900" indent="-342900">
                  <a:buSzPct val="100000"/>
                  <a:buChar char="•"/>
                </a:pPr>
                <a:r>
                  <a:rPr lang="en-US" sz="1300" dirty="0" err="1">
                    <a:solidFill>
                      <a:srgbClr val="111111"/>
                    </a:solidFill>
                    <a:latin typeface="Calibri" pitchFamily="34" charset="0"/>
                    <a:ea typeface="Calibri" pitchFamily="34" charset="-122"/>
                    <a:cs typeface="Calibri" pitchFamily="34" charset="-120"/>
                  </a:rPr>
                  <a:t>Parámetros</a:t>
                </a:r>
                <a:r>
                  <a:rPr lang="en-US" sz="1300" dirty="0">
                    <a:solidFill>
                      <a:srgbClr val="111111"/>
                    </a:solidFill>
                    <a:latin typeface="Calibri" pitchFamily="34" charset="0"/>
                    <a:ea typeface="Calibri" pitchFamily="34" charset="-122"/>
                    <a:cs typeface="Calibri" pitchFamily="34" charset="-120"/>
                  </a:rPr>
                  <a:t> ajustables: módulo </a:t>
                </a:r>
                <a14:m>
                  <m:oMath xmlns:m="http://schemas.openxmlformats.org/officeDocument/2006/math">
                    <m:sSub>
                      <m:sSubPr>
                        <m:ctrlPr>
                          <a:rPr lang="es-AR" sz="1300" i="1" smtClean="0">
                            <a:effectLst/>
                            <a:latin typeface="Cambria Math" panose="02040503050406030204" pitchFamily="18" charset="0"/>
                          </a:rPr>
                        </m:ctrlPr>
                      </m:sSubPr>
                      <m:e>
                        <m:r>
                          <a:rPr lang="es-AR" sz="1300" b="0" i="1" smtClean="0">
                            <a:effectLst/>
                            <a:latin typeface="Cambria Math" panose="02040503050406030204" pitchFamily="18" charset="0"/>
                          </a:rPr>
                          <m:t>𝑉</m:t>
                        </m:r>
                      </m:e>
                      <m:sub>
                        <m:r>
                          <a:rPr lang="es-AR" sz="1300" b="0" i="1" smtClean="0">
                            <a:effectLst/>
                            <a:latin typeface="Cambria Math" panose="02040503050406030204" pitchFamily="18" charset="0"/>
                          </a:rPr>
                          <m:t>𝑠𝑙</m:t>
                        </m:r>
                      </m:sub>
                    </m:sSub>
                    <m:r>
                      <a:rPr lang="es-MX" sz="1300" b="0" i="1" smtClean="0">
                        <a:effectLst/>
                        <a:latin typeface="Cambria Math" panose="02040503050406030204" pitchFamily="18" charset="0"/>
                      </a:rPr>
                      <m:t> </m:t>
                    </m:r>
                  </m:oMath>
                </a14:m>
                <a:r>
                  <a:rPr lang="en-US" sz="1300" dirty="0">
                    <a:solidFill>
                      <a:srgbClr val="111111"/>
                    </a:solidFill>
                    <a:latin typeface="Calibri" pitchFamily="34" charset="0"/>
                    <a:ea typeface="Calibri" pitchFamily="34" charset="-122"/>
                    <a:cs typeface="Calibri" pitchFamily="34" charset="-120"/>
                  </a:rPr>
                  <a:t>(t) y frecuencia </a:t>
                </a:r>
                <a14:m>
                  <m:oMath xmlns:m="http://schemas.openxmlformats.org/officeDocument/2006/math">
                    <m:sSub>
                      <m:sSubPr>
                        <m:ctrlPr>
                          <a:rPr lang="es-AR" sz="1000" i="1">
                            <a:latin typeface="Cambria Math" panose="02040503050406030204" pitchFamily="18" charset="0"/>
                          </a:rPr>
                        </m:ctrlPr>
                      </m:sSubPr>
                      <m:e>
                        <m:r>
                          <a:rPr lang="es-AR" sz="1400" i="1">
                            <a:latin typeface="Cambria Math" panose="02040503050406030204" pitchFamily="18" charset="0"/>
                            <a:ea typeface="Calibri" panose="020F0502020204030204" pitchFamily="34" charset="0"/>
                            <a:cs typeface="Times New Roman" panose="02020603050405020304" pitchFamily="18" charset="0"/>
                          </a:rPr>
                          <m:t>𝜔</m:t>
                        </m:r>
                      </m:e>
                      <m:sub>
                        <m:r>
                          <a:rPr lang="es-AR" sz="1400" b="0" i="1" smtClean="0">
                            <a:latin typeface="Cambria Math" panose="02040503050406030204" pitchFamily="18" charset="0"/>
                            <a:ea typeface="Calibri" panose="020F0502020204030204" pitchFamily="34" charset="0"/>
                            <a:cs typeface="Times New Roman" panose="02020603050405020304" pitchFamily="18" charset="0"/>
                          </a:rPr>
                          <m:t>𝑒</m:t>
                        </m:r>
                      </m:sub>
                    </m:sSub>
                  </m:oMath>
                </a14:m>
                <a:r>
                  <a:rPr lang="en-US" sz="1300" dirty="0">
                    <a:solidFill>
                      <a:srgbClr val="111111"/>
                    </a:solidFill>
                    <a:latin typeface="Calibri" pitchFamily="34" charset="0"/>
                    <a:ea typeface="Calibri" pitchFamily="34" charset="-122"/>
                    <a:cs typeface="Calibri" pitchFamily="34" charset="-120"/>
                  </a:rPr>
                  <a:t>(t)</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Tensión máxima de línea: </a:t>
                </a:r>
                <a14:m>
                  <m:oMath xmlns:m="http://schemas.openxmlformats.org/officeDocument/2006/math">
                    <m:sSub>
                      <m:sSubPr>
                        <m:ctrlPr>
                          <a:rPr lang="es-AR" sz="1300" i="1" smtClean="0">
                            <a:effectLst/>
                            <a:latin typeface="Cambria Math" panose="02040503050406030204" pitchFamily="18" charset="0"/>
                          </a:rPr>
                        </m:ctrlPr>
                      </m:sSubPr>
                      <m:e>
                        <m:r>
                          <a:rPr lang="es-AR" sz="1300" b="0" i="1" smtClean="0">
                            <a:effectLst/>
                            <a:latin typeface="Cambria Math" panose="02040503050406030204" pitchFamily="18" charset="0"/>
                          </a:rPr>
                          <m:t>𝑉</m:t>
                        </m:r>
                      </m:e>
                      <m:sub>
                        <m:r>
                          <a:rPr lang="es-AR" sz="1300" b="0" i="1" smtClean="0">
                            <a:effectLst/>
                            <a:latin typeface="Cambria Math" panose="02040503050406030204" pitchFamily="18" charset="0"/>
                          </a:rPr>
                          <m:t>𝑠𝑙</m:t>
                        </m:r>
                      </m:sub>
                    </m:sSub>
                  </m:oMath>
                </a14:m>
                <a:r>
                  <a:rPr lang="en-US" sz="1300" dirty="0">
                    <a:solidFill>
                      <a:srgbClr val="111111"/>
                    </a:solidFill>
                    <a:latin typeface="Calibri" pitchFamily="34" charset="0"/>
                    <a:ea typeface="Calibri" pitchFamily="34" charset="-122"/>
                    <a:cs typeface="Calibri" pitchFamily="34" charset="-120"/>
                  </a:rPr>
                  <a:t> ∈ [0, 48] V CA rms</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Frecuencia: </a:t>
                </a:r>
                <a14:m>
                  <m:oMath xmlns:m="http://schemas.openxmlformats.org/officeDocument/2006/math">
                    <m:sSub>
                      <m:sSubPr>
                        <m:ctrlPr>
                          <a:rPr lang="es-AR" sz="1000" i="1" smtClean="0">
                            <a:effectLst/>
                            <a:latin typeface="Cambria Math" panose="02040503050406030204" pitchFamily="18" charset="0"/>
                          </a:rPr>
                        </m:ctrlPr>
                      </m:sSubPr>
                      <m:e>
                        <m:r>
                          <a:rPr lang="es-AR" sz="1000" b="0" i="1" smtClean="0">
                            <a:effectLst/>
                            <a:latin typeface="Cambria Math" panose="02040503050406030204" pitchFamily="18" charset="0"/>
                          </a:rPr>
                          <m:t>𝑓</m:t>
                        </m:r>
                      </m:e>
                      <m:sub>
                        <m:r>
                          <a:rPr lang="es-AR" sz="1400" b="0" i="1" smtClean="0">
                            <a:effectLst/>
                            <a:latin typeface="Cambria Math" panose="02040503050406030204" pitchFamily="18" charset="0"/>
                            <a:ea typeface="Calibri" panose="020F0502020204030204" pitchFamily="34" charset="0"/>
                            <a:cs typeface="Times New Roman" panose="02020603050405020304" pitchFamily="18" charset="0"/>
                          </a:rPr>
                          <m:t>𝑒</m:t>
                        </m:r>
                      </m:sub>
                    </m:sSub>
                  </m:oMath>
                </a14:m>
                <a:r>
                  <a:rPr lang="en-US" sz="1300" dirty="0">
                    <a:solidFill>
                      <a:srgbClr val="111111"/>
                    </a:solidFill>
                    <a:latin typeface="Calibri" pitchFamily="34" charset="0"/>
                    <a:ea typeface="Calibri" pitchFamily="34" charset="-122"/>
                    <a:cs typeface="Calibri" pitchFamily="34" charset="-120"/>
                  </a:rPr>
                  <a:t> ∈ [-330, +330] Hz (determina sentido de giro)</a:t>
                </a:r>
                <a:endParaRPr lang="en-US" sz="1300" dirty="0"/>
              </a:p>
            </p:txBody>
          </p:sp>
        </mc:Choice>
        <mc:Fallback xmlns="">
          <p:sp>
            <p:nvSpPr>
              <p:cNvPr id="14" name="Text 12"/>
              <p:cNvSpPr>
                <a:spLocks noRot="1" noChangeAspect="1" noMove="1" noResize="1" noEditPoints="1" noAdjustHandles="1" noChangeArrowheads="1" noChangeShapeType="1" noTextEdit="1"/>
              </p:cNvSpPr>
              <p:nvPr/>
            </p:nvSpPr>
            <p:spPr>
              <a:xfrm>
                <a:off x="6385707" y="3683508"/>
                <a:ext cx="5394960" cy="1920240"/>
              </a:xfrm>
              <a:prstGeom prst="rect">
                <a:avLst/>
              </a:prstGeom>
              <a:blipFill>
                <a:blip r:embed="rId5"/>
                <a:stretch>
                  <a:fillRect l="-226" t="-635"/>
                </a:stretch>
              </a:blipFill>
              <a:ln/>
            </p:spPr>
            <p:txBody>
              <a:bodyPr/>
              <a:lstStyle/>
              <a:p>
                <a:r>
                  <a:rPr lang="es-AR">
                    <a:noFill/>
                  </a:rPr>
                  <a:t> </a:t>
                </a:r>
              </a:p>
            </p:txBody>
          </p:sp>
        </mc:Fallback>
      </mc:AlternateContent>
      <p:pic>
        <p:nvPicPr>
          <p:cNvPr id="16" name="Picture 2" descr="The four-quadrant operation of a DC motor can be described as follows">
            <a:extLst>
              <a:ext uri="{FF2B5EF4-FFF2-40B4-BE49-F238E27FC236}">
                <a16:creationId xmlns:a16="http://schemas.microsoft.com/office/drawing/2014/main" id="{8D9D9F26-C412-4508-9C72-2443C2C53F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17668" y="4688507"/>
            <a:ext cx="2252707" cy="17722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Parámetros nominales del PMSM</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graphicFrame>
            <p:nvGraphicFramePr>
              <p:cNvPr id="7" name="Table 0"/>
              <p:cNvGraphicFramePr>
                <a:graphicFrameLocks noGrp="1"/>
              </p:cNvGraphicFramePr>
              <p:nvPr>
                <p:extLst>
                  <p:ext uri="{D42A27DB-BD31-4B8C-83A1-F6EECF244321}">
                    <p14:modId xmlns:p14="http://schemas.microsoft.com/office/powerpoint/2010/main" val="3260923631"/>
                  </p:ext>
                </p:extLst>
              </p:nvPr>
            </p:nvGraphicFramePr>
            <p:xfrm>
              <a:off x="365760" y="804672"/>
              <a:ext cx="11430000" cy="5120640"/>
            </p:xfrm>
            <a:graphic>
              <a:graphicData uri="http://schemas.openxmlformats.org/drawingml/2006/table">
                <a:tbl>
                  <a:tblPr/>
                  <a:tblGrid>
                    <a:gridCol w="5303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Parámetro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Símbolo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Valor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extLst>
                      <a:ext uri="{0D108BD9-81ED-4DB2-BD59-A6C34878D82A}">
                        <a16:rowId xmlns:a16="http://schemas.microsoft.com/office/drawing/2014/main" val="1000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Pares de polos magnéticos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Pp</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 pares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Flujo magnético de imanes (espiras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Sup>
                                  <m:sSubSupPr>
                                    <m:ctrlPr>
                                      <a:rPr lang="es-AR" sz="1300" i="1" smtClean="0">
                                        <a:effectLst/>
                                        <a:latin typeface="Cambria Math" panose="02040503050406030204" pitchFamily="18" charset="0"/>
                                        <a:ea typeface="Times New Roman" panose="02020603050405020304" pitchFamily="18" charset="0"/>
                                      </a:rPr>
                                    </m:ctrlPr>
                                  </m:sSubSupPr>
                                  <m:e>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𝑚</m:t>
                                    </m:r>
                                  </m:sub>
                                  <m:sup>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ˊ</m:t>
                                    </m:r>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0.016 Wb·t</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eje cuadratura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𝐿</m:t>
                                    </m:r>
                                  </m:e>
                                  <m:sub>
                                    <m:r>
                                      <a:rPr lang="es-MX" sz="1300" b="0" i="1" smtClean="0">
                                        <a:effectLst/>
                                        <a:latin typeface="Cambria Math" panose="02040503050406030204" pitchFamily="18" charset="0"/>
                                        <a:ea typeface="Calibri" panose="020F0502020204030204" pitchFamily="34" charset="0"/>
                                        <a:cs typeface="Times New Roman" panose="02020603050405020304" pitchFamily="18" charset="0"/>
                                      </a:rPr>
                                      <m:t>𝑞</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5.8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eje directo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𝐿</m:t>
                                    </m:r>
                                  </m:e>
                                  <m:sub>
                                    <m:r>
                                      <a:rPr lang="es-MX" sz="1300" b="0" i="1" smtClean="0">
                                        <a:effectLst/>
                                        <a:latin typeface="Cambria Math" panose="02040503050406030204" pitchFamily="18" charset="0"/>
                                      </a:rPr>
                                      <m:t>𝑑</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6.6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de dispersión</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𝐿</m:t>
                                    </m:r>
                                  </m:e>
                                  <m:sub>
                                    <m:r>
                                      <a:rPr lang="es-MX" sz="1300" b="0" i="1" smtClean="0">
                                        <a:effectLst/>
                                        <a:latin typeface="Cambria Math" panose="02040503050406030204" pitchFamily="18" charset="0"/>
                                      </a:rPr>
                                      <m:t>𝑙𝑠</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0.8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Resistencia de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𝑅</m:t>
                                    </m:r>
                                  </m:e>
                                  <m:sub>
                                    <m:r>
                                      <a:rPr lang="es-MX" sz="1300" b="0" i="1" smtClean="0">
                                        <a:effectLst/>
                                        <a:latin typeface="Cambria Math" panose="02040503050406030204" pitchFamily="18" charset="0"/>
                                      </a:rPr>
                                      <m:t>𝑆</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1.02 Ω  @ Ts,REF = 20°C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Coef. aumento de Rs con temperatura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m:rPr>
                                        <m:nor/>
                                      </m:rPr>
                                      <a:rPr lang="en-US" sz="1300" dirty="0" smtClean="0">
                                        <a:solidFill>
                                          <a:srgbClr val="000000"/>
                                        </a:solidFill>
                                        <a:latin typeface="Calibri" pitchFamily="34" charset="0"/>
                                        <a:ea typeface="Calibri" pitchFamily="34" charset="-122"/>
                                        <a:cs typeface="Calibri" pitchFamily="34" charset="-120"/>
                                      </a:rPr>
                                      <m:t>α</m:t>
                                    </m:r>
                                  </m:e>
                                  <m:sub>
                                    <m:r>
                                      <a:rPr lang="es-MX" sz="1300" b="0" i="1" smtClean="0">
                                        <a:effectLst/>
                                        <a:latin typeface="Cambria Math" panose="02040503050406030204" pitchFamily="18" charset="0"/>
                                      </a:rPr>
                                      <m:t>𝑐𝑢</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3.9 × 10⁻³ /°C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Momento de inercia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𝐽</m:t>
                                    </m:r>
                                  </m:e>
                                  <m:sub>
                                    <m:r>
                                      <a:rPr lang="es-MX" sz="1300" b="0" i="1" smtClean="0">
                                        <a:effectLst/>
                                        <a:latin typeface="Cambria Math" panose="02040503050406030204" pitchFamily="18" charset="0"/>
                                      </a:rPr>
                                      <m:t>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1.4 × 10⁻⁴ kg·m²</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Amortiguamiento viscoso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𝑏</m:t>
                                    </m:r>
                                  </m:e>
                                  <m:sub>
                                    <m:r>
                                      <a:rPr lang="es-MX" sz="1300" b="0" i="1" smtClean="0">
                                        <a:effectLst/>
                                        <a:latin typeface="Cambria Math" panose="02040503050406030204" pitchFamily="18" charset="0"/>
                                      </a:rPr>
                                      <m:t>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15 × 10⁻⁶ N·m/(rad/s)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Velocidad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𝑛</m:t>
                                    </m:r>
                                  </m:e>
                                  <m:sub>
                                    <m:r>
                                      <a:rPr lang="es-MX" sz="1300" b="0" i="1" smtClean="0">
                                        <a:effectLst/>
                                        <a:latin typeface="Cambria Math" panose="02040503050406030204" pitchFamily="18" charset="0"/>
                                      </a:rPr>
                                      <m:t>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6600 rpm = 691.15 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Corriente nominal (régimen continuo)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𝐼</m:t>
                                    </m:r>
                                  </m:e>
                                  <m:sub>
                                    <m:r>
                                      <a:rPr lang="es-MX" sz="1300" b="0" i="1" smtClean="0">
                                        <a:effectLst/>
                                        <a:latin typeface="Cambria Math" panose="02040503050406030204" pitchFamily="18" charset="0"/>
                                      </a:rPr>
                                      <m:t>𝑠</m:t>
                                    </m:r>
                                    <m:r>
                                      <a:rPr lang="es-MX" sz="1300" b="0" i="1" smtClean="0">
                                        <a:effectLst/>
                                        <a:latin typeface="Cambria Math" panose="02040503050406030204" pitchFamily="18" charset="0"/>
                                      </a:rPr>
                                      <m:t>,</m:t>
                                    </m:r>
                                    <m:r>
                                      <a:rPr lang="es-MX" sz="1300" b="0" i="1" smtClean="0">
                                        <a:effectLst/>
                                        <a:latin typeface="Cambria Math" panose="02040503050406030204" pitchFamily="18" charset="0"/>
                                      </a:rPr>
                                      <m:t>𝑛𝑜𝑚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0.4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Corriente máxima (pico)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𝐼</m:t>
                                    </m:r>
                                  </m:e>
                                  <m:sub>
                                    <m:r>
                                      <a:rPr lang="es-MX" sz="1300" b="0" i="1" smtClean="0">
                                        <a:effectLst/>
                                        <a:latin typeface="Cambria Math" panose="02040503050406030204" pitchFamily="18" charset="0"/>
                                      </a:rPr>
                                      <m:t>𝑠</m:t>
                                    </m:r>
                                    <m:r>
                                      <a:rPr lang="es-MX" sz="1300" b="0" i="1" smtClean="0">
                                        <a:effectLst/>
                                        <a:latin typeface="Cambria Math" panose="02040503050406030204" pitchFamily="18" charset="0"/>
                                      </a:rPr>
                                      <m:t>,</m:t>
                                    </m:r>
                                    <m:r>
                                      <a:rPr lang="es-MX" sz="1300" b="0" i="1" smtClean="0">
                                        <a:effectLst/>
                                        <a:latin typeface="Cambria Math" panose="02040503050406030204" pitchFamily="18" charset="0"/>
                                      </a:rPr>
                                      <m:t>𝑚𝑎𝑥</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2.0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Tensión nominal de línea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𝑉</m:t>
                                    </m:r>
                                  </m:e>
                                  <m:sub>
                                    <m:r>
                                      <a:rPr lang="es-MX" sz="1300" b="0" i="1" smtClean="0">
                                        <a:effectLst/>
                                        <a:latin typeface="Cambria Math" panose="02040503050406030204" pitchFamily="18" charset="0"/>
                                      </a:rPr>
                                      <m:t>𝑠𝑙</m:t>
                                    </m:r>
                                    <m:r>
                                      <a:rPr lang="es-MX" sz="1300" b="0" i="1" smtClean="0">
                                        <a:effectLst/>
                                        <a:latin typeface="Cambria Math" panose="02040503050406030204" pitchFamily="18" charset="0"/>
                                      </a:rPr>
                                      <m:t>,</m:t>
                                    </m:r>
                                    <m:r>
                                      <a:rPr lang="es-MX" sz="1300" b="0" i="1" smtClean="0">
                                        <a:effectLst/>
                                        <a:latin typeface="Cambria Math" panose="02040503050406030204" pitchFamily="18" charset="0"/>
                                      </a:rPr>
                                      <m:t>𝑛𝑜𝑚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30 V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mc:Choice>
        <mc:Fallback xmlns="">
          <p:graphicFrame>
            <p:nvGraphicFramePr>
              <p:cNvPr id="7" name="Table 0"/>
              <p:cNvGraphicFramePr>
                <a:graphicFrameLocks noGrp="1"/>
              </p:cNvGraphicFramePr>
              <p:nvPr>
                <p:extLst>
                  <p:ext uri="{D42A27DB-BD31-4B8C-83A1-F6EECF244321}">
                    <p14:modId xmlns:p14="http://schemas.microsoft.com/office/powerpoint/2010/main" val="3260923631"/>
                  </p:ext>
                </p:extLst>
              </p:nvPr>
            </p:nvGraphicFramePr>
            <p:xfrm>
              <a:off x="365760" y="804672"/>
              <a:ext cx="11430000" cy="5120640"/>
            </p:xfrm>
            <a:graphic>
              <a:graphicData uri="http://schemas.openxmlformats.org/drawingml/2006/table">
                <a:tbl>
                  <a:tblPr/>
                  <a:tblGrid>
                    <a:gridCol w="5303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Parámetro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Símbolo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Valor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extLst>
                      <a:ext uri="{0D108BD9-81ED-4DB2-BD59-A6C34878D82A}">
                        <a16:rowId xmlns:a16="http://schemas.microsoft.com/office/drawing/2014/main" val="1000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Pares de polos magnéticos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Pp</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 pares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Flujo magnético de imanes (espiras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201667" r="-205152" b="-11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0.016 Wb·t</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eje cuadratura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301667" r="-205152" b="-10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5.8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eje directo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401667" r="-205152" b="-9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6.6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de dispersión</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501667" r="-205152" b="-8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0.8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Resistencia de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601667" r="-205152" b="-7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1.02 Ω  @ Ts,REF = 20°C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Coef. aumento de Rs con temperatura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701667" r="-205152" b="-6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3.9 × 10⁻³ /°C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Momento de inercia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801667" r="-205152" b="-5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1.4 × 10⁻⁴ kg·m²</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Amortiguamiento viscoso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901667" r="-205152" b="-4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15 × 10⁻⁶ N·m/(rad/s)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Velocidad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1001667" r="-205152" b="-3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6600 rpm = 691.15 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Corriente nominal (régimen continuo)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1101667" r="-205152" b="-2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0.4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Corriente máxima (pico)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1201667" r="-205152" b="-1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2.0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Tensión nominal de línea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1301667" r="-205152" b="-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30 V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1021" y="0"/>
            <a:ext cx="12263021"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Modelado del sistema físico a lazo abierto</a:t>
            </a:r>
            <a:endParaRPr lang="en-US" sz="3400" dirty="0"/>
          </a:p>
        </p:txBody>
      </p:sp>
      <p:sp>
        <p:nvSpPr>
          <p:cNvPr id="5" name="Text 3"/>
          <p:cNvSpPr/>
          <p:nvPr/>
        </p:nvSpPr>
        <p:spPr>
          <a:xfrm>
            <a:off x="914400" y="3566160"/>
            <a:ext cx="10332720" cy="731520"/>
          </a:xfrm>
          <a:prstGeom prst="rect">
            <a:avLst/>
          </a:prstGeom>
          <a:noFill/>
          <a:ln/>
        </p:spPr>
        <p:txBody>
          <a:bodyPr wrap="square" rtlCol="0" anchor="ctr"/>
          <a:lstStyle/>
          <a:p>
            <a:pPr marL="0" indent="0" algn="ctr">
              <a:buNone/>
            </a:pPr>
            <a:r>
              <a:rPr lang="en-US" sz="1600" i="1" dirty="0">
                <a:solidFill>
                  <a:srgbClr val="9EC5F5"/>
                </a:solidFill>
                <a:latin typeface="Calibri" pitchFamily="34" charset="0"/>
                <a:ea typeface="Calibri" pitchFamily="34" charset="-122"/>
                <a:cs typeface="Calibri" pitchFamily="34" charset="-120"/>
              </a:rPr>
              <a:t>Subsistemas mecánico · electromagnético · térmico</a:t>
            </a:r>
            <a:endParaRPr lang="en-US" sz="1600" dirty="0"/>
          </a:p>
        </p:txBody>
      </p:sp>
      <p:sp>
        <p:nvSpPr>
          <p:cNvPr id="6" name="Shape 4"/>
          <p:cNvSpPr/>
          <p:nvPr/>
        </p:nvSpPr>
        <p:spPr>
          <a:xfrm>
            <a:off x="-71023" y="6565392"/>
            <a:ext cx="12263021" cy="292608"/>
          </a:xfrm>
          <a:prstGeom prst="rect">
            <a:avLst/>
          </a:prstGeom>
          <a:solidFill>
            <a:srgbClr val="14213D"/>
          </a:solidFill>
          <a:ln w="12700">
            <a:solidFill>
              <a:srgbClr val="14213D"/>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Carga mecánica — Modelo dinámico</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0" y="768096"/>
            <a:ext cx="11430000" cy="457200"/>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Modelo no lineal con parámetros variables, referido al eje de salida de la caja reductora:</a:t>
            </a:r>
            <a:endParaRPr lang="en-US" sz="1400" dirty="0"/>
          </a:p>
        </p:txBody>
      </p:sp>
      <p:sp>
        <p:nvSpPr>
          <p:cNvPr id="8" name="Shape 6"/>
          <p:cNvSpPr/>
          <p:nvPr/>
        </p:nvSpPr>
        <p:spPr>
          <a:xfrm>
            <a:off x="1371600" y="1325880"/>
            <a:ext cx="9144000" cy="59436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1463040" y="1325880"/>
                <a:ext cx="8961120"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𝑞</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1463040" y="1325880"/>
                <a:ext cx="8961120" cy="594360"/>
              </a:xfrm>
              <a:prstGeom prst="rect">
                <a:avLst/>
              </a:prstGeom>
              <a:blipFill>
                <a:blip r:embed="rId2"/>
                <a:stretch>
                  <a:fillRect/>
                </a:stretch>
              </a:blipFill>
              <a:ln/>
            </p:spPr>
            <p:txBody>
              <a:bodyPr/>
              <a:lstStyle/>
              <a:p>
                <a:r>
                  <a:rPr lang="es-AR">
                    <a:noFill/>
                  </a:rPr>
                  <a:t> </a:t>
                </a:r>
              </a:p>
            </p:txBody>
          </p:sp>
        </mc:Fallback>
      </mc:AlternateContent>
      <p:sp>
        <p:nvSpPr>
          <p:cNvPr id="10" name="Shape 8"/>
          <p:cNvSpPr/>
          <p:nvPr/>
        </p:nvSpPr>
        <p:spPr>
          <a:xfrm>
            <a:off x="1371600" y="2011680"/>
            <a:ext cx="914400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1" name="Text 9"/>
              <p:cNvSpPr/>
              <p:nvPr/>
            </p:nvSpPr>
            <p:spPr>
              <a:xfrm>
                <a:off x="1463040" y="2011680"/>
                <a:ext cx="8961120" cy="54864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f>
                        <m:fPr>
                          <m:ctrlPr>
                            <a:rPr lang="es-AR" sz="1050" i="1" smtClean="0">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nary>
                        <m:naryPr>
                          <m:ctrlPr>
                            <a:rPr lang="es-AR" sz="1050" i="1">
                              <a:effectLst/>
                              <a:latin typeface="Cambria Math" panose="02040503050406030204" pitchFamily="18" charset="0"/>
                            </a:rPr>
                          </m:ctrlPr>
                        </m:naryPr>
                        <m:sub>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sup>
                        <m:e>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𝜉</m:t>
                              </m:r>
                            </m:e>
                          </m:d>
                        </m:e>
                      </m:nary>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r>
                        <a:rPr lang="es-AR" sz="1600" i="1">
                          <a:effectLst/>
                          <a:latin typeface="Cambria Math" panose="02040503050406030204" pitchFamily="18" charset="0"/>
                          <a:ea typeface="Calibri" panose="020F0502020204030204" pitchFamily="34" charset="0"/>
                          <a:cs typeface="Times New Roman" panose="02020603050405020304" pitchFamily="18" charset="0"/>
                        </a:rPr>
                        <m:t>𝜉</m:t>
                      </m:r>
                    </m:oMath>
                  </m:oMathPara>
                </a14:m>
                <a:endParaRPr lang="en-US" sz="1100" dirty="0"/>
              </a:p>
            </p:txBody>
          </p:sp>
        </mc:Choice>
        <mc:Fallback xmlns="">
          <p:sp>
            <p:nvSpPr>
              <p:cNvPr id="11" name="Text 9"/>
              <p:cNvSpPr>
                <a:spLocks noRot="1" noChangeAspect="1" noMove="1" noResize="1" noEditPoints="1" noAdjustHandles="1" noChangeArrowheads="1" noChangeShapeType="1" noTextEdit="1"/>
              </p:cNvSpPr>
              <p:nvPr/>
            </p:nvSpPr>
            <p:spPr>
              <a:xfrm>
                <a:off x="1463040" y="2011680"/>
                <a:ext cx="8961120" cy="548640"/>
              </a:xfrm>
              <a:prstGeom prst="rect">
                <a:avLst/>
              </a:prstGeom>
              <a:blipFill>
                <a:blip r:embed="rId5"/>
                <a:stretch>
                  <a:fillRect t="-100000" b="-166667"/>
                </a:stretch>
              </a:blipFill>
              <a:ln/>
            </p:spPr>
            <p:txBody>
              <a:bodyPr/>
              <a:lstStyle/>
              <a:p>
                <a:r>
                  <a:rPr lang="es-AR">
                    <a:noFill/>
                  </a:rPr>
                  <a:t> </a:t>
                </a:r>
              </a:p>
            </p:txBody>
          </p:sp>
        </mc:Fallback>
      </mc:AlternateContent>
      <p:sp>
        <p:nvSpPr>
          <p:cNvPr id="12" name="Shape 10"/>
          <p:cNvSpPr/>
          <p:nvPr/>
        </p:nvSpPr>
        <p:spPr>
          <a:xfrm>
            <a:off x="1371600" y="2651760"/>
            <a:ext cx="9144000" cy="59436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3" name="Text 11"/>
              <p:cNvSpPr/>
              <p:nvPr/>
            </p:nvSpPr>
            <p:spPr>
              <a:xfrm>
                <a:off x="1463040" y="2651760"/>
                <a:ext cx="8961120"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𝑇</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d>
                        <m:dPr>
                          <m:ctrlPr>
                            <a:rPr lang="es-AR" sz="1050" i="1">
                              <a:effectLst/>
                              <a:latin typeface="Cambria Math" panose="02040503050406030204" pitchFamily="18" charset="0"/>
                              <a:cs typeface="Calibri Light" panose="020F0302020204030204" pitchFamily="34" charset="0"/>
                            </a:rPr>
                          </m:ctrlPr>
                        </m:dPr>
                        <m:e>
                          <m:r>
                            <a:rPr lang="es-AR" sz="1600" i="1">
                              <a:effectLst/>
                              <a:latin typeface="Cambria Math" panose="02040503050406030204" pitchFamily="18" charset="0"/>
                              <a:ea typeface="Calibri" panose="020F0502020204030204" pitchFamily="34" charset="0"/>
                              <a:cs typeface="Calibri Light" panose="020F0302020204030204" pitchFamily="34" charset="0"/>
                            </a:rPr>
                            <m:t>𝑡</m:t>
                          </m:r>
                        </m:e>
                      </m:d>
                      <m:r>
                        <a:rPr lang="es-AR" sz="1600" i="1">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𝑇</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𝑙𝑑</m:t>
                          </m:r>
                        </m:sub>
                      </m:sSub>
                      <m:d>
                        <m:dPr>
                          <m:ctrlPr>
                            <a:rPr lang="es-AR" sz="1050" i="1">
                              <a:effectLst/>
                              <a:latin typeface="Cambria Math" panose="02040503050406030204" pitchFamily="18" charset="0"/>
                              <a:cs typeface="Calibri Light" panose="020F0302020204030204" pitchFamily="34" charset="0"/>
                            </a:rPr>
                          </m:ctrlPr>
                        </m:dPr>
                        <m:e>
                          <m:r>
                            <a:rPr lang="es-AR" sz="1600" i="1">
                              <a:effectLst/>
                              <a:latin typeface="Cambria Math" panose="02040503050406030204" pitchFamily="18" charset="0"/>
                              <a:ea typeface="Calibri" panose="020F0502020204030204" pitchFamily="34" charset="0"/>
                              <a:cs typeface="Calibri Light" panose="020F0302020204030204" pitchFamily="34" charset="0"/>
                            </a:rPr>
                            <m:t>𝑡</m:t>
                          </m:r>
                        </m:e>
                      </m:d>
                      <m:r>
                        <a:rPr lang="es-AR" sz="1600" i="1">
                          <a:effectLst/>
                          <a:latin typeface="Cambria Math" panose="02040503050406030204" pitchFamily="18" charset="0"/>
                          <a:ea typeface="Calibri" panose="020F0502020204030204" pitchFamily="34" charset="0"/>
                          <a:cs typeface="Calibri Light" panose="020F0302020204030204" pitchFamily="34" charset="0"/>
                        </a:rPr>
                        <m:t>+</m:t>
                      </m:r>
                      <m:r>
                        <a:rPr lang="es-AR" sz="1600" i="1">
                          <a:effectLst/>
                          <a:latin typeface="Cambria Math" panose="02040503050406030204" pitchFamily="18" charset="0"/>
                          <a:ea typeface="Calibri" panose="020F0502020204030204" pitchFamily="34" charset="0"/>
                          <a:cs typeface="Calibri Light" panose="020F0302020204030204" pitchFamily="34" charset="0"/>
                        </a:rPr>
                        <m:t>𝑔</m:t>
                      </m:r>
                      <m:r>
                        <a:rPr lang="es-AR" sz="1600" i="1">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𝑘</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r>
                        <a:rPr lang="es-AR" sz="1600" i="1">
                          <a:effectLst/>
                          <a:latin typeface="Cambria Math" panose="02040503050406030204" pitchFamily="18" charset="0"/>
                          <a:ea typeface="Calibri" panose="020F0502020204030204" pitchFamily="34" charset="0"/>
                          <a:cs typeface="Calibri Light" panose="020F0302020204030204" pitchFamily="34" charset="0"/>
                        </a:rPr>
                        <m:t>∙</m:t>
                      </m:r>
                      <m:func>
                        <m:funcPr>
                          <m:ctrlPr>
                            <a:rPr lang="es-AR" sz="1050" i="1">
                              <a:effectLst/>
                              <a:latin typeface="Cambria Math" panose="02040503050406030204" pitchFamily="18" charset="0"/>
                              <a:cs typeface="Calibri Light" panose="020F0302020204030204" pitchFamily="34" charset="0"/>
                            </a:rPr>
                          </m:ctrlPr>
                        </m:funcPr>
                        <m:fName>
                          <m:r>
                            <m:rPr>
                              <m:sty m:val="p"/>
                            </m:rPr>
                            <a:rPr lang="es-AR" sz="1600">
                              <a:effectLst/>
                              <a:latin typeface="Cambria Math" panose="02040503050406030204" pitchFamily="18" charset="0"/>
                              <a:ea typeface="Calibri" panose="020F0502020204030204" pitchFamily="34" charset="0"/>
                              <a:cs typeface="Calibri Light" panose="020F0302020204030204" pitchFamily="34" charset="0"/>
                            </a:rPr>
                            <m:t>sin</m:t>
                          </m:r>
                        </m:fName>
                        <m:e>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m:t>
                              </m:r>
                              <m:r>
                                <a:rPr lang="es-AR" sz="1600" i="1">
                                  <a:effectLst/>
                                  <a:latin typeface="Cambria Math" panose="02040503050406030204" pitchFamily="18" charset="0"/>
                                  <a:ea typeface="Calibri" panose="020F0502020204030204" pitchFamily="34" charset="0"/>
                                  <a:cs typeface="Calibri Light" panose="020F0302020204030204" pitchFamily="34" charset="0"/>
                                </a:rPr>
                                <m:t>𝜃</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r>
                            <a:rPr lang="es-AR" sz="1600" i="1">
                              <a:effectLst/>
                              <a:latin typeface="Cambria Math" panose="02040503050406030204" pitchFamily="18" charset="0"/>
                              <a:ea typeface="Calibri" panose="020F0502020204030204" pitchFamily="34" charset="0"/>
                              <a:cs typeface="Calibri Light" panose="020F0302020204030204" pitchFamily="34" charset="0"/>
                            </a:rPr>
                            <m:t>)</m:t>
                          </m:r>
                        </m:e>
                      </m:func>
                    </m:oMath>
                  </m:oMathPara>
                </a14:m>
                <a:endParaRPr lang="en-US" sz="1100" dirty="0"/>
              </a:p>
            </p:txBody>
          </p:sp>
        </mc:Choice>
        <mc:Fallback xmlns="">
          <p:sp>
            <p:nvSpPr>
              <p:cNvPr id="13" name="Text 11"/>
              <p:cNvSpPr>
                <a:spLocks noRot="1" noChangeAspect="1" noMove="1" noResize="1" noEditPoints="1" noAdjustHandles="1" noChangeArrowheads="1" noChangeShapeType="1" noTextEdit="1"/>
              </p:cNvSpPr>
              <p:nvPr/>
            </p:nvSpPr>
            <p:spPr>
              <a:xfrm>
                <a:off x="1463040" y="2651760"/>
                <a:ext cx="8961120" cy="594360"/>
              </a:xfrm>
              <a:prstGeom prst="rect">
                <a:avLst/>
              </a:prstGeom>
              <a:blipFill>
                <a:blip r:embed="rId5"/>
                <a:stretch>
                  <a:fillRect/>
                </a:stretch>
              </a:blipFill>
              <a:ln/>
            </p:spPr>
            <p:txBody>
              <a:bodyPr/>
              <a:lstStyle/>
              <a:p>
                <a:r>
                  <a:rPr lang="es-AR">
                    <a:noFill/>
                  </a:rPr>
                  <a:t> </a:t>
                </a:r>
              </a:p>
            </p:txBody>
          </p:sp>
        </mc:Fallback>
      </mc:AlternateContent>
      <p:sp>
        <p:nvSpPr>
          <p:cNvPr id="14" name="Text 12"/>
          <p:cNvSpPr/>
          <p:nvPr/>
        </p:nvSpPr>
        <p:spPr>
          <a:xfrm>
            <a:off x="365760" y="3492246"/>
            <a:ext cx="11430000" cy="347472"/>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Parámetros</a:t>
            </a:r>
            <a:r>
              <a:rPr lang="en-US" sz="1300" b="1" dirty="0">
                <a:solidFill>
                  <a:srgbClr val="1A386B"/>
                </a:solidFill>
                <a:latin typeface="Calibri" pitchFamily="34" charset="0"/>
                <a:ea typeface="Calibri" pitchFamily="34" charset="-122"/>
                <a:cs typeface="Calibri" pitchFamily="34" charset="-120"/>
              </a:rPr>
              <a:t>:</a:t>
            </a:r>
            <a:endParaRPr lang="en-US" sz="1300" dirty="0"/>
          </a:p>
        </p:txBody>
      </p:sp>
      <mc:AlternateContent xmlns:mc="http://schemas.openxmlformats.org/markup-compatibility/2006" xmlns:a14="http://schemas.microsoft.com/office/drawing/2010/main">
        <mc:Choice Requires="a14">
          <p:sp>
            <p:nvSpPr>
              <p:cNvPr id="15" name="Text 13"/>
              <p:cNvSpPr/>
              <p:nvPr/>
            </p:nvSpPr>
            <p:spPr>
              <a:xfrm>
                <a:off x="381000" y="3857244"/>
                <a:ext cx="11430000" cy="1828800"/>
              </a:xfrm>
              <a:prstGeom prst="rect">
                <a:avLst/>
              </a:prstGeom>
              <a:noFill/>
              <a:ln/>
            </p:spPr>
            <p:txBody>
              <a:bodyPr wrap="square" rtlCol="0" anchor="t"/>
              <a:lstStyle/>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b</m:t>
                        </m:r>
                      </m:e>
                      <m:sub>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l</m:t>
                        </m:r>
                      </m:sub>
                    </m:sSub>
                    <m: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s-AR" sz="1400" i="1">
                            <a:effectLst/>
                            <a:latin typeface="Cambria Math" panose="02040503050406030204" pitchFamily="18" charset="0"/>
                            <a:ea typeface="Times New Roman" panose="02020603050405020304" pitchFamily="18" charset="0"/>
                          </a:rPr>
                        </m:ctrlPr>
                      </m:dPr>
                      <m:e>
                        <m:r>
                          <a:rPr lang="es-AR" sz="1400">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a:effectLst/>
                            <a:latin typeface="Cambria Math" panose="02040503050406030204" pitchFamily="18" charset="0"/>
                            <a:ea typeface="Times New Roman" panose="02020603050405020304" pitchFamily="18" charset="0"/>
                            <a:cs typeface="Times New Roman" panose="02020603050405020304" pitchFamily="18" charset="0"/>
                          </a:rPr>
                          <m:t>1</m:t>
                        </m:r>
                        <m: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a:effectLst/>
                            <a:latin typeface="Cambria Math" panose="02040503050406030204" pitchFamily="18" charset="0"/>
                            <a:ea typeface="Times New Roman" panose="02020603050405020304" pitchFamily="18" charset="0"/>
                            <a:cs typeface="Times New Roman" panose="02020603050405020304" pitchFamily="18" charset="0"/>
                          </a:rPr>
                          <m:t>03</m:t>
                        </m:r>
                      </m:e>
                    </m:d>
                    <m:r>
                      <a:rPr lang="es-AR" sz="1400">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s-AR" sz="1400" i="1">
                            <a:effectLst/>
                            <a:latin typeface="Cambria Math" panose="02040503050406030204" pitchFamily="18" charset="0"/>
                            <a:ea typeface="Times New Roman" panose="02020603050405020304" pitchFamily="18" charset="0"/>
                          </a:rPr>
                        </m:ctrlPr>
                      </m:fPr>
                      <m:num>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N</m:t>
                        </m:r>
                        <m: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m</m:t>
                        </m:r>
                      </m:num>
                      <m:den>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rad</m:t>
                        </m:r>
                        <m:r>
                          <m:rPr>
                            <m:lit/>
                          </m:rP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s</m:t>
                        </m:r>
                      </m:den>
                    </m:f>
                    <m:r>
                      <a:rPr lang="es-MX" sz="1400" b="0" i="0" smtClean="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AR" sz="1400" i="1">
                        <a:latin typeface="Cambria Math" panose="02040503050406030204" pitchFamily="18" charset="0"/>
                      </a:rPr>
                      <m:t>𝑚</m:t>
                    </m:r>
                    <m:r>
                      <a:rPr lang="es-AR" sz="1400" i="1">
                        <a:latin typeface="Cambria Math" panose="02040503050406030204" pitchFamily="18" charset="0"/>
                      </a:rPr>
                      <m:t>=</m:t>
                    </m:r>
                    <m:r>
                      <a:rPr lang="es-AR" sz="1400" i="1">
                        <a:latin typeface="Cambria Math" panose="02040503050406030204" pitchFamily="18" charset="0"/>
                      </a:rPr>
                      <m:t>1</m:t>
                    </m:r>
                    <m:r>
                      <a:rPr lang="es-AR" sz="1400" i="1">
                        <a:latin typeface="Cambria Math" panose="02040503050406030204" pitchFamily="18" charset="0"/>
                      </a:rPr>
                      <m:t>.</m:t>
                    </m:r>
                    <m:r>
                      <a:rPr lang="es-AR" sz="1400" i="1">
                        <a:latin typeface="Cambria Math" panose="02040503050406030204" pitchFamily="18" charset="0"/>
                      </a:rPr>
                      <m:t>0</m:t>
                    </m:r>
                    <m:r>
                      <a:rPr lang="es-AR" sz="1400" i="1">
                        <a:latin typeface="Cambria Math" panose="02040503050406030204" pitchFamily="18" charset="0"/>
                      </a:rPr>
                      <m:t> </m:t>
                    </m:r>
                    <m:r>
                      <a:rPr lang="es-AR" sz="1400" i="1">
                        <a:latin typeface="Cambria Math" panose="02040503050406030204" pitchFamily="18" charset="0"/>
                      </a:rPr>
                      <m:t>𝑘𝑔</m:t>
                    </m:r>
                    <m:r>
                      <a:rPr lang="es-MX" sz="1400" b="0" i="0" smtClean="0">
                        <a:latin typeface="Cambria Math" panose="02040503050406030204" pitchFamily="18" charset="0"/>
                      </a:rPr>
                      <m:t>;</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AR" sz="1400" i="1">
                        <a:latin typeface="Cambria Math" panose="02040503050406030204" pitchFamily="18" charset="0"/>
                      </a:rPr>
                      <m:t>𝑔</m:t>
                    </m:r>
                    <m:r>
                      <a:rPr lang="es-AR" sz="1400" i="1">
                        <a:latin typeface="Cambria Math" panose="02040503050406030204" pitchFamily="18" charset="0"/>
                      </a:rPr>
                      <m:t>=</m:t>
                    </m:r>
                    <m:r>
                      <a:rPr lang="es-AR" sz="1400" i="1">
                        <a:latin typeface="Cambria Math" panose="02040503050406030204" pitchFamily="18" charset="0"/>
                      </a:rPr>
                      <m:t>9</m:t>
                    </m:r>
                    <m:r>
                      <a:rPr lang="es-AR" sz="1400" i="1">
                        <a:latin typeface="Cambria Math" panose="02040503050406030204" pitchFamily="18" charset="0"/>
                      </a:rPr>
                      <m:t>.</m:t>
                    </m:r>
                    <m:r>
                      <a:rPr lang="es-AR" sz="1400" i="1">
                        <a:latin typeface="Cambria Math" panose="02040503050406030204" pitchFamily="18" charset="0"/>
                      </a:rPr>
                      <m:t>80665</m:t>
                    </m:r>
                    <m:r>
                      <a:rPr lang="es-AR" sz="1400" i="1">
                        <a:latin typeface="Cambria Math" panose="02040503050406030204" pitchFamily="18" charset="0"/>
                      </a:rPr>
                      <m:t> </m:t>
                    </m:r>
                    <m:f>
                      <m:fPr>
                        <m:ctrlPr>
                          <a:rPr lang="es-AR" sz="1400" i="1">
                            <a:latin typeface="Cambria Math" panose="02040503050406030204" pitchFamily="18" charset="0"/>
                          </a:rPr>
                        </m:ctrlPr>
                      </m:fPr>
                      <m:num>
                        <m:r>
                          <a:rPr lang="es-AR" sz="1400" i="1">
                            <a:latin typeface="Cambria Math" panose="02040503050406030204" pitchFamily="18" charset="0"/>
                          </a:rPr>
                          <m:t>𝑚</m:t>
                        </m:r>
                      </m:num>
                      <m:den>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den>
                    </m:f>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𝑐𝑚</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25</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𝐽</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𝑐𝑚</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0208</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p>
                      <m:s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e>
                      <m:sup>
                        <m:r>
                          <a:rPr lang="es-AR" sz="1400" i="1">
                            <a:effectLst/>
                            <a:latin typeface="Cambria Math" panose="02040503050406030204" pitchFamily="18" charset="0"/>
                            <a:ea typeface="Times New Roman" panose="02020603050405020304" pitchFamily="18" charset="0"/>
                            <a:cs typeface="Calibri" panose="020F0502020204030204" pitchFamily="34" charset="0"/>
                          </a:rPr>
                          <m:t>2</m:t>
                        </m:r>
                      </m:sup>
                    </m:sSup>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𝑙</m:t>
                        </m:r>
                      </m:e>
                      <m:sub>
                        <m:r>
                          <a:rPr lang="es-AR" sz="1400" i="1">
                            <a:latin typeface="Cambria Math" panose="02040503050406030204" pitchFamily="18" charset="0"/>
                          </a:rPr>
                          <m:t>𝑙</m:t>
                        </m:r>
                        <m:r>
                          <a:rPr lang="es-AR" sz="1400" i="1">
                            <a:latin typeface="Cambria Math" panose="02040503050406030204" pitchFamily="18" charset="0"/>
                          </a:rPr>
                          <m:t> </m:t>
                        </m:r>
                      </m:sub>
                    </m:sSub>
                    <m:r>
                      <a:rPr lang="es-AR" sz="1400" i="1">
                        <a:latin typeface="Cambria Math" panose="02040503050406030204" pitchFamily="18" charset="0"/>
                      </a:rPr>
                      <m:t>=</m:t>
                    </m:r>
                    <m:r>
                      <a:rPr lang="es-AR" sz="1400" i="1">
                        <a:latin typeface="Cambria Math" panose="02040503050406030204" pitchFamily="18" charset="0"/>
                      </a:rPr>
                      <m:t>0</m:t>
                    </m:r>
                    <m:r>
                      <a:rPr lang="es-AR" sz="1400" i="1">
                        <a:latin typeface="Cambria Math" panose="02040503050406030204" pitchFamily="18" charset="0"/>
                      </a:rPr>
                      <m:t>.</m:t>
                    </m:r>
                    <m:r>
                      <a:rPr lang="es-AR" sz="1400" i="1">
                        <a:latin typeface="Cambria Math" panose="02040503050406030204" pitchFamily="18" charset="0"/>
                      </a:rPr>
                      <m:t>50</m:t>
                    </m:r>
                    <m:r>
                      <a:rPr lang="es-AR" sz="1400" i="1">
                        <a:latin typeface="Cambria Math" panose="02040503050406030204" pitchFamily="18" charset="0"/>
                      </a:rPr>
                      <m:t> </m:t>
                    </m:r>
                    <m:r>
                      <a:rPr lang="es-AR" sz="1400" i="1">
                        <a:latin typeface="Cambria Math" panose="02040503050406030204" pitchFamily="18" charset="0"/>
                      </a:rPr>
                      <m:t>𝑚</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d>
                      <m:dPr>
                        <m:begChr m:val="["/>
                        <m:endChr m:val="]"/>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1</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5</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MX" sz="1400" b="0" i="0" smtClean="0">
                        <a:effectLst/>
                        <a:latin typeface="Cambria Math" panose="02040503050406030204" pitchFamily="18" charset="0"/>
                        <a:ea typeface="Times New Roman" panose="02020603050405020304" pitchFamily="18" charset="0"/>
                        <a:cs typeface="Calibri" panose="020F0502020204030204" pitchFamily="34"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𝑚</m:t>
                        </m:r>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𝑙</m:t>
                            </m:r>
                          </m:e>
                          <m:sub>
                            <m:r>
                              <a:rPr lang="es-AR" sz="1400" i="1">
                                <a:latin typeface="Cambria Math" panose="02040503050406030204" pitchFamily="18" charset="0"/>
                              </a:rPr>
                              <m:t>𝑐𝑚</m:t>
                            </m:r>
                          </m:sub>
                          <m:sup>
                            <m:r>
                              <a:rPr lang="es-AR" sz="1400" i="1">
                                <a:latin typeface="Cambria Math" panose="02040503050406030204" pitchFamily="18" charset="0"/>
                              </a:rPr>
                              <m:t>2</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𝑐𝑚</m:t>
                            </m:r>
                          </m:sub>
                        </m:sSub>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𝑚</m:t>
                        </m:r>
                      </m:e>
                      <m:sub>
                        <m:r>
                          <a:rPr lang="es-AR" sz="1400" i="1">
                            <a:latin typeface="Cambria Math" panose="02040503050406030204" pitchFamily="18" charset="0"/>
                          </a:rPr>
                          <m:t>𝑙</m:t>
                        </m:r>
                      </m:sub>
                    </m:sSub>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𝑙</m:t>
                        </m:r>
                      </m:e>
                      <m:sub>
                        <m:r>
                          <a:rPr lang="es-AR" sz="1400" i="1">
                            <a:latin typeface="Cambria Math" panose="02040503050406030204" pitchFamily="18" charset="0"/>
                          </a:rPr>
                          <m:t>𝑙</m:t>
                        </m:r>
                      </m:sub>
                      <m:sup>
                        <m:r>
                          <a:rPr lang="es-AR" sz="1400" i="1">
                            <a:latin typeface="Cambria Math" panose="02040503050406030204" pitchFamily="18" charset="0"/>
                          </a:rPr>
                          <m:t>2</m:t>
                        </m:r>
                      </m:sup>
                    </m:sSubSup>
                    <m:r>
                      <a:rPr lang="es-AR" sz="1400" i="1">
                        <a:latin typeface="Cambria Math" panose="02040503050406030204" pitchFamily="18" charset="0"/>
                      </a:rPr>
                      <m:t>=</m:t>
                    </m:r>
                    <m:r>
                      <a:rPr lang="es-AR" sz="1400" i="1">
                        <a:latin typeface="Cambria Math" panose="02040503050406030204" pitchFamily="18" charset="0"/>
                      </a:rPr>
                      <m:t>0</m:t>
                    </m:r>
                    <m:r>
                      <a:rPr lang="es-AR" sz="1400" i="1">
                        <a:latin typeface="Cambria Math" panose="02040503050406030204" pitchFamily="18" charset="0"/>
                      </a:rPr>
                      <m:t>.</m:t>
                    </m:r>
                    <m:r>
                      <a:rPr lang="es-AR" sz="1400" i="1">
                        <a:latin typeface="Cambria Math" panose="02040503050406030204" pitchFamily="18" charset="0"/>
                      </a:rPr>
                      <m:t>0833</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0</m:t>
                        </m:r>
                        <m:r>
                          <a:rPr lang="es-AR" sz="1400" i="1">
                            <a:latin typeface="Cambria Math" panose="02040503050406030204" pitchFamily="18" charset="0"/>
                          </a:rPr>
                          <m:t>⋯</m:t>
                        </m:r>
                        <m:r>
                          <a:rPr lang="es-AR" sz="1400" i="1">
                            <a:latin typeface="Cambria Math" panose="02040503050406030204" pitchFamily="18" charset="0"/>
                          </a:rPr>
                          <m:t>0</m:t>
                        </m:r>
                        <m:r>
                          <a:rPr lang="es-AR" sz="1400" i="1">
                            <a:latin typeface="Cambria Math" panose="02040503050406030204" pitchFamily="18" charset="0"/>
                          </a:rPr>
                          <m:t>.</m:t>
                        </m:r>
                        <m:r>
                          <a:rPr lang="es-MX" sz="1400" b="0" i="1" smtClean="0">
                            <a:latin typeface="Cambria Math" panose="02040503050406030204" pitchFamily="18" charset="0"/>
                          </a:rPr>
                          <m:t>3</m:t>
                        </m:r>
                        <m:r>
                          <a:rPr lang="es-AR" sz="1400" i="1">
                            <a:latin typeface="Cambria Math" panose="02040503050406030204" pitchFamily="18" charset="0"/>
                          </a:rPr>
                          <m:t>75</m:t>
                        </m:r>
                      </m:e>
                    </m:d>
                    <m:r>
                      <a:rPr lang="es-AR" sz="1400" i="1">
                        <a:latin typeface="Cambria Math" panose="02040503050406030204" pitchFamily="18" charset="0"/>
                      </a:rPr>
                      <m:t> </m:t>
                    </m:r>
                    <m:r>
                      <a:rPr lang="es-AR" sz="1400" i="1">
                        <a:latin typeface="Cambria Math" panose="02040503050406030204" pitchFamily="18" charset="0"/>
                      </a:rPr>
                      <m:t>𝑘𝑔</m:t>
                    </m:r>
                    <m:r>
                      <a:rPr lang="es-AR" sz="1400" i="1">
                        <a:latin typeface="Cambria Math" panose="02040503050406030204" pitchFamily="18" charset="0"/>
                      </a:rPr>
                      <m:t>∙</m:t>
                    </m:r>
                    <m:r>
                      <a:rPr lang="es-AR" sz="1400" i="1">
                        <a:latin typeface="Cambria Math" panose="02040503050406030204" pitchFamily="18" charset="0"/>
                      </a:rPr>
                      <m:t>𝑚</m:t>
                    </m:r>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𝑘</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sub>
                    </m:sSub>
                    <m:r>
                      <a:rPr lang="es-AR" sz="1400" i="1" smtClean="0">
                        <a:effectLst/>
                        <a:latin typeface="Cambria Math" panose="02040503050406030204" pitchFamily="18" charset="0"/>
                        <a:ea typeface="Times New Roman" panose="02020603050405020304" pitchFamily="18" charset="0"/>
                        <a:cs typeface="Calibri" panose="020F0502020204030204" pitchFamily="34" charset="0"/>
                      </a:rPr>
                      <m:t>=</m:t>
                    </m:r>
                    <m:r>
                      <a:rPr lang="es-AR" sz="1400" i="1">
                        <a:latin typeface="Cambria Math" panose="02040503050406030204" pitchFamily="18" charset="0"/>
                      </a:rPr>
                      <m:t>𝑚</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𝑙</m:t>
                        </m:r>
                      </m:e>
                      <m:sub>
                        <m:r>
                          <a:rPr lang="es-AR" sz="1400" i="1">
                            <a:latin typeface="Cambria Math" panose="02040503050406030204" pitchFamily="18" charset="0"/>
                          </a:rPr>
                          <m:t>𝑐𝑚</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𝑚</m:t>
                        </m:r>
                      </m:e>
                      <m:sub>
                        <m:r>
                          <a:rPr lang="es-AR" sz="1400" i="1">
                            <a:latin typeface="Cambria Math" panose="02040503050406030204" pitchFamily="18" charset="0"/>
                          </a:rPr>
                          <m:t>𝑙</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𝑙</m:t>
                        </m:r>
                      </m:e>
                      <m:sub>
                        <m:r>
                          <a:rPr lang="es-AR" sz="1400" i="1">
                            <a:latin typeface="Cambria Math" panose="02040503050406030204" pitchFamily="18" charset="0"/>
                          </a:rPr>
                          <m:t>𝑙</m:t>
                        </m:r>
                      </m:sub>
                    </m:sSub>
                    <m:r>
                      <a:rPr lang="es-AR" sz="1400" i="1">
                        <a:latin typeface="Cambria Math" panose="02040503050406030204" pitchFamily="18"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25</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d>
                      <m:dPr>
                        <m:begChr m:val="["/>
                        <m:endChr m:val="]"/>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75</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𝑙𝑑</m:t>
                        </m:r>
                      </m:sub>
                    </m:sSub>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5</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𝑁</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oMath>
                </a14:m>
                <a:endParaRPr lang="en-US" sz="1400" dirty="0"/>
              </a:p>
            </p:txBody>
          </p:sp>
        </mc:Choice>
        <mc:Fallback xmlns="">
          <p:sp>
            <p:nvSpPr>
              <p:cNvPr id="15" name="Text 13"/>
              <p:cNvSpPr>
                <a:spLocks noRot="1" noChangeAspect="1" noMove="1" noResize="1" noEditPoints="1" noAdjustHandles="1" noChangeArrowheads="1" noChangeShapeType="1" noTextEdit="1"/>
              </p:cNvSpPr>
              <p:nvPr/>
            </p:nvSpPr>
            <p:spPr>
              <a:xfrm>
                <a:off x="381000" y="3857244"/>
                <a:ext cx="11430000" cy="1828800"/>
              </a:xfrm>
              <a:prstGeom prst="rect">
                <a:avLst/>
              </a:prstGeom>
              <a:blipFill>
                <a:blip r:embed="rId6"/>
                <a:stretch>
                  <a:fillRect l="-160"/>
                </a:stretch>
              </a:blipFill>
              <a:ln/>
            </p:spPr>
            <p:txBody>
              <a:bodyPr/>
              <a:lstStyle/>
              <a:p>
                <a:r>
                  <a:rPr lang="es-AR">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hape 9">
            <a:extLst>
              <a:ext uri="{FF2B5EF4-FFF2-40B4-BE49-F238E27FC236}">
                <a16:creationId xmlns:a16="http://schemas.microsoft.com/office/drawing/2014/main" id="{FC67A3CE-E47F-460B-BB07-C75E41941322}"/>
              </a:ext>
            </a:extLst>
          </p:cNvPr>
          <p:cNvSpPr/>
          <p:nvPr/>
        </p:nvSpPr>
        <p:spPr>
          <a:xfrm>
            <a:off x="457200" y="4284000"/>
            <a:ext cx="5212080" cy="649152"/>
          </a:xfrm>
          <a:prstGeom prst="rect">
            <a:avLst/>
          </a:prstGeom>
          <a:solidFill>
            <a:srgbClr val="FFF8E8"/>
          </a:solidFill>
          <a:ln w="19050">
            <a:solidFill>
              <a:srgbClr val="DDAA00"/>
            </a:solidFill>
            <a:prstDash val="solid"/>
          </a:ln>
        </p:spPr>
      </p:sp>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Tren de transmisión — Subsistema mecánico del motor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365760" y="804672"/>
            <a:ext cx="54864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Caja reductora (modelo equivalente rígido):</a:t>
            </a:r>
            <a:endParaRPr lang="en-US" sz="1400" dirty="0"/>
          </a:p>
        </p:txBody>
      </p:sp>
      <p:sp>
        <p:nvSpPr>
          <p:cNvPr id="8" name="Text 6"/>
          <p:cNvSpPr/>
          <p:nvPr/>
        </p:nvSpPr>
        <p:spPr>
          <a:xfrm>
            <a:off x="365760" y="1207008"/>
            <a:ext cx="5486400" cy="50292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Acoplamiento rígido — sin backlash, sin elasticidad torsional, sin pérdidas internas.</a:t>
            </a:r>
            <a:endParaRPr lang="en-US" sz="1300" dirty="0"/>
          </a:p>
        </p:txBody>
      </p:sp>
      <p:sp>
        <p:nvSpPr>
          <p:cNvPr id="9" name="Shape 7"/>
          <p:cNvSpPr/>
          <p:nvPr/>
        </p:nvSpPr>
        <p:spPr>
          <a:xfrm>
            <a:off x="457200" y="1783080"/>
            <a:ext cx="521208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0" name="Text 8"/>
              <p:cNvSpPr/>
              <p:nvPr/>
            </p:nvSpPr>
            <p:spPr>
              <a:xfrm>
                <a:off x="548640" y="1783080"/>
                <a:ext cx="50292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xmlns="">
          <p:sp>
            <p:nvSpPr>
              <p:cNvPr id="10" name="Text 8"/>
              <p:cNvSpPr>
                <a:spLocks noRot="1" noChangeAspect="1" noMove="1" noResize="1" noEditPoints="1" noAdjustHandles="1" noChangeArrowheads="1" noChangeShapeType="1" noTextEdit="1"/>
              </p:cNvSpPr>
              <p:nvPr/>
            </p:nvSpPr>
            <p:spPr>
              <a:xfrm>
                <a:off x="548640" y="1783080"/>
                <a:ext cx="5029200" cy="530352"/>
              </a:xfrm>
              <a:prstGeom prst="rect">
                <a:avLst/>
              </a:prstGeom>
              <a:blipFill>
                <a:blip r:embed="rId3"/>
                <a:stretch>
                  <a:fillRect/>
                </a:stretch>
              </a:blipFill>
              <a:ln/>
            </p:spPr>
            <p:txBody>
              <a:bodyPr/>
              <a:lstStyle/>
              <a:p>
                <a:r>
                  <a:rPr lang="es-AR">
                    <a:noFill/>
                  </a:rPr>
                  <a:t> </a:t>
                </a:r>
              </a:p>
            </p:txBody>
          </p:sp>
        </mc:Fallback>
      </mc:AlternateContent>
      <p:sp>
        <p:nvSpPr>
          <p:cNvPr id="11" name="Shape 9"/>
          <p:cNvSpPr/>
          <p:nvPr/>
        </p:nvSpPr>
        <p:spPr>
          <a:xfrm>
            <a:off x="457200" y="2395728"/>
            <a:ext cx="521208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2" name="Text 10"/>
              <p:cNvSpPr/>
              <p:nvPr/>
            </p:nvSpPr>
            <p:spPr>
              <a:xfrm>
                <a:off x="548640" y="2395728"/>
                <a:ext cx="50292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m:oMathPara>
                </a14:m>
                <a:endParaRPr lang="en-US" sz="1100" dirty="0"/>
              </a:p>
            </p:txBody>
          </p:sp>
        </mc:Choice>
        <mc:Fallback xmlns="">
          <p:sp>
            <p:nvSpPr>
              <p:cNvPr id="12" name="Text 10"/>
              <p:cNvSpPr>
                <a:spLocks noRot="1" noChangeAspect="1" noMove="1" noResize="1" noEditPoints="1" noAdjustHandles="1" noChangeArrowheads="1" noChangeShapeType="1" noTextEdit="1"/>
              </p:cNvSpPr>
              <p:nvPr/>
            </p:nvSpPr>
            <p:spPr>
              <a:xfrm>
                <a:off x="548640" y="2395728"/>
                <a:ext cx="5029200" cy="530352"/>
              </a:xfrm>
              <a:prstGeom prst="rect">
                <a:avLst/>
              </a:prstGeom>
              <a:blipFill>
                <a:blip r:embed="rId8"/>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3" name="Text 11"/>
              <p:cNvSpPr/>
              <p:nvPr/>
            </p:nvSpPr>
            <p:spPr>
              <a:xfrm>
                <a:off x="365760" y="2999232"/>
                <a:ext cx="5486400" cy="777240"/>
              </a:xfrm>
              <a:prstGeom prst="rect">
                <a:avLst/>
              </a:prstGeom>
              <a:noFill/>
              <a:ln/>
            </p:spPr>
            <p:txBody>
              <a:bodyPr wrap="square" rtlCol="0" anchor="t"/>
              <a:lstStyle/>
              <a:p>
                <a:pPr marL="342900" indent="-342900">
                  <a:buSzPct val="100000"/>
                  <a:buChar char="•"/>
                </a:pP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120</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0</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1</m:t>
                    </m:r>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𝑛𝑜𝑚</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17</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𝑁</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r>
                      <a:rPr lang="es-MX" sz="1400" b="0" i="0" smtClean="0">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𝑞</m:t>
                        </m:r>
                        <m:r>
                          <a:rPr lang="es-AR" sz="1400" i="1">
                            <a:latin typeface="Cambria Math" panose="02040503050406030204" pitchFamily="18" charset="0"/>
                          </a:rPr>
                          <m:t> </m:t>
                        </m:r>
                        <m:r>
                          <a:rPr lang="es-AR" sz="1400" i="1">
                            <a:latin typeface="Cambria Math" panose="02040503050406030204" pitchFamily="18" charset="0"/>
                          </a:rPr>
                          <m:t>𝑚𝑎𝑥</m:t>
                        </m:r>
                      </m:sub>
                    </m:sSub>
                    <m:r>
                      <a:rPr lang="es-AR" sz="1400" i="1">
                        <a:latin typeface="Cambria Math" panose="02040503050406030204" pitchFamily="18" charset="0"/>
                      </a:rPr>
                      <m:t>=</m:t>
                    </m:r>
                    <m:r>
                      <a:rPr lang="es-AR" sz="1400" i="1">
                        <a:latin typeface="Cambria Math" panose="02040503050406030204" pitchFamily="18" charset="0"/>
                      </a:rPr>
                      <m:t>45</m:t>
                    </m:r>
                    <m:r>
                      <a:rPr lang="es-AR" sz="1400" i="1">
                        <a:latin typeface="Cambria Math" panose="02040503050406030204" pitchFamily="18" charset="0"/>
                      </a:rPr>
                      <m:t>.</m:t>
                    </m:r>
                    <m:r>
                      <a:rPr lang="es-AR" sz="1400" i="1">
                        <a:latin typeface="Cambria Math" panose="02040503050406030204" pitchFamily="18" charset="0"/>
                      </a:rPr>
                      <m:t>0</m:t>
                    </m:r>
                    <m:r>
                      <a:rPr lang="es-AR" sz="1400" i="1">
                        <a:latin typeface="Cambria Math" panose="02040503050406030204" pitchFamily="18" charset="0"/>
                      </a:rPr>
                      <m:t> </m:t>
                    </m:r>
                    <m:r>
                      <a:rPr lang="es-AR" sz="1400" i="1">
                        <a:latin typeface="Cambria Math" panose="02040503050406030204" pitchFamily="18" charset="0"/>
                      </a:rPr>
                      <m:t>𝑁</m:t>
                    </m:r>
                    <m:r>
                      <a:rPr lang="es-AR" sz="1400" i="1">
                        <a:latin typeface="Cambria Math" panose="02040503050406030204" pitchFamily="18" charset="0"/>
                      </a:rPr>
                      <m:t>∙</m:t>
                    </m:r>
                    <m:r>
                      <a:rPr lang="es-AR" sz="1400" i="1">
                        <a:latin typeface="Cambria Math" panose="02040503050406030204" pitchFamily="18" charset="0"/>
                      </a:rPr>
                      <m:t>𝑚</m:t>
                    </m:r>
                  </m:oMath>
                </a14:m>
                <a:endParaRPr lang="es-AR" sz="1400" dirty="0">
                  <a:latin typeface="Calibri" pitchFamily="34" charset="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𝑇𝑜𝑟𝑞𝑢𝑒</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𝑑𝑒</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𝑒𝑛𝑡𝑟𝑎𝑑𝑎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𝑙𝑎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𝑐𝑎𝑗𝑎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𝑟𝑒𝑑𝑢𝑐𝑡𝑜𝑟𝑎</m:t>
                    </m:r>
                  </m:oMath>
                </a14:m>
                <a:endParaRPr lang="en-US" sz="1400" dirty="0"/>
              </a:p>
            </p:txBody>
          </p:sp>
        </mc:Choice>
        <mc:Fallback xmlns="">
          <p:sp>
            <p:nvSpPr>
              <p:cNvPr id="13" name="Text 11"/>
              <p:cNvSpPr>
                <a:spLocks noRot="1" noChangeAspect="1" noMove="1" noResize="1" noEditPoints="1" noAdjustHandles="1" noChangeArrowheads="1" noChangeShapeType="1" noTextEdit="1"/>
              </p:cNvSpPr>
              <p:nvPr/>
            </p:nvSpPr>
            <p:spPr>
              <a:xfrm>
                <a:off x="365760" y="2999232"/>
                <a:ext cx="5486400" cy="777240"/>
              </a:xfrm>
              <a:prstGeom prst="rect">
                <a:avLst/>
              </a:prstGeom>
              <a:blipFill>
                <a:blip r:embed="rId9"/>
                <a:stretch>
                  <a:fillRect l="-222" t="-1563" b="-2344"/>
                </a:stretch>
              </a:blipFill>
              <a:ln/>
            </p:spPr>
            <p:txBody>
              <a:bodyPr/>
              <a:lstStyle/>
              <a:p>
                <a:r>
                  <a:rPr lang="es-AR">
                    <a:noFill/>
                  </a:rPr>
                  <a:t> </a:t>
                </a:r>
              </a:p>
            </p:txBody>
          </p:sp>
        </mc:Fallback>
      </mc:AlternateContent>
      <p:sp>
        <p:nvSpPr>
          <p:cNvPr id="14" name="Text 12"/>
          <p:cNvSpPr/>
          <p:nvPr/>
        </p:nvSpPr>
        <p:spPr>
          <a:xfrm>
            <a:off x="6400800" y="804672"/>
            <a:ext cx="54864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Subsistema mecánico del motor PMSM:</a:t>
            </a:r>
            <a:endParaRPr lang="en-US" sz="1400" dirty="0"/>
          </a:p>
        </p:txBody>
      </p:sp>
      <p:sp>
        <p:nvSpPr>
          <p:cNvPr id="15" name="Text 13"/>
          <p:cNvSpPr/>
          <p:nvPr/>
        </p:nvSpPr>
        <p:spPr>
          <a:xfrm>
            <a:off x="6400800" y="1122493"/>
            <a:ext cx="5486400" cy="411480"/>
          </a:xfrm>
          <a:prstGeom prst="rect">
            <a:avLst/>
          </a:prstGeom>
          <a:noFill/>
          <a:ln/>
        </p:spPr>
        <p:txBody>
          <a:bodyPr wrap="square" rtlCol="0" anchor="t"/>
          <a:lstStyle/>
          <a:p>
            <a:pPr marL="0" indent="0" algn="l">
              <a:buNone/>
            </a:pPr>
            <a:r>
              <a:rPr lang="es-MX" sz="1400" dirty="0"/>
              <a:t>El subsistema mecánico del motor corresponde al rotor referido al estator estacionario</a:t>
            </a:r>
            <a:r>
              <a:rPr lang="en-US" sz="1400" dirty="0">
                <a:solidFill>
                  <a:srgbClr val="111111"/>
                </a:solidFill>
                <a:latin typeface="Calibri" pitchFamily="34" charset="0"/>
                <a:ea typeface="Calibri" pitchFamily="34" charset="-122"/>
                <a:cs typeface="Calibri" pitchFamily="34" charset="-120"/>
              </a:rPr>
              <a:t>— parámetros concentrados:</a:t>
            </a:r>
            <a:endParaRPr lang="en-US" sz="1400" dirty="0"/>
          </a:p>
        </p:txBody>
      </p:sp>
      <p:sp>
        <p:nvSpPr>
          <p:cNvPr id="16" name="Shape 14"/>
          <p:cNvSpPr/>
          <p:nvPr/>
        </p:nvSpPr>
        <p:spPr>
          <a:xfrm>
            <a:off x="6492240" y="1691640"/>
            <a:ext cx="530352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7" name="Text 15"/>
              <p:cNvSpPr/>
              <p:nvPr/>
            </p:nvSpPr>
            <p:spPr>
              <a:xfrm>
                <a:off x="6035040" y="1655064"/>
                <a:ext cx="512064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xmlns="">
          <p:sp>
            <p:nvSpPr>
              <p:cNvPr id="17" name="Text 15"/>
              <p:cNvSpPr>
                <a:spLocks noRot="1" noChangeAspect="1" noMove="1" noResize="1" noEditPoints="1" noAdjustHandles="1" noChangeArrowheads="1" noChangeShapeType="1" noTextEdit="1"/>
              </p:cNvSpPr>
              <p:nvPr/>
            </p:nvSpPr>
            <p:spPr>
              <a:xfrm>
                <a:off x="6035040" y="1655064"/>
                <a:ext cx="5120640" cy="530352"/>
              </a:xfrm>
              <a:prstGeom prst="rect">
                <a:avLst/>
              </a:prstGeom>
              <a:blipFill>
                <a:blip r:embed="rId10"/>
                <a:stretch>
                  <a:fillRect/>
                </a:stretch>
              </a:blipFill>
              <a:ln/>
            </p:spPr>
            <p:txBody>
              <a:bodyPr/>
              <a:lstStyle/>
              <a:p>
                <a:r>
                  <a:rPr lang="es-AR">
                    <a:noFill/>
                  </a:rPr>
                  <a:t> </a:t>
                </a:r>
              </a:p>
            </p:txBody>
          </p:sp>
        </mc:Fallback>
      </mc:AlternateContent>
      <p:sp>
        <p:nvSpPr>
          <p:cNvPr id="18" name="Shape 16"/>
          <p:cNvSpPr/>
          <p:nvPr/>
        </p:nvSpPr>
        <p:spPr>
          <a:xfrm>
            <a:off x="6492240" y="2304288"/>
            <a:ext cx="530352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9" name="Text 17"/>
              <p:cNvSpPr/>
              <p:nvPr/>
            </p:nvSpPr>
            <p:spPr>
              <a:xfrm>
                <a:off x="6522722" y="2295144"/>
                <a:ext cx="54864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f>
                        <m:fPr>
                          <m:ctrlPr>
                            <a:rPr lang="es-AR" sz="1050" i="1" smtClean="0">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 ⇔ </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nary>
                        <m:naryPr>
                          <m:ctrlPr>
                            <a:rPr lang="es-AR" sz="1050" i="1">
                              <a:effectLst/>
                              <a:latin typeface="Cambria Math" panose="02040503050406030204" pitchFamily="18" charset="0"/>
                              <a:ea typeface="Times New Roman" panose="02020603050405020304" pitchFamily="18" charset="0"/>
                            </a:rPr>
                          </m:ctrlPr>
                        </m:naryPr>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sup>
                        <m:e>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𝜁</m:t>
                              </m:r>
                            </m:e>
                          </m:d>
                        </m:e>
                      </m:nary>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𝜁</m:t>
                      </m:r>
                    </m:oMath>
                  </m:oMathPara>
                </a14:m>
                <a:endParaRPr lang="en-US" sz="1100" dirty="0"/>
              </a:p>
            </p:txBody>
          </p:sp>
        </mc:Choice>
        <mc:Fallback xmlns="">
          <p:sp>
            <p:nvSpPr>
              <p:cNvPr id="19" name="Text 17"/>
              <p:cNvSpPr>
                <a:spLocks noRot="1" noChangeAspect="1" noMove="1" noResize="1" noEditPoints="1" noAdjustHandles="1" noChangeArrowheads="1" noChangeShapeType="1" noTextEdit="1"/>
              </p:cNvSpPr>
              <p:nvPr/>
            </p:nvSpPr>
            <p:spPr>
              <a:xfrm>
                <a:off x="6522722" y="2295144"/>
                <a:ext cx="5486400" cy="530352"/>
              </a:xfrm>
              <a:prstGeom prst="rect">
                <a:avLst/>
              </a:prstGeom>
              <a:blipFill>
                <a:blip r:embed="rId8"/>
                <a:stretch>
                  <a:fillRect t="-108046" b="-171264"/>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Text 18"/>
              <p:cNvSpPr/>
              <p:nvPr/>
            </p:nvSpPr>
            <p:spPr>
              <a:xfrm>
                <a:off x="6400800" y="2907792"/>
                <a:ext cx="5486400" cy="685800"/>
              </a:xfrm>
              <a:prstGeom prst="rect">
                <a:avLst/>
              </a:prstGeom>
              <a:noFill/>
              <a:ln/>
            </p:spPr>
            <p:txBody>
              <a:bodyPr wrap="square" rtlCol="0" anchor="t"/>
              <a:lstStyle/>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4</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10</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4</m:t>
                        </m:r>
                      </m:sup>
                    </m:sSup>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𝑘𝑔</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𝑚</m:t>
                        </m:r>
                      </m:sub>
                    </m:sSub>
                    <m:r>
                      <a:rPr lang="es-AR" sz="1400" i="1">
                        <a:latin typeface="Cambria Math" panose="02040503050406030204" pitchFamily="18" charset="0"/>
                      </a:rPr>
                      <m:t>≈</m:t>
                    </m:r>
                    <m:r>
                      <a:rPr lang="es-AR" sz="1400" i="1">
                        <a:latin typeface="Cambria Math" panose="02040503050406030204" pitchFamily="18" charset="0"/>
                      </a:rPr>
                      <m:t>15</m:t>
                    </m:r>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m:t>
                        </m:r>
                        <m:r>
                          <a:rPr lang="es-AR" sz="1400" i="1">
                            <a:latin typeface="Cambria Math" panose="02040503050406030204" pitchFamily="18" charset="0"/>
                          </a:rPr>
                          <m:t>6</m:t>
                        </m:r>
                      </m:sup>
                    </m:sSup>
                    <m:r>
                      <a:rPr lang="es-AR" sz="1400" i="1">
                        <a:latin typeface="Cambria Math" panose="02040503050406030204" pitchFamily="18" charset="0"/>
                      </a:rPr>
                      <m:t> </m:t>
                    </m:r>
                    <m:f>
                      <m:fPr>
                        <m:ctrlPr>
                          <a:rPr lang="es-AR" sz="1400" i="1">
                            <a:latin typeface="Cambria Math" panose="02040503050406030204" pitchFamily="18" charset="0"/>
                          </a:rPr>
                        </m:ctrlPr>
                      </m:fPr>
                      <m:num>
                        <m:r>
                          <a:rPr lang="es-AR" sz="1400" i="1">
                            <a:latin typeface="Cambria Math" panose="02040503050406030204" pitchFamily="18" charset="0"/>
                          </a:rPr>
                          <m:t>𝑁</m:t>
                        </m:r>
                        <m:r>
                          <a:rPr lang="es-AR" sz="1400" i="1">
                            <a:latin typeface="Cambria Math" panose="02040503050406030204" pitchFamily="18" charset="0"/>
                          </a:rPr>
                          <m:t>∙</m:t>
                        </m:r>
                        <m:r>
                          <a:rPr lang="es-AR" sz="1400" i="1">
                            <a:latin typeface="Cambria Math" panose="02040503050406030204" pitchFamily="18" charset="0"/>
                          </a:rPr>
                          <m:t>𝑚</m:t>
                        </m:r>
                      </m:num>
                      <m:den>
                        <m:r>
                          <a:rPr lang="es-AR" sz="1400" i="1">
                            <a:latin typeface="Cambria Math" panose="02040503050406030204" pitchFamily="18" charset="0"/>
                          </a:rPr>
                          <m:t>𝑟𝑎𝑑</m:t>
                        </m:r>
                        <m:r>
                          <m:rPr>
                            <m:lit/>
                          </m:rPr>
                          <a:rPr lang="es-AR" sz="1400" i="1">
                            <a:latin typeface="Cambria Math" panose="02040503050406030204" pitchFamily="18" charset="0"/>
                          </a:rPr>
                          <m:t>/</m:t>
                        </m:r>
                        <m:r>
                          <a:rPr lang="es-AR" sz="1400" i="1">
                            <a:latin typeface="Cambria Math" panose="02040503050406030204" pitchFamily="18" charset="0"/>
                          </a:rPr>
                          <m:t>𝑠</m:t>
                        </m:r>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𝑛𝑜𝑚</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latin typeface="Cambria Math" panose="02040503050406030204" pitchFamily="18" charset="0"/>
                      </a:rPr>
                      <m:t>691</m:t>
                    </m:r>
                    <m:r>
                      <a:rPr lang="es-AR" sz="1400" i="1">
                        <a:latin typeface="Cambria Math" panose="02040503050406030204" pitchFamily="18" charset="0"/>
                      </a:rPr>
                      <m:t>.</m:t>
                    </m:r>
                    <m:r>
                      <a:rPr lang="es-AR" sz="1400" i="1">
                        <a:latin typeface="Cambria Math" panose="02040503050406030204" pitchFamily="18" charset="0"/>
                      </a:rPr>
                      <m:t>15</m:t>
                    </m:r>
                    <m:r>
                      <a:rPr lang="es-AR" sz="1400" i="1">
                        <a:latin typeface="Cambria Math" panose="02040503050406030204" pitchFamily="18" charset="0"/>
                      </a:rPr>
                      <m:t> </m:t>
                    </m:r>
                    <m:f>
                      <m:fPr>
                        <m:ctrlPr>
                          <a:rPr lang="es-AR" sz="1400" i="1">
                            <a:latin typeface="Cambria Math" panose="02040503050406030204" pitchFamily="18" charset="0"/>
                          </a:rPr>
                        </m:ctrlPr>
                      </m:fPr>
                      <m:num>
                        <m:r>
                          <a:rPr lang="es-AR" sz="1400" i="1">
                            <a:latin typeface="Cambria Math" panose="02040503050406030204" pitchFamily="18" charset="0"/>
                          </a:rPr>
                          <m:t>𝑟𝑎𝑑</m:t>
                        </m:r>
                      </m:num>
                      <m:den>
                        <m:r>
                          <a:rPr lang="es-AR" sz="1400" i="1">
                            <a:latin typeface="Cambria Math" panose="02040503050406030204" pitchFamily="18" charset="0"/>
                          </a:rPr>
                          <m:t>𝑠</m:t>
                        </m:r>
                      </m:den>
                    </m:f>
                  </m:oMath>
                </a14:m>
                <a:endParaRPr lang="en-US" sz="1400" dirty="0"/>
              </a:p>
            </p:txBody>
          </p:sp>
        </mc:Choice>
        <mc:Fallback xmlns="">
          <p:sp>
            <p:nvSpPr>
              <p:cNvPr id="20" name="Text 18"/>
              <p:cNvSpPr>
                <a:spLocks noRot="1" noChangeAspect="1" noMove="1" noResize="1" noEditPoints="1" noAdjustHandles="1" noChangeArrowheads="1" noChangeShapeType="1" noTextEdit="1"/>
              </p:cNvSpPr>
              <p:nvPr/>
            </p:nvSpPr>
            <p:spPr>
              <a:xfrm>
                <a:off x="6400800" y="2907792"/>
                <a:ext cx="5486400" cy="685800"/>
              </a:xfrm>
              <a:prstGeom prst="rect">
                <a:avLst/>
              </a:prstGeom>
              <a:blipFill>
                <a:blip r:embed="rId2"/>
                <a:stretch>
                  <a:fillRect l="-222" b="-708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5" name="Text 6">
                <a:extLst>
                  <a:ext uri="{FF2B5EF4-FFF2-40B4-BE49-F238E27FC236}">
                    <a16:creationId xmlns:a16="http://schemas.microsoft.com/office/drawing/2014/main" id="{9B4CF49A-AADC-44C9-9A28-1F5C08A0EA0B}"/>
                  </a:ext>
                </a:extLst>
              </p:cNvPr>
              <p:cNvSpPr/>
              <p:nvPr/>
            </p:nvSpPr>
            <p:spPr>
              <a:xfrm>
                <a:off x="91440" y="3942041"/>
                <a:ext cx="11704320" cy="502920"/>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Expresando las variables de la carga mecánica en función de las del motor, utilizando la relación de transmisión y despejando </a:t>
                </a:r>
                <a14:m>
                  <m:oMath xmlns:m="http://schemas.openxmlformats.org/officeDocument/2006/math">
                    <m:sSub>
                      <m:sSubPr>
                        <m:ctrlPr>
                          <a:rPr lang="es-AR" sz="1300" i="1" smtClean="0">
                            <a:effectLst/>
                            <a:latin typeface="Cambria Math" panose="02040503050406030204" pitchFamily="18" charset="0"/>
                            <a:ea typeface="Times New Roman" panose="02020603050405020304" pitchFamily="18" charset="0"/>
                          </a:rPr>
                        </m:ctrlPr>
                      </m:sSubPr>
                      <m:e>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300" b="0" i="1" smtClean="0">
                            <a:effectLst/>
                            <a:latin typeface="Cambria Math" panose="02040503050406030204" pitchFamily="18" charset="0"/>
                            <a:ea typeface="Times New Roman" panose="02020603050405020304" pitchFamily="18" charset="0"/>
                            <a:cs typeface="Times New Roman" panose="02020603050405020304" pitchFamily="18" charset="0"/>
                          </a:rPr>
                          <m:t>𝑑</m:t>
                        </m:r>
                      </m:sub>
                    </m:sSub>
                  </m:oMath>
                </a14:m>
                <a:r>
                  <a:rPr lang="es-AR" sz="1300" dirty="0">
                    <a:solidFill>
                      <a:srgbClr val="111111"/>
                    </a:solidFill>
                    <a:latin typeface="Calibri" pitchFamily="34" charset="0"/>
                    <a:ea typeface="Calibri" pitchFamily="34" charset="-122"/>
                    <a:cs typeface="Calibri" pitchFamily="34" charset="-120"/>
                  </a:rPr>
                  <a:t>: </a:t>
                </a:r>
                <a:endParaRPr lang="es-AR" sz="1300" dirty="0"/>
              </a:p>
            </p:txBody>
          </p:sp>
        </mc:Choice>
        <mc:Fallback xmlns="">
          <p:sp>
            <p:nvSpPr>
              <p:cNvPr id="25" name="Text 6">
                <a:extLst>
                  <a:ext uri="{FF2B5EF4-FFF2-40B4-BE49-F238E27FC236}">
                    <a16:creationId xmlns:a16="http://schemas.microsoft.com/office/drawing/2014/main" id="{9B4CF49A-AADC-44C9-9A28-1F5C08A0EA0B}"/>
                  </a:ext>
                </a:extLst>
              </p:cNvPr>
              <p:cNvSpPr>
                <a:spLocks noRot="1" noChangeAspect="1" noMove="1" noResize="1" noEditPoints="1" noAdjustHandles="1" noChangeArrowheads="1" noChangeShapeType="1" noTextEdit="1"/>
              </p:cNvSpPr>
              <p:nvPr/>
            </p:nvSpPr>
            <p:spPr>
              <a:xfrm>
                <a:off x="91440" y="3942041"/>
                <a:ext cx="11704320" cy="502920"/>
              </a:xfrm>
              <a:prstGeom prst="rect">
                <a:avLst/>
              </a:prstGeom>
              <a:blipFill>
                <a:blip r:embed="rId11"/>
                <a:stretch>
                  <a:fillRect l="-52" t="-122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31442EDF-7B72-4F84-BA33-1E72FD3CFE59}"/>
                  </a:ext>
                </a:extLst>
              </p:cNvPr>
              <p:cNvSpPr txBox="1"/>
              <p:nvPr/>
            </p:nvSpPr>
            <p:spPr>
              <a:xfrm>
                <a:off x="457200" y="4322514"/>
                <a:ext cx="3442909"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𝑑</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𝑇</m:t>
                          </m:r>
                        </m:e>
                        <m:sub>
                          <m:r>
                            <a:rPr lang="es-AR" sz="1400" i="1">
                              <a:latin typeface="Cambria Math" panose="02040503050406030204" pitchFamily="18" charset="0"/>
                            </a:rPr>
                            <m:t>𝑙</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m:oMathPara>
                </a14:m>
                <a:endParaRPr lang="es-AR" sz="1100" dirty="0">
                  <a:solidFill>
                    <a:schemeClr val="tx1"/>
                  </a:solidFill>
                </a:endParaRPr>
              </a:p>
            </p:txBody>
          </p:sp>
        </mc:Choice>
        <mc:Fallback xmlns="">
          <p:sp>
            <p:nvSpPr>
              <p:cNvPr id="28" name="CuadroTexto 27">
                <a:extLst>
                  <a:ext uri="{FF2B5EF4-FFF2-40B4-BE49-F238E27FC236}">
                    <a16:creationId xmlns:a16="http://schemas.microsoft.com/office/drawing/2014/main" id="{31442EDF-7B72-4F84-BA33-1E72FD3CFE59}"/>
                  </a:ext>
                </a:extLst>
              </p:cNvPr>
              <p:cNvSpPr txBox="1">
                <a:spLocks noRot="1" noChangeAspect="1" noMove="1" noResize="1" noEditPoints="1" noAdjustHandles="1" noChangeArrowheads="1" noChangeShapeType="1" noTextEdit="1"/>
              </p:cNvSpPr>
              <p:nvPr/>
            </p:nvSpPr>
            <p:spPr>
              <a:xfrm>
                <a:off x="457200" y="4322514"/>
                <a:ext cx="3442909" cy="499945"/>
              </a:xfrm>
              <a:prstGeom prst="rect">
                <a:avLst/>
              </a:prstGeom>
              <a:blipFill>
                <a:blip r:embed="rId12"/>
                <a:stretch>
                  <a:fillRect/>
                </a:stretch>
              </a:blipFill>
            </p:spPr>
            <p:txBody>
              <a:bodyPr/>
              <a:lstStyle/>
              <a:p>
                <a:r>
                  <a:rPr lang="es-AR">
                    <a:noFill/>
                  </a:rPr>
                  <a:t> </a:t>
                </a:r>
              </a:p>
            </p:txBody>
          </p:sp>
        </mc:Fallback>
      </mc:AlternateContent>
      <p:sp>
        <p:nvSpPr>
          <p:cNvPr id="30" name="Text 6">
            <a:extLst>
              <a:ext uri="{FF2B5EF4-FFF2-40B4-BE49-F238E27FC236}">
                <a16:creationId xmlns:a16="http://schemas.microsoft.com/office/drawing/2014/main" id="{07AD0427-720A-4A83-BE86-A827F1CA1736}"/>
              </a:ext>
            </a:extLst>
          </p:cNvPr>
          <p:cNvSpPr/>
          <p:nvPr/>
        </p:nvSpPr>
        <p:spPr>
          <a:xfrm>
            <a:off x="182880" y="5014108"/>
            <a:ext cx="11704320" cy="502920"/>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Y reemplazando en la ecuación del subsistema del motor:</a:t>
            </a:r>
            <a:endParaRPr lang="es-AR" sz="1300" dirty="0"/>
          </a:p>
        </p:txBody>
      </p:sp>
      <p:sp>
        <p:nvSpPr>
          <p:cNvPr id="31" name="Shape 9">
            <a:extLst>
              <a:ext uri="{FF2B5EF4-FFF2-40B4-BE49-F238E27FC236}">
                <a16:creationId xmlns:a16="http://schemas.microsoft.com/office/drawing/2014/main" id="{D9788D1C-B7CB-47DE-B01D-2EBC987D943C}"/>
              </a:ext>
            </a:extLst>
          </p:cNvPr>
          <p:cNvSpPr/>
          <p:nvPr/>
        </p:nvSpPr>
        <p:spPr>
          <a:xfrm>
            <a:off x="457200" y="5416444"/>
            <a:ext cx="10719786" cy="6491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73CA2346-43EF-445B-948C-A91E2B55DD49}"/>
                  </a:ext>
                </a:extLst>
              </p:cNvPr>
              <p:cNvSpPr txBox="1"/>
              <p:nvPr/>
            </p:nvSpPr>
            <p:spPr>
              <a:xfrm>
                <a:off x="679140" y="5488553"/>
                <a:ext cx="7824779" cy="473335"/>
              </a:xfrm>
              <a:prstGeom prst="rect">
                <a:avLst/>
              </a:prstGeom>
              <a:noFill/>
            </p:spPr>
            <p:txBody>
              <a:bodyPr wrap="square">
                <a:spAutoFit/>
              </a:bodyPr>
              <a:lstStyle/>
              <a:p>
                <a14:m>
                  <m:oMath xmlns:m="http://schemas.openxmlformats.org/officeDocument/2006/math">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e>
                    </m:d>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e>
                    </m:d>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𝑇</m:t>
                            </m:r>
                          </m:e>
                          <m:sub>
                            <m:r>
                              <a:rPr lang="es-AR" sz="1400" i="1">
                                <a:latin typeface="Cambria Math" panose="02040503050406030204" pitchFamily="18" charset="0"/>
                              </a:rPr>
                              <m:t>𝑙</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oMath>
                </a14:m>
                <a:r>
                  <a:rPr lang="es-AR" sz="1400" dirty="0">
                    <a:solidFill>
                      <a:schemeClr val="tx1"/>
                    </a:solidFill>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oMath>
                </a14:m>
                <a:r>
                  <a:rPr lang="es-AR" sz="1400" dirty="0">
                    <a:solidFill>
                      <a:schemeClr val="tx1"/>
                    </a:solidFill>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oMath>
                </a14:m>
                <a:endParaRPr lang="es-AR" sz="1400" dirty="0">
                  <a:solidFill>
                    <a:schemeClr val="tx1"/>
                  </a:solidFill>
                </a:endParaRPr>
              </a:p>
            </p:txBody>
          </p:sp>
        </mc:Choice>
        <mc:Fallback xmlns="">
          <p:sp>
            <p:nvSpPr>
              <p:cNvPr id="32" name="CuadroTexto 31">
                <a:extLst>
                  <a:ext uri="{FF2B5EF4-FFF2-40B4-BE49-F238E27FC236}">
                    <a16:creationId xmlns:a16="http://schemas.microsoft.com/office/drawing/2014/main" id="{73CA2346-43EF-445B-948C-A91E2B55DD49}"/>
                  </a:ext>
                </a:extLst>
              </p:cNvPr>
              <p:cNvSpPr txBox="1">
                <a:spLocks noRot="1" noChangeAspect="1" noMove="1" noResize="1" noEditPoints="1" noAdjustHandles="1" noChangeArrowheads="1" noChangeShapeType="1" noTextEdit="1"/>
              </p:cNvSpPr>
              <p:nvPr/>
            </p:nvSpPr>
            <p:spPr>
              <a:xfrm>
                <a:off x="679140" y="5488553"/>
                <a:ext cx="7824779" cy="473335"/>
              </a:xfrm>
              <a:prstGeom prst="rect">
                <a:avLst/>
              </a:prstGeom>
              <a:blipFill>
                <a:blip r:embed="rId13"/>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3830440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a:solidFill>
                  <a:srgbClr val="FFFFFF"/>
                </a:solidFill>
                <a:latin typeface="Calibri" pitchFamily="34" charset="0"/>
                <a:ea typeface="Calibri" pitchFamily="34" charset="-122"/>
                <a:cs typeface="Calibri" pitchFamily="34" charset="-120"/>
              </a:rPr>
              <a:t>Subsistema</a:t>
            </a:r>
            <a:r>
              <a:rPr lang="en-US" sz="1900" b="1" dirty="0">
                <a:solidFill>
                  <a:srgbClr val="FFFFFF"/>
                </a:solidFill>
                <a:latin typeface="Calibri" pitchFamily="34" charset="0"/>
                <a:ea typeface="Calibri" pitchFamily="34" charset="-122"/>
                <a:cs typeface="Calibri" pitchFamily="34" charset="-120"/>
              </a:rPr>
              <a:t> mecánico del motor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21" name="Text 19"/>
          <p:cNvSpPr/>
          <p:nvPr/>
        </p:nvSpPr>
        <p:spPr>
          <a:xfrm>
            <a:off x="177198" y="1882411"/>
            <a:ext cx="11341401" cy="411480"/>
          </a:xfrm>
          <a:prstGeom prst="rect">
            <a:avLst/>
          </a:prstGeom>
          <a:noFill/>
          <a:ln/>
        </p:spPr>
        <p:txBody>
          <a:bodyPr wrap="square" rtlCol="0" anchor="t"/>
          <a:lstStyle/>
          <a:p>
            <a:pPr marL="0" indent="0" algn="l">
              <a:buNone/>
            </a:pPr>
            <a:r>
              <a:rPr lang="es-AR" sz="1400" b="1" dirty="0">
                <a:solidFill>
                  <a:srgbClr val="1A386B"/>
                </a:solidFill>
                <a:latin typeface="Calibri" pitchFamily="34" charset="0"/>
                <a:ea typeface="Calibri" pitchFamily="34" charset="-122"/>
                <a:cs typeface="Calibri" pitchFamily="34" charset="-120"/>
              </a:rPr>
              <a:t>Se obtiene entonces el modelo mecánico equivalente completo (referido al eje del motor):</a:t>
            </a:r>
            <a:endParaRPr lang="es-AR" sz="1400" dirty="0"/>
          </a:p>
        </p:txBody>
      </p:sp>
      <p:sp>
        <p:nvSpPr>
          <p:cNvPr id="22" name="Shape 20"/>
          <p:cNvSpPr/>
          <p:nvPr/>
        </p:nvSpPr>
        <p:spPr>
          <a:xfrm>
            <a:off x="182880" y="2335739"/>
            <a:ext cx="11247120" cy="1214465"/>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3" name="Text 21"/>
              <p:cNvSpPr/>
              <p:nvPr/>
            </p:nvSpPr>
            <p:spPr>
              <a:xfrm>
                <a:off x="-373473" y="2625559"/>
                <a:ext cx="5178523" cy="59436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600" i="1" smtClean="0">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acc>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cs typeface="Times New Roman" panose="020206030504050203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600" i="1">
                                        <a:effectLst/>
                                        <a:latin typeface="Cambria Math" panose="02040503050406030204" pitchFamily="18" charset="0"/>
                                        <a:cs typeface="Times New Roman" panose="020206030504050203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60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den>
                                </m:f>
                                <m:sSub>
                                  <m:sSubPr>
                                    <m:ctrlPr>
                                      <a:rPr lang="es-AR" sz="1600" i="1">
                                        <a:effectLst/>
                                        <a:latin typeface="Cambria Math" panose="02040503050406030204" pitchFamily="18" charset="0"/>
                                        <a:cs typeface="Times New Roman" panose="020206030504050203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600" i="1">
                                        <a:effectLst/>
                                        <a:latin typeface="Cambria Math" panose="02040503050406030204" pitchFamily="18" charset="0"/>
                                        <a:cs typeface="Times New Roman" panose="020206030504050203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e>
                            </m:mr>
                            <m:mr>
                              <m:e>
                                <m:r>
                                  <a:rPr lang="es-AR" sz="1600" i="1">
                                    <a:effectLst/>
                                    <a:latin typeface="Cambria Math" panose="02040503050406030204" pitchFamily="18" charset="0"/>
                                    <a:ea typeface="Cambria Math" panose="02040503050406030204" pitchFamily="18" charset="0"/>
                                    <a:cs typeface="Cambria Math" panose="02040503050406030204" pitchFamily="18" charset="0"/>
                                  </a:rPr>
                                  <m:t>𝑦</m:t>
                                </m:r>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600" dirty="0"/>
              </a:p>
            </p:txBody>
          </p:sp>
        </mc:Choice>
        <mc:Fallback xmlns="">
          <p:sp>
            <p:nvSpPr>
              <p:cNvPr id="23" name="Text 21"/>
              <p:cNvSpPr>
                <a:spLocks noRot="1" noChangeAspect="1" noMove="1" noResize="1" noEditPoints="1" noAdjustHandles="1" noChangeArrowheads="1" noChangeShapeType="1" noTextEdit="1"/>
              </p:cNvSpPr>
              <p:nvPr/>
            </p:nvSpPr>
            <p:spPr>
              <a:xfrm>
                <a:off x="-373473" y="2625559"/>
                <a:ext cx="5178523" cy="594360"/>
              </a:xfrm>
              <a:prstGeom prst="rect">
                <a:avLst/>
              </a:prstGeom>
              <a:blipFill>
                <a:blip r:embed="rId2"/>
                <a:stretch>
                  <a:fillRect t="-37113" b="-44330"/>
                </a:stretch>
              </a:blipFill>
              <a:ln/>
            </p:spPr>
            <p:txBody>
              <a:bodyPr/>
              <a:lstStyle/>
              <a:p>
                <a:r>
                  <a:rPr lang="es-AR">
                    <a:noFill/>
                  </a:rPr>
                  <a:t> </a:t>
                </a:r>
              </a:p>
            </p:txBody>
          </p:sp>
        </mc:Fallback>
      </mc:AlternateContent>
      <p:sp>
        <p:nvSpPr>
          <p:cNvPr id="25" name="Text 6">
            <a:extLst>
              <a:ext uri="{FF2B5EF4-FFF2-40B4-BE49-F238E27FC236}">
                <a16:creationId xmlns:a16="http://schemas.microsoft.com/office/drawing/2014/main" id="{59955CD1-FD34-4648-B4C4-E65F5F9E10DD}"/>
              </a:ext>
            </a:extLst>
          </p:cNvPr>
          <p:cNvSpPr/>
          <p:nvPr/>
        </p:nvSpPr>
        <p:spPr>
          <a:xfrm>
            <a:off x="177198" y="715313"/>
            <a:ext cx="11618562" cy="502920"/>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Con los siguientes vectores de estados, entrada y salida, respectivamente:</a:t>
            </a:r>
            <a:endParaRPr lang="es-AR" sz="1300" dirty="0"/>
          </a:p>
        </p:txBody>
      </p:sp>
      <p:sp>
        <p:nvSpPr>
          <p:cNvPr id="27" name="Shape 20">
            <a:extLst>
              <a:ext uri="{FF2B5EF4-FFF2-40B4-BE49-F238E27FC236}">
                <a16:creationId xmlns:a16="http://schemas.microsoft.com/office/drawing/2014/main" id="{05FE7D54-3017-4137-9195-493937B70021}"/>
              </a:ext>
            </a:extLst>
          </p:cNvPr>
          <p:cNvSpPr/>
          <p:nvPr/>
        </p:nvSpPr>
        <p:spPr>
          <a:xfrm>
            <a:off x="182879" y="1057709"/>
            <a:ext cx="11244279" cy="791767"/>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8" name="Text 21">
                <a:extLst>
                  <a:ext uri="{FF2B5EF4-FFF2-40B4-BE49-F238E27FC236}">
                    <a16:creationId xmlns:a16="http://schemas.microsoft.com/office/drawing/2014/main" id="{9CB1D5DA-B895-49EC-AF0F-2B5E12F4D128}"/>
                  </a:ext>
                </a:extLst>
              </p:cNvPr>
              <p:cNvSpPr/>
              <p:nvPr/>
            </p:nvSpPr>
            <p:spPr>
              <a:xfrm>
                <a:off x="91440" y="1109831"/>
                <a:ext cx="5387571" cy="594360"/>
              </a:xfrm>
              <a:prstGeom prst="rect">
                <a:avLst/>
              </a:prstGeom>
              <a:noFill/>
              <a:ln/>
            </p:spPr>
            <p:txBody>
              <a:bodyPr wrap="square" rtlCol="0" anchor="ctr"/>
              <a:lstStyle/>
              <a:p>
                <a:pPr algn="ctr"/>
                <a14:m>
                  <m:oMath xmlns:m="http://schemas.openxmlformats.org/officeDocument/2006/math">
                    <m:r>
                      <a:rPr lang="es-AR" sz="1600" i="1" smtClean="0">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𝜃</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
                      </m:e>
                    </m:d>
                  </m:oMath>
                </a14:m>
                <a:r>
                  <a:rPr lang="en-US" sz="1600" dirty="0"/>
                  <a:t>, </a:t>
                </a:r>
                <a14:m>
                  <m:oMath xmlns:m="http://schemas.openxmlformats.org/officeDocument/2006/math">
                    <m:r>
                      <a:rPr lang="es-MX" sz="1600" b="0" i="0" smtClean="0">
                        <a:latin typeface="Cambria Math" panose="02040503050406030204" pitchFamily="18" charset="0"/>
                      </a:rPr>
                      <m:t>       </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f>
                                <m:fPr>
                                  <m:ctrlPr>
                                    <a:rPr lang="es-AR" sz="1600" i="1">
                                      <a:latin typeface="Cambria Math" panose="02040503050406030204" pitchFamily="18" charset="0"/>
                                    </a:rPr>
                                  </m:ctrlPr>
                                </m:fPr>
                                <m:num>
                                  <m:r>
                                    <a:rPr lang="es-AR" sz="1600" i="1">
                                      <a:latin typeface="Cambria Math" panose="02040503050406030204" pitchFamily="18" charset="0"/>
                                    </a:rPr>
                                    <m:t>1</m:t>
                                  </m:r>
                                </m:num>
                                <m:den>
                                  <m:r>
                                    <a:rPr lang="es-AR" sz="1600" i="1">
                                      <a:latin typeface="Cambria Math" panose="02040503050406030204" pitchFamily="18" charset="0"/>
                                    </a:rPr>
                                    <m:t>𝑟</m:t>
                                  </m:r>
                                </m:den>
                              </m:f>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𝑙</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
                      </m:e>
                    </m:d>
                  </m:oMath>
                </a14:m>
                <a:r>
                  <a:rPr lang="en-US" sz="1600" dirty="0"/>
                  <a:t>, </a:t>
                </a:r>
                <a14:m>
                  <m:oMath xmlns:m="http://schemas.openxmlformats.org/officeDocument/2006/math">
                    <m:r>
                      <a:rPr lang="es-MX" sz="1600" b="0" i="0" smtClean="0">
                        <a:latin typeface="Cambria Math" panose="02040503050406030204" pitchFamily="18" charset="0"/>
                      </a:rPr>
                      <m:t>   </m:t>
                    </m:r>
                    <m:r>
                      <a:rPr lang="es-MX" sz="1600" b="0" i="1" smtClean="0">
                        <a:latin typeface="Cambria Math" panose="02040503050406030204" pitchFamily="18" charset="0"/>
                      </a:rPr>
                      <m:t>    </m:t>
                    </m:r>
                    <m:r>
                      <a:rPr lang="es-AR" sz="1600" i="1">
                        <a:latin typeface="Cambria Math" panose="02040503050406030204" pitchFamily="18" charset="0"/>
                      </a:rPr>
                      <m:t>𝑦</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𝜃</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a14:m>
                <a:endParaRPr lang="en-US" sz="1600" dirty="0"/>
              </a:p>
            </p:txBody>
          </p:sp>
        </mc:Choice>
        <mc:Fallback xmlns="">
          <p:sp>
            <p:nvSpPr>
              <p:cNvPr id="28" name="Text 21">
                <a:extLst>
                  <a:ext uri="{FF2B5EF4-FFF2-40B4-BE49-F238E27FC236}">
                    <a16:creationId xmlns:a16="http://schemas.microsoft.com/office/drawing/2014/main" id="{9CB1D5DA-B895-49EC-AF0F-2B5E12F4D128}"/>
                  </a:ext>
                </a:extLst>
              </p:cNvPr>
              <p:cNvSpPr>
                <a:spLocks noRot="1" noChangeAspect="1" noMove="1" noResize="1" noEditPoints="1" noAdjustHandles="1" noChangeArrowheads="1" noChangeShapeType="1" noTextEdit="1"/>
              </p:cNvSpPr>
              <p:nvPr/>
            </p:nvSpPr>
            <p:spPr>
              <a:xfrm>
                <a:off x="91440" y="1109831"/>
                <a:ext cx="5387571" cy="594360"/>
              </a:xfrm>
              <a:prstGeom prst="rect">
                <a:avLst/>
              </a:prstGeom>
              <a:blipFill>
                <a:blip r:embed="rId3"/>
                <a:stretch>
                  <a:fillRect b="-2041"/>
                </a:stretch>
              </a:blipFill>
              <a:ln/>
            </p:spPr>
            <p:txBody>
              <a:bodyPr/>
              <a:lstStyle/>
              <a:p>
                <a:r>
                  <a:rPr lang="es-AR">
                    <a:noFill/>
                  </a:rPr>
                  <a:t> </a:t>
                </a:r>
              </a:p>
            </p:txBody>
          </p:sp>
        </mc:Fallback>
      </mc:AlternateContent>
      <p:sp>
        <p:nvSpPr>
          <p:cNvPr id="29" name="Text 19">
            <a:extLst>
              <a:ext uri="{FF2B5EF4-FFF2-40B4-BE49-F238E27FC236}">
                <a16:creationId xmlns:a16="http://schemas.microsoft.com/office/drawing/2014/main" id="{CE663B03-D651-4B0D-8172-D7C28A9FF0C5}"/>
              </a:ext>
            </a:extLst>
          </p:cNvPr>
          <p:cNvSpPr/>
          <p:nvPr/>
        </p:nvSpPr>
        <p:spPr>
          <a:xfrm>
            <a:off x="227179" y="3681280"/>
            <a:ext cx="11291420" cy="411480"/>
          </a:xfrm>
          <a:prstGeom prst="rect">
            <a:avLst/>
          </a:prstGeom>
          <a:noFill/>
          <a:ln/>
        </p:spPr>
        <p:txBody>
          <a:bodyPr wrap="square" rtlCol="0" anchor="t"/>
          <a:lstStyle/>
          <a:p>
            <a:pPr marL="0" indent="0" algn="l">
              <a:buNone/>
            </a:pPr>
            <a:r>
              <a:rPr lang="es-AR" sz="1400" b="1" dirty="0">
                <a:solidFill>
                  <a:srgbClr val="1A386B"/>
                </a:solidFill>
                <a:latin typeface="Calibri" pitchFamily="34" charset="0"/>
                <a:ea typeface="Calibri" pitchFamily="34" charset="-122"/>
                <a:cs typeface="Calibri" pitchFamily="34" charset="-120"/>
              </a:rPr>
              <a:t>Representación matricial en espacio de estados:</a:t>
            </a:r>
            <a:endParaRPr lang="es-AR" sz="1400" dirty="0"/>
          </a:p>
        </p:txBody>
      </p:sp>
      <p:sp>
        <p:nvSpPr>
          <p:cNvPr id="30" name="Shape 20">
            <a:extLst>
              <a:ext uri="{FF2B5EF4-FFF2-40B4-BE49-F238E27FC236}">
                <a16:creationId xmlns:a16="http://schemas.microsoft.com/office/drawing/2014/main" id="{8B4DE1EB-B212-4A92-A0D0-0B0C5C1971DD}"/>
              </a:ext>
            </a:extLst>
          </p:cNvPr>
          <p:cNvSpPr/>
          <p:nvPr/>
        </p:nvSpPr>
        <p:spPr>
          <a:xfrm>
            <a:off x="227179" y="4231196"/>
            <a:ext cx="11158521" cy="1214465"/>
          </a:xfrm>
          <a:prstGeom prst="rect">
            <a:avLst/>
          </a:prstGeom>
          <a:solidFill>
            <a:srgbClr val="FFF8E8"/>
          </a:solidFill>
          <a:ln w="19050">
            <a:solidFill>
              <a:srgbClr val="DDAA00"/>
            </a:solidFill>
            <a:prstDash val="solid"/>
          </a:ln>
        </p:spPr>
        <p:txBody>
          <a:bodyPr/>
          <a:lstStyle/>
          <a:p>
            <a:endParaRPr lang="es-AR" dirty="0"/>
          </a:p>
        </p:txBody>
      </p:sp>
      <mc:AlternateContent xmlns:mc="http://schemas.openxmlformats.org/markup-compatibility/2006" xmlns:a14="http://schemas.microsoft.com/office/drawing/2010/main">
        <mc:Choice Requires="a14">
          <p:sp>
            <p:nvSpPr>
              <p:cNvPr id="31" name="Text 21">
                <a:extLst>
                  <a:ext uri="{FF2B5EF4-FFF2-40B4-BE49-F238E27FC236}">
                    <a16:creationId xmlns:a16="http://schemas.microsoft.com/office/drawing/2014/main" id="{2F45BAC8-DE8F-46C4-B1B9-E38DCFAD6909}"/>
                  </a:ext>
                </a:extLst>
              </p:cNvPr>
              <p:cNvSpPr/>
              <p:nvPr/>
            </p:nvSpPr>
            <p:spPr>
              <a:xfrm>
                <a:off x="91440" y="4558603"/>
                <a:ext cx="5178523"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d>
                        <m:dPr>
                          <m:begChr m:val="{"/>
                          <m:endChr m:val=""/>
                          <m:ctrlPr>
                            <a:rPr lang="es-AR" sz="1400" i="1" smtClean="0">
                              <a:effectLst/>
                              <a:latin typeface="Cambria Math" panose="02040503050406030204" pitchFamily="18" charset="0"/>
                              <a:ea typeface="Times New Roman" panose="02020603050405020304" pitchFamily="18" charset="0"/>
                            </a:rPr>
                          </m:ctrlPr>
                        </m:dPr>
                        <m:e>
                          <m:eqArr>
                            <m:eqArrPr>
                              <m:ctrlPr>
                                <a:rPr lang="es-AR" sz="1400" i="1">
                                  <a:effectLst/>
                                  <a:latin typeface="Cambria Math" panose="02040503050406030204" pitchFamily="18" charset="0"/>
                                  <a:ea typeface="Times New Roman" panose="02020603050405020304" pitchFamily="18" charset="0"/>
                                </a:rPr>
                              </m:ctrlPr>
                            </m:eqArrPr>
                            <m:e>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400" i="1">
                                                    <a:effectLst/>
                                                    <a:latin typeface="Cambria Math" panose="02040503050406030204" pitchFamily="18" charset="0"/>
                                                    <a:ea typeface="Times New Roman" panose="02020603050405020304" pitchFamily="18" charset="0"/>
                                                  </a:rPr>
                                                </m:ctrlPr>
                                              </m:acc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𝜃</m:t>
                                                </m:r>
                                              </m:e>
                                            </m:acc>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400" i="1">
                                                    <a:effectLst/>
                                                    <a:latin typeface="Cambria Math" panose="02040503050406030204" pitchFamily="18" charset="0"/>
                                                    <a:ea typeface="Times New Roman" panose="02020603050405020304" pitchFamily="18" charset="0"/>
                                                  </a:rPr>
                                                </m:ctrlPr>
                                              </m:acc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e>
                                            </m:acc>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2"/>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box>
                                          <m:boxPr>
                                            <m:ctrlPr>
                                              <a:rPr lang="es-AR" sz="1400" i="1">
                                                <a:effectLst/>
                                                <a:latin typeface="Cambria Math" panose="02040503050406030204" pitchFamily="18" charset="0"/>
                                                <a:ea typeface="Times New Roman" panose="02020603050405020304" pitchFamily="18" charset="0"/>
                                              </a:rPr>
                                            </m:ctrlPr>
                                          </m:boxPr>
                                          <m:e>
                                            <m:argPr>
                                              <m:argSz m:val="-1"/>
                                            </m:argPr>
                                            <m:f>
                                              <m:fPr>
                                                <m:ctrlPr>
                                                  <a:rPr lang="es-AR" sz="1400" i="1">
                                                    <a:effectLst/>
                                                    <a:latin typeface="Cambria Math" panose="02040503050406030204" pitchFamily="18" charset="0"/>
                                                    <a:ea typeface="Times New Roman" panose="02020603050405020304" pitchFamily="18" charset="0"/>
                                                  </a:rPr>
                                                </m:ctrlPr>
                                              </m:fPr>
                                              <m:num>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num>
                                              <m:den>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mr>
                                    <m:mr>
                                      <m:e>
                                        <m:box>
                                          <m:boxPr>
                                            <m:ctrlPr>
                                              <a:rPr lang="es-AR" sz="1400" i="1">
                                                <a:effectLst/>
                                                <a:latin typeface="Cambria Math" panose="02040503050406030204" pitchFamily="18" charset="0"/>
                                                <a:ea typeface="Times New Roman" panose="02020603050405020304" pitchFamily="18" charset="0"/>
                                              </a:rPr>
                                            </m:ctrlPr>
                                          </m:boxPr>
                                          <m:e>
                                            <m:argPr>
                                              <m:argSz m:val="-1"/>
                                            </m:argPr>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400" i="1">
                                                    <a:effectLst/>
                                                    <a:latin typeface="Cambria Math" panose="02040503050406030204" pitchFamily="18" charset="0"/>
                                                    <a:ea typeface="Times New Roman" panose="02020603050405020304" pitchFamily="18" charset="0"/>
                                                  </a:rPr>
                                                </m:ctrlPr>
                                              </m:fPr>
                                              <m:num>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𝑟</m:t>
                                                </m:r>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sSub>
                                <m:sSubPr>
                                  <m:ctrlPr>
                                    <a:rPr lang="es-AR" sz="1400" i="1">
                                      <a:effectLst/>
                                      <a:latin typeface="Cambria Math" panose="02040503050406030204" pitchFamily="18" charset="0"/>
                                    </a:rPr>
                                  </m:ctrlPr>
                                </m:sSub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b="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400" i="1">
                                      <a:effectLst/>
                                      <a:latin typeface="Cambria Math" panose="02040503050406030204" pitchFamily="18" charset="0"/>
                                    </a:rPr>
                                  </m:ctrlPr>
                                </m:d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b="0" i="1">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mr>
                                    <m:mr>
                                      <m:e>
                                        <m:box>
                                          <m:boxPr>
                                            <m:ctrlPr>
                                              <a:rPr lang="es-AR" sz="1400" i="1">
                                                <a:effectLst/>
                                                <a:latin typeface="Cambria Math" panose="02040503050406030204" pitchFamily="18" charset="0"/>
                                                <a:ea typeface="Times New Roman" panose="02020603050405020304" pitchFamily="18" charset="0"/>
                                              </a:rPr>
                                            </m:ctrlPr>
                                          </m:boxPr>
                                          <m:e>
                                            <m:argPr>
                                              <m:argSz m:val="-1"/>
                                            </m:argPr>
                                            <m:f>
                                              <m:fPr>
                                                <m:ctrlPr>
                                                  <a:rPr lang="es-AR" sz="1400" i="1">
                                                    <a:effectLst/>
                                                    <a:latin typeface="Cambria Math" panose="02040503050406030204" pitchFamily="18" charset="0"/>
                                                    <a:ea typeface="Times New Roman" panose="02020603050405020304" pitchFamily="18" charset="0"/>
                                                  </a:rPr>
                                                </m:ctrlPr>
                                              </m:fPr>
                                              <m:num>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sSub>
                                <m:sSubPr>
                                  <m:ctrlPr>
                                    <a:rPr lang="es-AR" sz="1400" i="1">
                                      <a:effectLst/>
                                      <a:latin typeface="Cambria Math" panose="02040503050406030204" pitchFamily="18" charset="0"/>
                                    </a:rPr>
                                  </m:ctrlPr>
                                </m:sSub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b="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𝑡</m:t>
                                  </m:r>
                                </m:e>
                              </m:d>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𝑦</m:t>
                              </m:r>
                              <m:d>
                                <m:dPr>
                                  <m:ctrlPr>
                                    <a:rPr lang="es-AR" sz="1400" i="1">
                                      <a:effectLst/>
                                      <a:latin typeface="Cambria Math" panose="02040503050406030204" pitchFamily="18" charset="0"/>
                                      <a:ea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2"/>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mr>
                                  </m:m>
                                </m:e>
                              </m:d>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e>
                          </m:eqArr>
                        </m:e>
                      </m:d>
                    </m:oMath>
                  </m:oMathPara>
                </a14:m>
                <a:endParaRPr lang="en-US" sz="1400" dirty="0"/>
              </a:p>
            </p:txBody>
          </p:sp>
        </mc:Choice>
        <mc:Fallback xmlns="">
          <p:sp>
            <p:nvSpPr>
              <p:cNvPr id="31" name="Text 21">
                <a:extLst>
                  <a:ext uri="{FF2B5EF4-FFF2-40B4-BE49-F238E27FC236}">
                    <a16:creationId xmlns:a16="http://schemas.microsoft.com/office/drawing/2014/main" id="{2F45BAC8-DE8F-46C4-B1B9-E38DCFAD6909}"/>
                  </a:ext>
                </a:extLst>
              </p:cNvPr>
              <p:cNvSpPr>
                <a:spLocks noRot="1" noChangeAspect="1" noMove="1" noResize="1" noEditPoints="1" noAdjustHandles="1" noChangeArrowheads="1" noChangeShapeType="1" noTextEdit="1"/>
              </p:cNvSpPr>
              <p:nvPr/>
            </p:nvSpPr>
            <p:spPr>
              <a:xfrm>
                <a:off x="91440" y="4558603"/>
                <a:ext cx="5178523" cy="594360"/>
              </a:xfrm>
              <a:prstGeom prst="rect">
                <a:avLst/>
              </a:prstGeom>
              <a:blipFill>
                <a:blip r:embed="rId4"/>
                <a:stretch>
                  <a:fillRect t="-31959" b="-36082"/>
                </a:stretch>
              </a:blipFill>
              <a:ln/>
            </p:spPr>
            <p:txBody>
              <a:bodyPr/>
              <a:lstStyle/>
              <a:p>
                <a:r>
                  <a:rPr lang="es-AR">
                    <a:noFill/>
                  </a:rPr>
                  <a:t> </a:t>
                </a:r>
              </a:p>
            </p:txBody>
          </p:sp>
        </mc:Fallback>
      </mc:AlternateContent>
    </p:spTree>
    <p:extLst>
      <p:ext uri="{BB962C8B-B14F-4D97-AF65-F5344CB8AC3E}">
        <p14:creationId xmlns:p14="http://schemas.microsoft.com/office/powerpoint/2010/main" val="2774258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Tren de transmisión — Subsistema mecánico del motor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25" name="Text 23"/>
          <p:cNvSpPr/>
          <p:nvPr/>
        </p:nvSpPr>
        <p:spPr>
          <a:xfrm>
            <a:off x="274320" y="5146645"/>
            <a:ext cx="11247120" cy="73152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2 — Diagrama de bloques Simulink del subsistema mecánico</a:t>
            </a:r>
            <a:endParaRPr lang="en-US" sz="1100" dirty="0"/>
          </a:p>
        </p:txBody>
      </p:sp>
      <p:pic>
        <p:nvPicPr>
          <p:cNvPr id="8" name="Imagen 7">
            <a:extLst>
              <a:ext uri="{FF2B5EF4-FFF2-40B4-BE49-F238E27FC236}">
                <a16:creationId xmlns:a16="http://schemas.microsoft.com/office/drawing/2014/main" id="{03C02F6E-DCE2-418F-B492-D759EBA8D24F}"/>
              </a:ext>
            </a:extLst>
          </p:cNvPr>
          <p:cNvPicPr>
            <a:picLocks noChangeAspect="1"/>
          </p:cNvPicPr>
          <p:nvPr/>
        </p:nvPicPr>
        <p:blipFill>
          <a:blip r:embed="rId2"/>
          <a:stretch>
            <a:fillRect/>
          </a:stretch>
        </p:blipFill>
        <p:spPr>
          <a:xfrm>
            <a:off x="286138" y="964586"/>
            <a:ext cx="10869542" cy="41820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6">
            <a:extLst>
              <a:ext uri="{FF2B5EF4-FFF2-40B4-BE49-F238E27FC236}">
                <a16:creationId xmlns:a16="http://schemas.microsoft.com/office/drawing/2014/main" id="{F39677F8-8741-419C-ACC2-2D0D8DF251F6}"/>
              </a:ext>
            </a:extLst>
          </p:cNvPr>
          <p:cNvSpPr/>
          <p:nvPr/>
        </p:nvSpPr>
        <p:spPr>
          <a:xfrm>
            <a:off x="271212" y="2796264"/>
            <a:ext cx="11210722" cy="1372030"/>
          </a:xfrm>
          <a:prstGeom prst="rect">
            <a:avLst/>
          </a:prstGeom>
          <a:solidFill>
            <a:srgbClr val="FFF8E8"/>
          </a:solidFill>
          <a:ln w="19050">
            <a:solidFill>
              <a:srgbClr val="DDAA00"/>
            </a:solidFill>
            <a:prstDash val="solid"/>
          </a:ln>
        </p:spPr>
      </p:sp>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txBody>
          <a:bodyPr/>
          <a:lstStyle/>
          <a:p>
            <a:endParaRPr lang="es-AR" dirty="0"/>
          </a:p>
        </p:txBody>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161573" y="760476"/>
            <a:ext cx="11430000" cy="457200"/>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El PMSM es síncrono: la velocidad del rotor coincide con la del campo magnético rodante.</a:t>
            </a:r>
            <a:endParaRPr lang="en-US" sz="1400" dirty="0"/>
          </a:p>
        </p:txBody>
      </p:sp>
      <p:sp>
        <p:nvSpPr>
          <p:cNvPr id="8" name="Shape 6"/>
          <p:cNvSpPr/>
          <p:nvPr/>
        </p:nvSpPr>
        <p:spPr>
          <a:xfrm>
            <a:off x="1371600" y="1298448"/>
            <a:ext cx="914400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1463040" y="1277098"/>
                <a:ext cx="8961120" cy="54864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1463040" y="1277098"/>
                <a:ext cx="8961120" cy="548640"/>
              </a:xfrm>
              <a:prstGeom prst="rect">
                <a:avLst/>
              </a:prstGeom>
              <a:blipFill>
                <a:blip r:embed="rId2"/>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Text 8"/>
              <p:cNvSpPr/>
              <p:nvPr/>
            </p:nvSpPr>
            <p:spPr>
              <a:xfrm>
                <a:off x="161573" y="1977390"/>
                <a:ext cx="11430000" cy="731520"/>
              </a:xfrm>
              <a:prstGeom prst="rect">
                <a:avLst/>
              </a:prstGeom>
              <a:noFill/>
              <a:ln/>
            </p:spPr>
            <p:txBody>
              <a:bodyPr wrap="square" rtlCol="0" anchor="t"/>
              <a:lstStyle/>
              <a:p>
                <a:r>
                  <a:rPr lang="es-AR" sz="1300" dirty="0">
                    <a:solidFill>
                      <a:srgbClr val="111111"/>
                    </a:solidFill>
                    <a:latin typeface="Calibri" pitchFamily="34" charset="0"/>
                    <a:ea typeface="Calibri" pitchFamily="34" charset="-122"/>
                    <a:cs typeface="Calibri" pitchFamily="34" charset="-120"/>
                  </a:rPr>
                  <a:t>La transformación de Park convierte el sistema trifásico estacionario </a:t>
                </a:r>
                <a14:m>
                  <m:oMath xmlns:m="http://schemas.openxmlformats.org/officeDocument/2006/math">
                    <m:r>
                      <a:rPr lang="es-AR" sz="1300" i="1" smtClean="0">
                        <a:solidFill>
                          <a:srgbClr val="111111"/>
                        </a:solidFill>
                        <a:latin typeface="Cambria Math" panose="02040503050406030204" pitchFamily="18" charset="0"/>
                        <a:ea typeface="Calibri" pitchFamily="34" charset="-122"/>
                        <a:cs typeface="Calibri" pitchFamily="34" charset="-120"/>
                      </a:rPr>
                      <m:t>𝑎𝑏𝑐</m:t>
                    </m:r>
                  </m:oMath>
                </a14:m>
                <a:r>
                  <a:rPr lang="es-AR" sz="1300" dirty="0">
                    <a:solidFill>
                      <a:srgbClr val="111111"/>
                    </a:solidFill>
                    <a:latin typeface="Calibri" pitchFamily="34" charset="0"/>
                    <a:ea typeface="Calibri" pitchFamily="34" charset="-122"/>
                    <a:cs typeface="Calibri" pitchFamily="34" charset="-120"/>
                  </a:rPr>
                  <a:t> a un sistema rotante </a:t>
                </a:r>
                <a14:m>
                  <m:oMath xmlns:m="http://schemas.openxmlformats.org/officeDocument/2006/math">
                    <m:r>
                      <a:rPr lang="es-AR" sz="1300" i="1" smtClean="0">
                        <a:solidFill>
                          <a:srgbClr val="111111"/>
                        </a:solidFill>
                        <a:latin typeface="Cambria Math" panose="02040503050406030204" pitchFamily="18" charset="0"/>
                        <a:ea typeface="Calibri" pitchFamily="34" charset="-122"/>
                        <a:cs typeface="Calibri" pitchFamily="34" charset="-120"/>
                      </a:rPr>
                      <m:t>𝑞𝑑</m:t>
                    </m:r>
                    <m:r>
                      <a:rPr lang="es-AR" sz="1300" i="1" smtClean="0">
                        <a:solidFill>
                          <a:srgbClr val="111111"/>
                        </a:solidFill>
                        <a:latin typeface="Cambria Math" panose="02040503050406030204" pitchFamily="18" charset="0"/>
                        <a:ea typeface="Calibri" pitchFamily="34" charset="-122"/>
                        <a:cs typeface="Calibri" pitchFamily="34" charset="-120"/>
                      </a:rPr>
                      <m:t>0</m:t>
                    </m:r>
                    <m:r>
                      <a:rPr lang="es-AR" sz="1300" i="1" smtClean="0">
                        <a:solidFill>
                          <a:srgbClr val="111111"/>
                        </a:solidFill>
                        <a:latin typeface="Cambria Math" panose="02040503050406030204" pitchFamily="18" charset="0"/>
                        <a:ea typeface="Calibri" pitchFamily="34" charset="-122"/>
                        <a:cs typeface="Calibri" pitchFamily="34" charset="-120"/>
                      </a:rPr>
                      <m:t>𝑟</m:t>
                    </m:r>
                  </m:oMath>
                </a14:m>
                <a:r>
                  <a:rPr lang="es-AR" sz="1300" dirty="0">
                    <a:solidFill>
                      <a:srgbClr val="111111"/>
                    </a:solidFill>
                    <a:latin typeface="Calibri" pitchFamily="34" charset="0"/>
                    <a:ea typeface="Calibri" pitchFamily="34" charset="-122"/>
                    <a:cs typeface="Calibri" pitchFamily="34" charset="-120"/>
                  </a:rPr>
                  <a:t> que gira a velocidad eléctrica </a:t>
                </a:r>
                <a14:m>
                  <m:oMath xmlns:m="http://schemas.openxmlformats.org/officeDocument/2006/math">
                    <m:sSub>
                      <m:sSubPr>
                        <m:ctrlPr>
                          <a:rPr lang="es-AR" sz="1300" i="1">
                            <a:solidFill>
                              <a:srgbClr val="111111"/>
                            </a:solidFill>
                            <a:latin typeface="Cambria Math" panose="02040503050406030204" pitchFamily="18" charset="0"/>
                            <a:ea typeface="Calibri" pitchFamily="34" charset="-122"/>
                            <a:cs typeface="Calibri" pitchFamily="34" charset="-120"/>
                          </a:rPr>
                        </m:ctrlPr>
                      </m:sSubPr>
                      <m:e>
                        <m:r>
                          <a:rPr lang="es-AR" sz="1300">
                            <a:solidFill>
                              <a:srgbClr val="111111"/>
                            </a:solidFill>
                            <a:latin typeface="Cambria Math" panose="02040503050406030204" pitchFamily="18" charset="0"/>
                            <a:ea typeface="Calibri" pitchFamily="34" charset="-122"/>
                            <a:cs typeface="Calibri" pitchFamily="34" charset="-120"/>
                          </a:rPr>
                          <m:t>𝜔</m:t>
                        </m:r>
                      </m:e>
                      <m:sub>
                        <m:r>
                          <a:rPr lang="es-AR" sz="1300">
                            <a:solidFill>
                              <a:srgbClr val="111111"/>
                            </a:solidFill>
                            <a:latin typeface="Cambria Math" panose="02040503050406030204" pitchFamily="18" charset="0"/>
                            <a:ea typeface="Calibri" pitchFamily="34" charset="-122"/>
                            <a:cs typeface="Calibri" pitchFamily="34" charset="-120"/>
                          </a:rPr>
                          <m:t>𝑟</m:t>
                        </m:r>
                      </m:sub>
                    </m:sSub>
                    <m:d>
                      <m:dPr>
                        <m:ctrlPr>
                          <a:rPr lang="es-AR" sz="1300" i="1">
                            <a:solidFill>
                              <a:srgbClr val="111111"/>
                            </a:solidFill>
                            <a:latin typeface="Cambria Math" panose="02040503050406030204" pitchFamily="18" charset="0"/>
                            <a:ea typeface="Calibri" pitchFamily="34" charset="-122"/>
                            <a:cs typeface="Calibri" pitchFamily="34" charset="-120"/>
                          </a:rPr>
                        </m:ctrlPr>
                      </m:dPr>
                      <m:e>
                        <m:r>
                          <a:rPr lang="es-AR" sz="1300">
                            <a:solidFill>
                              <a:srgbClr val="111111"/>
                            </a:solidFill>
                            <a:latin typeface="Cambria Math" panose="02040503050406030204" pitchFamily="18" charset="0"/>
                            <a:ea typeface="Calibri" pitchFamily="34" charset="-122"/>
                            <a:cs typeface="Calibri" pitchFamily="34" charset="-120"/>
                          </a:rPr>
                          <m:t>𝑡</m:t>
                        </m:r>
                      </m:e>
                    </m:d>
                    <m:r>
                      <a:rPr lang="es-AR" sz="1300">
                        <a:solidFill>
                          <a:srgbClr val="111111"/>
                        </a:solidFill>
                        <a:latin typeface="Cambria Math" panose="02040503050406030204" pitchFamily="18" charset="0"/>
                        <a:ea typeface="Calibri" pitchFamily="34" charset="-122"/>
                        <a:cs typeface="Calibri" pitchFamily="34" charset="-120"/>
                      </a:rPr>
                      <m:t>=</m:t>
                    </m:r>
                    <m:r>
                      <a:rPr lang="es-AR" sz="1300">
                        <a:solidFill>
                          <a:srgbClr val="111111"/>
                        </a:solidFill>
                        <a:latin typeface="Cambria Math" panose="02040503050406030204" pitchFamily="18" charset="0"/>
                        <a:ea typeface="Calibri" pitchFamily="34" charset="-122"/>
                        <a:cs typeface="Calibri" pitchFamily="34" charset="-120"/>
                      </a:rPr>
                      <m:t>2</m:t>
                    </m:r>
                    <m:r>
                      <a:rPr lang="es-AR" sz="1300">
                        <a:solidFill>
                          <a:srgbClr val="111111"/>
                        </a:solidFill>
                        <a:latin typeface="Cambria Math" panose="02040503050406030204" pitchFamily="18" charset="0"/>
                        <a:ea typeface="Calibri" pitchFamily="34" charset="-122"/>
                        <a:cs typeface="Calibri" pitchFamily="34" charset="-120"/>
                      </a:rPr>
                      <m:t>𝜋</m:t>
                    </m:r>
                    <m:r>
                      <a:rPr lang="es-AR" sz="1300">
                        <a:solidFill>
                          <a:srgbClr val="111111"/>
                        </a:solidFill>
                        <a:latin typeface="Cambria Math" panose="02040503050406030204" pitchFamily="18" charset="0"/>
                        <a:ea typeface="Calibri" pitchFamily="34" charset="-122"/>
                        <a:cs typeface="Calibri" pitchFamily="34" charset="-120"/>
                      </a:rPr>
                      <m:t>𝑓</m:t>
                    </m:r>
                  </m:oMath>
                </a14:m>
                <a:r>
                  <a:rPr lang="es-AR" sz="1300" dirty="0">
                    <a:solidFill>
                      <a:srgbClr val="111111"/>
                    </a:solidFill>
                    <a:latin typeface="Calibri" pitchFamily="34" charset="0"/>
                    <a:ea typeface="Calibri" pitchFamily="34" charset="-122"/>
                    <a:cs typeface="Calibri" pitchFamily="34" charset="-120"/>
                  </a:rPr>
                  <a:t>. Las señales sinusoidales en </a:t>
                </a:r>
                <a14:m>
                  <m:oMath xmlns:m="http://schemas.openxmlformats.org/officeDocument/2006/math">
                    <m:r>
                      <a:rPr lang="es-AR" sz="1300" i="1" smtClean="0">
                        <a:solidFill>
                          <a:srgbClr val="111111"/>
                        </a:solidFill>
                        <a:latin typeface="Cambria Math" panose="02040503050406030204" pitchFamily="18" charset="0"/>
                        <a:ea typeface="Calibri" pitchFamily="34" charset="-122"/>
                        <a:cs typeface="Calibri" pitchFamily="34" charset="-120"/>
                      </a:rPr>
                      <m:t>𝑎𝑏𝑐</m:t>
                    </m:r>
                  </m:oMath>
                </a14:m>
                <a:r>
                  <a:rPr lang="es-AR" sz="1300" dirty="0">
                    <a:solidFill>
                      <a:srgbClr val="111111"/>
                    </a:solidFill>
                    <a:latin typeface="Calibri" pitchFamily="34" charset="0"/>
                    <a:ea typeface="Calibri" pitchFamily="34" charset="-122"/>
                    <a:cs typeface="Calibri" pitchFamily="34" charset="-120"/>
                  </a:rPr>
                  <a:t> se transforman en variables aproximadamente constantes en régimen permanente, facilitando el diseño del control.</a:t>
                </a:r>
                <a:endParaRPr lang="es-AR" sz="1300" dirty="0"/>
              </a:p>
            </p:txBody>
          </p:sp>
        </mc:Choice>
        <mc:Fallback xmlns="">
          <p:sp>
            <p:nvSpPr>
              <p:cNvPr id="10" name="Text 8"/>
              <p:cNvSpPr>
                <a:spLocks noRot="1" noChangeAspect="1" noMove="1" noResize="1" noEditPoints="1" noAdjustHandles="1" noChangeArrowheads="1" noChangeShapeType="1" noTextEdit="1"/>
              </p:cNvSpPr>
              <p:nvPr/>
            </p:nvSpPr>
            <p:spPr>
              <a:xfrm>
                <a:off x="161573" y="1977390"/>
                <a:ext cx="11430000" cy="731520"/>
              </a:xfrm>
              <a:prstGeom prst="rect">
                <a:avLst/>
              </a:prstGeom>
              <a:blipFill>
                <a:blip r:embed="rId3"/>
                <a:stretch>
                  <a:fillRect l="-107" t="-833"/>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0773CF10-C926-47C3-9DB9-8212B5133B9D}"/>
                  </a:ext>
                </a:extLst>
              </p:cNvPr>
              <p:cNvSpPr txBox="1"/>
              <p:nvPr/>
            </p:nvSpPr>
            <p:spPr>
              <a:xfrm>
                <a:off x="99280" y="2949760"/>
                <a:ext cx="5698726" cy="9275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AR" sz="1400" i="1" smtClean="0">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0">
                                        <a:solidFill>
                                          <a:schemeClr val="tx1"/>
                                        </a:solidFill>
                                        <a:latin typeface="Cambria Math" panose="02040503050406030204" pitchFamily="18" charset="0"/>
                                      </a:rPr>
                                      <m:t>0</m:t>
                                    </m:r>
                                    <m:r>
                                      <a:rPr lang="es-AR" sz="1400" i="1">
                                        <a:solidFill>
                                          <a:schemeClr val="tx1"/>
                                        </a:solidFill>
                                        <a:latin typeface="Cambria Math" panose="02040503050406030204" pitchFamily="18" charset="0"/>
                                      </a:rPr>
                                      <m:t>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0">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plcHide m:val="on"/>
                              <m:mcs>
                                <m:mc>
                                  <m:mcPr>
                                    <m:count m:val="3"/>
                                    <m:mcJc m:val="center"/>
                                  </m:mcPr>
                                </m:mc>
                              </m:mcs>
                              <m:ctrlPr>
                                <a:rPr lang="es-AR" sz="1400" i="1">
                                  <a:solidFill>
                                    <a:schemeClr val="tx1"/>
                                  </a:solidFill>
                                  <a:latin typeface="Cambria Math" panose="02040503050406030204" pitchFamily="18" charset="0"/>
                                </a:rPr>
                              </m:ctrlPr>
                            </m:mPr>
                            <m:mr>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𝑐𝑜𝑠</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e>
                                </m:fun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b="0" i="1" smtClean="0">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mr>
                            <m:mr>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𝑠𝑖𝑛</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func>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b="0" i="1" smtClean="0">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mr>
                            <m:mr>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m:t>
                                        </m:r>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m:t>
                                        </m:r>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m:t>
                                        </m:r>
                                      </m:den>
                                    </m:f>
                                  </m:e>
                                </m:box>
                              </m:e>
                            </m:mr>
                          </m:m>
                        </m:e>
                      </m:d>
                      <m:d>
                        <m:dPr>
                          <m:begChr m:val="["/>
                          <m:endChr m:val="]"/>
                          <m:ctrlPr>
                            <a:rPr lang="es-AR" sz="1400" i="1">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𝑎𝑠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𝑏𝑠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𝑐𝑠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oMath>
                  </m:oMathPara>
                </a14:m>
                <a:endParaRPr lang="es-AR" sz="1400" dirty="0"/>
              </a:p>
            </p:txBody>
          </p:sp>
        </mc:Choice>
        <mc:Fallback xmlns="">
          <p:sp>
            <p:nvSpPr>
              <p:cNvPr id="18" name="CuadroTexto 17">
                <a:extLst>
                  <a:ext uri="{FF2B5EF4-FFF2-40B4-BE49-F238E27FC236}">
                    <a16:creationId xmlns:a16="http://schemas.microsoft.com/office/drawing/2014/main" id="{0773CF10-C926-47C3-9DB9-8212B5133B9D}"/>
                  </a:ext>
                </a:extLst>
              </p:cNvPr>
              <p:cNvSpPr txBox="1">
                <a:spLocks noRot="1" noChangeAspect="1" noMove="1" noResize="1" noEditPoints="1" noAdjustHandles="1" noChangeArrowheads="1" noChangeShapeType="1" noTextEdit="1"/>
              </p:cNvSpPr>
              <p:nvPr/>
            </p:nvSpPr>
            <p:spPr>
              <a:xfrm>
                <a:off x="99280" y="2949760"/>
                <a:ext cx="5698726" cy="927562"/>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152BB38B-053F-4FC4-B437-B4A2C041E4CB}"/>
                  </a:ext>
                </a:extLst>
              </p:cNvPr>
              <p:cNvSpPr txBox="1"/>
              <p:nvPr/>
            </p:nvSpPr>
            <p:spPr>
              <a:xfrm>
                <a:off x="5444676" y="2943627"/>
                <a:ext cx="6280950" cy="8860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AR" sz="1400" i="1" smtClean="0">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𝑎𝑠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𝑏𝑠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𝑐𝑠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0">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plcHide m:val="on"/>
                              <m:mcs>
                                <m:mc>
                                  <m:mcPr>
                                    <m:count m:val="3"/>
                                    <m:mcJc m:val="center"/>
                                  </m:mcPr>
                                </m:mc>
                              </m:mcs>
                              <m:ctrlPr>
                                <a:rPr lang="es-AR" sz="1400" i="1">
                                  <a:solidFill>
                                    <a:schemeClr val="tx1"/>
                                  </a:solidFill>
                                  <a:latin typeface="Cambria Math" panose="02040503050406030204" pitchFamily="18" charset="0"/>
                                </a:rPr>
                              </m:ctrlPr>
                            </m:mPr>
                            <m:mr>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𝑐𝑜𝑠</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e>
                                </m:fun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𝑠𝑖𝑛</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func>
                              </m:e>
                              <m:e>
                                <m:r>
                                  <a:rPr lang="es-AR" sz="1400" i="1">
                                    <a:latin typeface="Cambria Math" panose="02040503050406030204" pitchFamily="18" charset="0"/>
                                  </a:rPr>
                                  <m:t>1</m:t>
                                </m:r>
                              </m:e>
                            </m:mr>
                            <m:mr>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r>
                                  <a:rPr lang="es-AR" sz="1400" i="1">
                                    <a:latin typeface="Cambria Math" panose="02040503050406030204" pitchFamily="18" charset="0"/>
                                  </a:rPr>
                                  <m:t>1</m:t>
                                </m:r>
                              </m:e>
                            </m:mr>
                            <m:mr>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r>
                                  <a:rPr lang="es-AR" sz="1400" i="1">
                                    <a:latin typeface="Cambria Math" panose="02040503050406030204" pitchFamily="18" charset="0"/>
                                  </a:rPr>
                                  <m:t>1</m:t>
                                </m:r>
                              </m:e>
                            </m:mr>
                          </m:m>
                        </m:e>
                      </m:d>
                      <m:d>
                        <m:dPr>
                          <m:begChr m:val="["/>
                          <m:endChr m:val="]"/>
                          <m:ctrlPr>
                            <a:rPr lang="es-AR" sz="1400" i="1">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0">
                                        <a:solidFill>
                                          <a:schemeClr val="tx1"/>
                                        </a:solidFill>
                                        <a:latin typeface="Cambria Math" panose="02040503050406030204" pitchFamily="18" charset="0"/>
                                      </a:rPr>
                                      <m:t>0</m:t>
                                    </m:r>
                                    <m:r>
                                      <a:rPr lang="es-AR" sz="1400" i="1">
                                        <a:solidFill>
                                          <a:schemeClr val="tx1"/>
                                        </a:solidFill>
                                        <a:latin typeface="Cambria Math" panose="02040503050406030204" pitchFamily="18" charset="0"/>
                                      </a:rPr>
                                      <m:t>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oMath>
                  </m:oMathPara>
                </a14:m>
                <a:endParaRPr lang="es-AR" sz="1400" dirty="0">
                  <a:solidFill>
                    <a:schemeClr val="tx1"/>
                  </a:solidFill>
                </a:endParaRPr>
              </a:p>
            </p:txBody>
          </p:sp>
        </mc:Choice>
        <mc:Fallback xmlns="">
          <p:sp>
            <p:nvSpPr>
              <p:cNvPr id="20" name="CuadroTexto 19">
                <a:extLst>
                  <a:ext uri="{FF2B5EF4-FFF2-40B4-BE49-F238E27FC236}">
                    <a16:creationId xmlns:a16="http://schemas.microsoft.com/office/drawing/2014/main" id="{152BB38B-053F-4FC4-B437-B4A2C041E4CB}"/>
                  </a:ext>
                </a:extLst>
              </p:cNvPr>
              <p:cNvSpPr txBox="1">
                <a:spLocks noRot="1" noChangeAspect="1" noMove="1" noResize="1" noEditPoints="1" noAdjustHandles="1" noChangeArrowheads="1" noChangeShapeType="1" noTextEdit="1"/>
              </p:cNvSpPr>
              <p:nvPr/>
            </p:nvSpPr>
            <p:spPr>
              <a:xfrm>
                <a:off x="5444676" y="2943627"/>
                <a:ext cx="6280950" cy="886012"/>
              </a:xfrm>
              <a:prstGeom prst="rect">
                <a:avLst/>
              </a:prstGeom>
              <a:blipFill>
                <a:blip r:embed="rId5"/>
                <a:stretch>
                  <a:fillRect/>
                </a:stretch>
              </a:blipFill>
            </p:spPr>
            <p:txBody>
              <a:bodyPr/>
              <a:lstStyle/>
              <a:p>
                <a:r>
                  <a:rPr lang="es-AR">
                    <a:noFill/>
                  </a:rPr>
                  <a:t> </a:t>
                </a:r>
              </a:p>
            </p:txBody>
          </p:sp>
        </mc:Fallback>
      </mc:AlternateContent>
      <p:sp>
        <p:nvSpPr>
          <p:cNvPr id="24" name="Text 8">
            <a:extLst>
              <a:ext uri="{FF2B5EF4-FFF2-40B4-BE49-F238E27FC236}">
                <a16:creationId xmlns:a16="http://schemas.microsoft.com/office/drawing/2014/main" id="{54B8DB2A-BA6B-41D8-90FF-4614853674F0}"/>
              </a:ext>
            </a:extLst>
          </p:cNvPr>
          <p:cNvSpPr/>
          <p:nvPr/>
        </p:nvSpPr>
        <p:spPr>
          <a:xfrm>
            <a:off x="274320" y="2486410"/>
            <a:ext cx="2628678" cy="731520"/>
          </a:xfrm>
          <a:prstGeom prst="rect">
            <a:avLst/>
          </a:prstGeom>
          <a:noFill/>
          <a:ln/>
        </p:spPr>
        <p:txBody>
          <a:bodyPr wrap="square" rtlCol="0" anchor="t"/>
          <a:lstStyle/>
          <a:p>
            <a:r>
              <a:rPr lang="es-AR" sz="1300" b="1" dirty="0">
                <a:solidFill>
                  <a:srgbClr val="111111"/>
                </a:solidFill>
                <a:latin typeface="Calibri" pitchFamily="34" charset="0"/>
                <a:ea typeface="Calibri" pitchFamily="34" charset="-122"/>
                <a:cs typeface="Calibri" pitchFamily="34" charset="-120"/>
              </a:rPr>
              <a:t>Transformación directa de Park:</a:t>
            </a:r>
            <a:endParaRPr lang="es-AR" sz="1300" b="1" dirty="0"/>
          </a:p>
        </p:txBody>
      </p:sp>
      <p:sp>
        <p:nvSpPr>
          <p:cNvPr id="25" name="Text 8">
            <a:extLst>
              <a:ext uri="{FF2B5EF4-FFF2-40B4-BE49-F238E27FC236}">
                <a16:creationId xmlns:a16="http://schemas.microsoft.com/office/drawing/2014/main" id="{74590FBB-C950-45EA-A07D-45F2DDD51A93}"/>
              </a:ext>
            </a:extLst>
          </p:cNvPr>
          <p:cNvSpPr/>
          <p:nvPr/>
        </p:nvSpPr>
        <p:spPr>
          <a:xfrm>
            <a:off x="6267636" y="2511415"/>
            <a:ext cx="2388092" cy="731520"/>
          </a:xfrm>
          <a:prstGeom prst="rect">
            <a:avLst/>
          </a:prstGeom>
          <a:noFill/>
          <a:ln/>
        </p:spPr>
        <p:txBody>
          <a:bodyPr wrap="square" rtlCol="0" anchor="t"/>
          <a:lstStyle/>
          <a:p>
            <a:r>
              <a:rPr lang="es-AR" sz="1300" b="1" dirty="0">
                <a:solidFill>
                  <a:srgbClr val="111111"/>
                </a:solidFill>
                <a:latin typeface="Calibri" pitchFamily="34" charset="0"/>
                <a:ea typeface="Calibri" pitchFamily="34" charset="-122"/>
                <a:cs typeface="Calibri" pitchFamily="34" charset="-120"/>
              </a:rPr>
              <a:t>Transformación inversa de Park:</a:t>
            </a:r>
            <a:endParaRPr lang="es-AR" sz="1300" b="1" dirty="0"/>
          </a:p>
        </p:txBody>
      </p:sp>
      <mc:AlternateContent xmlns:mc="http://schemas.openxmlformats.org/markup-compatibility/2006" xmlns:a14="http://schemas.microsoft.com/office/drawing/2010/main">
        <mc:Choice Requires="a14">
          <p:sp>
            <p:nvSpPr>
              <p:cNvPr id="27" name="Text 8">
                <a:extLst>
                  <a:ext uri="{FF2B5EF4-FFF2-40B4-BE49-F238E27FC236}">
                    <a16:creationId xmlns:a16="http://schemas.microsoft.com/office/drawing/2014/main" id="{1D34D745-8CFD-4B34-851B-3B6060ED7E8C}"/>
                  </a:ext>
                </a:extLst>
              </p:cNvPr>
              <p:cNvSpPr/>
              <p:nvPr/>
            </p:nvSpPr>
            <p:spPr>
              <a:xfrm>
                <a:off x="228600" y="4535158"/>
                <a:ext cx="11430000" cy="731520"/>
              </a:xfrm>
              <a:prstGeom prst="rect">
                <a:avLst/>
              </a:prstGeom>
              <a:noFill/>
              <a:ln/>
            </p:spPr>
            <p:txBody>
              <a:bodyPr wrap="square" rtlCol="0" anchor="t"/>
              <a:lstStyle/>
              <a:p>
                <a:r>
                  <a:rPr lang="es-AR" sz="1400" dirty="0"/>
                  <a:t>Las expresiones de </a:t>
                </a:r>
                <a14:m>
                  <m:oMath xmlns:m="http://schemas.openxmlformats.org/officeDocument/2006/math">
                    <m:r>
                      <a:rPr lang="es-AR" sz="1400" i="1">
                        <a:latin typeface="Cambria Math" panose="02040503050406030204" pitchFamily="18" charset="0"/>
                      </a:rPr>
                      <m:t>𝑓</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se puede representar tensión </a:t>
                </a:r>
                <a14:m>
                  <m:oMath xmlns:m="http://schemas.openxmlformats.org/officeDocument/2006/math">
                    <m:r>
                      <a:rPr lang="es-AR" sz="1400" i="1">
                        <a:latin typeface="Cambria Math" panose="02040503050406030204" pitchFamily="18" charset="0"/>
                      </a:rPr>
                      <m:t>𝑣</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corriente </a:t>
                </a:r>
                <a14:m>
                  <m:oMath xmlns:m="http://schemas.openxmlformats.org/officeDocument/2006/math">
                    <m:r>
                      <a:rPr lang="es-AR" sz="1400" i="1">
                        <a:latin typeface="Cambria Math" panose="02040503050406030204" pitchFamily="18" charset="0"/>
                      </a:rPr>
                      <m:t>𝑖</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flujo concatenado </a:t>
                </a:r>
                <a14:m>
                  <m:oMath xmlns:m="http://schemas.openxmlformats.org/officeDocument/2006/math">
                    <m:r>
                      <a:rPr lang="es-AR" sz="1400" i="1">
                        <a:latin typeface="Cambria Math" panose="02040503050406030204" pitchFamily="18" charset="0"/>
                      </a:rPr>
                      <m:t>𝜆</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¸etc.</a:t>
                </a:r>
              </a:p>
            </p:txBody>
          </p:sp>
        </mc:Choice>
        <mc:Fallback xmlns="">
          <p:sp>
            <p:nvSpPr>
              <p:cNvPr id="27" name="Text 8">
                <a:extLst>
                  <a:ext uri="{FF2B5EF4-FFF2-40B4-BE49-F238E27FC236}">
                    <a16:creationId xmlns:a16="http://schemas.microsoft.com/office/drawing/2014/main" id="{1D34D745-8CFD-4B34-851B-3B6060ED7E8C}"/>
                  </a:ext>
                </a:extLst>
              </p:cNvPr>
              <p:cNvSpPr>
                <a:spLocks noRot="1" noChangeAspect="1" noMove="1" noResize="1" noEditPoints="1" noAdjustHandles="1" noChangeArrowheads="1" noChangeShapeType="1" noTextEdit="1"/>
              </p:cNvSpPr>
              <p:nvPr/>
            </p:nvSpPr>
            <p:spPr>
              <a:xfrm>
                <a:off x="228600" y="4535158"/>
                <a:ext cx="11430000" cy="731520"/>
              </a:xfrm>
              <a:prstGeom prst="rect">
                <a:avLst/>
              </a:prstGeom>
              <a:blipFill>
                <a:blip r:embed="rId6"/>
                <a:stretch>
                  <a:fillRect l="-160" t="-1667"/>
                </a:stretch>
              </a:blipFill>
              <a:ln/>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C240382E-B464-47CA-9B22-CC7A848DA512}"/>
              </a:ext>
            </a:extLst>
          </p:cNvPr>
          <p:cNvSpPr txBox="1"/>
          <p:nvPr/>
        </p:nvSpPr>
        <p:spPr>
          <a:xfrm>
            <a:off x="274320" y="136634"/>
            <a:ext cx="6098958" cy="369332"/>
          </a:xfrm>
          <a:prstGeom prst="rect">
            <a:avLst/>
          </a:prstGeom>
          <a:noFill/>
        </p:spPr>
        <p:txBody>
          <a:bodyPr wrap="square">
            <a:spAutoFit/>
          </a:bodyPr>
          <a:lstStyle/>
          <a:p>
            <a:pPr marL="0" indent="0">
              <a:buNone/>
            </a:pPr>
            <a:r>
              <a:rPr lang="en-US" sz="1800" b="1" dirty="0" err="1">
                <a:solidFill>
                  <a:srgbClr val="FFFFFF"/>
                </a:solidFill>
                <a:latin typeface="Calibri" pitchFamily="34" charset="0"/>
                <a:ea typeface="Calibri" pitchFamily="34" charset="-122"/>
                <a:cs typeface="Calibri" pitchFamily="34" charset="-120"/>
              </a:rPr>
              <a:t>Subsistema</a:t>
            </a:r>
            <a:r>
              <a:rPr lang="en-US" sz="1800" b="1" dirty="0">
                <a:solidFill>
                  <a:srgbClr val="FFFFFF"/>
                </a:solidFill>
                <a:latin typeface="Calibri" pitchFamily="34" charset="0"/>
                <a:ea typeface="Calibri" pitchFamily="34" charset="-122"/>
                <a:cs typeface="Calibri" pitchFamily="34" charset="-120"/>
              </a:rPr>
              <a:t> </a:t>
            </a:r>
            <a:r>
              <a:rPr lang="en-US" sz="1800" b="1" dirty="0" err="1">
                <a:solidFill>
                  <a:srgbClr val="FFFFFF"/>
                </a:solidFill>
                <a:latin typeface="Calibri" pitchFamily="34" charset="0"/>
                <a:ea typeface="Calibri" pitchFamily="34" charset="-122"/>
                <a:cs typeface="Calibri" pitchFamily="34" charset="-120"/>
              </a:rPr>
              <a:t>electromagnético</a:t>
            </a:r>
            <a:r>
              <a:rPr lang="en-US" sz="1800" b="1" dirty="0">
                <a:solidFill>
                  <a:srgbClr val="FFFFFF"/>
                </a:solidFill>
                <a:latin typeface="Calibri" pitchFamily="34" charset="0"/>
                <a:ea typeface="Calibri" pitchFamily="34" charset="-122"/>
                <a:cs typeface="Calibri" pitchFamily="34" charset="-120"/>
              </a:rPr>
              <a:t> — </a:t>
            </a:r>
            <a:r>
              <a:rPr lang="en-US" sz="1800" b="1" dirty="0" err="1">
                <a:solidFill>
                  <a:srgbClr val="FFFFFF"/>
                </a:solidFill>
                <a:latin typeface="Calibri" pitchFamily="34" charset="0"/>
                <a:ea typeface="Calibri" pitchFamily="34" charset="-122"/>
                <a:cs typeface="Calibri" pitchFamily="34" charset="-120"/>
              </a:rPr>
              <a:t>Transformación</a:t>
            </a:r>
            <a:r>
              <a:rPr lang="en-US" sz="1800" b="1" dirty="0">
                <a:solidFill>
                  <a:srgbClr val="FFFFFF"/>
                </a:solidFill>
                <a:latin typeface="Calibri" pitchFamily="34" charset="0"/>
                <a:ea typeface="Calibri" pitchFamily="34" charset="-122"/>
                <a:cs typeface="Calibri" pitchFamily="34" charset="-120"/>
              </a:rPr>
              <a:t> de Park</a:t>
            </a:r>
            <a:endParaRPr lang="en-US" sz="1800" dirty="0"/>
          </a:p>
        </p:txBody>
      </p:sp>
    </p:spTree>
    <p:extLst>
      <p:ext uri="{BB962C8B-B14F-4D97-AF65-F5344CB8AC3E}">
        <p14:creationId xmlns:p14="http://schemas.microsoft.com/office/powerpoint/2010/main" val="2229578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electromagnético — </a:t>
            </a:r>
            <a:r>
              <a:rPr lang="en-US" sz="1900" b="1" dirty="0" err="1">
                <a:solidFill>
                  <a:srgbClr val="FFFFFF"/>
                </a:solidFill>
                <a:latin typeface="Calibri" pitchFamily="34" charset="0"/>
                <a:ea typeface="Calibri" pitchFamily="34" charset="-122"/>
                <a:cs typeface="Calibri" pitchFamily="34" charset="-120"/>
              </a:rPr>
              <a:t>Transformación</a:t>
            </a:r>
            <a:r>
              <a:rPr lang="en-US" sz="1900" b="1" dirty="0">
                <a:solidFill>
                  <a:srgbClr val="FFFFFF"/>
                </a:solidFill>
                <a:latin typeface="Calibri" pitchFamily="34" charset="0"/>
                <a:ea typeface="Calibri" pitchFamily="34" charset="-122"/>
                <a:cs typeface="Calibri" pitchFamily="34" charset="-120"/>
              </a:rPr>
              <a:t> de Park</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Text 10"/>
          <p:cNvSpPr/>
          <p:nvPr/>
        </p:nvSpPr>
        <p:spPr>
          <a:xfrm>
            <a:off x="457200" y="4991559"/>
            <a:ext cx="11247120" cy="685800"/>
          </a:xfrm>
          <a:prstGeom prst="rect">
            <a:avLst/>
          </a:prstGeom>
          <a:noFill/>
          <a:ln/>
        </p:spPr>
        <p:txBody>
          <a:bodyPr wrap="square" rtlCol="0" anchor="ctr"/>
          <a:lstStyle/>
          <a:p>
            <a:pPr marL="0" indent="0" algn="ctr">
              <a:buNone/>
            </a:pPr>
            <a:br>
              <a:rPr lang="en-US" sz="1100" i="1" dirty="0">
                <a:solidFill>
                  <a:srgbClr val="224488"/>
                </a:solidFill>
                <a:latin typeface="Calibri" pitchFamily="34" charset="0"/>
                <a:ea typeface="Calibri" pitchFamily="34" charset="-122"/>
                <a:cs typeface="Calibri" pitchFamily="34" charset="-120"/>
              </a:rPr>
            </a:br>
            <a:r>
              <a:rPr lang="en-US" sz="1100" i="1" dirty="0">
                <a:solidFill>
                  <a:srgbClr val="224488"/>
                </a:solidFill>
                <a:latin typeface="Calibri" pitchFamily="34" charset="0"/>
                <a:ea typeface="Calibri" pitchFamily="34" charset="-122"/>
                <a:cs typeface="Calibri" pitchFamily="34" charset="-120"/>
              </a:rPr>
              <a:t> FIGURA: Figura 3 — Bloques Simulink de la </a:t>
            </a:r>
            <a:r>
              <a:rPr lang="en-US" sz="1100" i="1" dirty="0" err="1">
                <a:solidFill>
                  <a:srgbClr val="224488"/>
                </a:solidFill>
                <a:latin typeface="Calibri" pitchFamily="34" charset="0"/>
                <a:ea typeface="Calibri" pitchFamily="34" charset="-122"/>
                <a:cs typeface="Calibri" pitchFamily="34" charset="-120"/>
              </a:rPr>
              <a:t>transformación</a:t>
            </a:r>
            <a:r>
              <a:rPr lang="en-US" sz="1100" i="1" dirty="0">
                <a:solidFill>
                  <a:srgbClr val="224488"/>
                </a:solidFill>
                <a:latin typeface="Calibri" pitchFamily="34" charset="0"/>
                <a:ea typeface="Calibri" pitchFamily="34" charset="-122"/>
                <a:cs typeface="Calibri" pitchFamily="34" charset="-120"/>
              </a:rPr>
              <a:t> de Park directa e inversa</a:t>
            </a:r>
            <a:endParaRPr lang="en-US" sz="1100" dirty="0"/>
          </a:p>
        </p:txBody>
      </p:sp>
      <p:pic>
        <p:nvPicPr>
          <p:cNvPr id="22" name="Imagen 21">
            <a:extLst>
              <a:ext uri="{FF2B5EF4-FFF2-40B4-BE49-F238E27FC236}">
                <a16:creationId xmlns:a16="http://schemas.microsoft.com/office/drawing/2014/main" id="{B068652D-8941-43F3-A5AE-3A8A2814DAA3}"/>
              </a:ext>
            </a:extLst>
          </p:cNvPr>
          <p:cNvPicPr>
            <a:picLocks noChangeAspect="1"/>
          </p:cNvPicPr>
          <p:nvPr/>
        </p:nvPicPr>
        <p:blipFill>
          <a:blip r:embed="rId2"/>
          <a:stretch>
            <a:fillRect/>
          </a:stretch>
        </p:blipFill>
        <p:spPr>
          <a:xfrm>
            <a:off x="2266852" y="1025880"/>
            <a:ext cx="7702771" cy="3734677"/>
          </a:xfrm>
          <a:prstGeom prst="rect">
            <a:avLst/>
          </a:prstGeom>
        </p:spPr>
      </p:pic>
    </p:spTree>
    <p:extLst>
      <p:ext uri="{BB962C8B-B14F-4D97-AF65-F5344CB8AC3E}">
        <p14:creationId xmlns:p14="http://schemas.microsoft.com/office/powerpoint/2010/main" val="911180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3" name="Text 11"/>
          <p:cNvSpPr/>
          <p:nvPr/>
        </p:nvSpPr>
        <p:spPr>
          <a:xfrm>
            <a:off x="152696" y="721945"/>
            <a:ext cx="114300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Balance de tensiones del estator en coordenadas qd0r:</a:t>
            </a:r>
            <a:endParaRPr lang="en-US" sz="1400" dirty="0"/>
          </a:p>
        </p:txBody>
      </p:sp>
      <p:sp>
        <p:nvSpPr>
          <p:cNvPr id="14" name="Shape 12"/>
          <p:cNvSpPr/>
          <p:nvPr/>
        </p:nvSpPr>
        <p:spPr>
          <a:xfrm>
            <a:off x="365760" y="1137773"/>
            <a:ext cx="11460480" cy="1517955"/>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15" name="Text 13"/>
              <p:cNvSpPr/>
              <p:nvPr/>
            </p:nvSpPr>
            <p:spPr>
              <a:xfrm>
                <a:off x="573947" y="1582514"/>
                <a:ext cx="5007984" cy="54864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ˊ</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r>
                                      <a:rPr lang="es-AR" sz="1400" i="1" smtClean="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𝑙𝑠</m:t>
                                    </m:r>
                                  </m:sub>
                                </m:sSub>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400" dirty="0"/>
              </a:p>
            </p:txBody>
          </p:sp>
        </mc:Choice>
        <mc:Fallback>
          <p:sp>
            <p:nvSpPr>
              <p:cNvPr id="15" name="Text 13"/>
              <p:cNvSpPr>
                <a:spLocks noRot="1" noChangeAspect="1" noMove="1" noResize="1" noEditPoints="1" noAdjustHandles="1" noChangeArrowheads="1" noChangeShapeType="1" noTextEdit="1"/>
              </p:cNvSpPr>
              <p:nvPr/>
            </p:nvSpPr>
            <p:spPr>
              <a:xfrm>
                <a:off x="573947" y="1582514"/>
                <a:ext cx="5007984" cy="548640"/>
              </a:xfrm>
              <a:prstGeom prst="rect">
                <a:avLst/>
              </a:prstGeom>
              <a:blipFill>
                <a:blip r:embed="rId2"/>
                <a:stretch>
                  <a:fillRect l="-1946" t="-70000" r="-1217" b="-75556"/>
                </a:stretch>
              </a:blipFill>
              <a:ln/>
            </p:spPr>
            <p:txBody>
              <a:bodyPr/>
              <a:lstStyle/>
              <a:p>
                <a:r>
                  <a:rPr lang="es-AR">
                    <a:noFill/>
                  </a:rPr>
                  <a:t> </a:t>
                </a:r>
              </a:p>
            </p:txBody>
          </p:sp>
        </mc:Fallback>
      </mc:AlternateContent>
      <p:sp>
        <p:nvSpPr>
          <p:cNvPr id="16" name="Shape 14"/>
          <p:cNvSpPr/>
          <p:nvPr/>
        </p:nvSpPr>
        <p:spPr>
          <a:xfrm>
            <a:off x="381000" y="3477005"/>
            <a:ext cx="11430000" cy="1781976"/>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17" name="Text 15"/>
              <p:cNvSpPr/>
              <p:nvPr/>
            </p:nvSpPr>
            <p:spPr>
              <a:xfrm>
                <a:off x="274320" y="4070657"/>
                <a:ext cx="6155557" cy="54864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den>
                                </m:f>
                                <m:d>
                                  <m:dPr>
                                    <m:begChr m:val="["/>
                                    <m:endChr m:val="]"/>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ˊ</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e>
                            </m:mr>
                            <m:mr>
                              <m:e>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den>
                                </m:f>
                                <m:d>
                                  <m:dPr>
                                    <m:begChr m:val="["/>
                                    <m:endChr m:val="]"/>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MX"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𝑙𝑠</m:t>
                                        </m:r>
                                      </m:sub>
                                    </m:sSub>
                                  </m:den>
                                </m:f>
                                <m:d>
                                  <m:dPr>
                                    <m:begChr m:val="["/>
                                    <m:endChr m:val="]"/>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MX"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500" dirty="0"/>
              </a:p>
            </p:txBody>
          </p:sp>
        </mc:Choice>
        <mc:Fallback>
          <p:sp>
            <p:nvSpPr>
              <p:cNvPr id="17" name="Text 15"/>
              <p:cNvSpPr>
                <a:spLocks noRot="1" noChangeAspect="1" noMove="1" noResize="1" noEditPoints="1" noAdjustHandles="1" noChangeArrowheads="1" noChangeShapeType="1" noTextEdit="1"/>
              </p:cNvSpPr>
              <p:nvPr/>
            </p:nvSpPr>
            <p:spPr>
              <a:xfrm>
                <a:off x="274320" y="4070657"/>
                <a:ext cx="6155557" cy="548640"/>
              </a:xfrm>
              <a:prstGeom prst="rect">
                <a:avLst/>
              </a:prstGeom>
              <a:blipFill>
                <a:blip r:embed="rId3"/>
                <a:stretch>
                  <a:fillRect t="-82222" b="-86667"/>
                </a:stretch>
              </a:blipFill>
              <a:ln/>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8" name="Text 16"/>
              <p:cNvSpPr/>
              <p:nvPr/>
            </p:nvSpPr>
            <p:spPr>
              <a:xfrm>
                <a:off x="274320" y="2764641"/>
                <a:ext cx="11430000" cy="457200"/>
              </a:xfrm>
              <a:prstGeom prst="rect">
                <a:avLst/>
              </a:prstGeom>
              <a:noFill/>
              <a:ln/>
            </p:spPr>
            <p:txBody>
              <a:bodyPr wrap="square" rtlCol="0" anchor="t"/>
              <a:lstStyle/>
              <a:p>
                <a:r>
                  <a:rPr lang="en-US" sz="1200" i="1" dirty="0">
                    <a:latin typeface="Calibri" pitchFamily="34" charset="0"/>
                    <a:ea typeface="Calibri" pitchFamily="34" charset="-122"/>
                    <a:cs typeface="Calibri" pitchFamily="34" charset="-120"/>
                  </a:rPr>
                  <a:t>Nótese el acoplamiento cruzado entre ejes q y d a través de </a:t>
                </a:r>
                <a14:m>
                  <m:oMath xmlns:m="http://schemas.openxmlformats.org/officeDocument/2006/math">
                    <m:sSub>
                      <m:sSubPr>
                        <m:ctrlPr>
                          <a:rPr lang="es-AR" sz="900" i="1">
                            <a:latin typeface="Cambria Math" panose="02040503050406030204" pitchFamily="18" charset="0"/>
                            <a:ea typeface="Times New Roman" panose="02020603050405020304" pitchFamily="18" charset="0"/>
                          </a:rPr>
                        </m:ctrlPr>
                      </m:sSubPr>
                      <m:e>
                        <m:r>
                          <a:rPr lang="es-AR" sz="1200" i="1">
                            <a:latin typeface="Cambria Math" panose="02040503050406030204" pitchFamily="18" charset="0"/>
                            <a:ea typeface="Times New Roman" panose="02020603050405020304" pitchFamily="18" charset="0"/>
                            <a:cs typeface="Times New Roman" panose="02020603050405020304" pitchFamily="18" charset="0"/>
                          </a:rPr>
                          <m:t>⍵</m:t>
                        </m:r>
                      </m:e>
                      <m:sub>
                        <m:r>
                          <a:rPr lang="es-AR" sz="1200" b="0" i="1" smtClean="0">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900" i="1">
                            <a:latin typeface="Cambria Math" panose="02040503050406030204" pitchFamily="18" charset="0"/>
                            <a:ea typeface="Times New Roman" panose="02020603050405020304" pitchFamily="18" charset="0"/>
                          </a:rPr>
                        </m:ctrlPr>
                      </m:dPr>
                      <m:e>
                        <m:r>
                          <a:rPr lang="es-AR" sz="1200" i="1">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n-US" sz="1200" i="1" dirty="0">
                    <a:latin typeface="Calibri" pitchFamily="34" charset="0"/>
                    <a:ea typeface="Calibri" pitchFamily="34" charset="-122"/>
                    <a:cs typeface="Calibri" pitchFamily="34" charset="-120"/>
                  </a:rPr>
                  <a:t>. La resistencia </a:t>
                </a:r>
                <a14:m>
                  <m:oMath xmlns:m="http://schemas.openxmlformats.org/officeDocument/2006/math">
                    <m:sSub>
                      <m:sSubPr>
                        <m:ctrlPr>
                          <a:rPr lang="es-AR" sz="1000" i="1">
                            <a:latin typeface="Cambria Math" panose="02040503050406030204" pitchFamily="18" charset="0"/>
                            <a:ea typeface="Times New Roman" panose="02020603050405020304" pitchFamily="18" charset="0"/>
                          </a:rPr>
                        </m:ctrlPr>
                      </m:sSubPr>
                      <m:e>
                        <m:r>
                          <a:rPr lang="es-AR" sz="1200" i="1">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200" i="1">
                            <a:latin typeface="Cambria Math" panose="02040503050406030204" pitchFamily="18" charset="0"/>
                            <a:ea typeface="Times New Roman" panose="02020603050405020304" pitchFamily="18" charset="0"/>
                            <a:cs typeface="Times New Roman" panose="02020603050405020304" pitchFamily="18" charset="0"/>
                          </a:rPr>
                          <m:t>𝑠</m:t>
                        </m:r>
                      </m:sub>
                    </m:sSub>
                  </m:oMath>
                </a14:m>
                <a:r>
                  <a:rPr lang="en-US" sz="1200" i="1" dirty="0">
                    <a:latin typeface="Calibri" pitchFamily="34" charset="0"/>
                    <a:ea typeface="Calibri" pitchFamily="34" charset="-122"/>
                    <a:cs typeface="Calibri" pitchFamily="34" charset="-120"/>
                  </a:rPr>
                  <a:t> varía con la temperatura: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00" i="1" smtClean="0">
                            <a:effectLst/>
                            <a:latin typeface="Cambria Math" panose="02040503050406030204" pitchFamily="18" charset="0"/>
                            <a:ea typeface="Times New Roman" panose="020206030504050203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ea typeface="Calibri" panose="020F0502020204030204" pitchFamily="34" charset="0"/>
                                <a:cs typeface="Times New Roman" panose="02020603050405020304" pitchFamily="18" charset="0"/>
                              </a:rPr>
                              <m:t>𝑇</m:t>
                            </m:r>
                          </m:e>
                          <m:sub>
                            <m:r>
                              <a:rPr lang="es-AR" sz="1200" i="1">
                                <a:latin typeface="Cambria Math" panose="02040503050406030204" pitchFamily="18" charset="0"/>
                                <a:ea typeface="Calibri" panose="020F0502020204030204" pitchFamily="34" charset="0"/>
                                <a:cs typeface="Times New Roman" panose="02020603050405020304" pitchFamily="18" charset="0"/>
                              </a:rPr>
                              <m:t>𝑠</m:t>
                            </m:r>
                          </m:sub>
                          <m:sup>
                            <m:r>
                              <a:rPr lang="es-AR" sz="12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e>
                    </m:d>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𝑠𝑅𝐸𝐹</m:t>
                        </m:r>
                      </m:sub>
                    </m:sSub>
                    <m:d>
                      <m:dPr>
                        <m:ctrlPr>
                          <a:rPr lang="es-AR" sz="10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𝛼</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𝑐𝑢</m:t>
                            </m:r>
                          </m:sub>
                        </m:sSub>
                        <m:d>
                          <m:dPr>
                            <m:ctrlPr>
                              <a:rPr lang="es-AR" sz="1000" i="1">
                                <a:effectLst/>
                                <a:latin typeface="Cambria Math" panose="02040503050406030204" pitchFamily="18" charset="0"/>
                                <a:ea typeface="Times New Roman" panose="020206030504050203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ea typeface="Calibri" panose="020F0502020204030204" pitchFamily="34" charset="0"/>
                                    <a:cs typeface="Times New Roman" panose="02020603050405020304" pitchFamily="18" charset="0"/>
                                  </a:rPr>
                                  <m:t>𝑇</m:t>
                                </m:r>
                              </m:e>
                              <m:sub>
                                <m:r>
                                  <a:rPr lang="es-AR" sz="1200" i="1">
                                    <a:latin typeface="Cambria Math" panose="02040503050406030204" pitchFamily="18" charset="0"/>
                                    <a:ea typeface="Calibri" panose="020F0502020204030204" pitchFamily="34" charset="0"/>
                                    <a:cs typeface="Times New Roman" panose="02020603050405020304" pitchFamily="18" charset="0"/>
                                  </a:rPr>
                                  <m:t>𝑠</m:t>
                                </m:r>
                              </m:sub>
                              <m:sup>
                                <m:r>
                                  <a:rPr lang="es-AR" sz="12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𝑠𝑅𝐸𝐹</m:t>
                                </m:r>
                              </m:sub>
                            </m:sSub>
                            <m:d>
                              <m:dPr>
                                <m:ctrlPr>
                                  <a:rPr lang="es-AR" sz="10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e>
                    </m:d>
                  </m:oMath>
                </a14:m>
                <a:endParaRPr lang="en-US" sz="1200" dirty="0"/>
              </a:p>
            </p:txBody>
          </p:sp>
        </mc:Choice>
        <mc:Fallback>
          <p:sp>
            <p:nvSpPr>
              <p:cNvPr id="18" name="Text 16"/>
              <p:cNvSpPr>
                <a:spLocks noRot="1" noChangeAspect="1" noMove="1" noResize="1" noEditPoints="1" noAdjustHandles="1" noChangeArrowheads="1" noChangeShapeType="1" noTextEdit="1"/>
              </p:cNvSpPr>
              <p:nvPr/>
            </p:nvSpPr>
            <p:spPr>
              <a:xfrm>
                <a:off x="274320" y="2764641"/>
                <a:ext cx="11430000" cy="457200"/>
              </a:xfrm>
              <a:prstGeom prst="rect">
                <a:avLst/>
              </a:prstGeom>
              <a:blipFill>
                <a:blip r:embed="rId4"/>
                <a:stretch>
                  <a:fillRect/>
                </a:stretch>
              </a:blipFill>
              <a:ln/>
            </p:spPr>
            <p:txBody>
              <a:bodyPr/>
              <a:lstStyle/>
              <a:p>
                <a:r>
                  <a:rPr lang="es-AR">
                    <a:noFill/>
                  </a:rPr>
                  <a:t> </a:t>
                </a:r>
              </a:p>
            </p:txBody>
          </p:sp>
        </mc:Fallback>
      </mc:AlternateContent>
      <p:sp>
        <p:nvSpPr>
          <p:cNvPr id="24" name="Text 5">
            <a:extLst>
              <a:ext uri="{FF2B5EF4-FFF2-40B4-BE49-F238E27FC236}">
                <a16:creationId xmlns:a16="http://schemas.microsoft.com/office/drawing/2014/main" id="{1E87B317-5267-44EA-9CD2-BA0AA07589B3}"/>
              </a:ext>
            </a:extLst>
          </p:cNvPr>
          <p:cNvSpPr/>
          <p:nvPr/>
        </p:nvSpPr>
        <p:spPr>
          <a:xfrm>
            <a:off x="274320" y="3149839"/>
            <a:ext cx="11430000" cy="457200"/>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Despejando las derivadas de las </a:t>
            </a:r>
            <a:r>
              <a:rPr lang="en-US" sz="1400" dirty="0" err="1">
                <a:solidFill>
                  <a:srgbClr val="111111"/>
                </a:solidFill>
                <a:latin typeface="Calibri" pitchFamily="34" charset="0"/>
                <a:ea typeface="Calibri" pitchFamily="34" charset="-122"/>
                <a:cs typeface="Calibri" pitchFamily="34" charset="-120"/>
              </a:rPr>
              <a:t>corrientes</a:t>
            </a:r>
            <a:r>
              <a:rPr lang="en-US" sz="1400" dirty="0">
                <a:solidFill>
                  <a:srgbClr val="111111"/>
                </a:solidFill>
                <a:latin typeface="Calibri" pitchFamily="34" charset="0"/>
                <a:ea typeface="Calibri" pitchFamily="34" charset="-122"/>
                <a:cs typeface="Calibri" pitchFamily="34" charset="-120"/>
              </a:rPr>
              <a:t>:</a:t>
            </a:r>
            <a:endParaRPr lang="en-US" sz="1400" dirty="0"/>
          </a:p>
        </p:txBody>
      </p:sp>
      <p:sp>
        <p:nvSpPr>
          <p:cNvPr id="25" name="Text 10">
            <a:extLst>
              <a:ext uri="{FF2B5EF4-FFF2-40B4-BE49-F238E27FC236}">
                <a16:creationId xmlns:a16="http://schemas.microsoft.com/office/drawing/2014/main" id="{C0D6C996-7D83-4288-B527-2A4E55EA4457}"/>
              </a:ext>
            </a:extLst>
          </p:cNvPr>
          <p:cNvSpPr/>
          <p:nvPr/>
        </p:nvSpPr>
        <p:spPr>
          <a:xfrm>
            <a:off x="274320" y="5317545"/>
            <a:ext cx="114300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Torque electromagnético:</a:t>
            </a:r>
            <a:endParaRPr lang="en-US" sz="1400" dirty="0"/>
          </a:p>
        </p:txBody>
      </p:sp>
      <mc:AlternateContent xmlns:mc="http://schemas.openxmlformats.org/markup-compatibility/2006" xmlns:a14="http://schemas.microsoft.com/office/drawing/2010/main">
        <mc:Choice Requires="a14">
          <p:sp>
            <p:nvSpPr>
              <p:cNvPr id="26" name="Text 13">
                <a:extLst>
                  <a:ext uri="{FF2B5EF4-FFF2-40B4-BE49-F238E27FC236}">
                    <a16:creationId xmlns:a16="http://schemas.microsoft.com/office/drawing/2014/main" id="{12E79842-49C7-463E-B87B-0AD84247764F}"/>
                  </a:ext>
                </a:extLst>
              </p:cNvPr>
              <p:cNvSpPr/>
              <p:nvPr/>
            </p:nvSpPr>
            <p:spPr>
              <a:xfrm>
                <a:off x="365760" y="5602662"/>
                <a:ext cx="11430000" cy="346745"/>
              </a:xfrm>
              <a:prstGeom prst="rect">
                <a:avLst/>
              </a:prstGeom>
              <a:noFill/>
              <a:ln/>
            </p:spPr>
            <p:txBody>
              <a:bodyPr wrap="square" rtlCol="0" anchor="t"/>
              <a:lstStyle/>
              <a:p>
                <a:r>
                  <a:rPr lang="es-AR" sz="1400" dirty="0">
                    <a:solidFill>
                      <a:srgbClr val="111111"/>
                    </a:solidFill>
                    <a:latin typeface="Calibri" pitchFamily="34" charset="0"/>
                    <a:cs typeface="Calibri" pitchFamily="34" charset="-120"/>
                  </a:rPr>
                  <a:t>Para el PMSM con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oMath>
                </a14:m>
                <a:r>
                  <a:rPr lang="es-AR" sz="1400" dirty="0">
                    <a:solidFill>
                      <a:srgbClr val="111111"/>
                    </a:solidFill>
                    <a:latin typeface="Calibri" pitchFamily="34" charset="0"/>
                    <a:cs typeface="Calibri" pitchFamily="34" charset="-120"/>
                  </a:rPr>
                  <a:t> ≈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oMath>
                </a14:m>
                <a:r>
                  <a:rPr lang="es-AR" sz="1400" dirty="0">
                    <a:solidFill>
                      <a:srgbClr val="111111"/>
                    </a:solidFill>
                    <a:latin typeface="Calibri" pitchFamily="34" charset="0"/>
                    <a:cs typeface="Calibri" pitchFamily="34" charset="-120"/>
                  </a:rPr>
                  <a:t>, el torque depende principalmente de </a:t>
                </a:r>
                <a14:m>
                  <m:oMath xmlns:m="http://schemas.openxmlformats.org/officeDocument/2006/math">
                    <m:sSubSup>
                      <m:sSubSupPr>
                        <m:ctrlPr>
                          <a:rPr lang="es-AR" sz="1000" i="1" smtClean="0">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s-AR" sz="1400" dirty="0">
                    <a:solidFill>
                      <a:srgbClr val="111111"/>
                    </a:solidFill>
                    <a:latin typeface="Calibri" pitchFamily="34" charset="0"/>
                    <a:cs typeface="Calibri" pitchFamily="34" charset="-120"/>
                  </a:rPr>
                  <a:t> (torque de imanes). El término </a:t>
                </a:r>
                <a14:m>
                  <m:oMath xmlns:m="http://schemas.openxmlformats.org/officeDocument/2006/math">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r>
                      <a:rPr lang="es-AR" sz="1400" i="1">
                        <a:latin typeface="Cambria Math" panose="02040503050406030204" pitchFamily="18" charset="0"/>
                      </a:rPr>
                      <m:t> </m:t>
                    </m:r>
                    <m:sSubSup>
                      <m:sSubSupPr>
                        <m:ctrlPr>
                          <a:rPr lang="es-AR" sz="1000" i="1">
                            <a:latin typeface="Cambria Math" panose="02040503050406030204" pitchFamily="18" charset="0"/>
                            <a:ea typeface="Times New Roman" panose="02020603050405020304" pitchFamily="18" charset="0"/>
                          </a:rPr>
                        </m:ctrlPr>
                      </m:sSubSupPr>
                      <m:e>
                        <m:r>
                          <a:rPr lang="es-AR" sz="1400" i="1">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00" i="1">
                            <a:latin typeface="Cambria Math" panose="02040503050406030204" pitchFamily="18" charset="0"/>
                            <a:ea typeface="Times New Roman" panose="02020603050405020304" pitchFamily="18" charset="0"/>
                          </a:rPr>
                        </m:ctrlPr>
                      </m:dPr>
                      <m:e>
                        <m:r>
                          <a:rPr lang="es-AR" sz="1400" i="1">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s-AR" sz="1400" dirty="0">
                    <a:solidFill>
                      <a:srgbClr val="111111"/>
                    </a:solidFill>
                    <a:latin typeface="Calibri" pitchFamily="34" charset="0"/>
                    <a:cs typeface="Calibri" pitchFamily="34" charset="-120"/>
                  </a:rPr>
                  <a:t> es el torque de reluctancia.</a:t>
                </a:r>
              </a:p>
            </p:txBody>
          </p:sp>
        </mc:Choice>
        <mc:Fallback xmlns="">
          <p:sp>
            <p:nvSpPr>
              <p:cNvPr id="26" name="Text 13">
                <a:extLst>
                  <a:ext uri="{FF2B5EF4-FFF2-40B4-BE49-F238E27FC236}">
                    <a16:creationId xmlns:a16="http://schemas.microsoft.com/office/drawing/2014/main" id="{12E79842-49C7-463E-B87B-0AD84247764F}"/>
                  </a:ext>
                </a:extLst>
              </p:cNvPr>
              <p:cNvSpPr>
                <a:spLocks noRot="1" noChangeAspect="1" noMove="1" noResize="1" noEditPoints="1" noAdjustHandles="1" noChangeArrowheads="1" noChangeShapeType="1" noTextEdit="1"/>
              </p:cNvSpPr>
              <p:nvPr/>
            </p:nvSpPr>
            <p:spPr>
              <a:xfrm>
                <a:off x="365760" y="5602662"/>
                <a:ext cx="11430000" cy="346745"/>
              </a:xfrm>
              <a:prstGeom prst="rect">
                <a:avLst/>
              </a:prstGeom>
              <a:blipFill>
                <a:blip r:embed="rId6"/>
                <a:stretch>
                  <a:fillRect l="-160" b="-12281"/>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286E67A6-B4D4-442F-9F99-D61E6B430E56}"/>
                  </a:ext>
                </a:extLst>
              </p:cNvPr>
              <p:cNvSpPr txBox="1"/>
              <p:nvPr/>
            </p:nvSpPr>
            <p:spPr>
              <a:xfrm>
                <a:off x="2418127" y="5881833"/>
                <a:ext cx="6212048" cy="5533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600" i="1" smtClean="0">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3</m:t>
                          </m:r>
                        </m:num>
                        <m:den>
                          <m:r>
                            <a:rPr lang="es-AR" sz="1600" i="0">
                              <a:solidFill>
                                <a:schemeClr val="tx1"/>
                              </a:solidFill>
                              <a:latin typeface="Cambria Math" panose="02040503050406030204" pitchFamily="18" charset="0"/>
                            </a:rPr>
                            <m:t>2</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𝑃</m:t>
                          </m:r>
                        </m:e>
                        <m:sub>
                          <m:r>
                            <a:rPr lang="es-AR" sz="1600" i="1">
                              <a:solidFill>
                                <a:schemeClr val="tx1"/>
                              </a:solidFill>
                              <a:latin typeface="Cambria Math" panose="02040503050406030204" pitchFamily="18" charset="0"/>
                            </a:rPr>
                            <m:t>𝑝</m:t>
                          </m:r>
                        </m:sub>
                      </m:sSub>
                      <m:d>
                        <m:dPr>
                          <m:begChr m:val="["/>
                          <m:endChr m:val="]"/>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𝜆</m:t>
                              </m:r>
                            </m:e>
                            <m:sub>
                              <m:r>
                                <a:rPr lang="es-AR" sz="1600" i="1">
                                  <a:solidFill>
                                    <a:schemeClr val="tx1"/>
                                  </a:solidFill>
                                  <a:latin typeface="Cambria Math" panose="02040503050406030204" pitchFamily="18" charset="0"/>
                                </a:rPr>
                                <m:t>𝑚</m:t>
                              </m:r>
                            </m:sub>
                            <m:sup>
                              <m:r>
                                <a:rPr lang="es-AR" sz="1600" i="0">
                                  <a:solidFill>
                                    <a:schemeClr val="tx1"/>
                                  </a:solidFill>
                                  <a:latin typeface="Cambria Math" panose="02040503050406030204" pitchFamily="18" charset="0"/>
                                </a:rPr>
                                <m:t>ˊ</m:t>
                              </m:r>
                              <m:r>
                                <a:rPr lang="es-AR" sz="1600" i="1">
                                  <a:solidFill>
                                    <a:schemeClr val="tx1"/>
                                  </a:solidFill>
                                  <a:latin typeface="Cambria Math" panose="02040503050406030204" pitchFamily="18" charset="0"/>
                                </a:rPr>
                                <m:t>𝑟</m:t>
                              </m:r>
                            </m:sup>
                          </m:sSubSup>
                          <m:r>
                            <a:rPr lang="es-AR" sz="1600" i="0">
                              <a:solidFill>
                                <a:schemeClr val="tx1"/>
                              </a:solidFill>
                              <a:latin typeface="Cambria Math" panose="02040503050406030204" pitchFamily="18" charset="0"/>
                            </a:rPr>
                            <m:t>+</m:t>
                          </m:r>
                          <m:d>
                            <m:dPr>
                              <m:ctrlPr>
                                <a:rPr lang="es-AR" sz="1600" i="1">
                                  <a:solidFill>
                                    <a:schemeClr val="tx1"/>
                                  </a:solidFill>
                                  <a:latin typeface="Cambria Math" panose="02040503050406030204" pitchFamily="18" charset="0"/>
                                </a:rPr>
                              </m:ctrlPr>
                            </m:dPr>
                            <m:e>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𝑑</m:t>
                                  </m:r>
                                </m:sub>
                              </m:sSub>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𝑞</m:t>
                                  </m:r>
                                </m:sub>
                              </m:sSub>
                            </m:e>
                          </m:d>
                          <m:r>
                            <a:rPr lang="es-AR" sz="1600" i="0">
                              <a:solidFill>
                                <a:schemeClr val="tx1"/>
                              </a:solidFill>
                              <a:latin typeface="Cambria Math" panose="02040503050406030204" pitchFamily="18" charset="0"/>
                            </a:rPr>
                            <m:t> </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r>
                        <a:rPr lang="es-AR" sz="1600" i="0">
                          <a:solidFill>
                            <a:schemeClr val="tx1"/>
                          </a:solidFill>
                          <a:latin typeface="Cambria Math" panose="02040503050406030204" pitchFamily="18" charset="0"/>
                        </a:rPr>
                        <m:t>∙</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oMath>
                  </m:oMathPara>
                </a14:m>
                <a:endParaRPr lang="es-AR" dirty="0"/>
              </a:p>
            </p:txBody>
          </p:sp>
        </mc:Choice>
        <mc:Fallback xmlns="">
          <p:sp>
            <p:nvSpPr>
              <p:cNvPr id="28" name="CuadroTexto 27">
                <a:extLst>
                  <a:ext uri="{FF2B5EF4-FFF2-40B4-BE49-F238E27FC236}">
                    <a16:creationId xmlns:a16="http://schemas.microsoft.com/office/drawing/2014/main" id="{286E67A6-B4D4-442F-9F99-D61E6B430E56}"/>
                  </a:ext>
                </a:extLst>
              </p:cNvPr>
              <p:cNvSpPr txBox="1">
                <a:spLocks noRot="1" noChangeAspect="1" noMove="1" noResize="1" noEditPoints="1" noAdjustHandles="1" noChangeArrowheads="1" noChangeShapeType="1" noTextEdit="1"/>
              </p:cNvSpPr>
              <p:nvPr/>
            </p:nvSpPr>
            <p:spPr>
              <a:xfrm>
                <a:off x="2418127" y="5881833"/>
                <a:ext cx="6212048" cy="553357"/>
              </a:xfrm>
              <a:prstGeom prst="rect">
                <a:avLst/>
              </a:prstGeom>
              <a:blipFill>
                <a:blip r:embed="rId9"/>
                <a:stretch>
                  <a:fillRect/>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59646BFE-5B29-4924-BE61-8E62C94BCF85}"/>
              </a:ext>
            </a:extLst>
          </p:cNvPr>
          <p:cNvSpPr txBox="1"/>
          <p:nvPr/>
        </p:nvSpPr>
        <p:spPr>
          <a:xfrm>
            <a:off x="152696" y="144518"/>
            <a:ext cx="6098958" cy="369332"/>
          </a:xfrm>
          <a:prstGeom prst="rect">
            <a:avLst/>
          </a:prstGeom>
          <a:noFill/>
        </p:spPr>
        <p:txBody>
          <a:bodyPr wrap="square">
            <a:spAutoFit/>
          </a:bodyPr>
          <a:lstStyle/>
          <a:p>
            <a:pPr marL="0" indent="0">
              <a:buNone/>
            </a:pPr>
            <a:r>
              <a:rPr lang="en-US" sz="1800" b="1" dirty="0" err="1">
                <a:solidFill>
                  <a:srgbClr val="FFFFFF"/>
                </a:solidFill>
                <a:latin typeface="Calibri" pitchFamily="34" charset="0"/>
                <a:ea typeface="Calibri" pitchFamily="34" charset="-122"/>
                <a:cs typeface="Calibri" pitchFamily="34" charset="-120"/>
              </a:rPr>
              <a:t>Subsistema</a:t>
            </a:r>
            <a:r>
              <a:rPr lang="en-US" sz="1800" b="1" dirty="0">
                <a:solidFill>
                  <a:srgbClr val="FFFFFF"/>
                </a:solidFill>
                <a:latin typeface="Calibri" pitchFamily="34" charset="0"/>
                <a:ea typeface="Calibri" pitchFamily="34" charset="-122"/>
                <a:cs typeface="Calibri" pitchFamily="34" charset="-120"/>
              </a:rPr>
              <a:t> </a:t>
            </a:r>
            <a:r>
              <a:rPr lang="en-US" sz="1800" b="1" dirty="0" err="1">
                <a:solidFill>
                  <a:srgbClr val="FFFFFF"/>
                </a:solidFill>
                <a:latin typeface="Calibri" pitchFamily="34" charset="0"/>
                <a:ea typeface="Calibri" pitchFamily="34" charset="-122"/>
                <a:cs typeface="Calibri" pitchFamily="34" charset="-120"/>
              </a:rPr>
              <a:t>electromagnético</a:t>
            </a:r>
            <a:r>
              <a:rPr lang="en-US" sz="1800" b="1" dirty="0">
                <a:solidFill>
                  <a:srgbClr val="FFFFFF"/>
                </a:solidFill>
                <a:latin typeface="Calibri" pitchFamily="34" charset="0"/>
                <a:ea typeface="Calibri" pitchFamily="34" charset="-122"/>
                <a:cs typeface="Calibri" pitchFamily="34" charset="-120"/>
              </a:rPr>
              <a:t> — </a:t>
            </a:r>
            <a:r>
              <a:rPr lang="en-US" sz="1800" b="1" dirty="0" err="1">
                <a:solidFill>
                  <a:srgbClr val="FFFFFF"/>
                </a:solidFill>
                <a:latin typeface="Calibri" pitchFamily="34" charset="0"/>
                <a:ea typeface="Calibri" pitchFamily="34" charset="-122"/>
                <a:cs typeface="Calibri" pitchFamily="34" charset="-120"/>
              </a:rPr>
              <a:t>Transformación</a:t>
            </a:r>
            <a:r>
              <a:rPr lang="en-US" sz="1800" b="1" dirty="0">
                <a:solidFill>
                  <a:srgbClr val="FFFFFF"/>
                </a:solidFill>
                <a:latin typeface="Calibri" pitchFamily="34" charset="0"/>
                <a:ea typeface="Calibri" pitchFamily="34" charset="-122"/>
                <a:cs typeface="Calibri" pitchFamily="34" charset="-120"/>
              </a:rPr>
              <a:t> de Park</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D14FAA62-805A-4164-83CC-4C19D4EDB9C1}"/>
              </a:ext>
            </a:extLst>
          </p:cNvPr>
          <p:cNvPicPr>
            <a:picLocks noChangeAspect="1"/>
          </p:cNvPicPr>
          <p:nvPr/>
        </p:nvPicPr>
        <p:blipFill>
          <a:blip r:embed="rId2"/>
          <a:stretch>
            <a:fillRect/>
          </a:stretch>
        </p:blipFill>
        <p:spPr>
          <a:xfrm>
            <a:off x="2165065" y="690663"/>
            <a:ext cx="7595200" cy="5281038"/>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electromagnético — Modelo en espacio de estados</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7" name="Text 15"/>
          <p:cNvSpPr/>
          <p:nvPr/>
        </p:nvSpPr>
        <p:spPr>
          <a:xfrm>
            <a:off x="457200" y="5755857"/>
            <a:ext cx="11247120" cy="777240"/>
          </a:xfrm>
          <a:prstGeom prst="rect">
            <a:avLst/>
          </a:prstGeom>
          <a:noFill/>
          <a:ln/>
        </p:spPr>
        <p:txBody>
          <a:bodyPr wrap="square" rtlCol="0" anchor="ctr"/>
          <a:lstStyle/>
          <a:p>
            <a:pPr marL="0" indent="0" algn="ctr">
              <a:buNone/>
            </a:pPr>
            <a:r>
              <a:rPr lang="es-AR" sz="1100" i="1" dirty="0">
                <a:solidFill>
                  <a:srgbClr val="224488"/>
                </a:solidFill>
                <a:latin typeface="Calibri" pitchFamily="34" charset="0"/>
                <a:ea typeface="Calibri" pitchFamily="34" charset="-122"/>
                <a:cs typeface="Calibri" pitchFamily="34" charset="-120"/>
              </a:rPr>
              <a:t>FIGURA: Figura 4 — Diagrama de bloques Simulink del subsistema electromagnético</a:t>
            </a:r>
            <a:endParaRPr lang="es-AR"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térmico del estator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274320" y="806712"/>
            <a:ext cx="11430000" cy="82296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Modelo de primer orden que representa el comportamiento térmico del bobinado del estator. Se consideran únicamente las pérdidas resistivas por efecto Joule (se desprecian pérdidas magnéticas en el núcleo). La transferencia de calor al ambiente se modela por conducción y convección natural sin ventilación forzada.</a:t>
            </a:r>
            <a:endParaRPr lang="en-US" sz="1300" dirty="0"/>
          </a:p>
        </p:txBody>
      </p:sp>
      <p:sp>
        <p:nvSpPr>
          <p:cNvPr id="8" name="Text 6"/>
          <p:cNvSpPr/>
          <p:nvPr/>
        </p:nvSpPr>
        <p:spPr>
          <a:xfrm>
            <a:off x="274320" y="1458399"/>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Potencia disipada por efecto Joule (en coordenadas qd0):</a:t>
            </a:r>
            <a:endParaRPr lang="en-US" sz="1300" dirty="0"/>
          </a:p>
        </p:txBody>
      </p:sp>
      <p:sp>
        <p:nvSpPr>
          <p:cNvPr id="9" name="Shape 7"/>
          <p:cNvSpPr/>
          <p:nvPr/>
        </p:nvSpPr>
        <p:spPr>
          <a:xfrm>
            <a:off x="365760" y="1872740"/>
            <a:ext cx="11445240" cy="566928"/>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10" name="Text 8"/>
              <p:cNvSpPr/>
              <p:nvPr/>
            </p:nvSpPr>
            <p:spPr>
              <a:xfrm>
                <a:off x="1478280" y="1851851"/>
                <a:ext cx="8961120" cy="566928"/>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
                        <m:sSubPr>
                          <m:ctrlPr>
                            <a:rPr lang="es-AR" sz="160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𝑝𝑒𝑟𝑑</m:t>
                          </m:r>
                        </m:sub>
                      </m:sSub>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600" i="1">
                              <a:effectLst/>
                              <a:latin typeface="Cambria Math" panose="02040503050406030204" pitchFamily="18" charset="0"/>
                            </a:rPr>
                          </m:ctrlPr>
                        </m:sSubPr>
                        <m:e>
                          <m:f>
                            <m:fPr>
                              <m:ctrlPr>
                                <a:rPr lang="es-AR" sz="160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600" i="1">
                              <a:effectLst/>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s-AR" sz="1600" i="1">
                              <a:effectLst/>
                              <a:latin typeface="Cambria Math" panose="02040503050406030204" pitchFamily="18" charset="0"/>
                            </a:rPr>
                          </m:ctrlPr>
                        </m:dPr>
                        <m:e>
                          <m:sSubSup>
                            <m:sSubSupPr>
                              <m:ctrlPr>
                                <a:rPr lang="es-AR" sz="160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sup>
                          </m:sSubSup>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60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sup>
                          </m:sSubSup>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60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sup>
                          </m:sSubSup>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e>
                      </m:d>
                    </m:oMath>
                  </m:oMathPara>
                </a14:m>
                <a:endParaRPr lang="en-US" sz="1600" dirty="0"/>
              </a:p>
            </p:txBody>
          </p:sp>
        </mc:Choice>
        <mc:Fallback>
          <p:sp>
            <p:nvSpPr>
              <p:cNvPr id="10" name="Text 8"/>
              <p:cNvSpPr>
                <a:spLocks noRot="1" noChangeAspect="1" noMove="1" noResize="1" noEditPoints="1" noAdjustHandles="1" noChangeArrowheads="1" noChangeShapeType="1" noTextEdit="1"/>
              </p:cNvSpPr>
              <p:nvPr/>
            </p:nvSpPr>
            <p:spPr>
              <a:xfrm>
                <a:off x="1478280" y="1851851"/>
                <a:ext cx="8961120" cy="566928"/>
              </a:xfrm>
              <a:prstGeom prst="rect">
                <a:avLst/>
              </a:prstGeom>
              <a:blipFill>
                <a:blip r:embed="rId2"/>
                <a:stretch>
                  <a:fillRect/>
                </a:stretch>
              </a:blipFill>
              <a:ln/>
            </p:spPr>
            <p:txBody>
              <a:bodyPr/>
              <a:lstStyle/>
              <a:p>
                <a:r>
                  <a:rPr lang="es-AR">
                    <a:noFill/>
                  </a:rPr>
                  <a:t> </a:t>
                </a:r>
              </a:p>
            </p:txBody>
          </p:sp>
        </mc:Fallback>
      </mc:AlternateContent>
      <p:sp>
        <p:nvSpPr>
          <p:cNvPr id="11" name="Text 9"/>
          <p:cNvSpPr/>
          <p:nvPr/>
        </p:nvSpPr>
        <p:spPr>
          <a:xfrm>
            <a:off x="289560" y="2566725"/>
            <a:ext cx="11430000" cy="475488"/>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Balance energético en el bobinado — la potencia de pérdidas = energía almacenada + energía disipada al ambiente:</a:t>
            </a:r>
            <a:endParaRPr lang="en-US" sz="1300" dirty="0"/>
          </a:p>
        </p:txBody>
      </p:sp>
      <p:sp>
        <p:nvSpPr>
          <p:cNvPr id="12" name="Shape 10"/>
          <p:cNvSpPr/>
          <p:nvPr/>
        </p:nvSpPr>
        <p:spPr>
          <a:xfrm>
            <a:off x="365760" y="4076755"/>
            <a:ext cx="11414760" cy="749808"/>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13" name="Text 11"/>
              <p:cNvSpPr/>
              <p:nvPr/>
            </p:nvSpPr>
            <p:spPr>
              <a:xfrm>
                <a:off x="213360" y="4076755"/>
                <a:ext cx="11247120" cy="62179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f>
                        <m:fPr>
                          <m:ctrlPr>
                            <a:rPr lang="es-AR" sz="1400" i="1" smtClean="0">
                              <a:solidFill>
                                <a:schemeClr val="tx1"/>
                              </a:solidFill>
                              <a:effectLst/>
                              <a:latin typeface="Cambria Math" panose="02040503050406030204" pitchFamily="18" charset="0"/>
                              <a:ea typeface="Times New Roman" panose="02020603050405020304" pitchFamily="18" charset="0"/>
                            </a:rPr>
                          </m:ctrlPr>
                        </m:fPr>
                        <m:num>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𝑑𝑡</m:t>
                          </m:r>
                        </m:den>
                      </m:f>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s-AR" sz="1400" i="1">
                              <a:solidFill>
                                <a:schemeClr val="tx1"/>
                              </a:solidFill>
                              <a:effectLst/>
                              <a:latin typeface="Cambria Math" panose="02040503050406030204" pitchFamily="18" charset="0"/>
                              <a:ea typeface="Times New Roman" panose="02020603050405020304" pitchFamily="18" charset="0"/>
                            </a:rPr>
                          </m:ctrlPr>
                        </m:fPr>
                        <m:num>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solidFill>
                                    <a:schemeClr val="tx1"/>
                                  </a:solidFill>
                                  <a:effectLst/>
                                  <a:latin typeface="Cambria Math" panose="02040503050406030204" pitchFamily="18" charset="0"/>
                                </a:rPr>
                              </m:ctrlPr>
                            </m:sSub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𝑡𝑠</m:t>
                              </m:r>
                            </m:sub>
                          </m:sSub>
                        </m:den>
                      </m:f>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es-AR" sz="1400" i="1">
                              <a:solidFill>
                                <a:schemeClr val="tx1"/>
                              </a:solidFill>
                              <a:effectLst/>
                              <a:latin typeface="Cambria Math" panose="02040503050406030204" pitchFamily="18" charset="0"/>
                            </a:rPr>
                          </m:ctrlPr>
                        </m:dPr>
                        <m:e>
                          <m:sSub>
                            <m:sSubPr>
                              <m:ctrlPr>
                                <a:rPr lang="es-AR" sz="1400" i="1">
                                  <a:solidFill>
                                    <a:schemeClr val="tx1"/>
                                  </a:solidFill>
                                  <a:effectLst/>
                                  <a:latin typeface="Cambria Math" panose="02040503050406030204" pitchFamily="18" charset="0"/>
                                </a:rPr>
                              </m:ctrlPr>
                            </m:sSubPr>
                            <m:e>
                              <m:f>
                                <m:fPr>
                                  <m:ctrlPr>
                                    <a:rPr lang="es-AR" sz="1400" i="1">
                                      <a:solidFill>
                                        <a:schemeClr val="tx1"/>
                                      </a:solidFill>
                                      <a:effectLst/>
                                      <a:latin typeface="Cambria Math" panose="02040503050406030204" pitchFamily="18" charset="0"/>
                                    </a:rPr>
                                  </m:ctrlPr>
                                </m:fPr>
                                <m:num>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3</m:t>
                                  </m:r>
                                </m:num>
                                <m:den>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400" i="1">
                                  <a:solidFill>
                                    <a:schemeClr val="tx1"/>
                                  </a:solidFill>
                                  <a:effectLst/>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d>
                            <m:dPr>
                              <m:ctrlPr>
                                <a:rPr lang="es-AR" sz="1400" i="1">
                                  <a:solidFill>
                                    <a:schemeClr val="tx1"/>
                                  </a:solidFill>
                                  <a:effectLst/>
                                  <a:latin typeface="Cambria Math" panose="02040503050406030204" pitchFamily="18" charset="0"/>
                                </a:rPr>
                              </m:ctrlPr>
                            </m:dPr>
                            <m:e>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solidFill>
                                    <a:schemeClr val="tx1"/>
                                  </a:solidFill>
                                  <a:effectLst/>
                                  <a:latin typeface="Cambria Math" panose="02040503050406030204" pitchFamily="18" charset="0"/>
                                  <a:ea typeface="Times New Roman" panose="02020603050405020304" pitchFamily="18" charset="0"/>
                                </a:rPr>
                              </m:ctrlPr>
                            </m:fPr>
                            <m:num>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solidFill>
                                        <a:schemeClr val="tx1"/>
                                      </a:solidFill>
                                      <a:effectLst/>
                                      <a:latin typeface="Cambria Math" panose="02040503050406030204" pitchFamily="18" charset="0"/>
                                      <a:ea typeface="Times New Roman" panose="02020603050405020304" pitchFamily="18"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den>
                          </m:f>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𝑎𝑚𝑏</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e>
                      </m:d>
                      <m:r>
                        <a:rPr lang="es-MX" sz="1400" b="0"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𝑠𝑅𝐸𝐹</m:t>
                          </m:r>
                        </m:sub>
                      </m:sSub>
                      <m:d>
                        <m:dPr>
                          <m:ctrlPr>
                            <a:rPr lang="es-AR" sz="1400" i="1">
                              <a:solidFill>
                                <a:schemeClr val="tx1"/>
                              </a:solidFill>
                              <a:latin typeface="Cambria Math" panose="02040503050406030204" pitchFamily="18" charset="0"/>
                            </a:rPr>
                          </m:ctrlPr>
                        </m:dPr>
                        <m:e>
                          <m:r>
                            <a:rPr lang="es-AR" sz="1400">
                              <a:solidFill>
                                <a:schemeClr val="tx1"/>
                              </a:solidFill>
                              <a:latin typeface="Cambria Math" panose="02040503050406030204" pitchFamily="18" charset="0"/>
                            </a:rPr>
                            <m:t>1</m:t>
                          </m:r>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𝛼</m:t>
                              </m:r>
                            </m:e>
                            <m:sub>
                              <m:r>
                                <a:rPr lang="es-AR" sz="1400" i="1">
                                  <a:solidFill>
                                    <a:schemeClr val="tx1"/>
                                  </a:solidFill>
                                  <a:latin typeface="Cambria Math" panose="02040503050406030204" pitchFamily="18" charset="0"/>
                                </a:rPr>
                                <m:t>𝑐𝑢</m:t>
                              </m:r>
                            </m:sub>
                          </m:sSub>
                          <m:d>
                            <m:dPr>
                              <m:ctrlPr>
                                <a:rPr lang="es-AR" sz="1400" i="1">
                                  <a:solidFill>
                                    <a:schemeClr val="tx1"/>
                                  </a:solidFill>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𝑠𝑅𝐸𝐹</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e>
                      </m:d>
                    </m:oMath>
                  </m:oMathPara>
                </a14:m>
                <a:endParaRPr lang="en-US" sz="1400" dirty="0">
                  <a:solidFill>
                    <a:schemeClr val="tx1"/>
                  </a:solidFill>
                </a:endParaRPr>
              </a:p>
            </p:txBody>
          </p:sp>
        </mc:Choice>
        <mc:Fallback>
          <p:sp>
            <p:nvSpPr>
              <p:cNvPr id="13" name="Text 11"/>
              <p:cNvSpPr>
                <a:spLocks noRot="1" noChangeAspect="1" noMove="1" noResize="1" noEditPoints="1" noAdjustHandles="1" noChangeArrowheads="1" noChangeShapeType="1" noTextEdit="1"/>
              </p:cNvSpPr>
              <p:nvPr/>
            </p:nvSpPr>
            <p:spPr>
              <a:xfrm>
                <a:off x="213360" y="4076755"/>
                <a:ext cx="11247120" cy="621792"/>
              </a:xfrm>
              <a:prstGeom prst="rect">
                <a:avLst/>
              </a:prstGeom>
              <a:blipFill>
                <a:blip r:embed="rId3"/>
                <a:stretch>
                  <a:fillRect/>
                </a:stretch>
              </a:blipFill>
              <a:ln/>
            </p:spPr>
            <p:txBody>
              <a:bodyPr/>
              <a:lstStyle/>
              <a:p>
                <a:r>
                  <a:rPr lang="es-AR">
                    <a:noFill/>
                  </a:rPr>
                  <a:t> </a:t>
                </a:r>
              </a:p>
            </p:txBody>
          </p:sp>
        </mc:Fallback>
      </mc:AlternateContent>
      <p:sp>
        <p:nvSpPr>
          <p:cNvPr id="14" name="Text 12"/>
          <p:cNvSpPr/>
          <p:nvPr/>
        </p:nvSpPr>
        <p:spPr>
          <a:xfrm>
            <a:off x="213360" y="4937760"/>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Parámetros del modelo térmico:</a:t>
            </a:r>
            <a:endParaRPr lang="en-US" sz="1300" dirty="0"/>
          </a:p>
        </p:txBody>
      </p:sp>
      <mc:AlternateContent xmlns:mc="http://schemas.openxmlformats.org/markup-compatibility/2006" xmlns:a14="http://schemas.microsoft.com/office/drawing/2010/main">
        <mc:Choice Requires="a14">
          <p:sp>
            <p:nvSpPr>
              <p:cNvPr id="15" name="Text 13"/>
              <p:cNvSpPr/>
              <p:nvPr/>
            </p:nvSpPr>
            <p:spPr>
              <a:xfrm>
                <a:off x="213360" y="5321808"/>
                <a:ext cx="11430000" cy="1179576"/>
              </a:xfrm>
              <a:prstGeom prst="rect">
                <a:avLst/>
              </a:prstGeom>
              <a:noFill/>
              <a:ln/>
            </p:spPr>
            <p:txBody>
              <a:bodyPr wrap="square" rtlCol="0" anchor="t"/>
              <a:lstStyle/>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Capacitancia térmica del estator: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818</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𝑊</m:t>
                        </m:r>
                      </m:num>
                      <m:den>
                        <m:d>
                          <m:dPr>
                            <m:ctrlPr>
                              <a:rPr lang="es-AR" sz="1400" i="1">
                                <a:effectLst/>
                                <a:latin typeface="Cambria Math" panose="02040503050406030204" pitchFamily="18" charset="0"/>
                                <a:ea typeface="Times New Roman" panose="02020603050405020304" pitchFamily="18" charset="0"/>
                              </a:rPr>
                            </m:ctrlPr>
                          </m:dPr>
                          <m:e>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num>
                              <m:den>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den>
                            </m:f>
                          </m:e>
                        </m:d>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Resistencia térmica estator-ambiente: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146</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7</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num>
                      <m:den>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𝑊</m:t>
                        </m:r>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Constante de tiempo térmica: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𝜏</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120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Temperatura máxima admisible: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115</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MX" sz="1400" b="0" i="0" smtClean="0">
                        <a:latin typeface="Cambria Math" panose="02040503050406030204" pitchFamily="18" charset="0"/>
                      </a:rPr>
                      <m:t>;  </m:t>
                    </m:r>
                    <m:r>
                      <a:rPr lang="es-AR" sz="1400" i="1">
                        <a:latin typeface="Cambria Math" panose="02040503050406030204" pitchFamily="18" charset="0"/>
                      </a:rPr>
                      <m:t>−</m:t>
                    </m:r>
                    <m:r>
                      <a:rPr lang="es-AR" sz="1400" i="1">
                        <a:latin typeface="Cambria Math" panose="02040503050406030204" pitchFamily="18" charset="0"/>
                      </a:rPr>
                      <m:t>15</m:t>
                    </m:r>
                    <m:r>
                      <a:rPr lang="es-AR" sz="1400" i="1">
                        <a:latin typeface="Cambria Math" panose="02040503050406030204" pitchFamily="18" charset="0"/>
                      </a:rPr>
                      <m:t> °</m:t>
                    </m:r>
                    <m:r>
                      <a:rPr lang="es-AR" sz="1400" i="1">
                        <a:latin typeface="Cambria Math" panose="02040503050406030204" pitchFamily="18" charset="0"/>
                      </a:rPr>
                      <m:t>𝐶</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𝑎𝑚𝑏</m:t>
                        </m:r>
                      </m:sub>
                    </m:sSub>
                    <m:r>
                      <a:rPr lang="es-AR" sz="1400" i="1">
                        <a:latin typeface="Cambria Math" panose="02040503050406030204" pitchFamily="18" charset="0"/>
                      </a:rPr>
                      <m:t>≤</m:t>
                    </m:r>
                    <m:r>
                      <a:rPr lang="es-AR" sz="1400" i="1">
                        <a:latin typeface="Cambria Math" panose="02040503050406030204" pitchFamily="18" charset="0"/>
                      </a:rPr>
                      <m:t>40</m:t>
                    </m:r>
                    <m:r>
                      <a:rPr lang="es-AR" sz="1400" i="1">
                        <a:latin typeface="Cambria Math" panose="02040503050406030204" pitchFamily="18" charset="0"/>
                      </a:rPr>
                      <m:t>°</m:t>
                    </m:r>
                    <m:r>
                      <a:rPr lang="es-AR" sz="1400" i="1">
                        <a:latin typeface="Cambria Math" panose="02040503050406030204" pitchFamily="18" charset="0"/>
                      </a:rPr>
                      <m:t>𝐶</m:t>
                    </m:r>
                  </m:oMath>
                </a14:m>
                <a:endParaRPr lang="en-US" sz="1400" dirty="0"/>
              </a:p>
            </p:txBody>
          </p:sp>
        </mc:Choice>
        <mc:Fallback xmlns="">
          <p:sp>
            <p:nvSpPr>
              <p:cNvPr id="15" name="Text 13"/>
              <p:cNvSpPr>
                <a:spLocks noRot="1" noChangeAspect="1" noMove="1" noResize="1" noEditPoints="1" noAdjustHandles="1" noChangeArrowheads="1" noChangeShapeType="1" noTextEdit="1"/>
              </p:cNvSpPr>
              <p:nvPr/>
            </p:nvSpPr>
            <p:spPr>
              <a:xfrm>
                <a:off x="213360" y="5321808"/>
                <a:ext cx="11430000" cy="1179576"/>
              </a:xfrm>
              <a:prstGeom prst="rect">
                <a:avLst/>
              </a:prstGeom>
              <a:blipFill>
                <a:blip r:embed="rId4"/>
                <a:stretch>
                  <a:fillRect l="-160" t="-24742"/>
                </a:stretch>
              </a:blipFill>
              <a:ln/>
            </p:spPr>
            <p:txBody>
              <a:bodyPr/>
              <a:lstStyle/>
              <a:p>
                <a:r>
                  <a:rPr lang="es-AR">
                    <a:noFill/>
                  </a:rPr>
                  <a:t> </a:t>
                </a:r>
              </a:p>
            </p:txBody>
          </p:sp>
        </mc:Fallback>
      </mc:AlternateContent>
      <p:sp>
        <p:nvSpPr>
          <p:cNvPr id="16" name="Shape 10">
            <a:extLst>
              <a:ext uri="{FF2B5EF4-FFF2-40B4-BE49-F238E27FC236}">
                <a16:creationId xmlns:a16="http://schemas.microsoft.com/office/drawing/2014/main" id="{3801E66D-3CD5-4C4D-9C96-0DDF4563177B}"/>
              </a:ext>
            </a:extLst>
          </p:cNvPr>
          <p:cNvSpPr/>
          <p:nvPr/>
        </p:nvSpPr>
        <p:spPr>
          <a:xfrm>
            <a:off x="365760" y="2948529"/>
            <a:ext cx="11414760" cy="74980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7" name="Text 11">
                <a:extLst>
                  <a:ext uri="{FF2B5EF4-FFF2-40B4-BE49-F238E27FC236}">
                    <a16:creationId xmlns:a16="http://schemas.microsoft.com/office/drawing/2014/main" id="{2C5B11D9-002E-4394-98EC-B6421BAAA077}"/>
                  </a:ext>
                </a:extLst>
              </p:cNvPr>
              <p:cNvSpPr/>
              <p:nvPr/>
            </p:nvSpPr>
            <p:spPr>
              <a:xfrm>
                <a:off x="472440" y="3012537"/>
                <a:ext cx="11247120" cy="62179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𝑠</m:t>
                          </m:r>
                          <m:r>
                            <a:rPr lang="es-AR" sz="1600" i="1">
                              <a:latin typeface="Cambria Math" panose="02040503050406030204" pitchFamily="18" charset="0"/>
                            </a:rPr>
                            <m:t>,</m:t>
                          </m:r>
                          <m:r>
                            <a:rPr lang="es-AR" sz="1600" i="1">
                              <a:latin typeface="Cambria Math" panose="02040503050406030204" pitchFamily="18" charset="0"/>
                            </a:rPr>
                            <m:t>𝑝𝑒𝑟𝑑</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𝐶</m:t>
                          </m:r>
                        </m:e>
                        <m:sub>
                          <m:r>
                            <a:rPr lang="es-AR" sz="1600" i="1">
                              <a:latin typeface="Cambria Math" panose="02040503050406030204" pitchFamily="18" charset="0"/>
                            </a:rPr>
                            <m:t>𝑡𝑠</m:t>
                          </m:r>
                        </m:sub>
                      </m:sSub>
                      <m:r>
                        <a:rPr lang="es-AR" sz="1600" i="1">
                          <a:latin typeface="Cambria Math" panose="02040503050406030204" pitchFamily="18" charset="0"/>
                        </a:rPr>
                        <m:t>·</m:t>
                      </m:r>
                      <m:f>
                        <m:fPr>
                          <m:ctrlPr>
                            <a:rPr lang="es-AR" sz="1600" i="1">
                              <a:latin typeface="Cambria Math" panose="02040503050406030204" pitchFamily="18" charset="0"/>
                            </a:rPr>
                          </m:ctrlPr>
                        </m:fPr>
                        <m:num>
                          <m:sSubSup>
                            <m:sSubSupPr>
                              <m:ctrlPr>
                                <a:rPr lang="es-AR" sz="1600" i="1">
                                  <a:latin typeface="Cambria Math" panose="02040503050406030204" pitchFamily="18" charset="0"/>
                                </a:rPr>
                              </m:ctrlPr>
                            </m:sSubSupPr>
                            <m:e>
                              <m:r>
                                <a:rPr lang="es-AR" sz="1600" i="1">
                                  <a:latin typeface="Cambria Math" panose="02040503050406030204" pitchFamily="18" charset="0"/>
                                </a:rPr>
                                <m:t>𝑑𝑇</m:t>
                              </m:r>
                            </m:e>
                            <m:sub>
                              <m:r>
                                <a:rPr lang="es-AR" sz="1600" i="1">
                                  <a:latin typeface="Cambria Math" panose="02040503050406030204" pitchFamily="18" charset="0"/>
                                </a:rPr>
                                <m:t>𝑠</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𝑡𝑠</m:t>
                              </m:r>
                              <m:r>
                                <a:rPr lang="es-AR" sz="1600" i="1">
                                  <a:latin typeface="Cambria Math" panose="02040503050406030204" pitchFamily="18" charset="0"/>
                                </a:rPr>
                                <m:t>−</m:t>
                              </m:r>
                              <m:r>
                                <a:rPr lang="es-AR" sz="1600" i="1">
                                  <a:latin typeface="Cambria Math" panose="02040503050406030204" pitchFamily="18" charset="0"/>
                                </a:rPr>
                                <m:t>𝑎𝑚𝑏</m:t>
                              </m:r>
                            </m:sub>
                          </m:sSub>
                        </m:den>
                      </m:f>
                      <m:r>
                        <a:rPr lang="es-AR" sz="1600" i="1">
                          <a:latin typeface="Cambria Math" panose="02040503050406030204" pitchFamily="18" charset="0"/>
                        </a:rPr>
                        <m:t>·</m:t>
                      </m:r>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m:t>
                              </m:r>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sSubSup>
                            <m:sSubSupPr>
                              <m:ctrlPr>
                                <a:rPr lang="es-AR" sz="1600" i="1">
                                  <a:latin typeface="Cambria Math" panose="02040503050406030204" pitchFamily="18" charset="0"/>
                                </a:rPr>
                              </m:ctrlPr>
                            </m:sSubSupPr>
                            <m:e>
                              <m:r>
                                <a:rPr lang="es-AR" sz="1600" i="1">
                                  <a:latin typeface="Cambria Math" panose="02040503050406030204" pitchFamily="18" charset="0"/>
                                </a:rPr>
                                <m:t>−</m:t>
                              </m:r>
                              <m:r>
                                <a:rPr lang="es-AR" sz="1600" i="1">
                                  <a:latin typeface="Cambria Math" panose="02040503050406030204" pitchFamily="18" charset="0"/>
                                </a:rPr>
                                <m:t>𝑇</m:t>
                              </m:r>
                            </m:e>
                            <m:sub>
                              <m:r>
                                <a:rPr lang="es-AR" sz="1600" i="1">
                                  <a:latin typeface="Cambria Math" panose="02040503050406030204" pitchFamily="18" charset="0"/>
                                </a:rPr>
                                <m:t>𝑎𝑚𝑏</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e>
                      </m:d>
                    </m:oMath>
                  </m:oMathPara>
                </a14:m>
                <a:endParaRPr lang="en-US" sz="1050" dirty="0"/>
              </a:p>
            </p:txBody>
          </p:sp>
        </mc:Choice>
        <mc:Fallback xmlns="">
          <p:sp>
            <p:nvSpPr>
              <p:cNvPr id="17" name="Text 11">
                <a:extLst>
                  <a:ext uri="{FF2B5EF4-FFF2-40B4-BE49-F238E27FC236}">
                    <a16:creationId xmlns:a16="http://schemas.microsoft.com/office/drawing/2014/main" id="{2C5B11D9-002E-4394-98EC-B6421BAAA077}"/>
                  </a:ext>
                </a:extLst>
              </p:cNvPr>
              <p:cNvSpPr>
                <a:spLocks noRot="1" noChangeAspect="1" noMove="1" noResize="1" noEditPoints="1" noAdjustHandles="1" noChangeArrowheads="1" noChangeShapeType="1" noTextEdit="1"/>
              </p:cNvSpPr>
              <p:nvPr/>
            </p:nvSpPr>
            <p:spPr>
              <a:xfrm>
                <a:off x="472440" y="3012537"/>
                <a:ext cx="11247120" cy="621792"/>
              </a:xfrm>
              <a:prstGeom prst="rect">
                <a:avLst/>
              </a:prstGeom>
              <a:blipFill>
                <a:blip r:embed="rId5"/>
                <a:stretch>
                  <a:fillRect/>
                </a:stretch>
              </a:blipFill>
              <a:ln/>
            </p:spPr>
            <p:txBody>
              <a:bodyPr/>
              <a:lstStyle/>
              <a:p>
                <a:r>
                  <a:rPr lang="es-AR">
                    <a:noFill/>
                  </a:rPr>
                  <a:t> </a:t>
                </a:r>
              </a:p>
            </p:txBody>
          </p:sp>
        </mc:Fallback>
      </mc:AlternateContent>
      <p:sp>
        <p:nvSpPr>
          <p:cNvPr id="18" name="Text 9">
            <a:extLst>
              <a:ext uri="{FF2B5EF4-FFF2-40B4-BE49-F238E27FC236}">
                <a16:creationId xmlns:a16="http://schemas.microsoft.com/office/drawing/2014/main" id="{6C1EDED8-B4EA-45BE-97E9-29BA3BEC0B58}"/>
              </a:ext>
            </a:extLst>
          </p:cNvPr>
          <p:cNvSpPr/>
          <p:nvPr/>
        </p:nvSpPr>
        <p:spPr>
          <a:xfrm>
            <a:off x="365760" y="3721945"/>
            <a:ext cx="11430000" cy="475488"/>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Igualando</a:t>
            </a:r>
            <a:r>
              <a:rPr lang="en-US" sz="1300" dirty="0">
                <a:solidFill>
                  <a:srgbClr val="111111"/>
                </a:solidFill>
                <a:latin typeface="Calibri" pitchFamily="34" charset="0"/>
                <a:ea typeface="Calibri" pitchFamily="34" charset="-122"/>
                <a:cs typeface="Calibri" pitchFamily="34" charset="-120"/>
              </a:rPr>
              <a:t>:</a:t>
            </a:r>
            <a:endParaRPr lang="en-US" sz="1300" dirty="0"/>
          </a:p>
        </p:txBody>
      </p:sp>
    </p:spTree>
    <p:extLst>
      <p:ext uri="{BB962C8B-B14F-4D97-AF65-F5344CB8AC3E}">
        <p14:creationId xmlns:p14="http://schemas.microsoft.com/office/powerpoint/2010/main" val="3058347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térmico del estator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7" name="Text 15"/>
          <p:cNvSpPr/>
          <p:nvPr/>
        </p:nvSpPr>
        <p:spPr>
          <a:xfrm>
            <a:off x="364921" y="5526017"/>
            <a:ext cx="11247120" cy="68580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5 — Diagrama de bloques Simulink del </a:t>
            </a:r>
            <a:r>
              <a:rPr lang="en-US" sz="1100" i="1" dirty="0" err="1">
                <a:solidFill>
                  <a:srgbClr val="224488"/>
                </a:solidFill>
                <a:latin typeface="Calibri" pitchFamily="34" charset="0"/>
                <a:ea typeface="Calibri" pitchFamily="34" charset="-122"/>
                <a:cs typeface="Calibri" pitchFamily="34" charset="-120"/>
              </a:rPr>
              <a:t>subsistema</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térmico</a:t>
            </a:r>
            <a:endParaRPr lang="en-US" sz="1100" dirty="0"/>
          </a:p>
        </p:txBody>
      </p:sp>
      <p:pic>
        <p:nvPicPr>
          <p:cNvPr id="19" name="Imagen 18">
            <a:extLst>
              <a:ext uri="{FF2B5EF4-FFF2-40B4-BE49-F238E27FC236}">
                <a16:creationId xmlns:a16="http://schemas.microsoft.com/office/drawing/2014/main" id="{02026230-4F51-4289-A0FC-3371D2AC4663}"/>
              </a:ext>
            </a:extLst>
          </p:cNvPr>
          <p:cNvPicPr>
            <a:picLocks noChangeAspect="1"/>
          </p:cNvPicPr>
          <p:nvPr/>
        </p:nvPicPr>
        <p:blipFill>
          <a:blip r:embed="rId2"/>
          <a:stretch>
            <a:fillRect/>
          </a:stretch>
        </p:blipFill>
        <p:spPr>
          <a:xfrm>
            <a:off x="889231" y="1162472"/>
            <a:ext cx="10452685" cy="43700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err="1">
                <a:solidFill>
                  <a:srgbClr val="FFFFFF"/>
                </a:solidFill>
                <a:latin typeface="Calibri" pitchFamily="34" charset="0"/>
                <a:ea typeface="Calibri" pitchFamily="34" charset="-122"/>
                <a:cs typeface="Calibri" pitchFamily="34" charset="-120"/>
              </a:rPr>
              <a:t>Inversor</a:t>
            </a:r>
            <a:r>
              <a:rPr lang="en-US" sz="1900" b="1" dirty="0">
                <a:solidFill>
                  <a:srgbClr val="FFFFFF"/>
                </a:solidFill>
                <a:latin typeface="Calibri" pitchFamily="34" charset="0"/>
                <a:ea typeface="Calibri" pitchFamily="34" charset="-122"/>
                <a:cs typeface="Calibri" pitchFamily="34" charset="-120"/>
              </a:rPr>
              <a:t> </a:t>
            </a:r>
            <a:r>
              <a:rPr lang="en-US" sz="1900" b="1" dirty="0" err="1">
                <a:solidFill>
                  <a:srgbClr val="FFFFFF"/>
                </a:solidFill>
                <a:latin typeface="Calibri" pitchFamily="34" charset="0"/>
                <a:ea typeface="Calibri" pitchFamily="34" charset="-122"/>
                <a:cs typeface="Calibri" pitchFamily="34" charset="-120"/>
              </a:rPr>
              <a:t>trifásico</a:t>
            </a:r>
            <a:r>
              <a:rPr lang="en-US" sz="1900" b="1" dirty="0">
                <a:solidFill>
                  <a:srgbClr val="FFFFFF"/>
                </a:solidFill>
                <a:latin typeface="Calibri" pitchFamily="34" charset="0"/>
                <a:ea typeface="Calibri" pitchFamily="34" charset="-122"/>
                <a:cs typeface="Calibri" pitchFamily="34" charset="-120"/>
              </a:rPr>
              <a:t> y </a:t>
            </a:r>
            <a:r>
              <a:rPr lang="en-US" sz="1900" b="1" dirty="0" err="1">
                <a:solidFill>
                  <a:srgbClr val="FFFFFF"/>
                </a:solidFill>
                <a:latin typeface="Calibri" pitchFamily="34" charset="0"/>
                <a:ea typeface="Calibri" pitchFamily="34" charset="-122"/>
                <a:cs typeface="Calibri" pitchFamily="34" charset="-120"/>
              </a:rPr>
              <a:t>sensores</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213360" y="717804"/>
            <a:ext cx="5486400" cy="384048"/>
          </a:xfrm>
          <a:prstGeom prst="rect">
            <a:avLst/>
          </a:prstGeom>
          <a:noFill/>
          <a:ln/>
        </p:spPr>
        <p:txBody>
          <a:bodyPr wrap="square" rtlCol="0" anchor="t"/>
          <a:lstStyle/>
          <a:p>
            <a:pPr marL="0" indent="0" algn="l">
              <a:buNone/>
            </a:pPr>
            <a:r>
              <a:rPr lang="en-US" sz="1600" b="1" dirty="0">
                <a:solidFill>
                  <a:srgbClr val="1A386B"/>
                </a:solidFill>
                <a:latin typeface="Calibri" pitchFamily="34" charset="0"/>
                <a:ea typeface="Calibri" pitchFamily="34" charset="-122"/>
                <a:cs typeface="Calibri" pitchFamily="34" charset="-120"/>
              </a:rPr>
              <a:t>Inversor trifásico (modelo promediado):</a:t>
            </a:r>
            <a:endParaRPr lang="en-US" sz="1600" dirty="0"/>
          </a:p>
        </p:txBody>
      </p:sp>
      <mc:AlternateContent xmlns:mc="http://schemas.openxmlformats.org/markup-compatibility/2006" xmlns:a14="http://schemas.microsoft.com/office/drawing/2010/main">
        <mc:Choice Requires="a14">
          <p:sp>
            <p:nvSpPr>
              <p:cNvPr id="8" name="Text 6"/>
              <p:cNvSpPr/>
              <p:nvPr/>
            </p:nvSpPr>
            <p:spPr>
              <a:xfrm>
                <a:off x="168380" y="1136320"/>
                <a:ext cx="11612880" cy="777240"/>
              </a:xfrm>
              <a:prstGeom prst="rect">
                <a:avLst/>
              </a:prstGeom>
              <a:noFill/>
              <a:ln/>
            </p:spPr>
            <p:txBody>
              <a:bodyPr wrap="square" rtlCol="0" anchor="t"/>
              <a:lstStyle/>
              <a:p>
                <a:r>
                  <a:rPr lang="en-US" sz="1200" dirty="0">
                    <a:solidFill>
                      <a:srgbClr val="111111"/>
                    </a:solidFill>
                    <a:latin typeface="Calibri" pitchFamily="34" charset="0"/>
                    <a:ea typeface="Calibri" pitchFamily="34" charset="-122"/>
                    <a:cs typeface="Calibri" pitchFamily="34" charset="-120"/>
                  </a:rPr>
                  <a:t>Modulador ideal de tensión trifásica vectorial: aplica tensiones sinusoidales equilibradas de secuencia positiva abc con módulo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𝑠𝑙</m:t>
                        </m:r>
                      </m:sub>
                    </m:sSub>
                    <m:d>
                      <m:dPr>
                        <m:ctrlPr>
                          <a:rPr lang="es-AR" sz="1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n-US" sz="1200" dirty="0">
                    <a:solidFill>
                      <a:srgbClr val="111111"/>
                    </a:solidFill>
                    <a:latin typeface="Calibri" pitchFamily="34" charset="0"/>
                    <a:ea typeface="Calibri" pitchFamily="34" charset="-122"/>
                    <a:cs typeface="Calibri" pitchFamily="34" charset="-120"/>
                  </a:rPr>
                  <a:t> y frecuencia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m:t>
                        </m:r>
                      </m:e>
                      <m:sub>
                        <m:r>
                          <a:rPr lang="es-AR" sz="1200" i="1">
                            <a:latin typeface="Cambria Math" panose="02040503050406030204" pitchFamily="18" charset="0"/>
                          </a:rPr>
                          <m:t>𝑒</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oMath>
                </a14:m>
                <a:r>
                  <a:rPr lang="en-US" sz="1200" dirty="0">
                    <a:solidFill>
                      <a:srgbClr val="111111"/>
                    </a:solidFill>
                    <a:latin typeface="Calibri" pitchFamily="34" charset="0"/>
                    <a:ea typeface="Calibri" pitchFamily="34" charset="-122"/>
                    <a:cs typeface="Calibri" pitchFamily="34" charset="-120"/>
                  </a:rPr>
                  <a:t> ajustables por PWM.</a:t>
                </a:r>
                <a:endParaRPr lang="en-US" sz="1200" dirty="0"/>
              </a:p>
            </p:txBody>
          </p:sp>
        </mc:Choice>
        <mc:Fallback xmlns="">
          <p:sp>
            <p:nvSpPr>
              <p:cNvPr id="8" name="Text 6"/>
              <p:cNvSpPr>
                <a:spLocks noRot="1" noChangeAspect="1" noMove="1" noResize="1" noEditPoints="1" noAdjustHandles="1" noChangeArrowheads="1" noChangeShapeType="1" noTextEdit="1"/>
              </p:cNvSpPr>
              <p:nvPr/>
            </p:nvSpPr>
            <p:spPr>
              <a:xfrm>
                <a:off x="168380" y="1136320"/>
                <a:ext cx="11612880" cy="777240"/>
              </a:xfrm>
              <a:prstGeom prst="rect">
                <a:avLst/>
              </a:prstGeom>
              <a:blipFill>
                <a:blip r:embed="rId2"/>
                <a:stretch>
                  <a:fillRect l="-52"/>
                </a:stretch>
              </a:blipFill>
              <a:ln/>
            </p:spPr>
            <p:txBody>
              <a:bodyPr/>
              <a:lstStyle/>
              <a:p>
                <a:r>
                  <a:rPr lang="es-AR">
                    <a:noFill/>
                  </a:rPr>
                  <a:t> </a:t>
                </a:r>
              </a:p>
            </p:txBody>
          </p:sp>
        </mc:Fallback>
      </mc:AlternateContent>
      <p:sp>
        <p:nvSpPr>
          <p:cNvPr id="16" name="Shape 7">
            <a:extLst>
              <a:ext uri="{FF2B5EF4-FFF2-40B4-BE49-F238E27FC236}">
                <a16:creationId xmlns:a16="http://schemas.microsoft.com/office/drawing/2014/main" id="{A03BEA2F-A2B3-4DCD-9E0D-A5E8DED4A719}"/>
              </a:ext>
            </a:extLst>
          </p:cNvPr>
          <p:cNvSpPr/>
          <p:nvPr/>
        </p:nvSpPr>
        <p:spPr>
          <a:xfrm>
            <a:off x="213360" y="1643035"/>
            <a:ext cx="11430000" cy="56692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9" name="Text 8">
                <a:extLst>
                  <a:ext uri="{FF2B5EF4-FFF2-40B4-BE49-F238E27FC236}">
                    <a16:creationId xmlns:a16="http://schemas.microsoft.com/office/drawing/2014/main" id="{0EDBDC51-0DF1-4A2A-AD84-8D4288D029B3}"/>
                  </a:ext>
                </a:extLst>
              </p:cNvPr>
              <p:cNvSpPr/>
              <p:nvPr/>
            </p:nvSpPr>
            <p:spPr>
              <a:xfrm>
                <a:off x="-675591" y="1591722"/>
                <a:ext cx="9952756" cy="566928"/>
              </a:xfrm>
              <a:prstGeom prst="rect">
                <a:avLst/>
              </a:prstGeom>
              <a:noFill/>
              <a:ln/>
            </p:spPr>
            <p:txBody>
              <a:bodyPr wrap="square" rtlCol="0" anchor="ctr"/>
              <a:lstStyle/>
              <a:p>
                <a:pPr algn="ctr"/>
                <a14:m>
                  <m:oMath xmlns:m="http://schemas.openxmlformats.org/officeDocument/2006/math">
                    <m:sSub>
                      <m:sSubPr>
                        <m:ctrlPr>
                          <a:rPr lang="es-AR" sz="1400" i="1" smtClean="0">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𝑎𝑠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𝑉</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ad>
                      <m:radPr>
                        <m:degHide m:val="on"/>
                        <m:ctrlPr>
                          <a:rPr lang="es-AR" sz="1400" i="1">
                            <a:latin typeface="Cambria Math" panose="02040503050406030204" pitchFamily="18" charset="0"/>
                          </a:rPr>
                        </m:ctrlPr>
                      </m:radPr>
                      <m:deg/>
                      <m:e>
                        <m:r>
                          <a:rPr lang="es-AR" sz="1400" i="1">
                            <a:latin typeface="Cambria Math" panose="02040503050406030204" pitchFamily="18" charset="0"/>
                          </a:rPr>
                          <m:t>2</m:t>
                        </m:r>
                      </m:e>
                    </m:rad>
                    <m:func>
                      <m:funcPr>
                        <m:ctrlPr>
                          <a:rPr lang="es-AR" sz="1400" i="1">
                            <a:latin typeface="Cambria Math" panose="02040503050406030204" pitchFamily="18" charset="0"/>
                          </a:rPr>
                        </m:ctrlPr>
                      </m:funcPr>
                      <m:fName>
                        <m:r>
                          <m:rPr>
                            <m:sty m:val="p"/>
                          </m:rPr>
                          <a:rPr lang="es-AR" sz="1400">
                            <a:latin typeface="Cambria Math" panose="02040503050406030204" pitchFamily="18" charset="0"/>
                          </a:rPr>
                          <m:t>cos</m:t>
                        </m:r>
                      </m:fName>
                      <m:e>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b="0" i="1" smtClean="0">
                                    <a:latin typeface="Cambria Math" panose="02040503050406030204" pitchFamily="18" charset="0"/>
                                  </a:rPr>
                                  <m:t>𝑒</m:t>
                                </m:r>
                                <m:r>
                                  <a:rPr lang="es-AR" sz="1400" i="1">
                                    <a:latin typeface="Cambria Math" panose="02040503050406030204" pitchFamily="18" charset="0"/>
                                  </a:rPr>
                                  <m:t>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func>
                  </m:oMath>
                </a14:m>
                <a:r>
                  <a:rPr lang="en-US" sz="1400" dirty="0"/>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𝑏𝑠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𝑉</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ad>
                      <m:radPr>
                        <m:degHide m:val="on"/>
                        <m:ctrlPr>
                          <a:rPr lang="es-AR" sz="1400" i="1">
                            <a:latin typeface="Cambria Math" panose="02040503050406030204" pitchFamily="18" charset="0"/>
                          </a:rPr>
                        </m:ctrlPr>
                      </m:radPr>
                      <m:deg/>
                      <m:e>
                        <m:r>
                          <a:rPr lang="es-AR" sz="1400" i="1">
                            <a:latin typeface="Cambria Math" panose="02040503050406030204" pitchFamily="18" charset="0"/>
                          </a:rPr>
                          <m:t>2</m:t>
                        </m:r>
                      </m:e>
                    </m:rad>
                    <m:func>
                      <m:funcPr>
                        <m:ctrlPr>
                          <a:rPr lang="es-AR" sz="1400" i="1">
                            <a:latin typeface="Cambria Math" panose="02040503050406030204" pitchFamily="18" charset="0"/>
                          </a:rPr>
                        </m:ctrlPr>
                      </m:funcPr>
                      <m:fName>
                        <m:r>
                          <m:rPr>
                            <m:sty m:val="p"/>
                          </m:rPr>
                          <a:rPr lang="es-AR" sz="1400">
                            <a:latin typeface="Cambria Math" panose="02040503050406030204" pitchFamily="18" charset="0"/>
                          </a:rPr>
                          <m:t>cos</m:t>
                        </m:r>
                      </m:fName>
                      <m:e>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MX" sz="1400" b="0" i="1" smtClean="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d>
                      </m:e>
                    </m:func>
                  </m:oMath>
                </a14:m>
                <a:r>
                  <a:rPr lang="en-US" sz="1400" dirty="0"/>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𝑐𝑠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𝑉</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ad>
                      <m:radPr>
                        <m:degHide m:val="on"/>
                        <m:ctrlPr>
                          <a:rPr lang="es-AR" sz="1400" i="1">
                            <a:latin typeface="Cambria Math" panose="02040503050406030204" pitchFamily="18" charset="0"/>
                          </a:rPr>
                        </m:ctrlPr>
                      </m:radPr>
                      <m:deg/>
                      <m:e>
                        <m:r>
                          <a:rPr lang="es-AR" sz="1400" i="1">
                            <a:latin typeface="Cambria Math" panose="02040503050406030204" pitchFamily="18" charset="0"/>
                          </a:rPr>
                          <m:t>2</m:t>
                        </m:r>
                      </m:e>
                    </m:rad>
                    <m:func>
                      <m:funcPr>
                        <m:ctrlPr>
                          <a:rPr lang="es-AR" sz="1400" i="1">
                            <a:latin typeface="Cambria Math" panose="02040503050406030204" pitchFamily="18" charset="0"/>
                          </a:rPr>
                        </m:ctrlPr>
                      </m:funcPr>
                      <m:fName>
                        <m:r>
                          <m:rPr>
                            <m:sty m:val="p"/>
                          </m:rPr>
                          <a:rPr lang="es-AR" sz="1400">
                            <a:latin typeface="Cambria Math" panose="02040503050406030204" pitchFamily="18" charset="0"/>
                          </a:rPr>
                          <m:t>cos</m:t>
                        </m:r>
                      </m:fName>
                      <m:e>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4</m:t>
                                </m:r>
                                <m:r>
                                  <a:rPr lang="es-AR" sz="1400" i="1">
                                    <a:latin typeface="Cambria Math" panose="02040503050406030204" pitchFamily="18" charset="0"/>
                                  </a:rPr>
                                  <m:t>𝜋</m:t>
                                </m:r>
                              </m:num>
                              <m:den>
                                <m:r>
                                  <a:rPr lang="es-AR" sz="1400" i="1">
                                    <a:latin typeface="Cambria Math" panose="02040503050406030204" pitchFamily="18" charset="0"/>
                                  </a:rPr>
                                  <m:t>3</m:t>
                                </m:r>
                              </m:den>
                            </m:f>
                          </m:e>
                        </m:d>
                      </m:e>
                    </m:func>
                  </m:oMath>
                </a14:m>
                <a:endParaRPr lang="en-US" sz="1400" dirty="0"/>
              </a:p>
            </p:txBody>
          </p:sp>
        </mc:Choice>
        <mc:Fallback xmlns="">
          <p:sp>
            <p:nvSpPr>
              <p:cNvPr id="19" name="Text 8">
                <a:extLst>
                  <a:ext uri="{FF2B5EF4-FFF2-40B4-BE49-F238E27FC236}">
                    <a16:creationId xmlns:a16="http://schemas.microsoft.com/office/drawing/2014/main" id="{0EDBDC51-0DF1-4A2A-AD84-8D4288D029B3}"/>
                  </a:ext>
                </a:extLst>
              </p:cNvPr>
              <p:cNvSpPr>
                <a:spLocks noRot="1" noChangeAspect="1" noMove="1" noResize="1" noEditPoints="1" noAdjustHandles="1" noChangeArrowheads="1" noChangeShapeType="1" noTextEdit="1"/>
              </p:cNvSpPr>
              <p:nvPr/>
            </p:nvSpPr>
            <p:spPr>
              <a:xfrm>
                <a:off x="-675591" y="1591722"/>
                <a:ext cx="9952756" cy="566928"/>
              </a:xfrm>
              <a:prstGeom prst="rect">
                <a:avLst/>
              </a:prstGeom>
              <a:blipFill>
                <a:blip r:embed="rId3"/>
                <a:stretch>
                  <a:fillRect/>
                </a:stretch>
              </a:blipFill>
              <a:ln/>
            </p:spPr>
            <p:txBody>
              <a:bodyPr/>
              <a:lstStyle/>
              <a:p>
                <a:r>
                  <a:rPr lang="es-AR">
                    <a:noFill/>
                  </a:rPr>
                  <a:t> </a:t>
                </a:r>
              </a:p>
            </p:txBody>
          </p:sp>
        </mc:Fallback>
      </mc:AlternateContent>
      <p:sp>
        <p:nvSpPr>
          <p:cNvPr id="20" name="Shape 7">
            <a:extLst>
              <a:ext uri="{FF2B5EF4-FFF2-40B4-BE49-F238E27FC236}">
                <a16:creationId xmlns:a16="http://schemas.microsoft.com/office/drawing/2014/main" id="{D3DC9DBE-C90E-473D-81B4-083F1E247E8F}"/>
              </a:ext>
            </a:extLst>
          </p:cNvPr>
          <p:cNvSpPr/>
          <p:nvPr/>
        </p:nvSpPr>
        <p:spPr>
          <a:xfrm>
            <a:off x="213360" y="2392976"/>
            <a:ext cx="11430000" cy="56692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1" name="Text 8">
                <a:extLst>
                  <a:ext uri="{FF2B5EF4-FFF2-40B4-BE49-F238E27FC236}">
                    <a16:creationId xmlns:a16="http://schemas.microsoft.com/office/drawing/2014/main" id="{F62D270F-4021-4CDA-B12A-6BF5F3C0189C}"/>
                  </a:ext>
                </a:extLst>
              </p:cNvPr>
              <p:cNvSpPr/>
              <p:nvPr/>
            </p:nvSpPr>
            <p:spPr>
              <a:xfrm>
                <a:off x="0" y="2368962"/>
                <a:ext cx="5496757" cy="566928"/>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𝑒</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≡2</m:t>
                      </m:r>
                      <m:r>
                        <a:rPr lang="es-AR" sz="1400" i="1">
                          <a:latin typeface="Cambria Math" panose="02040503050406030204" pitchFamily="18" charset="0"/>
                        </a:rPr>
                        <m:t>𝜋</m:t>
                      </m:r>
                      <m:sSub>
                        <m:sSubPr>
                          <m:ctrlPr>
                            <a:rPr lang="es-AR" sz="1400" i="1">
                              <a:latin typeface="Cambria Math" panose="02040503050406030204" pitchFamily="18" charset="0"/>
                            </a:rPr>
                          </m:ctrlPr>
                        </m:sSubPr>
                        <m:e>
                          <m:r>
                            <a:rPr lang="es-AR" sz="1400" i="1">
                              <a:latin typeface="Cambria Math" panose="02040503050406030204" pitchFamily="18" charset="0"/>
                            </a:rPr>
                            <m:t>𝑓</m:t>
                          </m:r>
                        </m:e>
                        <m:sub>
                          <m:r>
                            <a:rPr lang="es-AR" sz="1400" i="1">
                              <a:latin typeface="Cambria Math" panose="02040503050406030204" pitchFamily="18" charset="0"/>
                            </a:rPr>
                            <m:t>𝑒</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0</m:t>
                          </m:r>
                        </m:e>
                      </m:d>
                      <m:r>
                        <a:rPr lang="es-AR" sz="1400" i="1">
                          <a:latin typeface="Cambria Math" panose="02040503050406030204" pitchFamily="18" charset="0"/>
                        </a:rPr>
                        <m:t>+</m:t>
                      </m:r>
                      <m:nary>
                        <m:naryPr>
                          <m:ctrlPr>
                            <a:rPr lang="es-AR" sz="1400" i="1">
                              <a:latin typeface="Cambria Math" panose="02040503050406030204" pitchFamily="18" charset="0"/>
                            </a:rPr>
                          </m:ctrlPr>
                        </m:naryPr>
                        <m:sub>
                          <m:r>
                            <a:rPr lang="es-AR" sz="1400" i="1">
                              <a:latin typeface="Cambria Math" panose="02040503050406030204" pitchFamily="18" charset="0"/>
                            </a:rPr>
                            <m:t>0</m:t>
                          </m:r>
                        </m:sub>
                        <m:sup>
                          <m:r>
                            <a:rPr lang="es-AR" sz="1400" i="1">
                              <a:latin typeface="Cambria Math" panose="02040503050406030204" pitchFamily="18" charset="0"/>
                            </a:rPr>
                            <m:t>𝑡</m:t>
                          </m:r>
                        </m:sup>
                        <m:e>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𝑒</m:t>
                              </m:r>
                            </m:sub>
                          </m:sSub>
                          <m:d>
                            <m:dPr>
                              <m:ctrlPr>
                                <a:rPr lang="es-AR" sz="1400" i="1">
                                  <a:latin typeface="Cambria Math" panose="02040503050406030204" pitchFamily="18" charset="0"/>
                                </a:rPr>
                              </m:ctrlPr>
                            </m:dPr>
                            <m:e>
                              <m:r>
                                <a:rPr lang="es-AR" sz="1400" i="1">
                                  <a:latin typeface="Cambria Math" panose="02040503050406030204" pitchFamily="18" charset="0"/>
                                </a:rPr>
                                <m:t>𝜉</m:t>
                              </m:r>
                            </m:e>
                          </m:d>
                        </m:e>
                      </m:nary>
                      <m:r>
                        <a:rPr lang="es-AR" sz="1400" i="1">
                          <a:latin typeface="Cambria Math" panose="02040503050406030204" pitchFamily="18" charset="0"/>
                        </a:rPr>
                        <m:t> </m:t>
                      </m:r>
                      <m:r>
                        <a:rPr lang="es-AR" sz="1400" i="1">
                          <a:latin typeface="Cambria Math" panose="02040503050406030204" pitchFamily="18" charset="0"/>
                        </a:rPr>
                        <m:t>𝑑</m:t>
                      </m:r>
                      <m:r>
                        <a:rPr lang="es-AR" sz="1400" i="1">
                          <a:latin typeface="Cambria Math" panose="02040503050406030204" pitchFamily="18" charset="0"/>
                        </a:rPr>
                        <m:t>𝜉</m:t>
                      </m:r>
                    </m:oMath>
                  </m:oMathPara>
                </a14:m>
                <a:endParaRPr lang="en-US" sz="1400" dirty="0"/>
              </a:p>
            </p:txBody>
          </p:sp>
        </mc:Choice>
        <mc:Fallback xmlns="">
          <p:sp>
            <p:nvSpPr>
              <p:cNvPr id="21" name="Text 8">
                <a:extLst>
                  <a:ext uri="{FF2B5EF4-FFF2-40B4-BE49-F238E27FC236}">
                    <a16:creationId xmlns:a16="http://schemas.microsoft.com/office/drawing/2014/main" id="{F62D270F-4021-4CDA-B12A-6BF5F3C0189C}"/>
                  </a:ext>
                </a:extLst>
              </p:cNvPr>
              <p:cNvSpPr>
                <a:spLocks noRot="1" noChangeAspect="1" noMove="1" noResize="1" noEditPoints="1" noAdjustHandles="1" noChangeArrowheads="1" noChangeShapeType="1" noTextEdit="1"/>
              </p:cNvSpPr>
              <p:nvPr/>
            </p:nvSpPr>
            <p:spPr>
              <a:xfrm>
                <a:off x="0" y="2368962"/>
                <a:ext cx="5496757" cy="566928"/>
              </a:xfrm>
              <a:prstGeom prst="rect">
                <a:avLst/>
              </a:prstGeom>
              <a:blipFill>
                <a:blip r:embed="rId4"/>
                <a:stretch>
                  <a:fillRect t="-147312" b="-22043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AD6D6003-48B9-48F6-9C9C-39A88D4D7ED9}"/>
                  </a:ext>
                </a:extLst>
              </p:cNvPr>
              <p:cNvSpPr txBox="1"/>
              <p:nvPr/>
            </p:nvSpPr>
            <p:spPr>
              <a:xfrm>
                <a:off x="213360" y="3307578"/>
                <a:ext cx="11522920" cy="312073"/>
              </a:xfrm>
              <a:prstGeom prst="rect">
                <a:avLst/>
              </a:prstGeom>
              <a:noFill/>
            </p:spPr>
            <p:txBody>
              <a:bodyPr wrap="square">
                <a:spAutoFit/>
              </a:bodyPr>
              <a:lstStyle/>
              <a:p>
                <a:pPr algn="just">
                  <a:lnSpc>
                    <a:spcPct val="107000"/>
                  </a:lnSpc>
                  <a:spcAft>
                    <a:spcPts val="800"/>
                  </a:spcAft>
                </a:pPr>
                <a:r>
                  <a:rPr lang="es-AR" sz="1400" dirty="0">
                    <a:effectLst/>
                    <a:latin typeface="Calibri" panose="020F0502020204030204" pitchFamily="34" charset="0"/>
                    <a:ea typeface="Times New Roman" panose="02020603050405020304" pitchFamily="18" charset="0"/>
                    <a:cs typeface="Times New Roman" panose="02020603050405020304" pitchFamily="18" charset="0"/>
                  </a:rPr>
                  <a:t>Parámetros variables: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𝑠𝑙</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y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𝑒</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r>
                      <a:rPr lang="es-AR" sz="1400" i="1">
                        <a:effectLst/>
                        <a:latin typeface="Cambria Math" panose="02040503050406030204" pitchFamily="18" charset="0"/>
                        <a:ea typeface="Calibri" panose="020F0502020204030204" pitchFamily="34" charset="0"/>
                        <a:cs typeface="Times New Roman" panose="02020603050405020304" pitchFamily="18" charset="0"/>
                      </a:rPr>
                      <m:t>𝜋</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sub>
                    </m:sSub>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pueden variarse a voluntad, dentro de ciertos límites, a partir del control por PWM.</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2" name="CuadroTexto 21">
                <a:extLst>
                  <a:ext uri="{FF2B5EF4-FFF2-40B4-BE49-F238E27FC236}">
                    <a16:creationId xmlns:a16="http://schemas.microsoft.com/office/drawing/2014/main" id="{AD6D6003-48B9-48F6-9C9C-39A88D4D7ED9}"/>
                  </a:ext>
                </a:extLst>
              </p:cNvPr>
              <p:cNvSpPr txBox="1">
                <a:spLocks noRot="1" noChangeAspect="1" noMove="1" noResize="1" noEditPoints="1" noAdjustHandles="1" noChangeArrowheads="1" noChangeShapeType="1" noTextEdit="1"/>
              </p:cNvSpPr>
              <p:nvPr/>
            </p:nvSpPr>
            <p:spPr>
              <a:xfrm>
                <a:off x="213360" y="3307578"/>
                <a:ext cx="11522920" cy="312073"/>
              </a:xfrm>
              <a:prstGeom prst="rect">
                <a:avLst/>
              </a:prstGeom>
              <a:blipFill>
                <a:blip r:embed="rId5"/>
                <a:stretch>
                  <a:fillRect l="-159" t="-1961" b="-19608"/>
                </a:stretch>
              </a:blipFill>
            </p:spPr>
            <p:txBody>
              <a:bodyPr/>
              <a:lstStyle/>
              <a:p>
                <a:r>
                  <a:rPr lang="es-AR">
                    <a:noFill/>
                  </a:rPr>
                  <a:t> </a:t>
                </a:r>
              </a:p>
            </p:txBody>
          </p:sp>
        </mc:Fallback>
      </mc:AlternateContent>
      <p:sp>
        <p:nvSpPr>
          <p:cNvPr id="25" name="Text 7">
            <a:extLst>
              <a:ext uri="{FF2B5EF4-FFF2-40B4-BE49-F238E27FC236}">
                <a16:creationId xmlns:a16="http://schemas.microsoft.com/office/drawing/2014/main" id="{E1179467-0D33-489B-83FB-C8099C435821}"/>
              </a:ext>
            </a:extLst>
          </p:cNvPr>
          <p:cNvSpPr/>
          <p:nvPr/>
        </p:nvSpPr>
        <p:spPr>
          <a:xfrm>
            <a:off x="213360" y="4033505"/>
            <a:ext cx="5486400" cy="384048"/>
          </a:xfrm>
          <a:prstGeom prst="rect">
            <a:avLst/>
          </a:prstGeom>
          <a:noFill/>
          <a:ln/>
        </p:spPr>
        <p:txBody>
          <a:bodyPr wrap="square" rtlCol="0" anchor="t"/>
          <a:lstStyle/>
          <a:p>
            <a:pPr marL="0" indent="0" algn="l">
              <a:buNone/>
            </a:pPr>
            <a:r>
              <a:rPr lang="en-US" sz="1600" b="1" dirty="0">
                <a:solidFill>
                  <a:srgbClr val="1A386B"/>
                </a:solidFill>
                <a:latin typeface="Calibri" pitchFamily="34" charset="0"/>
                <a:ea typeface="Calibri" pitchFamily="34" charset="-122"/>
                <a:cs typeface="Calibri" pitchFamily="34" charset="-120"/>
              </a:rPr>
              <a:t>Sensores (inicialmente ideales):</a:t>
            </a:r>
            <a:endParaRPr lang="en-US" sz="1600" dirty="0"/>
          </a:p>
        </p:txBody>
      </p:sp>
      <mc:AlternateContent xmlns:mc="http://schemas.openxmlformats.org/markup-compatibility/2006" xmlns:a14="http://schemas.microsoft.com/office/drawing/2010/main">
        <mc:Choice Requires="a14">
          <p:sp>
            <p:nvSpPr>
              <p:cNvPr id="26" name="Text 8">
                <a:extLst>
                  <a:ext uri="{FF2B5EF4-FFF2-40B4-BE49-F238E27FC236}">
                    <a16:creationId xmlns:a16="http://schemas.microsoft.com/office/drawing/2014/main" id="{DEEEDBF9-B6DE-46B6-B15C-6D0BCE210AF8}"/>
                  </a:ext>
                </a:extLst>
              </p:cNvPr>
              <p:cNvSpPr/>
              <p:nvPr/>
            </p:nvSpPr>
            <p:spPr>
              <a:xfrm>
                <a:off x="213360" y="4444985"/>
                <a:ext cx="5486400" cy="1554480"/>
              </a:xfrm>
              <a:prstGeom prst="rect">
                <a:avLst/>
              </a:prstGeom>
              <a:noFill/>
              <a:ln/>
            </p:spPr>
            <p:txBody>
              <a:bodyPr wrap="square" rtlCol="0" anchor="t"/>
              <a:lstStyle/>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Encoder: posición angular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400" dirty="0">
                    <a:solidFill>
                      <a:srgbClr val="111111"/>
                    </a:solidFill>
                    <a:latin typeface="Calibri" pitchFamily="34" charset="0"/>
                    <a:ea typeface="Calibri" pitchFamily="34" charset="-122"/>
                    <a:cs typeface="Calibri" pitchFamily="34" charset="-120"/>
                  </a:rPr>
                  <a:t> — absoluta, multi-vuelta</a:t>
                </a:r>
                <a:endParaRPr lang="en-US" sz="1400" dirty="0"/>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Sensores de corriente: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𝑎𝑏𝑐</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400" dirty="0">
                    <a:solidFill>
                      <a:srgbClr val="111111"/>
                    </a:solidFill>
                    <a:latin typeface="Calibri" pitchFamily="34" charset="0"/>
                    <a:ea typeface="Calibri" pitchFamily="34" charset="-122"/>
                    <a:cs typeface="Calibri" pitchFamily="34" charset="-120"/>
                  </a:rPr>
                  <a:t> — en salida del inversor</a:t>
                </a:r>
                <a:endParaRPr lang="en-US" sz="1400" dirty="0"/>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Sensor de temperatura: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ub>
                    </m:sSub>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n-US" sz="1400" dirty="0">
                    <a:solidFill>
                      <a:srgbClr val="111111"/>
                    </a:solidFill>
                    <a:latin typeface="Calibri" pitchFamily="34" charset="0"/>
                    <a:ea typeface="Calibri" pitchFamily="34" charset="-122"/>
                    <a:cs typeface="Calibri" pitchFamily="34" charset="-120"/>
                  </a:rPr>
                  <a:t>— embebido en bobinado</a:t>
                </a:r>
                <a:endParaRPr lang="en-US" sz="1400" dirty="0"/>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Modelo ideal: </a:t>
                </a: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𝐺</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≡1 </m:t>
                    </m:r>
                  </m:oMath>
                </a14:m>
                <a:r>
                  <a:rPr lang="en-US" sz="1400" dirty="0">
                    <a:solidFill>
                      <a:srgbClr val="111111"/>
                    </a:solidFill>
                    <a:latin typeface="Calibri" pitchFamily="34" charset="0"/>
                    <a:ea typeface="Calibri" pitchFamily="34" charset="-122"/>
                    <a:cs typeface="Calibri" pitchFamily="34" charset="-120"/>
                  </a:rPr>
                  <a:t>(ganancia unitaria, BW infinito)</a:t>
                </a:r>
                <a:endParaRPr lang="en-US" sz="1400" dirty="0"/>
              </a:p>
            </p:txBody>
          </p:sp>
        </mc:Choice>
        <mc:Fallback xmlns="">
          <p:sp>
            <p:nvSpPr>
              <p:cNvPr id="26" name="Text 8">
                <a:extLst>
                  <a:ext uri="{FF2B5EF4-FFF2-40B4-BE49-F238E27FC236}">
                    <a16:creationId xmlns:a16="http://schemas.microsoft.com/office/drawing/2014/main" id="{DEEEDBF9-B6DE-46B6-B15C-6D0BCE210AF8}"/>
                  </a:ext>
                </a:extLst>
              </p:cNvPr>
              <p:cNvSpPr>
                <a:spLocks noRot="1" noChangeAspect="1" noMove="1" noResize="1" noEditPoints="1" noAdjustHandles="1" noChangeArrowheads="1" noChangeShapeType="1" noTextEdit="1"/>
              </p:cNvSpPr>
              <p:nvPr/>
            </p:nvSpPr>
            <p:spPr>
              <a:xfrm>
                <a:off x="213360" y="4444985"/>
                <a:ext cx="5486400" cy="1554480"/>
              </a:xfrm>
              <a:prstGeom prst="rect">
                <a:avLst/>
              </a:prstGeom>
              <a:blipFill>
                <a:blip r:embed="rId6"/>
                <a:stretch>
                  <a:fillRect l="-333" t="-1176"/>
                </a:stretch>
              </a:blipFill>
              <a:ln/>
            </p:spPr>
            <p:txBody>
              <a:bodyPr/>
              <a:lstStyle/>
              <a:p>
                <a:r>
                  <a:rPr lang="es-AR">
                    <a:noFill/>
                  </a:rPr>
                  <a:t> </a:t>
                </a:r>
              </a:p>
            </p:txBody>
          </p:sp>
        </mc:Fallback>
      </mc:AlternateContent>
      <p:pic>
        <p:nvPicPr>
          <p:cNvPr id="15" name="Imagen 14">
            <a:extLst>
              <a:ext uri="{FF2B5EF4-FFF2-40B4-BE49-F238E27FC236}">
                <a16:creationId xmlns:a16="http://schemas.microsoft.com/office/drawing/2014/main" id="{EDD9B0C2-A4AE-470B-BD78-B2B38C17C5D3}"/>
              </a:ext>
            </a:extLst>
          </p:cNvPr>
          <p:cNvPicPr>
            <a:picLocks noChangeAspect="1"/>
          </p:cNvPicPr>
          <p:nvPr/>
        </p:nvPicPr>
        <p:blipFill>
          <a:blip r:embed="rId7"/>
          <a:stretch>
            <a:fillRect/>
          </a:stretch>
        </p:blipFill>
        <p:spPr>
          <a:xfrm>
            <a:off x="6905150" y="4047593"/>
            <a:ext cx="4220235" cy="842345"/>
          </a:xfrm>
          <a:prstGeom prst="rect">
            <a:avLst/>
          </a:prstGeom>
        </p:spPr>
      </p:pic>
      <p:sp>
        <p:nvSpPr>
          <p:cNvPr id="17" name="CuadroTexto 16">
            <a:extLst>
              <a:ext uri="{FF2B5EF4-FFF2-40B4-BE49-F238E27FC236}">
                <a16:creationId xmlns:a16="http://schemas.microsoft.com/office/drawing/2014/main" id="{2B47554C-3CFC-4A0C-915A-AF3092AC39BD}"/>
              </a:ext>
            </a:extLst>
          </p:cNvPr>
          <p:cNvSpPr txBox="1"/>
          <p:nvPr/>
        </p:nvSpPr>
        <p:spPr>
          <a:xfrm>
            <a:off x="5539740" y="4855660"/>
            <a:ext cx="6438900" cy="430887"/>
          </a:xfrm>
          <a:prstGeom prst="rect">
            <a:avLst/>
          </a:prstGeom>
          <a:noFill/>
        </p:spPr>
        <p:txBody>
          <a:bodyPr wrap="square">
            <a:spAutoFit/>
          </a:bodyPr>
          <a:lstStyle/>
          <a:p>
            <a:r>
              <a:rPr lang="es-AR" sz="1100" dirty="0"/>
              <a:t>La alta frecuencia del PWM (5kHz) es filtrada naturalmente por la inductancia del motor, permitiéndonos trabajar solo con la componente fundamental que efectivamente controla el movimiento del brazo.</a:t>
            </a:r>
          </a:p>
        </p:txBody>
      </p:sp>
    </p:spTree>
  </p:cSld>
  <p:clrMapOvr>
    <a:masterClrMapping/>
  </p:clrMapOvr>
</p:sld>
</file>

<file path=ppt/slides/slide18.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sp><p:nvSpPr><p:cNvPr id="2" name="Shape 0"/><p:cNvSpPr/><p:nvPr/></p:nvSpPr><p:spPr><a:xfrm><a:off x="0" y="0"/><a:ext cx="12192000" cy="658368"/></a:xfrm><a:prstGeom prst="rect"><a:avLst/></a:prstGeom><a:solidFill><a:srgbClr val="1A386B"/></a:solidFill><a:ln w="12700"><a:solidFill><a:srgbClr val="1A386B"/></a:solidFill><a:prstDash val="solid"/></a:ln></p:spPr></p:sp><p:sp><p:nvSpPr><p:cNvPr id="3" name="Text 1"/><p:cNvSpPr/><p:nvPr/></p:nvSpPr><p:spPr><a:xfrm><a:off x="274320" y="0"/><a:ext cx="11612880" cy="658368"/></a:xfrm><a:prstGeom prst="rect"><a:avLst/></a:prstGeom><a:noFill/><a:ln/></p:spPr><p:txBody><a:bodyPr wrap="square" rtlCol="0" anchor="ctr"/><a:lstStyle/><a:p><a:pPr marL="0" indent="0"><a:buNone/></a:pPr><a:r><a:rPr lang="es-AR" sz="1900" b="1" dirty="0"><a:solidFill><a:srgbClr val="FFFFFF"/></a:solidFill><a:latin typeface="Calibri" pitchFamily="34" charset="0"/><a:ea typeface="Calibri" pitchFamily="34" charset="-122"/><a:cs typeface="Calibri" pitchFamily="34" charset="-120"/></a:rPr><a:t>Modelo global no lineal</a:t></a:r><a:endParaRPr lang="es-AR" sz="1900" dirty="0"/></a:p></p:txBody></p:sp><p:sp><p:nvSpPr><p:cNvPr id="4" name="Shape 2"/><p:cNvSpPr/><p:nvPr/></p:nvSpPr><p:spPr><a:xfrm><a:off x="0" y="6565392"/><a:ext cx="12192000" cy="292608"/></a:xfrm><a:prstGeom prst="rect"><a:avLst/></a:prstGeom><a:solidFill><a:srgbClr val="1A386B"/></a:solidFill><a:ln w="12700"><a:solidFill><a:srgbClr val="1A386B"/></a:solidFill><a:prstDash val="solid"/></a:ln></p:spPr></p:sp><p:sp><p:nvSpPr><p:cNvPr id="5" name="Text 3"/><p:cNvSpPr/><p:nvPr/></p:nvSpPr><p:spPr><a:xfrm><a:off x="274320" y="6565392"/><a:ext cx="8229600" cy="292608"/></a:xfrm><a:prstGeom prst="rect"><a:avLst/></a:prstGeom><a:noFill/><a:ln/></p:spPr><p:txBody><a:bodyPr wrap="square" rtlCol="0" anchor="ctr"/><a:lstStyle/><a:p><a:pPr marL="0" indent="0"><a:buNone/></a:pPr><a:r><a:rPr lang="en-US" sz="900" dirty="0"><a:solidFill><a:srgbClr val="C0D0F0"/></a:solidFill><a:latin typeface="Calibri" pitchFamily="34" charset="0"/><a:ea typeface="Calibri" pitchFamily="34" charset="-122"/><a:cs typeface="Calibri" pitchFamily="34" charset="-120"/></a:rPr><a:t>Stella – Huertas   |   AyME – UNCuyo Mecatrónica</a:t></a:r><a:endParaRPr lang="en-US" sz="900" dirty="0"/></a:p></p:txBody></p:sp><p:sp><p:nvSpPr><p:cNvPr id="18" name="Text 6"><a:extLst><a:ext uri="{FF2B5EF4-FFF2-40B4-BE49-F238E27FC236}"><a16:creationId xmlns:a16="http://schemas.microsoft.com/office/drawing/2014/main" id="{DB86A14F-2892-4C19-832C-72B4C18FF5BD}"/></a:ext></a:extLst></p:cNvPr><p:cNvSpPr/><p:nvPr/></p:nvSpPr><p:spPr><a:xfrm><a:off x="0" y="680033"/><a:ext cx="11018101" cy="777240"/></a:xfrm><a:prstGeom prst="rect"><a:avLst/></a:prstGeom><a:noFill/><a:ln/></p:spPr><p:txBody><a:bodyPr wrap="square" rtlCol="0" anchor="t"/><a:lstStyle/><a:p><a:pPr algn="just"><a:lnSpc><a:spcPct val="107000"/></a:lnSpc><a:spcBef><a:spcPts val="600"/></a:spcBef><a:spcAft><a:spcPts val="800"/></a:spcAft></a:pPr><a:r><a:rPr lang="es-AR" sz="1400" dirty="0"><a:effectLst/><a:latin typeface="Calibri" panose="020F0502020204030204" pitchFamily="34" charset="0"/><a:ea typeface="Calibri" panose="020F0502020204030204" pitchFamily="34" charset="0"/><a:cs typeface="Times New Roman" panose="02020603050405020304" pitchFamily="18" charset="0"/></a:rPr><a:t>Se combinan las ecuaciones correspondientes a los subsistemas mecánico, electromagnético y térmico ya desarrollados, obteniéndose el siguiente modelo dinámico no lineal para el sistema físico completo:</a:t></a:r></a:p><a:p><a:endParaRPr lang="en-US" sz="1200" dirty="0"/></a:p></p:txBody></p:sp><p:sp><p:nvSpPr><p:cNvPr id="19" name="Shape 7"><a:extLst><a:ext uri="{FF2B5EF4-FFF2-40B4-BE49-F238E27FC236}"><a16:creationId xmlns:a16="http://schemas.microsoft.com/office/drawing/2014/main" id="{1E27AC72-650E-4CCC-B475-1352A198EA0A}"/></a:ext></a:extLst></p:cNvPr><p:cNvSpPr/><p:nvPr/></p:nvSpPr><p:spPr><a:xfrm><a:off x="89762" y="1255319"/><a:ext cx="11018101" cy="3085781"/></a:xfrm><a:prstGeom prst="rect"><a:avLst/></a:prstGeom><a:solidFill><a:srgbClr val="FFF8E8"/></a:solidFill><a:ln w="19050"><a:solidFill><a:srgbClr val="DDAA00"/></a:solidFill><a:prstDash val="solid"/></a:ln></p:spPr><p:txBody><a:bodyPr/><a:lstStyle/><a:p><a:pPr/><a:endParaRPr lang="es-AR" sz="1500" dirty="0"/></a:p></p:txBody></p:sp><mc:AlternateContent xmlns:mc="http://schemas.openxmlformats.org/markup-compatibility/2006" xmlns:a14="http://schemas.microsoft.com/office/drawing/2010/main"><mc:Choice Requires="a14"><p:sp><p:nvSpPr><p:cNvPr id="9" name="Text 10"><a:extLst><a:ext uri="{FF2B5EF4-FFF2-40B4-BE49-F238E27FC236}"><a16:creationId xmlns:a16="http://schemas.microsoft.com/office/drawing/2014/main" id="{8487B241-9AC0-49F2-B841-AFF136F1385B}"/></a:ext></a:extLst></p:cNvPr><p:cNvSpPr/><p:nvPr/></p:nvSpPr><p:spPr><a:xfrm><a:off x="274320" y="4596542"/><a:ext cx="5486400" cy="1307592"/></a:xfrm><a:prstGeom prst="rect"><a:avLst/></a:prstGeom><a:noFill/><a:ln/></p:spPr><p:txBody><a:bodyPr wrap="square" rtlCol="0" anchor="t"/><a:lstStyle/><a:p><a:pPr marL="0" indent="0" algn="l"><a:buNone/></a:pPr><a:r><a:rPr lang="en-US" sz="1400" dirty="0"><a:solidFill><a:srgbClr val="111111"/></a:solidFill><a:latin typeface="Calibri" pitchFamily="34" charset="0"/><a:ea typeface="Calibri" pitchFamily="34" charset="-122"/><a:cs typeface="Calibri" pitchFamily="34" charset="-120"/></a:rPr><a:t>Estado:  </a:t></a:r><a14:m><m:oMath xmlns:m="http://schemas.openxmlformats.org/officeDocument/2006/math"><m:r><a:rPr lang="es-AR" sz="1400" i="1" smtClean="0"><a:effectLst/><a:latin typeface="Cambria Math" panose="02040503050406030204" pitchFamily="18" charset="0"/><a:ea typeface="Calibri" panose="020F0502020204030204" pitchFamily="34" charset="0"/><a:cs typeface="Times New Roman" panose="02020603050405020304" pitchFamily="18" charset="0"/></a:rPr><m:t>𝑥</m:t></m:r><m:d><m:dPr><m:ctrlPr><a:rPr lang="es-AR" sz="1400" i="1"><a:effectLst/><a:latin typeface="Cambria Math" panose="02040503050406030204" pitchFamily="18" charset="0"/></a:rPr></m:ctrlPr></m:dPr><m:e><m:r><a:rPr lang="es-AR" sz="1400" i="1"><a:effectLst/><a:latin typeface="Cambria Math" panose="02040503050406030204" pitchFamily="18" charset="0"/><a:ea typeface="Calibri" panose="020F0502020204030204" pitchFamily="34" charset="0"/><a:cs typeface="Times New Roman" panose="02020603050405020304" pitchFamily="18" charset="0"/></a:rPr><m:t>𝑡</m:t></m:r></m:e></m:d><m:r><a:rPr lang="es-AR" sz="1400" i="1"><a:effectLst/><a:latin typeface="Cambria Math" panose="02040503050406030204" pitchFamily="18" charset="0"/><a:ea typeface="Calibri" panose="020F0502020204030204" pitchFamily="34" charset="0"/><a:cs typeface="Times New Roman" panose="02020603050405020304" pitchFamily="18" charset="0"/></a:rPr><m:t>=</m:t></m:r><m:sSup><m:sSupPr><m:ctrlPr><a:rPr lang="es-AR" sz="1400" i="1"><a:effectLst/><a:latin typeface="Cambria Math" panose="02040503050406030204" pitchFamily="18" charset="0"/></a:rPr></m:ctrlPr></m:sSupPr><m:e><m:d><m:dPr><m:begChr m:val="["/><m:endChr m:val="]"/><m:ctrlPr><a:rPr lang="es-AR" sz="1400" i="1"><a:effectLst/><a:latin typeface="Cambria Math" panose="02040503050406030204" pitchFamily="18" charset="0"/></a:rPr></m:ctrlPr></m:dPr><m:e><m:m><m:mPr><m:mcs><m:mc><m:mcPr><m:count m:val="3"/><m:mcJc m:val="center"/></m:mcPr></m:mc></m:mcs><m:ctrlPr><a:rPr lang="es-AR" sz="1400" i="1"><a:effectLst/><a:latin typeface="Cambria Math" panose="02040503050406030204" pitchFamily="18" charset="0"/></a:rPr></m:ctrlPr></m:mPr><m:mr><m:e><m:sSub><m:sSubPr><m:ctrlPr><a:rPr lang="es-AR" sz="1400" i="1"><a:effectLst/><a:latin typeface="Cambria Math" panose="02040503050406030204" pitchFamily="18" charset="0"/><a:ea typeface="Times New Roman" panose="02020603050405020304" pitchFamily="18" charset="0"/></a:rPr></m:ctrlPr></m:sSubPr><m:e><m:r><a:rPr lang="es-AR" sz="1400" i="1"><a:effectLst/><a:latin typeface="Cambria Math" panose="02040503050406030204" pitchFamily="18" charset="0"/><a:ea typeface="Times New Roman" panose="02020603050405020304" pitchFamily="18" charset="0"/><a:cs typeface="Times New Roman" panose="02020603050405020304" pitchFamily="18" charset="0"/></a:rPr><m:t>𝜃</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𝑚</m:t></m:r></m:sub></m:sSub><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sSub><m:sSubPr><m:ctrlPr><a:rPr lang="es-AR" sz="1400" i="1"><a:effectLst/><a:latin typeface="Cambria Math" panose="02040503050406030204" pitchFamily="18" charset="0"/><a:ea typeface="Times New Roman" panose="02020603050405020304" pitchFamily="18" charset="0"/></a:rPr></m:ctrlPr></m:sSubPr><m:e><m:r><a:rPr lang="es-AR" sz="1400" i="1"><a:effectLst/><a:latin typeface="Cambria Math" panose="02040503050406030204" pitchFamily="18" charset="0"/><a:ea typeface="Times New Roman" panose="02020603050405020304" pitchFamily="18" charset="0"/><a:cs typeface="Times New Roman" panose="02020603050405020304" pitchFamily="18" charset="0"/></a:rPr><m:t>𝜔</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𝑚</m:t></m:r></m:sub></m:sSub><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m><m:mPr><m:mcs><m:mc><m:mcPr><m:count m:val="3"/><m:mcJc m:val="center"/></m:mcPr></m:mc></m:mcs><m:ctrlPr><a:rPr lang="es-AR" sz="1400" i="1"><a:effectLst/><a:latin typeface="Cambria Math" panose="02040503050406030204" pitchFamily="18" charset="0"/></a:rPr></m:ctrlPr></m:mPr><m:mr><m:e><m:sSubSup><m:sSubSupPr><m:ctrlPr><a:rPr lang="es-AR" sz="1400" i="1"><a:effectLst/><a:latin typeface="Cambria Math" panose="02040503050406030204" pitchFamily="18" charset="0"/><a:ea typeface="Times New Roman" panose="02020603050405020304" pitchFamily="18" charset="0"/></a:rPr></m:ctrlPr></m:sSubSupPr><m:e><m:r><a:rPr lang="es-AR" sz="1400" i="1"><a:effectLst/><a:latin typeface="Cambria Math" panose="02040503050406030204" pitchFamily="18" charset="0"/><a:ea typeface="Times New Roman" panose="02020603050405020304" pitchFamily="18" charset="0"/><a:cs typeface="Times New Roman" panose="02020603050405020304" pitchFamily="18" charset="0"/></a:rPr><m:t>𝑖</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𝑞𝑠</m:t></m:r></m:sub><m:sup><m:r><a:rPr lang="es-AR" sz="1400" i="1"><a:effectLst/><a:latin typeface="Cambria Math" panose="02040503050406030204" pitchFamily="18" charset="0"/><a:ea typeface="Times New Roman" panose="02020603050405020304" pitchFamily="18" charset="0"/><a:cs typeface="Times New Roman" panose="02020603050405020304" pitchFamily="18" charset="0"/></a:rPr><m:t>𝑟</m:t></m:r></m:sup></m:sSubSup><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sSubSup><m:sSubSupPr><m:ctrlPr><a:rPr lang="es-AR" sz="1400" i="1"><a:effectLst/><a:latin typeface="Cambria Math" panose="02040503050406030204" pitchFamily="18" charset="0"/><a:ea typeface="Times New Roman" panose="02020603050405020304" pitchFamily="18" charset="0"/></a:rPr></m:ctrlPr></m:sSubSupPr><m:e><m:r><a:rPr lang="es-AR" sz="1400" i="1"><a:effectLst/><a:latin typeface="Cambria Math" panose="02040503050406030204" pitchFamily="18" charset="0"/><a:ea typeface="Times New Roman" panose="02020603050405020304" pitchFamily="18" charset="0"/><a:cs typeface="Times New Roman" panose="02020603050405020304" pitchFamily="18" charset="0"/></a:rPr><m:t>𝑖</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𝑑𝑠</m:t></m:r></m:sub><m:sup><m:r><a:rPr lang="es-AR" sz="1400" i="1"><a:effectLst/><a:latin typeface="Cambria Math" panose="02040503050406030204" pitchFamily="18" charset="0"/><a:ea typeface="Times New Roman" panose="02020603050405020304" pitchFamily="18" charset="0"/><a:cs typeface="Times New Roman" panose="02020603050405020304" pitchFamily="18" charset="0"/></a:rPr><m:t>𝑟</m:t></m:r></m:sup></m:sSubSup><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m><m:mPr><m:mcs><m:mc><m:mcPr><m:count m:val="2"/><m:mcJc m:val="center"/></m:mcPr></m:mc></m:mcs><m:ctrlPr><a:rPr lang="es-AR" sz="1400" i="1"><a:effectLst/><a:latin typeface="Cambria Math" panose="02040503050406030204" pitchFamily="18" charset="0"/></a:rPr></m:ctrlPr></m:mPr><m:mr><m:e><m:sSubSup><m:sSubSupPr><m:ctrlPr><a:rPr lang="es-AR" sz="1400" i="1"><a:effectLst/><a:latin typeface="Cambria Math" panose="02040503050406030204" pitchFamily="18" charset="0"/><a:ea typeface="Times New Roman" panose="02020603050405020304" pitchFamily="18" charset="0"/></a:rPr></m:ctrlPr></m:sSubSupPr><m:e><m:r><a:rPr lang="es-AR" sz="1400" i="1"><a:effectLst/><a:latin typeface="Cambria Math" panose="02040503050406030204" pitchFamily="18" charset="0"/><a:ea typeface="Times New Roman" panose="02020603050405020304" pitchFamily="18" charset="0"/><a:cs typeface="Times New Roman" panose="02020603050405020304" pitchFamily="18" charset="0"/></a:rPr><m:t>𝑖</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0</m:t></m:r><m:r><a:rPr lang="es-AR" sz="1400" i="1"><a:effectLst/><a:latin typeface="Cambria Math" panose="02040503050406030204" pitchFamily="18" charset="0"/><a:ea typeface="Times New Roman" panose="02020603050405020304" pitchFamily="18" charset="0"/><a:cs typeface="Times New Roman" panose="02020603050405020304" pitchFamily="18" charset="0"/></a:rPr><m:t>𝑠</m:t></m:r></m:sub><m:sup><m:r><a:rPr lang="es-AR" sz="1400" i="1"><a:effectLst/><a:latin typeface="Cambria Math" panose="02040503050406030204" pitchFamily="18" charset="0"/><a:ea typeface="Times New Roman" panose="02020603050405020304" pitchFamily="18" charset="0"/><a:cs typeface="Times New Roman" panose="02020603050405020304" pitchFamily="18" charset="0"/></a:rPr><m:t>𝑟</m:t></m:r></m:sup></m:sSubSup><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sSubSup><m:sSubSupPr><m:ctrlPr><a:rPr lang="es-AR" sz="1400" i="1"><a:effectLst/><a:latin typeface="Cambria Math" panose="02040503050406030204" pitchFamily="18" charset="0"/></a:rPr></m:ctrlPr></m:sSubSupPr><m:e><m:r><a:rPr lang="es-AR" sz="1400" i="1"><a:effectLst/><a:latin typeface="Cambria Math" panose="02040503050406030204" pitchFamily="18" charset="0"/><a:ea typeface="Calibri" panose="020F0502020204030204" pitchFamily="34" charset="0"/><a:cs typeface="Times New Roman" panose="02020603050405020304" pitchFamily="18" charset="0"/></a:rPr><m:t>𝑇</m:t></m:r></m:e><m:sub><m:r><a:rPr lang="es-AR" sz="1400" i="1"><a:effectLst/><a:latin typeface="Cambria Math" panose="02040503050406030204" pitchFamily="18" charset="0"/><a:ea typeface="Calibri" panose="020F0502020204030204" pitchFamily="34" charset="0"/><a:cs typeface="Times New Roman" panose="02020603050405020304" pitchFamily="18" charset="0"/></a:rPr><m:t>𝑠</m:t></m:r></m:sub><m:sup><m:r><a:rPr lang="es-AR" sz="1400" i="1"><a:effectLst/><a:latin typeface="Cambria Math" panose="02040503050406030204" pitchFamily="18" charset="0"/><a:ea typeface="Calibri" panose="020F0502020204030204" pitchFamily="34" charset="0"/><a:cs typeface="Times New Roman" panose="02020603050405020304" pitchFamily="18" charset="0"/></a:rPr><m:t>𝑜</m:t></m:r></m:sup></m:sSubSup><m:d><m:dPr><m:ctrlPr><a:rPr lang="es-AR" sz="1400" i="1"><a:effectLst/><a:latin typeface="Cambria Math" panose="02040503050406030204" pitchFamily="18" charset="0"/></a:rPr></m:ctrlPr></m:dPr><m:e><m:r><a:rPr lang="es-AR" sz="1400" i="1"><a:effectLst/><a:latin typeface="Cambria Math" panose="02040503050406030204" pitchFamily="18" charset="0"/><a:ea typeface="Calibri" panose="020F0502020204030204" pitchFamily="34" charset="0"/><a:cs typeface="Times New Roman" panose="02020603050405020304" pitchFamily="18" charset="0"/></a:rPr><m:t>𝑡</m:t></m:r></m:e></m:d></m:e></m:mr></m:m></m:e></m:mr></m:m></m:e></m:mr></m:m></m:e></m:d></m:e><m:sup><m:r><a:rPr lang="es-AR" sz="1400" i="1"><a:effectLst/><a:latin typeface="Cambria Math" panose="02040503050406030204" pitchFamily="18" charset="0"/><a:ea typeface="Calibri" panose="020F0502020204030204" pitchFamily="34" charset="0"/><a:cs typeface="Times New Roman" panose="02020603050405020304" pitchFamily="18" charset="0"/></a:rPr><m:t>𝑇</m:t></m:r></m:sup></m:sSup></m:oMath></a14:m><a:endParaRPr lang="en-US" sz="1400" dirty="0"><a:solidFill><a:srgbClr val="111111"/></a:solidFill><a:latin typeface="Calibri" pitchFamily="34" charset="0"/><a:ea typeface="Calibri" pitchFamily="34" charset="-122"/><a:cs typeface="Calibri" pitchFamily="34" charset="-120"/></a:endParaRPr></a:p><a:p><a:pPr marL="0" indent="0" algn="l"><a:buNone/></a:pPr><a:endParaRPr lang="en-US" sz="1400" dirty="0"><a:solidFill><a:srgbClr val="111111"/></a:solidFill><a:latin typeface="Calibri" pitchFamily="34" charset="0"/><a:ea typeface="Calibri" pitchFamily="34" charset="-122"/><a:cs typeface="Calibri" pitchFamily="34" charset="-120"/></a:endParaRPr></a:p><a:p><a:pPr marL="0" indent="0" algn="l"><a:buNone/></a:pPr><a:r><a:rPr lang="en-US" sz="1400" dirty="0"><a:solidFill><a:srgbClr val="111111"/></a:solidFill><a:latin typeface="Calibri" pitchFamily="34" charset="0"/><a:ea typeface="Calibri" pitchFamily="34" charset="-122"/><a:cs typeface="Calibri" pitchFamily="34" charset="-120"/></a:rPr><a:t>Control: </a:t></a:r><a14:m><m:oMath xmlns:m="http://schemas.openxmlformats.org/officeDocument/2006/math"><m:r><a:rPr lang="es-AR" sz="1400" i="1" smtClean="0"><a:effectLst/><a:latin typeface="Cambria Math" panose="02040503050406030204" pitchFamily="18" charset="0"/><a:ea typeface="Calibri" panose="020F0502020204030204" pitchFamily="34" charset="0"/><a:cs typeface="Times New Roman" panose="02020603050405020304" pitchFamily="18" charset="0"/></a:rPr><m:t>𝑢</m:t></m:r><m:d><m:dPr><m:ctrlPr><a:rPr lang="es-AR" sz="1400" i="1"><a:effectLst/><a:latin typeface="Cambria Math" panose="02040503050406030204" pitchFamily="18" charset="0"/></a:rPr></m:ctrlPr></m:dPr><m:e><m:r><a:rPr lang="es-AR" sz="1400" i="1"><a:effectLst/><a:latin typeface="Cambria Math" panose="02040503050406030204" pitchFamily="18" charset="0"/><a:ea typeface="Calibri" panose="020F0502020204030204" pitchFamily="34" charset="0"/><a:cs typeface="Times New Roman" panose="02020603050405020304" pitchFamily="18" charset="0"/></a:rPr><m:t>𝑡</m:t></m:r></m:e></m:d><m:r><a:rPr lang="es-AR" sz="1400" i="1"><a:effectLst/><a:latin typeface="Cambria Math" panose="02040503050406030204" pitchFamily="18" charset="0"/><a:ea typeface="Calibri" panose="020F0502020204030204" pitchFamily="34" charset="0"/><a:cs typeface="Times New Roman" panose="02020603050405020304" pitchFamily="18" charset="0"/></a:rPr><m:t>=</m:t></m:r><m:d><m:dPr><m:begChr m:val="["/><m:endChr m:val="]"/><m:ctrlPr><a:rPr lang="es-AR" sz="1400" i="1"><a:effectLst/><a:latin typeface="Cambria Math" panose="02040503050406030204" pitchFamily="18" charset="0"/></a:rPr></m:ctrlPr></m:dPr><m:e><m:m><m:mPr><m:mcs><m:mc><m:mcPr><m:count m:val="3"/><m:mcJc m:val="center"/></m:mcPr></m:mc></m:mcs><m:ctrlPr><a:rPr lang="es-AR" sz="1400" i="1"><a:effectLst/><a:latin typeface="Cambria Math" panose="02040503050406030204" pitchFamily="18" charset="0"/></a:rPr></m:ctrlPr></m:mPr><m:mr><m:e><m:sSubSup><m:sSubSupPr><m:ctrlPr><a:rPr lang="es-AR" sz="1400" i="1"><a:effectLst/><a:latin typeface="Cambria Math" panose="02040503050406030204" pitchFamily="18" charset="0"/><a:ea typeface="Times New Roman" panose="02020603050405020304" pitchFamily="18" charset="0"/></a:rPr></m:ctrlPr></m:sSubSupPr><m:e><m:r><a:rPr lang="es-AR" sz="1400" i="1"><a:effectLst/><a:latin typeface="Cambria Math" panose="02040503050406030204" pitchFamily="18" charset="0"/><a:ea typeface="Times New Roman" panose="02020603050405020304" pitchFamily="18" charset="0"/><a:cs typeface="Times New Roman" panose="02020603050405020304" pitchFamily="18" charset="0"/></a:rPr><m:t>𝑣</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𝑞𝑠</m:t></m:r></m:sub><m:sup><m:r><a:rPr lang="es-AR" sz="1400" i="1"><a:effectLst/><a:latin typeface="Cambria Math" panose="02040503050406030204" pitchFamily="18" charset="0"/><a:ea typeface="Times New Roman" panose="02020603050405020304" pitchFamily="18" charset="0"/><a:cs typeface="Times New Roman" panose="02020603050405020304" pitchFamily="18" charset="0"/></a:rPr><m:t>𝑟</m:t></m:r></m:sup></m:sSubSup><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sSubSup><m:sSubSupPr><m:ctrlPr><a:rPr lang="es-AR" sz="1400" i="1"><a:effectLst/><a:latin typeface="Cambria Math" panose="02040503050406030204" pitchFamily="18" charset="0"/><a:ea typeface="Times New Roman" panose="02020603050405020304" pitchFamily="18" charset="0"/></a:rPr></m:ctrlPr></m:sSubSupPr><m:e><m:r><a:rPr lang="es-AR" sz="1400" i="1"><a:effectLst/><a:latin typeface="Cambria Math" panose="02040503050406030204" pitchFamily="18" charset="0"/><a:ea typeface="Times New Roman" panose="02020603050405020304" pitchFamily="18" charset="0"/><a:cs typeface="Times New Roman" panose="02020603050405020304" pitchFamily="18" charset="0"/></a:rPr><m:t>𝑣</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𝑑𝑠</m:t></m:r></m:sub><m:sup><m:r><a:rPr lang="es-AR" sz="1400" i="1"><a:effectLst/><a:latin typeface="Cambria Math" panose="02040503050406030204" pitchFamily="18" charset="0"/><a:ea typeface="Times New Roman" panose="02020603050405020304" pitchFamily="18" charset="0"/><a:cs typeface="Times New Roman" panose="02020603050405020304" pitchFamily="18" charset="0"/></a:rPr><m:t>𝑟</m:t></m:r></m:sup></m:sSubSup><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sSubSup><m:sSubSupPr><m:ctrlPr><a:rPr lang="es-AR" sz="1400" i="1"><a:effectLst/><a:latin typeface="Cambria Math" panose="02040503050406030204" pitchFamily="18" charset="0"/><a:ea typeface="Times New Roman" panose="02020603050405020304" pitchFamily="18" charset="0"/></a:rPr></m:ctrlPr></m:sSubSupPr><m:e><m:r><a:rPr lang="es-AR" sz="1400" i="1"><a:effectLst/><a:latin typeface="Cambria Math" panose="02040503050406030204" pitchFamily="18" charset="0"/><a:ea typeface="Times New Roman" panose="02020603050405020304" pitchFamily="18" charset="0"/><a:cs typeface="Times New Roman" panose="02020603050405020304" pitchFamily="18" charset="0"/></a:rPr><m:t>𝑣</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0</m:t></m:r><m:r><a:rPr lang="es-AR" sz="1400" i="1"><a:effectLst/><a:latin typeface="Cambria Math" panose="02040503050406030204" pitchFamily="18" charset="0"/><a:ea typeface="Times New Roman" panose="02020603050405020304" pitchFamily="18" charset="0"/><a:cs typeface="Times New Roman" panose="02020603050405020304" pitchFamily="18" charset="0"/></a:rPr><m:t>𝑠</m:t></m:r></m:sub><m:sup><m:r><a:rPr lang="es-AR" sz="1400" i="1"><a:effectLst/><a:latin typeface="Cambria Math" panose="02040503050406030204" pitchFamily="18" charset="0"/><a:ea typeface="Times New Roman" panose="02020603050405020304" pitchFamily="18" charset="0"/><a:cs typeface="Times New Roman" panose="02020603050405020304" pitchFamily="18" charset="0"/></a:rPr><m:t>𝑟</m:t></m:r></m:sup></m:sSubSup><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mr></m:m></m:e></m:d></m:oMath></a14:m><a:endParaRPr lang="en-US" sz="1400" dirty="0"><a:solidFill><a:srgbClr val="111111"/></a:solidFill><a:latin typeface="Calibri" pitchFamily="34" charset="0"/><a:ea typeface="Calibri" pitchFamily="34" charset="-122"/><a:cs typeface="Calibri" pitchFamily="34" charset="-120"/></a:endParaRPr></a:p><a:p><a:pPr marL="0" indent="0" algn="l"><a:buNone/></a:pPr><a:endParaRPr lang="en-US" sz="1400" dirty="0"><a:solidFill><a:srgbClr val="111111"/></a:solidFill><a:latin typeface="Calibri" pitchFamily="34" charset="0"/><a:ea typeface="Calibri" pitchFamily="34" charset="-122"/><a:cs typeface="Calibri" pitchFamily="34" charset="-120"/></a:endParaRPr></a:p><a:p><a:pPr marL="0" indent="0" algn="l"><a:buNone/></a:pPr><a:r><a:rPr lang="en-US" sz="1400" dirty="0"><a:solidFill><a:srgbClr val="111111"/></a:solidFill><a:latin typeface="Calibri" pitchFamily="34" charset="0"/><a:ea typeface="Calibri" pitchFamily="34" charset="-122"/><a:cs typeface="Calibri" pitchFamily="34" charset="-120"/></a:rPr><a:t>Perturbación: </a:t></a:r><a14:m><m:oMath xmlns:m="http://schemas.openxmlformats.org/officeDocument/2006/math"><m:r><a:rPr lang="es-AR" sz="1400" i="1" smtClean="0"><a:effectLst/><a:latin typeface="Cambria Math" panose="02040503050406030204" pitchFamily="18" charset="0"/><a:ea typeface="Times New Roman" panose="02020603050405020304" pitchFamily="18" charset="0"/><a:cs typeface="Times New Roman" panose="02020603050405020304" pitchFamily="18" charset="0"/></a:rPr><m:t>𝑑</m:t></m:r><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r><a:rPr lang="es-AR" sz="1400" i="1"><a:effectLst/><a:latin typeface="Cambria Math" panose="02040503050406030204" pitchFamily="18" charset="0"/><a:ea typeface="Times New Roman" panose="02020603050405020304" pitchFamily="18" charset="0"/><a:cs typeface="Times New Roman" panose="02020603050405020304" pitchFamily="18" charset="0"/></a:rPr><m:t>=</m:t></m:r><m:d><m:dPr><m:begChr m:val="["/><m:endChr m:val="]"/><m:ctrlPr><a:rPr lang="es-AR" sz="1400" i="1"><a:effectLst/><a:latin typeface="Cambria Math" panose="02040503050406030204" pitchFamily="18" charset="0"/><a:ea typeface="Times New Roman" panose="02020603050405020304" pitchFamily="18" charset="0"/></a:rPr></m:ctrlPr></m:dPr><m:e><m:m><m:mPr><m:mcs><m:mc><m:mcPr><m:count m:val="1"/><m:mcJc m:val="center"/></m:mcPr></m:mc></m:mcs><m:ctrlPr><a:rPr lang="es-AR" sz="1400" i="1"><a:effectLst/><a:latin typeface="Cambria Math" panose="02040503050406030204" pitchFamily="18" charset="0"/><a:ea typeface="Times New Roman" panose="02020603050405020304" pitchFamily="18" charset="0"/></a:rPr></m:ctrlPr></m:mPr><m:mr><m:e><m:sSub><m:sSubPr><m:ctrlPr><a:rPr lang="es-AR" sz="1400" i="1"><a:effectLst/><a:latin typeface="Cambria Math" panose="02040503050406030204" pitchFamily="18" charset="0"/><a:ea typeface="Times New Roman" panose="02020603050405020304" pitchFamily="18" charset="0"/></a:rPr></m:ctrlPr></m:sSubPr><m:e><m:r><a:rPr lang="es-AR" sz="1400" i="1"><a:effectLst/><a:latin typeface="Cambria Math" panose="02040503050406030204" pitchFamily="18" charset="0"/><a:ea typeface="Times New Roman" panose="02020603050405020304" pitchFamily="18" charset="0"/><a:cs typeface="Times New Roman" panose="02020603050405020304" pitchFamily="18" charset="0"/></a:rPr><m:t>𝑇</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𝑙</m:t></m:r></m:sub></m:sSub><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mr><m:mr><m:e><m:sSubSup><m:sSubSupPr><m:ctrlPr><a:rPr lang="es-AR" sz="1400" i="1"><a:effectLst/><a:latin typeface="Cambria Math" panose="02040503050406030204" pitchFamily="18" charset="0"/></a:rPr></m:ctrlPr></m:sSubSupPr><m:e><m:r><a:rPr lang="es-AR" sz="1400" i="1"><a:effectLst/><a:latin typeface="Cambria Math" panose="02040503050406030204" pitchFamily="18" charset="0"/><a:ea typeface="Calibri" panose="020F0502020204030204" pitchFamily="34" charset="0"/><a:cs typeface="Times New Roman" panose="02020603050405020304" pitchFamily="18" charset="0"/></a:rPr><m:t>𝑇</m:t></m:r></m:e><m:sub><m:r><a:rPr lang="es-AR" sz="1400" i="1"><a:effectLst/><a:latin typeface="Cambria Math" panose="02040503050406030204" pitchFamily="18" charset="0"/><a:ea typeface="Calibri" panose="020F0502020204030204" pitchFamily="34" charset="0"/><a:cs typeface="Times New Roman" panose="02020603050405020304" pitchFamily="18" charset="0"/></a:rPr><m:t>𝑎𝑚𝑏</m:t></m:r></m:sub><m:sup><m:r><a:rPr lang="es-AR" sz="1400" i="1"><a:effectLst/><a:latin typeface="Cambria Math" panose="02040503050406030204" pitchFamily="18" charset="0"/><a:ea typeface="Calibri" panose="020F0502020204030204" pitchFamily="34" charset="0"/><a:cs typeface="Times New Roman" panose="02020603050405020304" pitchFamily="18" charset="0"/></a:rPr><m:t>𝑜</m:t></m:r></m:sup></m:sSubSup><m:d><m:dPr><m:ctrlPr><a:rPr lang="es-AR" sz="1400" i="1"><a:effectLst/><a:latin typeface="Cambria Math" panose="02040503050406030204" pitchFamily="18" charset="0"/></a:rPr></m:ctrlPr></m:dPr><m:e><m:r><a:rPr lang="es-AR" sz="1400" i="1"><a:effectLst/><a:latin typeface="Cambria Math" panose="02040503050406030204" pitchFamily="18" charset="0"/><a:ea typeface="Calibri" panose="020F0502020204030204" pitchFamily="34" charset="0"/><a:cs typeface="Times New Roman" panose="02020603050405020304" pitchFamily="18" charset="0"/></a:rPr><m:t>𝑡</m:t></m:r></m:e></m:d></m:e></m:mr></m:m></m:e></m:d></m:oMath></a14:m><a:endParaRPr lang="en-US" sz="1400" dirty="0"><a:solidFill><a:srgbClr val="111111"/></a:solidFill><a:latin typeface="Calibri" pitchFamily="34" charset="0"/><a:ea typeface="Calibri" pitchFamily="34" charset="-122"/><a:cs typeface="Calibri" pitchFamily="34" charset="-120"/></a:endParaRPr></a:p><a:p><a:pPr marL="0" indent="0" algn="l"><a:buNone/></a:pPr><a:endParaRPr lang="en-US" sz="1400" dirty="0"><a:solidFill><a:srgbClr val="111111"/></a:solidFill><a:latin typeface="Calibri" pitchFamily="34" charset="0"/><a:ea typeface="Calibri" pitchFamily="34" charset="-122"/><a:cs typeface="Calibri" pitchFamily="34" charset="-120"/></a:endParaRPr></a:p><a:p><a:pPr marL="0" indent="0" algn="l"><a:buNone/></a:pPr><a:r><a:rPr lang="en-US" sz="1400" dirty="0"><a:solidFill><a:srgbClr val="111111"/></a:solidFill><a:latin typeface="Calibri" pitchFamily="34" charset="0"/><a:ea typeface="Calibri" pitchFamily="34" charset="-122"/><a:cs typeface="Calibri" pitchFamily="34" charset="-120"/></a:rPr><a:t>Salida: </a:t></a:r><a14:m><m:oMath xmlns:m="http://schemas.openxmlformats.org/officeDocument/2006/math"><m:r><a:rPr lang="es-AR" sz="1400" i="1" smtClean="0"><a:effectLst/><a:latin typeface="Cambria Math" panose="02040503050406030204" pitchFamily="18" charset="0"/><a:ea typeface="Calibri" panose="020F0502020204030204" pitchFamily="34" charset="0"/><a:cs typeface="Times New Roman" panose="02020603050405020304" pitchFamily="18" charset="0"/></a:rPr><m:t>𝑦</m:t></m:r><m:d><m:dPr><m:ctrlPr><a:rPr lang="es-AR" sz="1400" i="1"><a:effectLst/><a:latin typeface="Cambria Math" panose="02040503050406030204" pitchFamily="18" charset="0"/></a:rPr></m:ctrlPr></m:dPr><m:e><m:r><a:rPr lang="es-AR" sz="1400" i="1"><a:effectLst/><a:latin typeface="Cambria Math" panose="02040503050406030204" pitchFamily="18" charset="0"/><a:ea typeface="Calibri" panose="020F0502020204030204" pitchFamily="34" charset="0"/><a:cs typeface="Times New Roman" panose="02020603050405020304" pitchFamily="18" charset="0"/></a:rPr><m:t>𝑡</m:t></m:r></m:e></m:d><m:r><a:rPr lang="es-AR" sz="1400" i="1"><a:effectLst/><a:latin typeface="Cambria Math" panose="02040503050406030204" pitchFamily="18" charset="0"/><a:ea typeface="Calibri" panose="020F0502020204030204" pitchFamily="34" charset="0"/><a:cs typeface="Times New Roman" panose="02020603050405020304" pitchFamily="18" charset="0"/></a:rPr><m:t>=</m:t></m:r><m:sSup><m:sSupPr><m:ctrlPr><a:rPr lang="es-AR" sz="1400" i="1"><a:effectLst/><a:latin typeface="Cambria Math" panose="02040503050406030204" pitchFamily="18" charset="0"/></a:rPr></m:ctrlPr></m:sSupPr><m:e><m:d><m:dPr><m:begChr m:val="["/><m:endChr m:val="]"/><m:ctrlPr><a:rPr lang="es-AR" sz="1400" i="1"><a:effectLst/><a:latin typeface="Cambria Math" panose="02040503050406030204" pitchFamily="18" charset="0"/></a:rPr></m:ctrlPr></m:dPr><m:e><m:m><m:mPr><m:mcs><m:mc><m:mcPr><m:count m:val="3"/><m:mcJc m:val="center"/></m:mcPr></m:mc></m:mcs><m:ctrlPr><a:rPr lang="es-AR" sz="1400" i="1"><a:effectLst/><a:latin typeface="Cambria Math" panose="02040503050406030204" pitchFamily="18" charset="0"/></a:rPr></m:ctrlPr></m:mPr><m:mr><m:e><m:sSub><m:sSubPr><m:ctrlPr><a:rPr lang="es-AR" sz="1400" i="1"><a:effectLst/><a:latin typeface="Cambria Math" panose="02040503050406030204" pitchFamily="18" charset="0"/><a:ea typeface="Times New Roman" panose="02020603050405020304" pitchFamily="18" charset="0"/></a:rPr></m:ctrlPr></m:sSubPr><m:e><m:r><a:rPr lang="es-AR" sz="1400" i="1"><a:effectLst/><a:latin typeface="Cambria Math" panose="02040503050406030204" pitchFamily="18" charset="0"/><a:ea typeface="Times New Roman" panose="02020603050405020304" pitchFamily="18" charset="0"/><a:cs typeface="Times New Roman" panose="02020603050405020304" pitchFamily="18" charset="0"/></a:rPr><m:t>𝜃</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𝑚</m:t></m:r></m:sub></m:sSub><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sSubSup><m:sSubSupPr><m:ctrlPr><a:rPr lang="es-AR" sz="1400" i="1"><a:effectLst/><a:latin typeface="Cambria Math" panose="02040503050406030204" pitchFamily="18" charset="0"/><a:ea typeface="Times New Roman" panose="02020603050405020304" pitchFamily="18" charset="0"/></a:rPr></m:ctrlPr></m:sSubSupPr><m:e><m:r><a:rPr lang="es-AR" sz="1400" i="1"><a:effectLst/><a:latin typeface="Cambria Math" panose="02040503050406030204" pitchFamily="18" charset="0"/><a:ea typeface="Times New Roman" panose="02020603050405020304" pitchFamily="18" charset="0"/><a:cs typeface="Times New Roman" panose="02020603050405020304" pitchFamily="18" charset="0"/></a:rPr><m:t>𝑖</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𝑞𝑠</m:t></m:r></m:sub><m:sup><m:r><a:rPr lang="es-AR" sz="1400" i="1"><a:effectLst/><a:latin typeface="Cambria Math" panose="02040503050406030204" pitchFamily="18" charset="0"/><a:ea typeface="Times New Roman" panose="02020603050405020304" pitchFamily="18" charset="0"/><a:cs typeface="Times New Roman" panose="02020603050405020304" pitchFamily="18" charset="0"/></a:rPr><m:t>𝑟</m:t></m:r></m:sup></m:sSubSup><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m><m:mPr><m:mcs><m:mc><m:mcPr><m:count m:val="3"/><m:mcJc m:val="center"/></m:mcPr></m:mc></m:mcs><m:ctrlPr><a:rPr lang="es-AR" sz="1400" i="1"><a:effectLst/><a:latin typeface="Cambria Math" panose="02040503050406030204" pitchFamily="18" charset="0"/><a:ea typeface="Times New Roman" panose="02020603050405020304" pitchFamily="18" charset="0"/></a:rPr></m:ctrlPr></m:mPr><m:mr><m:e><m:sSubSup><m:sSubSupPr><m:ctrlPr><a:rPr lang="es-AR" sz="1400" i="1"><a:effectLst/><a:latin typeface="Cambria Math" panose="02040503050406030204" pitchFamily="18" charset="0"/><a:ea typeface="Times New Roman" panose="02020603050405020304" pitchFamily="18" charset="0"/></a:rPr></m:ctrlPr></m:sSubSupPr><m:e><m:r><a:rPr lang="es-AR" sz="1400" i="1"><a:effectLst/><a:latin typeface="Cambria Math" panose="02040503050406030204" pitchFamily="18" charset="0"/><a:ea typeface="Times New Roman" panose="02020603050405020304" pitchFamily="18" charset="0"/><a:cs typeface="Times New Roman" panose="02020603050405020304" pitchFamily="18" charset="0"/></a:rPr><m:t>𝑖</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𝑑𝑠</m:t></m:r></m:sub><m:sup><m:r><a:rPr lang="es-AR" sz="1400" i="1"><a:effectLst/><a:latin typeface="Cambria Math" panose="02040503050406030204" pitchFamily="18" charset="0"/><a:ea typeface="Times New Roman" panose="02020603050405020304" pitchFamily="18" charset="0"/><a:cs typeface="Times New Roman" panose="02020603050405020304" pitchFamily="18" charset="0"/></a:rPr><m:t>𝑟</m:t></m:r></m:sup></m:sSubSup><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sSubSup><m:sSubSupPr><m:ctrlPr><a:rPr lang="es-AR" sz="1400" i="1"><a:effectLst/><a:latin typeface="Cambria Math" panose="02040503050406030204" pitchFamily="18" charset="0"/><a:ea typeface="Times New Roman" panose="02020603050405020304" pitchFamily="18" charset="0"/></a:rPr></m:ctrlPr></m:sSubSupPr><m:e><m:r><a:rPr lang="es-AR" sz="1400" i="1"><a:effectLst/><a:latin typeface="Cambria Math" panose="02040503050406030204" pitchFamily="18" charset="0"/><a:ea typeface="Times New Roman" panose="02020603050405020304" pitchFamily="18" charset="0"/><a:cs typeface="Times New Roman" panose="02020603050405020304" pitchFamily="18" charset="0"/></a:rPr><m:t>𝑖</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0</m:t></m:r><m:r><a:rPr lang="es-AR" sz="1400" i="1"><a:effectLst/><a:latin typeface="Cambria Math" panose="02040503050406030204" pitchFamily="18" charset="0"/><a:ea typeface="Times New Roman" panose="02020603050405020304" pitchFamily="18" charset="0"/><a:cs typeface="Times New Roman" panose="02020603050405020304" pitchFamily="18" charset="0"/></a:rPr><m:t>𝑠</m:t></m:r></m:sub><m:sup><m:r><a:rPr lang="es-AR" sz="1400" i="1"><a:effectLst/><a:latin typeface="Cambria Math" panose="02040503050406030204" pitchFamily="18" charset="0"/><a:ea typeface="Times New Roman" panose="02020603050405020304" pitchFamily="18" charset="0"/><a:cs typeface="Times New Roman" panose="02020603050405020304" pitchFamily="18" charset="0"/></a:rPr><m:t>𝑟</m:t></m:r></m:sup></m:sSubSup><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sSubSup><m:sSubSupPr><m:ctrlPr><a:rPr lang="es-AR" sz="1400" i="1"><a:effectLst/><a:latin typeface="Cambria Math" panose="02040503050406030204" pitchFamily="18" charset="0"/></a:rPr></m:ctrlPr></m:sSubSupPr><m:e><m:r><a:rPr lang="es-AR" sz="1400" i="1"><a:effectLst/><a:latin typeface="Cambria Math" panose="02040503050406030204" pitchFamily="18" charset="0"/><a:ea typeface="Calibri" panose="020F0502020204030204" pitchFamily="34" charset="0"/><a:cs typeface="Times New Roman" panose="02020603050405020304" pitchFamily="18" charset="0"/></a:rPr><m:t>𝑇</m:t></m:r></m:e><m:sub><m:r><a:rPr lang="es-AR" sz="1400" i="1"><a:effectLst/><a:latin typeface="Cambria Math" panose="02040503050406030204" pitchFamily="18" charset="0"/><a:ea typeface="Calibri" panose="020F0502020204030204" pitchFamily="34" charset="0"/><a:cs typeface="Times New Roman" panose="02020603050405020304" pitchFamily="18" charset="0"/></a:rPr><m:t>𝑠</m:t></m:r></m:sub><m:sup><m:r><a:rPr lang="es-AR" sz="1400" i="1"><a:effectLst/><a:latin typeface="Cambria Math" panose="02040503050406030204" pitchFamily="18" charset="0"/><a:ea typeface="Calibri" panose="020F0502020204030204" pitchFamily="34" charset="0"/><a:cs typeface="Times New Roman" panose="02020603050405020304" pitchFamily="18" charset="0"/></a:rPr><m:t>𝑜</m:t></m:r></m:sup></m:sSubSup><m:d><m:dPr><m:ctrlPr><a:rPr lang="es-AR" sz="1400" i="1"><a:effectLst/><a:latin typeface="Cambria Math" panose="02040503050406030204" pitchFamily="18" charset="0"/></a:rPr></m:ctrlPr></m:dPr><m:e><m:r><a:rPr lang="es-AR" sz="1400" i="1"><a:effectLst/><a:latin typeface="Cambria Math" panose="02040503050406030204" pitchFamily="18" charset="0"/><a:ea typeface="Calibri" panose="020F0502020204030204" pitchFamily="34" charset="0"/><a:cs typeface="Times New Roman" panose="02020603050405020304" pitchFamily="18" charset="0"/></a:rPr><m:t>𝑡</m:t></m:r></m:e></m:d></m:e></m:mr></m:m></m:e></m:mr></m:m></m:e></m:d></m:e><m:sup><m:r><a:rPr lang="es-AR" sz="1400" i="1"><a:effectLst/><a:latin typeface="Cambria Math" panose="02040503050406030204" pitchFamily="18" charset="0"/><a:ea typeface="Calibri" panose="020F0502020204030204" pitchFamily="34" charset="0"/><a:cs typeface="Times New Roman" panose="02020603050405020304" pitchFamily="18" charset="0"/></a:rPr><m:t>𝑇</m:t></m:r></m:sup></m:sSup></m:oMath></a14:m><a:endParaRPr lang="en-US" sz="1400" dirty="0"/></a:p></p:txBody></p:sp></mc:Choice><mc:Fallback xmlns=""><p:sp><p:nvSpPr><p:cNvPr id="9" name="Text 10"><a:extLst><a:ext uri="{FF2B5EF4-FFF2-40B4-BE49-F238E27FC236}"><a16:creationId xmlns:a16="http://schemas.microsoft.com/office/drawing/2014/main" id="{8487B241-9AC0-49F2-B841-AFF136F1385B}"/></a:ext></a:extLst></p:cNvPr><p:cNvSpPr><a:spLocks noRot="1" noChangeAspect="1" noMove="1" noResize="1" noEditPoints="1" noAdjustHandles="1" noChangeArrowheads="1" noChangeShapeType="1" noTextEdit="1"/></p:cNvSpPr><p:nvPr/></p:nvSpPr><p:spPr><a:xfrm><a:off x="274320" y="4596542"/><a:ext cx="5486400" cy="1307592"/></a:xfrm><a:prstGeom prst="rect"><a:avLst/></a:prstGeom><a:blipFill><a:blip r:embed="rId3"/><a:stretch><a:fillRect l="-333" b="-45116"/></a:stretch></a:blipFill><a:ln/></p:spPr><p:txBody><a:bodyPr/><a:lstStyle/><a:p><a:r><a:rPr lang="es-AR"><a:noFill/></a:rPr><a:t> </a:t></a:r></a:p></p:txBody></p:sp></mc:Fallback></mc:AlternateContent><mc:AlternateContent xmlns:mc="http://schemas.openxmlformats.org/markup-compatibility/2006"><mc:Choice xmlns:a14="http://schemas.microsoft.com/office/drawing/2010/main" Requires="a14"><p:sp><p:nvSpPr><p:cNvPr id="10" name="CuadroTexto 9"><a:extLst><a:ext uri="{FF2B5EF4-FFF2-40B4-BE49-F238E27FC236}"><a16:creationId xmlns:a16="http://schemas.microsoft.com/office/drawing/2014/main" id="{67CD746A-31FA-4DD9-A414-701E87872408}"/></a:ext></a:extLst></p:cNvPr><p:cNvSpPr txBox="1"/><p:nvPr/></p:nvSpPr><p:spPr><a:xfrm><a:off x="89761" y="1288515"/><a:ext cx="7670055" cy="2888483"/></a:xfrm><a:prstGeom prst="rect"><a:avLst/></a:prstGeom><a:noFill/></p:spPr><p:txBody><a:bodyPr wrap="square"><a:spAutoFit/></a:bodyPr><a:lstStyle/><a:p><a:pPr/><a14:m><m:oMathPara xmlns:m="http://schemas.openxmlformats.org/officeDocument/2006/math"><m:oMathParaPr><m:jc m:val="centerGroup"/></m:oMathParaPr><m:oMath xmlns:m="http://schemas.openxmlformats.org/officeDocument/2006/math"><m:d><m:dPr><m:begChr m:val="{"/><m:endChr m:val=""/><m:ctrlPr><a:rPr lang="es-AR" sz="1400" i="1" smtClean="0"><a:latin typeface="Cambria Math" panose="02040503050406030204" pitchFamily="18" charset="0"/></a:rPr></m:ctrlPr></m:dPr><m:e><m:m><m:mPr><m:mcs><m:mc><m:mcPr><m:count m:val="1"/><m:mcJc m:val="center"/></m:mcPr></m:mc></m:mcs><m:ctrlPr><a:rPr lang="es-AR" sz="1400" i="1"><a:latin typeface="Cambria Math" panose="02040503050406030204" pitchFamily="18" charset="0"/></a:rPr></m:ctrlPr></m:mPr><m:mr><m:e><m:sSub><m:sSubPr><m:ctrlPr><a:rPr lang="es-AR" sz="1400" i="1"><a:latin typeface="Cambria Math" panose="02040503050406030204" pitchFamily="18" charset="0"/></a:rPr></m:ctrlPr></m:sSubPr><m:e><m:acc><m:accPr><m:chr m:val="̇"/><m:ctrlPr><a:rPr lang="es-AR" sz="1400" i="1"><a:latin typeface="Cambria Math" panose="02040503050406030204" pitchFamily="18" charset="0"/></a:rPr></m:ctrlPr></m:accPr><m:e><m:r><a:rPr lang="es-AR" sz="1400" i="1"><a:latin typeface="Cambria Math" panose="02040503050406030204" pitchFamily="18" charset="0"/></a:rPr><m:t>𝜃</m:t></m:r></m:e></m:acc></m:e><m:sub><m:r><a:rPr lang="es-AR" sz="1400" i="1"><a:latin typeface="Cambria Math" panose="02040503050406030204" pitchFamily="18" charset="0"/></a:rPr><m:t>𝑚</m:t></m:r></m:sub></m:sSub><m:d><m:dPr><m:ctrlPr><a:rPr lang="es-AR" sz="1400" i="1"><a:latin typeface="Cambria Math" panose="02040503050406030204" pitchFamily="18" charset="0"/></a:rPr></m:ctrlPr></m:dPr><m:e><m:r><a:rPr lang="es-AR" sz="1400" i="1"><a:latin typeface="Cambria Math" panose="02040503050406030204" pitchFamily="18" charset="0"/></a:rPr><m:t>𝑡</m:t></m:r></m:e></m:d><m:r><a:rPr lang="es-AR" sz="1400" i="1"><a:latin typeface="Cambria Math" panose="02040503050406030204" pitchFamily="18" charset="0"/></a:rPr><m:t>=</m:t></m:r><m:sSub><m:sSubPr><m:ctrlPr><a:rPr lang="es-AR" sz="1400" i="1"><a:latin typeface="Cambria Math" panose="02040503050406030204" pitchFamily="18" charset="0"/></a:rPr></m:ctrlPr></m:sSubPr><m:e><m:r><a:rPr lang="es-AR" sz="1400" i="1"><a:latin typeface="Cambria Math" panose="02040503050406030204" pitchFamily="18" charset="0"/></a:rPr><m:t>𝜔</m:t></m:r></m:e><m:sub><m:r><a:rPr lang="es-AR" sz="1400" i="1"><a:latin typeface="Cambria Math" panose="02040503050406030204" pitchFamily="18" charset="0"/></a:rPr><m:t>𝑚</m:t></m:r></m:sub></m:sSub><m:d><m:dPr><m:ctrlPr><a:rPr lang="es-AR" sz="1400" i="1"><a:latin typeface="Cambria Math" panose="02040503050406030204" pitchFamily="18" charset="0"/></a:rPr></m:ctrlPr></m:dPr><m:e><m:r><a:rPr lang="es-AR" sz="1400" i="1"><a:latin typeface="Cambria Math" panose="02040503050406030204" pitchFamily="18" charset="0"/></a:rPr><m:t>𝑡</m:t></m:r></m:e></m:d><m:r><a:rPr lang="es-AR" sz="1400" i="1"><a:latin typeface="Cambria Math" panose="02040503050406030204" pitchFamily="18" charset="0"/></a:rPr><m:t>                         </m:t></m:r><m:r><a:rPr lang="es-MX" sz="1400" i="1"><a:latin typeface="Cambria Math" panose="02040503050406030204" pitchFamily="18" charset="0"/></a:rPr><m:t>  </m:t></m:r><m:r><a:rPr lang="es-AR" sz="1400" i="1"><a:latin typeface="Cambria Math" panose="02040503050406030204" pitchFamily="18" charset="0"/></a:rPr><m:t>                                                                                                                                        </m:t></m:r></m:e></m:mr><m:mr><m:e><m:sSub><m:sSubPr><m:ctrlPr><a:rPr lang="es-AR" sz="1400" i="1"><a:latin typeface="Cambria Math" panose="02040503050406030204" pitchFamily="18" charset="0"/></a:rPr></m:ctrlPr></m:sSubPr><m:e><m:acc><m:accPr><m:chr m:val="̇"/><m:ctrlPr><a:rPr lang="es-AR" sz="1400" i="1"><a:latin typeface="Cambria Math" panose="02040503050406030204" pitchFamily="18" charset="0"/></a:rPr></m:ctrlPr></m:accPr><m:e><m:r><a:rPr lang="es-AR" sz="1400" i="1"><a:latin typeface="Cambria Math" panose="02040503050406030204" pitchFamily="18" charset="0"/></a:rPr><m:t>⍵</m:t></m:r></m:e></m:acc></m:e><m:sub><m:r><a:rPr lang="es-AR" sz="1400" i="1"><a:latin typeface="Cambria Math" panose="02040503050406030204" pitchFamily="18" charset="0"/></a:rPr><m:t>𝑚</m:t></m:r></m:sub></m:sSub><m:d><m:dPr><m:ctrlPr><a:rPr lang="es-AR" sz="1400" i="1"><a:latin typeface="Cambria Math" panose="02040503050406030204" pitchFamily="18" charset="0"/></a:rPr></m:ctrlPr></m:dPr><m:e><m:r><a:rPr lang="es-AR" sz="1400" i="1"><a:latin typeface="Cambria Math" panose="02040503050406030204" pitchFamily="18" charset="0"/></a:rPr><m:t>𝑡</m:t></m:r></m:e></m:d><m:r><a:rPr lang="es-AR" sz="1400" i="1"><a:latin typeface="Cambria Math" panose="02040503050406030204" pitchFamily="18" charset="0"/></a:rPr><m:t>=</m:t></m:r><m:f><m:fPr><m:ctrlPr><a:rPr lang="es-AR" sz="1400" i="1"><a:latin typeface="Cambria Math" panose="02040503050406030204" pitchFamily="18" charset="0"/></a:rPr></m:ctrlPr></m:fPr><m:num><m:r><a:rPr lang="es-AR" sz="1400" i="1"><a:latin typeface="Cambria Math" panose="02040503050406030204" pitchFamily="18" charset="0"/></a:rPr><m:t>1</m:t></m:r></m:num><m:den><m:sSub><m:sSubPr><m:ctrlPr><a:rPr lang="es-AR" sz="1400" i="1"><a:latin typeface="Cambria Math" panose="02040503050406030204" pitchFamily="18" charset="0"/></a:rPr></m:ctrlPr></m:sSubPr><m:e><m:r><a:rPr lang="es-AR" sz="1400" i="1"><a:latin typeface="Cambria Math" panose="02040503050406030204" pitchFamily="18" charset="0"/></a:rPr><m:t>𝐽</m:t></m:r></m:e><m:sub><m:r><a:rPr lang="es-AR" sz="1400" i="1"><a:latin typeface="Cambria Math" panose="02040503050406030204" pitchFamily="18" charset="0"/></a:rPr><m:t>𝑒𝑞</m:t></m:r></m:sub></m:sSub></m:den></m:f><m:d><m:dPr><m:begChr m:val="["/><m:endChr m:val="]"/><m:ctrlPr><a:rPr lang="es-AR" sz="1400" i="1"><a:latin typeface="Cambria Math" panose="02040503050406030204" pitchFamily="18" charset="0"/></a:rPr></m:ctrlPr></m:dPr><m:e><m:f><m:fPr><m:ctrlPr><a:rPr lang="es-AR" sz="1400" i="1"><a:latin typeface="Cambria Math" panose="02040503050406030204" pitchFamily="18" charset="0"/></a:rPr></m:ctrlPr></m:fPr><m:num><m:r><a:rPr lang="es-AR" sz="1400" i="1"><a:latin typeface="Cambria Math" panose="02040503050406030204" pitchFamily="18" charset="0"/></a:rPr><m:t>3</m:t></m:r></m:num><m:den><m:r><a:rPr lang="es-AR" sz="1400" i="1"><a:latin typeface="Cambria Math" panose="02040503050406030204" pitchFamily="18" charset="0"/></a:rPr><m:t>2</m:t></m:r></m:den></m:f><m:sSub><m:sSubPr><m:ctrlPr><a:rPr lang="es-AR" sz="1400" i="1"><a:latin typeface="Cambria Math" panose="02040503050406030204" pitchFamily="18" charset="0"/></a:rPr></m:ctrlPr></m:sSubPr><m:e><m:r><a:rPr lang="es-AR" sz="1400" i="1"><a:latin typeface="Cambria Math" panose="02040503050406030204" pitchFamily="18" charset="0"/></a:rPr><m:t>𝑃</m:t></m:r></m:e><m:sub><m:r><a:rPr lang="es-AR" sz="1400" i="1"><a:latin typeface="Cambria Math" panose="02040503050406030204" pitchFamily="18" charset="0"/></a:rPr><m:t>𝑝</m:t></m:r></m:sub></m:sSub><m:d><m:dPr><m:ctrlPr><a:rPr lang="es-AR" sz="1400" i="1"><a:latin typeface="Cambria Math" panose="02040503050406030204" pitchFamily="18" charset="0"/></a:rPr></m:ctrlPr></m:dPr><m:e><m:sSubSup><m:sSubSupPr><m:ctrlPr><a:rPr lang="es-AR" sz="1400" i="1"><a:latin typeface="Cambria Math" panose="02040503050406030204" pitchFamily="18" charset="0"/></a:rPr></m:ctrlPr></m:sSubSupPr><m:e><m:r><a:rPr lang="es-AR" sz="1400" i="1"><a:latin typeface="Cambria Math" panose="02040503050406030204" pitchFamily="18" charset="0"/></a:rPr><m:t>𝜆</m:t></m:r></m:e><m:sub><m:r><a:rPr lang="es-AR" sz="1400" i="1"><a:latin typeface="Cambria Math" panose="02040503050406030204" pitchFamily="18" charset="0"/></a:rPr><m:t>𝑚</m:t></m:r></m:sub><m:sup><m:r><a:rPr lang="es-AR" sz="1400" i="1"><a:latin typeface="Cambria Math" panose="02040503050406030204" pitchFamily="18" charset="0"/></a:rPr><m:t>ˊ</m:t></m:r><m:r><a:rPr lang="es-AR" sz="1400" i="1"><a:latin typeface="Cambria Math" panose="02040503050406030204" pitchFamily="18" charset="0"/></a:rPr><m:t>𝑟</m:t></m:r></m:sup></m:sSubSup><m:r><a:rPr lang="es-AR" sz="1400" i="1"><a:latin typeface="Cambria Math" panose="02040503050406030204" pitchFamily="18" charset="0"/></a:rPr><m:t>+</m:t></m:r><m:d><m:dPr><m:ctrlPr><a:rPr lang="es-AR" sz="1400" i="1"><a:latin typeface="Cambria Math" panose="02040503050406030204" pitchFamily="18" charset="0"/></a:rPr></m:ctrlPr></m:dPr><m:e><m:sSub><m:sSubPr><m:ctrlPr><a:rPr lang="es-AR" sz="1400" i="1"><a:latin typeface="Cambria Math" panose="02040503050406030204" pitchFamily="18" charset="0"/></a:rPr></m:ctrlPr></m:sSubPr><m:e><m:r><a:rPr lang="es-AR" sz="1400" i="1"><a:latin typeface="Cambria Math" panose="02040503050406030204" pitchFamily="18" charset="0"/></a:rPr><m:t>𝐿</m:t></m:r></m:e><m:sub><m:r><a:rPr lang="es-AR" sz="1400" i="1"><a:latin typeface="Cambria Math" panose="02040503050406030204" pitchFamily="18" charset="0"/></a:rPr><m:t>𝑑</m:t></m:r></m:sub></m:sSub><m:r><a:rPr lang="es-AR" sz="1400" i="1"><a:latin typeface="Cambria Math" panose="02040503050406030204" pitchFamily="18" charset="0"/></a:rPr><m:t>−</m:t></m:r><m:sSub><m:sSubPr><m:ctrlPr><a:rPr lang="es-AR" sz="1400" i="1"><a:latin typeface="Cambria Math" panose="02040503050406030204" pitchFamily="18" charset="0"/></a:rPr></m:ctrlPr></m:sSubPr><m:e><m:r><a:rPr lang="es-AR" sz="1400" i="1"><a:latin typeface="Cambria Math" panose="02040503050406030204" pitchFamily="18" charset="0"/></a:rPr><m:t>𝐿</m:t></m:r></m:e><m:sub><m:r><a:rPr lang="es-AR" sz="1400" i="1"><a:latin typeface="Cambria Math" panose="02040503050406030204" pitchFamily="18" charset="0"/></a:rPr><m:t>𝑞</m:t></m:r></m:sub></m:sSub></m:e></m:d><m:sSubSup><m:sSubSupPr><m:ctrlPr><a:rPr lang="es-AR" sz="1400" i="1"><a:latin typeface="Cambria Math" panose="02040503050406030204" pitchFamily="18" charset="0"/></a:rPr></m:ctrlPr></m:sSubSupPr><m:e><m:r><a:rPr lang="es-AR" sz="1400" i="1"><a:latin typeface="Cambria Math" panose="02040503050406030204" pitchFamily="18" charset="0"/></a:rPr><m:t>𝑖</m:t></m:r></m:e><m:sub><m:r><a:rPr lang="es-AR" sz="1400" i="1"><a:latin typeface="Cambria Math" panose="02040503050406030204" pitchFamily="18" charset="0"/></a:rPr><m:t>𝑑𝑠</m:t></m:r></m:sub><m:sup><m:r><a:rPr lang="es-AR" sz="1400" i="1"><a:latin typeface="Cambria Math" panose="02040503050406030204" pitchFamily="18" charset="0"/></a:rPr><m:t>𝑟</m:t></m:r></m:sup></m:sSubSup><m:d><m:dPr><m:ctrlPr><a:rPr lang="es-AR" sz="1400" i="1"><a:latin typeface="Cambria Math" panose="02040503050406030204" pitchFamily="18" charset="0"/></a:rPr></m:ctrlPr></m:dPr><m:e><m:r><a:rPr lang="es-AR" sz="1400" i="1"><a:latin typeface="Cambria Math" panose="02040503050406030204" pitchFamily="18" charset="0"/></a:rPr><m:t>𝑡</m:t></m:r></m:e></m:d></m:e></m:d><m:sSubSup><m:sSubSupPr><m:ctrlPr><a:rPr lang="es-AR" sz="1400" i="1"><a:latin typeface="Cambria Math" panose="02040503050406030204" pitchFamily="18" charset="0"/></a:rPr></m:ctrlPr></m:sSubSupPr><m:e><m:r><a:rPr lang="es-AR" sz="1400" i="1"><a:latin typeface="Cambria Math" panose="02040503050406030204" pitchFamily="18" charset="0"/></a:rPr><m:t>𝑖</m:t></m:r></m:e><m:sub><m:r><a:rPr lang="es-AR" sz="1400" i="1"><a:latin typeface="Cambria Math" panose="02040503050406030204" pitchFamily="18" charset="0"/></a:rPr><m:t>𝑞𝑠</m:t></m:r></m:sub><m:sup><m:r><a:rPr lang="es-AR" sz="1400" i="1"><a:latin typeface="Cambria Math" panose="02040503050406030204" pitchFamily="18" charset="0"/></a:rPr><m:t>𝑟</m:t></m:r></m:sup></m:sSubSup><m:d><m:dPr><m:ctrlPr><a:rPr lang="es-AR" sz="1400" i="1"><a:latin typeface="Cambria Math" panose="02040503050406030204" pitchFamily="18" charset="0"/></a:rPr></m:ctrlPr></m:dPr><m:e><m:r><a:rPr lang="es-AR" sz="1400" i="1"><a:latin typeface="Cambria Math" panose="02040503050406030204" pitchFamily="18" charset="0"/></a:rPr><m:t>𝑡</m:t></m:r></m:e></m:d><m:r><a:rPr lang="es-AR" sz="1400" i="1"><a:latin typeface="Cambria Math" panose="02040503050406030204" pitchFamily="18" charset="0"/></a:rPr><m:t>−</m:t></m:r><m:sSub><m:sSubPr><m:ctrlPr><a:rPr lang="es-AR" sz="1400" i="1"><a:latin typeface="Cambria Math" panose="02040503050406030204" pitchFamily="18" charset="0"/></a:rPr></m:ctrlPr></m:sSubPr><m:e><m:r><a:rPr lang="es-AR" sz="1400" i="1"><a:latin typeface="Cambria Math" panose="02040503050406030204" pitchFamily="18" charset="0"/></a:rPr><m:t>𝑏</m:t></m:r></m:e><m:sub><m:r><a:rPr lang="es-AR" sz="1400" i="1"><a:latin typeface="Cambria Math" panose="02040503050406030204" pitchFamily="18" charset="0"/></a:rPr><m:t>𝑒𝑞</m:t></m:r></m:sub></m:sSub><m:sSub><m:sSubPr><m:ctrlPr><a:rPr lang="es-AR" sz="1400" i="1"><a:latin typeface="Cambria Math" panose="02040503050406030204" pitchFamily="18" charset="0"/></a:rPr></m:ctrlPr></m:sSubPr><m:e><m:r><a:rPr lang="es-AR" sz="1400" i="1"><a:latin typeface="Cambria Math" panose="02040503050406030204" pitchFamily="18" charset="0"/></a:rPr><m:t>𝜔</m:t></m:r></m:e><m:sub><m:r><a:rPr lang="es-AR" sz="1400" i="1"><a:latin typeface="Cambria Math" panose="02040503050406030204" pitchFamily="18" charset="0"/></a:rPr><m:t>𝑚</m:t></m:r></m:sub></m:sSub><m:d><m:dPr><m:ctrlPr><a:rPr lang="es-AR" sz="1400" i="1"><a:latin typeface="Cambria Math" panose="02040503050406030204" pitchFamily="18" charset="0"/></a:rPr></m:ctrlPr></m:dPr><m:e><m:r><a:rPr lang="es-AR" sz="1400" i="1"><a:latin typeface="Cambria Math" panose="02040503050406030204" pitchFamily="18" charset="0"/></a:rPr><m:t>𝑡</m:t></m:r></m:e></m:d><m:r><a:rPr lang="es-AR" sz="1400" i="1"><a:latin typeface="Cambria Math" panose="02040503050406030204" pitchFamily="18" charset="0"/></a:rPr><m:t>−</m:t></m:r><m:f><m:fPr><m:ctrlPr><a:rPr lang="es-AR" sz="1400" i="1"><a:latin typeface="Cambria Math" panose="02040503050406030204" pitchFamily="18" charset="0"/></a:rPr></m:ctrlPr></m:fPr><m:num><m:r><a:rPr lang="es-AR" sz="1400" i="1"><a:latin typeface="Cambria Math" panose="02040503050406030204" pitchFamily="18" charset="0"/></a:rPr><m:t>1</m:t></m:r></m:num><m:den><m:r><a:rPr lang="es-AR" sz="1400" i="1"><a:latin typeface="Cambria Math" panose="02040503050406030204" pitchFamily="18" charset="0"/></a:rPr><m:t>𝑟</m:t></m:r></m:den></m:f><m:d><m:dPr><m:ctrlPr><a:rPr lang="es-AR" sz="1400" i="1"><a:latin typeface="Cambria Math" panose="02040503050406030204" pitchFamily="18" charset="0"/></a:rPr></m:ctrlPr></m:dPr><m:e><m:sSub><m:sSubPr><m:ctrlPr><a:rPr lang="es-AR" sz="1400" i="1"><a:latin typeface="Cambria Math" panose="02040503050406030204" pitchFamily="18" charset="0"/></a:rPr></m:ctrlPr></m:sSubPr><m:e><m:r><a:rPr lang="es-AR" sz="1400" i="1"><a:latin typeface="Cambria Math" panose="02040503050406030204" pitchFamily="18" charset="0"/></a:rPr><m:t>𝑇</m:t></m:r></m:e><m:sub><m:r><a:rPr lang="es-AR" sz="1400" i="1"><a:latin typeface="Cambria Math" panose="02040503050406030204" pitchFamily="18" charset="0"/></a:rPr><m:t>𝑙𝑑</m:t></m:r></m:sub></m:sSub><m:d><m:dPr><m:ctrlPr><a:rPr lang="es-AR" sz="1400" i="1"><a:latin typeface="Cambria Math" panose="02040503050406030204" pitchFamily="18" charset="0"/></a:rPr></m:ctrlPr></m:dPr><m:e><m:r><a:rPr lang="es-AR" sz="1400" i="1"><a:latin typeface="Cambria Math" panose="02040503050406030204" pitchFamily="18" charset="0"/></a:rPr><m:t>𝑡</m:t></m:r></m:e></m:d><m:r><a:rPr lang="es-AR" sz="1400" i="1"><a:latin typeface="Cambria Math" panose="02040503050406030204" pitchFamily="18" charset="0"/></a:rPr><m:t>+</m:t></m:r><m:r><a:rPr lang="es-AR" sz="1400" i="1"><a:latin typeface="Cambria Math" panose="02040503050406030204" pitchFamily="18" charset="0"/></a:rPr><m:t>𝑔</m:t></m:r><m:r><a:rPr lang="es-AR" sz="1400" i="1"><a:latin typeface="Cambria Math" panose="02040503050406030204" pitchFamily="18" charset="0"/></a:rPr><m:t> </m:t></m:r><m:sSub><m:sSubPr><m:ctrlPr><a:rPr lang="es-AR" sz="1400" i="1"><a:latin typeface="Cambria Math" panose="02040503050406030204" pitchFamily="18" charset="0"/></a:rPr></m:ctrlPr></m:sSubPr><m:e><m:r><a:rPr lang="es-AR" sz="1400" i="1"><a:latin typeface="Cambria Math" panose="02040503050406030204" pitchFamily="18" charset="0"/></a:rPr><m:t>𝑘</m:t></m:r></m:e><m:sub><m:r><a:rPr lang="es-AR" sz="1400" i="1"><a:latin typeface="Cambria Math" panose="02040503050406030204" pitchFamily="18" charset="0"/></a:rPr><m:t>𝑙</m:t></m:r></m:sub></m:sSub><m:func><m:funcPr><m:ctrlPr><a:rPr lang="es-AR" sz="1400" i="1"><a:latin typeface="Cambria Math" panose="02040503050406030204" pitchFamily="18" charset="0"/></a:rPr></m:ctrlPr></m:funcPr><m:fName><m:r><a:rPr lang="es-AR" sz="1400" i="1"><a:latin typeface="Cambria Math" panose="02040503050406030204" pitchFamily="18" charset="0"/></a:rPr><m:t>𝑠𝑖𝑛</m:t></m:r></m:fName><m:e><m:d><m:dPr><m:ctrlPr><a:rPr lang="es-AR" sz="1400" i="1"><a:latin typeface="Cambria Math" panose="02040503050406030204" pitchFamily="18" charset="0"/></a:rPr></m:ctrlPr></m:dPr><m:e><m:f><m:fPr><m:ctrlPr><a:rPr lang="es-AR" sz="1400" i="1"><a:latin typeface="Cambria Math" panose="02040503050406030204" pitchFamily="18" charset="0"/></a:rPr></m:ctrlPr></m:fPr><m:num><m:sSub><m:sSubPr><m:ctrlPr><a:rPr lang="es-AR" sz="1400" i="1"><a:latin typeface="Cambria Math" panose="02040503050406030204" pitchFamily="18" charset="0"/></a:rPr></m:ctrlPr></m:sSubPr><m:e><m:r><a:rPr lang="es-AR" sz="1400" i="1"><a:latin typeface="Cambria Math" panose="02040503050406030204" pitchFamily="18" charset="0"/></a:rPr><m:t>𝜃</m:t></m:r></m:e><m:sub><m:r><a:rPr lang="es-AR" sz="1400" i="1"><a:latin typeface="Cambria Math" panose="02040503050406030204" pitchFamily="18" charset="0"/></a:rPr><m:t>𝑚</m:t></m:r></m:sub></m:sSub><m:d><m:dPr><m:ctrlPr><a:rPr lang="es-AR" sz="1400" i="1"><a:latin typeface="Cambria Math" panose="02040503050406030204" pitchFamily="18" charset="0"/></a:rPr></m:ctrlPr></m:dPr><m:e><m:r><a:rPr lang="es-AR" sz="1400" i="1"><a:latin typeface="Cambria Math" panose="02040503050406030204" pitchFamily="18" charset="0"/></a:rPr><m:t>𝑡</m:t></m:r></m:e></m:d></m:num><m:den><m:r><a:rPr lang="es-AR" sz="1400" i="1"><a:latin typeface="Cambria Math" panose="02040503050406030204" pitchFamily="18" charset="0"/></a:rPr><m:t>𝑟</m:t></m:r></m:den></m:f></m:e></m:d></m:e></m:func></m:e></m:d></m:e></m:d><m:r><a:rPr lang="es-AR" sz="1400" i="1"><a:latin typeface="Cambria Math" panose="02040503050406030204" pitchFamily="18" charset="0"/></a:rPr><m:t>  </m:t></m:r><m:r><a:rPr lang="es-MX" sz="1400" b="0" i="1" smtClean="0"><a:latin typeface="Cambria Math" panose="02040503050406030204" pitchFamily="18" charset="0"/></a:rPr><m:t>    </m:t></m:r><m:r><a:rPr lang="es-AR" sz="1400" i="1"><a:latin typeface="Cambria Math" panose="02040503050406030204" pitchFamily="18" charset="0"/></a:rPr><m:t>        </m:t></m:r></m:e></m:mr><m:mr><m:e><m:m><m:mPr><m:mcs><m:mc><m:mcPr><m:count m:val="1"/><m:mcJc m:val="center"/></m:mcPr></m:mc></m:mcs><m:ctrlPr><a:rPr lang="es-AR" sz="1400" i="1"><a:latin typeface="Cambria Math" panose="02040503050406030204" pitchFamily="18" charset="0"/></a:rPr></m:ctrlPr></m:mPr><m:mr><m:e><m:f><m:fPr><m:ctrlPr><a:rPr lang="es-AR" sz="1400" i="1"><a:latin typeface="Cambria Math" panose="02040503050406030204" pitchFamily="18" charset="0"/></a:rPr></m:ctrlPr></m:fPr><m:num><m:r><a:rPr lang="es-AR" sz="1400" i="1"><a:latin typeface="Cambria Math" panose="02040503050406030204" pitchFamily="18" charset="0"/></a:rPr><m:t>𝑑</m:t></m:r><m:sSubSup><m:sSubSupPr><m:ctrlPr><a:rPr lang="es-AR" sz="1400" i="1"><a:latin typeface="Cambria Math" panose="02040503050406030204" pitchFamily="18" charset="0"/></a:rPr></m:ctrlPr></m:sSubSupPr><m:e><m:r><a:rPr lang="es-AR" sz="1400" i="1"><a:latin typeface="Cambria Math" panose="02040503050406030204" pitchFamily="18" charset="0"/></a:rPr><m:t>𝑖</m:t></m:r></m:e><m:sub><m:r><a:rPr lang="es-AR" sz="1400" i="1"><a:latin typeface="Cambria Math" panose="02040503050406030204" pitchFamily="18" charset="0"/></a:rPr><m:t>𝑞𝑠</m:t></m:r></m:sub><m:sup><m:r><a:rPr lang="es-AR" sz="1400" i="1"><a:latin typeface="Cambria Math" panose="02040503050406030204" pitchFamily="18" charset="0"/></a:rPr><m:t>𝑟</m:t></m:r></m:sup></m:sSubSup><m:d><m:dPr><m:ctrlPr><a:rPr lang="es-AR" sz="1400" i="1"><a:latin typeface="Cambria Math" panose="02040503050406030204" pitchFamily="18" charset="0"/></a:rPr></m:ctrlPr></m:dPr><m:e><m:r><a:rPr lang="es-AR" sz="1400" i="1"><a:latin typeface="Cambria Math" panose="02040503050406030204" pitchFamily="18" charset="0"/></a:rPr><m:t>𝑡</m:t></m:r></m:e></m:d></m:num><m:den><m:r><a:rPr lang="es-AR" sz="1400" i="1"><a:latin typeface="Cambria Math" panose="02040503050406030204" pitchFamily="18" charset="0"/></a:rPr><m:t>𝑑𝑡</m:t></m:r></m:den></m:f><m:r><a:rPr lang="es-AR" sz="1400" i="1"><a:latin typeface="Cambria Math" panose="02040503050406030204" pitchFamily="18" charset="0"/></a:rPr><m:t>=</m:t></m:r><m:f><m:fPr><m:ctrlPr><a:rPr lang="es-AR" sz="1400" i="1"><a:latin typeface="Cambria Math" panose="02040503050406030204" pitchFamily="18" charset="0"/></a:rPr></m:ctrlPr></m:fPr><m:num><m:r><a:rPr lang="es-AR" sz="1400" i="1"><a:latin typeface="Cambria Math" panose="02040503050406030204" pitchFamily="18" charset="0"/></a:rPr><m:t>1</m:t></m:r></m:num><m:den><m:sSub><m:sSubPr><m:ctrlPr><a:rPr lang="es-AR" sz="1400" i="1"><a:latin typeface="Cambria Math" panose="02040503050406030204" pitchFamily="18" charset="0"/></a:rPr></m:ctrlPr></m:sSubPr><m:e><m:r><a:rPr lang="es-AR" sz="1400" i="1"><a:latin typeface="Cambria Math" panose="02040503050406030204" pitchFamily="18" charset="0"/></a:rPr><m:t>𝐿</m:t></m:r></m:e><m:sub><m:r><a:rPr lang="es-AR" sz="1400" i="1"><a:latin typeface="Cambria Math" panose="02040503050406030204" pitchFamily="18" charset="0"/></a:rPr><m:t>𝑞</m:t></m:r></m:sub></m:sSub></m:den></m:f><m:d><m:dPr><m:begChr m:val="["/><m:endChr m:val="]"/><m:ctrlPr><a:rPr lang="es-AR" sz="1400" i="1"><a:latin typeface="Cambria Math" panose="02040503050406030204" pitchFamily="18" charset="0"/></a:rPr></m:ctrlPr></m:dPr><m:e><m:sSubSup><m:sSubSupPr><m:ctrlPr><a:rPr lang="es-AR" sz="1400" i="1"><a:latin typeface="Cambria Math" panose="02040503050406030204" pitchFamily="18" charset="0"/></a:rPr></m:ctrlPr></m:sSubSupPr><m:e><m:r><a:rPr lang="es-AR" sz="1400" i="1"><a:latin typeface="Cambria Math" panose="02040503050406030204" pitchFamily="18" charset="0"/></a:rPr><m:t>𝑣</m:t></m:r></m:e><m:sub><m:r><a:rPr lang="es-AR" sz="1400" i="1"><a:latin typeface="Cambria Math" panose="02040503050406030204" pitchFamily="18" charset="0"/></a:rPr><m:t>𝑞𝑠</m:t></m:r></m:sub><m:sup><m:r><a:rPr lang="es-AR" sz="1400" i="1"><a:latin typeface="Cambria Math" panose="02040503050406030204" pitchFamily="18" charset="0"/></a:rPr><m:t>𝑟</m:t></m:r></m:sup></m:sSubSup><m:d><m:dPr><m:ctrlPr><a:rPr lang="es-AR" sz="1400" i="1"><a:latin typeface="Cambria Math" panose="02040503050406030204" pitchFamily="18" charset="0"/></a:rPr></m:ctrlPr></m:dPr><m:e><m:r><a:rPr lang="es-AR" sz="1400" i="1"><a:latin typeface="Cambria Math" panose="02040503050406030204" pitchFamily="18" charset="0"/></a:rPr><m:t>𝑡</m:t></m:r></m:e></m:d><m:r><a:rPr lang="es-AR" sz="1400" i="1"><a:latin typeface="Cambria Math" panose="02040503050406030204" pitchFamily="18" charset="0"/></a:rPr><m:t>−</m:t></m:r><m:sSub><m:sSubPr><m:ctrlPr><a:rPr lang="es-AR" sz="1400" i="1"><a:latin typeface="Cambria Math" panose="02040503050406030204" pitchFamily="18" charset="0"/></a:rPr></m:ctrlPr></m:sSubPr><m:e><m:r><a:rPr lang="es-AR" sz="1400" i="1"><a:latin typeface="Cambria Math" panose="02040503050406030204" pitchFamily="18" charset="0"/></a:rPr><m:t>𝑅</m:t></m:r></m:e><m:sub><m:r><a:rPr lang="es-AR" sz="1400" i="1"><a:latin typeface="Cambria Math" panose="02040503050406030204" pitchFamily="18" charset="0"/></a:rPr><m:t>𝑠</m:t></m:r></m:sub></m:sSub><m:d><m:dPr><m:ctrlPr><a:rPr lang="es-AR" sz="1400" i="1"><a:latin typeface="Cambria Math" panose="02040503050406030204" pitchFamily="18" charset="0"/></a:rPr></m:ctrlPr></m:dPr><m:e><m:sSubSup><m:sSubSupPr><m:ctrlPr><a:rPr lang="es-AR" sz="1400" i="1"><a:latin typeface="Cambria Math" panose="02040503050406030204" pitchFamily="18" charset="0"/></a:rPr></m:ctrlPr></m:sSubSupPr><m:e><m:r><a:rPr lang="es-AR" sz="1400" i="1"><a:latin typeface="Cambria Math" panose="02040503050406030204" pitchFamily="18" charset="0"/></a:rPr><m:t>𝑇</m:t></m:r></m:e><m:sub><m:r><a:rPr lang="es-AR" sz="1400" i="1"><a:latin typeface="Cambria Math" panose="02040503050406030204" pitchFamily="18" charset="0"/></a:rPr><m:t>𝑠</m:t></m:r></m:sub><m:sup><m:r><a:rPr lang="es-AR" sz="1400" i="1"><a:latin typeface="Cambria Math" panose="02040503050406030204" pitchFamily="18" charset="0"/></a:rPr><m:t>𝑜</m:t></m:r></m:sup></m:sSubSup><m:d><m:dPr><m:ctrlPr><a:rPr lang="es-AR" sz="1400" i="1"><a:latin typeface="Cambria Math" panose="02040503050406030204" pitchFamily="18" charset="0"/></a:rPr></m:ctrlPr></m:dPr><m:e><m:r><a:rPr lang="es-AR" sz="1400" i="1"><a:latin typeface="Cambria Math" panose="02040503050406030204" pitchFamily="18" charset="0"/></a:rPr><m:t>𝑡</m:t></m:r></m:e></m:d></m:e></m:d><m:sSubSup><m:sSubSupPr><m:ctrlPr><a:rPr lang="es-AR" sz="1400" i="1"><a:latin typeface="Cambria Math" panose="02040503050406030204" pitchFamily="18" charset="0"/></a:rPr></m:ctrlPr></m:sSubSupPr><m:e><m:r><a:rPr lang="es-AR" sz="1400" i="1"><a:latin typeface="Cambria Math" panose="02040503050406030204" pitchFamily="18" charset="0"/></a:rPr><m:t>𝑖</m:t></m:r></m:e><m:sub><m:r><a:rPr lang="es-AR" sz="1400" i="1"><a:latin typeface="Cambria Math" panose="02040503050406030204" pitchFamily="18" charset="0"/></a:rPr><m:t>𝑞𝑠</m:t></m:r></m:sub><m:sup><m:r><a:rPr lang="es-AR" sz="1400" i="1"><a:latin typeface="Cambria Math" panose="02040503050406030204" pitchFamily="18" charset="0"/></a:rPr><m:t>𝑟</m:t></m:r></m:sup></m:sSubSup><m:d><m:dPr><m:ctrlPr><a:rPr lang="es-AR" sz="1400" i="1"><a:latin typeface="Cambria Math" panose="02040503050406030204" pitchFamily="18" charset="0"/></a:rPr></m:ctrlPr></m:dPr><m:e><m:r><a:rPr lang="es-AR" sz="1400" i="1"><a:latin typeface="Cambria Math" panose="02040503050406030204" pitchFamily="18" charset="0"/></a:rPr><m:t>𝑡</m:t></m:r></m:e></m:d><m:r><a:rPr lang="es-AR" sz="1400" i="1"><a:latin typeface="Cambria Math" panose="02040503050406030204" pitchFamily="18" charset="0"/></a:rPr><m:t>−</m:t></m:r><m:d><m:dPr><m:ctrlPr><a:rPr lang="es-AR" sz="1400" i="1"><a:latin typeface="Cambria Math" panose="02040503050406030204" pitchFamily="18" charset="0"/></a:rPr></m:ctrlPr></m:dPr><m:e><m:sSubSup><m:sSubSupPr><m:ctrlPr><a:rPr lang="es-AR" sz="1400" i="1"><a:latin typeface="Cambria Math" panose="02040503050406030204" pitchFamily="18" charset="0"/></a:rPr></m:ctrlPr></m:sSubSupPr><m:e><m:r><a:rPr lang="es-AR" sz="1400" i="1"><a:latin typeface="Cambria Math" panose="02040503050406030204" pitchFamily="18" charset="0"/></a:rPr><m:t>𝜆</m:t></m:r></m:e><m:sub><m:r><a:rPr lang="es-AR" sz="1400" i="1"><a:latin typeface="Cambria Math" panose="02040503050406030204" pitchFamily="18" charset="0"/></a:rPr><m:t>𝑚</m:t></m:r></m:sub><m:sup><m:r><a:rPr lang="es-AR" sz="1400" i="1"><a:latin typeface="Cambria Math" panose="02040503050406030204" pitchFamily="18" charset="0"/></a:rPr><m:t>ˊ</m:t></m:r><m:r><a:rPr lang="es-AR" sz="1400" i="1"><a:latin typeface="Cambria Math" panose="02040503050406030204" pitchFamily="18" charset="0"/></a:rPr><m:t>𝑟</m:t></m:r></m:sup></m:sSubSup><m:r><a:rPr lang="es-AR" sz="1400" i="1"><a:latin typeface="Cambria Math" panose="02040503050406030204" pitchFamily="18" charset="0"/></a:rPr><m:t>+</m:t></m:r><m:sSub><m:sSubPr><m:ctrlPr><a:rPr lang="es-AR" sz="1400" i="1"><a:latin typeface="Cambria Math" panose="02040503050406030204" pitchFamily="18" charset="0"/></a:rPr></m:ctrlPr></m:sSubPr><m:e><m:r><a:rPr lang="es-AR" sz="1400" i="1"><a:latin typeface="Cambria Math" panose="02040503050406030204" pitchFamily="18" charset="0"/></a:rPr><m:t>𝐿</m:t></m:r></m:e><m:sub><m:r><a:rPr lang="es-AR" sz="1400" i="1"><a:latin typeface="Cambria Math" panose="02040503050406030204" pitchFamily="18" charset="0"/></a:rPr><m:t>𝑑</m:t></m:r></m:sub></m:sSub><m:sSubSup><m:sSubSupPr><m:ctrlPr><a:rPr lang="es-AR" sz="1400" i="1"><a:latin typeface="Cambria Math" panose="02040503050406030204" pitchFamily="18" charset="0"/></a:rPr></m:ctrlPr></m:sSubSupPr><m:e><m:r><a:rPr lang="es-AR" sz="1400" i="1"><a:latin typeface="Cambria Math" panose="02040503050406030204" pitchFamily="18" charset="0"/></a:rPr><m:t>𝑖</m:t></m:r></m:e><m:sub><m:r><a:rPr lang="es-AR" sz="1400" i="1"><a:latin typeface="Cambria Math" panose="02040503050406030204" pitchFamily="18" charset="0"/></a:rPr><m:t>𝑑𝑠</m:t></m:r></m:sub><m:sup><m:r><a:rPr lang="es-AR" sz="1400" i="1"><a:latin typeface="Cambria Math" panose="02040503050406030204" pitchFamily="18" charset="0"/></a:rPr><m:t>𝑟</m:t></m:r></m:sup></m:sSubSup><m:d><m:dPr><m:ctrlPr><a:rPr lang="es-AR" sz="1400" i="1"><a:latin typeface="Cambria Math" panose="02040503050406030204" pitchFamily="18" charset="0"/></a:rPr></m:ctrlPr></m:dPr><m:e><m:r><a:rPr lang="es-AR" sz="1400" i="1"><a:latin typeface="Cambria Math" panose="02040503050406030204" pitchFamily="18" charset="0"/></a:rPr><m:t>𝑡</m:t></m:r></m:e></m:d></m:e></m:d><m:sSub><m:sSubPr><m:ctrlPr><a:rPr lang="es-AR" sz="1400" i="1"><a:latin typeface="Cambria Math" panose="02040503050406030204" pitchFamily="18" charset="0"/></a:rPr></m:ctrlPr></m:sSubPr><m:e><m:r><a:rPr lang="es-AR" sz="1400" i="1"><a:latin typeface="Cambria Math" panose="02040503050406030204" pitchFamily="18" charset="0"/></a:rPr><m:t>𝑃</m:t></m:r></m:e><m:sub><m:r><a:rPr lang="es-AR" sz="1400" i="1"><a:latin typeface="Cambria Math" panose="02040503050406030204" pitchFamily="18" charset="0"/></a:rPr><m:t>𝑝</m:t></m:r></m:sub></m:sSub><m:sSub><m:sSubPr><m:ctrlPr><a:rPr lang="es-AR" sz="1400" i="1"><a:latin typeface="Cambria Math" panose="02040503050406030204" pitchFamily="18" charset="0"/></a:rPr></m:ctrlPr></m:sSubPr><m:e><m:r><a:rPr lang="es-AR" sz="1400" i="1"><a:latin typeface="Cambria Math" panose="02040503050406030204" pitchFamily="18" charset="0"/></a:rPr><m:t>𝜔</m:t></m:r></m:e><m:sub><m:r><a:rPr lang="es-AR" sz="1400" i="1"><a:latin typeface="Cambria Math" panose="02040503050406030204" pitchFamily="18" charset="0"/></a:rPr><m:t>𝑚</m:t></m:r></m:sub></m:sSub><m:d><m:dPr><m:ctrlPr><a:rPr lang="es-AR" sz="1400" i="1"><a:latin typeface="Cambria Math" panose="02040503050406030204" pitchFamily="18" charset="0"/></a:rPr></m:ctrlPr></m:dPr><m:e><m:r><a:rPr lang="es-AR" sz="1400" i="1"><a:latin typeface="Cambria Math" panose="02040503050406030204" pitchFamily="18" charset="0"/></a:rPr><m:t>𝑡</m:t></m:r></m:e></m:d></m:e></m:d><m:r><a:rPr lang="es-AR" sz="1400" i="1"><a:latin typeface="Cambria Math" panose="02040503050406030204" pitchFamily="18" charset="0"/></a:rPr><m:t> </m:t></m:r><m:r><a:rPr lang="es-MX" sz="1400" b="0" i="1" smtClean="0"><a:latin typeface="Cambria Math" panose="02040503050406030204" pitchFamily="18" charset="0"/></a:rPr><m:t>  </m:t></m:r><m:r><a:rPr lang="es-AR" sz="1400" i="1"><a:latin typeface="Cambria Math" panose="02040503050406030204" pitchFamily="18" charset="0"/></a:rPr><m:t>                                                            </m:t></m:r></m:e></m:mr><m:mr><m:e><m:f><m:fPr><m:ctrlPr><a:rPr lang="es-AR" sz="1400" i="1"><a:latin typeface="Cambria Math" panose="02040503050406030204" pitchFamily="18" charset="0"/></a:rPr></m:ctrlPr></m:fPr><m:num><m:r><a:rPr lang="es-AR" sz="1400" i="1"><a:latin typeface="Cambria Math" panose="02040503050406030204" pitchFamily="18" charset="0"/></a:rPr><m:t>𝑑</m:t></m:r><m:sSubSup><m:sSubSupPr><m:ctrlPr><a:rPr lang="es-AR" sz="1400" i="1"><a:latin typeface="Cambria Math" panose="02040503050406030204" pitchFamily="18" charset="0"/></a:rPr></m:ctrlPr></m:sSubSupPr><m:e><m:r><a:rPr lang="es-AR" sz="1400" i="1"><a:latin typeface="Cambria Math" panose="02040503050406030204" pitchFamily="18" charset="0"/></a:rPr><m:t>𝑖</m:t></m:r></m:e><m:sub><m:r><a:rPr lang="es-AR" sz="1400" i="1"><a:latin typeface="Cambria Math" panose="02040503050406030204" pitchFamily="18" charset="0"/></a:rPr><m:t>𝑑𝑠</m:t></m:r></m:sub><m:sup><m:r><a:rPr lang="es-AR" sz="1400" i="1"><a:latin typeface="Cambria Math" panose="02040503050406030204" pitchFamily="18" charset="0"/></a:rPr><m:t>𝑟</m:t></m:r></m:sup></m:sSubSup><m:d><m:dPr><m:ctrlPr><a:rPr lang="es-AR" sz="1400" i="1"><a:latin typeface="Cambria Math" panose="02040503050406030204" pitchFamily="18" charset="0"/></a:rPr></m:ctrlPr></m:dPr><m:e><m:r><a:rPr lang="es-AR" sz="1400" i="1"><a:latin typeface="Cambria Math" panose="02040503050406030204" pitchFamily="18" charset="0"/></a:rPr><m:t>𝑡</m:t></m:r></m:e></m:d></m:num><m:den><m:r><a:rPr lang="es-AR" sz="1400" i="1"><a:latin typeface="Cambria Math" panose="02040503050406030204" pitchFamily="18" charset="0"/></a:rPr><m:t>𝑑𝑡</m:t></m:r></m:den></m:f><m:r><a:rPr lang="es-AR" sz="1400" i="1"><a:latin typeface="Cambria Math" panose="02040503050406030204" pitchFamily="18" charset="0"/></a:rPr><m:t>=</m:t></m:r><m:f><m:fPr><m:ctrlPr><a:rPr lang="es-AR" sz="1400" i="1"><a:latin typeface="Cambria Math" panose="02040503050406030204" pitchFamily="18" charset="0"/></a:rPr></m:ctrlPr></m:fPr><m:num><m:r><a:rPr lang="es-AR" sz="1400" i="1"><a:latin typeface="Cambria Math" panose="02040503050406030204" pitchFamily="18" charset="0"/></a:rPr><m:t>1</m:t></m:r></m:num><m:den><m:sSub><m:sSubPr><m:ctrlPr><a:rPr lang="es-AR" sz="1400" i="1"><a:latin typeface="Cambria Math" panose="02040503050406030204" pitchFamily="18" charset="0"/></a:rPr></m:ctrlPr></m:sSubPr><m:e><m:r><a:rPr lang="es-AR" sz="1400" i="1"><a:latin typeface="Cambria Math" panose="02040503050406030204" pitchFamily="18" charset="0"/></a:rPr><m:t>𝐿</m:t></m:r></m:e><m:sub><m:r><a:rPr lang="es-AR" sz="1400" i="1"><a:latin typeface="Cambria Math" panose="02040503050406030204" pitchFamily="18" charset="0"/></a:rPr><m:t>𝑑</m:t></m:r></m:sub></m:sSub></m:den></m:f><m:d><m:dPr><m:begChr m:val="["/><m:endChr m:val="]"/><m:ctrlPr><a:rPr lang="es-AR" sz="1400" i="1"><a:latin typeface="Cambria Math" panose="02040503050406030204" pitchFamily="18" charset="0"/></a:rPr></m:ctrlPr></m:dPr><m:e><m:sSubSup><m:sSubSupPr><m:ctrlPr><a:rPr lang="es-AR" sz="1400" i="1"><a:latin typeface="Cambria Math" panose="02040503050406030204" pitchFamily="18" charset="0"/></a:rPr></m:ctrlPr></m:sSubSupPr><m:e><m:r><a:rPr lang="es-AR" sz="1400" i="1"><a:latin typeface="Cambria Math" panose="02040503050406030204" pitchFamily="18" charset="0"/></a:rPr><m:t>𝑣</m:t></m:r></m:e><m:sub><m:r><a:rPr lang="es-AR" sz="1400" i="1"><a:latin typeface="Cambria Math" panose="02040503050406030204" pitchFamily="18" charset="0"/></a:rPr><m:t>𝑑𝑠</m:t></m:r></m:sub><m:sup><m:r><a:rPr lang="es-AR" sz="1400" i="1"><a:latin typeface="Cambria Math" panose="02040503050406030204" pitchFamily="18" charset="0"/></a:rPr><m:t>𝑟</m:t></m:r></m:sup></m:sSubSup><m:d><m:dPr><m:ctrlPr><a:rPr lang="es-AR" sz="1400" i="1"><a:latin typeface="Cambria Math" panose="02040503050406030204" pitchFamily="18" charset="0"/></a:rPr></m:ctrlPr></m:dPr><m:e><m:r><a:rPr lang="es-AR" sz="1400" i="1"><a:latin typeface="Cambria Math" panose="02040503050406030204" pitchFamily="18" charset="0"/></a:rPr><m:t>𝑡</m:t></m:r></m:e></m:d><m:r><a:rPr lang="es-AR" sz="1400" i="1"><a:latin typeface="Cambria Math" panose="02040503050406030204" pitchFamily="18" charset="0"/></a:rPr><m:t>−</m:t></m:r><m:sSub><m:sSubPr><m:ctrlPr><a:rPr lang="es-AR" sz="1400" i="1"><a:latin typeface="Cambria Math" panose="02040503050406030204" pitchFamily="18" charset="0"/></a:rPr></m:ctrlPr></m:sSubPr><m:e><m:r><a:rPr lang="es-AR" sz="1400" i="1"><a:latin typeface="Cambria Math" panose="02040503050406030204" pitchFamily="18" charset="0"/></a:rPr><m:t>𝑅</m:t></m:r></m:e><m:sub><m:r><a:rPr lang="es-AR" sz="1400" i="1"><a:latin typeface="Cambria Math" panose="02040503050406030204" pitchFamily="18" charset="0"/></a:rPr><m:t>𝑠</m:t></m:r></m:sub></m:sSub><m:d><m:dPr><m:ctrlPr><a:rPr lang="es-AR" sz="1400" i="1"><a:latin typeface="Cambria Math" panose="02040503050406030204" pitchFamily="18" charset="0"/></a:rPr></m:ctrlPr></m:dPr><m:e><m:sSubSup><m:sSubSupPr><m:ctrlPr><a:rPr lang="es-AR" sz="1400" i="1"><a:latin typeface="Cambria Math" panose="02040503050406030204" pitchFamily="18" charset="0"/></a:rPr></m:ctrlPr></m:sSubSupPr><m:e><m:r><a:rPr lang="es-AR" sz="1400" i="1"><a:latin typeface="Cambria Math" panose="02040503050406030204" pitchFamily="18" charset="0"/></a:rPr><m:t>𝑇</m:t></m:r></m:e><m:sub><m:r><a:rPr lang="es-AR" sz="1400" i="1"><a:latin typeface="Cambria Math" panose="02040503050406030204" pitchFamily="18" charset="0"/></a:rPr><m:t>𝑠</m:t></m:r></m:sub><m:sup><m:r><a:rPr lang="es-AR" sz="1400" i="1"><a:latin typeface="Cambria Math" panose="02040503050406030204" pitchFamily="18" charset="0"/></a:rPr><m:t>𝑜</m:t></m:r></m:sup></m:sSubSup><m:d><m:dPr><m:ctrlPr><a:rPr lang="es-AR" sz="1400" i="1"><a:latin typeface="Cambria Math" panose="02040503050406030204" pitchFamily="18" charset="0"/></a:rPr></m:ctrlPr></m:dPr><m:e><m:r><a:rPr lang="es-AR" sz="1400" i="1"><a:latin typeface="Cambria Math" panose="02040503050406030204" pitchFamily="18" charset="0"/></a:rPr><m:t>𝑡</m:t></m:r></m:e></m:d></m:e></m:d><m:sSubSup><m:sSubSupPr><m:ctrlPr><a:rPr lang="es-AR" sz="1400" i="1"><a:latin typeface="Cambria Math" panose="02040503050406030204" pitchFamily="18" charset="0"/></a:rPr></m:ctrlPr></m:sSubSupPr><m:e><m:r><a:rPr lang="es-AR" sz="1400" i="1"><a:latin typeface="Cambria Math" panose="02040503050406030204" pitchFamily="18" charset="0"/></a:rPr><m:t>𝑖</m:t></m:r></m:e><m:sub><m:r><a:rPr lang="es-AR" sz="1400" i="1"><a:latin typeface="Cambria Math" panose="02040503050406030204" pitchFamily="18" charset="0"/></a:rPr><m:t>𝑑𝑠</m:t></m:r></m:sub><m:sup><m:r><a:rPr lang="es-AR" sz="1400" i="1"><a:latin typeface="Cambria Math" panose="02040503050406030204" pitchFamily="18" charset="0"/></a:rPr><m:t>𝑟</m:t></m:r></m:sup></m:sSubSup><m:d><m:dPr><m:ctrlPr><a:rPr lang="es-AR" sz="1400" i="1"><a:latin typeface="Cambria Math" panose="02040503050406030204" pitchFamily="18" charset="0"/></a:rPr></m:ctrlPr></m:dPr><m:e><m:r><a:rPr lang="es-AR" sz="1400" i="1"><a:latin typeface="Cambria Math" panose="02040503050406030204" pitchFamily="18" charset="0"/></a:rPr><m:t>𝑡</m:t></m:r></m:e></m:d><m:r><a:rPr lang="es-AR" sz="1400" i="1"><a:latin typeface="Cambria Math" panose="02040503050406030204" pitchFamily="18" charset="0"/></a:rPr><m:t>+</m:t></m:r><m:sSub><m:sSubPr><m:ctrlPr><a:rPr lang="es-AR" sz="1400" i="1"><a:latin typeface="Cambria Math" panose="02040503050406030204" pitchFamily="18" charset="0"/></a:rPr></m:ctrlPr></m:sSubPr><m:e><m:r><a:rPr lang="es-AR" sz="1400" i="1"><a:latin typeface="Cambria Math" panose="02040503050406030204" pitchFamily="18" charset="0"/></a:rPr><m:t>𝐿</m:t></m:r></m:e><m:sub><m:r><a:rPr lang="es-AR" sz="1400" i="1"><a:latin typeface="Cambria Math" panose="02040503050406030204" pitchFamily="18" charset="0"/></a:rPr><m:t>𝑞</m:t></m:r></m:sub></m:sSub><m:sSubSup><m:sSubSupPr><m:ctrlPr><a:rPr lang="es-AR" sz="1400" i="1"><a:latin typeface="Cambria Math" panose="02040503050406030204" pitchFamily="18" charset="0"/></a:rPr></m:ctrlPr></m:sSubSupPr><m:e><m:r><a:rPr lang="es-AR" sz="1400" i="1"><a:latin typeface="Cambria Math" panose="02040503050406030204" pitchFamily="18" charset="0"/></a:rPr><m:t>𝑖</m:t></m:r></m:e><m:sub><m:r><a:rPr lang="es-AR" sz="1400" i="1"><a:latin typeface="Cambria Math" panose="02040503050406030204" pitchFamily="18" charset="0"/></a:rPr><m:t>𝑞𝑠</m:t></m:r></m:sub><m:sup><m:r><a:rPr lang="es-AR" sz="1400" i="1"><a:latin typeface="Cambria Math" panose="02040503050406030204" pitchFamily="18" charset="0"/></a:rPr><m:t>𝑟</m:t></m:r></m:sup></m:sSubSup><m:d><m:dPr><m:ctrlPr><a:rPr lang="es-AR" sz="1400" i="1"><a:latin typeface="Cambria Math" panose="02040503050406030204" pitchFamily="18" charset="0"/></a:rPr></m:ctrlPr></m:dPr><m:e><m:r><a:rPr lang="es-AR" sz="1400" i="1"><a:latin typeface="Cambria Math" panose="02040503050406030204" pitchFamily="18" charset="0"/></a:rPr><m:t>𝑡</m:t></m:r></m:e></m:d><m:sSub><m:sSubPr><m:ctrlPr><a:rPr lang="es-AR" sz="1400" i="1"><a:latin typeface="Cambria Math" panose="02040503050406030204" pitchFamily="18" charset="0"/></a:rPr></m:ctrlPr></m:sSubPr><m:e><m:r><a:rPr lang="es-AR" sz="1400" i="1"><a:latin typeface="Cambria Math" panose="02040503050406030204" pitchFamily="18" charset="0"/></a:rPr><m:t>𝑃</m:t></m:r></m:e><m:sub><m:r><a:rPr lang="es-AR" sz="1400" i="1"><a:latin typeface="Cambria Math" panose="02040503050406030204" pitchFamily="18" charset="0"/></a:rPr><m:t>𝑝</m:t></m:r></m:sub></m:sSub><m:sSub><m:sSubPr><m:ctrlPr><a:rPr lang="es-AR" sz="1400" i="1"><a:latin typeface="Cambria Math" panose="02040503050406030204" pitchFamily="18" charset="0"/></a:rPr></m:ctrlPr></m:sSubPr><m:e><m:r><a:rPr lang="es-AR" sz="1400" i="1"><a:latin typeface="Cambria Math" panose="02040503050406030204" pitchFamily="18" charset="0"/></a:rPr><m:t>𝜔</m:t></m:r></m:e><m:sub><m:r><a:rPr lang="es-AR" sz="1400" i="1"><a:latin typeface="Cambria Math" panose="02040503050406030204" pitchFamily="18" charset="0"/></a:rPr><m:t>𝑚</m:t></m:r></m:sub></m:sSub><m:d><m:dPr><m:ctrlPr><a:rPr lang="es-AR" sz="1400" i="1"><a:latin typeface="Cambria Math" panose="02040503050406030204" pitchFamily="18" charset="0"/></a:rPr></m:ctrlPr></m:dPr><m:e><m:r><a:rPr lang="es-AR" sz="1400" i="1"><a:latin typeface="Cambria Math" panose="02040503050406030204" pitchFamily="18" charset="0"/></a:rPr><m:t>𝑡</m:t></m:r></m:e></m:d></m:e></m:d><m:r><a:rPr lang="es-AR" sz="1400" i="1"><a:latin typeface="Cambria Math" panose="02040503050406030204" pitchFamily="18" charset="0"/></a:rPr><m:t>     </m:t></m:r><m:r><a:rPr lang="es-MX" sz="1400" b="0" i="1" smtClean="0"><a:latin typeface="Cambria Math" panose="02040503050406030204" pitchFamily="18" charset="0"/></a:rPr><m:t>   </m:t></m:r><m:r><a:rPr lang="es-AR" sz="1400" i="1"><a:latin typeface="Cambria Math" panose="02040503050406030204" pitchFamily="18" charset="0"/></a:rPr><m:t>                                                                       </m:t></m:r></m:e></m:mr><m:mr><m:e><m:m><m:mPr><m:mcs><m:mc><m:mcPr><m:count m:val="1"/><m:mcJc m:val="center"/></m:mcPr></m:mc></m:mcs><m:ctrlPr><a:rPr lang="es-AR" sz="1400" i="1"><a:latin typeface="Cambria Math" panose="02040503050406030204" pitchFamily="18" charset="0"/></a:rPr></m:ctrlPr></m:mPr><m:mr><m:e><m:f><m:fPr><m:ctrlPr><a:rPr lang="es-AR" sz="1400" i="1"><a:latin typeface="Cambria Math" panose="02040503050406030204" pitchFamily="18" charset="0"/></a:rPr></m:ctrlPr></m:fPr><m:num><m:r><a:rPr lang="es-AR" sz="1400" i="1"><a:latin typeface="Cambria Math" panose="02040503050406030204" pitchFamily="18" charset="0"/></a:rPr><m:t>𝑑</m:t></m:r><m:sSubSup><m:sSubSupPr><m:ctrlPr><a:rPr lang="es-AR" sz="1400" i="1"><a:latin typeface="Cambria Math" panose="02040503050406030204" pitchFamily="18" charset="0"/></a:rPr></m:ctrlPr></m:sSubSupPr><m:e><m:r><a:rPr lang="es-AR" sz="1400" i="1"><a:latin typeface="Cambria Math" panose="02040503050406030204" pitchFamily="18" charset="0"/></a:rPr><m:t>𝑖</m:t></m:r></m:e><m:sub><m:r><a:rPr lang="es-AR" sz="1400" i="1"><a:latin typeface="Cambria Math" panose="02040503050406030204" pitchFamily="18" charset="0"/></a:rPr><m:t>0</m:t></m:r><m:r><a:rPr lang="es-AR" sz="1400" i="1"><a:latin typeface="Cambria Math" panose="02040503050406030204" pitchFamily="18" charset="0"/></a:rPr><m:t>𝑠</m:t></m:r></m:sub><m:sup><m:r><a:rPr lang="es-AR" sz="1400" i="1"><a:latin typeface="Cambria Math" panose="02040503050406030204" pitchFamily="18" charset="0"/></a:rPr><m:t>𝑟</m:t></m:r></m:sup></m:sSubSup><m:d><m:dPr><m:ctrlPr><a:rPr lang="es-AR" sz="1400" i="1"><a:latin typeface="Cambria Math" panose="02040503050406030204" pitchFamily="18" charset="0"/></a:rPr></m:ctrlPr></m:dPr><m:e><m:r><a:rPr lang="es-AR" sz="1400" i="1"><a:latin typeface="Cambria Math" panose="02040503050406030204" pitchFamily="18" charset="0"/></a:rPr><m:t>𝑡</m:t></m:r></m:e></m:d></m:num><m:den><m:r><a:rPr lang="es-AR" sz="1400" i="1"><a:latin typeface="Cambria Math" panose="02040503050406030204" pitchFamily="18" charset="0"/></a:rPr><m:t>𝑑𝑡</m:t></m:r></m:den></m:f><m:r><a:rPr lang="es-AR" sz="1400" i="1"><a:latin typeface="Cambria Math" panose="02040503050406030204" pitchFamily="18" charset="0"/></a:rPr><m:t>=</m:t></m:r><m:f><m:fPr><m:ctrlPr><a:rPr lang="es-AR" sz="1400" i="1"><a:latin typeface="Cambria Math" panose="02040503050406030204" pitchFamily="18" charset="0"/></a:rPr></m:ctrlPr></m:fPr><m:num><m:r><a:rPr lang="es-AR" sz="1400" i="1"><a:latin typeface="Cambria Math" panose="02040503050406030204" pitchFamily="18" charset="0"/></a:rPr><m:t>1</m:t></m:r></m:num><m:den><m:sSub><m:sSubPr><m:ctrlPr><a:rPr lang="es-AR" sz="1400" i="1"><a:latin typeface="Cambria Math" panose="02040503050406030204" pitchFamily="18" charset="0"/></a:rPr></m:ctrlPr></m:sSubPr><m:e><m:r><a:rPr lang="es-AR" sz="1400" i="1"><a:latin typeface="Cambria Math" panose="02040503050406030204" pitchFamily="18" charset="0"/></a:rPr><m:t>𝐿</m:t></m:r></m:e><m:sub><m:r><a:rPr lang="es-AR" sz="1400" i="1"><a:latin typeface="Cambria Math" panose="02040503050406030204" pitchFamily="18" charset="0"/></a:rPr><m:t>𝑙𝑠</m:t></m:r></m:sub></m:sSub></m:den></m:f><m:d><m:dPr><m:begChr m:val="["/><m:endChr m:val="]"/><m:ctrlPr><a:rPr lang="es-AR" sz="1400" i="1"><a:latin typeface="Cambria Math" panose="02040503050406030204" pitchFamily="18" charset="0"/></a:rPr></m:ctrlPr></m:dPr><m:e><m:sSubSup><m:sSubSupPr><m:ctrlPr><a:rPr lang="es-AR" sz="1400" i="1"><a:latin typeface="Cambria Math" panose="02040503050406030204" pitchFamily="18" charset="0"/></a:rPr></m:ctrlPr></m:sSubSupPr><m:e><m:r><a:rPr lang="es-AR" sz="1400" i="1"><a:latin typeface="Cambria Math" panose="02040503050406030204" pitchFamily="18" charset="0"/></a:rPr><m:t>𝑣</m:t></m:r></m:e><m:sub><m:r><a:rPr lang="es-AR" sz="1400" i="1"><a:latin typeface="Cambria Math" panose="02040503050406030204" pitchFamily="18" charset="0"/></a:rPr><m:t>0</m:t></m:r><m:r><a:rPr lang="es-AR" sz="1400" i="1"><a:latin typeface="Cambria Math" panose="02040503050406030204" pitchFamily="18" charset="0"/></a:rPr><m:t>𝑠</m:t></m:r></m:sub><m:sup><m:r><a:rPr lang="es-AR" sz="1400" i="1"><a:latin typeface="Cambria Math" panose="02040503050406030204" pitchFamily="18" charset="0"/></a:rPr><m:t>𝑟</m:t></m:r></m:sup></m:sSubSup><m:d><m:dPr><m:ctrlPr><a:rPr lang="es-AR" sz="1400" i="1"><a:latin typeface="Cambria Math" panose="02040503050406030204" pitchFamily="18" charset="0"/></a:rPr></m:ctrlPr></m:dPr><m:e><m:r><a:rPr lang="es-AR" sz="1400" i="1"><a:latin typeface="Cambria Math" panose="02040503050406030204" pitchFamily="18" charset="0"/></a:rPr><m:t>𝑡</m:t></m:r></m:e></m:d><m:r><a:rPr lang="es-AR" sz="1400" i="1"><a:latin typeface="Cambria Math" panose="02040503050406030204" pitchFamily="18" charset="0"/></a:rPr><m:t>−</m:t></m:r><m:sSub><m:sSubPr><m:ctrlPr><a:rPr lang="es-AR" sz="1400" i="1"><a:latin typeface="Cambria Math" panose="02040503050406030204" pitchFamily="18" charset="0"/></a:rPr></m:ctrlPr></m:sSubPr><m:e><m:r><a:rPr lang="es-AR" sz="1400" i="1"><a:latin typeface="Cambria Math" panose="02040503050406030204" pitchFamily="18" charset="0"/></a:rPr><m:t>𝑅</m:t></m:r></m:e><m:sub><m:r><a:rPr lang="es-AR" sz="1400" i="1"><a:latin typeface="Cambria Math" panose="02040503050406030204" pitchFamily="18" charset="0"/></a:rPr><m:t>𝑠</m:t></m:r></m:sub></m:sSub><m:d><m:dPr><m:ctrlPr><a:rPr lang="es-AR" sz="1400" i="1"><a:latin typeface="Cambria Math" panose="02040503050406030204" pitchFamily="18" charset="0"/></a:rPr></m:ctrlPr></m:dPr><m:e><m:sSubSup><m:sSubSupPr><m:ctrlPr><a:rPr lang="es-AR" sz="1400" i="1"><a:latin typeface="Cambria Math" panose="02040503050406030204" pitchFamily="18" charset="0"/></a:rPr></m:ctrlPr></m:sSubSupPr><m:e><m:r><a:rPr lang="es-AR" sz="1400" i="1"><a:latin typeface="Cambria Math" panose="02040503050406030204" pitchFamily="18" charset="0"/></a:rPr><m:t>𝑇</m:t></m:r></m:e><m:sub><m:r><a:rPr lang="es-AR" sz="1400" i="1"><a:latin typeface="Cambria Math" panose="02040503050406030204" pitchFamily="18" charset="0"/></a:rPr><m:t>¶</m:t></m:r></m:sub><m:sup><m:r><a:rPr lang="es-AR" sz="1400" i="1"><a:latin typeface="Cambria Math" panose="02040503050406030204" pitchFamily="18" charset="0"/></a:rPr><m:t>𝑜</m:t></m:r></m:sup></m:sSubSup><m:d><m:dPr><m:ctrlPr><a:rPr lang="es-AR" sz="1400" i="1"><a:latin typeface="Cambria Math" panose="02040503050406030204" pitchFamily="18" charset="0"/></a:rPr></m:ctrlPr></m:dPr><m:e><m:r><a:rPr lang="es-AR" sz="1400" i="1"><a:latin typeface="Cambria Math" panose="02040503050406030204" pitchFamily="18" charset="0"/></a:rPr><m:t>𝑡</m:t></m:r></m:e></m:d></m:e></m:d><m:sSubSup><m:sSubSupPr><m:ctrlPr><a:rPr lang="es-AR" sz="1400" i="1"><a:latin typeface="Cambria Math" panose="02040503050406030204" pitchFamily="18" charset="0"/></a:rPr></m:ctrlPr></m:sSubSupPr><m:e><m:r><a:rPr lang="es-AR" sz="1400" i="1"><a:latin typeface="Cambria Math" panose="02040503050406030204" pitchFamily="18" charset="0"/></a:rPr><m:t>𝑖</m:t></m:r></m:e><m:sub><m:r><a:rPr lang="es-AR" sz="1400" i="1"><a:latin typeface="Cambria Math" panose="02040503050406030204" pitchFamily="18" charset="0"/></a:rPr><m:t>0</m:t></m:r><m:r><a:rPr lang="es-AR" sz="1400" i="1"><a:latin typeface="Cambria Math" panose="02040503050406030204" pitchFamily="18" charset="0"/></a:rPr><m:t>𝑠</m:t></m:r></m:sub><m:sup><m:r><a:rPr lang="es-AR" sz="1400" i="1"><a:latin typeface="Cambria Math" panose="02040503050406030204" pitchFamily="18" charset="0"/></a:rPr><m:t>𝑟</m:t></m:r></m:sup></m:sSubSup><m:d><m:dPr><m:ctrlPr><a:rPr lang="es-AR" sz="1400" i="1"><a:latin typeface="Cambria Math" panose="02040503050406030204" pitchFamily="18" charset="0"/></a:rPr></m:ctrlPr></m:dPr><m:e><m:r><a:rPr lang="es-AR" sz="1400" i="1"><a:latin typeface="Cambria Math" panose="02040503050406030204" pitchFamily="18" charset="0"/></a:rPr><m:t>𝑡</m:t></m:r></m:e></m:d></m:e></m:d><m:r><a:rPr lang="es-AR" sz="1400" i="1"><a:latin typeface="Cambria Math" panose="02040503050406030204" pitchFamily="18" charset="0"/></a:rPr><m:t>                                </m:t></m:r><m:r><a:rPr lang="es-MX" sz="1400" b="0" i="1" smtClean="0"><a:latin typeface="Cambria Math" panose="02040503050406030204" pitchFamily="18" charset="0"/></a:rPr><m:t> </m:t></m:r><m:r><a:rPr lang="es-AR" sz="1400" i="1"><a:latin typeface="Cambria Math" panose="02040503050406030204" pitchFamily="18" charset="0"/></a:rPr><m:t>     </m:t></m:r><m:r><a:rPr lang="es-MX" sz="1400" i="1"><a:latin typeface="Cambria Math" panose="02040503050406030204" pitchFamily="18" charset="0"/></a:rPr><m:t>  </m:t></m:r><m:r><a:rPr lang="es-AR" sz="1400" i="1"><a:latin typeface="Cambria Math" panose="02040503050406030204" pitchFamily="18" charset="0"/></a:rPr><m:t>                                                                            </m:t></m:r></m:e></m:mr><m:mr><m:e><m:f><m:fPr><m:ctrlPr><a:rPr lang="es-AR" sz="1400" i="1"><a:latin typeface="Cambria Math" panose="02040503050406030204" pitchFamily="18" charset="0"/></a:rPr></m:ctrlPr></m:fPr><m:num><m:r><a:rPr lang="es-AR" sz="1400" i="1"><a:latin typeface="Cambria Math" panose="02040503050406030204" pitchFamily="18" charset="0"/></a:rPr><m:t>𝑑</m:t></m:r><m:sSub><m:sSubPr><m:ctrlPr><a:rPr lang="es-AR" sz="1400" i="1"><a:latin typeface="Cambria Math" panose="02040503050406030204" pitchFamily="18" charset="0"/></a:rPr></m:ctrlPr></m:sSubPr><m:e><m:r><a:rPr lang="es-AR" sz="1400" i="1"><a:latin typeface="Cambria Math" panose="02040503050406030204" pitchFamily="18" charset="0"/></a:rPr><m:t>𝑇</m:t></m:r></m:e><m:sub><m:r><a:rPr lang="es-AR" sz="1400" i="1"><a:latin typeface="Cambria Math" panose="02040503050406030204" pitchFamily="18" charset="0"/></a:rPr><m:t>𝑠</m:t></m:r></m:sub></m:sSub><m:d><m:dPr><m:ctrlPr><a:rPr lang="es-AR" sz="1400" i="1"><a:latin typeface="Cambria Math" panose="02040503050406030204" pitchFamily="18" charset="0"/></a:rPr></m:ctrlPr></m:dPr><m:e><m:r><a:rPr lang="es-AR" sz="1400" i="1"><a:latin typeface="Cambria Math" panose="02040503050406030204" pitchFamily="18" charset="0"/></a:rPr><m:t>𝑡</m:t></m:r></m:e></m:d></m:num><m:den><m:r><a:rPr lang="es-AR" sz="1400" i="1"><a:latin typeface="Cambria Math" panose="02040503050406030204" pitchFamily="18" charset="0"/></a:rPr><m:t>𝑑𝑡</m:t></m:r></m:den></m:f><m:r><a:rPr lang="es-AR" sz="1400" i="1"><a:latin typeface="Cambria Math" panose="02040503050406030204" pitchFamily="18" charset="0"/></a:rPr><m:t>=</m:t></m:r><m:f><m:fPr><m:ctrlPr><a:rPr lang="es-AR" sz="1400" i="1"><a:latin typeface="Cambria Math" panose="02040503050406030204" pitchFamily="18" charset="0"/></a:rPr></m:ctrlPr></m:fPr><m:num><m:r><a:rPr lang="es-AR" sz="1400" i="1"><a:latin typeface="Cambria Math" panose="02040503050406030204" pitchFamily="18" charset="0"/></a:rPr><m:t>1</m:t></m:r></m:num><m:den><m:sSub><m:sSubPr><m:ctrlPr><a:rPr lang="es-AR" sz="1400" i="1"><a:latin typeface="Cambria Math" panose="02040503050406030204" pitchFamily="18" charset="0"/></a:rPr></m:ctrlPr></m:sSubPr><m:e><m:r><a:rPr lang="es-AR" sz="1400" i="1"><a:latin typeface="Cambria Math" panose="02040503050406030204" pitchFamily="18" charset="0"/></a:rPr><m:t>𝐶</m:t></m:r></m:e><m:sub><m:r><a:rPr lang="es-AR" sz="1400" i="1"><a:latin typeface="Cambria Math" panose="02040503050406030204" pitchFamily="18" charset="0"/></a:rPr><m:t>𝑡𝑠</m:t></m:r></m:sub></m:sSub></m:den></m:f><m:d><m:dPr><m:begChr m:val="["/><m:endChr m:val="]"/><m:ctrlPr><a:rPr lang="es-AR" sz="1400" i="1"><a:latin typeface="Cambria Math" panose="02040503050406030204" pitchFamily="18" charset="0"/></a:rPr></m:ctrlPr></m:dPr><m:e><m:f><m:fPr><m:ctrlPr><a:rPr lang="es-AR" sz="1400" i="1"><a:latin typeface="Cambria Math" panose="02040503050406030204" pitchFamily="18" charset="0"/></a:rPr></m:ctrlPr></m:fPr><m:num><m:r><a:rPr lang="es-AR" sz="1400" i="1"><a:latin typeface="Cambria Math" panose="02040503050406030204" pitchFamily="18" charset="0"/></a:rPr><m:t>3</m:t></m:r></m:num><m:den><m:r><a:rPr lang="es-AR" sz="1400" i="1"><a:latin typeface="Cambria Math" panose="02040503050406030204" pitchFamily="18" charset="0"/></a:rPr><m:t>2</m:t></m:r></m:den></m:f><m:sSub><m:sSubPr><m:ctrlPr><a:rPr lang="es-AR" sz="1400" i="1"><a:latin typeface="Cambria Math" panose="02040503050406030204" pitchFamily="18" charset="0"/></a:rPr></m:ctrlPr></m:sSubPr><m:e><m:r><a:rPr lang="es-AR" sz="1400" i="1"><a:latin typeface="Cambria Math" panose="02040503050406030204" pitchFamily="18" charset="0"/></a:rPr><m:t>𝑅</m:t></m:r></m:e><m:sub><m:r><a:rPr lang="es-AR" sz="1400" i="1"><a:latin typeface="Cambria Math" panose="02040503050406030204" pitchFamily="18" charset="0"/></a:rPr><m:t>𝑠</m:t></m:r></m:sub></m:sSub><m:d><m:dPr><m:ctrlPr><a:rPr lang="es-AR" sz="1400" i="1"><a:latin typeface="Cambria Math" panose="02040503050406030204" pitchFamily="18" charset="0"/></a:rPr></m:ctrlPr></m:dPr><m:e><m:sSubSup><m:sSubSupPr><m:ctrlPr><a:rPr lang="es-AR" sz="1400" i="1"><a:latin typeface="Cambria Math" panose="02040503050406030204" pitchFamily="18" charset="0"/></a:rPr></m:ctrlPr></m:sSubSupPr><m:e><m:r><a:rPr lang="es-AR" sz="1400" i="1"><a:latin typeface="Cambria Math" panose="02040503050406030204" pitchFamily="18" charset="0"/></a:rPr><m:t>𝑇</m:t></m:r></m:e><m:sub><m:r><a:rPr lang="es-AR" sz="1400" i="1"><a:latin typeface="Cambria Math" panose="02040503050406030204" pitchFamily="18" charset="0"/></a:rPr><m:t>𝑠</m:t></m:r></m:sub><m:sup><m:r><a:rPr lang="es-AR" sz="1400" i="1"><a:latin typeface="Cambria Math" panose="02040503050406030204" pitchFamily="18" charset="0"/></a:rPr><m:t>𝑜</m:t></m:r></m:sup></m:sSubSup><m:d><m:dPr><m:ctrlPr><a:rPr lang="es-AR" sz="1400" i="1"><a:latin typeface="Cambria Math" panose="02040503050406030204" pitchFamily="18" charset="0"/></a:rPr></m:ctrlPr></m:dPr><m:e><m:r><a:rPr lang="es-AR" sz="1400" i="1"><a:latin typeface="Cambria Math" panose="02040503050406030204" pitchFamily="18" charset="0"/></a:rPr><m:t>𝑡</m:t></m:r></m:e></m:d></m:e></m:d><m:d><m:dPr><m:ctrlPr><a:rPr lang="es-AR" sz="1400" i="1"><a:latin typeface="Cambria Math" panose="02040503050406030204" pitchFamily="18" charset="0"/></a:rPr></m:ctrlPr></m:dPr><m:e><m:sSup><m:sSupPr><m:ctrlPr><a:rPr lang="es-AR" sz="1400" i="1"><a:latin typeface="Cambria Math" panose="02040503050406030204" pitchFamily="18" charset="0"/></a:rPr></m:ctrlPr></m:sSupPr><m:e><m:d><m:dPr><m:ctrlPr><a:rPr lang="es-AR" sz="1400" i="1"><a:latin typeface="Cambria Math" panose="02040503050406030204" pitchFamily="18" charset="0"/></a:rPr></m:ctrlPr></m:dPr><m:e><m:sSubSup><m:sSubSupPr><m:ctrlPr><a:rPr lang="es-AR" sz="1400" i="1"><a:latin typeface="Cambria Math" panose="02040503050406030204" pitchFamily="18" charset="0"/></a:rPr></m:ctrlPr></m:sSubSupPr><m:e><m:r><a:rPr lang="es-AR" sz="1400" i="1"><a:latin typeface="Cambria Math" panose="02040503050406030204" pitchFamily="18" charset="0"/></a:rPr><m:t>𝑖</m:t></m:r></m:e><m:sub><m:r><a:rPr lang="es-AR" sz="1400" i="1"><a:latin typeface="Cambria Math" panose="02040503050406030204" pitchFamily="18" charset="0"/></a:rPr><m:t>𝑞𝑠</m:t></m:r></m:sub><m:sup><m:r><a:rPr lang="es-AR" sz="1400" i="1"><a:latin typeface="Cambria Math" panose="02040503050406030204" pitchFamily="18" charset="0"/></a:rPr><m:t>𝑟</m:t></m:r></m:sup></m:sSubSup></m:e></m:d></m:e><m:sup><m:r><a:rPr lang="es-AR" sz="1400" i="1"><a:latin typeface="Cambria Math" panose="02040503050406030204" pitchFamily="18" charset="0"/></a:rPr><m:t>2</m:t></m:r></m:sup></m:sSup><m:r><a:rPr lang="es-AR" sz="1400" i="1"><a:latin typeface="Cambria Math" panose="02040503050406030204" pitchFamily="18" charset="0"/></a:rPr><m:t>+</m:t></m:r><m:sSup><m:sSupPr><m:ctrlPr><a:rPr lang="es-AR" sz="1400" i="1"><a:latin typeface="Cambria Math" panose="02040503050406030204" pitchFamily="18" charset="0"/></a:rPr></m:ctrlPr></m:sSupPr><m:e><m:d><m:dPr><m:ctrlPr><a:rPr lang="es-AR" sz="1400" i="1"><a:latin typeface="Cambria Math" panose="02040503050406030204" pitchFamily="18" charset="0"/></a:rPr></m:ctrlPr></m:dPr><m:e><m:sSubSup><m:sSubSupPr><m:ctrlPr><a:rPr lang="es-AR" sz="1400" i="1"><a:latin typeface="Cambria Math" panose="02040503050406030204" pitchFamily="18" charset="0"/></a:rPr></m:ctrlPr></m:sSubSupPr><m:e><m:r><a:rPr lang="es-AR" sz="1400" i="1"><a:latin typeface="Cambria Math" panose="02040503050406030204" pitchFamily="18" charset="0"/></a:rPr><m:t>𝑖</m:t></m:r></m:e><m:sub><m:r><a:rPr lang="es-AR" sz="1400" i="1"><a:latin typeface="Cambria Math" panose="02040503050406030204" pitchFamily="18" charset="0"/></a:rPr><m:t>𝑑𝑠</m:t></m:r></m:sub><m:sup><m:r><a:rPr lang="es-AR" sz="1400" i="1"><a:latin typeface="Cambria Math" panose="02040503050406030204" pitchFamily="18" charset="0"/></a:rPr><m:t>𝑟</m:t></m:r></m:sup></m:sSubSup></m:e></m:d></m:e><m:sup><m:r><a:rPr lang="es-AR" sz="1400" i="1"><a:latin typeface="Cambria Math" panose="02040503050406030204" pitchFamily="18" charset="0"/></a:rPr><m:t>2</m:t></m:r></m:sup></m:sSup><m:r><a:rPr lang="es-AR" sz="1400" i="1"><a:latin typeface="Cambria Math" panose="02040503050406030204" pitchFamily="18" charset="0"/></a:rPr><m:t>+</m:t></m:r><m:r><a:rPr lang="es-AR" sz="1400" i="1"><a:latin typeface="Cambria Math" panose="02040503050406030204" pitchFamily="18" charset="0"/></a:rPr><m:t>2</m:t></m:r><m:sSup><m:sSupPr><m:ctrlPr><a:rPr lang="es-AR" sz="1400" i="1"><a:latin typeface="Cambria Math" panose="02040503050406030204" pitchFamily="18" charset="0"/></a:rPr></m:ctrlPr></m:sSupPr><m:e><m:d><m:dPr><m:ctrlPr><a:rPr lang="es-AR" sz="1400" i="1"><a:latin typeface="Cambria Math" panose="02040503050406030204" pitchFamily="18" charset="0"/></a:rPr></m:ctrlPr></m:dPr><m:e><m:sSubSup><m:sSubSupPr><m:ctrlPr><a:rPr lang="es-AR" sz="1400" i="1"><a:latin typeface="Cambria Math" panose="02040503050406030204" pitchFamily="18" charset="0"/></a:rPr></m:ctrlPr></m:sSubSupPr><m:e><m:r><a:rPr lang="es-AR" sz="1400" i="1"><a:latin typeface="Cambria Math" panose="02040503050406030204" pitchFamily="18" charset="0"/></a:rPr><m:t>𝑖</m:t></m:r></m:e><m:sub><m:r><a:rPr lang="es-AR" sz="1400" i="1"><a:latin typeface="Cambria Math" panose="02040503050406030204" pitchFamily="18" charset="0"/></a:rPr><m:t>0</m:t></m:r><m:r><a:rPr lang="es-AR" sz="1400" i="1"><a:latin typeface="Cambria Math" panose="02040503050406030204" pitchFamily="18" charset="0"/></a:rPr><m:t>𝑠</m:t></m:r></m:sub><m:sup><m:r><a:rPr lang="es-AR" sz="1400" i="1"><a:latin typeface="Cambria Math" panose="02040503050406030204" pitchFamily="18" charset="0"/></a:rPr><m:t>𝑟</m:t></m:r></m:sup></m:sSubSup></m:e></m:d></m:e><m:sup><m:r><a:rPr lang="es-AR" sz="1400" i="1"><a:latin typeface="Cambria Math" panose="02040503050406030204" pitchFamily="18" charset="0"/></a:rPr><m:t>2</m:t></m:r></m:sup></m:sSup></m:e></m:d><m:r><a:rPr lang="es-AR" sz="1400" i="1"><a:latin typeface="Cambria Math" panose="02040503050406030204" pitchFamily="18" charset="0"/></a:rPr><m:t>−</m:t></m:r><m:f><m:fPr><m:ctrlPr><a:rPr lang="es-AR" sz="1400" i="1"><a:latin typeface="Cambria Math" panose="02040503050406030204" pitchFamily="18" charset="0"/></a:rPr></m:ctrlPr></m:fPr><m:num><m:r><a:rPr lang="es-AR" sz="1400" i="1"><a:latin typeface="Cambria Math" panose="02040503050406030204" pitchFamily="18" charset="0"/></a:rPr><m:t>1</m:t></m:r></m:num><m:den><m:sSub><m:sSubPr><m:ctrlPr><a:rPr lang="es-AR" sz="1400" i="1"><a:latin typeface="Cambria Math" panose="02040503050406030204" pitchFamily="18" charset="0"/></a:rPr></m:ctrlPr></m:sSubPr><m:e><m:r><a:rPr lang="es-AR" sz="1400" i="1"><a:latin typeface="Cambria Math" panose="02040503050406030204" pitchFamily="18" charset="0"/></a:rPr><m:t>𝑅</m:t></m:r></m:e><m:sub><m:r><a:rPr lang="es-AR" sz="1400" i="1"><a:latin typeface="Cambria Math" panose="02040503050406030204" pitchFamily="18" charset="0"/></a:rPr><m:t>𝑡𝑠</m:t></m:r><m:r><a:rPr lang="es-AR" sz="1400" i="1"><a:latin typeface="Cambria Math" panose="02040503050406030204" pitchFamily="18" charset="0"/></a:rPr><m:t>−</m:t></m:r><m:r><a:rPr lang="es-AR" sz="1400" i="1"><a:latin typeface="Cambria Math" panose="02040503050406030204" pitchFamily="18" charset="0"/></a:rPr><m:t>𝑎𝑚𝑏</m:t></m:r></m:sub></m:sSub></m:den></m:f><m:d><m:dPr><m:ctrlPr><a:rPr lang="es-AR" sz="1400" i="1"><a:latin typeface="Cambria Math" panose="02040503050406030204" pitchFamily="18" charset="0"/></a:rPr></m:ctrlPr></m:dPr><m:e><m:sSubSup><m:sSubSupPr><m:ctrlPr><a:rPr lang="es-AR" sz="1400" i="1"><a:latin typeface="Cambria Math" panose="02040503050406030204" pitchFamily="18" charset="0"/></a:rPr></m:ctrlPr></m:sSubSupPr><m:e><m:r><a:rPr lang="es-AR" sz="1400" i="1"><a:latin typeface="Cambria Math" panose="02040503050406030204" pitchFamily="18" charset="0"/></a:rPr><m:t>𝑇</m:t></m:r></m:e><m:sub><m:r><a:rPr lang="es-AR" sz="1400" i="1"><a:latin typeface="Cambria Math" panose="02040503050406030204" pitchFamily="18" charset="0"/></a:rPr><m:t>𝑠</m:t></m:r></m:sub><m:sup><m:r><a:rPr lang="es-AR" sz="1400" i="1"><a:latin typeface="Cambria Math" panose="02040503050406030204" pitchFamily="18" charset="0"/></a:rPr><m:t>𝑜</m:t></m:r></m:sup></m:sSubSup><m:d><m:dPr><m:ctrlPr><a:rPr lang="es-AR" sz="1400" i="1"><a:latin typeface="Cambria Math" panose="02040503050406030204" pitchFamily="18" charset="0"/></a:rPr></m:ctrlPr></m:dPr><m:e><m:r><a:rPr lang="es-AR" sz="1400" i="1"><a:latin typeface="Cambria Math" panose="02040503050406030204" pitchFamily="18" charset="0"/></a:rPr><m:t>𝑡</m:t></m:r></m:e></m:d><m:sSubSup><m:sSubSupPr><m:ctrlPr><a:rPr lang="es-AR" sz="1400" i="1"><a:latin typeface="Cambria Math" panose="02040503050406030204" pitchFamily="18" charset="0"/></a:rPr></m:ctrlPr></m:sSubSupPr><m:e><m:r><a:rPr lang="es-AR" sz="1400" i="1"><a:latin typeface="Cambria Math" panose="02040503050406030204" pitchFamily="18" charset="0"/></a:rPr><m:t>−</m:t></m:r><m:r><a:rPr lang="es-AR" sz="1400" i="1"><a:latin typeface="Cambria Math" panose="02040503050406030204" pitchFamily="18" charset="0"/></a:rPr><m:t>𝑇</m:t></m:r></m:e><m:sub><m:r><a:rPr lang="es-AR" sz="1400" i="1"><a:latin typeface="Cambria Math" panose="02040503050406030204" pitchFamily="18" charset="0"/></a:rPr><m:t>𝑎𝑚𝑏</m:t></m:r></m:sub><m:sup><m:r><a:rPr lang="es-AR" sz="1400" i="1"><a:latin typeface="Cambria Math" panose="02040503050406030204" pitchFamily="18" charset="0"/></a:rPr><m:t>𝑜</m:t></m:r></m:sup></m:sSubSup><m:d><m:dPr><m:ctrlPr><a:rPr lang="es-AR" sz="1400" i="1"><a:latin typeface="Cambria Math" panose="02040503050406030204" pitchFamily="18" charset="0"/></a:rPr></m:ctrlPr></m:dPr><m:e><m:r><a:rPr lang="es-AR" sz="1400" i="1"><a:latin typeface="Cambria Math" panose="02040503050406030204" pitchFamily="18" charset="0"/></a:rPr><m:t>𝑡</m:t></m:r></m:e></m:d></m:e></m:d></m:e></m:d><m:r><a:rPr lang="es-MX" sz="1400" b="0" i="1" smtClean="0"><a:latin typeface="Cambria Math" panose="02040503050406030204" pitchFamily="18" charset="0"/></a:rPr><m:t>,</m:t></m:r><m:r><a:rPr lang="es-AR" sz="1400" i="1"><a:latin typeface="Cambria Math" panose="02040503050406030204" pitchFamily="18" charset="0"/></a:rPr><m:t>  </m:t></m:r><m:r><a:rPr lang="es-MX" sz="1400" b="0" i="1" smtClean="0"><a:latin typeface="Cambria Math" panose="02040503050406030204" pitchFamily="18" charset="0"/></a:rPr><m:t>    </m:t></m:r><m:r><a:rPr lang="es-AR" sz="1400" i="1"><a:latin typeface="Cambria Math" panose="02040503050406030204" pitchFamily="18" charset="0"/></a:rPr><m:t>  </m:t></m:r><m:r><a:rPr lang="es-MX" sz="1400" i="1"><a:latin typeface="Cambria Math" panose="02040503050406030204" pitchFamily="18" charset="0"/></a:rPr><m:t> </m:t></m:r><m:r><a:rPr lang="es-AR" sz="1400" i="1"><a:latin typeface="Cambria Math" panose="02040503050406030204" pitchFamily="18" charset="0"/></a:rPr><m:t>                        </m:t></m:r></m:e></m:mr></m:m></m:e></m:mr></m:m></m:e></m:mr></m:m></m:e></m:d></m:oMath></m:oMathPara></a14:m><a:endParaRPr lang="es-AR" sz="1400" dirty="0"/></a:p></p:txBody></p:sp></mc:Choice><mc:Fallback><p:sp><p:nvSpPr><p:cNvPr id="10" name="CuadroTexto 9"><a:extLst><a:ext uri="{FF2B5EF4-FFF2-40B4-BE49-F238E27FC236}"><a16:creationId xmlns:a16="http://schemas.microsoft.com/office/drawing/2014/main" id="{67CD746A-31FA-4DD9-A414-701E87872408}"/></a:ext></a:extLst></p:cNvPr><p:cNvSpPr txBox="1"><a:spLocks noRot="1" noChangeAspect="1" noMove="1" noResize="1" noEditPoints="1" noAdjustHandles="1" noChangeArrowheads="1" noChangeShapeType="1" noTextEdit="1"/></p:cNvSpPr><p:nvPr/></p:nvSpPr><p:spPr><a:xfrm><a:off x="89761" y="1288515"/><a:ext cx="7670055" cy="2888483"/></a:xfrm><a:prstGeom prst="rect"><a:avLst/></a:prstGeom><a:blipFill><a:blip r:embed="rId4"/><a:stretch><a:fillRect/></a:stretch></a:blipFill></p:spPr><p:txBody><a:bodyPr/><a:lstStyle/><a:p><a:r><a:rPr lang="es-AR"><a:noFill/></a:rPr><a:t> </a:t></a:r></a:p></p:txBody></p:sp></mc:Fallback></mc:AlternateContent><mc:AlternateContent xmlns:mc="http://schemas.openxmlformats.org/markup-compatibility/2006"><mc:Choice xmlns:a14="http://schemas.microsoft.com/office/drawing/2010/main" Requires="a14"><p:sp><p:nvSpPr><p:cNvPr id="12" name="CuadroTexto 11"><a:extLst><a:ext uri="{FF2B5EF4-FFF2-40B4-BE49-F238E27FC236}"><a16:creationId xmlns:a16="http://schemas.microsoft.com/office/drawing/2014/main" id="{1088608A-F160-484D-B45A-1CB17693E28C}"/></a:ext></a:extLst></p:cNvPr><p:cNvSpPr txBox="1"/><p:nvPr/></p:nvSpPr><p:spPr><a:xfrm><a:off x="6080760" y="3636495"/><a:ext cx="6107184" cy="414729"/></a:xfrm><a:prstGeom prst="rect"><a:avLst/></a:prstGeom><a:noFill/></p:spPr><p:txBody><a:bodyPr wrap="square"><a:spAutoFit/></a:bodyPr><a:lstStyle/><a:p><a:pPr/><a14:m><m:oMathPara xmlns:m="http://schemas.openxmlformats.org/officeDocument/2006/math"><m:oMathParaPr><m:jc m:val="centerGroup"/></m:oMathParaPr><m:oMath xmlns:m="http://schemas.openxmlformats.org/officeDocument/2006/math"><m:sSub><m:sSubPr><m:ctrlPr><a:rPr lang="es-AR" sz="1400" i="1" smtClean="0"><a:solidFill><a:schemeClr val="tx1"/></a:solidFill><a:latin typeface="Cambria Math" panose="02040503050406030204" pitchFamily="18" charset="0"/></a:rPr></m:ctrlPr></m:sSubPr><m:e><m:r><a:rPr lang="es-AR" sz="1400" i="1"><a:solidFill><a:schemeClr val="tx1"/></a:solidFill><a:latin typeface="Cambria Math" panose="02040503050406030204" pitchFamily="18" charset="0"/></a:rPr><m:t>𝑅</m:t></m:r></m:e><m:sub><m:r><a:rPr lang="es-AR" sz="1400" i="1"><a:solidFill><a:schemeClr val="tx1"/></a:solidFill><a:latin typeface="Cambria Math" panose="02040503050406030204" pitchFamily="18" charset="0"/></a:rPr><m:t>𝑠</m:t></m:r></m:sub></m:sSub><m:d><m:dPr><m:ctrlPr><a:rPr lang="es-AR" sz="1400" i="1"><a:solidFill><a:schemeClr val="tx1"/></a:solidFill><a:latin typeface="Cambria Math" panose="02040503050406030204" pitchFamily="18" charset="0"/></a:rPr></m:ctrlPr></m:dPr><m:e><m:sSubSup><m:sSubSupPr><m:ctrlPr><a:rPr lang="es-AR" sz="1400" i="1"><a:latin typeface="Cambria Math" panose="02040503050406030204" pitchFamily="18" charset="0"/></a:rPr></m:ctrlPr></m:sSubSupPr><m:e><m:r><a:rPr lang="es-AR" sz="1400" i="1"><a:latin typeface="Cambria Math" panose="02040503050406030204" pitchFamily="18" charset="0"/><a:ea typeface="Calibri" panose="020F0502020204030204" pitchFamily="34" charset="0"/><a:cs typeface="Times New Roman" panose="02020603050405020304" pitchFamily="18" charset="0"/></a:rPr><m:t>𝑇</m:t></m:r></m:e><m:sub><m:r><a:rPr lang="es-AR" sz="1400" i="1"><a:latin typeface="Cambria Math" panose="02040503050406030204" pitchFamily="18" charset="0"/><a:ea typeface="Calibri" panose="020F0502020204030204" pitchFamily="34" charset="0"/><a:cs typeface="Times New Roman" panose="02020603050405020304" pitchFamily="18" charset="0"/></a:rPr><m:t>𝑠</m:t></m:r></m:sub><m:sup><m:r><a:rPr lang="es-AR" sz="1400" i="1"><a:latin typeface="Cambria Math" panose="02040503050406030204" pitchFamily="18" charset="0"/><a:ea typeface="Calibri" panose="020F0502020204030204" pitchFamily="34" charset="0"/><a:cs typeface="Times New Roman" panose="02020603050405020304" pitchFamily="18" charset="0"/></a:rPr><m:t>𝑜</m:t></m:r></m:sup></m:sSubSup><m:d><m:dPr><m:ctrlPr><a:rPr lang="es-AR" sz="1400" i="1"><a:latin typeface="Cambria Math" panose="02040503050406030204" pitchFamily="18" charset="0"/></a:rPr></m:ctrlPr></m:dPr><m:e><m:r><a:rPr lang="es-AR" sz="1400" i="1"><a:latin typeface="Cambria Math" panose="02040503050406030204" pitchFamily="18" charset="0"/></a:rPr><m:t>𝑡</m:t></m:r></m:e></m:d></m:e></m:d><m:r><a:rPr lang="es-AR" sz="1400"><a:solidFill><a:schemeClr val="tx1"/></a:solidFill><a:latin typeface="Cambria Math" panose="02040503050406030204" pitchFamily="18" charset="0"/></a:rPr><m:t>=</m:t></m:r><m:sSub><m:sSubPr><m:ctrlPr><a:rPr lang="es-AR" sz="1400" i="1"><a:solidFill><a:schemeClr val="tx1"/></a:solidFill><a:latin typeface="Cambria Math" panose="02040503050406030204" pitchFamily="18" charset="0"/></a:rPr></m:ctrlPr></m:sSubPr><m:e><m:r><a:rPr lang="es-AR" sz="1400" i="1"><a:solidFill><a:schemeClr val="tx1"/></a:solidFill><a:latin typeface="Cambria Math" panose="02040503050406030204" pitchFamily="18" charset="0"/></a:rPr><m:t>𝑅</m:t></m:r></m:e><m:sub><m:r><a:rPr lang="es-AR" sz="1400" i="1"><a:solidFill><a:schemeClr val="tx1"/></a:solidFill><a:latin typeface="Cambria Math" panose="02040503050406030204" pitchFamily="18" charset="0"/></a:rPr><m:t>𝑠𝑅𝐸𝐹</m:t></m:r></m:sub></m:sSub><m:d><m:dPr><m:ctrlPr><a:rPr lang="es-AR" sz="1400" i="1"><a:solidFill><a:schemeClr val="tx1"/></a:solidFill><a:latin typeface="Cambria Math" panose="02040503050406030204" pitchFamily="18" charset="0"/></a:rPr></m:ctrlPr></m:dPr><m:e><m:r><a:rPr lang="es-AR" sz="1400"><a:solidFill><a:schemeClr val="tx1"/></a:solidFill><a:latin typeface="Cambria Math" panose="02040503050406030204" pitchFamily="18" charset="0"/></a:rPr><m:t>1</m:t></m:r><m:r><a:rPr lang="es-AR" sz="1400"><a:solidFill><a:schemeClr val="tx1"/></a:solidFill><a:latin typeface="Cambria Math" panose="02040503050406030204" pitchFamily="18" charset="0"/></a:rPr><m:t>+</m:t></m:r><m:sSub><m:sSubPr><m:ctrlPr><a:rPr lang="es-AR" sz="1400" i="1"><a:solidFill><a:schemeClr val="tx1"/></a:solidFill><a:latin typeface="Cambria Math" panose="02040503050406030204" pitchFamily="18" charset="0"/></a:rPr></m:ctrlPr></m:sSubPr><m:e><m:r><a:rPr lang="es-AR" sz="1400" i="1"><a:solidFill><a:schemeClr val="tx1"/></a:solidFill><a:latin typeface="Cambria Math" panose="02040503050406030204" pitchFamily="18" charset="0"/></a:rPr><m:t>𝛼</m:t></m:r></m:e><m:sub><m:r><a:rPr lang="es-AR" sz="1400" i="1"><a:solidFill><a:schemeClr val="tx1"/></a:solidFill><a:latin typeface="Cambria Math" panose="02040503050406030204" pitchFamily="18" charset="0"/></a:rPr><m:t>𝑐𝑢</m:t></m:r></m:sub></m:sSub><m:d><m:dPr><m:ctrlPr><a:rPr lang="es-AR" sz="1400" i="1"><a:solidFill><a:schemeClr val="tx1"/></a:solidFill><a:latin typeface="Cambria Math" panose="02040503050406030204" pitchFamily="18" charset="0"/></a:rPr></m:ctrlPr></m:dPr><m:e><m:sSubSup><m:sSubSupPr><m:ctrlPr><a:rPr lang="es-AR" sz="1400" i="1"><a:latin typeface="Cambria Math" panose="02040503050406030204" pitchFamily="18" charset="0"/></a:rPr></m:ctrlPr></m:sSubSupPr><m:e><m:r><a:rPr lang="es-AR" sz="1400" i="1"><a:latin typeface="Cambria Math" panose="02040503050406030204" pitchFamily="18" charset="0"/><a:ea typeface="Calibri" panose="020F0502020204030204" pitchFamily="34" charset="0"/><a:cs typeface="Times New Roman" panose="02020603050405020304" pitchFamily="18" charset="0"/></a:rPr><m:t>𝑇</m:t></m:r></m:e><m:sub><m:r><a:rPr lang="es-AR" sz="1400" i="1"><a:latin typeface="Cambria Math" panose="02040503050406030204" pitchFamily="18" charset="0"/><a:ea typeface="Calibri" panose="020F0502020204030204" pitchFamily="34" charset="0"/><a:cs typeface="Times New Roman" panose="02020603050405020304" pitchFamily="18" charset="0"/></a:rPr><m:t>𝑠</m:t></m:r></m:sub><m:sup><m:r><a:rPr lang="es-AR" sz="1400" i="1"><a:latin typeface="Cambria Math" panose="02040503050406030204" pitchFamily="18" charset="0"/><a:ea typeface="Calibri" panose="020F0502020204030204" pitchFamily="34" charset="0"/><a:cs typeface="Times New Roman" panose="02020603050405020304" pitchFamily="18" charset="0"/></a:rPr><m:t>𝑜</m:t></m:r></m:sup></m:sSubSup><m:d><m:dPr><m:ctrlPr><a:rPr lang="es-AR" sz="1400" i="1"><a:latin typeface="Cambria Math" panose="02040503050406030204" pitchFamily="18" charset="0"/></a:rPr></m:ctrlPr></m:dPr><m:e><m:r><a:rPr lang="es-AR" sz="1400" i="1"><a:latin typeface="Cambria Math" panose="02040503050406030204" pitchFamily="18" charset="0"/></a:rPr><m:t>𝑡</m:t></m:r></m:e></m:d><m:r><a:rPr lang="es-AR" sz="1400"><a:solidFill><a:schemeClr val="tx1"/></a:solidFill><a:latin typeface="Cambria Math" panose="02040503050406030204" pitchFamily="18" charset="0"/></a:rPr><m:t>−</m:t></m:r><m:sSub><m:sSubPr><m:ctrlPr><a:rPr lang="es-AR" sz="1400" i="1"><a:solidFill><a:schemeClr val="tx1"/></a:solidFill><a:latin typeface="Cambria Math" panose="02040503050406030204" pitchFamily="18" charset="0"/></a:rPr></m:ctrlPr></m:sSubPr><m:e><m:r><a:rPr lang="es-AR" sz="1400" i="1"><a:solidFill><a:schemeClr val="tx1"/></a:solidFill><a:latin typeface="Cambria Math" panose="02040503050406030204" pitchFamily="18" charset="0"/></a:rPr><m:t>𝑇</m:t></m:r></m:e><m:sub><m:r><a:rPr lang="es-AR" sz="1400" i="1"><a:solidFill><a:schemeClr val="tx1"/></a:solidFill><a:latin typeface="Cambria Math" panose="02040503050406030204" pitchFamily="18" charset="0"/></a:rPr><m:t>𝑠𝑅𝐸𝐹</m:t></m:r></m:sub></m:sSub><m:d><m:dPr><m:ctrlPr><a:rPr lang="es-AR" sz="1400" i="1"><a:solidFill><a:schemeClr val="tx1"/></a:solidFill><a:latin typeface="Cambria Math" panose="02040503050406030204" pitchFamily="18" charset="0"/></a:rPr></m:ctrlPr></m:dPr><m:e><m:r><a:rPr lang="es-AR" sz="1400" i="1"><a:solidFill><a:schemeClr val="tx1"/></a:solidFill><a:latin typeface="Cambria Math" panose="02040503050406030204" pitchFamily="18" charset="0"/></a:rPr><m:t>𝑡</m:t></m:r></m:e></m:d></m:e></m:d></m:e></m:d></m:oMath></m:oMathPara></a14:m><a:endParaRPr lang="es-AR" sz="1400" dirty="0"/></a:p></p:txBody></p:sp></mc:Choice><mc:Fallback><p:sp><p:nvSpPr><p:cNvPr id="12" name="CuadroTexto 11"><a:extLst><a:ext uri="{FF2B5EF4-FFF2-40B4-BE49-F238E27FC236}"><a16:creationId xmlns:a16="http://schemas.microsoft.com/office/drawing/2014/main" id="{1088608A-F160-484D-B45A-1CB17693E28C}"/></a:ext></a:extLst></p:cNvPr><p:cNvSpPr txBox="1"><a:spLocks noRot="1" noChangeAspect="1" noMove="1" noResize="1" noEditPoints="1" noAdjustHandles="1" noChangeArrowheads="1" noChangeShapeType="1" noTextEdit="1"/></p:cNvSpPr><p:nvPr/></p:nvSpPr><p:spPr><a:xfrm><a:off x="6080760" y="3636495"/><a:ext cx="6107184" cy="414729"/></a:xfrm><a:prstGeom prst="rect"><a:avLst/></a:prstGeom><a:blipFill><a:blip r:embed="rId5"/><a:stretch><a:fillRect/></a:stretch></a:blipFill></p:spPr><p:txBody><a:bodyPr/><a:lstStyle/><a:p><a:r><a:rPr lang="es-AR"><a:noFill/></a:rPr><a:t> </a:t></a:r></a:p></p:txBody></p:sp></mc:Fallback></mc:AlternateContent></p:spTree><p:extLst><p:ext uri="{BB962C8B-B14F-4D97-AF65-F5344CB8AC3E}"><p14:creationId xmlns:p14="http://schemas.microsoft.com/office/powerpoint/2010/main" val="3356624684"/></p:ext></p:extLst></p:cSld><p:clrMapOvr><a:masterClrMapping/></p:clrMapOvr></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err="1">
                <a:solidFill>
                  <a:srgbClr val="FFFFFF"/>
                </a:solidFill>
                <a:latin typeface="Calibri" pitchFamily="34" charset="0"/>
                <a:ea typeface="Calibri" pitchFamily="34" charset="-122"/>
                <a:cs typeface="Calibri" pitchFamily="34" charset="-120"/>
              </a:rPr>
              <a:t>Modelo</a:t>
            </a:r>
            <a:r>
              <a:rPr lang="en-US" sz="1900" b="1" dirty="0">
                <a:solidFill>
                  <a:srgbClr val="FFFFFF"/>
                </a:solidFill>
                <a:latin typeface="Calibri" pitchFamily="34" charset="0"/>
                <a:ea typeface="Calibri" pitchFamily="34" charset="-122"/>
                <a:cs typeface="Calibri" pitchFamily="34" charset="-120"/>
              </a:rPr>
              <a:t> global no lineal</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5" name="Text 13"/>
          <p:cNvSpPr/>
          <p:nvPr/>
        </p:nvSpPr>
        <p:spPr>
          <a:xfrm>
            <a:off x="472440" y="5246475"/>
            <a:ext cx="11247120" cy="1254993"/>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7 — Diagrama de bloques Simulink del sistema físico completo</a:t>
            </a:r>
            <a:endParaRPr lang="en-US" sz="1100" dirty="0"/>
          </a:p>
        </p:txBody>
      </p:sp>
      <p:pic>
        <p:nvPicPr>
          <p:cNvPr id="10" name="Imagen 9">
            <a:extLst>
              <a:ext uri="{FF2B5EF4-FFF2-40B4-BE49-F238E27FC236}">
                <a16:creationId xmlns:a16="http://schemas.microsoft.com/office/drawing/2014/main" id="{7DC8590B-E34D-4A07-9DEB-703B9252A1B0}"/>
              </a:ext>
            </a:extLst>
          </p:cNvPr>
          <p:cNvPicPr>
            <a:picLocks noChangeAspect="1"/>
          </p:cNvPicPr>
          <p:nvPr/>
        </p:nvPicPr>
        <p:blipFill>
          <a:blip r:embed="rId2"/>
          <a:stretch>
            <a:fillRect/>
          </a:stretch>
        </p:blipFill>
        <p:spPr>
          <a:xfrm>
            <a:off x="1077227" y="793314"/>
            <a:ext cx="10594134" cy="4923906"/>
          </a:xfrm>
          <a:prstGeom prst="rect">
            <a:avLst/>
          </a:prstGeom>
        </p:spPr>
      </p:pic>
    </p:spTree>
    <p:extLst>
      <p:ext uri="{BB962C8B-B14F-4D97-AF65-F5344CB8AC3E}">
        <p14:creationId xmlns:p14="http://schemas.microsoft.com/office/powerpoint/2010/main" val="24367797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err="1">
                <a:solidFill>
                  <a:srgbClr val="FFFFFF"/>
                </a:solidFill>
                <a:latin typeface="Cambria" pitchFamily="34" charset="0"/>
                <a:ea typeface="Cambria" pitchFamily="34" charset="-122"/>
                <a:cs typeface="Cambria" pitchFamily="34" charset="-120"/>
              </a:rPr>
              <a:t>Modelo</a:t>
            </a:r>
            <a:r>
              <a:rPr lang="en-US" sz="3400" b="1" dirty="0">
                <a:solidFill>
                  <a:srgbClr val="FFFFFF"/>
                </a:solidFill>
                <a:latin typeface="Cambria" pitchFamily="34" charset="0"/>
                <a:ea typeface="Cambria" pitchFamily="34" charset="-122"/>
                <a:cs typeface="Cambria" pitchFamily="34" charset="-120"/>
              </a:rPr>
              <a:t> LTI equivalente y análisis</a:t>
            </a:r>
            <a:endParaRPr lang="en-US" sz="3400" dirty="0"/>
          </a:p>
        </p:txBody>
      </p:sp>
      <p:sp>
        <p:nvSpPr>
          <p:cNvPr id="6" name="Shape 4"/>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jacobiana — Modelo LPV</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sp>
            <p:nvSpPr>
              <p:cNvPr id="7" name="Text 5"/>
              <p:cNvSpPr/>
              <p:nvPr/>
            </p:nvSpPr>
            <p:spPr>
              <a:xfrm>
                <a:off x="91440" y="677772"/>
                <a:ext cx="11978640" cy="785384"/>
              </a:xfrm>
              <a:prstGeom prst="rect">
                <a:avLst/>
              </a:prstGeom>
              <a:noFill/>
              <a:ln/>
            </p:spPr>
            <p:txBody>
              <a:bodyPr wrap="square" rtlCol="0" anchor="t"/>
              <a:lstStyle/>
              <a:p>
                <a:r>
                  <a:rPr lang="es-AR" sz="1400" dirty="0">
                    <a:solidFill>
                      <a:srgbClr val="111111"/>
                    </a:solidFill>
                    <a:latin typeface="Calibri" pitchFamily="34" charset="0"/>
                    <a:ea typeface="Calibri" pitchFamily="34" charset="-122"/>
                    <a:cs typeface="Calibri" pitchFamily="34" charset="-120"/>
                  </a:rPr>
                  <a:t>El sistema es no lineal por acoplamientos entre variables de estado y entre ejes </a:t>
                </a:r>
                <a14:m>
                  <m:oMath xmlns:m="http://schemas.openxmlformats.org/officeDocument/2006/math">
                    <m:r>
                      <a:rPr lang="es-AR" sz="1400" i="1" smtClean="0">
                        <a:solidFill>
                          <a:srgbClr val="111111"/>
                        </a:solidFill>
                        <a:latin typeface="Cambria Math" panose="02040503050406030204" pitchFamily="18" charset="0"/>
                        <a:ea typeface="Calibri" pitchFamily="34" charset="-122"/>
                        <a:cs typeface="Calibri" pitchFamily="34" charset="-120"/>
                      </a:rPr>
                      <m:t>𝑑</m:t>
                    </m:r>
                    <m:r>
                      <a:rPr lang="es-AR" sz="1400" i="1" smtClean="0">
                        <a:solidFill>
                          <a:srgbClr val="111111"/>
                        </a:solidFill>
                        <a:latin typeface="Cambria Math" panose="02040503050406030204" pitchFamily="18" charset="0"/>
                        <a:ea typeface="Calibri" pitchFamily="34" charset="-122"/>
                        <a:cs typeface="Calibri" pitchFamily="34" charset="-120"/>
                      </a:rPr>
                      <m:t>−</m:t>
                    </m:r>
                    <m:r>
                      <a:rPr lang="es-AR" sz="1400" i="1" smtClean="0">
                        <a:solidFill>
                          <a:srgbClr val="111111"/>
                        </a:solidFill>
                        <a:latin typeface="Cambria Math" panose="02040503050406030204" pitchFamily="18" charset="0"/>
                        <a:ea typeface="Calibri" pitchFamily="34" charset="-122"/>
                        <a:cs typeface="Calibri" pitchFamily="34" charset="-120"/>
                      </a:rPr>
                      <m:t>𝑞</m:t>
                    </m:r>
                  </m:oMath>
                </a14:m>
                <a:r>
                  <a:rPr lang="es-AR" sz="1400" dirty="0">
                    <a:solidFill>
                      <a:srgbClr val="111111"/>
                    </a:solidFill>
                    <a:latin typeface="Calibri" pitchFamily="34" charset="0"/>
                    <a:ea typeface="Calibri" pitchFamily="34" charset="-122"/>
                    <a:cs typeface="Calibri" pitchFamily="34" charset="-120"/>
                  </a:rPr>
                  <a:t>. </a:t>
                </a:r>
                <a:r>
                  <a:rPr lang="es-AR" sz="1400" dirty="0"/>
                  <a:t>De manera general, un sistema dinámico no lineal puede describirse mediante un conjunto de ecuaciones diferenciales, donde la dinámica está representada por una función vectorial </a:t>
                </a:r>
                <a14:m>
                  <m:oMath xmlns:m="http://schemas.openxmlformats.org/officeDocument/2006/math">
                    <m:r>
                      <a:rPr lang="es-AR" sz="1400" i="1">
                        <a:latin typeface="Cambria Math" panose="02040503050406030204" pitchFamily="18" charset="0"/>
                      </a:rPr>
                      <m:t>𝑓</m:t>
                    </m:r>
                  </m:oMath>
                </a14:m>
                <a:r>
                  <a:rPr lang="es-AR" sz="1400" dirty="0"/>
                  <a:t>, dependiente del vector de estado </a:t>
                </a:r>
                <a14:m>
                  <m:oMath xmlns:m="http://schemas.openxmlformats.org/officeDocument/2006/math">
                    <m:r>
                      <a:rPr lang="es-AR" sz="1400" i="1">
                        <a:latin typeface="Cambria Math" panose="02040503050406030204" pitchFamily="18" charset="0"/>
                      </a:rPr>
                      <m:t>𝑥</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y de la entrada de control </a:t>
                </a:r>
                <a14:m>
                  <m:oMath xmlns:m="http://schemas.openxmlformats.org/officeDocument/2006/math">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La salida del sistema se considera, en este caso, como una combinación lineal de las variables de estado.</a:t>
                </a:r>
              </a:p>
              <a:p>
                <a:br>
                  <a:rPr lang="en-US" sz="1300" dirty="0">
                    <a:solidFill>
                      <a:srgbClr val="111111"/>
                    </a:solidFill>
                    <a:latin typeface="Calibri" pitchFamily="34" charset="0"/>
                    <a:ea typeface="Calibri" pitchFamily="34" charset="-122"/>
                    <a:cs typeface="Calibri" pitchFamily="34" charset="-120"/>
                  </a:rPr>
                </a:br>
                <a:endParaRPr lang="en-US" sz="1300" dirty="0"/>
              </a:p>
            </p:txBody>
          </p:sp>
        </mc:Choice>
        <mc:Fallback xmlns="">
          <p:sp>
            <p:nvSpPr>
              <p:cNvPr id="7" name="Text 5"/>
              <p:cNvSpPr>
                <a:spLocks noRot="1" noChangeAspect="1" noMove="1" noResize="1" noEditPoints="1" noAdjustHandles="1" noChangeArrowheads="1" noChangeShapeType="1" noTextEdit="1"/>
              </p:cNvSpPr>
              <p:nvPr/>
            </p:nvSpPr>
            <p:spPr>
              <a:xfrm>
                <a:off x="91440" y="677772"/>
                <a:ext cx="11978640" cy="785384"/>
              </a:xfrm>
              <a:prstGeom prst="rect">
                <a:avLst/>
              </a:prstGeom>
              <a:blipFill>
                <a:blip r:embed="rId2"/>
                <a:stretch>
                  <a:fillRect l="-153" t="-1550" r="-153" b="-1550"/>
                </a:stretch>
              </a:blipFill>
              <a:ln/>
            </p:spPr>
            <p:txBody>
              <a:bodyPr/>
              <a:lstStyle/>
              <a:p>
                <a:r>
                  <a:rPr lang="es-AR">
                    <a:noFill/>
                  </a:rPr>
                  <a:t> </a:t>
                </a:r>
              </a:p>
            </p:txBody>
          </p:sp>
        </mc:Fallback>
      </mc:AlternateContent>
      <p:sp>
        <p:nvSpPr>
          <p:cNvPr id="8" name="Shape 6"/>
          <p:cNvSpPr/>
          <p:nvPr/>
        </p:nvSpPr>
        <p:spPr>
          <a:xfrm>
            <a:off x="127543" y="2482774"/>
            <a:ext cx="9144000" cy="530352"/>
          </a:xfrm>
          <a:prstGeom prst="rect">
            <a:avLst/>
          </a:prstGeom>
          <a:solidFill>
            <a:srgbClr val="FFF8E8"/>
          </a:solidFill>
          <a:ln w="19050">
            <a:solidFill>
              <a:srgbClr val="DDAA00"/>
            </a:solidFill>
            <a:prstDash val="solid"/>
          </a:ln>
        </p:spPr>
      </p:sp>
      <mc:AlternateContent xmlns:mc="http://schemas.openxmlformats.org/markup-compatibility/2006">
        <mc:Choice xmlns:a14="http://schemas.microsoft.com/office/drawing/2010/main" Requires="a14">
          <p:sp>
            <p:nvSpPr>
              <p:cNvPr id="9" name="Text 7"/>
              <p:cNvSpPr/>
              <p:nvPr/>
            </p:nvSpPr>
            <p:spPr>
              <a:xfrm>
                <a:off x="-319597" y="2469105"/>
                <a:ext cx="2936289"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r>
                        <a:rPr lang="es-AR" sz="1600" i="1" smtClean="0">
                          <a:effectLst/>
                          <a:latin typeface="Cambria Math" panose="02040503050406030204" pitchFamily="18" charset="0"/>
                          <a:ea typeface="Calibri" panose="020F0502020204030204" pitchFamily="34" charset="0"/>
                          <a:cs typeface="Calibri" panose="020F0502020204030204" pitchFamily="34" charset="0"/>
                        </a:rPr>
                        <m:t>𝑧</m:t>
                      </m:r>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𝑍</m:t>
                          </m:r>
                        </m:e>
                        <m:sub>
                          <m:r>
                            <a:rPr lang="es-AR" sz="1600" i="1">
                              <a:effectLst/>
                              <a:latin typeface="Cambria Math" panose="02040503050406030204" pitchFamily="18" charset="0"/>
                              <a:ea typeface="Calibri" panose="020F0502020204030204" pitchFamily="34" charset="0"/>
                              <a:cs typeface="Calibri" panose="020F0502020204030204" pitchFamily="34" charset="0"/>
                            </a:rPr>
                            <m:t>0</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r>
                        <m:rPr>
                          <m:sty m:val="p"/>
                        </m:rPr>
                        <a:rPr lang="es-AR" sz="1600">
                          <a:effectLst/>
                          <a:latin typeface="Cambria Math" panose="02040503050406030204" pitchFamily="18" charset="0"/>
                          <a:ea typeface="Calibri" panose="020F0502020204030204" pitchFamily="34" charset="0"/>
                          <a:cs typeface="Calibri" panose="020F0502020204030204" pitchFamily="34" charset="0"/>
                        </a:rPr>
                        <m:t>Δ</m:t>
                      </m:r>
                      <m:r>
                        <a:rPr lang="es-AR" sz="1600" i="1">
                          <a:effectLst/>
                          <a:latin typeface="Cambria Math" panose="02040503050406030204" pitchFamily="18" charset="0"/>
                          <a:ea typeface="Calibri" panose="020F0502020204030204" pitchFamily="34" charset="0"/>
                          <a:cs typeface="Calibri" panose="020F0502020204030204" pitchFamily="34" charset="0"/>
                        </a:rPr>
                        <m:t>𝑧</m:t>
                      </m:r>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n-US" sz="1100" dirty="0"/>
              </a:p>
            </p:txBody>
          </p:sp>
        </mc:Choice>
        <mc:Fallback>
          <p:sp>
            <p:nvSpPr>
              <p:cNvPr id="9" name="Text 7"/>
              <p:cNvSpPr>
                <a:spLocks noRot="1" noChangeAspect="1" noMove="1" noResize="1" noEditPoints="1" noAdjustHandles="1" noChangeArrowheads="1" noChangeShapeType="1" noTextEdit="1"/>
              </p:cNvSpPr>
              <p:nvPr/>
            </p:nvSpPr>
            <p:spPr>
              <a:xfrm>
                <a:off x="-319597" y="2469105"/>
                <a:ext cx="2936289" cy="530352"/>
              </a:xfrm>
              <a:prstGeom prst="rect">
                <a:avLst/>
              </a:prstGeom>
              <a:blipFill>
                <a:blip r:embed="rId3"/>
                <a:stretch>
                  <a:fillRect/>
                </a:stretch>
              </a:blipFill>
              <a:ln/>
            </p:spPr>
            <p:txBody>
              <a:bodyPr/>
              <a:lstStyle/>
              <a:p>
                <a:r>
                  <a:rPr lang="es-AR">
                    <a:noFill/>
                  </a:rPr>
                  <a:t> </a:t>
                </a:r>
              </a:p>
            </p:txBody>
          </p:sp>
        </mc:Fallback>
      </mc:AlternateContent>
      <p:sp>
        <p:nvSpPr>
          <p:cNvPr id="10" name="Text 8"/>
          <p:cNvSpPr/>
          <p:nvPr/>
        </p:nvSpPr>
        <p:spPr>
          <a:xfrm>
            <a:off x="127543" y="3060525"/>
            <a:ext cx="11430000" cy="384048"/>
          </a:xfrm>
          <a:prstGeom prst="rect">
            <a:avLst/>
          </a:prstGeom>
          <a:noFill/>
          <a:ln/>
        </p:spPr>
        <p:txBody>
          <a:bodyPr wrap="square" rtlCol="0" anchor="t"/>
          <a:lstStyle/>
          <a:p>
            <a:pPr marL="0" indent="0" algn="l">
              <a:buNone/>
            </a:pPr>
            <a:r>
              <a:rPr lang="es-AR" sz="1400" dirty="0">
                <a:solidFill>
                  <a:srgbClr val="111111"/>
                </a:solidFill>
                <a:latin typeface="Calibri" pitchFamily="34" charset="0"/>
                <a:ea typeface="Calibri" pitchFamily="34" charset="-122"/>
                <a:cs typeface="Calibri" pitchFamily="34" charset="-120"/>
              </a:rPr>
              <a:t>Entonces, el sistema no lineal queda expresado como: </a:t>
            </a:r>
            <a:endParaRPr lang="es-AR" sz="1400" dirty="0"/>
          </a:p>
        </p:txBody>
      </p:sp>
      <p:sp>
        <p:nvSpPr>
          <p:cNvPr id="18" name="Shape 6">
            <a:extLst>
              <a:ext uri="{FF2B5EF4-FFF2-40B4-BE49-F238E27FC236}">
                <a16:creationId xmlns:a16="http://schemas.microsoft.com/office/drawing/2014/main" id="{BBAC01EC-E856-4860-B292-FF94F5A2DFFA}"/>
              </a:ext>
            </a:extLst>
          </p:cNvPr>
          <p:cNvSpPr/>
          <p:nvPr/>
        </p:nvSpPr>
        <p:spPr>
          <a:xfrm>
            <a:off x="143078" y="3472258"/>
            <a:ext cx="9144000" cy="1059694"/>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9" name="Text 7">
                <a:extLst>
                  <a:ext uri="{FF2B5EF4-FFF2-40B4-BE49-F238E27FC236}">
                    <a16:creationId xmlns:a16="http://schemas.microsoft.com/office/drawing/2014/main" id="{43434609-4479-46CB-A4E2-9F9A2E6B04CF}"/>
                  </a:ext>
                </a:extLst>
              </p:cNvPr>
              <p:cNvSpPr/>
              <p:nvPr/>
            </p:nvSpPr>
            <p:spPr>
              <a:xfrm>
                <a:off x="258636" y="3582142"/>
                <a:ext cx="5593524" cy="815929"/>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600" i="1" smtClean="0">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acc>
                                  <m:accPr>
                                    <m:chr m:val="̇"/>
                                    <m:ctrlPr>
                                      <a:rPr lang="es-AR" sz="1600" i="1">
                                        <a:latin typeface="Cambria Math" panose="02040503050406030204" pitchFamily="18" charset="0"/>
                                      </a:rPr>
                                    </m:ctrlPr>
                                  </m:accPr>
                                  <m:e>
                                    <m:r>
                                      <a:rPr lang="es-AR" sz="1600" i="1">
                                        <a:latin typeface="Cambria Math" panose="02040503050406030204" pitchFamily="18" charset="0"/>
                                      </a:rPr>
                                      <m:t>𝑥</m:t>
                                    </m:r>
                                  </m:e>
                                </m:acc>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𝑋</m:t>
                                        </m:r>
                                      </m:e>
                                    </m:acc>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acc>
                                  <m:accPr>
                                    <m:chr m:val="̇"/>
                                    <m:ctrlPr>
                                      <a:rPr lang="es-AR" sz="1600" i="1">
                                        <a:latin typeface="Cambria Math" panose="02040503050406030204" pitchFamily="18" charset="0"/>
                                      </a:rPr>
                                    </m:ctrlPr>
                                  </m:accPr>
                                  <m:e>
                                    <m:r>
                                      <a:rPr lang="es-AR" sz="1600" i="1">
                                        <a:latin typeface="Cambria Math" panose="02040503050406030204" pitchFamily="18" charset="0"/>
                                      </a:rPr>
                                      <m:t>𝑥</m:t>
                                    </m:r>
                                  </m:e>
                                </m:acc>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𝑓</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 </m:t>
                                        </m:r>
                                        <m:r>
                                          <a:rPr lang="es-AR" sz="1600" i="1">
                                            <a:latin typeface="Cambria Math" panose="02040503050406030204" pitchFamily="18" charset="0"/>
                                          </a:rPr>
                                          <m:t>𝑈</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b="0" i="1" smtClean="0">
                                    <a:latin typeface="Cambria Math" panose="02040503050406030204" pitchFamily="18" charset="0"/>
                                  </a:rPr>
                                  <m:t>           </m:t>
                                </m:r>
                              </m:e>
                            </m:mr>
                            <m:m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𝑥</m:t>
                                    </m:r>
                                  </m:e>
                                  <m:sub>
                                    <m:r>
                                      <a:rPr lang="es-AR" sz="1600" i="1">
                                        <a:latin typeface="Cambria Math" panose="02040503050406030204" pitchFamily="18" charset="0"/>
                                      </a:rPr>
                                      <m:t>0</m:t>
                                    </m:r>
                                  </m:sub>
                                </m:sSub>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𝑥</m:t>
                                    </m:r>
                                  </m:e>
                                  <m:sub>
                                    <m:r>
                                      <a:rPr lang="es-AR" sz="1600" i="1">
                                        <a:latin typeface="Cambria Math" panose="02040503050406030204" pitchFamily="18" charset="0"/>
                                      </a:rPr>
                                      <m:t>0</m:t>
                                    </m:r>
                                  </m:sub>
                                </m:sSub>
                                <m:r>
                                  <a:rPr lang="es-AR" sz="1600" i="1">
                                    <a:latin typeface="Cambria Math" panose="02040503050406030204" pitchFamily="18" charset="0"/>
                                  </a:rPr>
                                  <m:t>,      </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≡0                     </m:t>
                                </m:r>
                              </m:e>
                            </m:mr>
                            <m:mr>
                              <m:e>
                                <m:sSub>
                                  <m:sSubPr>
                                    <m:ctrlPr>
                                      <a:rPr lang="es-AR" sz="1600" i="1">
                                        <a:latin typeface="Cambria Math" panose="02040503050406030204" pitchFamily="18" charset="0"/>
                                      </a:rPr>
                                    </m:ctrlPr>
                                  </m:sSubPr>
                                  <m:e>
                                    <m:r>
                                      <a:rPr lang="es-AR" sz="1600" i="1">
                                        <a:latin typeface="Cambria Math" panose="02040503050406030204" pitchFamily="18" charset="0"/>
                                      </a:rPr>
                                      <m:t>𝑌</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𝑦</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𝐶</m:t>
                                </m:r>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𝐶</m:t>
                                </m:r>
                                <m:r>
                                  <a:rPr lang="es-AR" sz="1600" i="1">
                                    <a:latin typeface="Cambria Math" panose="02040503050406030204" pitchFamily="18" charset="0"/>
                                  </a:rPr>
                                  <m:t> </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b="0" i="1" smtClean="0">
                                    <a:latin typeface="Cambria Math" panose="02040503050406030204" pitchFamily="18" charset="0"/>
                                  </a:rPr>
                                  <m:t>       </m:t>
                                </m:r>
                                <m:r>
                                  <a:rPr lang="es-AR" sz="1600" i="1">
                                    <a:latin typeface="Cambria Math" panose="02040503050406030204" pitchFamily="18" charset="0"/>
                                  </a:rPr>
                                  <m:t>                                                </m:t>
                                </m:r>
                              </m:e>
                            </m:mr>
                          </m:m>
                        </m:e>
                      </m:d>
                    </m:oMath>
                  </m:oMathPara>
                </a14:m>
                <a:endParaRPr lang="en-US" sz="1100" dirty="0"/>
              </a:p>
            </p:txBody>
          </p:sp>
        </mc:Choice>
        <mc:Fallback xmlns="">
          <p:sp>
            <p:nvSpPr>
              <p:cNvPr id="19" name="Text 7">
                <a:extLst>
                  <a:ext uri="{FF2B5EF4-FFF2-40B4-BE49-F238E27FC236}">
                    <a16:creationId xmlns:a16="http://schemas.microsoft.com/office/drawing/2014/main" id="{43434609-4479-46CB-A4E2-9F9A2E6B04CF}"/>
                  </a:ext>
                </a:extLst>
              </p:cNvPr>
              <p:cNvSpPr>
                <a:spLocks noRot="1" noChangeAspect="1" noMove="1" noResize="1" noEditPoints="1" noAdjustHandles="1" noChangeArrowheads="1" noChangeShapeType="1" noTextEdit="1"/>
              </p:cNvSpPr>
              <p:nvPr/>
            </p:nvSpPr>
            <p:spPr>
              <a:xfrm>
                <a:off x="258636" y="3582142"/>
                <a:ext cx="5593524" cy="815929"/>
              </a:xfrm>
              <a:prstGeom prst="rect">
                <a:avLst/>
              </a:prstGeom>
              <a:blipFill>
                <a:blip r:embed="rId4"/>
                <a:stretch>
                  <a:fillRect t="-752" b="-6015"/>
                </a:stretch>
              </a:blipFill>
              <a:ln/>
            </p:spPr>
            <p:txBody>
              <a:bodyPr/>
              <a:lstStyle/>
              <a:p>
                <a:r>
                  <a:rPr lang="es-AR">
                    <a:noFill/>
                  </a:rPr>
                  <a:t> </a:t>
                </a:r>
              </a:p>
            </p:txBody>
          </p:sp>
        </mc:Fallback>
      </mc:AlternateContent>
      <p:sp>
        <p:nvSpPr>
          <p:cNvPr id="21" name="CuadroTexto 20">
            <a:extLst>
              <a:ext uri="{FF2B5EF4-FFF2-40B4-BE49-F238E27FC236}">
                <a16:creationId xmlns:a16="http://schemas.microsoft.com/office/drawing/2014/main" id="{22247350-CC90-462B-9096-1174407C4704}"/>
              </a:ext>
            </a:extLst>
          </p:cNvPr>
          <p:cNvSpPr txBox="1"/>
          <p:nvPr/>
        </p:nvSpPr>
        <p:spPr>
          <a:xfrm>
            <a:off x="127543" y="4628082"/>
            <a:ext cx="6098796" cy="312650"/>
          </a:xfrm>
          <a:prstGeom prst="rect">
            <a:avLst/>
          </a:prstGeom>
          <a:noFill/>
        </p:spPr>
        <p:txBody>
          <a:bodyPr wrap="square">
            <a:spAutoFit/>
          </a:bodyPr>
          <a:lstStyle/>
          <a:p>
            <a:pPr algn="just">
              <a:lnSpc>
                <a:spcPct val="107000"/>
              </a:lnSpc>
              <a:spcBef>
                <a:spcPts val="600"/>
              </a:spcBef>
              <a:spcAft>
                <a:spcPts val="600"/>
              </a:spcAft>
            </a:pPr>
            <a:r>
              <a:rPr lang="es-AR" sz="1400" dirty="0">
                <a:effectLst/>
                <a:latin typeface="Calibri" panose="020F0502020204030204" pitchFamily="34" charset="0"/>
                <a:ea typeface="Calibri" panose="020F0502020204030204" pitchFamily="34" charset="0"/>
                <a:cs typeface="Calibri" panose="020F0502020204030204" pitchFamily="34" charset="0"/>
              </a:rPr>
              <a:t>Aproximando mediante serie de Taylor truncada a 1° orden:</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Shape 6">
            <a:extLst>
              <a:ext uri="{FF2B5EF4-FFF2-40B4-BE49-F238E27FC236}">
                <a16:creationId xmlns:a16="http://schemas.microsoft.com/office/drawing/2014/main" id="{60D09976-D798-4B9D-9F75-CB50CE19CC44}"/>
              </a:ext>
            </a:extLst>
          </p:cNvPr>
          <p:cNvSpPr/>
          <p:nvPr/>
        </p:nvSpPr>
        <p:spPr>
          <a:xfrm>
            <a:off x="143078" y="4976203"/>
            <a:ext cx="9144000" cy="728709"/>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3" name="Text 7">
                <a:extLst>
                  <a:ext uri="{FF2B5EF4-FFF2-40B4-BE49-F238E27FC236}">
                    <a16:creationId xmlns:a16="http://schemas.microsoft.com/office/drawing/2014/main" id="{03D3DAA2-D292-4B97-81CA-1484AD1CF633}"/>
                  </a:ext>
                </a:extLst>
              </p:cNvPr>
              <p:cNvSpPr/>
              <p:nvPr/>
            </p:nvSpPr>
            <p:spPr>
              <a:xfrm>
                <a:off x="234518" y="5049759"/>
                <a:ext cx="8961120"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s-AR" sz="1600" i="1">
                          <a:latin typeface="Cambria Math" panose="02040503050406030204" pitchFamily="18" charset="0"/>
                        </a:rPr>
                        <m:t>𝑓</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𝑈</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a:latin typeface="Cambria Math" panose="02040503050406030204" pitchFamily="18" charset="0"/>
                        </a:rPr>
                        <m:t>≈</m:t>
                      </m:r>
                      <m:r>
                        <a:rPr lang="es-AR" sz="1600" i="1">
                          <a:latin typeface="Cambria Math" panose="02040503050406030204" pitchFamily="18" charset="0"/>
                        </a:rPr>
                        <m:t>𝑓</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𝑈</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i="1">
                          <a:latin typeface="Cambria Math" panose="02040503050406030204" pitchFamily="18" charset="0"/>
                        </a:rPr>
                        <m:t>+</m:t>
                      </m:r>
                      <m:sSub>
                        <m:sSubPr>
                          <m:ctrlPr>
                            <a:rPr lang="es-AR" sz="1600" i="1">
                              <a:latin typeface="Cambria Math" panose="02040503050406030204" pitchFamily="18" charset="0"/>
                            </a:rPr>
                          </m:ctrlPr>
                        </m:sSubPr>
                        <m:e>
                          <m:d>
                            <m:dPr>
                              <m:begChr m:val=""/>
                              <m:endChr m:val="|"/>
                              <m:ctrlPr>
                                <a:rPr lang="es-AR" sz="1600" i="1">
                                  <a:latin typeface="Cambria Math" panose="02040503050406030204" pitchFamily="18" charset="0"/>
                                </a:rPr>
                              </m:ctrlPr>
                            </m:dPr>
                            <m:e>
                              <m:f>
                                <m:fPr>
                                  <m:ctrlPr>
                                    <a:rPr lang="es-AR" sz="1600" i="1">
                                      <a:latin typeface="Cambria Math" panose="02040503050406030204" pitchFamily="18" charset="0"/>
                                    </a:rPr>
                                  </m:ctrlPr>
                                </m:fPr>
                                <m:num>
                                  <m:r>
                                    <a:rPr lang="es-AR" sz="1600" i="1">
                                      <a:latin typeface="Cambria Math" panose="02040503050406030204" pitchFamily="18" charset="0"/>
                                    </a:rPr>
                                    <m:t>𝜕</m:t>
                                  </m:r>
                                  <m:r>
                                    <a:rPr lang="es-AR" sz="1600" i="1">
                                      <a:latin typeface="Cambria Math" panose="02040503050406030204" pitchFamily="18" charset="0"/>
                                    </a:rPr>
                                    <m:t>𝑓</m:t>
                                  </m:r>
                                </m:num>
                                <m:den>
                                  <m:r>
                                    <a:rPr lang="es-AR" sz="1600" i="1">
                                      <a:latin typeface="Cambria Math" panose="02040503050406030204" pitchFamily="18" charset="0"/>
                                    </a:rPr>
                                    <m:t>𝜕</m:t>
                                  </m:r>
                                  <m:r>
                                    <a:rPr lang="es-AR" sz="1600" i="1">
                                      <a:latin typeface="Cambria Math" panose="02040503050406030204" pitchFamily="18" charset="0"/>
                                    </a:rPr>
                                    <m:t>𝑥</m:t>
                                  </m:r>
                                </m:den>
                              </m:f>
                            </m:e>
                          </m:d>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d>
                            <m:dPr>
                              <m:begChr m:val=""/>
                              <m:endChr m:val="|"/>
                              <m:ctrlPr>
                                <a:rPr lang="es-AR" sz="1600" i="1">
                                  <a:latin typeface="Cambria Math" panose="02040503050406030204" pitchFamily="18" charset="0"/>
                                </a:rPr>
                              </m:ctrlPr>
                            </m:dPr>
                            <m:e>
                              <m:f>
                                <m:fPr>
                                  <m:ctrlPr>
                                    <a:rPr lang="es-AR" sz="1600" i="1">
                                      <a:latin typeface="Cambria Math" panose="02040503050406030204" pitchFamily="18" charset="0"/>
                                    </a:rPr>
                                  </m:ctrlPr>
                                </m:fPr>
                                <m:num>
                                  <m:r>
                                    <a:rPr lang="es-AR" sz="1600" i="1">
                                      <a:latin typeface="Cambria Math" panose="02040503050406030204" pitchFamily="18" charset="0"/>
                                    </a:rPr>
                                    <m:t>𝜕</m:t>
                                  </m:r>
                                  <m:r>
                                    <a:rPr lang="es-AR" sz="1600" i="1">
                                      <a:latin typeface="Cambria Math" panose="02040503050406030204" pitchFamily="18" charset="0"/>
                                    </a:rPr>
                                    <m:t>𝑓</m:t>
                                  </m:r>
                                </m:num>
                                <m:den>
                                  <m:r>
                                    <a:rPr lang="es-AR" sz="1600" i="1">
                                      <a:latin typeface="Cambria Math" panose="02040503050406030204" pitchFamily="18" charset="0"/>
                                    </a:rPr>
                                    <m:t>𝜕</m:t>
                                  </m:r>
                                  <m:r>
                                    <a:rPr lang="es-AR" sz="1600" i="1">
                                      <a:latin typeface="Cambria Math" panose="02040503050406030204" pitchFamily="18" charset="0"/>
                                    </a:rPr>
                                    <m:t>𝑢</m:t>
                                  </m:r>
                                </m:den>
                              </m:f>
                            </m:e>
                          </m:d>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3" name="Text 7">
                <a:extLst>
                  <a:ext uri="{FF2B5EF4-FFF2-40B4-BE49-F238E27FC236}">
                    <a16:creationId xmlns:a16="http://schemas.microsoft.com/office/drawing/2014/main" id="{03D3DAA2-D292-4B97-81CA-1484AD1CF633}"/>
                  </a:ext>
                </a:extLst>
              </p:cNvPr>
              <p:cNvSpPr>
                <a:spLocks noRot="1" noChangeAspect="1" noMove="1" noResize="1" noEditPoints="1" noAdjustHandles="1" noChangeArrowheads="1" noChangeShapeType="1" noTextEdit="1"/>
              </p:cNvSpPr>
              <p:nvPr/>
            </p:nvSpPr>
            <p:spPr>
              <a:xfrm>
                <a:off x="234518" y="5049759"/>
                <a:ext cx="8961120" cy="530352"/>
              </a:xfrm>
              <a:prstGeom prst="rect">
                <a:avLst/>
              </a:prstGeom>
              <a:blipFill>
                <a:blip r:embed="rId5"/>
                <a:stretch>
                  <a:fillRect b="-4598"/>
                </a:stretch>
              </a:blipFill>
              <a:ln/>
            </p:spPr>
            <p:txBody>
              <a:bodyPr/>
              <a:lstStyle/>
              <a:p>
                <a:r>
                  <a:rPr lang="es-AR">
                    <a:noFill/>
                  </a:rPr>
                  <a:t> </a:t>
                </a:r>
              </a:p>
            </p:txBody>
          </p:sp>
        </mc:Fallback>
      </mc:AlternateContent>
      <p:sp>
        <p:nvSpPr>
          <p:cNvPr id="24" name="CuadroTexto 23">
            <a:extLst>
              <a:ext uri="{FF2B5EF4-FFF2-40B4-BE49-F238E27FC236}">
                <a16:creationId xmlns:a16="http://schemas.microsoft.com/office/drawing/2014/main" id="{8F754313-D02B-4E2E-B80B-F2528F7F7E50}"/>
              </a:ext>
            </a:extLst>
          </p:cNvPr>
          <p:cNvSpPr txBox="1"/>
          <p:nvPr/>
        </p:nvSpPr>
        <p:spPr>
          <a:xfrm>
            <a:off x="127543" y="6000725"/>
            <a:ext cx="6098796" cy="296876"/>
          </a:xfrm>
          <a:prstGeom prst="rect">
            <a:avLst/>
          </a:prstGeom>
          <a:noFill/>
        </p:spPr>
        <p:txBody>
          <a:bodyPr wrap="square">
            <a:spAutoFit/>
          </a:bodyPr>
          <a:lstStyle/>
          <a:p>
            <a:pPr algn="just">
              <a:lnSpc>
                <a:spcPct val="107000"/>
              </a:lnSpc>
              <a:spcBef>
                <a:spcPts val="600"/>
              </a:spcBef>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El modelo puede descomponerse en dos componentes:</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Shape 6">
            <a:extLst>
              <a:ext uri="{FF2B5EF4-FFF2-40B4-BE49-F238E27FC236}">
                <a16:creationId xmlns:a16="http://schemas.microsoft.com/office/drawing/2014/main" id="{38AA6824-F3C0-4639-A0BE-357DF624F043}"/>
              </a:ext>
            </a:extLst>
          </p:cNvPr>
          <p:cNvSpPr/>
          <p:nvPr/>
        </p:nvSpPr>
        <p:spPr>
          <a:xfrm>
            <a:off x="127543" y="1498627"/>
            <a:ext cx="914400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0" name="Text 7">
                <a:extLst>
                  <a:ext uri="{FF2B5EF4-FFF2-40B4-BE49-F238E27FC236}">
                    <a16:creationId xmlns:a16="http://schemas.microsoft.com/office/drawing/2014/main" id="{DA892EF5-3E87-4AFE-BB7C-31BC1FD0C14A}"/>
                  </a:ext>
                </a:extLst>
              </p:cNvPr>
              <p:cNvSpPr/>
              <p:nvPr/>
            </p:nvSpPr>
            <p:spPr>
              <a:xfrm>
                <a:off x="-319597" y="1472537"/>
                <a:ext cx="4074111"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m>
                        <m:mPr>
                          <m:mcs>
                            <m:mc>
                              <m:mcPr>
                                <m:count m:val="1"/>
                                <m:mcJc m:val="center"/>
                              </m:mcPr>
                            </m:mc>
                          </m:mcs>
                          <m:ctrlPr>
                            <a:rPr lang="es-AR" sz="1400" i="1">
                              <a:latin typeface="Cambria Math" panose="02040503050406030204" pitchFamily="18" charset="0"/>
                            </a:rPr>
                          </m:ctrlPr>
                        </m:mPr>
                        <m:m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𝑓</m:t>
                            </m:r>
                            <m:d>
                              <m:dPr>
                                <m:ctrlPr>
                                  <a:rPr lang="es-AR" sz="1400" i="1">
                                    <a:latin typeface="Cambria Math" panose="02040503050406030204" pitchFamily="18" charset="0"/>
                                  </a:rPr>
                                </m:ctrlPr>
                              </m:dPr>
                              <m:e>
                                <m:r>
                                  <a:rPr lang="es-AR" sz="1400" i="1">
                                    <a:latin typeface="Cambria Math" panose="02040503050406030204" pitchFamily="18" charset="0"/>
                                  </a:rPr>
                                  <m:t>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m:t>
                            </m:r>
                            <m:r>
                              <a:rPr lang="es-AR" sz="1400">
                                <a:latin typeface="Cambria Math" panose="02040503050406030204" pitchFamily="18" charset="0"/>
                              </a:rPr>
                              <m:t> </m:t>
                            </m:r>
                            <m:r>
                              <a:rPr lang="es-AR" sz="1400" i="1">
                                <a:latin typeface="Cambria Math" panose="02040503050406030204" pitchFamily="18" charset="0"/>
                              </a:rPr>
                              <m:t>𝑥</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𝑡</m:t>
                                    </m:r>
                                  </m:e>
                                  <m:sub>
                                    <m:r>
                                      <a:rPr lang="es-AR" sz="1400" i="1">
                                        <a:latin typeface="Cambria Math" panose="02040503050406030204" pitchFamily="18" charset="0"/>
                                      </a:rPr>
                                      <m:t>0</m:t>
                                    </m:r>
                                  </m:sub>
                                </m:sSub>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0</m:t>
                                </m:r>
                              </m:sub>
                            </m:sSub>
                          </m:e>
                        </m:mr>
                        <m:mr>
                          <m:e>
                            <m:r>
                              <a:rPr lang="es-AR" sz="1400" i="1">
                                <a:latin typeface="Cambria Math" panose="02040503050406030204" pitchFamily="18" charset="0"/>
                              </a:rPr>
                              <m:t>𝑦</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𝐶𝑥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
                    </m:oMath>
                  </m:oMathPara>
                </a14:m>
                <a:endParaRPr lang="en-US" sz="1400" dirty="0"/>
              </a:p>
            </p:txBody>
          </p:sp>
        </mc:Choice>
        <mc:Fallback xmlns="">
          <p:sp>
            <p:nvSpPr>
              <p:cNvPr id="20" name="Text 7">
                <a:extLst>
                  <a:ext uri="{FF2B5EF4-FFF2-40B4-BE49-F238E27FC236}">
                    <a16:creationId xmlns:a16="http://schemas.microsoft.com/office/drawing/2014/main" id="{DA892EF5-3E87-4AFE-BB7C-31BC1FD0C14A}"/>
                  </a:ext>
                </a:extLst>
              </p:cNvPr>
              <p:cNvSpPr>
                <a:spLocks noRot="1" noChangeAspect="1" noMove="1" noResize="1" noEditPoints="1" noAdjustHandles="1" noChangeArrowheads="1" noChangeShapeType="1" noTextEdit="1"/>
              </p:cNvSpPr>
              <p:nvPr/>
            </p:nvSpPr>
            <p:spPr>
              <a:xfrm>
                <a:off x="-319597" y="1472537"/>
                <a:ext cx="4074111" cy="530352"/>
              </a:xfrm>
              <a:prstGeom prst="rect">
                <a:avLst/>
              </a:prstGeom>
              <a:blipFill>
                <a:blip r:embed="rId6"/>
                <a:stretch>
                  <a:fillRect/>
                </a:stretch>
              </a:blipFill>
              <a:ln/>
            </p:spPr>
            <p:txBody>
              <a:bodyPr/>
              <a:lstStyle/>
              <a:p>
                <a:r>
                  <a:rPr lang="es-AR">
                    <a:noFill/>
                  </a:rPr>
                  <a:t> </a:t>
                </a:r>
              </a:p>
            </p:txBody>
          </p:sp>
        </mc:Fallback>
      </mc:AlternateContent>
      <p:sp>
        <p:nvSpPr>
          <p:cNvPr id="25" name="CuadroTexto 24">
            <a:extLst>
              <a:ext uri="{FF2B5EF4-FFF2-40B4-BE49-F238E27FC236}">
                <a16:creationId xmlns:a16="http://schemas.microsoft.com/office/drawing/2014/main" id="{7601BCCB-31A5-4894-96E6-AA6A026EDF08}"/>
              </a:ext>
            </a:extLst>
          </p:cNvPr>
          <p:cNvSpPr txBox="1"/>
          <p:nvPr/>
        </p:nvSpPr>
        <p:spPr>
          <a:xfrm>
            <a:off x="91440" y="2077418"/>
            <a:ext cx="11887200" cy="307777"/>
          </a:xfrm>
          <a:prstGeom prst="rect">
            <a:avLst/>
          </a:prstGeom>
          <a:noFill/>
        </p:spPr>
        <p:txBody>
          <a:bodyPr wrap="square">
            <a:spAutoFit/>
          </a:bodyPr>
          <a:lstStyle/>
          <a:p>
            <a:r>
              <a:rPr lang="es-AR" sz="1400" dirty="0">
                <a:solidFill>
                  <a:srgbClr val="111111"/>
                </a:solidFill>
                <a:latin typeface="Calibri" pitchFamily="34" charset="0"/>
                <a:ea typeface="Calibri" pitchFamily="34" charset="-122"/>
                <a:cs typeface="Calibri" pitchFamily="34" charset="-120"/>
              </a:rPr>
              <a:t>Para usar herramientas de control lineal, se descompone cada variable en un punto de operación cuasi-estacionario y una perturbación de pequeña magnitud. </a:t>
            </a:r>
            <a:endParaRPr lang="es-AR" sz="1400" dirty="0"/>
          </a:p>
        </p:txBody>
      </p:sp>
    </p:spTree>
  </p:cSld>
  <p:clrMapOvr>
    <a:masterClrMapping/>
  </p:clrMapOvr>
</p:sld>
</file>

<file path=ppt/slides/slide22.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sp><p:nvSpPr><p:cNvPr id="2" name="Shape 0"/><p:cNvSpPr/><p:nvPr/></p:nvSpPr><p:spPr><a:xfrm><a:off x="0" y="0"/><a:ext cx="12192000" cy="658368"/></a:xfrm><a:prstGeom prst="rect"><a:avLst/></a:prstGeom><a:solidFill><a:srgbClr val="1A386B"/></a:solidFill><a:ln w="12700"><a:solidFill><a:srgbClr val="1A386B"/></a:solidFill><a:prstDash val="solid"/></a:ln></p:spPr></p:sp><p:sp><p:nvSpPr><p:cNvPr id="3" name="Text 1"/><p:cNvSpPr/><p:nvPr/></p:nvSpPr><p:spPr><a:xfrm><a:off x="274320" y="0"/><a:ext cx="11612880" cy="658368"/></a:xfrm><a:prstGeom prst="rect"><a:avLst/></a:prstGeom><a:noFill/><a:ln/></p:spPr><p:txBody><a:bodyPr wrap="square" rtlCol="0" anchor="ctr"/><a:lstStyle/><a:p><a:pPr marL="0" indent="0"><a:buNone/></a:pPr><a:r><a:rPr lang="en-US" sz="1900" b="1" dirty="0"><a:solidFill><a:srgbClr val="FFFFFF"/></a:solidFill><a:latin typeface="Calibri" pitchFamily="34" charset="0"/><a:ea typeface="Calibri" pitchFamily="34" charset="-122"/><a:cs typeface="Calibri" pitchFamily="34" charset="-120"/></a:rPr><a:t>Linealización jacobiana — Modelo LPV</a:t></a:r><a:endParaRPr lang="en-US" sz="1900" dirty="0"/></a:p></p:txBody></p:sp><p:sp><p:nvSpPr><p:cNvPr id="4" name="Shape 2"/><p:cNvSpPr/><p:nvPr/></p:nvSpPr><p:spPr><a:xfrm><a:off x="0" y="6565392"/><a:ext cx="12192000" cy="292608"/></a:xfrm><a:prstGeom prst="rect"><a:avLst/></a:prstGeom><a:solidFill><a:srgbClr val="1A386B"/></a:solidFill><a:ln w="12700"><a:solidFill><a:srgbClr val="1A386B"/></a:solidFill><a:prstDash val="solid"/></a:ln></p:spPr></p:sp><p:sp><p:nvSpPr><p:cNvPr id="5" name="Text 3"/><p:cNvSpPr/><p:nvPr/></p:nvSpPr><p:spPr><a:xfrm><a:off x="274320" y="6565392"/><a:ext cx="8229600" cy="292608"/></a:xfrm><a:prstGeom prst="rect"><a:avLst/></a:prstGeom><a:noFill/><a:ln/></p:spPr><p:txBody><a:bodyPr wrap="square" rtlCol="0" anchor="ctr"/><a:lstStyle/><a:p><a:pPr marL="0" indent="0"><a:buNone/></a:pPr><a:r><a:rPr lang="en-US" sz="900" dirty="0"><a:solidFill><a:srgbClr val="C0D0F0"/></a:solidFill><a:latin typeface="Calibri" pitchFamily="34" charset="0"/><a:ea typeface="Calibri" pitchFamily="34" charset="-122"/><a:cs typeface="Calibri" pitchFamily="34" charset="-120"/></a:rPr><a:t>Stella – Huertas   |   AyME – UNCuyo Mecatrónica</a:t></a:r><a:endParaRPr lang="en-US" sz="900" dirty="0"/></a:p></p:txBody></p:sp><p:sp><p:nvSpPr><p:cNvPr id="11" name="Text 9"/><p:cNvSpPr/><p:nvPr/></p:nvSpPr><p:spPr><a:xfrm><a:off x="365760" y="877906"/><a:ext cx="11430000" cy="384048"/></a:xfrm><a:prstGeom prst="rect"><a:avLst/></a:prstGeom><a:noFill/><a:ln/></p:spPr><p:txBody><a:bodyPr wrap="square" rtlCol="0" anchor="t"/><a:lstStyle/><a:p><a:pPr marL="0" indent="0" algn="l"><a:buNone/></a:pPr><a:r><a:rPr lang="en-US" sz="1300" b="1" dirty="0"><a:solidFill><a:srgbClr val="1A386B"/></a:solidFill><a:latin typeface="Calibri" pitchFamily="34" charset="0"/><a:ea typeface="Calibri" pitchFamily="34" charset="-122"/><a:cs typeface="Calibri" pitchFamily="34" charset="-120"/></a:rPr><a:t>1.  Espacio de puntos de operación (NL, lentamente variable):</a:t></a:r><a:endParaRPr lang="en-US" sz="1300" dirty="0"/></a:p></p:txBody></p:sp><p:sp><p:nvSpPr><p:cNvPr id="12" name="Shape 10"/><p:cNvSpPr/><p:nvPr/></p:nvSpPr><p:spPr><a:xfrm><a:off x="1371599" y="1262457"/><a:ext cx="9223695" cy="2613258"/></a:xfrm><a:prstGeom prst="rect"><a:avLst/></a:prstGeom><a:solidFill><a:srgbClr val="FFF8E8"/></a:solidFill><a:ln w="19050"><a:solidFill><a:srgbClr val="DDAA00"/></a:solidFill><a:prstDash val="solid"/></a:ln></p:spPr><p:txBody><a:bodyPr/><a:lstStyle/><a:p><a:endParaRPr lang="es-AR" dirty="0"/></a:p></p:txBody></p:sp><mc:AlternateContent xmlns:mc="http://schemas.openxmlformats.org/markup-compatibility/2006"><mc:Choice xmlns:a14="http://schemas.microsoft.com/office/drawing/2010/main" Requires="a14"><p:sp><p:nvSpPr><p:cNvPr id="13" name="Text 11"/><p:cNvSpPr/><p:nvPr/></p:nvSpPr><p:spPr><a:xfrm><a:off x="1463040" y="2267795"/><a:ext cx="8961120" cy="530352"/></a:xfrm><a:prstGeom prst="rect"><a:avLst/></a:prstGeom><a:noFill/><a:ln/></p:spPr><p:txBody><a:bodyPr wrap="square" rtlCol="0" anchor="ctr"/><a:lstStyle/><a:p><a:pPr algn="ctr"/><a14:m><m:oMathPara xmlns:m="http://schemas.openxmlformats.org/officeDocument/2006/math"><m:oMathParaPr><m:jc m:val="centerGroup"/></m:oMathParaPr><m:oMath xmlns:m="http://schemas.openxmlformats.org/officeDocument/2006/math"><m:d><m:dPr><m:begChr m:val="{"/><m:endChr m:val=""/><m:ctrlPr><a:rPr lang="es-AR" sz="1200" i="1" smtClean="0"><a:latin typeface="Cambria Math" panose="02040503050406030204" pitchFamily="18" charset="0"/></a:rPr></m:ctrlPr></m:dPr><m:e><m:m><m:mPr><m:mcs><m:mc><m:mcPr><m:count m:val="1"/><m:mcJc m:val="center"/></m:mcPr></m:mc></m:mcs><m:ctrlPr><a:rPr lang="es-AR" sz="1200" i="1"><a:latin typeface="Cambria Math" panose="02040503050406030204" pitchFamily="18" charset="0"/></a:rPr></m:ctrlPr></m:mPr><m:mr><m:e><m:sSub><m:sSubPr><m:ctrlPr><a:rPr lang="es-AR" sz="1200" i="1"><a:latin typeface="Cambria Math" panose="02040503050406030204" pitchFamily="18" charset="0"/></a:rPr></m:ctrlPr></m:sSubPr><m:e><m:acc><m:accPr><m:chr m:val="̇"/><m:ctrlPr><a:rPr lang="es-AR" sz="1200" i="1"><a:latin typeface="Cambria Math" panose="02040503050406030204" pitchFamily="18" charset="0"/></a:rPr></m:ctrlPr></m:accPr><m:e><m:r><a:rPr lang="es-AR" sz="1200" i="1"><a:latin typeface="Cambria Math" panose="02040503050406030204" pitchFamily="18" charset="0"/></a:rPr><m:t>𝜃</m:t></m:r></m:e></m:acc></m:e><m:sub><m:r><a:rPr lang="es-AR" sz="1200" i="1"><a:latin typeface="Cambria Math" panose="02040503050406030204" pitchFamily="18" charset="0"/></a:rPr><m:t>𝑚</m:t></m:r><m:r><a:rPr lang="es-AR" sz="1200" i="1"><a:latin typeface="Cambria Math" panose="02040503050406030204" pitchFamily="18" charset="0"/></a:rPr><m:t>0</m:t></m:r></m:sub></m:sSub><m:d><m:dPr><m:ctrlPr><a:rPr lang="es-AR" sz="1200" i="1"><a:latin typeface="Cambria Math" panose="02040503050406030204" pitchFamily="18" charset="0"/></a:rPr></m:ctrlPr></m:dPr><m:e><m:r><a:rPr lang="es-AR" sz="1200" i="1"><a:latin typeface="Cambria Math" panose="02040503050406030204" pitchFamily="18" charset="0"/></a:rPr><m:t>𝑡</m:t></m:r></m:e></m:d><m:r><a:rPr lang="es-AR" sz="1200" i="1"><a:latin typeface="Cambria Math" panose="02040503050406030204" pitchFamily="18" charset="0"/></a:rPr><m:t>=</m:t></m:r><m:sSub><m:sSubPr><m:ctrlPr><a:rPr lang="es-AR" sz="1200" i="1"><a:latin typeface="Cambria Math" panose="02040503050406030204" pitchFamily="18" charset="0"/></a:rPr></m:ctrlPr></m:sSubPr><m:e><m:r><a:rPr lang="es-AR" sz="1200" i="1"><a:latin typeface="Cambria Math" panose="02040503050406030204" pitchFamily="18" charset="0"/></a:rPr><m:t>𝜔</m:t></m:r></m:e><m:sub><m:r><a:rPr lang="es-AR" sz="1200" i="1"><a:latin typeface="Cambria Math" panose="02040503050406030204" pitchFamily="18" charset="0"/></a:rPr><m:t>𝑚</m:t></m:r><m:r><a:rPr lang="es-AR" sz="1200" i="1"><a:latin typeface="Cambria Math" panose="02040503050406030204" pitchFamily="18" charset="0"/></a:rPr><m:t>0</m:t></m:r></m:sub></m:sSub><m:d><m:dPr><m:ctrlPr><a:rPr lang="es-AR" sz="1200" i="1"><a:latin typeface="Cambria Math" panose="02040503050406030204" pitchFamily="18" charset="0"/></a:rPr></m:ctrlPr></m:dPr><m:e><m:r><a:rPr lang="es-AR" sz="1200" i="1"><a:latin typeface="Cambria Math" panose="02040503050406030204" pitchFamily="18" charset="0"/></a:rPr><m:t>𝑡</m:t></m:r></m:e></m:d><m:r><a:rPr lang="es-AR" sz="1200" i="1"><a:latin typeface="Cambria Math" panose="02040503050406030204" pitchFamily="18" charset="0"/></a:rPr><m:t>= </m:t></m:r><m:r><a:rPr lang="es-AR" sz="1200" i="1"><a:latin typeface="Cambria Math" panose="02040503050406030204" pitchFamily="18" charset="0"/></a:rPr><m:t>𝑐𝑡𝑒</m:t></m:r><m:r><a:rPr lang="es-AR" sz="1200" i="1"><a:latin typeface="Cambria Math" panose="02040503050406030204" pitchFamily="18" charset="0"/></a:rPr><m:t>                                                                                                                                                           </m:t></m:r></m:e></m:mr><m:mr><m:e><m:sSub><m:sSubPr><m:ctrlPr><a:rPr lang="es-AR" sz="1200" i="1"><a:latin typeface="Cambria Math" panose="02040503050406030204" pitchFamily="18" charset="0"/></a:rPr></m:ctrlPr></m:sSubPr><m:e><m:acc><m:accPr><m:chr m:val="̇"/><m:ctrlPr><a:rPr lang="es-AR" sz="1200" i="1"><a:latin typeface="Cambria Math" panose="02040503050406030204" pitchFamily="18" charset="0"/></a:rPr></m:ctrlPr></m:accPr><m:e><m:r><a:rPr lang="es-AR" sz="1200" i="1"><a:latin typeface="Cambria Math" panose="02040503050406030204" pitchFamily="18" charset="0"/></a:rPr><m:t>⍵</m:t></m:r></m:e></m:acc></m:e><m:sub><m:r><a:rPr lang="es-AR" sz="1200" i="1"><a:latin typeface="Cambria Math" panose="02040503050406030204" pitchFamily="18" charset="0"/></a:rPr><m:t>𝑚</m:t></m:r><m:r><a:rPr lang="es-AR" sz="1200" i="1"><a:latin typeface="Cambria Math" panose="02040503050406030204" pitchFamily="18" charset="0"/></a:rPr><m:t>0</m:t></m:r></m:sub></m:sSub><m:d><m:dPr><m:ctrlPr><a:rPr lang="es-AR" sz="1200" i="1"><a:latin typeface="Cambria Math" panose="02040503050406030204" pitchFamily="18" charset="0"/></a:rPr></m:ctrlPr></m:dPr><m:e><m:r><a:rPr lang="es-AR" sz="1200" i="1"><a:latin typeface="Cambria Math" panose="02040503050406030204" pitchFamily="18" charset="0"/></a:rPr><m:t>𝑡</m:t></m:r></m:e></m:d><m:r><a:rPr lang="es-AR" sz="1200" i="1"><a:latin typeface="Cambria Math" panose="02040503050406030204" pitchFamily="18" charset="0"/></a:rPr><m:t>=</m:t></m:r><m:f><m:fPr><m:ctrlPr><a:rPr lang="es-AR" sz="1200" i="1"><a:latin typeface="Cambria Math" panose="02040503050406030204" pitchFamily="18" charset="0"/></a:rPr></m:ctrlPr></m:fPr><m:num><m:r><a:rPr lang="es-AR" sz="1200" i="1"><a:latin typeface="Cambria Math" panose="02040503050406030204" pitchFamily="18" charset="0"/></a:rPr><m:t>1</m:t></m:r></m:num><m:den><m:sSub><m:sSubPr><m:ctrlPr><a:rPr lang="es-AR" sz="1200" i="1"><a:latin typeface="Cambria Math" panose="02040503050406030204" pitchFamily="18" charset="0"/></a:rPr></m:ctrlPr></m:sSubPr><m:e><m:r><a:rPr lang="es-AR" sz="1200" i="1"><a:latin typeface="Cambria Math" panose="02040503050406030204" pitchFamily="18" charset="0"/></a:rPr><m:t>𝐽</m:t></m:r></m:e><m:sub><m:r><a:rPr lang="es-AR" sz="1200" i="1"><a:latin typeface="Cambria Math" panose="02040503050406030204" pitchFamily="18" charset="0"/></a:rPr><m:t>𝑒𝑞</m:t></m:r></m:sub></m:sSub></m:den></m:f><m:d><m:dPr><m:begChr m:val="["/><m:endChr m:val="]"/><m:ctrlPr><a:rPr lang="es-AR" sz="1200" i="1"><a:latin typeface="Cambria Math" panose="02040503050406030204" pitchFamily="18" charset="0"/></a:rPr></m:ctrlPr></m:dPr><m:e><m:f><m:fPr><m:ctrlPr><a:rPr lang="es-AR" sz="1200" i="1"><a:latin typeface="Cambria Math" panose="02040503050406030204" pitchFamily="18" charset="0"/></a:rPr></m:ctrlPr></m:fPr><m:num><m:r><a:rPr lang="es-AR" sz="1200" i="1"><a:latin typeface="Cambria Math" panose="02040503050406030204" pitchFamily="18" charset="0"/></a:rPr><m:t>3</m:t></m:r></m:num><m:den><m:r><a:rPr lang="es-AR" sz="1200" i="1"><a:latin typeface="Cambria Math" panose="02040503050406030204" pitchFamily="18" charset="0"/></a:rPr><m:t>2</m:t></m:r></m:den></m:f><m:sSub><m:sSubPr><m:ctrlPr><a:rPr lang="es-AR" sz="1200" i="1"><a:latin typeface="Cambria Math" panose="02040503050406030204" pitchFamily="18" charset="0"/></a:rPr></m:ctrlPr></m:sSubPr><m:e><m:r><a:rPr lang="es-AR" sz="1200" i="1"><a:latin typeface="Cambria Math" panose="02040503050406030204" pitchFamily="18" charset="0"/></a:rPr><m:t>𝑃</m:t></m:r></m:e><m:sub><m:r><a:rPr lang="es-AR" sz="1200" i="1"><a:latin typeface="Cambria Math" panose="02040503050406030204" pitchFamily="18" charset="0"/></a:rPr><m:t>𝑝</m:t></m:r></m:sub></m:sSub><m:d><m:dPr><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𝜆</m:t></m:r></m:e><m:sub><m:r><a:rPr lang="es-AR" sz="1200" i="1"><a:latin typeface="Cambria Math" panose="02040503050406030204" pitchFamily="18" charset="0"/></a:rPr><m:t>𝑚</m:t></m:r></m:sub><m:sup><m:r><a:rPr lang="es-AR" sz="1200" i="1"><a:latin typeface="Cambria Math" panose="02040503050406030204" pitchFamily="18" charset="0"/></a:rPr><m:t>ˊ</m:t></m:r><m:r><a:rPr lang="es-AR" sz="1200" i="1"><a:latin typeface="Cambria Math" panose="02040503050406030204" pitchFamily="18" charset="0"/></a:rPr><m:t>𝑟</m:t></m:r></m:sup></m:sSubSup><m:r><a:rPr lang="es-AR" sz="1200" i="1"><a:latin typeface="Cambria Math" panose="02040503050406030204" pitchFamily="18" charset="0"/></a:rPr><m:t>+</m:t></m:r><m:d><m:dPr><m:ctrlPr><a:rPr lang="es-AR" sz="1200" i="1"><a:latin typeface="Cambria Math" panose="02040503050406030204" pitchFamily="18" charset="0"/></a:rPr></m:ctrlPr></m:dPr><m:e><m:sSub><m:sSubPr><m:ctrlPr><a:rPr lang="es-AR" sz="1200" i="1"><a:latin typeface="Cambria Math" panose="02040503050406030204" pitchFamily="18" charset="0"/></a:rPr></m:ctrlPr></m:sSubPr><m:e><m:r><a:rPr lang="es-AR" sz="1200" i="1"><a:latin typeface="Cambria Math" panose="02040503050406030204" pitchFamily="18" charset="0"/></a:rPr><m:t>𝐿</m:t></m:r></m:e><m:sub><m:r><a:rPr lang="es-AR" sz="1200" i="1"><a:latin typeface="Cambria Math" panose="02040503050406030204" pitchFamily="18" charset="0"/></a:rPr><m:t>𝑑</m:t></m:r></m:sub></m:sSub><m:r><a:rPr lang="es-AR" sz="1200" i="1"><a:latin typeface="Cambria Math" panose="02040503050406030204" pitchFamily="18" charset="0"/></a:rPr><m:t>−</m:t></m:r><m:sSub><m:sSubPr><m:ctrlPr><a:rPr lang="es-AR" sz="1200" i="1"><a:latin typeface="Cambria Math" panose="02040503050406030204" pitchFamily="18" charset="0"/></a:rPr></m:ctrlPr></m:sSubPr><m:e><m:r><a:rPr lang="es-AR" sz="1200" i="1"><a:latin typeface="Cambria Math" panose="02040503050406030204" pitchFamily="18" charset="0"/></a:rPr><m:t>𝐿</m:t></m:r></m:e><m:sub><m:r><a:rPr lang="es-AR" sz="1200" i="1"><a:latin typeface="Cambria Math" panose="02040503050406030204" pitchFamily="18" charset="0"/></a:rPr><m:t>𝑞</m:t></m:r></m:sub></m:sSub></m:e></m:d><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𝑑𝑠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e></m:d><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𝑞𝑠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r><a:rPr lang="es-AR" sz="1200" i="1"><a:latin typeface="Cambria Math" panose="02040503050406030204" pitchFamily="18" charset="0"/></a:rPr><m:t>−</m:t></m:r><m:sSub><m:sSubPr><m:ctrlPr><a:rPr lang="es-AR" sz="1200" i="1"><a:latin typeface="Cambria Math" panose="02040503050406030204" pitchFamily="18" charset="0"/></a:rPr></m:ctrlPr></m:sSubPr><m:e><m:r><a:rPr lang="es-AR" sz="1200" i="1"><a:latin typeface="Cambria Math" panose="02040503050406030204" pitchFamily="18" charset="0"/></a:rPr><m:t>𝑏</m:t></m:r></m:e><m:sub><m:r><a:rPr lang="es-AR" sz="1200" i="1"><a:latin typeface="Cambria Math" panose="02040503050406030204" pitchFamily="18" charset="0"/></a:rPr><m:t>𝑒𝑞</m:t></m:r></m:sub></m:sSub><m:sSub><m:sSubPr><m:ctrlPr><a:rPr lang="es-AR" sz="1200" i="1"><a:latin typeface="Cambria Math" panose="02040503050406030204" pitchFamily="18" charset="0"/></a:rPr></m:ctrlPr></m:sSubPr><m:e><m:r><a:rPr lang="es-AR" sz="1200" i="1"><a:latin typeface="Cambria Math" panose="02040503050406030204" pitchFamily="18" charset="0"/></a:rPr><m:t>𝜔</m:t></m:r></m:e><m:sub><m:r><a:rPr lang="es-AR" sz="1200" i="1"><a:latin typeface="Cambria Math" panose="02040503050406030204" pitchFamily="18" charset="0"/></a:rPr><m:t>𝑚</m:t></m:r><m:r><a:rPr lang="es-AR" sz="1200" i="1"><a:latin typeface="Cambria Math" panose="02040503050406030204" pitchFamily="18" charset="0"/></a:rPr><m:t>0</m:t></m:r></m:sub></m:sSub><m:d><m:dPr><m:ctrlPr><a:rPr lang="es-AR" sz="1200" i="1"><a:latin typeface="Cambria Math" panose="02040503050406030204" pitchFamily="18" charset="0"/></a:rPr></m:ctrlPr></m:dPr><m:e><m:r><a:rPr lang="es-AR" sz="1200" i="1"><a:latin typeface="Cambria Math" panose="02040503050406030204" pitchFamily="18" charset="0"/></a:rPr><m:t>𝑡</m:t></m:r></m:e></m:d><m:r><a:rPr lang="es-AR" sz="1200" i="1"><a:latin typeface="Cambria Math" panose="02040503050406030204" pitchFamily="18" charset="0"/></a:rPr><m:t>−</m:t></m:r><m:f><m:fPr><m:ctrlPr><a:rPr lang="es-AR" sz="1200" i="1"><a:latin typeface="Cambria Math" panose="02040503050406030204" pitchFamily="18" charset="0"/></a:rPr></m:ctrlPr></m:fPr><m:num><m:r><a:rPr lang="es-AR" sz="1200" i="1"><a:latin typeface="Cambria Math" panose="02040503050406030204" pitchFamily="18" charset="0"/></a:rPr><m:t>1</m:t></m:r></m:num><m:den><m:r><a:rPr lang="es-AR" sz="1200" i="1"><a:latin typeface="Cambria Math" panose="02040503050406030204" pitchFamily="18" charset="0"/></a:rPr><m:t>𝑟</m:t></m:r></m:den></m:f><m:sSub><m:sSubPr><m:ctrlPr><a:rPr lang="es-AR" sz="1200" i="1"><a:latin typeface="Cambria Math" panose="02040503050406030204" pitchFamily="18" charset="0"/></a:rPr></m:ctrlPr></m:sSubPr><m:e><m:r><a:rPr lang="es-AR" sz="1200" i="1"><a:latin typeface="Cambria Math" panose="02040503050406030204" pitchFamily="18" charset="0"/></a:rPr><m:t>𝑇</m:t></m:r></m:e><m:sub><m:r><a:rPr lang="es-AR" sz="1200" i="1"><a:latin typeface="Cambria Math" panose="02040503050406030204" pitchFamily="18" charset="0"/></a:rPr><m:t>𝑙</m:t></m:r></m:sub></m:sSub><m:d><m:dPr><m:ctrlPr><a:rPr lang="es-AR" sz="1200" i="1"><a:latin typeface="Cambria Math" panose="02040503050406030204" pitchFamily="18" charset="0"/></a:rPr></m:ctrlPr></m:dPr><m:e><m:r><a:rPr lang="es-AR" sz="1200" i="1"><a:latin typeface="Cambria Math" panose="02040503050406030204" pitchFamily="18" charset="0"/></a:rPr><m:t>𝑡</m:t></m:r></m:e></m:d></m:e></m:d><m:r><a:rPr lang="es-AR" sz="1200" i="1"><a:latin typeface="Cambria Math" panose="02040503050406030204" pitchFamily="18" charset="0"/></a:rPr><m:t> =0 </m:t></m:r><m:r><a:rPr lang="es-MX" sz="1200" b="0" i="1" smtClean="0"><a:latin typeface="Cambria Math" panose="02040503050406030204" pitchFamily="18" charset="0"/></a:rPr><m:t>                                                  </m:t></m:r></m:e></m:mr><m:mr><m:e><m:m><m:mPr><m:mcs><m:mc><m:mcPr><m:count m:val="1"/><m:mcJc m:val="center"/></m:mcPr></m:mc></m:mcs><m:ctrlPr><a:rPr lang="es-AR" sz="1200" i="1"><a:latin typeface="Cambria Math" panose="02040503050406030204" pitchFamily="18" charset="0"/></a:rPr></m:ctrlPr></m:mPr><m:mr><m:e><m:f><m:fPr><m:ctrlPr><a:rPr lang="es-AR" sz="1200" i="1"><a:latin typeface="Cambria Math" panose="02040503050406030204" pitchFamily="18" charset="0"/></a:rPr></m:ctrlPr></m:fPr><m:num><m:r><a:rPr lang="es-AR" sz="1200" i="1"><a:latin typeface="Cambria Math" panose="02040503050406030204" pitchFamily="18" charset="0"/></a:rPr><m:t>𝑑</m:t></m:r><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𝑞𝑠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num><m:den><m:r><a:rPr lang="es-AR" sz="1200" i="1"><a:latin typeface="Cambria Math" panose="02040503050406030204" pitchFamily="18" charset="0"/></a:rPr><m:t>𝑑𝑡</m:t></m:r></m:den></m:f><m:r><a:rPr lang="es-AR" sz="1200" i="1"><a:latin typeface="Cambria Math" panose="02040503050406030204" pitchFamily="18" charset="0"/></a:rPr><m:t>=</m:t></m:r><m:f><m:fPr><m:ctrlPr><a:rPr lang="es-AR" sz="1200" i="1"><a:latin typeface="Cambria Math" panose="02040503050406030204" pitchFamily="18" charset="0"/></a:rPr></m:ctrlPr></m:fPr><m:num><m:r><a:rPr lang="es-AR" sz="1200" i="1"><a:latin typeface="Cambria Math" panose="02040503050406030204" pitchFamily="18" charset="0"/></a:rPr><m:t>1</m:t></m:r></m:num><m:den><m:sSub><m:sSubPr><m:ctrlPr><a:rPr lang="es-AR" sz="1200" i="1"><a:latin typeface="Cambria Math" panose="02040503050406030204" pitchFamily="18" charset="0"/></a:rPr></m:ctrlPr></m:sSubPr><m:e><m:r><a:rPr lang="es-AR" sz="1200" i="1"><a:latin typeface="Cambria Math" panose="02040503050406030204" pitchFamily="18" charset="0"/></a:rPr><m:t>𝐿</m:t></m:r></m:e><m:sub><m:r><a:rPr lang="es-AR" sz="1200" i="1"><a:latin typeface="Cambria Math" panose="02040503050406030204" pitchFamily="18" charset="0"/></a:rPr><m:t>𝑞</m:t></m:r></m:sub></m:sSub></m:den></m:f><m:d><m:dPr><m:begChr m:val="["/><m:endChr m:val="]"/><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𝑣</m:t></m:r></m:e><m:sub><m:r><a:rPr lang="es-AR" sz="1200" i="1"><a:latin typeface="Cambria Math" panose="02040503050406030204" pitchFamily="18" charset="0"/></a:rPr><m:t>𝑞𝑠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r><a:rPr lang="es-AR" sz="1200" i="1"><a:latin typeface="Cambria Math" panose="02040503050406030204" pitchFamily="18" charset="0"/></a:rPr><m:t>−</m:t></m:r><m:sSub><m:sSubPr><m:ctrlPr><a:rPr lang="es-AR" sz="1200" i="1"><a:latin typeface="Cambria Math" panose="02040503050406030204" pitchFamily="18" charset="0"/></a:rPr></m:ctrlPr></m:sSubPr><m:e><m:r><a:rPr lang="es-AR" sz="1200" i="1"><a:latin typeface="Cambria Math" panose="02040503050406030204" pitchFamily="18" charset="0"/></a:rPr><m:t>𝑅</m:t></m:r></m:e><m:sub><m:r><a:rPr lang="es-AR" sz="1200" i="1"><a:latin typeface="Cambria Math" panose="02040503050406030204" pitchFamily="18" charset="0"/></a:rPr><m:t>𝑠</m:t></m:r><m:r><a:rPr lang="es-AR" sz="1200" i="1"><a:latin typeface="Cambria Math" panose="02040503050406030204" pitchFamily="18" charset="0"/></a:rPr><m:t>0</m:t></m:r></m:sub></m:sSub><m:d><m:dPr><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𝑇</m:t></m:r></m:e><m:sub><m:r><a:rPr lang="es-AR" sz="1200" i="1"><a:latin typeface="Cambria Math" panose="02040503050406030204" pitchFamily="18" charset="0"/></a:rPr><m:t>𝑠</m:t></m:r><m:r><a:rPr lang="es-AR" sz="1200" i="1"><a:latin typeface="Cambria Math" panose="02040503050406030204" pitchFamily="18" charset="0"/></a:rPr><m:t>0</m:t></m:r></m:sub><m:sup><m:r><a:rPr lang="es-AR" sz="1200" i="1"><a:latin typeface="Cambria Math" panose="02040503050406030204" pitchFamily="18" charset="0"/></a:rPr><m:t>𝑜</m:t></m:r></m:sup></m:sSubSup><m:d><m:dPr><m:ctrlPr><a:rPr lang="es-AR" sz="1200" i="1"><a:latin typeface="Cambria Math" panose="02040503050406030204" pitchFamily="18" charset="0"/></a:rPr></m:ctrlPr></m:dPr><m:e><m:r><a:rPr lang="es-AR" sz="1200" i="1"><a:latin typeface="Cambria Math" panose="02040503050406030204" pitchFamily="18" charset="0"/></a:rPr><m:t>𝑡</m:t></m:r></m:e></m:d></m:e></m:d><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𝑞𝑠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r><a:rPr lang="es-AR" sz="1200" i="1"><a:latin typeface="Cambria Math" panose="02040503050406030204" pitchFamily="18" charset="0"/></a:rPr><m:t>−</m:t></m:r><m:d><m:dPr><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𝜆</m:t></m:r></m:e><m:sub><m:r><a:rPr lang="es-AR" sz="1200" i="1"><a:latin typeface="Cambria Math" panose="02040503050406030204" pitchFamily="18" charset="0"/></a:rPr><m:t>𝑚</m:t></m:r></m:sub><m:sup><m:r><a:rPr lang="es-AR" sz="1200" i="1"><a:latin typeface="Cambria Math" panose="02040503050406030204" pitchFamily="18" charset="0"/></a:rPr><m:t>ˊ</m:t></m:r><m:r><a:rPr lang="es-AR" sz="1200" i="1"><a:latin typeface="Cambria Math" panose="02040503050406030204" pitchFamily="18" charset="0"/></a:rPr><m:t>𝑟</m:t></m:r></m:sup></m:sSubSup><m:r><a:rPr lang="es-AR" sz="1200" i="1"><a:latin typeface="Cambria Math" panose="02040503050406030204" pitchFamily="18" charset="0"/></a:rPr><m:t>+</m:t></m:r><m:sSub><m:sSubPr><m:ctrlPr><a:rPr lang="es-AR" sz="1200" i="1"><a:latin typeface="Cambria Math" panose="02040503050406030204" pitchFamily="18" charset="0"/></a:rPr></m:ctrlPr></m:sSubPr><m:e><m:r><a:rPr lang="es-AR" sz="1200" i="1"><a:latin typeface="Cambria Math" panose="02040503050406030204" pitchFamily="18" charset="0"/></a:rPr><m:t>𝐿</m:t></m:r></m:e><m:sub><m:r><a:rPr lang="es-AR" sz="1200" i="1"><a:latin typeface="Cambria Math" panose="02040503050406030204" pitchFamily="18" charset="0"/></a:rPr><m:t>𝑑</m:t></m:r></m:sub></m:sSub><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𝑑𝑠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e></m:d><m:sSub><m:sSubPr><m:ctrlPr><a:rPr lang="es-AR" sz="1200" i="1"><a:latin typeface="Cambria Math" panose="02040503050406030204" pitchFamily="18" charset="0"/></a:rPr></m:ctrlPr></m:sSubPr><m:e><m:r><a:rPr lang="es-AR" sz="1200" i="1"><a:latin typeface="Cambria Math" panose="02040503050406030204" pitchFamily="18" charset="0"/></a:rPr><m:t>𝑃</m:t></m:r></m:e><m:sub><m:r><a:rPr lang="es-AR" sz="1200" i="1"><a:latin typeface="Cambria Math" panose="02040503050406030204" pitchFamily="18" charset="0"/></a:rPr><m:t>𝑝</m:t></m:r></m:sub></m:sSub><m:sSub><m:sSubPr><m:ctrlPr><a:rPr lang="es-AR" sz="1200" i="1"><a:latin typeface="Cambria Math" panose="02040503050406030204" pitchFamily="18" charset="0"/></a:rPr></m:ctrlPr></m:sSubPr><m:e><m:r><a:rPr lang="es-AR" sz="1200" i="1"><a:latin typeface="Cambria Math" panose="02040503050406030204" pitchFamily="18" charset="0"/></a:rPr><m:t>𝜔</m:t></m:r></m:e><m:sub><m:r><a:rPr lang="es-AR" sz="1200" i="1"><a:latin typeface="Cambria Math" panose="02040503050406030204" pitchFamily="18" charset="0"/></a:rPr><m:t>𝑚</m:t></m:r><m:r><a:rPr lang="es-AR" sz="1200" i="1"><a:latin typeface="Cambria Math" panose="02040503050406030204" pitchFamily="18" charset="0"/></a:rPr><m:t>0</m:t></m:r></m:sub></m:sSub><m:d><m:dPr><m:ctrlPr><a:rPr lang="es-AR" sz="1200" i="1"><a:latin typeface="Cambria Math" panose="02040503050406030204" pitchFamily="18" charset="0"/></a:rPr></m:ctrlPr></m:dPr><m:e><m:r><a:rPr lang="es-AR" sz="1200" i="1"><a:latin typeface="Cambria Math" panose="02040503050406030204" pitchFamily="18" charset="0"/></a:rPr><m:t>𝑡</m:t></m:r></m:e></m:d></m:e></m:d><m:r><a:rPr lang="es-AR" sz="1200" i="1"><a:latin typeface="Cambria Math" panose="02040503050406030204" pitchFamily="18" charset="0"/></a:rPr><m:t>=0                                                   </m:t></m:r></m:e></m:mr><m:mr><m:e><m:f><m:fPr><m:ctrlPr><a:rPr lang="es-AR" sz="1200" i="1"><a:latin typeface="Cambria Math" panose="02040503050406030204" pitchFamily="18" charset="0"/></a:rPr></m:ctrlPr></m:fPr><m:num><m:r><a:rPr lang="es-AR" sz="1200" i="1"><a:latin typeface="Cambria Math" panose="02040503050406030204" pitchFamily="18" charset="0"/></a:rPr><m:t>𝑑</m:t></m:r><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𝑑𝑠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num><m:den><m:r><a:rPr lang="es-AR" sz="1200" i="1"><a:latin typeface="Cambria Math" panose="02040503050406030204" pitchFamily="18" charset="0"/></a:rPr><m:t>𝑑𝑡</m:t></m:r></m:den></m:f><m:r><a:rPr lang="es-AR" sz="1200" i="1"><a:latin typeface="Cambria Math" panose="02040503050406030204" pitchFamily="18" charset="0"/></a:rPr><m:t>=</m:t></m:r><m:f><m:fPr><m:ctrlPr><a:rPr lang="es-AR" sz="1200" i="1"><a:latin typeface="Cambria Math" panose="02040503050406030204" pitchFamily="18" charset="0"/></a:rPr></m:ctrlPr></m:fPr><m:num><m:r><a:rPr lang="es-AR" sz="1200" i="1"><a:latin typeface="Cambria Math" panose="02040503050406030204" pitchFamily="18" charset="0"/></a:rPr><m:t>1</m:t></m:r></m:num><m:den><m:sSub><m:sSubPr><m:ctrlPr><a:rPr lang="es-AR" sz="1200" i="1"><a:latin typeface="Cambria Math" panose="02040503050406030204" pitchFamily="18" charset="0"/></a:rPr></m:ctrlPr></m:sSubPr><m:e><m:r><a:rPr lang="es-AR" sz="1200" i="1"><a:latin typeface="Cambria Math" panose="02040503050406030204" pitchFamily="18" charset="0"/></a:rPr><m:t>𝐿</m:t></m:r></m:e><m:sub><m:r><a:rPr lang="es-AR" sz="1200" i="1"><a:latin typeface="Cambria Math" panose="02040503050406030204" pitchFamily="18" charset="0"/></a:rPr><m:t>𝑑</m:t></m:r></m:sub></m:sSub></m:den></m:f><m:d><m:dPr><m:begChr m:val="["/><m:endChr m:val="]"/><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𝑣</m:t></m:r></m:e><m:sub><m:r><a:rPr lang="es-AR" sz="1200" i="1"><a:latin typeface="Cambria Math" panose="02040503050406030204" pitchFamily="18" charset="0"/></a:rPr><m:t>𝑑𝑠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r><a:rPr lang="es-AR" sz="1200" i="1"><a:latin typeface="Cambria Math" panose="02040503050406030204" pitchFamily="18" charset="0"/></a:rPr><m:t>−</m:t></m:r><m:sSub><m:sSubPr><m:ctrlPr><a:rPr lang="es-AR" sz="1200" i="1"><a:latin typeface="Cambria Math" panose="02040503050406030204" pitchFamily="18" charset="0"/></a:rPr></m:ctrlPr></m:sSubPr><m:e><m:r><a:rPr lang="es-AR" sz="1200" i="1"><a:latin typeface="Cambria Math" panose="02040503050406030204" pitchFamily="18" charset="0"/></a:rPr><m:t>𝑅</m:t></m:r></m:e><m:sub><m:r><a:rPr lang="es-AR" sz="1200" i="1"><a:latin typeface="Cambria Math" panose="02040503050406030204" pitchFamily="18" charset="0"/></a:rPr><m:t>𝑠</m:t></m:r></m:sub></m:sSub><m:d><m:dPr><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𝑇</m:t></m:r></m:e><m:sub><m:r><a:rPr lang="es-AR" sz="1200" i="1"><a:latin typeface="Cambria Math" panose="02040503050406030204" pitchFamily="18" charset="0"/></a:rPr><m:t>𝑠</m:t></m:r><m:r><a:rPr lang="es-AR" sz="1200" i="1"><a:latin typeface="Cambria Math" panose="02040503050406030204" pitchFamily="18" charset="0"/></a:rPr><m:t>0</m:t></m:r></m:sub><m:sup><m:r><a:rPr lang="es-AR" sz="1200" i="1"><a:latin typeface="Cambria Math" panose="02040503050406030204" pitchFamily="18" charset="0"/></a:rPr><m:t>𝑜</m:t></m:r></m:sup></m:sSubSup><m:d><m:dPr><m:ctrlPr><a:rPr lang="es-AR" sz="1200" i="1"><a:latin typeface="Cambria Math" panose="02040503050406030204" pitchFamily="18" charset="0"/></a:rPr></m:ctrlPr></m:dPr><m:e><m:r><a:rPr lang="es-AR" sz="1200" i="1"><a:latin typeface="Cambria Math" panose="02040503050406030204" pitchFamily="18" charset="0"/></a:rPr><m:t>𝑡</m:t></m:r></m:e></m:d></m:e></m:d><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𝑑𝑠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r><a:rPr lang="es-AR" sz="1200" i="1"><a:latin typeface="Cambria Math" panose="02040503050406030204" pitchFamily="18" charset="0"/></a:rPr><m:t>+</m:t></m:r><m:sSub><m:sSubPr><m:ctrlPr><a:rPr lang="es-AR" sz="1200" i="1"><a:latin typeface="Cambria Math" panose="02040503050406030204" pitchFamily="18" charset="0"/></a:rPr></m:ctrlPr></m:sSubPr><m:e><m:r><a:rPr lang="es-AR" sz="1200" i="1"><a:latin typeface="Cambria Math" panose="02040503050406030204" pitchFamily="18" charset="0"/></a:rPr><m:t>𝐿</m:t></m:r></m:e><m:sub><m:r><a:rPr lang="es-AR" sz="1200" i="1"><a:latin typeface="Cambria Math" panose="02040503050406030204" pitchFamily="18" charset="0"/></a:rPr><m:t>𝑞</m:t></m:r></m:sub></m:sSub><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𝑞𝑠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sSub><m:sSubPr><m:ctrlPr><a:rPr lang="es-AR" sz="1200" i="1"><a:latin typeface="Cambria Math" panose="02040503050406030204" pitchFamily="18" charset="0"/></a:rPr></m:ctrlPr></m:sSubPr><m:e><m:r><a:rPr lang="es-AR" sz="1200" i="1"><a:latin typeface="Cambria Math" panose="02040503050406030204" pitchFamily="18" charset="0"/></a:rPr><m:t>𝑃</m:t></m:r></m:e><m:sub><m:r><a:rPr lang="es-AR" sz="1200" i="1"><a:latin typeface="Cambria Math" panose="02040503050406030204" pitchFamily="18" charset="0"/></a:rPr><m:t>𝑝</m:t></m:r></m:sub></m:sSub><m:sSub><m:sSubPr><m:ctrlPr><a:rPr lang="es-AR" sz="1200" i="1"><a:latin typeface="Cambria Math" panose="02040503050406030204" pitchFamily="18" charset="0"/></a:rPr></m:ctrlPr></m:sSubPr><m:e><m:r><a:rPr lang="es-AR" sz="1200" i="1"><a:latin typeface="Cambria Math" panose="02040503050406030204" pitchFamily="18" charset="0"/></a:rPr><m:t>𝜔</m:t></m:r></m:e><m:sub><m:r><a:rPr lang="es-AR" sz="1200" i="1"><a:latin typeface="Cambria Math" panose="02040503050406030204" pitchFamily="18" charset="0"/></a:rPr><m:t>𝑚</m:t></m:r><m:r><a:rPr lang="es-AR" sz="1200" i="1"><a:latin typeface="Cambria Math" panose="02040503050406030204" pitchFamily="18" charset="0"/></a:rPr><m:t>0</m:t></m:r></m:sub></m:sSub><m:d><m:dPr><m:ctrlPr><a:rPr lang="es-AR" sz="1200" i="1"><a:latin typeface="Cambria Math" panose="02040503050406030204" pitchFamily="18" charset="0"/></a:rPr></m:ctrlPr></m:dPr><m:e><m:r><a:rPr lang="es-AR" sz="1200" i="1"><a:latin typeface="Cambria Math" panose="02040503050406030204" pitchFamily="18" charset="0"/></a:rPr><m:t>𝑡</m:t></m:r></m:e></m:d></m:e></m:d><m:r><a:rPr lang="es-AR" sz="1200" i="1"><a:latin typeface="Cambria Math" panose="02040503050406030204" pitchFamily="18" charset="0"/></a:rPr><m:t>=0                                                    </m:t></m:r><m:r><m:rPr><m:nor/></m:rPr><a:rPr lang="es-MX" sz="1200" b="0" i="0" smtClean="0"><a:latin typeface="Cambria Math" panose="02040503050406030204" pitchFamily="18" charset="0"/></a:rPr><m:t>         </m:t></m:r><m:r><m:rPr><m:nor/></m:rPr><a:rPr lang="es-AR" sz="1200"/><m:t>         </m:t></m:r></m:e></m:mr><m:mr><m:e><m:m><m:mPr><m:mcs><m:mc><m:mcPr><m:count m:val="1"/><m:mcJc m:val="center"/></m:mcPr></m:mc></m:mcs><m:ctrlPr><a:rPr lang="es-AR" sz="1200" i="1"><a:latin typeface="Cambria Math" panose="02040503050406030204" pitchFamily="18" charset="0"/></a:rPr></m:ctrlPr></m:mPr><m:mr><m:e><m:f><m:fPr><m:ctrlPr><a:rPr lang="es-AR" sz="1200" i="1"><a:latin typeface="Cambria Math" panose="02040503050406030204" pitchFamily="18" charset="0"/></a:rPr></m:ctrlPr></m:fPr><m:num><m:r><a:rPr lang="es-AR" sz="1200" i="1"><a:latin typeface="Cambria Math" panose="02040503050406030204" pitchFamily="18" charset="0"/></a:rPr><m:t>𝑑</m:t></m:r><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0</m:t></m:r><m:r><a:rPr lang="es-AR" sz="1200" i="1"><a:latin typeface="Cambria Math" panose="02040503050406030204" pitchFamily="18" charset="0"/></a:rPr><m:t>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num><m:den><m:r><a:rPr lang="es-AR" sz="1200" i="1"><a:latin typeface="Cambria Math" panose="02040503050406030204" pitchFamily="18" charset="0"/></a:rPr><m:t>𝑑𝑡</m:t></m:r></m:den></m:f><m:r><a:rPr lang="es-AR" sz="1200" i="1"><a:latin typeface="Cambria Math" panose="02040503050406030204" pitchFamily="18" charset="0"/></a:rPr><m:t>=</m:t></m:r><m:f><m:fPr><m:ctrlPr><a:rPr lang="es-AR" sz="1200" i="1"><a:latin typeface="Cambria Math" panose="02040503050406030204" pitchFamily="18" charset="0"/></a:rPr></m:ctrlPr></m:fPr><m:num><m:r><a:rPr lang="es-AR" sz="1200" i="1"><a:latin typeface="Cambria Math" panose="02040503050406030204" pitchFamily="18" charset="0"/></a:rPr><m:t>1</m:t></m:r></m:num><m:den><m:sSub><m:sSubPr><m:ctrlPr><a:rPr lang="es-AR" sz="1200" i="1"><a:latin typeface="Cambria Math" panose="02040503050406030204" pitchFamily="18" charset="0"/></a:rPr></m:ctrlPr></m:sSubPr><m:e><m:r><a:rPr lang="es-AR" sz="1200" i="1"><a:latin typeface="Cambria Math" panose="02040503050406030204" pitchFamily="18" charset="0"/></a:rPr><m:t>𝐿</m:t></m:r></m:e><m:sub><m:r><a:rPr lang="es-AR" sz="1200" i="1"><a:latin typeface="Cambria Math" panose="02040503050406030204" pitchFamily="18" charset="0"/></a:rPr><m:t>𝑙𝑠</m:t></m:r></m:sub></m:sSub></m:den></m:f><m:d><m:dPr><m:begChr m:val="["/><m:endChr m:val="]"/><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𝑣</m:t></m:r></m:e><m:sub><m:r><a:rPr lang="es-AR" sz="1200" i="1"><a:latin typeface="Cambria Math" panose="02040503050406030204" pitchFamily="18" charset="0"/></a:rPr><m:t>0</m:t></m:r><m:r><a:rPr lang="es-AR" sz="1200" i="1"><a:latin typeface="Cambria Math" panose="02040503050406030204" pitchFamily="18" charset="0"/></a:rPr><m:t>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r><a:rPr lang="es-AR" sz="1200" i="1"><a:latin typeface="Cambria Math" panose="02040503050406030204" pitchFamily="18" charset="0"/></a:rPr><m:t>−</m:t></m:r><m:sSub><m:sSubPr><m:ctrlPr><a:rPr lang="es-AR" sz="1200" i="1"><a:latin typeface="Cambria Math" panose="02040503050406030204" pitchFamily="18" charset="0"/></a:rPr></m:ctrlPr></m:sSubPr><m:e><m:r><a:rPr lang="es-AR" sz="1200" i="1"><a:latin typeface="Cambria Math" panose="02040503050406030204" pitchFamily="18" charset="0"/></a:rPr><m:t>𝑅</m:t></m:r></m:e><m:sub><m:r><a:rPr lang="es-AR" sz="1200" i="1"><a:latin typeface="Cambria Math" panose="02040503050406030204" pitchFamily="18" charset="0"/></a:rPr><m:t>𝑠</m:t></m:r></m:sub></m:sSub><m:d><m:dPr><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𝑇</m:t></m:r></m:e><m:sub><m:r><a:rPr lang="es-AR" sz="1200" i="1"><a:latin typeface="Cambria Math" panose="02040503050406030204" pitchFamily="18" charset="0"/></a:rPr><m:t>𝑠</m:t></m:r><m:r><a:rPr lang="es-AR" sz="1200" i="1"><a:latin typeface="Cambria Math" panose="02040503050406030204" pitchFamily="18" charset="0"/></a:rPr><m:t>0</m:t></m:r></m:sub><m:sup><m:r><a:rPr lang="es-AR" sz="1200" i="1"><a:latin typeface="Cambria Math" panose="02040503050406030204" pitchFamily="18" charset="0"/></a:rPr><m:t>𝑜</m:t></m:r></m:sup></m:sSubSup><m:d><m:dPr><m:ctrlPr><a:rPr lang="es-AR" sz="1200" i="1"><a:latin typeface="Cambria Math" panose="02040503050406030204" pitchFamily="18" charset="0"/></a:rPr></m:ctrlPr></m:dPr><m:e><m:r><a:rPr lang="es-AR" sz="1200" i="1"><a:latin typeface="Cambria Math" panose="02040503050406030204" pitchFamily="18" charset="0"/></a:rPr><m:t>𝑡</m:t></m:r></m:e></m:d></m:e></m:d><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0</m:t></m:r><m:r><a:rPr lang="es-AR" sz="1200" i="1"><a:latin typeface="Cambria Math" panose="02040503050406030204" pitchFamily="18" charset="0"/></a:rPr><m:t>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e></m:d><m:r><a:rPr lang="es-AR" sz="1200" i="1"><a:latin typeface="Cambria Math" panose="02040503050406030204" pitchFamily="18" charset="0"/></a:rPr><m:t>Ǖ୘춠Ǖ因翻삠뷉Ǖୠ춠Ǖ嚰翻샀뷉Ǖ୨춠Ǖ</m:t></m:r><m:r><m:rPr><m:sty m:val="p"/></m:rPr><a:rPr lang="es-AR" sz="1200" i="1"><a:latin typeface="Cambria Math" panose="02040503050406030204" pitchFamily="18" charset="0"/></a:rPr><m:t>d</m:t></m:r><m:r><a:rPr lang="es-AR" sz="1200" i="1"><a:latin typeface="Cambria Math" panose="02040503050406030204" pitchFamily="18" charset="0"/></a:rPr><m:t></m:t></m:r><m:r><m:rPr><m:sty m:val="p"/></m:rPr><a:rPr lang="es-AR" sz="1200" i="1"><a:latin typeface="Cambria Math" panose="02040503050406030204" pitchFamily="18" charset="0"/></a:rPr><m:t>p</m:t></m:r><m:r><a:rPr lang="es-AR" sz="1200" i="1"><a:latin typeface="Cambria Math" panose="02040503050406030204" pitchFamily="18" charset="0"/></a:rPr><m:t></m:t></m:r><m:r><m:rPr><m:sty m:val="p"/></m:rPr><a:rPr lang="es-AR" sz="1200" i="1"><a:latin typeface="Cambria Math" panose="02040503050406030204" pitchFamily="18" charset="0"/></a:rPr><m:t>k</m:t></m:r><m:r><a:rPr lang="es-AR" sz="1200" i="1"><a:latin typeface="Cambria Math" panose="02040503050406030204" pitchFamily="18" charset="0"/></a:rPr><m:tര쩿2၀黀븓Ǖɱ郞ퟠ뼫Ǖ䦐줍Ǖ</m:t></m:r><m:r><m:rPr><m:sty m:val="p"/></m:rPr><a:rPr lang="es-AR" sz="1200" i="1"><a:latin typeface="Cambria Math" panose="02040503050406030204" pitchFamily="18" charset="0"/></a:rPr><m:t>l</m:t></m:r><m:r><a:rPr lang="es-AR" sz="1200" i="1"><a:latin typeface="Cambria Math" panose="02040503050406030204" pitchFamily="18" charset="0"/></a:rPr><m:t툠쩾</m:t></m:r></m:e></m:mr><m:mr><m:e><m:f><m:fPr><m:ctrlPr><a:rPr lang="es-AR" sz="1200" i="1"><a:latin typeface="Cambria Math" panose="02040503050406030204" pitchFamily="18" charset="0"/></a:rPr></m:ctrlPr></m:fPr><m:num><m:r><a:rPr lang="es-AR" sz="1200" i="1"><a:latin typeface="Cambria Math" panose="02040503050406030204" pitchFamily="18" charset="0"/></a:rPr><m:t>𝑑</m:t></m:r><m:sSub><m:sSubPr><m:ctrlPr><a:rPr lang="es-AR" sz="1200" i="1"><a:latin typeface="Cambria Math" panose="02040503050406030204" pitchFamily="18" charset="0"/></a:rPr></m:ctrlPr></m:sSubPr><m:e><m:r><a:rPr lang="es-AR" sz="1200" i="1"><a:latin typeface="Cambria Math" panose="02040503050406030204" pitchFamily="18" charset="0"/></a:rPr><m:t>𝑇</m:t></m:r></m:e><m:sub><m:r><a:rPr lang="es-AR" sz="1200" i="1"><a:latin typeface="Cambria Math" panose="02040503050406030204" pitchFamily="18" charset="0"/></a:rPr><m:t>𝑠</m:t></m:r><m:r><a:rPr lang="es-AR" sz="1200" i="1"><a:latin typeface="Cambria Math" panose="02040503050406030204" pitchFamily="18" charset="0"/></a:rPr><m:t>0</m:t></m:r></m:sub></m:sSub><m:d><m:dPr><m:ctrlPr><a:rPr lang="es-AR" sz="1200" i="1"><a:latin typeface="Cambria Math" panose="02040503050406030204" pitchFamily="18" charset="0"/></a:rPr></m:ctrlPr></m:dPr><m:e><m:r><a:rPr lang="es-AR" sz="1200" i="1"><a:latin typeface="Cambria Math" panose="02040503050406030204" pitchFamily="18" charset="0"/></a:rPr><m:t>𝑡</m:t></m:r></m:e></m:d></m:num><m:den><m:r><a:rPr lang="es-AR" sz="1200" i="1"><a:latin typeface="Cambria Math" panose="02040503050406030204" pitchFamily="18" charset="0"/></a:rPr><m:t>𝑑𝑡</m:t></m:r></m:den></m:f><m:r><a:rPr lang="es-AR" sz="1200" i="1"><a:latin typeface="Cambria Math" panose="02040503050406030204" pitchFamily="18" charset="0"/></a:rPr><m:t>=</m:t></m:r><m:f><m:fPr><m:ctrlPr><a:rPr lang="es-AR" sz="1200" i="1"><a:latin typeface="Cambria Math" panose="02040503050406030204" pitchFamily="18" charset="0"/></a:rPr></m:ctrlPr></m:fPr><m:num><m:r><a:rPr lang="es-AR" sz="1200" i="1"><a:latin typeface="Cambria Math" panose="02040503050406030204" pitchFamily="18" charset="0"/></a:rPr><m:t>1</m:t></m:r></m:num><m:den><m:sSub><m:sSubPr><m:ctrlPr><a:rPr lang="es-AR" sz="1200" i="1"><a:latin typeface="Cambria Math" panose="02040503050406030204" pitchFamily="18" charset="0"/></a:rPr></m:ctrlPr></m:sSubPr><m:e><m:r><a:rPr lang="es-AR" sz="1200" i="1"><a:latin typeface="Cambria Math" panose="02040503050406030204" pitchFamily="18" charset="0"/></a:rPr><m:t>𝐶</m:t></m:r></m:e><m:sub><m:r><a:rPr lang="es-AR" sz="1200" i="1"><a:latin typeface="Cambria Math" panose="02040503050406030204" pitchFamily="18" charset="0"/></a:rPr><m:t>𝑡𝑠</m:t></m:r></m:sub></m:sSub></m:den></m:f><m:d><m:dPr><m:begChr m:val="["/><m:endChr m:val="]"/><m:ctrlPr><a:rPr lang="es-AR" sz="1200" i="1"><a:latin typeface="Cambria Math" panose="02040503050406030204" pitchFamily="18" charset="0"/></a:rPr></m:ctrlPr></m:dPr><m:e><m:f><m:fPr><m:ctrlPr><a:rPr lang="es-AR" sz="1200" i="1"><a:latin typeface="Cambria Math" panose="02040503050406030204" pitchFamily="18" charset="0"/></a:rPr></m:ctrlPr></m:fPr><m:num><m:r><a:rPr lang="es-AR" sz="1200" i="1"><a:latin typeface="Cambria Math" panose="02040503050406030204" pitchFamily="18" charset="0"/></a:rPr><m:t>3</m:t></m:r></m:num><m:den><m:r><a:rPr lang="es-AR" sz="1200" i="1"><a:latin typeface="Cambria Math" panose="02040503050406030204" pitchFamily="18" charset="0"/></a:rPr><m:t>2</m:t></m:r></m:den></m:f><m:sSub><m:sSubPr><m:ctrlPr><a:rPr lang="es-AR" sz="1200" i="1"><a:latin typeface="Cambria Math" panose="02040503050406030204" pitchFamily="18" charset="0"/></a:rPr></m:ctrlPr></m:sSubPr><m:e><m:r><a:rPr lang="es-AR" sz="1200" i="1"><a:latin typeface="Cambria Math" panose="02040503050406030204" pitchFamily="18" charset="0"/></a:rPr><m:t>𝑅</m:t></m:r></m:e><m:sub><m:r><a:rPr lang="es-AR" sz="1200" i="1"><a:latin typeface="Cambria Math" panose="02040503050406030204" pitchFamily="18" charset="0"/></a:rPr><m:t>𝑠</m:t></m:r></m:sub></m:sSub><m:d><m:dPr><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𝑇</m:t></m:r></m:e><m:sub><m:r><a:rPr lang="es-AR" sz="1200" i="1"><a:latin typeface="Cambria Math" panose="02040503050406030204" pitchFamily="18" charset="0"/></a:rPr><m:t>𝑠</m:t></m:r><m:r><a:rPr lang="es-AR" sz="1200" i="1"><a:latin typeface="Cambria Math" panose="02040503050406030204" pitchFamily="18" charset="0"/></a:rPr><m:t>0</m:t></m:r></m:sub><m:sup><m:r><a:rPr lang="es-AR" sz="1200" i="1"><a:latin typeface="Cambria Math" panose="02040503050406030204" pitchFamily="18" charset="0"/></a:rPr><m:t>𝑜</m:t></m:r></m:sup></m:sSubSup><m:d><m:dPr><m:ctrlPr><a:rPr lang="es-AR" sz="1200" i="1"><a:latin typeface="Cambria Math" panose="02040503050406030204" pitchFamily="18" charset="0"/></a:rPr></m:ctrlPr></m:dPr><m:e><m:r><a:rPr lang="es-AR" sz="1200" i="1"><a:latin typeface="Cambria Math" panose="02040503050406030204" pitchFamily="18" charset="0"/></a:rPr><m:t>𝑡</m:t></m:r></m:e></m:d></m:e></m:d><m:d><m:dPr><m:ctrlPr><a:rPr lang="es-AR" sz="1200" i="1"><a:latin typeface="Cambria Math" panose="02040503050406030204" pitchFamily="18" charset="0"/></a:rPr></m:ctrlPr></m:dPr><m:e><m:sSup><m:sSupPr><m:ctrlPr><a:rPr lang="es-AR" sz="1200" i="1"><a:latin typeface="Cambria Math" panose="02040503050406030204" pitchFamily="18" charset="0"/></a:rPr></m:ctrlPr></m:sSupPr><m:e><m:d><m:dPr><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𝑞𝑠</m:t></m:r><m:r><a:rPr lang="es-AR" sz="1200" i="1"><a:latin typeface="Cambria Math" panose="02040503050406030204" pitchFamily="18" charset="0"/></a:rPr><m:t>0</m:t></m:r></m:sub><m:sup><m:r><a:rPr lang="es-AR" sz="1200" i="1"><a:latin typeface="Cambria Math" panose="02040503050406030204" pitchFamily="18" charset="0"/></a:rPr><m:t>𝑟</m:t></m:r></m:sup></m:sSubSup></m:e></m:d></m:e><m:sup><m:r><a:rPr lang="es-AR" sz="1200" i="1"><a:latin typeface="Cambria Math" panose="02040503050406030204" pitchFamily="18" charset="0"/></a:rPr><m:t>2</m:t></m:r></m:sup></m:sSup><m:r><a:rPr lang="es-AR" sz="1200" i="1"><a:latin typeface="Cambria Math" panose="02040503050406030204" pitchFamily="18" charset="0"/></a:rPr><m:t>+</m:t></m:r><m:sSup><m:sSupPr><m:ctrlPr><a:rPr lang="es-AR" sz="1200" i="1"><a:latin typeface="Cambria Math" panose="02040503050406030204" pitchFamily="18" charset="0"/></a:rPr></m:ctrlPr></m:sSupPr><m:e><m:d><m:dPr><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𝑑𝑠</m:t></m:r><m:r><a:rPr lang="es-AR" sz="1200" i="1"><a:latin typeface="Cambria Math" panose="02040503050406030204" pitchFamily="18" charset="0"/></a:rPr><m:t>0</m:t></m:r></m:sub><m:sup><m:r><a:rPr lang="es-AR" sz="1200" i="1"><a:latin typeface="Cambria Math" panose="02040503050406030204" pitchFamily="18" charset="0"/></a:rPr><m:t>𝑟</m:t></m:r></m:sup></m:sSubSup></m:e></m:d></m:e><m:sup><m:r><a:rPr lang="es-AR" sz="1200" i="1"><a:latin typeface="Cambria Math" panose="02040503050406030204" pitchFamily="18" charset="0"/></a:rPr><m:t>2</m:t></m:r></m:sup></m:sSup><m:r><a:rPr lang="es-AR" sz="1200" i="1"><a:latin typeface="Cambria Math" panose="02040503050406030204" pitchFamily="18" charset="0"/></a:rPr><m:t>+2</m:t></m:r><m:sSup><m:sSupPr><m:ctrlPr><a:rPr lang="es-AR" sz="1200" i="1"><a:latin typeface="Cambria Math" panose="02040503050406030204" pitchFamily="18" charset="0"/></a:rPr></m:ctrlPr></m:sSupPr><m:e><m:d><m:dPr><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0</m:t></m:r><m:r><a:rPr lang="es-AR" sz="1200" i="1"><a:latin typeface="Cambria Math" panose="02040503050406030204" pitchFamily="18" charset="0"/></a:rPr><m:t>𝑠</m:t></m:r><m:r><a:rPr lang="es-AR" sz="1200" i="1"><a:latin typeface="Cambria Math" panose="02040503050406030204" pitchFamily="18" charset="0"/></a:rPr><m:t>0</m:t></m:r></m:sub><m:sup><m:r><a:rPr lang="es-AR" sz="1200" i="1"><a:latin typeface="Cambria Math" panose="02040503050406030204" pitchFamily="18" charset="0"/></a:rPr><m:t>𝑟</m:t></m:r></m:sup></m:sSubSup></m:e></m:d></m:e><m:sup><m:r><a:rPr lang="es-AR" sz="1200" i="1"><a:latin typeface="Cambria Math" panose="02040503050406030204" pitchFamily="18" charset="0"/></a:rPr><m:t>2</m:t></m:r></m:sup></m:sSup></m:e></m:d><m:r><a:rPr lang="es-AR" sz="1200" i="1"><a:latin typeface="Cambria Math" panose="02040503050406030204" pitchFamily="18" charset="0"/></a:rPr><m:t>−</m:t></m:r><m:f><m:fPr><m:ctrlPr><a:rPr lang="es-AR" sz="1200" i="1"><a:latin typeface="Cambria Math" panose="02040503050406030204" pitchFamily="18" charset="0"/></a:rPr></m:ctrlPr></m:fPr><m:num><m:r><a:rPr lang="es-AR" sz="1200" i="1"><a:latin typeface="Cambria Math" panose="02040503050406030204" pitchFamily="18" charset="0"/></a:rPr><m:t>1</m:t></m:r></m:num><m:den><m:sSub><m:sSubPr><m:ctrlPr><a:rPr lang="es-AR" sz="1200" i="1"><a:latin typeface="Cambria Math" panose="02040503050406030204" pitchFamily="18" charset="0"/></a:rPr></m:ctrlPr></m:sSubPr><m:e><m:r><a:rPr lang="es-AR" sz="1200" i="1"><a:latin typeface="Cambria Math" panose="02040503050406030204" pitchFamily="18" charset="0"/></a:rPr><m:t>𝑅</m:t></m:r></m:e><m:sub><m:r><a:rPr lang="es-AR" sz="1200" i="1"><a:latin typeface="Cambria Math" panose="02040503050406030204" pitchFamily="18" charset="0"/></a:rPr><m:t>𝑡𝑠</m:t></m:r><m:r><a:rPr lang="es-AR" sz="1200" i="1"><a:latin typeface="Cambria Math" panose="02040503050406030204" pitchFamily="18" charset="0"/></a:rPr><m:t>−</m:t></m:r><m:r><a:rPr lang="es-AR" sz="1200" i="1"><a:latin typeface="Cambria Math" panose="02040503050406030204" pitchFamily="18" charset="0"/></a:rPr><m:t>𝑎𝑚𝑏</m:t></m:r></m:sub></m:sSub></m:den></m:f><m:d><m:dPr><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𝑇</m:t></m:r></m:e><m:sub><m:r><a:rPr lang="es-AR" sz="1200" i="1"><a:latin typeface="Cambria Math" panose="02040503050406030204" pitchFamily="18" charset="0"/></a:rPr><m:t>𝑠</m:t></m:r><m:r><a:rPr lang="es-AR" sz="1200" i="1"><a:latin typeface="Cambria Math" panose="02040503050406030204" pitchFamily="18" charset="0"/></a:rPr><m:t>0</m:t></m:r></m:sub><m:sup><m:r><a:rPr lang="es-AR" sz="1200" i="1"><a:latin typeface="Cambria Math" panose="02040503050406030204" pitchFamily="18" charset="0"/></a:rPr><m:t>𝑜</m:t></m:r></m:sup></m:sSubSup><m:d><m:dPr><m:ctrlPr><a:rPr lang="es-AR" sz="1200" i="1"><a:latin typeface="Cambria Math" panose="02040503050406030204" pitchFamily="18" charset="0"/></a:rPr></m:ctrlPr></m:dPr><m:e><m:r><a:rPr lang="es-AR" sz="1200" i="1"><a:latin typeface="Cambria Math" panose="02040503050406030204" pitchFamily="18" charset="0"/></a:rPr><m:t>𝑡</m:t></m:r></m:e></m:d><m:sSubSup><m:sSubSupPr><m:ctrlPr><a:rPr lang="es-AR" sz="1200" i="1"><a:latin typeface="Cambria Math" panose="02040503050406030204" pitchFamily="18" charset="0"/></a:rPr></m:ctrlPr></m:sSubSupPr><m:e><m:r><a:rPr lang="es-AR" sz="1200" i="1"><a:latin typeface="Cambria Math" panose="02040503050406030204" pitchFamily="18" charset="0"/></a:rPr><m:t>−</m:t></m:r><m:r><a:rPr lang="es-AR" sz="1200" i="1"><a:latin typeface="Cambria Math" panose="02040503050406030204" pitchFamily="18" charset="0"/></a:rPr><m:t>𝑇</m:t></m:r></m:e><m:sub><m:r><a:rPr lang="es-AR" sz="1200" i="1"><a:latin typeface="Cambria Math" panose="02040503050406030204" pitchFamily="18" charset="0"/></a:rPr><m:t>𝑎𝑚𝑏</m:t></m:r></m:sub><m:sup><m:r><a:rPr lang="es-AR" sz="1200" i="1"><a:latin typeface="Cambria Math" panose="02040503050406030204" pitchFamily="18" charset="0"/></a:rPr><m:t>𝑜</m:t></m:r></m:sup></m:sSubSup><m:d><m:dPr><m:ctrlPr><a:rPr lang="es-AR" sz="1200" i="1"><a:latin typeface="Cambria Math" panose="02040503050406030204" pitchFamily="18" charset="0"/></a:rPr></m:ctrlPr></m:dPr><m:e><m:r><a:rPr lang="es-AR" sz="1200" i="1"><a:latin typeface="Cambria Math" panose="02040503050406030204" pitchFamily="18" charset="0"/></a:rPr><m:t>𝑡</m:t></m:r></m:e></m:d></m:e></m:d></m:e></m:d><m:r><a:rPr lang="es-AR" sz="1200" i="1"><a:latin typeface="Cambria Math" panose="02040503050406030204" pitchFamily="18" charset="0"/></a:rPr><m:t>=0                         </m:t></m:r></m:e></m:mr></m:m></m:e></m:mr></m:m></m:e></m:mr></m:m></m:e></m:d></m:oMath></m:oMathPara></a14:m><a:endParaRPr lang="en-US" sz="1100" dirty="0"/></a:p></p:txBody></p:sp></mc:Choice><mc:Fallback><p:sp><p:nvSpPr><p:cNvPr id="13" name="Text 11"/><p:cNvSpPr><a:spLocks noRot="1" noChangeAspect="1" noMove="1" noResize="1" noEditPoints="1" noAdjustHandles="1" noChangeArrowheads="1" noChangeShapeType="1" noTextEdit="1"/></p:cNvSpPr><p:nvPr/></p:nvSpPr><p:spPr><a:xfrm><a:off x="1463040" y="2267795"/><a:ext cx="8961120" cy="530352"/></a:xfrm><a:prstGeom prst="rect"><a:avLst/></a:prstGeom><a:blipFill><a:blip r:embed="rId2"/><a:stretch><a:fillRect t="-167816" b="-173563"/></a:stretch></a:blipFill><a:ln/></p:spPr><p:txBody><a:bodyPr/><a:lstStyle/><a:p><a:r><a:rPr lang="es-AR"><a:noFill/></a:rPr><a:t> </a:t></a:r></a:p></p:txBody></p:sp></mc:Fallback></mc:AlternateContent><p:sp><p:nvSpPr><p:cNvPr id="14" name="Text 12"/><p:cNvSpPr/><p:nvPr/></p:nvSpPr><p:spPr><a:xfrm><a:off x="365760" y="4129649"/><a:ext cx="11430000" cy="475488"/></a:xfrm><a:prstGeom prst="rect"><a:avLst/></a:prstGeom><a:noFill/><a:ln/></p:spPr><p:txBody><a:bodyPr wrap="square" rtlCol="0" anchor="t"/><a:lstStyle/><a:p><a:pPr marL="0" indent="0" algn="l"><a:buNone/></a:pPr><a:r><a:rPr lang="en-US" sz="1300" b="1" dirty="0"><a:solidFill><a:srgbClr val="1A386B"/></a:solidFill><a:latin typeface="Calibri" pitchFamily="34" charset="0"/><a:ea typeface="Calibri" pitchFamily="34" charset="-122"/><a:cs typeface="Calibri" pitchFamily="34" charset="-120"/></a:rPr><a:t>2.  Modelo de pequeñas desviaciones Δx(t) (LPV — matrices A(p) y B(p) varían con el punto de operación):</a:t></a:r><a:endParaRPr lang="en-US" sz="1300" dirty="0"/></a:p></p:txBody></p:sp><p:sp><p:nvSpPr><p:cNvPr id="15" name="Shape 13"/><p:cNvSpPr/><p:nvPr/></p:nvSpPr><p:spPr><a:xfrm><a:off x="1371599" y="4528622"/><a:ext cx="9144000" cy="1317365"/></a:xfrm><a:prstGeom prst="rect"><a:avLst/></a:prstGeom><a:solidFill><a:srgbClr val="FFF8E8"/></a:solidFill><a:ln w="19050"><a:solidFill><a:srgbClr val="DDAA00"/></a:solidFill><a:prstDash val="solid"/></a:ln></p:spPr></p:sp><mc:AlternateContent xmlns:mc="http://schemas.openxmlformats.org/markup-compatibility/2006"><mc:Choice xmlns:a14="http://schemas.microsoft.com/office/drawing/2010/main" Requires="a14"><p:sp><p:nvSpPr><p:cNvPr id="16" name="Text 14"/><p:cNvSpPr/><p:nvPr/></p:nvSpPr><p:spPr><a:xfrm><a:off x="1371599" y="4809065"/><a:ext cx="8961120" cy="530352"/></a:xfrm><a:prstGeom prst="rect"><a:avLst/></a:prstGeom><a:noFill/><a:ln/></p:spPr><p:txBody><a:bodyPr wrap="square" rtlCol="0" anchor="ctr"/><a:lstStyle/><a:p><a:pPr algn="ctr"/><a:br><a:rPr lang="es-MX" sz="1400" dirty="0"/></a:br><a14:m><m:oMathPara xmlns:m="http://schemas.openxmlformats.org/officeDocument/2006/math"><m:oMathParaPr><m:jc m:val="centerGroup"/></m:oMathParaPr><m:oMath xmlns:m="http://schemas.openxmlformats.org/officeDocument/2006/math"><m:r><a:rPr lang="es-AR" sz="1400" i="1"/><m:t>𝐴</m:t></m:r><m:r><a:rPr lang="es-AR" sz="1400" i="1"/><m:t>(</m:t></m:r><m:sSub><m:sSubPr><m:ctrlPr><a:rPr lang="es-AR" sz="1400" i="1"/></m:ctrlPr></m:sSubPr><m:e><m:r><a:rPr lang="es-AR" sz="1400" i="1"/><m:t>𝑥</m:t></m:r></m:e><m:sub><m:r><a:rPr lang="es-AR" sz="1400" i="1"/><m:t>0</m:t></m:r></m:sub></m:sSub><m:r><a:rPr lang="es-AR" sz="1400" i="1"/><m:t>,</m:t></m:r><m:sSub><m:sSubPr><m:ctrlPr><a:rPr lang="es-AR" sz="1400" i="1"/></m:ctrlPr></m:sSubPr><m:e><m:r><a:rPr lang="es-AR" sz="1400" i="1"/><m:t>𝑢</m:t></m:r></m:e><m:sub><m:r><a:rPr lang="es-AR" sz="1400" i="1"/><m:t>0</m:t></m:r></m:sub></m:sSub><m:r><a:rPr lang="es-AR" sz="1400" i="1"/><m:t>)=</m:t></m:r><m:d><m:dPr><m:begChr m:val="["/><m:endChr m:val="]"/><m:ctrlPr><a:rPr lang="es-AR" sz="1400" i="1"/></m:ctrlPr></m:dPr><m:e><m:m><m:mPr><m:mcs><m:mc><m:mcPr><m:count m:val="3"/><m:mcJc m:val="center"/></m:mcPr></m:mc></m:mcs><m:ctrlPr><a:rPr lang="es-AR" sz="1400" i="1"/></m:ctrlPr></m:mPr><m:mr><m:e><m:sSub><m:sSubPr><m:ctrlPr><a:rPr lang="es-AR" sz="1400" i="1"/></m:ctrlPr></m:sSubPr><m:e><m:d><m:dPr><m:begChr m:val=""/><m:endChr m:val="|"/><m:ctrlPr><a:rPr lang="es-AR" sz="1400" i="1"/></m:ctrlPr></m:dPr><m:e><m:f><m:fPr><m:ctrlPr><a:rPr lang="es-AR" sz="1400" i="1"/></m:ctrlPr></m:fPr><m:num><m:sSub><m:sSubPr><m:ctrlPr><a:rPr lang="es-AR" sz="1400" i="1"/></m:ctrlPr></m:sSubPr><m:e><m:r><a:rPr lang="es-AR" sz="1400" i="1"/><m:t>𝜕</m:t></m:r><m:r><a:rPr lang="es-AR" sz="1400" i="1"/><m:t>𝑓</m:t></m:r></m:e><m:sub><m:r><a:rPr lang="es-AR" sz="1400" i="1"/><m:t>1</m:t></m:r></m:sub></m:sSub></m:num><m:den><m:sSub><m:sSubPr><m:ctrlPr><a:rPr lang="es-AR" sz="1400" i="1"/></m:ctrlPr></m:sSubPr><m:e><m:r><a:rPr lang="es-AR" sz="1400" i="1"/><m:t>𝜕</m:t></m:r><m:r><a:rPr lang="es-AR" sz="1400" i="1"/><m:t>𝑥</m:t></m:r></m:e><m:sub><m:r><a:rPr lang="es-AR" sz="1400" i="1"/><m:t>1</m:t></m:r></m:sub></m:sSub></m:den></m:f></m:e></m:d></m:e><m:sub><m:r><a:rPr lang="es-AR" sz="1400" i="1"/><m:t>0</m:t></m:r></m:sub></m:sSub></m:e><m:e><m:r><a:rPr lang="es-AR" sz="1400" i="1"/><m:t>⋯</m:t></m:r></m:e><m:e><m:sSub><m:sSubPr><m:ctrlPr><a:rPr lang="es-AR" sz="1400" i="1"/></m:ctrlPr></m:sSubPr><m:e><m:d><m:dPr><m:begChr m:val=""/><m:endChr m:val="|"/><m:ctrlPr><a:rPr lang="es-AR" sz="1400" i="1"/></m:ctrlPr></m:dPr><m:e><m:f><m:fPr><m:ctrlPr><a:rPr lang="es-AR" sz="1400" i="1"/></m:ctrlPr></m:fPr><m:num><m:sSub><m:sSubPr><m:ctrlPr><a:rPr lang="es-AR" sz="1400" i="1"/></m:ctrlPr></m:sSubPr><m:e><m:r><a:rPr lang="es-AR" sz="1400" i="1"/><m:t>𝜕</m:t></m:r><m:r><a:rPr lang="es-AR" sz="1400" i="1"/><m:t>𝑓</m:t></m:r></m:e><m:sub><m:r><a:rPr lang="es-AR" sz="1400" i="1"/><m:t>1</m:t></m:r></m:sub></m:sSub></m:num><m:den><m:sSub><m:sSubPr><m:ctrlPr><a:rPr lang="es-AR" sz="1400" i="1"/></m:ctrlPr></m:sSubPr><m:e><m:r><a:rPr lang="es-AR" sz="1400" i="1"/><m:t>𝜕</m:t></m:r><m:r><a:rPr lang="es-AR" sz="1400" i="1"/><m:t>𝑥</m:t></m:r></m:e><m:sub><m:r><a:rPr lang="es-AR" sz="1400" i="1"/><m:t>𝑛</m:t></m:r></m:sub></m:sSub></m:den></m:f></m:e></m:d></m:e><m:sub><m:r><a:rPr lang="es-AR" sz="1400" i="1"/><m:t>0</m:t></m:r></m:sub></m:sSub></m:e></m:mr><m:mr><m:e><m:r><a:rPr lang="es-AR" sz="1400" i="1"/><m:t>⋮</m:t></m:r></m:e><m:e><m:r><a:rPr lang="es-AR" sz="1400" i="1"/><m:t>⋱</m:t></m:r></m:e><m:e><m:r><a:rPr lang="es-AR" sz="1400" i="1"/><m:t>⋮</m:t></m:r></m:e></m:mr><m:mr><m:e><m:sSub><m:sSubPr><m:ctrlPr><a:rPr lang="es-AR" sz="1400" i="1"/></m:ctrlPr></m:sSubPr><m:e><m:d><m:dPr><m:begChr m:val=""/><m:endChr m:val="|"/><m:ctrlPr><a:rPr lang="es-AR" sz="1400" i="1"/></m:ctrlPr></m:dPr><m:e><m:f><m:fPr><m:ctrlPr><a:rPr lang="es-AR" sz="1400" i="1"/></m:ctrlPr></m:fPr><m:num><m:sSub><m:sSubPr><m:ctrlPr><a:rPr lang="es-AR" sz="1400" i="1"/></m:ctrlPr></m:sSubPr><m:e><m:r><a:rPr lang="es-AR" sz="1400" i="1"/><m:t>𝜕</m:t></m:r><m:r><a:rPr lang="es-AR" sz="1400" i="1"/><m:t>𝑓</m:t></m:r></m:e><m:sub><m:r><a:rPr lang="es-AR" sz="1400" i="1"/><m:t>𝑛</m:t></m:r></m:sub></m:sSub></m:num><m:den><m:sSub><m:sSubPr><m:ctrlPr><a:rPr lang="es-AR" sz="1400" i="1"/></m:ctrlPr></m:sSubPr><m:e><m:r><a:rPr lang="es-AR" sz="1400" i="1"/><m:t>𝜕</m:t></m:r><m:r><a:rPr lang="es-AR" sz="1400" i="1"/><m:t>𝑥</m:t></m:r></m:e><m:sub><m:r><a:rPr lang="es-AR" sz="1400" i="1"/><m:t>1</m:t></m:r></m:sub></m:sSub></m:den></m:f></m:e></m:d></m:e><m:sub><m:r><a:rPr lang="es-AR" sz="1400" i="1"/><m:t>0</m:t></m:r></m:sub></m:sSub></m:e><m:e><m:r><a:rPr lang="es-AR" sz="1400" i="1"/><m:t>⋯</m:t></m:r></m:e><m:e><m:sSub><m:sSubPr><m:ctrlPr><a:rPr lang="es-AR" sz="1400" i="1"/></m:ctrlPr></m:sSubPr><m:e><m:d><m:dPr><m:begChr m:val=""/><m:endChr m:val="|"/><m:ctrlPr><a:rPr lang="es-AR" sz="1400" i="1"/></m:ctrlPr></m:dPr><m:e><m:f><m:fPr><m:ctrlPr><a:rPr lang="es-AR" sz="1400" i="1"/></m:ctrlPr></m:fPr><m:num><m:sSub><m:sSubPr><m:ctrlPr><a:rPr lang="es-AR" sz="1400" i="1"/></m:ctrlPr></m:sSubPr><m:e><m:r><a:rPr lang="es-AR" sz="1400" i="1"/><m:t>𝜕</m:t></m:r><m:r><a:rPr lang="es-AR" sz="1400" i="1"/><m:t>𝑓</m:t></m:r></m:e><m:sub><m:r><a:rPr lang="es-AR" sz="1400" i="1"/><m:t>𝑛</m:t></m:r></m:sub></m:sSub></m:num><m:den><m:sSub><m:sSubPr><m:ctrlPr><a:rPr lang="es-AR" sz="1400" i="1"/></m:ctrlPr></m:sSubPr><m:e><m:r><a:rPr lang="es-AR" sz="1400" i="1"/><m:t>𝜕</m:t></m:r><m:r><a:rPr lang="es-AR" sz="1400" i="1"/><m:t>𝑥</m:t></m:r></m:e><m:sub><m:r><a:rPr lang="es-AR" sz="1400" i="1"/><m:t>𝑛</m:t></m:r></m:sub></m:sSub></m:den></m:f></m:e></m:d></m:e><m:sub><m:r><a:rPr lang="es-AR" sz="1400" i="1"/><m:t>0</m:t></m:r></m:sub></m:sSub></m:e></m:mr></m:m></m:e></m:d><m:r><a:rPr lang="es-AR" sz="1400" i="1"/><m:t> ,                       </m:t></m:r><m:r><a:rPr lang="es-AR" sz="1400" i="1"/><m:t>𝐵</m:t></m:r><m:r><a:rPr lang="es-AR" sz="1400" i="1"/><m:t>(</m:t></m:r><m:sSub><m:sSubPr><m:ctrlPr><a:rPr lang="es-AR" sz="1400" i="1"/></m:ctrlPr></m:sSubPr><m:e><m:r><a:rPr lang="es-AR" sz="1400" i="1"/><m:t>𝑥</m:t></m:r></m:e><m:sub><m:r><a:rPr lang="es-AR" sz="1400" i="1"/><m:t>0</m:t></m:r></m:sub></m:sSub><m:r><a:rPr lang="es-AR" sz="1400" i="1"/><m:t>,</m:t></m:r><m:sSub><m:sSubPr><m:ctrlPr><a:rPr lang="es-AR" sz="1400" i="1"/></m:ctrlPr></m:sSubPr><m:e><m:r><a:rPr lang="es-AR" sz="1400" i="1"/><m:t>𝑢</m:t></m:r></m:e><m:sub><m:r><a:rPr lang="es-AR" sz="1400" i="1"/><m:t>0</m:t></m:r></m:sub></m:sSub><m:r><a:rPr lang="es-AR" sz="1400" i="1"/><m:t>)=</m:t></m:r><m:d><m:dPr><m:begChr m:val="["/><m:endChr m:val="]"/><m:ctrlPr><a:rPr lang="es-AR" sz="1400" i="1"/></m:ctrlPr></m:dPr><m:e><m:m><m:mPr><m:mcs><m:mc><m:mcPr><m:count m:val="3"/><m:mcJc m:val="center"/></m:mcPr></m:mc></m:mcs><m:ctrlPr><a:rPr lang="es-AR" sz="1400" i="1"/></m:ctrlPr></m:mPr><m:mr><m:e><m:sSub><m:sSubPr><m:ctrlPr><a:rPr lang="es-AR" sz="1400" i="1"/></m:ctrlPr></m:sSubPr><m:e><m:d><m:dPr><m:begChr m:val=""/><m:endChr m:val="|"/><m:ctrlPr><a:rPr lang="es-AR" sz="1400" i="1"/></m:ctrlPr></m:dPr><m:e><m:f><m:fPr><m:ctrlPr><a:rPr lang="es-AR" sz="1400" i="1"/></m:ctrlPr></m:fPr><m:num><m:sSub><m:sSubPr><m:ctrlPr><a:rPr lang="es-AR" sz="1400" i="1"/></m:ctrlPr></m:sSubPr><m:e><m:r><a:rPr lang="es-AR" sz="1400" i="1"/><m:t>𝜕</m:t></m:r><m:r><a:rPr lang="es-AR" sz="1400" i="1"/><m:t>𝑓</m:t></m:r></m:e><m:sub><m:r><a:rPr lang="es-AR" sz="1400" i="1"/><m:t>1</m:t></m:r></m:sub></m:sSub></m:num><m:den><m:sSub><m:sSubPr><m:ctrlPr><a:rPr lang="es-AR" sz="1400" i="1"/></m:ctrlPr></m:sSubPr><m:e><m:r><a:rPr lang="es-AR" sz="1400" i="1"/><m:t>𝜕</m:t></m:r><m:r><a:rPr lang="es-AR" sz="1400" i="1"/><m:t>𝑢</m:t></m:r></m:e><m:sub><m:r><a:rPr lang="es-AR" sz="1400" i="1"/><m:t>1</m:t></m:r></m:sub></m:sSub></m:den></m:f></m:e></m:d></m:e><m:sub><m:r><a:rPr lang="es-AR" sz="1400" i="1"/><m:t>0</m:t></m:r></m:sub></m:sSub></m:e><m:e><m:r><a:rPr lang="es-AR" sz="1400" i="1"/><m:t>⋯</m:t></m:r></m:e><m:e><m:sSub><m:sSubPr><m:ctrlPr><a:rPr lang="es-AR" sz="1400" i="1"/></m:ctrlPr></m:sSubPr><m:e><m:d><m:dPr><m:begChr m:val=""/><m:endChr m:val="|"/><m:ctrlPr><a:rPr lang="es-AR" sz="1400" i="1"/></m:ctrlPr></m:dPr><m:e><m:f><m:fPr><m:ctrlPr><a:rPr lang="es-AR" sz="1400" i="1"/></m:ctrlPr></m:fPr><m:num><m:sSub><m:sSubPr><m:ctrlPr><a:rPr lang="es-AR" sz="1400" i="1"/></m:ctrlPr></m:sSubPr><m:e><m:r><a:rPr lang="es-AR" sz="1400" i="1"/><m:t>𝜕</m:t></m:r><m:r><a:rPr lang="es-AR" sz="1400" i="1"/><m:t>𝑓</m:t></m:r></m:e><m:sub><m:r><a:rPr lang="es-AR" sz="1400" i="1"/><m:t>1</m:t></m:r></m:sub></m:sSub></m:num><m:den><m:sSub><m:sSubPr><m:ctrlPr><a:rPr lang="es-AR" sz="1400" i="1"/></m:ctrlPr></m:sSubPr><m:e><m:r><a:rPr lang="es-AR" sz="1400" i="1"/><m:t>𝜕</m:t></m:r><m:r><a:rPr lang="es-AR" sz="1400" i="1"/><m:t>𝑢</m:t></m:r></m:e><m:sub><m:r><a:rPr lang="es-AR" sz="1400" i="1"/><m:t>𝑛</m:t></m:r></m:sub></m:sSub></m:den></m:f></m:e></m:d></m:e><m:sub><m:r><a:rPr lang="es-AR" sz="1400" i="1"/><m:t>0</m:t></m:r></m:sub></m:sSub></m:e></m:mr><m:mr><m:e><m:r><a:rPr lang="es-AR" sz="1400" i="1"/><m:t>⋮</m:t></m:r></m:e><m:e><m:r><a:rPr lang="es-AR" sz="1400" i="1"/><m:t>⋱</m:t></m:r></m:e><m:e><m:r><a:rPr lang="es-AR" sz="1400" i="1"/><m:t>⋮</m:t></m:r></m:e></m:mr><m:mr><m:e><m:sSub><m:sSubPr><m:ctrlPr><a:rPr lang="es-AR" sz="1400" i="1"/></m:ctrlPr></m:sSubPr><m:e><m:d><m:dPr><m:begChr m:val=""/><m:endChr m:val="|"/><m:ctrlPr><a:rPr lang="es-AR" sz="1400" i="1"/></m:ctrlPr></m:dPr><m:e><m:f><m:fPr><m:ctrlPr><a:rPr lang="es-AR" sz="1400" i="1"/></m:ctrlPr></m:fPr><m:num><m:sSub><m:sSubPr><m:ctrlPr><a:rPr lang="es-AR" sz="1400" i="1"/></m:ctrlPr></m:sSubPr><m:e><m:r><a:rPr lang="es-AR" sz="1400" i="1"/><m:t>𝜕</m:t></m:r><m:r><a:rPr lang="es-AR" sz="1400" i="1"/><m:t>𝑓</m:t></m:r></m:e><m:sub><m:r><a:rPr lang="es-AR" sz="1400" i="1"/><m:t>𝑛</m:t></m:r></m:sub></m:sSub></m:num><m:den><m:sSub><m:sSubPr><m:ctrlPr><a:rPr lang="es-AR" sz="1400" i="1"/></m:ctrlPr></m:sSubPr><m:e><m:r><a:rPr lang="es-AR" sz="1400" i="1"/><m:t>𝜕</m:t></m:r><m:r><a:rPr lang="es-AR" sz="1400" i="1"/><m:t>𝑢</m:t></m:r></m:e><m:sub><m:r><a:rPr lang="es-AR" sz="1400" i="1"/><m:t>1</m:t></m:r></m:sub></m:sSub></m:den></m:f></m:e></m:d></m:e><m:sub><m:r><a:rPr lang="es-AR" sz="1400" i="1"/><m:t>0</m:t></m:r></m:sub></m:sSub></m:e><m:e><m:r><a:rPr lang="es-AR" sz="1400" i="1"/><m:t>⋯</m:t></m:r></m:e><m:e><m:sSub><m:sSubPr><m:ctrlPr><a:rPr lang="es-AR" sz="1400" i="1"/></m:ctrlPr></m:sSubPr><m:e><m:d><m:dPr><m:begChr m:val=""/><m:endChr m:val="|"/><m:ctrlPr><a:rPr lang="es-AR" sz="1400" i="1"/></m:ctrlPr></m:dPr><m:e><m:f><m:fPr><m:ctrlPr><a:rPr lang="es-AR" sz="1400" i="1"/></m:ctrlPr></m:fPr><m:num><m:sSub><m:sSubPr><m:ctrlPr><a:rPr lang="es-AR" sz="1400" i="1"/></m:ctrlPr></m:sSubPr><m:e><m:r><a:rPr lang="es-AR" sz="1400" i="1"/><m:t>𝜕</m:t></m:r><m:r><a:rPr lang="es-AR" sz="1400" i="1"/><m:t>𝑓</m:t></m:r></m:e><m:sub><m:r><a:rPr lang="es-AR" sz="1400" i="1"/><m:t>𝑛</m:t></m:r></m:sub></m:sSub></m:num><m:den><m:sSub><m:sSubPr><m:ctrlPr><a:rPr lang="es-AR" sz="1400" i="1"/></m:ctrlPr></m:sSubPr><m:e><m:r><a:rPr lang="es-AR" sz="1400" i="1"/><m:t>𝜕</m:t></m:r><m:r><a:rPr lang="es-AR" sz="1400" i="1"/><m:t>𝑢</m:t></m:r></m:e><m:sub><m:r><a:rPr lang="es-AR" sz="1400" i="1"/><m:t>𝑛</m:t></m:r></m:sub></m:sSub></m:den></m:f></m:e></m:d></m:e><m:sub><m:r><a:rPr lang="es-AR" sz="1400" i="1"/><m:t>0</m:t></m:r></m:sub></m:sSub></m:e></m:mr></m:m></m:e></m:d></m:oMath></m:oMathPara></a14:m><a:endParaRPr lang="en-US" sz="1400" dirty="0"/></a:p></p:txBody></p:sp></mc:Choice><mc:Fallback><p:sp><p:nvSpPr><p:cNvPr id="16" name="Text 14"/><p:cNvSpPr><a:spLocks noRot="1" noChangeAspect="1" noMove="1" noResize="1" noEditPoints="1" noAdjustHandles="1" noChangeArrowheads="1" noChangeShapeType="1" noTextEdit="1"/></p:cNvSpPr><p:nvPr/></p:nvSpPr><p:spPr><a:xfrm><a:off x="1371599" y="4809065"/><a:ext cx="8961120" cy="530352"/></a:xfrm><a:prstGeom prst="rect"><a:avLst/></a:prstGeom><a:blipFill><a:blip r:embed="rId3"/><a:stretch><a:fillRect t="-37931" b="-86207"/></a:stretch></a:blipFill><a:ln/></p:spPr><p:txBody><a:bodyPr/><a:lstStyle/><a:p><a:r><a:rPr lang="es-AR"><a:noFill/></a:rPr><a:t> </a:t></a:r></a:p></p:txBody></p:sp></mc:Fallback></mc:AlternateContent><mc:AlternateContent xmlns:mc="http://schemas.openxmlformats.org/markup-compatibility/2006" xmlns:a14="http://schemas.microsoft.com/office/drawing/2010/main"><mc:Choice Requires="a14"><p:sp><p:nvSpPr><p:cNvPr id="20" name="CuadroTexto 19"><a:extLst><a:ext uri="{FF2B5EF4-FFF2-40B4-BE49-F238E27FC236}"><a16:creationId xmlns:a16="http://schemas.microsoft.com/office/drawing/2014/main" id="{62552072-93AD-44B7-AA9E-5C03109DB1C9}"/></a:ext></a:extLst></p:cNvPr><p:cNvSpPr txBox="1"/><p:nvPr/></p:nvSpPr><p:spPr><a:xfrm><a:off x="3046602" y="843816"/><a:ext cx="6098796" cy="348685"/></a:xfrm><a:prstGeom prst="rect"><a:avLst/></a:prstGeom><a:noFill/></p:spPr><p:txBody><a:bodyPr wrap="square"><a:spAutoFit/></a:bodyPr><a:lstStyle/><a:p><a:pPr/><a14:m><m:oMathPara xmlns:m="http://schemas.openxmlformats.org/officeDocument/2006/math"><m:oMathParaPr><m:jc m:val="centerGroup"/></m:oMathParaPr><m:oMath xmlns:m="http://schemas.openxmlformats.org/officeDocument/2006/math"><m:sSub><m:sSubPr><m:ctrlPr><a:rPr lang="es-AR" sz="1050" i="1" smtClean="0"><a:effectLst/><a:latin typeface="Cambria Math" panose="02040503050406030204" pitchFamily="18" charset="0"/><a:cs typeface="Calibri" panose="020F0502020204030204" pitchFamily="34" charset="0"/></a:rPr></m:ctrlPr></m:sSubPr><m:e><m:acc><m:accPr><m:chr m:val="̇"/><m:ctrlPr><a:rPr lang="es-AR" sz="1050" i="1" smtClean="0"><a:effectLst/><a:latin typeface="Cambria Math" panose="02040503050406030204" pitchFamily="18" charset="0"/><a:cs typeface="Calibri" panose="020F0502020204030204" pitchFamily="34" charset="0"/></a:rPr></m:ctrlPr></m:accPr><m:e><m:r><a:rPr lang="es-AR" sz="1600" i="1"><a:effectLst/><a:latin typeface="Cambria Math" panose="02040503050406030204" pitchFamily="18" charset="0"/><a:ea typeface="Calibri" panose="020F0502020204030204" pitchFamily="34" charset="0"/><a:cs typeface="Calibri" panose="020F0502020204030204" pitchFamily="34" charset="0"/></a:rPr><m:t>𝑋</m:t></m:r></m:e></m:acc></m:e><m:sub><m:r><a:rPr lang="es-AR" sz="1600" i="1"><a:effectLst/><a:latin typeface="Cambria Math" panose="02040503050406030204" pitchFamily="18" charset="0"/><a:ea typeface="Calibri" panose="020F0502020204030204" pitchFamily="34" charset="0"/><a:cs typeface="Calibri" panose="020F0502020204030204" pitchFamily="34" charset="0"/></a:rPr><m:t>0</m:t></m:r></m:sub></m:sSub><m:d><m:dPr><m:ctrlPr><a:rPr lang="es-AR" sz="1050" i="1"><a:effectLst/><a:latin typeface="Cambria Math" panose="02040503050406030204" pitchFamily="18" charset="0"/><a:cs typeface="Calibri" panose="020F0502020204030204" pitchFamily="34" charset="0"/></a:rPr></m:ctrlPr></m:dPr><m:e><m:r><a:rPr lang="es-AR" sz="1600" i="1"><a:effectLst/><a:latin typeface="Cambria Math" panose="02040503050406030204" pitchFamily="18" charset="0"/><a:ea typeface="Calibri" panose="020F0502020204030204" pitchFamily="34" charset="0"/><a:cs typeface="Calibri" panose="020F0502020204030204" pitchFamily="34" charset="0"/></a:rPr><m:t>𝑡</m:t></m:r></m:e></m:d><m:r><a:rPr lang="es-AR" sz="1600" i="1"><a:effectLst/><a:latin typeface="Cambria Math" panose="02040503050406030204" pitchFamily="18" charset="0"/><a:ea typeface="Calibri" panose="020F0502020204030204" pitchFamily="34" charset="0"/><a:cs typeface="Times New Roman" panose="02020603050405020304" pitchFamily="18" charset="0"/></a:rPr><m:t>=</m:t></m:r><m:r><a:rPr lang="es-AR" sz="1600" i="1"><a:effectLst/><a:latin typeface="Cambria Math" panose="02040503050406030204" pitchFamily="18" charset="0"/><a:ea typeface="Calibri" panose="020F0502020204030204" pitchFamily="34" charset="0"/><a:cs typeface="Times New Roman" panose="02020603050405020304" pitchFamily="18" charset="0"/></a:rPr><m:t>𝑓</m:t></m:r><m:d><m:dPr><m:ctrlPr><a:rPr lang="es-AR" sz="1050" i="1"><a:effectLst/><a:latin typeface="Cambria Math" panose="02040503050406030204" pitchFamily="18" charset="0"/></a:rPr></m:ctrlPr></m:dPr><m:e><m:sSub><m:sSubPr><m:ctrlPr><a:rPr lang="es-AR" sz="1050" i="1"><a:effectLst/><a:latin typeface="Cambria Math" panose="02040503050406030204" pitchFamily="18" charset="0"/></a:rPr></m:ctrlPr></m:sSubPr><m:e><m:r><a:rPr lang="es-AR" sz="1600" i="1"><a:effectLst/><a:latin typeface="Cambria Math" panose="02040503050406030204" pitchFamily="18" charset="0"/><a:ea typeface="Calibri" panose="020F0502020204030204" pitchFamily="34" charset="0"/><a:cs typeface="Times New Roman" panose="02020603050405020304" pitchFamily="18" charset="0"/></a:rPr><m:t>𝑋</m:t></m:r></m:e><m:sub><m:r><a:rPr lang="es-AR" sz="1600" i="1"><a:effectLst/><a:latin typeface="Cambria Math" panose="02040503050406030204" pitchFamily="18" charset="0"/><a:ea typeface="Calibri" panose="020F0502020204030204" pitchFamily="34" charset="0"/><a:cs typeface="Times New Roman" panose="02020603050405020304" pitchFamily="18" charset="0"/></a:rPr><m:t>𝑜</m:t></m:r></m:sub></m:sSub><m:d><m:dPr><m:ctrlPr><a:rPr lang="es-AR" sz="1050" i="1"><a:effectLst/><a:latin typeface="Cambria Math" panose="02040503050406030204" pitchFamily="18" charset="0"/></a:rPr></m:ctrlPr></m:dPr><m:e><m:r><a:rPr lang="es-AR" sz="1600" i="1"><a:effectLst/><a:latin typeface="Cambria Math" panose="02040503050406030204" pitchFamily="18" charset="0"/><a:ea typeface="Calibri" panose="020F0502020204030204" pitchFamily="34" charset="0"/><a:cs typeface="Times New Roman" panose="02020603050405020304" pitchFamily="18" charset="0"/></a:rPr><m:t>𝑡</m:t></m:r></m:e></m:d><m:r><a:rPr lang="es-AR" sz="1600" i="1"><a:effectLst/><a:latin typeface="Cambria Math" panose="02040503050406030204" pitchFamily="18" charset="0"/><a:ea typeface="Calibri" panose="020F0502020204030204" pitchFamily="34" charset="0"/><a:cs typeface="Times New Roman" panose="02020603050405020304" pitchFamily="18" charset="0"/></a:rPr><m:t>,</m:t></m:r><m:sSub><m:sSubPr><m:ctrlPr><a:rPr lang="es-AR" sz="1050" i="1"><a:effectLst/><a:latin typeface="Cambria Math" panose="02040503050406030204" pitchFamily="18" charset="0"/></a:rPr></m:ctrlPr></m:sSubPr><m:e><m:r><a:rPr lang="es-AR" sz="1600" i="1"><a:effectLst/><a:latin typeface="Cambria Math" panose="02040503050406030204" pitchFamily="18" charset="0"/><a:ea typeface="Calibri" panose="020F0502020204030204" pitchFamily="34" charset="0"/><a:cs typeface="Times New Roman" panose="02020603050405020304" pitchFamily="18" charset="0"/></a:rPr><m:t>𝑈</m:t></m:r></m:e><m:sub><m:r><a:rPr lang="es-AR" sz="1600" i="1"><a:effectLst/><a:latin typeface="Cambria Math" panose="02040503050406030204" pitchFamily="18" charset="0"/><a:ea typeface="Calibri" panose="020F0502020204030204" pitchFamily="34" charset="0"/><a:cs typeface="Times New Roman" panose="02020603050405020304" pitchFamily="18" charset="0"/></a:rPr><m:t>𝑜</m:t></m:r></m:sub></m:sSub><m:d><m:dPr><m:ctrlPr><a:rPr lang="es-AR" sz="1050" i="1"><a:effectLst/><a:latin typeface="Cambria Math" panose="02040503050406030204" pitchFamily="18" charset="0"/></a:rPr></m:ctrlPr></m:dPr><m:e><m:r><a:rPr lang="es-AR" sz="1600" i="1"><a:effectLst/><a:latin typeface="Cambria Math" panose="02040503050406030204" pitchFamily="18" charset="0"/><a:ea typeface="Calibri" panose="020F0502020204030204" pitchFamily="34" charset="0"/><a:cs typeface="Times New Roman" panose="02020603050405020304" pitchFamily="18" charset="0"/></a:rPr><m:t>𝑡</m:t></m:r></m:e></m:d></m:e></m:d><m:r><a:rPr lang="es-AR" sz="1600" i="1"><a:effectLst/><a:latin typeface="Cambria Math" panose="02040503050406030204" pitchFamily="18" charset="0"/><a:ea typeface="Calibri" panose="020F0502020204030204" pitchFamily="34" charset="0"/><a:cs typeface="Times New Roman" panose="02020603050405020304" pitchFamily="18" charset="0"/></a:rPr><m:t>≈</m:t></m:r><m:r><a:rPr lang="es-AR" sz="1600" i="1"><a:effectLst/><a:latin typeface="Cambria Math" panose="02040503050406030204" pitchFamily="18" charset="0"/><a:ea typeface="Calibri" panose="020F0502020204030204" pitchFamily="34" charset="0"/><a:cs typeface="Times New Roman" panose="02020603050405020304" pitchFamily="18" charset="0"/></a:rPr><m:t>𝑐𝑡𝑒</m:t></m:r></m:oMath></m:oMathPara></a14:m><a:endParaRPr lang="es-AR" dirty="0"/></a:p></p:txBody></p:sp></mc:Choice><mc:Fallback xmlns=""><p:sp><p:nvSpPr><p:cNvPr id="20" name="CuadroTexto 19"><a:extLst><a:ext uri="{FF2B5EF4-FFF2-40B4-BE49-F238E27FC236}"><a16:creationId xmlns:a16="http://schemas.microsoft.com/office/drawing/2014/main" id="{62552072-93AD-44B7-AA9E-5C03109DB1C9}"/></a:ext></a:extLst></p:cNvPr><p:cNvSpPr txBox="1"><a:spLocks noRot="1" noChangeAspect="1" noMove="1" noResize="1" noEditPoints="1" noAdjustHandles="1" noChangeArrowheads="1" noChangeShapeType="1" noTextEdit="1"/></p:cNvSpPr><p:nvPr/></p:nvSpPr><p:spPr><a:xfrm><a:off x="3046602" y="843816"/><a:ext cx="6098796" cy="348685"/></a:xfrm><a:prstGeom prst="rect"><a:avLst/></a:prstGeom><a:blipFill><a:blip r:embed="rId5"/><a:stretch><a:fillRect b="-3448"/></a:stretch></a:blipFill></p:spPr><p:txBody><a:bodyPr/><a:lstStyle/><a:p><a:r><a:rPr lang="es-AR"><a:noFill/></a:rPr><a:t> </a:t></a:r></a:p></p:txBody></p:sp></mc:Fallback></mc:AlternateContent><mc:AlternateContent xmlns:mc="http://schemas.openxmlformats.org/markup-compatibility/2006"><mc:Choice xmlns:a14="http://schemas.microsoft.com/office/drawing/2010/main" Requires="a14"><p:sp><p:nvSpPr><p:cNvPr id="22" name="CuadroTexto 21"><a:extLst><a:ext uri="{FF2B5EF4-FFF2-40B4-BE49-F238E27FC236}"><a16:creationId xmlns:a16="http://schemas.microsoft.com/office/drawing/2014/main" id="{778FF9FF-370D-406E-B50A-A717C2ABCFAC}"/></a:ext></a:extLst></p:cNvPr><p:cNvSpPr txBox="1"/><p:nvPr/></p:nvSpPr><p:spPr><a:xfrm><a:off x="7769253" y="4129649"/><a:ext cx="3571615" cy="307777"/></a:xfrm><a:prstGeom prst="rect"><a:avLst/></a:prstGeom><a:noFill/></p:spPr><p:txBody><a:bodyPr wrap="square"><a:spAutoFit/></a:bodyPr><a:lstStyle/><a:p><a:pPr/><a14:m><m:oMathPara xmlns:m="http://schemas.openxmlformats.org/officeDocument/2006/math"><m:oMathParaPr><m:jc m:val="centerGroup"/></m:oMathParaPr><m:oMath xmlns:m="http://schemas.openxmlformats.org/officeDocument/2006/math"><m:r><m:rPr><m:sty m:val="p"/></m:rPr><a:rPr lang="es-AR" sz="1400"/><m:t>Δ</m:t></m:r><m:acc><m:accPr><m:chr m:val="̇"/><m:ctrlPr><a:rPr lang="es-AR" sz="1400" i="1"/></m:ctrlPr></m:accPr><m:e><m:r><a:rPr lang="es-AR" sz="1400" i="1"/><m:t>𝑥</m:t></m:r></m:e></m:acc><m:d><m:dPr><m:ctrlPr><a:rPr lang="es-AR" sz="1400" i="1"/></m:ctrlPr></m:dPr><m:e><m:r><a:rPr lang="es-AR" sz="1400" i="1"/><m:t>𝑡</m:t></m:r></m:e></m:d><m:r><a:rPr lang="es-AR" sz="1400"/><m:t>=</m:t></m:r><m:r><a:rPr lang="es-AR" sz="1400" i="1"/><m:t>𝐴</m:t></m:r><m:r><a:rPr lang="es-AR" sz="1400" i="1"/><m:t>(</m:t></m:r><m:sSub><m:sSubPr><m:ctrlPr><a:rPr lang="es-AR" sz="1400" i="1"/></m:ctrlPr></m:sSubPr><m:e><m:r><a:rPr lang="es-AR" sz="1400" i="1"/><m:t>𝑥</m:t></m:r></m:e><m:sub><m:r><a:rPr lang="es-AR" sz="1400" i="1"/><m:t>0</m:t></m:r></m:sub></m:sSub><m:r><a:rPr lang="es-AR" sz="1400" i="1"/><m:t>,</m:t></m:r><m:sSub><m:sSubPr><m:ctrlPr><a:rPr lang="es-AR" sz="1400" i="1"/></m:ctrlPr></m:sSubPr><m:e><m:r><a:rPr lang="es-AR" sz="1400" i="1"/><m:t>𝑢</m:t></m:r></m:e><m:sub><m:r><a:rPr lang="es-AR" sz="1400" i="1"/><m:t>0</m:t></m:r></m:sub></m:sSub><m:r><a:rPr lang="es-AR" sz="1400" i="1"/><m:t>)</m:t></m:r><m:r><a:rPr lang="es-AR" sz="1400"/><m:t>⋅</m:t></m:r><m:r><m:rPr><m:sty m:val="p"/></m:rPr><a:rPr lang="es-AR" sz="1400"/><m:t>Δ</m:t></m:r><m:r><a:rPr lang="es-AR" sz="1400" i="1"/><m:t>𝑥</m:t></m:r><m:d><m:dPr><m:ctrlPr><a:rPr lang="es-AR" sz="1400" i="1"/></m:ctrlPr></m:dPr><m:e><m:r><a:rPr lang="es-AR" sz="1400" i="1"/><m:t>𝑡</m:t></m:r></m:e></m:d><m:r><a:rPr lang="es-AR" sz="1400"/><m:t>+</m:t></m:r><m:r><a:rPr lang="es-AR" sz="1400" i="1"/><m:t>𝐵</m:t></m:r><m:r><a:rPr lang="es-AR" sz="1400" i="1"/><m:t>(</m:t></m:r><m:sSub><m:sSubPr><m:ctrlPr><a:rPr lang="es-AR" sz="1400" i="1"/></m:ctrlPr></m:sSubPr><m:e><m:r><a:rPr lang="es-AR" sz="1400" i="1"/><m:t>𝑥</m:t></m:r></m:e><m:sub><m:r><a:rPr lang="es-AR" sz="1400" i="1"/><m:t>0</m:t></m:r></m:sub></m:sSub><m:r><a:rPr lang="es-AR" sz="1400" i="1"/><m:t>,</m:t></m:r><m:sSub><m:sSubPr><m:ctrlPr><a:rPr lang="es-AR" sz="1400" i="1"/></m:ctrlPr></m:sSubPr><m:e><m:r><a:rPr lang="es-AR" sz="1400" i="1"/><m:t>𝑢</m:t></m:r></m:e><m:sub><m:r><a:rPr lang="es-AR" sz="1400" i="1"/><m:t>0</m:t></m:r></m:sub></m:sSub><m:r><a:rPr lang="es-AR" sz="1400" i="1"/><m:t>)</m:t></m:r><m:r><a:rPr lang="es-AR" sz="1400"/><m:t>⋅</m:t></m:r><m:r><m:rPr><m:sty m:val="p"/></m:rPr><a:rPr lang="es-AR" sz="1400"/><m:t>Δ</m:t></m:r><m:r><a:rPr lang="es-AR" sz="1400" i="1"/><m:t>𝑢</m:t></m:r><m:d><m:dPr><m:ctrlPr><a:rPr lang="es-AR" sz="1400" i="1"/></m:ctrlPr></m:dPr><m:e><m:r><a:rPr lang="es-AR" sz="1400" i="1"/><m:t>𝑡</m:t></m:r></m:e></m:d></m:oMath></m:oMathPara></a14:m><a:endParaRPr lang="es-AR" sz="1400" dirty="0"/></a:p></p:txBody></p:sp></mc:Choice><mc:Fallback><p:sp><p:nvSpPr><p:cNvPr id="22" name="CuadroTexto 21"><a:extLst><a:ext uri="{FF2B5EF4-FFF2-40B4-BE49-F238E27FC236}"><a16:creationId xmlns:a16="http://schemas.microsoft.com/office/drawing/2014/main" id="{778FF9FF-370D-406E-B50A-A717C2ABCFAC}"/></a:ext></a:extLst></p:cNvPr><p:cNvSpPr txBox="1"><a:spLocks noRot="1" noChangeAspect="1" noMove="1" noResize="1" noEditPoints="1" noAdjustHandles="1" noChangeArrowheads="1" noChangeShapeType="1" noTextEdit="1"/></p:cNvSpPr><p:nvPr/></p:nvSpPr><p:spPr><a:xfrm><a:off x="7769253" y="4129649"/><a:ext cx="3571615" cy="307777"/></a:xfrm><a:prstGeom prst="rect"><a:avLst/></a:prstGeom><a:blipFill><a:blip r:embed="rId6"/><a:stretch><a:fillRect b="-5882"/></a:stretch></a:blipFill></p:spPr><p:txBody><a:bodyPr/><a:lstStyle/><a:p><a:r><a:rPr lang="es-AR"><a:noFill/></a:rPr><a:t> </a:t></a:r></a:p></p:txBody></p:sp></mc:Fallback></mc:AlternateContent></p:spTree><p:extLst><p:ext uri="{BB962C8B-B14F-4D97-AF65-F5344CB8AC3E}"><p14:creationId xmlns:p14="http://schemas.microsoft.com/office/powerpoint/2010/main" val="4198965058"/></p:ext></p:extLst></p:cSld><p:clrMapOvr><a:masterClrMapping/></p:clrMapOvr></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jacobiana — Modelo LPV</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Shape 10"/>
          <p:cNvSpPr/>
          <p:nvPr/>
        </p:nvSpPr>
        <p:spPr>
          <a:xfrm>
            <a:off x="520117" y="897623"/>
            <a:ext cx="10343626" cy="2967375"/>
          </a:xfrm>
          <a:prstGeom prst="rect">
            <a:avLst/>
          </a:prstGeom>
          <a:solidFill>
            <a:srgbClr val="FFF8E8"/>
          </a:solidFill>
          <a:ln w="19050">
            <a:solidFill>
              <a:srgbClr val="DDAA00"/>
            </a:solidFill>
            <a:prstDash val="solid"/>
          </a:ln>
        </p:spPr>
        <p:txBody>
          <a:bodyPr/>
          <a:lstStyle/>
          <a:p>
            <a:endParaRPr lang="es-AR" dirty="0"/>
          </a:p>
        </p:txBody>
      </p:sp>
      <mc:AlternateContent xmlns:mc="http://schemas.openxmlformats.org/markup-compatibility/2006" xmlns:a14="http://schemas.microsoft.com/office/drawing/2010/main">
        <mc:Choice Requires="a14">
          <p:sp>
            <p:nvSpPr>
              <p:cNvPr id="13" name="Text 11"/>
              <p:cNvSpPr/>
              <p:nvPr/>
            </p:nvSpPr>
            <p:spPr>
              <a:xfrm>
                <a:off x="1200466" y="1777415"/>
                <a:ext cx="9132254" cy="1230414"/>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eqArr>
                            <m:eqArrPr>
                              <m:ctrlPr>
                                <a:rPr lang="es-AR" sz="1400" i="1">
                                  <a:latin typeface="Cambria Math" panose="02040503050406030204" pitchFamily="18" charset="0"/>
                                </a:rPr>
                              </m:ctrlPr>
                            </m:eqArr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  </m:t>
                              </m:r>
                              <m:r>
                                <a:rPr lang="es-AR" sz="1400" i="1">
                                  <a:latin typeface="Cambria Math" panose="02040503050406030204" pitchFamily="18" charset="0"/>
                                </a:rPr>
                                <m:t>                                                                                                                                                                                                                        </m:t>
                              </m:r>
                            </m:e>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d>
                                      <m:dPr>
                                        <m:begChr m:val="["/>
                                        <m:endChr m:val="]"/>
                                        <m:ctrlPr>
                                          <a:rPr lang="es-AR" sz="1400" i="1">
                                            <a:latin typeface="Cambria Math" panose="02040503050406030204" pitchFamily="18" charset="0"/>
                                          </a:rPr>
                                        </m:ctrlPr>
                                      </m:dPr>
                                      <m:e>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r>
                                          <a:rPr lang="es-AR" sz="1400">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r>
                                          <a:rPr lang="es-AR" sz="1400">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𝑔</m:t>
                                            </m:r>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𝑙</m:t>
                                                </m:r>
                                              </m:sub>
                                            </m:sSub>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d>
                                  </m:e>
                                </m:mr>
                                <m:m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d>
                                            <m:dPr>
                                              <m:ctrlPr>
                                                <a:rPr lang="es-AR" sz="1400" i="1">
                                                  <a:latin typeface="Cambria Math" panose="02040503050406030204" pitchFamily="18" charset="0"/>
                                                </a:rPr>
                                              </m:ctrlPr>
                                            </m:dP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r>
                                                        <a:rPr lang="es-AR" sz="1400" i="1">
                                                          <a:latin typeface="Cambria Math" panose="02040503050406030204" pitchFamily="18" charset="0"/>
                                                        </a:rPr>
                                                        <m:t>0</m:t>
                                                      </m:r>
                                                    </m:sub>
                                                    <m:sup>
                                                      <m:r>
                                                        <a:rPr lang="es-AR" sz="1400" i="1">
                                                          <a:latin typeface="Cambria Math" panose="02040503050406030204" pitchFamily="18" charset="0"/>
                                                        </a:rPr>
                                                        <m:t>𝑟</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r>
                                                <a:rPr lang="es-AR" sz="1400">
                                                  <a:latin typeface="Cambria Math" panose="02040503050406030204" pitchFamily="18" charset="0"/>
                                                </a:rPr>
                                                <m:t>⋅</m:t>
                                              </m:r>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r>
                                                    <a:rPr lang="es-AR" sz="1400" i="1">
                                                      <a:latin typeface="Cambria Math" panose="02040503050406030204" pitchFamily="18" charset="0"/>
                                                    </a:rPr>
                                                    <m:t>0</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r>
                                            <m:rPr>
                                              <m:nor/>
                                            </m:rPr>
                                            <a:rPr lang="es-MX" sz="1400" b="0" i="0" smtClean="0"/>
                                            <m:t>   </m:t>
                                          </m:r>
                                          <m:r>
                                            <m:rPr>
                                              <m:nor/>
                                            </m:rPr>
                                            <a:rPr lang="es-AR" sz="1400"/>
                                            <m:t>       </m:t>
                                          </m:r>
                                          <m:r>
                                            <a:rPr lang="es-AR" sz="1400" i="1">
                                              <a:latin typeface="Cambria Math" panose="02040503050406030204" pitchFamily="18" charset="0"/>
                                            </a:rPr>
                                            <m:t>   </m:t>
                                          </m:r>
                                        </m:e>
                                      </m:m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d>
                                            <m:dPr>
                                              <m:ctrlPr>
                                                <a:rPr lang="es-AR" sz="1400" i="1">
                                                  <a:latin typeface="Cambria Math" panose="02040503050406030204" pitchFamily="18" charset="0"/>
                                                </a:rPr>
                                              </m:ctrlPr>
                                            </m:dP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r>
                                                        <a:rPr lang="es-AR" sz="1400" i="1">
                                                          <a:latin typeface="Cambria Math" panose="02040503050406030204" pitchFamily="18" charset="0"/>
                                                        </a:rPr>
                                                        <m:t>0</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d>
                                          <m:r>
                                            <a:rPr lang="es-AR" sz="1400" i="1">
                                              <a:latin typeface="Cambria Math" panose="02040503050406030204" pitchFamily="18" charset="0"/>
                                            </a:rPr>
                                            <m:t>,                                                                                     </m:t>
                                          </m:r>
                                        </m:e>
                                      </m:mr>
                                      <m:m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den>
                                                </m:f>
                                                <m:d>
                                                  <m:dPr>
                                                    <m:ctrlPr>
                                                      <a:rPr lang="es-AR" sz="1400" i="1">
                                                        <a:latin typeface="Cambria Math" panose="02040503050406030204" pitchFamily="18" charset="0"/>
                                                      </a:rPr>
                                                    </m:ctrlPr>
                                                  </m:d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d>
                                                  <m:dPr>
                                                    <m:begChr m:val="["/>
                                                    <m:endChr m:val="]"/>
                                                    <m:ctrlPr>
                                                      <a:rPr lang="es-AR" sz="1400" i="1">
                                                        <a:latin typeface="Cambria Math" panose="02040503050406030204" pitchFamily="18" charset="0"/>
                                                      </a:rPr>
                                                    </m:ctrlPr>
                                                  </m:dPr>
                                                  <m:e>
                                                    <m:r>
                                                      <a:rPr lang="es-AR" sz="1400" i="1">
                                                        <a:latin typeface="Cambria Math" panose="02040503050406030204" pitchFamily="18" charset="0"/>
                                                      </a:rPr>
                                                      <m:t>3</m:t>
                                                    </m:r>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+2</m:t>
                                                        </m:r>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r>
                                                              <a:rPr lang="es-AR" sz="1400" i="1">
                                                                <a:latin typeface="Cambria Math" panose="02040503050406030204" pitchFamily="18" charset="0"/>
                                                              </a:rPr>
                                                              <m:t>0</m:t>
                                                            </m:r>
                                                          </m:sub>
                                                        </m:sSub>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m:t>
                                                    </m:r>
                                                    <m:f>
                                                      <m:fPr>
                                                        <m:ctrlPr>
                                                          <a:rPr lang="es-AR" sz="1400" i="1">
                                                            <a:latin typeface="Cambria Math" panose="02040503050406030204" pitchFamily="18" charset="0"/>
                                                          </a:rPr>
                                                        </m:ctrlPr>
                                                      </m:fPr>
                                                      <m:num>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𝑎𝑚𝑏</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𝑡𝑠</m:t>
                                                            </m:r>
                                                            <m:r>
                                                              <a:rPr lang="es-AR" sz="1400" i="1">
                                                                <a:latin typeface="Cambria Math" panose="02040503050406030204" pitchFamily="18" charset="0"/>
                                                              </a:rPr>
                                                              <m:t>−</m:t>
                                                            </m:r>
                                                            <m:r>
                                                              <a:rPr lang="es-AR" sz="1400" i="1">
                                                                <a:latin typeface="Cambria Math" panose="02040503050406030204" pitchFamily="18" charset="0"/>
                                                              </a:rPr>
                                                              <m:t>𝑎𝑚𝑏</m:t>
                                                            </m:r>
                                                          </m:sub>
                                                        </m:sSub>
                                                      </m:den>
                                                    </m:f>
                                                  </m:e>
                                                </m:d>
                                                <m:r>
                                                  <a:rPr lang="es-AR" sz="1400" i="1">
                                                    <a:latin typeface="Cambria Math" panose="02040503050406030204" pitchFamily="18" charset="0"/>
                                                  </a:rPr>
                                                  <m:t>                                                                   </m:t>
                                                </m:r>
                                              </m:e>
                                            </m:mr>
                                          </m:m>
                                        </m:e>
                                      </m:mr>
                                    </m:m>
                                  </m:e>
                                </m:mr>
                              </m:m>
                            </m:e>
                          </m:eqArr>
                        </m:e>
                      </m:d>
                    </m:oMath>
                  </m:oMathPara>
                </a14:m>
                <a:endParaRPr lang="en-US" sz="1100" dirty="0"/>
              </a:p>
            </p:txBody>
          </p:sp>
        </mc:Choice>
        <mc:Fallback xmlns="">
          <p:sp>
            <p:nvSpPr>
              <p:cNvPr id="13" name="Text 11"/>
              <p:cNvSpPr>
                <a:spLocks noRot="1" noChangeAspect="1" noMove="1" noResize="1" noEditPoints="1" noAdjustHandles="1" noChangeArrowheads="1" noChangeShapeType="1" noTextEdit="1"/>
              </p:cNvSpPr>
              <p:nvPr/>
            </p:nvSpPr>
            <p:spPr>
              <a:xfrm>
                <a:off x="1200466" y="1777415"/>
                <a:ext cx="9132254" cy="1230414"/>
              </a:xfrm>
              <a:prstGeom prst="rect">
                <a:avLst/>
              </a:prstGeom>
              <a:blipFill>
                <a:blip r:embed="rId2"/>
                <a:stretch>
                  <a:fillRect l="-5474" t="-60199" r="-3805" b="-62687"/>
                </a:stretch>
              </a:blipFill>
              <a:ln/>
            </p:spPr>
            <p:txBody>
              <a:bodyPr/>
              <a:lstStyle/>
              <a:p>
                <a:r>
                  <a:rPr lang="es-AR">
                    <a:noFill/>
                  </a:rPr>
                  <a:t> </a:t>
                </a:r>
              </a:p>
            </p:txBody>
          </p:sp>
        </mc:Fallback>
      </mc:AlternateContent>
      <p:sp>
        <p:nvSpPr>
          <p:cNvPr id="17" name="Text 15"/>
          <p:cNvSpPr/>
          <p:nvPr/>
        </p:nvSpPr>
        <p:spPr>
          <a:xfrm>
            <a:off x="369564" y="5970066"/>
            <a:ext cx="11430000" cy="685800"/>
          </a:xfrm>
          <a:prstGeom prst="rect">
            <a:avLst/>
          </a:prstGeom>
          <a:noFill/>
          <a:ln/>
        </p:spPr>
        <p:txBody>
          <a:bodyPr wrap="square" rtlCol="0" anchor="t"/>
          <a:lstStyle/>
          <a:p>
            <a:pPr marL="0" indent="0" algn="l">
              <a:buNone/>
            </a:pPr>
            <a:r>
              <a:rPr lang="en-US" sz="1200" i="1" dirty="0">
                <a:solidFill>
                  <a:srgbClr val="555555"/>
                </a:solidFill>
                <a:latin typeface="Calibri" pitchFamily="34" charset="0"/>
                <a:ea typeface="Calibri" pitchFamily="34" charset="-122"/>
                <a:cs typeface="Calibri" pitchFamily="34" charset="-120"/>
              </a:rPr>
              <a:t>A diferencia del LTI, en el LPV las matrices jacobianas A y B dependen del punto de operación (X0,U0). El modelo LPV representa fielmente el comportamiento real pero no permite diseño directo por herramientas lineales.</a:t>
            </a:r>
            <a:endParaRPr lang="en-US" sz="1200" dirty="0"/>
          </a:p>
        </p:txBody>
      </p:sp>
      <p:sp>
        <p:nvSpPr>
          <p:cNvPr id="19" name="Shape 6">
            <a:extLst>
              <a:ext uri="{FF2B5EF4-FFF2-40B4-BE49-F238E27FC236}">
                <a16:creationId xmlns:a16="http://schemas.microsoft.com/office/drawing/2014/main" id="{D9EE6CE9-741C-4384-8469-0F087C096528}"/>
              </a:ext>
            </a:extLst>
          </p:cNvPr>
          <p:cNvSpPr/>
          <p:nvPr/>
        </p:nvSpPr>
        <p:spPr>
          <a:xfrm>
            <a:off x="520117" y="4336920"/>
            <a:ext cx="10343626" cy="15000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1" name="Text 7">
                <a:extLst>
                  <a:ext uri="{FF2B5EF4-FFF2-40B4-BE49-F238E27FC236}">
                    <a16:creationId xmlns:a16="http://schemas.microsoft.com/office/drawing/2014/main" id="{ED8989D8-139E-4C98-8026-F7FCFD551A71}"/>
                  </a:ext>
                </a:extLst>
              </p:cNvPr>
              <p:cNvSpPr/>
              <p:nvPr/>
            </p:nvSpPr>
            <p:spPr>
              <a:xfrm>
                <a:off x="611557" y="4852274"/>
                <a:ext cx="8961120"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s-AR" sz="1400" i="1">
                          <a:latin typeface="Cambria Math" panose="02040503050406030204" pitchFamily="18" charset="0"/>
                        </a:rPr>
                        <m:t>𝑋</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eqArr>
                            <m:eqArrPr>
                              <m:ctrlPr>
                                <a:rPr lang="es-AR" sz="1400" i="1">
                                  <a:latin typeface="Cambria Math" panose="02040503050406030204" pitchFamily="18" charset="0"/>
                                </a:rPr>
                              </m:ctrlPr>
                            </m:eqArr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mr>
                              </m:m>
                            </m:e>
                          </m:eqArr>
                        </m:e>
                      </m:d>
                      <m:r>
                        <a:rPr lang="es-AR" sz="1400" i="1">
                          <a:latin typeface="Cambria Math" panose="02040503050406030204" pitchFamily="18" charset="0"/>
                        </a:rPr>
                        <m:t>,           </m:t>
                      </m:r>
                      <m:r>
                        <a:rPr lang="es-AR" sz="1400" i="1">
                          <a:latin typeface="Cambria Math" panose="02040503050406030204" pitchFamily="18" charset="0"/>
                        </a:rPr>
                        <m:t>𝑢</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eqArr>
                            <m:eqArrPr>
                              <m:ctrlPr>
                                <a:rPr lang="es-AR" sz="1400" i="1">
                                  <a:latin typeface="Cambria Math" panose="02040503050406030204" pitchFamily="18" charset="0"/>
                                </a:rPr>
                              </m:ctrlPr>
                            </m:eqArr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𝑎𝑚𝑏</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eqArr>
                        </m:e>
                      </m:d>
                    </m:oMath>
                  </m:oMathPara>
                </a14:m>
                <a:endParaRPr lang="en-US" sz="1100" dirty="0"/>
              </a:p>
            </p:txBody>
          </p:sp>
        </mc:Choice>
        <mc:Fallback xmlns="">
          <p:sp>
            <p:nvSpPr>
              <p:cNvPr id="21" name="Text 7">
                <a:extLst>
                  <a:ext uri="{FF2B5EF4-FFF2-40B4-BE49-F238E27FC236}">
                    <a16:creationId xmlns:a16="http://schemas.microsoft.com/office/drawing/2014/main" id="{ED8989D8-139E-4C98-8026-F7FCFD551A71}"/>
                  </a:ext>
                </a:extLst>
              </p:cNvPr>
              <p:cNvSpPr>
                <a:spLocks noRot="1" noChangeAspect="1" noMove="1" noResize="1" noEditPoints="1" noAdjustHandles="1" noChangeArrowheads="1" noChangeShapeType="1" noTextEdit="1"/>
              </p:cNvSpPr>
              <p:nvPr/>
            </p:nvSpPr>
            <p:spPr>
              <a:xfrm>
                <a:off x="611557" y="4852274"/>
                <a:ext cx="8961120" cy="530352"/>
              </a:xfrm>
              <a:prstGeom prst="rect">
                <a:avLst/>
              </a:prstGeom>
              <a:blipFill>
                <a:blip r:embed="rId3"/>
                <a:stretch>
                  <a:fillRect t="-73563" b="-78161"/>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97D5BEB0-0EEC-4E07-8711-A04C9C73D21E}"/>
                  </a:ext>
                </a:extLst>
              </p:cNvPr>
              <p:cNvSpPr txBox="1"/>
              <p:nvPr/>
            </p:nvSpPr>
            <p:spPr>
              <a:xfrm>
                <a:off x="274320" y="3943989"/>
                <a:ext cx="11397563" cy="296363"/>
              </a:xfrm>
              <a:prstGeom prst="rect">
                <a:avLst/>
              </a:prstGeom>
              <a:noFill/>
            </p:spPr>
            <p:txBody>
              <a:bodyPr wrap="square">
                <a:spAutoFit/>
              </a:bodyPr>
              <a:lstStyle/>
              <a:p>
                <a:pPr algn="just">
                  <a:lnSpc>
                    <a:spcPct val="107000"/>
                  </a:lnSpc>
                  <a:spcAft>
                    <a:spcPts val="800"/>
                  </a:spcAft>
                </a:pPr>
                <a:r>
                  <a:rPr lang="es-AR" sz="1300" dirty="0">
                    <a:effectLst/>
                    <a:latin typeface="Calibri" panose="020F0502020204030204" pitchFamily="34" charset="0"/>
                    <a:ea typeface="Times New Roman" panose="02020603050405020304" pitchFamily="18" charset="0"/>
                    <a:cs typeface="Calibri" panose="020F0502020204030204" pitchFamily="34" charset="0"/>
                  </a:rPr>
                  <a:t>El sistema de ecuaciones en variables de estado queda estructurado mediante los siguientes vectores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𝑥</m:t>
                    </m:r>
                  </m:oMath>
                </a14:m>
                <a:r>
                  <a:rPr lang="es-AR" sz="1300" dirty="0">
                    <a:effectLst/>
                    <a:latin typeface="Calibri" panose="020F0502020204030204" pitchFamily="34" charset="0"/>
                    <a:ea typeface="Times New Roman" panose="02020603050405020304" pitchFamily="18" charset="0"/>
                    <a:cs typeface="Calibri" panose="020F0502020204030204" pitchFamily="34" charset="0"/>
                  </a:rPr>
                  <a:t> y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𝑢</m:t>
                    </m:r>
                  </m:oMath>
                </a14:m>
                <a:r>
                  <a:rPr lang="es-AR" sz="1300" dirty="0">
                    <a:effectLst/>
                    <a:latin typeface="Calibri" panose="020F0502020204030204" pitchFamily="34" charset="0"/>
                    <a:ea typeface="Times New Roman" panose="02020603050405020304" pitchFamily="18" charset="0"/>
                    <a:cs typeface="Calibri" panose="020F0502020204030204" pitchFamily="34" charset="0"/>
                  </a:rPr>
                  <a:t>:</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CuadroTexto 22">
                <a:extLst>
                  <a:ext uri="{FF2B5EF4-FFF2-40B4-BE49-F238E27FC236}">
                    <a16:creationId xmlns:a16="http://schemas.microsoft.com/office/drawing/2014/main" id="{97D5BEB0-0EEC-4E07-8711-A04C9C73D21E}"/>
                  </a:ext>
                </a:extLst>
              </p:cNvPr>
              <p:cNvSpPr txBox="1">
                <a:spLocks noRot="1" noChangeAspect="1" noMove="1" noResize="1" noEditPoints="1" noAdjustHandles="1" noChangeArrowheads="1" noChangeShapeType="1" noTextEdit="1"/>
              </p:cNvSpPr>
              <p:nvPr/>
            </p:nvSpPr>
            <p:spPr>
              <a:xfrm>
                <a:off x="274320" y="3943989"/>
                <a:ext cx="11397563" cy="296363"/>
              </a:xfrm>
              <a:prstGeom prst="rect">
                <a:avLst/>
              </a:prstGeom>
              <a:blipFill>
                <a:blip r:embed="rId4"/>
                <a:stretch>
                  <a:fillRect l="-53" b="-16327"/>
                </a:stretch>
              </a:blipFill>
            </p:spPr>
            <p:txBody>
              <a:bodyPr/>
              <a:lstStyle/>
              <a:p>
                <a:r>
                  <a:rPr lang="es-AR">
                    <a:noFill/>
                  </a:rPr>
                  <a:t> </a:t>
                </a:r>
              </a:p>
            </p:txBody>
          </p:sp>
        </mc:Fallback>
      </mc:AlternateContent>
    </p:spTree>
    <p:extLst>
      <p:ext uri="{BB962C8B-B14F-4D97-AF65-F5344CB8AC3E}">
        <p14:creationId xmlns:p14="http://schemas.microsoft.com/office/powerpoint/2010/main" val="32751914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365760" y="777240"/>
            <a:ext cx="11430000" cy="45720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Se aplican tres hipótesis para obtener un modelo LTI con matrices A y B constantes:</a:t>
            </a:r>
            <a:endParaRPr lang="en-US" sz="1300" dirty="0"/>
          </a:p>
        </p:txBody>
      </p:sp>
      <p:sp>
        <p:nvSpPr>
          <p:cNvPr id="8" name="Shape 6"/>
          <p:cNvSpPr/>
          <p:nvPr/>
        </p:nvSpPr>
        <p:spPr>
          <a:xfrm>
            <a:off x="365760" y="1371600"/>
            <a:ext cx="11430000" cy="347472"/>
          </a:xfrm>
          <a:prstGeom prst="rect">
            <a:avLst/>
          </a:prstGeom>
          <a:solidFill>
            <a:srgbClr val="1A386B"/>
          </a:solidFill>
          <a:ln w="12700">
            <a:solidFill>
              <a:srgbClr val="1A386B"/>
            </a:solidFill>
            <a:prstDash val="solid"/>
          </a:ln>
        </p:spPr>
      </p:sp>
      <mc:AlternateContent xmlns:mc="http://schemas.openxmlformats.org/markup-compatibility/2006" xmlns:a14="http://schemas.microsoft.com/office/drawing/2010/main">
        <mc:Choice Requires="a14">
          <p:sp>
            <p:nvSpPr>
              <p:cNvPr id="9" name="Text 7"/>
              <p:cNvSpPr/>
              <p:nvPr/>
            </p:nvSpPr>
            <p:spPr>
              <a:xfrm>
                <a:off x="502920" y="137160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1. Ley de control mínima:  </a:t>
                </a:r>
                <a14:m>
                  <m:oMath xmlns:m="http://schemas.openxmlformats.org/officeDocument/2006/math">
                    <m:sSubSup>
                      <m:sSubSupPr>
                        <m:ctrlPr>
                          <a:rPr lang="es-AR" sz="1200" b="1" i="1" smtClean="0">
                            <a:solidFill>
                              <a:schemeClr val="bg1"/>
                            </a:solidFill>
                            <a:effectLst/>
                            <a:latin typeface="Cambria Math" panose="02040503050406030204" pitchFamily="18" charset="0"/>
                            <a:ea typeface="Times New Roman" panose="02020603050405020304" pitchFamily="18" charset="0"/>
                          </a:rPr>
                        </m:ctrlPr>
                      </m:sSubSupPr>
                      <m:e>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𝒊</m:t>
                        </m:r>
                      </m:e>
                      <m:sub>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𝒅𝒔</m:t>
                        </m:r>
                      </m:sub>
                      <m:sup>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𝒓</m:t>
                        </m:r>
                      </m:sup>
                    </m:sSubSup>
                    <m:d>
                      <m:dPr>
                        <m:ctrlPr>
                          <a:rPr lang="es-AR" sz="1200" b="1" i="1">
                            <a:solidFill>
                              <a:schemeClr val="bg1"/>
                            </a:solidFill>
                            <a:effectLst/>
                            <a:latin typeface="Cambria Math" panose="02040503050406030204" pitchFamily="18" charset="0"/>
                            <a:ea typeface="Times New Roman" panose="02020603050405020304" pitchFamily="18" charset="0"/>
                          </a:rPr>
                        </m:ctrlPr>
                      </m:dPr>
                      <m:e>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𝒕</m:t>
                        </m:r>
                      </m:e>
                    </m:d>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𝟎</m:t>
                    </m:r>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200" b="1" dirty="0">
                    <a:solidFill>
                      <a:srgbClr val="FFFFFF"/>
                    </a:solidFill>
                    <a:latin typeface="Calibri" pitchFamily="34" charset="0"/>
                    <a:ea typeface="Calibri" pitchFamily="34" charset="-122"/>
                    <a:cs typeface="Calibri" pitchFamily="34" charset="-120"/>
                  </a:rPr>
                  <a:t>(FOC)</a:t>
                </a:r>
                <a:endParaRPr lang="en-US" sz="1200" dirty="0"/>
              </a:p>
            </p:txBody>
          </p:sp>
        </mc:Choice>
        <mc:Fallback xmlns="">
          <p:sp>
            <p:nvSpPr>
              <p:cNvPr id="9" name="Text 7"/>
              <p:cNvSpPr>
                <a:spLocks noRot="1" noChangeAspect="1" noMove="1" noResize="1" noEditPoints="1" noAdjustHandles="1" noChangeArrowheads="1" noChangeShapeType="1" noTextEdit="1"/>
              </p:cNvSpPr>
              <p:nvPr/>
            </p:nvSpPr>
            <p:spPr>
              <a:xfrm>
                <a:off x="502920" y="1371600"/>
                <a:ext cx="11155680" cy="347472"/>
              </a:xfrm>
              <a:prstGeom prst="rect">
                <a:avLst/>
              </a:prstGeom>
              <a:blipFill>
                <a:blip r:embed="rId2"/>
                <a:stretch>
                  <a:fillRect l="-55"/>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Text 8"/>
              <p:cNvSpPr/>
              <p:nvPr/>
            </p:nvSpPr>
            <p:spPr>
              <a:xfrm>
                <a:off x="502920" y="1755648"/>
                <a:ext cx="11155680" cy="1005840"/>
              </a:xfrm>
              <a:prstGeom prst="rect">
                <a:avLst/>
              </a:prstGeom>
              <a:noFill/>
              <a:ln/>
            </p:spPr>
            <p:txBody>
              <a:bodyPr wrap="square" rtlCol="0" anchor="t"/>
              <a:lstStyle/>
              <a:p>
                <a:pPr marL="0" indent="0" algn="l">
                  <a:buNone/>
                </a:pPr>
                <a:r>
                  <a:rPr lang="en-US" sz="1200" dirty="0">
                    <a:solidFill>
                      <a:srgbClr val="111111"/>
                    </a:solidFill>
                    <a:latin typeface="Calibri" pitchFamily="34" charset="0"/>
                    <a:ea typeface="Calibri" pitchFamily="34" charset="-122"/>
                    <a:cs typeface="Calibri" pitchFamily="34" charset="-120"/>
                  </a:rPr>
                  <a:t>Desacopla el control del flujo (eje d) del control de torque (eje q). Todo el torque lo produce </a:t>
                </a:r>
                <a14:m>
                  <m:oMath xmlns:m="http://schemas.openxmlformats.org/officeDocument/2006/math">
                    <m:sSubSup>
                      <m:sSubSupPr>
                        <m:ctrlPr>
                          <a:rPr lang="es-AR" sz="120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20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n-US" sz="1200" dirty="0">
                    <a:solidFill>
                      <a:srgbClr val="111111"/>
                    </a:solidFill>
                    <a:latin typeface="Calibri" pitchFamily="34" charset="0"/>
                    <a:ea typeface="Calibri" pitchFamily="34" charset="-122"/>
                    <a:cs typeface="Calibri" pitchFamily="34" charset="-120"/>
                  </a:rPr>
                  <a:t>. </a:t>
                </a:r>
                <a:endParaRPr lang="en-US" sz="1200" dirty="0"/>
              </a:p>
            </p:txBody>
          </p:sp>
        </mc:Choice>
        <mc:Fallback xmlns="">
          <p:sp>
            <p:nvSpPr>
              <p:cNvPr id="10" name="Text 8"/>
              <p:cNvSpPr>
                <a:spLocks noRot="1" noChangeAspect="1" noMove="1" noResize="1" noEditPoints="1" noAdjustHandles="1" noChangeArrowheads="1" noChangeShapeType="1" noTextEdit="1"/>
              </p:cNvSpPr>
              <p:nvPr/>
            </p:nvSpPr>
            <p:spPr>
              <a:xfrm>
                <a:off x="502920" y="1755648"/>
                <a:ext cx="11155680" cy="1005840"/>
              </a:xfrm>
              <a:prstGeom prst="rect">
                <a:avLst/>
              </a:prstGeom>
              <a:blipFill>
                <a:blip r:embed="rId6"/>
                <a:stretch>
                  <a:fillRect l="-55"/>
                </a:stretch>
              </a:blipFill>
              <a:ln/>
            </p:spPr>
            <p:txBody>
              <a:bodyPr/>
              <a:lstStyle/>
              <a:p>
                <a:r>
                  <a:rPr lang="es-AR">
                    <a:noFill/>
                  </a:rPr>
                  <a:t> </a:t>
                </a:r>
              </a:p>
            </p:txBody>
          </p:sp>
        </mc:Fallback>
      </mc:AlternateContent>
      <p:sp>
        <p:nvSpPr>
          <p:cNvPr id="11" name="Shape 9"/>
          <p:cNvSpPr/>
          <p:nvPr/>
        </p:nvSpPr>
        <p:spPr>
          <a:xfrm>
            <a:off x="365760" y="2880360"/>
            <a:ext cx="11430000" cy="347472"/>
          </a:xfrm>
          <a:prstGeom prst="rect">
            <a:avLst/>
          </a:prstGeom>
          <a:solidFill>
            <a:srgbClr val="1A386B"/>
          </a:solidFill>
          <a:ln w="12700">
            <a:solidFill>
              <a:srgbClr val="1A386B"/>
            </a:solidFill>
            <a:prstDash val="solid"/>
          </a:ln>
        </p:spPr>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mc:AlternateContent xmlns:mc="http://schemas.openxmlformats.org/markup-compatibility/2006" xmlns:a14="http://schemas.microsoft.com/office/drawing/2010/main">
        <mc:Choice Requires="a14">
          <p:sp>
            <p:nvSpPr>
              <p:cNvPr id="13" name="Text 11"/>
              <p:cNvSpPr/>
              <p:nvPr/>
            </p:nvSpPr>
            <p:spPr>
              <a:xfrm>
                <a:off x="502920" y="3264408"/>
                <a:ext cx="11155680" cy="1005840"/>
              </a:xfrm>
              <a:prstGeom prst="rect">
                <a:avLst/>
              </a:prstGeom>
              <a:noFill/>
              <a:ln/>
            </p:spPr>
            <p:txBody>
              <a:bodyPr wrap="square" rtlCol="0" anchor="t"/>
              <a:lstStyle/>
              <a:p>
                <a:r>
                  <a:rPr lang="en-US" sz="1200" dirty="0">
                    <a:solidFill>
                      <a:srgbClr val="111111"/>
                    </a:solidFill>
                    <a:latin typeface="Calibri" pitchFamily="34" charset="0"/>
                    <a:ea typeface="Calibri" pitchFamily="34" charset="-122"/>
                    <a:cs typeface="Calibri" pitchFamily="34" charset="-120"/>
                  </a:rPr>
                  <a:t>Se desprecia la variación de </a:t>
                </a:r>
                <a14:m>
                  <m:oMath xmlns:m="http://schemas.openxmlformats.org/officeDocument/2006/math">
                    <m:sSub>
                      <m:sSubPr>
                        <m:ctrlPr>
                          <a:rPr lang="es-AR" sz="1200" i="1" smtClean="0">
                            <a:solidFill>
                              <a:schemeClr val="tx1"/>
                            </a:solidFill>
                            <a:latin typeface="Cambria Math" panose="02040503050406030204" pitchFamily="18" charset="0"/>
                          </a:rPr>
                        </m:ctrlPr>
                      </m:sSubPr>
                      <m:e>
                        <m:r>
                          <a:rPr lang="es-AR" sz="1200" i="1">
                            <a:solidFill>
                              <a:schemeClr val="tx1"/>
                            </a:solidFill>
                            <a:latin typeface="Cambria Math" panose="02040503050406030204" pitchFamily="18" charset="0"/>
                          </a:rPr>
                          <m:t>𝑅</m:t>
                        </m:r>
                      </m:e>
                      <m:sub>
                        <m:r>
                          <a:rPr lang="es-AR" sz="1200" i="1">
                            <a:solidFill>
                              <a:schemeClr val="tx1"/>
                            </a:solidFill>
                            <a:latin typeface="Cambria Math" panose="02040503050406030204" pitchFamily="18" charset="0"/>
                          </a:rPr>
                          <m:t>𝑠</m:t>
                        </m:r>
                      </m:sub>
                    </m:sSub>
                  </m:oMath>
                </a14:m>
                <a:r>
                  <a:rPr lang="en-US" sz="1200" dirty="0">
                    <a:solidFill>
                      <a:srgbClr val="111111"/>
                    </a:solidFill>
                    <a:latin typeface="Calibri" pitchFamily="34" charset="0"/>
                    <a:ea typeface="Calibri" pitchFamily="34" charset="-122"/>
                    <a:cs typeface="Calibri" pitchFamily="34" charset="-120"/>
                  </a:rPr>
                  <a:t> con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𝑇</m:t>
                        </m:r>
                      </m:e>
                      <m:sub>
                        <m:r>
                          <a:rPr lang="es-AR" sz="1200" i="1">
                            <a:latin typeface="Cambria Math" panose="02040503050406030204" pitchFamily="18" charset="0"/>
                          </a:rPr>
                          <m:t>𝑠</m:t>
                        </m:r>
                      </m:sub>
                    </m:sSub>
                  </m:oMath>
                </a14:m>
                <a:r>
                  <a:rPr lang="en-US" sz="1200" dirty="0">
                    <a:solidFill>
                      <a:srgbClr val="111111"/>
                    </a:solidFill>
                    <a:latin typeface="Calibri" pitchFamily="34" charset="0"/>
                    <a:ea typeface="Calibri" pitchFamily="34" charset="-122"/>
                    <a:cs typeface="Calibri" pitchFamily="34" charset="-120"/>
                  </a:rPr>
                  <a:t> dentro del modelo eléctrico. El subsistema térmico se modela como independiente (sin realimentación hacia las ecuaciones eléctricas).</a:t>
                </a:r>
                <a:endParaRPr lang="en-US" sz="1200" dirty="0"/>
              </a:p>
            </p:txBody>
          </p:sp>
        </mc:Choice>
        <mc:Fallback xmlns="">
          <p:sp>
            <p:nvSpPr>
              <p:cNvPr id="13" name="Text 11"/>
              <p:cNvSpPr>
                <a:spLocks noRot="1" noChangeAspect="1" noMove="1" noResize="1" noEditPoints="1" noAdjustHandles="1" noChangeArrowheads="1" noChangeShapeType="1" noTextEdit="1"/>
              </p:cNvSpPr>
              <p:nvPr/>
            </p:nvSpPr>
            <p:spPr>
              <a:xfrm>
                <a:off x="502920" y="3264408"/>
                <a:ext cx="11155680" cy="1005840"/>
              </a:xfrm>
              <a:prstGeom prst="rect">
                <a:avLst/>
              </a:prstGeom>
              <a:blipFill>
                <a:blip r:embed="rId7"/>
                <a:stretch>
                  <a:fillRect l="-55" t="-606"/>
                </a:stretch>
              </a:blipFill>
              <a:ln/>
            </p:spPr>
            <p:txBody>
              <a:bodyPr/>
              <a:lstStyle/>
              <a:p>
                <a:r>
                  <a:rPr lang="es-AR">
                    <a:noFill/>
                  </a:rPr>
                  <a:t> </a:t>
                </a:r>
              </a:p>
            </p:txBody>
          </p:sp>
        </mc:Fallback>
      </mc:AlternateContent>
      <p:sp>
        <p:nvSpPr>
          <p:cNvPr id="14" name="Shape 12"/>
          <p:cNvSpPr/>
          <p:nvPr/>
        </p:nvSpPr>
        <p:spPr>
          <a:xfrm>
            <a:off x="365760" y="4389120"/>
            <a:ext cx="11430000" cy="347472"/>
          </a:xfrm>
          <a:prstGeom prst="rect">
            <a:avLst/>
          </a:prstGeom>
          <a:solidFill>
            <a:srgbClr val="1A386B"/>
          </a:solidFill>
          <a:ln w="12700">
            <a:solidFill>
              <a:srgbClr val="1A386B"/>
            </a:solidFill>
            <a:prstDash val="solid"/>
          </a:ln>
        </p:spPr>
      </p:sp>
      <mc:AlternateContent xmlns:mc="http://schemas.openxmlformats.org/markup-compatibility/2006" xmlns:a14="http://schemas.microsoft.com/office/drawing/2010/main">
        <mc:Choice Requires="a14">
          <p:sp>
            <p:nvSpPr>
              <p:cNvPr id="15" name="Text 13"/>
              <p:cNvSpPr/>
              <p:nvPr/>
            </p:nvSpPr>
            <p:spPr>
              <a:xfrm>
                <a:off x="502920" y="438912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3. Corriente homopolar nula  </a:t>
                </a:r>
                <a14:m>
                  <m:oMath xmlns:m="http://schemas.openxmlformats.org/officeDocument/2006/math">
                    <m:sSub>
                      <m:sSubPr>
                        <m:ctrlPr>
                          <a:rPr lang="es-AR" sz="1000" i="1" smtClean="0">
                            <a:solidFill>
                              <a:schemeClr val="bg1"/>
                            </a:solidFill>
                            <a:effectLst/>
                            <a:latin typeface="Cambria Math" panose="02040503050406030204" pitchFamily="18" charset="0"/>
                            <a:cs typeface="Calibri" panose="020F0502020204030204" pitchFamily="34" charset="0"/>
                          </a:rPr>
                        </m:ctrlPr>
                      </m:sSubPr>
                      <m:e>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𝑖</m:t>
                        </m:r>
                      </m:e>
                      <m:sub>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0</m:t>
                        </m:r>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𝑠</m:t>
                        </m:r>
                      </m:sub>
                    </m:sSub>
                    <m:d>
                      <m:dPr>
                        <m:ctrlPr>
                          <a:rPr lang="es-AR" sz="1000" i="1">
                            <a:solidFill>
                              <a:schemeClr val="bg1"/>
                            </a:solidFill>
                            <a:effectLst/>
                            <a:latin typeface="Cambria Math" panose="02040503050406030204" pitchFamily="18" charset="0"/>
                            <a:cs typeface="Calibri" panose="020F0502020204030204" pitchFamily="34" charset="0"/>
                          </a:rPr>
                        </m:ctrlPr>
                      </m:dPr>
                      <m:e>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200" dirty="0">
                    <a:solidFill>
                      <a:schemeClr val="bg1"/>
                    </a:solidFill>
                  </a:rPr>
                  <a:t>=0</a:t>
                </a:r>
              </a:p>
            </p:txBody>
          </p:sp>
        </mc:Choice>
        <mc:Fallback xmlns="">
          <p:sp>
            <p:nvSpPr>
              <p:cNvPr id="15" name="Text 13"/>
              <p:cNvSpPr>
                <a:spLocks noRot="1" noChangeAspect="1" noMove="1" noResize="1" noEditPoints="1" noAdjustHandles="1" noChangeArrowheads="1" noChangeShapeType="1" noTextEdit="1"/>
              </p:cNvSpPr>
              <p:nvPr/>
            </p:nvSpPr>
            <p:spPr>
              <a:xfrm>
                <a:off x="502920" y="4389120"/>
                <a:ext cx="11155680" cy="347472"/>
              </a:xfrm>
              <a:prstGeom prst="rect">
                <a:avLst/>
              </a:prstGeom>
              <a:blipFill>
                <a:blip r:embed="rId5"/>
                <a:stretch>
                  <a:fillRect l="-55"/>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Text 14"/>
              <p:cNvSpPr/>
              <p:nvPr/>
            </p:nvSpPr>
            <p:spPr>
              <a:xfrm>
                <a:off x="518160" y="4773168"/>
                <a:ext cx="11155680" cy="1005840"/>
              </a:xfrm>
              <a:prstGeom prst="rect">
                <a:avLst/>
              </a:prstGeom>
              <a:noFill/>
              <a:ln/>
            </p:spPr>
            <p:txBody>
              <a:bodyPr wrap="square" rtlCol="0" anchor="t"/>
              <a:lstStyle/>
              <a:p>
                <a:r>
                  <a:rPr lang="es-AR" sz="1200" dirty="0">
                    <a:solidFill>
                      <a:srgbClr val="111111"/>
                    </a:solidFill>
                    <a:latin typeface="Calibri" pitchFamily="34" charset="0"/>
                    <a:ea typeface="Calibri" pitchFamily="34" charset="-122"/>
                    <a:cs typeface="Calibri" pitchFamily="34" charset="-120"/>
                  </a:rPr>
                  <a:t>Por neutro flotante y sistema equilibrado: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𝑎𝑠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𝑏𝑠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𝑐𝑠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=0</m:t>
                    </m:r>
                    <m:r>
                      <a:rPr lang="es-AR" sz="1200" b="0" i="1" smtClean="0">
                        <a:effectLst/>
                        <a:latin typeface="Cambria Math" panose="02040503050406030204" pitchFamily="18" charset="0"/>
                        <a:ea typeface="Times New Roman" panose="02020603050405020304" pitchFamily="18" charset="0"/>
                        <a:cs typeface="Calibri" panose="020F0502020204030204" pitchFamily="34" charset="0"/>
                      </a:rPr>
                      <m:t>.</m:t>
                    </m:r>
                  </m:oMath>
                </a14:m>
                <a:r>
                  <a:rPr lang="es-AR" sz="1200" dirty="0">
                    <a:solidFill>
                      <a:srgbClr val="111111"/>
                    </a:solidFill>
                    <a:latin typeface="Calibri" pitchFamily="34" charset="0"/>
                    <a:ea typeface="Calibri" pitchFamily="34" charset="-122"/>
                    <a:cs typeface="Calibri" pitchFamily="34" charset="-120"/>
                  </a:rPr>
                  <a:t> Aplicando transformación de Park: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f>
                      <m:fPr>
                        <m:ctrlPr>
                          <a:rPr lang="es-AR" sz="1200" i="1">
                            <a:latin typeface="Cambria Math" panose="02040503050406030204" pitchFamily="18" charset="0"/>
                          </a:rPr>
                        </m:ctrlPr>
                      </m:fPr>
                      <m:num>
                        <m:r>
                          <a:rPr lang="es-AR" sz="1200" i="1">
                            <a:latin typeface="Cambria Math" panose="02040503050406030204" pitchFamily="18" charset="0"/>
                          </a:rPr>
                          <m:t>1</m:t>
                        </m:r>
                      </m:num>
                      <m:den>
                        <m:r>
                          <a:rPr lang="es-AR" sz="1200" i="1">
                            <a:latin typeface="Cambria Math" panose="02040503050406030204" pitchFamily="18" charset="0"/>
                          </a:rPr>
                          <m:t>3</m:t>
                        </m:r>
                      </m:den>
                    </m:f>
                    <m:d>
                      <m:dPr>
                        <m:ctrlPr>
                          <a:rPr lang="es-AR" sz="1200" i="1">
                            <a:latin typeface="Cambria Math" panose="02040503050406030204" pitchFamily="18" charset="0"/>
                          </a:rPr>
                        </m:ctrlPr>
                      </m:dPr>
                      <m:e>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𝑎𝑠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𝑏𝑠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𝑐𝑠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e>
                    </m:d>
                    <m:r>
                      <a:rPr lang="es-AR" sz="1200" i="1">
                        <a:latin typeface="Cambria Math" panose="02040503050406030204" pitchFamily="18" charset="0"/>
                      </a:rPr>
                      <m:t>=0</m:t>
                    </m:r>
                  </m:oMath>
                </a14:m>
                <a:br>
                  <a:rPr lang="es-AR" sz="1200" dirty="0">
                    <a:solidFill>
                      <a:srgbClr val="111111"/>
                    </a:solidFill>
                    <a:latin typeface="Calibri" pitchFamily="34" charset="0"/>
                    <a:ea typeface="Calibri" pitchFamily="34" charset="-122"/>
                    <a:cs typeface="Calibri" pitchFamily="34" charset="-120"/>
                  </a:rPr>
                </a:br>
                <a:r>
                  <a:rPr lang="es-AR" sz="12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≡0 ∴    </m:t>
                    </m:r>
                    <m:f>
                      <m:fPr>
                        <m:ctrlPr>
                          <a:rPr lang="es-AR" sz="1200" i="1">
                            <a:latin typeface="Cambria Math" panose="02040503050406030204" pitchFamily="18" charset="0"/>
                          </a:rPr>
                        </m:ctrlPr>
                      </m:fPr>
                      <m:num>
                        <m:r>
                          <a:rPr lang="es-AR" sz="1200" i="1">
                            <a:latin typeface="Cambria Math" panose="02040503050406030204" pitchFamily="18" charset="0"/>
                          </a:rPr>
                          <m:t>𝑑</m:t>
                        </m:r>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num>
                      <m:den>
                        <m:r>
                          <a:rPr lang="es-AR" sz="1200" i="1">
                            <a:latin typeface="Cambria Math" panose="02040503050406030204" pitchFamily="18" charset="0"/>
                          </a:rPr>
                          <m:t>𝑑𝑡</m:t>
                        </m:r>
                      </m:den>
                    </m:f>
                    <m:r>
                      <a:rPr lang="es-AR" sz="1200" i="1">
                        <a:latin typeface="Cambria Math" panose="02040503050406030204" pitchFamily="18" charset="0"/>
                      </a:rPr>
                      <m:t>≡0,   </m:t>
                    </m:r>
                    <m:sSub>
                      <m:sSubPr>
                        <m:ctrlPr>
                          <a:rPr lang="es-AR" sz="1200" i="1">
                            <a:latin typeface="Cambria Math" panose="02040503050406030204" pitchFamily="18" charset="0"/>
                          </a:rPr>
                        </m:ctrlPr>
                      </m:sSubPr>
                      <m:e>
                        <m:r>
                          <a:rPr lang="es-AR" sz="1200" i="1">
                            <a:latin typeface="Cambria Math" panose="02040503050406030204" pitchFamily="18" charset="0"/>
                          </a:rPr>
                          <m:t>𝑣</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≡0</m:t>
                    </m:r>
                  </m:oMath>
                </a14:m>
                <a:r>
                  <a:rPr lang="es-AR" sz="1200" dirty="0">
                    <a:solidFill>
                      <a:srgbClr val="111111"/>
                    </a:solidFill>
                    <a:latin typeface="Calibri" pitchFamily="34" charset="0"/>
                    <a:ea typeface="Calibri" pitchFamily="34" charset="-122"/>
                    <a:cs typeface="Calibri" pitchFamily="34" charset="-120"/>
                  </a:rPr>
                  <a:t>. </a:t>
                </a:r>
                <a:endParaRPr lang="es-AR" sz="1200" dirty="0"/>
              </a:p>
            </p:txBody>
          </p:sp>
        </mc:Choice>
        <mc:Fallback xmlns="">
          <p:sp>
            <p:nvSpPr>
              <p:cNvPr id="16" name="Text 14"/>
              <p:cNvSpPr>
                <a:spLocks noRot="1" noChangeAspect="1" noMove="1" noResize="1" noEditPoints="1" noAdjustHandles="1" noChangeArrowheads="1" noChangeShapeType="1" noTextEdit="1"/>
              </p:cNvSpPr>
              <p:nvPr/>
            </p:nvSpPr>
            <p:spPr>
              <a:xfrm>
                <a:off x="518160" y="4773168"/>
                <a:ext cx="11155680" cy="1005840"/>
              </a:xfrm>
              <a:prstGeom prst="rect">
                <a:avLst/>
              </a:prstGeom>
              <a:blipFill>
                <a:blip r:embed="rId8"/>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CD5206C2-985C-4664-8B02-2537914AA0C5}"/>
                  </a:ext>
                </a:extLst>
              </p:cNvPr>
              <p:cNvSpPr txBox="1"/>
              <p:nvPr/>
            </p:nvSpPr>
            <p:spPr>
              <a:xfrm>
                <a:off x="2722227" y="3614036"/>
                <a:ext cx="6098796" cy="571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sz="1400" i="1" smtClean="0">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𝑑</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r>
                            <a:rPr lang="es-AR" sz="1400" i="1">
                              <a:solidFill>
                                <a:schemeClr val="tx1"/>
                              </a:solidFill>
                              <a:latin typeface="Cambria Math" panose="02040503050406030204" pitchFamily="18" charset="0"/>
                            </a:rPr>
                            <m:t>𝑑𝑡</m:t>
                          </m:r>
                        </m:den>
                      </m:f>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𝐶</m:t>
                              </m:r>
                            </m:e>
                            <m:sub>
                              <m:r>
                                <a:rPr lang="es-AR" sz="1400" i="1">
                                  <a:solidFill>
                                    <a:schemeClr val="tx1"/>
                                  </a:solidFill>
                                  <a:latin typeface="Cambria Math" panose="02040503050406030204" pitchFamily="18" charset="0"/>
                                </a:rPr>
                                <m:t>𝑙𝑠</m:t>
                              </m:r>
                            </m:sub>
                          </m:sSub>
                        </m:den>
                      </m:f>
                      <m:d>
                        <m:dPr>
                          <m:begChr m:val="["/>
                          <m:endChr m:val="]"/>
                          <m:ctrlPr>
                            <a:rPr lang="es-AR" sz="1400" i="1">
                              <a:solidFill>
                                <a:schemeClr val="tx1"/>
                              </a:solidFill>
                              <a:latin typeface="Cambria Math" panose="02040503050406030204" pitchFamily="18" charset="0"/>
                            </a:rPr>
                          </m:ctrlPr>
                        </m:dPr>
                        <m:e>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3</m:t>
                              </m:r>
                            </m:num>
                            <m:den>
                              <m:r>
                                <a:rPr lang="es-AR" sz="1400" i="0">
                                  <a:solidFill>
                                    <a:schemeClr val="tx1"/>
                                  </a:solidFill>
                                  <a:latin typeface="Cambria Math" panose="02040503050406030204" pitchFamily="18" charset="0"/>
                                </a:rPr>
                                <m:t>2</m:t>
                              </m:r>
                            </m:den>
                          </m:f>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sSup>
                            <m:sSupPr>
                              <m:ctrlPr>
                                <a:rPr lang="es-AR" sz="1400" i="1">
                                  <a:solidFill>
                                    <a:schemeClr val="tx1"/>
                                  </a:solidFill>
                                  <a:latin typeface="Cambria Math" panose="02040503050406030204" pitchFamily="18" charset="0"/>
                                </a:rPr>
                              </m:ctrlPr>
                            </m:sSupPr>
                            <m:e>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e>
                            <m:sup>
                              <m:r>
                                <a:rPr lang="es-AR" sz="1400" i="0">
                                  <a:solidFill>
                                    <a:schemeClr val="tx1"/>
                                  </a:solidFill>
                                  <a:latin typeface="Cambria Math" panose="02040503050406030204" pitchFamily="18" charset="0"/>
                                </a:rPr>
                                <m:t>2</m:t>
                              </m:r>
                            </m:sup>
                          </m:sSup>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𝑡𝑠</m:t>
                                  </m:r>
                                  <m:r>
                                    <a:rPr lang="es-AR" sz="1400" i="0">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𝑎𝑚𝑏</m:t>
                                  </m:r>
                                </m:sub>
                              </m:sSub>
                            </m:den>
                          </m:f>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𝑎𝑚𝑏</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e>
                      </m:d>
                    </m:oMath>
                  </m:oMathPara>
                </a14:m>
                <a:endParaRPr lang="es-AR" dirty="0">
                  <a:solidFill>
                    <a:schemeClr val="tx1"/>
                  </a:solidFill>
                </a:endParaRPr>
              </a:p>
            </p:txBody>
          </p:sp>
        </mc:Choice>
        <mc:Fallback xmlns="">
          <p:sp>
            <p:nvSpPr>
              <p:cNvPr id="18" name="CuadroTexto 17">
                <a:extLst>
                  <a:ext uri="{FF2B5EF4-FFF2-40B4-BE49-F238E27FC236}">
                    <a16:creationId xmlns:a16="http://schemas.microsoft.com/office/drawing/2014/main" id="{CD5206C2-985C-4664-8B02-2537914AA0C5}"/>
                  </a:ext>
                </a:extLst>
              </p:cNvPr>
              <p:cNvSpPr txBox="1">
                <a:spLocks noRot="1" noChangeAspect="1" noMove="1" noResize="1" noEditPoints="1" noAdjustHandles="1" noChangeArrowheads="1" noChangeShapeType="1" noTextEdit="1"/>
              </p:cNvSpPr>
              <p:nvPr/>
            </p:nvSpPr>
            <p:spPr>
              <a:xfrm>
                <a:off x="2722227" y="3614036"/>
                <a:ext cx="6098796" cy="571760"/>
              </a:xfrm>
              <a:prstGeom prst="rect">
                <a:avLst/>
              </a:prstGeom>
              <a:blipFill>
                <a:blip r:embed="rId9"/>
                <a:stretch>
                  <a:fillRect/>
                </a:stretch>
              </a:blipFill>
            </p:spPr>
            <p:txBody>
              <a:bodyPr/>
              <a:lstStyle/>
              <a:p>
                <a:r>
                  <a:rPr lang="es-AR">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mc:AlternateContent xmlns:mc="http://schemas.openxmlformats.org/markup-compatibility/2006" xmlns:a14="http://schemas.microsoft.com/office/drawing/2010/main">
        <mc:Choice Requires="a14">
          <p:sp>
            <p:nvSpPr>
              <p:cNvPr id="16" name="Text 14"/>
              <p:cNvSpPr/>
              <p:nvPr/>
            </p:nvSpPr>
            <p:spPr>
              <a:xfrm>
                <a:off x="163483" y="796620"/>
                <a:ext cx="11843789" cy="1005840"/>
              </a:xfrm>
              <a:prstGeom prst="rect">
                <a:avLst/>
              </a:prstGeom>
              <a:noFill/>
              <a:ln/>
            </p:spPr>
            <p:txBody>
              <a:bodyPr wrap="square" rtlCol="0" anchor="t"/>
              <a:lstStyle/>
              <a:p>
                <a:r>
                  <a:rPr lang="es-AR" sz="1400" dirty="0"/>
                  <a:t>Aplicando las hipótesis de simplificación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=0</m:t>
                    </m:r>
                  </m:oMath>
                </a14:m>
                <a:r>
                  <a:rPr lang="es-AR" sz="1400" dirty="0"/>
                  <a:t>, desacople térmico, y eliminación de la componente homopolar al modelo global no lineal, se obtiene un modelo reducido que evita productos entre variables de estado y resulta adecuado para representar el comportamiento dinámico principal del accionamiento en torno al punto de operación.</a:t>
                </a:r>
              </a:p>
            </p:txBody>
          </p:sp>
        </mc:Choice>
        <mc:Fallback xmlns="">
          <p:sp>
            <p:nvSpPr>
              <p:cNvPr id="16" name="Text 14"/>
              <p:cNvSpPr>
                <a:spLocks noRot="1" noChangeAspect="1" noMove="1" noResize="1" noEditPoints="1" noAdjustHandles="1" noChangeArrowheads="1" noChangeShapeType="1" noTextEdit="1"/>
              </p:cNvSpPr>
              <p:nvPr/>
            </p:nvSpPr>
            <p:spPr>
              <a:xfrm>
                <a:off x="163483" y="796620"/>
                <a:ext cx="11843789" cy="1005840"/>
              </a:xfrm>
              <a:prstGeom prst="rect">
                <a:avLst/>
              </a:prstGeom>
              <a:blipFill>
                <a:blip r:embed="rId2"/>
                <a:stretch>
                  <a:fillRect l="-154" t="-1212" r="-154"/>
                </a:stretch>
              </a:blipFill>
              <a:ln/>
            </p:spPr>
            <p:txBody>
              <a:bodyPr/>
              <a:lstStyle/>
              <a:p>
                <a:r>
                  <a:rPr lang="es-AR">
                    <a:noFill/>
                  </a:rPr>
                  <a:t> </a:t>
                </a:r>
              </a:p>
            </p:txBody>
          </p:sp>
        </mc:Fallback>
      </mc:AlternateContent>
      <p:sp>
        <p:nvSpPr>
          <p:cNvPr id="19" name="Shape 13">
            <a:extLst>
              <a:ext uri="{FF2B5EF4-FFF2-40B4-BE49-F238E27FC236}">
                <a16:creationId xmlns:a16="http://schemas.microsoft.com/office/drawing/2014/main" id="{0633B3F7-1BCE-4F19-95D1-803FE14C5B12}"/>
              </a:ext>
            </a:extLst>
          </p:cNvPr>
          <p:cNvSpPr/>
          <p:nvPr/>
        </p:nvSpPr>
        <p:spPr>
          <a:xfrm>
            <a:off x="331977" y="1753465"/>
            <a:ext cx="11073469" cy="1770077"/>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0" name="Text 14">
                <a:extLst>
                  <a:ext uri="{FF2B5EF4-FFF2-40B4-BE49-F238E27FC236}">
                    <a16:creationId xmlns:a16="http://schemas.microsoft.com/office/drawing/2014/main" id="{6681E64D-8DA0-46E4-A62C-0B74117F54E5}"/>
                  </a:ext>
                </a:extLst>
              </p:cNvPr>
              <p:cNvSpPr/>
              <p:nvPr/>
            </p:nvSpPr>
            <p:spPr>
              <a:xfrm>
                <a:off x="354771" y="2232646"/>
                <a:ext cx="4544034" cy="530352"/>
              </a:xfrm>
              <a:prstGeom prst="rect">
                <a:avLst/>
              </a:prstGeom>
              <a:noFill/>
              <a:ln/>
            </p:spPr>
            <p:txBody>
              <a:bodyPr wrap="square" rtlCol="0" anchor="ctr"/>
              <a:lstStyle/>
              <a:p>
                <a:pPr algn="ctr"/>
                <a:br>
                  <a:rPr lang="es-MX" sz="1100" dirty="0"/>
                </a:br>
                <a14:m>
                  <m:oMathPara xmlns:m="http://schemas.openxmlformats.org/officeDocument/2006/math">
                    <m:oMathParaPr>
                      <m:jc m:val="centerGroup"/>
                    </m:oMathParaPr>
                    <m:oMath xmlns:m="http://schemas.openxmlformats.org/officeDocument/2006/math">
                      <m:d>
                        <m:dPr>
                          <m:begChr m:val="{"/>
                          <m:endChr m:val=""/>
                          <m:ctrlPr>
                            <a:rPr lang="es-AR" sz="1600" i="1">
                              <a:latin typeface="Cambria Math" panose="02040503050406030204" pitchFamily="18" charset="0"/>
                            </a:rPr>
                          </m:ctrlPr>
                        </m:dPr>
                        <m:e>
                          <m:eqArr>
                            <m:eqArrPr>
                              <m:ctrlPr>
                                <a:rPr lang="es-AR" sz="1600" i="1">
                                  <a:latin typeface="Cambria Math" panose="02040503050406030204" pitchFamily="18" charset="0"/>
                                </a:rPr>
                              </m:ctrlPr>
                            </m:eqArrPr>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𝜃</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                                                                </m:t>
                              </m:r>
                            </m:e>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𝜔</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d>
                                <m:dPr>
                                  <m:begChr m:val="["/>
                                  <m:endChr m:val="]"/>
                                  <m:ctrlPr>
                                    <a:rPr lang="es-AR" sz="1600" i="1">
                                      <a:latin typeface="Cambria Math" panose="02040503050406030204" pitchFamily="18" charset="0"/>
                                    </a:rPr>
                                  </m:ctrlPr>
                                </m:dPr>
                                <m:e>
                                  <m:f>
                                    <m:fPr>
                                      <m:ctrlPr>
                                        <a:rPr lang="es-AR" sz="1600" i="1">
                                          <a:latin typeface="Cambria Math" panose="02040503050406030204" pitchFamily="18" charset="0"/>
                                        </a:rPr>
                                      </m:ctrlPr>
                                    </m:fPr>
                                    <m:num>
                                      <m:r>
                                        <a:rPr lang="es-AR" sz="1600" i="1">
                                          <a:latin typeface="Cambria Math" panose="02040503050406030204" pitchFamily="18" charset="0"/>
                                        </a:rPr>
                                        <m:t>3</m:t>
                                      </m:r>
                                    </m:num>
                                    <m:den>
                                      <m:r>
                                        <a:rPr lang="es-AR" sz="1600" i="1">
                                          <a:latin typeface="Cambria Math" panose="02040503050406030204" pitchFamily="18" charset="0"/>
                                        </a:rPr>
                                        <m:t>2</m:t>
                                      </m:r>
                                    </m:den>
                                  </m:f>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r>
                                        <a:rPr lang="es-AR" sz="1600" i="1">
                                          <a:latin typeface="Cambria Math" panose="02040503050406030204" pitchFamily="18" charset="0"/>
                                        </a:rPr>
                                        <m:t>𝑟</m:t>
                                      </m:r>
                                    </m:den>
                                  </m:f>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𝑙</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d>
                            </m:e>
                            <m:e>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d>
                                <m:dPr>
                                  <m:begChr m:val="["/>
                                  <m:endChr m:val="]"/>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i="1">
                                  <a:latin typeface="Cambria Math" panose="02040503050406030204" pitchFamily="18" charset="0"/>
                                </a:rPr>
                                <m:t>     </m:t>
                              </m:r>
                            </m:e>
                          </m:eqArr>
                        </m:e>
                      </m:d>
                    </m:oMath>
                  </m:oMathPara>
                </a14:m>
                <a:endParaRPr lang="en-US" sz="1100" dirty="0"/>
              </a:p>
            </p:txBody>
          </p:sp>
        </mc:Choice>
        <mc:Fallback xmlns="">
          <p:sp>
            <p:nvSpPr>
              <p:cNvPr id="20" name="Text 14">
                <a:extLst>
                  <a:ext uri="{FF2B5EF4-FFF2-40B4-BE49-F238E27FC236}">
                    <a16:creationId xmlns:a16="http://schemas.microsoft.com/office/drawing/2014/main" id="{6681E64D-8DA0-46E4-A62C-0B74117F54E5}"/>
                  </a:ext>
                </a:extLst>
              </p:cNvPr>
              <p:cNvSpPr>
                <a:spLocks noRot="1" noChangeAspect="1" noMove="1" noResize="1" noEditPoints="1" noAdjustHandles="1" noChangeArrowheads="1" noChangeShapeType="1" noTextEdit="1"/>
              </p:cNvSpPr>
              <p:nvPr/>
            </p:nvSpPr>
            <p:spPr>
              <a:xfrm>
                <a:off x="354771" y="2232646"/>
                <a:ext cx="4544034" cy="530352"/>
              </a:xfrm>
              <a:prstGeom prst="rect">
                <a:avLst/>
              </a:prstGeom>
              <a:blipFill>
                <a:blip r:embed="rId3"/>
                <a:stretch>
                  <a:fillRect t="-65517" b="-104598"/>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1" name="Text 14">
                <a:extLst>
                  <a:ext uri="{FF2B5EF4-FFF2-40B4-BE49-F238E27FC236}">
                    <a16:creationId xmlns:a16="http://schemas.microsoft.com/office/drawing/2014/main" id="{FB8015F6-289C-42FB-ADFF-05DE85785676}"/>
                  </a:ext>
                </a:extLst>
              </p:cNvPr>
              <p:cNvSpPr/>
              <p:nvPr/>
            </p:nvSpPr>
            <p:spPr>
              <a:xfrm>
                <a:off x="5151867" y="2350008"/>
                <a:ext cx="6512659"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𝜃</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𝜔</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e>
                            </m:mr>
                          </m:m>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3"/>
                                    <m:mcJc m:val="center"/>
                                  </m:mcPr>
                                </m:mc>
                              </m:mcs>
                              <m:ctrlPr>
                                <a:rPr lang="es-AR" sz="1600" i="1">
                                  <a:latin typeface="Cambria Math" panose="02040503050406030204" pitchFamily="18" charset="0"/>
                                </a:rPr>
                              </m:ctrlPr>
                            </m:mPr>
                            <m:mr>
                              <m:e>
                                <m:r>
                                  <a:rPr lang="es-AR" sz="1600" i="1">
                                    <a:latin typeface="Cambria Math" panose="02040503050406030204" pitchFamily="18" charset="0"/>
                                  </a:rPr>
                                  <m:t>0</m:t>
                                </m:r>
                              </m:e>
                              <m:e>
                                <m:r>
                                  <a:rPr lang="es-AR" sz="1600" i="1">
                                    <a:latin typeface="Cambria Math" panose="02040503050406030204" pitchFamily="18" charset="0"/>
                                  </a:rPr>
                                  <m:t>1</m:t>
                                </m:r>
                              </m:e>
                              <m:e>
                                <m:r>
                                  <a:rPr lang="es-AR" sz="1600" i="1">
                                    <a:latin typeface="Cambria Math" panose="02040503050406030204" pitchFamily="18" charset="0"/>
                                  </a:rPr>
                                  <m:t>0</m:t>
                                </m:r>
                              </m:e>
                            </m:mr>
                            <m:mr>
                              <m:e>
                                <m:r>
                                  <a:rPr lang="es-AR" sz="1600" i="1">
                                    <a:latin typeface="Cambria Math" panose="02040503050406030204" pitchFamily="18" charset="0"/>
                                  </a:rPr>
                                  <m:t>0</m:t>
                                </m:r>
                              </m:e>
                              <m:e>
                                <m:r>
                                  <a:rPr lang="es-AR" sz="1600" i="1">
                                    <a:latin typeface="Cambria Math" panose="02040503050406030204" pitchFamily="18" charset="0"/>
                                  </a:rPr>
                                  <m:t>−</m:t>
                                </m:r>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e>
                                </m:box>
                              </m:e>
                              <m:e>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r>
                                          <a:rPr lang="es-AR" sz="1600" i="1">
                                            <a:latin typeface="Cambria Math" panose="02040503050406030204" pitchFamily="18" charset="0"/>
                                          </a:rPr>
                                          <m:t>3</m:t>
                                        </m:r>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num>
                                      <m:den>
                                        <m:r>
                                          <a:rPr lang="es-AR" sz="1600" i="1">
                                            <a:latin typeface="Cambria Math" panose="02040503050406030204" pitchFamily="18" charset="0"/>
                                          </a:rPr>
                                          <m:t>2</m:t>
                                        </m:r>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e>
                                </m:box>
                              </m:e>
                            </m:mr>
                            <m:mr>
                              <m:e>
                                <m:r>
                                  <a:rPr lang="es-AR" sz="1600" i="1">
                                    <a:latin typeface="Cambria Math" panose="02040503050406030204" pitchFamily="18" charset="0"/>
                                  </a:rPr>
                                  <m:t>0</m:t>
                                </m:r>
                              </m:e>
                              <m:e>
                                <m:r>
                                  <a:rPr lang="es-AR" sz="1600" i="1">
                                    <a:latin typeface="Cambria Math" panose="02040503050406030204" pitchFamily="18" charset="0"/>
                                  </a:rPr>
                                  <m:t>−</m:t>
                                </m:r>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e>
                                </m:box>
                              </m:e>
                              <m:e>
                                <m:r>
                                  <a:rPr lang="es-AR" sz="1600" i="1">
                                    <a:latin typeface="Cambria Math" panose="02040503050406030204" pitchFamily="18" charset="0"/>
                                  </a:rPr>
                                  <m:t>−</m:t>
                                </m:r>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e>
                                </m:box>
                              </m:e>
                            </m:mr>
                          </m:m>
                        </m:e>
                      </m:d>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𝜃</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e>
                            </m:mr>
                          </m:m>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r>
                                  <a:rPr lang="es-AR" sz="1600" i="1">
                                    <a:latin typeface="Cambria Math" panose="02040503050406030204" pitchFamily="18" charset="0"/>
                                  </a:rPr>
                                  <m:t>0</m:t>
                                </m:r>
                              </m:e>
                            </m:mr>
                            <m:mr>
                              <m:e>
                                <m:r>
                                  <a:rPr lang="es-AR" sz="1600" i="1">
                                    <a:latin typeface="Cambria Math" panose="02040503050406030204" pitchFamily="18" charset="0"/>
                                  </a:rPr>
                                  <m:t>0</m:t>
                                </m:r>
                              </m:e>
                            </m:mr>
                            <m:mr>
                              <m:e>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e>
                                </m:box>
                              </m:e>
                            </m:mr>
                          </m:m>
                        </m:e>
                      </m:d>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r>
                                  <a:rPr lang="es-AR" sz="1600" i="1">
                                    <a:latin typeface="Cambria Math" panose="02040503050406030204" pitchFamily="18" charset="0"/>
                                  </a:rPr>
                                  <m:t>0</m:t>
                                </m:r>
                              </m:e>
                            </m:mr>
                            <m:mr>
                              <m:e>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r>
                                          <a:rPr lang="es-AR" sz="1600" i="1">
                                            <a:latin typeface="Cambria Math" panose="02040503050406030204" pitchFamily="18" charset="0"/>
                                          </a:rPr>
                                          <m:t>1</m:t>
                                        </m:r>
                                      </m:num>
                                      <m:den>
                                        <m:r>
                                          <a:rPr lang="es-AR" sz="1600" i="1">
                                            <a:latin typeface="Cambria Math" panose="02040503050406030204" pitchFamily="18" charset="0"/>
                                          </a:rPr>
                                          <m:t>𝑟</m:t>
                                        </m:r>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e>
                                </m:box>
                              </m:e>
                            </m:mr>
                            <m:mr>
                              <m:e>
                                <m:r>
                                  <a:rPr lang="es-AR" sz="1600" i="1">
                                    <a:latin typeface="Cambria Math" panose="02040503050406030204" pitchFamily="18" charset="0"/>
                                  </a:rPr>
                                  <m:t>0</m:t>
                                </m:r>
                              </m:e>
                            </m:mr>
                          </m:m>
                        </m:e>
                      </m:d>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𝑙</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1" name="Text 14">
                <a:extLst>
                  <a:ext uri="{FF2B5EF4-FFF2-40B4-BE49-F238E27FC236}">
                    <a16:creationId xmlns:a16="http://schemas.microsoft.com/office/drawing/2014/main" id="{FB8015F6-289C-42FB-ADFF-05DE85785676}"/>
                  </a:ext>
                </a:extLst>
              </p:cNvPr>
              <p:cNvSpPr>
                <a:spLocks noRot="1" noChangeAspect="1" noMove="1" noResize="1" noEditPoints="1" noAdjustHandles="1" noChangeArrowheads="1" noChangeShapeType="1" noTextEdit="1"/>
              </p:cNvSpPr>
              <p:nvPr/>
            </p:nvSpPr>
            <p:spPr>
              <a:xfrm>
                <a:off x="5151867" y="2350008"/>
                <a:ext cx="6512659" cy="530352"/>
              </a:xfrm>
              <a:prstGeom prst="rect">
                <a:avLst/>
              </a:prstGeom>
              <a:blipFill>
                <a:blip r:embed="rId4"/>
                <a:stretch>
                  <a:fillRect t="-45977" b="-50575"/>
                </a:stretch>
              </a:blipFill>
              <a:ln/>
            </p:spPr>
            <p:txBody>
              <a:bodyPr/>
              <a:lstStyle/>
              <a:p>
                <a:r>
                  <a:rPr lang="es-AR">
                    <a:noFill/>
                  </a:rPr>
                  <a:t> </a:t>
                </a:r>
              </a:p>
            </p:txBody>
          </p:sp>
        </mc:Fallback>
      </mc:AlternateContent>
    </p:spTree>
    <p:extLst>
      <p:ext uri="{BB962C8B-B14F-4D97-AF65-F5344CB8AC3E}">
        <p14:creationId xmlns:p14="http://schemas.microsoft.com/office/powerpoint/2010/main" val="6149997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p:pic>
        <p:nvPicPr>
          <p:cNvPr id="8" name="Imagen 7">
            <a:extLst>
              <a:ext uri="{FF2B5EF4-FFF2-40B4-BE49-F238E27FC236}">
                <a16:creationId xmlns:a16="http://schemas.microsoft.com/office/drawing/2014/main" id="{E2932B77-5246-4A11-B291-D130B43CBD2E}"/>
              </a:ext>
            </a:extLst>
          </p:cNvPr>
          <p:cNvPicPr>
            <a:picLocks noChangeAspect="1"/>
          </p:cNvPicPr>
          <p:nvPr/>
        </p:nvPicPr>
        <p:blipFill>
          <a:blip r:embed="rId2"/>
          <a:srcRect/>
          <a:stretch/>
        </p:blipFill>
        <p:spPr>
          <a:xfrm>
            <a:off x="1192928" y="816440"/>
            <a:ext cx="9141982" cy="4841276"/>
          </a:xfrm>
          <a:prstGeom prst="rect">
            <a:avLst/>
          </a:prstGeom>
        </p:spPr>
      </p:pic>
      <p:sp>
        <p:nvSpPr>
          <p:cNvPr id="15" name="CuadroTexto 14">
            <a:extLst>
              <a:ext uri="{FF2B5EF4-FFF2-40B4-BE49-F238E27FC236}">
                <a16:creationId xmlns:a16="http://schemas.microsoft.com/office/drawing/2014/main" id="{9A639F6C-1BED-47BA-BB04-A7534BAF33FF}"/>
              </a:ext>
            </a:extLst>
          </p:cNvPr>
          <p:cNvSpPr txBox="1"/>
          <p:nvPr/>
        </p:nvSpPr>
        <p:spPr>
          <a:xfrm>
            <a:off x="2915174" y="5739535"/>
            <a:ext cx="6098796" cy="261610"/>
          </a:xfrm>
          <a:prstGeom prst="rect">
            <a:avLst/>
          </a:prstGeom>
          <a:noFill/>
        </p:spPr>
        <p:txBody>
          <a:bodyPr wrap="square">
            <a:spAutoFit/>
          </a:bodyPr>
          <a:lstStyle/>
          <a:p>
            <a:pPr marL="0" indent="0" algn="ctr">
              <a:buNone/>
            </a:pPr>
            <a:r>
              <a:rPr lang="es-AR" sz="1100" i="1" dirty="0">
                <a:solidFill>
                  <a:srgbClr val="224488"/>
                </a:solidFill>
                <a:latin typeface="Calibri" pitchFamily="34" charset="0"/>
                <a:ea typeface="Calibri" pitchFamily="34" charset="-122"/>
                <a:cs typeface="Calibri" pitchFamily="34" charset="-120"/>
              </a:rPr>
              <a:t>FIGURA: Figura 8 Sistema completo LTI</a:t>
            </a:r>
            <a:endParaRPr lang="es-AR" sz="1100" dirty="0"/>
          </a:p>
        </p:txBody>
      </p:sp>
    </p:spTree>
    <p:extLst>
      <p:ext uri="{BB962C8B-B14F-4D97-AF65-F5344CB8AC3E}">
        <p14:creationId xmlns:p14="http://schemas.microsoft.com/office/powerpoint/2010/main" val="2769730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Ley de control mínima</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sp>
            <p:nvSpPr>
              <p:cNvPr id="7" name="Text 5"/>
              <p:cNvSpPr/>
              <p:nvPr/>
            </p:nvSpPr>
            <p:spPr>
              <a:xfrm>
                <a:off x="179329" y="717751"/>
                <a:ext cx="11430000" cy="548640"/>
              </a:xfrm>
              <a:prstGeom prst="rect">
                <a:avLst/>
              </a:prstGeom>
              <a:noFill/>
              <a:ln/>
            </p:spPr>
            <p:txBody>
              <a:bodyPr wrap="square" rtlCol="0" anchor="t"/>
              <a:lstStyle/>
              <a:p>
                <a:r>
                  <a:rPr lang="es-AR" sz="1400" dirty="0">
                    <a:solidFill>
                      <a:srgbClr val="111111"/>
                    </a:solidFill>
                    <a:latin typeface="Calibri" pitchFamily="34" charset="0"/>
                    <a:ea typeface="Calibri" pitchFamily="34" charset="-122"/>
                    <a:cs typeface="Calibri" pitchFamily="34" charset="-120"/>
                  </a:rPr>
                  <a:t>Para garantizar que se cumpla la condición </a:t>
                </a:r>
                <a14:m>
                  <m:oMath xmlns:m="http://schemas.openxmlformats.org/officeDocument/2006/math">
                    <m:sSubSup>
                      <m:sSubSupPr>
                        <m:ctrlPr>
                          <a:rPr lang="es-AR" sz="14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y</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MX" sz="1400" b="0" i="1" smtClean="0">
                        <a:latin typeface="Cambria Math" panose="02040503050406030204" pitchFamily="18" charset="0"/>
                      </a:rPr>
                      <m:t>=</m:t>
                    </m:r>
                    <m:r>
                      <a:rPr lang="es-MX" sz="1400" b="0" i="1" smtClean="0">
                        <a:latin typeface="Cambria Math" panose="02040503050406030204" pitchFamily="18" charset="0"/>
                      </a:rPr>
                      <m:t>0</m:t>
                    </m:r>
                  </m:oMath>
                </a14:m>
                <a:r>
                  <a:rPr lang="es-AR" sz="1400" dirty="0"/>
                  <a:t>, es necesario imponer una ley de control sobre las variables manipuladas:</a:t>
                </a:r>
              </a:p>
            </p:txBody>
          </p:sp>
        </mc:Choice>
        <mc:Fallback xmlns="">
          <p:sp>
            <p:nvSpPr>
              <p:cNvPr id="7" name="Text 5"/>
              <p:cNvSpPr>
                <a:spLocks noRot="1" noChangeAspect="1" noMove="1" noResize="1" noEditPoints="1" noAdjustHandles="1" noChangeArrowheads="1" noChangeShapeType="1" noTextEdit="1"/>
              </p:cNvSpPr>
              <p:nvPr/>
            </p:nvSpPr>
            <p:spPr>
              <a:xfrm>
                <a:off x="179329" y="717751"/>
                <a:ext cx="11430000" cy="548640"/>
              </a:xfrm>
              <a:prstGeom prst="rect">
                <a:avLst/>
              </a:prstGeom>
              <a:blipFill>
                <a:blip r:embed="rId2"/>
                <a:stretch>
                  <a:fillRect l="-160"/>
                </a:stretch>
              </a:blipFill>
              <a:ln/>
            </p:spPr>
            <p:txBody>
              <a:bodyPr/>
              <a:lstStyle/>
              <a:p>
                <a:r>
                  <a:rPr lang="es-AR">
                    <a:noFill/>
                  </a:rPr>
                  <a:t> </a:t>
                </a:r>
              </a:p>
            </p:txBody>
          </p:sp>
        </mc:Fallback>
      </mc:AlternateContent>
      <p:sp>
        <p:nvSpPr>
          <p:cNvPr id="8" name="Shape 6"/>
          <p:cNvSpPr/>
          <p:nvPr/>
        </p:nvSpPr>
        <p:spPr>
          <a:xfrm>
            <a:off x="457200" y="1225465"/>
            <a:ext cx="9164972" cy="50292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365760" y="1225465"/>
                <a:ext cx="7589520" cy="50292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s-AR" sz="1050" i="1" smtClean="0">
                              <a:effectLst/>
                              <a:latin typeface="Cambria Math" panose="02040503050406030204" pitchFamily="18" charset="0"/>
                              <a:cs typeface="Calibri" panose="020F0502020204030204" pitchFamily="34" charset="0"/>
                            </a:rPr>
                          </m:ctrlPr>
                        </m:sSubSupPr>
                        <m:e>
                          <m:r>
                            <a:rPr lang="es-AR" sz="16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m:t>
                          </m:r>
                        </m:sub>
                      </m:sSub>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𝑝</m:t>
                          </m:r>
                        </m:sub>
                      </m:sSub>
                      <m:r>
                        <a:rPr lang="es-AR" sz="1600" i="1">
                          <a:effectLst/>
                          <a:latin typeface="Cambria Math" panose="02040503050406030204" pitchFamily="18" charset="0"/>
                          <a:ea typeface="Calibri" panose="020F0502020204030204" pitchFamily="34" charset="0"/>
                          <a:cs typeface="Calibri" panose="020F0502020204030204" pitchFamily="34" charset="0"/>
                        </a:rPr>
                        <m:t> </m:t>
                      </m:r>
                      <m:sSubSup>
                        <m:sSubSupPr>
                          <m:ctrlPr>
                            <a:rPr lang="es-AR" sz="1050" i="1">
                              <a:effectLst/>
                              <a:latin typeface="Cambria Math" panose="02040503050406030204" pitchFamily="18" charset="0"/>
                              <a:cs typeface="Calibri" panose="020F0502020204030204" pitchFamily="34" charset="0"/>
                            </a:rPr>
                          </m:ctrlPr>
                        </m:sSubSupPr>
                        <m:e>
                          <m:r>
                            <a:rPr lang="es-AR" sz="16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𝜔</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365760" y="1225465"/>
                <a:ext cx="7589520" cy="502920"/>
              </a:xfrm>
              <a:prstGeom prst="rect">
                <a:avLst/>
              </a:prstGeom>
              <a:blipFill>
                <a:blip r:embed="rId3"/>
                <a:stretch>
                  <a:fillRect/>
                </a:stretch>
              </a:blipFill>
              <a:ln/>
            </p:spPr>
            <p:txBody>
              <a:bodyPr/>
              <a:lstStyle/>
              <a:p>
                <a:r>
                  <a:rPr lang="es-AR">
                    <a:noFill/>
                  </a:rPr>
                  <a:t> </a:t>
                </a:r>
              </a:p>
            </p:txBody>
          </p:sp>
        </mc:Fallback>
      </mc:AlternateContent>
      <p:sp>
        <p:nvSpPr>
          <p:cNvPr id="20" name="Text 18"/>
          <p:cNvSpPr/>
          <p:nvPr/>
        </p:nvSpPr>
        <p:spPr>
          <a:xfrm>
            <a:off x="548640" y="5866524"/>
            <a:ext cx="11247120" cy="77724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9 — </a:t>
            </a:r>
            <a:r>
              <a:rPr lang="en-US" sz="1100" i="1" dirty="0" err="1">
                <a:solidFill>
                  <a:srgbClr val="224488"/>
                </a:solidFill>
                <a:latin typeface="Calibri" pitchFamily="34" charset="0"/>
                <a:ea typeface="Calibri" pitchFamily="34" charset="-122"/>
                <a:cs typeface="Calibri" pitchFamily="34" charset="-120"/>
              </a:rPr>
              <a:t>Modelo</a:t>
            </a:r>
            <a:r>
              <a:rPr lang="en-US" sz="1100" i="1" dirty="0">
                <a:solidFill>
                  <a:srgbClr val="224488"/>
                </a:solidFill>
                <a:latin typeface="Calibri" pitchFamily="34" charset="0"/>
                <a:ea typeface="Calibri" pitchFamily="34" charset="-122"/>
                <a:cs typeface="Calibri" pitchFamily="34" charset="-120"/>
              </a:rPr>
              <a:t> global NL con ley de control minima </a:t>
            </a:r>
            <a:r>
              <a:rPr lang="en-US" sz="1100" i="1" dirty="0" err="1">
                <a:solidFill>
                  <a:srgbClr val="224488"/>
                </a:solidFill>
                <a:latin typeface="Calibri" pitchFamily="34" charset="0"/>
                <a:ea typeface="Calibri" pitchFamily="34" charset="-122"/>
                <a:cs typeface="Calibri" pitchFamily="34" charset="-120"/>
              </a:rPr>
              <a:t>en</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eje</a:t>
            </a:r>
            <a:r>
              <a:rPr lang="en-US" sz="1100" i="1" dirty="0">
                <a:solidFill>
                  <a:srgbClr val="224488"/>
                </a:solidFill>
                <a:latin typeface="Calibri" pitchFamily="34" charset="0"/>
                <a:ea typeface="Calibri" pitchFamily="34" charset="-122"/>
                <a:cs typeface="Calibri" pitchFamily="34" charset="-120"/>
              </a:rPr>
              <a:t> d</a:t>
            </a:r>
            <a:endParaRPr lang="en-US" sz="1100" dirty="0"/>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C3CDC4FC-F664-4108-A1C8-47801ED3E3A9}"/>
                  </a:ext>
                </a:extLst>
              </p:cNvPr>
              <p:cNvSpPr txBox="1"/>
              <p:nvPr/>
            </p:nvSpPr>
            <p:spPr>
              <a:xfrm>
                <a:off x="365760" y="1765939"/>
                <a:ext cx="9256412" cy="296363"/>
              </a:xfrm>
              <a:prstGeom prst="rect">
                <a:avLst/>
              </a:prstGeom>
              <a:noFill/>
            </p:spPr>
            <p:txBody>
              <a:bodyPr wrap="square">
                <a:spAutoFit/>
              </a:bodyPr>
              <a:lstStyle/>
              <a:p>
                <a:pPr algn="just">
                  <a:lnSpc>
                    <a:spcPct val="107000"/>
                  </a:lnSpc>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De este modo, </a:t>
                </a:r>
                <a14:m>
                  <m:oMath xmlns:m="http://schemas.openxmlformats.org/officeDocument/2006/math">
                    <m:sSubSup>
                      <m:sSubSupPr>
                        <m:ctrlPr>
                          <a:rPr lang="es-AR" sz="13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3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3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3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300" i="1">
                            <a:effectLst/>
                            <a:latin typeface="Cambria Math" panose="02040503050406030204" pitchFamily="18" charset="0"/>
                            <a:ea typeface="Calibri" panose="020F0502020204030204" pitchFamily="34" charset="0"/>
                            <a:cs typeface="Calibri" panose="020F0502020204030204" pitchFamily="34" charset="0"/>
                          </a:rPr>
                        </m:ctrlPr>
                      </m:dPr>
                      <m:e>
                        <m:r>
                          <a:rPr lang="es-AR" sz="13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s-AR" sz="1300" dirty="0">
                    <a:effectLst/>
                    <a:latin typeface="Calibri" panose="020F0502020204030204" pitchFamily="34" charset="0"/>
                    <a:ea typeface="Calibri" panose="020F0502020204030204" pitchFamily="34" charset="0"/>
                    <a:cs typeface="Calibri" panose="020F0502020204030204" pitchFamily="34" charset="0"/>
                  </a:rPr>
                  <a:t> no se considera una variable manipulable directamente. </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2" name="CuadroTexto 21">
                <a:extLst>
                  <a:ext uri="{FF2B5EF4-FFF2-40B4-BE49-F238E27FC236}">
                    <a16:creationId xmlns:a16="http://schemas.microsoft.com/office/drawing/2014/main" id="{C3CDC4FC-F664-4108-A1C8-47801ED3E3A9}"/>
                  </a:ext>
                </a:extLst>
              </p:cNvPr>
              <p:cNvSpPr txBox="1">
                <a:spLocks noRot="1" noChangeAspect="1" noMove="1" noResize="1" noEditPoints="1" noAdjustHandles="1" noChangeArrowheads="1" noChangeShapeType="1" noTextEdit="1"/>
              </p:cNvSpPr>
              <p:nvPr/>
            </p:nvSpPr>
            <p:spPr>
              <a:xfrm>
                <a:off x="365760" y="1765939"/>
                <a:ext cx="9256412" cy="296363"/>
              </a:xfrm>
              <a:prstGeom prst="rect">
                <a:avLst/>
              </a:prstGeom>
              <a:blipFill>
                <a:blip r:embed="rId4"/>
                <a:stretch>
                  <a:fillRect l="-66" b="-18750"/>
                </a:stretch>
              </a:blipFill>
            </p:spPr>
            <p:txBody>
              <a:bodyPr/>
              <a:lstStyle/>
              <a:p>
                <a:r>
                  <a:rPr lang="es-AR">
                    <a:noFill/>
                  </a:rPr>
                  <a:t> </a:t>
                </a:r>
              </a:p>
            </p:txBody>
          </p:sp>
        </mc:Fallback>
      </mc:AlternateContent>
      <p:pic>
        <p:nvPicPr>
          <p:cNvPr id="24" name="Imagen 23">
            <a:extLst>
              <a:ext uri="{FF2B5EF4-FFF2-40B4-BE49-F238E27FC236}">
                <a16:creationId xmlns:a16="http://schemas.microsoft.com/office/drawing/2014/main" id="{806F06E3-4BF3-4F2D-B285-D726CCBDB148}"/>
              </a:ext>
            </a:extLst>
          </p:cNvPr>
          <p:cNvPicPr>
            <a:picLocks noChangeAspect="1"/>
          </p:cNvPicPr>
          <p:nvPr/>
        </p:nvPicPr>
        <p:blipFill>
          <a:blip r:embed="rId5"/>
          <a:stretch>
            <a:fillRect/>
          </a:stretch>
        </p:blipFill>
        <p:spPr>
          <a:xfrm>
            <a:off x="1292797" y="2062302"/>
            <a:ext cx="8361673" cy="410058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de la dinámica residual</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sp>
            <p:nvSpPr>
              <p:cNvPr id="7" name="Text 5"/>
              <p:cNvSpPr/>
              <p:nvPr/>
            </p:nvSpPr>
            <p:spPr>
              <a:xfrm>
                <a:off x="365760" y="777240"/>
                <a:ext cx="11430000" cy="548640"/>
              </a:xfrm>
              <a:prstGeom prst="rect">
                <a:avLst/>
              </a:prstGeom>
              <a:noFill/>
              <a:ln/>
            </p:spPr>
            <p:txBody>
              <a:bodyPr wrap="square" rtlCol="0" anchor="t"/>
              <a:lstStyle/>
              <a:p>
                <a:r>
                  <a:rPr lang="es-AR" sz="1300" dirty="0">
                    <a:solidFill>
                      <a:srgbClr val="111111"/>
                    </a:solidFill>
                    <a:latin typeface="Calibri" pitchFamily="34" charset="0"/>
                    <a:ea typeface="Calibri" pitchFamily="34" charset="-122"/>
                    <a:cs typeface="Calibri" pitchFamily="34" charset="-120"/>
                  </a:rPr>
                  <a:t>Debemos analizar el comportamiento del sistema cuando tenemos </a:t>
                </a:r>
                <a14:m>
                  <m:oMath xmlns:m="http://schemas.openxmlformats.org/officeDocument/2006/math">
                    <m:sSubSup>
                      <m:sSubSupPr>
                        <m:ctrlPr>
                          <a:rPr lang="es-AR" sz="1300" i="1" smtClean="0">
                            <a:effectLst/>
                            <a:latin typeface="Cambria Math" panose="02040503050406030204" pitchFamily="18" charset="0"/>
                          </a:rPr>
                        </m:ctrlPr>
                      </m:sSubSup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3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300" i="1">
                            <a:effectLst/>
                            <a:latin typeface="Cambria Math" panose="02040503050406030204" pitchFamily="18" charset="0"/>
                          </a:rPr>
                        </m:ctrlPr>
                      </m:d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300" i="1">
                        <a:effectLst/>
                        <a:latin typeface="Cambria Math" panose="02040503050406030204" pitchFamily="18" charset="0"/>
                        <a:ea typeface="Calibri" panose="020F0502020204030204" pitchFamily="34" charset="0"/>
                        <a:cs typeface="Times New Roman" panose="02020603050405020304" pitchFamily="18" charset="0"/>
                      </a:rPr>
                      <m:t>≠</m:t>
                    </m:r>
                    <m:r>
                      <a:rPr lang="es-AR" sz="1300" i="1">
                        <a:effectLst/>
                        <a:latin typeface="Cambria Math" panose="02040503050406030204" pitchFamily="18" charset="0"/>
                        <a:ea typeface="Calibri" panose="020F0502020204030204" pitchFamily="34" charset="0"/>
                        <a:cs typeface="Times New Roman" panose="02020603050405020304" pitchFamily="18" charset="0"/>
                      </a:rPr>
                      <m:t>0</m:t>
                    </m:r>
                    <m:r>
                      <a:rPr lang="es-MX" sz="1300" b="0" i="1" smtClean="0">
                        <a:effectLst/>
                        <a:latin typeface="Cambria Math" panose="02040503050406030204" pitchFamily="18" charset="0"/>
                        <a:ea typeface="Calibri" panose="020F0502020204030204" pitchFamily="34" charset="0"/>
                        <a:cs typeface="Times New Roman" panose="02020603050405020304" pitchFamily="18" charset="0"/>
                      </a:rPr>
                      <m:t>.</m:t>
                    </m:r>
                  </m:oMath>
                </a14:m>
                <a:r>
                  <a:rPr lang="es-AR" sz="1300" dirty="0"/>
                  <a:t> Aplicando la ley de control mínima sobre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300" dirty="0"/>
                  <a:t>:</a:t>
                </a:r>
              </a:p>
            </p:txBody>
          </p:sp>
        </mc:Choice>
        <mc:Fallback xmlns="">
          <p:sp>
            <p:nvSpPr>
              <p:cNvPr id="7" name="Text 5"/>
              <p:cNvSpPr>
                <a:spLocks noRot="1" noChangeAspect="1" noMove="1" noResize="1" noEditPoints="1" noAdjustHandles="1" noChangeArrowheads="1" noChangeShapeType="1" noTextEdit="1"/>
              </p:cNvSpPr>
              <p:nvPr/>
            </p:nvSpPr>
            <p:spPr>
              <a:xfrm>
                <a:off x="365760" y="777240"/>
                <a:ext cx="11430000" cy="548640"/>
              </a:xfrm>
              <a:prstGeom prst="rect">
                <a:avLst/>
              </a:prstGeom>
              <a:blipFill>
                <a:blip r:embed="rId2"/>
                <a:stretch>
                  <a:fillRect l="-53"/>
                </a:stretch>
              </a:blipFill>
              <a:ln/>
            </p:spPr>
            <p:txBody>
              <a:bodyPr/>
              <a:lstStyle/>
              <a:p>
                <a:r>
                  <a:rPr lang="es-AR">
                    <a:noFill/>
                  </a:rPr>
                  <a:t> </a:t>
                </a:r>
              </a:p>
            </p:txBody>
          </p:sp>
        </mc:Fallback>
      </mc:AlternateContent>
      <p:sp>
        <p:nvSpPr>
          <p:cNvPr id="8" name="Shape 6"/>
          <p:cNvSpPr/>
          <p:nvPr/>
        </p:nvSpPr>
        <p:spPr>
          <a:xfrm>
            <a:off x="457200" y="1138428"/>
            <a:ext cx="758952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365760" y="1138428"/>
                <a:ext cx="7589520" cy="50292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365760" y="1138428"/>
                <a:ext cx="7589520" cy="502920"/>
              </a:xfrm>
              <a:prstGeom prst="rect">
                <a:avLst/>
              </a:prstGeom>
              <a:blipFill>
                <a:blip r:embed="rId7"/>
                <a:stretch>
                  <a:fillRect b="-4878"/>
                </a:stretch>
              </a:blipFill>
              <a:ln/>
            </p:spPr>
            <p:txBody>
              <a:bodyPr/>
              <a:lstStyle/>
              <a:p>
                <a:r>
                  <a:rPr lang="es-AR">
                    <a:noFill/>
                  </a:rPr>
                  <a:t> </a:t>
                </a:r>
              </a:p>
            </p:txBody>
          </p:sp>
        </mc:Fallback>
      </mc:AlternateContent>
      <p:sp>
        <p:nvSpPr>
          <p:cNvPr id="22" name="CuadroTexto 21">
            <a:extLst>
              <a:ext uri="{FF2B5EF4-FFF2-40B4-BE49-F238E27FC236}">
                <a16:creationId xmlns:a16="http://schemas.microsoft.com/office/drawing/2014/main" id="{C3CDC4FC-F664-4108-A1C8-47801ED3E3A9}"/>
              </a:ext>
            </a:extLst>
          </p:cNvPr>
          <p:cNvSpPr txBox="1"/>
          <p:nvPr/>
        </p:nvSpPr>
        <p:spPr>
          <a:xfrm>
            <a:off x="365760" y="1854354"/>
            <a:ext cx="9256412" cy="296876"/>
          </a:xfrm>
          <a:prstGeom prst="rect">
            <a:avLst/>
          </a:prstGeom>
          <a:noFill/>
        </p:spPr>
        <p:txBody>
          <a:bodyPr wrap="square">
            <a:spAutoFit/>
          </a:bodyPr>
          <a:lstStyle/>
          <a:p>
            <a:pPr algn="just">
              <a:lnSpc>
                <a:spcPct val="107000"/>
              </a:lnSpc>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Esta ecuación corresponde a un sistema lineal de primer orden, con solución analítica: </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Shape 6">
            <a:extLst>
              <a:ext uri="{FF2B5EF4-FFF2-40B4-BE49-F238E27FC236}">
                <a16:creationId xmlns:a16="http://schemas.microsoft.com/office/drawing/2014/main" id="{0E87EB8E-556D-4111-8DA0-F71091BAEAC5}"/>
              </a:ext>
            </a:extLst>
          </p:cNvPr>
          <p:cNvSpPr/>
          <p:nvPr/>
        </p:nvSpPr>
        <p:spPr>
          <a:xfrm>
            <a:off x="457200" y="2241695"/>
            <a:ext cx="758952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4" name="Text 7">
                <a:extLst>
                  <a:ext uri="{FF2B5EF4-FFF2-40B4-BE49-F238E27FC236}">
                    <a16:creationId xmlns:a16="http://schemas.microsoft.com/office/drawing/2014/main" id="{4DB2723C-E875-49E6-A17E-427760616966}"/>
                  </a:ext>
                </a:extLst>
              </p:cNvPr>
              <p:cNvSpPr/>
              <p:nvPr/>
            </p:nvSpPr>
            <p:spPr>
              <a:xfrm>
                <a:off x="365760" y="2241695"/>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𝑑𝑠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𝑑𝑠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0</m:t>
                          </m:r>
                        </m:e>
                      </m:d>
                      <m:sSup>
                        <m:sSupPr>
                          <m:ctrlPr>
                            <a:rPr lang="es-AR" sz="1600" i="1">
                              <a:latin typeface="Cambria Math" panose="02040503050406030204" pitchFamily="18" charset="0"/>
                            </a:rPr>
                          </m:ctrlPr>
                        </m:sSupPr>
                        <m:e>
                          <m:r>
                            <a:rPr lang="es-AR" sz="1600" i="1">
                              <a:latin typeface="Cambria Math" panose="02040503050406030204" pitchFamily="18" charset="0"/>
                            </a:rPr>
                            <m:t>𝑒</m:t>
                          </m:r>
                        </m:e>
                        <m:sup>
                          <m:r>
                            <a:rPr lang="es-AR" sz="1600" i="1">
                              <a:latin typeface="Cambria Math" panose="02040503050406030204" pitchFamily="18" charset="0"/>
                            </a:rPr>
                            <m:t>−</m:t>
                          </m: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𝑑</m:t>
                                  </m:r>
                                </m:sub>
                              </m:sSub>
                            </m:den>
                          </m:f>
                          <m:r>
                            <a:rPr lang="es-AR" sz="1600" i="1">
                              <a:latin typeface="Cambria Math" panose="02040503050406030204" pitchFamily="18" charset="0"/>
                            </a:rPr>
                            <m:t>𝑡</m:t>
                          </m:r>
                        </m:sup>
                      </m:sSup>
                    </m:oMath>
                  </m:oMathPara>
                </a14:m>
                <a:endParaRPr lang="en-US" sz="1100" dirty="0"/>
              </a:p>
            </p:txBody>
          </p:sp>
        </mc:Choice>
        <mc:Fallback xmlns="">
          <p:sp>
            <p:nvSpPr>
              <p:cNvPr id="14" name="Text 7">
                <a:extLst>
                  <a:ext uri="{FF2B5EF4-FFF2-40B4-BE49-F238E27FC236}">
                    <a16:creationId xmlns:a16="http://schemas.microsoft.com/office/drawing/2014/main" id="{4DB2723C-E875-49E6-A17E-427760616966}"/>
                  </a:ext>
                </a:extLst>
              </p:cNvPr>
              <p:cNvSpPr>
                <a:spLocks noRot="1" noChangeAspect="1" noMove="1" noResize="1" noEditPoints="1" noAdjustHandles="1" noChangeArrowheads="1" noChangeShapeType="1" noTextEdit="1"/>
              </p:cNvSpPr>
              <p:nvPr/>
            </p:nvSpPr>
            <p:spPr>
              <a:xfrm>
                <a:off x="365760" y="2241695"/>
                <a:ext cx="7589520" cy="502920"/>
              </a:xfrm>
              <a:prstGeom prst="rect">
                <a:avLst/>
              </a:prstGeom>
              <a:blipFill>
                <a:blip r:embed="rId6"/>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FC3DD1D0-FBCD-495D-B997-43A13D152833}"/>
                  </a:ext>
                </a:extLst>
              </p:cNvPr>
              <p:cNvSpPr txBox="1"/>
              <p:nvPr/>
            </p:nvSpPr>
            <p:spPr>
              <a:xfrm>
                <a:off x="365760" y="2911518"/>
                <a:ext cx="11680831" cy="668453"/>
              </a:xfrm>
              <a:prstGeom prst="rect">
                <a:avLst/>
              </a:prstGeom>
              <a:noFill/>
            </p:spPr>
            <p:txBody>
              <a:bodyPr wrap="square">
                <a:spAutoFit/>
              </a:bodyPr>
              <a:lstStyle/>
              <a:p>
                <a:pPr algn="just">
                  <a:lnSpc>
                    <a:spcPct val="107000"/>
                  </a:lnSpc>
                  <a:spcBef>
                    <a:spcPts val="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La corriente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ea typeface="Calibri" panose="020F0502020204030204" pitchFamily="34"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presenta un decaimiento exponencial determinado por la constante de tiempo eléctrica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ea typeface="Calibri" panose="020F0502020204030204" pitchFamily="34" charset="0"/>
                            <a:cs typeface="Calibri" panose="020F0502020204030204" pitchFamily="34" charset="0"/>
                          </a:rPr>
                        </m:ctrlPr>
                      </m:fPr>
                      <m:num>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Sub>
                      </m:num>
                      <m:den>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Sub>
                      </m:den>
                    </m:f>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Esto implica que, aun cuando la condición inicial no sea exactamente nula, la componente directa tenderá naturalmente a extinguirse con el tiempo.</a:t>
                </a:r>
              </a:p>
            </p:txBody>
          </p:sp>
        </mc:Choice>
        <mc:Fallback xmlns="">
          <p:sp>
            <p:nvSpPr>
              <p:cNvPr id="16" name="CuadroTexto 15">
                <a:extLst>
                  <a:ext uri="{FF2B5EF4-FFF2-40B4-BE49-F238E27FC236}">
                    <a16:creationId xmlns:a16="http://schemas.microsoft.com/office/drawing/2014/main" id="{FC3DD1D0-FBCD-495D-B997-43A13D152833}"/>
                  </a:ext>
                </a:extLst>
              </p:cNvPr>
              <p:cNvSpPr txBox="1">
                <a:spLocks noRot="1" noChangeAspect="1" noMove="1" noResize="1" noEditPoints="1" noAdjustHandles="1" noChangeArrowheads="1" noChangeShapeType="1" noTextEdit="1"/>
              </p:cNvSpPr>
              <p:nvPr/>
            </p:nvSpPr>
            <p:spPr>
              <a:xfrm>
                <a:off x="365760" y="2911518"/>
                <a:ext cx="11680831" cy="668453"/>
              </a:xfrm>
              <a:prstGeom prst="rect">
                <a:avLst/>
              </a:prstGeom>
              <a:blipFill>
                <a:blip r:embed="rId8"/>
                <a:stretch>
                  <a:fillRect l="-157" r="-157" b="-917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4115BED1-7ECD-4D78-B3DB-CFE08CC34666}"/>
                  </a:ext>
                </a:extLst>
              </p:cNvPr>
              <p:cNvSpPr txBox="1"/>
              <p:nvPr/>
            </p:nvSpPr>
            <p:spPr>
              <a:xfrm>
                <a:off x="365760" y="3615763"/>
                <a:ext cx="11612880" cy="539828"/>
              </a:xfrm>
              <a:prstGeom prst="rect">
                <a:avLst/>
              </a:prstGeom>
              <a:noFill/>
            </p:spPr>
            <p:txBody>
              <a:bodyPr wrap="square">
                <a:spAutoFit/>
              </a:bodyPr>
              <a:lstStyle/>
              <a:p>
                <a:r>
                  <a:rPr lang="es-AR" sz="1400" dirty="0"/>
                  <a:t>Se puede implementar una restricción o Ley de Control complementaria mínima en el eje q para eliminar completamente el acoplamiento, y obtener un modelo equivalente lineal, independiente del estado inicial de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Partiendo de la ecuación diferencial del eje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oMath>
                </a14:m>
                <a:r>
                  <a:rPr lang="es-AR" sz="1400" dirty="0"/>
                  <a:t>, podemos despejar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a:t>
                </a:r>
              </a:p>
            </p:txBody>
          </p:sp>
        </mc:Choice>
        <mc:Fallback xmlns="">
          <p:sp>
            <p:nvSpPr>
              <p:cNvPr id="18" name="CuadroTexto 17">
                <a:extLst>
                  <a:ext uri="{FF2B5EF4-FFF2-40B4-BE49-F238E27FC236}">
                    <a16:creationId xmlns:a16="http://schemas.microsoft.com/office/drawing/2014/main" id="{4115BED1-7ECD-4D78-B3DB-CFE08CC34666}"/>
                  </a:ext>
                </a:extLst>
              </p:cNvPr>
              <p:cNvSpPr txBox="1">
                <a:spLocks noRot="1" noChangeAspect="1" noMove="1" noResize="1" noEditPoints="1" noAdjustHandles="1" noChangeArrowheads="1" noChangeShapeType="1" noTextEdit="1"/>
              </p:cNvSpPr>
              <p:nvPr/>
            </p:nvSpPr>
            <p:spPr>
              <a:xfrm>
                <a:off x="365760" y="3615763"/>
                <a:ext cx="11612880" cy="539828"/>
              </a:xfrm>
              <a:prstGeom prst="rect">
                <a:avLst/>
              </a:prstGeom>
              <a:blipFill>
                <a:blip r:embed="rId9"/>
                <a:stretch>
                  <a:fillRect l="-157" t="-2247" b="-8989"/>
                </a:stretch>
              </a:blipFill>
            </p:spPr>
            <p:txBody>
              <a:bodyPr/>
              <a:lstStyle/>
              <a:p>
                <a:r>
                  <a:rPr lang="es-AR">
                    <a:noFill/>
                  </a:rPr>
                  <a:t> </a:t>
                </a:r>
              </a:p>
            </p:txBody>
          </p:sp>
        </mc:Fallback>
      </mc:AlternateContent>
      <p:sp>
        <p:nvSpPr>
          <p:cNvPr id="19" name="Shape 6">
            <a:extLst>
              <a:ext uri="{FF2B5EF4-FFF2-40B4-BE49-F238E27FC236}">
                <a16:creationId xmlns:a16="http://schemas.microsoft.com/office/drawing/2014/main" id="{1BB9ABEA-4385-48D5-BB7D-367940840E23}"/>
              </a:ext>
            </a:extLst>
          </p:cNvPr>
          <p:cNvSpPr/>
          <p:nvPr/>
        </p:nvSpPr>
        <p:spPr>
          <a:xfrm>
            <a:off x="457200" y="4287259"/>
            <a:ext cx="7589520" cy="605746"/>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1" name="Text 7">
                <a:extLst>
                  <a:ext uri="{FF2B5EF4-FFF2-40B4-BE49-F238E27FC236}">
                    <a16:creationId xmlns:a16="http://schemas.microsoft.com/office/drawing/2014/main" id="{1EE3BB44-59D1-4087-A1C2-E48BC1A3E443}"/>
                  </a:ext>
                </a:extLst>
              </p:cNvPr>
              <p:cNvSpPr/>
              <p:nvPr/>
            </p:nvSpPr>
            <p:spPr>
              <a:xfrm>
                <a:off x="421127" y="4320152"/>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𝑑</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𝑑𝑠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1" name="Text 7">
                <a:extLst>
                  <a:ext uri="{FF2B5EF4-FFF2-40B4-BE49-F238E27FC236}">
                    <a16:creationId xmlns:a16="http://schemas.microsoft.com/office/drawing/2014/main" id="{1EE3BB44-59D1-4087-A1C2-E48BC1A3E443}"/>
                  </a:ext>
                </a:extLst>
              </p:cNvPr>
              <p:cNvSpPr>
                <a:spLocks noRot="1" noChangeAspect="1" noMove="1" noResize="1" noEditPoints="1" noAdjustHandles="1" noChangeArrowheads="1" noChangeShapeType="1" noTextEdit="1"/>
              </p:cNvSpPr>
              <p:nvPr/>
            </p:nvSpPr>
            <p:spPr>
              <a:xfrm>
                <a:off x="421127" y="4320152"/>
                <a:ext cx="7589520" cy="502920"/>
              </a:xfrm>
              <a:prstGeom prst="rect">
                <a:avLst/>
              </a:prstGeom>
              <a:blipFill>
                <a:blip r:embed="rId10"/>
                <a:stretch>
                  <a:fillRect/>
                </a:stretch>
              </a:blipFill>
              <a:ln/>
            </p:spPr>
            <p:txBody>
              <a:bodyPr/>
              <a:lstStyle/>
              <a:p>
                <a:r>
                  <a:rPr lang="es-AR">
                    <a:noFill/>
                  </a:rPr>
                  <a:t> </a:t>
                </a:r>
              </a:p>
            </p:txBody>
          </p:sp>
        </mc:Fallback>
      </mc:AlternateContent>
      <p:sp>
        <p:nvSpPr>
          <p:cNvPr id="23" name="Shape 6">
            <a:extLst>
              <a:ext uri="{FF2B5EF4-FFF2-40B4-BE49-F238E27FC236}">
                <a16:creationId xmlns:a16="http://schemas.microsoft.com/office/drawing/2014/main" id="{C0844480-546B-44C5-AB65-2D4269E944D2}"/>
              </a:ext>
            </a:extLst>
          </p:cNvPr>
          <p:cNvSpPr/>
          <p:nvPr/>
        </p:nvSpPr>
        <p:spPr>
          <a:xfrm>
            <a:off x="457200" y="5094589"/>
            <a:ext cx="7589520" cy="605746"/>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5" name="Text 7">
                <a:extLst>
                  <a:ext uri="{FF2B5EF4-FFF2-40B4-BE49-F238E27FC236}">
                    <a16:creationId xmlns:a16="http://schemas.microsoft.com/office/drawing/2014/main" id="{C536CD7F-DFE4-45ED-AB11-BBB0B11ED666}"/>
                  </a:ext>
                </a:extLst>
              </p:cNvPr>
              <p:cNvSpPr/>
              <p:nvPr/>
            </p:nvSpPr>
            <p:spPr>
              <a:xfrm>
                <a:off x="421127" y="5127482"/>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5" name="Text 7">
                <a:extLst>
                  <a:ext uri="{FF2B5EF4-FFF2-40B4-BE49-F238E27FC236}">
                    <a16:creationId xmlns:a16="http://schemas.microsoft.com/office/drawing/2014/main" id="{C536CD7F-DFE4-45ED-AB11-BBB0B11ED666}"/>
                  </a:ext>
                </a:extLst>
              </p:cNvPr>
              <p:cNvSpPr>
                <a:spLocks noRot="1" noChangeAspect="1" noMove="1" noResize="1" noEditPoints="1" noAdjustHandles="1" noChangeArrowheads="1" noChangeShapeType="1" noTextEdit="1"/>
              </p:cNvSpPr>
              <p:nvPr/>
            </p:nvSpPr>
            <p:spPr>
              <a:xfrm>
                <a:off x="421127" y="5127482"/>
                <a:ext cx="7589520" cy="502920"/>
              </a:xfrm>
              <a:prstGeom prst="rect">
                <a:avLst/>
              </a:prstGeom>
              <a:blipFill>
                <a:blip r:embed="rId11"/>
                <a:stretch>
                  <a:fillRect/>
                </a:stretch>
              </a:blipFill>
              <a:ln/>
            </p:spPr>
            <p:txBody>
              <a:bodyPr/>
              <a:lstStyle/>
              <a:p>
                <a:r>
                  <a:rPr lang="es-AR">
                    <a:noFill/>
                  </a:rPr>
                  <a:t> </a:t>
                </a:r>
              </a:p>
            </p:txBody>
          </p:sp>
        </mc:Fallback>
      </mc:AlternateContent>
    </p:spTree>
    <p:extLst>
      <p:ext uri="{BB962C8B-B14F-4D97-AF65-F5344CB8AC3E}">
        <p14:creationId xmlns:p14="http://schemas.microsoft.com/office/powerpoint/2010/main" val="32206064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919E0564-D6DC-483D-A7DA-D040A55C1EF1}"/>
              </a:ext>
            </a:extLst>
          </p:cNvPr>
          <p:cNvPicPr/>
          <p:nvPr/>
        </p:nvPicPr>
        <p:blipFill>
          <a:blip r:embed="rId3"/>
          <a:srcRect/>
          <a:stretch/>
        </p:blipFill>
        <p:spPr>
          <a:xfrm>
            <a:off x="493611" y="864951"/>
            <a:ext cx="11174298" cy="5493857"/>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de la dinámica residual</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20" name="Text 18"/>
          <p:cNvSpPr/>
          <p:nvPr/>
        </p:nvSpPr>
        <p:spPr>
          <a:xfrm>
            <a:off x="472440" y="5657582"/>
            <a:ext cx="11247120" cy="777240"/>
          </a:xfrm>
          <a:prstGeom prst="rect">
            <a:avLst/>
          </a:prstGeom>
          <a:noFill/>
          <a:ln/>
        </p:spPr>
        <p:txBody>
          <a:bodyPr wrap="square" rtlCol="0" anchor="ctr"/>
          <a:lstStyle/>
          <a:p>
            <a:pPr marL="0" indent="0" algn="ctr">
              <a:buNone/>
            </a:pPr>
            <a:r>
              <a:rPr lang="es-AR" sz="1100" i="1" dirty="0">
                <a:solidFill>
                  <a:srgbClr val="224488"/>
                </a:solidFill>
                <a:latin typeface="Calibri" pitchFamily="34" charset="0"/>
                <a:ea typeface="Calibri" pitchFamily="34" charset="-122"/>
                <a:cs typeface="Calibri" pitchFamily="34" charset="-120"/>
              </a:rPr>
              <a:t>FIGURA: Figura 10 — Modelo global NL con ley de control mínima en eje d y q</a:t>
            </a:r>
            <a:endParaRPr lang="es-AR" sz="1100" dirty="0"/>
          </a:p>
        </p:txBody>
      </p:sp>
    </p:spTree>
    <p:extLst>
      <p:ext uri="{BB962C8B-B14F-4D97-AF65-F5344CB8AC3E}">
        <p14:creationId xmlns:p14="http://schemas.microsoft.com/office/powerpoint/2010/main" val="33068440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a:extLst>
              <a:ext uri="{FF2B5EF4-FFF2-40B4-BE49-F238E27FC236}">
                <a16:creationId xmlns:a16="http://schemas.microsoft.com/office/drawing/2014/main" id="{D2CF1D4E-7B7A-4658-91C1-0749D2711A67}"/>
              </a:ext>
            </a:extLst>
          </p:cNvPr>
          <p:cNvSpPr/>
          <p:nvPr/>
        </p:nvSpPr>
        <p:spPr>
          <a:xfrm>
            <a:off x="274320" y="1364398"/>
            <a:ext cx="10480366" cy="2939154"/>
          </a:xfrm>
          <a:prstGeom prst="rect">
            <a:avLst/>
          </a:prstGeom>
          <a:solidFill>
            <a:srgbClr val="FFF8E8"/>
          </a:solidFill>
          <a:ln w="19050">
            <a:solidFill>
              <a:srgbClr val="DDAA00"/>
            </a:solidFill>
            <a:prstDash val="solid"/>
          </a:ln>
        </p:spPr>
      </p:sp>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LTI equivalente aumentado</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0" name="CuadroTexto 9">
            <a:extLst>
              <a:ext uri="{FF2B5EF4-FFF2-40B4-BE49-F238E27FC236}">
                <a16:creationId xmlns:a16="http://schemas.microsoft.com/office/drawing/2014/main" id="{83643FA9-B065-469F-9A42-F74AB55CF040}"/>
              </a:ext>
            </a:extLst>
          </p:cNvPr>
          <p:cNvSpPr txBox="1"/>
          <p:nvPr/>
        </p:nvSpPr>
        <p:spPr>
          <a:xfrm>
            <a:off x="205530" y="853489"/>
            <a:ext cx="11681669" cy="510909"/>
          </a:xfrm>
          <a:prstGeom prst="rect">
            <a:avLst/>
          </a:prstGeom>
          <a:noFill/>
        </p:spPr>
        <p:txBody>
          <a:bodyPr wrap="square">
            <a:spAutoFit/>
          </a:bodyPr>
          <a:lstStyle/>
          <a:p>
            <a:pPr algn="just">
              <a:lnSpc>
                <a:spcPct val="107000"/>
              </a:lnSpc>
              <a:spcBef>
                <a:spcPts val="1800"/>
              </a:spcBef>
              <a:spcAft>
                <a:spcPts val="10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De este modo, nuestro sistema simplificado lineal e invariante en el tiempo presenta un error transitorio, que resulta despreciable en régimen forzado. Agregando la dinámica residual y despreciando el mencionado acoplamiento se obtienen las ecuaciones del modelo completo LTI equivalente aumentado:</a:t>
            </a:r>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2BE6C7E4-D7C6-45B7-B9D9-2A4E91B5FEC0}"/>
                  </a:ext>
                </a:extLst>
              </p:cNvPr>
              <p:cNvSpPr txBox="1"/>
              <p:nvPr/>
            </p:nvSpPr>
            <p:spPr>
              <a:xfrm>
                <a:off x="499143" y="1421383"/>
                <a:ext cx="6455329" cy="27778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AR" sz="1600" i="1" smtClean="0">
                              <a:solidFill>
                                <a:schemeClr val="tx1"/>
                              </a:solidFill>
                              <a:latin typeface="Cambria Math" panose="02040503050406030204" pitchFamily="18" charset="0"/>
                            </a:rPr>
                          </m:ctrlPr>
                        </m:dPr>
                        <m:e>
                          <m:m>
                            <m:mPr>
                              <m:plcHide m:val="on"/>
                              <m:mcs>
                                <m:mc>
                                  <m:mcPr>
                                    <m:count m:val="1"/>
                                    <m:mcJc m:val="center"/>
                                  </m:mcPr>
                                </m:mc>
                              </m:mcs>
                              <m:ctrlPr>
                                <a:rPr lang="es-AR" sz="1600" i="1">
                                  <a:solidFill>
                                    <a:schemeClr val="tx1"/>
                                  </a:solidFill>
                                  <a:latin typeface="Cambria Math" panose="02040503050406030204" pitchFamily="18" charset="0"/>
                                </a:rPr>
                              </m:ctrlPr>
                            </m:mPr>
                            <m:mr>
                              <m:e>
                                <m:sSub>
                                  <m:sSubPr>
                                    <m:ctrlPr>
                                      <a:rPr lang="es-AR" sz="1600" i="1">
                                        <a:solidFill>
                                          <a:schemeClr val="tx1"/>
                                        </a:solidFill>
                                        <a:latin typeface="Cambria Math" panose="02040503050406030204" pitchFamily="18" charset="0"/>
                                      </a:rPr>
                                    </m:ctrlPr>
                                  </m:sSubPr>
                                  <m:e>
                                    <m:acc>
                                      <m:accPr>
                                        <m:chr m:val="̇"/>
                                        <m:ctrlPr>
                                          <a:rPr lang="es-AR" sz="1600" i="1">
                                            <a:solidFill>
                                              <a:schemeClr val="tx1"/>
                                            </a:solidFill>
                                            <a:latin typeface="Cambria Math" panose="02040503050406030204" pitchFamily="18" charset="0"/>
                                          </a:rPr>
                                        </m:ctrlPr>
                                      </m:accPr>
                                      <m:e>
                                        <m:r>
                                          <a:rPr lang="es-AR" sz="1600" i="1">
                                            <a:solidFill>
                                              <a:schemeClr val="tx1"/>
                                            </a:solidFill>
                                            <a:latin typeface="Cambria Math" panose="02040503050406030204" pitchFamily="18" charset="0"/>
                                          </a:rPr>
                                          <m:t>𝜃</m:t>
                                        </m:r>
                                      </m:e>
                                    </m:acc>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                                                                                                            </m:t>
                                </m:r>
                              </m:e>
                            </m:mr>
                            <m:mr>
                              <m:e>
                                <m:sSub>
                                  <m:sSubPr>
                                    <m:ctrlPr>
                                      <a:rPr lang="es-AR" sz="1600" i="1">
                                        <a:solidFill>
                                          <a:schemeClr val="tx1"/>
                                        </a:solidFill>
                                        <a:latin typeface="Cambria Math" panose="02040503050406030204" pitchFamily="18" charset="0"/>
                                      </a:rPr>
                                    </m:ctrlPr>
                                  </m:sSubPr>
                                  <m:e>
                                    <m:acc>
                                      <m:accPr>
                                        <m:chr m:val="̇"/>
                                        <m:ctrlPr>
                                          <a:rPr lang="es-AR" sz="1600" i="1">
                                            <a:solidFill>
                                              <a:schemeClr val="tx1"/>
                                            </a:solidFill>
                                            <a:latin typeface="Cambria Math" panose="02040503050406030204" pitchFamily="18" charset="0"/>
                                          </a:rPr>
                                        </m:ctrlPr>
                                      </m:accPr>
                                      <m:e>
                                        <m:r>
                                          <a:rPr lang="es-AR" sz="1600" i="1">
                                            <a:solidFill>
                                              <a:schemeClr val="tx1"/>
                                            </a:solidFill>
                                            <a:latin typeface="Cambria Math" panose="02040503050406030204" pitchFamily="18" charset="0"/>
                                          </a:rPr>
                                          <m:t>𝜔</m:t>
                                        </m:r>
                                      </m:e>
                                    </m:acc>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𝐽</m:t>
                                        </m:r>
                                      </m:e>
                                      <m:sub>
                                        <m:r>
                                          <a:rPr lang="es-AR" sz="1600" i="1">
                                            <a:solidFill>
                                              <a:schemeClr val="tx1"/>
                                            </a:solidFill>
                                            <a:latin typeface="Cambria Math" panose="02040503050406030204" pitchFamily="18" charset="0"/>
                                          </a:rPr>
                                          <m:t>𝑒𝑞</m:t>
                                        </m:r>
                                      </m:sub>
                                    </m:sSub>
                                  </m:den>
                                </m:f>
                                <m:d>
                                  <m:dPr>
                                    <m:begChr m:val="["/>
                                    <m:endChr m:val="]"/>
                                    <m:ctrlPr>
                                      <a:rPr lang="es-AR" sz="1600" i="1">
                                        <a:solidFill>
                                          <a:schemeClr val="tx1"/>
                                        </a:solidFill>
                                        <a:latin typeface="Cambria Math" panose="02040503050406030204" pitchFamily="18" charset="0"/>
                                      </a:rPr>
                                    </m:ctrlPr>
                                  </m:dPr>
                                  <m:e>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3</m:t>
                                        </m:r>
                                      </m:num>
                                      <m:den>
                                        <m:r>
                                          <a:rPr lang="es-AR" sz="1600" i="0">
                                            <a:solidFill>
                                              <a:schemeClr val="tx1"/>
                                            </a:solidFill>
                                            <a:latin typeface="Cambria Math" panose="02040503050406030204" pitchFamily="18" charset="0"/>
                                          </a:rPr>
                                          <m:t>2</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𝑃</m:t>
                                        </m:r>
                                      </m:e>
                                      <m:sub>
                                        <m:r>
                                          <a:rPr lang="es-AR" sz="1600" i="1">
                                            <a:solidFill>
                                              <a:schemeClr val="tx1"/>
                                            </a:solidFill>
                                            <a:latin typeface="Cambria Math" panose="02040503050406030204" pitchFamily="18" charset="0"/>
                                          </a:rPr>
                                          <m:t>𝑝</m:t>
                                        </m:r>
                                      </m:sub>
                                    </m:sSub>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𝜆</m:t>
                                        </m:r>
                                      </m:e>
                                      <m:sub>
                                        <m:r>
                                          <a:rPr lang="es-AR" sz="1600" i="1">
                                            <a:solidFill>
                                              <a:schemeClr val="tx1"/>
                                            </a:solidFill>
                                            <a:latin typeface="Cambria Math" panose="02040503050406030204" pitchFamily="18" charset="0"/>
                                          </a:rPr>
                                          <m:t>𝑚</m:t>
                                        </m:r>
                                      </m:sub>
                                      <m:sup>
                                        <m:r>
                                          <a:rPr lang="es-AR" sz="1600" i="0">
                                            <a:solidFill>
                                              <a:schemeClr val="tx1"/>
                                            </a:solidFill>
                                            <a:latin typeface="Cambria Math" panose="02040503050406030204" pitchFamily="18" charset="0"/>
                                          </a:rPr>
                                          <m:t>ˊ</m:t>
                                        </m:r>
                                        <m:r>
                                          <a:rPr lang="es-AR" sz="1600" i="1">
                                            <a:solidFill>
                                              <a:schemeClr val="tx1"/>
                                            </a:solidFill>
                                            <a:latin typeface="Cambria Math" panose="02040503050406030204" pitchFamily="18" charset="0"/>
                                          </a:rPr>
                                          <m:t>𝑟</m:t>
                                        </m:r>
                                      </m:sup>
                                    </m:sSubSup>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𝑏</m:t>
                                        </m:r>
                                      </m:e>
                                      <m:sub>
                                        <m:r>
                                          <a:rPr lang="es-AR" sz="1600" i="1">
                                            <a:solidFill>
                                              <a:schemeClr val="tx1"/>
                                            </a:solidFill>
                                            <a:latin typeface="Cambria Math" panose="02040503050406030204" pitchFamily="18" charset="0"/>
                                          </a:rPr>
                                          <m:t>𝑒𝑞</m:t>
                                        </m:r>
                                      </m:sub>
                                    </m:sSub>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r>
                                          <a:rPr lang="es-AR" sz="1600" i="1">
                                            <a:solidFill>
                                              <a:schemeClr val="tx1"/>
                                            </a:solidFill>
                                            <a:latin typeface="Cambria Math" panose="02040503050406030204" pitchFamily="18" charset="0"/>
                                          </a:rPr>
                                          <m:t>𝑟</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𝑙</m:t>
                                        </m:r>
                                      </m:sub>
                                    </m:sSub>
                                  </m:e>
                                </m:d>
                                <m:r>
                                  <a:rPr lang="es-AR" sz="1600" i="0">
                                    <a:solidFill>
                                      <a:schemeClr val="tx1"/>
                                    </a:solidFill>
                                    <a:latin typeface="Cambria Math" panose="02040503050406030204" pitchFamily="18" charset="0"/>
                                  </a:rPr>
                                  <m:t>                                                 </m:t>
                                </m:r>
                              </m:e>
                            </m:mr>
                            <m:mr>
                              <m:e>
                                <m:m>
                                  <m:mPr>
                                    <m:plcHide m:val="on"/>
                                    <m:mcs>
                                      <m:mc>
                                        <m:mcPr>
                                          <m:count m:val="1"/>
                                          <m:mcJc m:val="center"/>
                                        </m:mcPr>
                                      </m:mc>
                                    </m:mcs>
                                    <m:ctrlPr>
                                      <a:rPr lang="es-AR" sz="1600" i="1">
                                        <a:solidFill>
                                          <a:schemeClr val="tx1"/>
                                        </a:solidFill>
                                        <a:latin typeface="Cambria Math" panose="02040503050406030204" pitchFamily="18" charset="0"/>
                                      </a:rPr>
                                    </m:ctrlPr>
                                  </m:mP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𝑞</m:t>
                                              </m:r>
                                            </m:sub>
                                          </m:sSub>
                                        </m:den>
                                      </m:f>
                                      <m:d>
                                        <m:dPr>
                                          <m:begChr m:val="["/>
                                          <m:endChr m:val="]"/>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𝑣</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𝜆</m:t>
                                              </m:r>
                                            </m:e>
                                            <m:sub>
                                              <m:r>
                                                <a:rPr lang="es-AR" sz="1600" i="1">
                                                  <a:solidFill>
                                                    <a:schemeClr val="tx1"/>
                                                  </a:solidFill>
                                                  <a:latin typeface="Cambria Math" panose="02040503050406030204" pitchFamily="18" charset="0"/>
                                                </a:rPr>
                                                <m:t>𝑚</m:t>
                                              </m:r>
                                            </m:sub>
                                            <m:sup>
                                              <m:r>
                                                <a:rPr lang="es-AR" sz="1600" i="0">
                                                  <a:solidFill>
                                                    <a:schemeClr val="tx1"/>
                                                  </a:solidFill>
                                                  <a:latin typeface="Cambria Math" panose="02040503050406030204" pitchFamily="18" charset="0"/>
                                                </a:rPr>
                                                <m:t>ˊ</m:t>
                                              </m:r>
                                              <m:r>
                                                <a:rPr lang="es-AR" sz="1600" i="1">
                                                  <a:solidFill>
                                                    <a:schemeClr val="tx1"/>
                                                  </a:solidFill>
                                                  <a:latin typeface="Cambria Math" panose="02040503050406030204" pitchFamily="18" charset="0"/>
                                                </a:rPr>
                                                <m:t>𝑟</m:t>
                                              </m:r>
                                            </m:sup>
                                          </m:sSubSup>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𝑃</m:t>
                                              </m:r>
                                            </m:e>
                                            <m:sub>
                                              <m:r>
                                                <a:rPr lang="es-AR" sz="1600" i="1">
                                                  <a:solidFill>
                                                    <a:schemeClr val="tx1"/>
                                                  </a:solidFill>
                                                  <a:latin typeface="Cambria Math" panose="02040503050406030204" pitchFamily="18" charset="0"/>
                                                </a:rPr>
                                                <m:t>𝑝</m:t>
                                              </m:r>
                                            </m:sub>
                                          </m:sSub>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r>
                                        <a:rPr lang="es-AR" sz="1600" i="0">
                                          <a:solidFill>
                                            <a:schemeClr val="tx1"/>
                                          </a:solidFill>
                                          <a:latin typeface="Cambria Math" panose="02040503050406030204" pitchFamily="18" charset="0"/>
                                        </a:rPr>
                                        <m:t>                                                 </m:t>
                                      </m:r>
                                    </m:e>
                                  </m:mr>
                                  <m:mr>
                                    <m:e>
                                      <m:r>
                                        <a:rPr lang="es-AR" sz="1600" i="0">
                                          <a:solidFill>
                                            <a:schemeClr val="tx1"/>
                                          </a:solidFill>
                                          <a:latin typeface="Cambria Math" panose="02040503050406030204" pitchFamily="18" charset="0"/>
                                        </a:rPr>
                                        <m:t>                  </m:t>
                                      </m:r>
                                    </m:e>
                                  </m:mr>
                                  <m:mr>
                                    <m:e>
                                      <m:m>
                                        <m:mPr>
                                          <m:plcHide m:val="on"/>
                                          <m:mcs>
                                            <m:mc>
                                              <m:mcPr>
                                                <m:count m:val="1"/>
                                                <m:mcJc m:val="center"/>
                                              </m:mcPr>
                                            </m:mc>
                                          </m:mcs>
                                          <m:ctrlPr>
                                            <a:rPr lang="es-AR" sz="1600" i="1">
                                              <a:solidFill>
                                                <a:schemeClr val="tx1"/>
                                              </a:solidFill>
                                              <a:latin typeface="Cambria Math" panose="02040503050406030204" pitchFamily="18" charset="0"/>
                                            </a:rPr>
                                          </m:ctrlPr>
                                        </m:mP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𝑑</m:t>
                                                    </m:r>
                                                  </m:sub>
                                                </m:sSub>
                                              </m:den>
                                            </m:f>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       </m:t>
                                            </m:r>
                                            <m:r>
                                              <a:rPr lang="es-MX" sz="1600" b="0" i="0" smtClean="0">
                                                <a:solidFill>
                                                  <a:schemeClr val="tx1"/>
                                                </a:solidFill>
                                                <a:latin typeface="Cambria Math" panose="02040503050406030204" pitchFamily="18" charset="0"/>
                                              </a:rPr>
                                              <m:t>       </m:t>
                                            </m:r>
                                            <m:r>
                                              <a:rPr lang="es-AR" sz="1600" i="0">
                                                <a:solidFill>
                                                  <a:schemeClr val="tx1"/>
                                                </a:solidFill>
                                                <a:latin typeface="Cambria Math" panose="02040503050406030204" pitchFamily="18" charset="0"/>
                                              </a:rPr>
                                              <m:t>                                                                                    </m:t>
                                            </m:r>
                                          </m:e>
                                        </m:m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𝑠</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𝐶</m:t>
                                                    </m:r>
                                                  </m:e>
                                                  <m:sub>
                                                    <m:r>
                                                      <a:rPr lang="es-AR" sz="1600" i="1">
                                                        <a:solidFill>
                                                          <a:schemeClr val="tx1"/>
                                                        </a:solidFill>
                                                        <a:latin typeface="Cambria Math" panose="02040503050406030204" pitchFamily="18" charset="0"/>
                                                      </a:rPr>
                                                      <m:t>𝑡𝑠</m:t>
                                                    </m:r>
                                                  </m:sub>
                                                </m:sSub>
                                              </m:den>
                                            </m:f>
                                            <m:d>
                                              <m:dPr>
                                                <m:begChr m:val="["/>
                                                <m:endChr m:val="]"/>
                                                <m:ctrlPr>
                                                  <a:rPr lang="es-AR" sz="1600" i="1">
                                                    <a:solidFill>
                                                      <a:schemeClr val="tx1"/>
                                                    </a:solidFill>
                                                    <a:latin typeface="Cambria Math" panose="02040503050406030204" pitchFamily="18" charset="0"/>
                                                  </a:rPr>
                                                </m:ctrlPr>
                                              </m:dPr>
                                              <m:e>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3</m:t>
                                                    </m:r>
                                                  </m:num>
                                                  <m:den>
                                                    <m:r>
                                                      <a:rPr lang="es-AR" sz="1600" i="0">
                                                        <a:solidFill>
                                                          <a:schemeClr val="tx1"/>
                                                        </a:solidFill>
                                                        <a:latin typeface="Cambria Math" panose="02040503050406030204" pitchFamily="18" charset="0"/>
                                                      </a:rPr>
                                                      <m:t>2</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d>
                                                  <m:dPr>
                                                    <m:ctrlPr>
                                                      <a:rPr lang="es-AR" sz="1600" i="1">
                                                        <a:solidFill>
                                                          <a:schemeClr val="tx1"/>
                                                        </a:solidFill>
                                                        <a:latin typeface="Cambria Math" panose="02040503050406030204" pitchFamily="18" charset="0"/>
                                                      </a:rPr>
                                                    </m:ctrlPr>
                                                  </m:dPr>
                                                  <m:e>
                                                    <m:sSup>
                                                      <m:sSupPr>
                                                        <m:ctrlPr>
                                                          <a:rPr lang="es-AR" sz="1600" i="1">
                                                            <a:solidFill>
                                                              <a:schemeClr val="tx1"/>
                                                            </a:solidFill>
                                                            <a:latin typeface="Cambria Math" panose="02040503050406030204" pitchFamily="18" charset="0"/>
                                                          </a:rPr>
                                                        </m:ctrlPr>
                                                      </m:sSupPr>
                                                      <m:e>
                                                        <m:d>
                                                          <m:dPr>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e>
                                                      <m:sup>
                                                        <m:r>
                                                          <a:rPr lang="es-AR" sz="1600" i="0">
                                                            <a:solidFill>
                                                              <a:schemeClr val="tx1"/>
                                                            </a:solidFill>
                                                            <a:latin typeface="Cambria Math" panose="02040503050406030204" pitchFamily="18" charset="0"/>
                                                          </a:rPr>
                                                          <m:t>2</m:t>
                                                        </m:r>
                                                      </m:sup>
                                                    </m:sSup>
                                                    <m:r>
                                                      <a:rPr lang="es-AR" sz="1600" i="0">
                                                        <a:solidFill>
                                                          <a:schemeClr val="tx1"/>
                                                        </a:solidFill>
                                                        <a:latin typeface="Cambria Math" panose="02040503050406030204" pitchFamily="18" charset="0"/>
                                                      </a:rPr>
                                                      <m:t>+</m:t>
                                                    </m:r>
                                                    <m:sSup>
                                                      <m:sSupPr>
                                                        <m:ctrlPr>
                                                          <a:rPr lang="es-AR" sz="1600" i="1">
                                                            <a:solidFill>
                                                              <a:schemeClr val="tx1"/>
                                                            </a:solidFill>
                                                            <a:latin typeface="Cambria Math" panose="02040503050406030204" pitchFamily="18" charset="0"/>
                                                          </a:rPr>
                                                        </m:ctrlPr>
                                                      </m:sSupPr>
                                                      <m:e>
                                                        <m:d>
                                                          <m:dPr>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e>
                                                      <m:sup>
                                                        <m:r>
                                                          <a:rPr lang="es-AR" sz="1600" i="0">
                                                            <a:solidFill>
                                                              <a:schemeClr val="tx1"/>
                                                            </a:solidFill>
                                                            <a:latin typeface="Cambria Math" panose="02040503050406030204" pitchFamily="18" charset="0"/>
                                                          </a:rPr>
                                                          <m:t>2</m:t>
                                                        </m:r>
                                                      </m:sup>
                                                    </m:sSup>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𝑡𝑠</m:t>
                                                        </m:r>
                                                        <m:r>
                                                          <a:rPr lang="es-AR" sz="1600" i="0">
                                                            <a:solidFill>
                                                              <a:schemeClr val="tx1"/>
                                                            </a:solidFill>
                                                            <a:latin typeface="Cambria Math" panose="02040503050406030204" pitchFamily="18" charset="0"/>
                                                          </a:rPr>
                                                          <m:t>−</m:t>
                                                        </m:r>
                                                        <m:r>
                                                          <a:rPr lang="es-AR" sz="1600" i="1">
                                                            <a:solidFill>
                                                              <a:schemeClr val="tx1"/>
                                                            </a:solidFill>
                                                            <a:latin typeface="Cambria Math" panose="02040503050406030204" pitchFamily="18" charset="0"/>
                                                          </a:rPr>
                                                          <m:t>𝑎𝑚𝑏</m:t>
                                                        </m:r>
                                                      </m:sub>
                                                    </m:sSub>
                                                  </m:den>
                                                </m:f>
                                                <m:d>
                                                  <m:dPr>
                                                    <m:ctrlPr>
                                                      <a:rPr lang="es-AR" sz="1600" i="1">
                                                        <a:solidFill>
                                                          <a:schemeClr val="tx1"/>
                                                        </a:solidFill>
                                                        <a:latin typeface="Cambria Math" panose="02040503050406030204" pitchFamily="18" charset="0"/>
                                                      </a:rPr>
                                                    </m:ctrlPr>
                                                  </m:dPr>
                                                  <m:e>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𝑠</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𝑎𝑚𝑏</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e>
                                            </m:d>
                                          </m:e>
                                        </m:mr>
                                      </m:m>
                                    </m:e>
                                  </m:mr>
                                </m:m>
                              </m:e>
                            </m:mr>
                          </m:m>
                        </m:e>
                      </m:d>
                    </m:oMath>
                  </m:oMathPara>
                </a14:m>
                <a:endParaRPr lang="es-AR" dirty="0"/>
              </a:p>
            </p:txBody>
          </p:sp>
        </mc:Choice>
        <mc:Fallback xmlns="">
          <p:sp>
            <p:nvSpPr>
              <p:cNvPr id="13" name="CuadroTexto 12">
                <a:extLst>
                  <a:ext uri="{FF2B5EF4-FFF2-40B4-BE49-F238E27FC236}">
                    <a16:creationId xmlns:a16="http://schemas.microsoft.com/office/drawing/2014/main" id="{2BE6C7E4-D7C6-45B7-B9D9-2A4E91B5FEC0}"/>
                  </a:ext>
                </a:extLst>
              </p:cNvPr>
              <p:cNvSpPr txBox="1">
                <a:spLocks noRot="1" noChangeAspect="1" noMove="1" noResize="1" noEditPoints="1" noAdjustHandles="1" noChangeArrowheads="1" noChangeShapeType="1" noTextEdit="1"/>
              </p:cNvSpPr>
              <p:nvPr/>
            </p:nvSpPr>
            <p:spPr>
              <a:xfrm>
                <a:off x="499143" y="1421383"/>
                <a:ext cx="6455329" cy="2777812"/>
              </a:xfrm>
              <a:prstGeom prst="rect">
                <a:avLst/>
              </a:prstGeom>
              <a:blipFill>
                <a:blip r:embed="rId2"/>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40618755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LTI equivalente aumentado</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pic>
        <p:nvPicPr>
          <p:cNvPr id="22" name="Imagen 21">
            <a:extLst>
              <a:ext uri="{FF2B5EF4-FFF2-40B4-BE49-F238E27FC236}">
                <a16:creationId xmlns:a16="http://schemas.microsoft.com/office/drawing/2014/main" id="{9C1DD316-F0A1-461D-97D4-E1C6320DCC20}"/>
              </a:ext>
            </a:extLst>
          </p:cNvPr>
          <p:cNvPicPr>
            <a:picLocks noChangeAspect="1"/>
          </p:cNvPicPr>
          <p:nvPr/>
        </p:nvPicPr>
        <p:blipFill>
          <a:blip r:embed="rId2"/>
          <a:srcRect/>
          <a:stretch/>
        </p:blipFill>
        <p:spPr>
          <a:xfrm>
            <a:off x="1834064" y="739997"/>
            <a:ext cx="7961675" cy="5120757"/>
          </a:xfrm>
          <a:prstGeom prst="rect">
            <a:avLst/>
          </a:prstGeom>
        </p:spPr>
      </p:pic>
      <p:sp>
        <p:nvSpPr>
          <p:cNvPr id="24" name="CuadroTexto 23">
            <a:extLst>
              <a:ext uri="{FF2B5EF4-FFF2-40B4-BE49-F238E27FC236}">
                <a16:creationId xmlns:a16="http://schemas.microsoft.com/office/drawing/2014/main" id="{530C68AD-0AAA-41B5-BBAF-EB9F06BE5615}"/>
              </a:ext>
            </a:extLst>
          </p:cNvPr>
          <p:cNvSpPr txBox="1"/>
          <p:nvPr/>
        </p:nvSpPr>
        <p:spPr>
          <a:xfrm>
            <a:off x="2228116" y="5951463"/>
            <a:ext cx="7705288" cy="261610"/>
          </a:xfrm>
          <a:prstGeom prst="rect">
            <a:avLst/>
          </a:prstGeom>
          <a:noFill/>
        </p:spPr>
        <p:txBody>
          <a:bodyPr wrap="square">
            <a:spAutoFit/>
          </a:bodyP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11— Sistema LTI </a:t>
            </a:r>
            <a:r>
              <a:rPr lang="en-US" sz="1100" i="1" dirty="0" err="1">
                <a:solidFill>
                  <a:srgbClr val="224488"/>
                </a:solidFill>
                <a:latin typeface="Calibri" pitchFamily="34" charset="0"/>
                <a:ea typeface="Calibri" pitchFamily="34" charset="-122"/>
                <a:cs typeface="Calibri" pitchFamily="34" charset="-120"/>
              </a:rPr>
              <a:t>equivalente</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aumentado</a:t>
            </a:r>
            <a:endParaRPr lang="en-US" sz="1100" dirty="0"/>
          </a:p>
        </p:txBody>
      </p:sp>
    </p:spTree>
    <p:extLst>
      <p:ext uri="{BB962C8B-B14F-4D97-AF65-F5344CB8AC3E}">
        <p14:creationId xmlns:p14="http://schemas.microsoft.com/office/powerpoint/2010/main" val="38241609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 14">
            <a:extLst>
              <a:ext uri="{FF2B5EF4-FFF2-40B4-BE49-F238E27FC236}">
                <a16:creationId xmlns:a16="http://schemas.microsoft.com/office/drawing/2014/main" id="{77FA8158-E83D-437F-86A0-D999DF4DA36E}"/>
              </a:ext>
            </a:extLst>
          </p:cNvPr>
          <p:cNvSpPr/>
          <p:nvPr/>
        </p:nvSpPr>
        <p:spPr>
          <a:xfrm>
            <a:off x="365760" y="4523925"/>
            <a:ext cx="11672360" cy="769141"/>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345" y="109728"/>
            <a:ext cx="3198824" cy="415498"/>
          </a:xfrm>
          <a:prstGeom prst="rect">
            <a:avLst/>
          </a:prstGeom>
          <a:noFill/>
        </p:spPr>
        <p:txBody>
          <a:bodyPr wrap="none">
            <a:spAutoFit/>
          </a:bodyPr>
          <a:lstStyle/>
          <a:p>
            <a:pPr algn="l"/>
            <a:r>
              <a:rPr lang="es-AR" sz="2100" b="1" dirty="0">
                <a:solidFill>
                  <a:srgbClr val="FFFFFF"/>
                </a:solidFill>
                <a:latin typeface="Cambria"/>
              </a:rPr>
              <a:t>Comparación LTI vs. LPV</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31 / ~75</a:t>
            </a:r>
          </a:p>
        </p:txBody>
      </p:sp>
      <mc:AlternateContent xmlns:mc="http://schemas.openxmlformats.org/markup-compatibility/2006" xmlns:a14="http://schemas.microsoft.com/office/drawing/2010/main">
        <mc:Choice Requires="a14">
          <p:sp>
            <p:nvSpPr>
              <p:cNvPr id="7" name="TextBox 6"/>
              <p:cNvSpPr txBox="1"/>
              <p:nvPr/>
            </p:nvSpPr>
            <p:spPr>
              <a:xfrm>
                <a:off x="365760" y="777240"/>
                <a:ext cx="11430000" cy="523861"/>
              </a:xfrm>
              <a:prstGeom prst="rect">
                <a:avLst/>
              </a:prstGeom>
              <a:noFill/>
            </p:spPr>
            <p:txBody>
              <a:bodyPr wrap="square">
                <a:spAutoFit/>
              </a:bodyPr>
              <a:lstStyle/>
              <a:p>
                <a:r>
                  <a:rPr lang="es-AR" sz="1400" b="0" i="0" dirty="0">
                    <a:solidFill>
                      <a:srgbClr val="1A1A2E"/>
                    </a:solidFill>
                    <a:latin typeface="Calibri"/>
                  </a:rPr>
                  <a:t>El modelo global LPV no impone </a:t>
                </a:r>
                <a14:m>
                  <m:oMath xmlns:m="http://schemas.openxmlformats.org/officeDocument/2006/math">
                    <m:sSubSup>
                      <m:sSubSupPr>
                        <m:ctrlPr>
                          <a:rPr lang="es-AR" sz="11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1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=0</m:t>
                    </m:r>
                  </m:oMath>
                </a14:m>
                <a:r>
                  <a:rPr lang="es-AR" sz="1400" b="0" i="0" dirty="0">
                    <a:solidFill>
                      <a:srgbClr val="1A1A2E"/>
                    </a:solidFill>
                    <a:latin typeface="Calibri"/>
                  </a:rPr>
                  <a:t>, por lo que representa con mayor fidelidad al sistema real. El modelo LTI equivalente es una simplificación construida a partir de fijar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≈0</m:t>
                    </m:r>
                  </m:oMath>
                </a14:m>
                <a:r>
                  <a:rPr lang="es-AR" sz="1400" b="0" i="0" dirty="0">
                    <a:solidFill>
                      <a:srgbClr val="1A1A2E"/>
                    </a:solidFill>
                    <a:latin typeface="Calibri"/>
                  </a:rPr>
                  <a:t> para desacoplar las dinámicas d–q.</a:t>
                </a:r>
              </a:p>
            </p:txBody>
          </p:sp>
        </mc:Choice>
        <mc:Fallback xmlns="">
          <p:sp>
            <p:nvSpPr>
              <p:cNvPr id="7" name="TextBox 6"/>
              <p:cNvSpPr txBox="1">
                <a:spLocks noRot="1" noChangeAspect="1" noMove="1" noResize="1" noEditPoints="1" noAdjustHandles="1" noChangeArrowheads="1" noChangeShapeType="1" noTextEdit="1"/>
              </p:cNvSpPr>
              <p:nvPr/>
            </p:nvSpPr>
            <p:spPr>
              <a:xfrm>
                <a:off x="365760" y="777240"/>
                <a:ext cx="11430000" cy="523861"/>
              </a:xfrm>
              <a:prstGeom prst="rect">
                <a:avLst/>
              </a:prstGeom>
              <a:blipFill>
                <a:blip r:embed="rId2"/>
                <a:stretch>
                  <a:fillRect l="-160" t="-2353" b="-11765"/>
                </a:stretch>
              </a:blipFill>
            </p:spPr>
            <p:txBody>
              <a:bodyPr/>
              <a:lstStyle/>
              <a:p>
                <a:r>
                  <a:rPr lang="es-AR">
                    <a:noFill/>
                  </a:rPr>
                  <a:t> </a:t>
                </a:r>
              </a:p>
            </p:txBody>
          </p:sp>
        </mc:Fallback>
      </mc:AlternateContent>
      <p:sp>
        <p:nvSpPr>
          <p:cNvPr id="8" name="TextBox 7"/>
          <p:cNvSpPr txBox="1"/>
          <p:nvPr/>
        </p:nvSpPr>
        <p:spPr>
          <a:xfrm>
            <a:off x="365760" y="1572768"/>
            <a:ext cx="5486400" cy="347472"/>
          </a:xfrm>
          <a:prstGeom prst="rect">
            <a:avLst/>
          </a:prstGeom>
          <a:noFill/>
        </p:spPr>
        <p:txBody>
          <a:bodyPr wrap="square">
            <a:spAutoFit/>
          </a:bodyPr>
          <a:lstStyle/>
          <a:p>
            <a:pPr algn="l"/>
            <a:r>
              <a:rPr sz="1400" b="1" i="0">
                <a:solidFill>
                  <a:srgbClr val="1A3A6B"/>
                </a:solidFill>
                <a:latin typeface="Calibri"/>
              </a:rPr>
              <a:t>Ventajas del modelo LPV:</a:t>
            </a:r>
          </a:p>
        </p:txBody>
      </p:sp>
      <mc:AlternateContent xmlns:mc="http://schemas.openxmlformats.org/markup-compatibility/2006" xmlns:a14="http://schemas.microsoft.com/office/drawing/2010/main">
        <mc:Choice Requires="a14">
          <p:sp>
            <p:nvSpPr>
              <p:cNvPr id="9" name="TextBox 8"/>
              <p:cNvSpPr txBox="1"/>
              <p:nvPr/>
            </p:nvSpPr>
            <p:spPr>
              <a:xfrm>
                <a:off x="365760" y="1965960"/>
                <a:ext cx="5486400" cy="818173"/>
              </a:xfrm>
              <a:prstGeom prst="rect">
                <a:avLst/>
              </a:prstGeom>
              <a:noFill/>
            </p:spPr>
            <p:txBody>
              <a:bodyPr wrap="square">
                <a:spAutoFit/>
              </a:bodyPr>
              <a:lstStyle/>
              <a:p>
                <a:r>
                  <a:rPr lang="es-AR" sz="1350" dirty="0">
                    <a:solidFill>
                      <a:srgbClr val="1A1A2E"/>
                    </a:solidFill>
                    <a:latin typeface="Calibri"/>
                  </a:rPr>
                  <a:t>Conserva los acoplamientos y no linealidades del sistema real</a:t>
                </a:r>
              </a:p>
              <a:p>
                <a:pPr>
                  <a:spcBef>
                    <a:spcPts val="400"/>
                  </a:spcBef>
                </a:pPr>
                <a:r>
                  <a:rPr lang="es-AR" sz="1350" dirty="0">
                    <a:solidFill>
                      <a:srgbClr val="1A1A2E"/>
                    </a:solidFill>
                    <a:latin typeface="Calibri"/>
                  </a:rPr>
                  <a:t>Mayor validez para distintos regímenes de operación (no solo </a:t>
                </a: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350" dirty="0">
                    <a:solidFill>
                      <a:srgbClr val="1A1A2E"/>
                    </a:solidFill>
                    <a:latin typeface="Calibri"/>
                  </a:rPr>
                  <a:t> ≈ 0)</a:t>
                </a:r>
              </a:p>
              <a:p>
                <a:pPr>
                  <a:spcBef>
                    <a:spcPts val="400"/>
                  </a:spcBef>
                </a:pPr>
                <a:r>
                  <a:rPr lang="es-AR" sz="1350" dirty="0">
                    <a:solidFill>
                      <a:srgbClr val="1A1A2E"/>
                    </a:solidFill>
                    <a:latin typeface="Calibri"/>
                  </a:rPr>
                  <a:t>Permite simular el efecto del campo magnético en el torque para </a:t>
                </a: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350" dirty="0">
                    <a:solidFill>
                      <a:srgbClr val="1A1A2E"/>
                    </a:solidFill>
                    <a:latin typeface="Calibri"/>
                  </a:rPr>
                  <a:t> ≠ 0</a:t>
                </a:r>
              </a:p>
            </p:txBody>
          </p:sp>
        </mc:Choice>
        <mc:Fallback xmlns="">
          <p:sp>
            <p:nvSpPr>
              <p:cNvPr id="9" name="TextBox 8"/>
              <p:cNvSpPr txBox="1">
                <a:spLocks noRot="1" noChangeAspect="1" noMove="1" noResize="1" noEditPoints="1" noAdjustHandles="1" noChangeArrowheads="1" noChangeShapeType="1" noTextEdit="1"/>
              </p:cNvSpPr>
              <p:nvPr/>
            </p:nvSpPr>
            <p:spPr>
              <a:xfrm>
                <a:off x="365760" y="1965960"/>
                <a:ext cx="5486400" cy="818173"/>
              </a:xfrm>
              <a:prstGeom prst="rect">
                <a:avLst/>
              </a:prstGeom>
              <a:blipFill>
                <a:blip r:embed="rId3"/>
                <a:stretch>
                  <a:fillRect l="-222" t="-1493" b="-5970"/>
                </a:stretch>
              </a:blipFill>
            </p:spPr>
            <p:txBody>
              <a:bodyPr/>
              <a:lstStyle/>
              <a:p>
                <a:r>
                  <a:rPr lang="es-AR">
                    <a:noFill/>
                  </a:rPr>
                  <a:t> </a:t>
                </a:r>
              </a:p>
            </p:txBody>
          </p:sp>
        </mc:Fallback>
      </mc:AlternateContent>
      <p:sp>
        <p:nvSpPr>
          <p:cNvPr id="10" name="TextBox 9"/>
          <p:cNvSpPr txBox="1"/>
          <p:nvPr/>
        </p:nvSpPr>
        <p:spPr>
          <a:xfrm>
            <a:off x="6217920" y="1572768"/>
            <a:ext cx="5486400" cy="347472"/>
          </a:xfrm>
          <a:prstGeom prst="rect">
            <a:avLst/>
          </a:prstGeom>
          <a:noFill/>
        </p:spPr>
        <p:txBody>
          <a:bodyPr wrap="square">
            <a:spAutoFit/>
          </a:bodyPr>
          <a:lstStyle/>
          <a:p>
            <a:pPr algn="l"/>
            <a:r>
              <a:rPr sz="1400" b="1" i="0">
                <a:solidFill>
                  <a:srgbClr val="1A3A6B"/>
                </a:solidFill>
                <a:latin typeface="Calibri"/>
              </a:rPr>
              <a:t>Ventajas del modelo LTI:</a:t>
            </a:r>
          </a:p>
        </p:txBody>
      </p:sp>
      <p:sp>
        <p:nvSpPr>
          <p:cNvPr id="11" name="TextBox 10"/>
          <p:cNvSpPr txBox="1"/>
          <p:nvPr/>
        </p:nvSpPr>
        <p:spPr>
          <a:xfrm>
            <a:off x="6217920" y="1965960"/>
            <a:ext cx="5486400" cy="559127"/>
          </a:xfrm>
          <a:prstGeom prst="rect">
            <a:avLst/>
          </a:prstGeom>
          <a:noFill/>
        </p:spPr>
        <p:txBody>
          <a:bodyPr wrap="square">
            <a:spAutoFit/>
          </a:bodyPr>
          <a:lstStyle/>
          <a:p>
            <a:pPr>
              <a:spcBef>
                <a:spcPts val="400"/>
              </a:spcBef>
            </a:pPr>
            <a:r>
              <a:rPr lang="es-AR" sz="1350" dirty="0">
                <a:solidFill>
                  <a:srgbClr val="1A1A2E"/>
                </a:solidFill>
                <a:latin typeface="Calibri"/>
              </a:rPr>
              <a:t>Verificación analítica de observabilidad y controlabilidad</a:t>
            </a:r>
          </a:p>
          <a:p>
            <a:pPr>
              <a:spcBef>
                <a:spcPts val="400"/>
              </a:spcBef>
            </a:pPr>
            <a:r>
              <a:rPr lang="es-AR" sz="1350" dirty="0">
                <a:solidFill>
                  <a:srgbClr val="1A1A2E"/>
                </a:solidFill>
                <a:latin typeface="Calibri"/>
              </a:rPr>
              <a:t>Simplifica el diseño al desacoplar las dinámicas q y d</a:t>
            </a:r>
          </a:p>
        </p:txBody>
      </p:sp>
      <p:sp>
        <p:nvSpPr>
          <p:cNvPr id="12" name="Rectangle 11"/>
          <p:cNvSpPr/>
          <p:nvPr/>
        </p:nvSpPr>
        <p:spPr>
          <a:xfrm>
            <a:off x="5840175" y="1580545"/>
            <a:ext cx="9144" cy="2423160"/>
          </a:xfrm>
          <a:prstGeom prst="rect">
            <a:avLst/>
          </a:prstGeom>
          <a:solidFill>
            <a:srgbClr val="D0D8E8"/>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320345" y="3967578"/>
                <a:ext cx="11430000" cy="313291"/>
              </a:xfrm>
              <a:prstGeom prst="rect">
                <a:avLst/>
              </a:prstGeom>
              <a:noFill/>
            </p:spPr>
            <p:txBody>
              <a:bodyPr wrap="square">
                <a:spAutoFit/>
              </a:bodyPr>
              <a:lstStyle/>
              <a:p>
                <a:pPr algn="l"/>
                <a:r>
                  <a:rPr lang="es-AR" sz="1400" b="1" i="0" dirty="0">
                    <a:solidFill>
                      <a:srgbClr val="1A3A6B"/>
                    </a:solidFill>
                    <a:latin typeface="Calibri"/>
                  </a:rPr>
                  <a:t>Efecto de </a:t>
                </a:r>
                <a14:m>
                  <m:oMath xmlns:m="http://schemas.openxmlformats.org/officeDocument/2006/math">
                    <m:sSubSup>
                      <m:sSubSupPr>
                        <m:ctrlPr>
                          <a:rPr lang="es-AR" sz="11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1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a:effectLst/>
                        <a:latin typeface="Cambria Math" panose="02040503050406030204" pitchFamily="18" charset="0"/>
                        <a:ea typeface="Calibri" panose="020F0502020204030204" pitchFamily="34" charset="0"/>
                        <a:cs typeface="Times New Roman" panose="02020603050405020304" pitchFamily="18" charset="0"/>
                      </a:rPr>
                      <m:t>≠0</m:t>
                    </m:r>
                  </m:oMath>
                </a14:m>
                <a:r>
                  <a:rPr lang="es-AR" sz="1400" b="1" i="0" dirty="0">
                    <a:solidFill>
                      <a:srgbClr val="1A3A6B"/>
                    </a:solidFill>
                    <a:latin typeface="Calibri"/>
                  </a:rPr>
                  <a:t> sobre el torque:</a:t>
                </a:r>
              </a:p>
            </p:txBody>
          </p:sp>
        </mc:Choice>
        <mc:Fallback xmlns="">
          <p:sp>
            <p:nvSpPr>
              <p:cNvPr id="13" name="TextBox 12"/>
              <p:cNvSpPr txBox="1">
                <a:spLocks noRot="1" noChangeAspect="1" noMove="1" noResize="1" noEditPoints="1" noAdjustHandles="1" noChangeArrowheads="1" noChangeShapeType="1" noTextEdit="1"/>
              </p:cNvSpPr>
              <p:nvPr/>
            </p:nvSpPr>
            <p:spPr>
              <a:xfrm>
                <a:off x="320345" y="3967578"/>
                <a:ext cx="11430000" cy="313291"/>
              </a:xfrm>
              <a:prstGeom prst="rect">
                <a:avLst/>
              </a:prstGeom>
              <a:blipFill>
                <a:blip r:embed="rId4"/>
                <a:stretch>
                  <a:fillRect l="-160" t="-3922" b="-1764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266699" y="4667421"/>
                <a:ext cx="11658295" cy="475643"/>
              </a:xfrm>
              <a:prstGeom prst="rect">
                <a:avLst/>
              </a:prstGeom>
              <a:noFill/>
            </p:spPr>
            <p:txBody>
              <a:bodyPr wrap="square">
                <a:spAutoFit/>
              </a:bodyPr>
              <a:lstStyle/>
              <a:p>
                <a:pPr algn="ctr"/>
                <a14:m>
                  <m:oMath xmlns:m="http://schemas.openxmlformats.org/officeDocument/2006/math">
                    <m:sSub>
                      <m:sSubPr>
                        <m:ctrlPr>
                          <a:rPr lang="es-AR" sz="1400" i="1" smtClean="0">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3</m:t>
                        </m:r>
                      </m:num>
                      <m:den>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2</m:t>
                        </m:r>
                      </m:den>
                    </m:f>
                    <m:sSub>
                      <m:sSub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𝑃</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𝑝</m:t>
                        </m:r>
                      </m:sub>
                    </m:sSub>
                    <m:d>
                      <m:dPr>
                        <m:begChr m:val="["/>
                        <m:endChr m:val="]"/>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𝜆</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𝑚</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ˊ</m:t>
                            </m:r>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m:t>
                        </m:r>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sSub>
                              <m:sSub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𝐿</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m:t>
                                </m:r>
                              </m:sub>
                            </m:s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𝐿</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𝑞</m:t>
                                </m:r>
                              </m:sub>
                            </m:sSub>
                          </m:e>
                        </m:d>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e>
                    </m:d>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MX" sz="1400" b="1" dirty="0">
                    <a:solidFill>
                      <a:schemeClr val="tx1"/>
                    </a:solidFill>
                    <a:latin typeface="Calibri"/>
                  </a:rPr>
                  <a:t>;	 	</a:t>
                </a:r>
                <a14:m>
                  <m:oMath xmlns:m="http://schemas.openxmlformats.org/officeDocument/2006/math">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𝑑</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r>
                          <a:rPr lang="es-AR" sz="1400" i="1">
                            <a:solidFill>
                              <a:schemeClr val="tx1"/>
                            </a:solidFill>
                            <a:latin typeface="Cambria Math" panose="02040503050406030204" pitchFamily="18" charset="0"/>
                          </a:rPr>
                          <m:t>𝑑𝑡</m:t>
                        </m:r>
                      </m:den>
                    </m:f>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𝑑</m:t>
                            </m:r>
                          </m:sub>
                        </m:sSub>
                      </m:den>
                    </m:f>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up>
                                <m:r>
                                  <a:rPr lang="es-AR" sz="1400">
                                    <a:solidFill>
                                      <a:schemeClr val="tx1"/>
                                    </a:solidFill>
                                    <a:latin typeface="Cambria Math" panose="02040503050406030204" pitchFamily="18" charset="0"/>
                                  </a:rPr>
                                  <m:t>∘</m:t>
                                </m:r>
                              </m:sup>
                            </m:sSubSup>
                          </m:e>
                        </m:d>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sSub>
                          <m:sSubPr>
                            <m:ctrlPr>
                              <a:rPr lang="es-AR" sz="1400" i="1">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oMath>
                </a14:m>
                <a:r>
                  <a:rPr lang="es-MX" sz="1400" b="1" dirty="0">
                    <a:solidFill>
                      <a:schemeClr val="tx1"/>
                    </a:solidFill>
                    <a:latin typeface="Calibri"/>
                  </a:rPr>
                  <a:t>;  	</a:t>
                </a:r>
                <a14:m>
                  <m:oMath xmlns:m="http://schemas.openxmlformats.org/officeDocument/2006/math">
                    <m:sSub>
                      <m:sSubPr>
                        <m:ctrlPr>
                          <a:rPr lang="es-AR" sz="1400" i="1">
                            <a:solidFill>
                              <a:schemeClr val="tx1"/>
                            </a:solidFill>
                            <a:latin typeface="Cambria Math" panose="02040503050406030204" pitchFamily="18" charset="0"/>
                          </a:rPr>
                        </m:ctrlPr>
                      </m:sSubPr>
                      <m:e>
                        <m:r>
                          <a:rPr lang="es-MX" sz="1400" b="0" i="0" smtClean="0">
                            <a:solidFill>
                              <a:schemeClr val="tx1"/>
                            </a:solidFill>
                            <a:latin typeface="Cambria Math" panose="02040503050406030204" pitchFamily="18" charset="0"/>
                          </a:rPr>
                          <m:t> </m:t>
                        </m:r>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up>
                                <m:r>
                                  <a:rPr lang="es-AR" sz="1400">
                                    <a:solidFill>
                                      <a:schemeClr val="tx1"/>
                                    </a:solidFill>
                                    <a:latin typeface="Cambria Math" panose="02040503050406030204" pitchFamily="18" charset="0"/>
                                  </a:rPr>
                                  <m:t>∘</m:t>
                                </m:r>
                              </m:sup>
                            </m:sSubSup>
                          </m:e>
                        </m:d>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den>
                    </m:f>
                  </m:oMath>
                </a14:m>
                <a:r>
                  <a:rPr lang="es-MX" sz="1100" b="1" dirty="0">
                    <a:solidFill>
                      <a:srgbClr val="1B6B2A"/>
                    </a:solidFill>
                    <a:latin typeface="Calibri"/>
                  </a:rPr>
                  <a:t>	</a:t>
                </a:r>
                <a:endParaRPr sz="1100" b="1" dirty="0">
                  <a:solidFill>
                    <a:srgbClr val="1B6B2A"/>
                  </a:solidFill>
                  <a:latin typeface="Calibri"/>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266699" y="4667421"/>
                <a:ext cx="11658295" cy="475643"/>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365760" y="5424883"/>
                <a:ext cx="11430000" cy="833883"/>
              </a:xfrm>
              <a:prstGeom prst="rect">
                <a:avLst/>
              </a:prstGeom>
              <a:noFill/>
            </p:spPr>
            <p:txBody>
              <a:bodyPr wrap="square">
                <a:spAutoFit/>
              </a:bodyPr>
              <a:lstStyle/>
              <a:p>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350" b="0" dirty="0">
                    <a:solidFill>
                      <a:srgbClr val="1A1A2E"/>
                    </a:solidFill>
                    <a:latin typeface="Calibri"/>
                  </a:rPr>
                  <a:t>&gt; 0  →  field forcing: refuerza el flujo → ↑ torque disponible, ↓ velocidad para igual potencia</a:t>
                </a:r>
              </a:p>
              <a:p>
                <a:pPr>
                  <a:spcBef>
                    <a:spcPts val="400"/>
                  </a:spcBef>
                </a:pP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350" b="0" dirty="0">
                    <a:solidFill>
                      <a:srgbClr val="1A1A2E"/>
                    </a:solidFill>
                    <a:latin typeface="Calibri"/>
                  </a:rPr>
                  <a:t>&lt; 0  →  field weakening: debilita el flujo → ↓ torque, permite ↑ velocidades de rotación</a:t>
                </a:r>
              </a:p>
              <a:p>
                <a:pPr>
                  <a:spcBef>
                    <a:spcPts val="400"/>
                  </a:spcBef>
                </a:pP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350" b="0" dirty="0">
                    <a:solidFill>
                      <a:srgbClr val="1A1A2E"/>
                    </a:solidFill>
                    <a:latin typeface="Calibri"/>
                  </a:rPr>
                  <a:t>= 0  →  ley de control mínima: flujo determinado solo por los imanes permanentes (</a:t>
                </a:r>
                <a14:m>
                  <m:oMath xmlns:m="http://schemas.openxmlformats.org/officeDocument/2006/math">
                    <m:sSubSup>
                      <m:sSubSupPr>
                        <m:ctrlPr>
                          <a:rPr lang="es-AR" sz="1200" i="1">
                            <a:latin typeface="Cambria Math" panose="02040503050406030204" pitchFamily="18" charset="0"/>
                            <a:ea typeface="Times New Roman" panose="02020603050405020304" pitchFamily="18" charset="0"/>
                            <a:cs typeface="Calibri" panose="020F0502020204030204" pitchFamily="34" charset="0"/>
                          </a:rPr>
                        </m:ctrlPr>
                      </m:sSubSupPr>
                      <m:e>
                        <m:r>
                          <a:rPr lang="es-AR" sz="1200" i="1">
                            <a:latin typeface="Cambria Math" panose="02040503050406030204" pitchFamily="18" charset="0"/>
                            <a:ea typeface="Times New Roman" panose="02020603050405020304" pitchFamily="18" charset="0"/>
                            <a:cs typeface="Calibri" panose="020F0502020204030204" pitchFamily="34" charset="0"/>
                          </a:rPr>
                          <m:t>𝜆</m:t>
                        </m:r>
                      </m:e>
                      <m:sub>
                        <m:r>
                          <a:rPr lang="es-AR" sz="1200" i="1">
                            <a:latin typeface="Cambria Math" panose="02040503050406030204" pitchFamily="18" charset="0"/>
                            <a:ea typeface="Times New Roman" panose="02020603050405020304" pitchFamily="18" charset="0"/>
                            <a:cs typeface="Calibri" panose="020F0502020204030204" pitchFamily="34" charset="0"/>
                          </a:rPr>
                          <m:t>𝑚</m:t>
                        </m:r>
                      </m:sub>
                      <m:sup>
                        <m:r>
                          <a:rPr lang="es-AR" sz="1200" i="1">
                            <a:latin typeface="Cambria Math" panose="02040503050406030204" pitchFamily="18" charset="0"/>
                            <a:ea typeface="Times New Roman" panose="02020603050405020304" pitchFamily="18" charset="0"/>
                            <a:cs typeface="Calibri" panose="020F0502020204030204" pitchFamily="34" charset="0"/>
                          </a:rPr>
                          <m:t>ˊ</m:t>
                        </m:r>
                        <m:r>
                          <a:rPr lang="es-AR" sz="1200" i="1">
                            <a:latin typeface="Cambria Math" panose="02040503050406030204" pitchFamily="18" charset="0"/>
                            <a:ea typeface="Times New Roman" panose="02020603050405020304" pitchFamily="18" charset="0"/>
                            <a:cs typeface="Calibri" panose="020F0502020204030204" pitchFamily="34" charset="0"/>
                          </a:rPr>
                          <m:t>𝑟</m:t>
                        </m:r>
                      </m:sup>
                    </m:sSubSup>
                  </m:oMath>
                </a14:m>
                <a:r>
                  <a:rPr lang="es-AR" sz="1350" b="0" dirty="0">
                    <a:solidFill>
                      <a:srgbClr val="1A1A2E"/>
                    </a:solidFill>
                    <a:latin typeface="Calibri"/>
                  </a:rPr>
                  <a:t>)</a:t>
                </a:r>
              </a:p>
            </p:txBody>
          </p:sp>
        </mc:Choice>
        <mc:Fallback xmlns="">
          <p:sp>
            <p:nvSpPr>
              <p:cNvPr id="16" name="TextBox 15"/>
              <p:cNvSpPr txBox="1">
                <a:spLocks noRot="1" noChangeAspect="1" noMove="1" noResize="1" noEditPoints="1" noAdjustHandles="1" noChangeArrowheads="1" noChangeShapeType="1" noTextEdit="1"/>
              </p:cNvSpPr>
              <p:nvPr/>
            </p:nvSpPr>
            <p:spPr>
              <a:xfrm>
                <a:off x="365760" y="5424883"/>
                <a:ext cx="11430000" cy="833883"/>
              </a:xfrm>
              <a:prstGeom prst="rect">
                <a:avLst/>
              </a:prstGeom>
              <a:blipFill>
                <a:blip r:embed="rId6"/>
                <a:stretch>
                  <a:fillRect t="-1460" b="-4380"/>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E9AB88BD-473F-457C-BE0D-6B5E7369D8B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035A1F7F-6008-498D-AE98-60FE7149D92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hape 14">
            <a:extLst>
              <a:ext uri="{FF2B5EF4-FFF2-40B4-BE49-F238E27FC236}">
                <a16:creationId xmlns:a16="http://schemas.microsoft.com/office/drawing/2014/main" id="{CCB4F42B-FF07-42F3-97D6-1CA0C4F3A1E7}"/>
              </a:ext>
            </a:extLst>
          </p:cNvPr>
          <p:cNvSpPr/>
          <p:nvPr/>
        </p:nvSpPr>
        <p:spPr>
          <a:xfrm>
            <a:off x="365761" y="4291343"/>
            <a:ext cx="11672360" cy="532232"/>
          </a:xfrm>
          <a:prstGeom prst="rect">
            <a:avLst/>
          </a:prstGeom>
          <a:solidFill>
            <a:srgbClr val="FFF8E8"/>
          </a:solidFill>
          <a:ln w="19050">
            <a:solidFill>
              <a:srgbClr val="DDAA00"/>
            </a:solidFill>
            <a:prstDash val="solid"/>
          </a:ln>
        </p:spPr>
      </p:sp>
      <p:sp>
        <p:nvSpPr>
          <p:cNvPr id="28" name="Shape 14">
            <a:extLst>
              <a:ext uri="{FF2B5EF4-FFF2-40B4-BE49-F238E27FC236}">
                <a16:creationId xmlns:a16="http://schemas.microsoft.com/office/drawing/2014/main" id="{30A7FC32-B579-492E-95AB-80EF5ADA18AB}"/>
              </a:ext>
            </a:extLst>
          </p:cNvPr>
          <p:cNvSpPr/>
          <p:nvPr/>
        </p:nvSpPr>
        <p:spPr>
          <a:xfrm>
            <a:off x="365761" y="2779438"/>
            <a:ext cx="11672360" cy="849939"/>
          </a:xfrm>
          <a:prstGeom prst="rect">
            <a:avLst/>
          </a:prstGeom>
          <a:solidFill>
            <a:srgbClr val="FFF8E8"/>
          </a:solidFill>
          <a:ln w="19050">
            <a:solidFill>
              <a:srgbClr val="DDAA00"/>
            </a:solidFill>
            <a:prstDash val="solid"/>
          </a:ln>
        </p:spPr>
      </p:sp>
      <p:sp>
        <p:nvSpPr>
          <p:cNvPr id="27" name="Shape 14">
            <a:extLst>
              <a:ext uri="{FF2B5EF4-FFF2-40B4-BE49-F238E27FC236}">
                <a16:creationId xmlns:a16="http://schemas.microsoft.com/office/drawing/2014/main" id="{7F284CDE-44D1-4B6E-822E-2A01AF52DF8B}"/>
              </a:ext>
            </a:extLst>
          </p:cNvPr>
          <p:cNvSpPr/>
          <p:nvPr/>
        </p:nvSpPr>
        <p:spPr>
          <a:xfrm>
            <a:off x="365761" y="1111971"/>
            <a:ext cx="11551614" cy="1197942"/>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409109" cy="415498"/>
          </a:xfrm>
          <a:prstGeom prst="rect">
            <a:avLst/>
          </a:prstGeom>
          <a:noFill/>
        </p:spPr>
        <p:txBody>
          <a:bodyPr wrap="none">
            <a:spAutoFit/>
          </a:bodyPr>
          <a:lstStyle/>
          <a:p>
            <a:pPr algn="l"/>
            <a:r>
              <a:rPr lang="es-AR" sz="2100" b="1" dirty="0">
                <a:solidFill>
                  <a:srgbClr val="FFFFFF"/>
                </a:solidFill>
                <a:latin typeface="Cambria"/>
              </a:rPr>
              <a:t>Funciones de transferencia del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p:sp>
        <p:nvSpPr>
          <p:cNvPr id="7" name="TextBox 6"/>
          <p:cNvSpPr txBox="1"/>
          <p:nvPr/>
        </p:nvSpPr>
        <p:spPr>
          <a:xfrm>
            <a:off x="380847" y="711464"/>
            <a:ext cx="11430000" cy="307777"/>
          </a:xfrm>
          <a:prstGeom prst="rect">
            <a:avLst/>
          </a:prstGeom>
          <a:noFill/>
        </p:spPr>
        <p:txBody>
          <a:bodyPr wrap="square">
            <a:spAutoFit/>
          </a:bodyPr>
          <a:lstStyle/>
          <a:p>
            <a:pPr algn="l"/>
            <a:r>
              <a:rPr lang="es-AR" sz="1400" b="0" i="0" dirty="0">
                <a:solidFill>
                  <a:srgbClr val="1A1A2E"/>
                </a:solidFill>
                <a:latin typeface="Calibri"/>
              </a:rPr>
              <a:t>Aplicando la Transformada de Laplace al sistema LTI simplificado (condiciones iniciales nulas):</a:t>
            </a:r>
          </a:p>
        </p:txBody>
      </p:sp>
      <mc:AlternateContent xmlns:mc="http://schemas.openxmlformats.org/markup-compatibility/2006" xmlns:a14="http://schemas.microsoft.com/office/drawing/2010/main">
        <mc:Choice Requires="a14">
          <p:sp>
            <p:nvSpPr>
              <p:cNvPr id="9" name="TextBox 8"/>
              <p:cNvSpPr txBox="1"/>
              <p:nvPr/>
            </p:nvSpPr>
            <p:spPr>
              <a:xfrm>
                <a:off x="457200" y="1135878"/>
                <a:ext cx="4025136" cy="114800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000" i="1" smtClean="0">
                              <a:effectLst/>
                              <a:latin typeface="Cambria Math" panose="02040503050406030204" pitchFamily="18" charset="0"/>
                              <a:ea typeface="Times New Roman" panose="02020603050405020304" pitchFamily="18" charset="0"/>
                              <a:cs typeface="Calibri" panose="020F0502020204030204" pitchFamily="34" charset="0"/>
                            </a:rPr>
                          </m:ctrlPr>
                        </m:dPr>
                        <m:e>
                          <m:m>
                            <m:mPr>
                              <m:mcs>
                                <m:mc>
                                  <m:mcPr>
                                    <m:count m:val="1"/>
                                    <m:mcJc m:val="center"/>
                                  </m:mcPr>
                                </m:mc>
                              </m:mcs>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mPr>
                            <m:m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Θ</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MX" sz="1400" b="0" i="1" smtClean="0">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e>
                            </m:mr>
                            <m:m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effectLst/>
                                        <a:latin typeface="Cambria Math" panose="02040503050406030204" pitchFamily="18" charset="0"/>
                                        <a:ea typeface="Times New Roman" panose="02020603050405020304" pitchFamily="18" charset="0"/>
                                        <a:cs typeface="Calibri" panose="020F0502020204030204" pitchFamily="34" charset="0"/>
                                      </a:rPr>
                                      <m:t>1</m:t>
                                    </m:r>
                                  </m:num>
                                  <m:den>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𝐽</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𝑒𝑞</m:t>
                                        </m:r>
                                      </m:sub>
                                    </m:sSub>
                                  </m:den>
                                </m:f>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𝑏</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𝑒𝑞</m:t>
                                        </m:r>
                                      </m:sub>
                                    </m:sSub>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effectLst/>
                                            <a:latin typeface="Cambria Math" panose="02040503050406030204" pitchFamily="18" charset="0"/>
                                            <a:ea typeface="Times New Roman" panose="02020603050405020304" pitchFamily="18" charset="0"/>
                                            <a:cs typeface="Calibri" panose="020F0502020204030204" pitchFamily="34" charset="0"/>
                                          </a:rPr>
                                          <m:t>3</m:t>
                                        </m:r>
                                      </m:num>
                                      <m:den>
                                        <m:r>
                                          <a:rPr lang="es-AR" sz="1400" i="1">
                                            <a:effectLst/>
                                            <a:latin typeface="Cambria Math" panose="02040503050406030204" pitchFamily="18" charset="0"/>
                                            <a:ea typeface="Times New Roman" panose="02020603050405020304" pitchFamily="18" charset="0"/>
                                            <a:cs typeface="Calibri" panose="020F0502020204030204" pitchFamily="34" charset="0"/>
                                          </a:rPr>
                                          <m:t>2</m:t>
                                        </m:r>
                                      </m:den>
                                    </m:f>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𝑃</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sub>
                                    </m:sSub>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𝜆</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ˊ</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𝐼</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num>
                                      <m:den>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den>
                                    </m:f>
                                  </m:e>
                                </m:d>
                              </m:e>
                            </m:mr>
                            <m:m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𝐼</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effectLst/>
                                        <a:latin typeface="Cambria Math" panose="02040503050406030204" pitchFamily="18" charset="0"/>
                                        <a:ea typeface="Times New Roman" panose="02020603050405020304" pitchFamily="18" charset="0"/>
                                        <a:cs typeface="Calibri" panose="020F0502020204030204" pitchFamily="34" charset="0"/>
                                      </a:rPr>
                                      <m:t>1</m:t>
                                    </m:r>
                                  </m:num>
                                  <m:den>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𝐿</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m:t>
                                        </m:r>
                                      </m:sub>
                                    </m:sSub>
                                  </m:den>
                                </m:f>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𝑅</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ub>
                                    </m:sSub>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𝐼</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𝑃</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sub>
                                    </m:sSub>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𝜆</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ˊ</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e>
                            </m:mr>
                          </m:m>
                        </m:e>
                      </m:d>
                    </m:oMath>
                  </m:oMathPara>
                </a14:m>
                <a:endParaRPr lang="es-A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457200" y="1135878"/>
                <a:ext cx="4025136" cy="1148007"/>
              </a:xfrm>
              <a:prstGeom prst="rect">
                <a:avLst/>
              </a:prstGeom>
              <a:blipFill>
                <a:blip r:embed="rId2"/>
                <a:stretch>
                  <a:fillRect/>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13EA3122-FBB3-4F37-A939-4DB98854FCE6}"/>
              </a:ext>
            </a:extLst>
          </p:cNvPr>
          <p:cNvSpPr txBox="1"/>
          <p:nvPr/>
        </p:nvSpPr>
        <p:spPr>
          <a:xfrm>
            <a:off x="365760" y="2325557"/>
            <a:ext cx="7925984" cy="369332"/>
          </a:xfrm>
          <a:prstGeom prst="rect">
            <a:avLst/>
          </a:prstGeom>
          <a:noFill/>
        </p:spPr>
        <p:txBody>
          <a:bodyPr wrap="square">
            <a:spAutoFit/>
          </a:bodyPr>
          <a:lstStyle/>
          <a:p>
            <a:r>
              <a:rPr lang="es-AR" sz="1400" dirty="0">
                <a:effectLst/>
                <a:latin typeface="Calibri" panose="020F0502020204030204" pitchFamily="34" charset="0"/>
                <a:ea typeface="Calibri" panose="020F0502020204030204" pitchFamily="34" charset="0"/>
                <a:cs typeface="Times New Roman" panose="02020603050405020304" pitchFamily="18" charset="0"/>
              </a:rPr>
              <a:t>Por</a:t>
            </a:r>
            <a:r>
              <a:rPr lang="es-AR" sz="1800" dirty="0">
                <a:effectLst/>
                <a:latin typeface="Calibri" panose="020F0502020204030204" pitchFamily="34" charset="0"/>
                <a:ea typeface="Calibri" panose="020F0502020204030204" pitchFamily="34"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lo tanto, las funciones de transferencia resultan:</a:t>
            </a:r>
            <a:endParaRPr lang="es-AR" sz="1400" dirty="0"/>
          </a:p>
        </p:txBody>
      </p:sp>
      <mc:AlternateContent xmlns:mc="http://schemas.openxmlformats.org/markup-compatibility/2006" xmlns:a14="http://schemas.microsoft.com/office/drawing/2010/main">
        <mc:Choice Requires="a14">
          <p:sp>
            <p:nvSpPr>
              <p:cNvPr id="22" name="TextBox 8">
                <a:extLst>
                  <a:ext uri="{FF2B5EF4-FFF2-40B4-BE49-F238E27FC236}">
                    <a16:creationId xmlns:a16="http://schemas.microsoft.com/office/drawing/2014/main" id="{5A6A7BCB-C69A-43DC-B8F0-757517C9C07B}"/>
                  </a:ext>
                </a:extLst>
              </p:cNvPr>
              <p:cNvSpPr txBox="1"/>
              <p:nvPr/>
            </p:nvSpPr>
            <p:spPr>
              <a:xfrm>
                <a:off x="-649847" y="2858879"/>
                <a:ext cx="11368735" cy="591829"/>
              </a:xfrm>
              <a:prstGeom prst="rect">
                <a:avLst/>
              </a:prstGeom>
              <a:noFill/>
            </p:spPr>
            <p:txBody>
              <a:bodyPr wrap="square">
                <a:spAutoFit/>
              </a:bodyPr>
              <a:lstStyle/>
              <a:p>
                <a:pPr algn="ct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𝛩</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num>
                      <m:den>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den>
                    </m:f>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box>
                          <m:boxPr>
                            <m:ctrlPr>
                              <a:rPr lang="es-AR" sz="1400" i="1">
                                <a:solidFill>
                                  <a:schemeClr val="tx1"/>
                                </a:solidFill>
                                <a:latin typeface="Cambria Math" panose="02040503050406030204" pitchFamily="18" charset="0"/>
                              </a:rPr>
                            </m:ctrlPr>
                          </m:boxPr>
                          <m:e>
                            <m:argPr>
                              <m:argSz m:val="-1"/>
                            </m:argP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3</m:t>
                                </m:r>
                              </m:num>
                              <m:den>
                                <m:r>
                                  <a:rPr lang="es-AR" sz="1400" i="1">
                                    <a:solidFill>
                                      <a:schemeClr val="tx1"/>
                                    </a:solidFill>
                                    <a:latin typeface="Cambria Math" panose="02040503050406030204" pitchFamily="18" charset="0"/>
                                  </a:rPr>
                                  <m:t>2</m:t>
                                </m:r>
                              </m:den>
                            </m:f>
                          </m:e>
                        </m:box>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𝜆</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ˊ</m:t>
                            </m:r>
                            <m:r>
                              <a:rPr lang="es-AR" sz="1400" i="1">
                                <a:solidFill>
                                  <a:schemeClr val="tx1"/>
                                </a:solidFill>
                                <a:latin typeface="Cambria Math" panose="02040503050406030204" pitchFamily="18" charset="0"/>
                              </a:rPr>
                              <m:t>𝑟</m:t>
                            </m:r>
                          </m:sup>
                        </m:sSubSup>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3</m:t>
                            </m:r>
                          </m:sup>
                        </m:sSup>
                        <m:r>
                          <a:rPr lang="es-AR" sz="1400" i="1">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e>
                        </m:d>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2</m:t>
                            </m:r>
                          </m:sup>
                        </m:sSup>
                        <m:r>
                          <a:rPr lang="es-AR" sz="1400" i="1">
                            <a:solidFill>
                              <a:schemeClr val="tx1"/>
                            </a:solidFill>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e>
                            </m:box>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e>
                                </m:d>
                              </m:e>
                              <m:sup>
                                <m:r>
                                  <a:rPr lang="es-AR" sz="1400" i="1">
                                    <a:latin typeface="Cambria Math" panose="02040503050406030204" pitchFamily="18" charset="0"/>
                                  </a:rPr>
                                  <m:t>2</m:t>
                                </m:r>
                              </m:sup>
                            </m:sSup>
                          </m:e>
                        </m:d>
                        <m:r>
                          <a:rPr lang="es-AR" sz="1400" i="1">
                            <a:latin typeface="Cambria Math" panose="02040503050406030204" pitchFamily="18" charset="0"/>
                          </a:rPr>
                          <m:t>𝑠</m:t>
                        </m:r>
                      </m:den>
                    </m:f>
                  </m:oMath>
                </a14:m>
                <a:r>
                  <a:rPr lang="es-AR" sz="1400" b="1" dirty="0">
                    <a:solidFill>
                      <a:schemeClr val="tx1"/>
                    </a:solidFill>
                    <a:latin typeface="Calibri"/>
                  </a:rPr>
                  <a:t>;	</a:t>
                </a:r>
                <a14:m>
                  <m:oMath xmlns:m="http://schemas.openxmlformats.org/officeDocument/2006/math">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𝛩</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den>
                    </m:f>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m:t>
                        </m:r>
                        <m:box>
                          <m:boxPr>
                            <m:ctrlPr>
                              <a:rPr lang="es-AR" sz="1400" i="1">
                                <a:solidFill>
                                  <a:schemeClr val="tx1"/>
                                </a:solidFill>
                                <a:latin typeface="Cambria Math" panose="02040503050406030204" pitchFamily="18" charset="0"/>
                              </a:rPr>
                            </m:ctrlPr>
                          </m:boxPr>
                          <m:e>
                            <m:argPr>
                              <m:argSz m:val="-1"/>
                            </m:argP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1</m:t>
                                </m:r>
                              </m:num>
                              <m:den>
                                <m:r>
                                  <a:rPr lang="es-AR" sz="1400" i="1">
                                    <a:solidFill>
                                      <a:schemeClr val="tx1"/>
                                    </a:solidFill>
                                    <a:latin typeface="Cambria Math" panose="02040503050406030204" pitchFamily="18" charset="0"/>
                                  </a:rPr>
                                  <m:t>𝑟</m:t>
                                </m:r>
                              </m:den>
                            </m:f>
                          </m:e>
                        </m:box>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e>
                        </m:d>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3</m:t>
                            </m:r>
                          </m:sup>
                        </m:sSup>
                        <m:r>
                          <a:rPr lang="es-AR" sz="1400" i="1">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e>
                        </m:d>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2</m:t>
                            </m:r>
                          </m:sup>
                        </m:sSup>
                        <m:r>
                          <a:rPr lang="es-AR" sz="1400" i="1">
                            <a:solidFill>
                              <a:schemeClr val="tx1"/>
                            </a:solidFill>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e>
                            </m:box>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e>
                                </m:d>
                              </m:e>
                              <m:sup>
                                <m:r>
                                  <a:rPr lang="es-AR" sz="1400" i="1">
                                    <a:latin typeface="Cambria Math" panose="02040503050406030204" pitchFamily="18" charset="0"/>
                                  </a:rPr>
                                  <m:t>2</m:t>
                                </m:r>
                              </m:sup>
                            </m:sSup>
                          </m:e>
                        </m:d>
                        <m:r>
                          <a:rPr lang="es-AR" sz="1400" i="1">
                            <a:latin typeface="Cambria Math" panose="02040503050406030204" pitchFamily="18" charset="0"/>
                          </a:rPr>
                          <m:t>𝑠</m:t>
                        </m:r>
                      </m:den>
                    </m:f>
                  </m:oMath>
                </a14:m>
                <a:endParaRPr lang="es-AR" sz="1400" b="1" dirty="0">
                  <a:solidFill>
                    <a:srgbClr val="1B6B2A"/>
                  </a:solidFill>
                  <a:latin typeface="Calibri"/>
                </a:endParaRPr>
              </a:p>
            </p:txBody>
          </p:sp>
        </mc:Choice>
        <mc:Fallback xmlns="">
          <p:sp>
            <p:nvSpPr>
              <p:cNvPr id="22" name="TextBox 8">
                <a:extLst>
                  <a:ext uri="{FF2B5EF4-FFF2-40B4-BE49-F238E27FC236}">
                    <a16:creationId xmlns:a16="http://schemas.microsoft.com/office/drawing/2014/main" id="{5A6A7BCB-C69A-43DC-B8F0-757517C9C07B}"/>
                  </a:ext>
                </a:extLst>
              </p:cNvPr>
              <p:cNvSpPr txBox="1">
                <a:spLocks noRot="1" noChangeAspect="1" noMove="1" noResize="1" noEditPoints="1" noAdjustHandles="1" noChangeArrowheads="1" noChangeShapeType="1" noTextEdit="1"/>
              </p:cNvSpPr>
              <p:nvPr/>
            </p:nvSpPr>
            <p:spPr>
              <a:xfrm>
                <a:off x="-649847" y="2858879"/>
                <a:ext cx="11368735" cy="591829"/>
              </a:xfrm>
              <a:prstGeom prst="rect">
                <a:avLst/>
              </a:prstGeom>
              <a:blipFill>
                <a:blip r:embed="rId3"/>
                <a:stretch>
                  <a:fillRect/>
                </a:stretch>
              </a:blipFill>
            </p:spPr>
            <p:txBody>
              <a:bodyPr/>
              <a:lstStyle/>
              <a:p>
                <a:r>
                  <a:rPr lang="es-AR">
                    <a:noFill/>
                  </a:rPr>
                  <a:t> </a:t>
                </a:r>
              </a:p>
            </p:txBody>
          </p:sp>
        </mc:Fallback>
      </mc:AlternateContent>
      <p:sp>
        <p:nvSpPr>
          <p:cNvPr id="23" name="CuadroTexto 22">
            <a:extLst>
              <a:ext uri="{FF2B5EF4-FFF2-40B4-BE49-F238E27FC236}">
                <a16:creationId xmlns:a16="http://schemas.microsoft.com/office/drawing/2014/main" id="{B3E77446-79F7-4C6B-BEA3-FADA71F20966}"/>
              </a:ext>
            </a:extLst>
          </p:cNvPr>
          <p:cNvSpPr txBox="1"/>
          <p:nvPr/>
        </p:nvSpPr>
        <p:spPr>
          <a:xfrm>
            <a:off x="365761" y="3806471"/>
            <a:ext cx="7925984" cy="307777"/>
          </a:xfrm>
          <a:prstGeom prst="rect">
            <a:avLst/>
          </a:prstGeom>
          <a:noFill/>
        </p:spPr>
        <p:txBody>
          <a:bodyPr wrap="square">
            <a:spAutoFit/>
          </a:bodyPr>
          <a:lstStyle/>
          <a:p>
            <a:r>
              <a:rPr lang="es-AR" sz="1400" dirty="0">
                <a:effectLst/>
                <a:latin typeface="Calibri" panose="020F0502020204030204" pitchFamily="34" charset="0"/>
                <a:ea typeface="Calibri" panose="020F0502020204030204" pitchFamily="34" charset="0"/>
                <a:cs typeface="Times New Roman" panose="02020603050405020304" pitchFamily="18" charset="0"/>
              </a:rPr>
              <a:t>Entonces la respuesta completa del sistema se expresa como:</a:t>
            </a:r>
            <a:endParaRPr lang="es-AR" sz="1400" dirty="0"/>
          </a:p>
        </p:txBody>
      </p: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DEED4F2C-6069-4E7B-BDD3-CD7752D9EC8B}"/>
                  </a:ext>
                </a:extLst>
              </p:cNvPr>
              <p:cNvSpPr txBox="1"/>
              <p:nvPr/>
            </p:nvSpPr>
            <p:spPr>
              <a:xfrm>
                <a:off x="-108301" y="4365670"/>
                <a:ext cx="4528493" cy="3486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Θ</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oMath>
                  </m:oMathPara>
                </a14:m>
                <a:endParaRPr lang="es-AR" sz="1400" dirty="0">
                  <a:solidFill>
                    <a:schemeClr val="tx1"/>
                  </a:solidFill>
                </a:endParaRPr>
              </a:p>
            </p:txBody>
          </p:sp>
        </mc:Choice>
        <mc:Fallback xmlns="">
          <p:sp>
            <p:nvSpPr>
              <p:cNvPr id="25" name="CuadroTexto 24">
                <a:extLst>
                  <a:ext uri="{FF2B5EF4-FFF2-40B4-BE49-F238E27FC236}">
                    <a16:creationId xmlns:a16="http://schemas.microsoft.com/office/drawing/2014/main" id="{DEED4F2C-6069-4E7B-BDD3-CD7752D9EC8B}"/>
                  </a:ext>
                </a:extLst>
              </p:cNvPr>
              <p:cNvSpPr txBox="1">
                <a:spLocks noRot="1" noChangeAspect="1" noMove="1" noResize="1" noEditPoints="1" noAdjustHandles="1" noChangeArrowheads="1" noChangeShapeType="1" noTextEdit="1"/>
              </p:cNvSpPr>
              <p:nvPr/>
            </p:nvSpPr>
            <p:spPr>
              <a:xfrm>
                <a:off x="-108301" y="4365670"/>
                <a:ext cx="4528493" cy="348622"/>
              </a:xfrm>
              <a:prstGeom prst="rect">
                <a:avLst/>
              </a:prstGeom>
              <a:blipFill>
                <a:blip r:embed="rId4"/>
                <a:stretch>
                  <a:fillRect b="-1754"/>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3B6330C9-AE53-465F-8E68-60BE235EA6A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8A5A027C-DD61-4AAD-95E4-31BD96243E7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14">
            <a:extLst>
              <a:ext uri="{FF2B5EF4-FFF2-40B4-BE49-F238E27FC236}">
                <a16:creationId xmlns:a16="http://schemas.microsoft.com/office/drawing/2014/main" id="{FF903311-39D6-4D9C-86B1-0F4AA541792D}"/>
              </a:ext>
            </a:extLst>
          </p:cNvPr>
          <p:cNvSpPr/>
          <p:nvPr/>
        </p:nvSpPr>
        <p:spPr>
          <a:xfrm>
            <a:off x="396240" y="3189721"/>
            <a:ext cx="11672360" cy="617166"/>
          </a:xfrm>
          <a:prstGeom prst="rect">
            <a:avLst/>
          </a:prstGeom>
          <a:solidFill>
            <a:srgbClr val="FFF8E8"/>
          </a:solidFill>
          <a:ln w="19050">
            <a:solidFill>
              <a:srgbClr val="DDAA00"/>
            </a:solidFill>
            <a:prstDash val="solid"/>
          </a:ln>
        </p:spPr>
      </p:sp>
      <p:sp>
        <p:nvSpPr>
          <p:cNvPr id="18" name="Shape 14">
            <a:extLst>
              <a:ext uri="{FF2B5EF4-FFF2-40B4-BE49-F238E27FC236}">
                <a16:creationId xmlns:a16="http://schemas.microsoft.com/office/drawing/2014/main" id="{7BCAB2A3-B4A8-4194-A2BF-52D20E4135A1}"/>
              </a:ext>
            </a:extLst>
          </p:cNvPr>
          <p:cNvSpPr/>
          <p:nvPr/>
        </p:nvSpPr>
        <p:spPr>
          <a:xfrm>
            <a:off x="365760" y="1063453"/>
            <a:ext cx="11672360" cy="1380983"/>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382948" cy="415498"/>
          </a:xfrm>
          <a:prstGeom prst="rect">
            <a:avLst/>
          </a:prstGeom>
          <a:noFill/>
        </p:spPr>
        <p:txBody>
          <a:bodyPr wrap="none">
            <a:spAutoFit/>
          </a:bodyPr>
          <a:lstStyle/>
          <a:p>
            <a:pPr algn="l"/>
            <a:r>
              <a:rPr lang="es-AR" sz="2100" b="1" dirty="0">
                <a:solidFill>
                  <a:srgbClr val="FFFFFF"/>
                </a:solidFill>
                <a:latin typeface="Cambria"/>
              </a:rPr>
              <a:t>Estabilidad a lazo abierto para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p:sp>
        <p:nvSpPr>
          <p:cNvPr id="7" name="TextBox 6"/>
          <p:cNvSpPr txBox="1"/>
          <p:nvPr/>
        </p:nvSpPr>
        <p:spPr>
          <a:xfrm>
            <a:off x="228600" y="714794"/>
            <a:ext cx="11430000" cy="307777"/>
          </a:xfrm>
          <a:prstGeom prst="rect">
            <a:avLst/>
          </a:prstGeom>
          <a:noFill/>
        </p:spPr>
        <p:txBody>
          <a:bodyPr wrap="square">
            <a:spAutoFit/>
          </a:bodyPr>
          <a:lstStyle/>
          <a:p>
            <a:pPr algn="l"/>
            <a:r>
              <a:rPr lang="es-AR" sz="1400" dirty="0">
                <a:latin typeface="Calibri" panose="020F0502020204030204" pitchFamily="34" charset="0"/>
                <a:ea typeface="Calibri" panose="020F0502020204030204" pitchFamily="34" charset="0"/>
                <a:cs typeface="Times New Roman" panose="02020603050405020304" pitchFamily="18" charset="0"/>
              </a:rPr>
              <a:t>L</a:t>
            </a:r>
            <a:r>
              <a:rPr lang="es-AR" sz="1400" dirty="0">
                <a:effectLst/>
                <a:latin typeface="Calibri" panose="020F0502020204030204" pitchFamily="34" charset="0"/>
                <a:ea typeface="Calibri" panose="020F0502020204030204" pitchFamily="34" charset="0"/>
                <a:cs typeface="Times New Roman" panose="02020603050405020304" pitchFamily="18" charset="0"/>
              </a:rPr>
              <a:t>os polos del modelo LTI equivalente aumentado a lazo abierto se determinan imponiendo que dicho polinomio sea nulo</a:t>
            </a:r>
            <a:endParaRPr sz="1100" b="0" i="0" dirty="0">
              <a:solidFill>
                <a:srgbClr val="1A1A2E"/>
              </a:solidFill>
              <a:latin typeface="Calibri"/>
            </a:endParaRPr>
          </a:p>
        </p:txBody>
      </p:sp>
      <mc:AlternateContent xmlns:mc="http://schemas.openxmlformats.org/markup-compatibility/2006" xmlns:a14="http://schemas.microsoft.com/office/drawing/2010/main">
        <mc:Choice Requires="a14">
          <p:sp>
            <p:nvSpPr>
              <p:cNvPr id="9" name="TextBox 8"/>
              <p:cNvSpPr txBox="1"/>
              <p:nvPr/>
            </p:nvSpPr>
            <p:spPr>
              <a:xfrm>
                <a:off x="-810286" y="1135878"/>
                <a:ext cx="10741937" cy="1224181"/>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𝑠</m:t>
                                    </m:r>
                                  </m:e>
                                  <m:sub>
                                    <m:r>
                                      <a:rPr lang="es-AR" sz="1600" i="1">
                                        <a:latin typeface="Cambria Math" panose="02040503050406030204" pitchFamily="18" charset="0"/>
                                      </a:rPr>
                                      <m:t>1</m:t>
                                    </m:r>
                                  </m:sub>
                                </m:sSub>
                                <m:r>
                                  <a:rPr lang="es-AR" sz="1600" i="1">
                                    <a:latin typeface="Cambria Math" panose="02040503050406030204" pitchFamily="18" charset="0"/>
                                  </a:rPr>
                                  <m:t>=0                                                                                                                                                                     </m:t>
                                </m:r>
                              </m:e>
                            </m:mr>
                            <m:mr>
                              <m:e>
                                <m:sSub>
                                  <m:sSubPr>
                                    <m:ctrlPr>
                                      <a:rPr lang="es-AR" sz="1600" i="1">
                                        <a:latin typeface="Cambria Math" panose="02040503050406030204" pitchFamily="18" charset="0"/>
                                      </a:rPr>
                                    </m:ctrlPr>
                                  </m:sSubPr>
                                  <m:e>
                                    <m:r>
                                      <a:rPr lang="es-AR" sz="1600" i="1">
                                        <a:latin typeface="Cambria Math" panose="02040503050406030204" pitchFamily="18" charset="0"/>
                                      </a:rPr>
                                      <m:t>𝑠</m:t>
                                    </m:r>
                                  </m:e>
                                  <m:sub>
                                    <m:r>
                                      <a:rPr lang="es-AR" sz="1600" i="1">
                                        <a:latin typeface="Cambria Math" panose="02040503050406030204" pitchFamily="18" charset="0"/>
                                      </a:rPr>
                                      <m:t>2,3</m:t>
                                    </m:r>
                                  </m:sub>
                                </m:sSub>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e>
                                    </m:d>
                                    <m:r>
                                      <a:rPr lang="es-AR" sz="1600">
                                        <a:latin typeface="Cambria Math" panose="02040503050406030204" pitchFamily="18" charset="0"/>
                                      </a:rPr>
                                      <m:t>±</m:t>
                                    </m:r>
                                    <m:rad>
                                      <m:radPr>
                                        <m:degHide m:val="on"/>
                                        <m:ctrlPr>
                                          <a:rPr lang="es-AR" sz="1600" i="1">
                                            <a:latin typeface="Cambria Math" panose="02040503050406030204" pitchFamily="18" charset="0"/>
                                          </a:rPr>
                                        </m:ctrlPr>
                                      </m:radPr>
                                      <m:deg/>
                                      <m:e>
                                        <m:sSup>
                                          <m:sSupPr>
                                            <m:ctrlPr>
                                              <a:rPr lang="es-AR" sz="1600" i="1">
                                                <a:latin typeface="Cambria Math" panose="02040503050406030204" pitchFamily="18" charset="0"/>
                                              </a:rPr>
                                            </m:ctrlPr>
                                          </m:sSupPr>
                                          <m:e>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e>
                                            </m:d>
                                          </m:e>
                                          <m:sup>
                                            <m:r>
                                              <a:rPr lang="es-AR" sz="1600" i="1">
                                                <a:latin typeface="Cambria Math" panose="02040503050406030204" pitchFamily="18" charset="0"/>
                                              </a:rPr>
                                              <m:t>2</m:t>
                                            </m:r>
                                          </m:sup>
                                        </m:sSup>
                                        <m:r>
                                          <a:rPr lang="es-AR" sz="1600" i="1">
                                            <a:latin typeface="Cambria Math" panose="02040503050406030204" pitchFamily="18" charset="0"/>
                                          </a:rPr>
                                          <m:t>−4</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e>
                                        </m:d>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3</m:t>
                                                </m:r>
                                              </m:num>
                                              <m:den>
                                                <m:r>
                                                  <a:rPr lang="es-AR" sz="1600" i="1">
                                                    <a:latin typeface="Cambria Math" panose="02040503050406030204" pitchFamily="18" charset="0"/>
                                                  </a:rPr>
                                                  <m:t>2</m:t>
                                                </m:r>
                                              </m:den>
                                            </m:f>
                                            <m:sSubSup>
                                              <m:sSubSupPr>
                                                <m:ctrlPr>
                                                  <a:rPr lang="es-AR" sz="1600" i="1">
                                                    <a:latin typeface="Cambria Math" panose="02040503050406030204" pitchFamily="18" charset="0"/>
                                                  </a:rPr>
                                                </m:ctrlPr>
                                              </m:sSubSupPr>
                                              <m:e>
                                                <m:r>
                                                  <a:rPr lang="es-AR" sz="1600" i="1">
                                                    <a:latin typeface="Cambria Math" panose="02040503050406030204" pitchFamily="18" charset="0"/>
                                                  </a:rPr>
                                                  <m:t>𝑃</m:t>
                                                </m:r>
                                              </m:e>
                                              <m:sub>
                                                <m:r>
                                                  <a:rPr lang="es-AR" sz="1600" i="1">
                                                    <a:latin typeface="Cambria Math" panose="02040503050406030204" pitchFamily="18" charset="0"/>
                                                  </a:rPr>
                                                  <m:t>𝑝</m:t>
                                                </m:r>
                                              </m:sub>
                                              <m:sup>
                                                <m:r>
                                                  <a:rPr lang="es-AR" sz="1600" i="1">
                                                    <a:latin typeface="Cambria Math" panose="02040503050406030204" pitchFamily="18" charset="0"/>
                                                  </a:rPr>
                                                  <m:t>2</m:t>
                                                </m:r>
                                              </m:sup>
                                            </m:sSubSup>
                                            <m:sSup>
                                              <m:sSupPr>
                                                <m:ctrlPr>
                                                  <a:rPr lang="es-AR" sz="1600" i="1">
                                                    <a:latin typeface="Cambria Math" panose="02040503050406030204" pitchFamily="18" charset="0"/>
                                                  </a:rPr>
                                                </m:ctrlPr>
                                              </m:sSupPr>
                                              <m:e>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e>
                                                </m:d>
                                              </m:e>
                                              <m:sup>
                                                <m:r>
                                                  <a:rPr lang="es-AR" sz="1600" i="1">
                                                    <a:latin typeface="Cambria Math" panose="02040503050406030204" pitchFamily="18" charset="0"/>
                                                  </a:rPr>
                                                  <m:t>2</m:t>
                                                </m:r>
                                              </m:sup>
                                            </m:sSup>
                                          </m:e>
                                        </m:d>
                                      </m:e>
                                    </m:rad>
                                  </m:num>
                                  <m:den>
                                    <m:r>
                                      <a:rPr lang="es-AR" sz="1600" i="1">
                                        <a:latin typeface="Cambria Math" panose="02040503050406030204" pitchFamily="18" charset="0"/>
                                      </a:rPr>
                                      <m:t>2</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e>
                                    </m:d>
                                  </m:den>
                                </m:f>
                              </m:e>
                            </m:mr>
                          </m:m>
                        </m:e>
                      </m:d>
                    </m:oMath>
                  </m:oMathPara>
                </a14:m>
                <a:endParaRPr lang="es-A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810286" y="1135878"/>
                <a:ext cx="10741937" cy="1224181"/>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337591EA-19AA-4976-8C55-51E66F24B4D0}"/>
                  </a:ext>
                </a:extLst>
              </p:cNvPr>
              <p:cNvSpPr txBox="1"/>
              <p:nvPr/>
            </p:nvSpPr>
            <p:spPr>
              <a:xfrm>
                <a:off x="335279" y="2620149"/>
                <a:ext cx="11521135" cy="510909"/>
              </a:xfrm>
              <a:prstGeom prst="rect">
                <a:avLst/>
              </a:prstGeom>
              <a:noFill/>
            </p:spPr>
            <p:txBody>
              <a:bodyPr wrap="square">
                <a:spAutoFit/>
              </a:bodyPr>
              <a:lstStyle/>
              <a:p>
                <a:pPr algn="just">
                  <a:lnSpc>
                    <a:spcPct val="107000"/>
                  </a:lnSpc>
                  <a:spcBef>
                    <a:spcPts val="1200"/>
                  </a:spcBef>
                  <a:spcAft>
                    <a:spcPts val="8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Observando las funciones de transferencia, vemos que la única que introduce ceros en el sistema es la relacionada con la entrada </a:t>
                </a:r>
                <a14:m>
                  <m:oMath xmlns:m="http://schemas.openxmlformats.org/officeDocument/2006/math">
                    <m:sSub>
                      <m:sSub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𝑙</m:t>
                        </m:r>
                      </m:sub>
                    </m:sSub>
                  </m:oMath>
                </a14:m>
                <a:r>
                  <a:rPr lang="es-AR" sz="1300" dirty="0">
                    <a:effectLst/>
                    <a:latin typeface="Calibri" panose="020F0502020204030204" pitchFamily="34" charset="0"/>
                    <a:ea typeface="Times New Roman" panose="02020603050405020304" pitchFamily="18" charset="0"/>
                    <a:cs typeface="Times New Roman" panose="02020603050405020304" pitchFamily="18" charset="0"/>
                  </a:rPr>
                  <a:t>. Entonces, igualando el numerador a cero:</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CuadroTexto 22">
                <a:extLst>
                  <a:ext uri="{FF2B5EF4-FFF2-40B4-BE49-F238E27FC236}">
                    <a16:creationId xmlns:a16="http://schemas.microsoft.com/office/drawing/2014/main" id="{337591EA-19AA-4976-8C55-51E66F24B4D0}"/>
                  </a:ext>
                </a:extLst>
              </p:cNvPr>
              <p:cNvSpPr txBox="1">
                <a:spLocks noRot="1" noChangeAspect="1" noMove="1" noResize="1" noEditPoints="1" noAdjustHandles="1" noChangeArrowheads="1" noChangeShapeType="1" noTextEdit="1"/>
              </p:cNvSpPr>
              <p:nvPr/>
            </p:nvSpPr>
            <p:spPr>
              <a:xfrm>
                <a:off x="335279" y="2620149"/>
                <a:ext cx="11521135" cy="510909"/>
              </a:xfrm>
              <a:prstGeom prst="rect">
                <a:avLst/>
              </a:prstGeom>
              <a:blipFill>
                <a:blip r:embed="rId3"/>
                <a:stretch>
                  <a:fillRect l="-53" r="-53" b="-952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8990F4C8-6500-4B50-A15B-AF446869707A}"/>
                  </a:ext>
                </a:extLst>
              </p:cNvPr>
              <p:cNvSpPr txBox="1"/>
              <p:nvPr/>
            </p:nvSpPr>
            <p:spPr>
              <a:xfrm>
                <a:off x="-295369" y="3187823"/>
                <a:ext cx="3143816" cy="6219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600" i="1" smtClean="0">
                              <a:solidFill>
                                <a:srgbClr val="836967"/>
                              </a:solidFill>
                              <a:latin typeface="Cambria Math" panose="02040503050406030204" pitchFamily="18" charset="0"/>
                            </a:rPr>
                          </m:ctrlPr>
                        </m:sSubPr>
                        <m:e>
                          <m:r>
                            <a:rPr lang="es-AR" sz="1600" i="1">
                              <a:latin typeface="Cambria Math" panose="02040503050406030204" pitchFamily="18" charset="0"/>
                            </a:rPr>
                            <m:t>𝑠</m:t>
                          </m:r>
                        </m:e>
                        <m:sub>
                          <m:r>
                            <a:rPr lang="es-AR" sz="1600" i="1">
                              <a:latin typeface="Cambria Math" panose="02040503050406030204" pitchFamily="18" charset="0"/>
                            </a:rPr>
                            <m:t>𝑧</m:t>
                          </m:r>
                        </m:sub>
                      </m:sSub>
                      <m:r>
                        <a:rPr lang="es-AR" sz="1600" i="0">
                          <a:latin typeface="Cambria Math" panose="02040503050406030204" pitchFamily="18" charset="0"/>
                        </a:rPr>
                        <m:t>=−</m:t>
                      </m:r>
                      <m:f>
                        <m:fPr>
                          <m:ctrlPr>
                            <a:rPr lang="es-AR" sz="1600" i="1">
                              <a:solidFill>
                                <a:srgbClr val="836967"/>
                              </a:solidFill>
                              <a:latin typeface="Cambria Math" panose="02040503050406030204" pitchFamily="18" charset="0"/>
                            </a:rPr>
                          </m:ctrlPr>
                        </m:fPr>
                        <m:num>
                          <m:sSub>
                            <m:sSubPr>
                              <m:ctrlPr>
                                <a:rPr lang="es-AR" sz="1600" i="1">
                                  <a:solidFill>
                                    <a:srgbClr val="836967"/>
                                  </a:solidFill>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num>
                        <m:den>
                          <m:sSub>
                            <m:sSubPr>
                              <m:ctrlPr>
                                <a:rPr lang="es-AR" sz="1600" i="1">
                                  <a:solidFill>
                                    <a:srgbClr val="836967"/>
                                  </a:solidFill>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oMath>
                  </m:oMathPara>
                </a14:m>
                <a:endParaRPr lang="es-AR" dirty="0"/>
              </a:p>
            </p:txBody>
          </p:sp>
        </mc:Choice>
        <mc:Fallback xmlns="">
          <p:sp>
            <p:nvSpPr>
              <p:cNvPr id="24" name="CuadroTexto 23">
                <a:extLst>
                  <a:ext uri="{FF2B5EF4-FFF2-40B4-BE49-F238E27FC236}">
                    <a16:creationId xmlns:a16="http://schemas.microsoft.com/office/drawing/2014/main" id="{8990F4C8-6500-4B50-A15B-AF446869707A}"/>
                  </a:ext>
                </a:extLst>
              </p:cNvPr>
              <p:cNvSpPr txBox="1">
                <a:spLocks noRot="1" noChangeAspect="1" noMove="1" noResize="1" noEditPoints="1" noAdjustHandles="1" noChangeArrowheads="1" noChangeShapeType="1" noTextEdit="1"/>
              </p:cNvSpPr>
              <p:nvPr/>
            </p:nvSpPr>
            <p:spPr>
              <a:xfrm>
                <a:off x="-295369" y="3187823"/>
                <a:ext cx="3143816" cy="621965"/>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203737D7-0139-42C1-AF68-D1A0321BE078}"/>
                  </a:ext>
                </a:extLst>
              </p:cNvPr>
              <p:cNvSpPr txBox="1"/>
              <p:nvPr/>
            </p:nvSpPr>
            <p:spPr>
              <a:xfrm>
                <a:off x="396240" y="3942210"/>
                <a:ext cx="11641880" cy="296363"/>
              </a:xfrm>
              <a:prstGeom prst="rect">
                <a:avLst/>
              </a:prstGeom>
              <a:noFill/>
            </p:spPr>
            <p:txBody>
              <a:bodyPr wrap="square">
                <a:spAutoFit/>
              </a:bodyPr>
              <a:lstStyle/>
              <a:p>
                <a:pPr algn="just">
                  <a:lnSpc>
                    <a:spcPct val="107000"/>
                  </a:lnSpc>
                  <a:spcAft>
                    <a:spcPts val="8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A partir de estos valores, se muestra cómo cambian los polos y ceros del sistema cuando </a:t>
                </a:r>
                <a14:m>
                  <m:oMath xmlns:m="http://schemas.openxmlformats.org/officeDocument/2006/math">
                    <m:sSub>
                      <m:sSub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300">
                                <a:effectLst/>
                                <a:latin typeface="Cambria Math" panose="02040503050406030204" pitchFamily="18" charset="0"/>
                                <a:ea typeface="Calibri" panose="020F0502020204030204" pitchFamily="34" charset="0"/>
                                <a:cs typeface="Times New Roman" panose="02020603050405020304" pitchFamily="18" charset="0"/>
                              </a:rPr>
                              <m:t>∘</m:t>
                            </m:r>
                          </m:sup>
                        </m:sSubSup>
                      </m:e>
                    </m:d>
                  </m:oMath>
                </a14:m>
                <a:r>
                  <a:rPr lang="es-AR" sz="13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300" dirty="0">
                    <a:effectLst/>
                    <a:latin typeface="Calibri" panose="020F0502020204030204" pitchFamily="34" charset="0"/>
                    <a:ea typeface="Calibri" panose="020F0502020204030204" pitchFamily="34" charset="0"/>
                    <a:cs typeface="Times New Roman" panose="02020603050405020304" pitchFamily="18" charset="0"/>
                  </a:rPr>
                  <a:t>varía dentro del intervalo de temperaturas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40℃≤</m:t>
                    </m:r>
                    <m:sSubSup>
                      <m:sSubSup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300" i="1">
                            <a:effectLst/>
                            <a:latin typeface="Cambria Math" panose="02040503050406030204" pitchFamily="18" charset="0"/>
                            <a:ea typeface="Calibri" panose="020F0502020204030204" pitchFamily="34" charset="0"/>
                            <a:cs typeface="Times New Roman" panose="02020603050405020304" pitchFamily="18" charset="0"/>
                          </a:rPr>
                          <m:t>∘</m:t>
                        </m:r>
                      </m:sup>
                    </m:sSubSup>
                    <m:r>
                      <a:rPr lang="es-AR" sz="1300" i="1">
                        <a:effectLst/>
                        <a:latin typeface="Cambria Math" panose="02040503050406030204" pitchFamily="18" charset="0"/>
                        <a:ea typeface="Calibri" panose="020F0502020204030204" pitchFamily="34" charset="0"/>
                        <a:cs typeface="Times New Roman" panose="02020603050405020304" pitchFamily="18" charset="0"/>
                      </a:rPr>
                      <m:t>≤115℃</m:t>
                    </m:r>
                  </m:oMath>
                </a14:m>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5" name="CuadroTexto 24">
                <a:extLst>
                  <a:ext uri="{FF2B5EF4-FFF2-40B4-BE49-F238E27FC236}">
                    <a16:creationId xmlns:a16="http://schemas.microsoft.com/office/drawing/2014/main" id="{203737D7-0139-42C1-AF68-D1A0321BE078}"/>
                  </a:ext>
                </a:extLst>
              </p:cNvPr>
              <p:cNvSpPr txBox="1">
                <a:spLocks noRot="1" noChangeAspect="1" noMove="1" noResize="1" noEditPoints="1" noAdjustHandles="1" noChangeArrowheads="1" noChangeShapeType="1" noTextEdit="1"/>
              </p:cNvSpPr>
              <p:nvPr/>
            </p:nvSpPr>
            <p:spPr>
              <a:xfrm>
                <a:off x="396240" y="3942210"/>
                <a:ext cx="11641880" cy="296363"/>
              </a:xfrm>
              <a:prstGeom prst="rect">
                <a:avLst/>
              </a:prstGeom>
              <a:blipFill>
                <a:blip r:embed="rId5"/>
                <a:stretch>
                  <a:fillRect l="-52" b="-1875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26" name="Tabla 25">
                <a:extLst>
                  <a:ext uri="{FF2B5EF4-FFF2-40B4-BE49-F238E27FC236}">
                    <a16:creationId xmlns:a16="http://schemas.microsoft.com/office/drawing/2014/main" id="{388CE99F-4AB2-4DC1-8B1F-FCAE683AD01E}"/>
                  </a:ext>
                </a:extLst>
              </p:cNvPr>
              <p:cNvGraphicFramePr>
                <a:graphicFrameLocks noGrp="1"/>
              </p:cNvGraphicFramePr>
              <p:nvPr>
                <p:extLst>
                  <p:ext uri="{D42A27DB-BD31-4B8C-83A1-F6EECF244321}">
                    <p14:modId xmlns:p14="http://schemas.microsoft.com/office/powerpoint/2010/main" val="1266397257"/>
                  </p:ext>
                </p:extLst>
              </p:nvPr>
            </p:nvGraphicFramePr>
            <p:xfrm>
              <a:off x="843663" y="4315420"/>
              <a:ext cx="10246832" cy="1821307"/>
            </p:xfrm>
            <a:graphic>
              <a:graphicData uri="http://schemas.openxmlformats.org/drawingml/2006/table">
                <a:tbl>
                  <a:tblPr firstRow="1" firstCol="1" bandRow="1">
                    <a:tableStyleId>{5C22544A-7EE6-4342-B048-85BDC9FD1C3A}</a:tableStyleId>
                  </a:tblPr>
                  <a:tblGrid>
                    <a:gridCol w="987953">
                      <a:extLst>
                        <a:ext uri="{9D8B030D-6E8A-4147-A177-3AD203B41FA5}">
                          <a16:colId xmlns:a16="http://schemas.microsoft.com/office/drawing/2014/main" val="3883032364"/>
                        </a:ext>
                      </a:extLst>
                    </a:gridCol>
                    <a:gridCol w="408236">
                      <a:extLst>
                        <a:ext uri="{9D8B030D-6E8A-4147-A177-3AD203B41FA5}">
                          <a16:colId xmlns:a16="http://schemas.microsoft.com/office/drawing/2014/main" val="3870505782"/>
                        </a:ext>
                      </a:extLst>
                    </a:gridCol>
                    <a:gridCol w="2048924">
                      <a:extLst>
                        <a:ext uri="{9D8B030D-6E8A-4147-A177-3AD203B41FA5}">
                          <a16:colId xmlns:a16="http://schemas.microsoft.com/office/drawing/2014/main" val="4113369535"/>
                        </a:ext>
                      </a:extLst>
                    </a:gridCol>
                    <a:gridCol w="2352058">
                      <a:extLst>
                        <a:ext uri="{9D8B030D-6E8A-4147-A177-3AD203B41FA5}">
                          <a16:colId xmlns:a16="http://schemas.microsoft.com/office/drawing/2014/main" val="1473213662"/>
                        </a:ext>
                      </a:extLst>
                    </a:gridCol>
                    <a:gridCol w="1517885">
                      <a:extLst>
                        <a:ext uri="{9D8B030D-6E8A-4147-A177-3AD203B41FA5}">
                          <a16:colId xmlns:a16="http://schemas.microsoft.com/office/drawing/2014/main" val="416342348"/>
                        </a:ext>
                      </a:extLst>
                    </a:gridCol>
                    <a:gridCol w="1449293">
                      <a:extLst>
                        <a:ext uri="{9D8B030D-6E8A-4147-A177-3AD203B41FA5}">
                          <a16:colId xmlns:a16="http://schemas.microsoft.com/office/drawing/2014/main" val="3312781655"/>
                        </a:ext>
                      </a:extLst>
                    </a:gridCol>
                    <a:gridCol w="1482483">
                      <a:extLst>
                        <a:ext uri="{9D8B030D-6E8A-4147-A177-3AD203B41FA5}">
                          <a16:colId xmlns:a16="http://schemas.microsoft.com/office/drawing/2014/main" val="1123572216"/>
                        </a:ext>
                      </a:extLst>
                    </a:gridCol>
                  </a:tblGrid>
                  <a:tr h="19050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𝑹</m:t>
                                    </m:r>
                                  </m:e>
                                  <m:sub>
                                    <m:r>
                                      <a:rPr lang="es-AR" sz="1200">
                                        <a:effectLst/>
                                        <a:latin typeface="Cambria Math" panose="02040503050406030204" pitchFamily="18" charset="0"/>
                                      </a:rPr>
                                      <m:t>𝒔</m:t>
                                    </m:r>
                                  </m:sub>
                                </m:sSub>
                                <m:d>
                                  <m:dPr>
                                    <m:begChr m:val="["/>
                                    <m:endChr m:val="]"/>
                                    <m:ctrlPr>
                                      <a:rPr lang="es-AR" sz="1200" i="1">
                                        <a:effectLst/>
                                        <a:latin typeface="Cambria Math" panose="02040503050406030204" pitchFamily="18" charset="0"/>
                                      </a:rPr>
                                    </m:ctrlPr>
                                  </m:dPr>
                                  <m:e>
                                    <m:r>
                                      <a:rPr lang="es-AR" sz="1200">
                                        <a:effectLst/>
                                        <a:latin typeface="Cambria Math" panose="02040503050406030204" pitchFamily="18" charset="0"/>
                                      </a:rPr>
                                      <m:t>𝜴</m:t>
                                    </m:r>
                                  </m:e>
                                </m:d>
                              </m:oMath>
                            </m:oMathPara>
                          </a14:m>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P1</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Ceros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m:t>
                                    </m:r>
                                  </m:e>
                                  <m:sub>
                                    <m:r>
                                      <a:rPr lang="es-AR" sz="1200">
                                        <a:effectLst/>
                                        <a:latin typeface="Cambria Math" panose="02040503050406030204" pitchFamily="18" charset="0"/>
                                      </a:rPr>
                                      <m:t>𝒏</m:t>
                                    </m:r>
                                  </m:sub>
                                </m:sSub>
                                <m:d>
                                  <m:dPr>
                                    <m:begChr m:val="["/>
                                    <m:endChr m:val="]"/>
                                    <m:ctrlPr>
                                      <a:rPr lang="es-AR" sz="1200" i="1">
                                        <a:effectLst/>
                                        <a:latin typeface="Cambria Math" panose="02040503050406030204" pitchFamily="18" charset="0"/>
                                      </a:rPr>
                                    </m:ctrlPr>
                                  </m:dPr>
                                  <m:e>
                                    <m:f>
                                      <m:fPr>
                                        <m:type m:val="lin"/>
                                        <m:ctrlPr>
                                          <a:rPr lang="es-AR" sz="1200" i="1">
                                            <a:effectLst/>
                                            <a:latin typeface="Cambria Math" panose="02040503050406030204" pitchFamily="18" charset="0"/>
                                          </a:rPr>
                                        </m:ctrlPr>
                                      </m:fPr>
                                      <m:num>
                                        <m:r>
                                          <a:rPr lang="es-AR" sz="1200">
                                            <a:effectLst/>
                                            <a:latin typeface="Cambria Math" panose="02040503050406030204" pitchFamily="18" charset="0"/>
                                          </a:rPr>
                                          <m:t>𝒓𝒂𝒅</m:t>
                                        </m:r>
                                      </m:num>
                                      <m:den>
                                        <m:r>
                                          <a:rPr lang="es-AR" sz="1200">
                                            <a:effectLst/>
                                            <a:latin typeface="Cambria Math" panose="02040503050406030204" pitchFamily="18" charset="0"/>
                                          </a:rPr>
                                          <m:t>𝒔</m:t>
                                        </m:r>
                                      </m:den>
                                    </m:f>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s-AR" sz="1200">
                                    <a:effectLst/>
                                    <a:latin typeface="Cambria Math" panose="02040503050406030204" pitchFamily="18" charset="0"/>
                                  </a:rPr>
                                  <m:t>𝛇</m:t>
                                </m:r>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155660708"/>
                      </a:ext>
                    </a:extLst>
                  </a:tr>
                  <a:tr h="190500">
                    <a:tc>
                      <a:txBody>
                        <a:bodyPr/>
                        <a:lstStyle/>
                        <a:p>
                          <a:pPr algn="ctr">
                            <a:lnSpc>
                              <a:spcPct val="107000"/>
                            </a:lnSpc>
                            <a:spcAft>
                              <a:spcPts val="800"/>
                            </a:spcAft>
                          </a:pPr>
                          <a:r>
                            <a:rPr lang="es-AR" sz="1200">
                              <a:effectLst/>
                            </a:rPr>
                            <a:t>1.0996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-95.34+145.73i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-95.34+145.73i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-189.5793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174.1481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0.5475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023967520"/>
                      </a:ext>
                    </a:extLst>
                  </a:tr>
                  <a:tr h="190500">
                    <a:tc>
                      <a:txBody>
                        <a:bodyPr/>
                        <a:lstStyle/>
                        <a:p>
                          <a:pPr algn="ctr">
                            <a:lnSpc>
                              <a:spcPct val="107000"/>
                            </a:lnSpc>
                            <a:spcAft>
                              <a:spcPts val="800"/>
                            </a:spcAft>
                          </a:pPr>
                          <a:r>
                            <a:rPr lang="es-AR" sz="1200">
                              <a:effectLst/>
                            </a:rPr>
                            <a:t>1.1393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-98.77+143.45i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-98.77+143.45i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-196.4379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174.1670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0.5671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466757345"/>
                      </a:ext>
                    </a:extLst>
                  </a:tr>
                  <a:tr h="190500">
                    <a:tc>
                      <a:txBody>
                        <a:bodyPr/>
                        <a:lstStyle/>
                        <a:p>
                          <a:pPr algn="ctr">
                            <a:lnSpc>
                              <a:spcPct val="107000"/>
                            </a:lnSpc>
                            <a:spcAft>
                              <a:spcPts val="800"/>
                            </a:spcAft>
                          </a:pPr>
                          <a:r>
                            <a:rPr lang="es-AR" sz="1200">
                              <a:effectLst/>
                            </a:rPr>
                            <a:t>1.1791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-102.20+141.06i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-102.20+141.06i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-203.2966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174.1918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0.5867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4095210522"/>
                      </a:ext>
                    </a:extLst>
                  </a:tr>
                  <a:tr h="190500">
                    <a:tc>
                      <a:txBody>
                        <a:bodyPr/>
                        <a:lstStyle/>
                        <a:p>
                          <a:pPr algn="ctr">
                            <a:lnSpc>
                              <a:spcPct val="107000"/>
                            </a:lnSpc>
                            <a:spcAft>
                              <a:spcPts val="800"/>
                            </a:spcAft>
                          </a:pPr>
                          <a:r>
                            <a:rPr lang="es-AR" sz="1200">
                              <a:effectLst/>
                            </a:rPr>
                            <a:t>1.2189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-105.63+138.54i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-105.63+138.54i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-210.1552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174.2136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0.6063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998511223"/>
                      </a:ext>
                    </a:extLst>
                  </a:tr>
                  <a:tr h="190500">
                    <a:tc>
                      <a:txBody>
                        <a:bodyPr/>
                        <a:lstStyle/>
                        <a:p>
                          <a:pPr algn="ctr">
                            <a:lnSpc>
                              <a:spcPct val="107000"/>
                            </a:lnSpc>
                            <a:spcAft>
                              <a:spcPts val="800"/>
                            </a:spcAft>
                          </a:pPr>
                          <a:r>
                            <a:rPr lang="es-AR" sz="1200">
                              <a:effectLst/>
                            </a:rPr>
                            <a:t>1.2587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-109.06+135.88i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-109.06+135.88i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-217.0138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174.2354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0.6260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939316565"/>
                      </a:ext>
                    </a:extLst>
                  </a:tr>
                  <a:tr h="190500">
                    <a:tc>
                      <a:txBody>
                        <a:bodyPr/>
                        <a:lstStyle/>
                        <a:p>
                          <a:pPr algn="ctr">
                            <a:lnSpc>
                              <a:spcPct val="107000"/>
                            </a:lnSpc>
                            <a:spcAft>
                              <a:spcPts val="800"/>
                            </a:spcAft>
                          </a:pPr>
                          <a:r>
                            <a:rPr lang="es-AR" sz="1200">
                              <a:effectLst/>
                            </a:rPr>
                            <a:t>1.2985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-112.49+133.08i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-112.49+133.08i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-223.8724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174.257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0.6455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631114370"/>
                      </a:ext>
                    </a:extLst>
                  </a:tr>
                  <a:tr h="190500">
                    <a:tc>
                      <a:txBody>
                        <a:bodyPr/>
                        <a:lstStyle/>
                        <a:p>
                          <a:pPr algn="ctr">
                            <a:lnSpc>
                              <a:spcPct val="107000"/>
                            </a:lnSpc>
                            <a:spcAft>
                              <a:spcPts val="800"/>
                            </a:spcAft>
                          </a:pPr>
                          <a:r>
                            <a:rPr lang="es-AR" sz="1200">
                              <a:effectLst/>
                            </a:rPr>
                            <a:t>1.3382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-230.731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0.6651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106183991"/>
                      </a:ext>
                    </a:extLst>
                  </a:tr>
                  <a:tr h="190500">
                    <a:tc>
                      <a:txBody>
                        <a:bodyPr/>
                        <a:lstStyle/>
                        <a:p>
                          <a:pPr algn="ctr">
                            <a:lnSpc>
                              <a:spcPct val="107000"/>
                            </a:lnSpc>
                            <a:spcAft>
                              <a:spcPts val="800"/>
                            </a:spcAft>
                          </a:pPr>
                          <a:r>
                            <a:rPr lang="es-AR" sz="1200">
                              <a:effectLst/>
                            </a:rPr>
                            <a:t>1.3780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-237.5897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174.3009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0.6847</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839363378"/>
                      </a:ext>
                    </a:extLst>
                  </a:tr>
                </a:tbl>
              </a:graphicData>
            </a:graphic>
          </p:graphicFrame>
        </mc:Choice>
        <mc:Fallback xmlns="">
          <p:graphicFrame>
            <p:nvGraphicFramePr>
              <p:cNvPr id="26" name="Tabla 25">
                <a:extLst>
                  <a:ext uri="{FF2B5EF4-FFF2-40B4-BE49-F238E27FC236}">
                    <a16:creationId xmlns:a16="http://schemas.microsoft.com/office/drawing/2014/main" id="{388CE99F-4AB2-4DC1-8B1F-FCAE683AD01E}"/>
                  </a:ext>
                </a:extLst>
              </p:cNvPr>
              <p:cNvGraphicFramePr>
                <a:graphicFrameLocks noGrp="1"/>
              </p:cNvGraphicFramePr>
              <p:nvPr>
                <p:extLst>
                  <p:ext uri="{D42A27DB-BD31-4B8C-83A1-F6EECF244321}">
                    <p14:modId xmlns:p14="http://schemas.microsoft.com/office/powerpoint/2010/main" val="1266397257"/>
                  </p:ext>
                </p:extLst>
              </p:nvPr>
            </p:nvGraphicFramePr>
            <p:xfrm>
              <a:off x="843663" y="4315420"/>
              <a:ext cx="10246832" cy="1821307"/>
            </p:xfrm>
            <a:graphic>
              <a:graphicData uri="http://schemas.openxmlformats.org/drawingml/2006/table">
                <a:tbl>
                  <a:tblPr firstRow="1" firstCol="1" bandRow="1">
                    <a:tableStyleId>{5C22544A-7EE6-4342-B048-85BDC9FD1C3A}</a:tableStyleId>
                  </a:tblPr>
                  <a:tblGrid>
                    <a:gridCol w="987953">
                      <a:extLst>
                        <a:ext uri="{9D8B030D-6E8A-4147-A177-3AD203B41FA5}">
                          <a16:colId xmlns:a16="http://schemas.microsoft.com/office/drawing/2014/main" val="3883032364"/>
                        </a:ext>
                      </a:extLst>
                    </a:gridCol>
                    <a:gridCol w="408236">
                      <a:extLst>
                        <a:ext uri="{9D8B030D-6E8A-4147-A177-3AD203B41FA5}">
                          <a16:colId xmlns:a16="http://schemas.microsoft.com/office/drawing/2014/main" val="3870505782"/>
                        </a:ext>
                      </a:extLst>
                    </a:gridCol>
                    <a:gridCol w="2048924">
                      <a:extLst>
                        <a:ext uri="{9D8B030D-6E8A-4147-A177-3AD203B41FA5}">
                          <a16:colId xmlns:a16="http://schemas.microsoft.com/office/drawing/2014/main" val="4113369535"/>
                        </a:ext>
                      </a:extLst>
                    </a:gridCol>
                    <a:gridCol w="2352058">
                      <a:extLst>
                        <a:ext uri="{9D8B030D-6E8A-4147-A177-3AD203B41FA5}">
                          <a16:colId xmlns:a16="http://schemas.microsoft.com/office/drawing/2014/main" val="1473213662"/>
                        </a:ext>
                      </a:extLst>
                    </a:gridCol>
                    <a:gridCol w="1517885">
                      <a:extLst>
                        <a:ext uri="{9D8B030D-6E8A-4147-A177-3AD203B41FA5}">
                          <a16:colId xmlns:a16="http://schemas.microsoft.com/office/drawing/2014/main" val="416342348"/>
                        </a:ext>
                      </a:extLst>
                    </a:gridCol>
                    <a:gridCol w="1449293">
                      <a:extLst>
                        <a:ext uri="{9D8B030D-6E8A-4147-A177-3AD203B41FA5}">
                          <a16:colId xmlns:a16="http://schemas.microsoft.com/office/drawing/2014/main" val="3312781655"/>
                        </a:ext>
                      </a:extLst>
                    </a:gridCol>
                    <a:gridCol w="1482483">
                      <a:extLst>
                        <a:ext uri="{9D8B030D-6E8A-4147-A177-3AD203B41FA5}">
                          <a16:colId xmlns:a16="http://schemas.microsoft.com/office/drawing/2014/main" val="1123572216"/>
                        </a:ext>
                      </a:extLst>
                    </a:gridCol>
                  </a:tblGrid>
                  <a:tr h="297307">
                    <a:tc>
                      <a:txBody>
                        <a:bodyPr/>
                        <a:lstStyle/>
                        <a:p>
                          <a:endParaRPr lang="es-AR"/>
                        </a:p>
                      </a:txBody>
                      <a:tcPr marL="44450" marR="44450" marT="0" marB="0" anchor="b">
                        <a:blipFill>
                          <a:blip r:embed="rId6"/>
                          <a:stretch>
                            <a:fillRect l="-617" t="-100000" r="-940741" b="-542857"/>
                          </a:stretch>
                        </a:blipFill>
                      </a:tcPr>
                    </a:tc>
                    <a:tc>
                      <a:txBody>
                        <a:bodyPr/>
                        <a:lstStyle/>
                        <a:p>
                          <a:pPr algn="ctr">
                            <a:lnSpc>
                              <a:spcPct val="107000"/>
                            </a:lnSpc>
                            <a:spcAft>
                              <a:spcPts val="800"/>
                            </a:spcAft>
                          </a:pPr>
                          <a:r>
                            <a:rPr lang="es-AR" sz="1200" dirty="0">
                              <a:effectLst/>
                            </a:rPr>
                            <a:t>P1</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Ceros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endParaRPr lang="es-AR"/>
                        </a:p>
                      </a:txBody>
                      <a:tcPr marL="44450" marR="44450" marT="0" marB="0" anchor="b">
                        <a:blipFill>
                          <a:blip r:embed="rId6"/>
                          <a:stretch>
                            <a:fillRect l="-505042" t="-100000" r="-103782" b="-542857"/>
                          </a:stretch>
                        </a:blipFill>
                      </a:tcPr>
                    </a:tc>
                    <a:tc>
                      <a:txBody>
                        <a:bodyPr/>
                        <a:lstStyle/>
                        <a:p>
                          <a:endParaRPr lang="es-AR"/>
                        </a:p>
                      </a:txBody>
                      <a:tcPr marL="44450" marR="44450" marT="0" marB="0" anchor="b">
                        <a:blipFill>
                          <a:blip r:embed="rId6"/>
                          <a:stretch>
                            <a:fillRect l="-592593" t="-100000" r="-1646" b="-542857"/>
                          </a:stretch>
                        </a:blipFill>
                      </a:tcPr>
                    </a:tc>
                    <a:extLst>
                      <a:ext uri="{0D108BD9-81ED-4DB2-BD59-A6C34878D82A}">
                        <a16:rowId xmlns:a16="http://schemas.microsoft.com/office/drawing/2014/main" val="2155660708"/>
                      </a:ext>
                    </a:extLst>
                  </a:tr>
                  <a:tr h="190500">
                    <a:tc>
                      <a:txBody>
                        <a:bodyPr/>
                        <a:lstStyle/>
                        <a:p>
                          <a:pPr algn="ctr">
                            <a:lnSpc>
                              <a:spcPct val="107000"/>
                            </a:lnSpc>
                            <a:spcAft>
                              <a:spcPts val="800"/>
                            </a:spcAft>
                          </a:pPr>
                          <a:r>
                            <a:rPr lang="es-AR" sz="1200">
                              <a:effectLst/>
                            </a:rPr>
                            <a:t>1.0996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-95.34+145.73i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-95.34+145.73i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-189.5793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174.1481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0.5475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023967520"/>
                      </a:ext>
                    </a:extLst>
                  </a:tr>
                  <a:tr h="190500">
                    <a:tc>
                      <a:txBody>
                        <a:bodyPr/>
                        <a:lstStyle/>
                        <a:p>
                          <a:pPr algn="ctr">
                            <a:lnSpc>
                              <a:spcPct val="107000"/>
                            </a:lnSpc>
                            <a:spcAft>
                              <a:spcPts val="800"/>
                            </a:spcAft>
                          </a:pPr>
                          <a:r>
                            <a:rPr lang="es-AR" sz="1200">
                              <a:effectLst/>
                            </a:rPr>
                            <a:t>1.1393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-98.77+143.45i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-98.77+143.45i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-196.4379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174.1670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0.5671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466757345"/>
                      </a:ext>
                    </a:extLst>
                  </a:tr>
                  <a:tr h="190500">
                    <a:tc>
                      <a:txBody>
                        <a:bodyPr/>
                        <a:lstStyle/>
                        <a:p>
                          <a:pPr algn="ctr">
                            <a:lnSpc>
                              <a:spcPct val="107000"/>
                            </a:lnSpc>
                            <a:spcAft>
                              <a:spcPts val="800"/>
                            </a:spcAft>
                          </a:pPr>
                          <a:r>
                            <a:rPr lang="es-AR" sz="1200">
                              <a:effectLst/>
                            </a:rPr>
                            <a:t>1.1791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-102.20+141.06i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-102.20+141.06i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-203.2966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174.1918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0.5867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4095210522"/>
                      </a:ext>
                    </a:extLst>
                  </a:tr>
                  <a:tr h="190500">
                    <a:tc>
                      <a:txBody>
                        <a:bodyPr/>
                        <a:lstStyle/>
                        <a:p>
                          <a:pPr algn="ctr">
                            <a:lnSpc>
                              <a:spcPct val="107000"/>
                            </a:lnSpc>
                            <a:spcAft>
                              <a:spcPts val="800"/>
                            </a:spcAft>
                          </a:pPr>
                          <a:r>
                            <a:rPr lang="es-AR" sz="1200">
                              <a:effectLst/>
                            </a:rPr>
                            <a:t>1.2189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-105.63+138.54i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-105.63+138.54i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-210.1552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174.2136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0.6063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998511223"/>
                      </a:ext>
                    </a:extLst>
                  </a:tr>
                  <a:tr h="190500">
                    <a:tc>
                      <a:txBody>
                        <a:bodyPr/>
                        <a:lstStyle/>
                        <a:p>
                          <a:pPr algn="ctr">
                            <a:lnSpc>
                              <a:spcPct val="107000"/>
                            </a:lnSpc>
                            <a:spcAft>
                              <a:spcPts val="800"/>
                            </a:spcAft>
                          </a:pPr>
                          <a:r>
                            <a:rPr lang="es-AR" sz="1200">
                              <a:effectLst/>
                            </a:rPr>
                            <a:t>1.2587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-109.06+135.88i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-109.06+135.88i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-217.0138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174.2354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0.6260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939316565"/>
                      </a:ext>
                    </a:extLst>
                  </a:tr>
                  <a:tr h="190500">
                    <a:tc>
                      <a:txBody>
                        <a:bodyPr/>
                        <a:lstStyle/>
                        <a:p>
                          <a:pPr algn="ctr">
                            <a:lnSpc>
                              <a:spcPct val="107000"/>
                            </a:lnSpc>
                            <a:spcAft>
                              <a:spcPts val="800"/>
                            </a:spcAft>
                          </a:pPr>
                          <a:r>
                            <a:rPr lang="es-AR" sz="1200">
                              <a:effectLst/>
                            </a:rPr>
                            <a:t>1.2985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-112.49+133.08i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-112.49+133.08i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-223.8724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174.257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0.6455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631114370"/>
                      </a:ext>
                    </a:extLst>
                  </a:tr>
                  <a:tr h="190500">
                    <a:tc>
                      <a:txBody>
                        <a:bodyPr/>
                        <a:lstStyle/>
                        <a:p>
                          <a:pPr algn="ctr">
                            <a:lnSpc>
                              <a:spcPct val="107000"/>
                            </a:lnSpc>
                            <a:spcAft>
                              <a:spcPts val="800"/>
                            </a:spcAft>
                          </a:pPr>
                          <a:r>
                            <a:rPr lang="es-AR" sz="1200">
                              <a:effectLst/>
                            </a:rPr>
                            <a:t>1.3382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-230.731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0.6651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106183991"/>
                      </a:ext>
                    </a:extLst>
                  </a:tr>
                  <a:tr h="190500">
                    <a:tc>
                      <a:txBody>
                        <a:bodyPr/>
                        <a:lstStyle/>
                        <a:p>
                          <a:pPr algn="ctr">
                            <a:lnSpc>
                              <a:spcPct val="107000"/>
                            </a:lnSpc>
                            <a:spcAft>
                              <a:spcPts val="800"/>
                            </a:spcAft>
                          </a:pPr>
                          <a:r>
                            <a:rPr lang="es-AR" sz="1200">
                              <a:effectLst/>
                            </a:rPr>
                            <a:t>1.3780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-237.5897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174.3009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0.6847</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839363378"/>
                      </a:ext>
                    </a:extLst>
                  </a:tr>
                </a:tbl>
              </a:graphicData>
            </a:graphic>
          </p:graphicFrame>
        </mc:Fallback>
      </mc:AlternateContent>
      <p:sp>
        <p:nvSpPr>
          <p:cNvPr id="14" name="Shape 2">
            <a:extLst>
              <a:ext uri="{FF2B5EF4-FFF2-40B4-BE49-F238E27FC236}">
                <a16:creationId xmlns:a16="http://schemas.microsoft.com/office/drawing/2014/main" id="{713C4DB4-2557-4CC5-B40B-56F18396611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159E7C06-6CD3-4BE1-8A88-E83C2573745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5777917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409109" cy="415498"/>
          </a:xfrm>
          <a:prstGeom prst="rect">
            <a:avLst/>
          </a:prstGeom>
          <a:noFill/>
        </p:spPr>
        <p:txBody>
          <a:bodyPr wrap="none">
            <a:spAutoFit/>
          </a:bodyPr>
          <a:lstStyle/>
          <a:p>
            <a:pPr algn="l"/>
            <a:r>
              <a:rPr lang="es-AR" sz="2100" b="1" dirty="0">
                <a:solidFill>
                  <a:srgbClr val="FFFFFF"/>
                </a:solidFill>
                <a:latin typeface="Cambria"/>
              </a:rPr>
              <a:t>Estabilidad a lazo abierto para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p:sp>
        <p:nvSpPr>
          <p:cNvPr id="19" name="CuadroTexto 18">
            <a:extLst>
              <a:ext uri="{FF2B5EF4-FFF2-40B4-BE49-F238E27FC236}">
                <a16:creationId xmlns:a16="http://schemas.microsoft.com/office/drawing/2014/main" id="{A0563E09-CD90-43F3-BEE4-4FEC9CEFD601}"/>
              </a:ext>
            </a:extLst>
          </p:cNvPr>
          <p:cNvSpPr txBox="1"/>
          <p:nvPr/>
        </p:nvSpPr>
        <p:spPr>
          <a:xfrm>
            <a:off x="-641887" y="5849803"/>
            <a:ext cx="7705288" cy="261610"/>
          </a:xfrm>
          <a:prstGeom prst="rect">
            <a:avLst/>
          </a:prstGeom>
          <a:noFill/>
        </p:spPr>
        <p:txBody>
          <a:bodyPr wrap="square">
            <a:spAutoFit/>
          </a:bodyP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12— </a:t>
            </a:r>
            <a:r>
              <a:rPr lang="en-US" sz="1100" i="1" dirty="0" err="1">
                <a:solidFill>
                  <a:srgbClr val="224488"/>
                </a:solidFill>
                <a:latin typeface="Calibri" pitchFamily="34" charset="0"/>
                <a:ea typeface="Calibri" pitchFamily="34" charset="-122"/>
                <a:cs typeface="Calibri" pitchFamily="34" charset="-120"/>
              </a:rPr>
              <a:t>Variación</a:t>
            </a:r>
            <a:r>
              <a:rPr lang="en-US" sz="1100" i="1" dirty="0">
                <a:solidFill>
                  <a:srgbClr val="224488"/>
                </a:solidFill>
                <a:latin typeface="Calibri" pitchFamily="34" charset="0"/>
                <a:ea typeface="Calibri" pitchFamily="34" charset="-122"/>
                <a:cs typeface="Calibri" pitchFamily="34" charset="-120"/>
              </a:rPr>
              <a:t> de polos y ceros con Ts</a:t>
            </a:r>
            <a:endParaRPr lang="en-US" sz="1100" dirty="0"/>
          </a:p>
        </p:txBody>
      </p:sp>
      <p:pic>
        <p:nvPicPr>
          <p:cNvPr id="11" name="Imagen 10">
            <a:extLst>
              <a:ext uri="{FF2B5EF4-FFF2-40B4-BE49-F238E27FC236}">
                <a16:creationId xmlns:a16="http://schemas.microsoft.com/office/drawing/2014/main" id="{62180780-1F54-455F-B9EA-61B266E1E4F7}"/>
              </a:ext>
            </a:extLst>
          </p:cNvPr>
          <p:cNvPicPr>
            <a:picLocks noChangeAspect="1"/>
          </p:cNvPicPr>
          <p:nvPr/>
        </p:nvPicPr>
        <p:blipFill>
          <a:blip r:embed="rId2"/>
          <a:stretch>
            <a:fillRect/>
          </a:stretch>
        </p:blipFill>
        <p:spPr>
          <a:xfrm>
            <a:off x="114700" y="777240"/>
            <a:ext cx="6192114" cy="4953691"/>
          </a:xfrm>
          <a:prstGeom prst="rect">
            <a:avLst/>
          </a:prstGeom>
        </p:spPr>
      </p:pic>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7F7D81D3-F92F-4F11-A865-EF75714EDBDC}"/>
                  </a:ext>
                </a:extLst>
              </p:cNvPr>
              <p:cNvSpPr txBox="1"/>
              <p:nvPr/>
            </p:nvSpPr>
            <p:spPr>
              <a:xfrm>
                <a:off x="6489576" y="955610"/>
                <a:ext cx="5504156" cy="4770537"/>
              </a:xfrm>
              <a:prstGeom prst="rect">
                <a:avLst/>
              </a:prstGeom>
              <a:noFill/>
            </p:spPr>
            <p:txBody>
              <a:bodyPr wrap="square">
                <a:spAutoFit/>
              </a:bodyPr>
              <a:lstStyle/>
              <a:p>
                <a:r>
                  <a:rPr lang="es-AR" sz="1600" dirty="0">
                    <a:effectLst/>
                    <a:latin typeface="Calibri" panose="020F0502020204030204" pitchFamily="34" charset="0"/>
                    <a:ea typeface="Calibri" panose="020F0502020204030204" pitchFamily="34" charset="0"/>
                    <a:cs typeface="Times New Roman" panose="02020603050405020304" pitchFamily="18" charset="0"/>
                  </a:rPr>
                  <a:t>El sistema presenta polos con parte real negativa en todos los casos analizados, lo que indica que el modelo es estable en las condiciones consideradas. </a:t>
                </a:r>
              </a:p>
              <a:p>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600" dirty="0">
                    <a:effectLst/>
                    <a:latin typeface="Calibri" panose="020F0502020204030204" pitchFamily="34" charset="0"/>
                    <a:ea typeface="Calibri" panose="020F0502020204030204" pitchFamily="34" charset="0"/>
                    <a:cs typeface="Times New Roman" panose="02020603050405020304" pitchFamily="18" charset="0"/>
                  </a:rPr>
                  <a:t>Se observa que el incremento de la resistencia estatórica </a:t>
                </a:r>
                <a14:m>
                  <m:oMath xmlns:m="http://schemas.openxmlformats.org/officeDocument/2006/math">
                    <m:sSub>
                      <m:sSubPr>
                        <m:ctrlPr>
                          <a:rPr lang="es-AR" sz="160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oMath>
                </a14:m>
                <a:r>
                  <a:rPr lang="es-AR" sz="1600" dirty="0">
                    <a:effectLst/>
                    <a:latin typeface="Calibri" panose="020F0502020204030204" pitchFamily="34" charset="0"/>
                    <a:ea typeface="Calibri" panose="020F0502020204030204" pitchFamily="34" charset="0"/>
                    <a:cs typeface="Times New Roman" panose="02020603050405020304" pitchFamily="18" charset="0"/>
                  </a:rPr>
                  <a:t> produce un aumento del amortiguamiento del sistema, disminuyendo la magnitud de las oscilaciones y mejorando el comportamiento transitorio. </a:t>
                </a:r>
              </a:p>
              <a:p>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600" dirty="0">
                    <a:effectLst/>
                    <a:latin typeface="Calibri" panose="020F0502020204030204" pitchFamily="34" charset="0"/>
                    <a:ea typeface="Calibri" panose="020F0502020204030204" pitchFamily="34" charset="0"/>
                    <a:cs typeface="Times New Roman" panose="02020603050405020304" pitchFamily="18" charset="0"/>
                  </a:rPr>
                  <a:t>No obstante, la frecuencia natural </a:t>
                </a:r>
                <a14:m>
                  <m:oMath xmlns:m="http://schemas.openxmlformats.org/officeDocument/2006/math">
                    <m:sSub>
                      <m:sSubPr>
                        <m:ctrlPr>
                          <a:rPr lang="es-AR" sz="160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s-AR" sz="1600" dirty="0">
                    <a:effectLst/>
                    <a:latin typeface="Calibri" panose="020F0502020204030204" pitchFamily="34" charset="0"/>
                    <a:ea typeface="Calibri" panose="020F0502020204030204" pitchFamily="34" charset="0"/>
                    <a:cs typeface="Times New Roman" panose="02020603050405020304" pitchFamily="18" charset="0"/>
                  </a:rPr>
                  <a:t>​ permanece prácticamente inalterada ante estas variaciones. </a:t>
                </a:r>
              </a:p>
              <a:p>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600" dirty="0">
                    <a:effectLst/>
                    <a:latin typeface="Calibri" panose="020F0502020204030204" pitchFamily="34" charset="0"/>
                    <a:ea typeface="Calibri" panose="020F0502020204030204" pitchFamily="34" charset="0"/>
                    <a:cs typeface="Times New Roman" panose="02020603050405020304" pitchFamily="18" charset="0"/>
                  </a:rPr>
                  <a:t>Si el valor de </a:t>
                </a:r>
                <a14:m>
                  <m:oMath xmlns:m="http://schemas.openxmlformats.org/officeDocument/2006/math">
                    <m:sSub>
                      <m:sSubPr>
                        <m:ctrlPr>
                          <a:rPr lang="es-AR" sz="160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oMath>
                </a14:m>
                <a:r>
                  <a:rPr lang="es-AR" sz="1600" dirty="0">
                    <a:effectLst/>
                    <a:latin typeface="Calibri" panose="020F0502020204030204" pitchFamily="34" charset="0"/>
                    <a:ea typeface="Calibri" panose="020F0502020204030204" pitchFamily="34" charset="0"/>
                    <a:cs typeface="Times New Roman" panose="02020603050405020304" pitchFamily="18" charset="0"/>
                  </a:rPr>
                  <a:t> se incrementa excesivamente, el sistema puede tender a un comportamiento sobre amortiguado, lo que implicaría una reducción en la rapidez de respuesta. </a:t>
                </a:r>
              </a:p>
              <a:p>
                <a:endParaRPr lang="es-AR" sz="1600" dirty="0">
                  <a:latin typeface="Calibri" panose="020F0502020204030204" pitchFamily="34" charset="0"/>
                  <a:cs typeface="Times New Roman" panose="02020603050405020304" pitchFamily="18" charset="0"/>
                </a:endParaRPr>
              </a:p>
              <a:p>
                <a:r>
                  <a:rPr lang="es-MX" sz="1600" dirty="0">
                    <a:solidFill>
                      <a:srgbClr val="1A1A2E"/>
                    </a:solidFill>
                    <a:latin typeface="Calibri"/>
                  </a:rPr>
                  <a:t>El polo s₁=0 (integrador de posición) se estabilizará con el lazo cerrado del controlador PID externo</a:t>
                </a:r>
              </a:p>
              <a:p>
                <a:endParaRPr lang="es-AR" sz="1600" dirty="0"/>
              </a:p>
            </p:txBody>
          </p:sp>
        </mc:Choice>
        <mc:Fallback xmlns="">
          <p:sp>
            <p:nvSpPr>
              <p:cNvPr id="21" name="CuadroTexto 20">
                <a:extLst>
                  <a:ext uri="{FF2B5EF4-FFF2-40B4-BE49-F238E27FC236}">
                    <a16:creationId xmlns:a16="http://schemas.microsoft.com/office/drawing/2014/main" id="{7F7D81D3-F92F-4F11-A865-EF75714EDBDC}"/>
                  </a:ext>
                </a:extLst>
              </p:cNvPr>
              <p:cNvSpPr txBox="1">
                <a:spLocks noRot="1" noChangeAspect="1" noMove="1" noResize="1" noEditPoints="1" noAdjustHandles="1" noChangeArrowheads="1" noChangeShapeType="1" noTextEdit="1"/>
              </p:cNvSpPr>
              <p:nvPr/>
            </p:nvSpPr>
            <p:spPr>
              <a:xfrm>
                <a:off x="6489576" y="955610"/>
                <a:ext cx="5504156" cy="4770537"/>
              </a:xfrm>
              <a:prstGeom prst="rect">
                <a:avLst/>
              </a:prstGeom>
              <a:blipFill>
                <a:blip r:embed="rId3"/>
                <a:stretch>
                  <a:fillRect l="-665" t="-384" r="-1330"/>
                </a:stretch>
              </a:blipFill>
            </p:spPr>
            <p:txBody>
              <a:bodyPr/>
              <a:lstStyle/>
              <a:p>
                <a:r>
                  <a:rPr lang="es-AR">
                    <a:noFill/>
                  </a:rPr>
                  <a:t> </a:t>
                </a:r>
              </a:p>
            </p:txBody>
          </p:sp>
        </mc:Fallback>
      </mc:AlternateContent>
      <p:sp>
        <p:nvSpPr>
          <p:cNvPr id="9" name="Shape 2">
            <a:extLst>
              <a:ext uri="{FF2B5EF4-FFF2-40B4-BE49-F238E27FC236}">
                <a16:creationId xmlns:a16="http://schemas.microsoft.com/office/drawing/2014/main" id="{C08E497B-ECA8-4D23-BF7F-9E20B033DA4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626B81D0-53DF-485F-BB96-6AED60AE41F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552357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62180780-1F54-455F-B9EA-61B266E1E4F7}"/>
              </a:ext>
            </a:extLst>
          </p:cNvPr>
          <p:cNvPicPr>
            <a:picLocks noChangeAspect="1"/>
          </p:cNvPicPr>
          <p:nvPr/>
        </p:nvPicPr>
        <p:blipFill>
          <a:blip r:embed="rId2"/>
          <a:srcRect/>
          <a:stretch/>
        </p:blipFill>
        <p:spPr>
          <a:xfrm>
            <a:off x="0" y="658369"/>
            <a:ext cx="5372395" cy="4196880"/>
          </a:xfrm>
          <a:prstGeom prst="rect">
            <a:avLst/>
          </a:prstGeom>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409109" cy="415498"/>
          </a:xfrm>
          <a:prstGeom prst="rect">
            <a:avLst/>
          </a:prstGeom>
          <a:noFill/>
        </p:spPr>
        <p:txBody>
          <a:bodyPr wrap="none">
            <a:spAutoFit/>
          </a:bodyPr>
          <a:lstStyle/>
          <a:p>
            <a:pPr algn="l"/>
            <a:r>
              <a:rPr lang="es-AR" sz="2100" b="1" dirty="0">
                <a:solidFill>
                  <a:srgbClr val="FFFFFF"/>
                </a:solidFill>
                <a:latin typeface="Cambria"/>
              </a:rPr>
              <a:t>Estabilidad a lazo abierto para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A0563E09-CD90-43F3-BEE4-4FEC9CEFD601}"/>
                  </a:ext>
                </a:extLst>
              </p:cNvPr>
              <p:cNvSpPr txBox="1"/>
              <p:nvPr/>
            </p:nvSpPr>
            <p:spPr>
              <a:xfrm>
                <a:off x="819260" y="4871784"/>
                <a:ext cx="4035141" cy="44602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12— Variación de polos y ceros con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𝑏</m:t>
                        </m:r>
                      </m:e>
                      <m:sub>
                        <m:r>
                          <a:rPr lang="es-AR" sz="1100" i="1">
                            <a:solidFill>
                              <a:srgbClr val="224488"/>
                            </a:solidFill>
                            <a:latin typeface="Cambria Math" panose="02040503050406030204" pitchFamily="18" charset="0"/>
                            <a:ea typeface="Calibri" pitchFamily="34" charset="-122"/>
                            <a:cs typeface="Calibri" pitchFamily="34" charset="-120"/>
                          </a:rPr>
                          <m:t>𝑒𝑞</m:t>
                        </m:r>
                      </m:sub>
                    </m:sSub>
                  </m:oMath>
                </a14:m>
                <a:r>
                  <a:rPr lang="es-AR" sz="1100" i="1" dirty="0">
                    <a:solidFill>
                      <a:srgbClr val="224488"/>
                    </a:solidFill>
                    <a:latin typeface="Calibri" pitchFamily="34" charset="0"/>
                    <a:ea typeface="Calibri" pitchFamily="34" charset="-122"/>
                    <a:cs typeface="Calibri" pitchFamily="34" charset="-120"/>
                  </a:rPr>
                  <a:t> y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𝐽</m:t>
                        </m:r>
                      </m:e>
                      <m:sub>
                        <m:r>
                          <a:rPr lang="es-AR" sz="1100" i="1">
                            <a:solidFill>
                              <a:srgbClr val="224488"/>
                            </a:solidFill>
                            <a:latin typeface="Cambria Math" panose="02040503050406030204" pitchFamily="18" charset="0"/>
                            <a:ea typeface="Calibri" pitchFamily="34" charset="-122"/>
                            <a:cs typeface="Calibri" pitchFamily="34" charset="-120"/>
                          </a:rPr>
                          <m:t>𝑒𝑞</m:t>
                        </m:r>
                      </m:sub>
                    </m:sSub>
                  </m:oMath>
                </a14:m>
                <a:endParaRPr lang="es-AR" sz="1100" i="1" dirty="0">
                  <a:solidFill>
                    <a:srgbClr val="224488"/>
                  </a:solidFill>
                  <a:latin typeface="Calibri" pitchFamily="34" charset="0"/>
                  <a:ea typeface="Calibri" pitchFamily="34" charset="-122"/>
                  <a:cs typeface="Calibri" pitchFamily="34" charset="-120"/>
                </a:endParaRPr>
              </a:p>
              <a:p>
                <a:pPr marL="0" indent="0" algn="ctr">
                  <a:buNone/>
                </a:pPr>
                <a:endParaRPr lang="en-US" sz="1100" dirty="0"/>
              </a:p>
            </p:txBody>
          </p:sp>
        </mc:Choice>
        <mc:Fallback xmlns="">
          <p:sp>
            <p:nvSpPr>
              <p:cNvPr id="19" name="CuadroTexto 18">
                <a:extLst>
                  <a:ext uri="{FF2B5EF4-FFF2-40B4-BE49-F238E27FC236}">
                    <a16:creationId xmlns:a16="http://schemas.microsoft.com/office/drawing/2014/main" id="{A0563E09-CD90-43F3-BEE4-4FEC9CEFD601}"/>
                  </a:ext>
                </a:extLst>
              </p:cNvPr>
              <p:cNvSpPr txBox="1">
                <a:spLocks noRot="1" noChangeAspect="1" noMove="1" noResize="1" noEditPoints="1" noAdjustHandles="1" noChangeArrowheads="1" noChangeShapeType="1" noTextEdit="1"/>
              </p:cNvSpPr>
              <p:nvPr/>
            </p:nvSpPr>
            <p:spPr>
              <a:xfrm>
                <a:off x="819260" y="4871784"/>
                <a:ext cx="4035141" cy="446020"/>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F3149C70-2F2B-4F86-A50E-7C7A8B289E15}"/>
                  </a:ext>
                </a:extLst>
              </p:cNvPr>
              <p:cNvSpPr txBox="1"/>
              <p:nvPr/>
            </p:nvSpPr>
            <p:spPr>
              <a:xfrm>
                <a:off x="5939161" y="835466"/>
                <a:ext cx="5978214" cy="1444498"/>
              </a:xfrm>
              <a:prstGeom prst="rect">
                <a:avLst/>
              </a:prstGeom>
              <a:noFill/>
            </p:spPr>
            <p:txBody>
              <a:bodyPr wrap="square">
                <a:spAutoFit/>
              </a:bodyPr>
              <a:lstStyle/>
              <a:p>
                <a:pPr algn="just">
                  <a:lnSpc>
                    <a:spcPct val="107000"/>
                  </a:lnSpc>
                  <a:spcAft>
                    <a:spcPts val="800"/>
                  </a:spcAft>
                </a:pPr>
                <a:r>
                  <a:rPr lang="es-AR" sz="1600" dirty="0">
                    <a:latin typeface="Calibri" panose="020F0502020204030204" pitchFamily="34" charset="0"/>
                    <a:ea typeface="Calibri" panose="020F0502020204030204" pitchFamily="34" charset="0"/>
                    <a:cs typeface="Times New Roman" panose="02020603050405020304" pitchFamily="18" charset="0"/>
                  </a:rPr>
                  <a:t>Asimismo, es posible estudiar la influencia de las variaciones en los parámetros mecánicos equivalentes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𝑏</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y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𝐽</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Para ello, se consideran los valores nominales, mínimos y máximos asociados a la carga y fricción del sistema, manteniendo fija la temperatura de referencia en </a:t>
                </a:r>
                <a14:m>
                  <m:oMath xmlns:m="http://schemas.openxmlformats.org/officeDocument/2006/math">
                    <m:r>
                      <a:rPr lang="es-AR" sz="1600">
                        <a:latin typeface="Cambria Math" panose="02040503050406030204" pitchFamily="18" charset="0"/>
                        <a:ea typeface="Calibri" panose="020F0502020204030204" pitchFamily="34" charset="0"/>
                        <a:cs typeface="Times New Roman" panose="02020603050405020304" pitchFamily="18" charset="0"/>
                      </a:rPr>
                      <m:t>40℃</m:t>
                    </m:r>
                  </m:oMath>
                </a14:m>
                <a:r>
                  <a:rPr lang="es-AR" sz="1600" dirty="0">
                    <a:latin typeface="Calibri" panose="020F0502020204030204" pitchFamily="34" charset="0"/>
                    <a:ea typeface="Calibri" panose="020F0502020204030204" pitchFamily="34" charset="0"/>
                    <a:cs typeface="Times New Roman" panose="02020603050405020304" pitchFamily="18" charset="0"/>
                  </a:rPr>
                  <a:t>.</a:t>
                </a:r>
              </a:p>
            </p:txBody>
          </p:sp>
        </mc:Choice>
        <mc:Fallback xmlns="">
          <p:sp>
            <p:nvSpPr>
              <p:cNvPr id="10" name="CuadroTexto 9">
                <a:extLst>
                  <a:ext uri="{FF2B5EF4-FFF2-40B4-BE49-F238E27FC236}">
                    <a16:creationId xmlns:a16="http://schemas.microsoft.com/office/drawing/2014/main" id="{F3149C70-2F2B-4F86-A50E-7C7A8B289E15}"/>
                  </a:ext>
                </a:extLst>
              </p:cNvPr>
              <p:cNvSpPr txBox="1">
                <a:spLocks noRot="1" noChangeAspect="1" noMove="1" noResize="1" noEditPoints="1" noAdjustHandles="1" noChangeArrowheads="1" noChangeShapeType="1" noTextEdit="1"/>
              </p:cNvSpPr>
              <p:nvPr/>
            </p:nvSpPr>
            <p:spPr>
              <a:xfrm>
                <a:off x="5939161" y="835466"/>
                <a:ext cx="5978214" cy="1444498"/>
              </a:xfrm>
              <a:prstGeom prst="rect">
                <a:avLst/>
              </a:prstGeom>
              <a:blipFill>
                <a:blip r:embed="rId4"/>
                <a:stretch>
                  <a:fillRect l="-510" t="-844" r="-612" b="-295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7" name="Tabla 6">
                <a:extLst>
                  <a:ext uri="{FF2B5EF4-FFF2-40B4-BE49-F238E27FC236}">
                    <a16:creationId xmlns:a16="http://schemas.microsoft.com/office/drawing/2014/main" id="{581EDC3F-148D-4511-BA46-CE047304E510}"/>
                  </a:ext>
                </a:extLst>
              </p:cNvPr>
              <p:cNvGraphicFramePr>
                <a:graphicFrameLocks noGrp="1"/>
              </p:cNvGraphicFramePr>
              <p:nvPr>
                <p:extLst>
                  <p:ext uri="{D42A27DB-BD31-4B8C-83A1-F6EECF244321}">
                    <p14:modId xmlns:p14="http://schemas.microsoft.com/office/powerpoint/2010/main" val="2027296961"/>
                  </p:ext>
                </p:extLst>
              </p:nvPr>
            </p:nvGraphicFramePr>
            <p:xfrm>
              <a:off x="3567356" y="5179873"/>
              <a:ext cx="8560728" cy="1363136"/>
            </p:xfrm>
            <a:graphic>
              <a:graphicData uri="http://schemas.openxmlformats.org/drawingml/2006/table">
                <a:tbl>
                  <a:tblPr firstRow="1" firstCol="1" bandRow="1">
                    <a:tableStyleId>{5C22544A-7EE6-4342-B048-85BDC9FD1C3A}</a:tableStyleId>
                  </a:tblPr>
                  <a:tblGrid>
                    <a:gridCol w="1535837">
                      <a:extLst>
                        <a:ext uri="{9D8B030D-6E8A-4147-A177-3AD203B41FA5}">
                          <a16:colId xmlns:a16="http://schemas.microsoft.com/office/drawing/2014/main" val="2802378481"/>
                        </a:ext>
                      </a:extLst>
                    </a:gridCol>
                    <a:gridCol w="976544">
                      <a:extLst>
                        <a:ext uri="{9D8B030D-6E8A-4147-A177-3AD203B41FA5}">
                          <a16:colId xmlns:a16="http://schemas.microsoft.com/office/drawing/2014/main" val="2036341126"/>
                        </a:ext>
                      </a:extLst>
                    </a:gridCol>
                    <a:gridCol w="1136341">
                      <a:extLst>
                        <a:ext uri="{9D8B030D-6E8A-4147-A177-3AD203B41FA5}">
                          <a16:colId xmlns:a16="http://schemas.microsoft.com/office/drawing/2014/main" val="2330340701"/>
                        </a:ext>
                      </a:extLst>
                    </a:gridCol>
                    <a:gridCol w="417168">
                      <a:extLst>
                        <a:ext uri="{9D8B030D-6E8A-4147-A177-3AD203B41FA5}">
                          <a16:colId xmlns:a16="http://schemas.microsoft.com/office/drawing/2014/main" val="2013461180"/>
                        </a:ext>
                      </a:extLst>
                    </a:gridCol>
                    <a:gridCol w="1109709">
                      <a:extLst>
                        <a:ext uri="{9D8B030D-6E8A-4147-A177-3AD203B41FA5}">
                          <a16:colId xmlns:a16="http://schemas.microsoft.com/office/drawing/2014/main" val="33408804"/>
                        </a:ext>
                      </a:extLst>
                    </a:gridCol>
                    <a:gridCol w="1154097">
                      <a:extLst>
                        <a:ext uri="{9D8B030D-6E8A-4147-A177-3AD203B41FA5}">
                          <a16:colId xmlns:a16="http://schemas.microsoft.com/office/drawing/2014/main" val="4158169869"/>
                        </a:ext>
                      </a:extLst>
                    </a:gridCol>
                    <a:gridCol w="852256">
                      <a:extLst>
                        <a:ext uri="{9D8B030D-6E8A-4147-A177-3AD203B41FA5}">
                          <a16:colId xmlns:a16="http://schemas.microsoft.com/office/drawing/2014/main" val="4111785009"/>
                        </a:ext>
                      </a:extLst>
                    </a:gridCol>
                    <a:gridCol w="798990">
                      <a:extLst>
                        <a:ext uri="{9D8B030D-6E8A-4147-A177-3AD203B41FA5}">
                          <a16:colId xmlns:a16="http://schemas.microsoft.com/office/drawing/2014/main" val="2146592862"/>
                        </a:ext>
                      </a:extLst>
                    </a:gridCol>
                    <a:gridCol w="579786">
                      <a:extLst>
                        <a:ext uri="{9D8B030D-6E8A-4147-A177-3AD203B41FA5}">
                          <a16:colId xmlns:a16="http://schemas.microsoft.com/office/drawing/2014/main" val="457280126"/>
                        </a:ext>
                      </a:extLst>
                    </a:gridCol>
                  </a:tblGrid>
                  <a:tr h="338237">
                    <a:tc>
                      <a:txBody>
                        <a:bodyPr/>
                        <a:lstStyle/>
                        <a:p>
                          <a:pPr algn="ctr">
                            <a:lnSpc>
                              <a:spcPct val="107000"/>
                            </a:lnSpc>
                            <a:spcAft>
                              <a:spcPts val="800"/>
                            </a:spcAft>
                          </a:pPr>
                          <a:r>
                            <a:rPr lang="es-AR" sz="1200" dirty="0">
                              <a:effectLst/>
                            </a:rPr>
                            <a:t>Condición</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𝑱</m:t>
                                    </m:r>
                                  </m:e>
                                  <m:sub>
                                    <m:r>
                                      <a:rPr lang="es-AR" sz="1200">
                                        <a:effectLst/>
                                        <a:latin typeface="Cambria Math" panose="02040503050406030204" pitchFamily="18" charset="0"/>
                                      </a:rPr>
                                      <m:t>𝒆𝒒</m:t>
                                    </m:r>
                                  </m:sub>
                                </m:sSub>
                                <m:d>
                                  <m:dPr>
                                    <m:begChr m:val="["/>
                                    <m:endChr m:val="]"/>
                                    <m:ctrlPr>
                                      <a:rPr lang="es-AR" sz="1200" i="1">
                                        <a:effectLst/>
                                        <a:latin typeface="Cambria Math" panose="02040503050406030204" pitchFamily="18" charset="0"/>
                                      </a:rPr>
                                    </m:ctrlPr>
                                  </m:dPr>
                                  <m:e>
                                    <m:r>
                                      <m:rPr>
                                        <m:nor/>
                                      </m:rPr>
                                      <a:rPr lang="es-AR" sz="1200">
                                        <a:effectLst/>
                                      </a:rPr>
                                      <m:t>kg</m:t>
                                    </m:r>
                                    <m:r>
                                      <m:rPr>
                                        <m:nor/>
                                      </m:rPr>
                                      <a:rPr lang="es-AR" sz="1200">
                                        <a:effectLst/>
                                      </a:rPr>
                                      <m:t>⋅</m:t>
                                    </m:r>
                                    <m:sSup>
                                      <m:sSupPr>
                                        <m:ctrlPr>
                                          <a:rPr lang="es-AR" sz="1200" i="1">
                                            <a:effectLst/>
                                            <a:latin typeface="Cambria Math" panose="02040503050406030204" pitchFamily="18" charset="0"/>
                                          </a:rPr>
                                        </m:ctrlPr>
                                      </m:sSupPr>
                                      <m:e>
                                        <m:r>
                                          <m:rPr>
                                            <m:nor/>
                                          </m:rPr>
                                          <a:rPr lang="es-AR" sz="1200">
                                            <a:effectLst/>
                                          </a:rPr>
                                          <m:t>m</m:t>
                                        </m:r>
                                      </m:e>
                                      <m:sup>
                                        <m:r>
                                          <m:rPr>
                                            <m:nor/>
                                          </m:rPr>
                                          <a:rPr lang="es-AR" sz="1200">
                                            <a:effectLst/>
                                          </a:rPr>
                                          <m:t>2</m:t>
                                        </m:r>
                                      </m:sup>
                                    </m:sSup>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𝒃</m:t>
                                    </m:r>
                                  </m:e>
                                  <m:sub>
                                    <m:r>
                                      <a:rPr lang="es-AR" sz="1200">
                                        <a:effectLst/>
                                        <a:latin typeface="Cambria Math" panose="02040503050406030204" pitchFamily="18" charset="0"/>
                                      </a:rPr>
                                      <m:t>𝒆𝒒</m:t>
                                    </m:r>
                                  </m:sub>
                                </m:sSub>
                                <m:d>
                                  <m:dPr>
                                    <m:begChr m:val="["/>
                                    <m:endChr m:val="]"/>
                                    <m:ctrlPr>
                                      <a:rPr lang="es-AR" sz="1200" i="1">
                                        <a:effectLst/>
                                        <a:latin typeface="Cambria Math" panose="02040503050406030204" pitchFamily="18" charset="0"/>
                                      </a:rPr>
                                    </m:ctrlPr>
                                  </m:dPr>
                                  <m:e>
                                    <m:f>
                                      <m:fPr>
                                        <m:type m:val="lin"/>
                                        <m:ctrlPr>
                                          <a:rPr lang="es-AR" sz="1200" i="1">
                                            <a:effectLst/>
                                            <a:latin typeface="Cambria Math" panose="02040503050406030204" pitchFamily="18" charset="0"/>
                                          </a:rPr>
                                        </m:ctrlPr>
                                      </m:fPr>
                                      <m:num>
                                        <m:r>
                                          <a:rPr lang="es-AR" sz="1200">
                                            <a:effectLst/>
                                            <a:latin typeface="Cambria Math" panose="02040503050406030204" pitchFamily="18" charset="0"/>
                                          </a:rPr>
                                          <m:t>𝑵</m:t>
                                        </m:r>
                                        <m:r>
                                          <a:rPr lang="es-AR" sz="1200">
                                            <a:effectLst/>
                                            <a:latin typeface="Cambria Math" panose="02040503050406030204" pitchFamily="18" charset="0"/>
                                          </a:rPr>
                                          <m:t>∙</m:t>
                                        </m:r>
                                        <m:r>
                                          <a:rPr lang="es-AR" sz="1200">
                                            <a:effectLst/>
                                            <a:latin typeface="Cambria Math" panose="02040503050406030204" pitchFamily="18" charset="0"/>
                                          </a:rPr>
                                          <m:t>𝒎</m:t>
                                        </m:r>
                                      </m:num>
                                      <m:den>
                                        <m:r>
                                          <a:rPr lang="es-AR" sz="1200">
                                            <a:effectLst/>
                                            <a:latin typeface="Cambria Math" panose="02040503050406030204" pitchFamily="18" charset="0"/>
                                          </a:rPr>
                                          <m:t>𝒓𝒂𝒅</m:t>
                                        </m:r>
                                      </m:den>
                                    </m:f>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P1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Cero</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m:t>
                                    </m:r>
                                  </m:e>
                                  <m:sub>
                                    <m:r>
                                      <a:rPr lang="es-AR" sz="1200">
                                        <a:effectLst/>
                                        <a:latin typeface="Cambria Math" panose="02040503050406030204" pitchFamily="18" charset="0"/>
                                      </a:rPr>
                                      <m:t>𝒏</m:t>
                                    </m:r>
                                  </m:sub>
                                </m:sSub>
                                <m:d>
                                  <m:dPr>
                                    <m:begChr m:val="["/>
                                    <m:endChr m:val="]"/>
                                    <m:ctrlPr>
                                      <a:rPr lang="es-AR" sz="1200" i="1">
                                        <a:effectLst/>
                                        <a:latin typeface="Cambria Math" panose="02040503050406030204" pitchFamily="18" charset="0"/>
                                      </a:rPr>
                                    </m:ctrlPr>
                                  </m:dPr>
                                  <m:e>
                                    <m:f>
                                      <m:fPr>
                                        <m:type m:val="lin"/>
                                        <m:ctrlPr>
                                          <a:rPr lang="es-AR" sz="1200" i="1">
                                            <a:effectLst/>
                                            <a:latin typeface="Cambria Math" panose="02040503050406030204" pitchFamily="18" charset="0"/>
                                          </a:rPr>
                                        </m:ctrlPr>
                                      </m:fPr>
                                      <m:num>
                                        <m:r>
                                          <a:rPr lang="es-AR" sz="1200">
                                            <a:effectLst/>
                                            <a:latin typeface="Cambria Math" panose="02040503050406030204" pitchFamily="18" charset="0"/>
                                          </a:rPr>
                                          <m:t>𝒓𝒂𝒅</m:t>
                                        </m:r>
                                      </m:num>
                                      <m:den>
                                        <m:r>
                                          <a:rPr lang="es-AR" sz="1200">
                                            <a:effectLst/>
                                            <a:latin typeface="Cambria Math" panose="02040503050406030204" pitchFamily="18" charset="0"/>
                                          </a:rPr>
                                          <m:t>𝒔</m:t>
                                        </m:r>
                                      </m:den>
                                    </m:f>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s-AR" sz="1200">
                                    <a:effectLst/>
                                    <a:latin typeface="Cambria Math" panose="02040503050406030204" pitchFamily="18" charset="0"/>
                                  </a:rPr>
                                  <m:t>𝛇</m:t>
                                </m:r>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38585090"/>
                      </a:ext>
                    </a:extLst>
                  </a:tr>
                  <a:tr h="338237">
                    <a:tc>
                      <a:txBody>
                        <a:bodyPr/>
                        <a:lstStyle/>
                        <a:p>
                          <a:pPr algn="ctr">
                            <a:lnSpc>
                              <a:spcPct val="107000"/>
                            </a:lnSpc>
                            <a:spcAft>
                              <a:spcPts val="800"/>
                            </a:spcAft>
                          </a:pPr>
                          <a:r>
                            <a:rPr lang="es-AR" sz="1200" dirty="0">
                              <a:effectLst/>
                            </a:rPr>
                            <a:t>Nominal</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1,98611E-05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0,5474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8857501"/>
                      </a:ext>
                    </a:extLst>
                  </a:tr>
                  <a:tr h="338237">
                    <a:tc>
                      <a:txBody>
                        <a:bodyPr/>
                        <a:lstStyle/>
                        <a:p>
                          <a:pPr algn="ctr">
                            <a:lnSpc>
                              <a:spcPct val="107000"/>
                            </a:lnSpc>
                            <a:spcAft>
                              <a:spcPts val="800"/>
                            </a:spcAft>
                          </a:pPr>
                          <a:r>
                            <a:rPr lang="es-AR" sz="1200" dirty="0">
                              <a:effectLst/>
                            </a:rPr>
                            <a:t>Mínimos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1,98611E-05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0,5474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90466586"/>
                      </a:ext>
                    </a:extLst>
                  </a:tr>
                  <a:tr h="338237">
                    <a:tc>
                      <a:txBody>
                        <a:bodyPr/>
                        <a:lstStyle/>
                        <a:p>
                          <a:pPr algn="ctr">
                            <a:lnSpc>
                              <a:spcPct val="107000"/>
                            </a:lnSpc>
                            <a:spcAft>
                              <a:spcPts val="800"/>
                            </a:spcAft>
                          </a:pPr>
                          <a:r>
                            <a:rPr lang="es-AR" sz="1200" dirty="0">
                              <a:effectLst/>
                            </a:rPr>
                            <a:t>Máximos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4,583E-05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2,40278E-05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114,4639</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0,8304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5912259"/>
                      </a:ext>
                    </a:extLst>
                  </a:tr>
                </a:tbl>
              </a:graphicData>
            </a:graphic>
          </p:graphicFrame>
        </mc:Choice>
        <mc:Fallback xmlns="">
          <p:graphicFrame>
            <p:nvGraphicFramePr>
              <p:cNvPr id="7" name="Tabla 6">
                <a:extLst>
                  <a:ext uri="{FF2B5EF4-FFF2-40B4-BE49-F238E27FC236}">
                    <a16:creationId xmlns:a16="http://schemas.microsoft.com/office/drawing/2014/main" id="{581EDC3F-148D-4511-BA46-CE047304E510}"/>
                  </a:ext>
                </a:extLst>
              </p:cNvPr>
              <p:cNvGraphicFramePr>
                <a:graphicFrameLocks noGrp="1"/>
              </p:cNvGraphicFramePr>
              <p:nvPr>
                <p:extLst>
                  <p:ext uri="{D42A27DB-BD31-4B8C-83A1-F6EECF244321}">
                    <p14:modId xmlns:p14="http://schemas.microsoft.com/office/powerpoint/2010/main" val="2027296961"/>
                  </p:ext>
                </p:extLst>
              </p:nvPr>
            </p:nvGraphicFramePr>
            <p:xfrm>
              <a:off x="3567356" y="5179873"/>
              <a:ext cx="8560728" cy="1363136"/>
            </p:xfrm>
            <a:graphic>
              <a:graphicData uri="http://schemas.openxmlformats.org/drawingml/2006/table">
                <a:tbl>
                  <a:tblPr firstRow="1" firstCol="1" bandRow="1">
                    <a:tableStyleId>{5C22544A-7EE6-4342-B048-85BDC9FD1C3A}</a:tableStyleId>
                  </a:tblPr>
                  <a:tblGrid>
                    <a:gridCol w="1535837">
                      <a:extLst>
                        <a:ext uri="{9D8B030D-6E8A-4147-A177-3AD203B41FA5}">
                          <a16:colId xmlns:a16="http://schemas.microsoft.com/office/drawing/2014/main" val="2802378481"/>
                        </a:ext>
                      </a:extLst>
                    </a:gridCol>
                    <a:gridCol w="976544">
                      <a:extLst>
                        <a:ext uri="{9D8B030D-6E8A-4147-A177-3AD203B41FA5}">
                          <a16:colId xmlns:a16="http://schemas.microsoft.com/office/drawing/2014/main" val="2036341126"/>
                        </a:ext>
                      </a:extLst>
                    </a:gridCol>
                    <a:gridCol w="1136341">
                      <a:extLst>
                        <a:ext uri="{9D8B030D-6E8A-4147-A177-3AD203B41FA5}">
                          <a16:colId xmlns:a16="http://schemas.microsoft.com/office/drawing/2014/main" val="2330340701"/>
                        </a:ext>
                      </a:extLst>
                    </a:gridCol>
                    <a:gridCol w="417168">
                      <a:extLst>
                        <a:ext uri="{9D8B030D-6E8A-4147-A177-3AD203B41FA5}">
                          <a16:colId xmlns:a16="http://schemas.microsoft.com/office/drawing/2014/main" val="2013461180"/>
                        </a:ext>
                      </a:extLst>
                    </a:gridCol>
                    <a:gridCol w="1109709">
                      <a:extLst>
                        <a:ext uri="{9D8B030D-6E8A-4147-A177-3AD203B41FA5}">
                          <a16:colId xmlns:a16="http://schemas.microsoft.com/office/drawing/2014/main" val="33408804"/>
                        </a:ext>
                      </a:extLst>
                    </a:gridCol>
                    <a:gridCol w="1154097">
                      <a:extLst>
                        <a:ext uri="{9D8B030D-6E8A-4147-A177-3AD203B41FA5}">
                          <a16:colId xmlns:a16="http://schemas.microsoft.com/office/drawing/2014/main" val="4158169869"/>
                        </a:ext>
                      </a:extLst>
                    </a:gridCol>
                    <a:gridCol w="852256">
                      <a:extLst>
                        <a:ext uri="{9D8B030D-6E8A-4147-A177-3AD203B41FA5}">
                          <a16:colId xmlns:a16="http://schemas.microsoft.com/office/drawing/2014/main" val="4111785009"/>
                        </a:ext>
                      </a:extLst>
                    </a:gridCol>
                    <a:gridCol w="798990">
                      <a:extLst>
                        <a:ext uri="{9D8B030D-6E8A-4147-A177-3AD203B41FA5}">
                          <a16:colId xmlns:a16="http://schemas.microsoft.com/office/drawing/2014/main" val="2146592862"/>
                        </a:ext>
                      </a:extLst>
                    </a:gridCol>
                    <a:gridCol w="579786">
                      <a:extLst>
                        <a:ext uri="{9D8B030D-6E8A-4147-A177-3AD203B41FA5}">
                          <a16:colId xmlns:a16="http://schemas.microsoft.com/office/drawing/2014/main" val="457280126"/>
                        </a:ext>
                      </a:extLst>
                    </a:gridCol>
                  </a:tblGrid>
                  <a:tr h="348425">
                    <a:tc>
                      <a:txBody>
                        <a:bodyPr/>
                        <a:lstStyle/>
                        <a:p>
                          <a:pPr algn="ctr">
                            <a:lnSpc>
                              <a:spcPct val="107000"/>
                            </a:lnSpc>
                            <a:spcAft>
                              <a:spcPts val="800"/>
                            </a:spcAft>
                          </a:pPr>
                          <a:r>
                            <a:rPr lang="es-AR" sz="1200" dirty="0">
                              <a:effectLst/>
                            </a:rPr>
                            <a:t>Condición</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5"/>
                          <a:stretch>
                            <a:fillRect l="-158125" t="-84483" r="-623125" b="-313793"/>
                          </a:stretch>
                        </a:blipFill>
                      </a:tcPr>
                    </a:tc>
                    <a:tc>
                      <a:txBody>
                        <a:bodyPr/>
                        <a:lstStyle/>
                        <a:p>
                          <a:endParaRPr lang="es-AR"/>
                        </a:p>
                      </a:txBody>
                      <a:tcPr marL="68580" marR="68580" marT="0" marB="0">
                        <a:blipFill>
                          <a:blip r:embed="rId5"/>
                          <a:stretch>
                            <a:fillRect l="-220856" t="-84483" r="-433155" b="-313793"/>
                          </a:stretch>
                        </a:blipFill>
                      </a:tcPr>
                    </a:tc>
                    <a:tc>
                      <a:txBody>
                        <a:bodyPr/>
                        <a:lstStyle/>
                        <a:p>
                          <a:pPr algn="ctr">
                            <a:lnSpc>
                              <a:spcPct val="107000"/>
                            </a:lnSpc>
                            <a:spcAft>
                              <a:spcPts val="800"/>
                            </a:spcAft>
                          </a:pPr>
                          <a:r>
                            <a:rPr lang="es-AR" sz="1200">
                              <a:effectLst/>
                            </a:rPr>
                            <a:t>P1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Cero</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5"/>
                          <a:stretch>
                            <a:fillRect l="-900763" t="-84483" r="-75573" b="-313793"/>
                          </a:stretch>
                        </a:blipFill>
                      </a:tcPr>
                    </a:tc>
                    <a:tc>
                      <a:txBody>
                        <a:bodyPr/>
                        <a:lstStyle/>
                        <a:p>
                          <a:endParaRPr lang="es-AR"/>
                        </a:p>
                      </a:txBody>
                      <a:tcPr marL="68580" marR="68580" marT="0" marB="0">
                        <a:blipFill>
                          <a:blip r:embed="rId5"/>
                          <a:stretch>
                            <a:fillRect l="-1380000" t="-84483" r="-4211" b="-313793"/>
                          </a:stretch>
                        </a:blipFill>
                      </a:tcPr>
                    </a:tc>
                    <a:extLst>
                      <a:ext uri="{0D108BD9-81ED-4DB2-BD59-A6C34878D82A}">
                        <a16:rowId xmlns:a16="http://schemas.microsoft.com/office/drawing/2014/main" val="3338585090"/>
                      </a:ext>
                    </a:extLst>
                  </a:tr>
                  <a:tr h="338237">
                    <a:tc>
                      <a:txBody>
                        <a:bodyPr/>
                        <a:lstStyle/>
                        <a:p>
                          <a:pPr algn="ctr">
                            <a:lnSpc>
                              <a:spcPct val="107000"/>
                            </a:lnSpc>
                            <a:spcAft>
                              <a:spcPts val="800"/>
                            </a:spcAft>
                          </a:pPr>
                          <a:r>
                            <a:rPr lang="es-AR" sz="1200" dirty="0">
                              <a:effectLst/>
                            </a:rPr>
                            <a:t>Nominal</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1,98611E-05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0,5474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8857501"/>
                      </a:ext>
                    </a:extLst>
                  </a:tr>
                  <a:tr h="338237">
                    <a:tc>
                      <a:txBody>
                        <a:bodyPr/>
                        <a:lstStyle/>
                        <a:p>
                          <a:pPr algn="ctr">
                            <a:lnSpc>
                              <a:spcPct val="107000"/>
                            </a:lnSpc>
                            <a:spcAft>
                              <a:spcPts val="800"/>
                            </a:spcAft>
                          </a:pPr>
                          <a:r>
                            <a:rPr lang="es-AR" sz="1200" dirty="0">
                              <a:effectLst/>
                            </a:rPr>
                            <a:t>Mínimos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1,98611E-05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0,5474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90466586"/>
                      </a:ext>
                    </a:extLst>
                  </a:tr>
                  <a:tr h="338237">
                    <a:tc>
                      <a:txBody>
                        <a:bodyPr/>
                        <a:lstStyle/>
                        <a:p>
                          <a:pPr algn="ctr">
                            <a:lnSpc>
                              <a:spcPct val="107000"/>
                            </a:lnSpc>
                            <a:spcAft>
                              <a:spcPts val="800"/>
                            </a:spcAft>
                          </a:pPr>
                          <a:r>
                            <a:rPr lang="es-AR" sz="1200" dirty="0">
                              <a:effectLst/>
                            </a:rPr>
                            <a:t>Máximos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4,583E-05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2,40278E-05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114,4639</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0,8304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5912259"/>
                      </a:ext>
                    </a:extLst>
                  </a:tr>
                </a:tbl>
              </a:graphicData>
            </a:graphic>
          </p:graphicFrame>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CF2CC9C-B9B4-4051-9FFB-1096870A0BB5}"/>
                  </a:ext>
                </a:extLst>
              </p:cNvPr>
              <p:cNvSpPr txBox="1"/>
              <p:nvPr/>
            </p:nvSpPr>
            <p:spPr>
              <a:xfrm>
                <a:off x="5939161" y="2394221"/>
                <a:ext cx="5978214" cy="1158074"/>
              </a:xfrm>
              <a:prstGeom prst="rect">
                <a:avLst/>
              </a:prstGeom>
              <a:noFill/>
            </p:spPr>
            <p:txBody>
              <a:bodyPr wrap="square">
                <a:spAutoFit/>
              </a:bodyPr>
              <a:lstStyle/>
              <a:p>
                <a:pPr algn="just">
                  <a:lnSpc>
                    <a:spcPct val="107000"/>
                  </a:lnSpc>
                  <a:spcAft>
                    <a:spcPts val="800"/>
                  </a:spcAft>
                </a:pPr>
                <a:r>
                  <a:rPr lang="es-AR" sz="1600" dirty="0">
                    <a:latin typeface="Calibri" panose="020F0502020204030204" pitchFamily="34" charset="0"/>
                    <a:ea typeface="Calibri" panose="020F0502020204030204" pitchFamily="34" charset="0"/>
                    <a:cs typeface="Times New Roman" panose="02020603050405020304" pitchFamily="18" charset="0"/>
                  </a:rPr>
                  <a:t>Los resultados muestran que un incremento en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𝐽</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𝑏</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provoca una disminución de la frecuencia natural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m:t>
                        </m:r>
                      </m:e>
                      <m:sub>
                        <m:r>
                          <a:rPr lang="es-AR" sz="1600">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lo que se traduce en una respuesta dinámica más lenta. Por otro lado, un aumento en ζ reduce la amplitud de las oscilaciones. </a:t>
                </a:r>
              </a:p>
            </p:txBody>
          </p:sp>
        </mc:Choice>
        <mc:Fallback xmlns="">
          <p:sp>
            <p:nvSpPr>
              <p:cNvPr id="13" name="CuadroTexto 12">
                <a:extLst>
                  <a:ext uri="{FF2B5EF4-FFF2-40B4-BE49-F238E27FC236}">
                    <a16:creationId xmlns:a16="http://schemas.microsoft.com/office/drawing/2014/main" id="{ECF2CC9C-B9B4-4051-9FFB-1096870A0BB5}"/>
                  </a:ext>
                </a:extLst>
              </p:cNvPr>
              <p:cNvSpPr txBox="1">
                <a:spLocks noRot="1" noChangeAspect="1" noMove="1" noResize="1" noEditPoints="1" noAdjustHandles="1" noChangeArrowheads="1" noChangeShapeType="1" noTextEdit="1"/>
              </p:cNvSpPr>
              <p:nvPr/>
            </p:nvSpPr>
            <p:spPr>
              <a:xfrm>
                <a:off x="5939161" y="2394221"/>
                <a:ext cx="5978214" cy="1158074"/>
              </a:xfrm>
              <a:prstGeom prst="rect">
                <a:avLst/>
              </a:prstGeom>
              <a:blipFill>
                <a:blip r:embed="rId6"/>
                <a:stretch>
                  <a:fillRect l="-510" r="-1427" b="-5789"/>
                </a:stretch>
              </a:blipFill>
            </p:spPr>
            <p:txBody>
              <a:bodyPr/>
              <a:lstStyle/>
              <a:p>
                <a:r>
                  <a:rPr lang="es-AR">
                    <a:noFill/>
                  </a:rPr>
                  <a:t> </a:t>
                </a:r>
              </a:p>
            </p:txBody>
          </p:sp>
        </mc:Fallback>
      </mc:AlternateContent>
      <p:sp>
        <p:nvSpPr>
          <p:cNvPr id="12" name="Shape 2">
            <a:extLst>
              <a:ext uri="{FF2B5EF4-FFF2-40B4-BE49-F238E27FC236}">
                <a16:creationId xmlns:a16="http://schemas.microsoft.com/office/drawing/2014/main" id="{B235AFBD-3FDD-4ED8-A44F-F79C276D30E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A40EF86F-C0A8-499F-AFDA-E9B2920A42E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92547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hape 14">
            <a:extLst>
              <a:ext uri="{FF2B5EF4-FFF2-40B4-BE49-F238E27FC236}">
                <a16:creationId xmlns:a16="http://schemas.microsoft.com/office/drawing/2014/main" id="{EA90CB89-4741-482C-98FF-C640C05AA55E}"/>
              </a:ext>
            </a:extLst>
          </p:cNvPr>
          <p:cNvSpPr/>
          <p:nvPr/>
        </p:nvSpPr>
        <p:spPr>
          <a:xfrm>
            <a:off x="320039" y="2372477"/>
            <a:ext cx="11551615" cy="962983"/>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15458" y="89115"/>
            <a:ext cx="4940904" cy="415498"/>
          </a:xfrm>
          <a:prstGeom prst="rect">
            <a:avLst/>
          </a:prstGeom>
          <a:noFill/>
        </p:spPr>
        <p:txBody>
          <a:bodyPr wrap="none">
            <a:spAutoFit/>
          </a:bodyPr>
          <a:lstStyle/>
          <a:p>
            <a:pPr algn="l"/>
            <a:r>
              <a:rPr sz="2100" b="1" dirty="0" err="1">
                <a:solidFill>
                  <a:srgbClr val="FFFFFF"/>
                </a:solidFill>
                <a:latin typeface="Cambria"/>
              </a:rPr>
              <a:t>Frecuencia</a:t>
            </a:r>
            <a:r>
              <a:rPr sz="2100" b="1" dirty="0">
                <a:solidFill>
                  <a:srgbClr val="FFFFFF"/>
                </a:solidFill>
                <a:latin typeface="Cambria"/>
              </a:rPr>
              <a:t> natural y </a:t>
            </a:r>
            <a:r>
              <a:rPr sz="2100" b="1" dirty="0" err="1">
                <a:solidFill>
                  <a:srgbClr val="FFFFFF"/>
                </a:solidFill>
                <a:latin typeface="Cambria"/>
              </a:rPr>
              <a:t>amortiguamiento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33 / ~75</a:t>
            </a:r>
          </a:p>
        </p:txBody>
      </p:sp>
      <mc:AlternateContent xmlns:mc="http://schemas.openxmlformats.org/markup-compatibility/2006" xmlns:a14="http://schemas.microsoft.com/office/drawing/2010/main">
        <mc:Choice Requires="a14">
          <p:sp>
            <p:nvSpPr>
              <p:cNvPr id="7" name="TextBox 6"/>
              <p:cNvSpPr txBox="1"/>
              <p:nvPr/>
            </p:nvSpPr>
            <p:spPr>
              <a:xfrm>
                <a:off x="365760" y="777240"/>
                <a:ext cx="11430000" cy="307777"/>
              </a:xfrm>
              <a:prstGeom prst="rect">
                <a:avLst/>
              </a:prstGeom>
              <a:noFill/>
            </p:spPr>
            <p:txBody>
              <a:bodyPr wrap="square">
                <a:spAutoFit/>
              </a:bodyPr>
              <a:lstStyle/>
              <a:p>
                <a:r>
                  <a:rPr lang="es-AR" sz="1400" b="0" i="0" dirty="0">
                    <a:solidFill>
                      <a:srgbClr val="1A1A2E"/>
                    </a:solidFill>
                    <a:latin typeface="Calibri"/>
                  </a:rPr>
                  <a:t>Comparando el polinomio característico de s₂,₃ con la forma canónica de segundo orden, se obtienen </a:t>
                </a:r>
                <a14:m>
                  <m:oMath xmlns:m="http://schemas.openxmlformats.org/officeDocument/2006/math">
                    <m:sSub>
                      <m:sSubPr>
                        <m:ctrlPr>
                          <a:rPr lang="es-AR" sz="1400" i="1">
                            <a:latin typeface="Cambria Math" panose="02040503050406030204" pitchFamily="18" charset="0"/>
                            <a:ea typeface="Calibri" panose="020F0502020204030204" pitchFamily="34" charset="0"/>
                            <a:cs typeface="Times New Roman" panose="02020603050405020304" pitchFamily="18" charset="0"/>
                          </a:rPr>
                        </m:ctrlPr>
                      </m:sSubPr>
                      <m:e>
                        <m:r>
                          <a:rPr lang="es-AR" sz="1400" i="1">
                            <a:latin typeface="Cambria Math" panose="02040503050406030204" pitchFamily="18" charset="0"/>
                            <a:ea typeface="Calibri" panose="020F0502020204030204" pitchFamily="34" charset="0"/>
                            <a:cs typeface="Times New Roman" panose="02020603050405020304" pitchFamily="18" charset="0"/>
                          </a:rPr>
                          <m:t>𝜔</m:t>
                        </m:r>
                      </m:e>
                      <m:sub>
                        <m:r>
                          <a:rPr lang="es-AR" sz="1400" i="1">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s-AR" sz="1400" b="0" i="0" dirty="0">
                    <a:solidFill>
                      <a:srgbClr val="1A1A2E"/>
                    </a:solidFill>
                    <a:latin typeface="Calibri"/>
                  </a:rPr>
                  <a:t> y ζ en función de los parámetros del sistema:</a:t>
                </a:r>
              </a:p>
            </p:txBody>
          </p:sp>
        </mc:Choice>
        <mc:Fallback xmlns="">
          <p:sp>
            <p:nvSpPr>
              <p:cNvPr id="7" name="TextBox 6"/>
              <p:cNvSpPr txBox="1">
                <a:spLocks noRot="1" noChangeAspect="1" noMove="1" noResize="1" noEditPoints="1" noAdjustHandles="1" noChangeArrowheads="1" noChangeShapeType="1" noTextEdit="1"/>
              </p:cNvSpPr>
              <p:nvPr/>
            </p:nvSpPr>
            <p:spPr>
              <a:xfrm>
                <a:off x="365760" y="777240"/>
                <a:ext cx="11430000" cy="307777"/>
              </a:xfrm>
              <a:prstGeom prst="rect">
                <a:avLst/>
              </a:prstGeom>
              <a:blipFill>
                <a:blip r:embed="rId2"/>
                <a:stretch>
                  <a:fillRect l="-160" t="-4000" b="-2000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3010831419"/>
                  </p:ext>
                </p:extLst>
              </p:nvPr>
            </p:nvGraphicFramePr>
            <p:xfrm>
              <a:off x="426567" y="3600712"/>
              <a:ext cx="10486757" cy="1852515"/>
            </p:xfrm>
            <a:graphic>
              <a:graphicData uri="http://schemas.openxmlformats.org/drawingml/2006/table">
                <a:tbl>
                  <a:tblPr firstRow="1" bandRow="1">
                    <a:tableStyleId>{5C22544A-7EE6-4342-B048-85BDC9FD1C3A}</a:tableStyleId>
                  </a:tblPr>
                  <a:tblGrid>
                    <a:gridCol w="4584037">
                      <a:extLst>
                        <a:ext uri="{9D8B030D-6E8A-4147-A177-3AD203B41FA5}">
                          <a16:colId xmlns:a16="http://schemas.microsoft.com/office/drawing/2014/main" val="20000"/>
                        </a:ext>
                      </a:extLst>
                    </a:gridCol>
                    <a:gridCol w="2712303">
                      <a:extLst>
                        <a:ext uri="{9D8B030D-6E8A-4147-A177-3AD203B41FA5}">
                          <a16:colId xmlns:a16="http://schemas.microsoft.com/office/drawing/2014/main" val="20001"/>
                        </a:ext>
                      </a:extLst>
                    </a:gridCol>
                    <a:gridCol w="3190417">
                      <a:extLst>
                        <a:ext uri="{9D8B030D-6E8A-4147-A177-3AD203B41FA5}">
                          <a16:colId xmlns:a16="http://schemas.microsoft.com/office/drawing/2014/main" val="20002"/>
                        </a:ext>
                      </a:extLst>
                    </a:gridCol>
                  </a:tblGrid>
                  <a:tr h="304463">
                    <a:tc>
                      <a:txBody>
                        <a:bodyPr/>
                        <a:lstStyle/>
                        <a:p>
                          <a:r>
                            <a:rPr lang="es-AR" sz="1200" b="1" noProof="0" dirty="0">
                              <a:solidFill>
                                <a:srgbClr val="FFFFFF"/>
                              </a:solidFill>
                              <a:latin typeface="Calibri"/>
                            </a:rPr>
                            <a:t>Condición</a:t>
                          </a:r>
                        </a:p>
                      </a:txBody>
                      <a:tcPr>
                        <a:solidFill>
                          <a:srgbClr val="1A3A6B"/>
                        </a:solidFill>
                      </a:tcPr>
                    </a:tc>
                    <a:tc>
                      <a:txBody>
                        <a:bodyPr/>
                        <a:lstStyle/>
                        <a:p>
                          <a14:m>
                            <m:oMath xmlns:m="http://schemas.openxmlformats.org/officeDocument/2006/math">
                              <m:sSub>
                                <m:sSubPr>
                                  <m:ctrlPr>
                                    <a:rPr lang="es-AR" sz="1200" i="1" smtClean="0">
                                      <a:solidFill>
                                        <a:schemeClr val="bg1"/>
                                      </a:solidFill>
                                      <a:latin typeface="Cambria Math" panose="02040503050406030204" pitchFamily="18" charset="0"/>
                                    </a:rPr>
                                  </m:ctrlPr>
                                </m:sSubPr>
                                <m:e>
                                  <m:r>
                                    <m:rPr>
                                      <m:sty m:val="p"/>
                                    </m:rPr>
                                    <a:rPr lang="es-AR" sz="1200">
                                      <a:solidFill>
                                        <a:schemeClr val="bg1"/>
                                      </a:solidFill>
                                      <a:latin typeface="Cambria Math" panose="02040503050406030204" pitchFamily="18" charset="0"/>
                                    </a:rPr>
                                    <m:t>ω</m:t>
                                  </m:r>
                                </m:e>
                                <m:sub>
                                  <m:r>
                                    <a:rPr lang="es-AR" sz="1200" i="1">
                                      <a:solidFill>
                                        <a:schemeClr val="bg1"/>
                                      </a:solidFill>
                                      <a:latin typeface="Cambria Math" panose="02040503050406030204" pitchFamily="18" charset="0"/>
                                    </a:rPr>
                                    <m:t>𝑛</m:t>
                                  </m:r>
                                </m:sub>
                              </m:sSub>
                            </m:oMath>
                          </a14:m>
                          <a:r>
                            <a:rPr sz="1200" b="1" dirty="0">
                              <a:solidFill>
                                <a:srgbClr val="FFFFFF"/>
                              </a:solidFill>
                              <a:latin typeface="Calibri"/>
                            </a:rPr>
                            <a:t>[rad/s]</a:t>
                          </a:r>
                        </a:p>
                      </a:txBody>
                      <a:tcPr>
                        <a:solidFill>
                          <a:srgbClr val="1A3A6B"/>
                        </a:solidFill>
                      </a:tcPr>
                    </a:tc>
                    <a:tc>
                      <a:txBody>
                        <a:bodyPr/>
                        <a:lstStyle/>
                        <a:p>
                          <a:r>
                            <a:rPr sz="1200" b="1">
                              <a:solidFill>
                                <a:srgbClr val="FFFFFF"/>
                              </a:solidFill>
                              <a:latin typeface="Calibri"/>
                            </a:rPr>
                            <a:t>ζ</a:t>
                          </a:r>
                        </a:p>
                      </a:txBody>
                      <a:tcPr>
                        <a:solidFill>
                          <a:srgbClr val="1A3A6B"/>
                        </a:solidFill>
                      </a:tcPr>
                    </a:tc>
                    <a:extLst>
                      <a:ext uri="{0D108BD9-81ED-4DB2-BD59-A6C34878D82A}">
                        <a16:rowId xmlns:a16="http://schemas.microsoft.com/office/drawing/2014/main" val="10000"/>
                      </a:ext>
                    </a:extLst>
                  </a:tr>
                  <a:tr h="304463">
                    <a:tc>
                      <a:txBody>
                        <a:bodyPr/>
                        <a:lstStyle/>
                        <a:p>
                          <a:r>
                            <a:rPr lang="es-AR" sz="1200" noProof="0" dirty="0">
                              <a:latin typeface="Calibri"/>
                            </a:rPr>
                            <a:t>Rs = 1.10 Ω (40°C), </a:t>
                          </a:r>
                          <a:r>
                            <a:rPr lang="es-AR" sz="1200" noProof="0" dirty="0">
                              <a:latin typeface="+mn-lt"/>
                            </a:rPr>
                            <a:t>parámetros</a:t>
                          </a:r>
                          <a:r>
                            <a:rPr lang="es-AR" sz="1200" noProof="0" dirty="0">
                              <a:latin typeface="Calibri"/>
                            </a:rPr>
                            <a:t> nominales</a:t>
                          </a:r>
                        </a:p>
                      </a:txBody>
                      <a:tcPr/>
                    </a:tc>
                    <a:tc>
                      <a:txBody>
                        <a:bodyPr/>
                        <a:lstStyle/>
                        <a:p>
                          <a:r>
                            <a:rPr lang="es-AR" sz="1200" noProof="0">
                              <a:latin typeface="Calibri"/>
                            </a:rPr>
                            <a:t>174.15</a:t>
                          </a:r>
                        </a:p>
                      </a:txBody>
                      <a:tcPr/>
                    </a:tc>
                    <a:tc>
                      <a:txBody>
                        <a:bodyPr/>
                        <a:lstStyle/>
                        <a:p>
                          <a:r>
                            <a:rPr lang="es-AR" sz="1200" noProof="0">
                              <a:latin typeface="Calibri"/>
                            </a:rPr>
                            <a:t>0.547</a:t>
                          </a:r>
                        </a:p>
                      </a:txBody>
                      <a:tcPr/>
                    </a:tc>
                    <a:extLst>
                      <a:ext uri="{0D108BD9-81ED-4DB2-BD59-A6C34878D82A}">
                        <a16:rowId xmlns:a16="http://schemas.microsoft.com/office/drawing/2014/main" val="10001"/>
                      </a:ext>
                    </a:extLst>
                  </a:tr>
                  <a:tr h="304463">
                    <a:tc>
                      <a:txBody>
                        <a:bodyPr/>
                        <a:lstStyle/>
                        <a:p>
                          <a:r>
                            <a:rPr lang="es-AR" sz="1200" noProof="0" dirty="0">
                              <a:latin typeface="Calibri"/>
                            </a:rPr>
                            <a:t>Rs = 1.40 Ω (115°C), parámetros nominales</a:t>
                          </a:r>
                        </a:p>
                      </a:txBody>
                      <a:tcPr>
                        <a:solidFill>
                          <a:srgbClr val="F0F4F8"/>
                        </a:solidFill>
                      </a:tcPr>
                    </a:tc>
                    <a:tc>
                      <a:txBody>
                        <a:bodyPr/>
                        <a:lstStyle/>
                        <a:p>
                          <a:r>
                            <a:rPr lang="es-AR" sz="1200" noProof="0">
                              <a:latin typeface="Calibri"/>
                            </a:rPr>
                            <a:t>174.31</a:t>
                          </a:r>
                        </a:p>
                      </a:txBody>
                      <a:tcPr>
                        <a:solidFill>
                          <a:srgbClr val="F0F4F8"/>
                        </a:solidFill>
                      </a:tcPr>
                    </a:tc>
                    <a:tc>
                      <a:txBody>
                        <a:bodyPr/>
                        <a:lstStyle/>
                        <a:p>
                          <a:r>
                            <a:rPr lang="es-AR" sz="1200" noProof="0">
                              <a:latin typeface="Calibri"/>
                            </a:rPr>
                            <a:t>0.695</a:t>
                          </a:r>
                        </a:p>
                      </a:txBody>
                      <a:tcPr>
                        <a:solidFill>
                          <a:srgbClr val="F0F4F8"/>
                        </a:solidFill>
                      </a:tcPr>
                    </a:tc>
                    <a:extLst>
                      <a:ext uri="{0D108BD9-81ED-4DB2-BD59-A6C34878D82A}">
                        <a16:rowId xmlns:a16="http://schemas.microsoft.com/office/drawing/2014/main" val="10002"/>
                      </a:ext>
                    </a:extLst>
                  </a:tr>
                  <a:tr h="313042">
                    <a:tc>
                      <a:txBody>
                        <a:bodyPr/>
                        <a:lstStyle/>
                        <a:p>
                          <a14:m>
                            <m:oMath xmlns:m="http://schemas.openxmlformats.org/officeDocument/2006/math">
                              <m:sSub>
                                <m:sSubPr>
                                  <m:ctrlPr>
                                    <a:rPr lang="es-AR" sz="1200" i="1" smtClean="0">
                                      <a:solidFill>
                                        <a:srgbClr val="836967"/>
                                      </a:solidFill>
                                      <a:latin typeface="Cambria Math" panose="02040503050406030204" pitchFamily="18" charset="0"/>
                                    </a:rPr>
                                  </m:ctrlPr>
                                </m:sSubPr>
                                <m:e>
                                  <m:r>
                                    <m:rPr>
                                      <m:sty m:val="p"/>
                                    </m:rPr>
                                    <a:rPr lang="es-AR" sz="1200" i="0">
                                      <a:latin typeface="Cambria Math" panose="02040503050406030204" pitchFamily="18" charset="0"/>
                                    </a:rPr>
                                    <m:t>J</m:t>
                                  </m:r>
                                </m:e>
                                <m:sub>
                                  <m:r>
                                    <m:rPr>
                                      <m:sty m:val="p"/>
                                    </m:rPr>
                                    <a:rPr lang="es-AR" sz="1200" i="0">
                                      <a:latin typeface="Cambria Math" panose="02040503050406030204" pitchFamily="18" charset="0"/>
                                    </a:rPr>
                                    <m:t>eq</m:t>
                                  </m:r>
                                </m:sub>
                              </m:sSub>
                            </m:oMath>
                          </a14:m>
                          <a:r>
                            <a:rPr lang="es-AR" sz="1200" noProof="0" dirty="0">
                              <a:latin typeface="+mn-lt"/>
                            </a:rPr>
                            <a:t>,</a:t>
                          </a:r>
                          <a:r>
                            <a:rPr lang="es-AR" sz="1200" dirty="0">
                              <a:solidFill>
                                <a:srgbClr val="836967"/>
                              </a:solidFill>
                            </a:rPr>
                            <a:t> </a:t>
                          </a:r>
                          <a14:m>
                            <m:oMath xmlns:m="http://schemas.openxmlformats.org/officeDocument/2006/math">
                              <m:sSub>
                                <m:sSubPr>
                                  <m:ctrlPr>
                                    <a:rPr lang="es-AR" sz="1200" i="1">
                                      <a:solidFill>
                                        <a:srgbClr val="836967"/>
                                      </a:solidFill>
                                      <a:latin typeface="Cambria Math" panose="02040503050406030204" pitchFamily="18" charset="0"/>
                                    </a:rPr>
                                  </m:ctrlPr>
                                </m:sSubPr>
                                <m:e>
                                  <m:r>
                                    <m:rPr>
                                      <m:sty m:val="p"/>
                                    </m:rPr>
                                    <a:rPr lang="es-AR" sz="1200" i="0">
                                      <a:latin typeface="Cambria Math" panose="02040503050406030204" pitchFamily="18" charset="0"/>
                                    </a:rPr>
                                    <m:t>b</m:t>
                                  </m:r>
                                </m:e>
                                <m:sub>
                                  <m:r>
                                    <m:rPr>
                                      <m:sty m:val="p"/>
                                    </m:rPr>
                                    <a:rPr lang="es-AR" sz="1200" i="0">
                                      <a:latin typeface="Cambria Math" panose="02040503050406030204" pitchFamily="18" charset="0"/>
                                    </a:rPr>
                                    <m:t>eq</m:t>
                                  </m:r>
                                </m:sub>
                              </m:sSub>
                            </m:oMath>
                          </a14:m>
                          <a:r>
                            <a:rPr lang="es-AR" sz="1200" noProof="0" dirty="0">
                              <a:latin typeface="+mn-lt"/>
                            </a:rPr>
                            <a:t> mínimos (Rs @ 40°C)</a:t>
                          </a:r>
                        </a:p>
                      </a:txBody>
                      <a:tcPr/>
                    </a:tc>
                    <a:tc>
                      <a:txBody>
                        <a:bodyPr/>
                        <a:lstStyle/>
                        <a:p>
                          <a:r>
                            <a:rPr lang="es-AR" sz="1200" noProof="0">
                              <a:latin typeface="Calibri"/>
                            </a:rPr>
                            <a:t>174.09</a:t>
                          </a:r>
                        </a:p>
                      </a:txBody>
                      <a:tcPr/>
                    </a:tc>
                    <a:tc>
                      <a:txBody>
                        <a:bodyPr/>
                        <a:lstStyle/>
                        <a:p>
                          <a:r>
                            <a:rPr lang="es-AR" sz="1200" noProof="0">
                              <a:latin typeface="Calibri"/>
                            </a:rPr>
                            <a:t>0.547</a:t>
                          </a:r>
                        </a:p>
                      </a:txBody>
                      <a:tcPr/>
                    </a:tc>
                    <a:extLst>
                      <a:ext uri="{0D108BD9-81ED-4DB2-BD59-A6C34878D82A}">
                        <a16:rowId xmlns:a16="http://schemas.microsoft.com/office/drawing/2014/main" val="10003"/>
                      </a:ext>
                    </a:extLst>
                  </a:tr>
                  <a:tr h="313042">
                    <a:tc>
                      <a:txBody>
                        <a:bodyPr/>
                        <a:lstStyle/>
                        <a:p>
                          <a14:m>
                            <m:oMath xmlns:m="http://schemas.openxmlformats.org/officeDocument/2006/math">
                              <m:sSub>
                                <m:sSubPr>
                                  <m:ctrlPr>
                                    <a:rPr lang="es-AR" sz="1200" i="1" smtClean="0">
                                      <a:solidFill>
                                        <a:srgbClr val="836967"/>
                                      </a:solidFill>
                                      <a:latin typeface="Cambria Math" panose="02040503050406030204" pitchFamily="18" charset="0"/>
                                    </a:rPr>
                                  </m:ctrlPr>
                                </m:sSubPr>
                                <m:e>
                                  <m:r>
                                    <m:rPr>
                                      <m:sty m:val="p"/>
                                    </m:rPr>
                                    <a:rPr lang="es-AR" sz="1200" i="0">
                                      <a:latin typeface="Cambria Math" panose="02040503050406030204" pitchFamily="18" charset="0"/>
                                    </a:rPr>
                                    <m:t>J</m:t>
                                  </m:r>
                                </m:e>
                                <m:sub>
                                  <m:r>
                                    <m:rPr>
                                      <m:sty m:val="p"/>
                                    </m:rPr>
                                    <a:rPr lang="es-AR" sz="1200" i="0">
                                      <a:latin typeface="Cambria Math" panose="02040503050406030204" pitchFamily="18" charset="0"/>
                                    </a:rPr>
                                    <m:t>eq</m:t>
                                  </m:r>
                                </m:sub>
                              </m:sSub>
                            </m:oMath>
                          </a14:m>
                          <a:r>
                            <a:rPr lang="es-AR" sz="1200" noProof="0" dirty="0" err="1">
                              <a:latin typeface="+mn-lt"/>
                            </a:rPr>
                            <a:t>,</a:t>
                          </a:r>
                          <a:r>
                            <a:rPr lang="es-AR" sz="1200" dirty="0">
                              <a:solidFill>
                                <a:srgbClr val="836967"/>
                              </a:solidFill>
                            </a:rPr>
                            <a:t> </a:t>
                          </a:r>
                          <a14:m>
                            <m:oMath xmlns:m="http://schemas.openxmlformats.org/officeDocument/2006/math">
                              <m:sSub>
                                <m:sSubPr>
                                  <m:ctrlPr>
                                    <a:rPr lang="es-AR" sz="1200" i="1">
                                      <a:solidFill>
                                        <a:srgbClr val="836967"/>
                                      </a:solidFill>
                                      <a:latin typeface="Cambria Math" panose="02040503050406030204" pitchFamily="18" charset="0"/>
                                    </a:rPr>
                                  </m:ctrlPr>
                                </m:sSubPr>
                                <m:e>
                                  <m:r>
                                    <m:rPr>
                                      <m:sty m:val="p"/>
                                    </m:rPr>
                                    <a:rPr lang="es-AR" sz="1200" i="0">
                                      <a:latin typeface="Cambria Math" panose="02040503050406030204" pitchFamily="18" charset="0"/>
                                    </a:rPr>
                                    <m:t>b</m:t>
                                  </m:r>
                                </m:e>
                                <m:sub>
                                  <m:r>
                                    <m:rPr>
                                      <m:sty m:val="p"/>
                                    </m:rPr>
                                    <a:rPr lang="es-AR" sz="1200" i="0">
                                      <a:latin typeface="Cambria Math" panose="02040503050406030204" pitchFamily="18" charset="0"/>
                                    </a:rPr>
                                    <m:t>eq</m:t>
                                  </m:r>
                                </m:sub>
                              </m:sSub>
                            </m:oMath>
                          </a14:m>
                          <a:r>
                            <a:rPr lang="es-AR" sz="1200" noProof="0" dirty="0">
                              <a:latin typeface="+mn-lt"/>
                            </a:rPr>
                            <a:t> máximos (Rs @ 40°C) — </a:t>
                          </a:r>
                          <a14:m>
                            <m:oMath xmlns:m="http://schemas.openxmlformats.org/officeDocument/2006/math">
                              <m:sSub>
                                <m:sSubPr>
                                  <m:ctrlPr>
                                    <a:rPr lang="es-AR" sz="1200" i="1" smtClean="0">
                                      <a:latin typeface="Cambria Math" panose="02040503050406030204" pitchFamily="18" charset="0"/>
                                    </a:rPr>
                                  </m:ctrlPr>
                                </m:sSubPr>
                                <m:e>
                                  <m:r>
                                    <a:rPr lang="es-AR" sz="1200" b="0" i="1" smtClean="0">
                                      <a:latin typeface="Cambria Math" panose="02040503050406030204" pitchFamily="18" charset="0"/>
                                    </a:rPr>
                                    <m:t>𝑚</m:t>
                                  </m:r>
                                </m:e>
                                <m:sub>
                                  <m:r>
                                    <a:rPr lang="es-AR" sz="1200" b="0" i="1" smtClean="0">
                                      <a:latin typeface="Cambria Math" panose="02040503050406030204" pitchFamily="18" charset="0"/>
                                    </a:rPr>
                                    <m:t>𝑙</m:t>
                                  </m:r>
                                </m:sub>
                              </m:sSub>
                            </m:oMath>
                          </a14:m>
                          <a:r>
                            <a:rPr lang="es-AR" sz="1200" noProof="0" dirty="0">
                              <a:latin typeface="+mn-lt"/>
                            </a:rPr>
                            <a:t>=1.5 kg</a:t>
                          </a:r>
                        </a:p>
                      </a:txBody>
                      <a:tcPr>
                        <a:solidFill>
                          <a:srgbClr val="F0F4F8"/>
                        </a:solidFill>
                      </a:tcPr>
                    </a:tc>
                    <a:tc>
                      <a:txBody>
                        <a:bodyPr/>
                        <a:lstStyle/>
                        <a:p>
                          <a:r>
                            <a:rPr lang="es-AR" sz="1200" noProof="0" dirty="0">
                              <a:latin typeface="Calibri"/>
                            </a:rPr>
                            <a:t>114.46</a:t>
                          </a:r>
                        </a:p>
                      </a:txBody>
                      <a:tcPr>
                        <a:solidFill>
                          <a:srgbClr val="F0F4F8"/>
                        </a:solidFill>
                      </a:tcPr>
                    </a:tc>
                    <a:tc>
                      <a:txBody>
                        <a:bodyPr/>
                        <a:lstStyle/>
                        <a:p>
                          <a:r>
                            <a:rPr lang="es-AR" sz="1200" noProof="0">
                              <a:latin typeface="Calibri"/>
                            </a:rPr>
                            <a:t>0.830</a:t>
                          </a:r>
                        </a:p>
                      </a:txBody>
                      <a:tcPr>
                        <a:solidFill>
                          <a:srgbClr val="F0F4F8"/>
                        </a:solidFill>
                      </a:tcPr>
                    </a:tc>
                    <a:extLst>
                      <a:ext uri="{0D108BD9-81ED-4DB2-BD59-A6C34878D82A}">
                        <a16:rowId xmlns:a16="http://schemas.microsoft.com/office/drawing/2014/main" val="10004"/>
                      </a:ext>
                    </a:extLst>
                  </a:tr>
                  <a:tr h="313042">
                    <a:tc>
                      <a:txBody>
                        <a:bodyPr/>
                        <a:lstStyle/>
                        <a:p>
                          <a14:m>
                            <m:oMath xmlns:m="http://schemas.openxmlformats.org/officeDocument/2006/math">
                              <m:sSub>
                                <m:sSubPr>
                                  <m:ctrlPr>
                                    <a:rPr lang="es-AR" sz="1200" i="1" smtClean="0">
                                      <a:solidFill>
                                        <a:srgbClr val="836967"/>
                                      </a:solidFill>
                                      <a:latin typeface="Cambria Math" panose="02040503050406030204" pitchFamily="18" charset="0"/>
                                    </a:rPr>
                                  </m:ctrlPr>
                                </m:sSubPr>
                                <m:e>
                                  <m:r>
                                    <m:rPr>
                                      <m:sty m:val="p"/>
                                    </m:rPr>
                                    <a:rPr lang="es-AR" sz="1200" i="0">
                                      <a:latin typeface="Cambria Math" panose="02040503050406030204" pitchFamily="18" charset="0"/>
                                    </a:rPr>
                                    <m:t>J</m:t>
                                  </m:r>
                                </m:e>
                                <m:sub>
                                  <m:r>
                                    <m:rPr>
                                      <m:sty m:val="p"/>
                                    </m:rPr>
                                    <a:rPr lang="es-AR" sz="1200" i="0">
                                      <a:latin typeface="Cambria Math" panose="02040503050406030204" pitchFamily="18" charset="0"/>
                                    </a:rPr>
                                    <m:t>eq</m:t>
                                  </m:r>
                                </m:sub>
                              </m:sSub>
                            </m:oMath>
                          </a14:m>
                          <a:r>
                            <a:rPr lang="es-AR" sz="1200" noProof="0" dirty="0" err="1">
                              <a:latin typeface="Calibri"/>
                            </a:rPr>
                            <a:t>,</a:t>
                          </a:r>
                          <a:r>
                            <a:rPr lang="es-AR" sz="1200" dirty="0">
                              <a:solidFill>
                                <a:srgbClr val="836967"/>
                              </a:solidFill>
                            </a:rPr>
                            <a:t> </a:t>
                          </a:r>
                          <a14:m>
                            <m:oMath xmlns:m="http://schemas.openxmlformats.org/officeDocument/2006/math">
                              <m:sSub>
                                <m:sSubPr>
                                  <m:ctrlPr>
                                    <a:rPr lang="es-AR" sz="1200" i="1">
                                      <a:solidFill>
                                        <a:srgbClr val="836967"/>
                                      </a:solidFill>
                                      <a:latin typeface="Cambria Math" panose="02040503050406030204" pitchFamily="18" charset="0"/>
                                    </a:rPr>
                                  </m:ctrlPr>
                                </m:sSubPr>
                                <m:e>
                                  <m:r>
                                    <m:rPr>
                                      <m:sty m:val="p"/>
                                    </m:rPr>
                                    <a:rPr lang="es-AR" sz="1200" i="0">
                                      <a:latin typeface="Cambria Math" panose="02040503050406030204" pitchFamily="18" charset="0"/>
                                    </a:rPr>
                                    <m:t>b</m:t>
                                  </m:r>
                                </m:e>
                                <m:sub>
                                  <m:r>
                                    <m:rPr>
                                      <m:sty m:val="p"/>
                                    </m:rPr>
                                    <a:rPr lang="es-AR" sz="1200" i="0">
                                      <a:latin typeface="Cambria Math" panose="02040503050406030204" pitchFamily="18" charset="0"/>
                                    </a:rPr>
                                    <m:t>eq</m:t>
                                  </m:r>
                                </m:sub>
                              </m:sSub>
                            </m:oMath>
                          </a14:m>
                          <a:r>
                            <a:rPr lang="es-AR" sz="1200" noProof="0" dirty="0">
                              <a:latin typeface="Calibri"/>
                            </a:rPr>
                            <a:t> máximos (Rs @ 115°C)</a:t>
                          </a:r>
                        </a:p>
                      </a:txBody>
                      <a:tcPr/>
                    </a:tc>
                    <a:tc>
                      <a:txBody>
                        <a:bodyPr/>
                        <a:lstStyle/>
                        <a:p>
                          <a:r>
                            <a:rPr lang="es-AR" sz="1200" noProof="0">
                              <a:latin typeface="Calibri"/>
                            </a:rPr>
                            <a:t>114.58</a:t>
                          </a:r>
                        </a:p>
                      </a:txBody>
                      <a:tcPr/>
                    </a:tc>
                    <a:tc>
                      <a:txBody>
                        <a:bodyPr/>
                        <a:lstStyle/>
                        <a:p>
                          <a:r>
                            <a:rPr lang="es-AR" sz="1200" noProof="0" dirty="0">
                              <a:latin typeface="Calibri"/>
                            </a:rPr>
                            <a:t>1.054</a:t>
                          </a:r>
                        </a:p>
                      </a:txBody>
                      <a:tcPr/>
                    </a:tc>
                    <a:extLst>
                      <a:ext uri="{0D108BD9-81ED-4DB2-BD59-A6C34878D82A}">
                        <a16:rowId xmlns:a16="http://schemas.microsoft.com/office/drawing/2014/main" val="10005"/>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3010831419"/>
                  </p:ext>
                </p:extLst>
              </p:nvPr>
            </p:nvGraphicFramePr>
            <p:xfrm>
              <a:off x="426567" y="3600712"/>
              <a:ext cx="10486757" cy="1852515"/>
            </p:xfrm>
            <a:graphic>
              <a:graphicData uri="http://schemas.openxmlformats.org/drawingml/2006/table">
                <a:tbl>
                  <a:tblPr firstRow="1" bandRow="1">
                    <a:tableStyleId>{5C22544A-7EE6-4342-B048-85BDC9FD1C3A}</a:tableStyleId>
                  </a:tblPr>
                  <a:tblGrid>
                    <a:gridCol w="4584037">
                      <a:extLst>
                        <a:ext uri="{9D8B030D-6E8A-4147-A177-3AD203B41FA5}">
                          <a16:colId xmlns:a16="http://schemas.microsoft.com/office/drawing/2014/main" val="20000"/>
                        </a:ext>
                      </a:extLst>
                    </a:gridCol>
                    <a:gridCol w="2712303">
                      <a:extLst>
                        <a:ext uri="{9D8B030D-6E8A-4147-A177-3AD203B41FA5}">
                          <a16:colId xmlns:a16="http://schemas.microsoft.com/office/drawing/2014/main" val="20001"/>
                        </a:ext>
                      </a:extLst>
                    </a:gridCol>
                    <a:gridCol w="3190417">
                      <a:extLst>
                        <a:ext uri="{9D8B030D-6E8A-4147-A177-3AD203B41FA5}">
                          <a16:colId xmlns:a16="http://schemas.microsoft.com/office/drawing/2014/main" val="20002"/>
                        </a:ext>
                      </a:extLst>
                    </a:gridCol>
                  </a:tblGrid>
                  <a:tr h="304463">
                    <a:tc>
                      <a:txBody>
                        <a:bodyPr/>
                        <a:lstStyle/>
                        <a:p>
                          <a:r>
                            <a:rPr lang="es-AR" sz="1200" b="1" noProof="0" dirty="0">
                              <a:solidFill>
                                <a:srgbClr val="FFFFFF"/>
                              </a:solidFill>
                              <a:latin typeface="Calibri"/>
                            </a:rPr>
                            <a:t>Condición</a:t>
                          </a:r>
                        </a:p>
                      </a:txBody>
                      <a:tcPr>
                        <a:solidFill>
                          <a:srgbClr val="1A3A6B"/>
                        </a:solidFill>
                      </a:tcPr>
                    </a:tc>
                    <a:tc>
                      <a:txBody>
                        <a:bodyPr/>
                        <a:lstStyle/>
                        <a:p>
                          <a:endParaRPr lang="es-AR"/>
                        </a:p>
                      </a:txBody>
                      <a:tcPr>
                        <a:blipFill>
                          <a:blip r:embed="rId3"/>
                          <a:stretch>
                            <a:fillRect l="-169438" t="-2000" r="-118652" b="-514000"/>
                          </a:stretch>
                        </a:blipFill>
                      </a:tcPr>
                    </a:tc>
                    <a:tc>
                      <a:txBody>
                        <a:bodyPr/>
                        <a:lstStyle/>
                        <a:p>
                          <a:r>
                            <a:rPr sz="1200" b="1">
                              <a:solidFill>
                                <a:srgbClr val="FFFFFF"/>
                              </a:solidFill>
                              <a:latin typeface="Calibri"/>
                            </a:rPr>
                            <a:t>ζ</a:t>
                          </a:r>
                        </a:p>
                      </a:txBody>
                      <a:tcPr>
                        <a:solidFill>
                          <a:srgbClr val="1A3A6B"/>
                        </a:solidFill>
                      </a:tcPr>
                    </a:tc>
                    <a:extLst>
                      <a:ext uri="{0D108BD9-81ED-4DB2-BD59-A6C34878D82A}">
                        <a16:rowId xmlns:a16="http://schemas.microsoft.com/office/drawing/2014/main" val="10000"/>
                      </a:ext>
                    </a:extLst>
                  </a:tr>
                  <a:tr h="304463">
                    <a:tc>
                      <a:txBody>
                        <a:bodyPr/>
                        <a:lstStyle/>
                        <a:p>
                          <a:r>
                            <a:rPr lang="es-AR" sz="1200" noProof="0" dirty="0">
                              <a:latin typeface="Calibri"/>
                            </a:rPr>
                            <a:t>Rs = 1.10 Ω (40°C), </a:t>
                          </a:r>
                          <a:r>
                            <a:rPr lang="es-AR" sz="1200" noProof="0" dirty="0">
                              <a:latin typeface="+mn-lt"/>
                            </a:rPr>
                            <a:t>parámetros</a:t>
                          </a:r>
                          <a:r>
                            <a:rPr lang="es-AR" sz="1200" noProof="0" dirty="0">
                              <a:latin typeface="Calibri"/>
                            </a:rPr>
                            <a:t> nominales</a:t>
                          </a:r>
                        </a:p>
                      </a:txBody>
                      <a:tcPr/>
                    </a:tc>
                    <a:tc>
                      <a:txBody>
                        <a:bodyPr/>
                        <a:lstStyle/>
                        <a:p>
                          <a:r>
                            <a:rPr lang="es-AR" sz="1200" noProof="0">
                              <a:latin typeface="Calibri"/>
                            </a:rPr>
                            <a:t>174.15</a:t>
                          </a:r>
                        </a:p>
                      </a:txBody>
                      <a:tcPr/>
                    </a:tc>
                    <a:tc>
                      <a:txBody>
                        <a:bodyPr/>
                        <a:lstStyle/>
                        <a:p>
                          <a:r>
                            <a:rPr lang="es-AR" sz="1200" noProof="0">
                              <a:latin typeface="Calibri"/>
                            </a:rPr>
                            <a:t>0.547</a:t>
                          </a:r>
                        </a:p>
                      </a:txBody>
                      <a:tcPr/>
                    </a:tc>
                    <a:extLst>
                      <a:ext uri="{0D108BD9-81ED-4DB2-BD59-A6C34878D82A}">
                        <a16:rowId xmlns:a16="http://schemas.microsoft.com/office/drawing/2014/main" val="10001"/>
                      </a:ext>
                    </a:extLst>
                  </a:tr>
                  <a:tr h="304463">
                    <a:tc>
                      <a:txBody>
                        <a:bodyPr/>
                        <a:lstStyle/>
                        <a:p>
                          <a:r>
                            <a:rPr lang="es-AR" sz="1200" noProof="0" dirty="0">
                              <a:latin typeface="Calibri"/>
                            </a:rPr>
                            <a:t>Rs = 1.40 Ω (115°C), parámetros nominales</a:t>
                          </a:r>
                        </a:p>
                      </a:txBody>
                      <a:tcPr>
                        <a:solidFill>
                          <a:srgbClr val="F0F4F8"/>
                        </a:solidFill>
                      </a:tcPr>
                    </a:tc>
                    <a:tc>
                      <a:txBody>
                        <a:bodyPr/>
                        <a:lstStyle/>
                        <a:p>
                          <a:r>
                            <a:rPr lang="es-AR" sz="1200" noProof="0">
                              <a:latin typeface="Calibri"/>
                            </a:rPr>
                            <a:t>174.31</a:t>
                          </a:r>
                        </a:p>
                      </a:txBody>
                      <a:tcPr>
                        <a:solidFill>
                          <a:srgbClr val="F0F4F8"/>
                        </a:solidFill>
                      </a:tcPr>
                    </a:tc>
                    <a:tc>
                      <a:txBody>
                        <a:bodyPr/>
                        <a:lstStyle/>
                        <a:p>
                          <a:r>
                            <a:rPr lang="es-AR" sz="1200" noProof="0">
                              <a:latin typeface="Calibri"/>
                            </a:rPr>
                            <a:t>0.695</a:t>
                          </a:r>
                        </a:p>
                      </a:txBody>
                      <a:tcPr>
                        <a:solidFill>
                          <a:srgbClr val="F0F4F8"/>
                        </a:solidFill>
                      </a:tcPr>
                    </a:tc>
                    <a:extLst>
                      <a:ext uri="{0D108BD9-81ED-4DB2-BD59-A6C34878D82A}">
                        <a16:rowId xmlns:a16="http://schemas.microsoft.com/office/drawing/2014/main" val="10002"/>
                      </a:ext>
                    </a:extLst>
                  </a:tr>
                  <a:tr h="313042">
                    <a:tc>
                      <a:txBody>
                        <a:bodyPr/>
                        <a:lstStyle/>
                        <a:p>
                          <a:endParaRPr lang="es-AR"/>
                        </a:p>
                      </a:txBody>
                      <a:tcPr>
                        <a:blipFill>
                          <a:blip r:embed="rId3"/>
                          <a:stretch>
                            <a:fillRect l="-133" t="-290385" r="-129216" b="-201923"/>
                          </a:stretch>
                        </a:blipFill>
                      </a:tcPr>
                    </a:tc>
                    <a:tc>
                      <a:txBody>
                        <a:bodyPr/>
                        <a:lstStyle/>
                        <a:p>
                          <a:r>
                            <a:rPr lang="es-AR" sz="1200" noProof="0">
                              <a:latin typeface="Calibri"/>
                            </a:rPr>
                            <a:t>174.09</a:t>
                          </a:r>
                        </a:p>
                      </a:txBody>
                      <a:tcPr/>
                    </a:tc>
                    <a:tc>
                      <a:txBody>
                        <a:bodyPr/>
                        <a:lstStyle/>
                        <a:p>
                          <a:r>
                            <a:rPr lang="es-AR" sz="1200" noProof="0">
                              <a:latin typeface="Calibri"/>
                            </a:rPr>
                            <a:t>0.547</a:t>
                          </a:r>
                        </a:p>
                      </a:txBody>
                      <a:tcPr/>
                    </a:tc>
                    <a:extLst>
                      <a:ext uri="{0D108BD9-81ED-4DB2-BD59-A6C34878D82A}">
                        <a16:rowId xmlns:a16="http://schemas.microsoft.com/office/drawing/2014/main" val="10003"/>
                      </a:ext>
                    </a:extLst>
                  </a:tr>
                  <a:tr h="313042">
                    <a:tc>
                      <a:txBody>
                        <a:bodyPr/>
                        <a:lstStyle/>
                        <a:p>
                          <a:endParaRPr lang="es-AR"/>
                        </a:p>
                      </a:txBody>
                      <a:tcPr>
                        <a:blipFill>
                          <a:blip r:embed="rId3"/>
                          <a:stretch>
                            <a:fillRect l="-133" t="-398039" r="-129216" b="-105882"/>
                          </a:stretch>
                        </a:blipFill>
                      </a:tcPr>
                    </a:tc>
                    <a:tc>
                      <a:txBody>
                        <a:bodyPr/>
                        <a:lstStyle/>
                        <a:p>
                          <a:r>
                            <a:rPr lang="es-AR" sz="1200" noProof="0" dirty="0">
                              <a:latin typeface="Calibri"/>
                            </a:rPr>
                            <a:t>114.46</a:t>
                          </a:r>
                        </a:p>
                      </a:txBody>
                      <a:tcPr>
                        <a:solidFill>
                          <a:srgbClr val="F0F4F8"/>
                        </a:solidFill>
                      </a:tcPr>
                    </a:tc>
                    <a:tc>
                      <a:txBody>
                        <a:bodyPr/>
                        <a:lstStyle/>
                        <a:p>
                          <a:r>
                            <a:rPr lang="es-AR" sz="1200" noProof="0">
                              <a:latin typeface="Calibri"/>
                            </a:rPr>
                            <a:t>0.830</a:t>
                          </a:r>
                        </a:p>
                      </a:txBody>
                      <a:tcPr>
                        <a:solidFill>
                          <a:srgbClr val="F0F4F8"/>
                        </a:solidFill>
                      </a:tcPr>
                    </a:tc>
                    <a:extLst>
                      <a:ext uri="{0D108BD9-81ED-4DB2-BD59-A6C34878D82A}">
                        <a16:rowId xmlns:a16="http://schemas.microsoft.com/office/drawing/2014/main" val="10004"/>
                      </a:ext>
                    </a:extLst>
                  </a:tr>
                  <a:tr h="313042">
                    <a:tc>
                      <a:txBody>
                        <a:bodyPr/>
                        <a:lstStyle/>
                        <a:p>
                          <a:endParaRPr lang="es-AR"/>
                        </a:p>
                      </a:txBody>
                      <a:tcPr>
                        <a:blipFill>
                          <a:blip r:embed="rId3"/>
                          <a:stretch>
                            <a:fillRect l="-133" t="-488462" r="-129216" b="-3846"/>
                          </a:stretch>
                        </a:blipFill>
                      </a:tcPr>
                    </a:tc>
                    <a:tc>
                      <a:txBody>
                        <a:bodyPr/>
                        <a:lstStyle/>
                        <a:p>
                          <a:r>
                            <a:rPr lang="es-AR" sz="1200" noProof="0">
                              <a:latin typeface="Calibri"/>
                            </a:rPr>
                            <a:t>114.58</a:t>
                          </a:r>
                        </a:p>
                      </a:txBody>
                      <a:tcPr/>
                    </a:tc>
                    <a:tc>
                      <a:txBody>
                        <a:bodyPr/>
                        <a:lstStyle/>
                        <a:p>
                          <a:r>
                            <a:rPr lang="es-AR" sz="1200" noProof="0" dirty="0">
                              <a:latin typeface="Calibri"/>
                            </a:rPr>
                            <a:t>1.054</a:t>
                          </a:r>
                        </a:p>
                      </a:txBody>
                      <a:tcPr/>
                    </a:tc>
                    <a:extLst>
                      <a:ext uri="{0D108BD9-81ED-4DB2-BD59-A6C34878D82A}">
                        <a16:rowId xmlns:a16="http://schemas.microsoft.com/office/drawing/2014/main" val="10005"/>
                      </a:ext>
                    </a:extLst>
                  </a:tr>
                </a:tbl>
              </a:graphicData>
            </a:graphic>
          </p:graphicFrame>
        </mc:Fallback>
      </mc:AlternateContent>
      <mc:AlternateContent xmlns:mc="http://schemas.openxmlformats.org/markup-compatibility/2006" xmlns:a14="http://schemas.microsoft.com/office/drawing/2010/main">
        <mc:Choice Requires="a14">
          <p:sp>
            <p:nvSpPr>
              <p:cNvPr id="13" name="TextBox 12"/>
              <p:cNvSpPr txBox="1"/>
              <p:nvPr/>
            </p:nvSpPr>
            <p:spPr>
              <a:xfrm>
                <a:off x="380846" y="5569940"/>
                <a:ext cx="11430000" cy="812915"/>
              </a:xfrm>
              <a:prstGeom prst="rect">
                <a:avLst/>
              </a:prstGeom>
              <a:noFill/>
            </p:spPr>
            <p:txBody>
              <a:bodyPr wrap="square">
                <a:spAutoFit/>
              </a:bodyPr>
              <a:lstStyle/>
              <a:p>
                <a14:m>
                  <m:oMath xmlns:m="http://schemas.openxmlformats.org/officeDocument/2006/math">
                    <m:sSub>
                      <m:sSubPr>
                        <m:ctrlPr>
                          <a:rPr lang="es-AR" sz="1300" i="1" smtClean="0">
                            <a:solidFill>
                              <a:schemeClr val="tx1"/>
                            </a:solidFill>
                            <a:latin typeface="Cambria Math" panose="02040503050406030204" pitchFamily="18" charset="0"/>
                          </a:rPr>
                        </m:ctrlPr>
                      </m:sSubPr>
                      <m:e>
                        <m:r>
                          <m:rPr>
                            <m:sty m:val="p"/>
                          </m:rPr>
                          <a:rPr lang="es-AR" sz="1300">
                            <a:solidFill>
                              <a:schemeClr val="tx1"/>
                            </a:solidFill>
                            <a:latin typeface="Cambria Math" panose="02040503050406030204" pitchFamily="18" charset="0"/>
                          </a:rPr>
                          <m:t>ω</m:t>
                        </m:r>
                      </m:e>
                      <m:sub>
                        <m:r>
                          <a:rPr lang="es-AR" sz="1300" i="1">
                            <a:solidFill>
                              <a:schemeClr val="tx1"/>
                            </a:solidFill>
                            <a:latin typeface="Cambria Math" panose="02040503050406030204" pitchFamily="18" charset="0"/>
                          </a:rPr>
                          <m:t>𝑛</m:t>
                        </m:r>
                      </m:sub>
                    </m:sSub>
                  </m:oMath>
                </a14:m>
                <a:r>
                  <a:rPr lang="es-AR" sz="1300" dirty="0">
                    <a:solidFill>
                      <a:srgbClr val="1A1A2E"/>
                    </a:solidFill>
                    <a:latin typeface="Calibri"/>
                  </a:rPr>
                  <a:t> prácticamente no varía con la temperatura — lo que cambia es el amortiguamiento ζ</a:t>
                </a:r>
              </a:p>
              <a:p>
                <a:pPr>
                  <a:spcBef>
                    <a:spcPts val="400"/>
                  </a:spcBef>
                </a:pPr>
                <a:r>
                  <a:rPr lang="es-AR" sz="1300" dirty="0">
                    <a:solidFill>
                      <a:srgbClr val="1A1A2E"/>
                    </a:solidFill>
                    <a:latin typeface="Calibri"/>
                  </a:rPr>
                  <a:t>Mayor </a:t>
                </a:r>
                <a14:m>
                  <m:oMath xmlns:m="http://schemas.openxmlformats.org/officeDocument/2006/math">
                    <m:sSub>
                      <m:sSubPr>
                        <m:ctrlPr>
                          <a:rPr lang="es-AR" sz="1300" i="1" smtClean="0">
                            <a:solidFill>
                              <a:srgbClr val="836967"/>
                            </a:solidFill>
                            <a:latin typeface="Cambria Math" panose="02040503050406030204" pitchFamily="18" charset="0"/>
                          </a:rPr>
                        </m:ctrlPr>
                      </m:sSubPr>
                      <m:e>
                        <m:r>
                          <m:rPr>
                            <m:sty m:val="p"/>
                          </m:rPr>
                          <a:rPr lang="es-AR" sz="1300" i="0">
                            <a:latin typeface="Cambria Math" panose="02040503050406030204" pitchFamily="18" charset="0"/>
                          </a:rPr>
                          <m:t>J</m:t>
                        </m:r>
                      </m:e>
                      <m:sub>
                        <m:r>
                          <m:rPr>
                            <m:sty m:val="p"/>
                          </m:rPr>
                          <a:rPr lang="es-AR" sz="1300" i="0">
                            <a:latin typeface="Cambria Math" panose="02040503050406030204" pitchFamily="18" charset="0"/>
                          </a:rPr>
                          <m:t>eq</m:t>
                        </m:r>
                      </m:sub>
                    </m:sSub>
                    <m:r>
                      <a:rPr lang="es-AR" sz="1300" i="0">
                        <a:latin typeface="Cambria Math" panose="02040503050406030204" pitchFamily="18" charset="0"/>
                      </a:rPr>
                      <m:t> </m:t>
                    </m:r>
                  </m:oMath>
                </a14:m>
                <a:r>
                  <a:rPr lang="es-AR" sz="1300" dirty="0">
                    <a:solidFill>
                      <a:srgbClr val="1A1A2E"/>
                    </a:solidFill>
                    <a:latin typeface="Calibri"/>
                  </a:rPr>
                  <a:t> (mayor carga) → </a:t>
                </a:r>
                <a14:m>
                  <m:oMath xmlns:m="http://schemas.openxmlformats.org/officeDocument/2006/math">
                    <m:sSub>
                      <m:sSubPr>
                        <m:ctrlPr>
                          <a:rPr lang="es-AR" sz="1300" i="1">
                            <a:latin typeface="Cambria Math" panose="02040503050406030204" pitchFamily="18" charset="0"/>
                          </a:rPr>
                        </m:ctrlPr>
                      </m:sSubPr>
                      <m:e>
                        <m:r>
                          <m:rPr>
                            <m:sty m:val="p"/>
                          </m:rPr>
                          <a:rPr lang="es-AR" sz="1300">
                            <a:latin typeface="Cambria Math" panose="02040503050406030204" pitchFamily="18" charset="0"/>
                          </a:rPr>
                          <m:t>ω</m:t>
                        </m:r>
                      </m:e>
                      <m:sub>
                        <m:r>
                          <a:rPr lang="es-AR" sz="1300" i="1">
                            <a:latin typeface="Cambria Math" panose="02040503050406030204" pitchFamily="18" charset="0"/>
                          </a:rPr>
                          <m:t>𝑛</m:t>
                        </m:r>
                      </m:sub>
                    </m:sSub>
                  </m:oMath>
                </a14:m>
                <a:r>
                  <a:rPr lang="es-AR" sz="1300" dirty="0">
                    <a:solidFill>
                      <a:srgbClr val="1A1A2E"/>
                    </a:solidFill>
                    <a:latin typeface="Calibri"/>
                  </a:rPr>
                  <a:t> disminuye significativamente (respuesta más lenta)</a:t>
                </a:r>
              </a:p>
              <a:p>
                <a:pPr>
                  <a:spcBef>
                    <a:spcPts val="400"/>
                  </a:spcBef>
                </a:pPr>
                <a:r>
                  <a:rPr lang="es-AR" sz="1300" dirty="0">
                    <a:solidFill>
                      <a:srgbClr val="1A1A2E"/>
                    </a:solidFill>
                    <a:latin typeface="Calibri"/>
                  </a:rPr>
                  <a:t>Mayor </a:t>
                </a:r>
                <a14:m>
                  <m:oMath xmlns:m="http://schemas.openxmlformats.org/officeDocument/2006/math">
                    <m:sSub>
                      <m:sSubPr>
                        <m:ctrlPr>
                          <a:rPr lang="es-AR" sz="1300" i="1" smtClean="0">
                            <a:solidFill>
                              <a:schemeClr val="tx1"/>
                            </a:solidFill>
                            <a:latin typeface="Cambria Math" panose="02040503050406030204" pitchFamily="18" charset="0"/>
                          </a:rPr>
                        </m:ctrlPr>
                      </m:sSubPr>
                      <m:e>
                        <m:r>
                          <a:rPr lang="es-AR" sz="1300" i="1">
                            <a:solidFill>
                              <a:schemeClr val="tx1"/>
                            </a:solidFill>
                            <a:latin typeface="Cambria Math" panose="02040503050406030204" pitchFamily="18" charset="0"/>
                          </a:rPr>
                          <m:t>𝑅</m:t>
                        </m:r>
                      </m:e>
                      <m:sub>
                        <m:r>
                          <a:rPr lang="es-AR" sz="1300" i="1">
                            <a:solidFill>
                              <a:schemeClr val="tx1"/>
                            </a:solidFill>
                            <a:latin typeface="Cambria Math" panose="02040503050406030204" pitchFamily="18" charset="0"/>
                          </a:rPr>
                          <m:t>𝑠</m:t>
                        </m:r>
                      </m:sub>
                    </m:sSub>
                  </m:oMath>
                </a14:m>
                <a:r>
                  <a:rPr lang="es-AR" sz="1300" dirty="0">
                    <a:solidFill>
                      <a:srgbClr val="1A1A2E"/>
                    </a:solidFill>
                    <a:latin typeface="Calibri"/>
                  </a:rPr>
                  <a:t> (mayor temperatura) → ζ aumenta (sistema más amortiguado, puede volverse sobre amortiguado)</a:t>
                </a:r>
              </a:p>
            </p:txBody>
          </p:sp>
        </mc:Choice>
        <mc:Fallback xmlns="">
          <p:sp>
            <p:nvSpPr>
              <p:cNvPr id="13" name="TextBox 12"/>
              <p:cNvSpPr txBox="1">
                <a:spLocks noRot="1" noChangeAspect="1" noMove="1" noResize="1" noEditPoints="1" noAdjustHandles="1" noChangeArrowheads="1" noChangeShapeType="1" noTextEdit="1"/>
              </p:cNvSpPr>
              <p:nvPr/>
            </p:nvSpPr>
            <p:spPr>
              <a:xfrm>
                <a:off x="380846" y="5569940"/>
                <a:ext cx="11430000" cy="812915"/>
              </a:xfrm>
              <a:prstGeom prst="rect">
                <a:avLst/>
              </a:prstGeom>
              <a:blipFill>
                <a:blip r:embed="rId4"/>
                <a:stretch>
                  <a:fillRect l="-53" t="-752" b="-601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C3DF8E19-10B4-4C82-B49F-788B31D4C8E8}"/>
                  </a:ext>
                </a:extLst>
              </p:cNvPr>
              <p:cNvSpPr txBox="1"/>
              <p:nvPr/>
            </p:nvSpPr>
            <p:spPr>
              <a:xfrm>
                <a:off x="-1305013" y="2360402"/>
                <a:ext cx="6143346" cy="9305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𝑛</m:t>
                          </m:r>
                        </m:sub>
                      </m:sSub>
                      <m:r>
                        <a:rPr lang="es-AR" sz="1400" i="0">
                          <a:solidFill>
                            <a:schemeClr val="tx1"/>
                          </a:solidFill>
                          <a:latin typeface="Cambria Math" panose="02040503050406030204" pitchFamily="18" charset="0"/>
                        </a:rPr>
                        <m:t>=</m:t>
                      </m:r>
                      <m:rad>
                        <m:radPr>
                          <m:degHide m:val="on"/>
                          <m:ctrlPr>
                            <a:rPr lang="es-AR" sz="1400" i="1">
                              <a:solidFill>
                                <a:schemeClr val="tx1"/>
                              </a:solidFill>
                              <a:latin typeface="Cambria Math" panose="02040503050406030204" pitchFamily="18" charset="0"/>
                            </a:rPr>
                          </m:ctrlPr>
                        </m:radPr>
                        <m:deg/>
                        <m:e>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up>
                                      <m:r>
                                        <a:rPr lang="es-AR" sz="1400" i="0">
                                          <a:solidFill>
                                            <a:schemeClr val="tx1"/>
                                          </a:solidFill>
                                          <a:latin typeface="Cambria Math" panose="02040503050406030204" pitchFamily="18" charset="0"/>
                                        </a:rPr>
                                        <m:t>∘</m:t>
                                      </m:r>
                                    </m:sup>
                                  </m:sSubSup>
                                </m:e>
                              </m:d>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3</m:t>
                                  </m:r>
                                </m:num>
                                <m:den>
                                  <m:r>
                                    <a:rPr lang="es-AR" sz="1400" i="0">
                                      <a:solidFill>
                                        <a:schemeClr val="tx1"/>
                                      </a:solidFill>
                                      <a:latin typeface="Cambria Math" panose="02040503050406030204" pitchFamily="18" charset="0"/>
                                    </a:rPr>
                                    <m:t>2</m:t>
                                  </m:r>
                                </m:den>
                              </m:f>
                              <m:r>
                                <a:rPr lang="es-AR" sz="1400" i="0">
                                  <a:solidFill>
                                    <a:schemeClr val="tx1"/>
                                  </a:solidFill>
                                  <a:latin typeface="Cambria Math" panose="02040503050406030204" pitchFamily="18" charset="0"/>
                                </a:rPr>
                                <m:t> </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𝑝</m:t>
                                  </m:r>
                                </m:e>
                                <m:sub>
                                  <m:r>
                                    <a:rPr lang="es-AR" sz="1400" i="1">
                                      <a:solidFill>
                                        <a:schemeClr val="tx1"/>
                                      </a:solidFill>
                                      <a:latin typeface="Cambria Math" panose="02040503050406030204" pitchFamily="18" charset="0"/>
                                    </a:rPr>
                                    <m:t>𝑝</m:t>
                                  </m:r>
                                </m:sub>
                                <m:sup>
                                  <m:r>
                                    <a:rPr lang="es-AR" sz="1400" i="0">
                                      <a:solidFill>
                                        <a:schemeClr val="tx1"/>
                                      </a:solidFill>
                                      <a:latin typeface="Cambria Math" panose="02040503050406030204" pitchFamily="18" charset="0"/>
                                    </a:rPr>
                                    <m:t>2</m:t>
                                  </m:r>
                                </m:sup>
                              </m:sSubSup>
                              <m:r>
                                <a:rPr lang="es-AR" sz="1400" i="0">
                                  <a:solidFill>
                                    <a:schemeClr val="tx1"/>
                                  </a:solidFill>
                                  <a:latin typeface="Cambria Math" panose="02040503050406030204" pitchFamily="18" charset="0"/>
                                </a:rPr>
                                <m:t> </m:t>
                              </m:r>
                              <m:sSup>
                                <m:sSupPr>
                                  <m:ctrlPr>
                                    <a:rPr lang="es-AR" sz="1400" i="1">
                                      <a:solidFill>
                                        <a:schemeClr val="tx1"/>
                                      </a:solidFill>
                                      <a:latin typeface="Cambria Math" panose="02040503050406030204" pitchFamily="18" charset="0"/>
                                    </a:rPr>
                                  </m:ctrlPr>
                                </m:sSupPr>
                                <m:e>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m:rPr>
                                              <m:sty m:val="p"/>
                                            </m:rPr>
                                            <a:rPr lang="es-AR" sz="1400" i="0">
                                              <a:solidFill>
                                                <a:schemeClr val="tx1"/>
                                              </a:solidFill>
                                              <a:latin typeface="Cambria Math" panose="02040503050406030204" pitchFamily="18" charset="0"/>
                                            </a:rPr>
                                            <m:t>λ</m:t>
                                          </m:r>
                                        </m:e>
                                        <m:sub>
                                          <m:r>
                                            <a:rPr lang="es-AR" sz="1400" i="1">
                                              <a:solidFill>
                                                <a:schemeClr val="tx1"/>
                                              </a:solidFill>
                                              <a:latin typeface="Cambria Math" panose="02040503050406030204" pitchFamily="18" charset="0"/>
                                            </a:rPr>
                                            <m:t>𝑚</m:t>
                                          </m:r>
                                        </m:sub>
                                        <m:sup>
                                          <m:r>
                                            <a:rPr lang="es-AR" sz="1400" i="0">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𝑟</m:t>
                                          </m:r>
                                        </m:sup>
                                      </m:sSubSup>
                                    </m:e>
                                  </m:d>
                                </m:e>
                                <m:sup>
                                  <m:r>
                                    <a:rPr lang="es-AR" sz="1400" i="0">
                                      <a:solidFill>
                                        <a:schemeClr val="tx1"/>
                                      </a:solidFill>
                                      <a:latin typeface="Cambria Math" panose="02040503050406030204" pitchFamily="18" charset="0"/>
                                    </a:rPr>
                                    <m:t>2</m:t>
                                  </m:r>
                                </m:sup>
                              </m:sSup>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den>
                          </m:f>
                        </m:e>
                      </m:rad>
                    </m:oMath>
                  </m:oMathPara>
                </a14:m>
                <a:endParaRPr lang="es-AR" dirty="0"/>
              </a:p>
            </p:txBody>
          </p:sp>
        </mc:Choice>
        <mc:Fallback xmlns="">
          <p:sp>
            <p:nvSpPr>
              <p:cNvPr id="15" name="CuadroTexto 14">
                <a:extLst>
                  <a:ext uri="{FF2B5EF4-FFF2-40B4-BE49-F238E27FC236}">
                    <a16:creationId xmlns:a16="http://schemas.microsoft.com/office/drawing/2014/main" id="{C3DF8E19-10B4-4C82-B49F-788B31D4C8E8}"/>
                  </a:ext>
                </a:extLst>
              </p:cNvPr>
              <p:cNvSpPr txBox="1">
                <a:spLocks noRot="1" noChangeAspect="1" noMove="1" noResize="1" noEditPoints="1" noAdjustHandles="1" noChangeArrowheads="1" noChangeShapeType="1" noTextEdit="1"/>
              </p:cNvSpPr>
              <p:nvPr/>
            </p:nvSpPr>
            <p:spPr>
              <a:xfrm>
                <a:off x="-1305013" y="2360402"/>
                <a:ext cx="6143346" cy="930511"/>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0D47FAB2-910A-4CC2-9CFC-9DA082C28652}"/>
                  </a:ext>
                </a:extLst>
              </p:cNvPr>
              <p:cNvSpPr txBox="1"/>
              <p:nvPr/>
            </p:nvSpPr>
            <p:spPr>
              <a:xfrm>
                <a:off x="1217872" y="2577733"/>
                <a:ext cx="6143346" cy="5810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AR" sz="1400" smtClean="0">
                          <a:solidFill>
                            <a:schemeClr val="tx1"/>
                          </a:solidFill>
                          <a:latin typeface="Cambria Math" panose="02040503050406030204" pitchFamily="18" charset="0"/>
                        </a:rPr>
                        <m:t>ζ</m:t>
                      </m:r>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L</m:t>
                              </m:r>
                            </m:e>
                            <m:sub>
                              <m:r>
                                <m:rPr>
                                  <m:sty m:val="p"/>
                                </m:rPr>
                                <a:rPr lang="es-AR" sz="1400" i="0">
                                  <a:solidFill>
                                    <a:schemeClr val="tx1"/>
                                  </a:solidFill>
                                  <a:latin typeface="Cambria Math" panose="02040503050406030204" pitchFamily="18" charset="0"/>
                                </a:rPr>
                                <m:t>q</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b</m:t>
                              </m:r>
                            </m:e>
                            <m:sub>
                              <m:r>
                                <m:rPr>
                                  <m:sty m:val="p"/>
                                </m:rPr>
                                <a:rPr lang="es-AR" sz="1400" i="0">
                                  <a:solidFill>
                                    <a:schemeClr val="tx1"/>
                                  </a:solidFill>
                                  <a:latin typeface="Cambria Math" panose="02040503050406030204" pitchFamily="18" charset="0"/>
                                </a:rPr>
                                <m:t>eq</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R</m:t>
                              </m:r>
                            </m:e>
                            <m:sub>
                              <m:r>
                                <m:rPr>
                                  <m:sty m:val="p"/>
                                </m:rPr>
                                <a:rPr lang="es-AR" sz="1400" i="0">
                                  <a:solidFill>
                                    <a:schemeClr val="tx1"/>
                                  </a:solidFill>
                                  <a:latin typeface="Cambria Math" panose="02040503050406030204" pitchFamily="18" charset="0"/>
                                </a:rPr>
                                <m:t>s</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m:rPr>
                                      <m:sty m:val="p"/>
                                    </m:rPr>
                                    <a:rPr lang="es-AR" sz="1400" i="0">
                                      <a:solidFill>
                                        <a:schemeClr val="tx1"/>
                                      </a:solidFill>
                                      <a:latin typeface="Cambria Math" panose="02040503050406030204" pitchFamily="18" charset="0"/>
                                    </a:rPr>
                                    <m:t>T</m:t>
                                  </m:r>
                                </m:e>
                                <m:sub>
                                  <m:r>
                                    <m:rPr>
                                      <m:sty m:val="p"/>
                                    </m:rPr>
                                    <a:rPr lang="es-AR" sz="1400" i="0">
                                      <a:solidFill>
                                        <a:schemeClr val="tx1"/>
                                      </a:solidFill>
                                      <a:latin typeface="Cambria Math" panose="02040503050406030204" pitchFamily="18" charset="0"/>
                                    </a:rPr>
                                    <m:t>s</m:t>
                                  </m:r>
                                </m:sub>
                                <m:sup>
                                  <m:r>
                                    <a:rPr lang="es-AR" sz="1400" i="0">
                                      <a:solidFill>
                                        <a:schemeClr val="tx1"/>
                                      </a:solidFill>
                                      <a:latin typeface="Cambria Math" panose="02040503050406030204" pitchFamily="18" charset="0"/>
                                    </a:rPr>
                                    <m:t>∘</m:t>
                                  </m:r>
                                </m:sup>
                              </m:sSubSup>
                            </m:e>
                          </m:d>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J</m:t>
                              </m:r>
                            </m:e>
                            <m:sub>
                              <m:r>
                                <m:rPr>
                                  <m:sty m:val="p"/>
                                </m:rPr>
                                <a:rPr lang="es-AR" sz="1400" i="0">
                                  <a:solidFill>
                                    <a:schemeClr val="tx1"/>
                                  </a:solidFill>
                                  <a:latin typeface="Cambria Math" panose="02040503050406030204" pitchFamily="18" charset="0"/>
                                </a:rPr>
                                <m:t>eq</m:t>
                              </m:r>
                            </m:sub>
                          </m:sSub>
                        </m:num>
                        <m:den>
                          <m:r>
                            <a:rPr lang="es-AR" sz="1400" i="0">
                              <a:solidFill>
                                <a:schemeClr val="tx1"/>
                              </a:solidFill>
                              <a:latin typeface="Cambria Math" panose="02040503050406030204" pitchFamily="18" charset="0"/>
                            </a:rPr>
                            <m:t>2 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J</m:t>
                              </m:r>
                            </m:e>
                            <m:sub>
                              <m:r>
                                <m:rPr>
                                  <m:sty m:val="p"/>
                                </m:rPr>
                                <a:rPr lang="es-AR" sz="1400" i="0">
                                  <a:solidFill>
                                    <a:schemeClr val="tx1"/>
                                  </a:solidFill>
                                  <a:latin typeface="Cambria Math" panose="02040503050406030204" pitchFamily="18" charset="0"/>
                                </a:rPr>
                                <m:t>eq</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L</m:t>
                              </m:r>
                            </m:e>
                            <m:sub>
                              <m:r>
                                <m:rPr>
                                  <m:sty m:val="p"/>
                                </m:rPr>
                                <a:rPr lang="es-AR" sz="1400" i="0">
                                  <a:solidFill>
                                    <a:schemeClr val="tx1"/>
                                  </a:solidFill>
                                  <a:latin typeface="Cambria Math" panose="02040503050406030204" pitchFamily="18" charset="0"/>
                                </a:rPr>
                                <m:t>q</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ω</m:t>
                              </m:r>
                            </m:e>
                            <m:sub>
                              <m:r>
                                <m:rPr>
                                  <m:sty m:val="p"/>
                                </m:rPr>
                                <a:rPr lang="es-AR" sz="1400" i="0">
                                  <a:solidFill>
                                    <a:schemeClr val="tx1"/>
                                  </a:solidFill>
                                  <a:latin typeface="Cambria Math" panose="02040503050406030204" pitchFamily="18" charset="0"/>
                                </a:rPr>
                                <m:t>n</m:t>
                              </m:r>
                            </m:sub>
                          </m:sSub>
                        </m:den>
                      </m:f>
                    </m:oMath>
                  </m:oMathPara>
                </a14:m>
                <a:endParaRPr lang="es-AR" sz="1400" dirty="0"/>
              </a:p>
            </p:txBody>
          </p:sp>
        </mc:Choice>
        <mc:Fallback xmlns="">
          <p:sp>
            <p:nvSpPr>
              <p:cNvPr id="17" name="CuadroTexto 16">
                <a:extLst>
                  <a:ext uri="{FF2B5EF4-FFF2-40B4-BE49-F238E27FC236}">
                    <a16:creationId xmlns:a16="http://schemas.microsoft.com/office/drawing/2014/main" id="{0D47FAB2-910A-4CC2-9CFC-9DA082C28652}"/>
                  </a:ext>
                </a:extLst>
              </p:cNvPr>
              <p:cNvSpPr txBox="1">
                <a:spLocks noRot="1" noChangeAspect="1" noMove="1" noResize="1" noEditPoints="1" noAdjustHandles="1" noChangeArrowheads="1" noChangeShapeType="1" noTextEdit="1"/>
              </p:cNvSpPr>
              <p:nvPr/>
            </p:nvSpPr>
            <p:spPr>
              <a:xfrm>
                <a:off x="1217872" y="2577733"/>
                <a:ext cx="6143346" cy="581057"/>
              </a:xfrm>
              <a:prstGeom prst="rect">
                <a:avLst/>
              </a:prstGeom>
              <a:blipFill>
                <a:blip r:embed="rId6"/>
                <a:stretch>
                  <a:fillRect/>
                </a:stretch>
              </a:blipFill>
            </p:spPr>
            <p:txBody>
              <a:bodyPr/>
              <a:lstStyle/>
              <a:p>
                <a:r>
                  <a:rPr lang="es-AR">
                    <a:noFill/>
                  </a:rPr>
                  <a:t> </a:t>
                </a:r>
              </a:p>
            </p:txBody>
          </p:sp>
        </mc:Fallback>
      </mc:AlternateContent>
      <p:sp>
        <p:nvSpPr>
          <p:cNvPr id="14" name="Shape 14">
            <a:extLst>
              <a:ext uri="{FF2B5EF4-FFF2-40B4-BE49-F238E27FC236}">
                <a16:creationId xmlns:a16="http://schemas.microsoft.com/office/drawing/2014/main" id="{EDA96A35-DC5A-4231-B367-8F13B52C36A3}"/>
              </a:ext>
            </a:extLst>
          </p:cNvPr>
          <p:cNvSpPr/>
          <p:nvPr/>
        </p:nvSpPr>
        <p:spPr>
          <a:xfrm>
            <a:off x="320039" y="1234199"/>
            <a:ext cx="11551615" cy="962983"/>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BB668F99-9D93-4E57-9121-0A4CDA553DE1}"/>
                  </a:ext>
                </a:extLst>
              </p:cNvPr>
              <p:cNvSpPr txBox="1"/>
              <p:nvPr/>
            </p:nvSpPr>
            <p:spPr>
              <a:xfrm>
                <a:off x="551973" y="1390398"/>
                <a:ext cx="8572722" cy="634148"/>
              </a:xfrm>
              <a:prstGeom prst="rect">
                <a:avLst/>
              </a:prstGeom>
              <a:noFill/>
            </p:spPr>
            <p:txBody>
              <a:bodyPr wrap="square">
                <a:spAutoFit/>
              </a:bodyPr>
              <a:lstStyle/>
              <a:p>
                <a14:m>
                  <m:oMath xmlns:m="http://schemas.openxmlformats.org/officeDocument/2006/math">
                    <m:sSup>
                      <m:sSupPr>
                        <m:ctrlPr>
                          <a:rPr lang="es-AR" sz="1600" i="1" smtClean="0">
                            <a:latin typeface="Cambria Math" panose="02040503050406030204" pitchFamily="18" charset="0"/>
                          </a:rPr>
                        </m:ctrlPr>
                      </m:sSupPr>
                      <m:e>
                        <m:r>
                          <a:rPr lang="es-AR" sz="1600" i="1">
                            <a:latin typeface="Cambria Math" panose="02040503050406030204" pitchFamily="18" charset="0"/>
                          </a:rPr>
                          <m:t>𝑠</m:t>
                        </m:r>
                      </m:e>
                      <m:sup>
                        <m:r>
                          <a:rPr lang="es-AR" sz="1600" i="1">
                            <a:latin typeface="Cambria Math" panose="02040503050406030204" pitchFamily="18" charset="0"/>
                          </a:rPr>
                          <m:t>2</m:t>
                        </m:r>
                      </m:sup>
                    </m:sSup>
                    <m:r>
                      <a:rPr lang="es-AR" sz="1600" i="1">
                        <a:latin typeface="Cambria Math" panose="02040503050406030204" pitchFamily="18" charset="0"/>
                      </a:rPr>
                      <m:t>+2</m:t>
                    </m:r>
                    <m:r>
                      <a:rPr lang="es-AR" sz="1600" i="1">
                        <a:latin typeface="Cambria Math" panose="02040503050406030204" pitchFamily="18" charset="0"/>
                      </a:rPr>
                      <m:t>𝜁</m:t>
                    </m:r>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𝑛</m:t>
                        </m:r>
                      </m:sub>
                    </m:sSub>
                    <m:r>
                      <a:rPr lang="es-AR" sz="1600" i="1">
                        <a:latin typeface="Cambria Math" panose="02040503050406030204" pitchFamily="18" charset="0"/>
                      </a:rPr>
                      <m:t>𝑠</m:t>
                    </m:r>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𝜔</m:t>
                        </m:r>
                      </m:e>
                      <m:sub>
                        <m:r>
                          <a:rPr lang="es-AR" sz="1600" i="1">
                            <a:latin typeface="Cambria Math" panose="02040503050406030204" pitchFamily="18" charset="0"/>
                          </a:rPr>
                          <m:t>𝑛</m:t>
                        </m:r>
                      </m:sub>
                      <m:sup>
                        <m:r>
                          <a:rPr lang="es-AR" sz="1600" i="1">
                            <a:latin typeface="Cambria Math" panose="02040503050406030204" pitchFamily="18" charset="0"/>
                          </a:rPr>
                          <m:t>2</m:t>
                        </m:r>
                      </m:sup>
                    </m:sSubSup>
                    <m:r>
                      <a:rPr lang="es-AR" sz="1600" i="1">
                        <a:latin typeface="Cambria Math" panose="02040503050406030204" pitchFamily="18" charset="0"/>
                      </a:rPr>
                      <m:t>=0</m:t>
                    </m:r>
                    <m:r>
                      <a:rPr lang="es-AR" sz="1600" b="0" i="1" smtClean="0">
                        <a:latin typeface="Cambria Math" panose="02040503050406030204" pitchFamily="18" charset="0"/>
                      </a:rPr>
                      <m:t>;        </m:t>
                    </m:r>
                  </m:oMath>
                </a14:m>
                <a:r>
                  <a:rPr lang="es-AR" sz="1400" dirty="0"/>
                  <a:t> </a:t>
                </a:r>
                <a14:m>
                  <m:oMath xmlns:m="http://schemas.openxmlformats.org/officeDocument/2006/math">
                    <m:sSup>
                      <m:sSupPr>
                        <m:ctrlPr>
                          <a:rPr lang="es-AR" sz="1600" i="1">
                            <a:latin typeface="Cambria Math" panose="02040503050406030204" pitchFamily="18" charset="0"/>
                          </a:rPr>
                        </m:ctrlPr>
                      </m:sSupPr>
                      <m:e>
                        <m:r>
                          <a:rPr lang="es-AR" sz="1600" i="1">
                            <a:latin typeface="Cambria Math" panose="02040503050406030204" pitchFamily="18" charset="0"/>
                          </a:rPr>
                          <m:t>𝑠</m:t>
                        </m:r>
                      </m:e>
                      <m:sup>
                        <m:r>
                          <a:rPr lang="es-AR" sz="1600" i="1">
                            <a:latin typeface="Cambria Math" panose="02040503050406030204" pitchFamily="18" charset="0"/>
                          </a:rPr>
                          <m:t>2</m:t>
                        </m:r>
                      </m:sup>
                    </m:sSup>
                    <m:r>
                      <a:rPr lang="es-AR" sz="1600" i="1">
                        <a:latin typeface="Cambria Math" panose="02040503050406030204" pitchFamily="18" charset="0"/>
                      </a:rPr>
                      <m:t>+</m:t>
                    </m: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r>
                      <a:rPr lang="es-AR" sz="1600" i="1">
                        <a:latin typeface="Cambria Math" panose="02040503050406030204" pitchFamily="18" charset="0"/>
                      </a:rPr>
                      <m:t> </m:t>
                    </m:r>
                    <m:r>
                      <a:rPr lang="es-AR" sz="1600" i="1">
                        <a:latin typeface="Cambria Math" panose="02040503050406030204" pitchFamily="18" charset="0"/>
                      </a:rPr>
                      <m:t>𝑠</m:t>
                    </m:r>
                    <m:r>
                      <a:rPr lang="es-AR" sz="1600" i="1">
                        <a:latin typeface="Cambria Math" panose="02040503050406030204" pitchFamily="18" charset="0"/>
                      </a:rPr>
                      <m:t>+</m:t>
                    </m: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3</m:t>
                            </m:r>
                          </m:num>
                          <m:den>
                            <m:r>
                              <a:rPr lang="es-AR" sz="1600" i="1">
                                <a:latin typeface="Cambria Math" panose="02040503050406030204" pitchFamily="18" charset="0"/>
                              </a:rPr>
                              <m:t>2</m:t>
                            </m:r>
                          </m:den>
                        </m:f>
                        <m:r>
                          <a:rPr lang="es-AR" sz="1600" i="1">
                            <a:latin typeface="Cambria Math" panose="02040503050406030204" pitchFamily="18" charset="0"/>
                          </a:rPr>
                          <m:t> </m:t>
                        </m:r>
                        <m:sSubSup>
                          <m:sSubSupPr>
                            <m:ctrlPr>
                              <a:rPr lang="es-AR" sz="1600" i="1">
                                <a:latin typeface="Cambria Math" panose="02040503050406030204" pitchFamily="18" charset="0"/>
                              </a:rPr>
                            </m:ctrlPr>
                          </m:sSubSupPr>
                          <m:e>
                            <m:r>
                              <a:rPr lang="es-AR" sz="1600" i="1">
                                <a:latin typeface="Cambria Math" panose="02040503050406030204" pitchFamily="18" charset="0"/>
                              </a:rPr>
                              <m:t>𝑝</m:t>
                            </m:r>
                          </m:e>
                          <m:sub>
                            <m:r>
                              <a:rPr lang="es-AR" sz="1600" i="1">
                                <a:latin typeface="Cambria Math" panose="02040503050406030204" pitchFamily="18" charset="0"/>
                              </a:rPr>
                              <m:t>𝑝</m:t>
                            </m:r>
                          </m:sub>
                          <m:sup>
                            <m:r>
                              <a:rPr lang="es-AR" sz="1600" i="1">
                                <a:latin typeface="Cambria Math" panose="02040503050406030204" pitchFamily="18" charset="0"/>
                              </a:rPr>
                              <m:t>2</m:t>
                            </m:r>
                          </m:sup>
                        </m:sSubSup>
                        <m:r>
                          <a:rPr lang="es-AR" sz="1600" i="1">
                            <a:latin typeface="Cambria Math" panose="02040503050406030204" pitchFamily="18" charset="0"/>
                          </a:rPr>
                          <m:t> </m:t>
                        </m:r>
                        <m:sSup>
                          <m:sSupPr>
                            <m:ctrlPr>
                              <a:rPr lang="es-AR" sz="1600" i="1">
                                <a:latin typeface="Cambria Math" panose="02040503050406030204" pitchFamily="18" charset="0"/>
                              </a:rPr>
                            </m:ctrlPr>
                          </m:sSupPr>
                          <m:e>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m:rPr>
                                        <m:sty m:val="p"/>
                                      </m:rPr>
                                      <a:rPr lang="es-AR" sz="1600">
                                        <a:latin typeface="Cambria Math" panose="02040503050406030204" pitchFamily="18" charset="0"/>
                                      </a:rPr>
                                      <m:t>λ</m:t>
                                    </m:r>
                                  </m:e>
                                  <m:sub>
                                    <m:r>
                                      <a:rPr lang="es-AR" sz="1600" i="1">
                                        <a:latin typeface="Cambria Math" panose="02040503050406030204" pitchFamily="18" charset="0"/>
                                      </a:rPr>
                                      <m:t>𝑚</m:t>
                                    </m:r>
                                  </m:sub>
                                  <m:sup>
                                    <m:r>
                                      <a:rPr lang="es-AR" sz="1600" i="1">
                                        <a:latin typeface="Cambria Math" panose="02040503050406030204" pitchFamily="18" charset="0"/>
                                      </a:rPr>
                                      <m:t>′</m:t>
                                    </m:r>
                                    <m:r>
                                      <a:rPr lang="es-AR" sz="1600" i="1">
                                        <a:latin typeface="Cambria Math" panose="02040503050406030204" pitchFamily="18" charset="0"/>
                                      </a:rPr>
                                      <m:t>𝑟</m:t>
                                    </m:r>
                                  </m:sup>
                                </m:sSubSup>
                              </m:e>
                            </m:d>
                          </m:e>
                          <m:sup>
                            <m:r>
                              <a:rPr lang="es-AR" sz="1600" i="1">
                                <a:latin typeface="Cambria Math" panose="02040503050406030204" pitchFamily="18" charset="0"/>
                              </a:rPr>
                              <m:t>2</m:t>
                            </m:r>
                          </m:sup>
                        </m:sSup>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r>
                      <a:rPr lang="es-AR" sz="1600" i="1">
                        <a:latin typeface="Cambria Math" panose="02040503050406030204" pitchFamily="18" charset="0"/>
                      </a:rPr>
                      <m:t>=0</m:t>
                    </m:r>
                  </m:oMath>
                </a14:m>
                <a:endParaRPr lang="es-AR" sz="1400" dirty="0"/>
              </a:p>
            </p:txBody>
          </p:sp>
        </mc:Choice>
        <mc:Fallback xmlns="">
          <p:sp>
            <p:nvSpPr>
              <p:cNvPr id="16" name="CuadroTexto 15">
                <a:extLst>
                  <a:ext uri="{FF2B5EF4-FFF2-40B4-BE49-F238E27FC236}">
                    <a16:creationId xmlns:a16="http://schemas.microsoft.com/office/drawing/2014/main" id="{BB668F99-9D93-4E57-9121-0A4CDA553DE1}"/>
                  </a:ext>
                </a:extLst>
              </p:cNvPr>
              <p:cNvSpPr txBox="1">
                <a:spLocks noRot="1" noChangeAspect="1" noMove="1" noResize="1" noEditPoints="1" noAdjustHandles="1" noChangeArrowheads="1" noChangeShapeType="1" noTextEdit="1"/>
              </p:cNvSpPr>
              <p:nvPr/>
            </p:nvSpPr>
            <p:spPr>
              <a:xfrm>
                <a:off x="551973" y="1390398"/>
                <a:ext cx="8572722" cy="634148"/>
              </a:xfrm>
              <a:prstGeom prst="rect">
                <a:avLst/>
              </a:prstGeom>
              <a:blipFill>
                <a:blip r:embed="rId7"/>
                <a:stretch>
                  <a:fillRect/>
                </a:stretch>
              </a:blipFill>
            </p:spPr>
            <p:txBody>
              <a:bodyPr/>
              <a:lstStyle/>
              <a:p>
                <a:r>
                  <a:rPr lang="es-AR">
                    <a:noFill/>
                  </a:rPr>
                  <a:t> </a:t>
                </a:r>
              </a:p>
            </p:txBody>
          </p:sp>
        </mc:Fallback>
      </mc:AlternateContent>
      <p:sp>
        <p:nvSpPr>
          <p:cNvPr id="19" name="Shape 2">
            <a:extLst>
              <a:ext uri="{FF2B5EF4-FFF2-40B4-BE49-F238E27FC236}">
                <a16:creationId xmlns:a16="http://schemas.microsoft.com/office/drawing/2014/main" id="{C285BC6C-CC9C-4A7F-9DC9-46277DC56D1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7F0E2F02-B34A-438E-AA40-05A39917580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a:extLst>
              <a:ext uri="{FF2B5EF4-FFF2-40B4-BE49-F238E27FC236}">
                <a16:creationId xmlns:a16="http://schemas.microsoft.com/office/drawing/2014/main" id="{6958329E-C528-46E8-9C89-E147338F415B}"/>
              </a:ext>
            </a:extLst>
          </p:cNvPr>
          <p:cNvSpPr/>
          <p:nvPr/>
        </p:nvSpPr>
        <p:spPr>
          <a:xfrm>
            <a:off x="365760" y="1334171"/>
            <a:ext cx="11672360" cy="1824317"/>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551615" cy="658368"/>
          </a:xfrm>
          <a:prstGeom prst="rect">
            <a:avLst/>
          </a:prstGeom>
          <a:noFill/>
        </p:spPr>
        <p:txBody>
          <a:bodyPr wrap="none">
            <a:spAutoFit/>
          </a:bodyPr>
          <a:lstStyle/>
          <a:p>
            <a:pPr algn="l"/>
            <a:r>
              <a:rPr sz="2100" b="1" dirty="0">
                <a:solidFill>
                  <a:srgbClr val="FFFFFF"/>
                </a:solidFill>
                <a:latin typeface="Cambria"/>
              </a:rPr>
              <a:t>Observabilidad del </a:t>
            </a:r>
            <a:r>
              <a:rPr sz="2100" b="1" dirty="0" err="1">
                <a:solidFill>
                  <a:srgbClr val="FFFFFF"/>
                </a:solidFill>
                <a:latin typeface="Cambria"/>
              </a:rPr>
              <a:t>modelo</a:t>
            </a:r>
            <a:r>
              <a:rPr sz="2100" b="1" dirty="0">
                <a:solidFill>
                  <a:srgbClr val="FFFFFF"/>
                </a:solidFill>
                <a:latin typeface="Cambria"/>
              </a:rPr>
              <a:t>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35 / ~75</a:t>
            </a:r>
          </a:p>
        </p:txBody>
      </p:sp>
      <p:sp>
        <p:nvSpPr>
          <p:cNvPr id="7" name="TextBox 6"/>
          <p:cNvSpPr txBox="1"/>
          <p:nvPr/>
        </p:nvSpPr>
        <p:spPr>
          <a:xfrm>
            <a:off x="274321" y="768499"/>
            <a:ext cx="11430000" cy="523220"/>
          </a:xfrm>
          <a:prstGeom prst="rect">
            <a:avLst/>
          </a:prstGeom>
          <a:noFill/>
        </p:spPr>
        <p:txBody>
          <a:bodyPr wrap="square">
            <a:spAutoFit/>
          </a:bodyPr>
          <a:lstStyle/>
          <a:p>
            <a:pPr algn="l"/>
            <a:r>
              <a:rPr lang="es-AR" sz="1400" b="0" i="0" dirty="0">
                <a:solidFill>
                  <a:srgbClr val="1A1A2E"/>
                </a:solidFill>
                <a:latin typeface="Calibri"/>
              </a:rPr>
              <a:t>Criterio de Kalman: un sistema LTI de orden n es completamente observable si el rango de la matriz de observabilidad O es n. Para una matriz cuadrada: rango = n ↔ </a:t>
            </a:r>
            <a:r>
              <a:rPr lang="es-AR" sz="1400" b="0" i="0" dirty="0" err="1">
                <a:solidFill>
                  <a:srgbClr val="1A1A2E"/>
                </a:solidFill>
                <a:latin typeface="Calibri"/>
              </a:rPr>
              <a:t>det</a:t>
            </a:r>
            <a:r>
              <a:rPr lang="es-AR" sz="1400" b="0" i="0" dirty="0">
                <a:solidFill>
                  <a:srgbClr val="1A1A2E"/>
                </a:solidFill>
                <a:latin typeface="Calibri"/>
              </a:rPr>
              <a:t>(O) ≠ 0.</a:t>
            </a:r>
          </a:p>
        </p:txBody>
      </p:sp>
      <mc:AlternateContent xmlns:mc="http://schemas.openxmlformats.org/markup-compatibility/2006" xmlns:a14="http://schemas.microsoft.com/office/drawing/2010/main">
        <mc:Choice Requires="a14">
          <p:sp>
            <p:nvSpPr>
              <p:cNvPr id="9" name="TextBox 8"/>
              <p:cNvSpPr txBox="1"/>
              <p:nvPr/>
            </p:nvSpPr>
            <p:spPr>
              <a:xfrm>
                <a:off x="-320484" y="1407605"/>
                <a:ext cx="8853262" cy="167744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𝒪</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s-AR" sz="1400" i="1">
                              <a:effectLst/>
                              <a:latin typeface="Cambria Math" panose="02040503050406030204" pitchFamily="18" charset="0"/>
                            </a:rPr>
                          </m:ctrlPr>
                        </m:dPr>
                        <m:e>
                          <m:m>
                            <m:mPr>
                              <m:mcs>
                                <m:mc>
                                  <m:mcPr>
                                    <m:count m:val="1"/>
                                    <m:mcJc m:val="center"/>
                                  </m:mcPr>
                                </m:mc>
                              </m:mcs>
                              <m:ctrlPr>
                                <a:rPr lang="es-AR" sz="1400" i="1">
                                  <a:effectLst/>
                                  <a:latin typeface="Cambria Math" panose="02040503050406030204" pitchFamily="18" charset="0"/>
                                </a:rPr>
                              </m:ctrlPr>
                            </m:mP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m:t>
                                </m:r>
                              </m:e>
                            </m:m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𝐶𝐴</m:t>
                                </m:r>
                              </m:e>
                            </m:mr>
                            <m:mr>
                              <m:e>
                                <m:m>
                                  <m:mPr>
                                    <m:mcs>
                                      <m:mc>
                                        <m:mcPr>
                                          <m:count m:val="1"/>
                                          <m:mcJc m:val="center"/>
                                        </m:mcPr>
                                      </m:mc>
                                    </m:mcs>
                                    <m:ctrlPr>
                                      <a:rPr lang="es-AR" sz="1400" i="1">
                                        <a:effectLst/>
                                        <a:latin typeface="Cambria Math" panose="02040503050406030204" pitchFamily="18" charset="0"/>
                                      </a:rPr>
                                    </m:ctrlPr>
                                  </m:mP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𝐴</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p>
                                    </m:e>
                                  </m:m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m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𝐴</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sup>
                                      </m:sSup>
                                    </m:e>
                                  </m:mr>
                                </m:m>
                              </m:e>
                            </m:mr>
                          </m:m>
                        </m:e>
                      </m:d>
                      <m:r>
                        <a:rPr lang="es-MX" sz="14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latin typeface="Cambria Math" panose="02040503050406030204" pitchFamily="18" charset="0"/>
                        </a:rPr>
                        <m:t>𝐴</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5"/>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e>
                                <m:r>
                                  <a:rPr lang="es-AR" sz="1400" i="1">
                                    <a:latin typeface="Cambria Math" panose="02040503050406030204" pitchFamily="18" charset="0"/>
                                  </a:rPr>
                                  <m:t>1</m:t>
                                </m:r>
                              </m:e>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e>
                                </m:box>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 </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𝑡𝑠</m:t>
                                            </m:r>
                                            <m:r>
                                              <a:rPr lang="es-AR" sz="1400" i="1">
                                                <a:latin typeface="Cambria Math" panose="02040503050406030204" pitchFamily="18" charset="0"/>
                                              </a:rPr>
                                              <m:t>−</m:t>
                                            </m:r>
                                            <m:r>
                                              <a:rPr lang="es-AR" sz="1400" i="1">
                                                <a:latin typeface="Cambria Math" panose="02040503050406030204" pitchFamily="18" charset="0"/>
                                              </a:rPr>
                                              <m:t>𝑎𝑚𝑏</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mr>
                          </m:m>
                        </m:e>
                      </m:d>
                      <m:r>
                        <a:rPr lang="es-AR" sz="1400" i="1">
                          <a:latin typeface="Cambria Math" panose="02040503050406030204" pitchFamily="18" charset="0"/>
                        </a:rPr>
                        <m:t>,  </m:t>
                      </m:r>
                      <m:r>
                        <a:rPr lang="es-AR" sz="1400" i="1">
                          <a:latin typeface="Cambria Math" panose="02040503050406030204" pitchFamily="18" charset="0"/>
                        </a:rPr>
                        <m:t>𝐶</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3"/>
                                    <m:mcJc m:val="center"/>
                                  </m:mcPr>
                                </m:mc>
                              </m:mcs>
                              <m:ctrlPr>
                                <a:rPr lang="es-AR" sz="1400" i="1">
                                  <a:latin typeface="Cambria Math" panose="02040503050406030204" pitchFamily="18" charset="0"/>
                                </a:rPr>
                              </m:ctrlPr>
                            </m:mPr>
                            <m:mr>
                              <m:e>
                                <m:m>
                                  <m:mPr>
                                    <m:mcs>
                                      <m:mc>
                                        <m:mcPr>
                                          <m:count m:val="3"/>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1</m:t>
                                      </m:r>
                                    </m:e>
                                    <m:e>
                                      <m:r>
                                        <a:rPr lang="es-AR" sz="1400" i="1">
                                          <a:latin typeface="Cambria Math" panose="02040503050406030204" pitchFamily="18" charset="0"/>
                                        </a:rPr>
                                        <m:t>0</m:t>
                                      </m:r>
                                    </m:e>
                                    <m:e>
                                      <m:r>
                                        <a:rPr lang="es-AR" sz="1400" i="1">
                                          <a:latin typeface="Cambria Math" panose="02040503050406030204" pitchFamily="18" charset="0"/>
                                        </a:rPr>
                                        <m:t>0</m:t>
                                      </m:r>
                                    </m:e>
                                  </m:mr>
                                </m:m>
                              </m:e>
                              <m:e>
                                <m:r>
                                  <a:rPr lang="es-AR" sz="1400" i="1">
                                    <a:latin typeface="Cambria Math" panose="02040503050406030204" pitchFamily="18" charset="0"/>
                                  </a:rPr>
                                  <m:t>0</m:t>
                                </m:r>
                              </m:e>
                              <m:e>
                                <m:r>
                                  <a:rPr lang="es-AR" sz="1400" i="1">
                                    <a:latin typeface="Cambria Math" panose="02040503050406030204" pitchFamily="18" charset="0"/>
                                  </a:rPr>
                                  <m:t>0</m:t>
                                </m:r>
                              </m:e>
                            </m:mr>
                          </m:m>
                        </m:e>
                      </m:d>
                    </m:oMath>
                  </m:oMathPara>
                </a14:m>
                <a:endParaRPr sz="14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320484" y="1407605"/>
                <a:ext cx="8853262" cy="1677447"/>
              </a:xfrm>
              <a:prstGeom prst="rect">
                <a:avLst/>
              </a:prstGeom>
              <a:blipFill>
                <a:blip r:embed="rId2"/>
                <a:stretch>
                  <a:fillRect/>
                </a:stretch>
              </a:blipFill>
            </p:spPr>
            <p:txBody>
              <a:bodyPr/>
              <a:lstStyle/>
              <a:p>
                <a:r>
                  <a:rPr lang="es-AR">
                    <a:noFill/>
                  </a:rPr>
                  <a:t> </a:t>
                </a:r>
              </a:p>
            </p:txBody>
          </p:sp>
        </mc:Fallback>
      </mc:AlternateContent>
      <p:sp>
        <p:nvSpPr>
          <p:cNvPr id="12" name="Rectangle 11"/>
          <p:cNvSpPr/>
          <p:nvPr/>
        </p:nvSpPr>
        <p:spPr>
          <a:xfrm>
            <a:off x="411481" y="5154416"/>
            <a:ext cx="11430000" cy="738826"/>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472287" y="5275460"/>
                <a:ext cx="11155680" cy="492443"/>
              </a:xfrm>
              <a:prstGeom prst="rect">
                <a:avLst/>
              </a:prstGeom>
              <a:noFill/>
            </p:spPr>
            <p:txBody>
              <a:bodyPr wrap="square">
                <a:spAutoFit/>
              </a:bodyPr>
              <a:lstStyle/>
              <a:p>
                <a:r>
                  <a:rPr lang="es-AR" sz="1300" dirty="0">
                    <a:solidFill>
                      <a:srgbClr val="1A3A6B"/>
                    </a:solidFill>
                    <a:latin typeface="Calibri"/>
                  </a:rPr>
                  <a:t>El determinante </a:t>
                </a:r>
                <a14:m>
                  <m:oMath xmlns:m="http://schemas.openxmlformats.org/officeDocument/2006/math">
                    <m:r>
                      <a:rPr lang="es-AR" sz="1300">
                        <a:solidFill>
                          <a:srgbClr val="1A3A6B"/>
                        </a:solidFill>
                        <a:latin typeface="Cambria Math" panose="02040503050406030204" pitchFamily="18" charset="0"/>
                      </a:rPr>
                      <m:t>𝑑𝑒𝑡</m:t>
                    </m:r>
                    <m:d>
                      <m:dPr>
                        <m:ctrlPr>
                          <a:rPr lang="es-AR" sz="1300" i="1">
                            <a:solidFill>
                              <a:srgbClr val="1A3A6B"/>
                            </a:solidFill>
                            <a:latin typeface="Cambria Math" panose="02040503050406030204" pitchFamily="18" charset="0"/>
                          </a:rPr>
                        </m:ctrlPr>
                      </m:dPr>
                      <m:e>
                        <m:r>
                          <a:rPr lang="es-AR" sz="1300">
                            <a:solidFill>
                              <a:srgbClr val="1A3A6B"/>
                            </a:solidFill>
                            <a:latin typeface="Cambria Math" panose="02040503050406030204" pitchFamily="18" charset="0"/>
                          </a:rPr>
                          <m:t>𝒪</m:t>
                        </m:r>
                      </m:e>
                    </m:d>
                    <m:r>
                      <a:rPr lang="es-AR" sz="1300">
                        <a:solidFill>
                          <a:srgbClr val="1A3A6B"/>
                        </a:solidFill>
                        <a:latin typeface="Cambria Math" panose="02040503050406030204" pitchFamily="18" charset="0"/>
                      </a:rPr>
                      <m:t>≠0</m:t>
                    </m:r>
                  </m:oMath>
                </a14:m>
                <a:r>
                  <a:rPr lang="es-AR" sz="1300" dirty="0">
                    <a:solidFill>
                      <a:srgbClr val="1A3A6B"/>
                    </a:solidFill>
                    <a:latin typeface="Calibri"/>
                  </a:rPr>
                  <a:t>, por lo que el sistema simplificado es totalmente observable desde </a:t>
                </a:r>
                <a14:m>
                  <m:oMath xmlns:m="http://schemas.openxmlformats.org/officeDocument/2006/math">
                    <m:sSub>
                      <m:sSubPr>
                        <m:ctrlPr>
                          <a:rPr lang="es-AR" sz="1300" i="1">
                            <a:solidFill>
                              <a:srgbClr val="1A3A6B"/>
                            </a:solidFill>
                            <a:latin typeface="Cambria Math" panose="02040503050406030204" pitchFamily="18" charset="0"/>
                          </a:rPr>
                        </m:ctrlPr>
                      </m:sSubPr>
                      <m:e>
                        <m:r>
                          <a:rPr lang="es-AR" sz="1300">
                            <a:solidFill>
                              <a:srgbClr val="1A3A6B"/>
                            </a:solidFill>
                            <a:latin typeface="Cambria Math" panose="02040503050406030204" pitchFamily="18" charset="0"/>
                          </a:rPr>
                          <m:t>𝜃</m:t>
                        </m:r>
                      </m:e>
                      <m:sub>
                        <m:r>
                          <a:rPr lang="es-AR" sz="1300">
                            <a:solidFill>
                              <a:srgbClr val="1A3A6B"/>
                            </a:solidFill>
                            <a:latin typeface="Cambria Math" panose="02040503050406030204" pitchFamily="18" charset="0"/>
                          </a:rPr>
                          <m:t>𝑚</m:t>
                        </m:r>
                      </m:sub>
                    </m:sSub>
                  </m:oMath>
                </a14:m>
                <a:r>
                  <a:rPr lang="es-AR" sz="1300" dirty="0">
                    <a:solidFill>
                      <a:srgbClr val="1A3A6B"/>
                    </a:solidFill>
                    <a:latin typeface="Calibri"/>
                  </a:rPr>
                  <a:t>.</a:t>
                </a:r>
                <a:br>
                  <a:rPr lang="es-MX" sz="1300" dirty="0">
                    <a:solidFill>
                      <a:srgbClr val="1A3A6B"/>
                    </a:solidFill>
                    <a:latin typeface="Calibri"/>
                  </a:rPr>
                </a:br>
                <a:r>
                  <a:rPr lang="es-AR" sz="1300" dirty="0">
                    <a:solidFill>
                      <a:srgbClr val="1A3A6B"/>
                    </a:solidFill>
                    <a:latin typeface="Calibri"/>
                  </a:rPr>
                  <a:t>El resultado de observabilidad garantiza que con un único sensor de posición (encoder) es posible estimar todas las variables de estado del sistema.</a:t>
                </a:r>
              </a:p>
            </p:txBody>
          </p:sp>
        </mc:Choice>
        <mc:Fallback xmlns="">
          <p:sp>
            <p:nvSpPr>
              <p:cNvPr id="13" name="TextBox 12"/>
              <p:cNvSpPr txBox="1">
                <a:spLocks noRot="1" noChangeAspect="1" noMove="1" noResize="1" noEditPoints="1" noAdjustHandles="1" noChangeArrowheads="1" noChangeShapeType="1" noTextEdit="1"/>
              </p:cNvSpPr>
              <p:nvPr/>
            </p:nvSpPr>
            <p:spPr>
              <a:xfrm>
                <a:off x="472287" y="5275460"/>
                <a:ext cx="11155680" cy="492443"/>
              </a:xfrm>
              <a:prstGeom prst="rect">
                <a:avLst/>
              </a:prstGeom>
              <a:blipFill>
                <a:blip r:embed="rId3"/>
                <a:stretch>
                  <a:fillRect l="-55" t="-1235" b="-987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TextBox 6">
                <a:extLst>
                  <a:ext uri="{FF2B5EF4-FFF2-40B4-BE49-F238E27FC236}">
                    <a16:creationId xmlns:a16="http://schemas.microsoft.com/office/drawing/2014/main" id="{7101C5DD-C9F7-43B5-A986-B43987CC275F}"/>
                  </a:ext>
                </a:extLst>
              </p:cNvPr>
              <p:cNvSpPr txBox="1"/>
              <p:nvPr/>
            </p:nvSpPr>
            <p:spPr>
              <a:xfrm>
                <a:off x="274321" y="3257801"/>
                <a:ext cx="11430000" cy="523861"/>
              </a:xfrm>
              <a:prstGeom prst="rect">
                <a:avLst/>
              </a:prstGeom>
              <a:noFill/>
            </p:spPr>
            <p:txBody>
              <a:bodyPr wrap="square">
                <a:spAutoFit/>
              </a:bodyPr>
              <a:lstStyle/>
              <a:p>
                <a:pPr algn="l"/>
                <a:r>
                  <a:rPr lang="es-MX" sz="1400" dirty="0">
                    <a:solidFill>
                      <a:srgbClr val="1A1A2E"/>
                    </a:solidFill>
                    <a:latin typeface="Calibri"/>
                  </a:rPr>
                  <a:t>Si analizamos la observabilidad del modelo tomando como salida la posición, entonces </a:t>
                </a:r>
                <a:r>
                  <a:rPr lang="es-AR" sz="1400" dirty="0">
                    <a:solidFill>
                      <a:srgbClr val="1A1A2E"/>
                    </a:solidFill>
                    <a:latin typeface="Calibri"/>
                  </a:rPr>
                  <a:t>se procede a simplificar el análisis reduciendo el modelo bajo las hipótesis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𝑖</m:t>
                        </m:r>
                      </m:e>
                      <m:sub>
                        <m:r>
                          <a:rPr lang="es-AR" sz="1400">
                            <a:solidFill>
                              <a:srgbClr val="1A1A2E"/>
                            </a:solidFill>
                            <a:latin typeface="Cambria Math" panose="02040503050406030204" pitchFamily="18" charset="0"/>
                          </a:rPr>
                          <m:t>𝑑𝑠</m:t>
                        </m:r>
                      </m:sub>
                      <m:sup>
                        <m:r>
                          <a:rPr lang="es-AR" sz="1400">
                            <a:solidFill>
                              <a:srgbClr val="1A1A2E"/>
                            </a:solidFill>
                            <a:latin typeface="Cambria Math" panose="02040503050406030204" pitchFamily="18" charset="0"/>
                          </a:rPr>
                          <m:t>𝑟</m:t>
                        </m:r>
                      </m:sup>
                    </m:sSubSup>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r>
                      <a:rPr lang="es-MX" sz="1400" b="0" i="1" smtClean="0">
                        <a:solidFill>
                          <a:srgbClr val="1A1A2E"/>
                        </a:solidFill>
                        <a:latin typeface="Cambria Math" panose="02040503050406030204" pitchFamily="18" charset="0"/>
                      </a:rPr>
                      <m:t>=0</m:t>
                    </m:r>
                  </m:oMath>
                </a14:m>
                <a:r>
                  <a:rPr lang="es-AR" sz="1400" dirty="0">
                    <a:solidFill>
                      <a:srgbClr val="1A1A2E"/>
                    </a:solidFill>
                    <a:latin typeface="Calibri"/>
                  </a:rPr>
                  <a:t> y despreciando el efecto de la temperatura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𝑇</m:t>
                        </m:r>
                      </m:e>
                      <m:sub>
                        <m:r>
                          <a:rPr lang="es-AR" sz="1400">
                            <a:solidFill>
                              <a:srgbClr val="1A1A2E"/>
                            </a:solidFill>
                            <a:latin typeface="Cambria Math" panose="02040503050406030204" pitchFamily="18" charset="0"/>
                          </a:rPr>
                          <m:t>𝑠</m:t>
                        </m:r>
                      </m:sub>
                      <m:sup>
                        <m:r>
                          <a:rPr lang="es-AR" sz="1400">
                            <a:solidFill>
                              <a:srgbClr val="1A1A2E"/>
                            </a:solidFill>
                            <a:latin typeface="Cambria Math" panose="02040503050406030204" pitchFamily="18" charset="0"/>
                          </a:rPr>
                          <m:t>∘</m:t>
                        </m:r>
                      </m:sup>
                    </m:sSubSup>
                  </m:oMath>
                </a14:m>
                <a:r>
                  <a:rPr lang="es-AR" sz="1400" dirty="0">
                    <a:solidFill>
                      <a:srgbClr val="1A1A2E"/>
                    </a:solidFill>
                    <a:latin typeface="Calibri"/>
                  </a:rPr>
                  <a:t> en la dinámica</a:t>
                </a:r>
                <a:endParaRPr sz="1400" dirty="0">
                  <a:solidFill>
                    <a:srgbClr val="1A1A2E"/>
                  </a:solidFill>
                  <a:latin typeface="Calibri"/>
                </a:endParaRPr>
              </a:p>
            </p:txBody>
          </p:sp>
        </mc:Choice>
        <mc:Fallback xmlns="">
          <p:sp>
            <p:nvSpPr>
              <p:cNvPr id="16" name="TextBox 6">
                <a:extLst>
                  <a:ext uri="{FF2B5EF4-FFF2-40B4-BE49-F238E27FC236}">
                    <a16:creationId xmlns:a16="http://schemas.microsoft.com/office/drawing/2014/main" id="{7101C5DD-C9F7-43B5-A986-B43987CC275F}"/>
                  </a:ext>
                </a:extLst>
              </p:cNvPr>
              <p:cNvSpPr txBox="1">
                <a:spLocks noRot="1" noChangeAspect="1" noMove="1" noResize="1" noEditPoints="1" noAdjustHandles="1" noChangeArrowheads="1" noChangeShapeType="1" noTextEdit="1"/>
              </p:cNvSpPr>
              <p:nvPr/>
            </p:nvSpPr>
            <p:spPr>
              <a:xfrm>
                <a:off x="274321" y="3257801"/>
                <a:ext cx="11430000" cy="523861"/>
              </a:xfrm>
              <a:prstGeom prst="rect">
                <a:avLst/>
              </a:prstGeom>
              <a:blipFill>
                <a:blip r:embed="rId4"/>
                <a:stretch>
                  <a:fillRect l="-160" t="-1163" b="-11628"/>
                </a:stretch>
              </a:blipFill>
            </p:spPr>
            <p:txBody>
              <a:bodyPr/>
              <a:lstStyle/>
              <a:p>
                <a:r>
                  <a:rPr lang="es-AR">
                    <a:noFill/>
                  </a:rPr>
                  <a:t> </a:t>
                </a:r>
              </a:p>
            </p:txBody>
          </p:sp>
        </mc:Fallback>
      </mc:AlternateContent>
      <p:sp>
        <p:nvSpPr>
          <p:cNvPr id="17" name="Shape 14">
            <a:extLst>
              <a:ext uri="{FF2B5EF4-FFF2-40B4-BE49-F238E27FC236}">
                <a16:creationId xmlns:a16="http://schemas.microsoft.com/office/drawing/2014/main" id="{D6412B6C-5E25-4C05-8731-4546638D7020}"/>
              </a:ext>
            </a:extLst>
          </p:cNvPr>
          <p:cNvSpPr/>
          <p:nvPr/>
        </p:nvSpPr>
        <p:spPr>
          <a:xfrm>
            <a:off x="365760" y="3887825"/>
            <a:ext cx="11718081" cy="105156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8" name="TextBox 8">
                <a:extLst>
                  <a:ext uri="{FF2B5EF4-FFF2-40B4-BE49-F238E27FC236}">
                    <a16:creationId xmlns:a16="http://schemas.microsoft.com/office/drawing/2014/main" id="{44CCBDD6-DCD9-4C2E-A925-08CD526E890B}"/>
                  </a:ext>
                </a:extLst>
              </p:cNvPr>
              <p:cNvSpPr txBox="1"/>
              <p:nvPr/>
            </p:nvSpPr>
            <p:spPr>
              <a:xfrm>
                <a:off x="-84814" y="3878739"/>
                <a:ext cx="6829153" cy="1000402"/>
              </a:xfrm>
              <a:prstGeom prst="rect">
                <a:avLst/>
              </a:prstGeom>
              <a:noFill/>
            </p:spPr>
            <p:txBody>
              <a:bodyPr wrap="square">
                <a:spAutoFit/>
              </a:bodyPr>
              <a:lstStyle/>
              <a:p>
                <a:pPr algn="ctr"/>
                <a14:m>
                  <m:oMath xmlns:m="http://schemas.openxmlformats.org/officeDocument/2006/math">
                    <m:r>
                      <a:rPr lang="ar-AE" sz="1400" i="1" smtClean="0">
                        <a:solidFill>
                          <a:schemeClr val="tx1"/>
                        </a:solidFill>
                        <a:latin typeface="Cambria Math" panose="02040503050406030204" pitchFamily="18" charset="0"/>
                      </a:rPr>
                      <m:t>𝒪</m:t>
                    </m:r>
                    <m:r>
                      <a:rPr lang="ar-AE" sz="1400" i="1" smtClean="0">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mr>
                        </m:m>
                      </m:e>
                    </m:d>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r>
                      <a:rPr lang="ar-AE" sz="1400" i="1">
                        <a:solidFill>
                          <a:schemeClr val="tx1"/>
                        </a:solidFill>
                        <a:latin typeface="Cambria Math" panose="02040503050406030204" pitchFamily="18" charset="0"/>
                      </a:rPr>
                      <m:t>𝐴</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e>
                              <m:box>
                                <m:boxPr>
                                  <m:ctrlPr>
                                    <a:rPr lang="ar-AE" sz="1400" i="1">
                                      <a:solidFill>
                                        <a:schemeClr val="tx1"/>
                                      </a:solidFill>
                                      <a:latin typeface="Cambria Math" panose="02040503050406030204" pitchFamily="18" charset="0"/>
                                    </a:rPr>
                                  </m:ctrlPr>
                                </m:boxPr>
                                <m:e>
                                  <m:argPr>
                                    <m:argSz m:val="-1"/>
                                  </m:argPr>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𝑅</m:t>
                                          </m:r>
                                        </m:e>
                                        <m:sub>
                                          <m:r>
                                            <a:rPr lang="ar-AE" sz="1400" i="1">
                                              <a:solidFill>
                                                <a:schemeClr val="tx1"/>
                                              </a:solidFill>
                                              <a:latin typeface="Cambria Math" panose="02040503050406030204" pitchFamily="18" charset="0"/>
                                            </a:rPr>
                                            <m:t>𝑠</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mr>
                        </m:m>
                      </m:e>
                    </m:d>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𝐶</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0</m:t>
                              </m:r>
                            </m:e>
                          </m:mr>
                        </m:m>
                      </m:e>
                    </m:d>
                  </m:oMath>
                </a14:m>
                <a:endParaRPr lang="ar-AE" sz="1400" b="1" dirty="0">
                  <a:solidFill>
                    <a:schemeClr val="tx1"/>
                  </a:solidFill>
                  <a:latin typeface="Calibri"/>
                </a:endParaRPr>
              </a:p>
            </p:txBody>
          </p:sp>
        </mc:Choice>
        <mc:Fallback xmlns="">
          <p:sp>
            <p:nvSpPr>
              <p:cNvPr id="18" name="TextBox 8">
                <a:extLst>
                  <a:ext uri="{FF2B5EF4-FFF2-40B4-BE49-F238E27FC236}">
                    <a16:creationId xmlns:a16="http://schemas.microsoft.com/office/drawing/2014/main" id="{44CCBDD6-DCD9-4C2E-A925-08CD526E890B}"/>
                  </a:ext>
                </a:extLst>
              </p:cNvPr>
              <p:cNvSpPr txBox="1">
                <a:spLocks noRot="1" noChangeAspect="1" noMove="1" noResize="1" noEditPoints="1" noAdjustHandles="1" noChangeArrowheads="1" noChangeShapeType="1" noTextEdit="1"/>
              </p:cNvSpPr>
              <p:nvPr/>
            </p:nvSpPr>
            <p:spPr>
              <a:xfrm>
                <a:off x="-84814" y="3878739"/>
                <a:ext cx="6829153" cy="1000402"/>
              </a:xfrm>
              <a:prstGeom prst="rect">
                <a:avLst/>
              </a:prstGeom>
              <a:blipFill>
                <a:blip r:embed="rId5"/>
                <a:stretch>
                  <a:fillRect/>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BF761FD9-1C08-4F3D-BCBB-17D6D1C0936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199EF442-B346-4B16-A4E1-C99E05B7948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a:extLst>
              <a:ext uri="{FF2B5EF4-FFF2-40B4-BE49-F238E27FC236}">
                <a16:creationId xmlns:a16="http://schemas.microsoft.com/office/drawing/2014/main" id="{6958329E-C528-46E8-9C89-E147338F415B}"/>
              </a:ext>
            </a:extLst>
          </p:cNvPr>
          <p:cNvSpPr/>
          <p:nvPr/>
        </p:nvSpPr>
        <p:spPr>
          <a:xfrm>
            <a:off x="396240" y="2106530"/>
            <a:ext cx="11672360" cy="1336585"/>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3961982" cy="415498"/>
          </a:xfrm>
          <a:prstGeom prst="rect">
            <a:avLst/>
          </a:prstGeom>
          <a:noFill/>
        </p:spPr>
        <p:txBody>
          <a:bodyPr wrap="none">
            <a:spAutoFit/>
          </a:bodyPr>
          <a:lstStyle/>
          <a:p>
            <a:pPr algn="l"/>
            <a:r>
              <a:rPr lang="es-AR" sz="2100" b="1" dirty="0">
                <a:solidFill>
                  <a:srgbClr val="FFFFFF"/>
                </a:solidFill>
                <a:latin typeface="Cambria"/>
              </a:rPr>
              <a:t>Observabilidad del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35 / ~75</a:t>
            </a:r>
          </a:p>
        </p:txBody>
      </p:sp>
      <mc:AlternateContent xmlns:mc="http://schemas.openxmlformats.org/markup-compatibility/2006" xmlns:a14="http://schemas.microsoft.com/office/drawing/2010/main">
        <mc:Choice Requires="a14">
          <p:sp>
            <p:nvSpPr>
              <p:cNvPr id="7" name="TextBox 6"/>
              <p:cNvSpPr txBox="1"/>
              <p:nvPr/>
            </p:nvSpPr>
            <p:spPr>
              <a:xfrm>
                <a:off x="365760" y="777240"/>
                <a:ext cx="11430000" cy="1670394"/>
              </a:xfrm>
              <a:prstGeom prst="rect">
                <a:avLst/>
              </a:prstGeom>
              <a:noFill/>
            </p:spPr>
            <p:txBody>
              <a:bodyPr wrap="square">
                <a:spAutoFit/>
              </a:bodyPr>
              <a:lstStyle/>
              <a:p>
                <a:pPr algn="just">
                  <a:lnSpc>
                    <a:spcPct val="107000"/>
                  </a:lnSpc>
                  <a:spcAft>
                    <a:spcPts val="800"/>
                  </a:spcAft>
                </a:pPr>
                <a:r>
                  <a:rPr lang="es-AR" sz="1400" dirty="0">
                    <a:solidFill>
                      <a:srgbClr val="1A1A2E"/>
                    </a:solidFill>
                    <a:latin typeface="Calibri"/>
                  </a:rPr>
                  <a:t>Sin embargo, al evaluar numéricamente la observabilidad del sistema LTI equivalente aumentado, el determinante de la matriz de observabilidad resulta nulo, lo cual indica que el sistema no es completamente observable desde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𝜃</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En consecuencia, el modelo aumentado es parcialmente observable con esa salida, no pudiéndose reconstruir ciertos estados asociados al subsistema eléctrico en el eje d y a la dinámica térmica.</a:t>
                </a:r>
              </a:p>
              <a:p>
                <a:pPr algn="just">
                  <a:lnSpc>
                    <a:spcPct val="107000"/>
                  </a:lnSpc>
                  <a:spcAft>
                    <a:spcPts val="800"/>
                  </a:spcAft>
                </a:pPr>
                <a:r>
                  <a:rPr lang="es-AR" sz="1400" dirty="0">
                    <a:solidFill>
                      <a:srgbClr val="1A1A2E"/>
                    </a:solidFill>
                    <a:latin typeface="Calibri"/>
                  </a:rPr>
                  <a:t>Si en lugar de medir posición con encoder se considera un taco generador para medir velocidad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𝜔</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se repite el análisis aplicando la misma simplificación y tomando una matriz de salida del tipo. </a:t>
                </a:r>
              </a:p>
              <a:p>
                <a:pPr algn="just">
                  <a:lnSpc>
                    <a:spcPct val="107000"/>
                  </a:lnSpc>
                  <a:spcAft>
                    <a:spcPts val="800"/>
                  </a:spcAft>
                </a:pPr>
                <a:endParaRPr lang="es-AR" sz="140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65760" y="777240"/>
                <a:ext cx="11430000" cy="1670394"/>
              </a:xfrm>
              <a:prstGeom prst="rect">
                <a:avLst/>
              </a:prstGeom>
              <a:blipFill>
                <a:blip r:embed="rId2"/>
                <a:stretch>
                  <a:fillRect l="-160" t="-365" r="-16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74320" y="2186265"/>
                <a:ext cx="5425144" cy="1075231"/>
              </a:xfrm>
              <a:prstGeom prst="rect">
                <a:avLst/>
              </a:prstGeom>
              <a:noFill/>
            </p:spPr>
            <p:txBody>
              <a:bodyPr wrap="square">
                <a:spAutoFit/>
              </a:bodyPr>
              <a:lstStyle/>
              <a:p>
                <a:pPr algn="ctr"/>
                <a14:m>
                  <m:oMath xmlns:m="http://schemas.openxmlformats.org/officeDocument/2006/math">
                    <m:r>
                      <a:rPr lang="ar-AE" sz="1400" i="1" smtClean="0">
                        <a:solidFill>
                          <a:schemeClr val="tx1"/>
                        </a:solidFill>
                        <a:latin typeface="Cambria Math" panose="02040503050406030204" pitchFamily="18" charset="0"/>
                      </a:rPr>
                      <m:t>𝒪</m:t>
                    </m:r>
                    <m:r>
                      <a:rPr lang="ar-AE" sz="1400" i="1" smtClean="0">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p>
                                        <m:sSupPr>
                                          <m:ctrlPr>
                                            <a:rPr lang="ar-AE" sz="1400" i="1">
                                              <a:solidFill>
                                                <a:schemeClr val="tx1"/>
                                              </a:solidFill>
                                              <a:latin typeface="Cambria Math" panose="02040503050406030204" pitchFamily="18" charset="0"/>
                                            </a:rPr>
                                          </m:ctrlPr>
                                        </m:sSup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e>
                                        <m:sup>
                                          <m:r>
                                            <a:rPr lang="ar-AE" sz="1400" i="1">
                                              <a:solidFill>
                                                <a:schemeClr val="tx1"/>
                                              </a:solidFill>
                                              <a:latin typeface="Cambria Math" panose="02040503050406030204" pitchFamily="18" charset="0"/>
                                            </a:rPr>
                                            <m:t>2</m:t>
                                          </m:r>
                                        </m:sup>
                                      </m:sSup>
                                    </m:num>
                                    <m:den>
                                      <m:sSup>
                                        <m:sSupPr>
                                          <m:ctrlPr>
                                            <a:rPr lang="ar-AE" sz="1400" i="1">
                                              <a:solidFill>
                                                <a:schemeClr val="tx1"/>
                                              </a:solidFill>
                                              <a:latin typeface="Cambria Math" panose="02040503050406030204" pitchFamily="18" charset="0"/>
                                            </a:rPr>
                                          </m:ctrlPr>
                                        </m:sSup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e>
                                        <m:sup>
                                          <m:r>
                                            <a:rPr lang="ar-AE" sz="1400" i="1">
                                              <a:solidFill>
                                                <a:schemeClr val="tx1"/>
                                              </a:solidFill>
                                              <a:latin typeface="Cambria Math" panose="02040503050406030204" pitchFamily="18" charset="0"/>
                                            </a:rPr>
                                            <m:t>2</m:t>
                                          </m:r>
                                        </m:sup>
                                      </m:sSup>
                                    </m:den>
                                  </m:f>
                                </m:e>
                              </m:box>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p>
                                    <m:sSupPr>
                                      <m:ctrlPr>
                                        <a:rPr lang="ar-AE" sz="1400" i="1">
                                          <a:solidFill>
                                            <a:schemeClr val="tx1"/>
                                          </a:solidFill>
                                          <a:latin typeface="Cambria Math" panose="02040503050406030204" pitchFamily="18" charset="0"/>
                                        </a:rPr>
                                      </m:ctrlPr>
                                    </m:sSupPr>
                                    <m:e>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e>
                                    <m:sup>
                                      <m:r>
                                        <a:rPr lang="ar-AE" sz="1400" i="1">
                                          <a:solidFill>
                                            <a:schemeClr val="tx1"/>
                                          </a:solidFill>
                                          <a:latin typeface="Cambria Math" panose="02040503050406030204" pitchFamily="18" charset="0"/>
                                        </a:rPr>
                                        <m:t>2</m:t>
                                      </m:r>
                                    </m:sup>
                                  </m:s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e>
                              <m:box>
                                <m:boxPr>
                                  <m:ctrlPr>
                                    <a:rPr lang="ar-AE" sz="1400" i="1">
                                      <a:solidFill>
                                        <a:schemeClr val="tx1"/>
                                      </a:solidFill>
                                      <a:latin typeface="Cambria Math" panose="02040503050406030204" pitchFamily="18" charset="0"/>
                                    </a:rPr>
                                  </m:ctrlPr>
                                </m:boxPr>
                                <m:e>
                                  <m:argPr>
                                    <m:argSz m:val="-1"/>
                                  </m:argPr>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p>
                                        <m:sSupPr>
                                          <m:ctrlPr>
                                            <a:rPr lang="ar-AE" sz="1400" i="1">
                                              <a:solidFill>
                                                <a:schemeClr val="tx1"/>
                                              </a:solidFill>
                                              <a:latin typeface="Cambria Math" panose="02040503050406030204" pitchFamily="18" charset="0"/>
                                            </a:rPr>
                                          </m:ctrlPr>
                                        </m:sSup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e>
                                        <m:sup>
                                          <m:r>
                                            <a:rPr lang="ar-AE" sz="1400" i="1">
                                              <a:solidFill>
                                                <a:schemeClr val="tx1"/>
                                              </a:solidFill>
                                              <a:latin typeface="Cambria Math" panose="02040503050406030204" pitchFamily="18" charset="0"/>
                                            </a:rPr>
                                            <m:t>2</m:t>
                                          </m:r>
                                        </m:sup>
                                      </m:sSup>
                                    </m:den>
                                  </m:f>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𝑅</m:t>
                                              </m:r>
                                            </m:e>
                                            <m:sub>
                                              <m:r>
                                                <a:rPr lang="ar-AE" sz="1400" i="1">
                                                  <a:solidFill>
                                                    <a:schemeClr val="tx1"/>
                                                  </a:solidFill>
                                                  <a:latin typeface="Cambria Math" panose="02040503050406030204" pitchFamily="18" charset="0"/>
                                                </a:rPr>
                                                <m:t>𝑠</m:t>
                                              </m:r>
                                            </m:sub>
                                          </m:sSub>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mr>
                        </m:m>
                      </m:e>
                    </m:d>
                  </m:oMath>
                </a14:m>
                <a:r>
                  <a:rPr lang="ar-AE" sz="1400" b="1" dirty="0">
                    <a:solidFill>
                      <a:schemeClr val="tx1"/>
                    </a:solidFill>
                    <a:latin typeface="Calibri"/>
                  </a:rPr>
                  <a:t>, 	</a:t>
                </a:r>
                <a:r>
                  <a:rPr lang="ar-AE" sz="1400" dirty="0">
                    <a:solidFill>
                      <a:schemeClr val="tx1"/>
                    </a:solidFill>
                  </a:rPr>
                  <a:t> </a:t>
                </a:r>
                <a14:m>
                  <m:oMath xmlns:m="http://schemas.openxmlformats.org/officeDocument/2006/math">
                    <m:r>
                      <a:rPr lang="ar-AE" sz="1400">
                        <a:solidFill>
                          <a:schemeClr val="tx1"/>
                        </a:solidFill>
                        <a:latin typeface="Cambria Math" panose="02040503050406030204" pitchFamily="18" charset="0"/>
                      </a:rPr>
                      <m:t>𝐶</m:t>
                    </m:r>
                    <m:r>
                      <a:rPr lang="ar-AE" sz="1400">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a:solidFill>
                                    <a:schemeClr val="tx1"/>
                                  </a:solidFill>
                                  <a:latin typeface="Cambria Math" panose="02040503050406030204" pitchFamily="18" charset="0"/>
                                </a:rPr>
                                <m:t>0</m:t>
                              </m:r>
                            </m:e>
                            <m:e>
                              <m:r>
                                <a:rPr lang="ar-AE" sz="1400">
                                  <a:solidFill>
                                    <a:schemeClr val="tx1"/>
                                  </a:solidFill>
                                  <a:latin typeface="Cambria Math" panose="02040503050406030204" pitchFamily="18" charset="0"/>
                                </a:rPr>
                                <m:t>1</m:t>
                              </m:r>
                            </m:e>
                            <m:e>
                              <m:r>
                                <a:rPr lang="ar-AE" sz="1400">
                                  <a:solidFill>
                                    <a:schemeClr val="tx1"/>
                                  </a:solidFill>
                                  <a:latin typeface="Cambria Math" panose="02040503050406030204" pitchFamily="18" charset="0"/>
                                </a:rPr>
                                <m:t>0</m:t>
                              </m:r>
                            </m:e>
                          </m:mr>
                        </m:m>
                      </m:e>
                    </m:d>
                  </m:oMath>
                </a14:m>
                <a:endParaRPr lang="ar-AE" sz="1400" b="1" dirty="0">
                  <a:solidFill>
                    <a:schemeClr val="tx1"/>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74320" y="2186265"/>
                <a:ext cx="5425144" cy="1075231"/>
              </a:xfrm>
              <a:prstGeom prst="rect">
                <a:avLst/>
              </a:prstGeom>
              <a:blipFill>
                <a:blip r:embed="rId3"/>
                <a:stretch>
                  <a:fillRect/>
                </a:stretch>
              </a:blipFill>
            </p:spPr>
            <p:txBody>
              <a:bodyPr/>
              <a:lstStyle/>
              <a:p>
                <a:r>
                  <a:rPr lang="es-AR">
                    <a:noFill/>
                  </a:rPr>
                  <a:t> </a:t>
                </a:r>
              </a:p>
            </p:txBody>
          </p:sp>
        </mc:Fallback>
      </mc:AlternateContent>
      <p:sp>
        <p:nvSpPr>
          <p:cNvPr id="12" name="Rectangle 11"/>
          <p:cNvSpPr/>
          <p:nvPr/>
        </p:nvSpPr>
        <p:spPr>
          <a:xfrm>
            <a:off x="365760" y="3742625"/>
            <a:ext cx="11430000" cy="678455"/>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365760" y="3810271"/>
                <a:ext cx="11155680" cy="543162"/>
              </a:xfrm>
              <a:prstGeom prst="rect">
                <a:avLst/>
              </a:prstGeom>
              <a:noFill/>
            </p:spPr>
            <p:txBody>
              <a:bodyPr wrap="square">
                <a:spAutoFit/>
              </a:bodyPr>
              <a:lstStyle/>
              <a:p>
                <a:pPr algn="just">
                  <a:lnSpc>
                    <a:spcPct val="107000"/>
                  </a:lnSpc>
                  <a:spcBef>
                    <a:spcPts val="1200"/>
                  </a:spcBef>
                  <a:spcAft>
                    <a:spcPts val="800"/>
                  </a:spcAft>
                </a:pPr>
                <a:r>
                  <a:rPr lang="es-AR" sz="1400" dirty="0">
                    <a:solidFill>
                      <a:srgbClr val="1A1A2E"/>
                    </a:solidFill>
                    <a:latin typeface="Calibri"/>
                  </a:rPr>
                  <a:t>Bajo estas condiciones, la matriz de observabilidad obtenida tiene determinante igual a cero, por lo que el sistema no es observable desde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𝜔</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Esto es consistente con el hecho de que, aun conociendo la velocidad, no es posible recuperar la posición si la condición inicial de posición es desconocida.</a:t>
                </a:r>
              </a:p>
            </p:txBody>
          </p:sp>
        </mc:Choice>
        <mc:Fallback xmlns="">
          <p:sp>
            <p:nvSpPr>
              <p:cNvPr id="13" name="TextBox 12"/>
              <p:cNvSpPr txBox="1">
                <a:spLocks noRot="1" noChangeAspect="1" noMove="1" noResize="1" noEditPoints="1" noAdjustHandles="1" noChangeArrowheads="1" noChangeShapeType="1" noTextEdit="1"/>
              </p:cNvSpPr>
              <p:nvPr/>
            </p:nvSpPr>
            <p:spPr>
              <a:xfrm>
                <a:off x="365760" y="3810271"/>
                <a:ext cx="11155680" cy="543162"/>
              </a:xfrm>
              <a:prstGeom prst="rect">
                <a:avLst/>
              </a:prstGeom>
              <a:blipFill>
                <a:blip r:embed="rId4"/>
                <a:stretch>
                  <a:fillRect l="-164" t="-1124" r="-164" b="-12360"/>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30470EBB-D6CB-4D7C-A74A-2F6DBF978C5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B9C7D1E3-FF31-4895-B1EC-0865CB5DA00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7742039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14">
            <a:extLst>
              <a:ext uri="{FF2B5EF4-FFF2-40B4-BE49-F238E27FC236}">
                <a16:creationId xmlns:a16="http://schemas.microsoft.com/office/drawing/2014/main" id="{88D984E5-AAA2-4A7A-B785-552D83A42C05}"/>
              </a:ext>
            </a:extLst>
          </p:cNvPr>
          <p:cNvSpPr/>
          <p:nvPr/>
        </p:nvSpPr>
        <p:spPr>
          <a:xfrm>
            <a:off x="365760" y="3783945"/>
            <a:ext cx="11672359" cy="1771185"/>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9232" y="73210"/>
            <a:ext cx="11551615" cy="658368"/>
          </a:xfrm>
          <a:prstGeom prst="rect">
            <a:avLst/>
          </a:prstGeom>
          <a:noFill/>
        </p:spPr>
        <p:txBody>
          <a:bodyPr wrap="none">
            <a:spAutoFit/>
          </a:bodyPr>
          <a:lstStyle/>
          <a:p>
            <a:pPr algn="l"/>
            <a:r>
              <a:rPr sz="2100" b="1" dirty="0" err="1">
                <a:solidFill>
                  <a:srgbClr val="FFFFFF"/>
                </a:solidFill>
                <a:latin typeface="Cambria"/>
              </a:rPr>
              <a:t>Controlabilidad</a:t>
            </a:r>
            <a:r>
              <a:rPr sz="2100" b="1" dirty="0">
                <a:solidFill>
                  <a:srgbClr val="FFFFFF"/>
                </a:solidFill>
                <a:latin typeface="Cambria"/>
              </a:rPr>
              <a:t> del </a:t>
            </a:r>
            <a:r>
              <a:rPr sz="2100" b="1" dirty="0" err="1">
                <a:solidFill>
                  <a:srgbClr val="FFFFFF"/>
                </a:solidFill>
                <a:latin typeface="Cambria"/>
              </a:rPr>
              <a:t>modelo</a:t>
            </a:r>
            <a:r>
              <a:rPr sz="2100" b="1" dirty="0">
                <a:solidFill>
                  <a:srgbClr val="FFFFFF"/>
                </a:solidFill>
                <a:latin typeface="Cambria"/>
              </a:rPr>
              <a:t>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36 / ~75</a:t>
            </a:r>
          </a:p>
        </p:txBody>
      </p:sp>
      <p:sp>
        <p:nvSpPr>
          <p:cNvPr id="7" name="TextBox 6"/>
          <p:cNvSpPr txBox="1"/>
          <p:nvPr/>
        </p:nvSpPr>
        <p:spPr>
          <a:xfrm>
            <a:off x="320040" y="740197"/>
            <a:ext cx="11430000" cy="307777"/>
          </a:xfrm>
          <a:prstGeom prst="rect">
            <a:avLst/>
          </a:prstGeom>
          <a:noFill/>
        </p:spPr>
        <p:txBody>
          <a:bodyPr wrap="square">
            <a:spAutoFit/>
          </a:bodyPr>
          <a:lstStyle/>
          <a:p>
            <a:pPr algn="l"/>
            <a:r>
              <a:rPr lang="es-AR" sz="1400" b="0" i="0" dirty="0">
                <a:solidFill>
                  <a:srgbClr val="1A1A2E"/>
                </a:solidFill>
                <a:latin typeface="Calibri"/>
              </a:rPr>
              <a:t>Criterio de Kalman: un sistema LTI de orden n con p entradas es completamente controlable si el rango de la matriz de controlabilidad C es n.</a:t>
            </a:r>
          </a:p>
        </p:txBody>
      </p:sp>
      <p:sp>
        <p:nvSpPr>
          <p:cNvPr id="14" name="Shape 14">
            <a:extLst>
              <a:ext uri="{FF2B5EF4-FFF2-40B4-BE49-F238E27FC236}">
                <a16:creationId xmlns:a16="http://schemas.microsoft.com/office/drawing/2014/main" id="{A77D075C-2329-47AE-A04A-FA8EE65B618B}"/>
              </a:ext>
            </a:extLst>
          </p:cNvPr>
          <p:cNvSpPr/>
          <p:nvPr/>
        </p:nvSpPr>
        <p:spPr>
          <a:xfrm>
            <a:off x="365760" y="1192126"/>
            <a:ext cx="11672360" cy="1755257"/>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5" name="TextBox 8">
                <a:extLst>
                  <a:ext uri="{FF2B5EF4-FFF2-40B4-BE49-F238E27FC236}">
                    <a16:creationId xmlns:a16="http://schemas.microsoft.com/office/drawing/2014/main" id="{EEF5C91D-4DA2-495A-9E10-C1C80ADE5322}"/>
                  </a:ext>
                </a:extLst>
              </p:cNvPr>
              <p:cNvSpPr txBox="1"/>
              <p:nvPr/>
            </p:nvSpPr>
            <p:spPr>
              <a:xfrm>
                <a:off x="441960" y="1201183"/>
                <a:ext cx="7119892" cy="167744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latin typeface="Cambria Math" panose="02040503050406030204" pitchFamily="18" charset="0"/>
                        </a:rPr>
                        <m:t>ℂ</m:t>
                      </m:r>
                      <m:r>
                        <a:rPr lang="es-AR" sz="1400" i="1" smtClean="0">
                          <a:latin typeface="Cambria Math" panose="02040503050406030204" pitchFamily="18" charset="0"/>
                        </a:rPr>
                        <m:t>=</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𝐵</m:t>
                          </m:r>
                          <m:r>
                            <a:rPr lang="es-AR" sz="1400" i="1">
                              <a:latin typeface="Cambria Math" panose="02040503050406030204" pitchFamily="18" charset="0"/>
                            </a:rPr>
                            <m:t> </m:t>
                          </m:r>
                          <m:r>
                            <a:rPr lang="es-AR" sz="1400" i="1">
                              <a:latin typeface="Cambria Math" panose="02040503050406030204" pitchFamily="18" charset="0"/>
                            </a:rPr>
                            <m:t>𝐴𝐵</m:t>
                          </m:r>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𝐴</m:t>
                              </m:r>
                            </m:e>
                            <m:sup>
                              <m:r>
                                <a:rPr lang="es-AR" sz="1400" i="1">
                                  <a:latin typeface="Cambria Math" panose="02040503050406030204" pitchFamily="18" charset="0"/>
                                </a:rPr>
                                <m:t>2</m:t>
                              </m:r>
                            </m:sup>
                          </m:sSup>
                          <m:r>
                            <a:rPr lang="es-AR" sz="1400" i="1">
                              <a:latin typeface="Cambria Math" panose="02040503050406030204" pitchFamily="18" charset="0"/>
                            </a:rPr>
                            <m:t>𝐵</m:t>
                          </m:r>
                          <m:r>
                            <a:rPr lang="es-AR" sz="1400" i="1">
                              <a:latin typeface="Cambria Math" panose="02040503050406030204" pitchFamily="18" charset="0"/>
                            </a:rPr>
                            <m:t>  . . .  </m:t>
                          </m:r>
                          <m:sSup>
                            <m:sSupPr>
                              <m:ctrlPr>
                                <a:rPr lang="es-AR" sz="1400" i="1">
                                  <a:latin typeface="Cambria Math" panose="02040503050406030204" pitchFamily="18" charset="0"/>
                                </a:rPr>
                              </m:ctrlPr>
                            </m:sSupPr>
                            <m:e>
                              <m:r>
                                <a:rPr lang="es-AR" sz="1400" i="1">
                                  <a:latin typeface="Cambria Math" panose="02040503050406030204" pitchFamily="18" charset="0"/>
                                </a:rPr>
                                <m:t>𝐴</m:t>
                              </m:r>
                            </m:e>
                            <m:sup>
                              <m:r>
                                <a:rPr lang="es-AR" sz="1400" i="1">
                                  <a:latin typeface="Cambria Math" panose="02040503050406030204" pitchFamily="18" charset="0"/>
                                </a:rPr>
                                <m:t>𝑛</m:t>
                              </m:r>
                              <m:r>
                                <a:rPr lang="es-AR" sz="1400" i="1">
                                  <a:latin typeface="Cambria Math" panose="02040503050406030204" pitchFamily="18" charset="0"/>
                                </a:rPr>
                                <m:t>−</m:t>
                              </m:r>
                              <m:r>
                                <a:rPr lang="es-AR" sz="1400" i="1">
                                  <a:latin typeface="Cambria Math" panose="02040503050406030204" pitchFamily="18" charset="0"/>
                                </a:rPr>
                                <m:t>1</m:t>
                              </m:r>
                            </m:sup>
                          </m:sSup>
                          <m:r>
                            <a:rPr lang="es-AR" sz="1400" i="1">
                              <a:latin typeface="Cambria Math" panose="02040503050406030204" pitchFamily="18" charset="0"/>
                            </a:rPr>
                            <m:t>𝐵</m:t>
                          </m:r>
                          <m:r>
                            <a:rPr lang="es-AR" sz="1400">
                              <a:latin typeface="Cambria Math" panose="02040503050406030204" pitchFamily="18" charset="0"/>
                            </a:rPr>
                            <m:t> </m:t>
                          </m:r>
                        </m:e>
                      </m:d>
                      <m:r>
                        <a:rPr lang="es-MX" sz="14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latin typeface="Cambria Math" panose="02040503050406030204" pitchFamily="18" charset="0"/>
                        </a:rPr>
                        <m:t>𝐴</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5"/>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e>
                                <m:r>
                                  <a:rPr lang="es-AR" sz="1400" i="1">
                                    <a:latin typeface="Cambria Math" panose="02040503050406030204" pitchFamily="18" charset="0"/>
                                  </a:rPr>
                                  <m:t>1</m:t>
                                </m:r>
                              </m:e>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e>
                                </m:box>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 </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𝑡𝑠</m:t>
                                            </m:r>
                                            <m:r>
                                              <a:rPr lang="es-AR" sz="1400" i="1">
                                                <a:latin typeface="Cambria Math" panose="02040503050406030204" pitchFamily="18" charset="0"/>
                                              </a:rPr>
                                              <m:t>−</m:t>
                                            </m:r>
                                            <m:r>
                                              <a:rPr lang="es-AR" sz="1400" i="1">
                                                <a:latin typeface="Cambria Math" panose="02040503050406030204" pitchFamily="18" charset="0"/>
                                              </a:rPr>
                                              <m:t>𝑎𝑚𝑏</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mr>
                          </m:m>
                        </m:e>
                      </m:d>
                      <m:r>
                        <a:rPr lang="es-AR" sz="1400" i="1">
                          <a:latin typeface="Cambria Math" panose="02040503050406030204" pitchFamily="18" charset="0"/>
                        </a:rPr>
                        <m:t>,  </m:t>
                      </m:r>
                      <m:r>
                        <a:rPr lang="es-AR" sz="1400" i="1">
                          <a:latin typeface="Cambria Math" panose="02040503050406030204" pitchFamily="18" charset="0"/>
                        </a:rPr>
                        <m:t>𝐵</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mr>
                            <m:mr>
                              <m:e>
                                <m:r>
                                  <a:rPr lang="es-AR" sz="1400" i="1">
                                    <a:latin typeface="Cambria Math" panose="02040503050406030204" pitchFamily="18" charset="0"/>
                                  </a:rPr>
                                  <m:t>0</m:t>
                                </m:r>
                              </m:e>
                            </m:mr>
                            <m:m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mr>
                                  <m:mr>
                                    <m:e>
                                      <m:r>
                                        <a:rPr lang="es-AR" sz="1400" i="1">
                                          <a:latin typeface="Cambria Math" panose="02040503050406030204" pitchFamily="18" charset="0"/>
                                        </a:rPr>
                                        <m:t>0</m:t>
                                      </m:r>
                                    </m:e>
                                  </m:mr>
                                  <m:mr>
                                    <m:e>
                                      <m:r>
                                        <a:rPr lang="es-AR" sz="1400" i="1">
                                          <a:latin typeface="Cambria Math" panose="02040503050406030204" pitchFamily="18" charset="0"/>
                                        </a:rPr>
                                        <m:t>0</m:t>
                                      </m:r>
                                    </m:e>
                                  </m:mr>
                                </m:m>
                              </m:e>
                            </m:mr>
                          </m:m>
                        </m:e>
                      </m:d>
                    </m:oMath>
                  </m:oMathPara>
                </a14:m>
                <a:endParaRPr sz="1400" b="1" dirty="0">
                  <a:solidFill>
                    <a:srgbClr val="1B6B2A"/>
                  </a:solidFill>
                  <a:latin typeface="Calibri"/>
                </a:endParaRPr>
              </a:p>
            </p:txBody>
          </p:sp>
        </mc:Choice>
        <mc:Fallback xmlns="">
          <p:sp>
            <p:nvSpPr>
              <p:cNvPr id="15" name="TextBox 8">
                <a:extLst>
                  <a:ext uri="{FF2B5EF4-FFF2-40B4-BE49-F238E27FC236}">
                    <a16:creationId xmlns:a16="http://schemas.microsoft.com/office/drawing/2014/main" id="{EEF5C91D-4DA2-495A-9E10-C1C80ADE5322}"/>
                  </a:ext>
                </a:extLst>
              </p:cNvPr>
              <p:cNvSpPr txBox="1">
                <a:spLocks noRot="1" noChangeAspect="1" noMove="1" noResize="1" noEditPoints="1" noAdjustHandles="1" noChangeArrowheads="1" noChangeShapeType="1" noTextEdit="1"/>
              </p:cNvSpPr>
              <p:nvPr/>
            </p:nvSpPr>
            <p:spPr>
              <a:xfrm>
                <a:off x="441960" y="1201183"/>
                <a:ext cx="7119892" cy="1677447"/>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88D997F0-F44F-4854-97B1-8F21234D83DE}"/>
                  </a:ext>
                </a:extLst>
              </p:cNvPr>
              <p:cNvSpPr txBox="1"/>
              <p:nvPr/>
            </p:nvSpPr>
            <p:spPr>
              <a:xfrm>
                <a:off x="320040" y="3067624"/>
                <a:ext cx="11672359" cy="560346"/>
              </a:xfrm>
              <a:prstGeom prst="rect">
                <a:avLst/>
              </a:prstGeom>
              <a:noFill/>
            </p:spPr>
            <p:txBody>
              <a:bodyPr wrap="square">
                <a:spAutoFit/>
              </a:bodyPr>
              <a:lstStyle/>
              <a:p>
                <a:pPr algn="just">
                  <a:lnSpc>
                    <a:spcPct val="107000"/>
                  </a:lnSpc>
                  <a:spcBef>
                    <a:spcPts val="600"/>
                  </a:spcBef>
                  <a:spcAft>
                    <a:spcPts val="800"/>
                  </a:spcAf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 evalúa la controlabilidad del sistema LTI aumentado, desde la entrada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Para simplificar el cálculo, se considera inicialmente el modelo reducido bajo las hipótesis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y despreciando la influencia de la temperatura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en la dinámica. La matriz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se simplifica a:</a:t>
                </a:r>
              </a:p>
            </p:txBody>
          </p:sp>
        </mc:Choice>
        <mc:Fallback xmlns="">
          <p:sp>
            <p:nvSpPr>
              <p:cNvPr id="17" name="CuadroTexto 16">
                <a:extLst>
                  <a:ext uri="{FF2B5EF4-FFF2-40B4-BE49-F238E27FC236}">
                    <a16:creationId xmlns:a16="http://schemas.microsoft.com/office/drawing/2014/main" id="{88D997F0-F44F-4854-97B1-8F21234D83DE}"/>
                  </a:ext>
                </a:extLst>
              </p:cNvPr>
              <p:cNvSpPr txBox="1">
                <a:spLocks noRot="1" noChangeAspect="1" noMove="1" noResize="1" noEditPoints="1" noAdjustHandles="1" noChangeArrowheads="1" noChangeShapeType="1" noTextEdit="1"/>
              </p:cNvSpPr>
              <p:nvPr/>
            </p:nvSpPr>
            <p:spPr>
              <a:xfrm>
                <a:off x="320040" y="3067624"/>
                <a:ext cx="11672359" cy="560346"/>
              </a:xfrm>
              <a:prstGeom prst="rect">
                <a:avLst/>
              </a:prstGeom>
              <a:blipFill>
                <a:blip r:embed="rId3"/>
                <a:stretch>
                  <a:fillRect l="-157" r="-157" b="-1087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D6F130A-FBC4-4904-BB45-D397134FCF1C}"/>
                  </a:ext>
                </a:extLst>
              </p:cNvPr>
              <p:cNvSpPr txBox="1"/>
              <p:nvPr/>
            </p:nvSpPr>
            <p:spPr>
              <a:xfrm>
                <a:off x="320040" y="3808747"/>
                <a:ext cx="4799960" cy="16343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400" i="1" smtClean="0">
                          <a:solidFill>
                            <a:schemeClr val="tx1"/>
                          </a:solidFill>
                          <a:latin typeface="Cambria Math" panose="02040503050406030204" pitchFamily="18" charset="0"/>
                        </a:rPr>
                        <m:t>𝐵</m:t>
                      </m:r>
                      <m:r>
                        <a:rPr lang="es-AR" sz="1400" i="0">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r>
                                  <a:rPr lang="es-AR" sz="1400" i="0">
                                    <a:solidFill>
                                      <a:schemeClr val="tx1"/>
                                    </a:solidFill>
                                    <a:latin typeface="Cambria Math" panose="02040503050406030204" pitchFamily="18" charset="0"/>
                                  </a:rPr>
                                  <m:t>0</m:t>
                                </m:r>
                              </m:e>
                            </m:mr>
                            <m:mr>
                              <m:e>
                                <m:r>
                                  <a:rPr lang="es-AR" sz="1400" i="0">
                                    <a:solidFill>
                                      <a:schemeClr val="tx1"/>
                                    </a:solidFill>
                                    <a:latin typeface="Cambria Math" panose="02040503050406030204" pitchFamily="18" charset="0"/>
                                  </a:rPr>
                                  <m:t>0</m:t>
                                </m:r>
                              </m:e>
                            </m:mr>
                            <m:mr>
                              <m:e>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den>
                                </m:f>
                              </m:e>
                            </m:mr>
                          </m:m>
                        </m:e>
                      </m:d>
                      <m:r>
                        <a:rPr lang="es-MX" sz="1400" b="0" i="0" smtClean="0">
                          <a:solidFill>
                            <a:schemeClr val="tx1"/>
                          </a:solidFill>
                          <a:latin typeface="Cambria Math" panose="02040503050406030204" pitchFamily="18" charset="0"/>
                        </a:rPr>
                        <m:t>,</m:t>
                      </m:r>
                      <m:r>
                        <a:rPr lang="es-MX" sz="1400" b="0" i="1" smtClean="0">
                          <a:solidFill>
                            <a:schemeClr val="tx1"/>
                          </a:solidFill>
                          <a:latin typeface="Cambria Math" panose="02040503050406030204" pitchFamily="18" charset="0"/>
                        </a:rPr>
                        <m:t>  </m:t>
                      </m:r>
                      <m:r>
                        <a:rPr lang="es-AR" sz="1400" i="1">
                          <a:latin typeface="Cambria Math" panose="02040503050406030204" pitchFamily="18" charset="0"/>
                        </a:rPr>
                        <m:t>ℂ</m:t>
                      </m:r>
                      <m:r>
                        <a:rPr lang="es-AR" sz="1400" i="1">
                          <a:latin typeface="Cambria Math" panose="02040503050406030204" pitchFamily="18" charset="0"/>
                        </a:rPr>
                        <m:t> = </m:t>
                      </m:r>
                      <m:d>
                        <m:dPr>
                          <m:begChr m:val="["/>
                          <m:endChr m:val="]"/>
                          <m:ctrlPr>
                            <a:rPr lang="es-AR" sz="1400" i="1">
                              <a:latin typeface="Cambria Math" panose="02040503050406030204" pitchFamily="18" charset="0"/>
                            </a:rPr>
                          </m:ctrlPr>
                        </m:dPr>
                        <m:e>
                          <m:m>
                            <m:mPr>
                              <m:mcs>
                                <m:mc>
                                  <m:mcPr>
                                    <m:count m:val="3"/>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e>
                                <m:r>
                                  <a:rPr lang="es-AR" sz="1400" i="1">
                                    <a:latin typeface="Cambria Math" panose="02040503050406030204" pitchFamily="18" charset="0"/>
                                  </a:rPr>
                                  <m:t>0</m:t>
                                </m:r>
                              </m:e>
                              <m:e>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mr>
                            <m:mr>
                              <m:e>
                                <m:r>
                                  <a:rPr lang="es-AR" sz="1400" i="1">
                                    <a:latin typeface="Cambria Math" panose="02040503050406030204" pitchFamily="18" charset="0"/>
                                  </a:rPr>
                                  <m:t>0</m:t>
                                </m:r>
                              </m:e>
                              <m:e>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e>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Sup>
                                      <m:sSubSupPr>
                                        <m:ctrlPr>
                                          <a:rPr lang="es-AR" sz="1400" i="1">
                                            <a:latin typeface="Cambria Math" panose="02040503050406030204" pitchFamily="18" charset="0"/>
                                          </a:rPr>
                                        </m:ctrlPr>
                                      </m:sSubSupPr>
                                      <m:e>
                                        <m:r>
                                          <a:rPr lang="es-AR" sz="1400" i="1">
                                            <a:latin typeface="Cambria Math" panose="02040503050406030204" pitchFamily="18" charset="0"/>
                                          </a:rPr>
                                          <m:t>𝐽</m:t>
                                        </m:r>
                                      </m:e>
                                      <m:sub>
                                        <m:r>
                                          <a:rPr lang="es-AR" sz="1400" i="1">
                                            <a:latin typeface="Cambria Math" panose="02040503050406030204" pitchFamily="18" charset="0"/>
                                          </a:rPr>
                                          <m:t>𝑒𝑞</m:t>
                                        </m:r>
                                      </m:sub>
                                      <m:sup>
                                        <m:r>
                                          <a:rPr lang="es-AR" sz="1400" i="1">
                                            <a:latin typeface="Cambria Math" panose="02040503050406030204" pitchFamily="18" charset="0"/>
                                          </a:rPr>
                                          <m:t>2</m:t>
                                        </m:r>
                                      </m:sup>
                                    </m:sSubSup>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2</m:t>
                                        </m:r>
                                      </m:sup>
                                    </m:sSubSup>
                                  </m:den>
                                </m:f>
                              </m:e>
                            </m:mr>
                            <m:mr>
                              <m:e>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e>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2</m:t>
                                        </m:r>
                                      </m:sup>
                                    </m:sSubSup>
                                  </m:den>
                                </m:f>
                              </m:e>
                              <m:e>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𝑠</m:t>
                                        </m:r>
                                      </m:sub>
                                      <m:sup>
                                        <m:r>
                                          <a:rPr lang="es-AR" sz="1400" i="1">
                                            <a:latin typeface="Cambria Math" panose="02040503050406030204" pitchFamily="18" charset="0"/>
                                          </a:rPr>
                                          <m:t>2</m:t>
                                        </m:r>
                                      </m:sup>
                                    </m:sSubSup>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3</m:t>
                                        </m:r>
                                      </m:sup>
                                    </m:sSubSup>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sSubSup>
                                      <m:sSubSupPr>
                                        <m:ctrlPr>
                                          <a:rPr lang="es-AR" sz="1400" i="1">
                                            <a:latin typeface="Cambria Math" panose="02040503050406030204" pitchFamily="18" charset="0"/>
                                          </a:rPr>
                                        </m:ctrlPr>
                                      </m:sSubSupPr>
                                      <m:e>
                                        <m:r>
                                          <a:rPr lang="es-AR" sz="1400" i="1">
                                            <a:latin typeface="Cambria Math" panose="02040503050406030204" pitchFamily="18" charset="0"/>
                                          </a:rPr>
                                          <m:t>𝑃</m:t>
                                        </m:r>
                                      </m:e>
                                      <m:sub>
                                        <m:r>
                                          <a:rPr lang="es-AR" sz="1400" i="1">
                                            <a:latin typeface="Cambria Math" panose="02040503050406030204" pitchFamily="18" charset="0"/>
                                          </a:rPr>
                                          <m:t>𝑝</m:t>
                                        </m:r>
                                      </m:sub>
                                      <m:sup>
                                        <m:r>
                                          <a:rPr lang="es-AR" sz="1400" i="1">
                                            <a:latin typeface="Cambria Math" panose="02040503050406030204" pitchFamily="18" charset="0"/>
                                          </a:rPr>
                                          <m:t>2</m:t>
                                        </m:r>
                                      </m:sup>
                                    </m:sSubSup>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e>
                                        </m:d>
                                      </m:e>
                                      <m:sup>
                                        <m:r>
                                          <a:rPr lang="es-AR" sz="1400" i="1">
                                            <a:latin typeface="Cambria Math" panose="02040503050406030204" pitchFamily="18" charset="0"/>
                                          </a:rPr>
                                          <m:t>2</m:t>
                                        </m:r>
                                      </m:sup>
                                    </m:s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2</m:t>
                                        </m:r>
                                      </m:sup>
                                    </m:sSubSup>
                                  </m:den>
                                </m:f>
                              </m:e>
                            </m:mr>
                          </m:m>
                        </m:e>
                      </m:d>
                    </m:oMath>
                  </m:oMathPara>
                </a14:m>
                <a:endParaRPr lang="es-AR" sz="1400" dirty="0">
                  <a:solidFill>
                    <a:schemeClr val="tx1"/>
                  </a:solidFill>
                </a:endParaRPr>
              </a:p>
            </p:txBody>
          </p:sp>
        </mc:Choice>
        <mc:Fallback xmlns="">
          <p:sp>
            <p:nvSpPr>
              <p:cNvPr id="19" name="CuadroTexto 18">
                <a:extLst>
                  <a:ext uri="{FF2B5EF4-FFF2-40B4-BE49-F238E27FC236}">
                    <a16:creationId xmlns:a16="http://schemas.microsoft.com/office/drawing/2014/main" id="{DD6F130A-FBC4-4904-BB45-D397134FCF1C}"/>
                  </a:ext>
                </a:extLst>
              </p:cNvPr>
              <p:cNvSpPr txBox="1">
                <a:spLocks noRot="1" noChangeAspect="1" noMove="1" noResize="1" noEditPoints="1" noAdjustHandles="1" noChangeArrowheads="1" noChangeShapeType="1" noTextEdit="1"/>
              </p:cNvSpPr>
              <p:nvPr/>
            </p:nvSpPr>
            <p:spPr>
              <a:xfrm>
                <a:off x="320040" y="3808747"/>
                <a:ext cx="4799960" cy="1634358"/>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3AC6C61C-B986-46D4-88B7-80E1DC9A439B}"/>
                  </a:ext>
                </a:extLst>
              </p:cNvPr>
              <p:cNvSpPr txBox="1"/>
              <p:nvPr/>
            </p:nvSpPr>
            <p:spPr>
              <a:xfrm>
                <a:off x="365760" y="5623883"/>
                <a:ext cx="11672360" cy="790858"/>
              </a:xfrm>
              <a:prstGeom prst="rect">
                <a:avLst/>
              </a:prstGeom>
              <a:noFill/>
            </p:spPr>
            <p:txBody>
              <a:bodyPr wrap="square">
                <a:spAutoFit/>
              </a:bodyPr>
              <a:lstStyle/>
              <a:p>
                <a:pPr algn="just">
                  <a:lnSpc>
                    <a:spcPct val="107000"/>
                  </a:lnSpc>
                  <a:spcBef>
                    <a:spcPts val="600"/>
                  </a:spcBef>
                  <a:spcAft>
                    <a:spcPts val="800"/>
                  </a:spcAf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El determinante es distinto de cero. El sistema simplificado es totalmente controlable desde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Sin embargo, si se analiza el sistema aumentado numéricamente, se observa que el sistema no es totalmente controlable. Es decir, se deberían implementar entradas de control adicionales para manipular </a:t>
                </a:r>
                <a14:m>
                  <m:oMath xmlns:m="http://schemas.openxmlformats.org/officeDocument/2006/math">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y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p>
            </p:txBody>
          </p:sp>
        </mc:Choice>
        <mc:Fallback xmlns="">
          <p:sp>
            <p:nvSpPr>
              <p:cNvPr id="18" name="CuadroTexto 17">
                <a:extLst>
                  <a:ext uri="{FF2B5EF4-FFF2-40B4-BE49-F238E27FC236}">
                    <a16:creationId xmlns:a16="http://schemas.microsoft.com/office/drawing/2014/main" id="{3AC6C61C-B986-46D4-88B7-80E1DC9A439B}"/>
                  </a:ext>
                </a:extLst>
              </p:cNvPr>
              <p:cNvSpPr txBox="1">
                <a:spLocks noRot="1" noChangeAspect="1" noMove="1" noResize="1" noEditPoints="1" noAdjustHandles="1" noChangeArrowheads="1" noChangeShapeType="1" noTextEdit="1"/>
              </p:cNvSpPr>
              <p:nvPr/>
            </p:nvSpPr>
            <p:spPr>
              <a:xfrm>
                <a:off x="365760" y="5623883"/>
                <a:ext cx="11672360" cy="790858"/>
              </a:xfrm>
              <a:prstGeom prst="rect">
                <a:avLst/>
              </a:prstGeom>
              <a:blipFill>
                <a:blip r:embed="rId5"/>
                <a:stretch>
                  <a:fillRect l="-157" r="-157" b="-7752"/>
                </a:stretch>
              </a:blipFill>
            </p:spPr>
            <p:txBody>
              <a:bodyPr/>
              <a:lstStyle/>
              <a:p>
                <a:r>
                  <a:rPr lang="es-AR">
                    <a:noFill/>
                  </a:rPr>
                  <a:t> </a:t>
                </a:r>
              </a:p>
            </p:txBody>
          </p:sp>
        </mc:Fallback>
      </mc:AlternateContent>
      <p:sp>
        <p:nvSpPr>
          <p:cNvPr id="13" name="Shape 2">
            <a:extLst>
              <a:ext uri="{FF2B5EF4-FFF2-40B4-BE49-F238E27FC236}">
                <a16:creationId xmlns:a16="http://schemas.microsoft.com/office/drawing/2014/main" id="{22B6A428-420C-4A3D-898C-D3482F948E4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D9B63925-0C75-4087-A3AF-B51B2009572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Controlabilidad del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36 / ~75</a:t>
            </a:r>
          </a:p>
        </p:txBody>
      </p: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71E11B25-3B84-4CFB-9B7A-BF639C90C521}"/>
                  </a:ext>
                </a:extLst>
              </p:cNvPr>
              <p:cNvSpPr txBox="1"/>
              <p:nvPr/>
            </p:nvSpPr>
            <p:spPr>
              <a:xfrm>
                <a:off x="411933" y="996894"/>
                <a:ext cx="10913951" cy="1350754"/>
              </a:xfrm>
              <a:prstGeom prst="rect">
                <a:avLst/>
              </a:prstGeom>
              <a:noFill/>
            </p:spPr>
            <p:txBody>
              <a:bodyPr wrap="square">
                <a:spAutoFit/>
              </a:bodyPr>
              <a:lstStyle/>
              <a:p>
                <a:pPr algn="just">
                  <a:spcBef>
                    <a:spcPts val="400"/>
                  </a:spcBef>
                  <a:spcAft>
                    <a:spcPts val="400"/>
                  </a:spcAft>
                </a:pPr>
                <a:r>
                  <a:rPr lang="es-AR" sz="1600" b="1" dirty="0">
                    <a:effectLst/>
                    <a:latin typeface="Calibri" panose="020F0502020204030204" pitchFamily="34" charset="0"/>
                    <a:ea typeface="Times New Roman" panose="02020603050405020304" pitchFamily="18" charset="0"/>
                  </a:rPr>
                  <a:t>Interpretación física:</a:t>
                </a:r>
                <a:endParaRPr lang="es-AR" sz="1600" dirty="0">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Font typeface="Arial" panose="020B0604020202020204" pitchFamily="34" charset="0"/>
                  <a:buChar char="•"/>
                  <a:tabLst>
                    <a:tab pos="457200" algn="l"/>
                  </a:tabLst>
                </a:pPr>
                <a:r>
                  <a:rPr lang="es-AR" sz="1600" b="1" dirty="0">
                    <a:solidFill>
                      <a:schemeClr val="tx1"/>
                    </a:solidFill>
                    <a:effectLst/>
                    <a:latin typeface="Calibri" panose="020F0502020204030204" pitchFamily="34" charset="0"/>
                    <a:ea typeface="Times New Roman" panose="02020603050405020304" pitchFamily="18" charset="0"/>
                  </a:rPr>
                  <a:t>Corriente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600" dirty="0">
                    <a:solidFill>
                      <a:schemeClr val="tx1"/>
                    </a:solidFill>
                    <a:effectLst/>
                    <a:latin typeface="Calibri" panose="020F0502020204030204" pitchFamily="34" charset="0"/>
                    <a:ea typeface="Times New Roman" panose="02020603050405020304" pitchFamily="18" charset="0"/>
                  </a:rPr>
                  <a:t>​: No aparece en la ecuación de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𝑣</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Para controlarla se necesita actuar sobre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𝑣</m:t>
                        </m:r>
                      </m:e>
                      <m:sub>
                        <m:r>
                          <a:rPr lang="es-AR" sz="1600" i="1">
                            <a:solidFill>
                              <a:schemeClr val="tx1"/>
                            </a:solidFill>
                            <a:effectLst/>
                            <a:latin typeface="Cambria Math" panose="02040503050406030204" pitchFamily="18" charset="0"/>
                            <a:ea typeface="Times New Roman" panose="02020603050405020304" pitchFamily="18" charset="0"/>
                          </a:rPr>
                          <m:t>𝑑𝑠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  </a:t>
                </a:r>
                <a:endParaRPr lang="es-AR" sz="16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Font typeface="Arial" panose="020B0604020202020204" pitchFamily="34" charset="0"/>
                  <a:buChar char="•"/>
                  <a:tabLst>
                    <a:tab pos="457200" algn="l"/>
                  </a:tabLst>
                </a:pPr>
                <a:r>
                  <a:rPr lang="es-AR" sz="1600" b="1" dirty="0">
                    <a:solidFill>
                      <a:schemeClr val="tx1"/>
                    </a:solidFill>
                    <a:effectLst/>
                    <a:latin typeface="Calibri" panose="020F0502020204030204" pitchFamily="34" charset="0"/>
                    <a:ea typeface="Times New Roman" panose="02020603050405020304" pitchFamily="18" charset="0"/>
                  </a:rPr>
                  <a:t>Temperatura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𝑇</m:t>
                        </m:r>
                      </m:e>
                      <m:sub>
                        <m:r>
                          <a:rPr lang="es-AR" sz="1600" i="1">
                            <a:solidFill>
                              <a:schemeClr val="tx1"/>
                            </a:solidFill>
                            <a:effectLst/>
                            <a:latin typeface="Cambria Math" panose="02040503050406030204" pitchFamily="18" charset="0"/>
                            <a:ea typeface="Times New Roman" panose="02020603050405020304" pitchFamily="18" charset="0"/>
                          </a:rPr>
                          <m:t>𝑠</m:t>
                        </m:r>
                      </m:sub>
                      <m:sup>
                        <m:r>
                          <a:rPr lang="es-AR" sz="1600" i="1">
                            <a:solidFill>
                              <a:schemeClr val="tx1"/>
                            </a:solidFill>
                            <a:effectLst/>
                            <a:latin typeface="Cambria Math" panose="02040503050406030204" pitchFamily="18" charset="0"/>
                            <a:ea typeface="Times New Roman" panose="02020603050405020304" pitchFamily="18" charset="0"/>
                          </a:rPr>
                          <m:t>∘</m:t>
                        </m:r>
                      </m:sup>
                    </m:sSubSup>
                  </m:oMath>
                </a14:m>
                <a:r>
                  <a:rPr lang="es-AR" sz="1600" dirty="0">
                    <a:solidFill>
                      <a:schemeClr val="tx1"/>
                    </a:solidFill>
                    <a:effectLst/>
                    <a:latin typeface="Calibri" panose="020F0502020204030204" pitchFamily="34" charset="0"/>
                    <a:ea typeface="Times New Roman" panose="02020603050405020304" pitchFamily="18" charset="0"/>
                  </a:rPr>
                  <a:t>: Depende de las pérdidas Joule que son función de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𝑖</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r>
                          <a:rPr lang="es-AR" sz="1600" i="1">
                            <a:solidFill>
                              <a:schemeClr val="tx1"/>
                            </a:solidFill>
                            <a:effectLst/>
                            <a:latin typeface="Cambria Math" panose="02040503050406030204" pitchFamily="18" charset="0"/>
                            <a:ea typeface="Times New Roman" panose="02020603050405020304" pitchFamily="18" charset="0"/>
                          </a:rPr>
                          <m:t> </m:t>
                        </m:r>
                        <m:r>
                          <a:rPr lang="es-AR" sz="1600" i="1">
                            <a:solidFill>
                              <a:schemeClr val="tx1"/>
                            </a:solidFill>
                            <a:effectLst/>
                            <a:latin typeface="Cambria Math" panose="02040503050406030204" pitchFamily="18" charset="0"/>
                            <a:ea typeface="Times New Roman" panose="02020603050405020304" pitchFamily="18" charset="0"/>
                          </a:rPr>
                          <m:t>2</m:t>
                        </m:r>
                      </m:sup>
                    </m:sSubSup>
                    <m:r>
                      <a:rPr lang="es-AR" sz="1600" i="1">
                        <a:solidFill>
                          <a:schemeClr val="tx1"/>
                        </a:solidFill>
                        <a:effectLst/>
                        <a:latin typeface="Cambria Math" panose="02040503050406030204" pitchFamily="18" charset="0"/>
                        <a:ea typeface="Times New Roman" panose="02020603050405020304" pitchFamily="18" charset="0"/>
                      </a:rPr>
                      <m:t>+</m:t>
                    </m:r>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𝑖</m:t>
                        </m:r>
                      </m:e>
                      <m:sub>
                        <m:r>
                          <a:rPr lang="es-AR" sz="1600" i="1">
                            <a:solidFill>
                              <a:schemeClr val="tx1"/>
                            </a:solidFill>
                            <a:effectLst/>
                            <a:latin typeface="Cambria Math" panose="02040503050406030204" pitchFamily="18" charset="0"/>
                            <a:ea typeface="Times New Roman" panose="02020603050405020304" pitchFamily="18" charset="0"/>
                          </a:rPr>
                          <m:t>𝑑𝑠</m:t>
                        </m:r>
                      </m:sub>
                      <m:sup>
                        <m:r>
                          <a:rPr lang="es-AR" sz="1600" i="1">
                            <a:solidFill>
                              <a:schemeClr val="tx1"/>
                            </a:solidFill>
                            <a:effectLst/>
                            <a:latin typeface="Cambria Math" panose="02040503050406030204" pitchFamily="18" charset="0"/>
                            <a:ea typeface="Times New Roman" panose="02020603050405020304" pitchFamily="18" charset="0"/>
                          </a:rPr>
                          <m:t>𝑟</m:t>
                        </m:r>
                        <m:r>
                          <a:rPr lang="es-AR" sz="1600" i="1">
                            <a:solidFill>
                              <a:schemeClr val="tx1"/>
                            </a:solidFill>
                            <a:effectLst/>
                            <a:latin typeface="Cambria Math" panose="02040503050406030204" pitchFamily="18" charset="0"/>
                            <a:ea typeface="Times New Roman" panose="02020603050405020304" pitchFamily="18" charset="0"/>
                          </a:rPr>
                          <m:t> </m:t>
                        </m:r>
                        <m:r>
                          <a:rPr lang="es-AR" sz="1600" i="1">
                            <a:solidFill>
                              <a:schemeClr val="tx1"/>
                            </a:solidFill>
                            <a:effectLst/>
                            <a:latin typeface="Cambria Math" panose="02040503050406030204" pitchFamily="18" charset="0"/>
                            <a:ea typeface="Times New Roman" panose="02020603050405020304" pitchFamily="18" charset="0"/>
                          </a:rPr>
                          <m:t>2</m:t>
                        </m:r>
                      </m:sup>
                    </m:sSubSup>
                    <m:r>
                      <a:rPr lang="es-MX" sz="1600" b="0" i="0" smtClean="0">
                        <a:solidFill>
                          <a:schemeClr val="tx1"/>
                        </a:solidFill>
                        <a:effectLst/>
                        <a:latin typeface="Cambria Math" panose="02040503050406030204" pitchFamily="18" charset="0"/>
                        <a:ea typeface="Times New Roman" panose="02020603050405020304" pitchFamily="18" charset="0"/>
                      </a:rPr>
                      <m:t>. </m:t>
                    </m:r>
                  </m:oMath>
                </a14:m>
                <a:r>
                  <a:rPr lang="es-AR" sz="1600" dirty="0">
                    <a:solidFill>
                      <a:schemeClr val="tx1"/>
                    </a:solidFill>
                    <a:effectLst/>
                    <a:latin typeface="Calibri" panose="020F0502020204030204" pitchFamily="34" charset="0"/>
                    <a:ea typeface="Times New Roman" panose="02020603050405020304" pitchFamily="18" charset="0"/>
                  </a:rPr>
                  <a:t>Aunque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𝑣</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puede influir indirectamente en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𝑇</m:t>
                        </m:r>
                      </m:e>
                      <m:sub>
                        <m:r>
                          <a:rPr lang="es-AR" sz="1600" i="1">
                            <a:solidFill>
                              <a:schemeClr val="tx1"/>
                            </a:solidFill>
                            <a:effectLst/>
                            <a:latin typeface="Cambria Math" panose="02040503050406030204" pitchFamily="18" charset="0"/>
                            <a:ea typeface="Times New Roman" panose="02020603050405020304" pitchFamily="18" charset="0"/>
                          </a:rPr>
                          <m:t>𝑠</m:t>
                        </m:r>
                      </m:sub>
                      <m:sup>
                        <m:r>
                          <a:rPr lang="es-AR" sz="1600" i="1">
                            <a:solidFill>
                              <a:schemeClr val="tx1"/>
                            </a:solidFill>
                            <a:effectLst/>
                            <a:latin typeface="Cambria Math" panose="02040503050406030204" pitchFamily="18" charset="0"/>
                            <a:ea typeface="Times New Roman" panose="02020603050405020304" pitchFamily="18" charset="0"/>
                          </a:rPr>
                          <m:t>∘</m:t>
                        </m:r>
                      </m:sup>
                    </m:sSubSup>
                  </m:oMath>
                </a14:m>
                <a:r>
                  <a:rPr lang="es-AR" sz="1600" dirty="0">
                    <a:solidFill>
                      <a:schemeClr val="tx1"/>
                    </a:solidFill>
                    <a:effectLst/>
                    <a:latin typeface="Calibri" panose="020F0502020204030204" pitchFamily="34" charset="0"/>
                    <a:ea typeface="Times New Roman" panose="02020603050405020304" pitchFamily="18" charset="0"/>
                  </a:rPr>
                  <a:t>​ a través de </a:t>
                </a:r>
                <a14:m>
                  <m:oMath xmlns:m="http://schemas.openxmlformats.org/officeDocument/2006/math">
                    <m:sSubSup>
                      <m:sSubSupPr>
                        <m:ctrlPr>
                          <a:rPr lang="es-AR" sz="16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𝑖</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a:t>
                </a:r>
                <a:r>
                  <a:rPr lang="es-AR" sz="1600" b="1" dirty="0">
                    <a:solidFill>
                      <a:schemeClr val="tx1"/>
                    </a:solidFill>
                    <a:effectLst/>
                    <a:latin typeface="Calibri" panose="020F0502020204030204" pitchFamily="34" charset="0"/>
                    <a:ea typeface="Times New Roman" panose="02020603050405020304" pitchFamily="18" charset="0"/>
                  </a:rPr>
                  <a:t>no puede forzar a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𝑇</m:t>
                        </m:r>
                      </m:e>
                      <m:sub>
                        <m:r>
                          <a:rPr lang="es-AR" sz="1600" i="1">
                            <a:solidFill>
                              <a:schemeClr val="tx1"/>
                            </a:solidFill>
                            <a:effectLst/>
                            <a:latin typeface="Cambria Math" panose="02040503050406030204" pitchFamily="18" charset="0"/>
                            <a:ea typeface="Times New Roman" panose="02020603050405020304" pitchFamily="18" charset="0"/>
                          </a:rPr>
                          <m:t>𝑠</m:t>
                        </m:r>
                      </m:sub>
                      <m:sup>
                        <m:r>
                          <a:rPr lang="es-AR" sz="1600" i="1">
                            <a:solidFill>
                              <a:schemeClr val="tx1"/>
                            </a:solidFill>
                            <a:effectLst/>
                            <a:latin typeface="Cambria Math" panose="02040503050406030204" pitchFamily="18" charset="0"/>
                            <a:ea typeface="Times New Roman" panose="02020603050405020304" pitchFamily="18" charset="0"/>
                          </a:rPr>
                          <m:t>∘</m:t>
                        </m:r>
                      </m:sup>
                    </m:sSubSup>
                  </m:oMath>
                </a14:m>
                <a:r>
                  <a:rPr lang="es-AR" sz="1600" dirty="0">
                    <a:solidFill>
                      <a:schemeClr val="tx1"/>
                    </a:solidFill>
                    <a:effectLst/>
                    <a:latin typeface="Calibri" panose="020F0502020204030204" pitchFamily="34" charset="0"/>
                    <a:ea typeface="Times New Roman" panose="02020603050405020304" pitchFamily="18" charset="0"/>
                  </a:rPr>
                  <a:t>​</a:t>
                </a:r>
                <a:r>
                  <a:rPr lang="es-AR" sz="1600" b="1" dirty="0">
                    <a:solidFill>
                      <a:schemeClr val="tx1"/>
                    </a:solidFill>
                    <a:effectLst/>
                    <a:latin typeface="Calibri" panose="020F0502020204030204" pitchFamily="34" charset="0"/>
                    <a:ea typeface="Times New Roman" panose="02020603050405020304" pitchFamily="18" charset="0"/>
                  </a:rPr>
                  <a:t> a un valor arbitrario </a:t>
                </a:r>
                <a:r>
                  <a:rPr lang="es-AR" sz="1600" dirty="0">
                    <a:solidFill>
                      <a:schemeClr val="tx1"/>
                    </a:solidFill>
                    <a:effectLst/>
                    <a:latin typeface="Calibri" panose="020F0502020204030204" pitchFamily="34" charset="0"/>
                    <a:ea typeface="Times New Roman" panose="02020603050405020304" pitchFamily="18" charset="0"/>
                  </a:rPr>
                  <a:t>porque la dinámica térmica es autónoma.</a:t>
                </a:r>
                <a:endParaRPr lang="es-AR" sz="1600" dirty="0">
                  <a:solidFill>
                    <a:schemeClr val="tx1"/>
                  </a:solidFill>
                  <a:effectLst/>
                  <a:latin typeface="Times New Roman" panose="02020603050405020304" pitchFamily="18" charset="0"/>
                  <a:ea typeface="Times New Roman" panose="02020603050405020304" pitchFamily="18" charset="0"/>
                </a:endParaRPr>
              </a:p>
            </p:txBody>
          </p:sp>
        </mc:Choice>
        <mc:Fallback xmlns="">
          <p:sp>
            <p:nvSpPr>
              <p:cNvPr id="18" name="CuadroTexto 17">
                <a:extLst>
                  <a:ext uri="{FF2B5EF4-FFF2-40B4-BE49-F238E27FC236}">
                    <a16:creationId xmlns:a16="http://schemas.microsoft.com/office/drawing/2014/main" id="{71E11B25-3B84-4CFB-9B7A-BF639C90C521}"/>
                  </a:ext>
                </a:extLst>
              </p:cNvPr>
              <p:cNvSpPr txBox="1">
                <a:spLocks noRot="1" noChangeAspect="1" noMove="1" noResize="1" noEditPoints="1" noAdjustHandles="1" noChangeArrowheads="1" noChangeShapeType="1" noTextEdit="1"/>
              </p:cNvSpPr>
              <p:nvPr/>
            </p:nvSpPr>
            <p:spPr>
              <a:xfrm>
                <a:off x="411933" y="996894"/>
                <a:ext cx="10913951" cy="1350754"/>
              </a:xfrm>
              <a:prstGeom prst="rect">
                <a:avLst/>
              </a:prstGeom>
              <a:blipFill>
                <a:blip r:embed="rId2"/>
                <a:stretch>
                  <a:fillRect l="-335" t="-1357" r="-279" b="-4072"/>
                </a:stretch>
              </a:blipFill>
            </p:spPr>
            <p:txBody>
              <a:bodyPr/>
              <a:lstStyle/>
              <a:p>
                <a:r>
                  <a:rPr lang="es-AR">
                    <a:noFill/>
                  </a:rPr>
                  <a:t> </a:t>
                </a:r>
              </a:p>
            </p:txBody>
          </p:sp>
        </mc:Fallback>
      </mc:AlternateContent>
      <p:sp>
        <p:nvSpPr>
          <p:cNvPr id="7" name="Shape 2">
            <a:extLst>
              <a:ext uri="{FF2B5EF4-FFF2-40B4-BE49-F238E27FC236}">
                <a16:creationId xmlns:a16="http://schemas.microsoft.com/office/drawing/2014/main" id="{980706F5-6513-4AE0-B1B9-F15A452A040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8" name="Text 3">
            <a:extLst>
              <a:ext uri="{FF2B5EF4-FFF2-40B4-BE49-F238E27FC236}">
                <a16:creationId xmlns:a16="http://schemas.microsoft.com/office/drawing/2014/main" id="{1FD6463C-8ECC-4B5E-BE9A-6E2DA717194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6557572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Respuesta dinámica a lazo abierto</a:t>
            </a:r>
          </a:p>
        </p:txBody>
      </p:sp>
      <p:sp>
        <p:nvSpPr>
          <p:cNvPr id="4" name="TextBox 3"/>
          <p:cNvSpPr txBox="1"/>
          <p:nvPr/>
        </p:nvSpPr>
        <p:spPr>
          <a:xfrm>
            <a:off x="3758605" y="3429000"/>
            <a:ext cx="4674485" cy="353943"/>
          </a:xfrm>
          <a:prstGeom prst="rect">
            <a:avLst/>
          </a:prstGeom>
          <a:noFill/>
        </p:spPr>
        <p:txBody>
          <a:bodyPr wrap="none">
            <a:spAutoFit/>
          </a:bodyPr>
          <a:lstStyle/>
          <a:p>
            <a:pPr algn="ctr"/>
            <a:r>
              <a:rPr lang="es-AR" sz="1700" dirty="0">
                <a:solidFill>
                  <a:srgbClr val="A0C4FF"/>
                </a:solidFill>
                <a:latin typeface="Calibri"/>
              </a:rPr>
              <a:t>Simulación del modelo NL · 4 cuadrantes · LTI vs NL</a:t>
            </a:r>
          </a:p>
        </p:txBody>
      </p:sp>
      <p:sp>
        <p:nvSpPr>
          <p:cNvPr id="5" name="Shape 4">
            <a:extLst>
              <a:ext uri="{FF2B5EF4-FFF2-40B4-BE49-F238E27FC236}">
                <a16:creationId xmlns:a16="http://schemas.microsoft.com/office/drawing/2014/main" id="{3D60419B-BD00-4C61-AA51-52AC809A8D5E}"/>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C4E0C6ED-563E-49AB-8131-0DE0A9CB5BCD}"/>
              </a:ext>
            </a:extLst>
          </p:cNvPr>
          <p:cNvPicPr/>
          <p:nvPr/>
        </p:nvPicPr>
        <p:blipFill rotWithShape="1">
          <a:blip r:embed="rId2"/>
          <a:srcRect l="-1634" r="-816"/>
          <a:stretch/>
        </p:blipFill>
        <p:spPr bwMode="auto">
          <a:xfrm>
            <a:off x="1322773" y="2259275"/>
            <a:ext cx="9072978" cy="3235563"/>
          </a:xfrm>
          <a:prstGeom prst="rect">
            <a:avLst/>
          </a:prstGeom>
          <a:ln>
            <a:noFill/>
          </a:ln>
          <a:extLst>
            <a:ext uri="{53640926-AAD7-44D8-BBD7-CCE9431645EC}">
              <a14:shadowObscured xmlns:a14="http://schemas.microsoft.com/office/drawing/2010/main"/>
            </a:ext>
          </a:extLst>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9153" y="117547"/>
            <a:ext cx="6599820" cy="415498"/>
          </a:xfrm>
          <a:prstGeom prst="rect">
            <a:avLst/>
          </a:prstGeom>
          <a:noFill/>
        </p:spPr>
        <p:txBody>
          <a:bodyPr wrap="none">
            <a:spAutoFit/>
          </a:bodyPr>
          <a:lstStyle/>
          <a:p>
            <a:pPr algn="l"/>
            <a:r>
              <a:rPr lang="es-AR" sz="2100" b="1" dirty="0">
                <a:solidFill>
                  <a:srgbClr val="FFFFFF"/>
                </a:solidFill>
                <a:latin typeface="Cambria"/>
              </a:rPr>
              <a:t>Respuesta dinámica — Descripción de la simulación</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38 / ~75</a:t>
            </a:r>
          </a:p>
        </p:txBody>
      </p:sp>
      <p:sp>
        <p:nvSpPr>
          <p:cNvPr id="7" name="TextBox 6"/>
          <p:cNvSpPr txBox="1"/>
          <p:nvPr/>
        </p:nvSpPr>
        <p:spPr>
          <a:xfrm>
            <a:off x="365760" y="777240"/>
            <a:ext cx="7772400" cy="411480"/>
          </a:xfrm>
          <a:prstGeom prst="rect">
            <a:avLst/>
          </a:prstGeom>
          <a:noFill/>
        </p:spPr>
        <p:txBody>
          <a:bodyPr wrap="square">
            <a:spAutoFit/>
          </a:bodyPr>
          <a:lstStyle/>
          <a:p>
            <a:pPr algn="l"/>
            <a:r>
              <a:rPr sz="1400" b="1" i="0">
                <a:solidFill>
                  <a:srgbClr val="1A3A6B"/>
                </a:solidFill>
                <a:latin typeface="Calibri"/>
              </a:rPr>
              <a:t>Se simula el modelo global NL con las siguientes entradas:</a:t>
            </a:r>
          </a:p>
        </p:txBody>
      </p:sp>
      <mc:AlternateContent xmlns:mc="http://schemas.openxmlformats.org/markup-compatibility/2006" xmlns:a14="http://schemas.microsoft.com/office/drawing/2010/main">
        <mc:Choice Requires="a14">
          <p:sp>
            <p:nvSpPr>
              <p:cNvPr id="8" name="TextBox 7"/>
              <p:cNvSpPr txBox="1"/>
              <p:nvPr/>
            </p:nvSpPr>
            <p:spPr>
              <a:xfrm>
                <a:off x="428342" y="1188720"/>
                <a:ext cx="11335009" cy="879856"/>
              </a:xfrm>
              <a:prstGeom prst="rect">
                <a:avLst/>
              </a:prstGeom>
              <a:noFill/>
            </p:spPr>
            <p:txBody>
              <a:bodyPr wrap="square">
                <a:spAutoFit/>
              </a:bodyPr>
              <a:lstStyle/>
              <a:p>
                <a:r>
                  <a:rPr lang="es-AR" sz="1400" dirty="0">
                    <a:solidFill>
                      <a:srgbClr val="1A1A2E"/>
                    </a:solidFill>
                    <a:latin typeface="Calibri"/>
                  </a:rPr>
                  <a:t>Consigna de tensión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𝑣</m:t>
                        </m:r>
                      </m:e>
                      <m:sub>
                        <m:r>
                          <a:rPr lang="es-AR" sz="1400">
                            <a:solidFill>
                              <a:srgbClr val="1A1A2E"/>
                            </a:solidFill>
                            <a:latin typeface="Cambria Math" panose="02040503050406030204" pitchFamily="18" charset="0"/>
                          </a:rPr>
                          <m:t>𝑞𝑠</m:t>
                        </m:r>
                      </m:sub>
                      <m:sup>
                        <m:r>
                          <a:rPr lang="es-AR" sz="1400">
                            <a:solidFill>
                              <a:srgbClr val="1A1A2E"/>
                            </a:solidFill>
                            <a:latin typeface="Cambria Math" panose="02040503050406030204" pitchFamily="18" charset="0"/>
                          </a:rPr>
                          <m:t>𝑟</m:t>
                        </m:r>
                      </m:sup>
                    </m:sSubSup>
                  </m:oMath>
                </a14:m>
                <a:r>
                  <a:rPr lang="es-AR" sz="1400" dirty="0">
                    <a:solidFill>
                      <a:srgbClr val="1A1A2E"/>
                    </a:solidFill>
                    <a:latin typeface="Calibri"/>
                  </a:rPr>
                  <a:t>: escalones de ±19.56 V en t = 0.1 s, t = 0.7 s y t = 1.1 s</a:t>
                </a:r>
              </a:p>
              <a:p>
                <a:pPr>
                  <a:spcBef>
                    <a:spcPts val="400"/>
                  </a:spcBef>
                </a:pPr>
                <a:r>
                  <a:rPr lang="es-AR" sz="1400" dirty="0">
                    <a:solidFill>
                      <a:srgbClr val="1A1A2E"/>
                    </a:solidFill>
                    <a:latin typeface="Calibri"/>
                  </a:rPr>
                  <a:t>Perturbaciones de torque de carga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𝑇</m:t>
                        </m:r>
                      </m:e>
                      <m:sub>
                        <m:r>
                          <a:rPr lang="es-AR" sz="1400">
                            <a:solidFill>
                              <a:srgbClr val="1A1A2E"/>
                            </a:solidFill>
                            <a:latin typeface="Cambria Math" panose="02040503050406030204" pitchFamily="18" charset="0"/>
                          </a:rPr>
                          <m:t>𝑙</m:t>
                        </m:r>
                      </m:sub>
                    </m:sSub>
                  </m:oMath>
                </a14:m>
                <a:r>
                  <a:rPr lang="es-AR" sz="1400" dirty="0">
                    <a:solidFill>
                      <a:srgbClr val="1A1A2E"/>
                    </a:solidFill>
                    <a:latin typeface="Calibri"/>
                  </a:rPr>
                  <a:t>: doble pulso ±6.28 N·m entre t = 0.3–0.9 s y t = 1.3–1.9 s</a:t>
                </a:r>
              </a:p>
              <a:p>
                <a:pPr>
                  <a:spcBef>
                    <a:spcPts val="400"/>
                  </a:spcBef>
                </a:pPr>
                <a:r>
                  <a:rPr lang="es-AR" sz="1400" dirty="0">
                    <a:solidFill>
                      <a:srgbClr val="1A1A2E"/>
                    </a:solidFill>
                    <a:latin typeface="Calibri"/>
                  </a:rPr>
                  <a:t>Condiciones iniciales nulas: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𝜃</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𝜔</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𝑖</m:t>
                        </m:r>
                      </m:e>
                      <m:sub>
                        <m:r>
                          <a:rPr lang="es-MX" sz="1400">
                            <a:solidFill>
                              <a:srgbClr val="1A1A2E"/>
                            </a:solidFill>
                            <a:latin typeface="Cambria Math" panose="02040503050406030204" pitchFamily="18" charset="0"/>
                          </a:rPr>
                          <m:t>𝑞</m:t>
                        </m:r>
                        <m:r>
                          <a:rPr lang="es-AR" sz="1400">
                            <a:solidFill>
                              <a:srgbClr val="1A1A2E"/>
                            </a:solidFill>
                            <a:latin typeface="Cambria Math" panose="02040503050406030204" pitchFamily="18" charset="0"/>
                          </a:rPr>
                          <m:t>𝑠</m:t>
                        </m:r>
                      </m:sub>
                      <m:sup>
                        <m:r>
                          <a:rPr lang="es-AR" sz="1400">
                            <a:solidFill>
                              <a:srgbClr val="1A1A2E"/>
                            </a:solidFill>
                            <a:latin typeface="Cambria Math" panose="02040503050406030204" pitchFamily="18" charset="0"/>
                          </a:rPr>
                          <m:t>𝑟</m:t>
                        </m:r>
                      </m:sup>
                    </m:sSubSup>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oMath>
                </a14:m>
                <a:r>
                  <a:rPr lang="es-AR" sz="1400" dirty="0">
                    <a:solidFill>
                      <a:srgbClr val="1A1A2E"/>
                    </a:solidFill>
                    <a:latin typeface="Calibri"/>
                  </a:rPr>
                  <a:t> =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𝑖</m:t>
                        </m:r>
                      </m:e>
                      <m:sub>
                        <m:r>
                          <a:rPr lang="es-AR" sz="1400">
                            <a:solidFill>
                              <a:srgbClr val="1A1A2E"/>
                            </a:solidFill>
                            <a:latin typeface="Cambria Math" panose="02040503050406030204" pitchFamily="18" charset="0"/>
                          </a:rPr>
                          <m:t>𝑑𝑠</m:t>
                        </m:r>
                      </m:sub>
                      <m:sup>
                        <m:r>
                          <a:rPr lang="es-AR" sz="1400">
                            <a:solidFill>
                              <a:srgbClr val="1A1A2E"/>
                            </a:solidFill>
                            <a:latin typeface="Cambria Math" panose="02040503050406030204" pitchFamily="18" charset="0"/>
                          </a:rPr>
                          <m:t>𝑟</m:t>
                        </m:r>
                      </m:sup>
                    </m:sSubSup>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oMath>
                </a14:m>
                <a:r>
                  <a:rPr lang="es-AR" sz="1400" dirty="0">
                    <a:solidFill>
                      <a:srgbClr val="1A1A2E"/>
                    </a:solidFill>
                    <a:latin typeface="Calibri"/>
                  </a:rPr>
                  <a:t> = 0,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oMath>
                </a14:m>
                <a:r>
                  <a:rPr lang="es-AR" sz="1400" dirty="0">
                    <a:solidFill>
                      <a:srgbClr val="1A1A2E"/>
                    </a:solidFill>
                    <a:latin typeface="Calibri"/>
                  </a:rPr>
                  <a:t> = Tamb = 40°C</a:t>
                </a:r>
              </a:p>
            </p:txBody>
          </p:sp>
        </mc:Choice>
        <mc:Fallback xmlns="">
          <p:sp>
            <p:nvSpPr>
              <p:cNvPr id="8" name="TextBox 7"/>
              <p:cNvSpPr txBox="1">
                <a:spLocks noRot="1" noChangeAspect="1" noMove="1" noResize="1" noEditPoints="1" noAdjustHandles="1" noChangeArrowheads="1" noChangeShapeType="1" noTextEdit="1"/>
              </p:cNvSpPr>
              <p:nvPr/>
            </p:nvSpPr>
            <p:spPr>
              <a:xfrm>
                <a:off x="428342" y="1188720"/>
                <a:ext cx="11335009" cy="879856"/>
              </a:xfrm>
              <a:prstGeom prst="rect">
                <a:avLst/>
              </a:prstGeom>
              <a:blipFill>
                <a:blip r:embed="rId3"/>
                <a:stretch>
                  <a:fillRect l="-161" t="-694" b="-4167"/>
                </a:stretch>
              </a:blipFill>
            </p:spPr>
            <p:txBody>
              <a:bodyPr/>
              <a:lstStyle/>
              <a:p>
                <a:r>
                  <a:rPr lang="es-AR">
                    <a:noFill/>
                  </a:rPr>
                  <a:t> </a:t>
                </a:r>
              </a:p>
            </p:txBody>
          </p:sp>
        </mc:Fallback>
      </mc:AlternateContent>
      <p:sp>
        <p:nvSpPr>
          <p:cNvPr id="18" name="CuadroTexto 17">
            <a:extLst>
              <a:ext uri="{FF2B5EF4-FFF2-40B4-BE49-F238E27FC236}">
                <a16:creationId xmlns:a16="http://schemas.microsoft.com/office/drawing/2014/main" id="{247D878E-C5E7-4C06-93AF-E9B576AB979D}"/>
              </a:ext>
            </a:extLst>
          </p:cNvPr>
          <p:cNvSpPr txBox="1"/>
          <p:nvPr/>
        </p:nvSpPr>
        <p:spPr>
          <a:xfrm>
            <a:off x="1976014" y="5563646"/>
            <a:ext cx="7705288"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14— </a:t>
            </a:r>
            <a:r>
              <a:rPr lang="es-AR" sz="1100" i="1" dirty="0">
                <a:solidFill>
                  <a:srgbClr val="224488"/>
                </a:solidFill>
                <a:latin typeface="Calibri" pitchFamily="34" charset="0"/>
                <a:cs typeface="Calibri" pitchFamily="34" charset="-120"/>
              </a:rPr>
              <a:t>Entrada de tensión y torque de perturbación</a:t>
            </a:r>
          </a:p>
        </p:txBody>
      </p:sp>
      <p:sp>
        <p:nvSpPr>
          <p:cNvPr id="10" name="Shape 2">
            <a:extLst>
              <a:ext uri="{FF2B5EF4-FFF2-40B4-BE49-F238E27FC236}">
                <a16:creationId xmlns:a16="http://schemas.microsoft.com/office/drawing/2014/main" id="{4F73D3C3-3B70-4D8D-955E-0DE7B685034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D11588B5-281D-4505-BC79-F69EED3594C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Posición, velocidad y torque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39 / ~75</a:t>
            </a:r>
          </a:p>
        </p:txBody>
      </p:sp>
      <p:pic>
        <p:nvPicPr>
          <p:cNvPr id="23" name="Imagen 22">
            <a:extLst>
              <a:ext uri="{FF2B5EF4-FFF2-40B4-BE49-F238E27FC236}">
                <a16:creationId xmlns:a16="http://schemas.microsoft.com/office/drawing/2014/main" id="{33BEBE12-7637-47D1-9CB1-60155501F8FA}"/>
              </a:ext>
            </a:extLst>
          </p:cNvPr>
          <p:cNvPicPr>
            <a:picLocks noChangeAspect="1"/>
          </p:cNvPicPr>
          <p:nvPr/>
        </p:nvPicPr>
        <p:blipFill rotWithShape="1">
          <a:blip r:embed="rId2"/>
          <a:srcRect t="1" r="2045" b="-2063"/>
          <a:stretch/>
        </p:blipFill>
        <p:spPr>
          <a:xfrm>
            <a:off x="1" y="756712"/>
            <a:ext cx="6096000" cy="2474760"/>
          </a:xfrm>
          <a:prstGeom prst="rect">
            <a:avLst/>
          </a:prstGeom>
        </p:spPr>
      </p:pic>
      <p:pic>
        <p:nvPicPr>
          <p:cNvPr id="25" name="Imagen 24">
            <a:extLst>
              <a:ext uri="{FF2B5EF4-FFF2-40B4-BE49-F238E27FC236}">
                <a16:creationId xmlns:a16="http://schemas.microsoft.com/office/drawing/2014/main" id="{630D634D-26C9-476A-B795-FAB30D5B9D38}"/>
              </a:ext>
            </a:extLst>
          </p:cNvPr>
          <p:cNvPicPr>
            <a:picLocks noChangeAspect="1"/>
          </p:cNvPicPr>
          <p:nvPr/>
        </p:nvPicPr>
        <p:blipFill>
          <a:blip r:embed="rId3"/>
          <a:stretch>
            <a:fillRect/>
          </a:stretch>
        </p:blipFill>
        <p:spPr>
          <a:xfrm>
            <a:off x="6096001" y="756712"/>
            <a:ext cx="6095694" cy="2374546"/>
          </a:xfrm>
          <a:prstGeom prst="rect">
            <a:avLst/>
          </a:prstGeom>
        </p:spPr>
      </p:pic>
      <p:pic>
        <p:nvPicPr>
          <p:cNvPr id="27" name="Imagen 26">
            <a:extLst>
              <a:ext uri="{FF2B5EF4-FFF2-40B4-BE49-F238E27FC236}">
                <a16:creationId xmlns:a16="http://schemas.microsoft.com/office/drawing/2014/main" id="{C069C04C-A846-43D1-8B24-83FD4A22E05C}"/>
              </a:ext>
            </a:extLst>
          </p:cNvPr>
          <p:cNvPicPr>
            <a:picLocks noChangeAspect="1"/>
          </p:cNvPicPr>
          <p:nvPr/>
        </p:nvPicPr>
        <p:blipFill>
          <a:blip r:embed="rId4"/>
          <a:stretch>
            <a:fillRect/>
          </a:stretch>
        </p:blipFill>
        <p:spPr>
          <a:xfrm>
            <a:off x="3000060" y="3131258"/>
            <a:ext cx="6446374" cy="2576394"/>
          </a:xfrm>
          <a:prstGeom prst="rect">
            <a:avLst/>
          </a:prstGeom>
        </p:spPr>
      </p:pic>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3CD8FF6B-7F48-4B69-BA77-7061EB35BD6C}"/>
                  </a:ext>
                </a:extLst>
              </p:cNvPr>
              <p:cNvSpPr txBox="1"/>
              <p:nvPr/>
            </p:nvSpPr>
            <p:spPr>
              <a:xfrm>
                <a:off x="2370603" y="5825256"/>
                <a:ext cx="7705288"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15— Respuesta del sistema NL: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𝜃</m:t>
                        </m:r>
                      </m:e>
                      <m:sub>
                        <m:r>
                          <a:rPr lang="es-AR" sz="1100" i="1">
                            <a:solidFill>
                              <a:srgbClr val="224488"/>
                            </a:solidFill>
                            <a:latin typeface="Cambria Math" panose="02040503050406030204" pitchFamily="18" charset="0"/>
                            <a:ea typeface="Calibri" pitchFamily="34" charset="-122"/>
                            <a:cs typeface="Calibri" pitchFamily="34" charset="-120"/>
                          </a:rPr>
                          <m:t>𝑚</m:t>
                        </m:r>
                      </m:sub>
                    </m:sSub>
                    <m:r>
                      <a:rPr lang="es-AR" sz="1100" i="1">
                        <a:solidFill>
                          <a:srgbClr val="224488"/>
                        </a:solidFill>
                        <a:latin typeface="Cambria Math" panose="02040503050406030204" pitchFamily="18" charset="0"/>
                        <a:ea typeface="Calibri" pitchFamily="34" charset="-122"/>
                        <a:cs typeface="Calibri" pitchFamily="34" charset="-120"/>
                      </a:rPr>
                      <m:t>, </m:t>
                    </m:r>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𝜔</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r>
                  <a:rPr lang="es-AR" sz="1100" i="1" dirty="0">
                    <a:solidFill>
                      <a:srgbClr val="224488"/>
                    </a:solidFill>
                    <a:latin typeface="Calibri" pitchFamily="34" charset="0"/>
                    <a:ea typeface="Calibri" pitchFamily="34" charset="-122"/>
                    <a:cs typeface="Calibri" pitchFamily="34" charset="-120"/>
                  </a:rPr>
                  <a:t> y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𝑇</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r>
                  <a:rPr lang="es-AR" sz="1100" i="1" dirty="0">
                    <a:solidFill>
                      <a:srgbClr val="224488"/>
                    </a:solidFill>
                    <a:latin typeface="Calibri" pitchFamily="34" charset="0"/>
                    <a:ea typeface="Calibri" pitchFamily="34" charset="-122"/>
                    <a:cs typeface="Calibri" pitchFamily="34" charset="-120"/>
                  </a:rPr>
                  <a:t> respectivamente</a:t>
                </a:r>
              </a:p>
            </p:txBody>
          </p:sp>
        </mc:Choice>
        <mc:Fallback xmlns="">
          <p:sp>
            <p:nvSpPr>
              <p:cNvPr id="28" name="CuadroTexto 27">
                <a:extLst>
                  <a:ext uri="{FF2B5EF4-FFF2-40B4-BE49-F238E27FC236}">
                    <a16:creationId xmlns:a16="http://schemas.microsoft.com/office/drawing/2014/main" id="{3CD8FF6B-7F48-4B69-BA77-7061EB35BD6C}"/>
                  </a:ext>
                </a:extLst>
              </p:cNvPr>
              <p:cNvSpPr txBox="1">
                <a:spLocks noRot="1" noChangeAspect="1" noMove="1" noResize="1" noEditPoints="1" noAdjustHandles="1" noChangeArrowheads="1" noChangeShapeType="1" noTextEdit="1"/>
              </p:cNvSpPr>
              <p:nvPr/>
            </p:nvSpPr>
            <p:spPr>
              <a:xfrm>
                <a:off x="2370603" y="5825256"/>
                <a:ext cx="7705288" cy="261610"/>
              </a:xfrm>
              <a:prstGeom prst="rect">
                <a:avLst/>
              </a:prstGeom>
              <a:blipFill>
                <a:blip r:embed="rId5"/>
                <a:stretch>
                  <a:fillRect b="-16279"/>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E5E0C3D0-923E-47FD-B4FD-91F6262E4A2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500AFDC3-8ADA-460C-9388-E9E2B4E86ED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6500882" cy="415498"/>
          </a:xfrm>
          <a:prstGeom prst="rect">
            <a:avLst/>
          </a:prstGeom>
          <a:noFill/>
        </p:spPr>
        <p:txBody>
          <a:bodyPr wrap="none">
            <a:spAutoFit/>
          </a:bodyPr>
          <a:lstStyle/>
          <a:p>
            <a:pPr algn="l"/>
            <a:r>
              <a:rPr lang="es-AR" sz="2100" b="1" dirty="0">
                <a:solidFill>
                  <a:srgbClr val="FFFFFF"/>
                </a:solidFill>
                <a:latin typeface="Cambria"/>
              </a:rPr>
              <a:t>Respuesta dinámica — Posición, velocidad y torque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39 / ~75</a:t>
            </a:r>
          </a:p>
        </p:txBody>
      </p:sp>
      <p:sp>
        <p:nvSpPr>
          <p:cNvPr id="12" name="TextBox 11"/>
          <p:cNvSpPr txBox="1"/>
          <p:nvPr/>
        </p:nvSpPr>
        <p:spPr>
          <a:xfrm>
            <a:off x="179329" y="901393"/>
            <a:ext cx="11430000" cy="338554"/>
          </a:xfrm>
          <a:prstGeom prst="rect">
            <a:avLst/>
          </a:prstGeom>
          <a:noFill/>
        </p:spPr>
        <p:txBody>
          <a:bodyPr wrap="square">
            <a:spAutoFit/>
          </a:bodyPr>
          <a:lstStyle/>
          <a:p>
            <a:pPr algn="l"/>
            <a:r>
              <a:rPr lang="es-AR" sz="1600" b="1" i="0" dirty="0">
                <a:solidFill>
                  <a:srgbClr val="1A3A6B"/>
                </a:solidFill>
                <a:latin typeface="Calibri"/>
              </a:rPr>
              <a:t>Análisis del movimiento:</a:t>
            </a:r>
          </a:p>
        </p:txBody>
      </p:sp>
      <mc:AlternateContent xmlns:mc="http://schemas.openxmlformats.org/markup-compatibility/2006" xmlns:a14="http://schemas.microsoft.com/office/drawing/2010/main">
        <mc:Choice Requires="a14">
          <p:sp>
            <p:nvSpPr>
              <p:cNvPr id="13" name="TextBox 12"/>
              <p:cNvSpPr txBox="1"/>
              <p:nvPr/>
            </p:nvSpPr>
            <p:spPr>
              <a:xfrm>
                <a:off x="179329" y="1267153"/>
                <a:ext cx="11430000" cy="2539157"/>
              </a:xfrm>
              <a:prstGeom prst="rect">
                <a:avLst/>
              </a:prstGeom>
              <a:noFill/>
            </p:spPr>
            <p:txBody>
              <a:bodyPr wrap="square">
                <a:spAutoFit/>
              </a:bodyPr>
              <a:lstStyle/>
              <a:p>
                <a:pPr marL="285750" indent="-285750" algn="just">
                  <a:buFont typeface="Arial" panose="020B0604020202020204" pitchFamily="34" charset="0"/>
                  <a:buChar char="•"/>
                </a:pPr>
                <a:r>
                  <a:rPr lang="es-AR" sz="1400" dirty="0">
                    <a:effectLst/>
                    <a:latin typeface="Calibri" panose="020F0502020204030204" pitchFamily="34" charset="0"/>
                    <a:ea typeface="Calibri" panose="020F0502020204030204" pitchFamily="34" charset="0"/>
                    <a:cs typeface="Times New Roman" panose="02020603050405020304" pitchFamily="18" charset="0"/>
                  </a:rPr>
                  <a:t>Se observa que al aplicar una tensión positiva de aproximadamente </a:t>
                </a:r>
                <a14:m>
                  <m:oMath xmlns:m="http://schemas.openxmlformats.org/officeDocument/2006/math">
                    <m:r>
                      <a:rPr lang="es-AR" sz="1400">
                        <a:effectLst/>
                        <a:latin typeface="Cambria Math" panose="02040503050406030204" pitchFamily="18" charset="0"/>
                        <a:ea typeface="Calibri" panose="020F0502020204030204" pitchFamily="34" charset="0"/>
                        <a:cs typeface="Times New Roman" panose="02020603050405020304" pitchFamily="18" charset="0"/>
                      </a:rPr>
                      <m:t>19</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56</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𝑉</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en el eje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alrededor de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1</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la velocidad del rotor aumenta rápidamente hasta alcanzar un régimen cuasi estacionario. En este intervalo, la posición crece de forma aproximadamente lineal, coherente con una velocidad positiva sostenida.</a:t>
                </a:r>
                <a:endParaRPr lang="es-AR" sz="1400" dirty="0">
                  <a:effectLst/>
                  <a:latin typeface="Times New Roman" panose="02020603050405020304" pitchFamily="18" charset="0"/>
                  <a:ea typeface="Times New Roman" panose="02020603050405020304" pitchFamily="18" charset="0"/>
                </a:endParaRPr>
              </a:p>
              <a:p>
                <a:pPr marL="285750" indent="-285750" algn="just">
                  <a:spcBef>
                    <a:spcPts val="600"/>
                  </a:spcBef>
                  <a:buFont typeface="Arial" panose="020B0604020202020204" pitchFamily="34" charset="0"/>
                  <a:buChar char="•"/>
                </a:pPr>
                <a:r>
                  <a:rPr lang="es-AR" sz="1400" dirty="0">
                    <a:effectLst/>
                    <a:latin typeface="Calibri" panose="020F0502020204030204" pitchFamily="34" charset="0"/>
                    <a:ea typeface="Calibri" panose="020F0502020204030204" pitchFamily="34" charset="0"/>
                    <a:cs typeface="Times New Roman" panose="02020603050405020304" pitchFamily="18" charset="0"/>
                  </a:rPr>
                  <a:t>Entre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3</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9</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se introducen perturbaciones de torque de carga mediante un doble pulso de amplitud positiva y negativa. Estas perturbaciones generan variaciones en la velocidad, generando transitorios en el torque electromagnético. Cuando el torque de carga cambia de signo, el torque motor también modifica su sentido para mantener el equilibrio dinámico.</a:t>
                </a:r>
                <a:endParaRPr lang="es-AR" sz="1400" dirty="0">
                  <a:effectLst/>
                  <a:latin typeface="Times New Roman" panose="02020603050405020304" pitchFamily="18" charset="0"/>
                  <a:ea typeface="Times New Roman" panose="02020603050405020304" pitchFamily="18" charset="0"/>
                </a:endParaRPr>
              </a:p>
              <a:p>
                <a:pPr marL="285750" indent="-285750" algn="just">
                  <a:buFont typeface="Arial" panose="020B0604020202020204" pitchFamily="34" charset="0"/>
                  <a:buChar char="•"/>
                </a:pPr>
                <a:r>
                  <a:rPr lang="es-AR" sz="1400" dirty="0">
                    <a:effectLst/>
                    <a:latin typeface="Calibri" panose="020F0502020204030204" pitchFamily="34" charset="0"/>
                    <a:ea typeface="Calibri" panose="020F0502020204030204" pitchFamily="34" charset="0"/>
                    <a:cs typeface="Times New Roman" panose="02020603050405020304" pitchFamily="18" charset="0"/>
                  </a:rPr>
                  <a:t>Posteriormente, al anular la tensión en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7</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la velocidad disminuye progresivamente debido a la acción de la perturbación aún presente. Más adelante, al aplicar una tensión negativa de aproximadamente 19.56 V en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1</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se produce una inversión del sentido de giro del rotor, lo que se refleja en una pendiente negativa de la posición y en el cambio de signo de la velocidad.</a:t>
                </a:r>
                <a:endParaRPr lang="es-AR" sz="1400" dirty="0">
                  <a:effectLst/>
                  <a:latin typeface="Times New Roman" panose="02020603050405020304" pitchFamily="18" charset="0"/>
                  <a:ea typeface="Times New Roman" panose="02020603050405020304" pitchFamily="18" charset="0"/>
                </a:endParaRPr>
              </a:p>
              <a:p>
                <a:pPr marL="285750" indent="-285750" algn="just">
                  <a:buFont typeface="Arial" panose="020B0604020202020204" pitchFamily="34" charset="0"/>
                  <a:buChar char="•"/>
                </a:pPr>
                <a:r>
                  <a:rPr lang="es-AR" sz="1400" dirty="0">
                    <a:effectLst/>
                    <a:latin typeface="Calibri" panose="020F0502020204030204" pitchFamily="34" charset="0"/>
                    <a:ea typeface="Calibri" panose="020F0502020204030204" pitchFamily="34" charset="0"/>
                    <a:cs typeface="Times New Roman" panose="02020603050405020304" pitchFamily="18" charset="0"/>
                  </a:rPr>
                  <a:t>Finalmente, al retirarse tanto la tensión como las perturbaciones de torque hacia el final del intervalo de simulación, el sistema tiende nuevamente a condiciones cercanas al reposo, observándose transitorios breves asociados a cada cambio de excitación.</a:t>
                </a:r>
                <a:endParaRPr lang="es-AR" sz="1400" dirty="0">
                  <a:effectLst/>
                  <a:latin typeface="Times New Roman" panose="02020603050405020304" pitchFamily="18" charset="0"/>
                  <a:ea typeface="Times New Roman" panose="02020603050405020304" pitchFamily="18" charset="0"/>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179329" y="1267153"/>
                <a:ext cx="11430000" cy="2539157"/>
              </a:xfrm>
              <a:prstGeom prst="rect">
                <a:avLst/>
              </a:prstGeom>
              <a:blipFill>
                <a:blip r:embed="rId2"/>
                <a:stretch>
                  <a:fillRect l="-53" t="-481" r="-160" b="-1683"/>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BC3361F0-1365-4F4C-94B6-A9CDF91AD3A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7C597987-757D-4200-942F-5B725AF77E6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5045723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n 24">
            <a:extLst>
              <a:ext uri="{FF2B5EF4-FFF2-40B4-BE49-F238E27FC236}">
                <a16:creationId xmlns:a16="http://schemas.microsoft.com/office/drawing/2014/main" id="{EF5ECAAA-6EA8-4DC5-9BC4-DEEE3BFDEA19}"/>
              </a:ext>
            </a:extLst>
          </p:cNvPr>
          <p:cNvPicPr>
            <a:picLocks noChangeAspect="1"/>
          </p:cNvPicPr>
          <p:nvPr/>
        </p:nvPicPr>
        <p:blipFill>
          <a:blip r:embed="rId2"/>
          <a:stretch>
            <a:fillRect/>
          </a:stretch>
        </p:blipFill>
        <p:spPr>
          <a:xfrm>
            <a:off x="91053" y="3560639"/>
            <a:ext cx="4025102" cy="2856288"/>
          </a:xfrm>
          <a:prstGeom prst="rect">
            <a:avLst/>
          </a:prstGeom>
        </p:spPr>
      </p:pic>
      <p:pic>
        <p:nvPicPr>
          <p:cNvPr id="27" name="Imagen 26">
            <a:extLst>
              <a:ext uri="{FF2B5EF4-FFF2-40B4-BE49-F238E27FC236}">
                <a16:creationId xmlns:a16="http://schemas.microsoft.com/office/drawing/2014/main" id="{09165717-D2DB-45CC-88F0-6266CED539BA}"/>
              </a:ext>
            </a:extLst>
          </p:cNvPr>
          <p:cNvPicPr>
            <a:picLocks noChangeAspect="1"/>
          </p:cNvPicPr>
          <p:nvPr/>
        </p:nvPicPr>
        <p:blipFill rotWithShape="1">
          <a:blip r:embed="rId3"/>
          <a:srcRect r="4768" b="9471"/>
          <a:stretch/>
        </p:blipFill>
        <p:spPr>
          <a:xfrm>
            <a:off x="4209973" y="3517623"/>
            <a:ext cx="4060741" cy="2843604"/>
          </a:xfrm>
          <a:prstGeom prst="rect">
            <a:avLst/>
          </a:prstGeom>
        </p:spPr>
      </p:pic>
      <p:pic>
        <p:nvPicPr>
          <p:cNvPr id="23" name="Imagen 22">
            <a:extLst>
              <a:ext uri="{FF2B5EF4-FFF2-40B4-BE49-F238E27FC236}">
                <a16:creationId xmlns:a16="http://schemas.microsoft.com/office/drawing/2014/main" id="{36E7A5AC-9094-429C-AA60-7142231F7EA6}"/>
              </a:ext>
            </a:extLst>
          </p:cNvPr>
          <p:cNvPicPr>
            <a:picLocks noChangeAspect="1"/>
          </p:cNvPicPr>
          <p:nvPr/>
        </p:nvPicPr>
        <p:blipFill>
          <a:blip r:embed="rId4"/>
          <a:stretch>
            <a:fillRect/>
          </a:stretch>
        </p:blipFill>
        <p:spPr>
          <a:xfrm>
            <a:off x="7997656" y="711477"/>
            <a:ext cx="3899940" cy="2774548"/>
          </a:xfrm>
          <a:prstGeom prst="rect">
            <a:avLst/>
          </a:prstGeom>
        </p:spPr>
      </p:pic>
      <p:pic>
        <p:nvPicPr>
          <p:cNvPr id="19" name="Imagen 18">
            <a:extLst>
              <a:ext uri="{FF2B5EF4-FFF2-40B4-BE49-F238E27FC236}">
                <a16:creationId xmlns:a16="http://schemas.microsoft.com/office/drawing/2014/main" id="{DCBE0694-1FC6-4BCD-8D6A-71F13C9FE6DF}"/>
              </a:ext>
            </a:extLst>
          </p:cNvPr>
          <p:cNvPicPr>
            <a:picLocks noChangeAspect="1"/>
          </p:cNvPicPr>
          <p:nvPr/>
        </p:nvPicPr>
        <p:blipFill>
          <a:blip r:embed="rId5"/>
          <a:stretch>
            <a:fillRect/>
          </a:stretch>
        </p:blipFill>
        <p:spPr>
          <a:xfrm>
            <a:off x="179147" y="728502"/>
            <a:ext cx="3874694" cy="2733421"/>
          </a:xfrm>
          <a:prstGeom prst="rect">
            <a:avLst/>
          </a:prstGeom>
        </p:spPr>
      </p:pic>
      <p:pic>
        <p:nvPicPr>
          <p:cNvPr id="21" name="Imagen 20">
            <a:extLst>
              <a:ext uri="{FF2B5EF4-FFF2-40B4-BE49-F238E27FC236}">
                <a16:creationId xmlns:a16="http://schemas.microsoft.com/office/drawing/2014/main" id="{8856759D-4833-4F77-8A63-56E826FAEFF7}"/>
              </a:ext>
            </a:extLst>
          </p:cNvPr>
          <p:cNvPicPr>
            <a:picLocks noChangeAspect="1"/>
          </p:cNvPicPr>
          <p:nvPr/>
        </p:nvPicPr>
        <p:blipFill>
          <a:blip r:embed="rId6"/>
          <a:stretch>
            <a:fillRect/>
          </a:stretch>
        </p:blipFill>
        <p:spPr>
          <a:xfrm>
            <a:off x="4209973" y="711477"/>
            <a:ext cx="3742379" cy="2759327"/>
          </a:xfrm>
          <a:prstGeom prst="rect">
            <a:avLst/>
          </a:prstGeom>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44145" y="76519"/>
            <a:ext cx="7568419" cy="415498"/>
          </a:xfrm>
          <a:prstGeom prst="rect">
            <a:avLst/>
          </a:prstGeom>
          <a:noFill/>
        </p:spPr>
        <p:txBody>
          <a:bodyPr wrap="none">
            <a:spAutoFit/>
          </a:bodyPr>
          <a:lstStyle/>
          <a:p>
            <a:pPr algn="l"/>
            <a:r>
              <a:rPr lang="es-AR" sz="2100" b="1" dirty="0">
                <a:solidFill>
                  <a:srgbClr val="FFFFFF"/>
                </a:solidFill>
                <a:latin typeface="Cambria"/>
              </a:rPr>
              <a:t>Respuesta dinámica — Corrientes y temperatura del estator</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40 / ~75</a:t>
            </a:r>
          </a:p>
        </p:txBody>
      </p:sp>
      <p:sp>
        <p:nvSpPr>
          <p:cNvPr id="11" name="Shape 2">
            <a:extLst>
              <a:ext uri="{FF2B5EF4-FFF2-40B4-BE49-F238E27FC236}">
                <a16:creationId xmlns:a16="http://schemas.microsoft.com/office/drawing/2014/main" id="{5634863D-8B8E-413B-8641-345DFB627C4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B87F7CBF-CA10-47E5-ACEA-018937E4693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3432"/>
            <a:ext cx="11551615" cy="658368"/>
          </a:xfrm>
          <a:prstGeom prst="rect">
            <a:avLst/>
          </a:prstGeom>
          <a:noFill/>
        </p:spPr>
        <p:txBody>
          <a:bodyPr wrap="none">
            <a:spAutoFit/>
          </a:bodyPr>
          <a:lstStyle/>
          <a:p>
            <a:pPr algn="l"/>
            <a:r>
              <a:rPr sz="2100" b="1" dirty="0">
                <a:solidFill>
                  <a:srgbClr val="FFFFFF"/>
                </a:solidFill>
                <a:latin typeface="Cambria"/>
              </a:rPr>
              <a:t>Respuesta </a:t>
            </a:r>
            <a:r>
              <a:rPr sz="2100" b="1" dirty="0" err="1">
                <a:solidFill>
                  <a:srgbClr val="FFFFFF"/>
                </a:solidFill>
                <a:latin typeface="Cambria"/>
              </a:rPr>
              <a:t>dinámica</a:t>
            </a:r>
            <a:r>
              <a:rPr sz="2100" b="1" dirty="0">
                <a:solidFill>
                  <a:srgbClr val="FFFFFF"/>
                </a:solidFill>
                <a:latin typeface="Cambria"/>
              </a:rPr>
              <a:t> — Corrientes y </a:t>
            </a:r>
            <a:r>
              <a:rPr sz="2100" b="1" dirty="0" err="1">
                <a:solidFill>
                  <a:srgbClr val="FFFFFF"/>
                </a:solidFill>
                <a:latin typeface="Cambria"/>
              </a:rPr>
              <a:t>temperatura</a:t>
            </a:r>
            <a:r>
              <a:rPr sz="2100" b="1" dirty="0">
                <a:solidFill>
                  <a:srgbClr val="FFFFFF"/>
                </a:solidFill>
                <a:latin typeface="Cambria"/>
              </a:rPr>
              <a:t> del </a:t>
            </a:r>
            <a:r>
              <a:rPr sz="2100" b="1" dirty="0" err="1">
                <a:solidFill>
                  <a:srgbClr val="FFFFFF"/>
                </a:solidFill>
                <a:latin typeface="Cambria"/>
              </a:rPr>
              <a:t>estator</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40 / ~75</a:t>
            </a:r>
          </a:p>
        </p:txBody>
      </p:sp>
      <p:sp>
        <p:nvSpPr>
          <p:cNvPr id="16" name="TextBox 15"/>
          <p:cNvSpPr txBox="1"/>
          <p:nvPr/>
        </p:nvSpPr>
        <p:spPr>
          <a:xfrm>
            <a:off x="143818" y="780791"/>
            <a:ext cx="11430000" cy="307777"/>
          </a:xfrm>
          <a:prstGeom prst="rect">
            <a:avLst/>
          </a:prstGeom>
          <a:noFill/>
        </p:spPr>
        <p:txBody>
          <a:bodyPr wrap="square">
            <a:spAutoFit/>
          </a:bodyPr>
          <a:lstStyle/>
          <a:p>
            <a:pPr algn="l"/>
            <a:r>
              <a:rPr lang="es-AR" sz="1400" b="1" i="0" dirty="0">
                <a:solidFill>
                  <a:srgbClr val="1A3A6B"/>
                </a:solidFill>
                <a:latin typeface="Calibri"/>
              </a:rPr>
              <a:t>Observaciones sobre corrientes y temperatura:</a:t>
            </a:r>
          </a:p>
        </p:txBody>
      </p:sp>
      <mc:AlternateContent xmlns:mc="http://schemas.openxmlformats.org/markup-compatibility/2006" xmlns:a14="http://schemas.microsoft.com/office/drawing/2010/main">
        <mc:Choice Requires="a14">
          <p:sp>
            <p:nvSpPr>
              <p:cNvPr id="17" name="TextBox 16"/>
              <p:cNvSpPr txBox="1"/>
              <p:nvPr/>
            </p:nvSpPr>
            <p:spPr>
              <a:xfrm>
                <a:off x="143818" y="1146551"/>
                <a:ext cx="11430000" cy="2458302"/>
              </a:xfrm>
              <a:prstGeom prst="rect">
                <a:avLst/>
              </a:prstGeom>
              <a:noFill/>
            </p:spPr>
            <p:txBody>
              <a:bodyPr wrap="square">
                <a:spAutoFit/>
              </a:bodyPr>
              <a:lstStyle/>
              <a:p>
                <a:pPr algn="just">
                  <a:spcAft>
                    <a:spcPts val="400"/>
                  </a:spcAf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Analizando las gráficas de tensiones, corrientes y temperatura del estator, pueden identificarse los siguientes comportamientos:</a:t>
                </a:r>
                <a:endParaRPr lang="es-AR" sz="14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SzPts val="1000"/>
                  <a:buFont typeface="Symbol" panose="05050102010706020507" pitchFamily="18" charset="2"/>
                  <a:buChar char=""/>
                  <a:tabLst>
                    <a:tab pos="457200" algn="l"/>
                  </a:tabLs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 observan picos en las corrientes en los instantes en los que la consigna de tensión </a:t>
                </a:r>
                <a14:m>
                  <m:oMath xmlns:m="http://schemas.openxmlformats.org/officeDocument/2006/math">
                    <m:sSubSup>
                      <m:sSubSupPr>
                        <m:ctrlPr>
                          <a:rPr lang="es-AR" sz="1400" i="1">
                            <a:solidFill>
                              <a:schemeClr val="tx1"/>
                            </a:solidFill>
                            <a:effectLst/>
                            <a:latin typeface="Cambria Math" panose="02040503050406030204" pitchFamily="18" charset="0"/>
                            <a:ea typeface="Times New Roman" panose="02020603050405020304" pitchFamily="18" charset="0"/>
                          </a:rPr>
                        </m:ctrlPr>
                      </m:sSubSupPr>
                      <m:e>
                        <m:r>
                          <a:rPr lang="es-AR" sz="1400" i="1">
                            <a:solidFill>
                              <a:schemeClr val="tx1"/>
                            </a:solidFill>
                            <a:effectLst/>
                            <a:latin typeface="Cambria Math" panose="02040503050406030204" pitchFamily="18" charset="0"/>
                            <a:ea typeface="Times New Roman" panose="02020603050405020304" pitchFamily="18" charset="0"/>
                          </a:rPr>
                          <m:t>𝑣</m:t>
                        </m:r>
                      </m:e>
                      <m:sub>
                        <m:r>
                          <a:rPr lang="es-AR" sz="1400" i="1">
                            <a:solidFill>
                              <a:schemeClr val="tx1"/>
                            </a:solidFill>
                            <a:effectLst/>
                            <a:latin typeface="Cambria Math" panose="02040503050406030204" pitchFamily="18" charset="0"/>
                            <a:ea typeface="Times New Roman" panose="02020603050405020304" pitchFamily="18" charset="0"/>
                          </a:rPr>
                          <m:t>𝑞𝑠</m:t>
                        </m:r>
                      </m:sub>
                      <m:sup>
                        <m:r>
                          <a:rPr lang="es-AR" sz="1400" i="1">
                            <a:solidFill>
                              <a:schemeClr val="tx1"/>
                            </a:solidFill>
                            <a:effectLst/>
                            <a:latin typeface="Cambria Math" panose="02040503050406030204" pitchFamily="18" charset="0"/>
                            <a:ea typeface="Times New Roman" panose="02020603050405020304" pitchFamily="18" charset="0"/>
                          </a:rPr>
                          <m:t>𝑟</m:t>
                        </m:r>
                      </m:sup>
                    </m:sSubSup>
                  </m:oMath>
                </a14:m>
                <a:r>
                  <a:rPr lang="es-AR" sz="1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cambia, particularmente alrededor de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=0.1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=0.7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=1.1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Esto provoca un incremento escalonado en la temperatura del estator.</a:t>
                </a:r>
                <a:endParaRPr lang="es-AR" sz="14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SzPts val="1000"/>
                  <a:buFont typeface="Symbol" panose="05050102010706020507" pitchFamily="18" charset="2"/>
                  <a:buChar char=""/>
                  <a:tabLst>
                    <a:tab pos="457200" algn="l"/>
                  </a:tabLs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Durante los intervalos en los que se aplica la perturbación de torque (aproximadamente entre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=0.3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=0.9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luego entre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=1.3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=1.9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la corriente aumenta para compensar el torque externo. Esto se traduce en un mayor crecimiento de la temperatura.</a:t>
                </a:r>
                <a:endParaRPr lang="es-AR" sz="14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SzPts val="1000"/>
                  <a:buFont typeface="Symbol" panose="05050102010706020507" pitchFamily="18" charset="2"/>
                  <a:buChar char=""/>
                  <a:tabLst>
                    <a:tab pos="457200" algn="l"/>
                  </a:tabLs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Cuando el torque de carga cambia de signo dentro de cada bloque de perturbación, se produce una modificación en la corriente del eje correspondiente, reflejándose en una variación en la pendiente de la temperatura, manteniéndose casi constante.</a:t>
                </a:r>
                <a:endParaRPr lang="es-AR" sz="14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SzPts val="1000"/>
                  <a:buFont typeface="Symbol" panose="05050102010706020507" pitchFamily="18" charset="2"/>
                  <a:buChar char=""/>
                  <a:tabLst>
                    <a:tab pos="457200" algn="l"/>
                  </a:tabLs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Finalmente, cuando cesan tanto la excitación como la perturbación, las corrientes tienden a reducirse progresivamente, mientras que la temperatura evoluciona de manera más lenta, tendiendo a estabilizarse.</a:t>
                </a:r>
                <a:endParaRPr lang="es-AR" sz="1400" dirty="0">
                  <a:solidFill>
                    <a:schemeClr val="tx1"/>
                  </a:solidFill>
                  <a:effectLst/>
                  <a:latin typeface="Times New Roman" panose="02020603050405020304" pitchFamily="18" charset="0"/>
                  <a:ea typeface="Times New Roman" panose="02020603050405020304" pitchFamily="18" charset="0"/>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143818" y="1146551"/>
                <a:ext cx="11430000" cy="2458302"/>
              </a:xfrm>
              <a:prstGeom prst="rect">
                <a:avLst/>
              </a:prstGeom>
              <a:blipFill>
                <a:blip r:embed="rId2"/>
                <a:stretch>
                  <a:fillRect l="-160" t="-496" r="-160" b="-1985"/>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39B605E8-EC05-4DAA-B938-3B532F8FBA6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97432940-C47E-4E1F-81D8-56AD14D45D8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9678241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Comparación modelo LTI vs. modelo No Lineal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42 / ~75</a:t>
            </a:r>
          </a:p>
        </p:txBody>
      </p:sp>
      <p:sp>
        <p:nvSpPr>
          <p:cNvPr id="20" name="CuadroTexto 19">
            <a:extLst>
              <a:ext uri="{FF2B5EF4-FFF2-40B4-BE49-F238E27FC236}">
                <a16:creationId xmlns:a16="http://schemas.microsoft.com/office/drawing/2014/main" id="{EBD4DBEA-D7B7-4037-AD63-BCE8A9F6FE9D}"/>
              </a:ext>
            </a:extLst>
          </p:cNvPr>
          <p:cNvSpPr txBox="1"/>
          <p:nvPr/>
        </p:nvSpPr>
        <p:spPr>
          <a:xfrm>
            <a:off x="2709745" y="5487483"/>
            <a:ext cx="6772204"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Comparación entre sistema LTI y NL</a:t>
            </a:r>
          </a:p>
        </p:txBody>
      </p:sp>
      <p:pic>
        <p:nvPicPr>
          <p:cNvPr id="10" name="Imagen 9">
            <a:extLst>
              <a:ext uri="{FF2B5EF4-FFF2-40B4-BE49-F238E27FC236}">
                <a16:creationId xmlns:a16="http://schemas.microsoft.com/office/drawing/2014/main" id="{BDB800DF-73AE-4914-9F49-B9CA73A208F0}"/>
              </a:ext>
            </a:extLst>
          </p:cNvPr>
          <p:cNvPicPr/>
          <p:nvPr/>
        </p:nvPicPr>
        <p:blipFill>
          <a:blip r:embed="rId2"/>
          <a:srcRect/>
          <a:stretch/>
        </p:blipFill>
        <p:spPr>
          <a:xfrm>
            <a:off x="-1" y="681156"/>
            <a:ext cx="5871937" cy="4711475"/>
          </a:xfrm>
          <a:prstGeom prst="rect">
            <a:avLst/>
          </a:prstGeom>
        </p:spPr>
      </p:pic>
      <p:pic>
        <p:nvPicPr>
          <p:cNvPr id="11" name="Imagen 10">
            <a:extLst>
              <a:ext uri="{FF2B5EF4-FFF2-40B4-BE49-F238E27FC236}">
                <a16:creationId xmlns:a16="http://schemas.microsoft.com/office/drawing/2014/main" id="{E8DEAC34-30CC-425F-BD46-69B9B383EA78}"/>
              </a:ext>
            </a:extLst>
          </p:cNvPr>
          <p:cNvPicPr/>
          <p:nvPr/>
        </p:nvPicPr>
        <p:blipFill>
          <a:blip r:embed="rId3"/>
          <a:srcRect/>
          <a:stretch/>
        </p:blipFill>
        <p:spPr>
          <a:xfrm>
            <a:off x="5929473" y="662163"/>
            <a:ext cx="6204990" cy="4753257"/>
          </a:xfrm>
          <a:prstGeom prst="rect">
            <a:avLst/>
          </a:prstGeom>
        </p:spPr>
      </p:pic>
      <p:sp>
        <p:nvSpPr>
          <p:cNvPr id="12" name="Rectangle 1">
            <a:extLst>
              <a:ext uri="{FF2B5EF4-FFF2-40B4-BE49-F238E27FC236}">
                <a16:creationId xmlns:a16="http://schemas.microsoft.com/office/drawing/2014/main" id="{48DE2D0E-5D14-4808-94B8-5CECCB96FB0C}"/>
              </a:ext>
            </a:extLst>
          </p:cNvPr>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2">
            <a:extLst>
              <a:ext uri="{FF2B5EF4-FFF2-40B4-BE49-F238E27FC236}">
                <a16:creationId xmlns:a16="http://schemas.microsoft.com/office/drawing/2014/main" id="{002B0B06-C79C-4E89-9F83-017A37B564E7}"/>
              </a:ext>
            </a:extLst>
          </p:cNvPr>
          <p:cNvSpPr txBox="1"/>
          <p:nvPr/>
        </p:nvSpPr>
        <p:spPr>
          <a:xfrm>
            <a:off x="274320" y="93432"/>
            <a:ext cx="5863015" cy="415498"/>
          </a:xfrm>
          <a:prstGeom prst="rect">
            <a:avLst/>
          </a:prstGeom>
          <a:noFill/>
        </p:spPr>
        <p:txBody>
          <a:bodyPr wrap="none">
            <a:spAutoFit/>
          </a:bodyPr>
          <a:lstStyle/>
          <a:p>
            <a:pPr algn="l"/>
            <a:r>
              <a:rPr lang="es-MX" sz="2100" b="1" dirty="0">
                <a:solidFill>
                  <a:srgbClr val="FFFFFF"/>
                </a:solidFill>
                <a:latin typeface="Cambria"/>
              </a:rPr>
              <a:t>Comparación modelo LTI vs. modelo No Lineal</a:t>
            </a:r>
          </a:p>
        </p:txBody>
      </p:sp>
      <p:sp>
        <p:nvSpPr>
          <p:cNvPr id="14" name="Shape 2">
            <a:extLst>
              <a:ext uri="{FF2B5EF4-FFF2-40B4-BE49-F238E27FC236}">
                <a16:creationId xmlns:a16="http://schemas.microsoft.com/office/drawing/2014/main" id="{4A5B1CD4-E06D-491A-9CC6-8D42A91C3DF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29D29585-3B9D-438F-B508-D97C505F8EC7}"/>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640" y="85421"/>
            <a:ext cx="5863015" cy="415498"/>
          </a:xfrm>
          <a:prstGeom prst="rect">
            <a:avLst/>
          </a:prstGeom>
          <a:noFill/>
        </p:spPr>
        <p:txBody>
          <a:bodyPr wrap="none">
            <a:spAutoFit/>
          </a:bodyPr>
          <a:lstStyle/>
          <a:p>
            <a:pPr algn="l"/>
            <a:r>
              <a:rPr lang="es-AR" sz="2100" b="1" dirty="0">
                <a:solidFill>
                  <a:srgbClr val="FFFFFF"/>
                </a:solidFill>
                <a:latin typeface="Cambria"/>
              </a:rPr>
              <a:t>Comparación modelo LTI vs. modelo No Lineal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42 / ~75</a:t>
            </a:r>
          </a:p>
        </p:txBody>
      </p:sp>
      <p:sp>
        <p:nvSpPr>
          <p:cNvPr id="12" name="CuadroTexto 11">
            <a:extLst>
              <a:ext uri="{FF2B5EF4-FFF2-40B4-BE49-F238E27FC236}">
                <a16:creationId xmlns:a16="http://schemas.microsoft.com/office/drawing/2014/main" id="{5F0C2A2C-061D-4B06-8871-6152E8F0A5AC}"/>
              </a:ext>
            </a:extLst>
          </p:cNvPr>
          <p:cNvSpPr txBox="1"/>
          <p:nvPr/>
        </p:nvSpPr>
        <p:spPr>
          <a:xfrm>
            <a:off x="2709745" y="5453055"/>
            <a:ext cx="6772204"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Comparación entre sistema LTI y NL</a:t>
            </a:r>
          </a:p>
        </p:txBody>
      </p:sp>
      <p:pic>
        <p:nvPicPr>
          <p:cNvPr id="10" name="Imagen 9">
            <a:extLst>
              <a:ext uri="{FF2B5EF4-FFF2-40B4-BE49-F238E27FC236}">
                <a16:creationId xmlns:a16="http://schemas.microsoft.com/office/drawing/2014/main" id="{05DB3275-9249-4D2F-87F1-60CD290B4F26}"/>
              </a:ext>
            </a:extLst>
          </p:cNvPr>
          <p:cNvPicPr/>
          <p:nvPr/>
        </p:nvPicPr>
        <p:blipFill>
          <a:blip r:embed="rId2"/>
          <a:srcRect/>
          <a:stretch/>
        </p:blipFill>
        <p:spPr>
          <a:xfrm>
            <a:off x="6114116" y="658367"/>
            <a:ext cx="6059613" cy="4623847"/>
          </a:xfrm>
          <a:prstGeom prst="rect">
            <a:avLst/>
          </a:prstGeom>
        </p:spPr>
      </p:pic>
      <p:pic>
        <p:nvPicPr>
          <p:cNvPr id="11" name="Imagen 10">
            <a:extLst>
              <a:ext uri="{FF2B5EF4-FFF2-40B4-BE49-F238E27FC236}">
                <a16:creationId xmlns:a16="http://schemas.microsoft.com/office/drawing/2014/main" id="{899A7762-C028-4627-8BA9-2C8C9A9761F7}"/>
              </a:ext>
            </a:extLst>
          </p:cNvPr>
          <p:cNvPicPr/>
          <p:nvPr/>
        </p:nvPicPr>
        <p:blipFill>
          <a:blip r:embed="rId3"/>
          <a:srcRect/>
          <a:stretch/>
        </p:blipFill>
        <p:spPr>
          <a:xfrm>
            <a:off x="105324" y="658368"/>
            <a:ext cx="5884894" cy="4623846"/>
          </a:xfrm>
          <a:prstGeom prst="rect">
            <a:avLst/>
          </a:prstGeom>
        </p:spPr>
      </p:pic>
      <p:sp>
        <p:nvSpPr>
          <p:cNvPr id="9" name="Shape 2">
            <a:extLst>
              <a:ext uri="{FF2B5EF4-FFF2-40B4-BE49-F238E27FC236}">
                <a16:creationId xmlns:a16="http://schemas.microsoft.com/office/drawing/2014/main" id="{7429C8DB-F505-447F-B37B-E8E225B772F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A70B4DE0-D2D3-42E7-B8CA-51A3FB08B53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9716209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Comparación modelo LTI vs. modelo No Lineal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42 / ~75</a:t>
            </a:r>
          </a:p>
        </p:txBody>
      </p:sp>
      <p:sp>
        <p:nvSpPr>
          <p:cNvPr id="10" name="TextBox 9"/>
          <p:cNvSpPr txBox="1"/>
          <p:nvPr/>
        </p:nvSpPr>
        <p:spPr>
          <a:xfrm>
            <a:off x="191758" y="749808"/>
            <a:ext cx="5486400" cy="307777"/>
          </a:xfrm>
          <a:prstGeom prst="rect">
            <a:avLst/>
          </a:prstGeom>
          <a:noFill/>
        </p:spPr>
        <p:txBody>
          <a:bodyPr wrap="square">
            <a:spAutoFit/>
          </a:bodyPr>
          <a:lstStyle/>
          <a:p>
            <a:pPr algn="l"/>
            <a:r>
              <a:rPr lang="es-AR" sz="1400" b="1" i="0" dirty="0">
                <a:solidFill>
                  <a:srgbClr val="1A3A6B"/>
                </a:solidFill>
                <a:latin typeface="Calibri"/>
              </a:rPr>
              <a:t>Conclusiones de la comparación:</a:t>
            </a:r>
          </a:p>
        </p:txBody>
      </p:sp>
      <p:sp>
        <p:nvSpPr>
          <p:cNvPr id="11" name="TextBox 10"/>
          <p:cNvSpPr txBox="1"/>
          <p:nvPr/>
        </p:nvSpPr>
        <p:spPr>
          <a:xfrm>
            <a:off x="191757" y="1207008"/>
            <a:ext cx="11551615" cy="841256"/>
          </a:xfrm>
          <a:prstGeom prst="rect">
            <a:avLst/>
          </a:prstGeom>
          <a:noFill/>
        </p:spPr>
        <p:txBody>
          <a:bodyPr wrap="square">
            <a:spAutoFit/>
          </a:bodyPr>
          <a:lstStyle/>
          <a:p>
            <a:pPr marL="285750" indent="-285750">
              <a:buFont typeface="Arial" panose="020B0604020202020204" pitchFamily="34" charset="0"/>
              <a:buChar char="•"/>
            </a:pPr>
            <a:r>
              <a:rPr lang="es-AR" sz="1400" dirty="0">
                <a:solidFill>
                  <a:schemeClr val="tx1"/>
                </a:solidFill>
                <a:latin typeface="Calibri"/>
              </a:rPr>
              <a:t>El modelo LTI reproduce adecuadamente la dinámica del NL — las discrepancias son pequeñas y acotadas</a:t>
            </a:r>
          </a:p>
          <a:p>
            <a:pPr marL="285750" indent="-285750">
              <a:spcBef>
                <a:spcPts val="400"/>
              </a:spcBef>
              <a:buFont typeface="Arial" panose="020B0604020202020204" pitchFamily="34" charset="0"/>
              <a:buChar char="•"/>
            </a:pPr>
            <a:r>
              <a:rPr lang="es-AR" sz="1400" dirty="0">
                <a:solidFill>
                  <a:schemeClr val="tx1"/>
                </a:solidFill>
                <a:latin typeface="Calibri"/>
              </a:rPr>
              <a:t>Las diferencias se concentran en los transitorios (cambios de consigna y perturbaciones)</a:t>
            </a:r>
          </a:p>
          <a:p>
            <a:pPr marL="285750" indent="-285750">
              <a:spcBef>
                <a:spcPts val="400"/>
              </a:spcBef>
              <a:buFont typeface="Arial" panose="020B0604020202020204" pitchFamily="34" charset="0"/>
              <a:buChar char="•"/>
            </a:pPr>
            <a:r>
              <a:rPr lang="es-AR" sz="1400" dirty="0">
                <a:solidFill>
                  <a:schemeClr val="tx1"/>
                </a:solidFill>
                <a:latin typeface="Calibri"/>
              </a:rPr>
              <a:t>A mayor tiempo de simulación: la temperatura afecta Rs, lo que separa progresivamente ambas respuestas</a:t>
            </a:r>
          </a:p>
        </p:txBody>
      </p:sp>
      <p:sp>
        <p:nvSpPr>
          <p:cNvPr id="12" name="Rectangle 11"/>
          <p:cNvSpPr/>
          <p:nvPr/>
        </p:nvSpPr>
        <p:spPr>
          <a:xfrm>
            <a:off x="191757" y="2907791"/>
            <a:ext cx="11430000" cy="804672"/>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8917" y="2953511"/>
            <a:ext cx="11155680" cy="523220"/>
          </a:xfrm>
          <a:prstGeom prst="rect">
            <a:avLst/>
          </a:prstGeom>
          <a:noFill/>
        </p:spPr>
        <p:txBody>
          <a:bodyPr wrap="square">
            <a:spAutoFit/>
          </a:bodyPr>
          <a:lstStyle/>
          <a:p>
            <a:pPr algn="l"/>
            <a:r>
              <a:rPr lang="es-AR" sz="1400" dirty="0">
                <a:solidFill>
                  <a:srgbClr val="1A3A6B"/>
                </a:solidFill>
                <a:latin typeface="Calibri"/>
              </a:rPr>
              <a:t>Conclusión: el modelo LTI equivalente aumentado es suficientemente preciso para el diseño del sistema de control en el rango de operación normal del accionamiento.</a:t>
            </a:r>
          </a:p>
        </p:txBody>
      </p:sp>
      <p:sp>
        <p:nvSpPr>
          <p:cNvPr id="14" name="Shape 2">
            <a:extLst>
              <a:ext uri="{FF2B5EF4-FFF2-40B4-BE49-F238E27FC236}">
                <a16:creationId xmlns:a16="http://schemas.microsoft.com/office/drawing/2014/main" id="{A8E89DB0-F321-4B3B-8F66-7E178CBCAA9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61B8B311-9197-4F07-B0BB-52679E7E55E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2300080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n 15">
            <a:extLst>
              <a:ext uri="{FF2B5EF4-FFF2-40B4-BE49-F238E27FC236}">
                <a16:creationId xmlns:a16="http://schemas.microsoft.com/office/drawing/2014/main" id="{799DFA5F-DAF0-4C0A-A856-CB35702D6091}"/>
              </a:ext>
            </a:extLst>
          </p:cNvPr>
          <p:cNvPicPr>
            <a:picLocks noChangeAspect="1"/>
          </p:cNvPicPr>
          <p:nvPr/>
        </p:nvPicPr>
        <p:blipFill>
          <a:blip r:embed="rId2"/>
          <a:stretch>
            <a:fillRect/>
          </a:stretch>
        </p:blipFill>
        <p:spPr>
          <a:xfrm>
            <a:off x="2357466" y="658367"/>
            <a:ext cx="7576647" cy="5461339"/>
          </a:xfrm>
          <a:prstGeom prst="rect">
            <a:avLst/>
          </a:prstGeom>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Curvas torque–velocidad y ángulo de desfasaje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41 / ~75</a:t>
            </a:r>
          </a:p>
        </p:txBody>
      </p: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BB663631-9473-4D18-B9DD-83B48EEDE9FF}"/>
                  </a:ext>
                </a:extLst>
              </p:cNvPr>
              <p:cNvSpPr txBox="1"/>
              <p:nvPr/>
            </p:nvSpPr>
            <p:spPr>
              <a:xfrm>
                <a:off x="2497587" y="6192673"/>
                <a:ext cx="7705288" cy="430887"/>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25— Velocidad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𝜔</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r>
                  <a:rPr lang="es-AR" sz="1100" i="1" dirty="0">
                    <a:solidFill>
                      <a:srgbClr val="224488"/>
                    </a:solidFill>
                    <a:latin typeface="Calibri" pitchFamily="34" charset="0"/>
                    <a:ea typeface="Calibri" pitchFamily="34" charset="-122"/>
                    <a:cs typeface="Calibri" pitchFamily="34" charset="-120"/>
                  </a:rPr>
                  <a:t> vs Torque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𝑇</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endParaRPr lang="es-AR" sz="1100" i="1" dirty="0">
                  <a:solidFill>
                    <a:srgbClr val="224488"/>
                  </a:solidFill>
                  <a:latin typeface="Calibri" pitchFamily="34" charset="0"/>
                  <a:ea typeface="Calibri" pitchFamily="34" charset="-122"/>
                  <a:cs typeface="Calibri" pitchFamily="34" charset="-120"/>
                </a:endParaRPr>
              </a:p>
              <a:p>
                <a:pPr algn="ctr"/>
                <a:endParaRPr lang="es-AR" sz="1100" i="1" dirty="0">
                  <a:solidFill>
                    <a:srgbClr val="224488"/>
                  </a:solidFill>
                  <a:latin typeface="Calibri" pitchFamily="34" charset="0"/>
                  <a:ea typeface="Calibri" pitchFamily="34" charset="-122"/>
                  <a:cs typeface="Calibri" pitchFamily="34" charset="-120"/>
                </a:endParaRPr>
              </a:p>
            </p:txBody>
          </p:sp>
        </mc:Choice>
        <mc:Fallback xmlns="">
          <p:sp>
            <p:nvSpPr>
              <p:cNvPr id="18" name="CuadroTexto 17">
                <a:extLst>
                  <a:ext uri="{FF2B5EF4-FFF2-40B4-BE49-F238E27FC236}">
                    <a16:creationId xmlns:a16="http://schemas.microsoft.com/office/drawing/2014/main" id="{BB663631-9473-4D18-B9DD-83B48EEDE9FF}"/>
                  </a:ext>
                </a:extLst>
              </p:cNvPr>
              <p:cNvSpPr txBox="1">
                <a:spLocks noRot="1" noChangeAspect="1" noMove="1" noResize="1" noEditPoints="1" noAdjustHandles="1" noChangeArrowheads="1" noChangeShapeType="1" noTextEdit="1"/>
              </p:cNvSpPr>
              <p:nvPr/>
            </p:nvSpPr>
            <p:spPr>
              <a:xfrm>
                <a:off x="2497587" y="6192673"/>
                <a:ext cx="7705288" cy="430887"/>
              </a:xfrm>
              <a:prstGeom prst="rect">
                <a:avLst/>
              </a:prstGeom>
              <a:blipFill>
                <a:blip r:embed="rId3"/>
                <a:stretch>
                  <a:fillRect/>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81467AAA-8A13-4367-8851-BCC9A15D155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1C33BD35-B93D-4080-AA88-8446AD371BE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Curvas torque–velocidad y ángulo de desfasaje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41 / ~75</a:t>
            </a:r>
          </a:p>
        </p:txBody>
      </p:sp>
      <p:sp>
        <p:nvSpPr>
          <p:cNvPr id="13" name="TextBox 12"/>
          <p:cNvSpPr txBox="1"/>
          <p:nvPr/>
        </p:nvSpPr>
        <p:spPr>
          <a:xfrm>
            <a:off x="274320" y="907882"/>
            <a:ext cx="3959352" cy="307777"/>
          </a:xfrm>
          <a:prstGeom prst="rect">
            <a:avLst/>
          </a:prstGeom>
          <a:noFill/>
        </p:spPr>
        <p:txBody>
          <a:bodyPr wrap="square">
            <a:spAutoFit/>
          </a:bodyPr>
          <a:lstStyle/>
          <a:p>
            <a:pPr algn="l"/>
            <a:r>
              <a:rPr sz="1400" b="1" i="0">
                <a:solidFill>
                  <a:srgbClr val="1A3A6B"/>
                </a:solidFill>
                <a:latin typeface="Calibri"/>
              </a:rPr>
              <a:t>Análisis de los 4 cuadrantes (secuencia temporal):</a:t>
            </a:r>
          </a:p>
        </p:txBody>
      </p:sp>
      <p:sp>
        <p:nvSpPr>
          <p:cNvPr id="12" name="Rectangle 10">
            <a:extLst>
              <a:ext uri="{FF2B5EF4-FFF2-40B4-BE49-F238E27FC236}">
                <a16:creationId xmlns:a16="http://schemas.microsoft.com/office/drawing/2014/main" id="{94D3D8E3-AB25-45D5-BFD7-DDDEEEA30703}"/>
              </a:ext>
            </a:extLst>
          </p:cNvPr>
          <p:cNvSpPr/>
          <p:nvPr/>
        </p:nvSpPr>
        <p:spPr>
          <a:xfrm>
            <a:off x="4645152" y="889594"/>
            <a:ext cx="384048"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 name="TextBox 11">
            <a:extLst>
              <a:ext uri="{FF2B5EF4-FFF2-40B4-BE49-F238E27FC236}">
                <a16:creationId xmlns:a16="http://schemas.microsoft.com/office/drawing/2014/main" id="{F2C8AAD1-109B-44BA-89FE-94D32D9BC8D0}"/>
              </a:ext>
            </a:extLst>
          </p:cNvPr>
          <p:cNvSpPr txBox="1"/>
          <p:nvPr/>
        </p:nvSpPr>
        <p:spPr>
          <a:xfrm>
            <a:off x="4672584" y="907882"/>
            <a:ext cx="329184" cy="253916"/>
          </a:xfrm>
          <a:prstGeom prst="rect">
            <a:avLst/>
          </a:prstGeom>
          <a:noFill/>
        </p:spPr>
        <p:txBody>
          <a:bodyPr wrap="square">
            <a:spAutoFit/>
          </a:bodyPr>
          <a:lstStyle/>
          <a:p>
            <a:pPr algn="ctr"/>
            <a:r>
              <a:rPr sz="1050" b="1">
                <a:solidFill>
                  <a:schemeClr val="bg1"/>
                </a:solidFill>
                <a:latin typeface="Calibri"/>
              </a:rPr>
              <a:t>#</a:t>
            </a:r>
          </a:p>
        </p:txBody>
      </p:sp>
      <p:sp>
        <p:nvSpPr>
          <p:cNvPr id="17" name="Rectangle 12">
            <a:extLst>
              <a:ext uri="{FF2B5EF4-FFF2-40B4-BE49-F238E27FC236}">
                <a16:creationId xmlns:a16="http://schemas.microsoft.com/office/drawing/2014/main" id="{CBF55BBB-B43F-4C4A-A4EE-61C5C01CE08E}"/>
              </a:ext>
            </a:extLst>
          </p:cNvPr>
          <p:cNvSpPr/>
          <p:nvPr/>
        </p:nvSpPr>
        <p:spPr>
          <a:xfrm>
            <a:off x="5029200" y="889594"/>
            <a:ext cx="566928"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 name="TextBox 13">
            <a:extLst>
              <a:ext uri="{FF2B5EF4-FFF2-40B4-BE49-F238E27FC236}">
                <a16:creationId xmlns:a16="http://schemas.microsoft.com/office/drawing/2014/main" id="{D71E1DAA-6022-49B2-A51D-989AD828FD96}"/>
              </a:ext>
            </a:extLst>
          </p:cNvPr>
          <p:cNvSpPr txBox="1"/>
          <p:nvPr/>
        </p:nvSpPr>
        <p:spPr>
          <a:xfrm>
            <a:off x="5056632" y="907882"/>
            <a:ext cx="512064" cy="253916"/>
          </a:xfrm>
          <a:prstGeom prst="rect">
            <a:avLst/>
          </a:prstGeom>
          <a:noFill/>
        </p:spPr>
        <p:txBody>
          <a:bodyPr wrap="square">
            <a:spAutoFit/>
          </a:bodyPr>
          <a:lstStyle/>
          <a:p>
            <a:pPr algn="ctr"/>
            <a:r>
              <a:rPr sz="1050" b="1">
                <a:solidFill>
                  <a:schemeClr val="bg1"/>
                </a:solidFill>
                <a:latin typeface="Calibri"/>
              </a:rPr>
              <a:t>t [s]</a:t>
            </a:r>
          </a:p>
        </p:txBody>
      </p:sp>
      <p:sp>
        <p:nvSpPr>
          <p:cNvPr id="19" name="Rectangle 14">
            <a:extLst>
              <a:ext uri="{FF2B5EF4-FFF2-40B4-BE49-F238E27FC236}">
                <a16:creationId xmlns:a16="http://schemas.microsoft.com/office/drawing/2014/main" id="{3FC4E96C-FF2A-45D8-BAC7-C4CDDD5AFF75}"/>
              </a:ext>
            </a:extLst>
          </p:cNvPr>
          <p:cNvSpPr/>
          <p:nvPr/>
        </p:nvSpPr>
        <p:spPr>
          <a:xfrm>
            <a:off x="5596128" y="889594"/>
            <a:ext cx="45720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20" name="TextBox 15">
                <a:extLst>
                  <a:ext uri="{FF2B5EF4-FFF2-40B4-BE49-F238E27FC236}">
                    <a16:creationId xmlns:a16="http://schemas.microsoft.com/office/drawing/2014/main" id="{8C207F8E-A6D8-4C49-9D98-0D8C84C70158}"/>
                  </a:ext>
                </a:extLst>
              </p:cNvPr>
              <p:cNvSpPr txBox="1"/>
              <p:nvPr/>
            </p:nvSpPr>
            <p:spPr>
              <a:xfrm>
                <a:off x="5623560" y="907882"/>
                <a:ext cx="402336"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600" i="1" smtClean="0">
                              <a:solidFill>
                                <a:schemeClr val="bg1"/>
                              </a:solidFill>
                              <a:latin typeface="Cambria Math" panose="02040503050406030204" pitchFamily="18" charset="0"/>
                              <a:ea typeface="Calibri" pitchFamily="34" charset="-122"/>
                              <a:cs typeface="Calibri" pitchFamily="34" charset="-120"/>
                            </a:rPr>
                          </m:ctrlPr>
                        </m:sSubPr>
                        <m:e>
                          <m:r>
                            <a:rPr lang="es-AR" sz="1600" i="1">
                              <a:solidFill>
                                <a:schemeClr val="bg1"/>
                              </a:solidFill>
                              <a:latin typeface="Cambria Math" panose="02040503050406030204" pitchFamily="18" charset="0"/>
                              <a:ea typeface="Calibri" pitchFamily="34" charset="-122"/>
                              <a:cs typeface="Calibri" pitchFamily="34" charset="-120"/>
                            </a:rPr>
                            <m:t>𝜔</m:t>
                          </m:r>
                        </m:e>
                        <m:sub>
                          <m:r>
                            <a:rPr lang="es-AR" sz="1600" i="1">
                              <a:solidFill>
                                <a:schemeClr val="bg1"/>
                              </a:solidFill>
                              <a:latin typeface="Cambria Math" panose="02040503050406030204" pitchFamily="18" charset="0"/>
                              <a:ea typeface="Calibri" pitchFamily="34" charset="-122"/>
                              <a:cs typeface="Calibri" pitchFamily="34" charset="-120"/>
                            </a:rPr>
                            <m:t>𝑚</m:t>
                          </m:r>
                        </m:sub>
                      </m:sSub>
                    </m:oMath>
                  </m:oMathPara>
                </a14:m>
                <a:endParaRPr sz="1050" b="1" dirty="0">
                  <a:solidFill>
                    <a:schemeClr val="bg1"/>
                  </a:solidFill>
                  <a:latin typeface="Calibri"/>
                </a:endParaRPr>
              </a:p>
            </p:txBody>
          </p:sp>
        </mc:Choice>
        <mc:Fallback xmlns="">
          <p:sp>
            <p:nvSpPr>
              <p:cNvPr id="20" name="TextBox 15">
                <a:extLst>
                  <a:ext uri="{FF2B5EF4-FFF2-40B4-BE49-F238E27FC236}">
                    <a16:creationId xmlns:a16="http://schemas.microsoft.com/office/drawing/2014/main" id="{8C207F8E-A6D8-4C49-9D98-0D8C84C70158}"/>
                  </a:ext>
                </a:extLst>
              </p:cNvPr>
              <p:cNvSpPr txBox="1">
                <a:spLocks noRot="1" noChangeAspect="1" noMove="1" noResize="1" noEditPoints="1" noAdjustHandles="1" noChangeArrowheads="1" noChangeShapeType="1" noTextEdit="1"/>
              </p:cNvSpPr>
              <p:nvPr/>
            </p:nvSpPr>
            <p:spPr>
              <a:xfrm>
                <a:off x="5623560" y="907882"/>
                <a:ext cx="402336" cy="338554"/>
              </a:xfrm>
              <a:prstGeom prst="rect">
                <a:avLst/>
              </a:prstGeom>
              <a:blipFill>
                <a:blip r:embed="rId2"/>
                <a:stretch>
                  <a:fillRect l="-4545"/>
                </a:stretch>
              </a:blipFill>
            </p:spPr>
            <p:txBody>
              <a:bodyPr/>
              <a:lstStyle/>
              <a:p>
                <a:r>
                  <a:rPr lang="es-AR">
                    <a:noFill/>
                  </a:rPr>
                  <a:t> </a:t>
                </a:r>
              </a:p>
            </p:txBody>
          </p:sp>
        </mc:Fallback>
      </mc:AlternateContent>
      <p:sp>
        <p:nvSpPr>
          <p:cNvPr id="21" name="Rectangle 16">
            <a:extLst>
              <a:ext uri="{FF2B5EF4-FFF2-40B4-BE49-F238E27FC236}">
                <a16:creationId xmlns:a16="http://schemas.microsoft.com/office/drawing/2014/main" id="{187A37D2-E924-4730-AF6C-B2A6DA25B96A}"/>
              </a:ext>
            </a:extLst>
          </p:cNvPr>
          <p:cNvSpPr/>
          <p:nvPr/>
        </p:nvSpPr>
        <p:spPr>
          <a:xfrm>
            <a:off x="6053328" y="889594"/>
            <a:ext cx="45720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22" name="TextBox 17">
                <a:extLst>
                  <a:ext uri="{FF2B5EF4-FFF2-40B4-BE49-F238E27FC236}">
                    <a16:creationId xmlns:a16="http://schemas.microsoft.com/office/drawing/2014/main" id="{30F08783-12ED-44F8-AE28-800E4902F15E}"/>
                  </a:ext>
                </a:extLst>
              </p:cNvPr>
              <p:cNvSpPr txBox="1"/>
              <p:nvPr/>
            </p:nvSpPr>
            <p:spPr>
              <a:xfrm>
                <a:off x="6080760" y="907882"/>
                <a:ext cx="402336"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600" i="1" smtClean="0">
                              <a:solidFill>
                                <a:schemeClr val="bg1"/>
                              </a:solidFill>
                              <a:latin typeface="Cambria Math" panose="02040503050406030204" pitchFamily="18" charset="0"/>
                              <a:ea typeface="Calibri" pitchFamily="34" charset="-122"/>
                              <a:cs typeface="Calibri" pitchFamily="34" charset="-120"/>
                            </a:rPr>
                          </m:ctrlPr>
                        </m:sSubPr>
                        <m:e>
                          <m:r>
                            <a:rPr lang="es-AR" sz="1600" i="1">
                              <a:solidFill>
                                <a:schemeClr val="bg1"/>
                              </a:solidFill>
                              <a:latin typeface="Cambria Math" panose="02040503050406030204" pitchFamily="18" charset="0"/>
                              <a:ea typeface="Calibri" pitchFamily="34" charset="-122"/>
                              <a:cs typeface="Calibri" pitchFamily="34" charset="-120"/>
                            </a:rPr>
                            <m:t>𝑇</m:t>
                          </m:r>
                        </m:e>
                        <m:sub>
                          <m:r>
                            <a:rPr lang="es-AR" sz="1600" i="1">
                              <a:solidFill>
                                <a:schemeClr val="bg1"/>
                              </a:solidFill>
                              <a:latin typeface="Cambria Math" panose="02040503050406030204" pitchFamily="18" charset="0"/>
                              <a:ea typeface="Calibri" pitchFamily="34" charset="-122"/>
                              <a:cs typeface="Calibri" pitchFamily="34" charset="-120"/>
                            </a:rPr>
                            <m:t>𝑚</m:t>
                          </m:r>
                        </m:sub>
                      </m:sSub>
                    </m:oMath>
                  </m:oMathPara>
                </a14:m>
                <a:endParaRPr sz="1050" b="1" dirty="0">
                  <a:solidFill>
                    <a:schemeClr val="bg1"/>
                  </a:solidFill>
                  <a:latin typeface="Calibri"/>
                </a:endParaRPr>
              </a:p>
            </p:txBody>
          </p:sp>
        </mc:Choice>
        <mc:Fallback xmlns="">
          <p:sp>
            <p:nvSpPr>
              <p:cNvPr id="22" name="TextBox 17">
                <a:extLst>
                  <a:ext uri="{FF2B5EF4-FFF2-40B4-BE49-F238E27FC236}">
                    <a16:creationId xmlns:a16="http://schemas.microsoft.com/office/drawing/2014/main" id="{30F08783-12ED-44F8-AE28-800E4902F15E}"/>
                  </a:ext>
                </a:extLst>
              </p:cNvPr>
              <p:cNvSpPr txBox="1">
                <a:spLocks noRot="1" noChangeAspect="1" noMove="1" noResize="1" noEditPoints="1" noAdjustHandles="1" noChangeArrowheads="1" noChangeShapeType="1" noTextEdit="1"/>
              </p:cNvSpPr>
              <p:nvPr/>
            </p:nvSpPr>
            <p:spPr>
              <a:xfrm>
                <a:off x="6080760" y="907882"/>
                <a:ext cx="402336" cy="338554"/>
              </a:xfrm>
              <a:prstGeom prst="rect">
                <a:avLst/>
              </a:prstGeom>
              <a:blipFill>
                <a:blip r:embed="rId3"/>
                <a:stretch>
                  <a:fillRect l="-4545"/>
                </a:stretch>
              </a:blipFill>
            </p:spPr>
            <p:txBody>
              <a:bodyPr/>
              <a:lstStyle/>
              <a:p>
                <a:r>
                  <a:rPr lang="es-AR">
                    <a:noFill/>
                  </a:rPr>
                  <a:t> </a:t>
                </a:r>
              </a:p>
            </p:txBody>
          </p:sp>
        </mc:Fallback>
      </mc:AlternateContent>
      <p:sp>
        <p:nvSpPr>
          <p:cNvPr id="23" name="Rectangle 18">
            <a:extLst>
              <a:ext uri="{FF2B5EF4-FFF2-40B4-BE49-F238E27FC236}">
                <a16:creationId xmlns:a16="http://schemas.microsoft.com/office/drawing/2014/main" id="{A45CD8E1-D6E6-496B-94D6-CA55F8A7CACD}"/>
              </a:ext>
            </a:extLst>
          </p:cNvPr>
          <p:cNvSpPr/>
          <p:nvPr/>
        </p:nvSpPr>
        <p:spPr>
          <a:xfrm>
            <a:off x="6510528" y="889594"/>
            <a:ext cx="438912"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 name="TextBox 19">
            <a:extLst>
              <a:ext uri="{FF2B5EF4-FFF2-40B4-BE49-F238E27FC236}">
                <a16:creationId xmlns:a16="http://schemas.microsoft.com/office/drawing/2014/main" id="{C6D808A6-E34C-43AC-B3C5-AE73C2999EE0}"/>
              </a:ext>
            </a:extLst>
          </p:cNvPr>
          <p:cNvSpPr txBox="1"/>
          <p:nvPr/>
        </p:nvSpPr>
        <p:spPr>
          <a:xfrm>
            <a:off x="6537960" y="907882"/>
            <a:ext cx="384048" cy="253916"/>
          </a:xfrm>
          <a:prstGeom prst="rect">
            <a:avLst/>
          </a:prstGeom>
          <a:noFill/>
        </p:spPr>
        <p:txBody>
          <a:bodyPr wrap="square">
            <a:spAutoFit/>
          </a:bodyPr>
          <a:lstStyle/>
          <a:p>
            <a:pPr algn="ctr"/>
            <a:r>
              <a:rPr sz="1050" b="1">
                <a:solidFill>
                  <a:schemeClr val="bg1"/>
                </a:solidFill>
                <a:latin typeface="Calibri"/>
              </a:rPr>
              <a:t>Q°</a:t>
            </a:r>
          </a:p>
        </p:txBody>
      </p:sp>
      <p:sp>
        <p:nvSpPr>
          <p:cNvPr id="25" name="Rectangle 20">
            <a:extLst>
              <a:ext uri="{FF2B5EF4-FFF2-40B4-BE49-F238E27FC236}">
                <a16:creationId xmlns:a16="http://schemas.microsoft.com/office/drawing/2014/main" id="{B19BA9C9-97A3-4B63-8BC2-94AA6551BE29}"/>
              </a:ext>
            </a:extLst>
          </p:cNvPr>
          <p:cNvSpPr/>
          <p:nvPr/>
        </p:nvSpPr>
        <p:spPr>
          <a:xfrm>
            <a:off x="6949440" y="889594"/>
            <a:ext cx="1993392"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6" name="TextBox 21">
            <a:extLst>
              <a:ext uri="{FF2B5EF4-FFF2-40B4-BE49-F238E27FC236}">
                <a16:creationId xmlns:a16="http://schemas.microsoft.com/office/drawing/2014/main" id="{BEFA5D63-D846-4652-9B97-17C5D8E072C7}"/>
              </a:ext>
            </a:extLst>
          </p:cNvPr>
          <p:cNvSpPr txBox="1"/>
          <p:nvPr/>
        </p:nvSpPr>
        <p:spPr>
          <a:xfrm>
            <a:off x="6976871" y="907882"/>
            <a:ext cx="1938528" cy="253916"/>
          </a:xfrm>
          <a:prstGeom prst="rect">
            <a:avLst/>
          </a:prstGeom>
          <a:noFill/>
        </p:spPr>
        <p:txBody>
          <a:bodyPr wrap="square">
            <a:spAutoFit/>
          </a:bodyPr>
          <a:lstStyle/>
          <a:p>
            <a:pPr algn="ctr"/>
            <a:r>
              <a:rPr sz="1050" b="1">
                <a:solidFill>
                  <a:schemeClr val="bg1"/>
                </a:solidFill>
                <a:latin typeface="Calibri"/>
              </a:rPr>
              <a:t>Régimen</a:t>
            </a:r>
          </a:p>
        </p:txBody>
      </p:sp>
      <p:sp>
        <p:nvSpPr>
          <p:cNvPr id="27" name="Rectangle 22">
            <a:extLst>
              <a:ext uri="{FF2B5EF4-FFF2-40B4-BE49-F238E27FC236}">
                <a16:creationId xmlns:a16="http://schemas.microsoft.com/office/drawing/2014/main" id="{E3D057DF-86EE-4742-982C-9AE6BA3D89B2}"/>
              </a:ext>
            </a:extLst>
          </p:cNvPr>
          <p:cNvSpPr/>
          <p:nvPr/>
        </p:nvSpPr>
        <p:spPr>
          <a:xfrm>
            <a:off x="8942832" y="889594"/>
            <a:ext cx="54864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28" name="TextBox 23">
                <a:extLst>
                  <a:ext uri="{FF2B5EF4-FFF2-40B4-BE49-F238E27FC236}">
                    <a16:creationId xmlns:a16="http://schemas.microsoft.com/office/drawing/2014/main" id="{05947E8B-63DE-46BB-9C21-E783C1807622}"/>
                  </a:ext>
                </a:extLst>
              </p:cNvPr>
              <p:cNvSpPr txBox="1"/>
              <p:nvPr/>
            </p:nvSpPr>
            <p:spPr>
              <a:xfrm>
                <a:off x="8906257" y="879903"/>
                <a:ext cx="594359" cy="464423"/>
              </a:xfrm>
              <a:prstGeom prst="rect">
                <a:avLst/>
              </a:prstGeom>
              <a:noFill/>
            </p:spPr>
            <p:txBody>
              <a:bodyPr wrap="square">
                <a:spAutoFit/>
              </a:bodyPr>
              <a:lstStyle/>
              <a:p>
                <a:pPr algn="ctr"/>
                <a14:m>
                  <m:oMath xmlns:m="http://schemas.openxmlformats.org/officeDocument/2006/math">
                    <m:sSub>
                      <m:sSubPr>
                        <m:ctrlPr>
                          <a:rPr lang="ar-AE" sz="1400" i="1" smtClean="0">
                            <a:solidFill>
                              <a:schemeClr val="bg1"/>
                            </a:solidFill>
                            <a:latin typeface="Cambria Math" panose="02040503050406030204" pitchFamily="18" charset="0"/>
                            <a:ea typeface="Calibri" pitchFamily="34" charset="-122"/>
                            <a:cs typeface="Calibri" pitchFamily="34" charset="-120"/>
                          </a:rPr>
                        </m:ctrlPr>
                      </m:sSubPr>
                      <m:e>
                        <m:r>
                          <a:rPr lang="ar-AE" sz="1400" i="1">
                            <a:solidFill>
                              <a:schemeClr val="bg1"/>
                            </a:solidFill>
                            <a:latin typeface="Cambria Math" panose="02040503050406030204" pitchFamily="18" charset="0"/>
                            <a:ea typeface="Calibri" pitchFamily="34" charset="-122"/>
                            <a:cs typeface="Calibri" pitchFamily="34" charset="-120"/>
                          </a:rPr>
                          <m:t>𝑇</m:t>
                        </m:r>
                      </m:e>
                      <m:sub>
                        <m:r>
                          <a:rPr lang="ar-AE" sz="1400" b="0" i="1" smtClean="0">
                            <a:solidFill>
                              <a:schemeClr val="bg1"/>
                            </a:solidFill>
                            <a:latin typeface="Cambria Math" panose="02040503050406030204" pitchFamily="18" charset="0"/>
                            <a:ea typeface="Calibri" pitchFamily="34" charset="-122"/>
                            <a:cs typeface="Calibri" pitchFamily="34" charset="-120"/>
                          </a:rPr>
                          <m:t>𝑙</m:t>
                        </m:r>
                        <m:r>
                          <a:rPr lang="es-MX" sz="1400" b="0" i="1" smtClean="0">
                            <a:solidFill>
                              <a:schemeClr val="bg1"/>
                            </a:solidFill>
                            <a:latin typeface="Cambria Math" panose="02040503050406030204" pitchFamily="18" charset="0"/>
                            <a:ea typeface="Calibri" pitchFamily="34" charset="-122"/>
                            <a:cs typeface="Calibri" pitchFamily="34" charset="-120"/>
                          </a:rPr>
                          <m:t>𝑑</m:t>
                        </m:r>
                      </m:sub>
                    </m:sSub>
                  </m:oMath>
                </a14:m>
                <a:r>
                  <a:rPr lang="ar-AE" sz="1050" b="1" dirty="0">
                    <a:solidFill>
                      <a:schemeClr val="bg1"/>
                    </a:solidFill>
                    <a:latin typeface="Calibri"/>
                  </a:rPr>
                  <a:t>
</a:t>
                </a:r>
                <a:r>
                  <a:rPr lang="es-MX" sz="1050" b="1" dirty="0">
                    <a:solidFill>
                      <a:schemeClr val="bg1"/>
                    </a:solidFill>
                    <a:latin typeface="Calibri"/>
                  </a:rPr>
                  <a:t>[</a:t>
                </a:r>
                <a:r>
                  <a:rPr lang="es-AR" sz="1050" b="1" dirty="0">
                    <a:solidFill>
                      <a:schemeClr val="bg1"/>
                    </a:solidFill>
                    <a:latin typeface="Calibri"/>
                  </a:rPr>
                  <a:t>N·m]</a:t>
                </a:r>
                <a:endParaRPr sz="1050" b="1" dirty="0">
                  <a:solidFill>
                    <a:schemeClr val="bg1"/>
                  </a:solidFill>
                  <a:latin typeface="Calibri"/>
                </a:endParaRPr>
              </a:p>
            </p:txBody>
          </p:sp>
        </mc:Choice>
        <mc:Fallback xmlns="">
          <p:sp>
            <p:nvSpPr>
              <p:cNvPr id="28" name="TextBox 23">
                <a:extLst>
                  <a:ext uri="{FF2B5EF4-FFF2-40B4-BE49-F238E27FC236}">
                    <a16:creationId xmlns:a16="http://schemas.microsoft.com/office/drawing/2014/main" id="{05947E8B-63DE-46BB-9C21-E783C1807622}"/>
                  </a:ext>
                </a:extLst>
              </p:cNvPr>
              <p:cNvSpPr txBox="1">
                <a:spLocks noRot="1" noChangeAspect="1" noMove="1" noResize="1" noEditPoints="1" noAdjustHandles="1" noChangeArrowheads="1" noChangeShapeType="1" noTextEdit="1"/>
              </p:cNvSpPr>
              <p:nvPr/>
            </p:nvSpPr>
            <p:spPr>
              <a:xfrm>
                <a:off x="8906257" y="879903"/>
                <a:ext cx="594359" cy="464423"/>
              </a:xfrm>
              <a:prstGeom prst="rect">
                <a:avLst/>
              </a:prstGeom>
              <a:blipFill>
                <a:blip r:embed="rId4"/>
                <a:stretch>
                  <a:fillRect b="-6494"/>
                </a:stretch>
              </a:blipFill>
            </p:spPr>
            <p:txBody>
              <a:bodyPr/>
              <a:lstStyle/>
              <a:p>
                <a:r>
                  <a:rPr lang="es-AR">
                    <a:noFill/>
                  </a:rPr>
                  <a:t> </a:t>
                </a:r>
              </a:p>
            </p:txBody>
          </p:sp>
        </mc:Fallback>
      </mc:AlternateContent>
      <p:sp>
        <p:nvSpPr>
          <p:cNvPr id="29" name="Rectangle 24">
            <a:extLst>
              <a:ext uri="{FF2B5EF4-FFF2-40B4-BE49-F238E27FC236}">
                <a16:creationId xmlns:a16="http://schemas.microsoft.com/office/drawing/2014/main" id="{F4AA5613-2980-4BA3-95F6-1D37CF362683}"/>
              </a:ext>
            </a:extLst>
          </p:cNvPr>
          <p:cNvSpPr/>
          <p:nvPr/>
        </p:nvSpPr>
        <p:spPr>
          <a:xfrm>
            <a:off x="9491471" y="889594"/>
            <a:ext cx="621792"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30" name="TextBox 25">
                <a:extLst>
                  <a:ext uri="{FF2B5EF4-FFF2-40B4-BE49-F238E27FC236}">
                    <a16:creationId xmlns:a16="http://schemas.microsoft.com/office/drawing/2014/main" id="{F4A45EC6-BB19-4D3F-877D-ACEC3109C603}"/>
                  </a:ext>
                </a:extLst>
              </p:cNvPr>
              <p:cNvSpPr txBox="1"/>
              <p:nvPr/>
            </p:nvSpPr>
            <p:spPr>
              <a:xfrm>
                <a:off x="9546335" y="859764"/>
                <a:ext cx="548641" cy="485967"/>
              </a:xfrm>
              <a:prstGeom prst="rect">
                <a:avLst/>
              </a:prstGeom>
              <a:noFill/>
            </p:spPr>
            <p:txBody>
              <a:bodyPr wrap="square">
                <a:spAutoFit/>
              </a:bodyPr>
              <a:lstStyle/>
              <a:p>
                <a:pPr algn="ctr"/>
                <a14:m>
                  <m:oMath xmlns:m="http://schemas.openxmlformats.org/officeDocument/2006/math">
                    <m:sSubSup>
                      <m:sSubSupPr>
                        <m:ctrlPr>
                          <a:rPr lang="ar-AE" sz="1400" i="1" smtClean="0">
                            <a:solidFill>
                              <a:schemeClr val="bg1"/>
                            </a:solidFill>
                            <a:latin typeface="Cambria Math" panose="02040503050406030204" pitchFamily="18" charset="0"/>
                          </a:rPr>
                        </m:ctrlPr>
                      </m:sSubSupPr>
                      <m:e>
                        <m:r>
                          <a:rPr lang="ar-AE" sz="1400">
                            <a:solidFill>
                              <a:schemeClr val="bg1"/>
                            </a:solidFill>
                            <a:latin typeface="Cambria Math" panose="02040503050406030204" pitchFamily="18" charset="0"/>
                          </a:rPr>
                          <m:t>𝑣</m:t>
                        </m:r>
                      </m:e>
                      <m:sub>
                        <m:r>
                          <a:rPr lang="ar-AE" sz="1400">
                            <a:solidFill>
                              <a:schemeClr val="bg1"/>
                            </a:solidFill>
                            <a:latin typeface="Cambria Math" panose="02040503050406030204" pitchFamily="18" charset="0"/>
                          </a:rPr>
                          <m:t>𝑞𝑠</m:t>
                        </m:r>
                      </m:sub>
                      <m:sup>
                        <m:r>
                          <a:rPr lang="ar-AE" sz="1400">
                            <a:solidFill>
                              <a:schemeClr val="bg1"/>
                            </a:solidFill>
                            <a:latin typeface="Cambria Math" panose="02040503050406030204" pitchFamily="18" charset="0"/>
                          </a:rPr>
                          <m:t>𝑟</m:t>
                        </m:r>
                      </m:sup>
                    </m:sSubSup>
                    <m:r>
                      <a:rPr lang="ar-AE" sz="1400" i="1">
                        <a:solidFill>
                          <a:schemeClr val="bg1"/>
                        </a:solidFill>
                        <a:latin typeface="Cambria Math" panose="02040503050406030204" pitchFamily="18" charset="0"/>
                      </a:rPr>
                      <m:t> </m:t>
                    </m:r>
                  </m:oMath>
                </a14:m>
                <a:r>
                  <a:rPr lang="ar-AE" sz="1050" b="1" dirty="0">
                    <a:solidFill>
                      <a:schemeClr val="bg1"/>
                    </a:solidFill>
                    <a:latin typeface="Calibri"/>
                  </a:rPr>
                  <a:t>
</a:t>
                </a:r>
                <a:r>
                  <a:rPr lang="es-MX" sz="1050" b="1" dirty="0">
                    <a:solidFill>
                      <a:schemeClr val="bg1"/>
                    </a:solidFill>
                    <a:latin typeface="Calibri"/>
                  </a:rPr>
                  <a:t>[</a:t>
                </a:r>
                <a:r>
                  <a:rPr lang="es-AR" sz="1050" b="1" dirty="0">
                    <a:solidFill>
                      <a:schemeClr val="bg1"/>
                    </a:solidFill>
                    <a:latin typeface="Calibri"/>
                  </a:rPr>
                  <a:t>V]</a:t>
                </a:r>
              </a:p>
            </p:txBody>
          </p:sp>
        </mc:Choice>
        <mc:Fallback xmlns="">
          <p:sp>
            <p:nvSpPr>
              <p:cNvPr id="30" name="TextBox 25">
                <a:extLst>
                  <a:ext uri="{FF2B5EF4-FFF2-40B4-BE49-F238E27FC236}">
                    <a16:creationId xmlns:a16="http://schemas.microsoft.com/office/drawing/2014/main" id="{F4A45EC6-BB19-4D3F-877D-ACEC3109C603}"/>
                  </a:ext>
                </a:extLst>
              </p:cNvPr>
              <p:cNvSpPr txBox="1">
                <a:spLocks noRot="1" noChangeAspect="1" noMove="1" noResize="1" noEditPoints="1" noAdjustHandles="1" noChangeArrowheads="1" noChangeShapeType="1" noTextEdit="1"/>
              </p:cNvSpPr>
              <p:nvPr/>
            </p:nvSpPr>
            <p:spPr>
              <a:xfrm>
                <a:off x="9546335" y="859764"/>
                <a:ext cx="548641" cy="485967"/>
              </a:xfrm>
              <a:prstGeom prst="rect">
                <a:avLst/>
              </a:prstGeom>
              <a:blipFill>
                <a:blip r:embed="rId5"/>
                <a:stretch>
                  <a:fillRect b="-6250"/>
                </a:stretch>
              </a:blipFill>
            </p:spPr>
            <p:txBody>
              <a:bodyPr/>
              <a:lstStyle/>
              <a:p>
                <a:r>
                  <a:rPr lang="es-AR">
                    <a:noFill/>
                  </a:rPr>
                  <a:t> </a:t>
                </a:r>
              </a:p>
            </p:txBody>
          </p:sp>
        </mc:Fallback>
      </mc:AlternateContent>
      <p:sp>
        <p:nvSpPr>
          <p:cNvPr id="31" name="Rectangle 26">
            <a:extLst>
              <a:ext uri="{FF2B5EF4-FFF2-40B4-BE49-F238E27FC236}">
                <a16:creationId xmlns:a16="http://schemas.microsoft.com/office/drawing/2014/main" id="{CC408467-DCBE-4CD7-B8A2-065287DD01F4}"/>
              </a:ext>
            </a:extLst>
          </p:cNvPr>
          <p:cNvSpPr/>
          <p:nvPr/>
        </p:nvSpPr>
        <p:spPr>
          <a:xfrm>
            <a:off x="10113263" y="889594"/>
            <a:ext cx="68580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32" name="TextBox 27">
                <a:extLst>
                  <a:ext uri="{FF2B5EF4-FFF2-40B4-BE49-F238E27FC236}">
                    <a16:creationId xmlns:a16="http://schemas.microsoft.com/office/drawing/2014/main" id="{03644BFE-F399-42A1-8C5D-CD276E2C4465}"/>
                  </a:ext>
                </a:extLst>
              </p:cNvPr>
              <p:cNvSpPr txBox="1"/>
              <p:nvPr/>
            </p:nvSpPr>
            <p:spPr>
              <a:xfrm>
                <a:off x="10149840" y="859942"/>
                <a:ext cx="630936" cy="464423"/>
              </a:xfrm>
              <a:prstGeom prst="rect">
                <a:avLst/>
              </a:prstGeom>
              <a:noFill/>
            </p:spPr>
            <p:txBody>
              <a:bodyPr wrap="square">
                <a:spAutoFit/>
              </a:bodyPr>
              <a:lstStyle/>
              <a:p>
                <a:pPr algn="ctr"/>
                <a14:m>
                  <m:oMath xmlns:m="http://schemas.openxmlformats.org/officeDocument/2006/math">
                    <m:sSub>
                      <m:sSubPr>
                        <m:ctrlPr>
                          <a:rPr lang="es-AR" sz="1400" i="1" smtClean="0">
                            <a:solidFill>
                              <a:schemeClr val="bg1"/>
                            </a:solidFill>
                            <a:latin typeface="Cambria Math" panose="02040503050406030204" pitchFamily="18" charset="0"/>
                            <a:ea typeface="Calibri" pitchFamily="34" charset="-122"/>
                            <a:cs typeface="Calibri" pitchFamily="34" charset="-120"/>
                          </a:rPr>
                        </m:ctrlPr>
                      </m:sSubPr>
                      <m:e>
                        <m:r>
                          <a:rPr lang="es-AR" sz="1400" i="1">
                            <a:solidFill>
                              <a:schemeClr val="bg1"/>
                            </a:solidFill>
                            <a:latin typeface="Cambria Math" panose="02040503050406030204" pitchFamily="18" charset="0"/>
                            <a:ea typeface="Calibri" pitchFamily="34" charset="-122"/>
                            <a:cs typeface="Calibri" pitchFamily="34" charset="-120"/>
                          </a:rPr>
                          <m:t>𝜔</m:t>
                        </m:r>
                      </m:e>
                      <m:sub>
                        <m:r>
                          <a:rPr lang="es-AR" sz="1400" i="1">
                            <a:solidFill>
                              <a:schemeClr val="bg1"/>
                            </a:solidFill>
                            <a:latin typeface="Cambria Math" panose="02040503050406030204" pitchFamily="18" charset="0"/>
                            <a:ea typeface="Calibri" pitchFamily="34" charset="-122"/>
                            <a:cs typeface="Calibri" pitchFamily="34" charset="-120"/>
                          </a:rPr>
                          <m:t>𝑚</m:t>
                        </m:r>
                      </m:sub>
                    </m:sSub>
                    <m:r>
                      <a:rPr lang="es-AR" sz="1400" i="1">
                        <a:solidFill>
                          <a:schemeClr val="bg1"/>
                        </a:solidFill>
                        <a:latin typeface="Cambria Math" panose="02040503050406030204" pitchFamily="18" charset="0"/>
                        <a:ea typeface="Calibri" pitchFamily="34" charset="-122"/>
                        <a:cs typeface="Calibri" pitchFamily="34" charset="-120"/>
                      </a:rPr>
                      <m:t> </m:t>
                    </m:r>
                  </m:oMath>
                </a14:m>
                <a:r>
                  <a:rPr sz="1050" b="1" dirty="0">
                    <a:solidFill>
                      <a:schemeClr val="bg1"/>
                    </a:solidFill>
                    <a:latin typeface="Calibri"/>
                  </a:rPr>
                  <a:t>
[rad/s]</a:t>
                </a:r>
              </a:p>
            </p:txBody>
          </p:sp>
        </mc:Choice>
        <mc:Fallback xmlns="">
          <p:sp>
            <p:nvSpPr>
              <p:cNvPr id="32" name="TextBox 27">
                <a:extLst>
                  <a:ext uri="{FF2B5EF4-FFF2-40B4-BE49-F238E27FC236}">
                    <a16:creationId xmlns:a16="http://schemas.microsoft.com/office/drawing/2014/main" id="{03644BFE-F399-42A1-8C5D-CD276E2C4465}"/>
                  </a:ext>
                </a:extLst>
              </p:cNvPr>
              <p:cNvSpPr txBox="1">
                <a:spLocks noRot="1" noChangeAspect="1" noMove="1" noResize="1" noEditPoints="1" noAdjustHandles="1" noChangeArrowheads="1" noChangeShapeType="1" noTextEdit="1"/>
              </p:cNvSpPr>
              <p:nvPr/>
            </p:nvSpPr>
            <p:spPr>
              <a:xfrm>
                <a:off x="10149840" y="859942"/>
                <a:ext cx="630936" cy="464423"/>
              </a:xfrm>
              <a:prstGeom prst="rect">
                <a:avLst/>
              </a:prstGeom>
              <a:blipFill>
                <a:blip r:embed="rId6"/>
                <a:stretch>
                  <a:fillRect b="-7895"/>
                </a:stretch>
              </a:blipFill>
            </p:spPr>
            <p:txBody>
              <a:bodyPr/>
              <a:lstStyle/>
              <a:p>
                <a:r>
                  <a:rPr lang="es-AR">
                    <a:noFill/>
                  </a:rPr>
                  <a:t> </a:t>
                </a:r>
              </a:p>
            </p:txBody>
          </p:sp>
        </mc:Fallback>
      </mc:AlternateContent>
      <p:sp>
        <p:nvSpPr>
          <p:cNvPr id="33" name="Rectangle 28">
            <a:extLst>
              <a:ext uri="{FF2B5EF4-FFF2-40B4-BE49-F238E27FC236}">
                <a16:creationId xmlns:a16="http://schemas.microsoft.com/office/drawing/2014/main" id="{4C7C7705-13DD-495B-940C-4FF6B4B6EF0A}"/>
              </a:ext>
            </a:extLst>
          </p:cNvPr>
          <p:cNvSpPr/>
          <p:nvPr/>
        </p:nvSpPr>
        <p:spPr>
          <a:xfrm>
            <a:off x="10799063" y="889594"/>
            <a:ext cx="64008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34" name="TextBox 29">
                <a:extLst>
                  <a:ext uri="{FF2B5EF4-FFF2-40B4-BE49-F238E27FC236}">
                    <a16:creationId xmlns:a16="http://schemas.microsoft.com/office/drawing/2014/main" id="{39D06A79-7921-47A8-A37C-F0F9280B041C}"/>
                  </a:ext>
                </a:extLst>
              </p:cNvPr>
              <p:cNvSpPr txBox="1"/>
              <p:nvPr/>
            </p:nvSpPr>
            <p:spPr>
              <a:xfrm>
                <a:off x="10826495" y="888981"/>
                <a:ext cx="585215" cy="464423"/>
              </a:xfrm>
              <a:prstGeom prst="rect">
                <a:avLst/>
              </a:prstGeom>
              <a:noFill/>
            </p:spPr>
            <p:txBody>
              <a:bodyPr wrap="square">
                <a:spAutoFit/>
              </a:bodyPr>
              <a:lstStyle/>
              <a:p>
                <a:pPr algn="ctr"/>
                <a14:m>
                  <m:oMath xmlns:m="http://schemas.openxmlformats.org/officeDocument/2006/math">
                    <m:sSub>
                      <m:sSubPr>
                        <m:ctrlPr>
                          <a:rPr lang="es-AR" sz="1400" i="1" smtClean="0">
                            <a:solidFill>
                              <a:schemeClr val="bg1"/>
                            </a:solidFill>
                            <a:latin typeface="Cambria Math" panose="02040503050406030204" pitchFamily="18" charset="0"/>
                            <a:ea typeface="Calibri" pitchFamily="34" charset="-122"/>
                            <a:cs typeface="Calibri" pitchFamily="34" charset="-120"/>
                          </a:rPr>
                        </m:ctrlPr>
                      </m:sSubPr>
                      <m:e>
                        <m:r>
                          <a:rPr lang="es-AR" sz="1400" i="1">
                            <a:solidFill>
                              <a:schemeClr val="bg1"/>
                            </a:solidFill>
                            <a:latin typeface="Cambria Math" panose="02040503050406030204" pitchFamily="18" charset="0"/>
                            <a:ea typeface="Calibri" pitchFamily="34" charset="-122"/>
                            <a:cs typeface="Calibri" pitchFamily="34" charset="-120"/>
                          </a:rPr>
                          <m:t>𝑇</m:t>
                        </m:r>
                      </m:e>
                      <m:sub>
                        <m:r>
                          <a:rPr lang="es-AR" sz="1400" i="1">
                            <a:solidFill>
                              <a:schemeClr val="bg1"/>
                            </a:solidFill>
                            <a:latin typeface="Cambria Math" panose="02040503050406030204" pitchFamily="18" charset="0"/>
                            <a:ea typeface="Calibri" pitchFamily="34" charset="-122"/>
                            <a:cs typeface="Calibri" pitchFamily="34" charset="-120"/>
                          </a:rPr>
                          <m:t>𝑚</m:t>
                        </m:r>
                      </m:sub>
                    </m:sSub>
                    <m:r>
                      <a:rPr lang="es-AR" sz="1400" i="1">
                        <a:solidFill>
                          <a:schemeClr val="bg1"/>
                        </a:solidFill>
                        <a:latin typeface="Cambria Math" panose="02040503050406030204" pitchFamily="18" charset="0"/>
                        <a:ea typeface="Calibri" pitchFamily="34" charset="-122"/>
                        <a:cs typeface="Calibri" pitchFamily="34" charset="-120"/>
                      </a:rPr>
                      <m:t> </m:t>
                    </m:r>
                  </m:oMath>
                </a14:m>
                <a:r>
                  <a:rPr sz="1050" b="1" dirty="0">
                    <a:solidFill>
                      <a:schemeClr val="bg1"/>
                    </a:solidFill>
                    <a:latin typeface="Calibri"/>
                  </a:rPr>
                  <a:t>
[N·m]</a:t>
                </a:r>
              </a:p>
            </p:txBody>
          </p:sp>
        </mc:Choice>
        <mc:Fallback xmlns="">
          <p:sp>
            <p:nvSpPr>
              <p:cNvPr id="34" name="TextBox 29">
                <a:extLst>
                  <a:ext uri="{FF2B5EF4-FFF2-40B4-BE49-F238E27FC236}">
                    <a16:creationId xmlns:a16="http://schemas.microsoft.com/office/drawing/2014/main" id="{39D06A79-7921-47A8-A37C-F0F9280B041C}"/>
                  </a:ext>
                </a:extLst>
              </p:cNvPr>
              <p:cNvSpPr txBox="1">
                <a:spLocks noRot="1" noChangeAspect="1" noMove="1" noResize="1" noEditPoints="1" noAdjustHandles="1" noChangeArrowheads="1" noChangeShapeType="1" noTextEdit="1"/>
              </p:cNvSpPr>
              <p:nvPr/>
            </p:nvSpPr>
            <p:spPr>
              <a:xfrm>
                <a:off x="10826495" y="888981"/>
                <a:ext cx="585215" cy="464423"/>
              </a:xfrm>
              <a:prstGeom prst="rect">
                <a:avLst/>
              </a:prstGeom>
              <a:blipFill>
                <a:blip r:embed="rId7"/>
                <a:stretch>
                  <a:fillRect b="-7895"/>
                </a:stretch>
              </a:blipFill>
            </p:spPr>
            <p:txBody>
              <a:bodyPr/>
              <a:lstStyle/>
              <a:p>
                <a:r>
                  <a:rPr lang="es-AR">
                    <a:noFill/>
                  </a:rPr>
                  <a:t> </a:t>
                </a:r>
              </a:p>
            </p:txBody>
          </p:sp>
        </mc:Fallback>
      </mc:AlternateContent>
      <p:sp>
        <p:nvSpPr>
          <p:cNvPr id="35" name="Rectangle 30">
            <a:extLst>
              <a:ext uri="{FF2B5EF4-FFF2-40B4-BE49-F238E27FC236}">
                <a16:creationId xmlns:a16="http://schemas.microsoft.com/office/drawing/2014/main" id="{858E8921-866A-4A75-BFD6-C49F7C0E5B2C}"/>
              </a:ext>
            </a:extLst>
          </p:cNvPr>
          <p:cNvSpPr/>
          <p:nvPr/>
        </p:nvSpPr>
        <p:spPr>
          <a:xfrm>
            <a:off x="4645152" y="133536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36" name="TextBox 31">
            <a:extLst>
              <a:ext uri="{FF2B5EF4-FFF2-40B4-BE49-F238E27FC236}">
                <a16:creationId xmlns:a16="http://schemas.microsoft.com/office/drawing/2014/main" id="{65B6CD86-0725-4362-92B7-17A671D78221}"/>
              </a:ext>
            </a:extLst>
          </p:cNvPr>
          <p:cNvSpPr txBox="1"/>
          <p:nvPr/>
        </p:nvSpPr>
        <p:spPr>
          <a:xfrm>
            <a:off x="4672584" y="1353652"/>
            <a:ext cx="329184" cy="253916"/>
          </a:xfrm>
          <a:prstGeom prst="rect">
            <a:avLst/>
          </a:prstGeom>
          <a:noFill/>
        </p:spPr>
        <p:txBody>
          <a:bodyPr wrap="square">
            <a:spAutoFit/>
          </a:bodyPr>
          <a:lstStyle/>
          <a:p>
            <a:pPr algn="ctr"/>
            <a:r>
              <a:rPr sz="1050" b="0">
                <a:latin typeface="Calibri"/>
              </a:rPr>
              <a:t>0</a:t>
            </a:r>
          </a:p>
        </p:txBody>
      </p:sp>
      <p:sp>
        <p:nvSpPr>
          <p:cNvPr id="37" name="Rectangle 32">
            <a:extLst>
              <a:ext uri="{FF2B5EF4-FFF2-40B4-BE49-F238E27FC236}">
                <a16:creationId xmlns:a16="http://schemas.microsoft.com/office/drawing/2014/main" id="{AB1C264D-8DDB-4474-806E-25BEEA6F8DC1}"/>
              </a:ext>
            </a:extLst>
          </p:cNvPr>
          <p:cNvSpPr/>
          <p:nvPr/>
        </p:nvSpPr>
        <p:spPr>
          <a:xfrm>
            <a:off x="5029200" y="133536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38" name="TextBox 33">
            <a:extLst>
              <a:ext uri="{FF2B5EF4-FFF2-40B4-BE49-F238E27FC236}">
                <a16:creationId xmlns:a16="http://schemas.microsoft.com/office/drawing/2014/main" id="{4646AA0C-0416-43D8-9149-4E356534D33E}"/>
              </a:ext>
            </a:extLst>
          </p:cNvPr>
          <p:cNvSpPr txBox="1"/>
          <p:nvPr/>
        </p:nvSpPr>
        <p:spPr>
          <a:xfrm>
            <a:off x="5056632" y="1353652"/>
            <a:ext cx="512064" cy="253916"/>
          </a:xfrm>
          <a:prstGeom prst="rect">
            <a:avLst/>
          </a:prstGeom>
          <a:noFill/>
        </p:spPr>
        <p:txBody>
          <a:bodyPr wrap="square">
            <a:spAutoFit/>
          </a:bodyPr>
          <a:lstStyle/>
          <a:p>
            <a:pPr algn="ctr"/>
            <a:r>
              <a:rPr sz="1050" b="0">
                <a:latin typeface="Calibri"/>
              </a:rPr>
              <a:t>t=0</a:t>
            </a:r>
          </a:p>
        </p:txBody>
      </p:sp>
      <p:sp>
        <p:nvSpPr>
          <p:cNvPr id="39" name="Rectangle 34">
            <a:extLst>
              <a:ext uri="{FF2B5EF4-FFF2-40B4-BE49-F238E27FC236}">
                <a16:creationId xmlns:a16="http://schemas.microsoft.com/office/drawing/2014/main" id="{D18DA07E-2800-450A-B9A2-E4D2FA580A1C}"/>
              </a:ext>
            </a:extLst>
          </p:cNvPr>
          <p:cNvSpPr/>
          <p:nvPr/>
        </p:nvSpPr>
        <p:spPr>
          <a:xfrm>
            <a:off x="5596128" y="133536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0" name="TextBox 35">
            <a:extLst>
              <a:ext uri="{FF2B5EF4-FFF2-40B4-BE49-F238E27FC236}">
                <a16:creationId xmlns:a16="http://schemas.microsoft.com/office/drawing/2014/main" id="{B75300C5-73AD-4865-909F-04D0F1F25DE2}"/>
              </a:ext>
            </a:extLst>
          </p:cNvPr>
          <p:cNvSpPr txBox="1"/>
          <p:nvPr/>
        </p:nvSpPr>
        <p:spPr>
          <a:xfrm>
            <a:off x="5623560" y="1353652"/>
            <a:ext cx="402336" cy="253916"/>
          </a:xfrm>
          <a:prstGeom prst="rect">
            <a:avLst/>
          </a:prstGeom>
          <a:noFill/>
        </p:spPr>
        <p:txBody>
          <a:bodyPr wrap="square">
            <a:spAutoFit/>
          </a:bodyPr>
          <a:lstStyle/>
          <a:p>
            <a:pPr algn="ctr"/>
            <a:r>
              <a:rPr sz="1050" b="1">
                <a:latin typeface="Calibri"/>
              </a:rPr>
              <a:t>=0</a:t>
            </a:r>
          </a:p>
        </p:txBody>
      </p:sp>
      <p:sp>
        <p:nvSpPr>
          <p:cNvPr id="41" name="Rectangle 36">
            <a:extLst>
              <a:ext uri="{FF2B5EF4-FFF2-40B4-BE49-F238E27FC236}">
                <a16:creationId xmlns:a16="http://schemas.microsoft.com/office/drawing/2014/main" id="{D4702DFA-97C1-49F1-ADD5-351566C93A84}"/>
              </a:ext>
            </a:extLst>
          </p:cNvPr>
          <p:cNvSpPr/>
          <p:nvPr/>
        </p:nvSpPr>
        <p:spPr>
          <a:xfrm>
            <a:off x="6053328" y="133536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2" name="TextBox 37">
            <a:extLst>
              <a:ext uri="{FF2B5EF4-FFF2-40B4-BE49-F238E27FC236}">
                <a16:creationId xmlns:a16="http://schemas.microsoft.com/office/drawing/2014/main" id="{80D1AA1F-B9BF-4175-8B34-25A5D20EE2C0}"/>
              </a:ext>
            </a:extLst>
          </p:cNvPr>
          <p:cNvSpPr txBox="1"/>
          <p:nvPr/>
        </p:nvSpPr>
        <p:spPr>
          <a:xfrm>
            <a:off x="6080760" y="1353652"/>
            <a:ext cx="402336" cy="253916"/>
          </a:xfrm>
          <a:prstGeom prst="rect">
            <a:avLst/>
          </a:prstGeom>
          <a:noFill/>
        </p:spPr>
        <p:txBody>
          <a:bodyPr wrap="square">
            <a:spAutoFit/>
          </a:bodyPr>
          <a:lstStyle/>
          <a:p>
            <a:pPr algn="ctr"/>
            <a:r>
              <a:rPr sz="1050" b="1">
                <a:latin typeface="Calibri"/>
              </a:rPr>
              <a:t>=0</a:t>
            </a:r>
          </a:p>
        </p:txBody>
      </p:sp>
      <p:sp>
        <p:nvSpPr>
          <p:cNvPr id="43" name="Rectangle 38">
            <a:extLst>
              <a:ext uri="{FF2B5EF4-FFF2-40B4-BE49-F238E27FC236}">
                <a16:creationId xmlns:a16="http://schemas.microsoft.com/office/drawing/2014/main" id="{7C534841-A1C0-47C2-A3E6-522AA619F888}"/>
              </a:ext>
            </a:extLst>
          </p:cNvPr>
          <p:cNvSpPr/>
          <p:nvPr/>
        </p:nvSpPr>
        <p:spPr>
          <a:xfrm>
            <a:off x="6510528" y="1335364"/>
            <a:ext cx="43891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4" name="TextBox 39">
            <a:extLst>
              <a:ext uri="{FF2B5EF4-FFF2-40B4-BE49-F238E27FC236}">
                <a16:creationId xmlns:a16="http://schemas.microsoft.com/office/drawing/2014/main" id="{BB00C86A-0D2B-4F89-9980-46AB4DEB5CF9}"/>
              </a:ext>
            </a:extLst>
          </p:cNvPr>
          <p:cNvSpPr txBox="1"/>
          <p:nvPr/>
        </p:nvSpPr>
        <p:spPr>
          <a:xfrm>
            <a:off x="6537960" y="1353652"/>
            <a:ext cx="384048" cy="253916"/>
          </a:xfrm>
          <a:prstGeom prst="rect">
            <a:avLst/>
          </a:prstGeom>
          <a:noFill/>
        </p:spPr>
        <p:txBody>
          <a:bodyPr wrap="square">
            <a:spAutoFit/>
          </a:bodyPr>
          <a:lstStyle/>
          <a:p>
            <a:pPr algn="ctr"/>
            <a:r>
              <a:rPr sz="1050" b="1" dirty="0">
                <a:latin typeface="Calibri"/>
              </a:rPr>
              <a:t>—</a:t>
            </a:r>
          </a:p>
        </p:txBody>
      </p:sp>
      <p:sp>
        <p:nvSpPr>
          <p:cNvPr id="45" name="Rectangle 40">
            <a:extLst>
              <a:ext uri="{FF2B5EF4-FFF2-40B4-BE49-F238E27FC236}">
                <a16:creationId xmlns:a16="http://schemas.microsoft.com/office/drawing/2014/main" id="{F752D482-259B-4EB0-B780-78B0832B42A1}"/>
              </a:ext>
            </a:extLst>
          </p:cNvPr>
          <p:cNvSpPr/>
          <p:nvPr/>
        </p:nvSpPr>
        <p:spPr>
          <a:xfrm>
            <a:off x="6949440" y="133536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6" name="TextBox 41">
            <a:extLst>
              <a:ext uri="{FF2B5EF4-FFF2-40B4-BE49-F238E27FC236}">
                <a16:creationId xmlns:a16="http://schemas.microsoft.com/office/drawing/2014/main" id="{7CEE9DFE-B4FF-4414-96EE-0B606E7A8DE0}"/>
              </a:ext>
            </a:extLst>
          </p:cNvPr>
          <p:cNvSpPr txBox="1"/>
          <p:nvPr/>
        </p:nvSpPr>
        <p:spPr>
          <a:xfrm>
            <a:off x="6976871" y="1353652"/>
            <a:ext cx="1938528" cy="253916"/>
          </a:xfrm>
          <a:prstGeom prst="rect">
            <a:avLst/>
          </a:prstGeom>
          <a:noFill/>
        </p:spPr>
        <p:txBody>
          <a:bodyPr wrap="square">
            <a:spAutoFit/>
          </a:bodyPr>
          <a:lstStyle/>
          <a:p>
            <a:pPr algn="ctr"/>
            <a:r>
              <a:rPr sz="1050" b="0">
                <a:latin typeface="Calibri"/>
              </a:rPr>
              <a:t>Reposo</a:t>
            </a:r>
          </a:p>
        </p:txBody>
      </p:sp>
      <p:sp>
        <p:nvSpPr>
          <p:cNvPr id="47" name="Rectangle 42">
            <a:extLst>
              <a:ext uri="{FF2B5EF4-FFF2-40B4-BE49-F238E27FC236}">
                <a16:creationId xmlns:a16="http://schemas.microsoft.com/office/drawing/2014/main" id="{A3934391-0A63-4379-B770-1109ECC71613}"/>
              </a:ext>
            </a:extLst>
          </p:cNvPr>
          <p:cNvSpPr/>
          <p:nvPr/>
        </p:nvSpPr>
        <p:spPr>
          <a:xfrm>
            <a:off x="8942832" y="133536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8" name="TextBox 43">
            <a:extLst>
              <a:ext uri="{FF2B5EF4-FFF2-40B4-BE49-F238E27FC236}">
                <a16:creationId xmlns:a16="http://schemas.microsoft.com/office/drawing/2014/main" id="{9CB83DEC-0F95-4262-92FA-0B7F1A2C652C}"/>
              </a:ext>
            </a:extLst>
          </p:cNvPr>
          <p:cNvSpPr txBox="1"/>
          <p:nvPr/>
        </p:nvSpPr>
        <p:spPr>
          <a:xfrm>
            <a:off x="8970263" y="1353652"/>
            <a:ext cx="493776" cy="253916"/>
          </a:xfrm>
          <a:prstGeom prst="rect">
            <a:avLst/>
          </a:prstGeom>
          <a:noFill/>
        </p:spPr>
        <p:txBody>
          <a:bodyPr wrap="square">
            <a:spAutoFit/>
          </a:bodyPr>
          <a:lstStyle/>
          <a:p>
            <a:pPr algn="ctr"/>
            <a:r>
              <a:rPr sz="1050" b="0">
                <a:latin typeface="Calibri"/>
              </a:rPr>
              <a:t>0</a:t>
            </a:r>
          </a:p>
        </p:txBody>
      </p:sp>
      <p:sp>
        <p:nvSpPr>
          <p:cNvPr id="49" name="Rectangle 44">
            <a:extLst>
              <a:ext uri="{FF2B5EF4-FFF2-40B4-BE49-F238E27FC236}">
                <a16:creationId xmlns:a16="http://schemas.microsoft.com/office/drawing/2014/main" id="{7071AC30-6F57-4674-AF9F-8FE38172C5C1}"/>
              </a:ext>
            </a:extLst>
          </p:cNvPr>
          <p:cNvSpPr/>
          <p:nvPr/>
        </p:nvSpPr>
        <p:spPr>
          <a:xfrm>
            <a:off x="9518903" y="1323380"/>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50" name="TextBox 45">
            <a:extLst>
              <a:ext uri="{FF2B5EF4-FFF2-40B4-BE49-F238E27FC236}">
                <a16:creationId xmlns:a16="http://schemas.microsoft.com/office/drawing/2014/main" id="{77716528-85B6-4558-A3A6-CA07D9842784}"/>
              </a:ext>
            </a:extLst>
          </p:cNvPr>
          <p:cNvSpPr txBox="1"/>
          <p:nvPr/>
        </p:nvSpPr>
        <p:spPr>
          <a:xfrm>
            <a:off x="9518903" y="1353652"/>
            <a:ext cx="566928" cy="253916"/>
          </a:xfrm>
          <a:prstGeom prst="rect">
            <a:avLst/>
          </a:prstGeom>
          <a:noFill/>
        </p:spPr>
        <p:txBody>
          <a:bodyPr wrap="square">
            <a:spAutoFit/>
          </a:bodyPr>
          <a:lstStyle/>
          <a:p>
            <a:pPr algn="ctr"/>
            <a:r>
              <a:rPr sz="1050" b="0">
                <a:latin typeface="Calibri"/>
              </a:rPr>
              <a:t>0</a:t>
            </a:r>
          </a:p>
        </p:txBody>
      </p:sp>
      <p:sp>
        <p:nvSpPr>
          <p:cNvPr id="51" name="Rectangle 46">
            <a:extLst>
              <a:ext uri="{FF2B5EF4-FFF2-40B4-BE49-F238E27FC236}">
                <a16:creationId xmlns:a16="http://schemas.microsoft.com/office/drawing/2014/main" id="{36B34013-1220-4D8C-9A6F-59C4428FD2E0}"/>
              </a:ext>
            </a:extLst>
          </p:cNvPr>
          <p:cNvSpPr/>
          <p:nvPr/>
        </p:nvSpPr>
        <p:spPr>
          <a:xfrm>
            <a:off x="10113263" y="133536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52" name="TextBox 47">
            <a:extLst>
              <a:ext uri="{FF2B5EF4-FFF2-40B4-BE49-F238E27FC236}">
                <a16:creationId xmlns:a16="http://schemas.microsoft.com/office/drawing/2014/main" id="{85E8035F-34B5-4A5F-A368-CF19D92353A4}"/>
              </a:ext>
            </a:extLst>
          </p:cNvPr>
          <p:cNvSpPr txBox="1"/>
          <p:nvPr/>
        </p:nvSpPr>
        <p:spPr>
          <a:xfrm>
            <a:off x="10140695" y="1353652"/>
            <a:ext cx="630936" cy="253916"/>
          </a:xfrm>
          <a:prstGeom prst="rect">
            <a:avLst/>
          </a:prstGeom>
          <a:noFill/>
        </p:spPr>
        <p:txBody>
          <a:bodyPr wrap="square">
            <a:spAutoFit/>
          </a:bodyPr>
          <a:lstStyle/>
          <a:p>
            <a:pPr algn="ctr"/>
            <a:r>
              <a:rPr sz="1050" b="0">
                <a:latin typeface="Calibri"/>
              </a:rPr>
              <a:t>—</a:t>
            </a:r>
          </a:p>
        </p:txBody>
      </p:sp>
      <p:sp>
        <p:nvSpPr>
          <p:cNvPr id="53" name="Rectangle 48">
            <a:extLst>
              <a:ext uri="{FF2B5EF4-FFF2-40B4-BE49-F238E27FC236}">
                <a16:creationId xmlns:a16="http://schemas.microsoft.com/office/drawing/2014/main" id="{E2F73FF6-B70B-44FF-9FC2-70E19F4B6816}"/>
              </a:ext>
            </a:extLst>
          </p:cNvPr>
          <p:cNvSpPr/>
          <p:nvPr/>
        </p:nvSpPr>
        <p:spPr>
          <a:xfrm>
            <a:off x="10799063" y="133536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54" name="TextBox 49">
            <a:extLst>
              <a:ext uri="{FF2B5EF4-FFF2-40B4-BE49-F238E27FC236}">
                <a16:creationId xmlns:a16="http://schemas.microsoft.com/office/drawing/2014/main" id="{E0DD3442-EBA7-4738-A24C-43649C3B2CC1}"/>
              </a:ext>
            </a:extLst>
          </p:cNvPr>
          <p:cNvSpPr txBox="1"/>
          <p:nvPr/>
        </p:nvSpPr>
        <p:spPr>
          <a:xfrm>
            <a:off x="10826495" y="1353652"/>
            <a:ext cx="585215" cy="253916"/>
          </a:xfrm>
          <a:prstGeom prst="rect">
            <a:avLst/>
          </a:prstGeom>
          <a:noFill/>
        </p:spPr>
        <p:txBody>
          <a:bodyPr wrap="square">
            <a:spAutoFit/>
          </a:bodyPr>
          <a:lstStyle/>
          <a:p>
            <a:pPr algn="ctr"/>
            <a:r>
              <a:rPr sz="1050" b="0">
                <a:latin typeface="Calibri"/>
              </a:rPr>
              <a:t>—</a:t>
            </a:r>
          </a:p>
        </p:txBody>
      </p:sp>
      <p:sp>
        <p:nvSpPr>
          <p:cNvPr id="75" name="Rectangle 70">
            <a:extLst>
              <a:ext uri="{FF2B5EF4-FFF2-40B4-BE49-F238E27FC236}">
                <a16:creationId xmlns:a16="http://schemas.microsoft.com/office/drawing/2014/main" id="{7C045FA5-D243-44A5-89D8-46F99FA6BE13}"/>
              </a:ext>
            </a:extLst>
          </p:cNvPr>
          <p:cNvSpPr/>
          <p:nvPr/>
        </p:nvSpPr>
        <p:spPr>
          <a:xfrm>
            <a:off x="4645152" y="178113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76" name="TextBox 71">
            <a:extLst>
              <a:ext uri="{FF2B5EF4-FFF2-40B4-BE49-F238E27FC236}">
                <a16:creationId xmlns:a16="http://schemas.microsoft.com/office/drawing/2014/main" id="{4D30838B-34D9-4862-9314-1493612092B5}"/>
              </a:ext>
            </a:extLst>
          </p:cNvPr>
          <p:cNvSpPr txBox="1"/>
          <p:nvPr/>
        </p:nvSpPr>
        <p:spPr>
          <a:xfrm>
            <a:off x="4672584" y="1799422"/>
            <a:ext cx="329184" cy="253916"/>
          </a:xfrm>
          <a:prstGeom prst="rect">
            <a:avLst/>
          </a:prstGeom>
          <a:noFill/>
        </p:spPr>
        <p:txBody>
          <a:bodyPr wrap="square">
            <a:spAutoFit/>
          </a:bodyPr>
          <a:lstStyle/>
          <a:p>
            <a:pPr algn="ctr"/>
            <a:r>
              <a:rPr lang="es-MX" sz="1050" b="0" dirty="0">
                <a:latin typeface="Calibri"/>
              </a:rPr>
              <a:t>1</a:t>
            </a:r>
            <a:endParaRPr sz="1050" b="0" dirty="0">
              <a:latin typeface="Calibri"/>
            </a:endParaRPr>
          </a:p>
        </p:txBody>
      </p:sp>
      <p:sp>
        <p:nvSpPr>
          <p:cNvPr id="77" name="Rectangle 72">
            <a:extLst>
              <a:ext uri="{FF2B5EF4-FFF2-40B4-BE49-F238E27FC236}">
                <a16:creationId xmlns:a16="http://schemas.microsoft.com/office/drawing/2014/main" id="{25CBEB9A-83B4-4EB7-9EB2-97CCE78BA6FC}"/>
              </a:ext>
            </a:extLst>
          </p:cNvPr>
          <p:cNvSpPr/>
          <p:nvPr/>
        </p:nvSpPr>
        <p:spPr>
          <a:xfrm>
            <a:off x="5029200" y="178113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78" name="TextBox 73">
            <a:extLst>
              <a:ext uri="{FF2B5EF4-FFF2-40B4-BE49-F238E27FC236}">
                <a16:creationId xmlns:a16="http://schemas.microsoft.com/office/drawing/2014/main" id="{E3375ED1-5E19-4232-9025-A406D04B51CA}"/>
              </a:ext>
            </a:extLst>
          </p:cNvPr>
          <p:cNvSpPr txBox="1"/>
          <p:nvPr/>
        </p:nvSpPr>
        <p:spPr>
          <a:xfrm>
            <a:off x="5056632" y="1799422"/>
            <a:ext cx="512064" cy="253916"/>
          </a:xfrm>
          <a:prstGeom prst="rect">
            <a:avLst/>
          </a:prstGeom>
          <a:noFill/>
        </p:spPr>
        <p:txBody>
          <a:bodyPr wrap="square">
            <a:spAutoFit/>
          </a:bodyPr>
          <a:lstStyle/>
          <a:p>
            <a:pPr algn="ctr"/>
            <a:r>
              <a:rPr sz="1050" b="0">
                <a:latin typeface="Calibri"/>
              </a:rPr>
              <a:t>t=0.3</a:t>
            </a:r>
          </a:p>
        </p:txBody>
      </p:sp>
      <p:sp>
        <p:nvSpPr>
          <p:cNvPr id="79" name="Rectangle 74">
            <a:extLst>
              <a:ext uri="{FF2B5EF4-FFF2-40B4-BE49-F238E27FC236}">
                <a16:creationId xmlns:a16="http://schemas.microsoft.com/office/drawing/2014/main" id="{7C8451A4-BB2F-48AB-9120-8B1753636074}"/>
              </a:ext>
            </a:extLst>
          </p:cNvPr>
          <p:cNvSpPr/>
          <p:nvPr/>
        </p:nvSpPr>
        <p:spPr>
          <a:xfrm>
            <a:off x="5596128" y="178113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0" name="TextBox 75">
            <a:extLst>
              <a:ext uri="{FF2B5EF4-FFF2-40B4-BE49-F238E27FC236}">
                <a16:creationId xmlns:a16="http://schemas.microsoft.com/office/drawing/2014/main" id="{EAEA403F-8665-4620-B340-B5F0EE10D41F}"/>
              </a:ext>
            </a:extLst>
          </p:cNvPr>
          <p:cNvSpPr txBox="1"/>
          <p:nvPr/>
        </p:nvSpPr>
        <p:spPr>
          <a:xfrm>
            <a:off x="5623560" y="1799422"/>
            <a:ext cx="402336" cy="253916"/>
          </a:xfrm>
          <a:prstGeom prst="rect">
            <a:avLst/>
          </a:prstGeom>
          <a:noFill/>
        </p:spPr>
        <p:txBody>
          <a:bodyPr wrap="square">
            <a:spAutoFit/>
          </a:bodyPr>
          <a:lstStyle/>
          <a:p>
            <a:pPr algn="ctr"/>
            <a:r>
              <a:rPr sz="1050" b="1">
                <a:latin typeface="Calibri"/>
              </a:rPr>
              <a:t>&gt;0</a:t>
            </a:r>
          </a:p>
        </p:txBody>
      </p:sp>
      <p:sp>
        <p:nvSpPr>
          <p:cNvPr id="81" name="Rectangle 76">
            <a:extLst>
              <a:ext uri="{FF2B5EF4-FFF2-40B4-BE49-F238E27FC236}">
                <a16:creationId xmlns:a16="http://schemas.microsoft.com/office/drawing/2014/main" id="{D59200C6-9C7B-40F7-945F-CA4A86061D32}"/>
              </a:ext>
            </a:extLst>
          </p:cNvPr>
          <p:cNvSpPr/>
          <p:nvPr/>
        </p:nvSpPr>
        <p:spPr>
          <a:xfrm>
            <a:off x="6053328" y="178113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2" name="TextBox 77">
            <a:extLst>
              <a:ext uri="{FF2B5EF4-FFF2-40B4-BE49-F238E27FC236}">
                <a16:creationId xmlns:a16="http://schemas.microsoft.com/office/drawing/2014/main" id="{87F5F0F5-19CB-4E6A-B3AA-6022CB22342A}"/>
              </a:ext>
            </a:extLst>
          </p:cNvPr>
          <p:cNvSpPr txBox="1"/>
          <p:nvPr/>
        </p:nvSpPr>
        <p:spPr>
          <a:xfrm>
            <a:off x="6080760" y="1799422"/>
            <a:ext cx="402336" cy="253916"/>
          </a:xfrm>
          <a:prstGeom prst="rect">
            <a:avLst/>
          </a:prstGeom>
          <a:noFill/>
        </p:spPr>
        <p:txBody>
          <a:bodyPr wrap="square">
            <a:spAutoFit/>
          </a:bodyPr>
          <a:lstStyle/>
          <a:p>
            <a:pPr algn="ctr"/>
            <a:r>
              <a:rPr sz="1050" b="1">
                <a:latin typeface="Calibri"/>
              </a:rPr>
              <a:t>&gt;0</a:t>
            </a:r>
          </a:p>
        </p:txBody>
      </p:sp>
      <p:sp>
        <p:nvSpPr>
          <p:cNvPr id="83" name="Rectangle 78">
            <a:extLst>
              <a:ext uri="{FF2B5EF4-FFF2-40B4-BE49-F238E27FC236}">
                <a16:creationId xmlns:a16="http://schemas.microsoft.com/office/drawing/2014/main" id="{320EE948-5077-4FBB-8D6C-810DF2C3F1A6}"/>
              </a:ext>
            </a:extLst>
          </p:cNvPr>
          <p:cNvSpPr/>
          <p:nvPr/>
        </p:nvSpPr>
        <p:spPr>
          <a:xfrm>
            <a:off x="6510528" y="1781134"/>
            <a:ext cx="438912" cy="445770"/>
          </a:xfrm>
          <a:prstGeom prst="rect">
            <a:avLst/>
          </a:prstGeom>
          <a:solidFill>
            <a:srgbClr val="E1F5E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4" name="TextBox 79">
            <a:extLst>
              <a:ext uri="{FF2B5EF4-FFF2-40B4-BE49-F238E27FC236}">
                <a16:creationId xmlns:a16="http://schemas.microsoft.com/office/drawing/2014/main" id="{82D7BA81-8FA0-4015-82EC-640B86EDAC55}"/>
              </a:ext>
            </a:extLst>
          </p:cNvPr>
          <p:cNvSpPr txBox="1"/>
          <p:nvPr/>
        </p:nvSpPr>
        <p:spPr>
          <a:xfrm>
            <a:off x="6537960" y="1799422"/>
            <a:ext cx="384048" cy="253916"/>
          </a:xfrm>
          <a:prstGeom prst="rect">
            <a:avLst/>
          </a:prstGeom>
          <a:noFill/>
        </p:spPr>
        <p:txBody>
          <a:bodyPr wrap="square">
            <a:spAutoFit/>
          </a:bodyPr>
          <a:lstStyle/>
          <a:p>
            <a:pPr algn="ctr"/>
            <a:r>
              <a:rPr sz="1050" b="1">
                <a:latin typeface="Calibri"/>
              </a:rPr>
              <a:t>1°</a:t>
            </a:r>
          </a:p>
        </p:txBody>
      </p:sp>
      <p:sp>
        <p:nvSpPr>
          <p:cNvPr id="85" name="Rectangle 80">
            <a:extLst>
              <a:ext uri="{FF2B5EF4-FFF2-40B4-BE49-F238E27FC236}">
                <a16:creationId xmlns:a16="http://schemas.microsoft.com/office/drawing/2014/main" id="{A29740FC-3EB8-400A-83F6-C2A4D820D812}"/>
              </a:ext>
            </a:extLst>
          </p:cNvPr>
          <p:cNvSpPr/>
          <p:nvPr/>
        </p:nvSpPr>
        <p:spPr>
          <a:xfrm>
            <a:off x="6949440" y="178113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6" name="TextBox 81">
            <a:extLst>
              <a:ext uri="{FF2B5EF4-FFF2-40B4-BE49-F238E27FC236}">
                <a16:creationId xmlns:a16="http://schemas.microsoft.com/office/drawing/2014/main" id="{247F13F7-3C45-4108-9D42-1E8B376A9AFA}"/>
              </a:ext>
            </a:extLst>
          </p:cNvPr>
          <p:cNvSpPr txBox="1"/>
          <p:nvPr/>
        </p:nvSpPr>
        <p:spPr>
          <a:xfrm>
            <a:off x="6976871" y="1799422"/>
            <a:ext cx="1938528" cy="253916"/>
          </a:xfrm>
          <a:prstGeom prst="rect">
            <a:avLst/>
          </a:prstGeom>
          <a:noFill/>
        </p:spPr>
        <p:txBody>
          <a:bodyPr wrap="square">
            <a:spAutoFit/>
          </a:bodyPr>
          <a:lstStyle/>
          <a:p>
            <a:pPr algn="ctr"/>
            <a:r>
              <a:rPr sz="1050" b="0">
                <a:latin typeface="Calibri"/>
              </a:rPr>
              <a:t>Motor. directa + carga</a:t>
            </a:r>
          </a:p>
        </p:txBody>
      </p:sp>
      <p:sp>
        <p:nvSpPr>
          <p:cNvPr id="87" name="Rectangle 82">
            <a:extLst>
              <a:ext uri="{FF2B5EF4-FFF2-40B4-BE49-F238E27FC236}">
                <a16:creationId xmlns:a16="http://schemas.microsoft.com/office/drawing/2014/main" id="{55EAF722-C647-4610-B15B-48B3DEBD18DF}"/>
              </a:ext>
            </a:extLst>
          </p:cNvPr>
          <p:cNvSpPr/>
          <p:nvPr/>
        </p:nvSpPr>
        <p:spPr>
          <a:xfrm>
            <a:off x="8942832" y="178113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8" name="TextBox 83">
            <a:extLst>
              <a:ext uri="{FF2B5EF4-FFF2-40B4-BE49-F238E27FC236}">
                <a16:creationId xmlns:a16="http://schemas.microsoft.com/office/drawing/2014/main" id="{CD4AAAF3-034B-4482-A86F-E6A4029733A4}"/>
              </a:ext>
            </a:extLst>
          </p:cNvPr>
          <p:cNvSpPr txBox="1"/>
          <p:nvPr/>
        </p:nvSpPr>
        <p:spPr>
          <a:xfrm>
            <a:off x="8970263" y="1799422"/>
            <a:ext cx="493776" cy="253916"/>
          </a:xfrm>
          <a:prstGeom prst="rect">
            <a:avLst/>
          </a:prstGeom>
          <a:noFill/>
        </p:spPr>
        <p:txBody>
          <a:bodyPr wrap="square">
            <a:spAutoFit/>
          </a:bodyPr>
          <a:lstStyle/>
          <a:p>
            <a:pPr algn="ctr"/>
            <a:r>
              <a:rPr sz="1050" b="0">
                <a:latin typeface="Calibri"/>
              </a:rPr>
              <a:t>+5</a:t>
            </a:r>
          </a:p>
        </p:txBody>
      </p:sp>
      <p:sp>
        <p:nvSpPr>
          <p:cNvPr id="89" name="Rectangle 84">
            <a:extLst>
              <a:ext uri="{FF2B5EF4-FFF2-40B4-BE49-F238E27FC236}">
                <a16:creationId xmlns:a16="http://schemas.microsoft.com/office/drawing/2014/main" id="{62C2AA65-F3C8-40EC-B736-20B619563634}"/>
              </a:ext>
            </a:extLst>
          </p:cNvPr>
          <p:cNvSpPr/>
          <p:nvPr/>
        </p:nvSpPr>
        <p:spPr>
          <a:xfrm>
            <a:off x="9491471" y="178113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0" name="TextBox 85">
            <a:extLst>
              <a:ext uri="{FF2B5EF4-FFF2-40B4-BE49-F238E27FC236}">
                <a16:creationId xmlns:a16="http://schemas.microsoft.com/office/drawing/2014/main" id="{740758D9-40D5-430D-99A0-C5EA7D6DCE80}"/>
              </a:ext>
            </a:extLst>
          </p:cNvPr>
          <p:cNvSpPr txBox="1"/>
          <p:nvPr/>
        </p:nvSpPr>
        <p:spPr>
          <a:xfrm>
            <a:off x="9518903" y="1799422"/>
            <a:ext cx="566928" cy="253916"/>
          </a:xfrm>
          <a:prstGeom prst="rect">
            <a:avLst/>
          </a:prstGeom>
          <a:noFill/>
        </p:spPr>
        <p:txBody>
          <a:bodyPr wrap="square">
            <a:spAutoFit/>
          </a:bodyPr>
          <a:lstStyle/>
          <a:p>
            <a:pPr algn="ctr"/>
            <a:r>
              <a:rPr sz="1050" b="0">
                <a:latin typeface="Calibri"/>
              </a:rPr>
              <a:t>+19.56</a:t>
            </a:r>
          </a:p>
        </p:txBody>
      </p:sp>
      <p:sp>
        <p:nvSpPr>
          <p:cNvPr id="91" name="Rectangle 86">
            <a:extLst>
              <a:ext uri="{FF2B5EF4-FFF2-40B4-BE49-F238E27FC236}">
                <a16:creationId xmlns:a16="http://schemas.microsoft.com/office/drawing/2014/main" id="{E3805C13-89C0-4E0C-956B-43FD2619C737}"/>
              </a:ext>
            </a:extLst>
          </p:cNvPr>
          <p:cNvSpPr/>
          <p:nvPr/>
        </p:nvSpPr>
        <p:spPr>
          <a:xfrm>
            <a:off x="10113263" y="178113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2" name="TextBox 87">
            <a:extLst>
              <a:ext uri="{FF2B5EF4-FFF2-40B4-BE49-F238E27FC236}">
                <a16:creationId xmlns:a16="http://schemas.microsoft.com/office/drawing/2014/main" id="{4C3897D5-F5C2-48BE-A191-EC21A590E746}"/>
              </a:ext>
            </a:extLst>
          </p:cNvPr>
          <p:cNvSpPr txBox="1"/>
          <p:nvPr/>
        </p:nvSpPr>
        <p:spPr>
          <a:xfrm>
            <a:off x="10140695" y="1799422"/>
            <a:ext cx="630936" cy="253916"/>
          </a:xfrm>
          <a:prstGeom prst="rect">
            <a:avLst/>
          </a:prstGeom>
          <a:noFill/>
        </p:spPr>
        <p:txBody>
          <a:bodyPr wrap="square">
            <a:spAutoFit/>
          </a:bodyPr>
          <a:lstStyle/>
          <a:p>
            <a:pPr algn="ctr"/>
            <a:r>
              <a:rPr sz="1050" b="0">
                <a:latin typeface="Calibri"/>
              </a:rPr>
              <a:t>401.5</a:t>
            </a:r>
          </a:p>
        </p:txBody>
      </p:sp>
      <p:sp>
        <p:nvSpPr>
          <p:cNvPr id="93" name="Rectangle 88">
            <a:extLst>
              <a:ext uri="{FF2B5EF4-FFF2-40B4-BE49-F238E27FC236}">
                <a16:creationId xmlns:a16="http://schemas.microsoft.com/office/drawing/2014/main" id="{80FB7F78-BED2-4491-846F-1CD7FD4C2D29}"/>
              </a:ext>
            </a:extLst>
          </p:cNvPr>
          <p:cNvSpPr/>
          <p:nvPr/>
        </p:nvSpPr>
        <p:spPr>
          <a:xfrm>
            <a:off x="10799063" y="178113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4" name="TextBox 89">
            <a:extLst>
              <a:ext uri="{FF2B5EF4-FFF2-40B4-BE49-F238E27FC236}">
                <a16:creationId xmlns:a16="http://schemas.microsoft.com/office/drawing/2014/main" id="{9E70A217-59C8-4635-BFF7-893239EB6776}"/>
              </a:ext>
            </a:extLst>
          </p:cNvPr>
          <p:cNvSpPr txBox="1"/>
          <p:nvPr/>
        </p:nvSpPr>
        <p:spPr>
          <a:xfrm>
            <a:off x="10826495" y="1799422"/>
            <a:ext cx="585215" cy="253916"/>
          </a:xfrm>
          <a:prstGeom prst="rect">
            <a:avLst/>
          </a:prstGeom>
          <a:noFill/>
        </p:spPr>
        <p:txBody>
          <a:bodyPr wrap="square">
            <a:spAutoFit/>
          </a:bodyPr>
          <a:lstStyle/>
          <a:p>
            <a:pPr algn="ctr"/>
            <a:r>
              <a:rPr sz="1050" b="0">
                <a:latin typeface="Calibri"/>
              </a:rPr>
              <a:t>0.021</a:t>
            </a:r>
          </a:p>
        </p:txBody>
      </p:sp>
      <p:sp>
        <p:nvSpPr>
          <p:cNvPr id="95" name="Rectangle 90">
            <a:extLst>
              <a:ext uri="{FF2B5EF4-FFF2-40B4-BE49-F238E27FC236}">
                <a16:creationId xmlns:a16="http://schemas.microsoft.com/office/drawing/2014/main" id="{2C406D44-DA5B-4009-8E29-71A37A15ED9D}"/>
              </a:ext>
            </a:extLst>
          </p:cNvPr>
          <p:cNvSpPr/>
          <p:nvPr/>
        </p:nvSpPr>
        <p:spPr>
          <a:xfrm>
            <a:off x="4645152" y="222690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6" name="TextBox 91">
            <a:extLst>
              <a:ext uri="{FF2B5EF4-FFF2-40B4-BE49-F238E27FC236}">
                <a16:creationId xmlns:a16="http://schemas.microsoft.com/office/drawing/2014/main" id="{AD55F08B-2D5C-4B48-9676-98C5E68651E7}"/>
              </a:ext>
            </a:extLst>
          </p:cNvPr>
          <p:cNvSpPr txBox="1"/>
          <p:nvPr/>
        </p:nvSpPr>
        <p:spPr>
          <a:xfrm>
            <a:off x="4672584" y="2245192"/>
            <a:ext cx="329184" cy="253916"/>
          </a:xfrm>
          <a:prstGeom prst="rect">
            <a:avLst/>
          </a:prstGeom>
          <a:noFill/>
        </p:spPr>
        <p:txBody>
          <a:bodyPr wrap="square">
            <a:spAutoFit/>
          </a:bodyPr>
          <a:lstStyle/>
          <a:p>
            <a:pPr algn="ctr"/>
            <a:r>
              <a:rPr lang="es-MX" sz="1050" dirty="0">
                <a:latin typeface="Calibri"/>
              </a:rPr>
              <a:t>2</a:t>
            </a:r>
            <a:endParaRPr sz="1050" b="0" dirty="0">
              <a:latin typeface="Calibri"/>
            </a:endParaRPr>
          </a:p>
        </p:txBody>
      </p:sp>
      <p:sp>
        <p:nvSpPr>
          <p:cNvPr id="97" name="Rectangle 92">
            <a:extLst>
              <a:ext uri="{FF2B5EF4-FFF2-40B4-BE49-F238E27FC236}">
                <a16:creationId xmlns:a16="http://schemas.microsoft.com/office/drawing/2014/main" id="{483B3BAF-D377-4F52-B39F-21E86D4B60C7}"/>
              </a:ext>
            </a:extLst>
          </p:cNvPr>
          <p:cNvSpPr/>
          <p:nvPr/>
        </p:nvSpPr>
        <p:spPr>
          <a:xfrm>
            <a:off x="5029200" y="222690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8" name="TextBox 93">
            <a:extLst>
              <a:ext uri="{FF2B5EF4-FFF2-40B4-BE49-F238E27FC236}">
                <a16:creationId xmlns:a16="http://schemas.microsoft.com/office/drawing/2014/main" id="{88671214-FF52-48AC-A6A0-81AFF1B39C11}"/>
              </a:ext>
            </a:extLst>
          </p:cNvPr>
          <p:cNvSpPr txBox="1"/>
          <p:nvPr/>
        </p:nvSpPr>
        <p:spPr>
          <a:xfrm>
            <a:off x="5056632" y="2245192"/>
            <a:ext cx="512064" cy="253916"/>
          </a:xfrm>
          <a:prstGeom prst="rect">
            <a:avLst/>
          </a:prstGeom>
          <a:noFill/>
        </p:spPr>
        <p:txBody>
          <a:bodyPr wrap="square">
            <a:spAutoFit/>
          </a:bodyPr>
          <a:lstStyle/>
          <a:p>
            <a:pPr algn="ctr"/>
            <a:r>
              <a:rPr sz="1050" b="0">
                <a:latin typeface="Calibri"/>
              </a:rPr>
              <a:t>t=0.5</a:t>
            </a:r>
          </a:p>
        </p:txBody>
      </p:sp>
      <p:sp>
        <p:nvSpPr>
          <p:cNvPr id="99" name="Rectangle 94">
            <a:extLst>
              <a:ext uri="{FF2B5EF4-FFF2-40B4-BE49-F238E27FC236}">
                <a16:creationId xmlns:a16="http://schemas.microsoft.com/office/drawing/2014/main" id="{772CD476-CFBB-487C-A1FB-AEBBAB4200B9}"/>
              </a:ext>
            </a:extLst>
          </p:cNvPr>
          <p:cNvSpPr/>
          <p:nvPr/>
        </p:nvSpPr>
        <p:spPr>
          <a:xfrm>
            <a:off x="5596128" y="222690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0" name="TextBox 95">
            <a:extLst>
              <a:ext uri="{FF2B5EF4-FFF2-40B4-BE49-F238E27FC236}">
                <a16:creationId xmlns:a16="http://schemas.microsoft.com/office/drawing/2014/main" id="{08C110E4-9F50-4C6A-8CB7-7B0987A0EABD}"/>
              </a:ext>
            </a:extLst>
          </p:cNvPr>
          <p:cNvSpPr txBox="1"/>
          <p:nvPr/>
        </p:nvSpPr>
        <p:spPr>
          <a:xfrm>
            <a:off x="5623560" y="2245192"/>
            <a:ext cx="402336" cy="253916"/>
          </a:xfrm>
          <a:prstGeom prst="rect">
            <a:avLst/>
          </a:prstGeom>
          <a:noFill/>
        </p:spPr>
        <p:txBody>
          <a:bodyPr wrap="square">
            <a:spAutoFit/>
          </a:bodyPr>
          <a:lstStyle/>
          <a:p>
            <a:pPr algn="ctr"/>
            <a:r>
              <a:rPr sz="1050" b="1">
                <a:latin typeface="Calibri"/>
              </a:rPr>
              <a:t>&gt;0</a:t>
            </a:r>
          </a:p>
        </p:txBody>
      </p:sp>
      <p:sp>
        <p:nvSpPr>
          <p:cNvPr id="101" name="Rectangle 96">
            <a:extLst>
              <a:ext uri="{FF2B5EF4-FFF2-40B4-BE49-F238E27FC236}">
                <a16:creationId xmlns:a16="http://schemas.microsoft.com/office/drawing/2014/main" id="{E76D8252-3DE7-4BE7-8535-9E59D2B1365B}"/>
              </a:ext>
            </a:extLst>
          </p:cNvPr>
          <p:cNvSpPr/>
          <p:nvPr/>
        </p:nvSpPr>
        <p:spPr>
          <a:xfrm>
            <a:off x="6053328" y="222690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2" name="TextBox 97">
            <a:extLst>
              <a:ext uri="{FF2B5EF4-FFF2-40B4-BE49-F238E27FC236}">
                <a16:creationId xmlns:a16="http://schemas.microsoft.com/office/drawing/2014/main" id="{F744644E-BC5F-45AB-A813-A766C44762C0}"/>
              </a:ext>
            </a:extLst>
          </p:cNvPr>
          <p:cNvSpPr txBox="1"/>
          <p:nvPr/>
        </p:nvSpPr>
        <p:spPr>
          <a:xfrm>
            <a:off x="6080760" y="2245192"/>
            <a:ext cx="402336" cy="253916"/>
          </a:xfrm>
          <a:prstGeom prst="rect">
            <a:avLst/>
          </a:prstGeom>
          <a:noFill/>
        </p:spPr>
        <p:txBody>
          <a:bodyPr wrap="square">
            <a:spAutoFit/>
          </a:bodyPr>
          <a:lstStyle/>
          <a:p>
            <a:pPr algn="ctr"/>
            <a:r>
              <a:rPr sz="1050" b="1">
                <a:latin typeface="Calibri"/>
              </a:rPr>
              <a:t>&gt;0</a:t>
            </a:r>
          </a:p>
        </p:txBody>
      </p:sp>
      <p:sp>
        <p:nvSpPr>
          <p:cNvPr id="103" name="Rectangle 98">
            <a:extLst>
              <a:ext uri="{FF2B5EF4-FFF2-40B4-BE49-F238E27FC236}">
                <a16:creationId xmlns:a16="http://schemas.microsoft.com/office/drawing/2014/main" id="{A273EC5C-54E7-4045-9DC7-C00C802FA649}"/>
              </a:ext>
            </a:extLst>
          </p:cNvPr>
          <p:cNvSpPr/>
          <p:nvPr/>
        </p:nvSpPr>
        <p:spPr>
          <a:xfrm>
            <a:off x="6510528" y="2226904"/>
            <a:ext cx="438912" cy="445770"/>
          </a:xfrm>
          <a:prstGeom prst="rect">
            <a:avLst/>
          </a:prstGeom>
          <a:solidFill>
            <a:srgbClr val="E1F5E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4" name="TextBox 99">
            <a:extLst>
              <a:ext uri="{FF2B5EF4-FFF2-40B4-BE49-F238E27FC236}">
                <a16:creationId xmlns:a16="http://schemas.microsoft.com/office/drawing/2014/main" id="{5FBF5040-F02B-4B66-B948-14139330A4F4}"/>
              </a:ext>
            </a:extLst>
          </p:cNvPr>
          <p:cNvSpPr txBox="1"/>
          <p:nvPr/>
        </p:nvSpPr>
        <p:spPr>
          <a:xfrm>
            <a:off x="6537960" y="2245192"/>
            <a:ext cx="384048" cy="253916"/>
          </a:xfrm>
          <a:prstGeom prst="rect">
            <a:avLst/>
          </a:prstGeom>
          <a:noFill/>
        </p:spPr>
        <p:txBody>
          <a:bodyPr wrap="square">
            <a:spAutoFit/>
          </a:bodyPr>
          <a:lstStyle/>
          <a:p>
            <a:pPr algn="ctr"/>
            <a:r>
              <a:rPr sz="1050" b="1">
                <a:latin typeface="Calibri"/>
              </a:rPr>
              <a:t>1°</a:t>
            </a:r>
          </a:p>
        </p:txBody>
      </p:sp>
      <p:sp>
        <p:nvSpPr>
          <p:cNvPr id="105" name="Rectangle 100">
            <a:extLst>
              <a:ext uri="{FF2B5EF4-FFF2-40B4-BE49-F238E27FC236}">
                <a16:creationId xmlns:a16="http://schemas.microsoft.com/office/drawing/2014/main" id="{377D09B7-DE6A-4482-A8EE-511641032391}"/>
              </a:ext>
            </a:extLst>
          </p:cNvPr>
          <p:cNvSpPr/>
          <p:nvPr/>
        </p:nvSpPr>
        <p:spPr>
          <a:xfrm>
            <a:off x="6949440" y="222690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6" name="TextBox 101">
            <a:extLst>
              <a:ext uri="{FF2B5EF4-FFF2-40B4-BE49-F238E27FC236}">
                <a16:creationId xmlns:a16="http://schemas.microsoft.com/office/drawing/2014/main" id="{500538EC-C61F-4488-BDFC-FB88AD3BA9F2}"/>
              </a:ext>
            </a:extLst>
          </p:cNvPr>
          <p:cNvSpPr txBox="1"/>
          <p:nvPr/>
        </p:nvSpPr>
        <p:spPr>
          <a:xfrm>
            <a:off x="6976871" y="2245192"/>
            <a:ext cx="1938528" cy="253916"/>
          </a:xfrm>
          <a:prstGeom prst="rect">
            <a:avLst/>
          </a:prstGeom>
          <a:noFill/>
        </p:spPr>
        <p:txBody>
          <a:bodyPr wrap="square">
            <a:spAutoFit/>
          </a:bodyPr>
          <a:lstStyle/>
          <a:p>
            <a:pPr algn="ctr"/>
            <a:r>
              <a:rPr sz="1050" b="0" dirty="0">
                <a:latin typeface="Calibri"/>
              </a:rPr>
              <a:t>Motor. </a:t>
            </a:r>
            <a:r>
              <a:rPr sz="1050" b="0" dirty="0" err="1">
                <a:latin typeface="Calibri"/>
              </a:rPr>
              <a:t>directa</a:t>
            </a:r>
            <a:endParaRPr sz="1050" b="0" dirty="0">
              <a:latin typeface="Calibri"/>
            </a:endParaRPr>
          </a:p>
        </p:txBody>
      </p:sp>
      <p:sp>
        <p:nvSpPr>
          <p:cNvPr id="107" name="Rectangle 102">
            <a:extLst>
              <a:ext uri="{FF2B5EF4-FFF2-40B4-BE49-F238E27FC236}">
                <a16:creationId xmlns:a16="http://schemas.microsoft.com/office/drawing/2014/main" id="{A3493CEF-5C43-46AE-AEAA-5A43918F6D1E}"/>
              </a:ext>
            </a:extLst>
          </p:cNvPr>
          <p:cNvSpPr/>
          <p:nvPr/>
        </p:nvSpPr>
        <p:spPr>
          <a:xfrm>
            <a:off x="8942832" y="222690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8" name="TextBox 103">
            <a:extLst>
              <a:ext uri="{FF2B5EF4-FFF2-40B4-BE49-F238E27FC236}">
                <a16:creationId xmlns:a16="http://schemas.microsoft.com/office/drawing/2014/main" id="{ACD2B0D1-C114-4DDF-B329-3E8966C91FE8}"/>
              </a:ext>
            </a:extLst>
          </p:cNvPr>
          <p:cNvSpPr txBox="1"/>
          <p:nvPr/>
        </p:nvSpPr>
        <p:spPr>
          <a:xfrm>
            <a:off x="8970263" y="2245192"/>
            <a:ext cx="493776" cy="253916"/>
          </a:xfrm>
          <a:prstGeom prst="rect">
            <a:avLst/>
          </a:prstGeom>
          <a:noFill/>
        </p:spPr>
        <p:txBody>
          <a:bodyPr wrap="square">
            <a:spAutoFit/>
          </a:bodyPr>
          <a:lstStyle/>
          <a:p>
            <a:pPr algn="ctr"/>
            <a:r>
              <a:rPr sz="1050" b="0">
                <a:latin typeface="Calibri"/>
              </a:rPr>
              <a:t>−5</a:t>
            </a:r>
          </a:p>
        </p:txBody>
      </p:sp>
      <p:sp>
        <p:nvSpPr>
          <p:cNvPr id="109" name="Rectangle 104">
            <a:extLst>
              <a:ext uri="{FF2B5EF4-FFF2-40B4-BE49-F238E27FC236}">
                <a16:creationId xmlns:a16="http://schemas.microsoft.com/office/drawing/2014/main" id="{52F7136F-CCEF-4368-98AF-19E45610712E}"/>
              </a:ext>
            </a:extLst>
          </p:cNvPr>
          <p:cNvSpPr/>
          <p:nvPr/>
        </p:nvSpPr>
        <p:spPr>
          <a:xfrm>
            <a:off x="9491471" y="222690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0" name="TextBox 105">
            <a:extLst>
              <a:ext uri="{FF2B5EF4-FFF2-40B4-BE49-F238E27FC236}">
                <a16:creationId xmlns:a16="http://schemas.microsoft.com/office/drawing/2014/main" id="{AEBF2A03-61EE-40E2-BC9B-5AFD4E3CC79B}"/>
              </a:ext>
            </a:extLst>
          </p:cNvPr>
          <p:cNvSpPr txBox="1"/>
          <p:nvPr/>
        </p:nvSpPr>
        <p:spPr>
          <a:xfrm>
            <a:off x="9518903" y="2245192"/>
            <a:ext cx="566928" cy="253916"/>
          </a:xfrm>
          <a:prstGeom prst="rect">
            <a:avLst/>
          </a:prstGeom>
          <a:noFill/>
        </p:spPr>
        <p:txBody>
          <a:bodyPr wrap="square">
            <a:spAutoFit/>
          </a:bodyPr>
          <a:lstStyle/>
          <a:p>
            <a:pPr algn="ctr"/>
            <a:r>
              <a:rPr sz="1050" b="0">
                <a:latin typeface="Calibri"/>
              </a:rPr>
              <a:t>+19.56</a:t>
            </a:r>
          </a:p>
        </p:txBody>
      </p:sp>
      <p:sp>
        <p:nvSpPr>
          <p:cNvPr id="111" name="Rectangle 106">
            <a:extLst>
              <a:ext uri="{FF2B5EF4-FFF2-40B4-BE49-F238E27FC236}">
                <a16:creationId xmlns:a16="http://schemas.microsoft.com/office/drawing/2014/main" id="{D186920E-43A0-4B44-B101-35BBC8E7A7A5}"/>
              </a:ext>
            </a:extLst>
          </p:cNvPr>
          <p:cNvSpPr/>
          <p:nvPr/>
        </p:nvSpPr>
        <p:spPr>
          <a:xfrm>
            <a:off x="10113263" y="222690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2" name="TextBox 107">
            <a:extLst>
              <a:ext uri="{FF2B5EF4-FFF2-40B4-BE49-F238E27FC236}">
                <a16:creationId xmlns:a16="http://schemas.microsoft.com/office/drawing/2014/main" id="{7829F9FB-4799-4997-A613-8A39C2878AE5}"/>
              </a:ext>
            </a:extLst>
          </p:cNvPr>
          <p:cNvSpPr txBox="1"/>
          <p:nvPr/>
        </p:nvSpPr>
        <p:spPr>
          <a:xfrm>
            <a:off x="10140695" y="2245192"/>
            <a:ext cx="630936" cy="253916"/>
          </a:xfrm>
          <a:prstGeom prst="rect">
            <a:avLst/>
          </a:prstGeom>
          <a:noFill/>
        </p:spPr>
        <p:txBody>
          <a:bodyPr wrap="square">
            <a:spAutoFit/>
          </a:bodyPr>
          <a:lstStyle/>
          <a:p>
            <a:pPr algn="ctr"/>
            <a:r>
              <a:rPr sz="1050" b="0">
                <a:latin typeface="Calibri"/>
              </a:rPr>
              <a:t>383.3</a:t>
            </a:r>
          </a:p>
        </p:txBody>
      </p:sp>
      <p:sp>
        <p:nvSpPr>
          <p:cNvPr id="113" name="Rectangle 108">
            <a:extLst>
              <a:ext uri="{FF2B5EF4-FFF2-40B4-BE49-F238E27FC236}">
                <a16:creationId xmlns:a16="http://schemas.microsoft.com/office/drawing/2014/main" id="{1D36B59F-1975-42B5-BB2C-49E6C4E98C66}"/>
              </a:ext>
            </a:extLst>
          </p:cNvPr>
          <p:cNvSpPr/>
          <p:nvPr/>
        </p:nvSpPr>
        <p:spPr>
          <a:xfrm>
            <a:off x="10799063" y="222690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4" name="TextBox 109">
            <a:extLst>
              <a:ext uri="{FF2B5EF4-FFF2-40B4-BE49-F238E27FC236}">
                <a16:creationId xmlns:a16="http://schemas.microsoft.com/office/drawing/2014/main" id="{29D0B821-B5E0-4855-A58F-A30FF93B6327}"/>
              </a:ext>
            </a:extLst>
          </p:cNvPr>
          <p:cNvSpPr txBox="1"/>
          <p:nvPr/>
        </p:nvSpPr>
        <p:spPr>
          <a:xfrm>
            <a:off x="10826495" y="2245192"/>
            <a:ext cx="585215" cy="253916"/>
          </a:xfrm>
          <a:prstGeom prst="rect">
            <a:avLst/>
          </a:prstGeom>
          <a:noFill/>
        </p:spPr>
        <p:txBody>
          <a:bodyPr wrap="square">
            <a:spAutoFit/>
          </a:bodyPr>
          <a:lstStyle/>
          <a:p>
            <a:pPr algn="ctr"/>
            <a:r>
              <a:rPr sz="1050" b="0">
                <a:latin typeface="Calibri"/>
              </a:rPr>
              <a:t>0.080</a:t>
            </a:r>
          </a:p>
        </p:txBody>
      </p:sp>
      <p:sp>
        <p:nvSpPr>
          <p:cNvPr id="115" name="Rectangle 110">
            <a:extLst>
              <a:ext uri="{FF2B5EF4-FFF2-40B4-BE49-F238E27FC236}">
                <a16:creationId xmlns:a16="http://schemas.microsoft.com/office/drawing/2014/main" id="{A40D261A-8772-4BD8-B743-8FAD7A347C2B}"/>
              </a:ext>
            </a:extLst>
          </p:cNvPr>
          <p:cNvSpPr/>
          <p:nvPr/>
        </p:nvSpPr>
        <p:spPr>
          <a:xfrm>
            <a:off x="4645152" y="267267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6" name="TextBox 111">
            <a:extLst>
              <a:ext uri="{FF2B5EF4-FFF2-40B4-BE49-F238E27FC236}">
                <a16:creationId xmlns:a16="http://schemas.microsoft.com/office/drawing/2014/main" id="{EE58B76E-7BAD-4455-B411-155F1C61B477}"/>
              </a:ext>
            </a:extLst>
          </p:cNvPr>
          <p:cNvSpPr txBox="1"/>
          <p:nvPr/>
        </p:nvSpPr>
        <p:spPr>
          <a:xfrm>
            <a:off x="4672584" y="2690962"/>
            <a:ext cx="329184" cy="253916"/>
          </a:xfrm>
          <a:prstGeom prst="rect">
            <a:avLst/>
          </a:prstGeom>
          <a:noFill/>
        </p:spPr>
        <p:txBody>
          <a:bodyPr wrap="square">
            <a:spAutoFit/>
          </a:bodyPr>
          <a:lstStyle/>
          <a:p>
            <a:pPr algn="ctr"/>
            <a:r>
              <a:rPr lang="es-MX" sz="1050" b="0" dirty="0">
                <a:latin typeface="Calibri"/>
              </a:rPr>
              <a:t>3</a:t>
            </a:r>
            <a:endParaRPr sz="1050" b="0" dirty="0">
              <a:latin typeface="Calibri"/>
            </a:endParaRPr>
          </a:p>
        </p:txBody>
      </p:sp>
      <p:sp>
        <p:nvSpPr>
          <p:cNvPr id="117" name="Rectangle 112">
            <a:extLst>
              <a:ext uri="{FF2B5EF4-FFF2-40B4-BE49-F238E27FC236}">
                <a16:creationId xmlns:a16="http://schemas.microsoft.com/office/drawing/2014/main" id="{CA22CB62-EAB7-4C22-AB34-3EE6A621AC91}"/>
              </a:ext>
            </a:extLst>
          </p:cNvPr>
          <p:cNvSpPr/>
          <p:nvPr/>
        </p:nvSpPr>
        <p:spPr>
          <a:xfrm>
            <a:off x="5029200" y="267267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8" name="TextBox 113">
            <a:extLst>
              <a:ext uri="{FF2B5EF4-FFF2-40B4-BE49-F238E27FC236}">
                <a16:creationId xmlns:a16="http://schemas.microsoft.com/office/drawing/2014/main" id="{7A096583-90E3-4988-8669-51E277889AB5}"/>
              </a:ext>
            </a:extLst>
          </p:cNvPr>
          <p:cNvSpPr txBox="1"/>
          <p:nvPr/>
        </p:nvSpPr>
        <p:spPr>
          <a:xfrm>
            <a:off x="5056632" y="2690962"/>
            <a:ext cx="512064" cy="253916"/>
          </a:xfrm>
          <a:prstGeom prst="rect">
            <a:avLst/>
          </a:prstGeom>
          <a:noFill/>
        </p:spPr>
        <p:txBody>
          <a:bodyPr wrap="square">
            <a:spAutoFit/>
          </a:bodyPr>
          <a:lstStyle/>
          <a:p>
            <a:pPr algn="ctr"/>
            <a:r>
              <a:rPr sz="1050" b="0">
                <a:latin typeface="Calibri"/>
              </a:rPr>
              <a:t>t=0.7</a:t>
            </a:r>
          </a:p>
        </p:txBody>
      </p:sp>
      <p:sp>
        <p:nvSpPr>
          <p:cNvPr id="119" name="Rectangle 114">
            <a:extLst>
              <a:ext uri="{FF2B5EF4-FFF2-40B4-BE49-F238E27FC236}">
                <a16:creationId xmlns:a16="http://schemas.microsoft.com/office/drawing/2014/main" id="{3112A443-8BDC-4855-9231-831CD3E8916C}"/>
              </a:ext>
            </a:extLst>
          </p:cNvPr>
          <p:cNvSpPr/>
          <p:nvPr/>
        </p:nvSpPr>
        <p:spPr>
          <a:xfrm>
            <a:off x="5596128" y="267267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0" name="TextBox 115">
            <a:extLst>
              <a:ext uri="{FF2B5EF4-FFF2-40B4-BE49-F238E27FC236}">
                <a16:creationId xmlns:a16="http://schemas.microsoft.com/office/drawing/2014/main" id="{2D4C87F1-3EB8-4902-BE8D-CB850595F534}"/>
              </a:ext>
            </a:extLst>
          </p:cNvPr>
          <p:cNvSpPr txBox="1"/>
          <p:nvPr/>
        </p:nvSpPr>
        <p:spPr>
          <a:xfrm>
            <a:off x="5623560" y="2690962"/>
            <a:ext cx="402336" cy="253916"/>
          </a:xfrm>
          <a:prstGeom prst="rect">
            <a:avLst/>
          </a:prstGeom>
          <a:noFill/>
        </p:spPr>
        <p:txBody>
          <a:bodyPr wrap="square">
            <a:spAutoFit/>
          </a:bodyPr>
          <a:lstStyle/>
          <a:p>
            <a:pPr algn="ctr"/>
            <a:r>
              <a:rPr sz="1050" b="1">
                <a:latin typeface="Calibri"/>
              </a:rPr>
              <a:t>&gt;0</a:t>
            </a:r>
          </a:p>
        </p:txBody>
      </p:sp>
      <p:sp>
        <p:nvSpPr>
          <p:cNvPr id="121" name="Rectangle 116">
            <a:extLst>
              <a:ext uri="{FF2B5EF4-FFF2-40B4-BE49-F238E27FC236}">
                <a16:creationId xmlns:a16="http://schemas.microsoft.com/office/drawing/2014/main" id="{76D5A5FD-29D8-4D41-AD66-9942DF6FDE57}"/>
              </a:ext>
            </a:extLst>
          </p:cNvPr>
          <p:cNvSpPr/>
          <p:nvPr/>
        </p:nvSpPr>
        <p:spPr>
          <a:xfrm>
            <a:off x="6053328" y="267267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2" name="TextBox 117">
            <a:extLst>
              <a:ext uri="{FF2B5EF4-FFF2-40B4-BE49-F238E27FC236}">
                <a16:creationId xmlns:a16="http://schemas.microsoft.com/office/drawing/2014/main" id="{9FE4EF8A-919E-4AC1-9D88-2025CF75CC0F}"/>
              </a:ext>
            </a:extLst>
          </p:cNvPr>
          <p:cNvSpPr txBox="1"/>
          <p:nvPr/>
        </p:nvSpPr>
        <p:spPr>
          <a:xfrm>
            <a:off x="6080760" y="2690962"/>
            <a:ext cx="402336" cy="253916"/>
          </a:xfrm>
          <a:prstGeom prst="rect">
            <a:avLst/>
          </a:prstGeom>
          <a:noFill/>
        </p:spPr>
        <p:txBody>
          <a:bodyPr wrap="square">
            <a:spAutoFit/>
          </a:bodyPr>
          <a:lstStyle/>
          <a:p>
            <a:pPr algn="ctr"/>
            <a:r>
              <a:rPr sz="1050" b="1">
                <a:latin typeface="Calibri"/>
              </a:rPr>
              <a:t>&lt;0</a:t>
            </a:r>
          </a:p>
        </p:txBody>
      </p:sp>
      <p:sp>
        <p:nvSpPr>
          <p:cNvPr id="123" name="Rectangle 118">
            <a:extLst>
              <a:ext uri="{FF2B5EF4-FFF2-40B4-BE49-F238E27FC236}">
                <a16:creationId xmlns:a16="http://schemas.microsoft.com/office/drawing/2014/main" id="{982F6B27-21F1-46DD-A9E9-D063A06B982B}"/>
              </a:ext>
            </a:extLst>
          </p:cNvPr>
          <p:cNvSpPr/>
          <p:nvPr/>
        </p:nvSpPr>
        <p:spPr>
          <a:xfrm>
            <a:off x="6510528" y="2672674"/>
            <a:ext cx="438912" cy="445770"/>
          </a:xfrm>
          <a:prstGeom prst="rect">
            <a:avLst/>
          </a:prstGeom>
          <a:solidFill>
            <a:srgbClr val="FCEBE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4" name="TextBox 119">
            <a:extLst>
              <a:ext uri="{FF2B5EF4-FFF2-40B4-BE49-F238E27FC236}">
                <a16:creationId xmlns:a16="http://schemas.microsoft.com/office/drawing/2014/main" id="{B1224BA0-D53F-4D46-B811-1F2FE5C04F7D}"/>
              </a:ext>
            </a:extLst>
          </p:cNvPr>
          <p:cNvSpPr txBox="1"/>
          <p:nvPr/>
        </p:nvSpPr>
        <p:spPr>
          <a:xfrm>
            <a:off x="6537960" y="2690962"/>
            <a:ext cx="384048" cy="253916"/>
          </a:xfrm>
          <a:prstGeom prst="rect">
            <a:avLst/>
          </a:prstGeom>
          <a:noFill/>
        </p:spPr>
        <p:txBody>
          <a:bodyPr wrap="square">
            <a:spAutoFit/>
          </a:bodyPr>
          <a:lstStyle/>
          <a:p>
            <a:pPr algn="ctr"/>
            <a:r>
              <a:rPr sz="1050" b="1">
                <a:latin typeface="Calibri"/>
              </a:rPr>
              <a:t>4°</a:t>
            </a:r>
          </a:p>
        </p:txBody>
      </p:sp>
      <p:sp>
        <p:nvSpPr>
          <p:cNvPr id="125" name="Rectangle 120">
            <a:extLst>
              <a:ext uri="{FF2B5EF4-FFF2-40B4-BE49-F238E27FC236}">
                <a16:creationId xmlns:a16="http://schemas.microsoft.com/office/drawing/2014/main" id="{F509B930-6E14-4EC1-AE70-9ED8110FF50A}"/>
              </a:ext>
            </a:extLst>
          </p:cNvPr>
          <p:cNvSpPr/>
          <p:nvPr/>
        </p:nvSpPr>
        <p:spPr>
          <a:xfrm>
            <a:off x="6949440" y="267267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6" name="TextBox 121">
            <a:extLst>
              <a:ext uri="{FF2B5EF4-FFF2-40B4-BE49-F238E27FC236}">
                <a16:creationId xmlns:a16="http://schemas.microsoft.com/office/drawing/2014/main" id="{A15A9758-5D26-4FEA-B3B1-B206F3233D5D}"/>
              </a:ext>
            </a:extLst>
          </p:cNvPr>
          <p:cNvSpPr txBox="1"/>
          <p:nvPr/>
        </p:nvSpPr>
        <p:spPr>
          <a:xfrm>
            <a:off x="6976871" y="2690962"/>
            <a:ext cx="1938528" cy="253916"/>
          </a:xfrm>
          <a:prstGeom prst="rect">
            <a:avLst/>
          </a:prstGeom>
          <a:noFill/>
        </p:spPr>
        <p:txBody>
          <a:bodyPr wrap="square">
            <a:spAutoFit/>
          </a:bodyPr>
          <a:lstStyle/>
          <a:p>
            <a:pPr algn="ctr"/>
            <a:r>
              <a:rPr sz="1050" b="0">
                <a:latin typeface="Calibri"/>
              </a:rPr>
              <a:t>Fren. regen. directo</a:t>
            </a:r>
          </a:p>
        </p:txBody>
      </p:sp>
      <p:sp>
        <p:nvSpPr>
          <p:cNvPr id="127" name="Rectangle 122">
            <a:extLst>
              <a:ext uri="{FF2B5EF4-FFF2-40B4-BE49-F238E27FC236}">
                <a16:creationId xmlns:a16="http://schemas.microsoft.com/office/drawing/2014/main" id="{DA15BB15-1D0F-4795-BE59-DF8845CBC9AB}"/>
              </a:ext>
            </a:extLst>
          </p:cNvPr>
          <p:cNvSpPr/>
          <p:nvPr/>
        </p:nvSpPr>
        <p:spPr>
          <a:xfrm>
            <a:off x="8942832" y="267267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8" name="TextBox 123">
            <a:extLst>
              <a:ext uri="{FF2B5EF4-FFF2-40B4-BE49-F238E27FC236}">
                <a16:creationId xmlns:a16="http://schemas.microsoft.com/office/drawing/2014/main" id="{467E39AB-8863-4472-A0F8-26B6ACD67BCF}"/>
              </a:ext>
            </a:extLst>
          </p:cNvPr>
          <p:cNvSpPr txBox="1"/>
          <p:nvPr/>
        </p:nvSpPr>
        <p:spPr>
          <a:xfrm>
            <a:off x="8970263" y="2690962"/>
            <a:ext cx="493776" cy="253916"/>
          </a:xfrm>
          <a:prstGeom prst="rect">
            <a:avLst/>
          </a:prstGeom>
          <a:noFill/>
        </p:spPr>
        <p:txBody>
          <a:bodyPr wrap="square">
            <a:spAutoFit/>
          </a:bodyPr>
          <a:lstStyle/>
          <a:p>
            <a:pPr algn="ctr"/>
            <a:r>
              <a:rPr sz="1050" b="0">
                <a:latin typeface="Calibri"/>
              </a:rPr>
              <a:t>−5</a:t>
            </a:r>
          </a:p>
        </p:txBody>
      </p:sp>
      <p:sp>
        <p:nvSpPr>
          <p:cNvPr id="129" name="Rectangle 124">
            <a:extLst>
              <a:ext uri="{FF2B5EF4-FFF2-40B4-BE49-F238E27FC236}">
                <a16:creationId xmlns:a16="http://schemas.microsoft.com/office/drawing/2014/main" id="{32BFE1EA-425B-401C-87F8-AFB2535B67A6}"/>
              </a:ext>
            </a:extLst>
          </p:cNvPr>
          <p:cNvSpPr/>
          <p:nvPr/>
        </p:nvSpPr>
        <p:spPr>
          <a:xfrm>
            <a:off x="9491471" y="267267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0" name="TextBox 125">
            <a:extLst>
              <a:ext uri="{FF2B5EF4-FFF2-40B4-BE49-F238E27FC236}">
                <a16:creationId xmlns:a16="http://schemas.microsoft.com/office/drawing/2014/main" id="{6BDDD9E8-3481-44EF-94DC-8EED59ED0D4D}"/>
              </a:ext>
            </a:extLst>
          </p:cNvPr>
          <p:cNvSpPr txBox="1"/>
          <p:nvPr/>
        </p:nvSpPr>
        <p:spPr>
          <a:xfrm>
            <a:off x="9518903" y="2690962"/>
            <a:ext cx="566928" cy="253916"/>
          </a:xfrm>
          <a:prstGeom prst="rect">
            <a:avLst/>
          </a:prstGeom>
          <a:noFill/>
        </p:spPr>
        <p:txBody>
          <a:bodyPr wrap="square">
            <a:spAutoFit/>
          </a:bodyPr>
          <a:lstStyle/>
          <a:p>
            <a:pPr algn="ctr"/>
            <a:r>
              <a:rPr sz="1050" b="0">
                <a:latin typeface="Calibri"/>
              </a:rPr>
              <a:t>0</a:t>
            </a:r>
          </a:p>
        </p:txBody>
      </p:sp>
      <p:sp>
        <p:nvSpPr>
          <p:cNvPr id="131" name="Rectangle 126">
            <a:extLst>
              <a:ext uri="{FF2B5EF4-FFF2-40B4-BE49-F238E27FC236}">
                <a16:creationId xmlns:a16="http://schemas.microsoft.com/office/drawing/2014/main" id="{5DF5F9B4-C93B-4F73-8C85-B21FB8DB9131}"/>
              </a:ext>
            </a:extLst>
          </p:cNvPr>
          <p:cNvSpPr/>
          <p:nvPr/>
        </p:nvSpPr>
        <p:spPr>
          <a:xfrm>
            <a:off x="10113263" y="267267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2" name="TextBox 127">
            <a:extLst>
              <a:ext uri="{FF2B5EF4-FFF2-40B4-BE49-F238E27FC236}">
                <a16:creationId xmlns:a16="http://schemas.microsoft.com/office/drawing/2014/main" id="{2C97A107-43EC-4CAB-B37F-22A4C1A97900}"/>
              </a:ext>
            </a:extLst>
          </p:cNvPr>
          <p:cNvSpPr txBox="1"/>
          <p:nvPr/>
        </p:nvSpPr>
        <p:spPr>
          <a:xfrm>
            <a:off x="10140695" y="2690962"/>
            <a:ext cx="630936" cy="253916"/>
          </a:xfrm>
          <a:prstGeom prst="rect">
            <a:avLst/>
          </a:prstGeom>
          <a:noFill/>
        </p:spPr>
        <p:txBody>
          <a:bodyPr wrap="square">
            <a:spAutoFit/>
          </a:bodyPr>
          <a:lstStyle/>
          <a:p>
            <a:pPr algn="ctr"/>
            <a:r>
              <a:rPr sz="1050" b="0">
                <a:latin typeface="Calibri"/>
              </a:rPr>
              <a:t>416.1</a:t>
            </a:r>
          </a:p>
        </p:txBody>
      </p:sp>
      <p:sp>
        <p:nvSpPr>
          <p:cNvPr id="133" name="Rectangle 128">
            <a:extLst>
              <a:ext uri="{FF2B5EF4-FFF2-40B4-BE49-F238E27FC236}">
                <a16:creationId xmlns:a16="http://schemas.microsoft.com/office/drawing/2014/main" id="{1B12C80B-E4A3-4297-8D57-36652320A6E7}"/>
              </a:ext>
            </a:extLst>
          </p:cNvPr>
          <p:cNvSpPr/>
          <p:nvPr/>
        </p:nvSpPr>
        <p:spPr>
          <a:xfrm>
            <a:off x="10799063" y="267267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4" name="TextBox 129">
            <a:extLst>
              <a:ext uri="{FF2B5EF4-FFF2-40B4-BE49-F238E27FC236}">
                <a16:creationId xmlns:a16="http://schemas.microsoft.com/office/drawing/2014/main" id="{0D5041BA-C37A-4D01-AAF8-AD5F4FC0E0F4}"/>
              </a:ext>
            </a:extLst>
          </p:cNvPr>
          <p:cNvSpPr txBox="1"/>
          <p:nvPr/>
        </p:nvSpPr>
        <p:spPr>
          <a:xfrm>
            <a:off x="10826495" y="2690962"/>
            <a:ext cx="585215" cy="253916"/>
          </a:xfrm>
          <a:prstGeom prst="rect">
            <a:avLst/>
          </a:prstGeom>
          <a:noFill/>
        </p:spPr>
        <p:txBody>
          <a:bodyPr wrap="square">
            <a:spAutoFit/>
          </a:bodyPr>
          <a:lstStyle/>
          <a:p>
            <a:pPr algn="ctr"/>
            <a:r>
              <a:rPr sz="1050" b="0">
                <a:latin typeface="Calibri"/>
              </a:rPr>
              <a:t>−0.024</a:t>
            </a:r>
          </a:p>
        </p:txBody>
      </p:sp>
      <p:sp>
        <p:nvSpPr>
          <p:cNvPr id="135" name="Rectangle 130">
            <a:extLst>
              <a:ext uri="{FF2B5EF4-FFF2-40B4-BE49-F238E27FC236}">
                <a16:creationId xmlns:a16="http://schemas.microsoft.com/office/drawing/2014/main" id="{1F524BCF-8D52-4D77-97B2-02425A8F84F9}"/>
              </a:ext>
            </a:extLst>
          </p:cNvPr>
          <p:cNvSpPr/>
          <p:nvPr/>
        </p:nvSpPr>
        <p:spPr>
          <a:xfrm>
            <a:off x="4645152" y="311844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6" name="TextBox 131">
            <a:extLst>
              <a:ext uri="{FF2B5EF4-FFF2-40B4-BE49-F238E27FC236}">
                <a16:creationId xmlns:a16="http://schemas.microsoft.com/office/drawing/2014/main" id="{0D209761-71BE-40AD-AFCD-CD64A92DC3FF}"/>
              </a:ext>
            </a:extLst>
          </p:cNvPr>
          <p:cNvSpPr txBox="1"/>
          <p:nvPr/>
        </p:nvSpPr>
        <p:spPr>
          <a:xfrm>
            <a:off x="4672584" y="3136731"/>
            <a:ext cx="329184" cy="253916"/>
          </a:xfrm>
          <a:prstGeom prst="rect">
            <a:avLst/>
          </a:prstGeom>
          <a:noFill/>
        </p:spPr>
        <p:txBody>
          <a:bodyPr wrap="square">
            <a:spAutoFit/>
          </a:bodyPr>
          <a:lstStyle/>
          <a:p>
            <a:pPr algn="ctr"/>
            <a:r>
              <a:rPr lang="es-MX" sz="1050" b="0" dirty="0">
                <a:latin typeface="Calibri"/>
              </a:rPr>
              <a:t>4</a:t>
            </a:r>
            <a:endParaRPr sz="1050" b="0" dirty="0">
              <a:latin typeface="Calibri"/>
            </a:endParaRPr>
          </a:p>
        </p:txBody>
      </p:sp>
      <p:sp>
        <p:nvSpPr>
          <p:cNvPr id="137" name="Rectangle 132">
            <a:extLst>
              <a:ext uri="{FF2B5EF4-FFF2-40B4-BE49-F238E27FC236}">
                <a16:creationId xmlns:a16="http://schemas.microsoft.com/office/drawing/2014/main" id="{571E19D6-0613-4ED7-B5D8-DA16D3ECA32C}"/>
              </a:ext>
            </a:extLst>
          </p:cNvPr>
          <p:cNvSpPr/>
          <p:nvPr/>
        </p:nvSpPr>
        <p:spPr>
          <a:xfrm>
            <a:off x="5029200" y="311844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8" name="TextBox 133">
            <a:extLst>
              <a:ext uri="{FF2B5EF4-FFF2-40B4-BE49-F238E27FC236}">
                <a16:creationId xmlns:a16="http://schemas.microsoft.com/office/drawing/2014/main" id="{4419194B-9E75-44DD-92A3-9C73E518763D}"/>
              </a:ext>
            </a:extLst>
          </p:cNvPr>
          <p:cNvSpPr txBox="1"/>
          <p:nvPr/>
        </p:nvSpPr>
        <p:spPr>
          <a:xfrm>
            <a:off x="5056632" y="3136731"/>
            <a:ext cx="512064" cy="253916"/>
          </a:xfrm>
          <a:prstGeom prst="rect">
            <a:avLst/>
          </a:prstGeom>
          <a:noFill/>
        </p:spPr>
        <p:txBody>
          <a:bodyPr wrap="square">
            <a:spAutoFit/>
          </a:bodyPr>
          <a:lstStyle/>
          <a:p>
            <a:pPr algn="ctr"/>
            <a:r>
              <a:rPr sz="1050" b="0">
                <a:latin typeface="Calibri"/>
              </a:rPr>
              <a:t>t=0.9</a:t>
            </a:r>
          </a:p>
        </p:txBody>
      </p:sp>
      <p:sp>
        <p:nvSpPr>
          <p:cNvPr id="139" name="Rectangle 134">
            <a:extLst>
              <a:ext uri="{FF2B5EF4-FFF2-40B4-BE49-F238E27FC236}">
                <a16:creationId xmlns:a16="http://schemas.microsoft.com/office/drawing/2014/main" id="{FD785D6F-E921-4ADE-8A1C-2D520E5FBBB0}"/>
              </a:ext>
            </a:extLst>
          </p:cNvPr>
          <p:cNvSpPr/>
          <p:nvPr/>
        </p:nvSpPr>
        <p:spPr>
          <a:xfrm>
            <a:off x="5596128" y="311844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0" name="TextBox 135">
            <a:extLst>
              <a:ext uri="{FF2B5EF4-FFF2-40B4-BE49-F238E27FC236}">
                <a16:creationId xmlns:a16="http://schemas.microsoft.com/office/drawing/2014/main" id="{215F7554-F788-4801-8D85-C2CC1965621B}"/>
              </a:ext>
            </a:extLst>
          </p:cNvPr>
          <p:cNvSpPr txBox="1"/>
          <p:nvPr/>
        </p:nvSpPr>
        <p:spPr>
          <a:xfrm>
            <a:off x="5623560" y="3136731"/>
            <a:ext cx="402336" cy="253916"/>
          </a:xfrm>
          <a:prstGeom prst="rect">
            <a:avLst/>
          </a:prstGeom>
          <a:noFill/>
        </p:spPr>
        <p:txBody>
          <a:bodyPr wrap="square">
            <a:spAutoFit/>
          </a:bodyPr>
          <a:lstStyle/>
          <a:p>
            <a:pPr algn="ctr"/>
            <a:r>
              <a:rPr sz="1050" b="1">
                <a:latin typeface="Calibri"/>
              </a:rPr>
              <a:t>&gt;0</a:t>
            </a:r>
          </a:p>
        </p:txBody>
      </p:sp>
      <p:sp>
        <p:nvSpPr>
          <p:cNvPr id="141" name="Rectangle 136">
            <a:extLst>
              <a:ext uri="{FF2B5EF4-FFF2-40B4-BE49-F238E27FC236}">
                <a16:creationId xmlns:a16="http://schemas.microsoft.com/office/drawing/2014/main" id="{F642E7F0-D71E-42EE-86F0-6C7FC941A472}"/>
              </a:ext>
            </a:extLst>
          </p:cNvPr>
          <p:cNvSpPr/>
          <p:nvPr/>
        </p:nvSpPr>
        <p:spPr>
          <a:xfrm>
            <a:off x="6053328" y="311844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2" name="TextBox 137">
            <a:extLst>
              <a:ext uri="{FF2B5EF4-FFF2-40B4-BE49-F238E27FC236}">
                <a16:creationId xmlns:a16="http://schemas.microsoft.com/office/drawing/2014/main" id="{B4642AB7-49EC-4123-B448-79030109B733}"/>
              </a:ext>
            </a:extLst>
          </p:cNvPr>
          <p:cNvSpPr txBox="1"/>
          <p:nvPr/>
        </p:nvSpPr>
        <p:spPr>
          <a:xfrm>
            <a:off x="6080760" y="3136731"/>
            <a:ext cx="402336" cy="253916"/>
          </a:xfrm>
          <a:prstGeom prst="rect">
            <a:avLst/>
          </a:prstGeom>
          <a:noFill/>
        </p:spPr>
        <p:txBody>
          <a:bodyPr wrap="square">
            <a:spAutoFit/>
          </a:bodyPr>
          <a:lstStyle/>
          <a:p>
            <a:pPr algn="ctr"/>
            <a:r>
              <a:rPr sz="1050" b="1">
                <a:latin typeface="Calibri"/>
              </a:rPr>
              <a:t>&lt;0</a:t>
            </a:r>
          </a:p>
        </p:txBody>
      </p:sp>
      <p:sp>
        <p:nvSpPr>
          <p:cNvPr id="143" name="Rectangle 138">
            <a:extLst>
              <a:ext uri="{FF2B5EF4-FFF2-40B4-BE49-F238E27FC236}">
                <a16:creationId xmlns:a16="http://schemas.microsoft.com/office/drawing/2014/main" id="{5FEF1E74-2359-450E-A631-89524E8F6D77}"/>
              </a:ext>
            </a:extLst>
          </p:cNvPr>
          <p:cNvSpPr/>
          <p:nvPr/>
        </p:nvSpPr>
        <p:spPr>
          <a:xfrm>
            <a:off x="6510528" y="3118444"/>
            <a:ext cx="438912" cy="445770"/>
          </a:xfrm>
          <a:prstGeom prst="rect">
            <a:avLst/>
          </a:prstGeom>
          <a:solidFill>
            <a:srgbClr val="FCEBE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4" name="TextBox 139">
            <a:extLst>
              <a:ext uri="{FF2B5EF4-FFF2-40B4-BE49-F238E27FC236}">
                <a16:creationId xmlns:a16="http://schemas.microsoft.com/office/drawing/2014/main" id="{DD18FAE6-3A91-4637-9A55-5046DD301A23}"/>
              </a:ext>
            </a:extLst>
          </p:cNvPr>
          <p:cNvSpPr txBox="1"/>
          <p:nvPr/>
        </p:nvSpPr>
        <p:spPr>
          <a:xfrm>
            <a:off x="6537960" y="3136731"/>
            <a:ext cx="384048" cy="253916"/>
          </a:xfrm>
          <a:prstGeom prst="rect">
            <a:avLst/>
          </a:prstGeom>
          <a:noFill/>
        </p:spPr>
        <p:txBody>
          <a:bodyPr wrap="square">
            <a:spAutoFit/>
          </a:bodyPr>
          <a:lstStyle/>
          <a:p>
            <a:pPr algn="ctr"/>
            <a:r>
              <a:rPr sz="1050" b="1">
                <a:latin typeface="Calibri"/>
              </a:rPr>
              <a:t>4°</a:t>
            </a:r>
          </a:p>
        </p:txBody>
      </p:sp>
      <p:sp>
        <p:nvSpPr>
          <p:cNvPr id="145" name="Rectangle 140">
            <a:extLst>
              <a:ext uri="{FF2B5EF4-FFF2-40B4-BE49-F238E27FC236}">
                <a16:creationId xmlns:a16="http://schemas.microsoft.com/office/drawing/2014/main" id="{CFBA278C-E4AC-45FD-B9F1-40DAB7773245}"/>
              </a:ext>
            </a:extLst>
          </p:cNvPr>
          <p:cNvSpPr/>
          <p:nvPr/>
        </p:nvSpPr>
        <p:spPr>
          <a:xfrm>
            <a:off x="6949440" y="311844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6" name="TextBox 141">
            <a:extLst>
              <a:ext uri="{FF2B5EF4-FFF2-40B4-BE49-F238E27FC236}">
                <a16:creationId xmlns:a16="http://schemas.microsoft.com/office/drawing/2014/main" id="{410B48DE-7E9E-483C-88D3-97056969B0BA}"/>
              </a:ext>
            </a:extLst>
          </p:cNvPr>
          <p:cNvSpPr txBox="1"/>
          <p:nvPr/>
        </p:nvSpPr>
        <p:spPr>
          <a:xfrm>
            <a:off x="6976871" y="3136731"/>
            <a:ext cx="1938528" cy="253916"/>
          </a:xfrm>
          <a:prstGeom prst="rect">
            <a:avLst/>
          </a:prstGeom>
          <a:noFill/>
        </p:spPr>
        <p:txBody>
          <a:bodyPr wrap="square">
            <a:spAutoFit/>
          </a:bodyPr>
          <a:lstStyle/>
          <a:p>
            <a:pPr algn="ctr"/>
            <a:r>
              <a:rPr sz="1050" b="0" dirty="0" err="1">
                <a:latin typeface="Calibri"/>
              </a:rPr>
              <a:t>Fren</a:t>
            </a:r>
            <a:r>
              <a:rPr sz="1050" b="0" dirty="0">
                <a:latin typeface="Calibri"/>
              </a:rPr>
              <a:t>. regen. </a:t>
            </a:r>
            <a:r>
              <a:rPr sz="1050" b="0" dirty="0" err="1">
                <a:latin typeface="Calibri"/>
              </a:rPr>
              <a:t>dir</a:t>
            </a:r>
            <a:r>
              <a:rPr lang="es-MX" sz="1050" dirty="0" err="1">
                <a:latin typeface="Calibri"/>
              </a:rPr>
              <a:t>ecto</a:t>
            </a:r>
            <a:endParaRPr sz="1050" b="0" dirty="0">
              <a:latin typeface="Calibri"/>
            </a:endParaRPr>
          </a:p>
        </p:txBody>
      </p:sp>
      <p:sp>
        <p:nvSpPr>
          <p:cNvPr id="147" name="Rectangle 142">
            <a:extLst>
              <a:ext uri="{FF2B5EF4-FFF2-40B4-BE49-F238E27FC236}">
                <a16:creationId xmlns:a16="http://schemas.microsoft.com/office/drawing/2014/main" id="{CA22792A-F0D1-457D-AF79-0A0F38D570EE}"/>
              </a:ext>
            </a:extLst>
          </p:cNvPr>
          <p:cNvSpPr/>
          <p:nvPr/>
        </p:nvSpPr>
        <p:spPr>
          <a:xfrm>
            <a:off x="8942832" y="311844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8" name="TextBox 143">
            <a:extLst>
              <a:ext uri="{FF2B5EF4-FFF2-40B4-BE49-F238E27FC236}">
                <a16:creationId xmlns:a16="http://schemas.microsoft.com/office/drawing/2014/main" id="{C450D91C-C394-456B-8D8D-F2FCEF2D426F}"/>
              </a:ext>
            </a:extLst>
          </p:cNvPr>
          <p:cNvSpPr txBox="1"/>
          <p:nvPr/>
        </p:nvSpPr>
        <p:spPr>
          <a:xfrm>
            <a:off x="8970263" y="3136731"/>
            <a:ext cx="493776" cy="253916"/>
          </a:xfrm>
          <a:prstGeom prst="rect">
            <a:avLst/>
          </a:prstGeom>
          <a:noFill/>
        </p:spPr>
        <p:txBody>
          <a:bodyPr wrap="square">
            <a:spAutoFit/>
          </a:bodyPr>
          <a:lstStyle/>
          <a:p>
            <a:pPr algn="ctr"/>
            <a:r>
              <a:rPr sz="1050" b="0">
                <a:latin typeface="Calibri"/>
              </a:rPr>
              <a:t>0</a:t>
            </a:r>
          </a:p>
        </p:txBody>
      </p:sp>
      <p:sp>
        <p:nvSpPr>
          <p:cNvPr id="149" name="Rectangle 144">
            <a:extLst>
              <a:ext uri="{FF2B5EF4-FFF2-40B4-BE49-F238E27FC236}">
                <a16:creationId xmlns:a16="http://schemas.microsoft.com/office/drawing/2014/main" id="{B77395DC-0DCF-4FD9-81D2-CB2010A36036}"/>
              </a:ext>
            </a:extLst>
          </p:cNvPr>
          <p:cNvSpPr/>
          <p:nvPr/>
        </p:nvSpPr>
        <p:spPr>
          <a:xfrm>
            <a:off x="9491471" y="311844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0" name="TextBox 145">
            <a:extLst>
              <a:ext uri="{FF2B5EF4-FFF2-40B4-BE49-F238E27FC236}">
                <a16:creationId xmlns:a16="http://schemas.microsoft.com/office/drawing/2014/main" id="{EB16DB44-6389-4601-B09A-7EBC385F88FD}"/>
              </a:ext>
            </a:extLst>
          </p:cNvPr>
          <p:cNvSpPr txBox="1"/>
          <p:nvPr/>
        </p:nvSpPr>
        <p:spPr>
          <a:xfrm>
            <a:off x="9518903" y="3136731"/>
            <a:ext cx="566928" cy="253916"/>
          </a:xfrm>
          <a:prstGeom prst="rect">
            <a:avLst/>
          </a:prstGeom>
          <a:noFill/>
        </p:spPr>
        <p:txBody>
          <a:bodyPr wrap="square">
            <a:spAutoFit/>
          </a:bodyPr>
          <a:lstStyle/>
          <a:p>
            <a:pPr algn="ctr"/>
            <a:r>
              <a:rPr sz="1050" b="0">
                <a:latin typeface="Calibri"/>
              </a:rPr>
              <a:t>0</a:t>
            </a:r>
          </a:p>
        </p:txBody>
      </p:sp>
      <p:sp>
        <p:nvSpPr>
          <p:cNvPr id="151" name="Rectangle 146">
            <a:extLst>
              <a:ext uri="{FF2B5EF4-FFF2-40B4-BE49-F238E27FC236}">
                <a16:creationId xmlns:a16="http://schemas.microsoft.com/office/drawing/2014/main" id="{3A0C0203-AA88-477F-A8F5-3316AA314233}"/>
              </a:ext>
            </a:extLst>
          </p:cNvPr>
          <p:cNvSpPr/>
          <p:nvPr/>
        </p:nvSpPr>
        <p:spPr>
          <a:xfrm>
            <a:off x="10113263" y="311844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2" name="TextBox 147">
            <a:extLst>
              <a:ext uri="{FF2B5EF4-FFF2-40B4-BE49-F238E27FC236}">
                <a16:creationId xmlns:a16="http://schemas.microsoft.com/office/drawing/2014/main" id="{D643D5DB-47A9-448E-954F-71F6C2A58DE1}"/>
              </a:ext>
            </a:extLst>
          </p:cNvPr>
          <p:cNvSpPr txBox="1"/>
          <p:nvPr/>
        </p:nvSpPr>
        <p:spPr>
          <a:xfrm>
            <a:off x="10140695" y="3136731"/>
            <a:ext cx="630936" cy="253916"/>
          </a:xfrm>
          <a:prstGeom prst="rect">
            <a:avLst/>
          </a:prstGeom>
          <a:noFill/>
        </p:spPr>
        <p:txBody>
          <a:bodyPr wrap="square">
            <a:spAutoFit/>
          </a:bodyPr>
          <a:lstStyle/>
          <a:p>
            <a:pPr algn="ctr"/>
            <a:r>
              <a:rPr sz="1050" b="0">
                <a:latin typeface="Calibri"/>
              </a:rPr>
              <a:t>9.34</a:t>
            </a:r>
          </a:p>
        </p:txBody>
      </p:sp>
      <p:sp>
        <p:nvSpPr>
          <p:cNvPr id="153" name="Rectangle 148">
            <a:extLst>
              <a:ext uri="{FF2B5EF4-FFF2-40B4-BE49-F238E27FC236}">
                <a16:creationId xmlns:a16="http://schemas.microsoft.com/office/drawing/2014/main" id="{DD2EEB9B-165B-4ED1-A13E-46EC0FE20238}"/>
              </a:ext>
            </a:extLst>
          </p:cNvPr>
          <p:cNvSpPr/>
          <p:nvPr/>
        </p:nvSpPr>
        <p:spPr>
          <a:xfrm>
            <a:off x="10799063" y="311844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4" name="TextBox 149">
            <a:extLst>
              <a:ext uri="{FF2B5EF4-FFF2-40B4-BE49-F238E27FC236}">
                <a16:creationId xmlns:a16="http://schemas.microsoft.com/office/drawing/2014/main" id="{6D6B423A-86AA-4516-849B-5E7AE0E6A862}"/>
              </a:ext>
            </a:extLst>
          </p:cNvPr>
          <p:cNvSpPr txBox="1"/>
          <p:nvPr/>
        </p:nvSpPr>
        <p:spPr>
          <a:xfrm>
            <a:off x="10826495" y="3136731"/>
            <a:ext cx="585215" cy="253916"/>
          </a:xfrm>
          <a:prstGeom prst="rect">
            <a:avLst/>
          </a:prstGeom>
          <a:noFill/>
        </p:spPr>
        <p:txBody>
          <a:bodyPr wrap="square">
            <a:spAutoFit/>
          </a:bodyPr>
          <a:lstStyle/>
          <a:p>
            <a:pPr algn="ctr"/>
            <a:r>
              <a:rPr sz="1050" b="0">
                <a:latin typeface="Calibri"/>
              </a:rPr>
              <a:t>−0.033</a:t>
            </a:r>
          </a:p>
        </p:txBody>
      </p:sp>
      <p:sp>
        <p:nvSpPr>
          <p:cNvPr id="155" name="Rectangle 150">
            <a:extLst>
              <a:ext uri="{FF2B5EF4-FFF2-40B4-BE49-F238E27FC236}">
                <a16:creationId xmlns:a16="http://schemas.microsoft.com/office/drawing/2014/main" id="{BDB18933-395C-4D72-9F14-4DF1F639DE67}"/>
              </a:ext>
            </a:extLst>
          </p:cNvPr>
          <p:cNvSpPr/>
          <p:nvPr/>
        </p:nvSpPr>
        <p:spPr>
          <a:xfrm>
            <a:off x="4645152" y="356421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6" name="TextBox 151">
            <a:extLst>
              <a:ext uri="{FF2B5EF4-FFF2-40B4-BE49-F238E27FC236}">
                <a16:creationId xmlns:a16="http://schemas.microsoft.com/office/drawing/2014/main" id="{2DF01C31-C8EA-4188-A619-94BD40786CF3}"/>
              </a:ext>
            </a:extLst>
          </p:cNvPr>
          <p:cNvSpPr txBox="1"/>
          <p:nvPr/>
        </p:nvSpPr>
        <p:spPr>
          <a:xfrm>
            <a:off x="4672584" y="3582502"/>
            <a:ext cx="329184" cy="253916"/>
          </a:xfrm>
          <a:prstGeom prst="rect">
            <a:avLst/>
          </a:prstGeom>
          <a:noFill/>
        </p:spPr>
        <p:txBody>
          <a:bodyPr wrap="square">
            <a:spAutoFit/>
          </a:bodyPr>
          <a:lstStyle/>
          <a:p>
            <a:pPr algn="ctr"/>
            <a:r>
              <a:rPr lang="es-MX" sz="1050" b="0" dirty="0">
                <a:latin typeface="Calibri"/>
              </a:rPr>
              <a:t>5</a:t>
            </a:r>
            <a:endParaRPr sz="1050" b="0" dirty="0">
              <a:latin typeface="Calibri"/>
            </a:endParaRPr>
          </a:p>
        </p:txBody>
      </p:sp>
      <p:sp>
        <p:nvSpPr>
          <p:cNvPr id="157" name="Rectangle 152">
            <a:extLst>
              <a:ext uri="{FF2B5EF4-FFF2-40B4-BE49-F238E27FC236}">
                <a16:creationId xmlns:a16="http://schemas.microsoft.com/office/drawing/2014/main" id="{2A4D0B98-B6FC-42F5-8584-FC82D710EA54}"/>
              </a:ext>
            </a:extLst>
          </p:cNvPr>
          <p:cNvSpPr/>
          <p:nvPr/>
        </p:nvSpPr>
        <p:spPr>
          <a:xfrm>
            <a:off x="5029200" y="356421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8" name="TextBox 153">
            <a:extLst>
              <a:ext uri="{FF2B5EF4-FFF2-40B4-BE49-F238E27FC236}">
                <a16:creationId xmlns:a16="http://schemas.microsoft.com/office/drawing/2014/main" id="{416C01B0-1127-4740-B9AF-407989C64D3A}"/>
              </a:ext>
            </a:extLst>
          </p:cNvPr>
          <p:cNvSpPr txBox="1"/>
          <p:nvPr/>
        </p:nvSpPr>
        <p:spPr>
          <a:xfrm>
            <a:off x="5056632" y="3582502"/>
            <a:ext cx="512064" cy="253916"/>
          </a:xfrm>
          <a:prstGeom prst="rect">
            <a:avLst/>
          </a:prstGeom>
          <a:noFill/>
        </p:spPr>
        <p:txBody>
          <a:bodyPr wrap="square">
            <a:spAutoFit/>
          </a:bodyPr>
          <a:lstStyle/>
          <a:p>
            <a:pPr algn="ctr"/>
            <a:r>
              <a:rPr sz="1050" b="0">
                <a:latin typeface="Calibri"/>
              </a:rPr>
              <a:t>t=1.1</a:t>
            </a:r>
          </a:p>
        </p:txBody>
      </p:sp>
      <p:sp>
        <p:nvSpPr>
          <p:cNvPr id="159" name="Rectangle 154">
            <a:extLst>
              <a:ext uri="{FF2B5EF4-FFF2-40B4-BE49-F238E27FC236}">
                <a16:creationId xmlns:a16="http://schemas.microsoft.com/office/drawing/2014/main" id="{5B917172-2E89-4CD2-90DE-082D31542FEA}"/>
              </a:ext>
            </a:extLst>
          </p:cNvPr>
          <p:cNvSpPr/>
          <p:nvPr/>
        </p:nvSpPr>
        <p:spPr>
          <a:xfrm>
            <a:off x="5596128" y="356421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0" name="TextBox 155">
            <a:extLst>
              <a:ext uri="{FF2B5EF4-FFF2-40B4-BE49-F238E27FC236}">
                <a16:creationId xmlns:a16="http://schemas.microsoft.com/office/drawing/2014/main" id="{ABA713CE-9C0D-495B-8369-76F44336B198}"/>
              </a:ext>
            </a:extLst>
          </p:cNvPr>
          <p:cNvSpPr txBox="1"/>
          <p:nvPr/>
        </p:nvSpPr>
        <p:spPr>
          <a:xfrm>
            <a:off x="5623560" y="3582502"/>
            <a:ext cx="402336" cy="253916"/>
          </a:xfrm>
          <a:prstGeom prst="rect">
            <a:avLst/>
          </a:prstGeom>
          <a:noFill/>
        </p:spPr>
        <p:txBody>
          <a:bodyPr wrap="square">
            <a:spAutoFit/>
          </a:bodyPr>
          <a:lstStyle/>
          <a:p>
            <a:pPr algn="ctr"/>
            <a:r>
              <a:rPr sz="1050" b="1">
                <a:latin typeface="Calibri"/>
              </a:rPr>
              <a:t>&lt;0</a:t>
            </a:r>
          </a:p>
        </p:txBody>
      </p:sp>
      <p:sp>
        <p:nvSpPr>
          <p:cNvPr id="161" name="Rectangle 156">
            <a:extLst>
              <a:ext uri="{FF2B5EF4-FFF2-40B4-BE49-F238E27FC236}">
                <a16:creationId xmlns:a16="http://schemas.microsoft.com/office/drawing/2014/main" id="{3C73334E-E01F-41A5-8322-4D4BEC3C3C41}"/>
              </a:ext>
            </a:extLst>
          </p:cNvPr>
          <p:cNvSpPr/>
          <p:nvPr/>
        </p:nvSpPr>
        <p:spPr>
          <a:xfrm>
            <a:off x="6053328" y="356421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2" name="TextBox 157">
            <a:extLst>
              <a:ext uri="{FF2B5EF4-FFF2-40B4-BE49-F238E27FC236}">
                <a16:creationId xmlns:a16="http://schemas.microsoft.com/office/drawing/2014/main" id="{6F615FEA-9AC0-464D-B1B0-561B75A75C03}"/>
              </a:ext>
            </a:extLst>
          </p:cNvPr>
          <p:cNvSpPr txBox="1"/>
          <p:nvPr/>
        </p:nvSpPr>
        <p:spPr>
          <a:xfrm>
            <a:off x="6080760" y="3582502"/>
            <a:ext cx="402336" cy="253916"/>
          </a:xfrm>
          <a:prstGeom prst="rect">
            <a:avLst/>
          </a:prstGeom>
          <a:noFill/>
        </p:spPr>
        <p:txBody>
          <a:bodyPr wrap="square">
            <a:spAutoFit/>
          </a:bodyPr>
          <a:lstStyle/>
          <a:p>
            <a:pPr algn="ctr"/>
            <a:r>
              <a:rPr sz="1050" b="1">
                <a:latin typeface="Calibri"/>
              </a:rPr>
              <a:t>&gt;0</a:t>
            </a:r>
          </a:p>
        </p:txBody>
      </p:sp>
      <p:sp>
        <p:nvSpPr>
          <p:cNvPr id="163" name="Rectangle 158">
            <a:extLst>
              <a:ext uri="{FF2B5EF4-FFF2-40B4-BE49-F238E27FC236}">
                <a16:creationId xmlns:a16="http://schemas.microsoft.com/office/drawing/2014/main" id="{DDE52AAB-A194-4205-904E-992CD5D2D6D3}"/>
              </a:ext>
            </a:extLst>
          </p:cNvPr>
          <p:cNvSpPr/>
          <p:nvPr/>
        </p:nvSpPr>
        <p:spPr>
          <a:xfrm>
            <a:off x="6510528" y="3564214"/>
            <a:ext cx="438912" cy="445770"/>
          </a:xfrm>
          <a:prstGeom prst="rect">
            <a:avLst/>
          </a:prstGeom>
          <a:solidFill>
            <a:srgbClr val="E6F1F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4" name="TextBox 159">
            <a:extLst>
              <a:ext uri="{FF2B5EF4-FFF2-40B4-BE49-F238E27FC236}">
                <a16:creationId xmlns:a16="http://schemas.microsoft.com/office/drawing/2014/main" id="{ED93CA1D-3FE9-400C-BC0A-110CA994AEC9}"/>
              </a:ext>
            </a:extLst>
          </p:cNvPr>
          <p:cNvSpPr txBox="1"/>
          <p:nvPr/>
        </p:nvSpPr>
        <p:spPr>
          <a:xfrm>
            <a:off x="6537960" y="3582502"/>
            <a:ext cx="384048" cy="253916"/>
          </a:xfrm>
          <a:prstGeom prst="rect">
            <a:avLst/>
          </a:prstGeom>
          <a:noFill/>
        </p:spPr>
        <p:txBody>
          <a:bodyPr wrap="square">
            <a:spAutoFit/>
          </a:bodyPr>
          <a:lstStyle/>
          <a:p>
            <a:pPr algn="ctr"/>
            <a:r>
              <a:rPr sz="1050" b="1">
                <a:latin typeface="Calibri"/>
              </a:rPr>
              <a:t>2°</a:t>
            </a:r>
          </a:p>
        </p:txBody>
      </p:sp>
      <p:sp>
        <p:nvSpPr>
          <p:cNvPr id="165" name="Rectangle 160">
            <a:extLst>
              <a:ext uri="{FF2B5EF4-FFF2-40B4-BE49-F238E27FC236}">
                <a16:creationId xmlns:a16="http://schemas.microsoft.com/office/drawing/2014/main" id="{3D6A0829-8EB9-4ACB-BB17-9F018E75F3BE}"/>
              </a:ext>
            </a:extLst>
          </p:cNvPr>
          <p:cNvSpPr/>
          <p:nvPr/>
        </p:nvSpPr>
        <p:spPr>
          <a:xfrm>
            <a:off x="6949440" y="356421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6" name="TextBox 161">
            <a:extLst>
              <a:ext uri="{FF2B5EF4-FFF2-40B4-BE49-F238E27FC236}">
                <a16:creationId xmlns:a16="http://schemas.microsoft.com/office/drawing/2014/main" id="{8F6EE09A-C7BD-43BB-A8DD-679EFB1D042A}"/>
              </a:ext>
            </a:extLst>
          </p:cNvPr>
          <p:cNvSpPr txBox="1"/>
          <p:nvPr/>
        </p:nvSpPr>
        <p:spPr>
          <a:xfrm>
            <a:off x="6976871" y="3582502"/>
            <a:ext cx="1938528" cy="253916"/>
          </a:xfrm>
          <a:prstGeom prst="rect">
            <a:avLst/>
          </a:prstGeom>
          <a:noFill/>
        </p:spPr>
        <p:txBody>
          <a:bodyPr wrap="square">
            <a:spAutoFit/>
          </a:bodyPr>
          <a:lstStyle/>
          <a:p>
            <a:pPr algn="ctr"/>
            <a:r>
              <a:rPr sz="1050" b="0">
                <a:latin typeface="Calibri"/>
              </a:rPr>
              <a:t>Fren. regen. inverso</a:t>
            </a:r>
          </a:p>
        </p:txBody>
      </p:sp>
      <p:sp>
        <p:nvSpPr>
          <p:cNvPr id="167" name="Rectangle 162">
            <a:extLst>
              <a:ext uri="{FF2B5EF4-FFF2-40B4-BE49-F238E27FC236}">
                <a16:creationId xmlns:a16="http://schemas.microsoft.com/office/drawing/2014/main" id="{14D750B5-AACF-4AE1-8E57-F852E32BC26C}"/>
              </a:ext>
            </a:extLst>
          </p:cNvPr>
          <p:cNvSpPr/>
          <p:nvPr/>
        </p:nvSpPr>
        <p:spPr>
          <a:xfrm>
            <a:off x="8942832" y="356421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8" name="TextBox 163">
            <a:extLst>
              <a:ext uri="{FF2B5EF4-FFF2-40B4-BE49-F238E27FC236}">
                <a16:creationId xmlns:a16="http://schemas.microsoft.com/office/drawing/2014/main" id="{BB517A20-23D5-4775-A8CA-F9CBB2287C3D}"/>
              </a:ext>
            </a:extLst>
          </p:cNvPr>
          <p:cNvSpPr txBox="1"/>
          <p:nvPr/>
        </p:nvSpPr>
        <p:spPr>
          <a:xfrm>
            <a:off x="8970263" y="3582502"/>
            <a:ext cx="493776" cy="253916"/>
          </a:xfrm>
          <a:prstGeom prst="rect">
            <a:avLst/>
          </a:prstGeom>
          <a:noFill/>
        </p:spPr>
        <p:txBody>
          <a:bodyPr wrap="square">
            <a:spAutoFit/>
          </a:bodyPr>
          <a:lstStyle/>
          <a:p>
            <a:pPr algn="ctr"/>
            <a:r>
              <a:rPr sz="1050" b="0">
                <a:latin typeface="Calibri"/>
              </a:rPr>
              <a:t>0</a:t>
            </a:r>
          </a:p>
        </p:txBody>
      </p:sp>
      <p:sp>
        <p:nvSpPr>
          <p:cNvPr id="169" name="Rectangle 164">
            <a:extLst>
              <a:ext uri="{FF2B5EF4-FFF2-40B4-BE49-F238E27FC236}">
                <a16:creationId xmlns:a16="http://schemas.microsoft.com/office/drawing/2014/main" id="{6D51AB6B-9C6F-4163-B0E7-7B89B90D9E72}"/>
              </a:ext>
            </a:extLst>
          </p:cNvPr>
          <p:cNvSpPr/>
          <p:nvPr/>
        </p:nvSpPr>
        <p:spPr>
          <a:xfrm>
            <a:off x="9491471" y="356421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0" name="TextBox 165">
            <a:extLst>
              <a:ext uri="{FF2B5EF4-FFF2-40B4-BE49-F238E27FC236}">
                <a16:creationId xmlns:a16="http://schemas.microsoft.com/office/drawing/2014/main" id="{0CA5077A-D061-4546-B20F-03E395CDE490}"/>
              </a:ext>
            </a:extLst>
          </p:cNvPr>
          <p:cNvSpPr txBox="1"/>
          <p:nvPr/>
        </p:nvSpPr>
        <p:spPr>
          <a:xfrm>
            <a:off x="9518903" y="3582502"/>
            <a:ext cx="566928" cy="253916"/>
          </a:xfrm>
          <a:prstGeom prst="rect">
            <a:avLst/>
          </a:prstGeom>
          <a:noFill/>
        </p:spPr>
        <p:txBody>
          <a:bodyPr wrap="square">
            <a:spAutoFit/>
          </a:bodyPr>
          <a:lstStyle/>
          <a:p>
            <a:pPr algn="ctr"/>
            <a:r>
              <a:rPr sz="1050" b="0">
                <a:latin typeface="Calibri"/>
              </a:rPr>
              <a:t>−19.56</a:t>
            </a:r>
          </a:p>
        </p:txBody>
      </p:sp>
      <p:sp>
        <p:nvSpPr>
          <p:cNvPr id="171" name="Rectangle 166">
            <a:extLst>
              <a:ext uri="{FF2B5EF4-FFF2-40B4-BE49-F238E27FC236}">
                <a16:creationId xmlns:a16="http://schemas.microsoft.com/office/drawing/2014/main" id="{F3B4DE8B-06DF-4639-B9B8-BD58403486AD}"/>
              </a:ext>
            </a:extLst>
          </p:cNvPr>
          <p:cNvSpPr/>
          <p:nvPr/>
        </p:nvSpPr>
        <p:spPr>
          <a:xfrm>
            <a:off x="10113263" y="356421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2" name="TextBox 167">
            <a:extLst>
              <a:ext uri="{FF2B5EF4-FFF2-40B4-BE49-F238E27FC236}">
                <a16:creationId xmlns:a16="http://schemas.microsoft.com/office/drawing/2014/main" id="{0390887C-806D-4A11-B538-AADF92BDDA30}"/>
              </a:ext>
            </a:extLst>
          </p:cNvPr>
          <p:cNvSpPr txBox="1"/>
          <p:nvPr/>
        </p:nvSpPr>
        <p:spPr>
          <a:xfrm>
            <a:off x="10140695" y="3582502"/>
            <a:ext cx="630936" cy="253916"/>
          </a:xfrm>
          <a:prstGeom prst="rect">
            <a:avLst/>
          </a:prstGeom>
          <a:noFill/>
        </p:spPr>
        <p:txBody>
          <a:bodyPr wrap="square">
            <a:spAutoFit/>
          </a:bodyPr>
          <a:lstStyle/>
          <a:p>
            <a:pPr algn="ctr"/>
            <a:r>
              <a:rPr sz="1050" b="0">
                <a:latin typeface="Calibri"/>
              </a:rPr>
              <a:t>−5.93</a:t>
            </a:r>
          </a:p>
        </p:txBody>
      </p:sp>
      <p:sp>
        <p:nvSpPr>
          <p:cNvPr id="173" name="Rectangle 168">
            <a:extLst>
              <a:ext uri="{FF2B5EF4-FFF2-40B4-BE49-F238E27FC236}">
                <a16:creationId xmlns:a16="http://schemas.microsoft.com/office/drawing/2014/main" id="{0AE5243A-B680-4E1F-9B5F-F99618CD75F8}"/>
              </a:ext>
            </a:extLst>
          </p:cNvPr>
          <p:cNvSpPr/>
          <p:nvPr/>
        </p:nvSpPr>
        <p:spPr>
          <a:xfrm>
            <a:off x="10799063" y="356421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4" name="TextBox 169">
            <a:extLst>
              <a:ext uri="{FF2B5EF4-FFF2-40B4-BE49-F238E27FC236}">
                <a16:creationId xmlns:a16="http://schemas.microsoft.com/office/drawing/2014/main" id="{27DBE4DC-FF56-45DD-85BF-CCB894A95239}"/>
              </a:ext>
            </a:extLst>
          </p:cNvPr>
          <p:cNvSpPr txBox="1"/>
          <p:nvPr/>
        </p:nvSpPr>
        <p:spPr>
          <a:xfrm>
            <a:off x="10826495" y="3582502"/>
            <a:ext cx="585215" cy="253916"/>
          </a:xfrm>
          <a:prstGeom prst="rect">
            <a:avLst/>
          </a:prstGeom>
          <a:noFill/>
        </p:spPr>
        <p:txBody>
          <a:bodyPr wrap="square">
            <a:spAutoFit/>
          </a:bodyPr>
          <a:lstStyle/>
          <a:p>
            <a:pPr algn="ctr"/>
            <a:r>
              <a:rPr sz="1050" b="0">
                <a:latin typeface="Calibri"/>
              </a:rPr>
              <a:t>+0.018</a:t>
            </a:r>
          </a:p>
        </p:txBody>
      </p:sp>
      <p:sp>
        <p:nvSpPr>
          <p:cNvPr id="175" name="Rectangle 170">
            <a:extLst>
              <a:ext uri="{FF2B5EF4-FFF2-40B4-BE49-F238E27FC236}">
                <a16:creationId xmlns:a16="http://schemas.microsoft.com/office/drawing/2014/main" id="{A8A21679-5389-42A6-92F3-60084B993D85}"/>
              </a:ext>
            </a:extLst>
          </p:cNvPr>
          <p:cNvSpPr/>
          <p:nvPr/>
        </p:nvSpPr>
        <p:spPr>
          <a:xfrm>
            <a:off x="4645152" y="400998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6" name="TextBox 171">
            <a:extLst>
              <a:ext uri="{FF2B5EF4-FFF2-40B4-BE49-F238E27FC236}">
                <a16:creationId xmlns:a16="http://schemas.microsoft.com/office/drawing/2014/main" id="{9369EBCB-224A-4CF1-BC69-00B66F2D9016}"/>
              </a:ext>
            </a:extLst>
          </p:cNvPr>
          <p:cNvSpPr txBox="1"/>
          <p:nvPr/>
        </p:nvSpPr>
        <p:spPr>
          <a:xfrm>
            <a:off x="4672584" y="4028271"/>
            <a:ext cx="329184" cy="253916"/>
          </a:xfrm>
          <a:prstGeom prst="rect">
            <a:avLst/>
          </a:prstGeom>
          <a:noFill/>
        </p:spPr>
        <p:txBody>
          <a:bodyPr wrap="square">
            <a:spAutoFit/>
          </a:bodyPr>
          <a:lstStyle/>
          <a:p>
            <a:pPr algn="ctr"/>
            <a:r>
              <a:rPr lang="es-MX" sz="1050" b="0" dirty="0">
                <a:latin typeface="Calibri"/>
              </a:rPr>
              <a:t>6</a:t>
            </a:r>
            <a:endParaRPr sz="1050" b="0" dirty="0">
              <a:latin typeface="Calibri"/>
            </a:endParaRPr>
          </a:p>
        </p:txBody>
      </p:sp>
      <p:sp>
        <p:nvSpPr>
          <p:cNvPr id="177" name="Rectangle 172">
            <a:extLst>
              <a:ext uri="{FF2B5EF4-FFF2-40B4-BE49-F238E27FC236}">
                <a16:creationId xmlns:a16="http://schemas.microsoft.com/office/drawing/2014/main" id="{DE538022-83A6-4C40-B539-CA118E48C29D}"/>
              </a:ext>
            </a:extLst>
          </p:cNvPr>
          <p:cNvSpPr/>
          <p:nvPr/>
        </p:nvSpPr>
        <p:spPr>
          <a:xfrm>
            <a:off x="5029200" y="400998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8" name="TextBox 173">
            <a:extLst>
              <a:ext uri="{FF2B5EF4-FFF2-40B4-BE49-F238E27FC236}">
                <a16:creationId xmlns:a16="http://schemas.microsoft.com/office/drawing/2014/main" id="{7DEF721D-218D-4D68-912B-8C4ACC7EE526}"/>
              </a:ext>
            </a:extLst>
          </p:cNvPr>
          <p:cNvSpPr txBox="1"/>
          <p:nvPr/>
        </p:nvSpPr>
        <p:spPr>
          <a:xfrm>
            <a:off x="5056632" y="4028271"/>
            <a:ext cx="512064" cy="253916"/>
          </a:xfrm>
          <a:prstGeom prst="rect">
            <a:avLst/>
          </a:prstGeom>
          <a:noFill/>
        </p:spPr>
        <p:txBody>
          <a:bodyPr wrap="square">
            <a:spAutoFit/>
          </a:bodyPr>
          <a:lstStyle/>
          <a:p>
            <a:pPr algn="ctr"/>
            <a:r>
              <a:rPr sz="1050" b="0">
                <a:latin typeface="Calibri"/>
              </a:rPr>
              <a:t>t=1.3</a:t>
            </a:r>
          </a:p>
        </p:txBody>
      </p:sp>
      <p:sp>
        <p:nvSpPr>
          <p:cNvPr id="179" name="Rectangle 174">
            <a:extLst>
              <a:ext uri="{FF2B5EF4-FFF2-40B4-BE49-F238E27FC236}">
                <a16:creationId xmlns:a16="http://schemas.microsoft.com/office/drawing/2014/main" id="{36C02374-46B2-4807-8A82-45B42F6E4875}"/>
              </a:ext>
            </a:extLst>
          </p:cNvPr>
          <p:cNvSpPr/>
          <p:nvPr/>
        </p:nvSpPr>
        <p:spPr>
          <a:xfrm>
            <a:off x="5596128" y="400998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0" name="TextBox 175">
            <a:extLst>
              <a:ext uri="{FF2B5EF4-FFF2-40B4-BE49-F238E27FC236}">
                <a16:creationId xmlns:a16="http://schemas.microsoft.com/office/drawing/2014/main" id="{785FF807-C488-4099-B66F-5324D624590E}"/>
              </a:ext>
            </a:extLst>
          </p:cNvPr>
          <p:cNvSpPr txBox="1"/>
          <p:nvPr/>
        </p:nvSpPr>
        <p:spPr>
          <a:xfrm>
            <a:off x="5623560" y="4028271"/>
            <a:ext cx="402336" cy="253916"/>
          </a:xfrm>
          <a:prstGeom prst="rect">
            <a:avLst/>
          </a:prstGeom>
          <a:noFill/>
        </p:spPr>
        <p:txBody>
          <a:bodyPr wrap="square">
            <a:spAutoFit/>
          </a:bodyPr>
          <a:lstStyle/>
          <a:p>
            <a:pPr algn="ctr"/>
            <a:r>
              <a:rPr sz="1050" b="1">
                <a:latin typeface="Calibri"/>
              </a:rPr>
              <a:t>&lt;0</a:t>
            </a:r>
          </a:p>
        </p:txBody>
      </p:sp>
      <p:sp>
        <p:nvSpPr>
          <p:cNvPr id="181" name="Rectangle 176">
            <a:extLst>
              <a:ext uri="{FF2B5EF4-FFF2-40B4-BE49-F238E27FC236}">
                <a16:creationId xmlns:a16="http://schemas.microsoft.com/office/drawing/2014/main" id="{479C9206-BCED-4C39-A54B-5DDA13C5B6AE}"/>
              </a:ext>
            </a:extLst>
          </p:cNvPr>
          <p:cNvSpPr/>
          <p:nvPr/>
        </p:nvSpPr>
        <p:spPr>
          <a:xfrm>
            <a:off x="6053328" y="400998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2" name="TextBox 177">
            <a:extLst>
              <a:ext uri="{FF2B5EF4-FFF2-40B4-BE49-F238E27FC236}">
                <a16:creationId xmlns:a16="http://schemas.microsoft.com/office/drawing/2014/main" id="{A4BF0304-2921-4901-B316-905F73CA4F2F}"/>
              </a:ext>
            </a:extLst>
          </p:cNvPr>
          <p:cNvSpPr txBox="1"/>
          <p:nvPr/>
        </p:nvSpPr>
        <p:spPr>
          <a:xfrm>
            <a:off x="6080760" y="4028271"/>
            <a:ext cx="402336" cy="253916"/>
          </a:xfrm>
          <a:prstGeom prst="rect">
            <a:avLst/>
          </a:prstGeom>
          <a:noFill/>
        </p:spPr>
        <p:txBody>
          <a:bodyPr wrap="square">
            <a:spAutoFit/>
          </a:bodyPr>
          <a:lstStyle/>
          <a:p>
            <a:pPr algn="ctr"/>
            <a:r>
              <a:rPr sz="1050" b="1">
                <a:latin typeface="Calibri"/>
              </a:rPr>
              <a:t>&gt;0</a:t>
            </a:r>
          </a:p>
        </p:txBody>
      </p:sp>
      <p:sp>
        <p:nvSpPr>
          <p:cNvPr id="183" name="Rectangle 178">
            <a:extLst>
              <a:ext uri="{FF2B5EF4-FFF2-40B4-BE49-F238E27FC236}">
                <a16:creationId xmlns:a16="http://schemas.microsoft.com/office/drawing/2014/main" id="{581E73B5-9CFC-468C-81BB-C9F82D0FCF09}"/>
              </a:ext>
            </a:extLst>
          </p:cNvPr>
          <p:cNvSpPr/>
          <p:nvPr/>
        </p:nvSpPr>
        <p:spPr>
          <a:xfrm>
            <a:off x="6510528" y="4009984"/>
            <a:ext cx="438912" cy="445770"/>
          </a:xfrm>
          <a:prstGeom prst="rect">
            <a:avLst/>
          </a:prstGeom>
          <a:solidFill>
            <a:srgbClr val="E6F1F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4" name="TextBox 179">
            <a:extLst>
              <a:ext uri="{FF2B5EF4-FFF2-40B4-BE49-F238E27FC236}">
                <a16:creationId xmlns:a16="http://schemas.microsoft.com/office/drawing/2014/main" id="{1A0FB4A7-D25E-4976-B418-459C91998184}"/>
              </a:ext>
            </a:extLst>
          </p:cNvPr>
          <p:cNvSpPr txBox="1"/>
          <p:nvPr/>
        </p:nvSpPr>
        <p:spPr>
          <a:xfrm>
            <a:off x="6537960" y="4028271"/>
            <a:ext cx="384048" cy="253916"/>
          </a:xfrm>
          <a:prstGeom prst="rect">
            <a:avLst/>
          </a:prstGeom>
          <a:noFill/>
        </p:spPr>
        <p:txBody>
          <a:bodyPr wrap="square">
            <a:spAutoFit/>
          </a:bodyPr>
          <a:lstStyle/>
          <a:p>
            <a:pPr algn="ctr"/>
            <a:r>
              <a:rPr sz="1050" b="1">
                <a:latin typeface="Calibri"/>
              </a:rPr>
              <a:t>2°</a:t>
            </a:r>
          </a:p>
        </p:txBody>
      </p:sp>
      <p:sp>
        <p:nvSpPr>
          <p:cNvPr id="185" name="Rectangle 180">
            <a:extLst>
              <a:ext uri="{FF2B5EF4-FFF2-40B4-BE49-F238E27FC236}">
                <a16:creationId xmlns:a16="http://schemas.microsoft.com/office/drawing/2014/main" id="{09B5AB65-AACD-4CFD-A250-F31AC133A962}"/>
              </a:ext>
            </a:extLst>
          </p:cNvPr>
          <p:cNvSpPr/>
          <p:nvPr/>
        </p:nvSpPr>
        <p:spPr>
          <a:xfrm>
            <a:off x="6949440" y="400998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6" name="TextBox 181">
            <a:extLst>
              <a:ext uri="{FF2B5EF4-FFF2-40B4-BE49-F238E27FC236}">
                <a16:creationId xmlns:a16="http://schemas.microsoft.com/office/drawing/2014/main" id="{F9619DA9-66D8-4222-8EEA-B60E5C2BCDC9}"/>
              </a:ext>
            </a:extLst>
          </p:cNvPr>
          <p:cNvSpPr txBox="1"/>
          <p:nvPr/>
        </p:nvSpPr>
        <p:spPr>
          <a:xfrm>
            <a:off x="6976871" y="4028271"/>
            <a:ext cx="1938528" cy="253916"/>
          </a:xfrm>
          <a:prstGeom prst="rect">
            <a:avLst/>
          </a:prstGeom>
          <a:noFill/>
        </p:spPr>
        <p:txBody>
          <a:bodyPr wrap="square">
            <a:spAutoFit/>
          </a:bodyPr>
          <a:lstStyle/>
          <a:p>
            <a:pPr algn="ctr"/>
            <a:r>
              <a:rPr sz="1050" b="0">
                <a:latin typeface="Calibri"/>
              </a:rPr>
              <a:t>Fren. regen. inv. + carga</a:t>
            </a:r>
          </a:p>
        </p:txBody>
      </p:sp>
      <p:sp>
        <p:nvSpPr>
          <p:cNvPr id="187" name="Rectangle 182">
            <a:extLst>
              <a:ext uri="{FF2B5EF4-FFF2-40B4-BE49-F238E27FC236}">
                <a16:creationId xmlns:a16="http://schemas.microsoft.com/office/drawing/2014/main" id="{9DE61997-076D-4B5A-B5CE-5D523F747A0D}"/>
              </a:ext>
            </a:extLst>
          </p:cNvPr>
          <p:cNvSpPr/>
          <p:nvPr/>
        </p:nvSpPr>
        <p:spPr>
          <a:xfrm>
            <a:off x="8942832" y="400998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8" name="TextBox 183">
            <a:extLst>
              <a:ext uri="{FF2B5EF4-FFF2-40B4-BE49-F238E27FC236}">
                <a16:creationId xmlns:a16="http://schemas.microsoft.com/office/drawing/2014/main" id="{D47497FF-3A02-4907-9109-B213D5A1B074}"/>
              </a:ext>
            </a:extLst>
          </p:cNvPr>
          <p:cNvSpPr txBox="1"/>
          <p:nvPr/>
        </p:nvSpPr>
        <p:spPr>
          <a:xfrm>
            <a:off x="8970263" y="4028271"/>
            <a:ext cx="493776" cy="253916"/>
          </a:xfrm>
          <a:prstGeom prst="rect">
            <a:avLst/>
          </a:prstGeom>
          <a:noFill/>
        </p:spPr>
        <p:txBody>
          <a:bodyPr wrap="square">
            <a:spAutoFit/>
          </a:bodyPr>
          <a:lstStyle/>
          <a:p>
            <a:pPr algn="ctr"/>
            <a:r>
              <a:rPr sz="1050" b="0">
                <a:latin typeface="Calibri"/>
              </a:rPr>
              <a:t>+5</a:t>
            </a:r>
          </a:p>
        </p:txBody>
      </p:sp>
      <p:sp>
        <p:nvSpPr>
          <p:cNvPr id="189" name="Rectangle 184">
            <a:extLst>
              <a:ext uri="{FF2B5EF4-FFF2-40B4-BE49-F238E27FC236}">
                <a16:creationId xmlns:a16="http://schemas.microsoft.com/office/drawing/2014/main" id="{D1EDA066-CCF5-4EA2-9D98-8FE4028EF8AE}"/>
              </a:ext>
            </a:extLst>
          </p:cNvPr>
          <p:cNvSpPr/>
          <p:nvPr/>
        </p:nvSpPr>
        <p:spPr>
          <a:xfrm>
            <a:off x="9491471" y="400998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0" name="TextBox 185">
            <a:extLst>
              <a:ext uri="{FF2B5EF4-FFF2-40B4-BE49-F238E27FC236}">
                <a16:creationId xmlns:a16="http://schemas.microsoft.com/office/drawing/2014/main" id="{8A7B124E-4EF2-465F-85C5-ABA9DF511F18}"/>
              </a:ext>
            </a:extLst>
          </p:cNvPr>
          <p:cNvSpPr txBox="1"/>
          <p:nvPr/>
        </p:nvSpPr>
        <p:spPr>
          <a:xfrm>
            <a:off x="9518903" y="4028271"/>
            <a:ext cx="566928" cy="253916"/>
          </a:xfrm>
          <a:prstGeom prst="rect">
            <a:avLst/>
          </a:prstGeom>
          <a:noFill/>
        </p:spPr>
        <p:txBody>
          <a:bodyPr wrap="square">
            <a:spAutoFit/>
          </a:bodyPr>
          <a:lstStyle/>
          <a:p>
            <a:pPr algn="ctr"/>
            <a:r>
              <a:rPr sz="1050" b="0">
                <a:latin typeface="Calibri"/>
              </a:rPr>
              <a:t>−19.56</a:t>
            </a:r>
          </a:p>
        </p:txBody>
      </p:sp>
      <p:sp>
        <p:nvSpPr>
          <p:cNvPr id="191" name="Rectangle 186">
            <a:extLst>
              <a:ext uri="{FF2B5EF4-FFF2-40B4-BE49-F238E27FC236}">
                <a16:creationId xmlns:a16="http://schemas.microsoft.com/office/drawing/2014/main" id="{82F21082-0D44-4A5A-AD78-22B8AC26C7C6}"/>
              </a:ext>
            </a:extLst>
          </p:cNvPr>
          <p:cNvSpPr/>
          <p:nvPr/>
        </p:nvSpPr>
        <p:spPr>
          <a:xfrm>
            <a:off x="10113263" y="400998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2" name="TextBox 187">
            <a:extLst>
              <a:ext uri="{FF2B5EF4-FFF2-40B4-BE49-F238E27FC236}">
                <a16:creationId xmlns:a16="http://schemas.microsoft.com/office/drawing/2014/main" id="{AED5AD58-E375-4405-A83C-B9DA3228143A}"/>
              </a:ext>
            </a:extLst>
          </p:cNvPr>
          <p:cNvSpPr txBox="1"/>
          <p:nvPr/>
        </p:nvSpPr>
        <p:spPr>
          <a:xfrm>
            <a:off x="10140695" y="4028271"/>
            <a:ext cx="630936" cy="253916"/>
          </a:xfrm>
          <a:prstGeom prst="rect">
            <a:avLst/>
          </a:prstGeom>
          <a:noFill/>
        </p:spPr>
        <p:txBody>
          <a:bodyPr wrap="square">
            <a:spAutoFit/>
          </a:bodyPr>
          <a:lstStyle/>
          <a:p>
            <a:pPr algn="ctr"/>
            <a:r>
              <a:rPr sz="1050" b="0">
                <a:latin typeface="Calibri"/>
              </a:rPr>
              <a:t>−412.2</a:t>
            </a:r>
          </a:p>
        </p:txBody>
      </p:sp>
      <p:sp>
        <p:nvSpPr>
          <p:cNvPr id="193" name="Rectangle 188">
            <a:extLst>
              <a:ext uri="{FF2B5EF4-FFF2-40B4-BE49-F238E27FC236}">
                <a16:creationId xmlns:a16="http://schemas.microsoft.com/office/drawing/2014/main" id="{998AD007-99BE-47CB-933A-B5AE1AD2D0E6}"/>
              </a:ext>
            </a:extLst>
          </p:cNvPr>
          <p:cNvSpPr/>
          <p:nvPr/>
        </p:nvSpPr>
        <p:spPr>
          <a:xfrm>
            <a:off x="10799063" y="400998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4" name="TextBox 189">
            <a:extLst>
              <a:ext uri="{FF2B5EF4-FFF2-40B4-BE49-F238E27FC236}">
                <a16:creationId xmlns:a16="http://schemas.microsoft.com/office/drawing/2014/main" id="{1BF547B1-D6F6-46E3-850E-885C29009AF9}"/>
              </a:ext>
            </a:extLst>
          </p:cNvPr>
          <p:cNvSpPr txBox="1"/>
          <p:nvPr/>
        </p:nvSpPr>
        <p:spPr>
          <a:xfrm>
            <a:off x="10826495" y="4028271"/>
            <a:ext cx="585215" cy="253916"/>
          </a:xfrm>
          <a:prstGeom prst="rect">
            <a:avLst/>
          </a:prstGeom>
          <a:noFill/>
        </p:spPr>
        <p:txBody>
          <a:bodyPr wrap="square">
            <a:spAutoFit/>
          </a:bodyPr>
          <a:lstStyle/>
          <a:p>
            <a:pPr algn="ctr"/>
            <a:r>
              <a:rPr sz="1050" b="0">
                <a:latin typeface="Calibri"/>
              </a:rPr>
              <a:t>+0.011</a:t>
            </a:r>
          </a:p>
        </p:txBody>
      </p:sp>
      <p:sp>
        <p:nvSpPr>
          <p:cNvPr id="195" name="Rectangle 190">
            <a:extLst>
              <a:ext uri="{FF2B5EF4-FFF2-40B4-BE49-F238E27FC236}">
                <a16:creationId xmlns:a16="http://schemas.microsoft.com/office/drawing/2014/main" id="{BEF02F80-DFE3-4FD5-A6E7-FFEB269309E5}"/>
              </a:ext>
            </a:extLst>
          </p:cNvPr>
          <p:cNvSpPr/>
          <p:nvPr/>
        </p:nvSpPr>
        <p:spPr>
          <a:xfrm>
            <a:off x="4645152" y="445575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6" name="TextBox 191">
            <a:extLst>
              <a:ext uri="{FF2B5EF4-FFF2-40B4-BE49-F238E27FC236}">
                <a16:creationId xmlns:a16="http://schemas.microsoft.com/office/drawing/2014/main" id="{6C6E0591-34C7-4B90-921A-BB2C9E3A90D1}"/>
              </a:ext>
            </a:extLst>
          </p:cNvPr>
          <p:cNvSpPr txBox="1"/>
          <p:nvPr/>
        </p:nvSpPr>
        <p:spPr>
          <a:xfrm>
            <a:off x="4672584" y="4474042"/>
            <a:ext cx="329184" cy="253916"/>
          </a:xfrm>
          <a:prstGeom prst="rect">
            <a:avLst/>
          </a:prstGeom>
          <a:noFill/>
        </p:spPr>
        <p:txBody>
          <a:bodyPr wrap="square">
            <a:spAutoFit/>
          </a:bodyPr>
          <a:lstStyle/>
          <a:p>
            <a:pPr algn="ctr"/>
            <a:r>
              <a:rPr lang="es-MX" sz="1050" b="0" dirty="0">
                <a:latin typeface="Calibri"/>
              </a:rPr>
              <a:t>7</a:t>
            </a:r>
            <a:endParaRPr sz="1050" b="0" dirty="0">
              <a:latin typeface="Calibri"/>
            </a:endParaRPr>
          </a:p>
        </p:txBody>
      </p:sp>
      <p:sp>
        <p:nvSpPr>
          <p:cNvPr id="197" name="Rectangle 192">
            <a:extLst>
              <a:ext uri="{FF2B5EF4-FFF2-40B4-BE49-F238E27FC236}">
                <a16:creationId xmlns:a16="http://schemas.microsoft.com/office/drawing/2014/main" id="{25FB9F2D-3EBB-49D9-BA15-A262978EFAFC}"/>
              </a:ext>
            </a:extLst>
          </p:cNvPr>
          <p:cNvSpPr/>
          <p:nvPr/>
        </p:nvSpPr>
        <p:spPr>
          <a:xfrm>
            <a:off x="5029200" y="445575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8" name="TextBox 193">
            <a:extLst>
              <a:ext uri="{FF2B5EF4-FFF2-40B4-BE49-F238E27FC236}">
                <a16:creationId xmlns:a16="http://schemas.microsoft.com/office/drawing/2014/main" id="{BC522173-538C-42FB-A1CB-CF74C1D41AF2}"/>
              </a:ext>
            </a:extLst>
          </p:cNvPr>
          <p:cNvSpPr txBox="1"/>
          <p:nvPr/>
        </p:nvSpPr>
        <p:spPr>
          <a:xfrm>
            <a:off x="5056632" y="4474042"/>
            <a:ext cx="512064" cy="253916"/>
          </a:xfrm>
          <a:prstGeom prst="rect">
            <a:avLst/>
          </a:prstGeom>
          <a:noFill/>
        </p:spPr>
        <p:txBody>
          <a:bodyPr wrap="square">
            <a:spAutoFit/>
          </a:bodyPr>
          <a:lstStyle/>
          <a:p>
            <a:pPr algn="ctr"/>
            <a:r>
              <a:rPr sz="1050" b="0">
                <a:latin typeface="Calibri"/>
              </a:rPr>
              <a:t>t=1.5</a:t>
            </a:r>
          </a:p>
        </p:txBody>
      </p:sp>
      <p:sp>
        <p:nvSpPr>
          <p:cNvPr id="199" name="Rectangle 194">
            <a:extLst>
              <a:ext uri="{FF2B5EF4-FFF2-40B4-BE49-F238E27FC236}">
                <a16:creationId xmlns:a16="http://schemas.microsoft.com/office/drawing/2014/main" id="{044F078A-5F11-4F5F-98EB-D7FD5C46F38B}"/>
              </a:ext>
            </a:extLst>
          </p:cNvPr>
          <p:cNvSpPr/>
          <p:nvPr/>
        </p:nvSpPr>
        <p:spPr>
          <a:xfrm>
            <a:off x="5596128" y="445575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0" name="TextBox 195">
            <a:extLst>
              <a:ext uri="{FF2B5EF4-FFF2-40B4-BE49-F238E27FC236}">
                <a16:creationId xmlns:a16="http://schemas.microsoft.com/office/drawing/2014/main" id="{25EDA075-0933-4459-AB60-928A41779331}"/>
              </a:ext>
            </a:extLst>
          </p:cNvPr>
          <p:cNvSpPr txBox="1"/>
          <p:nvPr/>
        </p:nvSpPr>
        <p:spPr>
          <a:xfrm>
            <a:off x="5623560" y="4474042"/>
            <a:ext cx="402336" cy="253916"/>
          </a:xfrm>
          <a:prstGeom prst="rect">
            <a:avLst/>
          </a:prstGeom>
          <a:noFill/>
        </p:spPr>
        <p:txBody>
          <a:bodyPr wrap="square">
            <a:spAutoFit/>
          </a:bodyPr>
          <a:lstStyle/>
          <a:p>
            <a:pPr algn="ctr"/>
            <a:r>
              <a:rPr sz="1050" b="1">
                <a:latin typeface="Calibri"/>
              </a:rPr>
              <a:t>&lt;0</a:t>
            </a:r>
          </a:p>
        </p:txBody>
      </p:sp>
      <p:sp>
        <p:nvSpPr>
          <p:cNvPr id="201" name="Rectangle 196">
            <a:extLst>
              <a:ext uri="{FF2B5EF4-FFF2-40B4-BE49-F238E27FC236}">
                <a16:creationId xmlns:a16="http://schemas.microsoft.com/office/drawing/2014/main" id="{EB6E2F99-89DE-4CDE-9E46-914EDF68BC4B}"/>
              </a:ext>
            </a:extLst>
          </p:cNvPr>
          <p:cNvSpPr/>
          <p:nvPr/>
        </p:nvSpPr>
        <p:spPr>
          <a:xfrm>
            <a:off x="6053328" y="445575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2" name="TextBox 197">
            <a:extLst>
              <a:ext uri="{FF2B5EF4-FFF2-40B4-BE49-F238E27FC236}">
                <a16:creationId xmlns:a16="http://schemas.microsoft.com/office/drawing/2014/main" id="{FBF08F93-D2DD-43A7-B83B-0C4BE077E801}"/>
              </a:ext>
            </a:extLst>
          </p:cNvPr>
          <p:cNvSpPr txBox="1"/>
          <p:nvPr/>
        </p:nvSpPr>
        <p:spPr>
          <a:xfrm>
            <a:off x="6080760" y="4474042"/>
            <a:ext cx="402336" cy="253916"/>
          </a:xfrm>
          <a:prstGeom prst="rect">
            <a:avLst/>
          </a:prstGeom>
          <a:noFill/>
        </p:spPr>
        <p:txBody>
          <a:bodyPr wrap="square">
            <a:spAutoFit/>
          </a:bodyPr>
          <a:lstStyle/>
          <a:p>
            <a:pPr algn="ctr"/>
            <a:r>
              <a:rPr sz="1050" b="1">
                <a:latin typeface="Calibri"/>
              </a:rPr>
              <a:t>&gt;0</a:t>
            </a:r>
          </a:p>
        </p:txBody>
      </p:sp>
      <p:sp>
        <p:nvSpPr>
          <p:cNvPr id="203" name="Rectangle 198">
            <a:extLst>
              <a:ext uri="{FF2B5EF4-FFF2-40B4-BE49-F238E27FC236}">
                <a16:creationId xmlns:a16="http://schemas.microsoft.com/office/drawing/2014/main" id="{F5496A26-DAA1-4514-97E2-7A4FF616E52A}"/>
              </a:ext>
            </a:extLst>
          </p:cNvPr>
          <p:cNvSpPr/>
          <p:nvPr/>
        </p:nvSpPr>
        <p:spPr>
          <a:xfrm>
            <a:off x="6510528" y="4455754"/>
            <a:ext cx="438912" cy="445770"/>
          </a:xfrm>
          <a:prstGeom prst="rect">
            <a:avLst/>
          </a:prstGeom>
          <a:solidFill>
            <a:srgbClr val="E6F1F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4" name="TextBox 199">
            <a:extLst>
              <a:ext uri="{FF2B5EF4-FFF2-40B4-BE49-F238E27FC236}">
                <a16:creationId xmlns:a16="http://schemas.microsoft.com/office/drawing/2014/main" id="{2BA058F5-1209-4F71-9634-1E44194876D7}"/>
              </a:ext>
            </a:extLst>
          </p:cNvPr>
          <p:cNvSpPr txBox="1"/>
          <p:nvPr/>
        </p:nvSpPr>
        <p:spPr>
          <a:xfrm>
            <a:off x="6537960" y="4474042"/>
            <a:ext cx="384048" cy="253916"/>
          </a:xfrm>
          <a:prstGeom prst="rect">
            <a:avLst/>
          </a:prstGeom>
          <a:noFill/>
        </p:spPr>
        <p:txBody>
          <a:bodyPr wrap="square">
            <a:spAutoFit/>
          </a:bodyPr>
          <a:lstStyle/>
          <a:p>
            <a:pPr algn="ctr"/>
            <a:r>
              <a:rPr sz="1050" b="1">
                <a:latin typeface="Calibri"/>
              </a:rPr>
              <a:t>2°</a:t>
            </a:r>
          </a:p>
        </p:txBody>
      </p:sp>
      <p:sp>
        <p:nvSpPr>
          <p:cNvPr id="205" name="Rectangle 200">
            <a:extLst>
              <a:ext uri="{FF2B5EF4-FFF2-40B4-BE49-F238E27FC236}">
                <a16:creationId xmlns:a16="http://schemas.microsoft.com/office/drawing/2014/main" id="{F8B28F96-9BF4-4B2D-BDE0-C09455D79B88}"/>
              </a:ext>
            </a:extLst>
          </p:cNvPr>
          <p:cNvSpPr/>
          <p:nvPr/>
        </p:nvSpPr>
        <p:spPr>
          <a:xfrm>
            <a:off x="6949440" y="445575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6" name="TextBox 201">
            <a:extLst>
              <a:ext uri="{FF2B5EF4-FFF2-40B4-BE49-F238E27FC236}">
                <a16:creationId xmlns:a16="http://schemas.microsoft.com/office/drawing/2014/main" id="{3E68842F-0A16-49DC-B7B8-6D64BA8A2256}"/>
              </a:ext>
            </a:extLst>
          </p:cNvPr>
          <p:cNvSpPr txBox="1"/>
          <p:nvPr/>
        </p:nvSpPr>
        <p:spPr>
          <a:xfrm>
            <a:off x="6976871" y="4474042"/>
            <a:ext cx="1938528" cy="253916"/>
          </a:xfrm>
          <a:prstGeom prst="rect">
            <a:avLst/>
          </a:prstGeom>
          <a:noFill/>
        </p:spPr>
        <p:txBody>
          <a:bodyPr wrap="square">
            <a:spAutoFit/>
          </a:bodyPr>
          <a:lstStyle/>
          <a:p>
            <a:pPr algn="ctr"/>
            <a:r>
              <a:rPr sz="1050" b="0">
                <a:latin typeface="Calibri"/>
              </a:rPr>
              <a:t>Fren. regen. inverso</a:t>
            </a:r>
          </a:p>
        </p:txBody>
      </p:sp>
      <p:sp>
        <p:nvSpPr>
          <p:cNvPr id="207" name="Rectangle 202">
            <a:extLst>
              <a:ext uri="{FF2B5EF4-FFF2-40B4-BE49-F238E27FC236}">
                <a16:creationId xmlns:a16="http://schemas.microsoft.com/office/drawing/2014/main" id="{0F8A9A11-1642-447D-A9D7-DC74EEE97188}"/>
              </a:ext>
            </a:extLst>
          </p:cNvPr>
          <p:cNvSpPr/>
          <p:nvPr/>
        </p:nvSpPr>
        <p:spPr>
          <a:xfrm>
            <a:off x="8942832" y="445575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8" name="TextBox 203">
            <a:extLst>
              <a:ext uri="{FF2B5EF4-FFF2-40B4-BE49-F238E27FC236}">
                <a16:creationId xmlns:a16="http://schemas.microsoft.com/office/drawing/2014/main" id="{D5074003-1579-4145-A4CC-33E953192DAC}"/>
              </a:ext>
            </a:extLst>
          </p:cNvPr>
          <p:cNvSpPr txBox="1"/>
          <p:nvPr/>
        </p:nvSpPr>
        <p:spPr>
          <a:xfrm>
            <a:off x="8970263" y="4474042"/>
            <a:ext cx="493776" cy="253916"/>
          </a:xfrm>
          <a:prstGeom prst="rect">
            <a:avLst/>
          </a:prstGeom>
          <a:noFill/>
        </p:spPr>
        <p:txBody>
          <a:bodyPr wrap="square">
            <a:spAutoFit/>
          </a:bodyPr>
          <a:lstStyle/>
          <a:p>
            <a:pPr algn="ctr"/>
            <a:r>
              <a:rPr sz="1050" b="0">
                <a:latin typeface="Calibri"/>
              </a:rPr>
              <a:t>−5</a:t>
            </a:r>
          </a:p>
        </p:txBody>
      </p:sp>
      <p:sp>
        <p:nvSpPr>
          <p:cNvPr id="209" name="Rectangle 204">
            <a:extLst>
              <a:ext uri="{FF2B5EF4-FFF2-40B4-BE49-F238E27FC236}">
                <a16:creationId xmlns:a16="http://schemas.microsoft.com/office/drawing/2014/main" id="{B4045F52-E879-4D38-B49C-928035F98F7B}"/>
              </a:ext>
            </a:extLst>
          </p:cNvPr>
          <p:cNvSpPr/>
          <p:nvPr/>
        </p:nvSpPr>
        <p:spPr>
          <a:xfrm>
            <a:off x="9491471" y="445575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0" name="TextBox 205">
            <a:extLst>
              <a:ext uri="{FF2B5EF4-FFF2-40B4-BE49-F238E27FC236}">
                <a16:creationId xmlns:a16="http://schemas.microsoft.com/office/drawing/2014/main" id="{E3C8E6EF-40A1-4E2B-9E41-C305E4318DDE}"/>
              </a:ext>
            </a:extLst>
          </p:cNvPr>
          <p:cNvSpPr txBox="1"/>
          <p:nvPr/>
        </p:nvSpPr>
        <p:spPr>
          <a:xfrm>
            <a:off x="9518903" y="4474042"/>
            <a:ext cx="566928" cy="253916"/>
          </a:xfrm>
          <a:prstGeom prst="rect">
            <a:avLst/>
          </a:prstGeom>
          <a:noFill/>
        </p:spPr>
        <p:txBody>
          <a:bodyPr wrap="square">
            <a:spAutoFit/>
          </a:bodyPr>
          <a:lstStyle/>
          <a:p>
            <a:pPr algn="ctr"/>
            <a:r>
              <a:rPr sz="1050" b="0">
                <a:latin typeface="Calibri"/>
              </a:rPr>
              <a:t>−19.56</a:t>
            </a:r>
          </a:p>
        </p:txBody>
      </p:sp>
      <p:sp>
        <p:nvSpPr>
          <p:cNvPr id="211" name="Rectangle 206">
            <a:extLst>
              <a:ext uri="{FF2B5EF4-FFF2-40B4-BE49-F238E27FC236}">
                <a16:creationId xmlns:a16="http://schemas.microsoft.com/office/drawing/2014/main" id="{63873987-3EA5-4910-B4F8-A22BAF7E335B}"/>
              </a:ext>
            </a:extLst>
          </p:cNvPr>
          <p:cNvSpPr/>
          <p:nvPr/>
        </p:nvSpPr>
        <p:spPr>
          <a:xfrm>
            <a:off x="10113263" y="445575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2" name="TextBox 207">
            <a:extLst>
              <a:ext uri="{FF2B5EF4-FFF2-40B4-BE49-F238E27FC236}">
                <a16:creationId xmlns:a16="http://schemas.microsoft.com/office/drawing/2014/main" id="{666A4DEA-4F55-4E17-BF0E-24DD17A34C1B}"/>
              </a:ext>
            </a:extLst>
          </p:cNvPr>
          <p:cNvSpPr txBox="1"/>
          <p:nvPr/>
        </p:nvSpPr>
        <p:spPr>
          <a:xfrm>
            <a:off x="10140695" y="4474042"/>
            <a:ext cx="630936" cy="253916"/>
          </a:xfrm>
          <a:prstGeom prst="rect">
            <a:avLst/>
          </a:prstGeom>
          <a:noFill/>
        </p:spPr>
        <p:txBody>
          <a:bodyPr wrap="square">
            <a:spAutoFit/>
          </a:bodyPr>
          <a:lstStyle/>
          <a:p>
            <a:pPr algn="ctr"/>
            <a:r>
              <a:rPr sz="1050" b="0">
                <a:latin typeface="Calibri"/>
              </a:rPr>
              <a:t>−425.5</a:t>
            </a:r>
          </a:p>
        </p:txBody>
      </p:sp>
      <p:sp>
        <p:nvSpPr>
          <p:cNvPr id="213" name="Rectangle 208">
            <a:extLst>
              <a:ext uri="{FF2B5EF4-FFF2-40B4-BE49-F238E27FC236}">
                <a16:creationId xmlns:a16="http://schemas.microsoft.com/office/drawing/2014/main" id="{57DB77F4-459A-45EB-BC4F-93018161DF8C}"/>
              </a:ext>
            </a:extLst>
          </p:cNvPr>
          <p:cNvSpPr/>
          <p:nvPr/>
        </p:nvSpPr>
        <p:spPr>
          <a:xfrm>
            <a:off x="10799063" y="445575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4" name="TextBox 209">
            <a:extLst>
              <a:ext uri="{FF2B5EF4-FFF2-40B4-BE49-F238E27FC236}">
                <a16:creationId xmlns:a16="http://schemas.microsoft.com/office/drawing/2014/main" id="{399FFB1B-F0BD-4182-BA10-A253895457B2}"/>
              </a:ext>
            </a:extLst>
          </p:cNvPr>
          <p:cNvSpPr txBox="1"/>
          <p:nvPr/>
        </p:nvSpPr>
        <p:spPr>
          <a:xfrm>
            <a:off x="10826495" y="4474042"/>
            <a:ext cx="585215" cy="253916"/>
          </a:xfrm>
          <a:prstGeom prst="rect">
            <a:avLst/>
          </a:prstGeom>
          <a:noFill/>
        </p:spPr>
        <p:txBody>
          <a:bodyPr wrap="square">
            <a:spAutoFit/>
          </a:bodyPr>
          <a:lstStyle/>
          <a:p>
            <a:pPr algn="ctr"/>
            <a:r>
              <a:rPr sz="1050" b="0">
                <a:latin typeface="Calibri"/>
              </a:rPr>
              <a:t>+0.055</a:t>
            </a:r>
          </a:p>
        </p:txBody>
      </p:sp>
      <p:sp>
        <p:nvSpPr>
          <p:cNvPr id="215" name="Rectangle 210">
            <a:extLst>
              <a:ext uri="{FF2B5EF4-FFF2-40B4-BE49-F238E27FC236}">
                <a16:creationId xmlns:a16="http://schemas.microsoft.com/office/drawing/2014/main" id="{E2126055-5D17-4960-8DCD-6FF651D704FD}"/>
              </a:ext>
            </a:extLst>
          </p:cNvPr>
          <p:cNvSpPr/>
          <p:nvPr/>
        </p:nvSpPr>
        <p:spPr>
          <a:xfrm>
            <a:off x="4645152" y="490152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6" name="TextBox 211">
            <a:extLst>
              <a:ext uri="{FF2B5EF4-FFF2-40B4-BE49-F238E27FC236}">
                <a16:creationId xmlns:a16="http://schemas.microsoft.com/office/drawing/2014/main" id="{F46FA330-A34F-4075-A1DB-154701A4C4B3}"/>
              </a:ext>
            </a:extLst>
          </p:cNvPr>
          <p:cNvSpPr txBox="1"/>
          <p:nvPr/>
        </p:nvSpPr>
        <p:spPr>
          <a:xfrm>
            <a:off x="4672584" y="4919812"/>
            <a:ext cx="329184" cy="253916"/>
          </a:xfrm>
          <a:prstGeom prst="rect">
            <a:avLst/>
          </a:prstGeom>
          <a:noFill/>
        </p:spPr>
        <p:txBody>
          <a:bodyPr wrap="square">
            <a:spAutoFit/>
          </a:bodyPr>
          <a:lstStyle/>
          <a:p>
            <a:pPr algn="ctr"/>
            <a:r>
              <a:rPr lang="es-MX" sz="1050" b="0" dirty="0">
                <a:latin typeface="Calibri"/>
              </a:rPr>
              <a:t>8</a:t>
            </a:r>
            <a:endParaRPr sz="1050" b="0" dirty="0">
              <a:latin typeface="Calibri"/>
            </a:endParaRPr>
          </a:p>
        </p:txBody>
      </p:sp>
      <p:sp>
        <p:nvSpPr>
          <p:cNvPr id="217" name="Rectangle 212">
            <a:extLst>
              <a:ext uri="{FF2B5EF4-FFF2-40B4-BE49-F238E27FC236}">
                <a16:creationId xmlns:a16="http://schemas.microsoft.com/office/drawing/2014/main" id="{99AC1FF2-52DF-4A6D-BE0E-C9A289CF69C5}"/>
              </a:ext>
            </a:extLst>
          </p:cNvPr>
          <p:cNvSpPr/>
          <p:nvPr/>
        </p:nvSpPr>
        <p:spPr>
          <a:xfrm>
            <a:off x="5029200" y="490152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8" name="TextBox 213">
            <a:extLst>
              <a:ext uri="{FF2B5EF4-FFF2-40B4-BE49-F238E27FC236}">
                <a16:creationId xmlns:a16="http://schemas.microsoft.com/office/drawing/2014/main" id="{A464FD12-9094-4839-981A-C64981E72ACA}"/>
              </a:ext>
            </a:extLst>
          </p:cNvPr>
          <p:cNvSpPr txBox="1"/>
          <p:nvPr/>
        </p:nvSpPr>
        <p:spPr>
          <a:xfrm>
            <a:off x="5056632" y="4919812"/>
            <a:ext cx="512064" cy="253916"/>
          </a:xfrm>
          <a:prstGeom prst="rect">
            <a:avLst/>
          </a:prstGeom>
          <a:noFill/>
        </p:spPr>
        <p:txBody>
          <a:bodyPr wrap="square">
            <a:spAutoFit/>
          </a:bodyPr>
          <a:lstStyle/>
          <a:p>
            <a:pPr algn="ctr"/>
            <a:r>
              <a:rPr sz="1050" b="0">
                <a:latin typeface="Calibri"/>
              </a:rPr>
              <a:t>t=1.7</a:t>
            </a:r>
          </a:p>
        </p:txBody>
      </p:sp>
      <p:sp>
        <p:nvSpPr>
          <p:cNvPr id="219" name="Rectangle 214">
            <a:extLst>
              <a:ext uri="{FF2B5EF4-FFF2-40B4-BE49-F238E27FC236}">
                <a16:creationId xmlns:a16="http://schemas.microsoft.com/office/drawing/2014/main" id="{BFB26A3F-F76B-404C-AAD3-77F0AE9544D2}"/>
              </a:ext>
            </a:extLst>
          </p:cNvPr>
          <p:cNvSpPr/>
          <p:nvPr/>
        </p:nvSpPr>
        <p:spPr>
          <a:xfrm>
            <a:off x="5596128" y="490152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0" name="TextBox 215">
            <a:extLst>
              <a:ext uri="{FF2B5EF4-FFF2-40B4-BE49-F238E27FC236}">
                <a16:creationId xmlns:a16="http://schemas.microsoft.com/office/drawing/2014/main" id="{73845F8D-9358-4CF3-BC0C-331A1092591B}"/>
              </a:ext>
            </a:extLst>
          </p:cNvPr>
          <p:cNvSpPr txBox="1"/>
          <p:nvPr/>
        </p:nvSpPr>
        <p:spPr>
          <a:xfrm>
            <a:off x="5623560" y="4919812"/>
            <a:ext cx="402336" cy="253916"/>
          </a:xfrm>
          <a:prstGeom prst="rect">
            <a:avLst/>
          </a:prstGeom>
          <a:noFill/>
        </p:spPr>
        <p:txBody>
          <a:bodyPr wrap="square">
            <a:spAutoFit/>
          </a:bodyPr>
          <a:lstStyle/>
          <a:p>
            <a:pPr algn="ctr"/>
            <a:r>
              <a:rPr sz="1050" b="1">
                <a:latin typeface="Calibri"/>
              </a:rPr>
              <a:t>&lt;0</a:t>
            </a:r>
          </a:p>
        </p:txBody>
      </p:sp>
      <p:sp>
        <p:nvSpPr>
          <p:cNvPr id="221" name="Rectangle 216">
            <a:extLst>
              <a:ext uri="{FF2B5EF4-FFF2-40B4-BE49-F238E27FC236}">
                <a16:creationId xmlns:a16="http://schemas.microsoft.com/office/drawing/2014/main" id="{0BE70357-E37A-4096-BFE9-3C631CC6C226}"/>
              </a:ext>
            </a:extLst>
          </p:cNvPr>
          <p:cNvSpPr/>
          <p:nvPr/>
        </p:nvSpPr>
        <p:spPr>
          <a:xfrm>
            <a:off x="6053328" y="490152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2" name="TextBox 217">
            <a:extLst>
              <a:ext uri="{FF2B5EF4-FFF2-40B4-BE49-F238E27FC236}">
                <a16:creationId xmlns:a16="http://schemas.microsoft.com/office/drawing/2014/main" id="{2E305601-3BED-4931-BFB3-DF4F23EBC5B1}"/>
              </a:ext>
            </a:extLst>
          </p:cNvPr>
          <p:cNvSpPr txBox="1"/>
          <p:nvPr/>
        </p:nvSpPr>
        <p:spPr>
          <a:xfrm>
            <a:off x="6080760" y="4919812"/>
            <a:ext cx="402336" cy="253916"/>
          </a:xfrm>
          <a:prstGeom prst="rect">
            <a:avLst/>
          </a:prstGeom>
          <a:noFill/>
        </p:spPr>
        <p:txBody>
          <a:bodyPr wrap="square">
            <a:spAutoFit/>
          </a:bodyPr>
          <a:lstStyle/>
          <a:p>
            <a:pPr algn="ctr"/>
            <a:r>
              <a:rPr sz="1050" b="1">
                <a:latin typeface="Calibri"/>
              </a:rPr>
              <a:t>&lt;0</a:t>
            </a:r>
          </a:p>
        </p:txBody>
      </p:sp>
      <p:sp>
        <p:nvSpPr>
          <p:cNvPr id="223" name="Rectangle 218">
            <a:extLst>
              <a:ext uri="{FF2B5EF4-FFF2-40B4-BE49-F238E27FC236}">
                <a16:creationId xmlns:a16="http://schemas.microsoft.com/office/drawing/2014/main" id="{F56F689B-6BE5-4246-9F36-6330D09C6653}"/>
              </a:ext>
            </a:extLst>
          </p:cNvPr>
          <p:cNvSpPr/>
          <p:nvPr/>
        </p:nvSpPr>
        <p:spPr>
          <a:xfrm>
            <a:off x="6510528" y="4901524"/>
            <a:ext cx="438912" cy="445770"/>
          </a:xfrm>
          <a:prstGeom prst="rect">
            <a:avLst/>
          </a:prstGeom>
          <a:solidFill>
            <a:srgbClr val="FAEEDA"/>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4" name="TextBox 219">
            <a:extLst>
              <a:ext uri="{FF2B5EF4-FFF2-40B4-BE49-F238E27FC236}">
                <a16:creationId xmlns:a16="http://schemas.microsoft.com/office/drawing/2014/main" id="{78325794-FC7B-45D2-9522-0A94E39B68A5}"/>
              </a:ext>
            </a:extLst>
          </p:cNvPr>
          <p:cNvSpPr txBox="1"/>
          <p:nvPr/>
        </p:nvSpPr>
        <p:spPr>
          <a:xfrm>
            <a:off x="6537960" y="4919812"/>
            <a:ext cx="384048" cy="253916"/>
          </a:xfrm>
          <a:prstGeom prst="rect">
            <a:avLst/>
          </a:prstGeom>
          <a:noFill/>
        </p:spPr>
        <p:txBody>
          <a:bodyPr wrap="square">
            <a:spAutoFit/>
          </a:bodyPr>
          <a:lstStyle/>
          <a:p>
            <a:pPr algn="ctr"/>
            <a:r>
              <a:rPr sz="1050" b="1">
                <a:latin typeface="Calibri"/>
              </a:rPr>
              <a:t>3°</a:t>
            </a:r>
          </a:p>
        </p:txBody>
      </p:sp>
      <p:sp>
        <p:nvSpPr>
          <p:cNvPr id="225" name="Rectangle 220">
            <a:extLst>
              <a:ext uri="{FF2B5EF4-FFF2-40B4-BE49-F238E27FC236}">
                <a16:creationId xmlns:a16="http://schemas.microsoft.com/office/drawing/2014/main" id="{B239A8BA-5E52-44CD-807E-8F48C36FC403}"/>
              </a:ext>
            </a:extLst>
          </p:cNvPr>
          <p:cNvSpPr/>
          <p:nvPr/>
        </p:nvSpPr>
        <p:spPr>
          <a:xfrm>
            <a:off x="6949440" y="490152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6" name="TextBox 221">
            <a:extLst>
              <a:ext uri="{FF2B5EF4-FFF2-40B4-BE49-F238E27FC236}">
                <a16:creationId xmlns:a16="http://schemas.microsoft.com/office/drawing/2014/main" id="{3AE87241-DCF0-4534-8B58-270A2516ED72}"/>
              </a:ext>
            </a:extLst>
          </p:cNvPr>
          <p:cNvSpPr txBox="1"/>
          <p:nvPr/>
        </p:nvSpPr>
        <p:spPr>
          <a:xfrm>
            <a:off x="6976871" y="4919812"/>
            <a:ext cx="1938528" cy="253916"/>
          </a:xfrm>
          <a:prstGeom prst="rect">
            <a:avLst/>
          </a:prstGeom>
          <a:noFill/>
        </p:spPr>
        <p:txBody>
          <a:bodyPr wrap="square">
            <a:spAutoFit/>
          </a:bodyPr>
          <a:lstStyle/>
          <a:p>
            <a:pPr algn="ctr"/>
            <a:r>
              <a:rPr sz="1050" b="0">
                <a:latin typeface="Calibri"/>
              </a:rPr>
              <a:t>Motorización inversa</a:t>
            </a:r>
          </a:p>
        </p:txBody>
      </p:sp>
      <p:sp>
        <p:nvSpPr>
          <p:cNvPr id="227" name="Rectangle 222">
            <a:extLst>
              <a:ext uri="{FF2B5EF4-FFF2-40B4-BE49-F238E27FC236}">
                <a16:creationId xmlns:a16="http://schemas.microsoft.com/office/drawing/2014/main" id="{9F7A1908-9EBB-4C70-8299-C168D64E4A3E}"/>
              </a:ext>
            </a:extLst>
          </p:cNvPr>
          <p:cNvSpPr/>
          <p:nvPr/>
        </p:nvSpPr>
        <p:spPr>
          <a:xfrm>
            <a:off x="8942832" y="490152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8" name="TextBox 223">
            <a:extLst>
              <a:ext uri="{FF2B5EF4-FFF2-40B4-BE49-F238E27FC236}">
                <a16:creationId xmlns:a16="http://schemas.microsoft.com/office/drawing/2014/main" id="{FE1905AF-8DD5-40BA-80AF-FCEAD7BBE767}"/>
              </a:ext>
            </a:extLst>
          </p:cNvPr>
          <p:cNvSpPr txBox="1"/>
          <p:nvPr/>
        </p:nvSpPr>
        <p:spPr>
          <a:xfrm>
            <a:off x="8970263" y="4919812"/>
            <a:ext cx="493776" cy="253916"/>
          </a:xfrm>
          <a:prstGeom prst="rect">
            <a:avLst/>
          </a:prstGeom>
          <a:noFill/>
        </p:spPr>
        <p:txBody>
          <a:bodyPr wrap="square">
            <a:spAutoFit/>
          </a:bodyPr>
          <a:lstStyle/>
          <a:p>
            <a:pPr algn="ctr"/>
            <a:r>
              <a:rPr sz="1050" b="0">
                <a:latin typeface="Calibri"/>
              </a:rPr>
              <a:t>−5</a:t>
            </a:r>
          </a:p>
        </p:txBody>
      </p:sp>
      <p:sp>
        <p:nvSpPr>
          <p:cNvPr id="229" name="Rectangle 224">
            <a:extLst>
              <a:ext uri="{FF2B5EF4-FFF2-40B4-BE49-F238E27FC236}">
                <a16:creationId xmlns:a16="http://schemas.microsoft.com/office/drawing/2014/main" id="{58E2987E-3F8E-4D16-B73B-8301C73F89C9}"/>
              </a:ext>
            </a:extLst>
          </p:cNvPr>
          <p:cNvSpPr/>
          <p:nvPr/>
        </p:nvSpPr>
        <p:spPr>
          <a:xfrm>
            <a:off x="9491471" y="490152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0" name="TextBox 225">
            <a:extLst>
              <a:ext uri="{FF2B5EF4-FFF2-40B4-BE49-F238E27FC236}">
                <a16:creationId xmlns:a16="http://schemas.microsoft.com/office/drawing/2014/main" id="{8BFA233D-65EA-4045-954F-EECEB68983B9}"/>
              </a:ext>
            </a:extLst>
          </p:cNvPr>
          <p:cNvSpPr txBox="1"/>
          <p:nvPr/>
        </p:nvSpPr>
        <p:spPr>
          <a:xfrm>
            <a:off x="9518903" y="4919812"/>
            <a:ext cx="566928" cy="253916"/>
          </a:xfrm>
          <a:prstGeom prst="rect">
            <a:avLst/>
          </a:prstGeom>
          <a:noFill/>
        </p:spPr>
        <p:txBody>
          <a:bodyPr wrap="square">
            <a:spAutoFit/>
          </a:bodyPr>
          <a:lstStyle/>
          <a:p>
            <a:pPr algn="ctr"/>
            <a:r>
              <a:rPr sz="1050" b="0">
                <a:latin typeface="Calibri"/>
              </a:rPr>
              <a:t>0</a:t>
            </a:r>
          </a:p>
        </p:txBody>
      </p:sp>
      <p:sp>
        <p:nvSpPr>
          <p:cNvPr id="231" name="Rectangle 226">
            <a:extLst>
              <a:ext uri="{FF2B5EF4-FFF2-40B4-BE49-F238E27FC236}">
                <a16:creationId xmlns:a16="http://schemas.microsoft.com/office/drawing/2014/main" id="{94A96FE8-51EA-42C2-8353-557D1A1284EF}"/>
              </a:ext>
            </a:extLst>
          </p:cNvPr>
          <p:cNvSpPr/>
          <p:nvPr/>
        </p:nvSpPr>
        <p:spPr>
          <a:xfrm>
            <a:off x="10113263" y="490152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2" name="TextBox 227">
            <a:extLst>
              <a:ext uri="{FF2B5EF4-FFF2-40B4-BE49-F238E27FC236}">
                <a16:creationId xmlns:a16="http://schemas.microsoft.com/office/drawing/2014/main" id="{DFB8B79B-B129-4CAA-864A-CE3BE6D46FF1}"/>
              </a:ext>
            </a:extLst>
          </p:cNvPr>
          <p:cNvSpPr txBox="1"/>
          <p:nvPr/>
        </p:nvSpPr>
        <p:spPr>
          <a:xfrm>
            <a:off x="10140695" y="4919812"/>
            <a:ext cx="630936" cy="253916"/>
          </a:xfrm>
          <a:prstGeom prst="rect">
            <a:avLst/>
          </a:prstGeom>
          <a:noFill/>
        </p:spPr>
        <p:txBody>
          <a:bodyPr wrap="square">
            <a:spAutoFit/>
          </a:bodyPr>
          <a:lstStyle/>
          <a:p>
            <a:pPr algn="ctr"/>
            <a:r>
              <a:rPr sz="1050" b="0">
                <a:latin typeface="Calibri"/>
              </a:rPr>
              <a:t>−388.3</a:t>
            </a:r>
          </a:p>
        </p:txBody>
      </p:sp>
      <p:sp>
        <p:nvSpPr>
          <p:cNvPr id="233" name="Rectangle 228">
            <a:extLst>
              <a:ext uri="{FF2B5EF4-FFF2-40B4-BE49-F238E27FC236}">
                <a16:creationId xmlns:a16="http://schemas.microsoft.com/office/drawing/2014/main" id="{3E001DDA-BBEC-4965-97E6-B42C5FDDA2AF}"/>
              </a:ext>
            </a:extLst>
          </p:cNvPr>
          <p:cNvSpPr/>
          <p:nvPr/>
        </p:nvSpPr>
        <p:spPr>
          <a:xfrm>
            <a:off x="10799063" y="490152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4" name="TextBox 229">
            <a:extLst>
              <a:ext uri="{FF2B5EF4-FFF2-40B4-BE49-F238E27FC236}">
                <a16:creationId xmlns:a16="http://schemas.microsoft.com/office/drawing/2014/main" id="{18D67CFD-24D5-4C09-9CE5-8A8716A1DE7C}"/>
              </a:ext>
            </a:extLst>
          </p:cNvPr>
          <p:cNvSpPr txBox="1"/>
          <p:nvPr/>
        </p:nvSpPr>
        <p:spPr>
          <a:xfrm>
            <a:off x="10826495" y="4919812"/>
            <a:ext cx="585215" cy="253916"/>
          </a:xfrm>
          <a:prstGeom prst="rect">
            <a:avLst/>
          </a:prstGeom>
          <a:noFill/>
        </p:spPr>
        <p:txBody>
          <a:bodyPr wrap="square">
            <a:spAutoFit/>
          </a:bodyPr>
          <a:lstStyle/>
          <a:p>
            <a:pPr algn="ctr"/>
            <a:r>
              <a:rPr sz="1050" b="0">
                <a:latin typeface="Calibri"/>
              </a:rPr>
              <a:t>−0.061</a:t>
            </a:r>
          </a:p>
        </p:txBody>
      </p:sp>
      <p:sp>
        <p:nvSpPr>
          <p:cNvPr id="235" name="Rectangle 230">
            <a:extLst>
              <a:ext uri="{FF2B5EF4-FFF2-40B4-BE49-F238E27FC236}">
                <a16:creationId xmlns:a16="http://schemas.microsoft.com/office/drawing/2014/main" id="{62D3CF9B-49FF-4FC7-B74A-333D21D6F6B3}"/>
              </a:ext>
            </a:extLst>
          </p:cNvPr>
          <p:cNvSpPr/>
          <p:nvPr/>
        </p:nvSpPr>
        <p:spPr>
          <a:xfrm>
            <a:off x="4645152" y="534729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6" name="TextBox 231">
            <a:extLst>
              <a:ext uri="{FF2B5EF4-FFF2-40B4-BE49-F238E27FC236}">
                <a16:creationId xmlns:a16="http://schemas.microsoft.com/office/drawing/2014/main" id="{D884BE3E-352A-414D-B5A7-0D8D297993BA}"/>
              </a:ext>
            </a:extLst>
          </p:cNvPr>
          <p:cNvSpPr txBox="1"/>
          <p:nvPr/>
        </p:nvSpPr>
        <p:spPr>
          <a:xfrm>
            <a:off x="4672584" y="5365582"/>
            <a:ext cx="329184" cy="253916"/>
          </a:xfrm>
          <a:prstGeom prst="rect">
            <a:avLst/>
          </a:prstGeom>
          <a:noFill/>
        </p:spPr>
        <p:txBody>
          <a:bodyPr wrap="square">
            <a:spAutoFit/>
          </a:bodyPr>
          <a:lstStyle/>
          <a:p>
            <a:pPr algn="ctr"/>
            <a:r>
              <a:rPr lang="es-MX" sz="1050" b="0" dirty="0">
                <a:latin typeface="Calibri"/>
              </a:rPr>
              <a:t>9</a:t>
            </a:r>
            <a:endParaRPr sz="1050" b="0" dirty="0">
              <a:latin typeface="Calibri"/>
            </a:endParaRPr>
          </a:p>
        </p:txBody>
      </p:sp>
      <p:sp>
        <p:nvSpPr>
          <p:cNvPr id="237" name="Rectangle 232">
            <a:extLst>
              <a:ext uri="{FF2B5EF4-FFF2-40B4-BE49-F238E27FC236}">
                <a16:creationId xmlns:a16="http://schemas.microsoft.com/office/drawing/2014/main" id="{08ECA282-92DA-4A50-A22E-6CE93050C584}"/>
              </a:ext>
            </a:extLst>
          </p:cNvPr>
          <p:cNvSpPr/>
          <p:nvPr/>
        </p:nvSpPr>
        <p:spPr>
          <a:xfrm>
            <a:off x="5029200" y="534729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8" name="TextBox 233">
            <a:extLst>
              <a:ext uri="{FF2B5EF4-FFF2-40B4-BE49-F238E27FC236}">
                <a16:creationId xmlns:a16="http://schemas.microsoft.com/office/drawing/2014/main" id="{BED4A669-83EB-41FF-B163-BD1FA2BFD6D5}"/>
              </a:ext>
            </a:extLst>
          </p:cNvPr>
          <p:cNvSpPr txBox="1"/>
          <p:nvPr/>
        </p:nvSpPr>
        <p:spPr>
          <a:xfrm>
            <a:off x="5056632" y="5365582"/>
            <a:ext cx="512064" cy="253916"/>
          </a:xfrm>
          <a:prstGeom prst="rect">
            <a:avLst/>
          </a:prstGeom>
          <a:noFill/>
        </p:spPr>
        <p:txBody>
          <a:bodyPr wrap="square">
            <a:spAutoFit/>
          </a:bodyPr>
          <a:lstStyle/>
          <a:p>
            <a:pPr algn="ctr"/>
            <a:r>
              <a:rPr sz="1050" b="0">
                <a:latin typeface="Calibri"/>
              </a:rPr>
              <a:t>t=1.9</a:t>
            </a:r>
          </a:p>
        </p:txBody>
      </p:sp>
      <p:sp>
        <p:nvSpPr>
          <p:cNvPr id="239" name="Rectangle 234">
            <a:extLst>
              <a:ext uri="{FF2B5EF4-FFF2-40B4-BE49-F238E27FC236}">
                <a16:creationId xmlns:a16="http://schemas.microsoft.com/office/drawing/2014/main" id="{530A9B8E-6F90-4E87-8BDC-83E6920AD477}"/>
              </a:ext>
            </a:extLst>
          </p:cNvPr>
          <p:cNvSpPr/>
          <p:nvPr/>
        </p:nvSpPr>
        <p:spPr>
          <a:xfrm>
            <a:off x="5596128" y="534729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0" name="TextBox 235">
            <a:extLst>
              <a:ext uri="{FF2B5EF4-FFF2-40B4-BE49-F238E27FC236}">
                <a16:creationId xmlns:a16="http://schemas.microsoft.com/office/drawing/2014/main" id="{F747BFFC-5135-45D9-A646-6567C3D1DC86}"/>
              </a:ext>
            </a:extLst>
          </p:cNvPr>
          <p:cNvSpPr txBox="1"/>
          <p:nvPr/>
        </p:nvSpPr>
        <p:spPr>
          <a:xfrm>
            <a:off x="5623560" y="5365582"/>
            <a:ext cx="402336" cy="253916"/>
          </a:xfrm>
          <a:prstGeom prst="rect">
            <a:avLst/>
          </a:prstGeom>
          <a:noFill/>
        </p:spPr>
        <p:txBody>
          <a:bodyPr wrap="square">
            <a:spAutoFit/>
          </a:bodyPr>
          <a:lstStyle/>
          <a:p>
            <a:pPr algn="ctr"/>
            <a:r>
              <a:rPr sz="1050" b="1">
                <a:latin typeface="Calibri"/>
              </a:rPr>
              <a:t>&gt;0</a:t>
            </a:r>
          </a:p>
        </p:txBody>
      </p:sp>
      <p:sp>
        <p:nvSpPr>
          <p:cNvPr id="241" name="Rectangle 236">
            <a:extLst>
              <a:ext uri="{FF2B5EF4-FFF2-40B4-BE49-F238E27FC236}">
                <a16:creationId xmlns:a16="http://schemas.microsoft.com/office/drawing/2014/main" id="{2CE4A852-8D9E-4C80-A6F7-6732BFF4167E}"/>
              </a:ext>
            </a:extLst>
          </p:cNvPr>
          <p:cNvSpPr/>
          <p:nvPr/>
        </p:nvSpPr>
        <p:spPr>
          <a:xfrm>
            <a:off x="6053328" y="534729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2" name="TextBox 237">
            <a:extLst>
              <a:ext uri="{FF2B5EF4-FFF2-40B4-BE49-F238E27FC236}">
                <a16:creationId xmlns:a16="http://schemas.microsoft.com/office/drawing/2014/main" id="{4974F67F-276D-4869-98C3-D51AB87C38EC}"/>
              </a:ext>
            </a:extLst>
          </p:cNvPr>
          <p:cNvSpPr txBox="1"/>
          <p:nvPr/>
        </p:nvSpPr>
        <p:spPr>
          <a:xfrm>
            <a:off x="6080760" y="5365582"/>
            <a:ext cx="402336" cy="253916"/>
          </a:xfrm>
          <a:prstGeom prst="rect">
            <a:avLst/>
          </a:prstGeom>
          <a:noFill/>
        </p:spPr>
        <p:txBody>
          <a:bodyPr wrap="square">
            <a:spAutoFit/>
          </a:bodyPr>
          <a:lstStyle/>
          <a:p>
            <a:pPr algn="ctr"/>
            <a:r>
              <a:rPr sz="1050" b="1">
                <a:latin typeface="Calibri"/>
              </a:rPr>
              <a:t>&lt;0</a:t>
            </a:r>
          </a:p>
        </p:txBody>
      </p:sp>
      <p:sp>
        <p:nvSpPr>
          <p:cNvPr id="243" name="Rectangle 238">
            <a:extLst>
              <a:ext uri="{FF2B5EF4-FFF2-40B4-BE49-F238E27FC236}">
                <a16:creationId xmlns:a16="http://schemas.microsoft.com/office/drawing/2014/main" id="{19F4F428-A93D-4308-8290-D41C192A24DD}"/>
              </a:ext>
            </a:extLst>
          </p:cNvPr>
          <p:cNvSpPr/>
          <p:nvPr/>
        </p:nvSpPr>
        <p:spPr>
          <a:xfrm>
            <a:off x="6510528" y="5347294"/>
            <a:ext cx="438912" cy="445770"/>
          </a:xfrm>
          <a:prstGeom prst="rect">
            <a:avLst/>
          </a:prstGeom>
          <a:solidFill>
            <a:srgbClr val="FCEBE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4" name="TextBox 239">
            <a:extLst>
              <a:ext uri="{FF2B5EF4-FFF2-40B4-BE49-F238E27FC236}">
                <a16:creationId xmlns:a16="http://schemas.microsoft.com/office/drawing/2014/main" id="{6B6DADDB-F977-4398-8E80-2D2E6996C814}"/>
              </a:ext>
            </a:extLst>
          </p:cNvPr>
          <p:cNvSpPr txBox="1"/>
          <p:nvPr/>
        </p:nvSpPr>
        <p:spPr>
          <a:xfrm>
            <a:off x="6537960" y="5365582"/>
            <a:ext cx="384048" cy="253916"/>
          </a:xfrm>
          <a:prstGeom prst="rect">
            <a:avLst/>
          </a:prstGeom>
          <a:noFill/>
        </p:spPr>
        <p:txBody>
          <a:bodyPr wrap="square">
            <a:spAutoFit/>
          </a:bodyPr>
          <a:lstStyle/>
          <a:p>
            <a:pPr algn="ctr"/>
            <a:r>
              <a:rPr sz="1050" b="1">
                <a:latin typeface="Calibri"/>
              </a:rPr>
              <a:t>4°</a:t>
            </a:r>
          </a:p>
        </p:txBody>
      </p:sp>
      <p:sp>
        <p:nvSpPr>
          <p:cNvPr id="245" name="Rectangle 240">
            <a:extLst>
              <a:ext uri="{FF2B5EF4-FFF2-40B4-BE49-F238E27FC236}">
                <a16:creationId xmlns:a16="http://schemas.microsoft.com/office/drawing/2014/main" id="{F704699E-49D7-4963-AB3B-BC5D12DD1921}"/>
              </a:ext>
            </a:extLst>
          </p:cNvPr>
          <p:cNvSpPr/>
          <p:nvPr/>
        </p:nvSpPr>
        <p:spPr>
          <a:xfrm>
            <a:off x="6949440" y="534729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6" name="TextBox 241">
            <a:extLst>
              <a:ext uri="{FF2B5EF4-FFF2-40B4-BE49-F238E27FC236}">
                <a16:creationId xmlns:a16="http://schemas.microsoft.com/office/drawing/2014/main" id="{D1BE7344-08DB-4658-8813-9C375550B834}"/>
              </a:ext>
            </a:extLst>
          </p:cNvPr>
          <p:cNvSpPr txBox="1"/>
          <p:nvPr/>
        </p:nvSpPr>
        <p:spPr>
          <a:xfrm>
            <a:off x="6976871" y="5365582"/>
            <a:ext cx="1938528" cy="253916"/>
          </a:xfrm>
          <a:prstGeom prst="rect">
            <a:avLst/>
          </a:prstGeom>
          <a:noFill/>
        </p:spPr>
        <p:txBody>
          <a:bodyPr wrap="square">
            <a:spAutoFit/>
          </a:bodyPr>
          <a:lstStyle/>
          <a:p>
            <a:pPr algn="ctr"/>
            <a:r>
              <a:rPr sz="1050" b="0">
                <a:latin typeface="Calibri"/>
              </a:rPr>
              <a:t>Fren. regen. dir. (reposo)</a:t>
            </a:r>
          </a:p>
        </p:txBody>
      </p:sp>
      <p:sp>
        <p:nvSpPr>
          <p:cNvPr id="247" name="Rectangle 242">
            <a:extLst>
              <a:ext uri="{FF2B5EF4-FFF2-40B4-BE49-F238E27FC236}">
                <a16:creationId xmlns:a16="http://schemas.microsoft.com/office/drawing/2014/main" id="{DA0B2E3A-4121-4ADC-8A05-437F86706BE3}"/>
              </a:ext>
            </a:extLst>
          </p:cNvPr>
          <p:cNvSpPr/>
          <p:nvPr/>
        </p:nvSpPr>
        <p:spPr>
          <a:xfrm>
            <a:off x="8942832" y="534729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8" name="TextBox 243">
            <a:extLst>
              <a:ext uri="{FF2B5EF4-FFF2-40B4-BE49-F238E27FC236}">
                <a16:creationId xmlns:a16="http://schemas.microsoft.com/office/drawing/2014/main" id="{0C1114AE-1DBB-4128-B6B6-1CE412FB7695}"/>
              </a:ext>
            </a:extLst>
          </p:cNvPr>
          <p:cNvSpPr txBox="1"/>
          <p:nvPr/>
        </p:nvSpPr>
        <p:spPr>
          <a:xfrm>
            <a:off x="8970263" y="5365582"/>
            <a:ext cx="493776" cy="253916"/>
          </a:xfrm>
          <a:prstGeom prst="rect">
            <a:avLst/>
          </a:prstGeom>
          <a:noFill/>
        </p:spPr>
        <p:txBody>
          <a:bodyPr wrap="square">
            <a:spAutoFit/>
          </a:bodyPr>
          <a:lstStyle/>
          <a:p>
            <a:pPr algn="ctr"/>
            <a:r>
              <a:rPr sz="1050" b="0">
                <a:latin typeface="Calibri"/>
              </a:rPr>
              <a:t>0</a:t>
            </a:r>
          </a:p>
        </p:txBody>
      </p:sp>
      <p:sp>
        <p:nvSpPr>
          <p:cNvPr id="249" name="Rectangle 244">
            <a:extLst>
              <a:ext uri="{FF2B5EF4-FFF2-40B4-BE49-F238E27FC236}">
                <a16:creationId xmlns:a16="http://schemas.microsoft.com/office/drawing/2014/main" id="{C1E0022D-F0AF-4E6F-B057-74577A822325}"/>
              </a:ext>
            </a:extLst>
          </p:cNvPr>
          <p:cNvSpPr/>
          <p:nvPr/>
        </p:nvSpPr>
        <p:spPr>
          <a:xfrm>
            <a:off x="9491471" y="534729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50" name="TextBox 245">
            <a:extLst>
              <a:ext uri="{FF2B5EF4-FFF2-40B4-BE49-F238E27FC236}">
                <a16:creationId xmlns:a16="http://schemas.microsoft.com/office/drawing/2014/main" id="{79D5A5B4-8754-4371-94A2-11131FCA3C77}"/>
              </a:ext>
            </a:extLst>
          </p:cNvPr>
          <p:cNvSpPr txBox="1"/>
          <p:nvPr/>
        </p:nvSpPr>
        <p:spPr>
          <a:xfrm>
            <a:off x="9518903" y="5365582"/>
            <a:ext cx="566928" cy="253916"/>
          </a:xfrm>
          <a:prstGeom prst="rect">
            <a:avLst/>
          </a:prstGeom>
          <a:noFill/>
        </p:spPr>
        <p:txBody>
          <a:bodyPr wrap="square">
            <a:spAutoFit/>
          </a:bodyPr>
          <a:lstStyle/>
          <a:p>
            <a:pPr algn="ctr"/>
            <a:r>
              <a:rPr sz="1050" b="0">
                <a:latin typeface="Calibri"/>
              </a:rPr>
              <a:t>0</a:t>
            </a:r>
          </a:p>
        </p:txBody>
      </p:sp>
      <p:sp>
        <p:nvSpPr>
          <p:cNvPr id="251" name="Rectangle 246">
            <a:extLst>
              <a:ext uri="{FF2B5EF4-FFF2-40B4-BE49-F238E27FC236}">
                <a16:creationId xmlns:a16="http://schemas.microsoft.com/office/drawing/2014/main" id="{744A5686-E59B-496A-A1BF-D215951F54B8}"/>
              </a:ext>
            </a:extLst>
          </p:cNvPr>
          <p:cNvSpPr/>
          <p:nvPr/>
        </p:nvSpPr>
        <p:spPr>
          <a:xfrm>
            <a:off x="10113263" y="534729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52" name="TextBox 247">
            <a:extLst>
              <a:ext uri="{FF2B5EF4-FFF2-40B4-BE49-F238E27FC236}">
                <a16:creationId xmlns:a16="http://schemas.microsoft.com/office/drawing/2014/main" id="{26D62784-5D7A-4711-81E9-71867E633345}"/>
              </a:ext>
            </a:extLst>
          </p:cNvPr>
          <p:cNvSpPr txBox="1"/>
          <p:nvPr/>
        </p:nvSpPr>
        <p:spPr>
          <a:xfrm>
            <a:off x="10140695" y="5365582"/>
            <a:ext cx="630936" cy="253916"/>
          </a:xfrm>
          <a:prstGeom prst="rect">
            <a:avLst/>
          </a:prstGeom>
          <a:noFill/>
        </p:spPr>
        <p:txBody>
          <a:bodyPr wrap="square">
            <a:spAutoFit/>
          </a:bodyPr>
          <a:lstStyle/>
          <a:p>
            <a:pPr algn="ctr"/>
            <a:r>
              <a:rPr sz="1050" b="0">
                <a:latin typeface="Calibri"/>
              </a:rPr>
              <a:t>17.13</a:t>
            </a:r>
          </a:p>
        </p:txBody>
      </p:sp>
      <p:sp>
        <p:nvSpPr>
          <p:cNvPr id="253" name="Rectangle 248">
            <a:extLst>
              <a:ext uri="{FF2B5EF4-FFF2-40B4-BE49-F238E27FC236}">
                <a16:creationId xmlns:a16="http://schemas.microsoft.com/office/drawing/2014/main" id="{583C1C22-50A4-43E7-BAB7-F9A88C1DCB33}"/>
              </a:ext>
            </a:extLst>
          </p:cNvPr>
          <p:cNvSpPr/>
          <p:nvPr/>
        </p:nvSpPr>
        <p:spPr>
          <a:xfrm>
            <a:off x="10799063" y="534729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54" name="TextBox 249">
            <a:extLst>
              <a:ext uri="{FF2B5EF4-FFF2-40B4-BE49-F238E27FC236}">
                <a16:creationId xmlns:a16="http://schemas.microsoft.com/office/drawing/2014/main" id="{199CD488-0783-4316-B6C8-25A2EFC6C032}"/>
              </a:ext>
            </a:extLst>
          </p:cNvPr>
          <p:cNvSpPr txBox="1"/>
          <p:nvPr/>
        </p:nvSpPr>
        <p:spPr>
          <a:xfrm>
            <a:off x="10826495" y="5365582"/>
            <a:ext cx="585215" cy="253916"/>
          </a:xfrm>
          <a:prstGeom prst="rect">
            <a:avLst/>
          </a:prstGeom>
          <a:noFill/>
        </p:spPr>
        <p:txBody>
          <a:bodyPr wrap="square">
            <a:spAutoFit/>
          </a:bodyPr>
          <a:lstStyle/>
          <a:p>
            <a:pPr algn="ctr"/>
            <a:r>
              <a:rPr sz="1050" b="0" dirty="0">
                <a:latin typeface="Calibri"/>
              </a:rPr>
              <a:t>−0.052</a:t>
            </a:r>
          </a:p>
        </p:txBody>
      </p:sp>
      <p:sp>
        <p:nvSpPr>
          <p:cNvPr id="255" name="Shape 2">
            <a:extLst>
              <a:ext uri="{FF2B5EF4-FFF2-40B4-BE49-F238E27FC236}">
                <a16:creationId xmlns:a16="http://schemas.microsoft.com/office/drawing/2014/main" id="{7A162447-8E9E-431F-8149-D9F8735A808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56" name="Text 3">
            <a:extLst>
              <a:ext uri="{FF2B5EF4-FFF2-40B4-BE49-F238E27FC236}">
                <a16:creationId xmlns:a16="http://schemas.microsoft.com/office/drawing/2014/main" id="{2DF6ED85-A63B-4136-9C7B-CE8B790A5C5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457373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9">
            <a:extLst>
              <a:ext uri="{FF2B5EF4-FFF2-40B4-BE49-F238E27FC236}">
                <a16:creationId xmlns:a16="http://schemas.microsoft.com/office/drawing/2014/main" id="{625E6559-98CE-4261-AE72-4DF644117803}"/>
              </a:ext>
            </a:extLst>
          </p:cNvPr>
          <p:cNvSpPr/>
          <p:nvPr/>
        </p:nvSpPr>
        <p:spPr>
          <a:xfrm>
            <a:off x="377302" y="2782026"/>
            <a:ext cx="7772400" cy="601640"/>
          </a:xfrm>
          <a:prstGeom prst="rect">
            <a:avLst/>
          </a:prstGeom>
          <a:solidFill>
            <a:srgbClr val="FFF3E0"/>
          </a:solidFill>
          <a:ln w="19050">
            <a:solidFill>
              <a:srgbClr val="C35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77302" y="1460863"/>
            <a:ext cx="7772400" cy="518668"/>
          </a:xfrm>
          <a:prstGeom prst="rect">
            <a:avLst/>
          </a:prstGeom>
          <a:solidFill>
            <a:srgbClr val="FFF3E0"/>
          </a:solidFill>
          <a:ln w="19050">
            <a:solidFill>
              <a:srgbClr val="C35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Ángulo de desfasaje electromagnético δ(t)</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44 / ~75</a:t>
            </a:r>
          </a:p>
        </p:txBody>
      </p:sp>
      <mc:AlternateContent xmlns:mc="http://schemas.openxmlformats.org/markup-compatibility/2006" xmlns:a14="http://schemas.microsoft.com/office/drawing/2010/main">
        <mc:Choice Requires="a14">
          <p:sp>
            <p:nvSpPr>
              <p:cNvPr id="7" name="TextBox 6"/>
              <p:cNvSpPr txBox="1"/>
              <p:nvPr/>
            </p:nvSpPr>
            <p:spPr>
              <a:xfrm>
                <a:off x="320040" y="774877"/>
                <a:ext cx="7772400" cy="523220"/>
              </a:xfrm>
              <a:prstGeom prst="rect">
                <a:avLst/>
              </a:prstGeom>
              <a:noFill/>
            </p:spPr>
            <p:txBody>
              <a:bodyPr wrap="square">
                <a:spAutoFit/>
              </a:bodyPr>
              <a:lstStyle/>
              <a:p>
                <a:r>
                  <a:rPr lang="es-AR" sz="1400" b="0" i="0" dirty="0">
                    <a:solidFill>
                      <a:srgbClr val="1A1A2E"/>
                    </a:solidFill>
                    <a:latin typeface="Calibri"/>
                  </a:rPr>
                  <a:t>El ángulo de desfasaje δ(t) se define como el desplazamiento angular entre la coordenada eléctrica de tensión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𝑒𝑣</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 </m:t>
                    </m:r>
                  </m:oMath>
                </a14:m>
                <a:r>
                  <a:rPr lang="es-AR" sz="1400" b="0" i="0" dirty="0">
                    <a:solidFill>
                      <a:srgbClr val="1A1A2E"/>
                    </a:solidFill>
                    <a:latin typeface="Calibri"/>
                  </a:rPr>
                  <a:t>y la coordenada eléctrica del rotor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𝑟</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oMath>
                </a14:m>
                <a:r>
                  <a:rPr lang="es-AR" sz="1400" b="0" i="0" dirty="0">
                    <a:solidFill>
                      <a:srgbClr val="1A1A2E"/>
                    </a:solidFill>
                    <a:latin typeface="Calibri"/>
                  </a:rPr>
                  <a:t>:</a:t>
                </a:r>
              </a:p>
            </p:txBody>
          </p:sp>
        </mc:Choice>
        <mc:Fallback xmlns="">
          <p:sp>
            <p:nvSpPr>
              <p:cNvPr id="7" name="TextBox 6"/>
              <p:cNvSpPr txBox="1">
                <a:spLocks noRot="1" noChangeAspect="1" noMove="1" noResize="1" noEditPoints="1" noAdjustHandles="1" noChangeArrowheads="1" noChangeShapeType="1" noTextEdit="1"/>
              </p:cNvSpPr>
              <p:nvPr/>
            </p:nvSpPr>
            <p:spPr>
              <a:xfrm>
                <a:off x="320040" y="774877"/>
                <a:ext cx="7772400" cy="523220"/>
              </a:xfrm>
              <a:prstGeom prst="rect">
                <a:avLst/>
              </a:prstGeom>
              <a:blipFill>
                <a:blip r:embed="rId2"/>
                <a:stretch>
                  <a:fillRect l="-235" t="-2326" b="-1162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33462" y="1440164"/>
                <a:ext cx="5987101" cy="49122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600" i="1" smtClean="0">
                          <a:effectLst/>
                          <a:latin typeface="Cambria Math" panose="02040503050406030204" pitchFamily="18" charset="0"/>
                          <a:ea typeface="Calibri" panose="020F0502020204030204" pitchFamily="34" charset="0"/>
                          <a:cs typeface="Calibri" panose="020F0502020204030204" pitchFamily="34" charset="0"/>
                        </a:rPr>
                        <m:t>𝛿</m:t>
                      </m:r>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𝑒𝑣</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𝑟</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nary>
                        <m:naryPr>
                          <m:ctrlPr>
                            <a:rPr lang="es-AR" sz="1050" i="1">
                              <a:effectLst/>
                              <a:latin typeface="Cambria Math" panose="02040503050406030204" pitchFamily="18" charset="0"/>
                              <a:cs typeface="Calibri" panose="020F0502020204030204" pitchFamily="34" charset="0"/>
                            </a:rPr>
                          </m:ctrlPr>
                        </m:naryPr>
                        <m:sub>
                          <m:r>
                            <a:rPr lang="es-AR" sz="1600" i="1">
                              <a:effectLst/>
                              <a:latin typeface="Cambria Math" panose="02040503050406030204" pitchFamily="18" charset="0"/>
                              <a:ea typeface="Calibri" panose="020F0502020204030204" pitchFamily="34" charset="0"/>
                              <a:cs typeface="Calibri" panose="020F0502020204030204" pitchFamily="34" charset="0"/>
                            </a:rPr>
                            <m:t>0</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𝑡</m:t>
                          </m:r>
                        </m:sup>
                        <m:e>
                          <m:d>
                            <m:dPr>
                              <m:begChr m:val="["/>
                              <m:endChr m:val="]"/>
                              <m:ctrlPr>
                                <a:rPr lang="es-AR" sz="1050" i="1">
                                  <a:effectLst/>
                                  <a:latin typeface="Cambria Math" panose="02040503050406030204" pitchFamily="18" charset="0"/>
                                  <a:cs typeface="Calibri" panose="020F0502020204030204" pitchFamily="34" charset="0"/>
                                </a:rPr>
                              </m:ctrlPr>
                            </m:dPr>
                            <m:e>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𝜔</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𝑒</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𝜉</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𝜔</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𝑟</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𝜉</m:t>
                                  </m:r>
                                </m:e>
                              </m:d>
                            </m:e>
                          </m:d>
                        </m:e>
                      </m:nary>
                      <m:r>
                        <a:rPr lang="es-AR" sz="1600" i="1">
                          <a:effectLst/>
                          <a:latin typeface="Cambria Math" panose="02040503050406030204" pitchFamily="18" charset="0"/>
                          <a:ea typeface="Calibri" panose="020F0502020204030204" pitchFamily="34" charset="0"/>
                          <a:cs typeface="Calibri" panose="020F0502020204030204" pitchFamily="34" charset="0"/>
                        </a:rPr>
                        <m:t> </m:t>
                      </m:r>
                      <m:r>
                        <a:rPr lang="es-AR" sz="1600" i="1">
                          <a:effectLst/>
                          <a:latin typeface="Cambria Math" panose="02040503050406030204" pitchFamily="18" charset="0"/>
                          <a:ea typeface="Calibri" panose="020F0502020204030204" pitchFamily="34" charset="0"/>
                          <a:cs typeface="Calibri" panose="020F0502020204030204" pitchFamily="34" charset="0"/>
                        </a:rPr>
                        <m:t>𝑑</m:t>
                      </m:r>
                      <m:r>
                        <a:rPr lang="es-AR" sz="1600" i="1">
                          <a:effectLst/>
                          <a:latin typeface="Cambria Math" panose="02040503050406030204" pitchFamily="18" charset="0"/>
                          <a:ea typeface="Calibri" panose="020F0502020204030204" pitchFamily="34" charset="0"/>
                          <a:cs typeface="Calibri" panose="020F0502020204030204" pitchFamily="34" charset="0"/>
                        </a:rPr>
                        <m:t>𝜉</m:t>
                      </m:r>
                      <m:r>
                        <a:rPr lang="es-AR" sz="1600" i="1">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050" i="1">
                              <a:effectLst/>
                              <a:latin typeface="Cambria Math" panose="02040503050406030204" pitchFamily="18" charset="0"/>
                              <a:cs typeface="Calibri" panose="020F0502020204030204" pitchFamily="34" charset="0"/>
                            </a:rPr>
                          </m:ctrlPr>
                        </m:dPr>
                        <m:e>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𝑒𝑣</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0</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𝑟</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0</m:t>
                              </m:r>
                            </m:e>
                          </m:d>
                        </m:e>
                      </m:d>
                    </m:oMath>
                  </m:oMathPara>
                </a14:m>
                <a:endParaRP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33462" y="1440164"/>
                <a:ext cx="5987101" cy="491225"/>
              </a:xfrm>
              <a:prstGeom prst="rect">
                <a:avLst/>
              </a:prstGeom>
              <a:blipFill>
                <a:blip r:embed="rId3"/>
                <a:stretch>
                  <a:fillRect t="-119753" b="-187654"/>
                </a:stretch>
              </a:blipFill>
            </p:spPr>
            <p:txBody>
              <a:bodyPr/>
              <a:lstStyle/>
              <a:p>
                <a:r>
                  <a:rPr lang="es-AR">
                    <a:noFill/>
                  </a:rPr>
                  <a:t> </a:t>
                </a:r>
              </a:p>
            </p:txBody>
          </p:sp>
        </mc:Fallback>
      </mc:AlternateContent>
      <p:sp>
        <p:nvSpPr>
          <p:cNvPr id="13" name="TextBox 12"/>
          <p:cNvSpPr txBox="1"/>
          <p:nvPr/>
        </p:nvSpPr>
        <p:spPr>
          <a:xfrm>
            <a:off x="8305495" y="777240"/>
            <a:ext cx="3566160" cy="307777"/>
          </a:xfrm>
          <a:prstGeom prst="rect">
            <a:avLst/>
          </a:prstGeom>
          <a:noFill/>
        </p:spPr>
        <p:txBody>
          <a:bodyPr wrap="square">
            <a:spAutoFit/>
          </a:bodyPr>
          <a:lstStyle/>
          <a:p>
            <a:pPr algn="l"/>
            <a:r>
              <a:rPr lang="es-AR" sz="1400" b="1" i="0" dirty="0">
                <a:solidFill>
                  <a:srgbClr val="1A3A6B"/>
                </a:solidFill>
                <a:latin typeface="Calibri"/>
              </a:rPr>
              <a:t>Consistencia con los cuadrantes de operación:</a:t>
            </a:r>
          </a:p>
        </p:txBody>
      </p:sp>
      <mc:AlternateContent xmlns:mc="http://schemas.openxmlformats.org/markup-compatibility/2006" xmlns:a14="http://schemas.microsoft.com/office/drawing/2010/main">
        <mc:Choice Requires="a14">
          <p:sp>
            <p:nvSpPr>
              <p:cNvPr id="14" name="TextBox 13"/>
              <p:cNvSpPr txBox="1"/>
              <p:nvPr/>
            </p:nvSpPr>
            <p:spPr>
              <a:xfrm>
                <a:off x="8412480" y="1261872"/>
                <a:ext cx="3566160" cy="2185214"/>
              </a:xfrm>
              <a:prstGeom prst="rect">
                <a:avLst/>
              </a:prstGeom>
              <a:noFill/>
            </p:spPr>
            <p:txBody>
              <a:bodyPr wrap="square">
                <a:spAutoFit/>
              </a:bodyPr>
              <a:lstStyle/>
              <a:p>
                <a:r>
                  <a:rPr lang="es-AR" sz="1400" dirty="0">
                    <a:solidFill>
                      <a:srgbClr val="1A1A2E"/>
                    </a:solidFill>
                    <a:latin typeface="Calibri"/>
                  </a:rPr>
                  <a:t>δ(t) &gt; 0: motorización directa y frenado </a:t>
                </a:r>
                <a:r>
                  <a:rPr lang="es-AR" sz="1400" dirty="0" err="1">
                    <a:solidFill>
                      <a:srgbClr val="1A1A2E"/>
                    </a:solidFill>
                    <a:latin typeface="Calibri"/>
                  </a:rPr>
                  <a:t>regen</a:t>
                </a:r>
                <a:r>
                  <a:rPr lang="es-AR" sz="1400" dirty="0">
                    <a:solidFill>
                      <a:srgbClr val="1A1A2E"/>
                    </a:solidFill>
                    <a:latin typeface="Calibri"/>
                  </a:rPr>
                  <a:t>. inverso  (1°  y 2°  cuadrante)</a:t>
                </a:r>
              </a:p>
              <a:p>
                <a:pPr>
                  <a:spcBef>
                    <a:spcPts val="400"/>
                  </a:spcBef>
                </a:pPr>
                <a:r>
                  <a:rPr lang="es-AR" sz="1400" dirty="0">
                    <a:solidFill>
                      <a:srgbClr val="1A1A2E"/>
                    </a:solidFill>
                    <a:latin typeface="Calibri"/>
                  </a:rPr>
                  <a:t>δ(t) &lt; 0: frenado </a:t>
                </a:r>
                <a:r>
                  <a:rPr lang="es-AR" sz="1400" dirty="0" err="1">
                    <a:solidFill>
                      <a:srgbClr val="1A1A2E"/>
                    </a:solidFill>
                    <a:latin typeface="Calibri"/>
                  </a:rPr>
                  <a:t>regen</a:t>
                </a:r>
                <a:r>
                  <a:rPr lang="es-AR" sz="1400" dirty="0">
                    <a:solidFill>
                      <a:srgbClr val="1A1A2E"/>
                    </a:solidFill>
                    <a:latin typeface="Calibri"/>
                  </a:rPr>
                  <a:t>. directo y motorización inversa  (4°  y 3°  cuadrante)</a:t>
                </a:r>
              </a:p>
              <a:p>
                <a:pPr>
                  <a:spcBef>
                    <a:spcPts val="400"/>
                  </a:spcBef>
                </a:pPr>
                <a:r>
                  <a:rPr lang="es-AR" sz="1400" dirty="0">
                    <a:solidFill>
                      <a:srgbClr val="1A1A2E"/>
                    </a:solidFill>
                    <a:latin typeface="Calibri"/>
                  </a:rPr>
                  <a:t>El signo de δ(t) es coherente con los signos de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𝜔</m:t>
                        </m:r>
                      </m:e>
                      <m:sub>
                        <m:r>
                          <a:rPr lang="es-MX" sz="1400" b="0" i="1" smtClean="0">
                            <a:effectLst/>
                            <a:latin typeface="Cambria Math" panose="02040503050406030204" pitchFamily="18" charset="0"/>
                            <a:ea typeface="Calibri" panose="020F0502020204030204" pitchFamily="34" charset="0"/>
                            <a:cs typeface="Calibri" panose="020F0502020204030204" pitchFamily="34" charset="0"/>
                          </a:rPr>
                          <m:t>𝑚</m:t>
                        </m:r>
                      </m:sub>
                    </m:sSub>
                  </m:oMath>
                </a14:m>
                <a:r>
                  <a:rPr lang="es-AR" sz="1400" dirty="0">
                    <a:solidFill>
                      <a:srgbClr val="1A1A2E"/>
                    </a:solidFill>
                    <a:latin typeface="Calibri"/>
                  </a:rPr>
                  <a:t> y </a:t>
                </a:r>
                <a14:m>
                  <m:oMath xmlns:m="http://schemas.openxmlformats.org/officeDocument/2006/math">
                    <m:sSub>
                      <m:sSubPr>
                        <m:ctrlPr>
                          <a:rPr lang="es-AR" sz="1400" i="1">
                            <a:latin typeface="Cambria Math" panose="02040503050406030204" pitchFamily="18" charset="0"/>
                            <a:cs typeface="Calibri" panose="020F0502020204030204" pitchFamily="34" charset="0"/>
                          </a:rPr>
                        </m:ctrlPr>
                      </m:sSubPr>
                      <m:e>
                        <m:r>
                          <a:rPr lang="es-MX" sz="1400" b="0" i="1" smtClean="0">
                            <a:latin typeface="Cambria Math" panose="02040503050406030204" pitchFamily="18" charset="0"/>
                            <a:cs typeface="Calibri" panose="020F0502020204030204" pitchFamily="34" charset="0"/>
                          </a:rPr>
                          <m:t>𝑇</m:t>
                        </m:r>
                      </m:e>
                      <m:sub>
                        <m:r>
                          <a:rPr lang="es-MX" sz="1400" b="0" i="1" smtClean="0">
                            <a:latin typeface="Cambria Math" panose="02040503050406030204" pitchFamily="18" charset="0"/>
                            <a:ea typeface="Calibri" panose="020F0502020204030204" pitchFamily="34" charset="0"/>
                            <a:cs typeface="Calibri" panose="020F0502020204030204" pitchFamily="34" charset="0"/>
                          </a:rPr>
                          <m:t>𝑚</m:t>
                        </m:r>
                      </m:sub>
                    </m:sSub>
                  </m:oMath>
                </a14:m>
                <a:r>
                  <a:rPr lang="es-AR" sz="1400" dirty="0">
                    <a:solidFill>
                      <a:srgbClr val="1A1A2E"/>
                    </a:solidFill>
                    <a:latin typeface="Calibri"/>
                  </a:rPr>
                  <a:t> — confirma la consistencia del modelo</a:t>
                </a:r>
              </a:p>
              <a:p>
                <a:pPr>
                  <a:spcBef>
                    <a:spcPts val="400"/>
                  </a:spcBef>
                </a:pPr>
                <a:r>
                  <a:rPr lang="es-AR" sz="1400" dirty="0">
                    <a:solidFill>
                      <a:srgbClr val="1A1A2E"/>
                    </a:solidFill>
                    <a:latin typeface="Calibri"/>
                  </a:rPr>
                  <a:t>Los transitorios de δ coinciden temporalmente con los cambios de consigna y perturbaciones</a:t>
                </a:r>
              </a:p>
            </p:txBody>
          </p:sp>
        </mc:Choice>
        <mc:Fallback xmlns="">
          <p:sp>
            <p:nvSpPr>
              <p:cNvPr id="14" name="TextBox 13"/>
              <p:cNvSpPr txBox="1">
                <a:spLocks noRot="1" noChangeAspect="1" noMove="1" noResize="1" noEditPoints="1" noAdjustHandles="1" noChangeArrowheads="1" noChangeShapeType="1" noTextEdit="1"/>
              </p:cNvSpPr>
              <p:nvPr/>
            </p:nvSpPr>
            <p:spPr>
              <a:xfrm>
                <a:off x="8412480" y="1261872"/>
                <a:ext cx="3566160" cy="2185214"/>
              </a:xfrm>
              <a:prstGeom prst="rect">
                <a:avLst/>
              </a:prstGeom>
              <a:blipFill>
                <a:blip r:embed="rId4"/>
                <a:stretch>
                  <a:fillRect l="-513" t="-559" r="-1197" b="-195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17F8126B-971B-424E-8DA7-2277AD9ADA00}"/>
                  </a:ext>
                </a:extLst>
              </p:cNvPr>
              <p:cNvSpPr txBox="1"/>
              <p:nvPr/>
            </p:nvSpPr>
            <p:spPr>
              <a:xfrm>
                <a:off x="377302" y="2131267"/>
                <a:ext cx="7772400" cy="542584"/>
              </a:xfrm>
              <a:prstGeom prst="rect">
                <a:avLst/>
              </a:prstGeom>
              <a:noFill/>
            </p:spPr>
            <p:txBody>
              <a:bodyPr wrap="square">
                <a:spAutoFit/>
              </a:bodyPr>
              <a:lstStyle/>
              <a:p>
                <a:pPr algn="just">
                  <a:lnSpc>
                    <a:spcPct val="107000"/>
                  </a:lnSpc>
                  <a:spcBef>
                    <a:spcPts val="600"/>
                  </a:spcBef>
                  <a:spcAft>
                    <a:spcPts val="800"/>
                  </a:spcAft>
                </a:pPr>
                <a:r>
                  <a:rPr lang="es-AR" sz="1400" dirty="0">
                    <a:solidFill>
                      <a:srgbClr val="1A1A2E"/>
                    </a:solidFill>
                    <a:latin typeface="Calibri"/>
                  </a:rPr>
                  <a:t>Se aplica la transformación de Clarke a las tensiones </a:t>
                </a:r>
                <a14:m>
                  <m:oMath xmlns:m="http://schemas.openxmlformats.org/officeDocument/2006/math">
                    <m:r>
                      <a:rPr lang="es-AR" sz="1400">
                        <a:solidFill>
                          <a:srgbClr val="1A1A2E"/>
                        </a:solidFill>
                        <a:latin typeface="Cambria Math" panose="02040503050406030204" pitchFamily="18" charset="0"/>
                      </a:rPr>
                      <m:t>𝑎𝑏𝑐</m:t>
                    </m:r>
                  </m:oMath>
                </a14:m>
                <a:r>
                  <a:rPr lang="es-AR" sz="1400" dirty="0">
                    <a:solidFill>
                      <a:srgbClr val="1A1A2E"/>
                    </a:solidFill>
                    <a:latin typeface="Calibri"/>
                  </a:rPr>
                  <a:t> para obtener componentes </a:t>
                </a:r>
                <a14:m>
                  <m:oMath xmlns:m="http://schemas.openxmlformats.org/officeDocument/2006/math">
                    <m:r>
                      <a:rPr lang="es-AR" sz="1400">
                        <a:solidFill>
                          <a:srgbClr val="1A1A2E"/>
                        </a:solidFill>
                        <a:latin typeface="Cambria Math" panose="02040503050406030204" pitchFamily="18" charset="0"/>
                      </a:rPr>
                      <m:t>𝛼𝛽</m:t>
                    </m:r>
                  </m:oMath>
                </a14:m>
                <a:r>
                  <a:rPr lang="es-AR" sz="1400" dirty="0">
                    <a:solidFill>
                      <a:srgbClr val="1A1A2E"/>
                    </a:solidFill>
                    <a:latin typeface="Calibri"/>
                  </a:rPr>
                  <a:t>, para luego calcular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𝜃</m:t>
                        </m:r>
                      </m:e>
                      <m:sub>
                        <m:r>
                          <a:rPr lang="es-AR" sz="1400">
                            <a:solidFill>
                              <a:srgbClr val="1A1A2E"/>
                            </a:solidFill>
                            <a:latin typeface="Cambria Math" panose="02040503050406030204" pitchFamily="18" charset="0"/>
                          </a:rPr>
                          <m:t>𝑒𝑣</m:t>
                        </m:r>
                      </m:sub>
                    </m:sSub>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oMath>
                </a14:m>
                <a:r>
                  <a:rPr lang="es-AR" sz="1400" dirty="0">
                    <a:solidFill>
                      <a:srgbClr val="1A1A2E"/>
                    </a:solidFill>
                    <a:latin typeface="Calibri"/>
                  </a:rPr>
                  <a:t> </a:t>
                </a:r>
              </a:p>
            </p:txBody>
          </p:sp>
        </mc:Choice>
        <mc:Fallback xmlns="">
          <p:sp>
            <p:nvSpPr>
              <p:cNvPr id="16" name="CuadroTexto 15">
                <a:extLst>
                  <a:ext uri="{FF2B5EF4-FFF2-40B4-BE49-F238E27FC236}">
                    <a16:creationId xmlns:a16="http://schemas.microsoft.com/office/drawing/2014/main" id="{17F8126B-971B-424E-8DA7-2277AD9ADA00}"/>
                  </a:ext>
                </a:extLst>
              </p:cNvPr>
              <p:cNvSpPr txBox="1">
                <a:spLocks noRot="1" noChangeAspect="1" noMove="1" noResize="1" noEditPoints="1" noAdjustHandles="1" noChangeArrowheads="1" noChangeShapeType="1" noTextEdit="1"/>
              </p:cNvSpPr>
              <p:nvPr/>
            </p:nvSpPr>
            <p:spPr>
              <a:xfrm>
                <a:off x="377302" y="2131267"/>
                <a:ext cx="7772400" cy="542584"/>
              </a:xfrm>
              <a:prstGeom prst="rect">
                <a:avLst/>
              </a:prstGeom>
              <a:blipFill>
                <a:blip r:embed="rId5"/>
                <a:stretch>
                  <a:fillRect l="-235" t="-1124" r="-235" b="-1123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A4CF5B00-C9CF-4CD5-B537-E04EDC1D436A}"/>
                  </a:ext>
                </a:extLst>
              </p:cNvPr>
              <p:cNvSpPr txBox="1"/>
              <p:nvPr/>
            </p:nvSpPr>
            <p:spPr>
              <a:xfrm>
                <a:off x="-159945" y="2776694"/>
                <a:ext cx="7878931" cy="6016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m:rPr>
                              <m:sty m:val="p"/>
                            </m:rPr>
                            <a:rPr lang="es-AR" sz="1400" i="0">
                              <a:solidFill>
                                <a:schemeClr val="tx1"/>
                              </a:solidFill>
                              <a:latin typeface="Cambria Math" panose="02040503050406030204" pitchFamily="18" charset="0"/>
                            </a:rPr>
                            <m:t>α</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2</m:t>
                          </m:r>
                        </m:num>
                        <m:den>
                          <m:r>
                            <a:rPr lang="es-AR" sz="1400" i="0">
                              <a:solidFill>
                                <a:schemeClr val="tx1"/>
                              </a:solidFill>
                              <a:latin typeface="Cambria Math" panose="02040503050406030204" pitchFamily="18" charset="0"/>
                            </a:rPr>
                            <m:t>3</m:t>
                          </m:r>
                        </m:den>
                      </m:f>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𝑎</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r>
                                <a:rPr lang="es-AR" sz="1400" i="0">
                                  <a:solidFill>
                                    <a:schemeClr val="tx1"/>
                                  </a:solidFill>
                                  <a:latin typeface="Cambria Math" panose="02040503050406030204" pitchFamily="18" charset="0"/>
                                </a:rPr>
                                <m:t>2</m:t>
                              </m:r>
                            </m:den>
                          </m:f>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𝑏</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𝑐</m:t>
                                  </m:r>
                                </m:sub>
                              </m:sSub>
                            </m:e>
                          </m:d>
                        </m:e>
                      </m:d>
                      <m:r>
                        <a:rPr lang="es-MX" sz="1400" b="0" i="0" smtClean="0">
                          <a:solidFill>
                            <a:schemeClr val="tx1"/>
                          </a:solidFill>
                          <a:latin typeface="Cambria Math" panose="02040503050406030204" pitchFamily="18" charset="0"/>
                        </a:rPr>
                        <m:t>,</m:t>
                      </m:r>
                      <m:r>
                        <a:rPr lang="es-MX" sz="1400" b="0" i="1"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m:rPr>
                              <m:sty m:val="p"/>
                            </m:rPr>
                            <a:rPr lang="es-AR" sz="1400" i="0">
                              <a:solidFill>
                                <a:schemeClr val="tx1"/>
                              </a:solidFill>
                              <a:latin typeface="Cambria Math" panose="02040503050406030204" pitchFamily="18" charset="0"/>
                            </a:rPr>
                            <m:t>β</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ad>
                            <m:radPr>
                              <m:degHide m:val="on"/>
                              <m:ctrlPr>
                                <a:rPr lang="es-AR" sz="1400" i="1">
                                  <a:solidFill>
                                    <a:schemeClr val="tx1"/>
                                  </a:solidFill>
                                  <a:latin typeface="Cambria Math" panose="02040503050406030204" pitchFamily="18" charset="0"/>
                                </a:rPr>
                              </m:ctrlPr>
                            </m:radPr>
                            <m:deg/>
                            <m:e>
                              <m:r>
                                <a:rPr lang="es-AR" sz="1400" i="0">
                                  <a:solidFill>
                                    <a:schemeClr val="tx1"/>
                                  </a:solidFill>
                                  <a:latin typeface="Cambria Math" panose="02040503050406030204" pitchFamily="18" charset="0"/>
                                </a:rPr>
                                <m:t>3</m:t>
                              </m:r>
                            </m:e>
                          </m:rad>
                        </m:num>
                        <m:den>
                          <m:r>
                            <a:rPr lang="es-AR" sz="1400" i="0">
                              <a:solidFill>
                                <a:schemeClr val="tx1"/>
                              </a:solidFill>
                              <a:latin typeface="Cambria Math" panose="02040503050406030204" pitchFamily="18" charset="0"/>
                            </a:rPr>
                            <m:t>3</m:t>
                          </m:r>
                        </m:den>
                      </m:f>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𝑏</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𝑐</m:t>
                              </m:r>
                            </m:sub>
                          </m:sSub>
                        </m:e>
                      </m:d>
                      <m:r>
                        <a:rPr lang="es-MX" sz="1400" b="0" i="1" smtClean="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MX" sz="1400" b="0" i="1" smtClean="0">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𝑒𝑣</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𝑎𝑡𝑎𝑛</m:t>
                      </m:r>
                      <m:r>
                        <a:rPr lang="es-AR" sz="1400" i="1">
                          <a:solidFill>
                            <a:schemeClr val="tx1"/>
                          </a:solidFill>
                          <a:latin typeface="Cambria Math" panose="02040503050406030204" pitchFamily="18" charset="0"/>
                        </a:rPr>
                        <m:t>2</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𝛽</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𝛼</m:t>
                              </m:r>
                            </m:sub>
                          </m:sSub>
                        </m:e>
                      </m:d>
                    </m:oMath>
                  </m:oMathPara>
                </a14:m>
                <a:endParaRPr lang="es-AR" sz="1400" dirty="0">
                  <a:solidFill>
                    <a:schemeClr val="tx1"/>
                  </a:solidFill>
                </a:endParaRPr>
              </a:p>
            </p:txBody>
          </p:sp>
        </mc:Choice>
        <mc:Fallback xmlns="">
          <p:sp>
            <p:nvSpPr>
              <p:cNvPr id="18" name="CuadroTexto 17">
                <a:extLst>
                  <a:ext uri="{FF2B5EF4-FFF2-40B4-BE49-F238E27FC236}">
                    <a16:creationId xmlns:a16="http://schemas.microsoft.com/office/drawing/2014/main" id="{A4CF5B00-C9CF-4CD5-B537-E04EDC1D436A}"/>
                  </a:ext>
                </a:extLst>
              </p:cNvPr>
              <p:cNvSpPr txBox="1">
                <a:spLocks noRot="1" noChangeAspect="1" noMove="1" noResize="1" noEditPoints="1" noAdjustHandles="1" noChangeArrowheads="1" noChangeShapeType="1" noTextEdit="1"/>
              </p:cNvSpPr>
              <p:nvPr/>
            </p:nvSpPr>
            <p:spPr>
              <a:xfrm>
                <a:off x="-159945" y="2776694"/>
                <a:ext cx="7878931" cy="601640"/>
              </a:xfrm>
              <a:prstGeom prst="rect">
                <a:avLst/>
              </a:prstGeom>
              <a:blipFill>
                <a:blip r:embed="rId6"/>
                <a:stretch>
                  <a:fillRect/>
                </a:stretch>
              </a:blipFill>
            </p:spPr>
            <p:txBody>
              <a:bodyPr/>
              <a:lstStyle/>
              <a:p>
                <a:r>
                  <a:rPr lang="es-AR">
                    <a:noFill/>
                  </a:rPr>
                  <a:t> </a:t>
                </a:r>
              </a:p>
            </p:txBody>
          </p:sp>
        </mc:Fallback>
      </mc:AlternateContent>
      <p:pic>
        <p:nvPicPr>
          <p:cNvPr id="22" name="Imagen 21">
            <a:extLst>
              <a:ext uri="{FF2B5EF4-FFF2-40B4-BE49-F238E27FC236}">
                <a16:creationId xmlns:a16="http://schemas.microsoft.com/office/drawing/2014/main" id="{2C92DD72-9256-4C6B-A5E8-DD345F69D29B}"/>
              </a:ext>
            </a:extLst>
          </p:cNvPr>
          <p:cNvPicPr/>
          <p:nvPr/>
        </p:nvPicPr>
        <p:blipFill>
          <a:blip r:embed="rId7"/>
          <a:stretch>
            <a:fillRect/>
          </a:stretch>
        </p:blipFill>
        <p:spPr>
          <a:xfrm>
            <a:off x="133462" y="3558766"/>
            <a:ext cx="4443273" cy="2579977"/>
          </a:xfrm>
          <a:prstGeom prst="rect">
            <a:avLst/>
          </a:prstGeom>
        </p:spPr>
      </p:pic>
      <p:sp>
        <p:nvSpPr>
          <p:cNvPr id="23" name="CuadroTexto 22">
            <a:extLst>
              <a:ext uri="{FF2B5EF4-FFF2-40B4-BE49-F238E27FC236}">
                <a16:creationId xmlns:a16="http://schemas.microsoft.com/office/drawing/2014/main" id="{F2607252-31E0-427A-88A9-1B6F9667DB38}"/>
              </a:ext>
            </a:extLst>
          </p:cNvPr>
          <p:cNvSpPr txBox="1"/>
          <p:nvPr/>
        </p:nvSpPr>
        <p:spPr>
          <a:xfrm>
            <a:off x="585927" y="6213565"/>
            <a:ext cx="3613212"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26— Evolución temporal del ángulo δ(t)</a:t>
            </a:r>
          </a:p>
          <a:p>
            <a:endParaRPr lang="es-AR" dirty="0"/>
          </a:p>
        </p:txBody>
      </p: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55C75207-FF13-4C24-B81D-1EC36030ED43}"/>
                  </a:ext>
                </a:extLst>
              </p:cNvPr>
              <p:cNvSpPr txBox="1"/>
              <p:nvPr/>
            </p:nvSpPr>
            <p:spPr>
              <a:xfrm>
                <a:off x="4872805" y="4384421"/>
                <a:ext cx="6190696" cy="1169551"/>
              </a:xfrm>
              <a:prstGeom prst="rect">
                <a:avLst/>
              </a:prstGeom>
              <a:noFill/>
            </p:spPr>
            <p:txBody>
              <a:bodyPr wrap="square">
                <a:spAutoFit/>
              </a:bodyPr>
              <a:lstStyle/>
              <a:p>
                <a:pPr algn="just"/>
                <a:r>
                  <a:rPr lang="es-AR" sz="1400" dirty="0">
                    <a:latin typeface="Calibri" panose="020F0502020204030204" pitchFamily="34" charset="0"/>
                    <a:ea typeface="Times New Roman" panose="02020603050405020304" pitchFamily="18" charset="0"/>
                  </a:rPr>
                  <a:t>S</a:t>
                </a:r>
                <a:r>
                  <a:rPr lang="es-AR" sz="1400" dirty="0">
                    <a:effectLst/>
                    <a:latin typeface="Calibri" panose="020F0502020204030204" pitchFamily="34" charset="0"/>
                    <a:ea typeface="Times New Roman" panose="02020603050405020304" pitchFamily="18" charset="0"/>
                  </a:rPr>
                  <a:t>e observa que </a:t>
                </a:r>
                <a14:m>
                  <m:oMath xmlns:m="http://schemas.openxmlformats.org/officeDocument/2006/math">
                    <m:r>
                      <a:rPr lang="es-AR" sz="1400" i="1">
                        <a:effectLst/>
                        <a:latin typeface="Cambria Math" panose="02040503050406030204" pitchFamily="18" charset="0"/>
                        <a:ea typeface="Times New Roman" panose="02020603050405020304" pitchFamily="18" charset="0"/>
                        <a:cs typeface="Calibri" panose="020F0502020204030204" pitchFamily="34" charset="0"/>
                      </a:rPr>
                      <m:t>𝛿</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r>
                      <a:rPr lang="es-AR" sz="1400" i="1">
                        <a:effectLst/>
                        <a:latin typeface="Cambria Math" panose="02040503050406030204" pitchFamily="18" charset="0"/>
                        <a:ea typeface="Times New Roman" panose="02020603050405020304" pitchFamily="18" charset="0"/>
                        <a:cs typeface="Calibri" panose="020F0502020204030204" pitchFamily="34" charset="0"/>
                      </a:rPr>
                      <m:t>)&gt;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oMath>
                </a14:m>
                <a:r>
                  <a:rPr lang="es-AR" sz="1400" dirty="0">
                    <a:effectLst/>
                    <a:latin typeface="Calibri" panose="020F0502020204030204" pitchFamily="34" charset="0"/>
                    <a:ea typeface="Times New Roman" panose="02020603050405020304" pitchFamily="18" charset="0"/>
                  </a:rPr>
                  <a:t> durante los intervalos correspondientes a motorización directa y frenado regenerativo en sentido inverso, mientras que </a:t>
                </a:r>
                <a14:m>
                  <m:oMath xmlns:m="http://schemas.openxmlformats.org/officeDocument/2006/math">
                    <m:r>
                      <a:rPr lang="es-AR" sz="1400" i="1">
                        <a:effectLst/>
                        <a:latin typeface="Cambria Math" panose="02040503050406030204" pitchFamily="18" charset="0"/>
                        <a:ea typeface="Times New Roman" panose="02020603050405020304" pitchFamily="18" charset="0"/>
                        <a:cs typeface="Calibri" panose="020F0502020204030204" pitchFamily="34" charset="0"/>
                      </a:rPr>
                      <m:t>𝛿</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r>
                      <a:rPr lang="es-AR" sz="1400" i="1">
                        <a:effectLst/>
                        <a:latin typeface="Cambria Math" panose="02040503050406030204" pitchFamily="18" charset="0"/>
                        <a:ea typeface="Times New Roman" panose="02020603050405020304" pitchFamily="18" charset="0"/>
                        <a:cs typeface="Calibri" panose="020F0502020204030204" pitchFamily="34" charset="0"/>
                      </a:rPr>
                      <m:t>)&lt;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oMath>
                </a14:m>
                <a:r>
                  <a:rPr lang="es-AR" sz="1400" dirty="0">
                    <a:effectLst/>
                    <a:latin typeface="Calibri" panose="020F0502020204030204" pitchFamily="34" charset="0"/>
                    <a:ea typeface="Times New Roman" panose="02020603050405020304" pitchFamily="18" charset="0"/>
                  </a:rPr>
                  <a:t> en los casos de frenado regenerativo en sentido directo y motorización en inverso. Esta correspondencia confirma la consistencia entre la evolución del desfasaje electromagnético y el cuadrante de operación del sistema.</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24" name="CuadroTexto 23">
                <a:extLst>
                  <a:ext uri="{FF2B5EF4-FFF2-40B4-BE49-F238E27FC236}">
                    <a16:creationId xmlns:a16="http://schemas.microsoft.com/office/drawing/2014/main" id="{55C75207-FF13-4C24-B81D-1EC36030ED43}"/>
                  </a:ext>
                </a:extLst>
              </p:cNvPr>
              <p:cNvSpPr txBox="1">
                <a:spLocks noRot="1" noChangeAspect="1" noMove="1" noResize="1" noEditPoints="1" noAdjustHandles="1" noChangeArrowheads="1" noChangeShapeType="1" noTextEdit="1"/>
              </p:cNvSpPr>
              <p:nvPr/>
            </p:nvSpPr>
            <p:spPr>
              <a:xfrm>
                <a:off x="4872805" y="4384421"/>
                <a:ext cx="6190696" cy="1169551"/>
              </a:xfrm>
              <a:prstGeom prst="rect">
                <a:avLst/>
              </a:prstGeom>
              <a:blipFill>
                <a:blip r:embed="rId8"/>
                <a:stretch>
                  <a:fillRect l="-295" t="-1042" r="-197" b="-4688"/>
                </a:stretch>
              </a:blipFill>
            </p:spPr>
            <p:txBody>
              <a:bodyPr/>
              <a:lstStyle/>
              <a:p>
                <a:r>
                  <a:rPr lang="es-AR">
                    <a:noFill/>
                  </a:rPr>
                  <a:t> </a:t>
                </a:r>
              </a:p>
            </p:txBody>
          </p:sp>
        </mc:Fallback>
      </mc:AlternateContent>
      <p:sp>
        <p:nvSpPr>
          <p:cNvPr id="17" name="Shape 2">
            <a:extLst>
              <a:ext uri="{FF2B5EF4-FFF2-40B4-BE49-F238E27FC236}">
                <a16:creationId xmlns:a16="http://schemas.microsoft.com/office/drawing/2014/main" id="{1CE01814-9600-4AEF-BDF0-744B4D83E99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1AC5BD68-9430-46F7-90AE-2D05E2EA6DF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71994" y="130174"/>
            <a:ext cx="11551615" cy="658368"/>
          </a:xfrm>
          <a:prstGeom prst="rect">
            <a:avLst/>
          </a:prstGeom>
          <a:noFill/>
        </p:spPr>
        <p:txBody>
          <a:bodyPr wrap="none">
            <a:spAutoFit/>
          </a:bodyPr>
          <a:lstStyle/>
          <a:p>
            <a:pPr algn="l"/>
            <a:r>
              <a:rPr sz="2100" b="1" dirty="0">
                <a:solidFill>
                  <a:srgbClr val="FFFFFF"/>
                </a:solidFill>
                <a:latin typeface="Cambria"/>
              </a:rPr>
              <a:t>Respuesta </a:t>
            </a:r>
            <a:r>
              <a:rPr sz="2100" b="1" dirty="0" err="1">
                <a:solidFill>
                  <a:srgbClr val="FFFFFF"/>
                </a:solidFill>
                <a:latin typeface="Cambria"/>
              </a:rPr>
              <a:t>dinámica</a:t>
            </a:r>
            <a:r>
              <a:rPr sz="2100" b="1" dirty="0">
                <a:solidFill>
                  <a:srgbClr val="FFFFFF"/>
                </a:solidFill>
                <a:latin typeface="Cambria"/>
              </a:rPr>
              <a:t> — </a:t>
            </a:r>
            <a:r>
              <a:rPr sz="2100" b="1" dirty="0" err="1">
                <a:solidFill>
                  <a:srgbClr val="FFFFFF"/>
                </a:solidFill>
                <a:latin typeface="Cambria"/>
              </a:rPr>
              <a:t>Valores</a:t>
            </a:r>
            <a:r>
              <a:rPr sz="2100" b="1" dirty="0">
                <a:solidFill>
                  <a:srgbClr val="FFFFFF"/>
                </a:solidFill>
                <a:latin typeface="Cambria"/>
              </a:rPr>
              <a:t> de </a:t>
            </a:r>
            <a:r>
              <a:rPr sz="2100" b="1" dirty="0" err="1">
                <a:solidFill>
                  <a:srgbClr val="FFFFFF"/>
                </a:solidFill>
                <a:latin typeface="Cambria"/>
              </a:rPr>
              <a:t>establecimiento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p:sp>
        <p:nvSpPr>
          <p:cNvPr id="7" name="TextBox 6"/>
          <p:cNvSpPr txBox="1"/>
          <p:nvPr/>
        </p:nvSpPr>
        <p:spPr>
          <a:xfrm>
            <a:off x="91439" y="735784"/>
            <a:ext cx="11430000" cy="411480"/>
          </a:xfrm>
          <a:prstGeom prst="rect">
            <a:avLst/>
          </a:prstGeom>
          <a:noFill/>
        </p:spPr>
        <p:txBody>
          <a:bodyPr wrap="square">
            <a:spAutoFit/>
          </a:bodyPr>
          <a:lstStyle/>
          <a:p>
            <a:pPr algn="l"/>
            <a:r>
              <a:rPr sz="1400" b="0" i="0">
                <a:solidFill>
                  <a:srgbClr val="1A1A2E"/>
                </a:solidFill>
                <a:latin typeface="Calibri"/>
              </a:rPr>
              <a:t>Resultados cuantitativos de la respuesta transitoria del sistema NL:</a:t>
            </a:r>
          </a:p>
        </p:txBody>
      </p:sp>
      <mc:AlternateContent xmlns:mc="http://schemas.openxmlformats.org/markup-compatibility/2006" xmlns:a14="http://schemas.microsoft.com/office/drawing/2010/main">
        <mc:Choice Requires="a14">
          <p:sp>
            <p:nvSpPr>
              <p:cNvPr id="8" name="TextBox 7"/>
              <p:cNvSpPr txBox="1"/>
              <p:nvPr/>
            </p:nvSpPr>
            <p:spPr>
              <a:xfrm>
                <a:off x="320040" y="1099834"/>
                <a:ext cx="5486400" cy="307777"/>
              </a:xfrm>
              <a:prstGeom prst="rect">
                <a:avLst/>
              </a:prstGeom>
              <a:noFill/>
            </p:spPr>
            <p:txBody>
              <a:bodyPr wrap="square">
                <a:spAutoFit/>
              </a:bodyPr>
              <a:lstStyle/>
              <a:p>
                <a:pPr algn="l"/>
                <a:r>
                  <a:rPr lang="es-AR" sz="1400" b="1" i="0" dirty="0">
                    <a:solidFill>
                      <a:srgbClr val="1A3A6B"/>
                    </a:solidFill>
                    <a:latin typeface="Calibri"/>
                  </a:rPr>
                  <a:t>Tabla para </a:t>
                </a:r>
                <a14:m>
                  <m:oMath xmlns:m="http://schemas.openxmlformats.org/officeDocument/2006/math">
                    <m:sSub>
                      <m:sSubPr>
                        <m:ctrlPr>
                          <a:rPr lang="es-AR" sz="1400" b="1" i="1">
                            <a:solidFill>
                              <a:srgbClr val="1A3A6B"/>
                            </a:solidFill>
                            <a:latin typeface="Cambria Math" panose="02040503050406030204" pitchFamily="18" charset="0"/>
                          </a:rPr>
                        </m:ctrlPr>
                      </m:sSubPr>
                      <m:e>
                        <m:r>
                          <a:rPr lang="es-AR" sz="1400" b="1" i="1">
                            <a:solidFill>
                              <a:srgbClr val="1A3A6B"/>
                            </a:solidFill>
                            <a:latin typeface="Cambria Math" panose="02040503050406030204" pitchFamily="18" charset="0"/>
                          </a:rPr>
                          <m:t>𝝎</m:t>
                        </m:r>
                      </m:e>
                      <m:sub>
                        <m:r>
                          <a:rPr lang="es-AR" sz="1400" b="1" i="1">
                            <a:solidFill>
                              <a:srgbClr val="1A3A6B"/>
                            </a:solidFill>
                            <a:latin typeface="Cambria Math" panose="02040503050406030204" pitchFamily="18" charset="0"/>
                          </a:rPr>
                          <m:t>𝒎</m:t>
                        </m:r>
                      </m:sub>
                    </m:sSub>
                  </m:oMath>
                </a14:m>
                <a:r>
                  <a:rPr lang="es-AR" sz="1400" b="1" dirty="0">
                    <a:solidFill>
                      <a:srgbClr val="1A3A6B"/>
                    </a:solidFill>
                    <a:latin typeface="Calibri"/>
                  </a:rPr>
                  <a:t> (t</a:t>
                </a:r>
                <a:r>
                  <a:rPr lang="es-AR" sz="1400" b="1" i="0" dirty="0">
                    <a:solidFill>
                      <a:srgbClr val="1A3A6B"/>
                    </a:solidFill>
                    <a:latin typeface="Calibri"/>
                  </a:rPr>
                  <a:t>):</a:t>
                </a:r>
              </a:p>
            </p:txBody>
          </p:sp>
        </mc:Choice>
        <mc:Fallback xmlns="">
          <p:sp>
            <p:nvSpPr>
              <p:cNvPr id="8" name="TextBox 7"/>
              <p:cNvSpPr txBox="1">
                <a:spLocks noRot="1" noChangeAspect="1" noMove="1" noResize="1" noEditPoints="1" noAdjustHandles="1" noChangeArrowheads="1" noChangeShapeType="1" noTextEdit="1"/>
              </p:cNvSpPr>
              <p:nvPr/>
            </p:nvSpPr>
            <p:spPr>
              <a:xfrm>
                <a:off x="320040" y="1099834"/>
                <a:ext cx="5486400" cy="307777"/>
              </a:xfrm>
              <a:prstGeom prst="rect">
                <a:avLst/>
              </a:prstGeom>
              <a:blipFill>
                <a:blip r:embed="rId2"/>
                <a:stretch>
                  <a:fillRect l="-333" t="-1961" b="-1960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365760" y="3669044"/>
                <a:ext cx="7772400" cy="327077"/>
              </a:xfrm>
              <a:prstGeom prst="rect">
                <a:avLst/>
              </a:prstGeom>
              <a:noFill/>
            </p:spPr>
            <p:txBody>
              <a:bodyPr wrap="square">
                <a:spAutoFit/>
              </a:bodyPr>
              <a:lstStyle/>
              <a:p>
                <a:pPr algn="l"/>
                <a:r>
                  <a:rPr lang="es-AR" sz="1400" b="1" i="0" dirty="0">
                    <a:solidFill>
                      <a:srgbClr val="1A3A6B"/>
                    </a:solidFill>
                    <a:latin typeface="Calibri"/>
                  </a:rPr>
                  <a:t>Tabla para </a:t>
                </a:r>
                <a14:m>
                  <m:oMath xmlns:m="http://schemas.openxmlformats.org/officeDocument/2006/math">
                    <m:sSubSup>
                      <m:sSubSupPr>
                        <m:ctrlPr>
                          <a:rPr lang="es-AR" sz="1400" b="1" i="1">
                            <a:solidFill>
                              <a:srgbClr val="1A3A6B"/>
                            </a:solidFill>
                            <a:latin typeface="Cambria Math" panose="02040503050406030204" pitchFamily="18" charset="0"/>
                          </a:rPr>
                        </m:ctrlPr>
                      </m:sSubSupPr>
                      <m:e>
                        <m:r>
                          <a:rPr lang="es-AR" sz="1400" b="1" i="1">
                            <a:solidFill>
                              <a:srgbClr val="1A3A6B"/>
                            </a:solidFill>
                            <a:latin typeface="Cambria Math" panose="02040503050406030204" pitchFamily="18" charset="0"/>
                          </a:rPr>
                          <m:t>𝒊</m:t>
                        </m:r>
                      </m:e>
                      <m:sub>
                        <m:r>
                          <a:rPr lang="es-AR" sz="1400" b="1" i="1">
                            <a:solidFill>
                              <a:srgbClr val="1A3A6B"/>
                            </a:solidFill>
                            <a:latin typeface="Cambria Math" panose="02040503050406030204" pitchFamily="18" charset="0"/>
                          </a:rPr>
                          <m:t>𝒒𝒔</m:t>
                        </m:r>
                      </m:sub>
                      <m:sup>
                        <m:r>
                          <a:rPr lang="es-AR" sz="1400" b="1" i="1">
                            <a:solidFill>
                              <a:srgbClr val="1A3A6B"/>
                            </a:solidFill>
                            <a:latin typeface="Cambria Math" panose="02040503050406030204" pitchFamily="18" charset="0"/>
                          </a:rPr>
                          <m:t>𝒓</m:t>
                        </m:r>
                      </m:sup>
                    </m:sSubSup>
                    <m:d>
                      <m:dPr>
                        <m:ctrlPr>
                          <a:rPr lang="es-AR" sz="1400" b="1" i="1">
                            <a:solidFill>
                              <a:srgbClr val="1A3A6B"/>
                            </a:solidFill>
                            <a:latin typeface="Cambria Math" panose="02040503050406030204" pitchFamily="18" charset="0"/>
                          </a:rPr>
                        </m:ctrlPr>
                      </m:dPr>
                      <m:e>
                        <m:r>
                          <a:rPr lang="es-AR" sz="1400" b="1" i="1">
                            <a:solidFill>
                              <a:srgbClr val="1A3A6B"/>
                            </a:solidFill>
                            <a:latin typeface="Cambria Math" panose="02040503050406030204" pitchFamily="18" charset="0"/>
                          </a:rPr>
                          <m:t>𝒕</m:t>
                        </m:r>
                      </m:e>
                    </m:d>
                  </m:oMath>
                </a14:m>
                <a:r>
                  <a:rPr lang="es-AR" sz="1400" b="1" dirty="0">
                    <a:solidFill>
                      <a:srgbClr val="1A3A6B"/>
                    </a:solidFill>
                    <a:latin typeface="Calibri"/>
                  </a:rPr>
                  <a:t>:</a:t>
                </a:r>
              </a:p>
            </p:txBody>
          </p:sp>
        </mc:Choice>
        <mc:Fallback xmlns="">
          <p:sp>
            <p:nvSpPr>
              <p:cNvPr id="10" name="TextBox 9"/>
              <p:cNvSpPr txBox="1">
                <a:spLocks noRot="1" noChangeAspect="1" noMove="1" noResize="1" noEditPoints="1" noAdjustHandles="1" noChangeArrowheads="1" noChangeShapeType="1" noTextEdit="1"/>
              </p:cNvSpPr>
              <p:nvPr/>
            </p:nvSpPr>
            <p:spPr>
              <a:xfrm>
                <a:off x="365760" y="3669044"/>
                <a:ext cx="7772400" cy="327077"/>
              </a:xfrm>
              <a:prstGeom prst="rect">
                <a:avLst/>
              </a:prstGeom>
              <a:blipFill>
                <a:blip r:embed="rId3"/>
                <a:stretch>
                  <a:fillRect l="-235" t="-1852" b="-12963"/>
                </a:stretch>
              </a:blipFill>
            </p:spPr>
            <p:txBody>
              <a:bodyPr/>
              <a:lstStyle/>
              <a:p>
                <a:r>
                  <a:rPr lang="es-AR">
                    <a:noFill/>
                  </a:rPr>
                  <a:t> </a:t>
                </a:r>
              </a:p>
            </p:txBody>
          </p:sp>
        </mc:Fallback>
      </mc:AlternateContent>
      <p:graphicFrame>
        <p:nvGraphicFramePr>
          <p:cNvPr id="13" name="Tabla 12">
            <a:extLst>
              <a:ext uri="{FF2B5EF4-FFF2-40B4-BE49-F238E27FC236}">
                <a16:creationId xmlns:a16="http://schemas.microsoft.com/office/drawing/2014/main" id="{1F4B70D8-613F-4731-8293-30C4008554E1}"/>
              </a:ext>
            </a:extLst>
          </p:cNvPr>
          <p:cNvGraphicFramePr>
            <a:graphicFrameLocks noGrp="1"/>
          </p:cNvGraphicFramePr>
          <p:nvPr>
            <p:extLst>
              <p:ext uri="{D42A27DB-BD31-4B8C-83A1-F6EECF244321}">
                <p14:modId xmlns:p14="http://schemas.microsoft.com/office/powerpoint/2010/main" val="4082026142"/>
              </p:ext>
            </p:extLst>
          </p:nvPr>
        </p:nvGraphicFramePr>
        <p:xfrm>
          <a:off x="365760" y="1485027"/>
          <a:ext cx="5937885" cy="2065338"/>
        </p:xfrm>
        <a:graphic>
          <a:graphicData uri="http://schemas.openxmlformats.org/drawingml/2006/table">
            <a:tbl>
              <a:tblPr firstRow="1" firstCol="1" bandRow="1">
                <a:tableStyleId>{5C22544A-7EE6-4342-B048-85BDC9FD1C3A}</a:tableStyleId>
              </a:tblPr>
              <a:tblGrid>
                <a:gridCol w="896967">
                  <a:extLst>
                    <a:ext uri="{9D8B030D-6E8A-4147-A177-3AD203B41FA5}">
                      <a16:colId xmlns:a16="http://schemas.microsoft.com/office/drawing/2014/main" val="3106504092"/>
                    </a:ext>
                  </a:extLst>
                </a:gridCol>
                <a:gridCol w="1259436">
                  <a:extLst>
                    <a:ext uri="{9D8B030D-6E8A-4147-A177-3AD203B41FA5}">
                      <a16:colId xmlns:a16="http://schemas.microsoft.com/office/drawing/2014/main" val="1952677596"/>
                    </a:ext>
                  </a:extLst>
                </a:gridCol>
                <a:gridCol w="723668">
                  <a:extLst>
                    <a:ext uri="{9D8B030D-6E8A-4147-A177-3AD203B41FA5}">
                      <a16:colId xmlns:a16="http://schemas.microsoft.com/office/drawing/2014/main" val="812317229"/>
                    </a:ext>
                  </a:extLst>
                </a:gridCol>
                <a:gridCol w="1437814">
                  <a:extLst>
                    <a:ext uri="{9D8B030D-6E8A-4147-A177-3AD203B41FA5}">
                      <a16:colId xmlns:a16="http://schemas.microsoft.com/office/drawing/2014/main" val="2165237150"/>
                    </a:ext>
                  </a:extLst>
                </a:gridCol>
                <a:gridCol w="1620000">
                  <a:extLst>
                    <a:ext uri="{9D8B030D-6E8A-4147-A177-3AD203B41FA5}">
                      <a16:colId xmlns:a16="http://schemas.microsoft.com/office/drawing/2014/main" val="3890703757"/>
                    </a:ext>
                  </a:extLst>
                </a:gridCol>
              </a:tblGrid>
              <a:tr h="314325">
                <a:tc>
                  <a:txBody>
                    <a:bodyPr/>
                    <a:lstStyle/>
                    <a:p>
                      <a:pPr algn="ctr">
                        <a:lnSpc>
                          <a:spcPct val="107000"/>
                        </a:lnSpc>
                        <a:spcAft>
                          <a:spcPts val="800"/>
                        </a:spcAft>
                      </a:pPr>
                      <a:r>
                        <a:rPr lang="es-AR" sz="1100">
                          <a:effectLst/>
                        </a:rPr>
                        <a:t>Perturbación (s)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n-US" sz="1100" dirty="0">
                          <a:effectLst/>
                        </a:rPr>
                        <a:t>Rise time / Fall time (ms)</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Settling time (ms)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Overshoot/Undershoot (%)</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Valor de establecimiento (rad/s)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529770778"/>
                  </a:ext>
                </a:extLst>
              </a:tr>
              <a:tr h="190500">
                <a:tc>
                  <a:txBody>
                    <a:bodyPr/>
                    <a:lstStyle/>
                    <a:p>
                      <a:pPr algn="ctr">
                        <a:lnSpc>
                          <a:spcPct val="107000"/>
                        </a:lnSpc>
                        <a:spcAft>
                          <a:spcPts val="800"/>
                        </a:spcAft>
                      </a:pPr>
                      <a:r>
                        <a:rPr lang="es-AR" sz="1100">
                          <a:effectLst/>
                        </a:rPr>
                        <a:t>0.1000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9.5074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68.2970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22.9710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403.0008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409123112"/>
                  </a:ext>
                </a:extLst>
              </a:tr>
              <a:tr h="190500">
                <a:tc>
                  <a:txBody>
                    <a:bodyPr/>
                    <a:lstStyle/>
                    <a:p>
                      <a:pPr algn="ctr">
                        <a:lnSpc>
                          <a:spcPct val="107000"/>
                        </a:lnSpc>
                        <a:spcAft>
                          <a:spcPts val="800"/>
                        </a:spcAft>
                      </a:pPr>
                      <a:r>
                        <a:rPr lang="es-AR" sz="1100">
                          <a:effectLst/>
                        </a:rPr>
                        <a:t>0.3000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163.2970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27.1259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387.9859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403911481"/>
                  </a:ext>
                </a:extLst>
              </a:tr>
              <a:tr h="190500">
                <a:tc>
                  <a:txBody>
                    <a:bodyPr/>
                    <a:lstStyle/>
                    <a:p>
                      <a:pPr algn="ctr">
                        <a:lnSpc>
                          <a:spcPct val="107000"/>
                        </a:lnSpc>
                        <a:spcAft>
                          <a:spcPts val="800"/>
                        </a:spcAft>
                      </a:pPr>
                      <a:r>
                        <a:rPr lang="es-AR" sz="1100">
                          <a:effectLst/>
                        </a:rPr>
                        <a:t>0.5000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4.6359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143.5687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42.2414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414.4037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848523473"/>
                  </a:ext>
                </a:extLst>
              </a:tr>
              <a:tr h="190500">
                <a:tc>
                  <a:txBody>
                    <a:bodyPr/>
                    <a:lstStyle/>
                    <a:p>
                      <a:pPr algn="ctr">
                        <a:lnSpc>
                          <a:spcPct val="107000"/>
                        </a:lnSpc>
                        <a:spcAft>
                          <a:spcPts val="800"/>
                        </a:spcAft>
                      </a:pPr>
                      <a:r>
                        <a:rPr lang="es-AR" sz="1100">
                          <a:effectLst/>
                        </a:rPr>
                        <a:t>0.7000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8.6422</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61.5923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21.6670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8.6083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751484942"/>
                  </a:ext>
                </a:extLst>
              </a:tr>
              <a:tr h="190500">
                <a:tc>
                  <a:txBody>
                    <a:bodyPr/>
                    <a:lstStyle/>
                    <a:p>
                      <a:pPr algn="ctr">
                        <a:lnSpc>
                          <a:spcPct val="107000"/>
                        </a:lnSpc>
                        <a:spcAft>
                          <a:spcPts val="800"/>
                        </a:spcAft>
                      </a:pPr>
                      <a:r>
                        <a:rPr lang="es-AR" sz="1100">
                          <a:effectLst/>
                        </a:rPr>
                        <a:t>0.9000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60.5923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41.7937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-4.6667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531559953"/>
                  </a:ext>
                </a:extLst>
              </a:tr>
              <a:tr h="190500">
                <a:tc>
                  <a:txBody>
                    <a:bodyPr/>
                    <a:lstStyle/>
                    <a:p>
                      <a:pPr algn="ctr">
                        <a:lnSpc>
                          <a:spcPct val="107000"/>
                        </a:lnSpc>
                        <a:spcAft>
                          <a:spcPts val="800"/>
                        </a:spcAft>
                      </a:pPr>
                      <a:r>
                        <a:rPr lang="es-AR" sz="1100">
                          <a:effectLst/>
                        </a:rPr>
                        <a:t>1.1000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8.7818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221.1544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17.8298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-422.6227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313798042"/>
                  </a:ext>
                </a:extLst>
              </a:tr>
              <a:tr h="190500">
                <a:tc>
                  <a:txBody>
                    <a:bodyPr/>
                    <a:lstStyle/>
                    <a:p>
                      <a:pPr algn="ctr">
                        <a:lnSpc>
                          <a:spcPct val="107000"/>
                        </a:lnSpc>
                        <a:spcAft>
                          <a:spcPts val="800"/>
                        </a:spcAft>
                      </a:pPr>
                      <a:r>
                        <a:rPr lang="es-AR" sz="1100">
                          <a:effectLst/>
                        </a:rPr>
                        <a:t>1.5000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4.8188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174.4296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27.2786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-392.6159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954282196"/>
                  </a:ext>
                </a:extLst>
              </a:tr>
              <a:tr h="190500">
                <a:tc>
                  <a:txBody>
                    <a:bodyPr/>
                    <a:lstStyle/>
                    <a:p>
                      <a:pPr algn="ctr">
                        <a:lnSpc>
                          <a:spcPct val="107000"/>
                        </a:lnSpc>
                        <a:spcAft>
                          <a:spcPts val="800"/>
                        </a:spcAft>
                      </a:pPr>
                      <a:r>
                        <a:rPr lang="es-AR" sz="1100">
                          <a:effectLst/>
                        </a:rPr>
                        <a:t>1.7000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8.7800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51.1454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20.8746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13.5649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83490017"/>
                  </a:ext>
                </a:extLst>
              </a:tr>
              <a:tr h="190500">
                <a:tc>
                  <a:txBody>
                    <a:bodyPr/>
                    <a:lstStyle/>
                    <a:p>
                      <a:pPr algn="ctr">
                        <a:lnSpc>
                          <a:spcPct val="107000"/>
                        </a:lnSpc>
                        <a:spcAft>
                          <a:spcPts val="800"/>
                        </a:spcAft>
                      </a:pPr>
                      <a:r>
                        <a:rPr lang="es-AR" sz="1100">
                          <a:effectLst/>
                        </a:rPr>
                        <a:t>1.9000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60.1454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40.0128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dirty="0">
                          <a:effectLst/>
                        </a:rPr>
                        <a:t>0.0333</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703141773"/>
                  </a:ext>
                </a:extLst>
              </a:tr>
            </a:tbl>
          </a:graphicData>
        </a:graphic>
      </p:graphicFrame>
      <p:graphicFrame>
        <p:nvGraphicFramePr>
          <p:cNvPr id="14" name="Tabla 13">
            <a:extLst>
              <a:ext uri="{FF2B5EF4-FFF2-40B4-BE49-F238E27FC236}">
                <a16:creationId xmlns:a16="http://schemas.microsoft.com/office/drawing/2014/main" id="{CB7DB54C-DBB3-4373-B86C-B9E68FFC4667}"/>
              </a:ext>
            </a:extLst>
          </p:cNvPr>
          <p:cNvGraphicFramePr>
            <a:graphicFrameLocks noGrp="1"/>
          </p:cNvGraphicFramePr>
          <p:nvPr>
            <p:extLst>
              <p:ext uri="{D42A27DB-BD31-4B8C-83A1-F6EECF244321}">
                <p14:modId xmlns:p14="http://schemas.microsoft.com/office/powerpoint/2010/main" val="2202876231"/>
              </p:ext>
            </p:extLst>
          </p:nvPr>
        </p:nvGraphicFramePr>
        <p:xfrm>
          <a:off x="365760" y="4079466"/>
          <a:ext cx="5937886" cy="2065338"/>
        </p:xfrm>
        <a:graphic>
          <a:graphicData uri="http://schemas.openxmlformats.org/drawingml/2006/table">
            <a:tbl>
              <a:tblPr firstRow="1" firstCol="1" bandRow="1">
                <a:tableStyleId>{5C22544A-7EE6-4342-B048-85BDC9FD1C3A}</a:tableStyleId>
              </a:tblPr>
              <a:tblGrid>
                <a:gridCol w="838932">
                  <a:extLst>
                    <a:ext uri="{9D8B030D-6E8A-4147-A177-3AD203B41FA5}">
                      <a16:colId xmlns:a16="http://schemas.microsoft.com/office/drawing/2014/main" val="834482735"/>
                    </a:ext>
                  </a:extLst>
                </a:gridCol>
                <a:gridCol w="1316780">
                  <a:extLst>
                    <a:ext uri="{9D8B030D-6E8A-4147-A177-3AD203B41FA5}">
                      <a16:colId xmlns:a16="http://schemas.microsoft.com/office/drawing/2014/main" val="2017278083"/>
                    </a:ext>
                  </a:extLst>
                </a:gridCol>
                <a:gridCol w="723436">
                  <a:extLst>
                    <a:ext uri="{9D8B030D-6E8A-4147-A177-3AD203B41FA5}">
                      <a16:colId xmlns:a16="http://schemas.microsoft.com/office/drawing/2014/main" val="2706014966"/>
                    </a:ext>
                  </a:extLst>
                </a:gridCol>
                <a:gridCol w="1431007">
                  <a:extLst>
                    <a:ext uri="{9D8B030D-6E8A-4147-A177-3AD203B41FA5}">
                      <a16:colId xmlns:a16="http://schemas.microsoft.com/office/drawing/2014/main" val="1613901583"/>
                    </a:ext>
                  </a:extLst>
                </a:gridCol>
                <a:gridCol w="1627731">
                  <a:extLst>
                    <a:ext uri="{9D8B030D-6E8A-4147-A177-3AD203B41FA5}">
                      <a16:colId xmlns:a16="http://schemas.microsoft.com/office/drawing/2014/main" val="2576538303"/>
                    </a:ext>
                  </a:extLst>
                </a:gridCol>
              </a:tblGrid>
              <a:tr h="190500">
                <a:tc>
                  <a:txBody>
                    <a:bodyPr/>
                    <a:lstStyle/>
                    <a:p>
                      <a:pPr algn="ctr">
                        <a:lnSpc>
                          <a:spcPct val="107000"/>
                        </a:lnSpc>
                        <a:spcBef>
                          <a:spcPts val="600"/>
                        </a:spcBef>
                        <a:spcAft>
                          <a:spcPts val="800"/>
                        </a:spcAft>
                      </a:pPr>
                      <a:r>
                        <a:rPr lang="es-AR" sz="1100">
                          <a:effectLst/>
                        </a:rPr>
                        <a:t>Perturbación (s)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n-US" sz="1100">
                          <a:effectLst/>
                        </a:rPr>
                        <a:t>Rise time / Fall time (ms)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Settling time (ms)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Overshoot/Undershoot (%)</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Valor de establecimiento (A)</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3118550658"/>
                  </a:ext>
                </a:extLst>
              </a:tr>
              <a:tr h="190500">
                <a:tc>
                  <a:txBody>
                    <a:bodyPr/>
                    <a:lstStyle/>
                    <a:p>
                      <a:pPr algn="ctr">
                        <a:lnSpc>
                          <a:spcPct val="107000"/>
                        </a:lnSpc>
                        <a:spcAft>
                          <a:spcPts val="800"/>
                        </a:spcAft>
                      </a:pPr>
                      <a:r>
                        <a:rPr lang="es-AR" sz="1100">
                          <a:effectLst/>
                        </a:rPr>
                        <a:t>0.1000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3897.8249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0.2846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554195073"/>
                  </a:ext>
                </a:extLst>
              </a:tr>
              <a:tr h="190500">
                <a:tc>
                  <a:txBody>
                    <a:bodyPr/>
                    <a:lstStyle/>
                    <a:p>
                      <a:pPr algn="ctr">
                        <a:lnSpc>
                          <a:spcPct val="107000"/>
                        </a:lnSpc>
                        <a:spcAft>
                          <a:spcPts val="800"/>
                        </a:spcAft>
                      </a:pPr>
                      <a:r>
                        <a:rPr lang="es-AR" sz="1100">
                          <a:effectLst/>
                        </a:rPr>
                        <a:t>0.3000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164.2970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8.7578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1.1150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880361233"/>
                  </a:ext>
                </a:extLst>
              </a:tr>
              <a:tr h="190500">
                <a:tc>
                  <a:txBody>
                    <a:bodyPr/>
                    <a:lstStyle/>
                    <a:p>
                      <a:pPr algn="ctr">
                        <a:lnSpc>
                          <a:spcPct val="107000"/>
                        </a:lnSpc>
                        <a:spcAft>
                          <a:spcPts val="800"/>
                        </a:spcAft>
                      </a:pPr>
                      <a:r>
                        <a:rPr lang="es-AR" sz="1100">
                          <a:effectLst/>
                        </a:rPr>
                        <a:t>0.5000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138.5687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20.8922</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-0.3366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536761076"/>
                  </a:ext>
                </a:extLst>
              </a:tr>
              <a:tr h="190500">
                <a:tc>
                  <a:txBody>
                    <a:bodyPr/>
                    <a:lstStyle/>
                    <a:p>
                      <a:pPr algn="ctr">
                        <a:lnSpc>
                          <a:spcPct val="107000"/>
                        </a:lnSpc>
                        <a:spcAft>
                          <a:spcPts val="800"/>
                        </a:spcAft>
                      </a:pPr>
                      <a:r>
                        <a:rPr lang="es-AR" sz="1100">
                          <a:effectLst/>
                        </a:rPr>
                        <a:t>0.7000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119.5923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8568.3973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-0.4693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621564180"/>
                  </a:ext>
                </a:extLst>
              </a:tr>
              <a:tr h="190500">
                <a:tc>
                  <a:txBody>
                    <a:bodyPr/>
                    <a:lstStyle/>
                    <a:p>
                      <a:pPr algn="ctr">
                        <a:lnSpc>
                          <a:spcPct val="107000"/>
                        </a:lnSpc>
                        <a:spcAft>
                          <a:spcPts val="800"/>
                        </a:spcAft>
                      </a:pPr>
                      <a:r>
                        <a:rPr lang="es-AR" sz="1100">
                          <a:effectLst/>
                        </a:rPr>
                        <a:t>0.9000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51.5923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21.2329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0.2543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398590368"/>
                  </a:ext>
                </a:extLst>
              </a:tr>
              <a:tr h="190500">
                <a:tc>
                  <a:txBody>
                    <a:bodyPr/>
                    <a:lstStyle/>
                    <a:p>
                      <a:pPr algn="ctr">
                        <a:lnSpc>
                          <a:spcPct val="107000"/>
                        </a:lnSpc>
                        <a:spcAft>
                          <a:spcPts val="800"/>
                        </a:spcAft>
                      </a:pPr>
                      <a:r>
                        <a:rPr lang="es-AR" sz="1100">
                          <a:effectLst/>
                        </a:rPr>
                        <a:t>1.1000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328.0817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0.7804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352126122"/>
                  </a:ext>
                </a:extLst>
              </a:tr>
              <a:tr h="190500">
                <a:tc>
                  <a:txBody>
                    <a:bodyPr/>
                    <a:lstStyle/>
                    <a:p>
                      <a:pPr algn="ctr">
                        <a:lnSpc>
                          <a:spcPct val="107000"/>
                        </a:lnSpc>
                        <a:spcAft>
                          <a:spcPts val="800"/>
                        </a:spcAft>
                      </a:pPr>
                      <a:r>
                        <a:rPr lang="es-AR" sz="1100">
                          <a:effectLst/>
                        </a:rPr>
                        <a:t>1.5000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173.4296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9.5889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-0.8365</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644914324"/>
                  </a:ext>
                </a:extLst>
              </a:tr>
              <a:tr h="190500">
                <a:tc>
                  <a:txBody>
                    <a:bodyPr/>
                    <a:lstStyle/>
                    <a:p>
                      <a:pPr algn="ctr">
                        <a:lnSpc>
                          <a:spcPct val="107000"/>
                        </a:lnSpc>
                        <a:spcAft>
                          <a:spcPts val="800"/>
                        </a:spcAft>
                      </a:pPr>
                      <a:r>
                        <a:rPr lang="es-AR" sz="1100">
                          <a:effectLst/>
                        </a:rPr>
                        <a:t>1.7000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156.1454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9573.6190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-0.7250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83502550"/>
                  </a:ext>
                </a:extLst>
              </a:tr>
              <a:tr h="190500">
                <a:tc>
                  <a:txBody>
                    <a:bodyPr/>
                    <a:lstStyle/>
                    <a:p>
                      <a:pPr algn="ctr">
                        <a:lnSpc>
                          <a:spcPct val="107000"/>
                        </a:lnSpc>
                        <a:spcAft>
                          <a:spcPts val="800"/>
                        </a:spcAft>
                      </a:pPr>
                      <a:r>
                        <a:rPr lang="es-AR" sz="1100">
                          <a:effectLst/>
                        </a:rPr>
                        <a:t>1.9000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50.1454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20.6650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dirty="0">
                          <a:effectLst/>
                        </a:rPr>
                        <a:t>-0.0023</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490370899"/>
                  </a:ext>
                </a:extLst>
              </a:tr>
            </a:tbl>
          </a:graphicData>
        </a:graphic>
      </p:graphicFrame>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22E726C7-604A-458C-887A-7B7BD01D6C78}"/>
                  </a:ext>
                </a:extLst>
              </p:cNvPr>
              <p:cNvSpPr txBox="1"/>
              <p:nvPr/>
            </p:nvSpPr>
            <p:spPr>
              <a:xfrm>
                <a:off x="6385562" y="1414847"/>
                <a:ext cx="5694128" cy="4603376"/>
              </a:xfrm>
              <a:prstGeom prst="rect">
                <a:avLst/>
              </a:prstGeom>
              <a:noFill/>
            </p:spPr>
            <p:txBody>
              <a:bodyPr wrap="square">
                <a:spAutoFit/>
              </a:bodyPr>
              <a:lstStyle/>
              <a:p>
                <a:r>
                  <a:rPr lang="es-MX" sz="1600" b="1" dirty="0">
                    <a:solidFill>
                      <a:schemeClr val="tx1"/>
                    </a:solidFill>
                  </a:rPr>
                  <a:t>Observaciones — Velocidad y corriente de establecimiento</a:t>
                </a:r>
              </a:p>
              <a:p>
                <a:endParaRPr lang="es-MX" sz="1600" dirty="0">
                  <a:solidFill>
                    <a:schemeClr val="tx1"/>
                  </a:solidFill>
                </a:endParaRPr>
              </a:p>
              <a:p>
                <a:pPr>
                  <a:buFont typeface="Arial" panose="020B0604020202020204" pitchFamily="34" charset="0"/>
                  <a:buChar char="•"/>
                </a:pPr>
                <a14:m>
                  <m:oMath xmlns:m="http://schemas.openxmlformats.org/officeDocument/2006/math">
                    <m:sSubSup>
                      <m:sSubSupPr>
                        <m:ctrlPr>
                          <a:rPr lang="es-AR" sz="1600" b="1" i="1" smtClean="0">
                            <a:solidFill>
                              <a:schemeClr val="tx1"/>
                            </a:solidFill>
                            <a:effectLst/>
                            <a:latin typeface="Cambria Math" panose="02040503050406030204" pitchFamily="18" charset="0"/>
                          </a:rPr>
                        </m:ctrlPr>
                      </m:sSubSupPr>
                      <m:e>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𝒗</m:t>
                        </m:r>
                      </m:e>
                      <m: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𝒒𝒔</m:t>
                        </m:r>
                      </m:sub>
                      <m:sup>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𝒓</m:t>
                        </m:r>
                      </m:sup>
                    </m:sSubSup>
                  </m:oMath>
                </a14:m>
                <a:r>
                  <a:rPr lang="es-MX" sz="1600" dirty="0">
                    <a:solidFill>
                      <a:schemeClr val="tx1"/>
                    </a:solidFill>
                  </a:rPr>
                  <a:t> determina la velocidad en RP: los cambios de tensión generan variaciones drásticas en </a:t>
                </a:r>
                <a14:m>
                  <m:oMath xmlns:m="http://schemas.openxmlformats.org/officeDocument/2006/math">
                    <m:sSub>
                      <m:sSubPr>
                        <m:ctrlPr>
                          <a:rPr lang="es-AR" sz="1600" i="1">
                            <a:solidFill>
                              <a:schemeClr val="tx1"/>
                            </a:solidFill>
                            <a:latin typeface="Cambria Math" panose="02040503050406030204" pitchFamily="18" charset="0"/>
                          </a:rPr>
                        </m:ctrlPr>
                      </m:sSubPr>
                      <m:e>
                        <m:r>
                          <a:rPr lang="es-AR" sz="1600" b="0" i="1">
                            <a:solidFill>
                              <a:schemeClr val="tx1"/>
                            </a:solidFill>
                            <a:latin typeface="Cambria Math" panose="02040503050406030204" pitchFamily="18" charset="0"/>
                          </a:rPr>
                          <m:t>𝜔</m:t>
                        </m:r>
                      </m:e>
                      <m:sub>
                        <m:r>
                          <a:rPr lang="es-AR" sz="1600" b="0" i="1">
                            <a:solidFill>
                              <a:schemeClr val="tx1"/>
                            </a:solidFill>
                            <a:latin typeface="Cambria Math" panose="02040503050406030204" pitchFamily="18" charset="0"/>
                          </a:rPr>
                          <m:t>𝑚</m:t>
                        </m:r>
                      </m:sub>
                    </m:sSub>
                  </m:oMath>
                </a14:m>
                <a:r>
                  <a:rPr lang="es-MX" sz="1600" dirty="0">
                    <a:solidFill>
                      <a:schemeClr val="tx1"/>
                    </a:solidFill>
                  </a:rPr>
                  <a:t> (de 0 a ±400 rad/s), con transitorios rápidos y poca afectación de la corriente en régimen.</a:t>
                </a:r>
              </a:p>
              <a:p>
                <a:pPr>
                  <a:buFont typeface="Arial" panose="020B0604020202020204" pitchFamily="34" charset="0"/>
                  <a:buChar char="•"/>
                </a:pPr>
                <a:endParaRPr lang="es-MX" sz="1600" dirty="0">
                  <a:solidFill>
                    <a:schemeClr val="tx1"/>
                  </a:solidFill>
                </a:endParaRPr>
              </a:p>
              <a:p>
                <a:pPr>
                  <a:buFont typeface="Arial" panose="020B0604020202020204" pitchFamily="34" charset="0"/>
                  <a:buChar char="•"/>
                </a:pPr>
                <a14:m>
                  <m:oMath xmlns:m="http://schemas.openxmlformats.org/officeDocument/2006/math">
                    <m:sSub>
                      <m:sSubPr>
                        <m:ctrlPr>
                          <a:rPr lang="es-AR" sz="1600" b="1" i="1" smtClean="0">
                            <a:solidFill>
                              <a:schemeClr val="tx1"/>
                            </a:solidFill>
                            <a:latin typeface="Cambria Math" panose="02040503050406030204" pitchFamily="18" charset="0"/>
                            <a:ea typeface="Calibri" pitchFamily="34" charset="-122"/>
                            <a:cs typeface="Calibri" pitchFamily="34" charset="-120"/>
                          </a:rPr>
                        </m:ctrlPr>
                      </m:sSubPr>
                      <m:e>
                        <m:r>
                          <a:rPr lang="es-AR" sz="1600" b="1" i="1">
                            <a:solidFill>
                              <a:schemeClr val="tx1"/>
                            </a:solidFill>
                            <a:latin typeface="Cambria Math" panose="02040503050406030204" pitchFamily="18" charset="0"/>
                            <a:ea typeface="Calibri" pitchFamily="34" charset="-122"/>
                            <a:cs typeface="Calibri" pitchFamily="34" charset="-120"/>
                          </a:rPr>
                          <m:t>𝑻</m:t>
                        </m:r>
                      </m:e>
                      <m:sub>
                        <m:r>
                          <a:rPr lang="es-MX" sz="1600" b="1" i="1" smtClean="0">
                            <a:solidFill>
                              <a:schemeClr val="tx1"/>
                            </a:solidFill>
                            <a:latin typeface="Cambria Math" panose="02040503050406030204" pitchFamily="18" charset="0"/>
                            <a:ea typeface="Calibri" pitchFamily="34" charset="-122"/>
                            <a:cs typeface="Calibri" pitchFamily="34" charset="-120"/>
                          </a:rPr>
                          <m:t>𝒍</m:t>
                        </m:r>
                      </m:sub>
                    </m:sSub>
                  </m:oMath>
                </a14:m>
                <a:r>
                  <a:rPr lang="es-MX" sz="1600" b="1" dirty="0">
                    <a:solidFill>
                      <a:schemeClr val="tx1"/>
                    </a:solidFill>
                  </a:rPr>
                  <a:t> </a:t>
                </a:r>
                <a:r>
                  <a:rPr lang="es-MX" sz="1600" dirty="0">
                    <a:solidFill>
                      <a:schemeClr val="tx1"/>
                    </a:solidFill>
                  </a:rPr>
                  <a:t>determina la corriente en RP: las perturbaciones de carga generan sobre picos de </a:t>
                </a:r>
                <a14:m>
                  <m:oMath xmlns:m="http://schemas.openxmlformats.org/officeDocument/2006/math">
                    <m:sSub>
                      <m:sSubPr>
                        <m:ctrlPr>
                          <a:rPr lang="es-AR" sz="1600" i="1">
                            <a:solidFill>
                              <a:schemeClr val="tx1"/>
                            </a:solidFill>
                            <a:latin typeface="Cambria Math" panose="02040503050406030204" pitchFamily="18" charset="0"/>
                          </a:rPr>
                        </m:ctrlPr>
                      </m:sSubPr>
                      <m:e>
                        <m:r>
                          <a:rPr lang="es-AR" sz="1600" b="0" i="1">
                            <a:solidFill>
                              <a:schemeClr val="tx1"/>
                            </a:solidFill>
                            <a:latin typeface="Cambria Math" panose="02040503050406030204" pitchFamily="18" charset="0"/>
                          </a:rPr>
                          <m:t>𝜔</m:t>
                        </m:r>
                      </m:e>
                      <m:sub>
                        <m:r>
                          <a:rPr lang="es-AR" sz="1600" b="0" i="1">
                            <a:solidFill>
                              <a:schemeClr val="tx1"/>
                            </a:solidFill>
                            <a:latin typeface="Cambria Math" panose="02040503050406030204" pitchFamily="18" charset="0"/>
                          </a:rPr>
                          <m:t>𝑚</m:t>
                        </m:r>
                      </m:sub>
                    </m:sSub>
                  </m:oMath>
                </a14:m>
                <a:r>
                  <a:rPr lang="es-MX" sz="1600" dirty="0">
                    <a:solidFill>
                      <a:schemeClr val="tx1"/>
                    </a:solidFill>
                  </a:rPr>
                  <a:t> del 20–40% pero sin cambio drástico en el valor final; en cambio </a:t>
                </a:r>
                <a14:m>
                  <m:oMath xmlns:m="http://schemas.openxmlformats.org/officeDocument/2006/math">
                    <m:sSubSup>
                      <m:sSubSupPr>
                        <m:ctrlPr>
                          <a:rPr lang="es-AR" sz="1600" i="1">
                            <a:solidFill>
                              <a:schemeClr val="tx1"/>
                            </a:solidFill>
                            <a:latin typeface="Cambria Math" panose="02040503050406030204" pitchFamily="18" charset="0"/>
                          </a:rPr>
                        </m:ctrlPr>
                      </m:sSubSupPr>
                      <m:e>
                        <m:r>
                          <a:rPr lang="es-AR" sz="1600" b="0" i="1">
                            <a:solidFill>
                              <a:schemeClr val="tx1"/>
                            </a:solidFill>
                            <a:latin typeface="Cambria Math" panose="02040503050406030204" pitchFamily="18" charset="0"/>
                          </a:rPr>
                          <m:t>𝑖</m:t>
                        </m:r>
                      </m:e>
                      <m:sub>
                        <m:r>
                          <a:rPr lang="es-AR" sz="1600" b="0" i="1">
                            <a:solidFill>
                              <a:schemeClr val="tx1"/>
                            </a:solidFill>
                            <a:latin typeface="Cambria Math" panose="02040503050406030204" pitchFamily="18" charset="0"/>
                          </a:rPr>
                          <m:t>𝑞𝑠</m:t>
                        </m:r>
                      </m:sub>
                      <m:sup>
                        <m:r>
                          <a:rPr lang="es-AR" sz="1600" b="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b="0" i="1">
                            <a:solidFill>
                              <a:schemeClr val="tx1"/>
                            </a:solidFill>
                            <a:latin typeface="Cambria Math" panose="02040503050406030204" pitchFamily="18" charset="0"/>
                          </a:rPr>
                          <m:t>𝑡</m:t>
                        </m:r>
                      </m:e>
                    </m:d>
                  </m:oMath>
                </a14:m>
                <a:r>
                  <a:rPr lang="es-MX" sz="1600" dirty="0">
                    <a:solidFill>
                      <a:schemeClr val="tx1"/>
                    </a:solidFill>
                  </a:rPr>
                  <a:t> varía de ±0.3 A </a:t>
                </a:r>
                <a:r>
                  <a:rPr lang="es-MX" sz="1600" dirty="0" err="1">
                    <a:solidFill>
                      <a:schemeClr val="tx1"/>
                    </a:solidFill>
                  </a:rPr>
                  <a:t>a</a:t>
                </a:r>
                <a:r>
                  <a:rPr lang="es-MX" sz="1600" dirty="0">
                    <a:solidFill>
                      <a:schemeClr val="tx1"/>
                    </a:solidFill>
                  </a:rPr>
                  <a:t> ±1 A para compensar el esfuerzo mecánico.</a:t>
                </a:r>
              </a:p>
              <a:p>
                <a:pPr>
                  <a:buFont typeface="Arial" panose="020B0604020202020204" pitchFamily="34" charset="0"/>
                  <a:buChar char="•"/>
                </a:pPr>
                <a:endParaRPr lang="es-MX" sz="1600" dirty="0">
                  <a:solidFill>
                    <a:schemeClr val="tx1"/>
                  </a:solidFill>
                </a:endParaRPr>
              </a:p>
              <a:p>
                <a:pPr>
                  <a:buFont typeface="Arial" panose="020B0604020202020204" pitchFamily="34" charset="0"/>
                  <a:buChar char="•"/>
                </a:pPr>
                <a:r>
                  <a:rPr lang="es-MX" sz="1600" dirty="0">
                    <a:solidFill>
                      <a:schemeClr val="tx1"/>
                    </a:solidFill>
                  </a:rPr>
                  <a:t>Picos eléctricos ante cambios de tensión: </a:t>
                </a:r>
                <a14:m>
                  <m:oMath xmlns:m="http://schemas.openxmlformats.org/officeDocument/2006/math">
                    <m:sSubSup>
                      <m:sSubSupPr>
                        <m:ctrlPr>
                          <a:rPr lang="es-AR" sz="1600" i="1" smtClean="0">
                            <a:solidFill>
                              <a:schemeClr val="tx1"/>
                            </a:solidFill>
                            <a:latin typeface="Cambria Math" panose="02040503050406030204" pitchFamily="18" charset="0"/>
                          </a:rPr>
                        </m:ctrlPr>
                      </m:sSubSupPr>
                      <m:e>
                        <m:r>
                          <a:rPr lang="es-AR" sz="1600" b="0" i="1">
                            <a:solidFill>
                              <a:schemeClr val="tx1"/>
                            </a:solidFill>
                            <a:latin typeface="Cambria Math" panose="02040503050406030204" pitchFamily="18" charset="0"/>
                          </a:rPr>
                          <m:t>𝑖</m:t>
                        </m:r>
                      </m:e>
                      <m:sub>
                        <m:r>
                          <a:rPr lang="es-AR" sz="1600" b="0" i="1">
                            <a:solidFill>
                              <a:schemeClr val="tx1"/>
                            </a:solidFill>
                            <a:latin typeface="Cambria Math" panose="02040503050406030204" pitchFamily="18" charset="0"/>
                          </a:rPr>
                          <m:t>𝑞𝑠</m:t>
                        </m:r>
                      </m:sub>
                      <m:sup>
                        <m:r>
                          <a:rPr lang="es-AR" sz="1600" b="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b="0" i="1">
                            <a:solidFill>
                              <a:schemeClr val="tx1"/>
                            </a:solidFill>
                            <a:latin typeface="Cambria Math" panose="02040503050406030204" pitchFamily="18" charset="0"/>
                          </a:rPr>
                          <m:t>𝑡</m:t>
                        </m:r>
                      </m:e>
                    </m:d>
                  </m:oMath>
                </a14:m>
                <a:r>
                  <a:rPr lang="es-MX" sz="1600" dirty="0">
                    <a:solidFill>
                      <a:schemeClr val="tx1"/>
                    </a:solidFill>
                  </a:rPr>
                  <a:t> presenta picos transitorios &gt;10 A asociados a la dinámica eléctrica, pero su valor de establecimiento no varía proporcionalmente como </a:t>
                </a:r>
                <a14:m>
                  <m:oMath xmlns:m="http://schemas.openxmlformats.org/officeDocument/2006/math">
                    <m:sSub>
                      <m:sSubPr>
                        <m:ctrlPr>
                          <a:rPr lang="es-AR" sz="1600" i="1">
                            <a:solidFill>
                              <a:schemeClr val="tx1"/>
                            </a:solidFill>
                            <a:latin typeface="Cambria Math" panose="02040503050406030204" pitchFamily="18" charset="0"/>
                          </a:rPr>
                        </m:ctrlPr>
                      </m:sSubPr>
                      <m:e>
                        <m:r>
                          <a:rPr lang="es-AR" sz="1600" b="0" i="1">
                            <a:solidFill>
                              <a:schemeClr val="tx1"/>
                            </a:solidFill>
                            <a:latin typeface="Cambria Math" panose="02040503050406030204" pitchFamily="18" charset="0"/>
                          </a:rPr>
                          <m:t>𝜔</m:t>
                        </m:r>
                      </m:e>
                      <m:sub>
                        <m:r>
                          <a:rPr lang="es-AR" sz="1600" b="0" i="1">
                            <a:solidFill>
                              <a:schemeClr val="tx1"/>
                            </a:solidFill>
                            <a:latin typeface="Cambria Math" panose="02040503050406030204" pitchFamily="18" charset="0"/>
                          </a:rPr>
                          <m:t>𝑚</m:t>
                        </m:r>
                      </m:sub>
                    </m:sSub>
                  </m:oMath>
                </a14:m>
                <a:r>
                  <a:rPr lang="es-MX" sz="1600" dirty="0">
                    <a:solidFill>
                      <a:schemeClr val="tx1"/>
                    </a:solidFill>
                  </a:rPr>
                  <a:t>.</a:t>
                </a:r>
              </a:p>
              <a:p>
                <a:pPr>
                  <a:buFont typeface="Arial" panose="020B0604020202020204" pitchFamily="34" charset="0"/>
                  <a:buChar char="•"/>
                </a:pPr>
                <a:endParaRPr lang="es-MX" sz="1600" dirty="0">
                  <a:solidFill>
                    <a:schemeClr val="tx1"/>
                  </a:solidFill>
                </a:endParaRPr>
              </a:p>
              <a:p>
                <a:pPr>
                  <a:buFont typeface="Arial" panose="020B0604020202020204" pitchFamily="34" charset="0"/>
                  <a:buChar char="•"/>
                </a:pPr>
                <a:r>
                  <a:rPr lang="es-MX" sz="1600" dirty="0">
                    <a:solidFill>
                      <a:schemeClr val="tx1"/>
                    </a:solidFill>
                  </a:rPr>
                  <a:t>Coherencia con la teoría: </a:t>
                </a:r>
                <a14:m>
                  <m:oMath xmlns:m="http://schemas.openxmlformats.org/officeDocument/2006/math">
                    <m:sSubSup>
                      <m:sSubSupPr>
                        <m:ctrlPr>
                          <a:rPr lang="es-AR" sz="1600" i="1">
                            <a:solidFill>
                              <a:schemeClr val="tx1"/>
                            </a:solidFill>
                            <a:latin typeface="Cambria Math" panose="020405030504060302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𝑞𝑠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solidFill>
                      <a:schemeClr val="tx1"/>
                    </a:solidFill>
                  </a:rPr>
                  <a:t> fija la velocidad en régimen permanente; </a:t>
                </a:r>
                <a14:m>
                  <m:oMath xmlns:m="http://schemas.openxmlformats.org/officeDocument/2006/math">
                    <m:sSub>
                      <m:sSubPr>
                        <m:ctrlPr>
                          <a:rPr lang="es-AR" sz="1600" i="1" smtClean="0">
                            <a:solidFill>
                              <a:schemeClr val="tx1"/>
                            </a:solidFill>
                            <a:latin typeface="Cambria Math" panose="02040503050406030204" pitchFamily="18" charset="0"/>
                            <a:ea typeface="Calibri" pitchFamily="34" charset="-122"/>
                            <a:cs typeface="Calibri" pitchFamily="34" charset="-120"/>
                          </a:rPr>
                        </m:ctrlPr>
                      </m:sSubPr>
                      <m:e>
                        <m:r>
                          <a:rPr lang="es-AR" sz="1600" b="0" i="1">
                            <a:solidFill>
                              <a:schemeClr val="tx1"/>
                            </a:solidFill>
                            <a:latin typeface="Cambria Math" panose="02040503050406030204" pitchFamily="18" charset="0"/>
                            <a:ea typeface="Calibri" pitchFamily="34" charset="-122"/>
                            <a:cs typeface="Calibri" pitchFamily="34" charset="-120"/>
                          </a:rPr>
                          <m:t>𝑇</m:t>
                        </m:r>
                      </m:e>
                      <m:sub>
                        <m:r>
                          <a:rPr lang="es-MX" sz="1600" b="0" i="1" smtClean="0">
                            <a:solidFill>
                              <a:schemeClr val="tx1"/>
                            </a:solidFill>
                            <a:latin typeface="Cambria Math" panose="02040503050406030204" pitchFamily="18" charset="0"/>
                            <a:ea typeface="Calibri" pitchFamily="34" charset="-122"/>
                            <a:cs typeface="Calibri" pitchFamily="34" charset="-120"/>
                          </a:rPr>
                          <m:t>𝑙𝑑</m:t>
                        </m:r>
                      </m:sub>
                    </m:sSub>
                  </m:oMath>
                </a14:m>
                <a:r>
                  <a:rPr lang="es-MX" sz="1600" dirty="0">
                    <a:solidFill>
                      <a:schemeClr val="tx1"/>
                    </a:solidFill>
                  </a:rPr>
                  <a:t> modifica el torque requerido y, por ende, la corriente, manteniendo el equilibrio dinámico.</a:t>
                </a:r>
              </a:p>
            </p:txBody>
          </p:sp>
        </mc:Choice>
        <mc:Fallback xmlns="">
          <p:sp>
            <p:nvSpPr>
              <p:cNvPr id="16" name="CuadroTexto 15">
                <a:extLst>
                  <a:ext uri="{FF2B5EF4-FFF2-40B4-BE49-F238E27FC236}">
                    <a16:creationId xmlns:a16="http://schemas.microsoft.com/office/drawing/2014/main" id="{22E726C7-604A-458C-887A-7B7BD01D6C78}"/>
                  </a:ext>
                </a:extLst>
              </p:cNvPr>
              <p:cNvSpPr txBox="1">
                <a:spLocks noRot="1" noChangeAspect="1" noMove="1" noResize="1" noEditPoints="1" noAdjustHandles="1" noChangeArrowheads="1" noChangeShapeType="1" noTextEdit="1"/>
              </p:cNvSpPr>
              <p:nvPr/>
            </p:nvSpPr>
            <p:spPr>
              <a:xfrm>
                <a:off x="6385562" y="1414847"/>
                <a:ext cx="5694128" cy="4603376"/>
              </a:xfrm>
              <a:prstGeom prst="rect">
                <a:avLst/>
              </a:prstGeom>
              <a:blipFill>
                <a:blip r:embed="rId4"/>
                <a:stretch>
                  <a:fillRect l="-642" t="-397" r="-1178" b="-795"/>
                </a:stretch>
              </a:blipFill>
            </p:spPr>
            <p:txBody>
              <a:bodyPr/>
              <a:lstStyle/>
              <a:p>
                <a:r>
                  <a:rPr lang="es-AR">
                    <a:noFill/>
                  </a:rPr>
                  <a:t> </a:t>
                </a:r>
              </a:p>
            </p:txBody>
          </p:sp>
        </mc:Fallback>
      </mc:AlternateContent>
      <p:sp>
        <p:nvSpPr>
          <p:cNvPr id="12" name="Shape 2">
            <a:extLst>
              <a:ext uri="{FF2B5EF4-FFF2-40B4-BE49-F238E27FC236}">
                <a16:creationId xmlns:a16="http://schemas.microsoft.com/office/drawing/2014/main" id="{0C141F22-F7EB-4D51-9B98-6F1FC6853F8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ADD542E5-309A-4DD4-A463-49CEAD352D9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5091009" cy="415498"/>
          </a:xfrm>
          <a:prstGeom prst="rect">
            <a:avLst/>
          </a:prstGeom>
          <a:noFill/>
        </p:spPr>
        <p:txBody>
          <a:bodyPr wrap="none">
            <a:spAutoFit/>
          </a:bodyPr>
          <a:lstStyle/>
          <a:p>
            <a:pPr algn="l"/>
            <a:r>
              <a:rPr lang="es-MX" sz="2100" b="1" dirty="0">
                <a:solidFill>
                  <a:srgbClr val="FFFFFF"/>
                </a:solidFill>
                <a:latin typeface="Cambria"/>
              </a:rPr>
              <a:t>Comportamiento de la corriente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0A327AE-DE9B-49B4-A262-F68EDE2399E3}"/>
                  </a:ext>
                </a:extLst>
              </p:cNvPr>
              <p:cNvSpPr txBox="1"/>
              <p:nvPr/>
            </p:nvSpPr>
            <p:spPr>
              <a:xfrm>
                <a:off x="153881" y="747194"/>
                <a:ext cx="11919749" cy="1106200"/>
              </a:xfrm>
              <a:prstGeom prst="rect">
                <a:avLst/>
              </a:prstGeom>
              <a:noFill/>
            </p:spPr>
            <p:txBody>
              <a:bodyPr wrap="square">
                <a:spAutoFit/>
              </a:bodyPr>
              <a:lstStyle/>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Calibri" panose="020F0502020204030204" pitchFamily="34" charset="0"/>
                  </a:rPr>
                  <a:t>En las siguientes figuras, se muestra la evolución de la corriente </a:t>
                </a:r>
                <a14:m>
                  <m:oMath xmlns:m="http://schemas.openxmlformats.org/officeDocument/2006/math">
                    <m:sSubSup>
                      <m:sSub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effectLst/>
                    <a:latin typeface="Calibri" panose="020F0502020204030204" pitchFamily="34" charset="0"/>
                    <a:ea typeface="Calibri" panose="020F0502020204030204" pitchFamily="34" charset="0"/>
                    <a:cs typeface="Calibri" panose="020F0502020204030204" pitchFamily="34" charset="0"/>
                  </a:rPr>
                  <a:t>​ al imponer condiciones iniciales distintas de cero, específicamente </a:t>
                </a:r>
                <a14:m>
                  <m:oMath xmlns:m="http://schemas.openxmlformats.org/officeDocument/2006/math">
                    <m:sSubSup>
                      <m:sSub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5</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𝐴</m:t>
                    </m:r>
                  </m:oMath>
                </a14:m>
                <a:r>
                  <a:rPr lang="es-AR" sz="1400" dirty="0">
                    <a:effectLst/>
                    <a:latin typeface="Calibri" panose="020F0502020204030204" pitchFamily="34" charset="0"/>
                    <a:ea typeface="Calibri" panose="020F0502020204030204" pitchFamily="34" charset="0"/>
                    <a:cs typeface="Calibri" panose="020F0502020204030204" pitchFamily="34" charset="0"/>
                  </a:rPr>
                  <a:t>, manteniendo el resto de las variables del sistema sin modificación.</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Calibri" panose="020F0502020204030204" pitchFamily="34" charset="0"/>
                  </a:rPr>
                  <a:t>Se observa que, en ambos casos, la corriente converge rápidamente hacia cero, sin presentar oscilaciones significativas ni comportamiento inestable. La respuesta es monótona y de tipo exponencial decreciente, lo cual indica que la dinámica asociada al eje </a:t>
                </a:r>
                <a14:m>
                  <m:oMath xmlns:m="http://schemas.openxmlformats.org/officeDocument/2006/math">
                    <m:r>
                      <a:rPr lang="es-AR" sz="1400" i="1">
                        <a:effectLst/>
                        <a:latin typeface="Cambria Math" panose="02040503050406030204" pitchFamily="18" charset="0"/>
                        <a:ea typeface="Calibri" panose="020F0502020204030204" pitchFamily="34" charset="0"/>
                        <a:cs typeface="Calibri" panose="020F0502020204030204" pitchFamily="34" charset="0"/>
                      </a:rPr>
                      <m:t>𝑑</m:t>
                    </m:r>
                  </m:oMath>
                </a14:m>
                <a:r>
                  <a:rPr lang="es-AR" sz="1400" dirty="0">
                    <a:effectLst/>
                    <a:latin typeface="Calibri" panose="020F0502020204030204" pitchFamily="34" charset="0"/>
                    <a:ea typeface="Times New Roman" panose="02020603050405020304" pitchFamily="18" charset="0"/>
                    <a:cs typeface="Calibri" panose="020F0502020204030204" pitchFamily="34" charset="0"/>
                  </a:rPr>
                  <a:t> </a:t>
                </a:r>
                <a:r>
                  <a:rPr lang="es-AR" sz="1400" dirty="0">
                    <a:effectLst/>
                    <a:latin typeface="Calibri" panose="020F0502020204030204" pitchFamily="34" charset="0"/>
                    <a:ea typeface="Calibri" panose="020F0502020204030204" pitchFamily="34" charset="0"/>
                    <a:cs typeface="Calibri" panose="020F0502020204030204" pitchFamily="34" charset="0"/>
                  </a:rPr>
                  <a:t>se encuentra adecuadamente amortiguada.</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5" name="CuadroTexto 14">
                <a:extLst>
                  <a:ext uri="{FF2B5EF4-FFF2-40B4-BE49-F238E27FC236}">
                    <a16:creationId xmlns:a16="http://schemas.microsoft.com/office/drawing/2014/main" id="{50A327AE-DE9B-49B4-A262-F68EDE2399E3}"/>
                  </a:ext>
                </a:extLst>
              </p:cNvPr>
              <p:cNvSpPr txBox="1">
                <a:spLocks noRot="1" noChangeAspect="1" noMove="1" noResize="1" noEditPoints="1" noAdjustHandles="1" noChangeArrowheads="1" noChangeShapeType="1" noTextEdit="1"/>
              </p:cNvSpPr>
              <p:nvPr/>
            </p:nvSpPr>
            <p:spPr>
              <a:xfrm>
                <a:off x="153881" y="747194"/>
                <a:ext cx="11919749" cy="1106200"/>
              </a:xfrm>
              <a:prstGeom prst="rect">
                <a:avLst/>
              </a:prstGeom>
              <a:blipFill>
                <a:blip r:embed="rId2"/>
                <a:stretch>
                  <a:fillRect l="-153" t="-552" r="-102" b="-4972"/>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83B7EEBF-4549-4755-BFA4-FFFE198121EB}"/>
                  </a:ext>
                </a:extLst>
              </p:cNvPr>
              <p:cNvSpPr txBox="1"/>
              <p:nvPr/>
            </p:nvSpPr>
            <p:spPr>
              <a:xfrm>
                <a:off x="892780" y="5545743"/>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27— Comportamiento con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𝑖</m:t>
                        </m:r>
                      </m:e>
                      <m:sub>
                        <m:r>
                          <a:rPr lang="es-AR">
                            <a:latin typeface="Cambria Math" panose="02040503050406030204" pitchFamily="18" charset="0"/>
                          </a:rPr>
                          <m:t>𝑑𝑠</m:t>
                        </m:r>
                      </m:sub>
                      <m:sup>
                        <m:r>
                          <a:rPr lang="es-AR">
                            <a:latin typeface="Cambria Math" panose="02040503050406030204" pitchFamily="18" charset="0"/>
                          </a:rPr>
                          <m:t>𝑟</m:t>
                        </m:r>
                      </m:sup>
                    </m:sSubSup>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m:t>
                    </m:r>
                    <m:r>
                      <a:rPr lang="es-AR">
                        <a:latin typeface="Cambria Math" panose="02040503050406030204" pitchFamily="18" charset="0"/>
                      </a:rPr>
                      <m:t>0</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𝐴</m:t>
                    </m:r>
                  </m:oMath>
                </a14:m>
                <a:endParaRPr lang="es-AR" dirty="0"/>
              </a:p>
            </p:txBody>
          </p:sp>
        </mc:Choice>
        <mc:Fallback xmlns="">
          <p:sp>
            <p:nvSpPr>
              <p:cNvPr id="19" name="CuadroTexto 18">
                <a:extLst>
                  <a:ext uri="{FF2B5EF4-FFF2-40B4-BE49-F238E27FC236}">
                    <a16:creationId xmlns:a16="http://schemas.microsoft.com/office/drawing/2014/main" id="{83B7EEBF-4549-4755-BFA4-FFFE198121EB}"/>
                  </a:ext>
                </a:extLst>
              </p:cNvPr>
              <p:cNvSpPr txBox="1">
                <a:spLocks noRot="1" noChangeAspect="1" noMove="1" noResize="1" noEditPoints="1" noAdjustHandles="1" noChangeArrowheads="1" noChangeShapeType="1" noTextEdit="1"/>
              </p:cNvSpPr>
              <p:nvPr/>
            </p:nvSpPr>
            <p:spPr>
              <a:xfrm>
                <a:off x="892780" y="5545743"/>
                <a:ext cx="3613212" cy="262059"/>
              </a:xfrm>
              <a:prstGeom prst="rect">
                <a:avLst/>
              </a:prstGeom>
              <a:blipFill>
                <a:blip r:embed="rId3"/>
                <a:stretch>
                  <a:fillRect b="-16279"/>
                </a:stretch>
              </a:blipFill>
            </p:spPr>
            <p:txBody>
              <a:bodyPr/>
              <a:lstStyle/>
              <a:p>
                <a:r>
                  <a:rPr lang="es-AR">
                    <a:noFill/>
                  </a:rPr>
                  <a:t> </a:t>
                </a:r>
              </a:p>
            </p:txBody>
          </p:sp>
        </mc:Fallback>
      </mc:AlternateContent>
      <p:pic>
        <p:nvPicPr>
          <p:cNvPr id="21" name="Imagen 20">
            <a:extLst>
              <a:ext uri="{FF2B5EF4-FFF2-40B4-BE49-F238E27FC236}">
                <a16:creationId xmlns:a16="http://schemas.microsoft.com/office/drawing/2014/main" id="{F1D4225B-05D0-4C50-B734-A8243D701FD1}"/>
              </a:ext>
            </a:extLst>
          </p:cNvPr>
          <p:cNvPicPr/>
          <p:nvPr/>
        </p:nvPicPr>
        <p:blipFill>
          <a:blip r:embed="rId4">
            <a:extLst>
              <a:ext uri="{28A0092B-C50C-407E-A947-70E740481C1C}">
                <a14:useLocalDpi xmlns:a14="http://schemas.microsoft.com/office/drawing/2010/main" val="0"/>
              </a:ext>
            </a:extLst>
          </a:blip>
          <a:stretch>
            <a:fillRect/>
          </a:stretch>
        </p:blipFill>
        <p:spPr bwMode="auto">
          <a:xfrm>
            <a:off x="281699" y="1853393"/>
            <a:ext cx="4485610" cy="3615251"/>
          </a:xfrm>
          <a:prstGeom prst="rect">
            <a:avLst/>
          </a:prstGeom>
          <a:noFill/>
          <a:ln>
            <a:noFill/>
          </a:ln>
        </p:spPr>
      </p:pic>
      <p:pic>
        <p:nvPicPr>
          <p:cNvPr id="22" name="Imagen 21">
            <a:extLst>
              <a:ext uri="{FF2B5EF4-FFF2-40B4-BE49-F238E27FC236}">
                <a16:creationId xmlns:a16="http://schemas.microsoft.com/office/drawing/2014/main" id="{0218D3F0-DF36-4D45-9DD6-18EC58268BA7}"/>
              </a:ext>
            </a:extLst>
          </p:cNvPr>
          <p:cNvPicPr/>
          <p:nvPr/>
        </p:nvPicPr>
        <p:blipFill>
          <a:blip r:embed="rId5">
            <a:extLst>
              <a:ext uri="{28A0092B-C50C-407E-A947-70E740481C1C}">
                <a14:useLocalDpi xmlns:a14="http://schemas.microsoft.com/office/drawing/2010/main" val="0"/>
              </a:ext>
            </a:extLst>
          </a:blip>
          <a:stretch>
            <a:fillRect/>
          </a:stretch>
        </p:blipFill>
        <p:spPr bwMode="auto">
          <a:xfrm>
            <a:off x="4895127" y="1891942"/>
            <a:ext cx="4833681" cy="3615251"/>
          </a:xfrm>
          <a:prstGeom prst="rect">
            <a:avLst/>
          </a:prstGeom>
          <a:noFill/>
          <a:ln>
            <a:noFill/>
          </a:ln>
        </p:spPr>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5F900C9B-0831-4BEB-A275-B90BA79295CB}"/>
                  </a:ext>
                </a:extLst>
              </p:cNvPr>
              <p:cNvSpPr txBox="1"/>
              <p:nvPr/>
            </p:nvSpPr>
            <p:spPr>
              <a:xfrm>
                <a:off x="5879404" y="5546192"/>
                <a:ext cx="3613212"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28— Comportamiento con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𝑖</m:t>
                        </m:r>
                      </m:e>
                      <m:sub>
                        <m:r>
                          <a:rPr lang="es-AR">
                            <a:latin typeface="Cambria Math" panose="02040503050406030204" pitchFamily="18" charset="0"/>
                          </a:rPr>
                          <m:t>𝑑𝑠</m:t>
                        </m:r>
                      </m:sub>
                      <m:sup>
                        <m:r>
                          <a:rPr lang="es-AR">
                            <a:latin typeface="Cambria Math" panose="02040503050406030204" pitchFamily="18" charset="0"/>
                          </a:rPr>
                          <m:t>𝑟</m:t>
                        </m:r>
                      </m:sup>
                    </m:sSubSup>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m:t>
                    </m:r>
                    <m:r>
                      <a:rPr lang="es-MX" b="0" i="1" smtClean="0">
                        <a:latin typeface="Cambria Math" panose="02040503050406030204" pitchFamily="18" charset="0"/>
                      </a:rPr>
                      <m:t>−</m:t>
                    </m:r>
                    <m:r>
                      <a:rPr lang="es-AR">
                        <a:latin typeface="Cambria Math" panose="02040503050406030204" pitchFamily="18" charset="0"/>
                      </a:rPr>
                      <m:t>0</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𝐴</m:t>
                    </m:r>
                  </m:oMath>
                </a14:m>
                <a:endParaRPr lang="es-AR" dirty="0"/>
              </a:p>
            </p:txBody>
          </p:sp>
        </mc:Choice>
        <mc:Fallback xmlns="">
          <p:sp>
            <p:nvSpPr>
              <p:cNvPr id="23" name="CuadroTexto 22">
                <a:extLst>
                  <a:ext uri="{FF2B5EF4-FFF2-40B4-BE49-F238E27FC236}">
                    <a16:creationId xmlns:a16="http://schemas.microsoft.com/office/drawing/2014/main" id="{5F900C9B-0831-4BEB-A275-B90BA79295CB}"/>
                  </a:ext>
                </a:extLst>
              </p:cNvPr>
              <p:cNvSpPr txBox="1">
                <a:spLocks noRot="1" noChangeAspect="1" noMove="1" noResize="1" noEditPoints="1" noAdjustHandles="1" noChangeArrowheads="1" noChangeShapeType="1" noTextEdit="1"/>
              </p:cNvSpPr>
              <p:nvPr/>
            </p:nvSpPr>
            <p:spPr>
              <a:xfrm>
                <a:off x="5879404" y="5546192"/>
                <a:ext cx="3613212" cy="261610"/>
              </a:xfrm>
              <a:prstGeom prst="rect">
                <a:avLst/>
              </a:prstGeom>
              <a:blipFill>
                <a:blip r:embed="rId6"/>
                <a:stretch>
                  <a:fillRect b="-16279"/>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E4FF14AB-BB78-408D-95E3-BC8E15106AD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7FBEB7B7-F20F-46A1-838A-B4A405BE833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0256994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4858702" cy="415498"/>
          </a:xfrm>
          <a:prstGeom prst="rect">
            <a:avLst/>
          </a:prstGeom>
          <a:noFill/>
        </p:spPr>
        <p:txBody>
          <a:bodyPr wrap="none">
            <a:spAutoFit/>
          </a:bodyPr>
          <a:lstStyle/>
          <a:p>
            <a:pPr algn="l"/>
            <a:r>
              <a:rPr lang="es-MX" sz="2100" b="1" dirty="0">
                <a:solidFill>
                  <a:srgbClr val="FFFFFF"/>
                </a:solidFill>
                <a:latin typeface="Cambria"/>
              </a:rPr>
              <a:t>Comportamiento de la tensión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0A327AE-DE9B-49B4-A262-F68EDE2399E3}"/>
                  </a:ext>
                </a:extLst>
              </p:cNvPr>
              <p:cNvSpPr txBox="1"/>
              <p:nvPr/>
            </p:nvSpPr>
            <p:spPr>
              <a:xfrm>
                <a:off x="153881" y="747194"/>
                <a:ext cx="11919749" cy="739305"/>
              </a:xfrm>
              <a:prstGeom prst="rect">
                <a:avLst/>
              </a:prstGeom>
              <a:noFill/>
            </p:spPr>
            <p:txBody>
              <a:bodyPr wrap="square">
                <a:spAutoFit/>
              </a:bodyPr>
              <a:lstStyle/>
              <a:p>
                <a:r>
                  <a:rPr lang="es-AR" sz="1400" dirty="0"/>
                  <a:t>Como se observa en las ecuaciones del subsistema electromagnético, la aplicación de una consigna de tensión en el eje directo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oMath>
                </a14:m>
                <a:r>
                  <a:rPr lang="es-AR" sz="1400" dirty="0"/>
                  <a:t>​ modifica el flujo magnético del estator. Un incremento en esta tensión produce un reforzamiento del campo magnético, mientras que una disminución genera un debilitamiento del mismo. Debido al acoplamiento electromecánico del motor, estas variaciones impactan directamente en la velocidad angular y en el torque desarrollado.</a:t>
                </a:r>
              </a:p>
            </p:txBody>
          </p:sp>
        </mc:Choice>
        <mc:Fallback xmlns="">
          <p:sp>
            <p:nvSpPr>
              <p:cNvPr id="15" name="CuadroTexto 14">
                <a:extLst>
                  <a:ext uri="{FF2B5EF4-FFF2-40B4-BE49-F238E27FC236}">
                    <a16:creationId xmlns:a16="http://schemas.microsoft.com/office/drawing/2014/main" id="{50A327AE-DE9B-49B4-A262-F68EDE2399E3}"/>
                  </a:ext>
                </a:extLst>
              </p:cNvPr>
              <p:cNvSpPr txBox="1">
                <a:spLocks noRot="1" noChangeAspect="1" noMove="1" noResize="1" noEditPoints="1" noAdjustHandles="1" noChangeArrowheads="1" noChangeShapeType="1" noTextEdit="1"/>
              </p:cNvSpPr>
              <p:nvPr/>
            </p:nvSpPr>
            <p:spPr>
              <a:xfrm>
                <a:off x="153881" y="747194"/>
                <a:ext cx="11919749" cy="739305"/>
              </a:xfrm>
              <a:prstGeom prst="rect">
                <a:avLst/>
              </a:prstGeom>
              <a:blipFill>
                <a:blip r:embed="rId3"/>
                <a:stretch>
                  <a:fillRect l="-153" t="-1653" r="-102" b="-743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83B7EEBF-4549-4755-BFA4-FFFE198121EB}"/>
                  </a:ext>
                </a:extLst>
              </p:cNvPr>
              <p:cNvSpPr txBox="1"/>
              <p:nvPr/>
            </p:nvSpPr>
            <p:spPr>
              <a:xfrm>
                <a:off x="4717866" y="6028092"/>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29— Efecto de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𝑣</m:t>
                        </m:r>
                      </m:e>
                      <m:sub>
                        <m:r>
                          <a:rPr lang="es-AR">
                            <a:latin typeface="Cambria Math" panose="02040503050406030204" pitchFamily="18" charset="0"/>
                          </a:rPr>
                          <m:t>𝑑𝑠</m:t>
                        </m:r>
                      </m:sub>
                      <m:sup>
                        <m:r>
                          <a:rPr lang="es-AR">
                            <a:latin typeface="Cambria Math" panose="02040503050406030204" pitchFamily="18" charset="0"/>
                          </a:rPr>
                          <m:t>𝑟</m:t>
                        </m:r>
                      </m:sup>
                    </m:sSubSup>
                  </m:oMath>
                </a14:m>
                <a:r>
                  <a:rPr lang="es-AR" dirty="0"/>
                  <a:t> en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𝜔</m:t>
                        </m:r>
                      </m:e>
                      <m:sub>
                        <m:r>
                          <a:rPr lang="es-AR">
                            <a:latin typeface="Cambria Math" panose="02040503050406030204" pitchFamily="18" charset="0"/>
                          </a:rPr>
                          <m:t>𝑚</m:t>
                        </m:r>
                      </m:sub>
                    </m:sSub>
                  </m:oMath>
                </a14:m>
                <a:endParaRPr lang="es-AR" dirty="0"/>
              </a:p>
            </p:txBody>
          </p:sp>
        </mc:Choice>
        <mc:Fallback xmlns="">
          <p:sp>
            <p:nvSpPr>
              <p:cNvPr id="19" name="CuadroTexto 18">
                <a:extLst>
                  <a:ext uri="{FF2B5EF4-FFF2-40B4-BE49-F238E27FC236}">
                    <a16:creationId xmlns:a16="http://schemas.microsoft.com/office/drawing/2014/main" id="{83B7EEBF-4549-4755-BFA4-FFFE198121EB}"/>
                  </a:ext>
                </a:extLst>
              </p:cNvPr>
              <p:cNvSpPr txBox="1">
                <a:spLocks noRot="1" noChangeAspect="1" noMove="1" noResize="1" noEditPoints="1" noAdjustHandles="1" noChangeArrowheads="1" noChangeShapeType="1" noTextEdit="1"/>
              </p:cNvSpPr>
              <p:nvPr/>
            </p:nvSpPr>
            <p:spPr>
              <a:xfrm>
                <a:off x="4717866" y="6028092"/>
                <a:ext cx="3613212" cy="262059"/>
              </a:xfrm>
              <a:prstGeom prst="rect">
                <a:avLst/>
              </a:prstGeom>
              <a:blipFill>
                <a:blip r:embed="rId4"/>
                <a:stretch>
                  <a:fillRect b="-16279"/>
                </a:stretch>
              </a:blipFill>
            </p:spPr>
            <p:txBody>
              <a:bodyPr/>
              <a:lstStyle/>
              <a:p>
                <a:r>
                  <a:rPr lang="es-AR">
                    <a:noFill/>
                  </a:rPr>
                  <a:t> </a:t>
                </a:r>
              </a:p>
            </p:txBody>
          </p:sp>
        </mc:Fallback>
      </mc:AlternateContent>
      <p:pic>
        <p:nvPicPr>
          <p:cNvPr id="11" name="Imagen 10">
            <a:extLst>
              <a:ext uri="{FF2B5EF4-FFF2-40B4-BE49-F238E27FC236}">
                <a16:creationId xmlns:a16="http://schemas.microsoft.com/office/drawing/2014/main" id="{447B6626-323B-498D-9AA8-01F6EEBF3E63}"/>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3907" y="1906538"/>
            <a:ext cx="11218968" cy="4027537"/>
          </a:xfrm>
          <a:prstGeom prst="rect">
            <a:avLst/>
          </a:prstGeom>
          <a:noFill/>
          <a:ln>
            <a:noFill/>
          </a:ln>
        </p:spPr>
      </p:pic>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069B695-941F-4C10-9C30-81414F32F5C7}"/>
                  </a:ext>
                </a:extLst>
              </p:cNvPr>
              <p:cNvSpPr txBox="1"/>
              <p:nvPr/>
            </p:nvSpPr>
            <p:spPr>
              <a:xfrm>
                <a:off x="153881" y="1486499"/>
                <a:ext cx="9380644" cy="307777"/>
              </a:xfrm>
              <a:prstGeom prst="rect">
                <a:avLst/>
              </a:prstGeom>
              <a:noFill/>
            </p:spPr>
            <p:txBody>
              <a:bodyPr wrap="square">
                <a:spAutoFit/>
              </a:bodyPr>
              <a:lstStyle/>
              <a:p>
                <a:r>
                  <a:rPr lang="es-AR" sz="1400" dirty="0">
                    <a:solidFill>
                      <a:schemeClr val="tx1"/>
                    </a:solidFill>
                    <a:effectLst/>
                    <a:latin typeface="Calibri" panose="020F0502020204030204" pitchFamily="34" charset="0"/>
                    <a:ea typeface="Calibri" panose="020F0502020204030204" pitchFamily="34" charset="0"/>
                  </a:rPr>
                  <a:t>Para analizar este efecto se aplicó una consigna escalón </a:t>
                </a:r>
                <a14:m>
                  <m:oMath xmlns:m="http://schemas.openxmlformats.org/officeDocument/2006/math">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=±1.9596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𝑉𝑐𝑐</m:t>
                    </m:r>
                  </m:oMath>
                </a14:m>
                <a:r>
                  <a:rPr lang="es-AR" sz="1400" dirty="0">
                    <a:solidFill>
                      <a:schemeClr val="tx1"/>
                    </a:solidFill>
                    <a:effectLst/>
                    <a:latin typeface="Calibri" panose="020F0502020204030204" pitchFamily="34" charset="0"/>
                    <a:ea typeface="Calibri" panose="020F0502020204030204" pitchFamily="34" charset="0"/>
                  </a:rPr>
                  <a:t> ​en </a:t>
                </a:r>
                <a14:m>
                  <m:oMath xmlns:m="http://schemas.openxmlformats.org/officeDocument/2006/math">
                    <m:r>
                      <a:rPr lang="es-AR" sz="1400" i="1">
                        <a:solidFill>
                          <a:schemeClr val="tx1"/>
                        </a:solidFill>
                        <a:latin typeface="Cambria Math" panose="02040503050406030204" pitchFamily="18" charset="0"/>
                      </a:rPr>
                      <m:t>𝑡</m:t>
                    </m:r>
                    <m:r>
                      <a:rPr lang="es-AR" sz="1400" i="1">
                        <a:solidFill>
                          <a:schemeClr val="tx1"/>
                        </a:solidFill>
                        <a:latin typeface="Cambria Math" panose="02040503050406030204" pitchFamily="18" charset="0"/>
                      </a:rPr>
                      <m:t>=0.5 </m:t>
                    </m:r>
                    <m:r>
                      <a:rPr lang="es-AR" sz="1400" i="1">
                        <a:solidFill>
                          <a:schemeClr val="tx1"/>
                        </a:solidFill>
                        <a:latin typeface="Cambria Math" panose="02040503050406030204" pitchFamily="18" charset="0"/>
                      </a:rPr>
                      <m:t>𝑠</m:t>
                    </m:r>
                  </m:oMath>
                </a14:m>
                <a:endParaRPr lang="es-AR" sz="1400" dirty="0">
                  <a:solidFill>
                    <a:schemeClr val="tx1"/>
                  </a:solidFill>
                </a:endParaRPr>
              </a:p>
            </p:txBody>
          </p:sp>
        </mc:Choice>
        <mc:Fallback xmlns="">
          <p:sp>
            <p:nvSpPr>
              <p:cNvPr id="13" name="CuadroTexto 12">
                <a:extLst>
                  <a:ext uri="{FF2B5EF4-FFF2-40B4-BE49-F238E27FC236}">
                    <a16:creationId xmlns:a16="http://schemas.microsoft.com/office/drawing/2014/main" id="{E069B695-941F-4C10-9C30-81414F32F5C7}"/>
                  </a:ext>
                </a:extLst>
              </p:cNvPr>
              <p:cNvSpPr txBox="1">
                <a:spLocks noRot="1" noChangeAspect="1" noMove="1" noResize="1" noEditPoints="1" noAdjustHandles="1" noChangeArrowheads="1" noChangeShapeType="1" noTextEdit="1"/>
              </p:cNvSpPr>
              <p:nvPr/>
            </p:nvSpPr>
            <p:spPr>
              <a:xfrm>
                <a:off x="153881" y="1486499"/>
                <a:ext cx="9380644" cy="307777"/>
              </a:xfrm>
              <a:prstGeom prst="rect">
                <a:avLst/>
              </a:prstGeom>
              <a:blipFill>
                <a:blip r:embed="rId6"/>
                <a:stretch>
                  <a:fillRect l="-195" t="-4000" b="-20000"/>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BBE4DB17-AF0A-4661-B7DE-830302ECB74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0D9FE4DC-D15D-4403-BF49-65E139591E3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5195824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4858702" cy="415498"/>
          </a:xfrm>
          <a:prstGeom prst="rect">
            <a:avLst/>
          </a:prstGeom>
          <a:noFill/>
        </p:spPr>
        <p:txBody>
          <a:bodyPr wrap="none">
            <a:spAutoFit/>
          </a:bodyPr>
          <a:lstStyle/>
          <a:p>
            <a:pPr algn="l"/>
            <a:r>
              <a:rPr lang="es-MX" sz="2100" b="1" dirty="0">
                <a:solidFill>
                  <a:srgbClr val="FFFFFF"/>
                </a:solidFill>
                <a:latin typeface="Cambria"/>
              </a:rPr>
              <a:t>Comportamiento de la tensión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5F900C9B-0831-4BEB-A275-B90BA79295CB}"/>
                  </a:ext>
                </a:extLst>
              </p:cNvPr>
              <p:cNvSpPr txBox="1"/>
              <p:nvPr/>
            </p:nvSpPr>
            <p:spPr>
              <a:xfrm>
                <a:off x="4869709" y="5423125"/>
                <a:ext cx="3613212"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30— Efecto de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𝑣</m:t>
                        </m:r>
                      </m:e>
                      <m:sub>
                        <m:r>
                          <a:rPr lang="es-AR">
                            <a:latin typeface="Cambria Math" panose="02040503050406030204" pitchFamily="18" charset="0"/>
                          </a:rPr>
                          <m:t>𝑑𝑠</m:t>
                        </m:r>
                      </m:sub>
                      <m:sup>
                        <m:r>
                          <a:rPr lang="es-AR">
                            <a:latin typeface="Cambria Math" panose="02040503050406030204" pitchFamily="18" charset="0"/>
                          </a:rPr>
                          <m:t>𝑟</m:t>
                        </m:r>
                      </m:sup>
                    </m:sSubSup>
                  </m:oMath>
                </a14:m>
                <a:r>
                  <a:rPr lang="es-AR" dirty="0"/>
                  <a:t> en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𝑚</m:t>
                        </m:r>
                      </m:sub>
                    </m:sSub>
                  </m:oMath>
                </a14:m>
                <a:endParaRPr lang="es-AR" dirty="0"/>
              </a:p>
            </p:txBody>
          </p:sp>
        </mc:Choice>
        <mc:Fallback xmlns="">
          <p:sp>
            <p:nvSpPr>
              <p:cNvPr id="23" name="CuadroTexto 22">
                <a:extLst>
                  <a:ext uri="{FF2B5EF4-FFF2-40B4-BE49-F238E27FC236}">
                    <a16:creationId xmlns:a16="http://schemas.microsoft.com/office/drawing/2014/main" id="{5F900C9B-0831-4BEB-A275-B90BA79295CB}"/>
                  </a:ext>
                </a:extLst>
              </p:cNvPr>
              <p:cNvSpPr txBox="1">
                <a:spLocks noRot="1" noChangeAspect="1" noMove="1" noResize="1" noEditPoints="1" noAdjustHandles="1" noChangeArrowheads="1" noChangeShapeType="1" noTextEdit="1"/>
              </p:cNvSpPr>
              <p:nvPr/>
            </p:nvSpPr>
            <p:spPr>
              <a:xfrm>
                <a:off x="4869709" y="5423125"/>
                <a:ext cx="3613212" cy="261610"/>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8F9EA927-07BE-4441-976A-0DA54EBF50E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6078" y="849029"/>
            <a:ext cx="10414847" cy="4456396"/>
          </a:xfrm>
          <a:prstGeom prst="rect">
            <a:avLst/>
          </a:prstGeom>
          <a:noFill/>
          <a:ln>
            <a:noFill/>
          </a:ln>
        </p:spPr>
      </p:pic>
      <p:sp>
        <p:nvSpPr>
          <p:cNvPr id="8" name="Shape 2">
            <a:extLst>
              <a:ext uri="{FF2B5EF4-FFF2-40B4-BE49-F238E27FC236}">
                <a16:creationId xmlns:a16="http://schemas.microsoft.com/office/drawing/2014/main" id="{063FFE7D-A6E3-4CC1-B323-C85423966D0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F90C6B3C-720B-46E6-B974-5CB64BAD75B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3042340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4858702" cy="415498"/>
          </a:xfrm>
          <a:prstGeom prst="rect">
            <a:avLst/>
          </a:prstGeom>
          <a:noFill/>
        </p:spPr>
        <p:txBody>
          <a:bodyPr wrap="none">
            <a:spAutoFit/>
          </a:bodyPr>
          <a:lstStyle/>
          <a:p>
            <a:pPr algn="l"/>
            <a:r>
              <a:rPr lang="es-MX" sz="2100" b="1" dirty="0">
                <a:solidFill>
                  <a:srgbClr val="FFFFFF"/>
                </a:solidFill>
                <a:latin typeface="Cambria"/>
              </a:rPr>
              <a:t>Comportamiento de la tensión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F913FF57-83AB-4AAD-9D93-5FED7EBB3644}"/>
                  </a:ext>
                </a:extLst>
              </p:cNvPr>
              <p:cNvSpPr txBox="1"/>
              <p:nvPr/>
            </p:nvSpPr>
            <p:spPr>
              <a:xfrm>
                <a:off x="441215" y="954251"/>
                <a:ext cx="11144143" cy="2309094"/>
              </a:xfrm>
              <a:prstGeom prst="rect">
                <a:avLst/>
              </a:prstGeom>
              <a:noFill/>
            </p:spPr>
            <p:txBody>
              <a:bodyPr wrap="square">
                <a:spAutoFit/>
              </a:bodyPr>
              <a:lstStyle/>
              <a:p>
                <a:r>
                  <a:rPr lang="es-MX" sz="1600" b="1" dirty="0">
                    <a:solidFill>
                      <a:schemeClr val="tx1"/>
                    </a:solidFill>
                  </a:rPr>
                  <a:t>Field forcing y field weakening — Efecto de </a:t>
                </a:r>
                <a14:m>
                  <m:oMath xmlns:m="http://schemas.openxmlformats.org/officeDocument/2006/math">
                    <m:sSubSup>
                      <m:sSubSupPr>
                        <m:ctrlPr>
                          <a:rPr lang="es-AR"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SupPr>
                      <m:e>
                        <m:r>
                          <a:rPr lang="es-AR"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𝒗</m:t>
                        </m:r>
                      </m:e>
                      <m:sub>
                        <m:r>
                          <a:rPr lang="es-AR"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𝒅𝒔</m:t>
                        </m:r>
                      </m:sub>
                      <m:sup>
                        <m:r>
                          <a:rPr lang="es-AR"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𝒓</m:t>
                        </m:r>
                      </m:sup>
                    </m:sSubSup>
                  </m:oMath>
                </a14:m>
                <a:r>
                  <a:rPr lang="es-MX" sz="1600" b="1" dirty="0">
                    <a:solidFill>
                      <a:schemeClr val="tx1"/>
                    </a:solidFill>
                  </a:rPr>
                  <a:t> sobre </a:t>
                </a:r>
                <a14:m>
                  <m:oMath xmlns:m="http://schemas.openxmlformats.org/officeDocument/2006/math">
                    <m:sSub>
                      <m:sSubPr>
                        <m:ctrlPr>
                          <a:rPr lang="es-AR" sz="1600" b="1"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𝝎</m:t>
                        </m:r>
                      </m:e>
                      <m: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s-AR" sz="16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sSub>
                      <m:sSubPr>
                        <m:ctrlP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𝑻</m:t>
                        </m:r>
                      </m:e>
                      <m: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𝒎</m:t>
                        </m:r>
                      </m:sub>
                    </m:s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es-MX" sz="1600" b="1"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s-MX" sz="1600" b="1" dirty="0">
                  <a:solidFill>
                    <a:schemeClr val="tx1"/>
                  </a:solidFill>
                </a:endParaRPr>
              </a:p>
              <a:p>
                <a:endParaRPr lang="es-MX" sz="1600" b="1" dirty="0">
                  <a:solidFill>
                    <a:schemeClr val="tx1"/>
                  </a:solidFill>
                </a:endParaRPr>
              </a:p>
              <a:p>
                <a:pPr marL="285750" indent="-285750">
                  <a:buFont typeface="Arial" panose="020B0604020202020204" pitchFamily="34" charset="0"/>
                  <a:buChar char="•"/>
                </a:pPr>
                <a:r>
                  <a:rPr lang="es-MX" sz="1600" dirty="0"/>
                  <a:t>Field forcing (</a:t>
                </a:r>
                <a14:m>
                  <m:oMath xmlns:m="http://schemas.openxmlformats.org/officeDocument/2006/math">
                    <m:sSubSup>
                      <m:sSubSupPr>
                        <m:ctrlPr>
                          <a:rPr lang="es-AR" sz="160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t> &gt; 0): refuerza el flujo → ligera reducción de </a:t>
                </a:r>
                <a14:m>
                  <m:oMath xmlns:m="http://schemas.openxmlformats.org/officeDocument/2006/math">
                    <m:sSub>
                      <m:sSubPr>
                        <m:ctrlPr>
                          <a:rPr lang="es-AR" sz="1600" b="1" i="1">
                            <a:latin typeface="Cambria Math" panose="02040503050406030204" pitchFamily="18" charset="0"/>
                            <a:ea typeface="Calibri" panose="020F0502020204030204" pitchFamily="34" charset="0"/>
                            <a:cs typeface="Times New Roman" panose="02020603050405020304" pitchFamily="18" charset="0"/>
                          </a:rPr>
                        </m:ctrlPr>
                      </m:sSubPr>
                      <m:e>
                        <m:r>
                          <a:rPr lang="es-AR" sz="1600" b="1" i="1">
                            <a:latin typeface="Cambria Math" panose="02040503050406030204" pitchFamily="18" charset="0"/>
                            <a:ea typeface="Calibri" panose="020F0502020204030204" pitchFamily="34" charset="0"/>
                            <a:cs typeface="Times New Roman" panose="02020603050405020304" pitchFamily="18" charset="0"/>
                          </a:rPr>
                          <m:t>𝝎</m:t>
                        </m:r>
                      </m:e>
                      <m:sub>
                        <m:r>
                          <a:rPr lang="es-AR" sz="1600" b="1" i="1">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s-AR" sz="1600" b="1" dirty="0">
                    <a:latin typeface="Calibri" panose="020F0502020204030204" pitchFamily="34" charset="0"/>
                    <a:ea typeface="Calibri" panose="020F0502020204030204" pitchFamily="34" charset="0"/>
                    <a:cs typeface="Times New Roman" panose="02020603050405020304" pitchFamily="18" charset="0"/>
                  </a:rPr>
                  <a:t> </a:t>
                </a:r>
                <a:r>
                  <a:rPr lang="es-MX" sz="1600" dirty="0"/>
                  <a:t>en régimen; picos de </a:t>
                </a:r>
                <a14:m>
                  <m:oMath xmlns:m="http://schemas.openxmlformats.org/officeDocument/2006/math">
                    <m:sSub>
                      <m:sSubPr>
                        <m:ctrlPr>
                          <a:rPr lang="es-AR" sz="1600" b="1" i="1">
                            <a:latin typeface="Cambria Math" panose="02040503050406030204" pitchFamily="18" charset="0"/>
                            <a:ea typeface="Calibri" panose="020F0502020204030204" pitchFamily="34" charset="0"/>
                            <a:cs typeface="Times New Roman" panose="02020603050405020304" pitchFamily="18" charset="0"/>
                          </a:rPr>
                        </m:ctrlPr>
                      </m:sSubPr>
                      <m:e>
                        <m:r>
                          <a:rPr lang="es-AR" sz="1600" b="1" i="1">
                            <a:latin typeface="Cambria Math" panose="02040503050406030204" pitchFamily="18" charset="0"/>
                            <a:ea typeface="Calibri" panose="020F0502020204030204" pitchFamily="34" charset="0"/>
                            <a:cs typeface="Times New Roman" panose="02020603050405020304" pitchFamily="18" charset="0"/>
                          </a:rPr>
                          <m:t>𝑻</m:t>
                        </m:r>
                      </m:e>
                      <m:sub>
                        <m:r>
                          <a:rPr lang="es-AR" sz="1600" b="1" i="1">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s-MX" sz="1600" dirty="0"/>
                  <a:t> más pronunciados en el transitorio.</a:t>
                </a:r>
              </a:p>
              <a:p>
                <a:pPr marL="285750" indent="-285750">
                  <a:buFont typeface="Arial" panose="020B0604020202020204" pitchFamily="34" charset="0"/>
                  <a:buChar char="•"/>
                </a:pPr>
                <a:endParaRPr lang="es-MX" sz="1600" dirty="0"/>
              </a:p>
              <a:p>
                <a:pPr marL="285750" indent="-285750">
                  <a:buFont typeface="Arial" panose="020B0604020202020204" pitchFamily="34" charset="0"/>
                  <a:buChar char="•"/>
                </a:pPr>
                <a:r>
                  <a:rPr lang="es-MX" sz="1600" dirty="0"/>
                  <a:t>Field weakening (</a:t>
                </a:r>
                <a14:m>
                  <m:oMath xmlns:m="http://schemas.openxmlformats.org/officeDocument/2006/math">
                    <m:sSubSup>
                      <m:sSubSupPr>
                        <m:ctrlPr>
                          <a:rPr lang="es-AR" sz="160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t> &lt; 0): debilita el flujo → velocidades ligeramente superiores; diferencias visibles principalmente en el transitorio antes de retornar al régimen estacionario.</a:t>
                </a:r>
              </a:p>
              <a:p>
                <a:pPr marL="285750" indent="-285750">
                  <a:buFont typeface="Arial" panose="020B0604020202020204" pitchFamily="34" charset="0"/>
                  <a:buChar char="•"/>
                </a:pPr>
                <a:endParaRPr lang="es-MX" sz="1600" dirty="0"/>
              </a:p>
              <a:p>
                <a:pPr marL="285750" indent="-285750">
                  <a:buFont typeface="Arial" panose="020B0604020202020204" pitchFamily="34" charset="0"/>
                  <a:buChar char="•"/>
                </a:pPr>
                <a:r>
                  <a:rPr lang="es-MX" sz="1600" dirty="0"/>
                  <a:t>Modelo LTI: permanece prácticamente inalterado ante variaciones de </a:t>
                </a:r>
                <a14:m>
                  <m:oMath xmlns:m="http://schemas.openxmlformats.org/officeDocument/2006/math">
                    <m:sSubSup>
                      <m:sSubSupPr>
                        <m:ctrlPr>
                          <a:rPr lang="es-AR" sz="160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t> — el desacople entre ejes d y q elimina este efecto. Cualquier valor inicial de </a:t>
                </a:r>
                <a14:m>
                  <m:oMath xmlns:m="http://schemas.openxmlformats.org/officeDocument/2006/math">
                    <m:sSubSup>
                      <m:sSubSupPr>
                        <m:ctrlPr>
                          <a:rPr lang="es-AR" sz="1600" i="1">
                            <a:latin typeface="Cambria Math" panose="02040503050406030204" pitchFamily="18" charset="0"/>
                            <a:ea typeface="Calibri" panose="020F0502020204030204" pitchFamily="34" charset="0"/>
                            <a:cs typeface="Times New Roman" panose="02020603050405020304" pitchFamily="18" charset="0"/>
                          </a:rPr>
                        </m:ctrlPr>
                      </m:sSubSupPr>
                      <m:e>
                        <m:r>
                          <a:rPr lang="es-AR" sz="1600" b="0" i="1">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b="0" i="1">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t> es anulado rápidamente por el controlador.</a:t>
                </a:r>
              </a:p>
            </p:txBody>
          </p:sp>
        </mc:Choice>
        <mc:Fallback xmlns="">
          <p:sp>
            <p:nvSpPr>
              <p:cNvPr id="17" name="CuadroTexto 16">
                <a:extLst>
                  <a:ext uri="{FF2B5EF4-FFF2-40B4-BE49-F238E27FC236}">
                    <a16:creationId xmlns:a16="http://schemas.microsoft.com/office/drawing/2014/main" id="{F913FF57-83AB-4AAD-9D93-5FED7EBB3644}"/>
                  </a:ext>
                </a:extLst>
              </p:cNvPr>
              <p:cNvSpPr txBox="1">
                <a:spLocks noRot="1" noChangeAspect="1" noMove="1" noResize="1" noEditPoints="1" noAdjustHandles="1" noChangeArrowheads="1" noChangeShapeType="1" noTextEdit="1"/>
              </p:cNvSpPr>
              <p:nvPr/>
            </p:nvSpPr>
            <p:spPr>
              <a:xfrm>
                <a:off x="441215" y="954251"/>
                <a:ext cx="11144143" cy="2309094"/>
              </a:xfrm>
              <a:prstGeom prst="rect">
                <a:avLst/>
              </a:prstGeom>
              <a:blipFill>
                <a:blip r:embed="rId4"/>
                <a:stretch>
                  <a:fillRect l="-274" t="-794" b="-2646"/>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519043A7-E6C6-45A2-97DF-D7430E0542D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85E39923-92A6-4B6A-946A-44FE6F12D0A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5223631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399" y="2144845"/>
            <a:ext cx="10362895" cy="1138773"/>
          </a:xfrm>
          <a:prstGeom prst="rect">
            <a:avLst/>
          </a:prstGeom>
          <a:noFill/>
        </p:spPr>
        <p:txBody>
          <a:bodyPr wrap="square">
            <a:spAutoFit/>
          </a:bodyPr>
          <a:lstStyle/>
          <a:p>
            <a:pPr algn="ctr"/>
            <a:r>
              <a:rPr lang="es-AR" sz="3400" b="1" dirty="0">
                <a:solidFill>
                  <a:srgbClr val="FFFFFF"/>
                </a:solidFill>
                <a:latin typeface="Cambria"/>
              </a:rPr>
              <a:t>Controlador de movimiento en cascada con modulador de torque equivalente</a:t>
            </a:r>
          </a:p>
        </p:txBody>
      </p:sp>
      <p:sp>
        <p:nvSpPr>
          <p:cNvPr id="4" name="Shape 4">
            <a:extLst>
              <a:ext uri="{FF2B5EF4-FFF2-40B4-BE49-F238E27FC236}">
                <a16:creationId xmlns:a16="http://schemas.microsoft.com/office/drawing/2014/main" id="{48310B8E-CE7E-4936-AE50-D6846DB98121}"/>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7822"/>
            <a:ext cx="4483600" cy="415498"/>
          </a:xfrm>
          <a:prstGeom prst="rect">
            <a:avLst/>
          </a:prstGeom>
          <a:noFill/>
        </p:spPr>
        <p:txBody>
          <a:bodyPr wrap="none">
            <a:spAutoFit/>
          </a:bodyPr>
          <a:lstStyle/>
          <a:p>
            <a:pPr algn="l"/>
            <a:r>
              <a:rPr lang="es-AR" sz="2100" b="1" dirty="0">
                <a:solidFill>
                  <a:srgbClr val="FFFFFF"/>
                </a:solidFill>
                <a:latin typeface="Cambria"/>
              </a:rPr>
              <a:t>Arquitectura de control en cascada</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46 / ~75</a:t>
            </a:r>
          </a:p>
        </p:txBody>
      </p:sp>
      <p:sp>
        <p:nvSpPr>
          <p:cNvPr id="7" name="TextBox 6"/>
          <p:cNvSpPr txBox="1"/>
          <p:nvPr/>
        </p:nvSpPr>
        <p:spPr>
          <a:xfrm>
            <a:off x="320040" y="777240"/>
            <a:ext cx="11430000" cy="338554"/>
          </a:xfrm>
          <a:prstGeom prst="rect">
            <a:avLst/>
          </a:prstGeom>
          <a:noFill/>
        </p:spPr>
        <p:txBody>
          <a:bodyPr wrap="square">
            <a:spAutoFit/>
          </a:bodyPr>
          <a:lstStyle/>
          <a:p>
            <a:pPr algn="l"/>
            <a:r>
              <a:rPr lang="es-AR" sz="1600" b="0" i="0" u="sng" dirty="0">
                <a:solidFill>
                  <a:srgbClr val="1A1A2E"/>
                </a:solidFill>
                <a:latin typeface="Calibri"/>
              </a:rPr>
              <a:t>Se adopta una estructura de control en cascada con dos niveles jerárquicos:</a:t>
            </a:r>
          </a:p>
        </p:txBody>
      </p:sp>
      <p:sp>
        <p:nvSpPr>
          <p:cNvPr id="8" name="TextBox 7"/>
          <p:cNvSpPr txBox="1"/>
          <p:nvPr/>
        </p:nvSpPr>
        <p:spPr>
          <a:xfrm>
            <a:off x="487375" y="1290286"/>
            <a:ext cx="11430000" cy="1395254"/>
          </a:xfrm>
          <a:prstGeom prst="rect">
            <a:avLst/>
          </a:prstGeom>
          <a:noFill/>
        </p:spPr>
        <p:txBody>
          <a:bodyPr wrap="square">
            <a:spAutoFit/>
          </a:bodyPr>
          <a:lstStyle/>
          <a:p>
            <a:pPr marL="285750" indent="-285750">
              <a:buFont typeface="Arial" panose="020B0604020202020204" pitchFamily="34" charset="0"/>
              <a:buChar char="•"/>
            </a:pPr>
            <a:r>
              <a:rPr lang="es-AR" sz="1600" b="1" dirty="0">
                <a:latin typeface="Calibri"/>
              </a:rPr>
              <a:t>Lazo interno (modulador de torque):  </a:t>
            </a:r>
            <a:r>
              <a:rPr lang="es-AR" sz="1600" dirty="0">
                <a:latin typeface="Calibri"/>
              </a:rPr>
              <a:t>regula rápidamente las variables eléctricas (corrientes) para seguir una consigna de torque</a:t>
            </a:r>
          </a:p>
          <a:p>
            <a:pPr marL="285750" indent="-285750">
              <a:buFont typeface="Arial" panose="020B0604020202020204" pitchFamily="34" charset="0"/>
              <a:buChar char="•"/>
            </a:pPr>
            <a:endParaRPr lang="es-AR" sz="1600" b="1" dirty="0">
              <a:latin typeface="Calibri"/>
            </a:endParaRPr>
          </a:p>
          <a:p>
            <a:pPr marL="285750" indent="-285750">
              <a:spcBef>
                <a:spcPts val="400"/>
              </a:spcBef>
              <a:buFont typeface="Arial" panose="020B0604020202020204" pitchFamily="34" charset="0"/>
              <a:buChar char="•"/>
            </a:pPr>
            <a:r>
              <a:rPr lang="es-AR" sz="1600" b="1" dirty="0">
                <a:latin typeface="Calibri"/>
              </a:rPr>
              <a:t>Lazo externo (PID de movimiento):  </a:t>
            </a:r>
            <a:r>
              <a:rPr lang="es-AR" sz="1600" dirty="0">
                <a:latin typeface="Calibri"/>
              </a:rPr>
              <a:t>genera consignas de torque para seguir la referencia de posición/velocidad. Éstas son aplicadas al lazo interno.</a:t>
            </a:r>
          </a:p>
          <a:p>
            <a:pPr marL="285750" indent="-285750">
              <a:spcBef>
                <a:spcPts val="400"/>
              </a:spcBef>
              <a:buFont typeface="Arial" panose="020B0604020202020204" pitchFamily="34" charset="0"/>
              <a:buChar char="•"/>
            </a:pPr>
            <a:endParaRPr lang="es-AR" sz="1400" b="1" dirty="0">
              <a:latin typeface="Calibri"/>
            </a:endParaRP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6E2D4AFC-E308-4676-A366-47E0821BF784}"/>
                  </a:ext>
                </a:extLst>
              </p:cNvPr>
              <p:cNvSpPr txBox="1"/>
              <p:nvPr/>
            </p:nvSpPr>
            <p:spPr>
              <a:xfrm>
                <a:off x="365760" y="2689165"/>
                <a:ext cx="11217250" cy="2496133"/>
              </a:xfrm>
              <a:prstGeom prst="rect">
                <a:avLst/>
              </a:prstGeom>
              <a:noFill/>
            </p:spPr>
            <p:txBody>
              <a:bodyPr wrap="square">
                <a:spAutoFit/>
              </a:bodyPr>
              <a:lstStyle/>
              <a:p>
                <a:pPr algn="just">
                  <a:lnSpc>
                    <a:spcPct val="107000"/>
                  </a:lnSpc>
                  <a:spcBef>
                    <a:spcPts val="400"/>
                  </a:spcBef>
                  <a:spcAft>
                    <a:spcPts val="400"/>
                  </a:spcAft>
                </a:pPr>
                <a:r>
                  <a:rPr lang="es-AR" sz="1600" u="sng" dirty="0">
                    <a:solidFill>
                      <a:srgbClr val="1A1A2E"/>
                    </a:solidFill>
                    <a:latin typeface="Calibri"/>
                  </a:rPr>
                  <a:t>El sistema de control propuesto se compone de los siguientes bloques principales:</a:t>
                </a:r>
              </a:p>
              <a:p>
                <a:pPr marL="342900" indent="-342900" algn="just">
                  <a:lnSpc>
                    <a:spcPct val="107000"/>
                  </a:lnSpc>
                  <a:spcBef>
                    <a:spcPts val="400"/>
                  </a:spcBef>
                  <a:spcAft>
                    <a:spcPts val="400"/>
                  </a:spcAft>
                  <a:buSzPts val="1000"/>
                  <a:buFont typeface="Symbol" panose="05050102010706020507" pitchFamily="18" charset="2"/>
                  <a:buChar char=""/>
                  <a:tabLst>
                    <a:tab pos="457200" algn="l"/>
                  </a:tabLst>
                </a:pPr>
                <a:r>
                  <a:rPr lang="es-AR" sz="1600" b="1" dirty="0">
                    <a:latin typeface="Calibri"/>
                  </a:rPr>
                  <a:t>Modulador de torque: </a:t>
                </a:r>
                <a:r>
                  <a:rPr lang="es-AR" sz="1600" dirty="0">
                    <a:latin typeface="Calibri"/>
                  </a:rPr>
                  <a:t>encargado de transformar las consignas de torque en señales de tensión equivalentes que actúan sobre la máquina.</a:t>
                </a:r>
                <a:r>
                  <a:rPr lang="es-AR" sz="1600" dirty="0">
                    <a:latin typeface="Calibri" panose="020F0502020204030204" pitchFamily="34" charset="0"/>
                    <a:ea typeface="Calibri" panose="020F0502020204030204" pitchFamily="34" charset="0"/>
                  </a:rPr>
                  <a:t> Se basa en el modelo dinámico linealizado del sistema expresado en el marco de referencia </a:t>
                </a:r>
                <a14:m>
                  <m:oMath xmlns:m="http://schemas.openxmlformats.org/officeDocument/2006/math">
                    <m:sSup>
                      <m:sSupPr>
                        <m:ctrlPr>
                          <a:rPr lang="es-AR" sz="1600" i="1">
                            <a:latin typeface="Cambria Math" panose="02040503050406030204" pitchFamily="18" charset="0"/>
                            <a:ea typeface="Calibri" panose="020F0502020204030204" pitchFamily="34" charset="0"/>
                          </a:rPr>
                        </m:ctrlPr>
                      </m:sSupPr>
                      <m:e>
                        <m:r>
                          <a:rPr lang="es-AR" sz="1600">
                            <a:latin typeface="Cambria Math" panose="02040503050406030204" pitchFamily="18" charset="0"/>
                            <a:ea typeface="Calibri" panose="020F0502020204030204" pitchFamily="34" charset="0"/>
                          </a:rPr>
                          <m:t>𝑞𝑑</m:t>
                        </m:r>
                        <m:r>
                          <a:rPr lang="es-AR" sz="1600">
                            <a:latin typeface="Cambria Math" panose="02040503050406030204" pitchFamily="18" charset="0"/>
                            <a:ea typeface="Calibri" panose="020F0502020204030204" pitchFamily="34" charset="0"/>
                          </a:rPr>
                          <m:t>0</m:t>
                        </m:r>
                      </m:e>
                      <m:sup>
                        <m:r>
                          <a:rPr lang="es-AR" sz="1600">
                            <a:latin typeface="Cambria Math" panose="02040503050406030204" pitchFamily="18" charset="0"/>
                            <a:ea typeface="Calibri" panose="020F0502020204030204" pitchFamily="34" charset="0"/>
                          </a:rPr>
                          <m:t>𝑟</m:t>
                        </m:r>
                      </m:sup>
                    </m:sSup>
                  </m:oMath>
                </a14:m>
                <a:r>
                  <a:rPr lang="es-AR" sz="1600" dirty="0">
                    <a:latin typeface="Calibri" panose="020F0502020204030204" pitchFamily="34" charset="0"/>
                    <a:ea typeface="Calibri" panose="020F0502020204030204" pitchFamily="34" charset="0"/>
                  </a:rPr>
                  <a:t>, lo que permite relacionar directamente las variables eléctricas con el torque electromagnético desarrollado por la máquina.</a:t>
                </a:r>
                <a:endParaRPr lang="es-AR" sz="1600" dirty="0">
                  <a:latin typeface="Calibri"/>
                </a:endParaRPr>
              </a:p>
              <a:p>
                <a:pPr marL="342900" lvl="0" indent="-342900" algn="just">
                  <a:lnSpc>
                    <a:spcPct val="107000"/>
                  </a:lnSpc>
                  <a:spcBef>
                    <a:spcPts val="400"/>
                  </a:spcBef>
                  <a:spcAft>
                    <a:spcPts val="400"/>
                  </a:spcAft>
                  <a:buSzPts val="1000"/>
                  <a:buFont typeface="Symbol" panose="05050102010706020507" pitchFamily="18" charset="2"/>
                  <a:buChar char=""/>
                  <a:tabLst>
                    <a:tab pos="457200" algn="l"/>
                  </a:tabLst>
                </a:pPr>
                <a:r>
                  <a:rPr lang="es-AR" sz="1600" b="1" dirty="0">
                    <a:latin typeface="Calibri"/>
                  </a:rPr>
                  <a:t>Modulador de tensión: </a:t>
                </a:r>
                <a:r>
                  <a:rPr lang="es-AR" sz="1600" dirty="0">
                    <a:latin typeface="Calibri"/>
                  </a:rPr>
                  <a:t>convierte las consignas de tensión generadas por el controlador en valores efectivos aplicados a los terminales del motor mediante el inversor.</a:t>
                </a:r>
              </a:p>
              <a:p>
                <a:pPr marL="342900" lvl="0" indent="-342900" algn="just">
                  <a:lnSpc>
                    <a:spcPct val="107000"/>
                  </a:lnSpc>
                  <a:spcBef>
                    <a:spcPts val="400"/>
                  </a:spcBef>
                  <a:spcAft>
                    <a:spcPts val="400"/>
                  </a:spcAft>
                  <a:buSzPts val="1000"/>
                  <a:buFont typeface="Symbol" panose="05050102010706020507" pitchFamily="18" charset="2"/>
                  <a:buChar char=""/>
                  <a:tabLst>
                    <a:tab pos="457200" algn="l"/>
                  </a:tabLst>
                </a:pPr>
                <a:r>
                  <a:rPr lang="es-AR" sz="1600" b="1" dirty="0">
                    <a:latin typeface="Calibri"/>
                  </a:rPr>
                  <a:t>Controlador de movimiento PID: </a:t>
                </a:r>
                <a:r>
                  <a:rPr lang="es-AR" sz="1600" dirty="0">
                    <a:latin typeface="Calibri"/>
                  </a:rPr>
                  <a:t>genera las consignas de torque necesarias para que el sistema siga un perfil de posición o velocidad especificado.</a:t>
                </a:r>
              </a:p>
            </p:txBody>
          </p:sp>
        </mc:Choice>
        <mc:Fallback xmlns="">
          <p:sp>
            <p:nvSpPr>
              <p:cNvPr id="14" name="CuadroTexto 13">
                <a:extLst>
                  <a:ext uri="{FF2B5EF4-FFF2-40B4-BE49-F238E27FC236}">
                    <a16:creationId xmlns:a16="http://schemas.microsoft.com/office/drawing/2014/main" id="{6E2D4AFC-E308-4676-A366-47E0821BF784}"/>
                  </a:ext>
                </a:extLst>
              </p:cNvPr>
              <p:cNvSpPr txBox="1">
                <a:spLocks noRot="1" noChangeAspect="1" noMove="1" noResize="1" noEditPoints="1" noAdjustHandles="1" noChangeArrowheads="1" noChangeShapeType="1" noTextEdit="1"/>
              </p:cNvSpPr>
              <p:nvPr/>
            </p:nvSpPr>
            <p:spPr>
              <a:xfrm>
                <a:off x="365760" y="2689165"/>
                <a:ext cx="11217250" cy="2496133"/>
              </a:xfrm>
              <a:prstGeom prst="rect">
                <a:avLst/>
              </a:prstGeom>
              <a:blipFill>
                <a:blip r:embed="rId2"/>
                <a:stretch>
                  <a:fillRect l="-272" t="-488" r="-272" b="-2195"/>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2DD9985C-73BA-4B1C-8A2A-B735A3AD1D8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D490DB2B-E035-48A3-983E-EC38E31977F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10">
            <a:extLst>
              <a:ext uri="{FF2B5EF4-FFF2-40B4-BE49-F238E27FC236}">
                <a16:creationId xmlns:a16="http://schemas.microsoft.com/office/drawing/2014/main" id="{23CC2208-8D8B-4AB5-B6F9-3F00C577901A}"/>
              </a:ext>
            </a:extLst>
          </p:cNvPr>
          <p:cNvSpPr/>
          <p:nvPr/>
        </p:nvSpPr>
        <p:spPr>
          <a:xfrm>
            <a:off x="201967" y="3178313"/>
            <a:ext cx="11285737" cy="169636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10">
            <a:extLst>
              <a:ext uri="{FF2B5EF4-FFF2-40B4-BE49-F238E27FC236}">
                <a16:creationId xmlns:a16="http://schemas.microsoft.com/office/drawing/2014/main" id="{74955DF3-0735-4AD8-9599-1E43B7894A07}"/>
              </a:ext>
            </a:extLst>
          </p:cNvPr>
          <p:cNvSpPr/>
          <p:nvPr/>
        </p:nvSpPr>
        <p:spPr>
          <a:xfrm>
            <a:off x="201967" y="1538154"/>
            <a:ext cx="11285737"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6868"/>
            <a:ext cx="6676187" cy="415498"/>
          </a:xfrm>
          <a:prstGeom prst="rect">
            <a:avLst/>
          </a:prstGeom>
          <a:noFill/>
        </p:spPr>
        <p:txBody>
          <a:bodyPr wrap="none">
            <a:spAutoFit/>
          </a:bodyPr>
          <a:lstStyle/>
          <a:p>
            <a:pPr algn="l"/>
            <a:r>
              <a:rPr lang="es-AR" sz="2100" b="1" dirty="0">
                <a:solidFill>
                  <a:srgbClr val="FFFFFF"/>
                </a:solidFill>
                <a:latin typeface="Cambria"/>
              </a:rPr>
              <a:t>Modulador de torque — Desacople electromagnético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47 / ~75</a:t>
            </a: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9A25353C-B90E-45F5-BF24-F7F0E89C554B}"/>
                  </a:ext>
                </a:extLst>
              </p:cNvPr>
              <p:cNvSpPr txBox="1"/>
              <p:nvPr/>
            </p:nvSpPr>
            <p:spPr>
              <a:xfrm>
                <a:off x="114521" y="822695"/>
                <a:ext cx="11643055" cy="523220"/>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rPr>
                  <a:t>Se considera un modulador de tensión ideal (BW elevado y ganancia unitaria). Por lo tanto, la consigna de tensión trifásica </a:t>
                </a:r>
                <a14:m>
                  <m:oMath xmlns:m="http://schemas.openxmlformats.org/officeDocument/2006/math">
                    <m:sSubSup>
                      <m:sSubSupPr>
                        <m:ctrlPr>
                          <a:rPr lang="es-AR" sz="1400" i="1">
                            <a:latin typeface="Cambria Math" panose="02040503050406030204" pitchFamily="18" charset="0"/>
                            <a:ea typeface="Calibri" panose="020F0502020204030204" pitchFamily="34" charset="0"/>
                          </a:rPr>
                        </m:ctrlPr>
                      </m:sSubSupPr>
                      <m:e>
                        <m:r>
                          <a:rPr lang="es-AR" sz="1400">
                            <a:latin typeface="Cambria Math" panose="02040503050406030204" pitchFamily="18" charset="0"/>
                            <a:ea typeface="Calibri" panose="020F0502020204030204" pitchFamily="34" charset="0"/>
                          </a:rPr>
                          <m:t>𝑣</m:t>
                        </m:r>
                      </m:e>
                      <m:sub>
                        <m:r>
                          <a:rPr lang="es-AR" sz="1400">
                            <a:latin typeface="Cambria Math" panose="02040503050406030204" pitchFamily="18" charset="0"/>
                            <a:ea typeface="Calibri" panose="020F0502020204030204" pitchFamily="34" charset="0"/>
                          </a:rPr>
                          <m:t>𝑎𝑏𝑐</m:t>
                        </m:r>
                      </m:sub>
                      <m:sup>
                        <m:r>
                          <a:rPr lang="es-AR" sz="1400">
                            <a:latin typeface="Cambria Math" panose="02040503050406030204" pitchFamily="18" charset="0"/>
                            <a:ea typeface="Calibri" panose="020F0502020204030204" pitchFamily="34" charset="0"/>
                          </a:rPr>
                          <m:t>∗</m:t>
                        </m:r>
                      </m:sup>
                    </m:sSubSup>
                    <m:d>
                      <m:dPr>
                        <m:ctrlPr>
                          <a:rPr lang="es-AR" sz="1400" i="1">
                            <a:latin typeface="Cambria Math" panose="02040503050406030204" pitchFamily="18" charset="0"/>
                            <a:ea typeface="Calibri" panose="020F0502020204030204" pitchFamily="34" charset="0"/>
                          </a:rPr>
                        </m:ctrlPr>
                      </m:dPr>
                      <m:e>
                        <m:r>
                          <a:rPr lang="es-AR" sz="1400">
                            <a:latin typeface="Cambria Math" panose="02040503050406030204" pitchFamily="18" charset="0"/>
                            <a:ea typeface="Calibri" panose="020F0502020204030204" pitchFamily="34" charset="0"/>
                          </a:rPr>
                          <m:t>𝑡</m:t>
                        </m:r>
                      </m:e>
                    </m:d>
                  </m:oMath>
                </a14:m>
                <a:r>
                  <a:rPr lang="es-AR" sz="1400" dirty="0">
                    <a:latin typeface="Calibri" panose="020F0502020204030204" pitchFamily="34" charset="0"/>
                    <a:ea typeface="Calibri" panose="020F0502020204030204" pitchFamily="34" charset="0"/>
                  </a:rPr>
                  <a:t> puede considerarse igual a la tensión efectivamente aplicada </a:t>
                </a:r>
                <a14:m>
                  <m:oMath xmlns:m="http://schemas.openxmlformats.org/officeDocument/2006/math">
                    <m:sSub>
                      <m:sSubPr>
                        <m:ctrlPr>
                          <a:rPr lang="es-AR" sz="1400" i="1">
                            <a:latin typeface="Cambria Math" panose="02040503050406030204" pitchFamily="18" charset="0"/>
                            <a:ea typeface="Calibri" panose="020F0502020204030204" pitchFamily="34" charset="0"/>
                          </a:rPr>
                        </m:ctrlPr>
                      </m:sSubPr>
                      <m:e>
                        <m:r>
                          <a:rPr lang="es-AR" sz="1400">
                            <a:latin typeface="Cambria Math" panose="02040503050406030204" pitchFamily="18" charset="0"/>
                            <a:ea typeface="Calibri" panose="020F0502020204030204" pitchFamily="34" charset="0"/>
                          </a:rPr>
                          <m:t>𝑣</m:t>
                        </m:r>
                      </m:e>
                      <m:sub>
                        <m:r>
                          <a:rPr lang="es-AR" sz="1400">
                            <a:latin typeface="Cambria Math" panose="02040503050406030204" pitchFamily="18" charset="0"/>
                            <a:ea typeface="Calibri" panose="020F0502020204030204" pitchFamily="34" charset="0"/>
                          </a:rPr>
                          <m:t>𝑎𝑏𝑐</m:t>
                        </m:r>
                      </m:sub>
                    </m:sSub>
                    <m:d>
                      <m:dPr>
                        <m:ctrlPr>
                          <a:rPr lang="es-AR" sz="1400" i="1">
                            <a:latin typeface="Cambria Math" panose="02040503050406030204" pitchFamily="18" charset="0"/>
                            <a:ea typeface="Calibri" panose="020F0502020204030204" pitchFamily="34" charset="0"/>
                          </a:rPr>
                        </m:ctrlPr>
                      </m:dPr>
                      <m:e>
                        <m:r>
                          <a:rPr lang="es-AR" sz="1400">
                            <a:latin typeface="Cambria Math" panose="02040503050406030204" pitchFamily="18" charset="0"/>
                            <a:ea typeface="Calibri" panose="020F0502020204030204" pitchFamily="34" charset="0"/>
                          </a:rPr>
                          <m:t>𝑡</m:t>
                        </m:r>
                      </m:e>
                    </m:d>
                  </m:oMath>
                </a14:m>
                <a:r>
                  <a:rPr lang="es-AR" sz="1400" dirty="0">
                    <a:latin typeface="Calibri" panose="020F0502020204030204" pitchFamily="34" charset="0"/>
                    <a:ea typeface="Calibri" panose="020F0502020204030204" pitchFamily="34" charset="0"/>
                  </a:rPr>
                  <a:t>. Aplicando transformación de Park:</a:t>
                </a:r>
              </a:p>
            </p:txBody>
          </p:sp>
        </mc:Choice>
        <mc:Fallback xmlns="">
          <p:sp>
            <p:nvSpPr>
              <p:cNvPr id="22" name="CuadroTexto 21">
                <a:extLst>
                  <a:ext uri="{FF2B5EF4-FFF2-40B4-BE49-F238E27FC236}">
                    <a16:creationId xmlns:a16="http://schemas.microsoft.com/office/drawing/2014/main" id="{9A25353C-B90E-45F5-BF24-F7F0E89C554B}"/>
                  </a:ext>
                </a:extLst>
              </p:cNvPr>
              <p:cNvSpPr txBox="1">
                <a:spLocks noRot="1" noChangeAspect="1" noMove="1" noResize="1" noEditPoints="1" noAdjustHandles="1" noChangeArrowheads="1" noChangeShapeType="1" noTextEdit="1"/>
              </p:cNvSpPr>
              <p:nvPr/>
            </p:nvSpPr>
            <p:spPr>
              <a:xfrm>
                <a:off x="114521" y="822695"/>
                <a:ext cx="11643055" cy="523220"/>
              </a:xfrm>
              <a:prstGeom prst="rect">
                <a:avLst/>
              </a:prstGeom>
              <a:blipFill>
                <a:blip r:embed="rId2"/>
                <a:stretch>
                  <a:fillRect l="-157" t="-2326" b="-1046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TextBox 16">
                <a:extLst>
                  <a:ext uri="{FF2B5EF4-FFF2-40B4-BE49-F238E27FC236}">
                    <a16:creationId xmlns:a16="http://schemas.microsoft.com/office/drawing/2014/main" id="{90D5BD06-E953-4B2D-9222-069FC768BFC6}"/>
                  </a:ext>
                </a:extLst>
              </p:cNvPr>
              <p:cNvSpPr txBox="1"/>
              <p:nvPr/>
            </p:nvSpPr>
            <p:spPr>
              <a:xfrm>
                <a:off x="-115857" y="1591489"/>
                <a:ext cx="4714490" cy="36881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600" i="1" smtClean="0">
                              <a:effectLst/>
                              <a:latin typeface="Cambria Math" panose="02040503050406030204" pitchFamily="18" charset="0"/>
                              <a:cs typeface="Calibri" panose="020F0502020204030204" pitchFamily="34" charset="0"/>
                            </a:rPr>
                          </m:ctrlPr>
                        </m:sSubSupPr>
                        <m:e>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𝑎𝑏𝑐</m:t>
                              </m:r>
                            </m:sub>
                            <m:sup>
                              <m:r>
                                <a:rPr lang="es-AR" sz="1600" i="1">
                                  <a:latin typeface="Cambria Math" panose="02040503050406030204" pitchFamily="18" charset="0"/>
                                </a:rPr>
                                <m:t>∗</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𝑣</m:t>
                              </m:r>
                            </m:e>
                            <m:sub>
                              <m:r>
                                <a:rPr lang="es-AR" sz="1600" i="1">
                                  <a:latin typeface="Cambria Math" panose="02040503050406030204" pitchFamily="18" charset="0"/>
                                </a:rPr>
                                <m:t>𝑎𝑏𝑐</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MX" sz="1600" b="0" i="1" smtClean="0">
                              <a:latin typeface="Cambria Math" panose="02040503050406030204" pitchFamily="18" charset="0"/>
                            </a:rPr>
                            <m:t>,  </m:t>
                          </m:r>
                          <m:r>
                            <a:rPr lang="es-AR" sz="16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𝑞𝑑</m:t>
                          </m:r>
                          <m:r>
                            <a:rPr lang="es-AR" sz="1600" i="1">
                              <a:effectLst/>
                              <a:latin typeface="Cambria Math" panose="02040503050406030204" pitchFamily="18" charset="0"/>
                              <a:ea typeface="Calibri" panose="020F0502020204030204" pitchFamily="34" charset="0"/>
                              <a:cs typeface="Calibri" panose="020F0502020204030204" pitchFamily="34" charset="0"/>
                            </a:rPr>
                            <m:t>0</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r>
                            <a:rPr lang="es-AR" sz="16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6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6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600" i="1">
                          <a:effectLst/>
                          <a:latin typeface="Cambria Math" panose="02040503050406030204" pitchFamily="18" charset="0"/>
                          <a:ea typeface="Times New Roman" panose="02020603050405020304" pitchFamily="18" charset="0"/>
                          <a:cs typeface="Calibri" panose="020F0502020204030204" pitchFamily="34" charset="0"/>
                        </a:rPr>
                        <m:t>≈</m:t>
                      </m:r>
                      <m:sSubSup>
                        <m:sSubSupPr>
                          <m:ctrlPr>
                            <a:rPr lang="es-AR" sz="1600" i="1">
                              <a:effectLst/>
                              <a:latin typeface="Cambria Math" panose="02040503050406030204" pitchFamily="18" charset="0"/>
                              <a:cs typeface="Calibri" panose="020F0502020204030204" pitchFamily="34" charset="0"/>
                            </a:rPr>
                          </m:ctrlPr>
                        </m:sSubSupPr>
                        <m:e>
                          <m:r>
                            <a:rPr lang="es-AR" sz="16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𝑞𝑑</m:t>
                          </m:r>
                          <m:r>
                            <a:rPr lang="es-AR" sz="1600" i="1">
                              <a:effectLst/>
                              <a:latin typeface="Cambria Math" panose="02040503050406030204" pitchFamily="18" charset="0"/>
                              <a:ea typeface="Calibri" panose="020F0502020204030204" pitchFamily="34" charset="0"/>
                              <a:cs typeface="Calibri" panose="020F0502020204030204" pitchFamily="34" charset="0"/>
                            </a:rPr>
                            <m:t>0</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6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600" i="1">
                              <a:effectLst/>
                              <a:latin typeface="Cambria Math" panose="02040503050406030204" pitchFamily="18" charset="0"/>
                              <a:ea typeface="Times New Roman" panose="02020603050405020304" pitchFamily="18" charset="0"/>
                              <a:cs typeface="Calibri" panose="020F0502020204030204" pitchFamily="34" charset="0"/>
                            </a:rPr>
                            <m:t>𝑡</m:t>
                          </m:r>
                        </m:e>
                      </m:d>
                    </m:oMath>
                  </m:oMathPara>
                </a14:m>
                <a:endParaRPr sz="1600" b="1" dirty="0">
                  <a:solidFill>
                    <a:srgbClr val="C35A00"/>
                  </a:solidFill>
                  <a:latin typeface="Calibri"/>
                </a:endParaRPr>
              </a:p>
            </p:txBody>
          </p:sp>
        </mc:Choice>
        <mc:Fallback xmlns="">
          <p:sp>
            <p:nvSpPr>
              <p:cNvPr id="24" name="TextBox 16">
                <a:extLst>
                  <a:ext uri="{FF2B5EF4-FFF2-40B4-BE49-F238E27FC236}">
                    <a16:creationId xmlns:a16="http://schemas.microsoft.com/office/drawing/2014/main" id="{90D5BD06-E953-4B2D-9222-069FC768BFC6}"/>
                  </a:ext>
                </a:extLst>
              </p:cNvPr>
              <p:cNvSpPr txBox="1">
                <a:spLocks noRot="1" noChangeAspect="1" noMove="1" noResize="1" noEditPoints="1" noAdjustHandles="1" noChangeArrowheads="1" noChangeShapeType="1" noTextEdit="1"/>
              </p:cNvSpPr>
              <p:nvPr/>
            </p:nvSpPr>
            <p:spPr>
              <a:xfrm>
                <a:off x="-115857" y="1591489"/>
                <a:ext cx="4714490" cy="368819"/>
              </a:xfrm>
              <a:prstGeom prst="rect">
                <a:avLst/>
              </a:prstGeom>
              <a:blipFill>
                <a:blip r:embed="rId3"/>
                <a:stretch>
                  <a:fillRect b="-4918"/>
                </a:stretch>
              </a:blipFill>
            </p:spPr>
            <p:txBody>
              <a:bodyPr/>
              <a:lstStyle/>
              <a:p>
                <a:r>
                  <a:rPr lang="es-AR">
                    <a:noFill/>
                  </a:rPr>
                  <a:t> </a:t>
                </a:r>
              </a:p>
            </p:txBody>
          </p:sp>
        </mc:Fallback>
      </mc:AlternateContent>
      <p:sp>
        <p:nvSpPr>
          <p:cNvPr id="27" name="CuadroTexto 26">
            <a:extLst>
              <a:ext uri="{FF2B5EF4-FFF2-40B4-BE49-F238E27FC236}">
                <a16:creationId xmlns:a16="http://schemas.microsoft.com/office/drawing/2014/main" id="{0B9E471D-9E19-4890-A3F3-7A580A9A5BC8}"/>
              </a:ext>
            </a:extLst>
          </p:cNvPr>
          <p:cNvSpPr txBox="1"/>
          <p:nvPr/>
        </p:nvSpPr>
        <p:spPr>
          <a:xfrm>
            <a:off x="114521" y="2116644"/>
            <a:ext cx="11836152" cy="954107"/>
          </a:xfrm>
          <a:prstGeom prst="rect">
            <a:avLst/>
          </a:prstGeom>
          <a:noFill/>
        </p:spPr>
        <p:txBody>
          <a:bodyPr wrap="square">
            <a:spAutoFit/>
          </a:bodyPr>
          <a:lstStyle/>
          <a:p>
            <a:r>
              <a:rPr lang="es-AR" sz="1400" dirty="0">
                <a:effectLst/>
                <a:latin typeface="Calibri" panose="020F0502020204030204" pitchFamily="34" charset="0"/>
                <a:ea typeface="Calibri" panose="020F0502020204030204" pitchFamily="34" charset="0"/>
              </a:rPr>
              <a:t>El objetivo de este procedimiento es lograr que la señal de control influya de manera directa sobre la variable de interés (las corrientes), compensando los efectos de dichos términos mediante señales de control adecuadas. Estas realimentaciones no se pueden eliminar completamente, ya que son inherentes al funcionamiento físico de la máquina, si no que, lo que se persigue es atenuar sus efectos mediante señales de control. Recordando el modelo del sistema electromagnético:</a:t>
            </a:r>
            <a:endParaRPr lang="es-AR" sz="1400" dirty="0"/>
          </a:p>
        </p:txBody>
      </p:sp>
      <mc:AlternateContent xmlns:mc="http://schemas.openxmlformats.org/markup-compatibility/2006" xmlns:a14="http://schemas.microsoft.com/office/drawing/2010/main">
        <mc:Choice Requires="a14">
          <p:sp>
            <p:nvSpPr>
              <p:cNvPr id="29" name="TextBox 16">
                <a:extLst>
                  <a:ext uri="{FF2B5EF4-FFF2-40B4-BE49-F238E27FC236}">
                    <a16:creationId xmlns:a16="http://schemas.microsoft.com/office/drawing/2014/main" id="{425AD688-21B4-48B8-BCE2-57C9B2867213}"/>
                  </a:ext>
                </a:extLst>
              </p:cNvPr>
              <p:cNvSpPr txBox="1"/>
              <p:nvPr/>
            </p:nvSpPr>
            <p:spPr>
              <a:xfrm>
                <a:off x="559291" y="3222044"/>
                <a:ext cx="4714490" cy="160890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e>
                                </m:d>
                              </m:e>
                            </m:mr>
                            <m:mr>
                              <m:e>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r>
                              <m:e>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den>
                                </m:f>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
                        </m:e>
                      </m:d>
                    </m:oMath>
                  </m:oMathPara>
                </a14:m>
                <a:endParaRPr sz="1600" b="1" dirty="0">
                  <a:solidFill>
                    <a:srgbClr val="C35A00"/>
                  </a:solidFill>
                  <a:latin typeface="Calibri"/>
                </a:endParaRPr>
              </a:p>
            </p:txBody>
          </p:sp>
        </mc:Choice>
        <mc:Fallback xmlns="">
          <p:sp>
            <p:nvSpPr>
              <p:cNvPr id="29" name="TextBox 16">
                <a:extLst>
                  <a:ext uri="{FF2B5EF4-FFF2-40B4-BE49-F238E27FC236}">
                    <a16:creationId xmlns:a16="http://schemas.microsoft.com/office/drawing/2014/main" id="{425AD688-21B4-48B8-BCE2-57C9B2867213}"/>
                  </a:ext>
                </a:extLst>
              </p:cNvPr>
              <p:cNvSpPr txBox="1">
                <a:spLocks noRot="1" noChangeAspect="1" noMove="1" noResize="1" noEditPoints="1" noAdjustHandles="1" noChangeArrowheads="1" noChangeShapeType="1" noTextEdit="1"/>
              </p:cNvSpPr>
              <p:nvPr/>
            </p:nvSpPr>
            <p:spPr>
              <a:xfrm>
                <a:off x="559291" y="3222044"/>
                <a:ext cx="4714490" cy="1608902"/>
              </a:xfrm>
              <a:prstGeom prst="rect">
                <a:avLst/>
              </a:prstGeom>
              <a:blipFill>
                <a:blip r:embed="rId4"/>
                <a:stretch>
                  <a:fillRect l="-2458" r="-142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2DE01B99-EDA0-4525-9FC7-E41D06B78EA1}"/>
                  </a:ext>
                </a:extLst>
              </p:cNvPr>
              <p:cNvSpPr txBox="1"/>
              <p:nvPr/>
            </p:nvSpPr>
            <p:spPr>
              <a:xfrm>
                <a:off x="201967" y="5107450"/>
                <a:ext cx="11383392" cy="755271"/>
              </a:xfrm>
              <a:prstGeom prst="rect">
                <a:avLst/>
              </a:prstGeom>
              <a:noFill/>
            </p:spPr>
            <p:txBody>
              <a:bodyPr wrap="square">
                <a:spAutoFit/>
              </a:bodyPr>
              <a:lstStyle/>
              <a:p>
                <a:pPr algn="just">
                  <a:spcBef>
                    <a:spcPts val="1200"/>
                  </a:spcBef>
                </a:pPr>
                <a:r>
                  <a:rPr lang="es-AR" sz="1400" dirty="0">
                    <a:latin typeface="Calibri" panose="020F0502020204030204" pitchFamily="34" charset="0"/>
                    <a:ea typeface="Calibri" panose="020F0502020204030204" pitchFamily="34" charset="0"/>
                  </a:rPr>
                  <a:t>P</a:t>
                </a:r>
                <a:r>
                  <a:rPr lang="es-AR" sz="1400" dirty="0">
                    <a:effectLst/>
                    <a:latin typeface="Calibri" panose="020F0502020204030204" pitchFamily="34" charset="0"/>
                    <a:ea typeface="Calibri" panose="020F0502020204030204" pitchFamily="34" charset="0"/>
                  </a:rPr>
                  <a:t>uede observarse que los términos presentes en el segundo miembro, excepto las tensiones virtuales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effectLst/>
                    <a:latin typeface="Calibri" panose="020F0502020204030204" pitchFamily="34" charset="0"/>
                    <a:ea typeface="Calibri" panose="020F0502020204030204" pitchFamily="34" charset="0"/>
                  </a:rPr>
                  <a:t>​ y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effectLst/>
                    <a:latin typeface="Calibri" panose="020F0502020204030204" pitchFamily="34" charset="0"/>
                    <a:ea typeface="Calibri" panose="020F0502020204030204" pitchFamily="34" charset="0"/>
                  </a:rPr>
                  <a:t>​, corresponden a realimentaciones físicas inherentes al comportamiento de la máquina. Dichos términos incluyen las caídas de tensión en la resistencia del estator y los acoplamientos electromagnéticos dependientes de la velocidad del rotor.</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31" name="CuadroTexto 30">
                <a:extLst>
                  <a:ext uri="{FF2B5EF4-FFF2-40B4-BE49-F238E27FC236}">
                    <a16:creationId xmlns:a16="http://schemas.microsoft.com/office/drawing/2014/main" id="{2DE01B99-EDA0-4525-9FC7-E41D06B78EA1}"/>
                  </a:ext>
                </a:extLst>
              </p:cNvPr>
              <p:cNvSpPr txBox="1">
                <a:spLocks noRot="1" noChangeAspect="1" noMove="1" noResize="1" noEditPoints="1" noAdjustHandles="1" noChangeArrowheads="1" noChangeShapeType="1" noTextEdit="1"/>
              </p:cNvSpPr>
              <p:nvPr/>
            </p:nvSpPr>
            <p:spPr>
              <a:xfrm>
                <a:off x="201967" y="5107450"/>
                <a:ext cx="11383392" cy="755271"/>
              </a:xfrm>
              <a:prstGeom prst="rect">
                <a:avLst/>
              </a:prstGeom>
              <a:blipFill>
                <a:blip r:embed="rId5"/>
                <a:stretch>
                  <a:fillRect l="-161" t="-806" r="-161" b="-7258"/>
                </a:stretch>
              </a:blipFill>
            </p:spPr>
            <p:txBody>
              <a:bodyPr/>
              <a:lstStyle/>
              <a:p>
                <a:r>
                  <a:rPr lang="es-AR">
                    <a:noFill/>
                  </a:rPr>
                  <a:t> </a:t>
                </a:r>
              </a:p>
            </p:txBody>
          </p:sp>
        </mc:Fallback>
      </mc:AlternateContent>
      <p:sp>
        <p:nvSpPr>
          <p:cNvPr id="13" name="Shape 2">
            <a:extLst>
              <a:ext uri="{FF2B5EF4-FFF2-40B4-BE49-F238E27FC236}">
                <a16:creationId xmlns:a16="http://schemas.microsoft.com/office/drawing/2014/main" id="{DE230A35-33E7-4BA4-99FB-96707DE6BE6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6CDBB0F7-993D-45C6-B754-6A64CA824A1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0">
            <a:extLst>
              <a:ext uri="{FF2B5EF4-FFF2-40B4-BE49-F238E27FC236}">
                <a16:creationId xmlns:a16="http://schemas.microsoft.com/office/drawing/2014/main" id="{6658822A-4CBC-4C7D-8CBB-1F3C465B2591}"/>
              </a:ext>
            </a:extLst>
          </p:cNvPr>
          <p:cNvSpPr/>
          <p:nvPr/>
        </p:nvSpPr>
        <p:spPr>
          <a:xfrm>
            <a:off x="274320" y="3744687"/>
            <a:ext cx="11328794" cy="155087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0">
            <a:extLst>
              <a:ext uri="{FF2B5EF4-FFF2-40B4-BE49-F238E27FC236}">
                <a16:creationId xmlns:a16="http://schemas.microsoft.com/office/drawing/2014/main" id="{854B05C0-0CBB-4E43-9ED9-8CD22E02B89A}"/>
              </a:ext>
            </a:extLst>
          </p:cNvPr>
          <p:cNvSpPr/>
          <p:nvPr/>
        </p:nvSpPr>
        <p:spPr>
          <a:xfrm>
            <a:off x="274319" y="1075617"/>
            <a:ext cx="11328795" cy="123683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6868"/>
            <a:ext cx="6676187" cy="415498"/>
          </a:xfrm>
          <a:prstGeom prst="rect">
            <a:avLst/>
          </a:prstGeom>
          <a:noFill/>
        </p:spPr>
        <p:txBody>
          <a:bodyPr wrap="none">
            <a:spAutoFit/>
          </a:bodyPr>
          <a:lstStyle/>
          <a:p>
            <a:pPr algn="l"/>
            <a:r>
              <a:rPr lang="es-AR" sz="2100" b="1" dirty="0">
                <a:solidFill>
                  <a:srgbClr val="FFFFFF"/>
                </a:solidFill>
                <a:latin typeface="Cambria"/>
              </a:rPr>
              <a:t>Modulador de torque — Desacople electromagnético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47 / ~75</a:t>
            </a:r>
          </a:p>
        </p:txBody>
      </p:sp>
      <p:sp>
        <p:nvSpPr>
          <p:cNvPr id="22" name="CuadroTexto 21">
            <a:extLst>
              <a:ext uri="{FF2B5EF4-FFF2-40B4-BE49-F238E27FC236}">
                <a16:creationId xmlns:a16="http://schemas.microsoft.com/office/drawing/2014/main" id="{9A25353C-B90E-45F5-BF24-F7F0E89C554B}"/>
              </a:ext>
            </a:extLst>
          </p:cNvPr>
          <p:cNvSpPr txBox="1"/>
          <p:nvPr/>
        </p:nvSpPr>
        <p:spPr>
          <a:xfrm>
            <a:off x="114521" y="712740"/>
            <a:ext cx="11643055" cy="307777"/>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rPr>
              <a:t>Por lo tanto, para compensar estas contribuciones:</a:t>
            </a:r>
          </a:p>
        </p:txBody>
      </p:sp>
      <p:sp>
        <p:nvSpPr>
          <p:cNvPr id="27" name="CuadroTexto 26">
            <a:extLst>
              <a:ext uri="{FF2B5EF4-FFF2-40B4-BE49-F238E27FC236}">
                <a16:creationId xmlns:a16="http://schemas.microsoft.com/office/drawing/2014/main" id="{0B9E471D-9E19-4890-A3F3-7A580A9A5BC8}"/>
              </a:ext>
            </a:extLst>
          </p:cNvPr>
          <p:cNvSpPr txBox="1"/>
          <p:nvPr/>
        </p:nvSpPr>
        <p:spPr>
          <a:xfrm>
            <a:off x="177771" y="2324842"/>
            <a:ext cx="11739604" cy="1004186"/>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Calibri" panose="020F0502020204030204" pitchFamily="34" charset="0"/>
              </a:rPr>
              <a:t>Se identifican productos entre variables de estado, lo cual introduce no linealidades en el modelo. Al restar estos términos de las ecuaciones dinámicas e incorporarlos dentro de la señal de control, se está realizando un procedimiento conocido como linealización por realimentación. Esta aproximación resulta válida siempre que el modelo utilizado represente adecuadamente el comportamiento del sistema y que el controlador tenga una dinámica suficientemente rápida para compensar dichos efectos.</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9" name="TextBox 16">
                <a:extLst>
                  <a:ext uri="{FF2B5EF4-FFF2-40B4-BE49-F238E27FC236}">
                    <a16:creationId xmlns:a16="http://schemas.microsoft.com/office/drawing/2014/main" id="{425AD688-21B4-48B8-BCE2-57C9B2867213}"/>
                  </a:ext>
                </a:extLst>
              </p:cNvPr>
              <p:cNvSpPr txBox="1"/>
              <p:nvPr/>
            </p:nvSpPr>
            <p:spPr>
              <a:xfrm>
                <a:off x="320040" y="1101280"/>
                <a:ext cx="4714490" cy="106336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
                        </m:e>
                      </m:d>
                    </m:oMath>
                  </m:oMathPara>
                </a14:m>
                <a:endParaRPr sz="1600" b="1" dirty="0">
                  <a:solidFill>
                    <a:srgbClr val="C35A00"/>
                  </a:solidFill>
                  <a:latin typeface="Calibri"/>
                </a:endParaRPr>
              </a:p>
            </p:txBody>
          </p:sp>
        </mc:Choice>
        <mc:Fallback xmlns="">
          <p:sp>
            <p:nvSpPr>
              <p:cNvPr id="29" name="TextBox 16">
                <a:extLst>
                  <a:ext uri="{FF2B5EF4-FFF2-40B4-BE49-F238E27FC236}">
                    <a16:creationId xmlns:a16="http://schemas.microsoft.com/office/drawing/2014/main" id="{425AD688-21B4-48B8-BCE2-57C9B2867213}"/>
                  </a:ext>
                </a:extLst>
              </p:cNvPr>
              <p:cNvSpPr txBox="1">
                <a:spLocks noRot="1" noChangeAspect="1" noMove="1" noResize="1" noEditPoints="1" noAdjustHandles="1" noChangeArrowheads="1" noChangeShapeType="1" noTextEdit="1"/>
              </p:cNvSpPr>
              <p:nvPr/>
            </p:nvSpPr>
            <p:spPr>
              <a:xfrm>
                <a:off x="320040" y="1101280"/>
                <a:ext cx="4714490" cy="1063368"/>
              </a:xfrm>
              <a:prstGeom prst="rect">
                <a:avLst/>
              </a:prstGeom>
              <a:blipFill>
                <a:blip r:embed="rId2"/>
                <a:stretch>
                  <a:fillRect/>
                </a:stretch>
              </a:blipFill>
            </p:spPr>
            <p:txBody>
              <a:bodyPr/>
              <a:lstStyle/>
              <a:p>
                <a:r>
                  <a:rPr lang="es-AR">
                    <a:noFill/>
                  </a:rPr>
                  <a:t> </a:t>
                </a:r>
              </a:p>
            </p:txBody>
          </p:sp>
        </mc:Fallback>
      </mc:AlternateContent>
      <p:sp>
        <p:nvSpPr>
          <p:cNvPr id="13" name="CuadroTexto 12">
            <a:extLst>
              <a:ext uri="{FF2B5EF4-FFF2-40B4-BE49-F238E27FC236}">
                <a16:creationId xmlns:a16="http://schemas.microsoft.com/office/drawing/2014/main" id="{4D3E762E-FECA-4402-8091-CEAD255D9682}"/>
              </a:ext>
            </a:extLst>
          </p:cNvPr>
          <p:cNvSpPr txBox="1"/>
          <p:nvPr/>
        </p:nvSpPr>
        <p:spPr>
          <a:xfrm>
            <a:off x="114520" y="3325222"/>
            <a:ext cx="11643055" cy="307777"/>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rPr>
              <a:t> Reemplazando en el modelo electromagnético:</a:t>
            </a:r>
          </a:p>
        </p:txBody>
      </p:sp>
      <mc:AlternateContent xmlns:mc="http://schemas.openxmlformats.org/markup-compatibility/2006" xmlns:a14="http://schemas.microsoft.com/office/drawing/2010/main">
        <mc:Choice Requires="a14">
          <p:sp>
            <p:nvSpPr>
              <p:cNvPr id="15" name="TextBox 16">
                <a:extLst>
                  <a:ext uri="{FF2B5EF4-FFF2-40B4-BE49-F238E27FC236}">
                    <a16:creationId xmlns:a16="http://schemas.microsoft.com/office/drawing/2014/main" id="{74A4E847-74CF-431E-9A8D-9916FC1E56B1}"/>
                  </a:ext>
                </a:extLst>
              </p:cNvPr>
              <p:cNvSpPr txBox="1"/>
              <p:nvPr/>
            </p:nvSpPr>
            <p:spPr>
              <a:xfrm>
                <a:off x="-160685" y="3778036"/>
                <a:ext cx="2922173" cy="146681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smtClean="0">
                                        <a:latin typeface="Cambria Math" panose="02040503050406030204" pitchFamily="18" charset="0"/>
                                      </a:rPr>
                                    </m:ctrlPr>
                                  </m:sSubPr>
                                  <m:e>
                                    <m:r>
                                      <a:rPr lang="es-AR" sz="1400" i="1">
                                        <a:latin typeface="Cambria Math" panose="02040503050406030204" pitchFamily="18" charset="0"/>
                                      </a:rPr>
                                      <m:t>𝐿</m:t>
                                    </m:r>
                                  </m:e>
                                  <m:sub>
                                    <m:r>
                                      <a:rPr lang="es-MX" sz="1400" b="0" i="1" smtClean="0">
                                        <a:latin typeface="Cambria Math" panose="02040503050406030204" pitchFamily="18" charset="0"/>
                                      </a:rPr>
                                      <m:t>𝑞</m:t>
                                    </m:r>
                                  </m:sub>
                                </m:sSub>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MX" sz="1400" b="0" i="1" smtClean="0">
                                            <a:latin typeface="Cambria Math" panose="02040503050406030204" pitchFamily="18" charset="0"/>
                                          </a:rPr>
                                          <m:t>𝑞</m:t>
                                        </m:r>
                                        <m:r>
                                          <a:rPr lang="es-AR" sz="1400" i="1">
                                            <a:latin typeface="Cambria Math" panose="02040503050406030204" pitchFamily="18" charset="0"/>
                                          </a:rPr>
                                          <m:t>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e>
                            </m:mr>
                          </m:m>
                        </m:e>
                      </m:d>
                    </m:oMath>
                  </m:oMathPara>
                </a14:m>
                <a:endParaRPr sz="1600" b="1" dirty="0">
                  <a:solidFill>
                    <a:srgbClr val="C35A00"/>
                  </a:solidFill>
                  <a:latin typeface="Calibri"/>
                </a:endParaRPr>
              </a:p>
            </p:txBody>
          </p:sp>
        </mc:Choice>
        <mc:Fallback xmlns="">
          <p:sp>
            <p:nvSpPr>
              <p:cNvPr id="15" name="TextBox 16">
                <a:extLst>
                  <a:ext uri="{FF2B5EF4-FFF2-40B4-BE49-F238E27FC236}">
                    <a16:creationId xmlns:a16="http://schemas.microsoft.com/office/drawing/2014/main" id="{74A4E847-74CF-431E-9A8D-9916FC1E56B1}"/>
                  </a:ext>
                </a:extLst>
              </p:cNvPr>
              <p:cNvSpPr txBox="1">
                <a:spLocks noRot="1" noChangeAspect="1" noMove="1" noResize="1" noEditPoints="1" noAdjustHandles="1" noChangeArrowheads="1" noChangeShapeType="1" noTextEdit="1"/>
              </p:cNvSpPr>
              <p:nvPr/>
            </p:nvSpPr>
            <p:spPr>
              <a:xfrm>
                <a:off x="-160685" y="3778036"/>
                <a:ext cx="2922173" cy="1466812"/>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E64B433-3209-4697-BC45-24CE195FB90E}"/>
                  </a:ext>
                </a:extLst>
              </p:cNvPr>
              <p:cNvSpPr txBox="1"/>
              <p:nvPr/>
            </p:nvSpPr>
            <p:spPr>
              <a:xfrm>
                <a:off x="251454" y="5407247"/>
                <a:ext cx="11762469" cy="773673"/>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De esta forma, las nuevas tensiones de control virtuales permiten establecer una relación directa entre las señales de entrada del sistema y la dinámica de las corrientes en el marco </a:t>
                </a:r>
                <a14:m>
                  <m:oMath xmlns:m="http://schemas.openxmlformats.org/officeDocument/2006/math">
                    <m:sSup>
                      <m:s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𝑞𝑑</m:t>
                        </m:r>
                        <m:r>
                          <a:rPr lang="es-AR" sz="1400" i="1">
                            <a:effectLst/>
                            <a:latin typeface="Cambria Math" panose="02040503050406030204" pitchFamily="18" charset="0"/>
                            <a:ea typeface="Calibri" panose="020F0502020204030204" pitchFamily="34" charset="0"/>
                            <a:cs typeface="Times New Roman" panose="02020603050405020304" pitchFamily="18" charset="0"/>
                          </a:rPr>
                          <m:t>0</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p>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Como consecuencia, se obtiene un canal de control desacoplado, a través del cual es posible actuar directamente sobre las corrientes virtuales y, por lo tanto, sobre el torque electromagnético desarrollado por la máquina.</a:t>
                </a:r>
              </a:p>
            </p:txBody>
          </p:sp>
        </mc:Choice>
        <mc:Fallback xmlns="">
          <p:sp>
            <p:nvSpPr>
              <p:cNvPr id="17" name="CuadroTexto 16">
                <a:extLst>
                  <a:ext uri="{FF2B5EF4-FFF2-40B4-BE49-F238E27FC236}">
                    <a16:creationId xmlns:a16="http://schemas.microsoft.com/office/drawing/2014/main" id="{2E64B433-3209-4697-BC45-24CE195FB90E}"/>
                  </a:ext>
                </a:extLst>
              </p:cNvPr>
              <p:cNvSpPr txBox="1">
                <a:spLocks noRot="1" noChangeAspect="1" noMove="1" noResize="1" noEditPoints="1" noAdjustHandles="1" noChangeArrowheads="1" noChangeShapeType="1" noTextEdit="1"/>
              </p:cNvSpPr>
              <p:nvPr/>
            </p:nvSpPr>
            <p:spPr>
              <a:xfrm>
                <a:off x="251454" y="5407247"/>
                <a:ext cx="11762469" cy="773673"/>
              </a:xfrm>
              <a:prstGeom prst="rect">
                <a:avLst/>
              </a:prstGeom>
              <a:blipFill>
                <a:blip r:embed="rId4"/>
                <a:stretch>
                  <a:fillRect l="-155" t="-787" r="-104" b="-7874"/>
                </a:stretch>
              </a:blipFill>
            </p:spPr>
            <p:txBody>
              <a:bodyPr/>
              <a:lstStyle/>
              <a:p>
                <a:r>
                  <a:rPr lang="es-AR">
                    <a:noFill/>
                  </a:rPr>
                  <a:t> </a:t>
                </a:r>
              </a:p>
            </p:txBody>
          </p:sp>
        </mc:Fallback>
      </mc:AlternateContent>
      <p:sp>
        <p:nvSpPr>
          <p:cNvPr id="14" name="Shape 2">
            <a:extLst>
              <a:ext uri="{FF2B5EF4-FFF2-40B4-BE49-F238E27FC236}">
                <a16:creationId xmlns:a16="http://schemas.microsoft.com/office/drawing/2014/main" id="{49346F34-CB4D-4D3A-96BA-1413BBFB4AE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A0C04DAB-FCE4-4164-803D-01C982FDE5F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497860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6868"/>
            <a:ext cx="6676187" cy="415498"/>
          </a:xfrm>
          <a:prstGeom prst="rect">
            <a:avLst/>
          </a:prstGeom>
          <a:noFill/>
        </p:spPr>
        <p:txBody>
          <a:bodyPr wrap="none">
            <a:spAutoFit/>
          </a:bodyPr>
          <a:lstStyle/>
          <a:p>
            <a:pPr algn="l"/>
            <a:r>
              <a:rPr lang="es-AR" sz="2100" b="1" dirty="0">
                <a:solidFill>
                  <a:srgbClr val="FFFFFF"/>
                </a:solidFill>
                <a:latin typeface="Cambria"/>
              </a:rPr>
              <a:t>Modulador de torque — Desacople electromagnético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47 / ~75</a:t>
            </a:r>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E64B433-3209-4697-BC45-24CE195FB90E}"/>
                  </a:ext>
                </a:extLst>
              </p:cNvPr>
              <p:cNvSpPr txBox="1"/>
              <p:nvPr/>
            </p:nvSpPr>
            <p:spPr>
              <a:xfrm>
                <a:off x="251454" y="4730690"/>
                <a:ext cx="11762469" cy="1621021"/>
              </a:xfrm>
              <a:prstGeom prst="rect">
                <a:avLst/>
              </a:prstGeom>
              <a:noFill/>
            </p:spPr>
            <p:txBody>
              <a:bodyPr wrap="square">
                <a:spAutoFit/>
              </a:bodyPr>
              <a:lstStyle/>
              <a:p>
                <a:pPr marL="285750" indent="-285750">
                  <a:buFont typeface="Arial" panose="020B0604020202020204" pitchFamily="34" charset="0"/>
                  <a:buChar char="•"/>
                </a:pPr>
                <a:r>
                  <a:rPr lang="es-AR" sz="1400" dirty="0"/>
                  <a:t>Este enfoque puede compararse con el basado en la Ley de Control Complementaria mínima mediante una realimentación activa de las tensiones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y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con el objetivo de compensar los acoplamientos entre ejes y forzar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0</m:t>
                    </m:r>
                  </m:oMath>
                </a14:m>
                <a:r>
                  <a:rPr lang="es-AR" sz="1400" dirty="0"/>
                  <a:t>, evitando así acoplamientos residuales. De esta manera, se obtiene un modelo completamente lineal y desacoplado.</a:t>
                </a:r>
              </a:p>
              <a:p>
                <a:pPr marL="285750" indent="-285750">
                  <a:buFont typeface="Arial" panose="020B0604020202020204" pitchFamily="34" charset="0"/>
                  <a:buChar char="•"/>
                </a:pPr>
                <a:r>
                  <a:rPr lang="es-AR" sz="1400" dirty="0"/>
                  <a:t>En cambio, ahora, las realimentaciones de estado se incorporan directamente para compensar las caídas de tensión y los términos de acoplamiento presentes en la dinámica de la máquina, permitiendo que la acción de control actúe más directamente sobre las corrientes. Además, esta formulación permite considerar la variación de la resistencia estatórica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oMath>
                </a14:m>
                <a:r>
                  <a:rPr lang="es-AR" sz="1400" dirty="0"/>
                  <a:t>​ con la temperatura, incorporando dentro del control los efectos térmicos del motor.</a:t>
                </a:r>
              </a:p>
              <a:p>
                <a:pPr marL="285750" indent="-285750">
                  <a:buFont typeface="Arial" panose="020B0604020202020204" pitchFamily="34" charset="0"/>
                  <a:buChar char="•"/>
                </a:pPr>
                <a:r>
                  <a:rPr lang="es-AR" sz="1400" dirty="0"/>
                  <a:t>Otra ventaja de este esquema es que no impone la condición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0</m:t>
                    </m:r>
                  </m:oMath>
                </a14:m>
                <a:r>
                  <a:rPr lang="es-AR" sz="1400" dirty="0"/>
                  <a:t>, lo que permite contemplar estrategias de operación más generales. </a:t>
                </a:r>
              </a:p>
            </p:txBody>
          </p:sp>
        </mc:Choice>
        <mc:Fallback xmlns="">
          <p:sp>
            <p:nvSpPr>
              <p:cNvPr id="17" name="CuadroTexto 16">
                <a:extLst>
                  <a:ext uri="{FF2B5EF4-FFF2-40B4-BE49-F238E27FC236}">
                    <a16:creationId xmlns:a16="http://schemas.microsoft.com/office/drawing/2014/main" id="{2E64B433-3209-4697-BC45-24CE195FB90E}"/>
                  </a:ext>
                </a:extLst>
              </p:cNvPr>
              <p:cNvSpPr txBox="1">
                <a:spLocks noRot="1" noChangeAspect="1" noMove="1" noResize="1" noEditPoints="1" noAdjustHandles="1" noChangeArrowheads="1" noChangeShapeType="1" noTextEdit="1"/>
              </p:cNvSpPr>
              <p:nvPr/>
            </p:nvSpPr>
            <p:spPr>
              <a:xfrm>
                <a:off x="251454" y="4730690"/>
                <a:ext cx="11762469" cy="1621021"/>
              </a:xfrm>
              <a:prstGeom prst="rect">
                <a:avLst/>
              </a:prstGeom>
              <a:blipFill>
                <a:blip r:embed="rId2"/>
                <a:stretch>
                  <a:fillRect l="-52" t="-376" r="-363" b="-3008"/>
                </a:stretch>
              </a:blipFill>
            </p:spPr>
            <p:txBody>
              <a:bodyPr/>
              <a:lstStyle/>
              <a:p>
                <a:r>
                  <a:rPr lang="es-AR">
                    <a:noFill/>
                  </a:rPr>
                  <a:t> </a:t>
                </a:r>
              </a:p>
            </p:txBody>
          </p:sp>
        </mc:Fallback>
      </mc:AlternateContent>
      <p:pic>
        <p:nvPicPr>
          <p:cNvPr id="18" name="Imagen 17">
            <a:extLst>
              <a:ext uri="{FF2B5EF4-FFF2-40B4-BE49-F238E27FC236}">
                <a16:creationId xmlns:a16="http://schemas.microsoft.com/office/drawing/2014/main" id="{40345B2A-B837-4BF1-8343-1886AAAA25C0}"/>
              </a:ext>
            </a:extLst>
          </p:cNvPr>
          <p:cNvPicPr/>
          <p:nvPr/>
        </p:nvPicPr>
        <p:blipFill>
          <a:blip r:embed="rId3">
            <a:extLst>
              <a:ext uri="{28A0092B-C50C-407E-A947-70E740481C1C}">
                <a14:useLocalDpi xmlns:a14="http://schemas.microsoft.com/office/drawing/2010/main" val="0"/>
              </a:ext>
            </a:extLst>
          </a:blip>
          <a:stretch>
            <a:fillRect/>
          </a:stretch>
        </p:blipFill>
        <p:spPr>
          <a:xfrm>
            <a:off x="2108254" y="745235"/>
            <a:ext cx="8065555" cy="3771773"/>
          </a:xfrm>
          <a:prstGeom prst="rect">
            <a:avLst/>
          </a:prstGeom>
        </p:spPr>
      </p:pic>
      <p:sp>
        <p:nvSpPr>
          <p:cNvPr id="19" name="CuadroTexto 18">
            <a:extLst>
              <a:ext uri="{FF2B5EF4-FFF2-40B4-BE49-F238E27FC236}">
                <a16:creationId xmlns:a16="http://schemas.microsoft.com/office/drawing/2014/main" id="{23342D33-6C70-42D0-9CBE-7F3444A93237}"/>
              </a:ext>
            </a:extLst>
          </p:cNvPr>
          <p:cNvSpPr txBox="1"/>
          <p:nvPr/>
        </p:nvSpPr>
        <p:spPr>
          <a:xfrm>
            <a:off x="4796329" y="4376028"/>
            <a:ext cx="3613212"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31— Desacople electromagnético</a:t>
            </a:r>
          </a:p>
        </p:txBody>
      </p:sp>
      <p:sp>
        <p:nvSpPr>
          <p:cNvPr id="9" name="Shape 2">
            <a:extLst>
              <a:ext uri="{FF2B5EF4-FFF2-40B4-BE49-F238E27FC236}">
                <a16:creationId xmlns:a16="http://schemas.microsoft.com/office/drawing/2014/main" id="{6D441CE2-4E83-4CEA-A4BF-9C1453A3FF9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6FA3C24C-57DB-4329-91EC-17BB2CB88157}"/>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0937183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13360" y="112772"/>
            <a:ext cx="4990597" cy="738664"/>
          </a:xfrm>
          <a:prstGeom prst="rect">
            <a:avLst/>
          </a:prstGeom>
          <a:noFill/>
        </p:spPr>
        <p:txBody>
          <a:bodyPr wrap="none">
            <a:spAutoFit/>
          </a:bodyPr>
          <a:lstStyle/>
          <a:p>
            <a:r>
              <a:rPr lang="es-AR" sz="2100" b="1" dirty="0">
                <a:solidFill>
                  <a:srgbClr val="FFFFFF"/>
                </a:solidFill>
                <a:latin typeface="Cambria"/>
              </a:rPr>
              <a:t>Diseño de lazos de control de corriente</a:t>
            </a:r>
          </a:p>
          <a:p>
            <a:pPr algn="l"/>
            <a:endParaRPr lang="es-MX"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48 / ~75</a:t>
            </a:r>
          </a:p>
        </p:txBody>
      </p:sp>
      <mc:AlternateContent xmlns:mc="http://schemas.openxmlformats.org/markup-compatibility/2006" xmlns:a14="http://schemas.microsoft.com/office/drawing/2010/main">
        <mc:Choice Requires="a14">
          <p:sp>
            <p:nvSpPr>
              <p:cNvPr id="7" name="TextBox 6"/>
              <p:cNvSpPr txBox="1"/>
              <p:nvPr/>
            </p:nvSpPr>
            <p:spPr>
              <a:xfrm>
                <a:off x="213360" y="724870"/>
                <a:ext cx="11765280" cy="2039020"/>
              </a:xfrm>
              <a:prstGeom prst="rect">
                <a:avLst/>
              </a:prstGeom>
              <a:noFill/>
            </p:spPr>
            <p:txBody>
              <a:bodyPr wrap="square">
                <a:spAutoFit/>
              </a:bodyPr>
              <a:lstStyle/>
              <a:p>
                <a:pPr algn="just">
                  <a:lnSpc>
                    <a:spcPct val="107000"/>
                  </a:lnSpc>
                  <a:spcAft>
                    <a:spcPts val="800"/>
                  </a:spcAft>
                </a:pPr>
                <a:r>
                  <a:rPr lang="es-AR" sz="1400" dirty="0">
                    <a:latin typeface="Calibri" panose="020F0502020204030204" pitchFamily="34" charset="0"/>
                    <a:ea typeface="Calibri" panose="020F0502020204030204" pitchFamily="34" charset="0"/>
                    <a:cs typeface="Calibri" panose="020F0502020204030204" pitchFamily="34" charset="0"/>
                  </a:rPr>
                  <a:t>El </a:t>
                </a:r>
                <a:r>
                  <a:rPr lang="es-AR" sz="1400" dirty="0">
                    <a:effectLst/>
                    <a:latin typeface="Calibri" panose="020F0502020204030204" pitchFamily="34" charset="0"/>
                    <a:ea typeface="Calibri" panose="020F0502020204030204" pitchFamily="34" charset="0"/>
                    <a:cs typeface="Calibri" panose="020F0502020204030204" pitchFamily="34" charset="0"/>
                  </a:rPr>
                  <a:t>siguiente paso consiste en diseñar lazos de control que permitan regular las corrientes del estator mediante consignas específicas. Permite manipular directamente el torque electromagnético a través de</a:t>
                </a:r>
                <a:r>
                  <a:rPr lang="es-AR" sz="1400" dirty="0">
                    <a:effectLst/>
                    <a:latin typeface="Calibri" panose="020F0502020204030204" pitchFamily="34" charset="0"/>
                    <a:ea typeface="Times New Roman" panose="02020603050405020304" pitchFamily="18" charset="0"/>
                    <a:cs typeface="Calibri" panose="020F0502020204030204" pitchFamily="34" charset="0"/>
                  </a:rPr>
                  <a:t>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oMath>
                </a14:m>
                <a:r>
                  <a:rPr lang="es-AR" sz="1400" dirty="0">
                    <a:effectLst/>
                    <a:latin typeface="Calibri" panose="020F0502020204030204" pitchFamily="34" charset="0"/>
                    <a:ea typeface="Calibri" panose="020F0502020204030204" pitchFamily="34" charset="0"/>
                    <a:cs typeface="Calibri" panose="020F0502020204030204" pitchFamily="34" charset="0"/>
                  </a:rPr>
                  <a:t>. Y, además, posibilita estrategias avanzadas como el debilitamiento o refuerzo de campo mediante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oMath>
                </a14:m>
                <a:r>
                  <a:rPr lang="es-AR" sz="1400" dirty="0">
                    <a:effectLst/>
                    <a:latin typeface="Calibri" panose="020F0502020204030204" pitchFamily="34" charset="0"/>
                    <a:ea typeface="Calibri" panose="020F0502020204030204" pitchFamily="34" charset="0"/>
                    <a:cs typeface="Calibri" panose="020F0502020204030204" pitchFamily="34" charset="0"/>
                  </a:rPr>
                  <a:t>​.</a:t>
                </a:r>
              </a:p>
              <a:p>
                <a:pPr algn="just">
                  <a:lnSpc>
                    <a:spcPct val="107000"/>
                  </a:lnSpc>
                  <a:spcAft>
                    <a:spcPts val="800"/>
                  </a:spcAft>
                </a:pPr>
                <a:r>
                  <a:rPr lang="es-AR" sz="1400" dirty="0">
                    <a:effectLst/>
                    <a:latin typeface="Calibri" panose="020F0502020204030204" pitchFamily="34" charset="0"/>
                    <a:ea typeface="Times New Roman" panose="02020603050405020304" pitchFamily="18" charset="0"/>
                  </a:rPr>
                  <a:t>Se implementa un controlador proporcional (P) para cada eje, donde la tensión de control es proporcional al error de corriente e igualando con las ecuaciones desacopladas.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𝑖</m:t>
                        </m:r>
                      </m:sub>
                    </m:sSub>
                  </m:oMath>
                </a14:m>
                <a:r>
                  <a:rPr lang="es-AR" sz="1400" dirty="0">
                    <a:effectLst/>
                    <a:latin typeface="Calibri" panose="020F0502020204030204" pitchFamily="34" charset="0"/>
                    <a:ea typeface="Times New Roman" panose="02020603050405020304" pitchFamily="18" charset="0"/>
                    <a:cs typeface="Calibri" panose="020F0502020204030204" pitchFamily="34" charset="0"/>
                  </a:rPr>
                  <a:t> son las ganancias proporcionales. Estas ganancias se expresan como resistencias virtuales </a:t>
                </a:r>
                <a14:m>
                  <m:oMath xmlns:m="http://schemas.openxmlformats.org/officeDocument/2006/math">
                    <m:sSubSup>
                      <m:sSub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𝑅</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𝑖</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up>
                    </m:sSubSup>
                  </m:oMath>
                </a14:m>
                <a:r>
                  <a:rPr lang="es-AR" sz="1400" dirty="0">
                    <a:effectLst/>
                    <a:latin typeface="Calibri" panose="020F0502020204030204" pitchFamily="34" charset="0"/>
                    <a:ea typeface="Times New Roman" panose="02020603050405020304" pitchFamily="18" charset="0"/>
                    <a:cs typeface="Calibri" panose="020F0502020204030204" pitchFamily="34" charset="0"/>
                  </a:rPr>
                  <a:t> con unidades de ohmios, ya que modelan el comportamiento de una resistencia equivalente que gobierna la dinámica del lazo. </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es-AR" sz="1400" dirty="0">
                  <a:effectLst/>
                  <a:latin typeface="Times New Roman" panose="02020603050405020304" pitchFamily="18" charset="0"/>
                  <a:ea typeface="Times New Roman" panose="02020603050405020304" pitchFamily="18" charset="0"/>
                </a:endParaRPr>
              </a:p>
              <a:p>
                <a:pPr algn="just">
                  <a:lnSpc>
                    <a:spcPct val="107000"/>
                  </a:lnSpc>
                  <a:spcAft>
                    <a:spcPts val="800"/>
                  </a:spcAft>
                </a:pP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13360" y="724870"/>
                <a:ext cx="11765280" cy="2039020"/>
              </a:xfrm>
              <a:prstGeom prst="rect">
                <a:avLst/>
              </a:prstGeom>
              <a:blipFill>
                <a:blip r:embed="rId2"/>
                <a:stretch>
                  <a:fillRect l="-155" t="-299" r="-155"/>
                </a:stretch>
              </a:blipFill>
            </p:spPr>
            <p:txBody>
              <a:bodyPr/>
              <a:lstStyle/>
              <a:p>
                <a:r>
                  <a:rPr lang="es-AR">
                    <a:noFill/>
                  </a:rPr>
                  <a:t> </a:t>
                </a:r>
              </a:p>
            </p:txBody>
          </p:sp>
        </mc:Fallback>
      </mc:AlternateContent>
      <p:sp>
        <p:nvSpPr>
          <p:cNvPr id="11" name="Rectangle 10"/>
          <p:cNvSpPr/>
          <p:nvPr/>
        </p:nvSpPr>
        <p:spPr>
          <a:xfrm>
            <a:off x="274320" y="2303463"/>
            <a:ext cx="11222677" cy="1381877"/>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274320" y="2496242"/>
                <a:ext cx="2798083" cy="91717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m>
                        <m:mPr>
                          <m:mcs>
                            <m:mc>
                              <m:mcPr>
                                <m:count m:val="1"/>
                                <m:mcJc m:val="center"/>
                              </m:mcPr>
                            </m:mc>
                          </m:mcs>
                          <m:ctrlPr>
                            <a:rPr lang="es-AR" sz="1400" i="1" smtClean="0">
                              <a:effectLst/>
                              <a:latin typeface="Cambria Math" panose="02040503050406030204" pitchFamily="18" charset="0"/>
                              <a:cs typeface="Calibri" panose="020F0502020204030204" pitchFamily="34" charset="0"/>
                            </a:rPr>
                          </m:ctrlPr>
                        </m:mPr>
                        <m:m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sSup>
                                  <m:sSupPr>
                                    <m:ctrlPr>
                                      <a:rPr lang="es-AR" sz="1400" i="1">
                                        <a:effectLst/>
                                        <a:latin typeface="Cambria Math" panose="02040503050406030204" pitchFamily="18" charset="0"/>
                                        <a:cs typeface="Calibri" panose="020F0502020204030204" pitchFamily="34" charset="0"/>
                                      </a:rPr>
                                    </m:ctrlPr>
                                  </m:sSupPr>
                                  <m:e>
                                    <m:r>
                                      <a:rPr lang="es-AR" sz="1400" i="1">
                                        <a:effectLst/>
                                        <a:latin typeface="Cambria Math" panose="02040503050406030204" pitchFamily="18" charset="0"/>
                                        <a:ea typeface="Calibri" panose="020F0502020204030204" pitchFamily="34" charset="0"/>
                                        <a:cs typeface="Calibri" panose="020F0502020204030204" pitchFamily="34" charset="0"/>
                                      </a:rPr>
                                      <m:t>𝑟</m:t>
                                    </m:r>
                                  </m:e>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𝑞</m:t>
                                </m:r>
                              </m:sub>
                            </m:sSub>
                            <m:r>
                              <a:rPr lang="es-AR" sz="1400">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400" i="1">
                                    <a:effectLst/>
                                    <a:latin typeface="Cambria Math" panose="02040503050406030204" pitchFamily="18" charset="0"/>
                                    <a:cs typeface="Calibri" panose="020F0502020204030204" pitchFamily="34" charset="0"/>
                                  </a:rPr>
                                </m:ctrlPr>
                              </m:d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e>
                            </m:d>
                          </m:e>
                        </m:mr>
                        <m:m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sSup>
                                  <m:sSupPr>
                                    <m:ctrlPr>
                                      <a:rPr lang="es-AR" sz="1400" i="1">
                                        <a:effectLst/>
                                        <a:latin typeface="Cambria Math" panose="02040503050406030204" pitchFamily="18" charset="0"/>
                                        <a:cs typeface="Calibri" panose="020F0502020204030204" pitchFamily="34" charset="0"/>
                                      </a:rPr>
                                    </m:ctrlPr>
                                  </m:sSupPr>
                                  <m:e>
                                    <m:r>
                                      <a:rPr lang="es-AR" sz="1400" i="1">
                                        <a:effectLst/>
                                        <a:latin typeface="Cambria Math" panose="02040503050406030204" pitchFamily="18" charset="0"/>
                                        <a:ea typeface="Calibri" panose="020F0502020204030204" pitchFamily="34" charset="0"/>
                                        <a:cs typeface="Calibri" panose="020F0502020204030204" pitchFamily="34" charset="0"/>
                                      </a:rPr>
                                      <m:t>𝑟</m:t>
                                    </m:r>
                                  </m:e>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Sub>
                            <m:r>
                              <a:rPr lang="es-AR" sz="1400">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400" i="1">
                                    <a:effectLst/>
                                    <a:latin typeface="Cambria Math" panose="02040503050406030204" pitchFamily="18" charset="0"/>
                                    <a:cs typeface="Calibri" panose="020F0502020204030204" pitchFamily="34" charset="0"/>
                                  </a:rPr>
                                </m:ctrlPr>
                              </m:d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e>
                            </m:d>
                          </m:e>
                        </m:mr>
                        <m:m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sub>
                            </m:sSub>
                            <m:r>
                              <a:rPr lang="es-AR" sz="1400">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400" i="1">
                                    <a:effectLst/>
                                    <a:latin typeface="Cambria Math" panose="02040503050406030204" pitchFamily="18" charset="0"/>
                                    <a:cs typeface="Calibri" panose="020F0502020204030204" pitchFamily="34" charset="0"/>
                                  </a:rPr>
                                </m:ctrlPr>
                              </m:d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e>
                            </m:d>
                          </m:e>
                        </m:mr>
                      </m:m>
                    </m:oMath>
                  </m:oMathPara>
                </a14:m>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74320" y="2496242"/>
                <a:ext cx="2798083" cy="917174"/>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TextBox 11">
                <a:extLst>
                  <a:ext uri="{FF2B5EF4-FFF2-40B4-BE49-F238E27FC236}">
                    <a16:creationId xmlns:a16="http://schemas.microsoft.com/office/drawing/2014/main" id="{AF7295DA-8D18-4393-A82E-D627B9FC224A}"/>
                  </a:ext>
                </a:extLst>
              </p:cNvPr>
              <p:cNvSpPr txBox="1"/>
              <p:nvPr/>
            </p:nvSpPr>
            <p:spPr>
              <a:xfrm>
                <a:off x="3316243" y="2293183"/>
                <a:ext cx="2798083" cy="140243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r>
                              <a:rPr lang="es-AR" sz="140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r>
                              <a:rPr lang="es-AR" sz="1400">
                                <a:latin typeface="Cambria Math" panose="02040503050406030204" pitchFamily="18" charset="0"/>
                              </a:rPr>
                              <m:t>⋅</m:t>
                            </m:r>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e>
                            </m:d>
                          </m:e>
                        </m:mr>
                        <m:m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𝑑</m:t>
                                </m:r>
                              </m:sub>
                              <m:sup>
                                <m:r>
                                  <a:rPr lang="es-AR" sz="1400" i="1">
                                    <a:latin typeface="Cambria Math" panose="02040503050406030204" pitchFamily="18" charset="0"/>
                                  </a:rPr>
                                  <m:t>′</m:t>
                                </m:r>
                              </m:sup>
                            </m:sSubSup>
                            <m:r>
                              <a:rPr lang="es-AR" sz="1400">
                                <a:latin typeface="Cambria Math" panose="02040503050406030204" pitchFamily="18" charset="0"/>
                              </a:rPr>
                              <m:t>⋅</m:t>
                            </m:r>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r>
                                      <a:rPr lang="es-AR" sz="1400" i="1">
                                        <a:latin typeface="Cambria Math" panose="02040503050406030204" pitchFamily="18" charset="0"/>
                                      </a:rPr>
                                      <m:t>∗</m:t>
                                    </m:r>
                                  </m:sup>
                                </m:sSubSup>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e>
                            </m:d>
                          </m:e>
                        </m:mr>
                        <m:m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r>
                              <a:rPr lang="es-AR" sz="140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0</m:t>
                                </m:r>
                              </m:sub>
                              <m:sup>
                                <m:r>
                                  <a:rPr lang="es-AR" sz="1400" i="1">
                                    <a:latin typeface="Cambria Math" panose="02040503050406030204" pitchFamily="18" charset="0"/>
                                  </a:rPr>
                                  <m:t>′</m:t>
                                </m:r>
                              </m:sup>
                            </m:sSubSup>
                            <m:r>
                              <a:rPr lang="es-AR" sz="1400">
                                <a:latin typeface="Cambria Math" panose="02040503050406030204" pitchFamily="18" charset="0"/>
                              </a:rPr>
                              <m:t>⋅</m:t>
                            </m:r>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e>
                            </m:d>
                          </m:e>
                        </m:mr>
                      </m:m>
                    </m:oMath>
                  </m:oMathPara>
                </a14:m>
                <a:endParaRPr sz="1400" b="1" dirty="0">
                  <a:solidFill>
                    <a:srgbClr val="1B6B2A"/>
                  </a:solidFill>
                  <a:latin typeface="Calibri"/>
                </a:endParaRPr>
              </a:p>
            </p:txBody>
          </p:sp>
        </mc:Choice>
        <mc:Fallback xmlns="">
          <p:sp>
            <p:nvSpPr>
              <p:cNvPr id="22" name="TextBox 11">
                <a:extLst>
                  <a:ext uri="{FF2B5EF4-FFF2-40B4-BE49-F238E27FC236}">
                    <a16:creationId xmlns:a16="http://schemas.microsoft.com/office/drawing/2014/main" id="{AF7295DA-8D18-4393-A82E-D627B9FC224A}"/>
                  </a:ext>
                </a:extLst>
              </p:cNvPr>
              <p:cNvSpPr txBox="1">
                <a:spLocks noRot="1" noChangeAspect="1" noMove="1" noResize="1" noEditPoints="1" noAdjustHandles="1" noChangeArrowheads="1" noChangeShapeType="1" noTextEdit="1"/>
              </p:cNvSpPr>
              <p:nvPr/>
            </p:nvSpPr>
            <p:spPr>
              <a:xfrm>
                <a:off x="3316243" y="2293183"/>
                <a:ext cx="2798083" cy="1402435"/>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TextBox 6">
                <a:extLst>
                  <a:ext uri="{FF2B5EF4-FFF2-40B4-BE49-F238E27FC236}">
                    <a16:creationId xmlns:a16="http://schemas.microsoft.com/office/drawing/2014/main" id="{42EC5B2C-1CAB-4F7A-B782-6A10E19B1257}"/>
                  </a:ext>
                </a:extLst>
              </p:cNvPr>
              <p:cNvSpPr txBox="1"/>
              <p:nvPr/>
            </p:nvSpPr>
            <p:spPr>
              <a:xfrm>
                <a:off x="182921" y="3731488"/>
                <a:ext cx="11765280" cy="958980"/>
              </a:xfrm>
              <a:prstGeom prst="rect">
                <a:avLst/>
              </a:prstGeom>
              <a:noFill/>
            </p:spPr>
            <p:txBody>
              <a:bodyPr wrap="square">
                <a:spAutoFit/>
              </a:bodyPr>
              <a:lstStyle/>
              <a:p>
                <a:r>
                  <a:rPr lang="es-AR" sz="1400" dirty="0"/>
                  <a:t>Aplicamos la transformada de Laplace con condiciones iniciales nulas a la ecuación del eje </a:t>
                </a:r>
                <a14:m>
                  <m:oMath xmlns:m="http://schemas.openxmlformats.org/officeDocument/2006/math">
                    <m:r>
                      <a:rPr lang="es-AR" sz="1400" i="1">
                        <a:latin typeface="Cambria Math" panose="02040503050406030204" pitchFamily="18" charset="0"/>
                      </a:rPr>
                      <m:t>𝑞</m:t>
                    </m:r>
                  </m:oMath>
                </a14:m>
                <a:r>
                  <a:rPr lang="es-AR" sz="1400" dirty="0"/>
                  <a:t>, y luego reagrupando términos se obtiene la función de transferencia del lazo de corriente de dicho eje. Las tres funciones de transferencia presentan la forma canónica de un sistema de primer orden:</a:t>
                </a:r>
              </a:p>
              <a:p>
                <a:endParaRPr lang="es-AR" sz="1400" dirty="0"/>
              </a:p>
              <a:p>
                <a:pPr algn="just">
                  <a:lnSpc>
                    <a:spcPct val="107000"/>
                  </a:lnSpc>
                  <a:spcAft>
                    <a:spcPts val="800"/>
                  </a:spcAft>
                </a:pP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TextBox 6">
                <a:extLst>
                  <a:ext uri="{FF2B5EF4-FFF2-40B4-BE49-F238E27FC236}">
                    <a16:creationId xmlns:a16="http://schemas.microsoft.com/office/drawing/2014/main" id="{42EC5B2C-1CAB-4F7A-B782-6A10E19B1257}"/>
                  </a:ext>
                </a:extLst>
              </p:cNvPr>
              <p:cNvSpPr txBox="1">
                <a:spLocks noRot="1" noChangeAspect="1" noMove="1" noResize="1" noEditPoints="1" noAdjustHandles="1" noChangeArrowheads="1" noChangeShapeType="1" noTextEdit="1"/>
              </p:cNvSpPr>
              <p:nvPr/>
            </p:nvSpPr>
            <p:spPr>
              <a:xfrm>
                <a:off x="182921" y="3731488"/>
                <a:ext cx="11765280" cy="958980"/>
              </a:xfrm>
              <a:prstGeom prst="rect">
                <a:avLst/>
              </a:prstGeom>
              <a:blipFill>
                <a:blip r:embed="rId5"/>
                <a:stretch>
                  <a:fillRect l="-155" t="-1274"/>
                </a:stretch>
              </a:blipFill>
            </p:spPr>
            <p:txBody>
              <a:bodyPr/>
              <a:lstStyle/>
              <a:p>
                <a:r>
                  <a:rPr lang="es-AR">
                    <a:noFill/>
                  </a:rPr>
                  <a:t> </a:t>
                </a:r>
              </a:p>
            </p:txBody>
          </p:sp>
        </mc:Fallback>
      </mc:AlternateContent>
      <p:sp>
        <p:nvSpPr>
          <p:cNvPr id="24" name="Rectangle 10">
            <a:extLst>
              <a:ext uri="{FF2B5EF4-FFF2-40B4-BE49-F238E27FC236}">
                <a16:creationId xmlns:a16="http://schemas.microsoft.com/office/drawing/2014/main" id="{B0AAA783-A368-49CD-BB09-59D89DDF984F}"/>
              </a:ext>
            </a:extLst>
          </p:cNvPr>
          <p:cNvSpPr/>
          <p:nvPr/>
        </p:nvSpPr>
        <p:spPr>
          <a:xfrm>
            <a:off x="243799" y="4262335"/>
            <a:ext cx="11222677" cy="22463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5" name="TextBox 11">
                <a:extLst>
                  <a:ext uri="{FF2B5EF4-FFF2-40B4-BE49-F238E27FC236}">
                    <a16:creationId xmlns:a16="http://schemas.microsoft.com/office/drawing/2014/main" id="{141B9FF8-75E9-4275-B50F-CD91F1CC8134}"/>
                  </a:ext>
                </a:extLst>
              </p:cNvPr>
              <p:cNvSpPr txBox="1"/>
              <p:nvPr/>
            </p:nvSpPr>
            <p:spPr>
              <a:xfrm>
                <a:off x="673878" y="4314934"/>
                <a:ext cx="2798083" cy="233076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latin typeface="Cambria Math" panose="02040503050406030204" pitchFamily="18" charset="0"/>
                            </a:rPr>
                          </m:ctrlPr>
                        </m:dPr>
                        <m:e>
                          <m:eqArr>
                            <m:eqArrPr>
                              <m:ctrlPr>
                                <a:rPr lang="es-AR" sz="1400" i="1">
                                  <a:latin typeface="Cambria Math" panose="02040503050406030204" pitchFamily="18" charset="0"/>
                                </a:rPr>
                              </m:ctrlPr>
                            </m:eqArrPr>
                            <m:e>
                              <m:eqArr>
                                <m:eqArrPr>
                                  <m:ctrlPr>
                                    <a:rPr lang="es-AR" sz="1400" i="1">
                                      <a:latin typeface="Cambria Math" panose="02040503050406030204" pitchFamily="18" charset="0"/>
                                    </a:rPr>
                                  </m:ctrlPr>
                                </m:eqArrPr>
                                <m:e>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𝑞</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den>
                                      </m:f>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1</m:t>
                                      </m:r>
                                    </m:den>
                                  </m:f>
                                </m:e>
                                <m:e>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𝑑</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𝑑𝑠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𝑑</m:t>
                                              </m:r>
                                            </m:sub>
                                            <m:sup>
                                              <m:r>
                                                <a:rPr lang="es-AR" sz="1400" i="1">
                                                  <a:latin typeface="Cambria Math" panose="02040503050406030204" pitchFamily="18" charset="0"/>
                                                </a:rPr>
                                                <m:t>′</m:t>
                                              </m:r>
                                            </m:sup>
                                          </m:sSubSup>
                                        </m:den>
                                      </m:f>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1</m:t>
                                      </m:r>
                                    </m:den>
                                  </m:f>
                                  <m:r>
                                    <a:rPr lang="es-MX" sz="1400" b="0" i="1" smtClean="0">
                                      <a:latin typeface="Cambria Math" panose="02040503050406030204" pitchFamily="18" charset="0"/>
                                    </a:rPr>
                                    <m:t>                         </m:t>
                                  </m:r>
                                </m:e>
                              </m:eqArr>
                            </m:e>
                            <m:e>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𝐼</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0</m:t>
                                          </m:r>
                                        </m:sub>
                                        <m:sup>
                                          <m:r>
                                            <a:rPr lang="es-AR" sz="1400" i="1">
                                              <a:latin typeface="Cambria Math" panose="02040503050406030204" pitchFamily="18" charset="0"/>
                                            </a:rPr>
                                            <m:t>′</m:t>
                                          </m:r>
                                        </m:sup>
                                      </m:sSubSup>
                                    </m:den>
                                  </m:f>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1</m:t>
                                  </m:r>
                                </m:den>
                              </m:f>
                              <m:r>
                                <a:rPr lang="es-MX" sz="1400" b="0" i="1" smtClean="0">
                                  <a:latin typeface="Cambria Math" panose="02040503050406030204" pitchFamily="18" charset="0"/>
                                </a:rPr>
                                <m:t>                         </m:t>
                              </m:r>
                            </m:e>
                          </m:eqArr>
                        </m:e>
                      </m:d>
                    </m:oMath>
                  </m:oMathPara>
                </a14:m>
                <a:endParaRPr sz="1400" b="1" dirty="0">
                  <a:solidFill>
                    <a:srgbClr val="1B6B2A"/>
                  </a:solidFill>
                  <a:latin typeface="Calibri"/>
                </a:endParaRPr>
              </a:p>
            </p:txBody>
          </p:sp>
        </mc:Choice>
        <mc:Fallback xmlns="">
          <p:sp>
            <p:nvSpPr>
              <p:cNvPr id="25" name="TextBox 11">
                <a:extLst>
                  <a:ext uri="{FF2B5EF4-FFF2-40B4-BE49-F238E27FC236}">
                    <a16:creationId xmlns:a16="http://schemas.microsoft.com/office/drawing/2014/main" id="{141B9FF8-75E9-4275-B50F-CD91F1CC8134}"/>
                  </a:ext>
                </a:extLst>
              </p:cNvPr>
              <p:cNvSpPr txBox="1">
                <a:spLocks noRot="1" noChangeAspect="1" noMove="1" noResize="1" noEditPoints="1" noAdjustHandles="1" noChangeArrowheads="1" noChangeShapeType="1" noTextEdit="1"/>
              </p:cNvSpPr>
              <p:nvPr/>
            </p:nvSpPr>
            <p:spPr>
              <a:xfrm>
                <a:off x="673878" y="4314934"/>
                <a:ext cx="2798083" cy="2330766"/>
              </a:xfrm>
              <a:prstGeom prst="rect">
                <a:avLst/>
              </a:prstGeom>
              <a:blipFill>
                <a:blip r:embed="rId6"/>
                <a:stretch>
                  <a:fillRect l="-8932" r="-784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TextBox 11">
                <a:extLst>
                  <a:ext uri="{FF2B5EF4-FFF2-40B4-BE49-F238E27FC236}">
                    <a16:creationId xmlns:a16="http://schemas.microsoft.com/office/drawing/2014/main" id="{CAAD56D6-2A3D-4686-BF04-7C24A0CB59A9}"/>
                  </a:ext>
                </a:extLst>
              </p:cNvPr>
              <p:cNvSpPr txBox="1"/>
              <p:nvPr/>
            </p:nvSpPr>
            <p:spPr>
              <a:xfrm>
                <a:off x="3902040" y="5043891"/>
                <a:ext cx="5900747" cy="538930"/>
              </a:xfrm>
              <a:prstGeom prst="rect">
                <a:avLst/>
              </a:prstGeom>
              <a:noFill/>
            </p:spPr>
            <p:txBody>
              <a:bodyPr wrap="square">
                <a:spAutoFit/>
              </a:bodyPr>
              <a:lstStyle/>
              <a:p>
                <a:pPr algn="ctr"/>
                <a14:m>
                  <m:oMath xmlns:m="http://schemas.openxmlformats.org/officeDocument/2006/math">
                    <m:r>
                      <a:rPr lang="ar-AE" sz="1600" i="1" smtClean="0">
                        <a:solidFill>
                          <a:schemeClr val="tx1"/>
                        </a:solidFill>
                        <a:latin typeface="Cambria Math" panose="02040503050406030204" pitchFamily="18" charset="0"/>
                      </a:rPr>
                      <m:t>𝐺</m:t>
                    </m:r>
                    <m:d>
                      <m:dPr>
                        <m:ctrlPr>
                          <a:rPr lang="ar-AE" sz="1600" i="1">
                            <a:solidFill>
                              <a:schemeClr val="tx1"/>
                            </a:solidFill>
                            <a:latin typeface="Cambria Math" panose="02040503050406030204" pitchFamily="18" charset="0"/>
                          </a:rPr>
                        </m:ctrlPr>
                      </m:dPr>
                      <m:e>
                        <m:r>
                          <a:rPr lang="ar-AE" sz="1600" i="1">
                            <a:solidFill>
                              <a:schemeClr val="tx1"/>
                            </a:solidFill>
                            <a:latin typeface="Cambria Math" panose="02040503050406030204" pitchFamily="18" charset="0"/>
                          </a:rPr>
                          <m:t>𝑠</m:t>
                        </m:r>
                      </m:e>
                    </m:d>
                    <m:r>
                      <a:rPr lang="ar-AE" sz="1600" i="1">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r>
                          <a:rPr lang="ar-AE" sz="1600" i="1">
                            <a:solidFill>
                              <a:schemeClr val="tx1"/>
                            </a:solidFill>
                            <a:latin typeface="Cambria Math" panose="02040503050406030204" pitchFamily="18" charset="0"/>
                          </a:rPr>
                          <m:t>1</m:t>
                        </m:r>
                      </m:num>
                      <m:den>
                        <m:r>
                          <a:rPr lang="ar-AE" sz="1600" i="1">
                            <a:solidFill>
                              <a:schemeClr val="tx1"/>
                            </a:solidFill>
                            <a:latin typeface="Cambria Math" panose="02040503050406030204" pitchFamily="18" charset="0"/>
                          </a:rPr>
                          <m:t>𝜏</m:t>
                        </m:r>
                        <m:r>
                          <a:rPr lang="ar-AE" sz="1600" i="1">
                            <a:solidFill>
                              <a:schemeClr val="tx1"/>
                            </a:solidFill>
                            <a:latin typeface="Cambria Math" panose="02040503050406030204" pitchFamily="18" charset="0"/>
                          </a:rPr>
                          <m:t>⋅</m:t>
                        </m:r>
                        <m:r>
                          <a:rPr lang="ar-AE" sz="1600" i="1">
                            <a:solidFill>
                              <a:schemeClr val="tx1"/>
                            </a:solidFill>
                            <a:latin typeface="Cambria Math" panose="02040503050406030204" pitchFamily="18" charset="0"/>
                          </a:rPr>
                          <m:t>𝑠</m:t>
                        </m:r>
                        <m:r>
                          <a:rPr lang="ar-AE" sz="1600" i="1">
                            <a:solidFill>
                              <a:schemeClr val="tx1"/>
                            </a:solidFill>
                            <a:latin typeface="Cambria Math" panose="02040503050406030204" pitchFamily="18" charset="0"/>
                          </a:rPr>
                          <m:t>+</m:t>
                        </m:r>
                        <m:r>
                          <a:rPr lang="ar-AE" sz="1600" i="1">
                            <a:solidFill>
                              <a:schemeClr val="tx1"/>
                            </a:solidFill>
                            <a:latin typeface="Cambria Math" panose="02040503050406030204" pitchFamily="18" charset="0"/>
                          </a:rPr>
                          <m:t>1</m:t>
                        </m:r>
                      </m:den>
                    </m:f>
                  </m:oMath>
                </a14:m>
                <a:r>
                  <a:rPr lang="ar-AE" sz="1600" b="1" dirty="0">
                    <a:solidFill>
                      <a:schemeClr val="tx1"/>
                    </a:solidFill>
                    <a:latin typeface="Calibri"/>
                  </a:rPr>
                  <a:t>,    	</a:t>
                </a:r>
                <a14:m>
                  <m:oMath xmlns:m="http://schemas.openxmlformats.org/officeDocument/2006/math">
                    <m:r>
                      <a:rPr lang="ar-AE" sz="1600" i="1">
                        <a:solidFill>
                          <a:schemeClr val="tx1"/>
                        </a:solidFill>
                        <a:latin typeface="Cambria Math" panose="02040503050406030204" pitchFamily="18" charset="0"/>
                      </a:rPr>
                      <m:t>𝜏</m:t>
                    </m:r>
                    <m:r>
                      <a:rPr lang="ar-AE" sz="1600" i="1">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sSub>
                          <m:sSubPr>
                            <m:ctrlPr>
                              <a:rPr lang="ar-AE" sz="1600" i="1">
                                <a:solidFill>
                                  <a:schemeClr val="tx1"/>
                                </a:solidFill>
                                <a:latin typeface="Cambria Math" panose="02040503050406030204" pitchFamily="18" charset="0"/>
                              </a:rPr>
                            </m:ctrlPr>
                          </m:sSubPr>
                          <m:e>
                            <m:r>
                              <a:rPr lang="ar-AE" sz="1600" i="1">
                                <a:solidFill>
                                  <a:schemeClr val="tx1"/>
                                </a:solidFill>
                                <a:latin typeface="Cambria Math" panose="02040503050406030204" pitchFamily="18" charset="0"/>
                              </a:rPr>
                              <m:t>𝐿</m:t>
                            </m:r>
                          </m:e>
                          <m:sub>
                            <m:r>
                              <a:rPr lang="ar-AE" sz="1600" i="1">
                                <a:solidFill>
                                  <a:schemeClr val="tx1"/>
                                </a:solidFill>
                                <a:latin typeface="Cambria Math" panose="02040503050406030204" pitchFamily="18" charset="0"/>
                              </a:rPr>
                              <m:t>𝑖</m:t>
                            </m:r>
                          </m:sub>
                        </m:sSub>
                      </m:num>
                      <m:den>
                        <m:sSubSup>
                          <m:sSubSupPr>
                            <m:ctrlPr>
                              <a:rPr lang="ar-AE" sz="1600" i="1">
                                <a:solidFill>
                                  <a:schemeClr val="tx1"/>
                                </a:solidFill>
                                <a:latin typeface="Cambria Math" panose="02040503050406030204" pitchFamily="18" charset="0"/>
                              </a:rPr>
                            </m:ctrlPr>
                          </m:sSubSupPr>
                          <m:e>
                            <m:r>
                              <a:rPr lang="ar-AE" sz="1600" i="1">
                                <a:solidFill>
                                  <a:schemeClr val="tx1"/>
                                </a:solidFill>
                                <a:latin typeface="Cambria Math" panose="02040503050406030204" pitchFamily="18" charset="0"/>
                              </a:rPr>
                              <m:t>𝑅</m:t>
                            </m:r>
                          </m:e>
                          <m:sub>
                            <m:r>
                              <a:rPr lang="ar-AE" sz="1600" i="1">
                                <a:solidFill>
                                  <a:schemeClr val="tx1"/>
                                </a:solidFill>
                                <a:latin typeface="Cambria Math" panose="02040503050406030204" pitchFamily="18" charset="0"/>
                              </a:rPr>
                              <m:t>𝑖</m:t>
                            </m:r>
                          </m:sub>
                          <m:sup>
                            <m:r>
                              <a:rPr lang="ar-AE" sz="1600" i="1">
                                <a:solidFill>
                                  <a:schemeClr val="tx1"/>
                                </a:solidFill>
                                <a:latin typeface="Cambria Math" panose="02040503050406030204" pitchFamily="18" charset="0"/>
                              </a:rPr>
                              <m:t>′</m:t>
                            </m:r>
                          </m:sup>
                        </m:sSubSup>
                      </m:den>
                    </m:f>
                    <m:r>
                      <a:rPr lang="ar-AE" sz="1600" i="1">
                        <a:solidFill>
                          <a:schemeClr val="tx1"/>
                        </a:solidFill>
                        <a:latin typeface="Cambria Math" panose="02040503050406030204" pitchFamily="18" charset="0"/>
                      </a:rPr>
                      <m:t>       </m:t>
                    </m:r>
                    <m:r>
                      <a:rPr lang="ar-AE" sz="1600" i="1">
                        <a:solidFill>
                          <a:schemeClr val="tx1"/>
                        </a:solidFill>
                        <a:latin typeface="Cambria Math" panose="02040503050406030204" pitchFamily="18" charset="0"/>
                      </a:rPr>
                      <m:t>𝑝</m:t>
                    </m:r>
                    <m:r>
                      <a:rPr lang="ar-AE" sz="1600" i="1">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r>
                          <a:rPr lang="ar-AE" sz="1600" i="1">
                            <a:solidFill>
                              <a:schemeClr val="tx1"/>
                            </a:solidFill>
                            <a:latin typeface="Cambria Math" panose="02040503050406030204" pitchFamily="18" charset="0"/>
                          </a:rPr>
                          <m:t>1</m:t>
                        </m:r>
                      </m:num>
                      <m:den>
                        <m:r>
                          <a:rPr lang="ar-AE" sz="1600" i="1">
                            <a:solidFill>
                              <a:schemeClr val="tx1"/>
                            </a:solidFill>
                            <a:latin typeface="Cambria Math" panose="02040503050406030204" pitchFamily="18" charset="0"/>
                          </a:rPr>
                          <m:t>𝜏</m:t>
                        </m:r>
                        <m:r>
                          <a:rPr lang="ar-AE" sz="1600">
                            <a:solidFill>
                              <a:schemeClr val="tx1"/>
                            </a:solidFill>
                            <a:latin typeface="Cambria Math" panose="02040503050406030204" pitchFamily="18" charset="0"/>
                          </a:rPr>
                          <m:t> </m:t>
                        </m:r>
                      </m:den>
                    </m:f>
                    <m:r>
                      <a:rPr lang="ar-AE" sz="1600" i="1">
                        <a:solidFill>
                          <a:schemeClr val="tx1"/>
                        </a:solidFill>
                        <a:latin typeface="Cambria Math" panose="02040503050406030204" pitchFamily="18" charset="0"/>
                      </a:rPr>
                      <m:t>=</m:t>
                    </m:r>
                    <m:r>
                      <a:rPr lang="es-MX" sz="1600" b="0" i="1" smtClean="0">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sSubSup>
                          <m:sSubSupPr>
                            <m:ctrlPr>
                              <a:rPr lang="ar-AE" sz="1600" i="1">
                                <a:solidFill>
                                  <a:schemeClr val="tx1"/>
                                </a:solidFill>
                                <a:latin typeface="Cambria Math" panose="02040503050406030204" pitchFamily="18" charset="0"/>
                              </a:rPr>
                            </m:ctrlPr>
                          </m:sSubSupPr>
                          <m:e>
                            <m:r>
                              <a:rPr lang="ar-AE" sz="1600" i="1">
                                <a:solidFill>
                                  <a:schemeClr val="tx1"/>
                                </a:solidFill>
                                <a:latin typeface="Cambria Math" panose="02040503050406030204" pitchFamily="18" charset="0"/>
                              </a:rPr>
                              <m:t>𝑅</m:t>
                            </m:r>
                          </m:e>
                          <m:sub>
                            <m:r>
                              <a:rPr lang="ar-AE" sz="1600" i="1">
                                <a:solidFill>
                                  <a:schemeClr val="tx1"/>
                                </a:solidFill>
                                <a:latin typeface="Cambria Math" panose="02040503050406030204" pitchFamily="18" charset="0"/>
                              </a:rPr>
                              <m:t>𝑖</m:t>
                            </m:r>
                          </m:sub>
                          <m:sup>
                            <m:r>
                              <a:rPr lang="ar-AE" sz="1600" i="1">
                                <a:solidFill>
                                  <a:schemeClr val="tx1"/>
                                </a:solidFill>
                                <a:latin typeface="Cambria Math" panose="02040503050406030204" pitchFamily="18" charset="0"/>
                              </a:rPr>
                              <m:t>′</m:t>
                            </m:r>
                          </m:sup>
                        </m:sSubSup>
                      </m:num>
                      <m:den>
                        <m:sSub>
                          <m:sSubPr>
                            <m:ctrlPr>
                              <a:rPr lang="ar-AE" sz="1600" i="1">
                                <a:solidFill>
                                  <a:schemeClr val="tx1"/>
                                </a:solidFill>
                                <a:latin typeface="Cambria Math" panose="02040503050406030204" pitchFamily="18" charset="0"/>
                              </a:rPr>
                            </m:ctrlPr>
                          </m:sSubPr>
                          <m:e>
                            <m:r>
                              <a:rPr lang="ar-AE" sz="1600" i="1">
                                <a:solidFill>
                                  <a:schemeClr val="tx1"/>
                                </a:solidFill>
                                <a:latin typeface="Cambria Math" panose="02040503050406030204" pitchFamily="18" charset="0"/>
                              </a:rPr>
                              <m:t>𝐿</m:t>
                            </m:r>
                          </m:e>
                          <m:sub>
                            <m:r>
                              <a:rPr lang="ar-AE" sz="1600" i="1">
                                <a:solidFill>
                                  <a:schemeClr val="tx1"/>
                                </a:solidFill>
                                <a:latin typeface="Cambria Math" panose="02040503050406030204" pitchFamily="18" charset="0"/>
                              </a:rPr>
                              <m:t>𝑖</m:t>
                            </m:r>
                          </m:sub>
                        </m:sSub>
                      </m:den>
                    </m:f>
                    <m:r>
                      <a:rPr lang="ar-AE" sz="1600" i="1">
                        <a:solidFill>
                          <a:schemeClr val="tx1"/>
                        </a:solidFill>
                        <a:latin typeface="Cambria Math" panose="02040503050406030204" pitchFamily="18" charset="0"/>
                      </a:rPr>
                      <m:t> </m:t>
                    </m:r>
                  </m:oMath>
                </a14:m>
                <a:endParaRPr lang="ar-AE" sz="1600" b="1" dirty="0">
                  <a:solidFill>
                    <a:schemeClr val="tx1"/>
                  </a:solidFill>
                  <a:latin typeface="Calibri"/>
                </a:endParaRPr>
              </a:p>
            </p:txBody>
          </p:sp>
        </mc:Choice>
        <mc:Fallback xmlns="">
          <p:sp>
            <p:nvSpPr>
              <p:cNvPr id="26" name="TextBox 11">
                <a:extLst>
                  <a:ext uri="{FF2B5EF4-FFF2-40B4-BE49-F238E27FC236}">
                    <a16:creationId xmlns:a16="http://schemas.microsoft.com/office/drawing/2014/main" id="{CAAD56D6-2A3D-4686-BF04-7C24A0CB59A9}"/>
                  </a:ext>
                </a:extLst>
              </p:cNvPr>
              <p:cNvSpPr txBox="1">
                <a:spLocks noRot="1" noChangeAspect="1" noMove="1" noResize="1" noEditPoints="1" noAdjustHandles="1" noChangeArrowheads="1" noChangeShapeType="1" noTextEdit="1"/>
              </p:cNvSpPr>
              <p:nvPr/>
            </p:nvSpPr>
            <p:spPr>
              <a:xfrm>
                <a:off x="3902040" y="5043891"/>
                <a:ext cx="5900747" cy="538930"/>
              </a:xfrm>
              <a:prstGeom prst="rect">
                <a:avLst/>
              </a:prstGeom>
              <a:blipFill>
                <a:blip r:embed="rId7"/>
                <a:stretch>
                  <a:fillRect/>
                </a:stretch>
              </a:blipFill>
            </p:spPr>
            <p:txBody>
              <a:bodyPr/>
              <a:lstStyle/>
              <a:p>
                <a:r>
                  <a:rPr lang="es-AR">
                    <a:noFill/>
                  </a:rPr>
                  <a:t> </a:t>
                </a:r>
              </a:p>
            </p:txBody>
          </p:sp>
        </mc:Fallback>
      </mc:AlternateContent>
      <p:sp>
        <p:nvSpPr>
          <p:cNvPr id="14" name="Shape 2">
            <a:extLst>
              <a:ext uri="{FF2B5EF4-FFF2-40B4-BE49-F238E27FC236}">
                <a16:creationId xmlns:a16="http://schemas.microsoft.com/office/drawing/2014/main" id="{239A412A-7335-4C00-9E35-B74EB37D557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877AE57F-C662-4235-A070-66572E399BD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13360" y="112772"/>
            <a:ext cx="4990597" cy="738664"/>
          </a:xfrm>
          <a:prstGeom prst="rect">
            <a:avLst/>
          </a:prstGeom>
          <a:noFill/>
        </p:spPr>
        <p:txBody>
          <a:bodyPr wrap="none">
            <a:spAutoFit/>
          </a:bodyPr>
          <a:lstStyle/>
          <a:p>
            <a:r>
              <a:rPr lang="es-AR" sz="2100" b="1" dirty="0">
                <a:solidFill>
                  <a:srgbClr val="FFFFFF"/>
                </a:solidFill>
                <a:latin typeface="Cambria"/>
              </a:rPr>
              <a:t>Diseño de lazos de control de corriente</a:t>
            </a:r>
          </a:p>
          <a:p>
            <a:pPr algn="l"/>
            <a:endParaRPr lang="es-MX"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48 / ~75</a:t>
            </a:r>
          </a:p>
        </p:txBody>
      </p:sp>
      <mc:AlternateContent xmlns:mc="http://schemas.openxmlformats.org/markup-compatibility/2006" xmlns:a14="http://schemas.microsoft.com/office/drawing/2010/main">
        <mc:Choice Requires="a14">
          <p:sp>
            <p:nvSpPr>
              <p:cNvPr id="7" name="TextBox 6"/>
              <p:cNvSpPr txBox="1"/>
              <p:nvPr/>
            </p:nvSpPr>
            <p:spPr>
              <a:xfrm>
                <a:off x="213360" y="724870"/>
                <a:ext cx="11765280" cy="1818318"/>
              </a:xfrm>
              <a:prstGeom prst="rect">
                <a:avLst/>
              </a:prstGeom>
              <a:noFill/>
            </p:spPr>
            <p:txBody>
              <a:bodyPr wrap="square">
                <a:spAutoFit/>
              </a:bodyPr>
              <a:lstStyle/>
              <a:p>
                <a:r>
                  <a:rPr lang="es-AR" sz="1600" b="1" dirty="0"/>
                  <a:t>Características</a:t>
                </a:r>
                <a:r>
                  <a:rPr lang="es-AR" b="1" dirty="0"/>
                  <a:t> </a:t>
                </a:r>
                <a:r>
                  <a:rPr lang="es-AR" sz="1600" b="1" dirty="0"/>
                  <a:t>principales</a:t>
                </a:r>
                <a:r>
                  <a:rPr lang="es-AR" b="1" dirty="0"/>
                  <a:t>:</a:t>
                </a:r>
              </a:p>
              <a:p>
                <a:endParaRPr lang="es-AR" sz="1400" dirty="0"/>
              </a:p>
              <a:p>
                <a:pPr marL="285750" lvl="0" indent="-285750">
                  <a:buFont typeface="Arial" panose="020B0604020202020204" pitchFamily="34" charset="0"/>
                  <a:buChar char="•"/>
                </a:pPr>
                <a:r>
                  <a:rPr lang="es-AR" sz="1400" dirty="0"/>
                  <a:t>Sistema de primer orden estable: Los polos tienen parte real negativa, garantizando estabilidad.</a:t>
                </a:r>
              </a:p>
              <a:p>
                <a:pPr marL="285750" lvl="0" indent="-285750">
                  <a:buFont typeface="Arial" panose="020B0604020202020204" pitchFamily="34" charset="0"/>
                  <a:buChar char="•"/>
                </a:pPr>
                <a:r>
                  <a:rPr lang="es-AR" sz="1400" dirty="0"/>
                  <a:t>Sin ceros: La respuesta es monotónica, sin sobre pico.</a:t>
                </a:r>
              </a:p>
              <a:p>
                <a:pPr marL="285750" lvl="0" indent="-285750">
                  <a:buFont typeface="Arial" panose="020B0604020202020204" pitchFamily="34" charset="0"/>
                  <a:buChar char="•"/>
                </a:pPr>
                <a:r>
                  <a:rPr lang="es-AR" sz="1400" dirty="0"/>
                  <a:t>Hay un seguimiento sin error de estado estacionario.</a:t>
                </a:r>
                <a:endParaRPr lang="es-AR" sz="1400" i="1" dirty="0"/>
              </a:p>
              <a:p>
                <a:pPr marL="285750" lvl="0" indent="-285750">
                  <a:buFont typeface="Arial" panose="020B0604020202020204" pitchFamily="34" charset="0"/>
                  <a:buChar char="•"/>
                </a:pPr>
                <a:r>
                  <a:rPr lang="es-AR" sz="1400" dirty="0"/>
                  <a:t>Atenúa señales de alta frecuencia con frecuencia de corte  </a:t>
                </a:r>
                <a14:m>
                  <m:oMath xmlns:m="http://schemas.openxmlformats.org/officeDocument/2006/math">
                    <m:sSub>
                      <m:sSubPr>
                        <m:ctrlPr>
                          <a:rPr lang="es-AR" sz="1400" i="1">
                            <a:latin typeface="Cambria Math" panose="02040503050406030204" pitchFamily="18" charset="0"/>
                          </a:rPr>
                        </m:ctrlPr>
                      </m:sSubPr>
                      <m:e>
                        <m:r>
                          <a:rPr lang="es-AR" sz="1400" b="0" i="1" smtClean="0">
                            <a:latin typeface="Cambria Math" panose="02040503050406030204" pitchFamily="18" charset="0"/>
                          </a:rPr>
                          <m:t>𝑓</m:t>
                        </m:r>
                      </m:e>
                      <m:sub>
                        <m:r>
                          <a:rPr lang="es-AR" sz="1400" b="0" i="1" smtClean="0">
                            <a:latin typeface="Cambria Math" panose="02040503050406030204" pitchFamily="18" charset="0"/>
                          </a:rPr>
                          <m:t>𝑐</m:t>
                        </m:r>
                      </m:sub>
                    </m:sSub>
                    <m:r>
                      <a:rPr lang="es-AR" sz="1400" b="0" i="1" smtClean="0">
                        <a:latin typeface="Cambria Math" panose="02040503050406030204" pitchFamily="18" charset="0"/>
                      </a:rPr>
                      <m:t>=</m:t>
                    </m:r>
                    <m:f>
                      <m:fPr>
                        <m:ctrlPr>
                          <a:rPr lang="es-AR" sz="1400" i="1">
                            <a:latin typeface="Cambria Math" panose="02040503050406030204" pitchFamily="18" charset="0"/>
                          </a:rPr>
                        </m:ctrlPr>
                      </m:fPr>
                      <m:num>
                        <m:r>
                          <a:rPr lang="es-AR" sz="1400" b="0" i="1" smtClean="0">
                            <a:latin typeface="Cambria Math" panose="02040503050406030204" pitchFamily="18" charset="0"/>
                          </a:rPr>
                          <m:t>1</m:t>
                        </m:r>
                      </m:num>
                      <m:den>
                        <m:r>
                          <a:rPr lang="es-AR" sz="1400" b="0" i="1" smtClean="0">
                            <a:latin typeface="Cambria Math" panose="02040503050406030204" pitchFamily="18" charset="0"/>
                          </a:rPr>
                          <m:t>2</m:t>
                        </m:r>
                        <m:r>
                          <a:rPr lang="es-AR" sz="1400" b="0" i="1" smtClean="0">
                            <a:latin typeface="Cambria Math" panose="02040503050406030204" pitchFamily="18" charset="0"/>
                          </a:rPr>
                          <m:t>𝜋𝜏</m:t>
                        </m:r>
                        <m:r>
                          <a:rPr lang="es-AR" sz="1400" b="0" smtClean="0">
                            <a:latin typeface="Cambria Math" panose="02040503050406030204" pitchFamily="18" charset="0"/>
                          </a:rPr>
                          <m:t> </m:t>
                        </m:r>
                      </m:den>
                    </m:f>
                  </m:oMath>
                </a14:m>
                <a:endParaRPr lang="es-AR" sz="1600" dirty="0"/>
              </a:p>
              <a:p>
                <a:pPr algn="just">
                  <a:lnSpc>
                    <a:spcPct val="107000"/>
                  </a:lnSpc>
                  <a:spcAft>
                    <a:spcPts val="800"/>
                  </a:spcAft>
                </a:pP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13360" y="724870"/>
                <a:ext cx="11765280" cy="1818318"/>
              </a:xfrm>
              <a:prstGeom prst="rect">
                <a:avLst/>
              </a:prstGeom>
              <a:blipFill>
                <a:blip r:embed="rId2"/>
                <a:stretch>
                  <a:fillRect l="-259" t="-201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B25299D7-4895-4BE2-8B54-1B952FA16C43}"/>
                  </a:ext>
                </a:extLst>
              </p:cNvPr>
              <p:cNvSpPr txBox="1"/>
              <p:nvPr/>
            </p:nvSpPr>
            <p:spPr>
              <a:xfrm>
                <a:off x="213360" y="2280114"/>
                <a:ext cx="3852614" cy="2809295"/>
              </a:xfrm>
              <a:prstGeom prst="rect">
                <a:avLst/>
              </a:prstGeom>
              <a:noFill/>
            </p:spPr>
            <p:txBody>
              <a:bodyPr wrap="square">
                <a:spAutoFit/>
              </a:bodyPr>
              <a:lstStyle/>
              <a:p>
                <a:pPr algn="just">
                  <a:lnSpc>
                    <a:spcPct val="107000"/>
                  </a:lnSpc>
                  <a:spcAft>
                    <a:spcPts val="800"/>
                  </a:spcAft>
                </a:pPr>
                <a:r>
                  <a:rPr lang="es-AR" sz="1400" b="1" dirty="0">
                    <a:effectLst/>
                    <a:latin typeface="Calibri" panose="020F0502020204030204" pitchFamily="34" charset="0"/>
                    <a:ea typeface="Calibri" panose="020F0502020204030204" pitchFamily="34" charset="0"/>
                    <a:cs typeface="Calibri" panose="020F0502020204030204" pitchFamily="34" charset="0"/>
                  </a:rPr>
                  <a:t>Diseño de las ganancias:</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600"/>
                  </a:spcAft>
                </a:pPr>
                <a:r>
                  <a:rPr lang="es-AR" sz="1400" dirty="0">
                    <a:effectLst/>
                    <a:latin typeface="Calibri" panose="020F0502020204030204" pitchFamily="34" charset="0"/>
                    <a:ea typeface="Times New Roman" panose="02020603050405020304" pitchFamily="18" charset="0"/>
                  </a:rPr>
                  <a:t>Según las especificaciones de la guía, se requiere ubicar los polos de los tres lazos en:</a:t>
                </a:r>
                <a:endParaRPr lang="es-AR" sz="1400" dirty="0">
                  <a:effectLst/>
                  <a:latin typeface="Times New Roman" panose="02020603050405020304" pitchFamily="18" charset="0"/>
                  <a:ea typeface="Times New Roman" panose="02020603050405020304" pitchFamily="18" charset="0"/>
                </a:endParaRPr>
              </a:p>
              <a:p>
                <a:pPr algn="just">
                  <a:lnSpc>
                    <a:spcPct val="107000"/>
                  </a:lnSpc>
                  <a:spcAft>
                    <a:spcPts val="6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𝑝</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𝑖</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5000</m:t>
                      </m:r>
                      <m:f>
                        <m:fPr>
                          <m:ctrlPr>
                            <a:rPr lang="es-AR" sz="1400" i="1">
                              <a:effectLst/>
                              <a:latin typeface="Cambria Math" panose="02040503050406030204" pitchFamily="18" charset="0"/>
                              <a:ea typeface="Calibri" panose="020F0502020204030204" pitchFamily="34" charset="0"/>
                              <a:cs typeface="Calibri" panose="020F0502020204030204" pitchFamily="34" charset="0"/>
                            </a:rPr>
                          </m:ctrlPr>
                        </m:fPr>
                        <m:num>
                          <m:r>
                            <a:rPr lang="es-AR" sz="1400" i="1">
                              <a:effectLst/>
                              <a:latin typeface="Cambria Math" panose="02040503050406030204" pitchFamily="18" charset="0"/>
                              <a:ea typeface="Calibri" panose="020F0502020204030204" pitchFamily="34" charset="0"/>
                              <a:cs typeface="Calibri" panose="020F0502020204030204" pitchFamily="34" charset="0"/>
                            </a:rPr>
                            <m:t>𝑟𝑎𝑑</m:t>
                          </m:r>
                        </m:num>
                        <m:den>
                          <m:r>
                            <a:rPr lang="es-AR" sz="1400" i="1">
                              <a:effectLst/>
                              <a:latin typeface="Cambria Math" panose="02040503050406030204" pitchFamily="18" charset="0"/>
                              <a:ea typeface="Calibri" panose="020F0502020204030204" pitchFamily="34" charset="0"/>
                              <a:cs typeface="Calibri" panose="020F0502020204030204" pitchFamily="34" charset="0"/>
                            </a:rPr>
                            <m:t>𝑠</m:t>
                          </m:r>
                        </m:den>
                      </m:f>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𝐵𝑊</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796</m:t>
                          </m:r>
                          <m:r>
                            <a:rPr lang="es-AR" sz="1400" i="1">
                              <a:effectLst/>
                              <a:latin typeface="Cambria Math" panose="02040503050406030204" pitchFamily="18" charset="0"/>
                              <a:ea typeface="Calibri" panose="020F0502020204030204" pitchFamily="34" charset="0"/>
                              <a:cs typeface="Calibri" panose="020F0502020204030204" pitchFamily="34" charset="0"/>
                            </a:rPr>
                            <m:t>𝐻𝑧</m:t>
                          </m:r>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AR" sz="1400" dirty="0">
                    <a:effectLst/>
                    <a:latin typeface="Calibri" panose="020F0502020204030204" pitchFamily="34" charset="0"/>
                    <a:ea typeface="Times New Roman" panose="02020603050405020304" pitchFamily="18" charset="0"/>
                    <a:cs typeface="Calibri" panose="020F0502020204030204" pitchFamily="34" charset="0"/>
                  </a:rPr>
                  <a:t>Luego </a:t>
                </a:r>
                <a:r>
                  <a:rPr lang="es-AR" sz="1400" dirty="0">
                    <a:effectLst/>
                    <a:latin typeface="Calibri" panose="020F0502020204030204" pitchFamily="34" charset="0"/>
                    <a:ea typeface="Calibri" panose="020F0502020204030204" pitchFamily="34" charset="0"/>
                    <a:cs typeface="Calibri" panose="020F0502020204030204" pitchFamily="34" charset="0"/>
                  </a:rPr>
                  <a:t>sustituyendo los valores de las inductancias, las ganancias resultan:</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d>
                        <m:dPr>
                          <m:begChr m:val="{"/>
                          <m:endChr m:val=""/>
                          <m:ctrlPr>
                            <a:rPr lang="es-AR" sz="1400" i="1">
                              <a:effectLst/>
                              <a:latin typeface="Cambria Math" panose="02040503050406030204" pitchFamily="18" charset="0"/>
                              <a:cs typeface="Calibri" panose="020F0502020204030204" pitchFamily="34" charset="0"/>
                            </a:rPr>
                          </m:ctrlPr>
                        </m:dPr>
                        <m:e>
                          <m:eqArr>
                            <m:eqArrPr>
                              <m:ctrlPr>
                                <a:rPr lang="es-AR" sz="1400" i="1">
                                  <a:effectLst/>
                                  <a:latin typeface="Cambria Math" panose="02040503050406030204" pitchFamily="18" charset="0"/>
                                  <a:cs typeface="Calibri" panose="020F0502020204030204" pitchFamily="34" charset="0"/>
                                </a:rPr>
                              </m:ctrlPr>
                            </m:eqArr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5000</m:t>
                              </m:r>
                              <m:r>
                                <a:rPr lang="es-AR" sz="1400" i="1">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29</m:t>
                              </m:r>
                              <m:r>
                                <a:rPr lang="es-AR" sz="1400" i="1">
                                  <a:effectLst/>
                                  <a:latin typeface="Cambria Math" panose="02040503050406030204" pitchFamily="18" charset="0"/>
                                  <a:ea typeface="Calibri" panose="020F0502020204030204" pitchFamily="34" charset="0"/>
                                  <a:cs typeface="Calibri" panose="020F0502020204030204" pitchFamily="34" charset="0"/>
                                </a:rPr>
                                <m:t> </m:t>
                              </m:r>
                              <m:r>
                                <m:rPr>
                                  <m:sty m:val="p"/>
                                </m:rPr>
                                <a:rPr lang="es-AR" sz="1400">
                                  <a:effectLst/>
                                  <a:latin typeface="Cambria Math" panose="02040503050406030204" pitchFamily="18" charset="0"/>
                                  <a:ea typeface="Calibri" panose="020F0502020204030204" pitchFamily="34" charset="0"/>
                                  <a:cs typeface="Calibri" panose="020F0502020204030204" pitchFamily="34" charset="0"/>
                                </a:rPr>
                                <m:t>Ω</m:t>
                              </m:r>
                            </m:e>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5000</m:t>
                              </m:r>
                              <m:r>
                                <a:rPr lang="es-AR" sz="1400" i="1">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33</m:t>
                              </m:r>
                              <m:r>
                                <a:rPr lang="es-AR" sz="1400" i="1">
                                  <a:effectLst/>
                                  <a:latin typeface="Cambria Math" panose="02040503050406030204" pitchFamily="18" charset="0"/>
                                  <a:ea typeface="Calibri" panose="020F0502020204030204" pitchFamily="34" charset="0"/>
                                  <a:cs typeface="Calibri" panose="020F0502020204030204" pitchFamily="34" charset="0"/>
                                </a:rPr>
                                <m:t> </m:t>
                              </m:r>
                              <m:r>
                                <m:rPr>
                                  <m:sty m:val="p"/>
                                </m:rPr>
                                <a:rPr lang="es-AR" sz="1400">
                                  <a:effectLst/>
                                  <a:latin typeface="Cambria Math" panose="02040503050406030204" pitchFamily="18" charset="0"/>
                                  <a:ea typeface="Calibri" panose="020F0502020204030204" pitchFamily="34" charset="0"/>
                                  <a:cs typeface="Calibri" panose="020F0502020204030204" pitchFamily="34" charset="0"/>
                                </a:rPr>
                                <m:t>Ω</m:t>
                              </m:r>
                            </m:e>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5000</m:t>
                              </m:r>
                              <m:r>
                                <a:rPr lang="es-AR" sz="1400" i="1">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d>
                                    <m:dPr>
                                      <m:begChr m:val="{"/>
                                      <m:endChr m:val="}"/>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𝑙𝑠</m:t>
                                      </m:r>
                                    </m:e>
                                  </m:d>
                                </m:sub>
                              </m:sSub>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4</m:t>
                              </m:r>
                              <m:r>
                                <a:rPr lang="es-AR" sz="1400" i="1">
                                  <a:effectLst/>
                                  <a:latin typeface="Cambria Math" panose="02040503050406030204" pitchFamily="18" charset="0"/>
                                  <a:ea typeface="Calibri" panose="020F0502020204030204" pitchFamily="34" charset="0"/>
                                  <a:cs typeface="Calibri" panose="020F0502020204030204" pitchFamily="34" charset="0"/>
                                </a:rPr>
                                <m:t> </m:t>
                              </m:r>
                              <m:r>
                                <m:rPr>
                                  <m:sty m:val="p"/>
                                </m:rPr>
                                <a:rPr lang="es-AR" sz="1400">
                                  <a:effectLst/>
                                  <a:latin typeface="Cambria Math" panose="02040503050406030204" pitchFamily="18" charset="0"/>
                                  <a:ea typeface="Calibri" panose="020F0502020204030204" pitchFamily="34" charset="0"/>
                                  <a:cs typeface="Calibri" panose="020F0502020204030204" pitchFamily="34" charset="0"/>
                                </a:rPr>
                                <m:t>Ω</m:t>
                              </m:r>
                            </m:e>
                          </m:eqArr>
                        </m:e>
                      </m:d>
                    </m:oMath>
                  </m:oMathPara>
                </a14:m>
                <a:endParaRPr lang="es-AR" sz="1400" dirty="0"/>
              </a:p>
            </p:txBody>
          </p:sp>
        </mc:Choice>
        <mc:Fallback xmlns="">
          <p:sp>
            <p:nvSpPr>
              <p:cNvPr id="12" name="CuadroTexto 11">
                <a:extLst>
                  <a:ext uri="{FF2B5EF4-FFF2-40B4-BE49-F238E27FC236}">
                    <a16:creationId xmlns:a16="http://schemas.microsoft.com/office/drawing/2014/main" id="{B25299D7-4895-4BE2-8B54-1B952FA16C43}"/>
                  </a:ext>
                </a:extLst>
              </p:cNvPr>
              <p:cNvSpPr txBox="1">
                <a:spLocks noRot="1" noChangeAspect="1" noMove="1" noResize="1" noEditPoints="1" noAdjustHandles="1" noChangeArrowheads="1" noChangeShapeType="1" noTextEdit="1"/>
              </p:cNvSpPr>
              <p:nvPr/>
            </p:nvSpPr>
            <p:spPr>
              <a:xfrm>
                <a:off x="213360" y="2280114"/>
                <a:ext cx="3852614" cy="2809295"/>
              </a:xfrm>
              <a:prstGeom prst="rect">
                <a:avLst/>
              </a:prstGeom>
              <a:blipFill>
                <a:blip r:embed="rId3"/>
                <a:stretch>
                  <a:fillRect l="-475" t="-217" r="-475"/>
                </a:stretch>
              </a:blipFill>
            </p:spPr>
            <p:txBody>
              <a:bodyPr/>
              <a:lstStyle/>
              <a:p>
                <a:r>
                  <a:rPr lang="es-AR">
                    <a:noFill/>
                  </a:rPr>
                  <a:t> </a:t>
                </a:r>
              </a:p>
            </p:txBody>
          </p:sp>
        </mc:Fallback>
      </mc:AlternateContent>
      <p:pic>
        <p:nvPicPr>
          <p:cNvPr id="13" name="Imagen 12">
            <a:extLst>
              <a:ext uri="{FF2B5EF4-FFF2-40B4-BE49-F238E27FC236}">
                <a16:creationId xmlns:a16="http://schemas.microsoft.com/office/drawing/2014/main" id="{C2A41F86-A19A-4C06-BBB4-DDC5F3B6FDFF}"/>
              </a:ext>
            </a:extLst>
          </p:cNvPr>
          <p:cNvPicPr/>
          <p:nvPr/>
        </p:nvPicPr>
        <p:blipFill>
          <a:blip r:embed="rId4">
            <a:extLst>
              <a:ext uri="{28A0092B-C50C-407E-A947-70E740481C1C}">
                <a14:useLocalDpi xmlns:a14="http://schemas.microsoft.com/office/drawing/2010/main" val="0"/>
              </a:ext>
            </a:extLst>
          </a:blip>
          <a:srcRect t="1021" b="1021"/>
          <a:stretch>
            <a:fillRect/>
          </a:stretch>
        </p:blipFill>
        <p:spPr bwMode="auto">
          <a:xfrm>
            <a:off x="7371405" y="1816619"/>
            <a:ext cx="3852613" cy="378359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84ED3D5A-C175-45B1-A094-BCD25BDE7B6F}"/>
              </a:ext>
            </a:extLst>
          </p:cNvPr>
          <p:cNvSpPr txBox="1"/>
          <p:nvPr/>
        </p:nvSpPr>
        <p:spPr>
          <a:xfrm>
            <a:off x="7988117" y="5565341"/>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32— Modulador de corriente</a:t>
            </a:r>
          </a:p>
        </p:txBody>
      </p:sp>
      <p:sp>
        <p:nvSpPr>
          <p:cNvPr id="10" name="Shape 2">
            <a:extLst>
              <a:ext uri="{FF2B5EF4-FFF2-40B4-BE49-F238E27FC236}">
                <a16:creationId xmlns:a16="http://schemas.microsoft.com/office/drawing/2014/main" id="{F97CCC8C-46F5-4B6B-A362-3233E5198A6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1DB57E92-4BC0-48DE-BF51-548C4E5ED4F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6170945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7">
            <a:extLst>
              <a:ext uri="{FF2B5EF4-FFF2-40B4-BE49-F238E27FC236}">
                <a16:creationId xmlns:a16="http://schemas.microsoft.com/office/drawing/2014/main" id="{870270BB-A81C-44CB-B358-E06327BE36FB}"/>
              </a:ext>
            </a:extLst>
          </p:cNvPr>
          <p:cNvSpPr/>
          <p:nvPr/>
        </p:nvSpPr>
        <p:spPr>
          <a:xfrm>
            <a:off x="228752" y="4601237"/>
            <a:ext cx="4322977" cy="85516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2705" y="96012"/>
            <a:ext cx="11551615" cy="658368"/>
          </a:xfrm>
          <a:prstGeom prst="rect">
            <a:avLst/>
          </a:prstGeom>
          <a:noFill/>
        </p:spPr>
        <p:txBody>
          <a:bodyPr wrap="none">
            <a:spAutoFit/>
          </a:bodyPr>
          <a:lstStyle/>
          <a:p>
            <a:pPr algn="l"/>
            <a:r>
              <a:rPr sz="2100" b="1">
                <a:solidFill>
                  <a:srgbClr val="FFFFFF"/>
                </a:solidFill>
                <a:latin typeface="Cambria"/>
              </a:rPr>
              <a:t>Modulador de torque — Consigna de torque y feedforward gravitacional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49 / ~75</a:t>
            </a:r>
          </a:p>
        </p:txBody>
      </p:sp>
      <mc:AlternateContent xmlns:mc="http://schemas.openxmlformats.org/markup-compatibility/2006" xmlns:a14="http://schemas.microsoft.com/office/drawing/2010/main">
        <mc:Choice Requires="a14">
          <p:sp>
            <p:nvSpPr>
              <p:cNvPr id="7" name="TextBox 6"/>
              <p:cNvSpPr txBox="1"/>
              <p:nvPr/>
            </p:nvSpPr>
            <p:spPr>
              <a:xfrm>
                <a:off x="152705" y="717524"/>
                <a:ext cx="11430000" cy="738664"/>
              </a:xfrm>
              <a:prstGeom prst="rect">
                <a:avLst/>
              </a:prstGeom>
              <a:noFill/>
            </p:spPr>
            <p:txBody>
              <a:bodyPr wrap="square">
                <a:spAutoFit/>
              </a:bodyPr>
              <a:lstStyle/>
              <a:p>
                <a:r>
                  <a:rPr lang="es-AR" sz="1400" b="0" i="0" dirty="0">
                    <a:solidFill>
                      <a:srgbClr val="1A1A2E"/>
                    </a:solidFill>
                    <a:latin typeface="Calibri"/>
                  </a:rPr>
                  <a:t>La etapa final del modulador convierte la consigna de torque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b="0" i="0" dirty="0">
                    <a:solidFill>
                      <a:srgbClr val="1A1A2E"/>
                    </a:solidFill>
                    <a:latin typeface="Calibri"/>
                  </a:rPr>
                  <a:t> en la referencia de corriente </a:t>
                </a:r>
                <a14:m>
                  <m:oMath xmlns:m="http://schemas.openxmlformats.org/officeDocument/2006/math">
                    <m:sSubSup>
                      <m:sSubSupPr>
                        <m:ctrlPr>
                          <a:rPr lang="es-AR" sz="11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1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b="0" i="0" dirty="0">
                    <a:solidFill>
                      <a:srgbClr val="1A1A2E"/>
                    </a:solidFill>
                    <a:latin typeface="Calibri"/>
                  </a:rPr>
                  <a:t>. Se incorpora compensación de fricción viscosa y del torque gravitatorio (feed-forward). </a:t>
                </a:r>
                <a:br>
                  <a:rPr lang="es-MX" sz="1400" dirty="0"/>
                </a:br>
                <a:r>
                  <a:rPr lang="es-MX" sz="1400" dirty="0"/>
                  <a:t>Se obtiene la relación entre las consignas de corriente y la consigna de torque deseada:</a:t>
                </a:r>
                <a:endParaRPr lang="es-A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52705" y="717524"/>
                <a:ext cx="11430000" cy="738664"/>
              </a:xfrm>
              <a:prstGeom prst="rect">
                <a:avLst/>
              </a:prstGeom>
              <a:blipFill>
                <a:blip r:embed="rId2"/>
                <a:stretch>
                  <a:fillRect l="-160" t="-2479" b="-7438"/>
                </a:stretch>
              </a:blipFill>
            </p:spPr>
            <p:txBody>
              <a:bodyPr/>
              <a:lstStyle/>
              <a:p>
                <a:r>
                  <a:rPr lang="es-AR">
                    <a:noFill/>
                  </a:rPr>
                  <a:t> </a:t>
                </a:r>
              </a:p>
            </p:txBody>
          </p:sp>
        </mc:Fallback>
      </mc:AlternateContent>
      <p:sp>
        <p:nvSpPr>
          <p:cNvPr id="8" name="Rectangle 7"/>
          <p:cNvSpPr/>
          <p:nvPr/>
        </p:nvSpPr>
        <p:spPr>
          <a:xfrm>
            <a:off x="213512" y="1513749"/>
            <a:ext cx="11430000"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83010" y="1526981"/>
                <a:ext cx="3741050" cy="43415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0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000" i="1">
                              <a:effectLst/>
                              <a:latin typeface="Cambria Math" panose="020405030504060302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sub>
                      </m:sSub>
                      <m:d>
                        <m:dPr>
                          <m:begChr m:val="["/>
                          <m:endChr m:val="]"/>
                          <m:ctrlPr>
                            <a:rPr lang="es-AR" sz="1000" i="1">
                              <a:effectLst/>
                              <a:latin typeface="Cambria Math" panose="02040503050406030204" pitchFamily="18" charset="0"/>
                            </a:rPr>
                          </m:ctrlPr>
                        </m:dPr>
                        <m:e>
                          <m:sSubSup>
                            <m:sSubSupPr>
                              <m:ctrlPr>
                                <a:rPr lang="es-AR" sz="10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𝜆</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s-AR" sz="1000" i="1">
                                  <a:effectLst/>
                                  <a:latin typeface="Cambria Math" panose="02040503050406030204" pitchFamily="18" charset="0"/>
                                </a:rPr>
                              </m:ctrlPr>
                            </m:dPr>
                            <m:e>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sub>
                              </m:sSub>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Sup>
                            <m:sSubSupPr>
                              <m:ctrlPr>
                                <a:rPr lang="es-AR" sz="10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Sup>
                        <m:sSubSupPr>
                          <m:ctrlPr>
                            <a:rPr lang="es-AR" sz="10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83010" y="1526981"/>
                <a:ext cx="3741050" cy="434158"/>
              </a:xfrm>
              <a:prstGeom prst="rect">
                <a:avLst/>
              </a:prstGeom>
              <a:blipFill>
                <a:blip r:embed="rId3"/>
                <a:stretch>
                  <a:fillRect b="-2778"/>
                </a:stretch>
              </a:blipFill>
            </p:spPr>
            <p:txBody>
              <a:bodyPr/>
              <a:lstStyle/>
              <a:p>
                <a:r>
                  <a:rPr lang="es-AR">
                    <a:noFill/>
                  </a:rPr>
                  <a:t> </a:t>
                </a:r>
              </a:p>
            </p:txBody>
          </p:sp>
        </mc:Fallback>
      </mc:AlternateContent>
      <p:sp>
        <p:nvSpPr>
          <p:cNvPr id="17" name="CuadroTexto 16">
            <a:extLst>
              <a:ext uri="{FF2B5EF4-FFF2-40B4-BE49-F238E27FC236}">
                <a16:creationId xmlns:a16="http://schemas.microsoft.com/office/drawing/2014/main" id="{33222BAA-AA07-4976-AE64-952BD00F7B9F}"/>
              </a:ext>
            </a:extLst>
          </p:cNvPr>
          <p:cNvSpPr txBox="1"/>
          <p:nvPr/>
        </p:nvSpPr>
        <p:spPr>
          <a:xfrm>
            <a:off x="152705" y="2105544"/>
            <a:ext cx="11876538" cy="1169551"/>
          </a:xfrm>
          <a:prstGeom prst="rect">
            <a:avLst/>
          </a:prstGeom>
          <a:noFill/>
        </p:spPr>
        <p:txBody>
          <a:bodyPr wrap="square">
            <a:spAutoFit/>
          </a:bodyPr>
          <a:lstStyle/>
          <a:p>
            <a:r>
              <a:rPr lang="es-MX" sz="1400" dirty="0"/>
              <a:t>El sistema mecánico presenta pérdidas por fricción que introducen una realimentación natural sobre el torque efectivo. Para contrarrestarla, se incorpora dentro del controlador un término adicional, de forma análoga a los desacoples electromagnéticos.</a:t>
            </a:r>
          </a:p>
          <a:p>
            <a:r>
              <a:rPr lang="es-MX" sz="1400" dirty="0"/>
              <a:t>Adicionalmente, se introduce una compensación del torque gravitacional mediante </a:t>
            </a:r>
            <a:r>
              <a:rPr lang="es-MX" sz="1400" b="1" dirty="0"/>
              <a:t>feed-forward</a:t>
            </a:r>
            <a:r>
              <a:rPr lang="es-MX" sz="1400" dirty="0"/>
              <a:t>: a partir de la posición del sistema, se estima el torque requerido para equilibrar la gravedad y se lo aplica directamente en la señal de control, actuando de manera preventiva. La consigna total de torque resulta de tres contribuciones:</a:t>
            </a:r>
          </a:p>
        </p:txBody>
      </p:sp>
      <p:sp>
        <p:nvSpPr>
          <p:cNvPr id="18" name="Rectangle 7">
            <a:extLst>
              <a:ext uri="{FF2B5EF4-FFF2-40B4-BE49-F238E27FC236}">
                <a16:creationId xmlns:a16="http://schemas.microsoft.com/office/drawing/2014/main" id="{73A7B243-9316-4393-AFC4-E869A54EEF32}"/>
              </a:ext>
            </a:extLst>
          </p:cNvPr>
          <p:cNvSpPr/>
          <p:nvPr/>
        </p:nvSpPr>
        <p:spPr>
          <a:xfrm>
            <a:off x="213512" y="3268265"/>
            <a:ext cx="11430000" cy="576376"/>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9" name="TextBox 8">
                <a:extLst>
                  <a:ext uri="{FF2B5EF4-FFF2-40B4-BE49-F238E27FC236}">
                    <a16:creationId xmlns:a16="http://schemas.microsoft.com/office/drawing/2014/main" id="{39DF1666-565F-43EE-BB39-721F00DE72D0}"/>
                  </a:ext>
                </a:extLst>
              </p:cNvPr>
              <p:cNvSpPr txBox="1"/>
              <p:nvPr/>
            </p:nvSpPr>
            <p:spPr>
              <a:xfrm>
                <a:off x="355108" y="3268265"/>
                <a:ext cx="10928410" cy="57637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400" i="1" smtClean="0">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 </m:t>
                      </m:r>
                      <m:r>
                        <a:rPr lang="es-AR" sz="1400" i="1">
                          <a:latin typeface="Cambria Math" panose="02040503050406030204" pitchFamily="18" charset="0"/>
                        </a:rPr>
                        <m:t>𝑔</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𝑙</m:t>
                          </m:r>
                        </m:sub>
                      </m:sSub>
                      <m:r>
                        <a:rPr lang="es-AR" sz="1400" i="1">
                          <a:latin typeface="Cambria Math" panose="02040503050406030204" pitchFamily="18" charset="0"/>
                        </a:rPr>
                        <m:t> </m:t>
                      </m:r>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d>
                            <m:dPr>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𝑟</m:t>
                                  </m:r>
                                </m:den>
                              </m:f>
                            </m:e>
                          </m:d>
                          <m:r>
                            <a:rPr lang="es-MX" sz="1400" b="0" i="1" smtClean="0">
                              <a:latin typeface="Cambria Math" panose="02040503050406030204" pitchFamily="18" charset="0"/>
                            </a:rPr>
                            <m:t>         ⇨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 </m:t>
                          </m:r>
                          <m:r>
                            <a:rPr lang="es-AR" sz="1400" i="1">
                              <a:latin typeface="Cambria Math" panose="02040503050406030204" pitchFamily="18" charset="0"/>
                            </a:rPr>
                            <m:t>𝑔</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𝑙</m:t>
                              </m:r>
                            </m:sub>
                          </m:sSub>
                          <m:r>
                            <a:rPr lang="es-AR" sz="1400" i="1">
                              <a:latin typeface="Cambria Math" panose="02040503050406030204" pitchFamily="18" charset="0"/>
                            </a:rPr>
                            <m:t> </m:t>
                          </m:r>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d>
                                <m:dPr>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𝑟</m:t>
                                      </m:r>
                                    </m:den>
                                  </m:f>
                                </m:e>
                              </m:d>
                            </m:e>
                          </m:func>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r>
                                <a:rPr lang="es-AR" sz="1400" i="1">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func>
                    </m:oMath>
                  </m:oMathPara>
                </a14:m>
                <a:endParaRPr sz="1400" b="1" dirty="0">
                  <a:solidFill>
                    <a:srgbClr val="1B6B2A"/>
                  </a:solidFill>
                  <a:latin typeface="Calibri"/>
                </a:endParaRPr>
              </a:p>
            </p:txBody>
          </p:sp>
        </mc:Choice>
        <mc:Fallback xmlns="">
          <p:sp>
            <p:nvSpPr>
              <p:cNvPr id="19" name="TextBox 8">
                <a:extLst>
                  <a:ext uri="{FF2B5EF4-FFF2-40B4-BE49-F238E27FC236}">
                    <a16:creationId xmlns:a16="http://schemas.microsoft.com/office/drawing/2014/main" id="{39DF1666-565F-43EE-BB39-721F00DE72D0}"/>
                  </a:ext>
                </a:extLst>
              </p:cNvPr>
              <p:cNvSpPr txBox="1">
                <a:spLocks noRot="1" noChangeAspect="1" noMove="1" noResize="1" noEditPoints="1" noAdjustHandles="1" noChangeArrowheads="1" noChangeShapeType="1" noTextEdit="1"/>
              </p:cNvSpPr>
              <p:nvPr/>
            </p:nvSpPr>
            <p:spPr>
              <a:xfrm>
                <a:off x="355108" y="3268265"/>
                <a:ext cx="10928410" cy="576376"/>
              </a:xfrm>
              <a:prstGeom prst="rect">
                <a:avLst/>
              </a:prstGeom>
              <a:blipFill>
                <a:blip r:embed="rId4"/>
                <a:stretch>
                  <a:fillRect/>
                </a:stretch>
              </a:blipFill>
            </p:spPr>
            <p:txBody>
              <a:bodyPr/>
              <a:lstStyle/>
              <a:p>
                <a:r>
                  <a:rPr lang="es-AR">
                    <a:noFill/>
                  </a:rPr>
                  <a:t> </a:t>
                </a:r>
              </a:p>
            </p:txBody>
          </p:sp>
        </mc:Fallback>
      </mc:AlternateContent>
      <p:sp>
        <p:nvSpPr>
          <p:cNvPr id="20" name="TextBox 6">
            <a:extLst>
              <a:ext uri="{FF2B5EF4-FFF2-40B4-BE49-F238E27FC236}">
                <a16:creationId xmlns:a16="http://schemas.microsoft.com/office/drawing/2014/main" id="{18977391-6D45-4DB2-8686-583A0F292D38}"/>
              </a:ext>
            </a:extLst>
          </p:cNvPr>
          <p:cNvSpPr txBox="1"/>
          <p:nvPr/>
        </p:nvSpPr>
        <p:spPr>
          <a:xfrm>
            <a:off x="213512" y="4099937"/>
            <a:ext cx="11430000" cy="307777"/>
          </a:xfrm>
          <a:prstGeom prst="rect">
            <a:avLst/>
          </a:prstGeom>
          <a:noFill/>
        </p:spPr>
        <p:txBody>
          <a:bodyPr wrap="square">
            <a:spAutoFit/>
          </a:bodyPr>
          <a:lstStyle/>
          <a:p>
            <a:r>
              <a:rPr lang="es-AR" sz="1400" b="0" i="0" dirty="0">
                <a:solidFill>
                  <a:srgbClr val="1A1A2E"/>
                </a:solidFill>
                <a:latin typeface="Calibri"/>
              </a:rPr>
              <a:t>Despejando la consigna de </a:t>
            </a:r>
            <a:r>
              <a:rPr lang="es-AR" sz="1400" b="0" i="0" dirty="0">
                <a:latin typeface="Calibri"/>
              </a:rPr>
              <a:t>corriente</a:t>
            </a:r>
            <a:r>
              <a:rPr lang="es-AR" sz="1400" b="0" i="0" dirty="0">
                <a:solidFill>
                  <a:srgbClr val="1A1A2E"/>
                </a:solidFill>
                <a:latin typeface="Calibri"/>
              </a:rPr>
              <a:t> en el eje q:</a:t>
            </a: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1795CDC2-40A9-4131-BFB4-063596AC6873}"/>
                  </a:ext>
                </a:extLst>
              </p:cNvPr>
              <p:cNvSpPr txBox="1"/>
              <p:nvPr/>
            </p:nvSpPr>
            <p:spPr>
              <a:xfrm>
                <a:off x="274320" y="4578958"/>
                <a:ext cx="4003828" cy="8594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r>
                            <a:rPr lang="es-AR" sz="1400" i="0">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𝑚</m:t>
                              </m:r>
                            </m:sub>
                            <m:sup>
                              <m:r>
                                <a:rPr lang="es-AR" sz="1400" i="0">
                                  <a:solidFill>
                                    <a:schemeClr val="tx1"/>
                                  </a:solidFill>
                                  <a:latin typeface="Cambria Math" panose="02040503050406030204" pitchFamily="18" charset="0"/>
                                </a:rPr>
                                <m:t>′</m:t>
                              </m:r>
                              <m:r>
                                <a:rPr lang="es-AR" sz="1400" i="0">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𝜔</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r>
                                <a:rPr lang="es-AR" sz="1400" i="1">
                                  <a:solidFill>
                                    <a:schemeClr val="tx1"/>
                                  </a:solidFill>
                                  <a:latin typeface="Cambria Math" panose="02040503050406030204" pitchFamily="18" charset="0"/>
                                </a:rPr>
                                <m:t>𝑟</m:t>
                              </m:r>
                            </m:den>
                          </m:f>
                          <m:r>
                            <a:rPr lang="es-AR" sz="1400" i="0">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𝑔</m:t>
                          </m:r>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𝑙</m:t>
                              </m:r>
                            </m:sub>
                          </m:sSub>
                          <m:r>
                            <a:rPr lang="es-AR" sz="1400" i="0">
                              <a:solidFill>
                                <a:schemeClr val="tx1"/>
                              </a:solidFill>
                              <a:latin typeface="Cambria Math" panose="02040503050406030204" pitchFamily="18" charset="0"/>
                            </a:rPr>
                            <m:t> </m:t>
                          </m:r>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𝑠𝑖𝑛</m:t>
                              </m:r>
                            </m:fName>
                            <m:e>
                              <m:d>
                                <m:dPr>
                                  <m:ctrlPr>
                                    <a:rPr lang="es-AR" sz="1400" i="1">
                                      <a:solidFill>
                                        <a:schemeClr val="tx1"/>
                                      </a:solidFill>
                                      <a:latin typeface="Cambria Math" panose="02040503050406030204" pitchFamily="18" charset="0"/>
                                    </a:rPr>
                                  </m:ctrlPr>
                                </m:dPr>
                                <m:e>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r>
                                        <a:rPr lang="es-AR" sz="1400" i="1">
                                          <a:solidFill>
                                            <a:schemeClr val="tx1"/>
                                          </a:solidFill>
                                          <a:latin typeface="Cambria Math" panose="02040503050406030204" pitchFamily="18" charset="0"/>
                                        </a:rPr>
                                        <m:t>𝑟</m:t>
                                      </m:r>
                                    </m:den>
                                  </m:f>
                                </m:e>
                              </m:d>
                            </m:e>
                          </m:func>
                        </m:num>
                        <m:den>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3</m:t>
                              </m:r>
                            </m:num>
                            <m:den>
                              <m:r>
                                <a:rPr lang="es-AR" sz="1400" i="0">
                                  <a:solidFill>
                                    <a:schemeClr val="tx1"/>
                                  </a:solidFill>
                                  <a:latin typeface="Cambria Math" panose="02040503050406030204" pitchFamily="18" charset="0"/>
                                </a:rPr>
                                <m:t>2</m:t>
                              </m:r>
                            </m:den>
                          </m:f>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d>
                            <m:dPr>
                              <m:begChr m:val="["/>
                              <m:endChr m:val="]"/>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𝜆</m:t>
                                  </m:r>
                                </m:e>
                                <m:sub>
                                  <m:r>
                                    <a:rPr lang="es-AR" sz="1400" i="1">
                                      <a:solidFill>
                                        <a:schemeClr val="tx1"/>
                                      </a:solidFill>
                                      <a:latin typeface="Cambria Math" panose="02040503050406030204" pitchFamily="18" charset="0"/>
                                    </a:rPr>
                                    <m:t>𝑚</m:t>
                                  </m:r>
                                </m:sub>
                                <m:sup>
                                  <m:r>
                                    <a:rPr lang="es-AR" sz="1400" i="0">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𝑟</m:t>
                                  </m:r>
                                </m:sup>
                              </m:sSubSup>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𝑑</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e>
                              </m:d>
                              <m:r>
                                <a:rPr lang="es-AR" sz="1400" i="0">
                                  <a:solidFill>
                                    <a:schemeClr val="tx1"/>
                                  </a:solidFill>
                                  <a:latin typeface="Cambria Math" panose="02040503050406030204" pitchFamily="18" charset="0"/>
                                </a:rPr>
                                <m:t> </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den>
                      </m:f>
                    </m:oMath>
                  </m:oMathPara>
                </a14:m>
                <a:endParaRPr lang="es-AR" dirty="0"/>
              </a:p>
            </p:txBody>
          </p:sp>
        </mc:Choice>
        <mc:Fallback xmlns="">
          <p:sp>
            <p:nvSpPr>
              <p:cNvPr id="22" name="CuadroTexto 21">
                <a:extLst>
                  <a:ext uri="{FF2B5EF4-FFF2-40B4-BE49-F238E27FC236}">
                    <a16:creationId xmlns:a16="http://schemas.microsoft.com/office/drawing/2014/main" id="{1795CDC2-40A9-4131-BFB4-063596AC6873}"/>
                  </a:ext>
                </a:extLst>
              </p:cNvPr>
              <p:cNvSpPr txBox="1">
                <a:spLocks noRot="1" noChangeAspect="1" noMove="1" noResize="1" noEditPoints="1" noAdjustHandles="1" noChangeArrowheads="1" noChangeShapeType="1" noTextEdit="1"/>
              </p:cNvSpPr>
              <p:nvPr/>
            </p:nvSpPr>
            <p:spPr>
              <a:xfrm>
                <a:off x="274320" y="4578958"/>
                <a:ext cx="4003828" cy="859466"/>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25" name="Tabla 24">
                <a:extLst>
                  <a:ext uri="{FF2B5EF4-FFF2-40B4-BE49-F238E27FC236}">
                    <a16:creationId xmlns:a16="http://schemas.microsoft.com/office/drawing/2014/main" id="{6576373C-3DC5-4A03-8BEF-0FEF271A8290}"/>
                  </a:ext>
                </a:extLst>
              </p:cNvPr>
              <p:cNvGraphicFramePr>
                <a:graphicFrameLocks noGrp="1"/>
              </p:cNvGraphicFramePr>
              <p:nvPr>
                <p:extLst>
                  <p:ext uri="{D42A27DB-BD31-4B8C-83A1-F6EECF244321}">
                    <p14:modId xmlns:p14="http://schemas.microsoft.com/office/powerpoint/2010/main" val="1591856041"/>
                  </p:ext>
                </p:extLst>
              </p:nvPr>
            </p:nvGraphicFramePr>
            <p:xfrm>
              <a:off x="4759319" y="4138490"/>
              <a:ext cx="7305434" cy="2044996"/>
            </p:xfrm>
            <a:graphic>
              <a:graphicData uri="http://schemas.openxmlformats.org/drawingml/2006/table">
                <a:tbl>
                  <a:tblPr/>
                  <a:tblGrid>
                    <a:gridCol w="2299317">
                      <a:extLst>
                        <a:ext uri="{9D8B030D-6E8A-4147-A177-3AD203B41FA5}">
                          <a16:colId xmlns:a16="http://schemas.microsoft.com/office/drawing/2014/main" val="4148660611"/>
                        </a:ext>
                      </a:extLst>
                    </a:gridCol>
                    <a:gridCol w="5006117">
                      <a:extLst>
                        <a:ext uri="{9D8B030D-6E8A-4147-A177-3AD203B41FA5}">
                          <a16:colId xmlns:a16="http://schemas.microsoft.com/office/drawing/2014/main" val="3788314442"/>
                        </a:ext>
                      </a:extLst>
                    </a:gridCol>
                  </a:tblGrid>
                  <a:tr h="490516">
                    <a:tc>
                      <a:txBody>
                        <a:bodyPr/>
                        <a:lstStyle/>
                        <a:p>
                          <a:r>
                            <a:rPr lang="es-AR" sz="1400" b="1" i="1"/>
                            <a:t>Condición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1400" b="1" i="1" dirty="0"/>
                            <a:t>Efecto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6209406"/>
                      </a:ext>
                    </a:extLst>
                  </a:tr>
                  <a:tr h="117420">
                    <a:tc>
                      <a:txBody>
                        <a:bodyPr/>
                        <a:lstStyle/>
                        <a:p>
                          <a:pPr algn="ctr"/>
                          <a14:m>
                            <m:oMathPara xmlns:m="http://schemas.openxmlformats.org/officeDocument/2006/math">
                              <m:oMathParaPr>
                                <m:jc m:val="centerGroup"/>
                              </m:oMathParaPr>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MX" sz="1400" b="0" i="0" smtClean="0">
                                    <a:solidFill>
                                      <a:schemeClr val="tx1"/>
                                    </a:solidFill>
                                    <a:latin typeface="Cambria Math" panose="02040503050406030204" pitchFamily="18" charset="0"/>
                                  </a:rPr>
                                  <m:t>=</m:t>
                                </m:r>
                                <m:r>
                                  <a:rPr lang="es-MX" sz="1400" b="0" i="0" smtClean="0">
                                    <a:solidFill>
                                      <a:schemeClr val="tx1"/>
                                    </a:solidFill>
                                    <a:latin typeface="Cambria Math" panose="02040503050406030204" pitchFamily="18" charset="0"/>
                                  </a:rPr>
                                  <m:t>0</m:t>
                                </m:r>
                              </m:oMath>
                            </m:oMathPara>
                          </a14:m>
                          <a:endParaRPr lang="pt-BR"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sz="1400" dirty="0"/>
                            <a:t>Desacople total entre ejes — el torque depende únicamente del flujo de imanes permanentes </a:t>
                          </a:r>
                          <a14:m>
                            <m:oMath xmlns:m="http://schemas.openxmlformats.org/officeDocument/2006/math">
                              <m:sSubSup>
                                <m:sSubSupPr>
                                  <m:ctrlPr>
                                    <a:rPr lang="es-AR" sz="1400" i="1" smtClean="0">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oMath>
                          </a14:m>
                          <a:r>
                            <a:rPr lang="es-MX"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9658936"/>
                      </a:ext>
                    </a:extLst>
                  </a:tr>
                  <a:tr h="0">
                    <a:tc>
                      <a:txBody>
                        <a:bodyPr/>
                        <a:lstStyle/>
                        <a:p>
                          <a:pPr algn="ctr"/>
                          <a14:m>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oMath>
                          </a14:m>
                          <a:r>
                            <a:rPr lang="pt-BR" sz="1400" dirty="0"/>
                            <a:t> ​&gt;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sz="1400" dirty="0"/>
                            <a:t>Reforzamiento de campo — incremento del torque electromagnético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3195895"/>
                      </a:ext>
                    </a:extLst>
                  </a:tr>
                  <a:tr h="0">
                    <a:tc>
                      <a:txBody>
                        <a:bodyPr/>
                        <a:lstStyle/>
                        <a:p>
                          <a:pPr algn="ctr"/>
                          <a14:m>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oMath>
                          </a14:m>
                          <a:r>
                            <a:rPr lang="pt-BR" sz="1400" dirty="0"/>
                            <a:t>​ &lt;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sz="1400" dirty="0"/>
                            <a:t>Debilitamiento de campo — reducción del torque, permite operar a velocidades mayores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080617"/>
                      </a:ext>
                    </a:extLst>
                  </a:tr>
                </a:tbl>
              </a:graphicData>
            </a:graphic>
          </p:graphicFrame>
        </mc:Choice>
        <mc:Fallback xmlns="">
          <p:graphicFrame>
            <p:nvGraphicFramePr>
              <p:cNvPr id="25" name="Tabla 24">
                <a:extLst>
                  <a:ext uri="{FF2B5EF4-FFF2-40B4-BE49-F238E27FC236}">
                    <a16:creationId xmlns:a16="http://schemas.microsoft.com/office/drawing/2014/main" id="{6576373C-3DC5-4A03-8BEF-0FEF271A8290}"/>
                  </a:ext>
                </a:extLst>
              </p:cNvPr>
              <p:cNvGraphicFramePr>
                <a:graphicFrameLocks noGrp="1"/>
              </p:cNvGraphicFramePr>
              <p:nvPr>
                <p:extLst>
                  <p:ext uri="{D42A27DB-BD31-4B8C-83A1-F6EECF244321}">
                    <p14:modId xmlns:p14="http://schemas.microsoft.com/office/powerpoint/2010/main" val="1591856041"/>
                  </p:ext>
                </p:extLst>
              </p:nvPr>
            </p:nvGraphicFramePr>
            <p:xfrm>
              <a:off x="4759319" y="4138490"/>
              <a:ext cx="7305434" cy="2044996"/>
            </p:xfrm>
            <a:graphic>
              <a:graphicData uri="http://schemas.openxmlformats.org/drawingml/2006/table">
                <a:tbl>
                  <a:tblPr/>
                  <a:tblGrid>
                    <a:gridCol w="2299317">
                      <a:extLst>
                        <a:ext uri="{9D8B030D-6E8A-4147-A177-3AD203B41FA5}">
                          <a16:colId xmlns:a16="http://schemas.microsoft.com/office/drawing/2014/main" val="4148660611"/>
                        </a:ext>
                      </a:extLst>
                    </a:gridCol>
                    <a:gridCol w="5006117">
                      <a:extLst>
                        <a:ext uri="{9D8B030D-6E8A-4147-A177-3AD203B41FA5}">
                          <a16:colId xmlns:a16="http://schemas.microsoft.com/office/drawing/2014/main" val="3788314442"/>
                        </a:ext>
                      </a:extLst>
                    </a:gridCol>
                  </a:tblGrid>
                  <a:tr h="490516">
                    <a:tc>
                      <a:txBody>
                        <a:bodyPr/>
                        <a:lstStyle/>
                        <a:p>
                          <a:r>
                            <a:rPr lang="es-AR" sz="1400" b="1" i="1"/>
                            <a:t>Condición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1400" b="1" i="1" dirty="0"/>
                            <a:t>Efecto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6209406"/>
                      </a:ext>
                    </a:extLst>
                  </a:tr>
                  <a:tr h="518160">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65" t="-96471" r="-217989" b="-212941"/>
                          </a:stretch>
                        </a:blipFill>
                      </a:tcPr>
                    </a:tc>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6107" t="-96471" r="-243" b="-212941"/>
                          </a:stretch>
                        </a:blipFill>
                      </a:tcPr>
                    </a:tc>
                    <a:extLst>
                      <a:ext uri="{0D108BD9-81ED-4DB2-BD59-A6C34878D82A}">
                        <a16:rowId xmlns:a16="http://schemas.microsoft.com/office/drawing/2014/main" val="2309658936"/>
                      </a:ext>
                    </a:extLst>
                  </a:tr>
                  <a:tr h="518160">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65" t="-194186" r="-217989" b="-110465"/>
                          </a:stretch>
                        </a:blipFill>
                      </a:tcPr>
                    </a:tc>
                    <a:tc>
                      <a:txBody>
                        <a:bodyPr/>
                        <a:lstStyle/>
                        <a:p>
                          <a:r>
                            <a:rPr lang="es-MX" sz="1400" dirty="0"/>
                            <a:t>Reforzamiento de campo — incremento del torque electromagnético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3195895"/>
                      </a:ext>
                    </a:extLst>
                  </a:tr>
                  <a:tr h="518160">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65" t="-297647" r="-217989" b="-11765"/>
                          </a:stretch>
                        </a:blipFill>
                      </a:tcPr>
                    </a:tc>
                    <a:tc>
                      <a:txBody>
                        <a:bodyPr/>
                        <a:lstStyle/>
                        <a:p>
                          <a:r>
                            <a:rPr lang="es-MX" sz="1400" dirty="0"/>
                            <a:t>Debilitamiento de campo — reducción del torque, permite operar a velocidades mayores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080617"/>
                      </a:ext>
                    </a:extLst>
                  </a:tr>
                </a:tbl>
              </a:graphicData>
            </a:graphic>
          </p:graphicFrame>
        </mc:Fallback>
      </mc:AlternateContent>
      <p:sp>
        <p:nvSpPr>
          <p:cNvPr id="16" name="Shape 2">
            <a:extLst>
              <a:ext uri="{FF2B5EF4-FFF2-40B4-BE49-F238E27FC236}">
                <a16:creationId xmlns:a16="http://schemas.microsoft.com/office/drawing/2014/main" id="{AF9F5F0B-188A-4A1A-9E81-8E6C6010F2D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1" name="Text 3">
            <a:extLst>
              <a:ext uri="{FF2B5EF4-FFF2-40B4-BE49-F238E27FC236}">
                <a16:creationId xmlns:a16="http://schemas.microsoft.com/office/drawing/2014/main" id="{0E200651-F0BE-4087-A7C5-087F729DDA0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2705" y="96012"/>
            <a:ext cx="11551615" cy="658368"/>
          </a:xfrm>
          <a:prstGeom prst="rect">
            <a:avLst/>
          </a:prstGeom>
          <a:noFill/>
        </p:spPr>
        <p:txBody>
          <a:bodyPr wrap="none">
            <a:spAutoFit/>
          </a:bodyPr>
          <a:lstStyle/>
          <a:p>
            <a:pPr algn="l"/>
            <a:r>
              <a:rPr sz="2100" b="1">
                <a:solidFill>
                  <a:srgbClr val="FFFFFF"/>
                </a:solidFill>
                <a:latin typeface="Cambria"/>
              </a:rPr>
              <a:t>Modulador de torque — Consigna de torque y feedforward gravitacional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49 / ~75</a:t>
            </a:r>
          </a:p>
        </p:txBody>
      </p:sp>
      <p:pic>
        <p:nvPicPr>
          <p:cNvPr id="16" name="Imagen 15">
            <a:extLst>
              <a:ext uri="{FF2B5EF4-FFF2-40B4-BE49-F238E27FC236}">
                <a16:creationId xmlns:a16="http://schemas.microsoft.com/office/drawing/2014/main" id="{39E605FB-17CA-4A87-AD9E-1C7B3EB443F4}"/>
              </a:ext>
            </a:extLst>
          </p:cNvPr>
          <p:cNvPicPr/>
          <p:nvPr/>
        </p:nvPicPr>
        <p:blipFill>
          <a:blip r:embed="rId3"/>
          <a:srcRect/>
          <a:stretch/>
        </p:blipFill>
        <p:spPr>
          <a:xfrm>
            <a:off x="80652" y="761883"/>
            <a:ext cx="6497701" cy="3312420"/>
          </a:xfrm>
          <a:prstGeom prst="rect">
            <a:avLst/>
          </a:prstGeom>
        </p:spPr>
      </p:pic>
      <p:sp>
        <p:nvSpPr>
          <p:cNvPr id="18" name="CuadroTexto 17">
            <a:extLst>
              <a:ext uri="{FF2B5EF4-FFF2-40B4-BE49-F238E27FC236}">
                <a16:creationId xmlns:a16="http://schemas.microsoft.com/office/drawing/2014/main" id="{7C864E37-C0E5-491B-9D9F-8F02E6FBE630}"/>
              </a:ext>
            </a:extLst>
          </p:cNvPr>
          <p:cNvSpPr txBox="1"/>
          <p:nvPr/>
        </p:nvSpPr>
        <p:spPr>
          <a:xfrm>
            <a:off x="1081290" y="4170315"/>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33— Lazo de torque</a:t>
            </a:r>
          </a:p>
        </p:txBody>
      </p:sp>
      <p:sp>
        <p:nvSpPr>
          <p:cNvPr id="19" name="CuadroTexto 18">
            <a:extLst>
              <a:ext uri="{FF2B5EF4-FFF2-40B4-BE49-F238E27FC236}">
                <a16:creationId xmlns:a16="http://schemas.microsoft.com/office/drawing/2014/main" id="{88F4EC22-75A5-4A46-B0A2-B4F1F3EE72C9}"/>
              </a:ext>
            </a:extLst>
          </p:cNvPr>
          <p:cNvSpPr txBox="1"/>
          <p:nvPr/>
        </p:nvSpPr>
        <p:spPr>
          <a:xfrm>
            <a:off x="7143916" y="6068695"/>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33— Modulador de torque</a:t>
            </a:r>
          </a:p>
        </p:txBody>
      </p:sp>
      <p:sp>
        <p:nvSpPr>
          <p:cNvPr id="10" name="Shape 2">
            <a:extLst>
              <a:ext uri="{FF2B5EF4-FFF2-40B4-BE49-F238E27FC236}">
                <a16:creationId xmlns:a16="http://schemas.microsoft.com/office/drawing/2014/main" id="{84CDED2B-BE29-4E13-BA83-1A3F399B5B0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22D7F693-9753-4C2B-B4FD-1F65F356A1A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pic>
        <p:nvPicPr>
          <p:cNvPr id="7" name="Imagen 6">
            <a:extLst>
              <a:ext uri="{FF2B5EF4-FFF2-40B4-BE49-F238E27FC236}">
                <a16:creationId xmlns:a16="http://schemas.microsoft.com/office/drawing/2014/main" id="{FF46F6BC-8810-4171-9482-9FC43F26766D}"/>
              </a:ext>
            </a:extLst>
          </p:cNvPr>
          <p:cNvPicPr>
            <a:picLocks noChangeAspect="1"/>
          </p:cNvPicPr>
          <p:nvPr/>
        </p:nvPicPr>
        <p:blipFill>
          <a:blip r:embed="rId4"/>
          <a:stretch>
            <a:fillRect/>
          </a:stretch>
        </p:blipFill>
        <p:spPr>
          <a:xfrm>
            <a:off x="4364576" y="3025517"/>
            <a:ext cx="7746772" cy="3096473"/>
          </a:xfrm>
          <a:prstGeom prst="rect">
            <a:avLst/>
          </a:prstGeom>
        </p:spPr>
      </p:pic>
    </p:spTree>
    <p:extLst>
      <p:ext uri="{BB962C8B-B14F-4D97-AF65-F5344CB8AC3E}">
        <p14:creationId xmlns:p14="http://schemas.microsoft.com/office/powerpoint/2010/main" val="14090305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Controlador externo de movimiento</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PID de posición/velocidad · Set-point · Observador</a:t>
            </a:r>
          </a:p>
        </p:txBody>
      </p:sp>
      <p:sp>
        <p:nvSpPr>
          <p:cNvPr id="5" name="Shape 4">
            <a:extLst>
              <a:ext uri="{FF2B5EF4-FFF2-40B4-BE49-F238E27FC236}">
                <a16:creationId xmlns:a16="http://schemas.microsoft.com/office/drawing/2014/main" id="{030235C3-D523-400D-93E4-C8874C5EA4BB}"/>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11606" y="99835"/>
            <a:ext cx="11551615" cy="658368"/>
          </a:xfrm>
          <a:prstGeom prst="rect">
            <a:avLst/>
          </a:prstGeom>
          <a:noFill/>
        </p:spPr>
        <p:txBody>
          <a:bodyPr wrap="none">
            <a:spAutoFit/>
          </a:bodyPr>
          <a:lstStyle/>
          <a:p>
            <a:pPr algn="l"/>
            <a:r>
              <a:rPr sz="2100" b="1" dirty="0" err="1">
                <a:solidFill>
                  <a:srgbClr val="FFFFFF"/>
                </a:solidFill>
                <a:latin typeface="Cambria"/>
              </a:rPr>
              <a:t>Controlador</a:t>
            </a:r>
            <a:r>
              <a:rPr sz="2100" b="1" dirty="0">
                <a:solidFill>
                  <a:srgbClr val="FFFFFF"/>
                </a:solidFill>
                <a:latin typeface="Cambria"/>
              </a:rPr>
              <a:t> PID </a:t>
            </a:r>
            <a:r>
              <a:rPr sz="2100" b="1" dirty="0" err="1">
                <a:solidFill>
                  <a:srgbClr val="FFFFFF"/>
                </a:solidFill>
                <a:latin typeface="Cambria"/>
              </a:rPr>
              <a:t>externo</a:t>
            </a:r>
            <a:r>
              <a:rPr sz="2100" b="1" dirty="0">
                <a:solidFill>
                  <a:srgbClr val="FFFFFF"/>
                </a:solidFill>
                <a:latin typeface="Cambria"/>
              </a:rPr>
              <a:t> — </a:t>
            </a:r>
            <a:r>
              <a:rPr sz="2100" b="1" dirty="0" err="1">
                <a:solidFill>
                  <a:srgbClr val="FFFFFF"/>
                </a:solidFill>
                <a:latin typeface="Cambria"/>
              </a:rPr>
              <a:t>Estructura</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51 / ~75</a:t>
            </a:r>
          </a:p>
        </p:txBody>
      </p:sp>
      <p:sp>
        <p:nvSpPr>
          <p:cNvPr id="23" name="CuadroTexto 22">
            <a:extLst>
              <a:ext uri="{FF2B5EF4-FFF2-40B4-BE49-F238E27FC236}">
                <a16:creationId xmlns:a16="http://schemas.microsoft.com/office/drawing/2014/main" id="{6D191634-6E46-41B1-9388-58204DE6D0B2}"/>
              </a:ext>
            </a:extLst>
          </p:cNvPr>
          <p:cNvSpPr txBox="1"/>
          <p:nvPr/>
        </p:nvSpPr>
        <p:spPr>
          <a:xfrm>
            <a:off x="156545" y="721413"/>
            <a:ext cx="11430000" cy="1569660"/>
          </a:xfrm>
          <a:prstGeom prst="rect">
            <a:avLst/>
          </a:prstGeom>
          <a:noFill/>
        </p:spPr>
        <p:txBody>
          <a:bodyPr vertOverflow="overflow" vert="horz" wrap="square" rtlCol="0" anchor="t">
            <a:spAutoFit/>
          </a:bodyPr>
          <a:lstStyle/>
          <a:p>
            <a:pPr algn="l"/>
            <a:r>
              <a:rPr lang="es-MX" sz="1600" b="1" dirty="0"/>
              <a:t>Lazo Externo:</a:t>
            </a:r>
          </a:p>
          <a:p>
            <a:pPr algn="l"/>
            <a:r>
              <a:rPr lang="es-MX" sz="1600" dirty="0"/>
              <a:t>• Estructura: Lazo externo de posición/velocidad que actúa sobre la consigna de torque del modulador interno</a:t>
            </a:r>
          </a:p>
          <a:p>
            <a:pPr algn="l"/>
            <a:r>
              <a:rPr lang="es-MX" sz="1600" dirty="0"/>
              <a:t>• Controlador: PID en serie con acción integral → mejora respuesta dinámica y elimina error en régimen permanente</a:t>
            </a:r>
          </a:p>
          <a:p>
            <a:pPr algn="l"/>
            <a:r>
              <a:rPr lang="es-MX" sz="1600" dirty="0"/>
              <a:t>• Problema del ruido: La derivación de posición amplifica ruido de alta frecuencia, afectando la estabilidad </a:t>
            </a:r>
          </a:p>
          <a:p>
            <a:pPr algn="l"/>
            <a:r>
              <a:rPr lang="es-MX" sz="1600" dirty="0"/>
              <a:t>• Solución adoptada: Se mide directamente la velocidad; la posición se obtiene por integración (actúa como filtro pasa-bajos natural)</a:t>
            </a:r>
          </a:p>
          <a:p>
            <a:pPr algn="l"/>
            <a:r>
              <a:rPr lang="es-MX" sz="1600" dirty="0"/>
              <a:t>• Salida del controlador: Consigna de torque electromagnético (suma de acciones P + I + D)</a:t>
            </a:r>
            <a:endParaRPr lang="es-AR" sz="1600" dirty="0"/>
          </a:p>
        </p:txBody>
      </p:sp>
      <p:sp>
        <p:nvSpPr>
          <p:cNvPr id="25" name="Rectangle 7">
            <a:extLst>
              <a:ext uri="{FF2B5EF4-FFF2-40B4-BE49-F238E27FC236}">
                <a16:creationId xmlns:a16="http://schemas.microsoft.com/office/drawing/2014/main" id="{F3C69443-26C2-4085-986B-46F2C7469E1E}"/>
              </a:ext>
            </a:extLst>
          </p:cNvPr>
          <p:cNvSpPr/>
          <p:nvPr/>
        </p:nvSpPr>
        <p:spPr>
          <a:xfrm>
            <a:off x="235819" y="2358192"/>
            <a:ext cx="1131222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6" name="TextBox 8">
                <a:extLst>
                  <a:ext uri="{FF2B5EF4-FFF2-40B4-BE49-F238E27FC236}">
                    <a16:creationId xmlns:a16="http://schemas.microsoft.com/office/drawing/2014/main" id="{32A6E7A6-CC96-4B39-8B1E-B6EC55D93479}"/>
                  </a:ext>
                </a:extLst>
              </p:cNvPr>
              <p:cNvSpPr txBox="1"/>
              <p:nvPr/>
            </p:nvSpPr>
            <p:spPr>
              <a:xfrm>
                <a:off x="-802409" y="2351396"/>
                <a:ext cx="9336504" cy="413318"/>
              </a:xfrm>
              <a:prstGeom prst="rect">
                <a:avLst/>
              </a:prstGeom>
              <a:noFill/>
            </p:spPr>
            <p:txBody>
              <a:bodyPr wrap="square">
                <a:spAutoFit/>
              </a:bodyPr>
              <a:lstStyle/>
              <a:p>
                <a:pPr algn="ctr"/>
                <a14:m>
                  <m:oMath xmlns:m="http://schemas.openxmlformats.org/officeDocument/2006/math">
                    <m:sSubSup>
                      <m:sSubSupPr>
                        <m:ctrlPr>
                          <a:rPr lang="es-AR" sz="1400" i="1" smtClean="0">
                            <a:solidFill>
                              <a:schemeClr val="tx1"/>
                            </a:solidFill>
                            <a:effectLst/>
                            <a:latin typeface="Cambria Math" panose="020405030504060302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𝑇</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𝑚</m:t>
                        </m:r>
                      </m:sub>
                      <m:sup>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𝑒</m:t>
                        </m:r>
                      </m:e>
                      <m:sub>
                        <m:r>
                          <m:rPr>
                            <m:sty m:val="p"/>
                          </m:rPr>
                          <a:rPr lang="es-AR" sz="1400">
                            <a:solidFill>
                              <a:schemeClr val="tx1"/>
                            </a:solidFill>
                            <a:effectLst/>
                            <a:latin typeface="Cambria Math" panose="02040503050406030204" pitchFamily="18" charset="0"/>
                            <a:ea typeface="Calibri" panose="020F0502020204030204" pitchFamily="34" charset="0"/>
                            <a:cs typeface="Calibri" panose="020F0502020204030204" pitchFamily="34" charset="0"/>
                          </a:rPr>
                          <m:t>ω</m:t>
                        </m:r>
                      </m:sub>
                    </m:sSub>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𝑏</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𝑎</m:t>
                        </m:r>
                      </m:sub>
                    </m:s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𝑒</m:t>
                        </m:r>
                      </m:e>
                      <m:sub>
                        <m:r>
                          <m:rPr>
                            <m:sty m:val="p"/>
                          </m:rPr>
                          <a:rPr lang="es-AR" sz="1400">
                            <a:solidFill>
                              <a:schemeClr val="tx1"/>
                            </a:solidFill>
                            <a:effectLst/>
                            <a:latin typeface="Cambria Math" panose="02040503050406030204" pitchFamily="18" charset="0"/>
                            <a:ea typeface="Calibri" panose="020F0502020204030204" pitchFamily="34" charset="0"/>
                            <a:cs typeface="Calibri" panose="020F0502020204030204" pitchFamily="34" charset="0"/>
                          </a:rPr>
                          <m:t>θ</m:t>
                        </m:r>
                      </m:sub>
                    </m:sSub>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𝑠𝑎</m:t>
                        </m:r>
                      </m:sub>
                    </m:s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f>
                      <m:fPr>
                        <m:ctrlPr>
                          <a:rPr lang="es-AR" sz="1400" i="1">
                            <a:solidFill>
                              <a:schemeClr val="tx1"/>
                            </a:solidFill>
                            <a:effectLst/>
                            <a:latin typeface="Cambria Math" panose="02040503050406030204" pitchFamily="18" charset="0"/>
                            <a:cs typeface="Calibri" panose="020F0502020204030204" pitchFamily="34" charset="0"/>
                          </a:rPr>
                        </m:ctrlPr>
                      </m:fPr>
                      <m:num>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𝑒</m:t>
                            </m:r>
                          </m:e>
                          <m:sub>
                            <m:r>
                              <m:rPr>
                                <m:sty m:val="p"/>
                              </m:rPr>
                              <a:rPr lang="es-AR" sz="1400">
                                <a:solidFill>
                                  <a:schemeClr val="tx1"/>
                                </a:solidFill>
                                <a:effectLst/>
                                <a:latin typeface="Cambria Math" panose="02040503050406030204" pitchFamily="18" charset="0"/>
                                <a:ea typeface="Calibri" panose="020F0502020204030204" pitchFamily="34" charset="0"/>
                                <a:cs typeface="Calibri" panose="020F0502020204030204" pitchFamily="34" charset="0"/>
                              </a:rPr>
                              <m:t>θ</m:t>
                            </m:r>
                          </m:sub>
                        </m:sSub>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num>
                      <m:den>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𝑠</m:t>
                        </m:r>
                      </m:den>
                    </m:f>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𝑠𝑖𝑎</m:t>
                        </m:r>
                      </m:sub>
                    </m:sSub>
                  </m:oMath>
                </a14:m>
                <a:r>
                  <a:rPr lang="es-MX" sz="1400" b="1" dirty="0">
                    <a:solidFill>
                      <a:schemeClr val="tx1"/>
                    </a:solidFill>
                    <a:latin typeface="Calibri"/>
                  </a:rPr>
                  <a:t>, </a:t>
                </a:r>
                <a14:m>
                  <m:oMath xmlns:m="http://schemas.openxmlformats.org/officeDocument/2006/math">
                    <m:r>
                      <a:rPr lang="es-MX" sz="1400" b="1" i="0"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𝐸</m:t>
                        </m:r>
                      </m:e>
                      <m:sub>
                        <m:r>
                          <m:rPr>
                            <m:sty m:val="p"/>
                          </m:rPr>
                          <a:rPr lang="es-AR" sz="1400">
                            <a:solidFill>
                              <a:schemeClr val="tx1"/>
                            </a:solidFill>
                            <a:latin typeface="Cambria Math" panose="02040503050406030204" pitchFamily="18" charset="0"/>
                          </a:rPr>
                          <m:t>θ</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sSubSup>
                      <m:sSubSupPr>
                        <m:ctrlPr>
                          <a:rPr lang="es-AR" sz="1400" i="1">
                            <a:solidFill>
                              <a:schemeClr val="tx1"/>
                            </a:solidFill>
                            <a:latin typeface="Cambria Math" panose="02040503050406030204" pitchFamily="18" charset="0"/>
                          </a:rPr>
                        </m:ctrlPr>
                      </m:sSubSupPr>
                      <m:e>
                        <m:r>
                          <m:rPr>
                            <m:sty m:val="p"/>
                          </m:rPr>
                          <a:rPr lang="es-AR" sz="1400">
                            <a:solidFill>
                              <a:schemeClr val="tx1"/>
                            </a:solidFill>
                            <a:latin typeface="Cambria Math" panose="02040503050406030204" pitchFamily="18" charset="0"/>
                          </a:rPr>
                          <m:t>Θ</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Θ</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oMath>
                </a14:m>
                <a:r>
                  <a:rPr lang="es-MX" sz="1400" b="1" dirty="0">
                    <a:solidFill>
                      <a:schemeClr val="tx1"/>
                    </a:solidFill>
                    <a:latin typeface="Calibri"/>
                  </a:rPr>
                  <a:t>, </a:t>
                </a:r>
                <a14:m>
                  <m:oMath xmlns:m="http://schemas.openxmlformats.org/officeDocument/2006/math">
                    <m:r>
                      <a:rPr lang="es-MX" sz="1400" b="1" i="0"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𝐸</m:t>
                        </m:r>
                      </m:e>
                      <m:sub>
                        <m:r>
                          <m:rPr>
                            <m:sty m:val="p"/>
                          </m:rPr>
                          <a:rPr lang="es-AR" sz="1400">
                            <a:solidFill>
                              <a:schemeClr val="tx1"/>
                            </a:solidFill>
                            <a:latin typeface="Cambria Math" panose="02040503050406030204" pitchFamily="18" charset="0"/>
                          </a:rPr>
                          <m:t>ω</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𝐸</m:t>
                        </m:r>
                      </m:e>
                      <m:sub>
                        <m:r>
                          <m:rPr>
                            <m:sty m:val="p"/>
                          </m:rPr>
                          <a:rPr lang="es-AR" sz="1400">
                            <a:solidFill>
                              <a:schemeClr val="tx1"/>
                            </a:solidFill>
                            <a:latin typeface="Cambria Math" panose="02040503050406030204" pitchFamily="18" charset="0"/>
                          </a:rPr>
                          <m:t>θ</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𝑠</m:t>
                    </m:r>
                  </m:oMath>
                </a14:m>
                <a:endParaRPr sz="1400" b="1" dirty="0">
                  <a:solidFill>
                    <a:srgbClr val="1B6B2A"/>
                  </a:solidFill>
                  <a:latin typeface="Calibri"/>
                </a:endParaRPr>
              </a:p>
            </p:txBody>
          </p:sp>
        </mc:Choice>
        <mc:Fallback xmlns="">
          <p:sp>
            <p:nvSpPr>
              <p:cNvPr id="26" name="TextBox 8">
                <a:extLst>
                  <a:ext uri="{FF2B5EF4-FFF2-40B4-BE49-F238E27FC236}">
                    <a16:creationId xmlns:a16="http://schemas.microsoft.com/office/drawing/2014/main" id="{32A6E7A6-CC96-4B39-8B1E-B6EC55D93479}"/>
                  </a:ext>
                </a:extLst>
              </p:cNvPr>
              <p:cNvSpPr txBox="1">
                <a:spLocks noRot="1" noChangeAspect="1" noMove="1" noResize="1" noEditPoints="1" noAdjustHandles="1" noChangeArrowheads="1" noChangeShapeType="1" noTextEdit="1"/>
              </p:cNvSpPr>
              <p:nvPr/>
            </p:nvSpPr>
            <p:spPr>
              <a:xfrm>
                <a:off x="-802409" y="2351396"/>
                <a:ext cx="9336504" cy="413318"/>
              </a:xfrm>
              <a:prstGeom prst="rect">
                <a:avLst/>
              </a:prstGeom>
              <a:blipFill>
                <a:blip r:embed="rId2"/>
                <a:stretch>
                  <a:fillRect b="-2941"/>
                </a:stretch>
              </a:blipFill>
            </p:spPr>
            <p:txBody>
              <a:bodyPr/>
              <a:lstStyle/>
              <a:p>
                <a:r>
                  <a:rPr lang="es-AR">
                    <a:noFill/>
                  </a:rPr>
                  <a:t> </a:t>
                </a:r>
              </a:p>
            </p:txBody>
          </p:sp>
        </mc:Fallback>
      </mc:AlternateContent>
      <p:sp>
        <p:nvSpPr>
          <p:cNvPr id="28" name="CuadroTexto 27">
            <a:extLst>
              <a:ext uri="{FF2B5EF4-FFF2-40B4-BE49-F238E27FC236}">
                <a16:creationId xmlns:a16="http://schemas.microsoft.com/office/drawing/2014/main" id="{8804A45E-FB73-4177-9218-2DEECC7B6CF6}"/>
              </a:ext>
            </a:extLst>
          </p:cNvPr>
          <p:cNvSpPr txBox="1"/>
          <p:nvPr/>
        </p:nvSpPr>
        <p:spPr>
          <a:xfrm>
            <a:off x="156545" y="2965548"/>
            <a:ext cx="11715110" cy="307777"/>
          </a:xfrm>
          <a:prstGeom prst="rect">
            <a:avLst/>
          </a:prstGeom>
          <a:noFill/>
        </p:spPr>
        <p:txBody>
          <a:bodyPr wrap="square">
            <a:spAutoFit/>
          </a:bodyPr>
          <a:lstStyle/>
          <a:p>
            <a:r>
              <a:rPr lang="es-AR" sz="1400" dirty="0"/>
              <a:t>Tomando el modelo equivalente del subsistema mecánico, considerando el desacople de torque previamente implementado:</a:t>
            </a:r>
          </a:p>
        </p:txBody>
      </p:sp>
      <p:sp>
        <p:nvSpPr>
          <p:cNvPr id="33" name="Rectangle 7">
            <a:extLst>
              <a:ext uri="{FF2B5EF4-FFF2-40B4-BE49-F238E27FC236}">
                <a16:creationId xmlns:a16="http://schemas.microsoft.com/office/drawing/2014/main" id="{FE079E72-AAA2-4FCF-8227-5713C427C5D2}"/>
              </a:ext>
            </a:extLst>
          </p:cNvPr>
          <p:cNvSpPr/>
          <p:nvPr/>
        </p:nvSpPr>
        <p:spPr>
          <a:xfrm>
            <a:off x="274320" y="3429000"/>
            <a:ext cx="1131222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4" name="TextBox 8">
                <a:extLst>
                  <a:ext uri="{FF2B5EF4-FFF2-40B4-BE49-F238E27FC236}">
                    <a16:creationId xmlns:a16="http://schemas.microsoft.com/office/drawing/2014/main" id="{C6E1855F-86C6-476F-A765-FABEDA9C908C}"/>
                  </a:ext>
                </a:extLst>
              </p:cNvPr>
              <p:cNvSpPr txBox="1"/>
              <p:nvPr/>
            </p:nvSpPr>
            <p:spPr>
              <a:xfrm>
                <a:off x="-161090" y="3434103"/>
                <a:ext cx="5790895" cy="413190"/>
              </a:xfrm>
              <a:prstGeom prst="rect">
                <a:avLst/>
              </a:prstGeom>
              <a:noFill/>
            </p:spPr>
            <p:txBody>
              <a:bodyPr wrap="square">
                <a:spAutoFit/>
              </a:bodyPr>
              <a:lstStyle/>
              <a:p>
                <a:pPr algn="ctr"/>
                <a14:m>
                  <m:oMath xmlns:m="http://schemas.openxmlformats.org/officeDocument/2006/math">
                    <m:sSub>
                      <m:sSubPr>
                        <m:ctrlPr>
                          <a:rPr lang="ar-AE" sz="1400" i="1" smtClean="0">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𝑑</m:t>
                        </m:r>
                        <m:sSub>
                          <m:sSubPr>
                            <m:ctrlPr>
                              <a:rPr lang="ar-AE" sz="1400" i="1">
                                <a:solidFill>
                                  <a:schemeClr val="tx1"/>
                                </a:solidFill>
                                <a:latin typeface="Cambria Math" panose="02040503050406030204" pitchFamily="18" charset="0"/>
                              </a:rPr>
                            </m:ctrlPr>
                          </m:sSubPr>
                          <m:e>
                            <m:r>
                              <m:rPr>
                                <m:sty m:val="p"/>
                              </m:rPr>
                              <a:rPr lang="el-GR" sz="1400">
                                <a:solidFill>
                                  <a:schemeClr val="tx1"/>
                                </a:solidFill>
                                <a:latin typeface="Cambria Math" panose="02040503050406030204" pitchFamily="18" charset="0"/>
                              </a:rPr>
                              <m:t>ω</m:t>
                            </m:r>
                          </m:e>
                          <m:sub>
                            <m:r>
                              <a:rPr lang="ar-AE" sz="1400" i="1">
                                <a:solidFill>
                                  <a:schemeClr val="tx1"/>
                                </a:solidFill>
                                <a:latin typeface="Cambria Math" panose="02040503050406030204" pitchFamily="18" charset="0"/>
                              </a:rPr>
                              <m:t>𝑚</m:t>
                            </m:r>
                          </m:sub>
                        </m:sSub>
                      </m:num>
                      <m:den>
                        <m:r>
                          <a:rPr lang="ar-AE" sz="1400" i="1">
                            <a:solidFill>
                              <a:schemeClr val="tx1"/>
                            </a:solidFill>
                            <a:latin typeface="Cambria Math" panose="02040503050406030204" pitchFamily="18" charset="0"/>
                          </a:rPr>
                          <m:t>𝑑𝑡</m:t>
                        </m:r>
                      </m:den>
                    </m:f>
                    <m:r>
                      <a:rPr lang="ar-AE" sz="1400" i="1">
                        <a:solidFill>
                          <a:schemeClr val="tx1"/>
                        </a:solidFill>
                        <a:latin typeface="Cambria Math" panose="02040503050406030204" pitchFamily="18" charset="0"/>
                      </a:rPr>
                      <m:t>=</m:t>
                    </m:r>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m:t>
                        </m:r>
                      </m:sup>
                    </m:sSubSup>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𝑙𝑑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num>
                      <m:den>
                        <m:r>
                          <a:rPr lang="ar-AE" sz="1400" i="1">
                            <a:solidFill>
                              <a:schemeClr val="tx1"/>
                            </a:solidFill>
                            <a:latin typeface="Cambria Math" panose="02040503050406030204" pitchFamily="18" charset="0"/>
                          </a:rPr>
                          <m:t>𝑟</m:t>
                        </m:r>
                      </m:den>
                    </m:f>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r>
                      <a:rPr lang="ar-AE" sz="1400" i="1">
                        <a:solidFill>
                          <a:schemeClr val="tx1"/>
                        </a:solidFill>
                        <a:latin typeface="Cambria Math" panose="02040503050406030204" pitchFamily="18" charset="0"/>
                      </a:rPr>
                      <m:t> </m:t>
                    </m:r>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𝑠</m:t>
                        </m:r>
                      </m:e>
                      <m:sup>
                        <m:r>
                          <a:rPr lang="ar-AE" sz="1400" i="1">
                            <a:solidFill>
                              <a:schemeClr val="tx1"/>
                            </a:solidFill>
                            <a:latin typeface="Cambria Math" panose="02040503050406030204" pitchFamily="18" charset="0"/>
                          </a:rPr>
                          <m:t>2</m:t>
                        </m:r>
                      </m:sup>
                    </m:sSup>
                    <m:r>
                      <a:rPr lang="ar-AE" sz="1400" i="1">
                        <a:solidFill>
                          <a:schemeClr val="tx1"/>
                        </a:solidFill>
                        <a:latin typeface="Cambria Math" panose="02040503050406030204" pitchFamily="18" charset="0"/>
                      </a:rPr>
                      <m:t> </m:t>
                    </m:r>
                    <m:sSub>
                      <m:sSubPr>
                        <m:ctrlPr>
                          <a:rPr lang="ar-AE" sz="1400" i="1">
                            <a:solidFill>
                              <a:schemeClr val="tx1"/>
                            </a:solidFill>
                            <a:latin typeface="Cambria Math" panose="02040503050406030204" pitchFamily="18" charset="0"/>
                          </a:rPr>
                        </m:ctrlPr>
                      </m:sSubPr>
                      <m:e>
                        <m:r>
                          <m:rPr>
                            <m:sty m:val="p"/>
                          </m:rPr>
                          <a:rPr lang="el-GR" sz="1400">
                            <a:solidFill>
                              <a:schemeClr val="tx1"/>
                            </a:solidFill>
                            <a:latin typeface="Cambria Math" panose="02040503050406030204" pitchFamily="18" charset="0"/>
                          </a:rPr>
                          <m:t>Θ</m:t>
                        </m:r>
                      </m:e>
                      <m:sub>
                        <m:r>
                          <a:rPr lang="ar-AE" sz="1400" i="1">
                            <a:solidFill>
                              <a:schemeClr val="tx1"/>
                            </a:solidFill>
                            <a:latin typeface="Cambria Math" panose="02040503050406030204" pitchFamily="18" charset="0"/>
                          </a:rPr>
                          <m:t>𝑚</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e>
                    </m:d>
                    <m:r>
                      <a:rPr lang="ar-AE" sz="1400" i="1">
                        <a:solidFill>
                          <a:schemeClr val="tx1"/>
                        </a:solidFill>
                        <a:latin typeface="Cambria Math" panose="02040503050406030204" pitchFamily="18" charset="0"/>
                      </a:rPr>
                      <m:t>=</m:t>
                    </m:r>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m:t>
                        </m:r>
                      </m:sup>
                    </m:sSubSup>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𝑙𝑑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e>
                        </m:d>
                      </m:num>
                      <m:den>
                        <m:r>
                          <a:rPr lang="ar-AE" sz="1400" i="1">
                            <a:solidFill>
                              <a:schemeClr val="tx1"/>
                            </a:solidFill>
                            <a:latin typeface="Cambria Math" panose="02040503050406030204" pitchFamily="18" charset="0"/>
                          </a:rPr>
                          <m:t>𝑟</m:t>
                        </m:r>
                      </m:den>
                    </m:f>
                  </m:oMath>
                </a14:m>
                <a:endParaRPr lang="ar-AE" sz="1400" b="1" dirty="0">
                  <a:solidFill>
                    <a:schemeClr val="tx1"/>
                  </a:solidFill>
                  <a:latin typeface="Calibri"/>
                </a:endParaRPr>
              </a:p>
            </p:txBody>
          </p:sp>
        </mc:Choice>
        <mc:Fallback xmlns="">
          <p:sp>
            <p:nvSpPr>
              <p:cNvPr id="34" name="TextBox 8">
                <a:extLst>
                  <a:ext uri="{FF2B5EF4-FFF2-40B4-BE49-F238E27FC236}">
                    <a16:creationId xmlns:a16="http://schemas.microsoft.com/office/drawing/2014/main" id="{C6E1855F-86C6-476F-A765-FABEDA9C908C}"/>
                  </a:ext>
                </a:extLst>
              </p:cNvPr>
              <p:cNvSpPr txBox="1">
                <a:spLocks noRot="1" noChangeAspect="1" noMove="1" noResize="1" noEditPoints="1" noAdjustHandles="1" noChangeArrowheads="1" noChangeShapeType="1" noTextEdit="1"/>
              </p:cNvSpPr>
              <p:nvPr/>
            </p:nvSpPr>
            <p:spPr>
              <a:xfrm>
                <a:off x="-161090" y="3434103"/>
                <a:ext cx="5790895" cy="413190"/>
              </a:xfrm>
              <a:prstGeom prst="rect">
                <a:avLst/>
              </a:prstGeom>
              <a:blipFill>
                <a:blip r:embed="rId3"/>
                <a:stretch>
                  <a:fillRect b="-2941"/>
                </a:stretch>
              </a:blipFill>
            </p:spPr>
            <p:txBody>
              <a:bodyPr/>
              <a:lstStyle/>
              <a:p>
                <a:r>
                  <a:rPr lang="es-AR">
                    <a:noFill/>
                  </a:rPr>
                  <a:t> </a:t>
                </a:r>
              </a:p>
            </p:txBody>
          </p:sp>
        </mc:Fallback>
      </mc:AlternateContent>
      <p:sp>
        <p:nvSpPr>
          <p:cNvPr id="35" name="CuadroTexto 34">
            <a:extLst>
              <a:ext uri="{FF2B5EF4-FFF2-40B4-BE49-F238E27FC236}">
                <a16:creationId xmlns:a16="http://schemas.microsoft.com/office/drawing/2014/main" id="{D38C28DD-0430-4A46-B124-0C50B64ABA8B}"/>
              </a:ext>
            </a:extLst>
          </p:cNvPr>
          <p:cNvSpPr txBox="1"/>
          <p:nvPr/>
        </p:nvSpPr>
        <p:spPr>
          <a:xfrm>
            <a:off x="235819" y="4046962"/>
            <a:ext cx="11715110" cy="523220"/>
          </a:xfrm>
          <a:prstGeom prst="rect">
            <a:avLst/>
          </a:prstGeom>
          <a:noFill/>
        </p:spPr>
        <p:txBody>
          <a:bodyPr wrap="square">
            <a:spAutoFit/>
          </a:bodyPr>
          <a:lstStyle/>
          <a:p>
            <a:r>
              <a:rPr lang="es-AR" sz="1400" dirty="0"/>
              <a:t>Sustituyendo la expresión de torque dada por el controlador en el dominio de Laplace y despejando, es posible obtener las funciones de transferencia del sistema en lazo cerrado:</a:t>
            </a:r>
          </a:p>
        </p:txBody>
      </p:sp>
      <p:sp>
        <p:nvSpPr>
          <p:cNvPr id="36" name="Rectangle 7">
            <a:extLst>
              <a:ext uri="{FF2B5EF4-FFF2-40B4-BE49-F238E27FC236}">
                <a16:creationId xmlns:a16="http://schemas.microsoft.com/office/drawing/2014/main" id="{1FD02DE2-A7A6-49C3-B2A8-B4869A13E153}"/>
              </a:ext>
            </a:extLst>
          </p:cNvPr>
          <p:cNvSpPr/>
          <p:nvPr/>
        </p:nvSpPr>
        <p:spPr>
          <a:xfrm>
            <a:off x="320040" y="4664348"/>
            <a:ext cx="11389607" cy="1327076"/>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a:p>
        </p:txBody>
      </p:sp>
      <mc:AlternateContent xmlns:mc="http://schemas.openxmlformats.org/markup-compatibility/2006" xmlns:a14="http://schemas.microsoft.com/office/drawing/2010/main">
        <mc:Choice Requires="a14">
          <p:sp>
            <p:nvSpPr>
              <p:cNvPr id="37" name="TextBox 8">
                <a:extLst>
                  <a:ext uri="{FF2B5EF4-FFF2-40B4-BE49-F238E27FC236}">
                    <a16:creationId xmlns:a16="http://schemas.microsoft.com/office/drawing/2014/main" id="{7B5BB154-871C-4401-8555-EAAAD30CFF80}"/>
                  </a:ext>
                </a:extLst>
              </p:cNvPr>
              <p:cNvSpPr txBox="1"/>
              <p:nvPr/>
            </p:nvSpPr>
            <p:spPr>
              <a:xfrm>
                <a:off x="125912" y="4828890"/>
                <a:ext cx="6354787" cy="476221"/>
              </a:xfrm>
              <a:prstGeom prst="rect">
                <a:avLst/>
              </a:prstGeom>
              <a:noFill/>
            </p:spPr>
            <p:txBody>
              <a:bodyPr wrap="square">
                <a:spAutoFit/>
              </a:bodyPr>
              <a:lstStyle/>
              <a:p>
                <a:pPr algn="ctr"/>
                <a14:m>
                  <m:oMath xmlns:m="http://schemas.openxmlformats.org/officeDocument/2006/math">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𝑠</m:t>
                        </m:r>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den>
                    </m:f>
                    <m:r>
                      <a:rPr lang="es-AR" sz="1400" i="1">
                        <a:latin typeface="Cambria Math" panose="02040503050406030204" pitchFamily="18" charset="0"/>
                      </a:rPr>
                      <m:t> </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r>
                          <a:rPr lang="es-AR" sz="1400" i="1">
                            <a:latin typeface="Cambria Math" panose="02040503050406030204" pitchFamily="18" charset="0"/>
                          </a:rPr>
                          <m:t>𝑟</m:t>
                        </m:r>
                      </m:den>
                    </m:f>
                  </m:oMath>
                </a14:m>
                <a:r>
                  <a:rPr lang="es-MX" sz="1400" b="1" dirty="0">
                    <a:solidFill>
                      <a:schemeClr val="tx1"/>
                    </a:solidFill>
                    <a:latin typeface="Calibri"/>
                  </a:rPr>
                  <a:t>, </a:t>
                </a:r>
                <a:endParaRPr lang="ar-AE" sz="1400" b="1" dirty="0">
                  <a:solidFill>
                    <a:schemeClr val="tx1"/>
                  </a:solidFill>
                  <a:latin typeface="Calibri"/>
                </a:endParaRPr>
              </a:p>
            </p:txBody>
          </p:sp>
        </mc:Choice>
        <mc:Fallback xmlns="">
          <p:sp>
            <p:nvSpPr>
              <p:cNvPr id="37" name="TextBox 8">
                <a:extLst>
                  <a:ext uri="{FF2B5EF4-FFF2-40B4-BE49-F238E27FC236}">
                    <a16:creationId xmlns:a16="http://schemas.microsoft.com/office/drawing/2014/main" id="{7B5BB154-871C-4401-8555-EAAAD30CFF80}"/>
                  </a:ext>
                </a:extLst>
              </p:cNvPr>
              <p:cNvSpPr txBox="1">
                <a:spLocks noRot="1" noChangeAspect="1" noMove="1" noResize="1" noEditPoints="1" noAdjustHandles="1" noChangeArrowheads="1" noChangeShapeType="1" noTextEdit="1"/>
              </p:cNvSpPr>
              <p:nvPr/>
            </p:nvSpPr>
            <p:spPr>
              <a:xfrm>
                <a:off x="125912" y="4828890"/>
                <a:ext cx="6354787" cy="476221"/>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9" name="TextBox 8">
                <a:extLst>
                  <a:ext uri="{FF2B5EF4-FFF2-40B4-BE49-F238E27FC236}">
                    <a16:creationId xmlns:a16="http://schemas.microsoft.com/office/drawing/2014/main" id="{AF83D051-6113-4677-A48D-95877C043109}"/>
                  </a:ext>
                </a:extLst>
              </p:cNvPr>
              <p:cNvSpPr txBox="1"/>
              <p:nvPr/>
            </p:nvSpPr>
            <p:spPr>
              <a:xfrm>
                <a:off x="5638647" y="5354565"/>
                <a:ext cx="5790895" cy="58740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𝑠</m:t>
                          </m:r>
                        </m:num>
                        <m:den>
                          <m:r>
                            <a:rPr lang="es-AR" sz="1400" i="1">
                              <a:latin typeface="Cambria Math" panose="02040503050406030204" pitchFamily="18" charset="0"/>
                            </a:rPr>
                            <m:t>𝑟</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e>
                          </m:d>
                        </m:den>
                      </m:f>
                    </m:oMath>
                  </m:oMathPara>
                </a14:m>
                <a:endParaRPr lang="ar-AE" sz="1100" b="1" dirty="0">
                  <a:solidFill>
                    <a:schemeClr val="tx1"/>
                  </a:solidFill>
                  <a:latin typeface="Calibri"/>
                </a:endParaRPr>
              </a:p>
            </p:txBody>
          </p:sp>
        </mc:Choice>
        <mc:Fallback xmlns="">
          <p:sp>
            <p:nvSpPr>
              <p:cNvPr id="39" name="TextBox 8">
                <a:extLst>
                  <a:ext uri="{FF2B5EF4-FFF2-40B4-BE49-F238E27FC236}">
                    <a16:creationId xmlns:a16="http://schemas.microsoft.com/office/drawing/2014/main" id="{AF83D051-6113-4677-A48D-95877C043109}"/>
                  </a:ext>
                </a:extLst>
              </p:cNvPr>
              <p:cNvSpPr txBox="1">
                <a:spLocks noRot="1" noChangeAspect="1" noMove="1" noResize="1" noEditPoints="1" noAdjustHandles="1" noChangeArrowheads="1" noChangeShapeType="1" noTextEdit="1"/>
              </p:cNvSpPr>
              <p:nvPr/>
            </p:nvSpPr>
            <p:spPr>
              <a:xfrm>
                <a:off x="5638647" y="5354565"/>
                <a:ext cx="5790895" cy="587405"/>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0" name="TextBox 8">
                <a:extLst>
                  <a:ext uri="{FF2B5EF4-FFF2-40B4-BE49-F238E27FC236}">
                    <a16:creationId xmlns:a16="http://schemas.microsoft.com/office/drawing/2014/main" id="{05700DBE-9ECF-48FC-94D0-08839343554C}"/>
                  </a:ext>
                </a:extLst>
              </p:cNvPr>
              <p:cNvSpPr txBox="1"/>
              <p:nvPr/>
            </p:nvSpPr>
            <p:spPr>
              <a:xfrm>
                <a:off x="5398950" y="4652741"/>
                <a:ext cx="5790895" cy="58458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den>
                      </m:f>
                    </m:oMath>
                  </m:oMathPara>
                </a14:m>
                <a:endParaRPr lang="ar-AE" sz="1000" b="1" dirty="0">
                  <a:solidFill>
                    <a:schemeClr val="tx1"/>
                  </a:solidFill>
                  <a:latin typeface="Calibri"/>
                </a:endParaRPr>
              </a:p>
            </p:txBody>
          </p:sp>
        </mc:Choice>
        <mc:Fallback xmlns="">
          <p:sp>
            <p:nvSpPr>
              <p:cNvPr id="40" name="TextBox 8">
                <a:extLst>
                  <a:ext uri="{FF2B5EF4-FFF2-40B4-BE49-F238E27FC236}">
                    <a16:creationId xmlns:a16="http://schemas.microsoft.com/office/drawing/2014/main" id="{05700DBE-9ECF-48FC-94D0-08839343554C}"/>
                  </a:ext>
                </a:extLst>
              </p:cNvPr>
              <p:cNvSpPr txBox="1">
                <a:spLocks noRot="1" noChangeAspect="1" noMove="1" noResize="1" noEditPoints="1" noAdjustHandles="1" noChangeArrowheads="1" noChangeShapeType="1" noTextEdit="1"/>
              </p:cNvSpPr>
              <p:nvPr/>
            </p:nvSpPr>
            <p:spPr>
              <a:xfrm>
                <a:off x="5398950" y="4652741"/>
                <a:ext cx="5790895" cy="584584"/>
              </a:xfrm>
              <a:prstGeom prst="rect">
                <a:avLst/>
              </a:prstGeom>
              <a:blipFill>
                <a:blip r:embed="rId6"/>
                <a:stretch>
                  <a:fillRect/>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D97017DD-3277-4E25-9730-01F843BBB52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15D1A550-1B2F-4138-A9A2-3F53FE3B4EF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85146" y="113877"/>
            <a:ext cx="11551615" cy="658368"/>
          </a:xfrm>
          <a:prstGeom prst="rect">
            <a:avLst/>
          </a:prstGeom>
          <a:noFill/>
        </p:spPr>
        <p:txBody>
          <a:bodyPr wrap="none">
            <a:spAutoFit/>
          </a:bodyPr>
          <a:lstStyle/>
          <a:p>
            <a:pPr algn="l"/>
            <a:r>
              <a:rPr sz="2100" b="1" dirty="0" err="1">
                <a:solidFill>
                  <a:srgbClr val="FFFFFF"/>
                </a:solidFill>
                <a:latin typeface="Cambria"/>
              </a:rPr>
              <a:t>Controlador</a:t>
            </a:r>
            <a:r>
              <a:rPr sz="2100" b="1" dirty="0">
                <a:solidFill>
                  <a:srgbClr val="FFFFFF"/>
                </a:solidFill>
                <a:latin typeface="Cambria"/>
              </a:rPr>
              <a:t> PID </a:t>
            </a:r>
            <a:r>
              <a:rPr sz="2100" b="1" dirty="0" err="1">
                <a:solidFill>
                  <a:srgbClr val="FFFFFF"/>
                </a:solidFill>
                <a:latin typeface="Cambria"/>
              </a:rPr>
              <a:t>externo</a:t>
            </a:r>
            <a:r>
              <a:rPr sz="2100" b="1" dirty="0">
                <a:solidFill>
                  <a:srgbClr val="FFFFFF"/>
                </a:solidFill>
                <a:latin typeface="Cambria"/>
              </a:rPr>
              <a:t> — </a:t>
            </a:r>
            <a:r>
              <a:rPr sz="2100" b="1" dirty="0" err="1">
                <a:solidFill>
                  <a:srgbClr val="FFFFFF"/>
                </a:solidFill>
                <a:latin typeface="Cambria"/>
              </a:rPr>
              <a:t>Estructura</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51 / ~75</a:t>
            </a:r>
          </a:p>
        </p:txBody>
      </p:sp>
      <mc:AlternateContent xmlns:mc="http://schemas.openxmlformats.org/markup-compatibility/2006" xmlns:a14="http://schemas.microsoft.com/office/drawing/2010/main">
        <mc:Choice Requires="a14">
          <p:sp>
            <p:nvSpPr>
              <p:cNvPr id="7" name="TextBox 6"/>
              <p:cNvSpPr txBox="1"/>
              <p:nvPr/>
            </p:nvSpPr>
            <p:spPr>
              <a:xfrm>
                <a:off x="126067" y="740338"/>
                <a:ext cx="11551615" cy="523220"/>
              </a:xfrm>
              <a:prstGeom prst="rect">
                <a:avLst/>
              </a:prstGeom>
              <a:noFill/>
            </p:spPr>
            <p:txBody>
              <a:bodyPr wrap="square">
                <a:spAutoFit/>
              </a:bodyPr>
              <a:lstStyle/>
              <a:p>
                <a:r>
                  <a:rPr lang="es-AR" sz="1400" b="0" i="0" dirty="0">
                    <a:solidFill>
                      <a:srgbClr val="1A1A2E"/>
                    </a:solidFill>
                    <a:latin typeface="Calibri"/>
                  </a:rPr>
                  <a:t>Lazo externo de posición y velocidad. Para evitar amplificar ruido con el derivador, se realimenta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b="0" i="0" dirty="0">
                    <a:solidFill>
                      <a:srgbClr val="1A1A2E"/>
                    </a:solidFill>
                    <a:latin typeface="Calibri"/>
                  </a:rPr>
                  <a:t> directamente. La salida es la consigna de torque </a:t>
                </a:r>
                <a14:m>
                  <m:oMath xmlns:m="http://schemas.openxmlformats.org/officeDocument/2006/math">
                    <m:sSubSup>
                      <m:sSubSupPr>
                        <m:ctrlPr>
                          <a:rPr lang="es-AR" sz="1400" i="1" smtClean="0">
                            <a:solidFill>
                              <a:schemeClr val="tx1"/>
                            </a:solidFill>
                            <a:effectLst/>
                            <a:latin typeface="Cambria Math" panose="020405030504060302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𝑇</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𝑚</m:t>
                        </m:r>
                      </m:sub>
                      <m:sup>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MX" sz="1400" b="0" i="1" smtClean="0">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oMath>
                </a14:m>
                <a:endParaRPr lang="es-A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26067" y="740338"/>
                <a:ext cx="11551615" cy="523220"/>
              </a:xfrm>
              <a:prstGeom prst="rect">
                <a:avLst/>
              </a:prstGeom>
              <a:blipFill>
                <a:blip r:embed="rId2"/>
                <a:stretch>
                  <a:fillRect l="-158" t="-116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9DE77671-EDE9-4845-B6CF-DD185C2E95F1}"/>
                  </a:ext>
                </a:extLst>
              </p:cNvPr>
              <p:cNvSpPr txBox="1"/>
              <p:nvPr/>
            </p:nvSpPr>
            <p:spPr>
              <a:xfrm>
                <a:off x="203299" y="1263558"/>
                <a:ext cx="11255110" cy="939744"/>
              </a:xfrm>
              <a:prstGeom prst="rect">
                <a:avLst/>
              </a:prstGeom>
              <a:noFill/>
            </p:spPr>
            <p:txBody>
              <a:bodyPr wrap="square">
                <a:spAutoFit/>
              </a:bodyPr>
              <a:lstStyle/>
              <a:p>
                <a:r>
                  <a:rPr lang="es-AR" sz="1400" dirty="0"/>
                  <a:t>Aplicando el teorema del valor final sobre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𝐺</m:t>
                        </m:r>
                      </m:e>
                      <m:sub>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𝑠</m:t>
                        </m:r>
                      </m:e>
                    </m:d>
                  </m:oMath>
                </a14:m>
                <a:r>
                  <a:rPr lang="es-AR" sz="1400" dirty="0"/>
                  <a:t>:</a:t>
                </a:r>
              </a:p>
              <a:p>
                <a:pPr marL="285750" indent="-285750">
                  <a:buFont typeface="Arial" panose="020B0604020202020204" pitchFamily="34" charset="0"/>
                  <a:buChar char="•"/>
                </a:pPr>
                <a:r>
                  <a:rPr lang="fi-FI" sz="1400" dirty="0"/>
                  <a:t>Con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oMath>
                </a14:m>
                <a:r>
                  <a:rPr lang="fi-FI" sz="1400" dirty="0"/>
                  <a:t>: </a:t>
                </a:r>
                <a14:m>
                  <m:oMath xmlns:m="http://schemas.openxmlformats.org/officeDocument/2006/math">
                    <m:func>
                      <m:funcPr>
                        <m:ctrlPr>
                          <a:rPr lang="es-AR" sz="1400" i="1">
                            <a:latin typeface="Cambria Math" panose="02040503050406030204" pitchFamily="18" charset="0"/>
                          </a:rPr>
                        </m:ctrlPr>
                      </m:funcPr>
                      <m:fName>
                        <m:limLow>
                          <m:limLowPr>
                            <m:ctrlPr>
                              <a:rPr lang="es-AR" sz="1400" i="1">
                                <a:latin typeface="Cambria Math" panose="02040503050406030204" pitchFamily="18" charset="0"/>
                              </a:rPr>
                            </m:ctrlPr>
                          </m:limLowPr>
                          <m:e>
                            <m:r>
                              <m:rPr>
                                <m:sty m:val="p"/>
                              </m:rPr>
                              <a:rPr lang="fi-FI" sz="1400">
                                <a:latin typeface="Cambria Math" panose="02040503050406030204" pitchFamily="18" charset="0"/>
                              </a:rPr>
                              <m:t>lim</m:t>
                            </m:r>
                          </m:e>
                          <m:lim>
                            <m:r>
                              <a:rPr lang="fi-FI" sz="1400" i="1">
                                <a:latin typeface="Cambria Math" panose="02040503050406030204" pitchFamily="18" charset="0"/>
                              </a:rPr>
                              <m:t>𝑡</m:t>
                            </m:r>
                            <m:r>
                              <a:rPr lang="fi-FI" sz="1400">
                                <a:latin typeface="Cambria Math" panose="02040503050406030204" pitchFamily="18" charset="0"/>
                              </a:rPr>
                              <m:t>→</m:t>
                            </m:r>
                            <m:r>
                              <a:rPr lang="fi-FI" sz="1400">
                                <a:latin typeface="Cambria Math" panose="02040503050406030204" pitchFamily="18" charset="0"/>
                              </a:rPr>
                              <m:t>∞</m:t>
                            </m:r>
                          </m:lim>
                        </m:limLow>
                      </m:fName>
                      <m:e>
                        <m:sSub>
                          <m:sSubPr>
                            <m:ctrlPr>
                              <a:rPr lang="es-AR" sz="1400" i="1">
                                <a:latin typeface="Cambria Math" panose="02040503050406030204" pitchFamily="18" charset="0"/>
                              </a:rPr>
                            </m:ctrlPr>
                          </m:sSubPr>
                          <m:e>
                            <m:r>
                              <a:rPr lang="fi-FI" sz="1400" i="1">
                                <a:latin typeface="Cambria Math" panose="02040503050406030204" pitchFamily="18" charset="0"/>
                              </a:rPr>
                              <m:t>𝜃</m:t>
                            </m:r>
                          </m:e>
                          <m:sub>
                            <m:r>
                              <a:rPr lang="fi-FI" sz="1400" i="1">
                                <a:latin typeface="Cambria Math" panose="02040503050406030204" pitchFamily="18" charset="0"/>
                              </a:rPr>
                              <m:t>𝑚</m:t>
                            </m:r>
                          </m:sub>
                        </m:sSub>
                        <m:d>
                          <m:dPr>
                            <m:ctrlPr>
                              <a:rPr lang="es-AR" sz="1400" i="1">
                                <a:latin typeface="Cambria Math" panose="02040503050406030204" pitchFamily="18" charset="0"/>
                              </a:rPr>
                            </m:ctrlPr>
                          </m:dPr>
                          <m:e>
                            <m:r>
                              <a:rPr lang="fi-FI" sz="1400" i="1">
                                <a:latin typeface="Cambria Math" panose="02040503050406030204" pitchFamily="18" charset="0"/>
                              </a:rPr>
                              <m:t>𝑡</m:t>
                            </m:r>
                          </m:e>
                        </m:d>
                      </m:e>
                    </m:func>
                    <m:r>
                      <a:rPr lang="fi-FI" sz="1400" i="1">
                        <a:latin typeface="Cambria Math" panose="02040503050406030204" pitchFamily="18" charset="0"/>
                      </a:rPr>
                      <m:t>=</m:t>
                    </m:r>
                    <m:r>
                      <a:rPr lang="fi-FI" sz="1400" i="1">
                        <a:latin typeface="Cambria Math" panose="02040503050406030204" pitchFamily="18" charset="0"/>
                      </a:rPr>
                      <m:t>1</m:t>
                    </m:r>
                    <m:r>
                      <a:rPr lang="fi-FI" sz="1400" i="1">
                        <a:latin typeface="Cambria Math" panose="02040503050406030204" pitchFamily="18" charset="0"/>
                      </a:rPr>
                      <m:t>−</m:t>
                    </m:r>
                    <m:f>
                      <m:fPr>
                        <m:ctrlPr>
                          <a:rPr lang="es-AR" sz="1400" i="1">
                            <a:latin typeface="Cambria Math" panose="02040503050406030204" pitchFamily="18" charset="0"/>
                          </a:rPr>
                        </m:ctrlPr>
                      </m:fPr>
                      <m:num>
                        <m:r>
                          <a:rPr lang="fi-FI" sz="1400" i="1">
                            <a:latin typeface="Cambria Math" panose="02040503050406030204" pitchFamily="18" charset="0"/>
                          </a:rPr>
                          <m:t>1</m:t>
                        </m:r>
                      </m:num>
                      <m:den>
                        <m:r>
                          <a:rPr lang="fi-FI" sz="1400" i="1">
                            <a:latin typeface="Cambria Math" panose="02040503050406030204" pitchFamily="18" charset="0"/>
                          </a:rPr>
                          <m:t>𝑟</m:t>
                        </m:r>
                        <m:r>
                          <a:rPr lang="fi-FI" sz="1400" i="1">
                            <a:latin typeface="Cambria Math" panose="02040503050406030204" pitchFamily="18" charset="0"/>
                          </a:rPr>
                          <m:t> </m:t>
                        </m:r>
                        <m:sSub>
                          <m:sSubPr>
                            <m:ctrlPr>
                              <a:rPr lang="es-AR" sz="1400" i="1">
                                <a:latin typeface="Cambria Math" panose="02040503050406030204" pitchFamily="18" charset="0"/>
                              </a:rPr>
                            </m:ctrlPr>
                          </m:sSubPr>
                          <m:e>
                            <m:r>
                              <a:rPr lang="fi-FI" sz="1400" i="1">
                                <a:latin typeface="Cambria Math" panose="02040503050406030204" pitchFamily="18" charset="0"/>
                              </a:rPr>
                              <m:t>𝐾</m:t>
                            </m:r>
                          </m:e>
                          <m:sub>
                            <m:r>
                              <a:rPr lang="fi-FI" sz="1400" i="1">
                                <a:latin typeface="Cambria Math" panose="02040503050406030204" pitchFamily="18" charset="0"/>
                              </a:rPr>
                              <m:t>𝑠𝑎</m:t>
                            </m:r>
                          </m:sub>
                        </m:sSub>
                      </m:den>
                    </m:f>
                  </m:oMath>
                </a14:m>
                <a:r>
                  <a:rPr lang="fi-FI" sz="1400" dirty="0"/>
                  <a:t> </a:t>
                </a:r>
                <a:r>
                  <a:rPr lang="es-MX" sz="1400" dirty="0"/>
                  <a:t>— error residual dependiente de la ganancia</a:t>
                </a:r>
                <a:endParaRPr lang="fi-FI" sz="1400" dirty="0"/>
              </a:p>
              <a:p>
                <a:pPr marL="285750" indent="-285750">
                  <a:buFont typeface="Arial" panose="020B0604020202020204" pitchFamily="34" charset="0"/>
                  <a:buChar char="•"/>
                </a:pPr>
                <a:r>
                  <a:rPr lang="es-AR" sz="1400" dirty="0"/>
                  <a:t>Con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smtClean="0">
                        <a:effectLst/>
                        <a:latin typeface="Cambria Math" panose="02040503050406030204" pitchFamily="18" charset="0"/>
                        <a:ea typeface="Cambria Math" panose="02040503050406030204" pitchFamily="18"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 </m:t>
                    </m:r>
                  </m:oMath>
                </a14:m>
                <a:r>
                  <a:rPr lang="es-AR" sz="1400" dirty="0"/>
                  <a:t>: </a:t>
                </a:r>
                <a14:m>
                  <m:oMath xmlns:m="http://schemas.openxmlformats.org/officeDocument/2006/math">
                    <m:func>
                      <m:funcPr>
                        <m:ctrlPr>
                          <a:rPr lang="es-AR" sz="1400" i="1">
                            <a:latin typeface="Cambria Math" panose="02040503050406030204" pitchFamily="18" charset="0"/>
                          </a:rPr>
                        </m:ctrlPr>
                      </m:funcPr>
                      <m:fName>
                        <m:limLow>
                          <m:limLowPr>
                            <m:ctrlPr>
                              <a:rPr lang="es-AR" sz="1400" i="1">
                                <a:latin typeface="Cambria Math" panose="02040503050406030204" pitchFamily="18" charset="0"/>
                              </a:rPr>
                            </m:ctrlPr>
                          </m:limLowPr>
                          <m:e>
                            <m:r>
                              <m:rPr>
                                <m:sty m:val="p"/>
                              </m:rPr>
                              <a:rPr lang="en-US" sz="1400">
                                <a:latin typeface="Cambria Math" panose="02040503050406030204" pitchFamily="18" charset="0"/>
                              </a:rPr>
                              <m:t>lim</m:t>
                            </m:r>
                          </m:e>
                          <m:lim>
                            <m:r>
                              <a:rPr lang="en-US" sz="1400" i="1">
                                <a:latin typeface="Cambria Math" panose="02040503050406030204" pitchFamily="18" charset="0"/>
                              </a:rPr>
                              <m:t>𝑡</m:t>
                            </m:r>
                            <m:r>
                              <a:rPr lang="en-US" sz="1400">
                                <a:latin typeface="Cambria Math" panose="02040503050406030204" pitchFamily="18" charset="0"/>
                              </a:rPr>
                              <m:t>→</m:t>
                            </m:r>
                            <m:r>
                              <a:rPr lang="en-US" sz="1400">
                                <a:latin typeface="Cambria Math" panose="02040503050406030204" pitchFamily="18" charset="0"/>
                              </a:rPr>
                              <m:t>∞</m:t>
                            </m:r>
                          </m:lim>
                        </m:limLow>
                      </m:fName>
                      <m:e>
                        <m:sSub>
                          <m:sSubPr>
                            <m:ctrlPr>
                              <a:rPr lang="es-AR" sz="1400" i="1">
                                <a:latin typeface="Cambria Math" panose="02040503050406030204" pitchFamily="18" charset="0"/>
                              </a:rPr>
                            </m:ctrlPr>
                          </m:sSubPr>
                          <m:e>
                            <m:r>
                              <a:rPr lang="en-US" sz="1400" i="1">
                                <a:latin typeface="Cambria Math" panose="02040503050406030204" pitchFamily="18" charset="0"/>
                              </a:rPr>
                              <m:t>𝜃</m:t>
                            </m:r>
                          </m:e>
                          <m:sub>
                            <m:r>
                              <a:rPr lang="en-US" sz="1400" i="1">
                                <a:latin typeface="Cambria Math" panose="02040503050406030204" pitchFamily="18" charset="0"/>
                              </a:rPr>
                              <m:t>𝑚</m:t>
                            </m:r>
                          </m:sub>
                        </m:sSub>
                        <m:d>
                          <m:dPr>
                            <m:ctrlPr>
                              <a:rPr lang="es-AR" sz="1400" i="1">
                                <a:latin typeface="Cambria Math" panose="02040503050406030204" pitchFamily="18" charset="0"/>
                              </a:rPr>
                            </m:ctrlPr>
                          </m:dPr>
                          <m:e>
                            <m:r>
                              <a:rPr lang="en-US" sz="1400" i="1">
                                <a:latin typeface="Cambria Math" panose="02040503050406030204" pitchFamily="18" charset="0"/>
                              </a:rPr>
                              <m:t>𝑡</m:t>
                            </m:r>
                          </m:e>
                        </m:d>
                      </m:e>
                    </m:func>
                    <m:r>
                      <a:rPr lang="en-US" sz="1400" i="1">
                        <a:latin typeface="Cambria Math" panose="02040503050406030204" pitchFamily="18" charset="0"/>
                      </a:rPr>
                      <m:t>=</m:t>
                    </m:r>
                    <m:r>
                      <a:rPr lang="en-US" sz="1400" i="1">
                        <a:latin typeface="Cambria Math" panose="02040503050406030204" pitchFamily="18" charset="0"/>
                      </a:rPr>
                      <m:t>1</m:t>
                    </m:r>
                  </m:oMath>
                </a14:m>
                <a:r>
                  <a:rPr lang="fi-FI" sz="1400" dirty="0"/>
                  <a:t> </a:t>
                </a:r>
                <a:r>
                  <a:rPr lang="es-MX" sz="1400" dirty="0"/>
                  <a:t>— seguimiento exacto de la consigna</a:t>
                </a:r>
                <a:endParaRPr lang="fi-FI" sz="1400" dirty="0"/>
              </a:p>
            </p:txBody>
          </p:sp>
        </mc:Choice>
        <mc:Fallback xmlns="">
          <p:sp>
            <p:nvSpPr>
              <p:cNvPr id="24" name="CuadroTexto 23">
                <a:extLst>
                  <a:ext uri="{FF2B5EF4-FFF2-40B4-BE49-F238E27FC236}">
                    <a16:creationId xmlns:a16="http://schemas.microsoft.com/office/drawing/2014/main" id="{9DE77671-EDE9-4845-B6CF-DD185C2E95F1}"/>
                  </a:ext>
                </a:extLst>
              </p:cNvPr>
              <p:cNvSpPr txBox="1">
                <a:spLocks noRot="1" noChangeAspect="1" noMove="1" noResize="1" noEditPoints="1" noAdjustHandles="1" noChangeArrowheads="1" noChangeShapeType="1" noTextEdit="1"/>
              </p:cNvSpPr>
              <p:nvPr/>
            </p:nvSpPr>
            <p:spPr>
              <a:xfrm>
                <a:off x="203299" y="1263558"/>
                <a:ext cx="11255110" cy="939744"/>
              </a:xfrm>
              <a:prstGeom prst="rect">
                <a:avLst/>
              </a:prstGeom>
              <a:blipFill>
                <a:blip r:embed="rId3"/>
                <a:stretch>
                  <a:fillRect l="-162"/>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2E7870C4-1ED3-4A9E-9DC4-937BADADDAAB}"/>
                  </a:ext>
                </a:extLst>
              </p:cNvPr>
              <p:cNvSpPr txBox="1"/>
              <p:nvPr/>
            </p:nvSpPr>
            <p:spPr>
              <a:xfrm>
                <a:off x="126066" y="2213905"/>
                <a:ext cx="11645723" cy="738664"/>
              </a:xfrm>
              <a:prstGeom prst="rect">
                <a:avLst/>
              </a:prstGeom>
              <a:noFill/>
            </p:spPr>
            <p:txBody>
              <a:bodyPr wrap="square">
                <a:spAutoFit/>
              </a:bodyPr>
              <a:lstStyle/>
              <a:p>
                <a:r>
                  <a:rPr lang="es-MX" sz="1400" b="1" dirty="0"/>
                  <a:t>Rechazo de perturbaciones de carga</a:t>
                </a:r>
              </a:p>
              <a:p>
                <a:pPr>
                  <a:buFont typeface="Arial" panose="020B0604020202020204" pitchFamily="34" charset="0"/>
                  <a:buChar char="•"/>
                </a:pPr>
                <a:r>
                  <a:rPr lang="es-MX" sz="1400" dirty="0"/>
                  <a:t>Sin acción integral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oMath>
                </a14:m>
                <a:r>
                  <a:rPr lang="es-MX" sz="1400" dirty="0"/>
                  <a:t>): una perturbación constante produce error permanente en posición.</a:t>
                </a:r>
              </a:p>
              <a:p>
                <a:pPr>
                  <a:buFont typeface="Arial" panose="020B0604020202020204" pitchFamily="34" charset="0"/>
                  <a:buChar char="•"/>
                </a:pPr>
                <a:r>
                  <a:rPr lang="es-MX" sz="1400" dirty="0"/>
                  <a:t>Con acción integral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smtClean="0">
                        <a:effectLst/>
                        <a:latin typeface="Cambria Math" panose="02040503050406030204" pitchFamily="18" charset="0"/>
                        <a:ea typeface="Cambria Math" panose="02040503050406030204" pitchFamily="18"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 </m:t>
                    </m:r>
                  </m:oMath>
                </a14:m>
                <a:r>
                  <a:rPr lang="es-MX" sz="1400" dirty="0"/>
                  <a:t>): la integral elimina el error en régimen estacionario → rechazo completo de perturbaciones constantes de torque.</a:t>
                </a:r>
              </a:p>
            </p:txBody>
          </p:sp>
        </mc:Choice>
        <mc:Fallback xmlns="">
          <p:sp>
            <p:nvSpPr>
              <p:cNvPr id="26" name="CuadroTexto 25">
                <a:extLst>
                  <a:ext uri="{FF2B5EF4-FFF2-40B4-BE49-F238E27FC236}">
                    <a16:creationId xmlns:a16="http://schemas.microsoft.com/office/drawing/2014/main" id="{2E7870C4-1ED3-4A9E-9DC4-937BADADDAAB}"/>
                  </a:ext>
                </a:extLst>
              </p:cNvPr>
              <p:cNvSpPr txBox="1">
                <a:spLocks noRot="1" noChangeAspect="1" noMove="1" noResize="1" noEditPoints="1" noAdjustHandles="1" noChangeArrowheads="1" noChangeShapeType="1" noTextEdit="1"/>
              </p:cNvSpPr>
              <p:nvPr/>
            </p:nvSpPr>
            <p:spPr>
              <a:xfrm>
                <a:off x="126066" y="2213905"/>
                <a:ext cx="11645723" cy="738664"/>
              </a:xfrm>
              <a:prstGeom prst="rect">
                <a:avLst/>
              </a:prstGeom>
              <a:blipFill>
                <a:blip r:embed="rId4"/>
                <a:stretch>
                  <a:fillRect l="-157" t="-1653" b="-8264"/>
                </a:stretch>
              </a:blipFill>
            </p:spPr>
            <p:txBody>
              <a:bodyPr/>
              <a:lstStyle/>
              <a:p>
                <a:r>
                  <a:rPr lang="es-AR">
                    <a:noFill/>
                  </a:rPr>
                  <a:t> </a:t>
                </a:r>
              </a:p>
            </p:txBody>
          </p:sp>
        </mc:Fallback>
      </mc:AlternateContent>
      <p:sp>
        <p:nvSpPr>
          <p:cNvPr id="28" name="CuadroTexto 27">
            <a:extLst>
              <a:ext uri="{FF2B5EF4-FFF2-40B4-BE49-F238E27FC236}">
                <a16:creationId xmlns:a16="http://schemas.microsoft.com/office/drawing/2014/main" id="{84F94958-533E-48F7-8EDE-8E91FBE2954C}"/>
              </a:ext>
            </a:extLst>
          </p:cNvPr>
          <p:cNvSpPr txBox="1"/>
          <p:nvPr/>
        </p:nvSpPr>
        <p:spPr>
          <a:xfrm>
            <a:off x="126066" y="3093978"/>
            <a:ext cx="11551615" cy="523220"/>
          </a:xfrm>
          <a:prstGeom prst="rect">
            <a:avLst/>
          </a:prstGeom>
          <a:noFill/>
        </p:spPr>
        <p:txBody>
          <a:bodyPr wrap="square">
            <a:spAutoFit/>
          </a:bodyPr>
          <a:lstStyle/>
          <a:p>
            <a:r>
              <a:rPr lang="es-MX" sz="1400" b="1" dirty="0"/>
              <a:t>Sintonización: método de asignación de polos</a:t>
            </a:r>
          </a:p>
          <a:p>
            <a:r>
              <a:rPr lang="es-MX" sz="1400" dirty="0"/>
              <a:t>Los parámetros del controlador se determinan por sintonización en serie, imponiendo igual frecuencia para los tres polos dominantes:</a:t>
            </a:r>
          </a:p>
        </p:txBody>
      </p:sp>
      <p:sp>
        <p:nvSpPr>
          <p:cNvPr id="31" name="CuadroTexto 30">
            <a:extLst>
              <a:ext uri="{FF2B5EF4-FFF2-40B4-BE49-F238E27FC236}">
                <a16:creationId xmlns:a16="http://schemas.microsoft.com/office/drawing/2014/main" id="{1163E0D1-4C7B-4E2D-B629-9C93F573CDE7}"/>
              </a:ext>
            </a:extLst>
          </p:cNvPr>
          <p:cNvSpPr txBox="1"/>
          <p:nvPr/>
        </p:nvSpPr>
        <p:spPr>
          <a:xfrm>
            <a:off x="5641759" y="2996213"/>
            <a:ext cx="65" cy="276999"/>
          </a:xfrm>
          <a:prstGeom prst="rect">
            <a:avLst/>
          </a:prstGeom>
          <a:noFill/>
        </p:spPr>
        <p:txBody>
          <a:bodyPr wrap="none" lIns="0" tIns="0" rIns="0" bIns="0" rtlCol="0">
            <a:spAutoFit/>
          </a:bodyPr>
          <a:lstStyle/>
          <a:p>
            <a:endParaRPr lang="es-AR" dirty="0"/>
          </a:p>
        </p:txBody>
      </p:sp>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D8D743C7-F2CA-4F08-9019-FC35CE9FDFE2}"/>
                  </a:ext>
                </a:extLst>
              </p:cNvPr>
              <p:cNvSpPr txBox="1"/>
              <p:nvPr/>
            </p:nvSpPr>
            <p:spPr>
              <a:xfrm>
                <a:off x="3376943" y="3682636"/>
                <a:ext cx="4092166" cy="3270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AR" sz="1400" smtClean="0">
                          <a:latin typeface="Cambria Math" panose="02040503050406030204" pitchFamily="18" charset="0"/>
                        </a:rPr>
                        <m:t>ζ</m:t>
                      </m:r>
                      <m:r>
                        <a:rPr lang="es-AR" sz="1400" i="0">
                          <a:latin typeface="Cambria Math" panose="02040503050406030204" pitchFamily="18" charset="0"/>
                        </a:rPr>
                        <m:t>=</m:t>
                      </m:r>
                      <m:r>
                        <a:rPr lang="es-AR" sz="1400" i="0">
                          <a:latin typeface="Cambria Math" panose="02040503050406030204" pitchFamily="18" charset="0"/>
                        </a:rPr>
                        <m:t>0</m:t>
                      </m:r>
                      <m:r>
                        <a:rPr lang="es-AR" sz="1400" i="0">
                          <a:latin typeface="Cambria Math" panose="02040503050406030204" pitchFamily="18" charset="0"/>
                        </a:rPr>
                        <m:t>.</m:t>
                      </m:r>
                      <m:r>
                        <a:rPr lang="es-AR" sz="1400" i="0">
                          <a:latin typeface="Cambria Math" panose="02040503050406030204" pitchFamily="18" charset="0"/>
                        </a:rPr>
                        <m:t>75</m:t>
                      </m:r>
                      <m:r>
                        <a:rPr lang="es-MX" sz="1400" b="0" i="0" smtClean="0">
                          <a:latin typeface="Cambria Math" panose="02040503050406030204" pitchFamily="18" charset="0"/>
                        </a:rPr>
                        <m:t>,</m:t>
                      </m:r>
                      <m:r>
                        <a:rPr lang="es-MX" sz="1400" b="0" i="1" smtClean="0">
                          <a:latin typeface="Cambria Math" panose="02040503050406030204" pitchFamily="18" charset="0"/>
                        </a:rPr>
                        <m:t>  </m:t>
                      </m:r>
                      <m:sSub>
                        <m:sSubPr>
                          <m:ctrlPr>
                            <a:rPr lang="es-AR" sz="1400" i="1">
                              <a:latin typeface="Cambria Math" panose="02040503050406030204" pitchFamily="18" charset="0"/>
                            </a:rPr>
                          </m:ctrlPr>
                        </m:sSub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Sub>
                      <m:r>
                        <a:rPr lang="es-AR" sz="1400" i="1">
                          <a:latin typeface="Cambria Math" panose="02040503050406030204" pitchFamily="18" charset="0"/>
                        </a:rPr>
                        <m:t>=</m:t>
                      </m:r>
                      <m:r>
                        <a:rPr lang="es-AR" sz="1400" i="1">
                          <a:latin typeface="Cambria Math" panose="02040503050406030204" pitchFamily="18" charset="0"/>
                        </a:rPr>
                        <m:t>800 </m:t>
                      </m:r>
                      <m:r>
                        <m:rPr>
                          <m:nor/>
                        </m:rPr>
                        <a:rPr lang="es-AR" sz="1400"/>
                        <m:t>rad</m:t>
                      </m:r>
                      <m:r>
                        <m:rPr>
                          <m:lit/>
                          <m:nor/>
                        </m:rPr>
                        <a:rPr lang="es-AR" sz="1400"/>
                        <m:t>/</m:t>
                      </m:r>
                      <m:r>
                        <m:rPr>
                          <m:nor/>
                        </m:rPr>
                        <a:rPr lang="es-AR" sz="1400"/>
                        <m:t>s</m:t>
                      </m:r>
                    </m:oMath>
                  </m:oMathPara>
                </a14:m>
                <a:endParaRPr lang="es-AR" sz="1400" dirty="0"/>
              </a:p>
            </p:txBody>
          </p:sp>
        </mc:Choice>
        <mc:Fallback xmlns="">
          <p:sp>
            <p:nvSpPr>
              <p:cNvPr id="33" name="CuadroTexto 32">
                <a:extLst>
                  <a:ext uri="{FF2B5EF4-FFF2-40B4-BE49-F238E27FC236}">
                    <a16:creationId xmlns:a16="http://schemas.microsoft.com/office/drawing/2014/main" id="{D8D743C7-F2CA-4F08-9019-FC35CE9FDFE2}"/>
                  </a:ext>
                </a:extLst>
              </p:cNvPr>
              <p:cNvSpPr txBox="1">
                <a:spLocks noRot="1" noChangeAspect="1" noMove="1" noResize="1" noEditPoints="1" noAdjustHandles="1" noChangeArrowheads="1" noChangeShapeType="1" noTextEdit="1"/>
              </p:cNvSpPr>
              <p:nvPr/>
            </p:nvSpPr>
            <p:spPr>
              <a:xfrm>
                <a:off x="3376943" y="3682636"/>
                <a:ext cx="4092166" cy="327077"/>
              </a:xfrm>
              <a:prstGeom prst="rect">
                <a:avLst/>
              </a:prstGeom>
              <a:blipFill>
                <a:blip r:embed="rId5"/>
                <a:stretch>
                  <a:fillRect b="-1852"/>
                </a:stretch>
              </a:blipFill>
            </p:spPr>
            <p:txBody>
              <a:bodyPr/>
              <a:lstStyle/>
              <a:p>
                <a:r>
                  <a:rPr lang="es-AR">
                    <a:noFill/>
                  </a:rPr>
                  <a:t> </a:t>
                </a:r>
              </a:p>
            </p:txBody>
          </p:sp>
        </mc:Fallback>
      </mc:AlternateContent>
      <p:sp>
        <p:nvSpPr>
          <p:cNvPr id="39" name="CuadroTexto 38">
            <a:extLst>
              <a:ext uri="{FF2B5EF4-FFF2-40B4-BE49-F238E27FC236}">
                <a16:creationId xmlns:a16="http://schemas.microsoft.com/office/drawing/2014/main" id="{90FF0055-28B2-4C0F-AAA1-EE6B2FDD4DDC}"/>
              </a:ext>
            </a:extLst>
          </p:cNvPr>
          <p:cNvSpPr txBox="1"/>
          <p:nvPr/>
        </p:nvSpPr>
        <p:spPr>
          <a:xfrm>
            <a:off x="126066" y="3965001"/>
            <a:ext cx="11869776" cy="523220"/>
          </a:xfrm>
          <a:prstGeom prst="rect">
            <a:avLst/>
          </a:prstGeom>
          <a:noFill/>
        </p:spPr>
        <p:txBody>
          <a:bodyPr wrap="square">
            <a:spAutoFit/>
          </a:bodyPr>
          <a:lstStyle/>
          <a:p>
            <a:r>
              <a:rPr lang="es-MX" sz="1400" b="1" dirty="0"/>
              <a:t>Polinomio característico y ganancias del controlador</a:t>
            </a:r>
          </a:p>
          <a:p>
            <a:r>
              <a:rPr lang="es-MX" sz="1400" dirty="0"/>
              <a:t>El denominador de las funciones de transferencia define el polinomio característico del sistema controlado:</a:t>
            </a:r>
          </a:p>
        </p:txBody>
      </p:sp>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8BB44C7B-96F8-4FE1-B76A-F235E23C31D0}"/>
                  </a:ext>
                </a:extLst>
              </p:cNvPr>
              <p:cNvSpPr txBox="1"/>
              <p:nvPr/>
            </p:nvSpPr>
            <p:spPr>
              <a:xfrm>
                <a:off x="3250193" y="4538024"/>
                <a:ext cx="4051427" cy="3286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400" i="1" smtClean="0">
                          <a:solidFill>
                            <a:schemeClr val="tx1"/>
                          </a:solidFill>
                          <a:latin typeface="Cambria Math" panose="02040503050406030204" pitchFamily="18" charset="0"/>
                        </a:rPr>
                        <m:t>𝑃</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0">
                              <a:solidFill>
                                <a:schemeClr val="tx1"/>
                              </a:solidFill>
                              <a:latin typeface="Cambria Math" panose="02040503050406030204" pitchFamily="18" charset="0"/>
                            </a:rPr>
                            <m:t>3</m:t>
                          </m:r>
                        </m:sup>
                      </m:sSup>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𝑎</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0">
                              <a:solidFill>
                                <a:schemeClr val="tx1"/>
                              </a:solidFill>
                              <a:latin typeface="Cambria Math" panose="02040503050406030204" pitchFamily="18" charset="0"/>
                            </a:rPr>
                            <m:t>2</m:t>
                          </m:r>
                        </m:sup>
                      </m:sSup>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𝑠𝑎</m:t>
                          </m:r>
                        </m:sub>
                      </m:sSub>
                      <m:r>
                        <a:rPr lang="es-AR" sz="1400" i="1">
                          <a:solidFill>
                            <a:schemeClr val="tx1"/>
                          </a:solidFill>
                          <a:latin typeface="Cambria Math" panose="02040503050406030204" pitchFamily="18" charset="0"/>
                        </a:rPr>
                        <m:t>𝑠</m:t>
                      </m:r>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𝑠𝑖𝑎</m:t>
                          </m:r>
                        </m:sub>
                      </m:sSub>
                    </m:oMath>
                  </m:oMathPara>
                </a14:m>
                <a:endParaRPr lang="es-AR" sz="1400" dirty="0">
                  <a:solidFill>
                    <a:schemeClr val="tx1"/>
                  </a:solidFill>
                </a:endParaRPr>
              </a:p>
            </p:txBody>
          </p:sp>
        </mc:Choice>
        <mc:Fallback xmlns="">
          <p:sp>
            <p:nvSpPr>
              <p:cNvPr id="41" name="CuadroTexto 40">
                <a:extLst>
                  <a:ext uri="{FF2B5EF4-FFF2-40B4-BE49-F238E27FC236}">
                    <a16:creationId xmlns:a16="http://schemas.microsoft.com/office/drawing/2014/main" id="{8BB44C7B-96F8-4FE1-B76A-F235E23C31D0}"/>
                  </a:ext>
                </a:extLst>
              </p:cNvPr>
              <p:cNvSpPr txBox="1">
                <a:spLocks noRot="1" noChangeAspect="1" noMove="1" noResize="1" noEditPoints="1" noAdjustHandles="1" noChangeArrowheads="1" noChangeShapeType="1" noTextEdit="1"/>
              </p:cNvSpPr>
              <p:nvPr/>
            </p:nvSpPr>
            <p:spPr>
              <a:xfrm>
                <a:off x="3250193" y="4538024"/>
                <a:ext cx="4051427" cy="328616"/>
              </a:xfrm>
              <a:prstGeom prst="rect">
                <a:avLst/>
              </a:prstGeom>
              <a:blipFill>
                <a:blip r:embed="rId6"/>
                <a:stretch>
                  <a:fillRect/>
                </a:stretch>
              </a:blipFill>
            </p:spPr>
            <p:txBody>
              <a:bodyPr/>
              <a:lstStyle/>
              <a:p>
                <a:r>
                  <a:rPr lang="es-AR">
                    <a:noFill/>
                  </a:rPr>
                  <a:t> </a:t>
                </a:r>
              </a:p>
            </p:txBody>
          </p:sp>
        </mc:Fallback>
      </mc:AlternateContent>
      <p:sp>
        <p:nvSpPr>
          <p:cNvPr id="43" name="CuadroTexto 42">
            <a:extLst>
              <a:ext uri="{FF2B5EF4-FFF2-40B4-BE49-F238E27FC236}">
                <a16:creationId xmlns:a16="http://schemas.microsoft.com/office/drawing/2014/main" id="{86CAA570-9504-4B1E-AB65-E96439E42E99}"/>
              </a:ext>
            </a:extLst>
          </p:cNvPr>
          <p:cNvSpPr txBox="1"/>
          <p:nvPr/>
        </p:nvSpPr>
        <p:spPr>
          <a:xfrm>
            <a:off x="126067" y="4843719"/>
            <a:ext cx="8782543" cy="307777"/>
          </a:xfrm>
          <a:prstGeom prst="rect">
            <a:avLst/>
          </a:prstGeom>
          <a:noFill/>
        </p:spPr>
        <p:txBody>
          <a:bodyPr wrap="square">
            <a:spAutoFit/>
          </a:bodyPr>
          <a:lstStyle/>
          <a:p>
            <a:r>
              <a:rPr lang="es-MX" sz="1400" dirty="0"/>
              <a:t>El polinomio característico deseado para el sistema de tercer orden, en función de los parámetros de diseño:</a:t>
            </a:r>
            <a:endParaRPr lang="es-AR" sz="1400" dirty="0"/>
          </a:p>
        </p:txBody>
      </p:sp>
      <mc:AlternateContent xmlns:mc="http://schemas.openxmlformats.org/markup-compatibility/2006" xmlns:a14="http://schemas.microsoft.com/office/drawing/2010/main">
        <mc:Choice Requires="a14">
          <p:sp>
            <p:nvSpPr>
              <p:cNvPr id="45" name="CuadroTexto 44">
                <a:extLst>
                  <a:ext uri="{FF2B5EF4-FFF2-40B4-BE49-F238E27FC236}">
                    <a16:creationId xmlns:a16="http://schemas.microsoft.com/office/drawing/2014/main" id="{66C1F3AB-4AE6-46DD-8509-D7FEF56B7321}"/>
                  </a:ext>
                </a:extLst>
              </p:cNvPr>
              <p:cNvSpPr txBox="1"/>
              <p:nvPr/>
            </p:nvSpPr>
            <p:spPr>
              <a:xfrm>
                <a:off x="2568108" y="5140405"/>
                <a:ext cx="6147302" cy="33682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400" i="1">
                          <a:latin typeface="Cambria Math" panose="02040503050406030204" pitchFamily="18" charset="0"/>
                        </a:rPr>
                        <m:t>𝑃</m:t>
                      </m:r>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2</m:t>
                          </m:r>
                          <m:r>
                            <m:rPr>
                              <m:sty m:val="p"/>
                            </m:rPr>
                            <a:rPr lang="es-AR" sz="1400">
                              <a:latin typeface="Cambria Math" panose="02040503050406030204" pitchFamily="18" charset="0"/>
                            </a:rPr>
                            <m:t>ζ</m:t>
                          </m:r>
                          <m:r>
                            <a:rPr lang="es-AR" sz="1400" i="1">
                              <a:latin typeface="Cambria Math" panose="02040503050406030204" pitchFamily="18" charset="0"/>
                            </a:rPr>
                            <m:t>+</m:t>
                          </m:r>
                          <m:r>
                            <a:rPr lang="es-AR" sz="1400" i="1">
                              <a:latin typeface="Cambria Math" panose="02040503050406030204" pitchFamily="18" charset="0"/>
                            </a:rPr>
                            <m:t>1</m:t>
                          </m:r>
                        </m:e>
                      </m:d>
                      <m:sSub>
                        <m:sSubPr>
                          <m:ctrlPr>
                            <a:rPr lang="es-AR" sz="1400" i="1">
                              <a:latin typeface="Cambria Math" panose="02040503050406030204" pitchFamily="18" charset="0"/>
                            </a:rPr>
                          </m:ctrlPr>
                        </m:sSub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Sub>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2</m:t>
                          </m:r>
                          <m:r>
                            <m:rPr>
                              <m:sty m:val="p"/>
                            </m:rPr>
                            <a:rPr lang="es-AR" sz="1400">
                              <a:latin typeface="Cambria Math" panose="02040503050406030204" pitchFamily="18" charset="0"/>
                            </a:rPr>
                            <m:t>ζ</m:t>
                          </m:r>
                          <m:r>
                            <a:rPr lang="es-AR" sz="1400" i="1">
                              <a:latin typeface="Cambria Math" panose="02040503050406030204" pitchFamily="18" charset="0"/>
                            </a:rPr>
                            <m:t>+</m:t>
                          </m:r>
                          <m:r>
                            <a:rPr lang="es-AR" sz="1400" i="1">
                              <a:latin typeface="Cambria Math" panose="02040503050406030204" pitchFamily="18" charset="0"/>
                            </a:rPr>
                            <m:t>1</m:t>
                          </m:r>
                        </m:e>
                      </m:d>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up>
                          <m:r>
                            <a:rPr lang="es-AR" sz="1400" i="1">
                              <a:latin typeface="Cambria Math" panose="02040503050406030204" pitchFamily="18" charset="0"/>
                            </a:rPr>
                            <m:t>2</m:t>
                          </m:r>
                        </m:sup>
                      </m:sSubSup>
                      <m:r>
                        <a:rPr lang="es-AR" sz="1400" i="1">
                          <a:latin typeface="Cambria Math" panose="02040503050406030204" pitchFamily="18" charset="0"/>
                        </a:rPr>
                        <m:t>𝑠</m:t>
                      </m:r>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up>
                          <m:r>
                            <a:rPr lang="es-AR" sz="1400" i="1">
                              <a:latin typeface="Cambria Math" panose="02040503050406030204" pitchFamily="18" charset="0"/>
                            </a:rPr>
                            <m:t>3</m:t>
                          </m:r>
                        </m:sup>
                      </m:sSubSup>
                    </m:oMath>
                  </m:oMathPara>
                </a14:m>
                <a:endParaRPr lang="es-AR" sz="1100" dirty="0">
                  <a:solidFill>
                    <a:schemeClr val="tx1"/>
                  </a:solidFill>
                </a:endParaRPr>
              </a:p>
            </p:txBody>
          </p:sp>
        </mc:Choice>
        <mc:Fallback xmlns="">
          <p:sp>
            <p:nvSpPr>
              <p:cNvPr id="45" name="CuadroTexto 44">
                <a:extLst>
                  <a:ext uri="{FF2B5EF4-FFF2-40B4-BE49-F238E27FC236}">
                    <a16:creationId xmlns:a16="http://schemas.microsoft.com/office/drawing/2014/main" id="{66C1F3AB-4AE6-46DD-8509-D7FEF56B7321}"/>
                  </a:ext>
                </a:extLst>
              </p:cNvPr>
              <p:cNvSpPr txBox="1">
                <a:spLocks noRot="1" noChangeAspect="1" noMove="1" noResize="1" noEditPoints="1" noAdjustHandles="1" noChangeArrowheads="1" noChangeShapeType="1" noTextEdit="1"/>
              </p:cNvSpPr>
              <p:nvPr/>
            </p:nvSpPr>
            <p:spPr>
              <a:xfrm>
                <a:off x="2568108" y="5140405"/>
                <a:ext cx="6147302" cy="336823"/>
              </a:xfrm>
              <a:prstGeom prst="rect">
                <a:avLst/>
              </a:prstGeom>
              <a:blipFill>
                <a:blip r:embed="rId7"/>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84FD4B65-A966-414C-AEEB-3570E5F53275}"/>
                  </a:ext>
                </a:extLst>
              </p:cNvPr>
              <p:cNvSpPr txBox="1"/>
              <p:nvPr/>
            </p:nvSpPr>
            <p:spPr>
              <a:xfrm>
                <a:off x="203299" y="5498537"/>
                <a:ext cx="11474382" cy="324384"/>
              </a:xfrm>
              <a:prstGeom prst="rect">
                <a:avLst/>
              </a:prstGeom>
              <a:noFill/>
            </p:spPr>
            <p:txBody>
              <a:bodyPr wrap="square">
                <a:spAutoFit/>
              </a:bodyPr>
              <a:lstStyle/>
              <a:p>
                <a:r>
                  <a:rPr lang="es-MX" sz="1400" dirty="0"/>
                  <a:t>Igualando coeficiente a coeficiente y usando los valores nominales de </a:t>
                </a: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r>
                      <a:rPr lang="es-AR" sz="1400" i="1">
                        <a:solidFill>
                          <a:schemeClr val="tx1"/>
                        </a:solidFill>
                        <a:latin typeface="Cambria Math" panose="02040503050406030204" pitchFamily="18" charset="0"/>
                      </a:rPr>
                      <m:t> </m:t>
                    </m:r>
                  </m:oMath>
                </a14:m>
                <a:r>
                  <a:rPr lang="es-MX" sz="1400" dirty="0"/>
                  <a:t>​, se obtienen las ganancias del controlador PID:</a:t>
                </a:r>
                <a:endParaRPr lang="es-AR" sz="1400" dirty="0"/>
              </a:p>
            </p:txBody>
          </p:sp>
        </mc:Choice>
        <mc:Fallback xmlns="">
          <p:sp>
            <p:nvSpPr>
              <p:cNvPr id="47" name="CuadroTexto 46">
                <a:extLst>
                  <a:ext uri="{FF2B5EF4-FFF2-40B4-BE49-F238E27FC236}">
                    <a16:creationId xmlns:a16="http://schemas.microsoft.com/office/drawing/2014/main" id="{84FD4B65-A966-414C-AEEB-3570E5F53275}"/>
                  </a:ext>
                </a:extLst>
              </p:cNvPr>
              <p:cNvSpPr txBox="1">
                <a:spLocks noRot="1" noChangeAspect="1" noMove="1" noResize="1" noEditPoints="1" noAdjustHandles="1" noChangeArrowheads="1" noChangeShapeType="1" noTextEdit="1"/>
              </p:cNvSpPr>
              <p:nvPr/>
            </p:nvSpPr>
            <p:spPr>
              <a:xfrm>
                <a:off x="203299" y="5498537"/>
                <a:ext cx="11474382" cy="324384"/>
              </a:xfrm>
              <a:prstGeom prst="rect">
                <a:avLst/>
              </a:prstGeom>
              <a:blipFill>
                <a:blip r:embed="rId8"/>
                <a:stretch>
                  <a:fillRect l="-159" t="-1887" b="-1509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9" name="CuadroTexto 48">
                <a:extLst>
                  <a:ext uri="{FF2B5EF4-FFF2-40B4-BE49-F238E27FC236}">
                    <a16:creationId xmlns:a16="http://schemas.microsoft.com/office/drawing/2014/main" id="{3DC89323-D640-45D5-B138-FB3EEF5F4665}"/>
                  </a:ext>
                </a:extLst>
              </p:cNvPr>
              <p:cNvSpPr txBox="1"/>
              <p:nvPr/>
            </p:nvSpPr>
            <p:spPr>
              <a:xfrm>
                <a:off x="3096284" y="5869854"/>
                <a:ext cx="6147302" cy="336823"/>
              </a:xfrm>
              <a:prstGeom prst="rect">
                <a:avLst/>
              </a:prstGeom>
              <a:noFill/>
            </p:spPr>
            <p:txBody>
              <a:bodyPr wrap="square">
                <a:spAutoFit/>
              </a:bodyPr>
              <a:lstStyle/>
              <a:p>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𝑎</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d>
                      <m:dPr>
                        <m:ctrlPr>
                          <a:rPr lang="es-AR" sz="1400" i="1">
                            <a:solidFill>
                              <a:schemeClr val="tx1"/>
                            </a:solidFill>
                            <a:latin typeface="Cambria Math" panose="02040503050406030204" pitchFamily="18" charset="0"/>
                          </a:rPr>
                        </m:ctrlPr>
                      </m:dPr>
                      <m:e>
                        <m:r>
                          <a:rPr lang="es-AR" sz="1400" i="0">
                            <a:solidFill>
                              <a:schemeClr val="tx1"/>
                            </a:solidFill>
                            <a:latin typeface="Cambria Math" panose="02040503050406030204" pitchFamily="18" charset="0"/>
                          </a:rPr>
                          <m:t>2</m:t>
                        </m:r>
                        <m:r>
                          <m:rPr>
                            <m:sty m:val="p"/>
                          </m:rPr>
                          <a:rPr lang="es-AR" sz="1400" i="0">
                            <a:solidFill>
                              <a:schemeClr val="tx1"/>
                            </a:solidFill>
                            <a:latin typeface="Cambria Math" panose="02040503050406030204" pitchFamily="18" charset="0"/>
                          </a:rPr>
                          <m:t>ζ</m:t>
                        </m:r>
                        <m:r>
                          <a:rPr lang="es-AR" sz="1400" i="0">
                            <a:solidFill>
                              <a:schemeClr val="tx1"/>
                            </a:solidFill>
                            <a:latin typeface="Cambria Math" panose="02040503050406030204" pitchFamily="18" charset="0"/>
                          </a:rPr>
                          <m:t>+</m:t>
                        </m:r>
                        <m:r>
                          <a:rPr lang="es-AR" sz="1400" i="0">
                            <a:solidFill>
                              <a:schemeClr val="tx1"/>
                            </a:solidFill>
                            <a:latin typeface="Cambria Math" panose="02040503050406030204" pitchFamily="18" charset="0"/>
                          </a:rPr>
                          <m:t>1</m:t>
                        </m:r>
                      </m:e>
                    </m:d>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𝑝𝑜𝑠</m:t>
                        </m:r>
                      </m:sub>
                    </m:sSub>
                  </m:oMath>
                </a14:m>
                <a:r>
                  <a:rPr lang="es-AR" sz="1400" dirty="0">
                    <a:solidFill>
                      <a:schemeClr val="tx1"/>
                    </a:solidFill>
                  </a:rPr>
                  <a:t>,      </a:t>
                </a:r>
                <a14:m>
                  <m:oMath xmlns:m="http://schemas.openxmlformats.org/officeDocument/2006/math">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𝑠𝑎</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2</m:t>
                        </m:r>
                        <m:r>
                          <m:rPr>
                            <m:sty m:val="p"/>
                          </m:rPr>
                          <a:rPr lang="es-AR" sz="1400">
                            <a:solidFill>
                              <a:schemeClr val="tx1"/>
                            </a:solidFill>
                            <a:latin typeface="Cambria Math" panose="02040503050406030204" pitchFamily="18" charset="0"/>
                          </a:rPr>
                          <m:t>ζ</m:t>
                        </m:r>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1</m:t>
                        </m:r>
                      </m:e>
                    </m:d>
                    <m:sSubSup>
                      <m:sSubSupPr>
                        <m:ctrlPr>
                          <a:rPr lang="es-AR" sz="1400" i="1">
                            <a:solidFill>
                              <a:schemeClr val="tx1"/>
                            </a:solidFill>
                            <a:latin typeface="Cambria Math" panose="02040503050406030204" pitchFamily="18" charset="0"/>
                          </a:rPr>
                        </m:ctrlPr>
                      </m:sSubSup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𝑝𝑜𝑠</m:t>
                        </m:r>
                      </m:sub>
                      <m:sup>
                        <m:r>
                          <a:rPr lang="es-AR" sz="1400" i="1">
                            <a:solidFill>
                              <a:schemeClr val="tx1"/>
                            </a:solidFill>
                            <a:latin typeface="Cambria Math" panose="02040503050406030204" pitchFamily="18" charset="0"/>
                          </a:rPr>
                          <m:t>2</m:t>
                        </m:r>
                      </m:sup>
                    </m:sSubSup>
                  </m:oMath>
                </a14:m>
                <a:r>
                  <a:rPr lang="es-AR" sz="1400" dirty="0">
                    <a:solidFill>
                      <a:schemeClr val="tx1"/>
                    </a:solidFill>
                  </a:rPr>
                  <a:t>, </a:t>
                </a:r>
                <a14:m>
                  <m:oMath xmlns:m="http://schemas.openxmlformats.org/officeDocument/2006/math">
                    <m:r>
                      <a:rPr lang="es-MX" sz="1400" b="0" i="0"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𝑠𝑖𝑎</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Sup>
                      <m:sSubSupPr>
                        <m:ctrlPr>
                          <a:rPr lang="es-AR" sz="1400" i="1">
                            <a:solidFill>
                              <a:schemeClr val="tx1"/>
                            </a:solidFill>
                            <a:latin typeface="Cambria Math" panose="02040503050406030204" pitchFamily="18" charset="0"/>
                          </a:rPr>
                        </m:ctrlPr>
                      </m:sSubSup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𝑝𝑜𝑠</m:t>
                        </m:r>
                      </m:sub>
                      <m:sup>
                        <m:r>
                          <a:rPr lang="es-AR" sz="1400" i="1">
                            <a:solidFill>
                              <a:schemeClr val="tx1"/>
                            </a:solidFill>
                            <a:latin typeface="Cambria Math" panose="02040503050406030204" pitchFamily="18" charset="0"/>
                          </a:rPr>
                          <m:t>3</m:t>
                        </m:r>
                      </m:sup>
                    </m:sSubSup>
                  </m:oMath>
                </a14:m>
                <a:r>
                  <a:rPr lang="es-AR" sz="1400" dirty="0">
                    <a:solidFill>
                      <a:schemeClr val="tx1"/>
                    </a:solidFill>
                  </a:rPr>
                  <a:t>  </a:t>
                </a:r>
                <a:endParaRPr lang="es-AR" dirty="0">
                  <a:solidFill>
                    <a:schemeClr val="tx1"/>
                  </a:solidFill>
                </a:endParaRPr>
              </a:p>
            </p:txBody>
          </p:sp>
        </mc:Choice>
        <mc:Fallback xmlns="">
          <p:sp>
            <p:nvSpPr>
              <p:cNvPr id="49" name="CuadroTexto 48">
                <a:extLst>
                  <a:ext uri="{FF2B5EF4-FFF2-40B4-BE49-F238E27FC236}">
                    <a16:creationId xmlns:a16="http://schemas.microsoft.com/office/drawing/2014/main" id="{3DC89323-D640-45D5-B138-FB3EEF5F4665}"/>
                  </a:ext>
                </a:extLst>
              </p:cNvPr>
              <p:cNvSpPr txBox="1">
                <a:spLocks noRot="1" noChangeAspect="1" noMove="1" noResize="1" noEditPoints="1" noAdjustHandles="1" noChangeArrowheads="1" noChangeShapeType="1" noTextEdit="1"/>
              </p:cNvSpPr>
              <p:nvPr/>
            </p:nvSpPr>
            <p:spPr>
              <a:xfrm>
                <a:off x="3096284" y="5869854"/>
                <a:ext cx="6147302" cy="336823"/>
              </a:xfrm>
              <a:prstGeom prst="rect">
                <a:avLst/>
              </a:prstGeom>
              <a:blipFill>
                <a:blip r:embed="rId9"/>
                <a:stretch>
                  <a:fillRect t="-1818" b="-10909"/>
                </a:stretch>
              </a:blipFill>
            </p:spPr>
            <p:txBody>
              <a:bodyPr/>
              <a:lstStyle/>
              <a:p>
                <a:r>
                  <a:rPr lang="es-AR">
                    <a:noFill/>
                  </a:rPr>
                  <a:t> </a:t>
                </a:r>
              </a:p>
            </p:txBody>
          </p:sp>
        </mc:Fallback>
      </mc:AlternateContent>
      <p:sp>
        <p:nvSpPr>
          <p:cNvPr id="19" name="Shape 2">
            <a:extLst>
              <a:ext uri="{FF2B5EF4-FFF2-40B4-BE49-F238E27FC236}">
                <a16:creationId xmlns:a16="http://schemas.microsoft.com/office/drawing/2014/main" id="{DA088553-DDC9-4DF5-824A-8089A3413CC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C0FF2FB2-94B1-4B7C-A589-304E902A5AB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496948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8940"/>
            <a:ext cx="11551615" cy="658368"/>
          </a:xfrm>
          <a:prstGeom prst="rect">
            <a:avLst/>
          </a:prstGeom>
          <a:noFill/>
        </p:spPr>
        <p:txBody>
          <a:bodyPr wrap="none">
            <a:spAutoFit/>
          </a:bodyPr>
          <a:lstStyle/>
          <a:p>
            <a:pPr algn="l"/>
            <a:r>
              <a:rPr sz="2100" b="1" dirty="0" err="1">
                <a:solidFill>
                  <a:srgbClr val="FFFFFF"/>
                </a:solidFill>
                <a:latin typeface="Cambria"/>
              </a:rPr>
              <a:t>Controlador</a:t>
            </a:r>
            <a:r>
              <a:rPr sz="2100" b="1" dirty="0">
                <a:solidFill>
                  <a:srgbClr val="FFFFFF"/>
                </a:solidFill>
                <a:latin typeface="Cambria"/>
              </a:rPr>
              <a:t> PID </a:t>
            </a:r>
            <a:r>
              <a:rPr sz="2100" b="1" dirty="0" err="1">
                <a:solidFill>
                  <a:srgbClr val="FFFFFF"/>
                </a:solidFill>
                <a:latin typeface="Cambria"/>
              </a:rPr>
              <a:t>externo</a:t>
            </a:r>
            <a:r>
              <a:rPr sz="2100" b="1" dirty="0">
                <a:solidFill>
                  <a:srgbClr val="FFFFFF"/>
                </a:solidFill>
                <a:latin typeface="Cambria"/>
              </a:rPr>
              <a:t> — Polos y </a:t>
            </a:r>
            <a:r>
              <a:rPr sz="2100" b="1" dirty="0" err="1">
                <a:solidFill>
                  <a:srgbClr val="FFFFFF"/>
                </a:solidFill>
                <a:latin typeface="Cambria"/>
              </a:rPr>
              <a:t>estabilidad</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52 / ~75</a:t>
            </a:r>
          </a:p>
        </p:txBody>
      </p:sp>
      <mc:AlternateContent xmlns:mc="http://schemas.openxmlformats.org/markup-compatibility/2006" xmlns:a14="http://schemas.microsoft.com/office/drawing/2010/main">
        <mc:Choice Requires="a14">
          <p:sp>
            <p:nvSpPr>
              <p:cNvPr id="7" name="TextBox 6"/>
              <p:cNvSpPr txBox="1"/>
              <p:nvPr/>
            </p:nvSpPr>
            <p:spPr>
              <a:xfrm>
                <a:off x="134941" y="749476"/>
                <a:ext cx="7772400" cy="539828"/>
              </a:xfrm>
              <a:prstGeom prst="rect">
                <a:avLst/>
              </a:prstGeom>
              <a:noFill/>
            </p:spPr>
            <p:txBody>
              <a:bodyPr wrap="square">
                <a:spAutoFit/>
              </a:bodyPr>
              <a:lstStyle/>
              <a:p>
                <a:pPr algn="l"/>
                <a:r>
                  <a:rPr lang="es-AR" sz="1400" b="0" i="0" dirty="0">
                    <a:solidFill>
                      <a:srgbClr val="1A1A2E"/>
                    </a:solidFill>
                    <a:latin typeface="Calibri"/>
                  </a:rPr>
                  <a:t>El polinomio característico del sistema en lazo cerrado es de 3° orden. Se analiza el movimiento de los polos cuando </a:t>
                </a: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oMath>
                </a14:m>
                <a:r>
                  <a:rPr lang="es-AR" sz="1400" b="0" i="0" dirty="0">
                    <a:solidFill>
                      <a:srgbClr val="1A1A2E"/>
                    </a:solidFill>
                    <a:latin typeface="Calibri"/>
                  </a:rPr>
                  <a:t> varía con la carga:</a:t>
                </a:r>
              </a:p>
            </p:txBody>
          </p:sp>
        </mc:Choice>
        <mc:Fallback xmlns="">
          <p:sp>
            <p:nvSpPr>
              <p:cNvPr id="7" name="TextBox 6"/>
              <p:cNvSpPr txBox="1">
                <a:spLocks noRot="1" noChangeAspect="1" noMove="1" noResize="1" noEditPoints="1" noAdjustHandles="1" noChangeArrowheads="1" noChangeShapeType="1" noTextEdit="1"/>
              </p:cNvSpPr>
              <p:nvPr/>
            </p:nvSpPr>
            <p:spPr>
              <a:xfrm>
                <a:off x="134941" y="749476"/>
                <a:ext cx="7772400" cy="539828"/>
              </a:xfrm>
              <a:prstGeom prst="rect">
                <a:avLst/>
              </a:prstGeom>
              <a:blipFill>
                <a:blip r:embed="rId2"/>
                <a:stretch>
                  <a:fillRect l="-235" t="-2247" b="-786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27278744"/>
                  </p:ext>
                </p:extLst>
              </p:nvPr>
            </p:nvGraphicFramePr>
            <p:xfrm>
              <a:off x="205962" y="1286996"/>
              <a:ext cx="7772400" cy="14630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87680">
                    <a:tc>
                      <a:txBody>
                        <a:bodyPr/>
                        <a:lstStyle/>
                        <a:p>
                          <a:r>
                            <a:rPr lang="es-AR" sz="1200" b="1" dirty="0">
                              <a:solidFill>
                                <a:schemeClr val="bg1"/>
                              </a:solidFill>
                              <a:latin typeface="Calibri"/>
                            </a:rPr>
                            <a:t>Condición </a:t>
                          </a:r>
                          <a14:m>
                            <m:oMath xmlns:m="http://schemas.openxmlformats.org/officeDocument/2006/math">
                              <m:sSub>
                                <m:sSubPr>
                                  <m:ctrlPr>
                                    <a:rPr lang="ar-AE" sz="1400" i="1" smtClean="0">
                                      <a:solidFill>
                                        <a:schemeClr val="bg1"/>
                                      </a:solidFill>
                                      <a:latin typeface="Cambria Math" panose="02040503050406030204" pitchFamily="18" charset="0"/>
                                    </a:rPr>
                                  </m:ctrlPr>
                                </m:sSubPr>
                                <m:e>
                                  <m:r>
                                    <a:rPr lang="ar-AE" sz="1400" i="1">
                                      <a:solidFill>
                                        <a:schemeClr val="bg1"/>
                                      </a:solidFill>
                                      <a:latin typeface="Cambria Math" panose="02040503050406030204" pitchFamily="18" charset="0"/>
                                    </a:rPr>
                                    <m:t>𝐽</m:t>
                                  </m:r>
                                </m:e>
                                <m:sub>
                                  <m:r>
                                    <a:rPr lang="ar-AE" sz="1400" i="1">
                                      <a:solidFill>
                                        <a:schemeClr val="bg1"/>
                                      </a:solidFill>
                                      <a:latin typeface="Cambria Math" panose="02040503050406030204" pitchFamily="18" charset="0"/>
                                    </a:rPr>
                                    <m:t>𝑒𝑞</m:t>
                                  </m:r>
                                </m:sub>
                              </m:sSub>
                            </m:oMath>
                          </a14:m>
                          <a:endParaRPr lang="ar-AE" sz="1200" b="1" dirty="0">
                            <a:solidFill>
                              <a:schemeClr val="bg1"/>
                            </a:solidFill>
                            <a:latin typeface="Calibri"/>
                          </a:endParaRPr>
                        </a:p>
                      </a:txBody>
                      <a:tcPr>
                        <a:solidFill>
                          <a:srgbClr val="1A3A6B"/>
                        </a:solidFill>
                      </a:tcPr>
                    </a:tc>
                    <a:tc>
                      <a:txBody>
                        <a:bodyPr/>
                        <a:lstStyle/>
                        <a:p>
                          <a14:m>
                            <m:oMath xmlns:m="http://schemas.openxmlformats.org/officeDocument/2006/math">
                              <m:sSub>
                                <m:sSubPr>
                                  <m:ctrlPr>
                                    <a:rPr lang="ar-AE" sz="1400" i="1" smtClean="0">
                                      <a:solidFill>
                                        <a:schemeClr val="bg1"/>
                                      </a:solidFill>
                                      <a:latin typeface="Cambria Math" panose="02040503050406030204" pitchFamily="18" charset="0"/>
                                    </a:rPr>
                                  </m:ctrlPr>
                                </m:sSubPr>
                                <m:e>
                                  <m:r>
                                    <a:rPr lang="ar-AE" sz="1400" i="1">
                                      <a:solidFill>
                                        <a:schemeClr val="bg1"/>
                                      </a:solidFill>
                                      <a:latin typeface="Cambria Math" panose="02040503050406030204" pitchFamily="18" charset="0"/>
                                    </a:rPr>
                                    <m:t>𝐽</m:t>
                                  </m:r>
                                </m:e>
                                <m:sub>
                                  <m:r>
                                    <a:rPr lang="ar-AE" sz="1400" i="1">
                                      <a:solidFill>
                                        <a:schemeClr val="bg1"/>
                                      </a:solidFill>
                                      <a:latin typeface="Cambria Math" panose="02040503050406030204" pitchFamily="18" charset="0"/>
                                    </a:rPr>
                                    <m:t>𝑒𝑞</m:t>
                                  </m:r>
                                </m:sub>
                              </m:sSub>
                            </m:oMath>
                          </a14:m>
                          <a:r>
                            <a:rPr lang="ar-AE" sz="1200" b="1" dirty="0">
                              <a:solidFill>
                                <a:schemeClr val="bg1"/>
                              </a:solidFill>
                              <a:latin typeface="Calibri"/>
                            </a:rPr>
                            <a:t> </a:t>
                          </a:r>
                          <a:r>
                            <a:rPr lang="en-US" sz="1200" b="1" dirty="0">
                              <a:solidFill>
                                <a:schemeClr val="bg1"/>
                              </a:solidFill>
                              <a:latin typeface="+mn-lt"/>
                            </a:rPr>
                            <a:t>[</a:t>
                          </a:r>
                          <a:r>
                            <a:rPr lang="es-AR" sz="1200" b="1" dirty="0">
                              <a:solidFill>
                                <a:schemeClr val="bg1"/>
                              </a:solidFill>
                              <a:latin typeface="+mn-lt"/>
                            </a:rPr>
                            <a:t>kg·m²</a:t>
                          </a:r>
                          <a:r>
                            <a:rPr lang="en-US" sz="1200" b="1" dirty="0">
                              <a:solidFill>
                                <a:schemeClr val="bg1"/>
                              </a:solidFill>
                              <a:latin typeface="+mn-lt"/>
                            </a:rPr>
                            <a:t>]</a:t>
                          </a:r>
                          <a:endParaRPr lang="es-AR" sz="1200" b="1" dirty="0">
                            <a:solidFill>
                              <a:schemeClr val="bg1"/>
                            </a:solidFill>
                            <a:latin typeface="Calibri"/>
                          </a:endParaRPr>
                        </a:p>
                      </a:txBody>
                      <a:tcPr>
                        <a:solidFill>
                          <a:srgbClr val="1A3A6B"/>
                        </a:solidFill>
                      </a:tcPr>
                    </a:tc>
                    <a:tc>
                      <a:txBody>
                        <a:bodyPr/>
                        <a:lstStyle/>
                        <a:p>
                          <a:r>
                            <a:rPr sz="1200" b="1" dirty="0">
                              <a:solidFill>
                                <a:schemeClr val="bg1"/>
                              </a:solidFill>
                              <a:latin typeface="Calibri"/>
                            </a:rPr>
                            <a:t>Polo 1 [rad/s]</a:t>
                          </a:r>
                        </a:p>
                      </a:txBody>
                      <a:tcPr>
                        <a:solidFill>
                          <a:srgbClr val="1A3A6B"/>
                        </a:solidFill>
                      </a:tcPr>
                    </a:tc>
                    <a:tc>
                      <a:txBody>
                        <a:bodyPr/>
                        <a:lstStyle/>
                        <a:p>
                          <a:r>
                            <a:rPr sz="1200" b="1" dirty="0">
                              <a:solidFill>
                                <a:schemeClr val="bg1"/>
                              </a:solidFill>
                              <a:latin typeface="Calibri"/>
                            </a:rPr>
                            <a:t>Polo 2,3 [rad/s]</a:t>
                          </a:r>
                        </a:p>
                      </a:txBody>
                      <a:tcPr>
                        <a:solidFill>
                          <a:srgbClr val="1A3A6B"/>
                        </a:solidFill>
                      </a:tcPr>
                    </a:tc>
                    <a:extLst>
                      <a:ext uri="{0D108BD9-81ED-4DB2-BD59-A6C34878D82A}">
                        <a16:rowId xmlns:a16="http://schemas.microsoft.com/office/drawing/2014/main" val="10000"/>
                      </a:ext>
                    </a:extLst>
                  </a:tr>
                  <a:tr h="487680">
                    <a:tc>
                      <a:txBody>
                        <a:bodyPr/>
                        <a:lstStyle/>
                        <a:p>
                          <a:r>
                            <a:rPr lang="es-AR" sz="1200" dirty="0">
                              <a:latin typeface="Calibri"/>
                            </a:rPr>
                            <a:t>Mínimo / Nominal  (</a:t>
                          </a:r>
                          <a14:m>
                            <m:oMath xmlns:m="http://schemas.openxmlformats.org/officeDocument/2006/math">
                              <m:sSub>
                                <m:sSubPr>
                                  <m:ctrlPr>
                                    <a:rPr lang="es-AR" sz="1200" i="1" smtClean="0">
                                      <a:solidFill>
                                        <a:schemeClr val="tx1"/>
                                      </a:solidFill>
                                      <a:latin typeface="Cambria Math" panose="02040503050406030204" pitchFamily="18" charset="0"/>
                                    </a:rPr>
                                  </m:ctrlPr>
                                </m:sSubPr>
                                <m:e>
                                  <m:r>
                                    <a:rPr lang="es-AR" sz="1200" b="0" i="1" smtClean="0">
                                      <a:solidFill>
                                        <a:schemeClr val="tx1"/>
                                      </a:solidFill>
                                      <a:latin typeface="Cambria Math" panose="02040503050406030204" pitchFamily="18" charset="0"/>
                                    </a:rPr>
                                    <m:t>𝑚</m:t>
                                  </m:r>
                                </m:e>
                                <m:sub>
                                  <m:r>
                                    <a:rPr lang="es-AR" sz="1200" b="0" i="1" smtClean="0">
                                      <a:solidFill>
                                        <a:schemeClr val="tx1"/>
                                      </a:solidFill>
                                      <a:latin typeface="Cambria Math" panose="02040503050406030204" pitchFamily="18" charset="0"/>
                                    </a:rPr>
                                    <m:t>𝑙</m:t>
                                  </m:r>
                                </m:sub>
                              </m:sSub>
                            </m:oMath>
                          </a14:m>
                          <a:r>
                            <a:rPr lang="es-AR" sz="1200" dirty="0">
                              <a:latin typeface="Calibri"/>
                            </a:rPr>
                            <a:t> = 0)</a:t>
                          </a:r>
                          <a:endParaRPr sz="1200" dirty="0">
                            <a:latin typeface="Calibri"/>
                          </a:endParaRPr>
                        </a:p>
                      </a:txBody>
                      <a:tcPr/>
                    </a:tc>
                    <a:tc>
                      <a:txBody>
                        <a:bodyPr/>
                        <a:lstStyle/>
                        <a:p>
                          <a:r>
                            <a:rPr sz="1200" dirty="0">
                              <a:latin typeface="Calibri"/>
                            </a:rPr>
                            <a:t>1.978×10⁻⁵</a:t>
                          </a:r>
                        </a:p>
                      </a:txBody>
                      <a:tcPr/>
                    </a:tc>
                    <a:tc>
                      <a:txBody>
                        <a:bodyPr/>
                        <a:lstStyle/>
                        <a:p>
                          <a:r>
                            <a:rPr sz="1200">
                              <a:latin typeface="Calibri"/>
                            </a:rPr>
                            <a:t>−800 + 0i</a:t>
                          </a:r>
                        </a:p>
                      </a:txBody>
                      <a:tcPr/>
                    </a:tc>
                    <a:tc>
                      <a:txBody>
                        <a:bodyPr/>
                        <a:lstStyle/>
                        <a:p>
                          <a:r>
                            <a:rPr sz="1200">
                              <a:latin typeface="Calibri"/>
                            </a:rPr>
                            <a:t>−600 ± 529.15i</a:t>
                          </a:r>
                        </a:p>
                      </a:txBody>
                      <a:tcPr/>
                    </a:tc>
                    <a:extLst>
                      <a:ext uri="{0D108BD9-81ED-4DB2-BD59-A6C34878D82A}">
                        <a16:rowId xmlns:a16="http://schemas.microsoft.com/office/drawing/2014/main" val="10001"/>
                      </a:ext>
                    </a:extLst>
                  </a:tr>
                  <a:tr h="487680">
                    <a:tc>
                      <a:txBody>
                        <a:bodyPr/>
                        <a:lstStyle/>
                        <a:p>
                          <a:r>
                            <a:rPr sz="1200" dirty="0" err="1">
                              <a:latin typeface="Calibri"/>
                            </a:rPr>
                            <a:t>Máximo</a:t>
                          </a:r>
                          <a:r>
                            <a:rPr sz="1200" dirty="0">
                              <a:latin typeface="Calibri"/>
                            </a:rPr>
                            <a:t>  </a:t>
                          </a:r>
                          <a:r>
                            <a:rPr lang="es-AR" sz="1200" dirty="0">
                              <a:latin typeface="+mn-lt"/>
                            </a:rPr>
                            <a:t>(</a:t>
                          </a:r>
                          <a14:m>
                            <m:oMath xmlns:m="http://schemas.openxmlformats.org/officeDocument/2006/math">
                              <m:sSub>
                                <m:sSubPr>
                                  <m:ctrlPr>
                                    <a:rPr lang="es-AR" sz="1200" i="1" smtClean="0">
                                      <a:solidFill>
                                        <a:schemeClr val="tx1"/>
                                      </a:solidFill>
                                      <a:latin typeface="Cambria Math" panose="02040503050406030204" pitchFamily="18" charset="0"/>
                                    </a:rPr>
                                  </m:ctrlPr>
                                </m:sSubPr>
                                <m:e>
                                  <m:r>
                                    <a:rPr lang="es-AR" sz="1200" b="0" i="1" smtClean="0">
                                      <a:solidFill>
                                        <a:schemeClr val="tx1"/>
                                      </a:solidFill>
                                      <a:latin typeface="Cambria Math" panose="02040503050406030204" pitchFamily="18" charset="0"/>
                                    </a:rPr>
                                    <m:t>𝑚</m:t>
                                  </m:r>
                                </m:e>
                                <m:sub>
                                  <m:r>
                                    <a:rPr lang="es-AR" sz="1200" b="0" i="1" smtClean="0">
                                      <a:solidFill>
                                        <a:schemeClr val="tx1"/>
                                      </a:solidFill>
                                      <a:latin typeface="Cambria Math" panose="02040503050406030204" pitchFamily="18" charset="0"/>
                                    </a:rPr>
                                    <m:t>𝑙</m:t>
                                  </m:r>
                                </m:sub>
                              </m:sSub>
                            </m:oMath>
                          </a14:m>
                          <a:r>
                            <a:rPr lang="es-AR" sz="1200" dirty="0">
                              <a:latin typeface="+mn-lt"/>
                            </a:rPr>
                            <a:t> = 1.5 kg)</a:t>
                          </a:r>
                          <a:endParaRPr sz="1200" dirty="0">
                            <a:latin typeface="Calibri"/>
                          </a:endParaRPr>
                        </a:p>
                      </a:txBody>
                      <a:tcPr>
                        <a:solidFill>
                          <a:srgbClr val="F0F4F8"/>
                        </a:solidFill>
                      </a:tcPr>
                    </a:tc>
                    <a:tc>
                      <a:txBody>
                        <a:bodyPr/>
                        <a:lstStyle/>
                        <a:p>
                          <a:r>
                            <a:rPr sz="1200" dirty="0">
                              <a:latin typeface="Calibri"/>
                            </a:rPr>
                            <a:t>4.583×10⁻⁵</a:t>
                          </a:r>
                        </a:p>
                      </a:txBody>
                      <a:tcPr>
                        <a:solidFill>
                          <a:srgbClr val="F0F4F8"/>
                        </a:solidFill>
                      </a:tcPr>
                    </a:tc>
                    <a:tc>
                      <a:txBody>
                        <a:bodyPr/>
                        <a:lstStyle/>
                        <a:p>
                          <a:r>
                            <a:rPr sz="1200">
                              <a:latin typeface="Calibri"/>
                            </a:rPr>
                            <a:t>−438.22 + 0i</a:t>
                          </a:r>
                        </a:p>
                      </a:txBody>
                      <a:tcPr>
                        <a:solidFill>
                          <a:srgbClr val="F0F4F8"/>
                        </a:solidFill>
                      </a:tcPr>
                    </a:tc>
                    <a:tc>
                      <a:txBody>
                        <a:bodyPr/>
                        <a:lstStyle/>
                        <a:p>
                          <a:r>
                            <a:rPr sz="1200" dirty="0">
                              <a:latin typeface="Calibri"/>
                            </a:rPr>
                            <a:t>−212.63 ± 677.65i</a:t>
                          </a:r>
                        </a:p>
                      </a:txBody>
                      <a:tcPr>
                        <a:solidFill>
                          <a:srgbClr val="F0F4F8"/>
                        </a:solidFill>
                      </a:tcPr>
                    </a:tc>
                    <a:extLst>
                      <a:ext uri="{0D108BD9-81ED-4DB2-BD59-A6C34878D82A}">
                        <a16:rowId xmlns:a16="http://schemas.microsoft.com/office/drawing/2014/main" val="10002"/>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27278744"/>
                  </p:ext>
                </p:extLst>
              </p:nvPr>
            </p:nvGraphicFramePr>
            <p:xfrm>
              <a:off x="205962" y="1286996"/>
              <a:ext cx="7772400" cy="14630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87680">
                    <a:tc>
                      <a:txBody>
                        <a:bodyPr/>
                        <a:lstStyle/>
                        <a:p>
                          <a:endParaRPr lang="es-AR"/>
                        </a:p>
                      </a:txBody>
                      <a:tcPr>
                        <a:blipFill>
                          <a:blip r:embed="rId3"/>
                          <a:stretch>
                            <a:fillRect l="-222" t="-1250" r="-184444" b="-203750"/>
                          </a:stretch>
                        </a:blipFill>
                      </a:tcPr>
                    </a:tc>
                    <a:tc>
                      <a:txBody>
                        <a:bodyPr/>
                        <a:lstStyle/>
                        <a:p>
                          <a:endParaRPr lang="es-AR"/>
                        </a:p>
                      </a:txBody>
                      <a:tcPr>
                        <a:blipFill>
                          <a:blip r:embed="rId3"/>
                          <a:stretch>
                            <a:fillRect l="-166421" t="-1250" r="-206273" b="-203750"/>
                          </a:stretch>
                        </a:blipFill>
                      </a:tcPr>
                    </a:tc>
                    <a:tc>
                      <a:txBody>
                        <a:bodyPr/>
                        <a:lstStyle/>
                        <a:p>
                          <a:r>
                            <a:rPr sz="1200" b="1" dirty="0">
                              <a:solidFill>
                                <a:schemeClr val="bg1"/>
                              </a:solidFill>
                              <a:latin typeface="Calibri"/>
                            </a:rPr>
                            <a:t>Polo 1 [rad/s]</a:t>
                          </a:r>
                        </a:p>
                      </a:txBody>
                      <a:tcPr>
                        <a:solidFill>
                          <a:srgbClr val="1A3A6B"/>
                        </a:solidFill>
                      </a:tcPr>
                    </a:tc>
                    <a:tc>
                      <a:txBody>
                        <a:bodyPr/>
                        <a:lstStyle/>
                        <a:p>
                          <a:r>
                            <a:rPr sz="1200" b="1" dirty="0">
                              <a:solidFill>
                                <a:schemeClr val="bg1"/>
                              </a:solidFill>
                              <a:latin typeface="Calibri"/>
                            </a:rPr>
                            <a:t>Polo 2,3 [rad/s]</a:t>
                          </a:r>
                        </a:p>
                      </a:txBody>
                      <a:tcPr>
                        <a:solidFill>
                          <a:srgbClr val="1A3A6B"/>
                        </a:solidFill>
                      </a:tcPr>
                    </a:tc>
                    <a:extLst>
                      <a:ext uri="{0D108BD9-81ED-4DB2-BD59-A6C34878D82A}">
                        <a16:rowId xmlns:a16="http://schemas.microsoft.com/office/drawing/2014/main" val="10000"/>
                      </a:ext>
                    </a:extLst>
                  </a:tr>
                  <a:tr h="487680">
                    <a:tc>
                      <a:txBody>
                        <a:bodyPr/>
                        <a:lstStyle/>
                        <a:p>
                          <a:endParaRPr lang="es-AR"/>
                        </a:p>
                      </a:txBody>
                      <a:tcPr>
                        <a:blipFill>
                          <a:blip r:embed="rId3"/>
                          <a:stretch>
                            <a:fillRect l="-222" t="-100000" r="-184444" b="-101235"/>
                          </a:stretch>
                        </a:blipFill>
                      </a:tcPr>
                    </a:tc>
                    <a:tc>
                      <a:txBody>
                        <a:bodyPr/>
                        <a:lstStyle/>
                        <a:p>
                          <a:r>
                            <a:rPr sz="1200" dirty="0">
                              <a:latin typeface="Calibri"/>
                            </a:rPr>
                            <a:t>1.978×10⁻⁵</a:t>
                          </a:r>
                        </a:p>
                      </a:txBody>
                      <a:tcPr/>
                    </a:tc>
                    <a:tc>
                      <a:txBody>
                        <a:bodyPr/>
                        <a:lstStyle/>
                        <a:p>
                          <a:r>
                            <a:rPr sz="1200">
                              <a:latin typeface="Calibri"/>
                            </a:rPr>
                            <a:t>−800 + 0i</a:t>
                          </a:r>
                        </a:p>
                      </a:txBody>
                      <a:tcPr/>
                    </a:tc>
                    <a:tc>
                      <a:txBody>
                        <a:bodyPr/>
                        <a:lstStyle/>
                        <a:p>
                          <a:r>
                            <a:rPr sz="1200">
                              <a:latin typeface="Calibri"/>
                            </a:rPr>
                            <a:t>−600 ± 529.15i</a:t>
                          </a:r>
                        </a:p>
                      </a:txBody>
                      <a:tcPr/>
                    </a:tc>
                    <a:extLst>
                      <a:ext uri="{0D108BD9-81ED-4DB2-BD59-A6C34878D82A}">
                        <a16:rowId xmlns:a16="http://schemas.microsoft.com/office/drawing/2014/main" val="10001"/>
                      </a:ext>
                    </a:extLst>
                  </a:tr>
                  <a:tr h="487680">
                    <a:tc>
                      <a:txBody>
                        <a:bodyPr/>
                        <a:lstStyle/>
                        <a:p>
                          <a:endParaRPr lang="es-AR"/>
                        </a:p>
                      </a:txBody>
                      <a:tcPr>
                        <a:blipFill>
                          <a:blip r:embed="rId3"/>
                          <a:stretch>
                            <a:fillRect l="-222" t="-202500" r="-184444" b="-2500"/>
                          </a:stretch>
                        </a:blipFill>
                      </a:tcPr>
                    </a:tc>
                    <a:tc>
                      <a:txBody>
                        <a:bodyPr/>
                        <a:lstStyle/>
                        <a:p>
                          <a:r>
                            <a:rPr sz="1200" dirty="0">
                              <a:latin typeface="Calibri"/>
                            </a:rPr>
                            <a:t>4.583×10⁻⁵</a:t>
                          </a:r>
                        </a:p>
                      </a:txBody>
                      <a:tcPr>
                        <a:solidFill>
                          <a:srgbClr val="F0F4F8"/>
                        </a:solidFill>
                      </a:tcPr>
                    </a:tc>
                    <a:tc>
                      <a:txBody>
                        <a:bodyPr/>
                        <a:lstStyle/>
                        <a:p>
                          <a:r>
                            <a:rPr sz="1200">
                              <a:latin typeface="Calibri"/>
                            </a:rPr>
                            <a:t>−438.22 + 0i</a:t>
                          </a:r>
                        </a:p>
                      </a:txBody>
                      <a:tcPr>
                        <a:solidFill>
                          <a:srgbClr val="F0F4F8"/>
                        </a:solidFill>
                      </a:tcPr>
                    </a:tc>
                    <a:tc>
                      <a:txBody>
                        <a:bodyPr/>
                        <a:lstStyle/>
                        <a:p>
                          <a:r>
                            <a:rPr sz="1200" dirty="0">
                              <a:latin typeface="Calibri"/>
                            </a:rPr>
                            <a:t>−212.63 ± 677.65i</a:t>
                          </a:r>
                        </a:p>
                      </a:txBody>
                      <a:tcPr>
                        <a:solidFill>
                          <a:srgbClr val="F0F4F8"/>
                        </a:solid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8320809" y="1019390"/>
                <a:ext cx="3764132" cy="1673471"/>
              </a:xfrm>
              <a:prstGeom prst="rect">
                <a:avLst/>
              </a:prstGeom>
              <a:noFill/>
            </p:spPr>
            <p:txBody>
              <a:bodyPr wrap="square">
                <a:spAutoFit/>
              </a:bodyPr>
              <a:lstStyle/>
              <a:p>
                <a:r>
                  <a:rPr lang="es-AR" sz="1350" dirty="0">
                    <a:solidFill>
                      <a:srgbClr val="1A1A2E"/>
                    </a:solidFill>
                    <a:latin typeface="Calibri"/>
                  </a:rPr>
                  <a:t>Todos los polos tienen parte real negativa → sistema estable en todo el rango de operación</a:t>
                </a:r>
              </a:p>
              <a:p>
                <a:pPr>
                  <a:spcBef>
                    <a:spcPts val="400"/>
                  </a:spcBef>
                </a:pPr>
                <a:r>
                  <a:rPr lang="es-AR" sz="1350" dirty="0">
                    <a:solidFill>
                      <a:srgbClr val="1A1A2E"/>
                    </a:solidFill>
                    <a:latin typeface="Calibri"/>
                  </a:rPr>
                  <a:t>Con mayor carga (mayor </a:t>
                </a:r>
                <a14:m>
                  <m:oMath xmlns:m="http://schemas.openxmlformats.org/officeDocument/2006/math">
                    <m:sSub>
                      <m:sSubPr>
                        <m:ctrlPr>
                          <a:rPr lang="ar-AE" sz="1400" i="1" smtClean="0">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oMath>
                </a14:m>
                <a:r>
                  <a:rPr lang="es-AR" sz="1350" dirty="0">
                    <a:solidFill>
                      <a:srgbClr val="1A1A2E"/>
                    </a:solidFill>
                    <a:latin typeface="Calibri"/>
                  </a:rPr>
                  <a:t>): los polos se acercan al eje imaginario → respuesta más lenta y con mayor amortiguamiento</a:t>
                </a:r>
              </a:p>
              <a:p>
                <a:pPr>
                  <a:spcBef>
                    <a:spcPts val="400"/>
                  </a:spcBef>
                </a:pPr>
                <a:r>
                  <a:rPr lang="es-AR" sz="1350" dirty="0">
                    <a:solidFill>
                      <a:srgbClr val="1A1A2E"/>
                    </a:solidFill>
                    <a:latin typeface="Calibri"/>
                  </a:rPr>
                  <a:t>El lazo de corriente (~5000 rad/s) es ~6× más rápido que el PID (~800 rad/s)</a:t>
                </a:r>
              </a:p>
            </p:txBody>
          </p:sp>
        </mc:Choice>
        <mc:Fallback xmlns="">
          <p:sp>
            <p:nvSpPr>
              <p:cNvPr id="12" name="TextBox 11"/>
              <p:cNvSpPr txBox="1">
                <a:spLocks noRot="1" noChangeAspect="1" noMove="1" noResize="1" noEditPoints="1" noAdjustHandles="1" noChangeArrowheads="1" noChangeShapeType="1" noTextEdit="1"/>
              </p:cNvSpPr>
              <p:nvPr/>
            </p:nvSpPr>
            <p:spPr>
              <a:xfrm>
                <a:off x="8320809" y="1019390"/>
                <a:ext cx="3764132" cy="1673471"/>
              </a:xfrm>
              <a:prstGeom prst="rect">
                <a:avLst/>
              </a:prstGeom>
              <a:blipFill>
                <a:blip r:embed="rId4"/>
                <a:stretch>
                  <a:fillRect l="-486" t="-364" b="-2545"/>
                </a:stretch>
              </a:blipFill>
            </p:spPr>
            <p:txBody>
              <a:bodyPr/>
              <a:lstStyle/>
              <a:p>
                <a:r>
                  <a:rPr lang="es-AR">
                    <a:noFill/>
                  </a:rPr>
                  <a:t> </a:t>
                </a:r>
              </a:p>
            </p:txBody>
          </p:sp>
        </mc:Fallback>
      </mc:AlternateContent>
      <p:pic>
        <p:nvPicPr>
          <p:cNvPr id="13" name="Imagen 12">
            <a:extLst>
              <a:ext uri="{FF2B5EF4-FFF2-40B4-BE49-F238E27FC236}">
                <a16:creationId xmlns:a16="http://schemas.microsoft.com/office/drawing/2014/main" id="{40251648-4944-4784-9215-2FEC23277A0B}"/>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205962" y="2750036"/>
            <a:ext cx="4179607" cy="3552488"/>
          </a:xfrm>
          <a:prstGeom prst="rect">
            <a:avLst/>
          </a:prstGeom>
          <a:noFill/>
          <a:ln>
            <a:noFill/>
          </a:ln>
        </p:spPr>
      </p:pic>
      <p:sp>
        <p:nvSpPr>
          <p:cNvPr id="14" name="CuadroTexto 13">
            <a:extLst>
              <a:ext uri="{FF2B5EF4-FFF2-40B4-BE49-F238E27FC236}">
                <a16:creationId xmlns:a16="http://schemas.microsoft.com/office/drawing/2014/main" id="{A7F13898-7A7B-4348-8846-8ACB6C965149}"/>
              </a:ext>
            </a:extLst>
          </p:cNvPr>
          <p:cNvSpPr txBox="1"/>
          <p:nvPr/>
        </p:nvSpPr>
        <p:spPr>
          <a:xfrm>
            <a:off x="508650" y="6302524"/>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35— Polos a lazo abierto vs PID vs lazo de corriente</a:t>
            </a:r>
          </a:p>
          <a:p>
            <a:endParaRPr lang="es-AR" dirty="0"/>
          </a:p>
        </p:txBody>
      </p:sp>
      <p:pic>
        <p:nvPicPr>
          <p:cNvPr id="15" name="Imagen 14">
            <a:extLst>
              <a:ext uri="{FF2B5EF4-FFF2-40B4-BE49-F238E27FC236}">
                <a16:creationId xmlns:a16="http://schemas.microsoft.com/office/drawing/2014/main" id="{D30B924B-6ADA-4163-B00E-9098F4C10E3D}"/>
              </a:ext>
            </a:extLst>
          </p:cNvPr>
          <p:cNvPicPr/>
          <p:nvPr/>
        </p:nvPicPr>
        <p:blipFill rotWithShape="1">
          <a:blip r:embed="rId6"/>
          <a:srcRect t="10309"/>
          <a:stretch/>
        </p:blipFill>
        <p:spPr bwMode="auto">
          <a:xfrm>
            <a:off x="4788898" y="3216760"/>
            <a:ext cx="6035070" cy="2091756"/>
          </a:xfrm>
          <a:prstGeom prst="rect">
            <a:avLst/>
          </a:prstGeom>
          <a:ln>
            <a:noFill/>
          </a:ln>
          <a:extLst>
            <a:ext uri="{53640926-AAD7-44D8-BBD7-CCE9431645EC}">
              <a14:shadowObscured xmlns:a14="http://schemas.microsoft.com/office/drawing/2010/main"/>
            </a:ext>
          </a:extLst>
        </p:spPr>
      </p:pic>
      <p:sp>
        <p:nvSpPr>
          <p:cNvPr id="16" name="CuadroTexto 15">
            <a:extLst>
              <a:ext uri="{FF2B5EF4-FFF2-40B4-BE49-F238E27FC236}">
                <a16:creationId xmlns:a16="http://schemas.microsoft.com/office/drawing/2014/main" id="{D17075CC-C362-42A3-A610-3883AFA2779A}"/>
              </a:ext>
            </a:extLst>
          </p:cNvPr>
          <p:cNvSpPr txBox="1"/>
          <p:nvPr/>
        </p:nvSpPr>
        <p:spPr>
          <a:xfrm>
            <a:off x="6827231" y="5355560"/>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36— Controlador PID</a:t>
            </a:r>
          </a:p>
          <a:p>
            <a:endParaRPr lang="es-AR" dirty="0"/>
          </a:p>
        </p:txBody>
      </p:sp>
      <p:sp>
        <p:nvSpPr>
          <p:cNvPr id="17" name="Shape 2">
            <a:extLst>
              <a:ext uri="{FF2B5EF4-FFF2-40B4-BE49-F238E27FC236}">
                <a16:creationId xmlns:a16="http://schemas.microsoft.com/office/drawing/2014/main" id="{F86B6778-6EED-4105-8746-98647D8B90A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8" name="Text 3">
            <a:extLst>
              <a:ext uri="{FF2B5EF4-FFF2-40B4-BE49-F238E27FC236}">
                <a16:creationId xmlns:a16="http://schemas.microsoft.com/office/drawing/2014/main" id="{8B09C948-0EBD-41CA-AA58-1AA2998234F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2024"/>
            <a:ext cx="11551615" cy="658368"/>
          </a:xfrm>
          <a:prstGeom prst="rect">
            <a:avLst/>
          </a:prstGeom>
          <a:noFill/>
        </p:spPr>
        <p:txBody>
          <a:bodyPr wrap="none">
            <a:spAutoFit/>
          </a:bodyPr>
          <a:lstStyle/>
          <a:p>
            <a:pPr algn="l"/>
            <a:r>
              <a:rPr sz="2100" b="1" dirty="0">
                <a:solidFill>
                  <a:srgbClr val="FFFFFF"/>
                </a:solidFill>
                <a:latin typeface="Cambria"/>
              </a:rPr>
              <a:t>Set-point de </a:t>
            </a:r>
            <a:r>
              <a:rPr sz="2100" b="1" dirty="0" err="1">
                <a:solidFill>
                  <a:srgbClr val="FFFFFF"/>
                </a:solidFill>
                <a:latin typeface="Cambria"/>
              </a:rPr>
              <a:t>posición</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53 / ~75</a:t>
            </a:r>
          </a:p>
        </p:txBody>
      </p:sp>
      <p:sp>
        <p:nvSpPr>
          <p:cNvPr id="7" name="TextBox 6"/>
          <p:cNvSpPr txBox="1"/>
          <p:nvPr/>
        </p:nvSpPr>
        <p:spPr>
          <a:xfrm>
            <a:off x="126063" y="717250"/>
            <a:ext cx="7772400" cy="523220"/>
          </a:xfrm>
          <a:prstGeom prst="rect">
            <a:avLst/>
          </a:prstGeom>
          <a:noFill/>
        </p:spPr>
        <p:txBody>
          <a:bodyPr wrap="square">
            <a:spAutoFit/>
          </a:bodyPr>
          <a:lstStyle/>
          <a:p>
            <a:pPr algn="l"/>
            <a:r>
              <a:rPr lang="es-AR" sz="1400" b="0" i="0" dirty="0">
                <a:solidFill>
                  <a:srgbClr val="1A1A2E"/>
                </a:solidFill>
                <a:latin typeface="Calibri"/>
              </a:rPr>
              <a:t>El set-point transforma la consigna articular q*(t) del efector final en la referencia de posición θ*m(t) del eje motor a través de la relación de transmisión r, y genera la referencia de velocidad ω*m(t):</a:t>
            </a:r>
          </a:p>
        </p:txBody>
      </p:sp>
      <p:sp>
        <p:nvSpPr>
          <p:cNvPr id="8" name="Rectangle 7"/>
          <p:cNvSpPr/>
          <p:nvPr/>
        </p:nvSpPr>
        <p:spPr>
          <a:xfrm>
            <a:off x="190314" y="1306013"/>
            <a:ext cx="7757159"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mc:AlternateContent xmlns:mc="http://schemas.openxmlformats.org/markup-compatibility/2006" xmlns:a14="http://schemas.microsoft.com/office/drawing/2010/main">
        <mc:Choice Requires="a14">
          <p:sp>
            <p:nvSpPr>
              <p:cNvPr id="9" name="TextBox 8"/>
              <p:cNvSpPr txBox="1"/>
              <p:nvPr/>
            </p:nvSpPr>
            <p:spPr>
              <a:xfrm>
                <a:off x="-225683" y="1364648"/>
                <a:ext cx="4602019" cy="317844"/>
              </a:xfrm>
              <a:prstGeom prst="rect">
                <a:avLst/>
              </a:prstGeom>
              <a:noFill/>
            </p:spPr>
            <p:txBody>
              <a:bodyPr wrap="square">
                <a:spAutoFit/>
              </a:bodyPr>
              <a:lstStyle/>
              <a:p>
                <a:pPr algn="ctr"/>
                <a14:m>
                  <m:oMath xmlns:m="http://schemas.openxmlformats.org/officeDocument/2006/math">
                    <m:sSubSup>
                      <m:sSubSupPr>
                        <m:ctrlPr>
                          <a:rPr lang="ar-AE" sz="1400" i="1" smtClean="0">
                            <a:solidFill>
                              <a:schemeClr val="tx1"/>
                            </a:solidFill>
                            <a:effectLst/>
                            <a:latin typeface="Cambria Math" panose="02040503050406030204" pitchFamily="18" charset="0"/>
                            <a:cs typeface="Calibri" panose="020F0502020204030204" pitchFamily="34" charset="0"/>
                          </a:rPr>
                        </m:ctrlPr>
                      </m:sSubSup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1</m:t>
                        </m:r>
                      </m:sub>
                      <m:sup>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ar-AE" sz="1400" i="1">
                            <a:solidFill>
                              <a:schemeClr val="tx1"/>
                            </a:solidFill>
                            <a:effectLst/>
                            <a:latin typeface="Cambria Math" panose="02040503050406030204" pitchFamily="18" charset="0"/>
                            <a:cs typeface="Calibri" panose="020F0502020204030204" pitchFamily="34" charset="0"/>
                          </a:rPr>
                        </m:ctrlPr>
                      </m:dPr>
                      <m:e>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ar-AE" sz="1400" i="1" smtClean="0">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r>
                      <a:rPr lang="ar-AE" sz="1400" i="1" smtClean="0">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𝑟</m:t>
                    </m:r>
                    <m:r>
                      <a:rPr lang="ar-AE" sz="1400" smtClean="0">
                        <a:solidFill>
                          <a:schemeClr val="tx1"/>
                        </a:solidFill>
                        <a:effectLst/>
                        <a:latin typeface="Cambria Math" panose="02040503050406030204" pitchFamily="18" charset="0"/>
                        <a:ea typeface="Calibri" panose="020F0502020204030204" pitchFamily="34" charset="0"/>
                        <a:cs typeface="Cambria Math" panose="02040503050406030204" pitchFamily="18" charset="0"/>
                      </a:rPr>
                      <m:t>⋅</m:t>
                    </m:r>
                    <m:sSubSup>
                      <m:sSubSupPr>
                        <m:ctrlPr>
                          <a:rPr lang="ar-AE" sz="1400" i="1" smtClean="0">
                            <a:solidFill>
                              <a:schemeClr val="tx1"/>
                            </a:solidFill>
                            <a:effectLst/>
                            <a:latin typeface="Cambria Math" panose="02040503050406030204" pitchFamily="18" charset="0"/>
                            <a:cs typeface="Calibri" panose="020F0502020204030204" pitchFamily="34" charset="0"/>
                          </a:rPr>
                        </m:ctrlPr>
                      </m:sSubSupPr>
                      <m:e>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𝑞</m:t>
                        </m:r>
                      </m:e>
                      <m:sub>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1</m:t>
                        </m:r>
                      </m:sub>
                      <m:sup>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oMath>
                </a14:m>
                <a:r>
                  <a:rPr lang="es-AR" sz="1400" b="1" dirty="0">
                    <a:solidFill>
                      <a:schemeClr val="tx1"/>
                    </a:solidFill>
                    <a:latin typeface="Calibri"/>
                  </a:rPr>
                  <a:t>,        </a:t>
                </a:r>
                <a14:m>
                  <m:oMath xmlns:m="http://schemas.openxmlformats.org/officeDocument/2006/math">
                    <m:sSubSup>
                      <m:sSubSupPr>
                        <m:ctrlPr>
                          <a:rPr lang="ar-AE" sz="1400" i="1">
                            <a:latin typeface="Cambria Math" panose="02040503050406030204" pitchFamily="18" charset="0"/>
                          </a:rPr>
                        </m:ctrlPr>
                      </m:sSubSupPr>
                      <m:e>
                        <m:r>
                          <m:rPr>
                            <m:sty m:val="p"/>
                          </m:rPr>
                          <a:rPr lang="el-GR" sz="1400">
                            <a:latin typeface="Cambria Math" panose="02040503050406030204" pitchFamily="18" charset="0"/>
                          </a:rPr>
                          <m:t>ω</m:t>
                        </m:r>
                      </m:e>
                      <m:sub>
                        <m:r>
                          <a:rPr lang="ar-AE" sz="1400" i="1">
                            <a:latin typeface="Cambria Math" panose="02040503050406030204" pitchFamily="18" charset="0"/>
                          </a:rPr>
                          <m:t>𝑚</m:t>
                        </m:r>
                      </m:sub>
                      <m:sup>
                        <m:r>
                          <a:rPr lang="ar-AE" sz="1400" i="1">
                            <a:latin typeface="Cambria Math" panose="02040503050406030204" pitchFamily="18" charset="0"/>
                          </a:rPr>
                          <m:t>∗</m:t>
                        </m:r>
                      </m:sup>
                    </m:sSubSup>
                    <m:d>
                      <m:dPr>
                        <m:ctrlPr>
                          <a:rPr lang="ar-AE" sz="1400" i="1">
                            <a:latin typeface="Cambria Math" panose="02040503050406030204" pitchFamily="18" charset="0"/>
                          </a:rPr>
                        </m:ctrlPr>
                      </m:dPr>
                      <m:e>
                        <m:r>
                          <a:rPr lang="ar-AE" sz="1400" i="1">
                            <a:latin typeface="Cambria Math" panose="02040503050406030204" pitchFamily="18" charset="0"/>
                          </a:rPr>
                          <m:t>𝑡</m:t>
                        </m:r>
                      </m:e>
                    </m:d>
                    <m:r>
                      <a:rPr lang="ar-AE" sz="1400" i="1">
                        <a:latin typeface="Cambria Math" panose="02040503050406030204" pitchFamily="18" charset="0"/>
                      </a:rPr>
                      <m:t>=</m:t>
                    </m:r>
                    <m:sSubSup>
                      <m:sSubSupPr>
                        <m:ctrlPr>
                          <a:rPr lang="ar-AE" sz="1400" i="1">
                            <a:latin typeface="Cambria Math" panose="02040503050406030204" pitchFamily="18" charset="0"/>
                          </a:rPr>
                        </m:ctrlPr>
                      </m:sSubSupPr>
                      <m:e>
                        <m:acc>
                          <m:accPr>
                            <m:chr m:val="̇"/>
                            <m:ctrlPr>
                              <a:rPr lang="ar-AE" sz="1400" i="1">
                                <a:latin typeface="Cambria Math" panose="02040503050406030204" pitchFamily="18" charset="0"/>
                              </a:rPr>
                            </m:ctrlPr>
                          </m:accPr>
                          <m:e>
                            <m:r>
                              <a:rPr lang="ar-AE" sz="1400" i="1">
                                <a:latin typeface="Cambria Math" panose="02040503050406030204" pitchFamily="18" charset="0"/>
                              </a:rPr>
                              <m:t>𝜃</m:t>
                            </m:r>
                          </m:e>
                        </m:acc>
                      </m:e>
                      <m:sub>
                        <m:r>
                          <a:rPr lang="ar-AE" sz="1400" i="1">
                            <a:latin typeface="Cambria Math" panose="02040503050406030204" pitchFamily="18" charset="0"/>
                          </a:rPr>
                          <m:t>1</m:t>
                        </m:r>
                      </m:sub>
                      <m:sup>
                        <m:r>
                          <a:rPr lang="ar-AE" sz="1400" i="1">
                            <a:latin typeface="Cambria Math" panose="02040503050406030204" pitchFamily="18" charset="0"/>
                          </a:rPr>
                          <m:t>∗</m:t>
                        </m:r>
                      </m:sup>
                    </m:sSubSup>
                    <m:d>
                      <m:dPr>
                        <m:ctrlPr>
                          <a:rPr lang="ar-AE" sz="1400" i="1">
                            <a:latin typeface="Cambria Math" panose="02040503050406030204" pitchFamily="18" charset="0"/>
                          </a:rPr>
                        </m:ctrlPr>
                      </m:dPr>
                      <m:e>
                        <m:r>
                          <a:rPr lang="ar-AE" sz="1400" i="1">
                            <a:latin typeface="Cambria Math" panose="02040503050406030204" pitchFamily="18" charset="0"/>
                          </a:rPr>
                          <m:t>𝑡</m:t>
                        </m:r>
                      </m:e>
                    </m:d>
                    <m:r>
                      <a:rPr lang="ar-AE" sz="1400" i="1">
                        <a:latin typeface="Cambria Math" panose="02040503050406030204" pitchFamily="18" charset="0"/>
                      </a:rPr>
                      <m:t>=</m:t>
                    </m:r>
                    <m:r>
                      <a:rPr lang="ar-AE" sz="1400" i="1">
                        <a:latin typeface="Cambria Math" panose="02040503050406030204" pitchFamily="18" charset="0"/>
                      </a:rPr>
                      <m:t>𝑟</m:t>
                    </m:r>
                    <m:r>
                      <a:rPr lang="ar-AE" sz="1400">
                        <a:latin typeface="Cambria Math" panose="02040503050406030204" pitchFamily="18" charset="0"/>
                      </a:rPr>
                      <m:t>⋅</m:t>
                    </m:r>
                    <m:sSubSup>
                      <m:sSubSupPr>
                        <m:ctrlPr>
                          <a:rPr lang="ar-AE" sz="1400" i="1">
                            <a:latin typeface="Cambria Math" panose="02040503050406030204" pitchFamily="18" charset="0"/>
                          </a:rPr>
                        </m:ctrlPr>
                      </m:sSubSupPr>
                      <m:e>
                        <m:acc>
                          <m:accPr>
                            <m:chr m:val="̇"/>
                            <m:ctrlPr>
                              <a:rPr lang="ar-AE" sz="1400" i="1">
                                <a:latin typeface="Cambria Math" panose="02040503050406030204" pitchFamily="18" charset="0"/>
                              </a:rPr>
                            </m:ctrlPr>
                          </m:accPr>
                          <m:e>
                            <m:r>
                              <a:rPr lang="ar-AE" sz="1400" i="1">
                                <a:latin typeface="Cambria Math" panose="02040503050406030204" pitchFamily="18" charset="0"/>
                              </a:rPr>
                              <m:t>𝑞</m:t>
                            </m:r>
                          </m:e>
                        </m:acc>
                      </m:e>
                      <m:sub>
                        <m:r>
                          <a:rPr lang="ar-AE" sz="1400" i="1">
                            <a:latin typeface="Cambria Math" panose="02040503050406030204" pitchFamily="18" charset="0"/>
                          </a:rPr>
                          <m:t>1</m:t>
                        </m:r>
                      </m:sub>
                      <m:sup>
                        <m:r>
                          <a:rPr lang="ar-AE" sz="1400" i="1">
                            <a:latin typeface="Cambria Math" panose="02040503050406030204" pitchFamily="18" charset="0"/>
                          </a:rPr>
                          <m:t>∗</m:t>
                        </m:r>
                      </m:sup>
                    </m:sSubSup>
                    <m:d>
                      <m:dPr>
                        <m:ctrlPr>
                          <a:rPr lang="ar-AE" sz="1400" i="1">
                            <a:latin typeface="Cambria Math" panose="02040503050406030204" pitchFamily="18" charset="0"/>
                          </a:rPr>
                        </m:ctrlPr>
                      </m:dPr>
                      <m:e>
                        <m:r>
                          <a:rPr lang="ar-AE" sz="1400" i="1">
                            <a:latin typeface="Cambria Math" panose="02040503050406030204" pitchFamily="18" charset="0"/>
                          </a:rPr>
                          <m:t>𝑡</m:t>
                        </m:r>
                      </m:e>
                    </m:d>
                  </m:oMath>
                </a14:m>
                <a:endParaRPr lang="ar-AE" sz="1400" b="1" dirty="0">
                  <a:solidFill>
                    <a:schemeClr val="tx1"/>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25683" y="1364648"/>
                <a:ext cx="4602019" cy="317844"/>
              </a:xfrm>
              <a:prstGeom prst="rect">
                <a:avLst/>
              </a:prstGeom>
              <a:blipFill>
                <a:blip r:embed="rId2"/>
                <a:stretch>
                  <a:fillRect b="-19231"/>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35D0CD8D-93C7-495B-AB38-F30E6AD15357}"/>
              </a:ext>
            </a:extLst>
          </p:cNvPr>
          <p:cNvSpPr txBox="1"/>
          <p:nvPr/>
        </p:nvSpPr>
        <p:spPr>
          <a:xfrm>
            <a:off x="126063" y="1883525"/>
            <a:ext cx="8103536" cy="954107"/>
          </a:xfrm>
          <a:prstGeom prst="rect">
            <a:avLst/>
          </a:prstGeom>
          <a:noFill/>
        </p:spPr>
        <p:txBody>
          <a:bodyPr wrap="square">
            <a:spAutoFit/>
          </a:bodyPr>
          <a:lstStyle/>
          <a:p>
            <a:pPr algn="just"/>
            <a:r>
              <a:rPr lang="es-AR" sz="1400" dirty="0">
                <a:effectLst/>
                <a:latin typeface="Calibri" panose="020F0502020204030204" pitchFamily="34" charset="0"/>
                <a:ea typeface="Times New Roman" panose="02020603050405020304" pitchFamily="18" charset="0"/>
              </a:rPr>
              <a:t>A diferencia de lo que ocurre con las variables medidas, esta derivación no introduce ruido en el sistema, dado que se opera sobre señales de referencia generadas internamente y no sobre señales físicas ruidosas. Por ello, es admisible calcular la consigna de velocidad directamente como la derivada de la consigna de posición sin necesidad de filtrado adicional.</a:t>
            </a:r>
            <a:endParaRPr lang="es-AR" sz="1600" dirty="0">
              <a:effectLst/>
              <a:latin typeface="Times New Roman" panose="02020603050405020304" pitchFamily="18" charset="0"/>
              <a:ea typeface="Times New Roman" panose="02020603050405020304" pitchFamily="18" charset="0"/>
            </a:endParaRPr>
          </a:p>
        </p:txBody>
      </p:sp>
      <p:pic>
        <p:nvPicPr>
          <p:cNvPr id="20" name="Imagen 19">
            <a:extLst>
              <a:ext uri="{FF2B5EF4-FFF2-40B4-BE49-F238E27FC236}">
                <a16:creationId xmlns:a16="http://schemas.microsoft.com/office/drawing/2014/main" id="{D832D383-2253-48FC-80B9-0A61A7187D45}"/>
              </a:ext>
            </a:extLst>
          </p:cNvPr>
          <p:cNvPicPr/>
          <p:nvPr/>
        </p:nvPicPr>
        <p:blipFill>
          <a:blip r:embed="rId3">
            <a:extLst>
              <a:ext uri="{28A0092B-C50C-407E-A947-70E740481C1C}">
                <a14:useLocalDpi xmlns:a14="http://schemas.microsoft.com/office/drawing/2010/main" val="0"/>
              </a:ext>
            </a:extLst>
          </a:blip>
          <a:stretch>
            <a:fillRect/>
          </a:stretch>
        </p:blipFill>
        <p:spPr>
          <a:xfrm>
            <a:off x="190314" y="2977063"/>
            <a:ext cx="5422900" cy="2818130"/>
          </a:xfrm>
          <a:prstGeom prst="rect">
            <a:avLst/>
          </a:prstGeom>
        </p:spPr>
      </p:pic>
      <p:sp>
        <p:nvSpPr>
          <p:cNvPr id="21" name="CuadroTexto 20">
            <a:extLst>
              <a:ext uri="{FF2B5EF4-FFF2-40B4-BE49-F238E27FC236}">
                <a16:creationId xmlns:a16="http://schemas.microsoft.com/office/drawing/2014/main" id="{7EADDBAE-F53F-4F87-B895-8E56EFF6EE68}"/>
              </a:ext>
            </a:extLst>
          </p:cNvPr>
          <p:cNvSpPr txBox="1"/>
          <p:nvPr/>
        </p:nvSpPr>
        <p:spPr>
          <a:xfrm>
            <a:off x="1446568" y="5749405"/>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37— Set-point de posición y velocidad</a:t>
            </a:r>
          </a:p>
          <a:p>
            <a:endParaRPr lang="es-AR" dirty="0"/>
          </a:p>
        </p:txBody>
      </p:sp>
      <p:sp>
        <p:nvSpPr>
          <p:cNvPr id="13" name="Shape 2">
            <a:extLst>
              <a:ext uri="{FF2B5EF4-FFF2-40B4-BE49-F238E27FC236}">
                <a16:creationId xmlns:a16="http://schemas.microsoft.com/office/drawing/2014/main" id="{C218C579-0388-44A7-B884-CE7413FDB53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0C8A6E9C-D87F-4224-904C-59C55FF67E3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822507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Observador de estado de orden reducido</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Estimación de velocidad desde posición medida</a:t>
            </a:r>
          </a:p>
        </p:txBody>
      </p:sp>
      <p:sp>
        <p:nvSpPr>
          <p:cNvPr id="5" name="Shape 4">
            <a:extLst>
              <a:ext uri="{FF2B5EF4-FFF2-40B4-BE49-F238E27FC236}">
                <a16:creationId xmlns:a16="http://schemas.microsoft.com/office/drawing/2014/main" id="{48BEC760-AC5E-4178-AEC8-5C091D4CAC7A}"/>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472" y="106511"/>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de </a:t>
            </a:r>
            <a:r>
              <a:rPr sz="2100" b="1" dirty="0" err="1">
                <a:solidFill>
                  <a:srgbClr val="FFFFFF"/>
                </a:solidFill>
                <a:latin typeface="Cambria"/>
              </a:rPr>
              <a:t>estado</a:t>
            </a:r>
            <a:r>
              <a:rPr sz="2100" b="1" dirty="0">
                <a:solidFill>
                  <a:srgbClr val="FFFFFF"/>
                </a:solidFill>
                <a:latin typeface="Cambria"/>
              </a:rPr>
              <a:t> — </a:t>
            </a:r>
            <a:r>
              <a:rPr sz="2100" b="1" dirty="0" err="1">
                <a:solidFill>
                  <a:srgbClr val="FFFFFF"/>
                </a:solidFill>
                <a:latin typeface="Cambria"/>
              </a:rPr>
              <a:t>Modelo</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55 / ~75</a:t>
            </a:r>
          </a:p>
        </p:txBody>
      </p:sp>
      <mc:AlternateContent xmlns:mc="http://schemas.openxmlformats.org/markup-compatibility/2006" xmlns:a14="http://schemas.microsoft.com/office/drawing/2010/main">
        <mc:Choice Requires="a14">
          <p:sp>
            <p:nvSpPr>
              <p:cNvPr id="7" name="TextBox 6"/>
              <p:cNvSpPr txBox="1"/>
              <p:nvPr/>
            </p:nvSpPr>
            <p:spPr>
              <a:xfrm>
                <a:off x="304800" y="734491"/>
                <a:ext cx="11430000" cy="523220"/>
              </a:xfrm>
              <a:prstGeom prst="rect">
                <a:avLst/>
              </a:prstGeom>
              <a:noFill/>
            </p:spPr>
            <p:txBody>
              <a:bodyPr wrap="square">
                <a:spAutoFit/>
              </a:bodyPr>
              <a:lstStyle/>
              <a:p>
                <a:r>
                  <a:rPr lang="es-AR" sz="1400" b="0" i="0" dirty="0">
                    <a:solidFill>
                      <a:srgbClr val="1A1A2E"/>
                    </a:solidFill>
                    <a:latin typeface="Calibri"/>
                  </a:rPr>
                  <a:t>Solo se dispone del encoder de posición </a:t>
                </a:r>
                <a14:m>
                  <m:oMath xmlns:m="http://schemas.openxmlformats.org/officeDocument/2006/math">
                    <m:sSub>
                      <m:sSubPr>
                        <m:ctrlPr>
                          <a:rPr lang="es-AR" sz="1400" i="1" smtClean="0">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b="0" i="0" dirty="0">
                    <a:solidFill>
                      <a:srgbClr val="1A1A2E"/>
                    </a:solidFill>
                    <a:latin typeface="Calibri"/>
                  </a:rPr>
                  <a:t>. Se diseña un observador de orden reducido que permita estimar la velocidad angular del motor (las corrientes y </a:t>
                </a:r>
                <a14:m>
                  <m:oMath xmlns:m="http://schemas.openxmlformats.org/officeDocument/2006/math">
                    <m:sSub>
                      <m:sSubPr>
                        <m:ctrlPr>
                          <a:rPr lang="es-AR" sz="1400" i="1">
                            <a:latin typeface="Cambria Math" panose="02040503050406030204" pitchFamily="18" charset="0"/>
                          </a:rPr>
                        </m:ctrlPr>
                      </m:sSubPr>
                      <m:e>
                        <m:r>
                          <a:rPr lang="es-AR" sz="1400" b="0" i="1" smtClean="0">
                            <a:latin typeface="Cambria Math" panose="02040503050406030204" pitchFamily="18" charset="0"/>
                          </a:rPr>
                          <m:t>𝑇</m:t>
                        </m:r>
                      </m:e>
                      <m:sub>
                        <m:r>
                          <a:rPr lang="es-AR" sz="1400" b="0" i="1" smtClean="0">
                            <a:latin typeface="Cambria Math" panose="02040503050406030204" pitchFamily="18" charset="0"/>
                          </a:rPr>
                          <m:t>𝑠</m:t>
                        </m:r>
                      </m:sub>
                    </m:sSub>
                  </m:oMath>
                </a14:m>
                <a:r>
                  <a:rPr lang="es-AR" sz="1400" b="0" i="0" dirty="0">
                    <a:solidFill>
                      <a:srgbClr val="1A1A2E"/>
                    </a:solidFill>
                    <a:latin typeface="Calibri"/>
                  </a:rPr>
                  <a:t> se miden directamente). Tomando el modelo mecánico desacoplado, tenemos:</a:t>
                </a:r>
              </a:p>
            </p:txBody>
          </p:sp>
        </mc:Choice>
        <mc:Fallback xmlns="">
          <p:sp>
            <p:nvSpPr>
              <p:cNvPr id="7" name="TextBox 6"/>
              <p:cNvSpPr txBox="1">
                <a:spLocks noRot="1" noChangeAspect="1" noMove="1" noResize="1" noEditPoints="1" noAdjustHandles="1" noChangeArrowheads="1" noChangeShapeType="1" noTextEdit="1"/>
              </p:cNvSpPr>
              <p:nvPr/>
            </p:nvSpPr>
            <p:spPr>
              <a:xfrm>
                <a:off x="304800" y="734491"/>
                <a:ext cx="11430000" cy="523220"/>
              </a:xfrm>
              <a:prstGeom prst="rect">
                <a:avLst/>
              </a:prstGeom>
              <a:blipFill>
                <a:blip r:embed="rId3"/>
                <a:stretch>
                  <a:fillRect l="-160" t="-1163" b="-11628"/>
                </a:stretch>
              </a:blipFill>
            </p:spPr>
            <p:txBody>
              <a:bodyPr/>
              <a:lstStyle/>
              <a:p>
                <a:r>
                  <a:rPr lang="es-AR">
                    <a:noFill/>
                  </a:rPr>
                  <a:t> </a:t>
                </a:r>
              </a:p>
            </p:txBody>
          </p:sp>
        </mc:Fallback>
      </mc:AlternateContent>
      <p:sp>
        <p:nvSpPr>
          <p:cNvPr id="8" name="Rectangle 7"/>
          <p:cNvSpPr/>
          <p:nvPr/>
        </p:nvSpPr>
        <p:spPr>
          <a:xfrm>
            <a:off x="365760" y="1339907"/>
            <a:ext cx="11369040" cy="89037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115409" y="1332937"/>
                <a:ext cx="3421454" cy="89037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effectLst/>
                              <a:latin typeface="Cambria Math" panose="02040503050406030204" pitchFamily="18" charset="0"/>
                            </a:rPr>
                          </m:ctrlPr>
                        </m:dPr>
                        <m:e>
                          <m:m>
                            <m:mPr>
                              <m:mcs>
                                <m:mc>
                                  <m:mcPr>
                                    <m:count m:val="1"/>
                                    <m:mcJc m:val="center"/>
                                  </m:mcPr>
                                </m:mc>
                              </m:mcs>
                              <m:ctrlPr>
                                <a:rPr lang="es-AR" sz="1400" i="1">
                                  <a:effectLst/>
                                  <a:latin typeface="Cambria Math" panose="02040503050406030204" pitchFamily="18" charset="0"/>
                                </a:rPr>
                              </m:ctrlPr>
                            </m:mPr>
                            <m:mr>
                              <m:e>
                                <m:sSub>
                                  <m:sSubPr>
                                    <m:ctrlPr>
                                      <a:rPr lang="es-AR" sz="1400" i="1">
                                        <a:effectLst/>
                                        <a:latin typeface="Cambria Math" panose="02040503050406030204" pitchFamily="18" charset="0"/>
                                        <a:cs typeface="Calibri" panose="020F0502020204030204" pitchFamily="34" charset="0"/>
                                      </a:rPr>
                                    </m:ctrlPr>
                                  </m:sSubPr>
                                  <m:e>
                                    <m:acc>
                                      <m:accPr>
                                        <m:chr m:val="̇"/>
                                        <m:ctrlPr>
                                          <a:rPr lang="es-AR" sz="1400" i="1">
                                            <a:effectLst/>
                                            <a:latin typeface="Cambria Math" panose="02040503050406030204" pitchFamily="18" charset="0"/>
                                            <a:cs typeface="Calibri" panose="020F0502020204030204" pitchFamily="34" charset="0"/>
                                          </a:rPr>
                                        </m:ctrlPr>
                                      </m:acc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acc>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rPr>
                                    </m:ctrlPr>
                                  </m:sSub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e>
                            </m:mr>
                            <m:mr>
                              <m:e>
                                <m:sSub>
                                  <m:sSubPr>
                                    <m:ctrlPr>
                                      <a:rPr lang="es-AR" sz="1400" i="1">
                                        <a:effectLst/>
                                        <a:latin typeface="Cambria Math" panose="02040503050406030204" pitchFamily="18" charset="0"/>
                                        <a:cs typeface="Calibri" panose="020F0502020204030204" pitchFamily="34" charset="0"/>
                                      </a:rPr>
                                    </m:ctrlPr>
                                  </m:sSubPr>
                                  <m:e>
                                    <m:acc>
                                      <m:accPr>
                                        <m:chr m:val="̇"/>
                                        <m:ctrlPr>
                                          <a:rPr lang="es-AR" sz="1400" i="1">
                                            <a:effectLst/>
                                            <a:latin typeface="Cambria Math" panose="02040503050406030204" pitchFamily="18" charset="0"/>
                                            <a:cs typeface="Calibri" panose="020F0502020204030204" pitchFamily="34" charset="0"/>
                                          </a:rPr>
                                        </m:ctrlPr>
                                      </m:accPr>
                                      <m:e>
                                        <m:r>
                                          <a:rPr lang="es-AR" sz="1400" i="1">
                                            <a:effectLst/>
                                            <a:latin typeface="Cambria Math" panose="02040503050406030204" pitchFamily="18" charset="0"/>
                                            <a:ea typeface="Calibri" panose="020F0502020204030204" pitchFamily="34" charset="0"/>
                                            <a:cs typeface="Calibri" panose="020F0502020204030204" pitchFamily="34" charset="0"/>
                                          </a:rPr>
                                          <m:t>𝜔</m:t>
                                        </m:r>
                                      </m:e>
                                    </m:acc>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𝑒𝑞</m:t>
                                        </m:r>
                                      </m:sub>
                                    </m:sSub>
                                  </m:den>
                                </m:f>
                                <m:d>
                                  <m:dPr>
                                    <m:ctrlPr>
                                      <a:rPr lang="es-AR" sz="1400" i="1">
                                        <a:effectLst/>
                                        <a:latin typeface="Cambria Math" panose="02040503050406030204" pitchFamily="18" charset="0"/>
                                      </a:rPr>
                                    </m:ctrlPr>
                                  </m:dPr>
                                  <m:e>
                                    <m:sSubSup>
                                      <m:sSubSupPr>
                                        <m:ctrlPr>
                                          <a:rPr lang="es-AR" sz="14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p>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den>
                                    </m:f>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𝑙𝑑</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d>
                              </m:e>
                            </m:mr>
                          </m:m>
                        </m:e>
                      </m:d>
                    </m:oMath>
                  </m:oMathPara>
                </a14:m>
                <a:endParaRPr sz="14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15409" y="1332937"/>
                <a:ext cx="3421454" cy="890372"/>
              </a:xfrm>
              <a:prstGeom prst="rect">
                <a:avLst/>
              </a:prstGeom>
              <a:blipFill>
                <a:blip r:embed="rId4"/>
                <a:stretch>
                  <a:fillRect/>
                </a:stretch>
              </a:blipFill>
            </p:spPr>
            <p:txBody>
              <a:bodyPr/>
              <a:lstStyle/>
              <a:p>
                <a:r>
                  <a:rPr lang="es-AR">
                    <a:noFill/>
                  </a:rPr>
                  <a:t> </a:t>
                </a:r>
              </a:p>
            </p:txBody>
          </p:sp>
        </mc:Fallback>
      </mc:AlternateContent>
      <p:sp>
        <p:nvSpPr>
          <p:cNvPr id="20" name="TextBox 6">
            <a:extLst>
              <a:ext uri="{FF2B5EF4-FFF2-40B4-BE49-F238E27FC236}">
                <a16:creationId xmlns:a16="http://schemas.microsoft.com/office/drawing/2014/main" id="{24C7676F-FD57-483D-A43C-66B6C70EA6F9}"/>
              </a:ext>
            </a:extLst>
          </p:cNvPr>
          <p:cNvSpPr txBox="1"/>
          <p:nvPr/>
        </p:nvSpPr>
        <p:spPr>
          <a:xfrm>
            <a:off x="304800" y="2284512"/>
            <a:ext cx="11430000" cy="307777"/>
          </a:xfrm>
          <a:prstGeom prst="rect">
            <a:avLst/>
          </a:prstGeom>
          <a:noFill/>
        </p:spPr>
        <p:txBody>
          <a:bodyPr wrap="square">
            <a:spAutoFit/>
          </a:bodyPr>
          <a:lstStyle/>
          <a:p>
            <a:r>
              <a:rPr lang="es-AR" sz="1400" b="0" i="0" dirty="0">
                <a:solidFill>
                  <a:srgbClr val="1A1A2E"/>
                </a:solidFill>
                <a:latin typeface="Calibri"/>
              </a:rPr>
              <a:t>En forma de estado:</a:t>
            </a:r>
          </a:p>
        </p:txBody>
      </p:sp>
      <p:sp>
        <p:nvSpPr>
          <p:cNvPr id="21" name="Rectangle 7">
            <a:extLst>
              <a:ext uri="{FF2B5EF4-FFF2-40B4-BE49-F238E27FC236}">
                <a16:creationId xmlns:a16="http://schemas.microsoft.com/office/drawing/2014/main" id="{90AE3172-3C04-4A3B-8141-44414D511C37}"/>
              </a:ext>
            </a:extLst>
          </p:cNvPr>
          <p:cNvSpPr/>
          <p:nvPr/>
        </p:nvSpPr>
        <p:spPr>
          <a:xfrm>
            <a:off x="365760" y="2684244"/>
            <a:ext cx="11369040" cy="63442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2" name="TextBox 8">
                <a:extLst>
                  <a:ext uri="{FF2B5EF4-FFF2-40B4-BE49-F238E27FC236}">
                    <a16:creationId xmlns:a16="http://schemas.microsoft.com/office/drawing/2014/main" id="{FB240BC1-25FB-4349-A9CE-A4E035BA01BD}"/>
                  </a:ext>
                </a:extLst>
              </p:cNvPr>
              <p:cNvSpPr txBox="1"/>
              <p:nvPr/>
            </p:nvSpPr>
            <p:spPr>
              <a:xfrm>
                <a:off x="0" y="2714997"/>
                <a:ext cx="11369039" cy="572914"/>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effectLst/>
                            <a:latin typeface="Cambria Math" panose="02040503050406030204" pitchFamily="18" charset="0"/>
                          </a:rPr>
                        </m:ctrlPr>
                      </m:dPr>
                      <m:e>
                        <m:m>
                          <m:mPr>
                            <m:mcs>
                              <m:mc>
                                <m:mcPr>
                                  <m:count m:val="1"/>
                                  <m:mcJc m:val="center"/>
                                </m:mcPr>
                              </m:mc>
                            </m:mcs>
                            <m:ctrlPr>
                              <a:rPr lang="ar-AE" sz="1400" i="1">
                                <a:solidFill>
                                  <a:schemeClr val="tx1"/>
                                </a:solidFill>
                                <a:effectLst/>
                                <a:latin typeface="Cambria Math" panose="02040503050406030204" pitchFamily="18" charset="0"/>
                              </a:rPr>
                            </m:ctrlPr>
                          </m:mPr>
                          <m:mr>
                            <m:e>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𝐴</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𝑐</m:t>
                                  </m:r>
                                </m:sub>
                              </m:s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m:t>
                                  </m:r>
                                </m:sub>
                              </m:s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mr>
                          <m:m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𝐶𝑥</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e>
                          </m:mr>
                        </m:m>
                      </m:e>
                    </m:d>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r>
                      <a:rPr lang="ar-AE" sz="1400" i="1">
                        <a:solidFill>
                          <a:schemeClr val="tx1"/>
                        </a:solidFill>
                        <a:latin typeface="Cambria Math" panose="02040503050406030204" pitchFamily="18" charset="0"/>
                      </a:rPr>
                      <m:t>𝑥</m:t>
                    </m:r>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𝜃</m:t>
                                  </m:r>
                                </m:e>
                                <m:sub>
                                  <m:r>
                                    <a:rPr lang="ar-AE" sz="1400" i="1">
                                      <a:solidFill>
                                        <a:schemeClr val="tx1"/>
                                      </a:solidFill>
                                      <a:latin typeface="Cambria Math" panose="02040503050406030204" pitchFamily="18" charset="0"/>
                                    </a:rPr>
                                    <m:t>𝑚</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e>
                          </m:m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𝜔</m:t>
                                  </m:r>
                                </m:e>
                                <m:sub>
                                  <m:r>
                                    <a:rPr lang="ar-AE" sz="1400" i="1">
                                      <a:solidFill>
                                        <a:schemeClr val="tx1"/>
                                      </a:solidFill>
                                      <a:latin typeface="Cambria Math" panose="02040503050406030204" pitchFamily="18" charset="0"/>
                                    </a:rPr>
                                    <m:t>𝑚</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e>
                          </m:mr>
                        </m:m>
                      </m:e>
                    </m:d>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𝐴</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2"/>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m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0</m:t>
                              </m:r>
                            </m:e>
                          </m:mr>
                        </m:m>
                      </m:e>
                    </m:d>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𝐵</m:t>
                        </m:r>
                      </m:e>
                      <m:sub>
                        <m:r>
                          <a:rPr lang="ar-AE" sz="1400" i="1">
                            <a:solidFill>
                              <a:schemeClr val="tx1"/>
                            </a:solidFill>
                            <a:latin typeface="Cambria Math" panose="02040503050406030204" pitchFamily="18" charset="0"/>
                          </a:rPr>
                          <m:t>𝑐</m:t>
                        </m:r>
                      </m:sub>
                    </m:sSub>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mr>
                          <m:mr>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1</m:t>
                                      </m:r>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mr>
                        </m:m>
                      </m:e>
                    </m:d>
                  </m:oMath>
                </a14:m>
                <a:r>
                  <a:rPr lang="ar-AE"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𝐵</m:t>
                        </m:r>
                      </m:e>
                      <m:sub>
                        <m:r>
                          <a:rPr lang="ar-AE" sz="1400" i="1">
                            <a:solidFill>
                              <a:schemeClr val="tx1"/>
                            </a:solidFill>
                            <a:latin typeface="Cambria Math" panose="02040503050406030204" pitchFamily="18" charset="0"/>
                          </a:rPr>
                          <m:t>𝑑</m:t>
                        </m:r>
                      </m:sub>
                    </m:sSub>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m:t>
                              </m:r>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1</m:t>
                                      </m:r>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𝑟𝐽</m:t>
                                          </m:r>
                                        </m:e>
                                        <m:sub>
                                          <m:r>
                                            <a:rPr lang="ar-AE" sz="1400" i="1">
                                              <a:solidFill>
                                                <a:schemeClr val="tx1"/>
                                              </a:solidFill>
                                              <a:latin typeface="Cambria Math" panose="02040503050406030204" pitchFamily="18" charset="0"/>
                                            </a:rPr>
                                            <m:t>𝑒𝑞</m:t>
                                          </m:r>
                                        </m:sub>
                                      </m:sSub>
                                    </m:den>
                                  </m:f>
                                </m:e>
                              </m:box>
                            </m:e>
                          </m:mr>
                        </m:m>
                      </m:e>
                    </m:d>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𝐶</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2"/>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
                      </m:e>
                    </m:d>
                    <m:r>
                      <a:rPr lang="ar-AE" sz="1400" i="1">
                        <a:solidFill>
                          <a:schemeClr val="tx1"/>
                        </a:solidFill>
                        <a:latin typeface="Cambria Math" panose="02040503050406030204" pitchFamily="18" charset="0"/>
                      </a:rPr>
                      <m:t>,  </m:t>
                    </m:r>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𝑢</m:t>
                    </m:r>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𝑚</m:t>
                        </m:r>
                      </m:sub>
                      <m:sup>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m:t>
                            </m:r>
                          </m:e>
                          <m:sup>
                            <m:r>
                              <a:rPr lang="ar-AE" sz="1400" i="1">
                                <a:solidFill>
                                  <a:schemeClr val="tx1"/>
                                </a:solidFill>
                                <a:latin typeface="Cambria Math" panose="02040503050406030204" pitchFamily="18" charset="0"/>
                              </a:rPr>
                              <m:t>′</m:t>
                            </m:r>
                          </m:sup>
                        </m:sSup>
                      </m:sup>
                    </m:sSubSup>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  </m:t>
                    </m:r>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𝑑</m:t>
                    </m:r>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𝑙𝑑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oMath>
                </a14:m>
                <a:endParaRPr lang="ar-AE" sz="1400" b="1" dirty="0">
                  <a:solidFill>
                    <a:schemeClr val="tx1"/>
                  </a:solidFill>
                  <a:latin typeface="Calibri"/>
                </a:endParaRPr>
              </a:p>
            </p:txBody>
          </p:sp>
        </mc:Choice>
        <mc:Fallback xmlns="">
          <p:sp>
            <p:nvSpPr>
              <p:cNvPr id="22" name="TextBox 8">
                <a:extLst>
                  <a:ext uri="{FF2B5EF4-FFF2-40B4-BE49-F238E27FC236}">
                    <a16:creationId xmlns:a16="http://schemas.microsoft.com/office/drawing/2014/main" id="{FB240BC1-25FB-4349-A9CE-A4E035BA01BD}"/>
                  </a:ext>
                </a:extLst>
              </p:cNvPr>
              <p:cNvSpPr txBox="1">
                <a:spLocks noRot="1" noChangeAspect="1" noMove="1" noResize="1" noEditPoints="1" noAdjustHandles="1" noChangeArrowheads="1" noChangeShapeType="1" noTextEdit="1"/>
              </p:cNvSpPr>
              <p:nvPr/>
            </p:nvSpPr>
            <p:spPr>
              <a:xfrm>
                <a:off x="0" y="2714997"/>
                <a:ext cx="11369039" cy="572914"/>
              </a:xfrm>
              <a:prstGeom prst="rect">
                <a:avLst/>
              </a:prstGeom>
              <a:blipFill>
                <a:blip r:embed="rId5"/>
                <a:stretch>
                  <a:fillRect l="-3592" t="-179787" b="-264894"/>
                </a:stretch>
              </a:blipFill>
            </p:spPr>
            <p:txBody>
              <a:bodyPr/>
              <a:lstStyle/>
              <a:p>
                <a:r>
                  <a:rPr lang="es-AR">
                    <a:noFill/>
                  </a:rPr>
                  <a:t> </a:t>
                </a:r>
              </a:p>
            </p:txBody>
          </p:sp>
        </mc:Fallback>
      </mc:AlternateContent>
      <p:sp>
        <p:nvSpPr>
          <p:cNvPr id="24" name="CuadroTexto 23">
            <a:extLst>
              <a:ext uri="{FF2B5EF4-FFF2-40B4-BE49-F238E27FC236}">
                <a16:creationId xmlns:a16="http://schemas.microsoft.com/office/drawing/2014/main" id="{49C91B21-49F2-407B-90B1-816D75E1FEAF}"/>
              </a:ext>
            </a:extLst>
          </p:cNvPr>
          <p:cNvSpPr txBox="1"/>
          <p:nvPr/>
        </p:nvSpPr>
        <p:spPr>
          <a:xfrm>
            <a:off x="274319" y="3400860"/>
            <a:ext cx="11597335" cy="543162"/>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El observador de estado se plantea entonces como un modelo dinámico que utiliza la entrada conocida del sistema y la diferencia entre la salida medida y la salida estimada para corregir el estado calculado. Su expresión es:</a:t>
            </a:r>
          </a:p>
        </p:txBody>
      </p:sp>
      <p:sp>
        <p:nvSpPr>
          <p:cNvPr id="25" name="Rectangle 7">
            <a:extLst>
              <a:ext uri="{FF2B5EF4-FFF2-40B4-BE49-F238E27FC236}">
                <a16:creationId xmlns:a16="http://schemas.microsoft.com/office/drawing/2014/main" id="{875F94AB-4862-4190-A1F5-DC1937D20F9C}"/>
              </a:ext>
            </a:extLst>
          </p:cNvPr>
          <p:cNvSpPr/>
          <p:nvPr/>
        </p:nvSpPr>
        <p:spPr>
          <a:xfrm>
            <a:off x="365760" y="3954307"/>
            <a:ext cx="11369040" cy="78009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6" name="TextBox 8">
                <a:extLst>
                  <a:ext uri="{FF2B5EF4-FFF2-40B4-BE49-F238E27FC236}">
                    <a16:creationId xmlns:a16="http://schemas.microsoft.com/office/drawing/2014/main" id="{C1A3CCA1-71AA-4D92-B255-E7566DBE7AD4}"/>
                  </a:ext>
                </a:extLst>
              </p:cNvPr>
              <p:cNvSpPr txBox="1"/>
              <p:nvPr/>
            </p:nvSpPr>
            <p:spPr>
              <a:xfrm>
                <a:off x="457200" y="3989635"/>
                <a:ext cx="4829453" cy="651910"/>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effectLst/>
                            <a:latin typeface="Cambria Math" panose="02040503050406030204" pitchFamily="18" charset="0"/>
                          </a:rPr>
                        </m:ctrlPr>
                      </m:dPr>
                      <m:e>
                        <m:m>
                          <m:mPr>
                            <m:mcs>
                              <m:mc>
                                <m:mcPr>
                                  <m:count m:val="1"/>
                                  <m:mcJc m:val="center"/>
                                </m:mcPr>
                              </m:mc>
                            </m:mcs>
                            <m:ctrlPr>
                              <a:rPr lang="ar-AE" sz="1400" i="1">
                                <a:solidFill>
                                  <a:schemeClr val="tx1"/>
                                </a:solidFill>
                                <a:effectLst/>
                                <a:latin typeface="Cambria Math" panose="02040503050406030204" pitchFamily="18" charset="0"/>
                              </a:rPr>
                            </m:ctrlPr>
                          </m:mPr>
                          <m:mr>
                            <m:e>
                              <m:acc>
                                <m:accPr>
                                  <m:chr m:val="̇"/>
                                  <m:ctrlPr>
                                    <a:rPr lang="ar-AE" sz="1400" i="1">
                                      <a:solidFill>
                                        <a:schemeClr val="tx1"/>
                                      </a:solidFill>
                                      <a:effectLst/>
                                      <a:latin typeface="Cambria Math" panose="02040503050406030204" pitchFamily="18" charset="0"/>
                                    </a:rPr>
                                  </m:ctrlPr>
                                </m:accPr>
                                <m:e>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𝐴</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𝑐</m:t>
                                  </m:r>
                                </m:sub>
                              </m:s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𝐾</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𝑒</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e>
                          </m:mr>
                          <m:m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𝐶</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e>
                          </m:mr>
                        </m:m>
                      </m:e>
                    </m:d>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𝑒</m:t>
                        </m:r>
                      </m:sub>
                    </m:sSub>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𝑘</m:t>
                                  </m:r>
                                </m:e>
                                <m:sub>
                                  <m:r>
                                    <a:rPr lang="ar-AE" sz="1400" i="1">
                                      <a:solidFill>
                                        <a:schemeClr val="tx1"/>
                                      </a:solidFill>
                                      <a:latin typeface="Cambria Math" panose="02040503050406030204" pitchFamily="18" charset="0"/>
                                    </a:rPr>
                                    <m:t>𝜃</m:t>
                                  </m:r>
                                </m:sub>
                              </m:sSub>
                            </m:e>
                          </m:m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𝑘</m:t>
                                  </m:r>
                                </m:e>
                                <m:sub>
                                  <m:r>
                                    <a:rPr lang="ar-AE" sz="1400" i="1">
                                      <a:solidFill>
                                        <a:schemeClr val="tx1"/>
                                      </a:solidFill>
                                      <a:latin typeface="Cambria Math" panose="02040503050406030204" pitchFamily="18" charset="0"/>
                                    </a:rPr>
                                    <m:t>𝜔</m:t>
                                  </m:r>
                                </m:sub>
                              </m:sSub>
                            </m:e>
                          </m:mr>
                        </m:m>
                      </m:e>
                    </m:d>
                  </m:oMath>
                </a14:m>
                <a:endParaRPr lang="ar-AE" sz="1400" b="1" dirty="0">
                  <a:solidFill>
                    <a:schemeClr val="tx1"/>
                  </a:solidFill>
                  <a:latin typeface="Calibri"/>
                </a:endParaRPr>
              </a:p>
            </p:txBody>
          </p:sp>
        </mc:Choice>
        <mc:Fallback xmlns="">
          <p:sp>
            <p:nvSpPr>
              <p:cNvPr id="26" name="TextBox 8">
                <a:extLst>
                  <a:ext uri="{FF2B5EF4-FFF2-40B4-BE49-F238E27FC236}">
                    <a16:creationId xmlns:a16="http://schemas.microsoft.com/office/drawing/2014/main" id="{C1A3CCA1-71AA-4D92-B255-E7566DBE7AD4}"/>
                  </a:ext>
                </a:extLst>
              </p:cNvPr>
              <p:cNvSpPr txBox="1">
                <a:spLocks noRot="1" noChangeAspect="1" noMove="1" noResize="1" noEditPoints="1" noAdjustHandles="1" noChangeArrowheads="1" noChangeShapeType="1" noTextEdit="1"/>
              </p:cNvSpPr>
              <p:nvPr/>
            </p:nvSpPr>
            <p:spPr>
              <a:xfrm>
                <a:off x="457200" y="3989635"/>
                <a:ext cx="4829453" cy="651910"/>
              </a:xfrm>
              <a:prstGeom prst="rect">
                <a:avLst/>
              </a:prstGeom>
              <a:blipFill>
                <a:blip r:embed="rId6"/>
                <a:stretch>
                  <a:fillRect/>
                </a:stretch>
              </a:blipFill>
            </p:spPr>
            <p:txBody>
              <a:bodyPr/>
              <a:lstStyle/>
              <a:p>
                <a:r>
                  <a:rPr lang="es-AR">
                    <a:noFill/>
                  </a:rPr>
                  <a:t> </a:t>
                </a:r>
              </a:p>
            </p:txBody>
          </p:sp>
        </mc:Fallback>
      </mc:AlternateContent>
      <p:sp>
        <p:nvSpPr>
          <p:cNvPr id="28" name="CuadroTexto 27">
            <a:extLst>
              <a:ext uri="{FF2B5EF4-FFF2-40B4-BE49-F238E27FC236}">
                <a16:creationId xmlns:a16="http://schemas.microsoft.com/office/drawing/2014/main" id="{2F33226D-8ABB-4F08-983B-543A71353E9E}"/>
              </a:ext>
            </a:extLst>
          </p:cNvPr>
          <p:cNvSpPr txBox="1"/>
          <p:nvPr/>
        </p:nvSpPr>
        <p:spPr>
          <a:xfrm>
            <a:off x="320040" y="4794288"/>
            <a:ext cx="11597335" cy="543162"/>
          </a:xfrm>
          <a:prstGeom prst="rect">
            <a:avLst/>
          </a:prstGeom>
          <a:noFill/>
        </p:spPr>
        <p:txBody>
          <a:bodyPr wrap="square">
            <a:spAutoFit/>
          </a:bodyPr>
          <a:lstStyle/>
          <a:p>
            <a:pPr algn="just">
              <a:lnSpc>
                <a:spcPct val="107000"/>
              </a:lnSpc>
              <a:spcBef>
                <a:spcPts val="600"/>
              </a:spcBef>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Asumiendo un comportamiento ideal del observador, es decir, coincidencia entre el modelo utilizado y la dinámica real de la planta, y considerando además condición inicial estimada nula, puede reescribirse el modelo del observador como:</a:t>
            </a:r>
          </a:p>
        </p:txBody>
      </p:sp>
      <p:sp>
        <p:nvSpPr>
          <p:cNvPr id="29" name="Rectangle 7">
            <a:extLst>
              <a:ext uri="{FF2B5EF4-FFF2-40B4-BE49-F238E27FC236}">
                <a16:creationId xmlns:a16="http://schemas.microsoft.com/office/drawing/2014/main" id="{279EED39-91AC-4061-B3DE-093F3EDDAB77}"/>
              </a:ext>
            </a:extLst>
          </p:cNvPr>
          <p:cNvSpPr/>
          <p:nvPr/>
        </p:nvSpPr>
        <p:spPr>
          <a:xfrm>
            <a:off x="365760" y="5431060"/>
            <a:ext cx="11369040" cy="78009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0" name="TextBox 8">
                <a:extLst>
                  <a:ext uri="{FF2B5EF4-FFF2-40B4-BE49-F238E27FC236}">
                    <a16:creationId xmlns:a16="http://schemas.microsoft.com/office/drawing/2014/main" id="{5E7E4A3F-D9F2-488D-9E24-1AC263145665}"/>
                  </a:ext>
                </a:extLst>
              </p:cNvPr>
              <p:cNvSpPr txBox="1"/>
              <p:nvPr/>
            </p:nvSpPr>
            <p:spPr>
              <a:xfrm>
                <a:off x="0" y="5458902"/>
                <a:ext cx="11163670" cy="651910"/>
              </a:xfrm>
              <a:prstGeom prst="rect">
                <a:avLst/>
              </a:prstGeom>
              <a:noFill/>
            </p:spPr>
            <p:txBody>
              <a:bodyPr wrap="square">
                <a:spAutoFit/>
              </a:bodyPr>
              <a:lstStyle/>
              <a:p>
                <a:pPr algn="ctr"/>
                <a14:m>
                  <m:oMath xmlns:m="http://schemas.openxmlformats.org/officeDocument/2006/math">
                    <m:d>
                      <m:dPr>
                        <m:begChr m:val="{"/>
                        <m:endChr m:val=""/>
                        <m:ctrlPr>
                          <a:rPr lang="es-AR" sz="1400" i="1" smtClean="0">
                            <a:latin typeface="Cambria Math" panose="02040503050406030204" pitchFamily="18" charset="0"/>
                          </a:rPr>
                        </m:ctrlPr>
                      </m:dPr>
                      <m:e>
                        <m:m>
                          <m:mPr>
                            <m:mcs>
                              <m:mc>
                                <m:mcPr>
                                  <m:count m:val="1"/>
                                  <m:mcJc m:val="center"/>
                                </m:mcPr>
                              </m:mc>
                            </m:mcs>
                            <m:ctrlPr>
                              <a:rPr lang="es-AR" sz="1400" i="1" smtClean="0">
                                <a:latin typeface="Cambria Math" panose="02040503050406030204" pitchFamily="18" charset="0"/>
                              </a:rPr>
                            </m:ctrlPr>
                          </m:mPr>
                          <m:m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𝐴</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𝑒</m:t>
                                      </m:r>
                                    </m:sub>
                                  </m:sSub>
                                  <m:r>
                                    <a:rPr lang="es-AR" sz="1400" i="1">
                                      <a:latin typeface="Cambria Math" panose="02040503050406030204" pitchFamily="18" charset="0"/>
                                    </a:rPr>
                                    <m:t>𝐶</m:t>
                                  </m:r>
                                </m:e>
                              </m:d>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𝐵</m:t>
                                  </m:r>
                                </m:e>
                                <m:sub>
                                  <m:r>
                                    <a:rPr lang="es-AR" sz="1400" i="1">
                                      <a:latin typeface="Cambria Math" panose="02040503050406030204" pitchFamily="18" charset="0"/>
                                    </a:rPr>
                                    <m:t>𝑐</m:t>
                                  </m:r>
                                </m:sub>
                              </m:sSub>
                              <m:r>
                                <a:rPr lang="es-AR" sz="1400" i="1">
                                  <a:latin typeface="Cambria Math" panose="02040503050406030204" pitchFamily="18" charset="0"/>
                                </a:rPr>
                                <m:t> </m:t>
                              </m:r>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𝑒</m:t>
                                  </m:r>
                                </m:sub>
                              </m:sSub>
                              <m:r>
                                <a:rPr lang="es-AR" sz="1400" i="1">
                                  <a:latin typeface="Cambria Math" panose="02040503050406030204" pitchFamily="18" charset="0"/>
                                </a:rPr>
                                <m:t>𝐶𝑥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r>
                            <m:e>
                              <m:acc>
                                <m:accPr>
                                  <m:chr m:val="̃"/>
                                  <m:ctrlPr>
                                    <a:rPr lang="es-AR" sz="1400" i="1">
                                      <a:latin typeface="Cambria Math" panose="02040503050406030204" pitchFamily="18" charset="0"/>
                                    </a:rPr>
                                  </m:ctrlPr>
                                </m:accPr>
                                <m:e>
                                  <m:r>
                                    <a:rPr lang="es-AR" sz="1400" i="1">
                                      <a:latin typeface="Cambria Math" panose="02040503050406030204" pitchFamily="18" charset="0"/>
                                    </a:rPr>
                                    <m:t>𝑦</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𝐶</m:t>
                              </m:r>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
                      </m:e>
                    </m:d>
                  </m:oMath>
                </a14:m>
                <a:r>
                  <a:rPr lang="es-MX" sz="1400" b="1" dirty="0">
                    <a:solidFill>
                      <a:schemeClr val="tx1"/>
                    </a:solidFill>
                    <a:latin typeface="Calibri"/>
                  </a:rPr>
                  <a:t>,          </a:t>
                </a:r>
                <a14:m>
                  <m:oMath xmlns:m="http://schemas.openxmlformats.org/officeDocument/2006/math">
                    <m:r>
                      <a:rPr lang="es-AR" sz="1400" i="1">
                        <a:latin typeface="Cambria Math" panose="02040503050406030204" pitchFamily="18" charset="0"/>
                      </a:rPr>
                      <m:t>𝑒</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MX" sz="1400" b="1" dirty="0">
                    <a:solidFill>
                      <a:schemeClr val="tx1"/>
                    </a:solidFill>
                    <a:latin typeface="Calibri"/>
                  </a:rPr>
                  <a:t>           </a:t>
                </a:r>
                <a:r>
                  <a:rPr lang="es-MX" sz="1400" b="1" dirty="0">
                    <a:solidFill>
                      <a:schemeClr val="tx1"/>
                    </a:solidFill>
                    <a:latin typeface="Cambria Math" panose="02040503050406030204" pitchFamily="18" charset="0"/>
                    <a:ea typeface="Cambria Math" panose="02040503050406030204" pitchFamily="18" charset="0"/>
                  </a:rPr>
                  <a:t>⇨                </a:t>
                </a:r>
                <a14:m>
                  <m:oMath xmlns:m="http://schemas.openxmlformats.org/officeDocument/2006/math">
                    <m:acc>
                      <m:accPr>
                        <m:chr m:val="̇"/>
                        <m:ctrlPr>
                          <a:rPr lang="es-AR" sz="1400" i="1">
                            <a:latin typeface="Cambria Math" panose="02040503050406030204" pitchFamily="18" charset="0"/>
                          </a:rPr>
                        </m:ctrlPr>
                      </m:accPr>
                      <m:e>
                        <m:r>
                          <a:rPr lang="es-AR" sz="1400" i="1">
                            <a:latin typeface="Cambria Math" panose="02040503050406030204" pitchFamily="18" charset="0"/>
                          </a:rPr>
                          <m:t>𝑒</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𝐴</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𝑒</m:t>
                            </m:r>
                          </m:sub>
                        </m:sSub>
                        <m:r>
                          <a:rPr lang="es-AR" sz="1400" i="1">
                            <a:latin typeface="Cambria Math" panose="02040503050406030204" pitchFamily="18" charset="0"/>
                          </a:rPr>
                          <m:t> </m:t>
                        </m:r>
                        <m:r>
                          <a:rPr lang="es-AR" sz="1400" i="1">
                            <a:latin typeface="Cambria Math" panose="02040503050406030204" pitchFamily="18" charset="0"/>
                          </a:rPr>
                          <m:t>𝐶</m:t>
                        </m:r>
                      </m:e>
                    </m:d>
                    <m:r>
                      <a:rPr lang="es-AR" sz="1400" i="1">
                        <a:latin typeface="Cambria Math" panose="02040503050406030204" pitchFamily="18" charset="0"/>
                      </a:rPr>
                      <m:t>𝑒</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𝐵</m:t>
                        </m:r>
                      </m:e>
                      <m:sub>
                        <m:r>
                          <a:rPr lang="es-AR" sz="1400" i="1">
                            <a:latin typeface="Cambria Math" panose="02040503050406030204" pitchFamily="18" charset="0"/>
                          </a:rPr>
                          <m:t>𝑑</m:t>
                        </m:r>
                      </m:sub>
                    </m:sSub>
                    <m:r>
                      <a:rPr lang="es-AR" sz="1400" i="1">
                        <a:latin typeface="Cambria Math" panose="02040503050406030204" pitchFamily="18" charset="0"/>
                      </a:rPr>
                      <m:t> </m:t>
                    </m:r>
                    <m:r>
                      <a:rPr lang="es-AR" sz="1400" i="1">
                        <a:latin typeface="Cambria Math" panose="02040503050406030204" pitchFamily="18" charset="0"/>
                      </a:rPr>
                      <m:t>𝑑</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a:latin typeface="Cambria Math" panose="02040503050406030204" pitchFamily="18" charset="0"/>
                      </a:rPr>
                      <m:t>  </m:t>
                    </m:r>
                    <m:r>
                      <a:rPr lang="es-AR" sz="1400" i="1">
                        <a:latin typeface="Cambria Math" panose="02040503050406030204" pitchFamily="18" charset="0"/>
                      </a:rPr>
                      <m:t>𝑒</m:t>
                    </m:r>
                    <m:d>
                      <m:dPr>
                        <m:ctrlPr>
                          <a:rPr lang="es-AR" sz="1400" i="1">
                            <a:latin typeface="Cambria Math" panose="02040503050406030204" pitchFamily="18" charset="0"/>
                          </a:rPr>
                        </m:ctrlPr>
                      </m:dPr>
                      <m:e>
                        <m:r>
                          <a:rPr lang="es-AR" sz="1400" i="1">
                            <a:latin typeface="Cambria Math" panose="02040503050406030204" pitchFamily="18" charset="0"/>
                          </a:rPr>
                          <m:t>0</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0</m:t>
                        </m:r>
                      </m:sub>
                    </m:sSub>
                  </m:oMath>
                </a14:m>
                <a:endParaRPr lang="ar-AE" sz="1400" b="1" dirty="0">
                  <a:solidFill>
                    <a:schemeClr val="tx1"/>
                  </a:solidFill>
                  <a:latin typeface="Calibri"/>
                </a:endParaRPr>
              </a:p>
            </p:txBody>
          </p:sp>
        </mc:Choice>
        <mc:Fallback xmlns="">
          <p:sp>
            <p:nvSpPr>
              <p:cNvPr id="30" name="TextBox 8">
                <a:extLst>
                  <a:ext uri="{FF2B5EF4-FFF2-40B4-BE49-F238E27FC236}">
                    <a16:creationId xmlns:a16="http://schemas.microsoft.com/office/drawing/2014/main" id="{5E7E4A3F-D9F2-488D-9E24-1AC263145665}"/>
                  </a:ext>
                </a:extLst>
              </p:cNvPr>
              <p:cNvSpPr txBox="1">
                <a:spLocks noRot="1" noChangeAspect="1" noMove="1" noResize="1" noEditPoints="1" noAdjustHandles="1" noChangeArrowheads="1" noChangeShapeType="1" noTextEdit="1"/>
              </p:cNvSpPr>
              <p:nvPr/>
            </p:nvSpPr>
            <p:spPr>
              <a:xfrm>
                <a:off x="0" y="5458902"/>
                <a:ext cx="11163670" cy="651910"/>
              </a:xfrm>
              <a:prstGeom prst="rect">
                <a:avLst/>
              </a:prstGeom>
              <a:blipFill>
                <a:blip r:embed="rId7"/>
                <a:stretch>
                  <a:fillRect/>
                </a:stretch>
              </a:blipFill>
            </p:spPr>
            <p:txBody>
              <a:bodyPr/>
              <a:lstStyle/>
              <a:p>
                <a:r>
                  <a:rPr lang="es-AR">
                    <a:noFill/>
                  </a:rPr>
                  <a:t> </a:t>
                </a:r>
              </a:p>
            </p:txBody>
          </p:sp>
        </mc:Fallback>
      </mc:AlternateContent>
      <p:sp>
        <p:nvSpPr>
          <p:cNvPr id="19" name="Shape 2">
            <a:extLst>
              <a:ext uri="{FF2B5EF4-FFF2-40B4-BE49-F238E27FC236}">
                <a16:creationId xmlns:a16="http://schemas.microsoft.com/office/drawing/2014/main" id="{A7FAA145-2C6F-4207-96A5-CA196531109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3" name="Text 3">
            <a:extLst>
              <a:ext uri="{FF2B5EF4-FFF2-40B4-BE49-F238E27FC236}">
                <a16:creationId xmlns:a16="http://schemas.microsoft.com/office/drawing/2014/main" id="{F22E5FAB-DE83-49F7-BB93-2C8957C78F5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9830" y="101084"/>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de </a:t>
            </a:r>
            <a:r>
              <a:rPr sz="2100" b="1" dirty="0" err="1">
                <a:solidFill>
                  <a:srgbClr val="FFFFFF"/>
                </a:solidFill>
                <a:latin typeface="Cambria"/>
              </a:rPr>
              <a:t>estado</a:t>
            </a:r>
            <a:r>
              <a:rPr sz="2100" b="1" dirty="0">
                <a:solidFill>
                  <a:srgbClr val="FFFFFF"/>
                </a:solidFill>
                <a:latin typeface="Cambria"/>
              </a:rPr>
              <a:t> — </a:t>
            </a:r>
            <a:r>
              <a:rPr sz="2100" b="1" dirty="0" err="1">
                <a:solidFill>
                  <a:srgbClr val="FFFFFF"/>
                </a:solidFill>
                <a:latin typeface="Cambria"/>
              </a:rPr>
              <a:t>Modelo</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55 / ~75</a:t>
            </a:r>
          </a:p>
        </p:txBody>
      </p:sp>
      <mc:AlternateContent xmlns:mc="http://schemas.openxmlformats.org/markup-compatibility/2006" xmlns:a14="http://schemas.microsoft.com/office/drawing/2010/main">
        <mc:Choice Requires="a14">
          <p:sp>
            <p:nvSpPr>
              <p:cNvPr id="7" name="TextBox 6"/>
              <p:cNvSpPr txBox="1"/>
              <p:nvPr/>
            </p:nvSpPr>
            <p:spPr>
              <a:xfrm>
                <a:off x="131833" y="735395"/>
                <a:ext cx="11430000" cy="523220"/>
              </a:xfrm>
              <a:prstGeom prst="rect">
                <a:avLst/>
              </a:prstGeom>
              <a:noFill/>
            </p:spPr>
            <p:txBody>
              <a:bodyPr wrap="square">
                <a:spAutoFit/>
              </a:bodyPr>
              <a:lstStyle/>
              <a:p>
                <a:r>
                  <a:rPr lang="es-AR" sz="1400" b="0" i="0" dirty="0">
                    <a:solidFill>
                      <a:srgbClr val="1A1A2E"/>
                    </a:solidFill>
                    <a:latin typeface="Calibri"/>
                  </a:rPr>
                  <a:t>Entonces debemos seleccionar </a:t>
                </a:r>
                <a14:m>
                  <m:oMath xmlns:m="http://schemas.openxmlformats.org/officeDocument/2006/math">
                    <m:sSub>
                      <m:sSubPr>
                        <m:ctrlPr>
                          <a:rPr lang="es-AR" sz="140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sub>
                    </m:sSub>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𝜔</m:t>
                        </m:r>
                      </m:sub>
                    </m:sSub>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de modo de imponer una dinámica conveniente para el error de estimación. La matriz asociada resulta:</a:t>
                </a:r>
              </a:p>
              <a:p>
                <a:endParaRPr lang="es-A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31833" y="735395"/>
                <a:ext cx="11430000" cy="523220"/>
              </a:xfrm>
              <a:prstGeom prst="rect">
                <a:avLst/>
              </a:prstGeom>
              <a:blipFill>
                <a:blip r:embed="rId2"/>
                <a:stretch>
                  <a:fillRect l="-160" t="-2353"/>
                </a:stretch>
              </a:blipFill>
            </p:spPr>
            <p:txBody>
              <a:bodyPr/>
              <a:lstStyle/>
              <a:p>
                <a:r>
                  <a:rPr lang="es-AR">
                    <a:noFill/>
                  </a:rPr>
                  <a:t> </a:t>
                </a:r>
              </a:p>
            </p:txBody>
          </p:sp>
        </mc:Fallback>
      </mc:AlternateContent>
      <p:sp>
        <p:nvSpPr>
          <p:cNvPr id="20" name="Rectangle 7">
            <a:extLst>
              <a:ext uri="{FF2B5EF4-FFF2-40B4-BE49-F238E27FC236}">
                <a16:creationId xmlns:a16="http://schemas.microsoft.com/office/drawing/2014/main" id="{5611EE8E-C1C3-47B1-BE3D-606C10A0A554}"/>
              </a:ext>
            </a:extLst>
          </p:cNvPr>
          <p:cNvSpPr/>
          <p:nvPr/>
        </p:nvSpPr>
        <p:spPr>
          <a:xfrm>
            <a:off x="320040" y="1093240"/>
            <a:ext cx="11369040" cy="52322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1" name="TextBox 8">
                <a:extLst>
                  <a:ext uri="{FF2B5EF4-FFF2-40B4-BE49-F238E27FC236}">
                    <a16:creationId xmlns:a16="http://schemas.microsoft.com/office/drawing/2014/main" id="{DFA47E20-2EC6-4BEE-BE51-0BACBB56C7C0}"/>
                  </a:ext>
                </a:extLst>
              </p:cNvPr>
              <p:cNvSpPr txBox="1"/>
              <p:nvPr/>
            </p:nvSpPr>
            <p:spPr>
              <a:xfrm>
                <a:off x="-119702" y="1105896"/>
                <a:ext cx="7335608" cy="493533"/>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𝐴</m:t>
                        </m:r>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𝑒</m:t>
                            </m:r>
                          </m:sub>
                        </m:sSub>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𝐶</m:t>
                        </m:r>
                      </m:e>
                    </m:d>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2"/>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𝜃</m:t>
                                  </m:r>
                                </m:sub>
                              </m:sSub>
                            </m:e>
                            <m:e>
                              <m:r>
                                <a:rPr lang="ar-AE" sz="1400" i="1">
                                  <a:solidFill>
                                    <a:schemeClr val="tx1"/>
                                  </a:solidFill>
                                  <a:latin typeface="Cambria Math" panose="02040503050406030204" pitchFamily="18" charset="0"/>
                                </a:rPr>
                                <m:t>1</m:t>
                              </m:r>
                            </m:e>
                          </m:m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𝜔</m:t>
                                  </m:r>
                                </m:sub>
                              </m:sSub>
                            </m:e>
                            <m:e>
                              <m:r>
                                <a:rPr lang="ar-AE" sz="1400" i="1">
                                  <a:solidFill>
                                    <a:schemeClr val="tx1"/>
                                  </a:solidFill>
                                  <a:latin typeface="Cambria Math" panose="02040503050406030204" pitchFamily="18" charset="0"/>
                                </a:rPr>
                                <m:t>0</m:t>
                              </m:r>
                            </m:e>
                          </m:mr>
                        </m:m>
                      </m:e>
                    </m:d>
                  </m:oMath>
                </a14:m>
                <a:r>
                  <a:rPr lang="ar-AE" sz="1400" b="1" dirty="0">
                    <a:solidFill>
                      <a:schemeClr val="tx1"/>
                    </a:solidFill>
                    <a:latin typeface="Calibri"/>
                  </a:rPr>
                  <a:t>       </a:t>
                </a:r>
                <a:r>
                  <a:rPr lang="ar-AE" sz="1400" b="1" dirty="0">
                    <a:latin typeface="Cambria Math" panose="02040503050406030204" pitchFamily="18" charset="0"/>
                    <a:ea typeface="Cambria Math" panose="02040503050406030204" pitchFamily="18" charset="0"/>
                  </a:rPr>
                  <a:t>⇨</a:t>
                </a:r>
                <a:r>
                  <a:rPr lang="ar-AE" sz="1400" b="1" dirty="0">
                    <a:solidFill>
                      <a:schemeClr val="tx1"/>
                    </a:solidFill>
                    <a:latin typeface="Cambria Math" panose="02040503050406030204" pitchFamily="18" charset="0"/>
                    <a:ea typeface="Cambria Math" panose="02040503050406030204" pitchFamily="18" charset="0"/>
                  </a:rPr>
                  <a:t>    </a:t>
                </a:r>
                <a:r>
                  <a:rPr lang="es-MX" sz="1400" b="1" dirty="0">
                    <a:solidFill>
                      <a:schemeClr val="tx1"/>
                    </a:solidFill>
                    <a:latin typeface="Cambria Math" panose="02040503050406030204" pitchFamily="18" charset="0"/>
                    <a:ea typeface="Cambria Math" panose="02040503050406030204" pitchFamily="18" charset="0"/>
                  </a:rPr>
                  <a:t> </a:t>
                </a:r>
                <a:r>
                  <a:rPr lang="ar-AE" sz="1400" b="1" dirty="0">
                    <a:solidFill>
                      <a:schemeClr val="tx1"/>
                    </a:solidFill>
                    <a:latin typeface="Cambria Math" panose="02040503050406030204" pitchFamily="18" charset="0"/>
                    <a:ea typeface="Cambria Math" panose="02040503050406030204" pitchFamily="18" charset="0"/>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𝑝</m:t>
                        </m:r>
                      </m:e>
                      <m:sub>
                        <m:r>
                          <a:rPr lang="ar-AE" sz="1400" i="1">
                            <a:solidFill>
                              <a:schemeClr val="tx1"/>
                            </a:solidFill>
                            <a:latin typeface="Cambria Math" panose="02040503050406030204" pitchFamily="18" charset="0"/>
                          </a:rPr>
                          <m:t>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e>
                    </m:d>
                    <m:r>
                      <a:rPr lang="ar-AE" sz="1400" i="1">
                        <a:solidFill>
                          <a:schemeClr val="tx1"/>
                        </a:solidFill>
                        <a:latin typeface="Cambria Math" panose="02040503050406030204" pitchFamily="18" charset="0"/>
                      </a:rPr>
                      <m:t>=</m:t>
                    </m:r>
                    <m:sSup>
                      <m:sSupPr>
                        <m:ctrlPr>
                          <a:rPr lang="ar-AE" sz="1400" i="1">
                            <a:solidFill>
                              <a:schemeClr val="tx1"/>
                            </a:solidFill>
                            <a:latin typeface="Cambria Math" panose="02040503050406030204" pitchFamily="18" charset="0"/>
                          </a:rPr>
                        </m:ctrlPr>
                      </m:sSupPr>
                      <m:e>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3200</m:t>
                            </m:r>
                          </m:e>
                        </m:d>
                      </m:e>
                      <m:sup>
                        <m:r>
                          <a:rPr lang="ar-AE" sz="1400" i="1">
                            <a:solidFill>
                              <a:schemeClr val="tx1"/>
                            </a:solidFill>
                            <a:latin typeface="Cambria Math" panose="02040503050406030204" pitchFamily="18" charset="0"/>
                          </a:rPr>
                          <m:t>2</m:t>
                        </m:r>
                      </m:sup>
                    </m:sSup>
                    <m:r>
                      <a:rPr lang="ar-AE" sz="1400" i="1">
                        <a:solidFill>
                          <a:schemeClr val="tx1"/>
                        </a:solidFill>
                        <a:latin typeface="Cambria Math" panose="02040503050406030204" pitchFamily="18" charset="0"/>
                      </a:rPr>
                      <m:t>=</m:t>
                    </m:r>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𝑠</m:t>
                        </m:r>
                      </m:e>
                      <m:sup>
                        <m:r>
                          <a:rPr lang="ar-AE" sz="1400" i="1">
                            <a:solidFill>
                              <a:schemeClr val="tx1"/>
                            </a:solidFill>
                            <a:latin typeface="Cambria Math" panose="02040503050406030204" pitchFamily="18" charset="0"/>
                          </a:rPr>
                          <m:t>2</m:t>
                        </m:r>
                      </m:sup>
                    </m:s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6400</m:t>
                    </m:r>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𝑠</m:t>
                    </m:r>
                    <m:r>
                      <a:rPr lang="ar-AE" sz="1400" i="1">
                        <a:solidFill>
                          <a:schemeClr val="tx1"/>
                        </a:solidFill>
                        <a:latin typeface="Cambria Math" panose="02040503050406030204" pitchFamily="18" charset="0"/>
                      </a:rPr>
                      <m:t>+</m:t>
                    </m:r>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3200</m:t>
                        </m:r>
                      </m:e>
                      <m:sup>
                        <m:r>
                          <a:rPr lang="ar-AE" sz="1400" i="1">
                            <a:solidFill>
                              <a:schemeClr val="tx1"/>
                            </a:solidFill>
                            <a:latin typeface="Cambria Math" panose="02040503050406030204" pitchFamily="18" charset="0"/>
                          </a:rPr>
                          <m:t>2</m:t>
                        </m:r>
                      </m:sup>
                    </m:sSup>
                  </m:oMath>
                </a14:m>
                <a:r>
                  <a:rPr lang="ar-AE" sz="1400" b="1" dirty="0">
                    <a:solidFill>
                      <a:schemeClr val="tx1"/>
                    </a:solidFill>
                    <a:latin typeface="Cambria Math" panose="02040503050406030204" pitchFamily="18" charset="0"/>
                    <a:ea typeface="Cambria Math" panose="02040503050406030204" pitchFamily="18" charset="0"/>
                  </a:rPr>
                  <a:t>   </a:t>
                </a:r>
                <a:endParaRPr lang="ar-AE" sz="1400" b="1" dirty="0">
                  <a:solidFill>
                    <a:schemeClr val="tx1"/>
                  </a:solidFill>
                  <a:latin typeface="Calibri"/>
                </a:endParaRPr>
              </a:p>
            </p:txBody>
          </p:sp>
        </mc:Choice>
        <mc:Fallback xmlns="">
          <p:sp>
            <p:nvSpPr>
              <p:cNvPr id="21" name="TextBox 8">
                <a:extLst>
                  <a:ext uri="{FF2B5EF4-FFF2-40B4-BE49-F238E27FC236}">
                    <a16:creationId xmlns:a16="http://schemas.microsoft.com/office/drawing/2014/main" id="{DFA47E20-2EC6-4BEE-BE51-0BACBB56C7C0}"/>
                  </a:ext>
                </a:extLst>
              </p:cNvPr>
              <p:cNvSpPr txBox="1">
                <a:spLocks noRot="1" noChangeAspect="1" noMove="1" noResize="1" noEditPoints="1" noAdjustHandles="1" noChangeArrowheads="1" noChangeShapeType="1" noTextEdit="1"/>
              </p:cNvSpPr>
              <p:nvPr/>
            </p:nvSpPr>
            <p:spPr>
              <a:xfrm>
                <a:off x="-119702" y="1105896"/>
                <a:ext cx="7335608" cy="493533"/>
              </a:xfrm>
              <a:prstGeom prst="rect">
                <a:avLst/>
              </a:prstGeom>
              <a:blipFill>
                <a:blip r:embed="rId3"/>
                <a:stretch>
                  <a:fillRect/>
                </a:stretch>
              </a:blipFill>
            </p:spPr>
            <p:txBody>
              <a:bodyPr/>
              <a:lstStyle/>
              <a:p>
                <a:r>
                  <a:rPr lang="es-AR">
                    <a:noFill/>
                  </a:rPr>
                  <a:t> </a:t>
                </a:r>
              </a:p>
            </p:txBody>
          </p:sp>
        </mc:Fallback>
      </mc:AlternateContent>
      <p:sp>
        <p:nvSpPr>
          <p:cNvPr id="23" name="CuadroTexto 22">
            <a:extLst>
              <a:ext uri="{FF2B5EF4-FFF2-40B4-BE49-F238E27FC236}">
                <a16:creationId xmlns:a16="http://schemas.microsoft.com/office/drawing/2014/main" id="{FAC5CE4D-CD54-4117-81A6-349B554E6427}"/>
              </a:ext>
            </a:extLst>
          </p:cNvPr>
          <p:cNvSpPr txBox="1"/>
          <p:nvPr/>
        </p:nvSpPr>
        <p:spPr>
          <a:xfrm>
            <a:off x="151208" y="1734307"/>
            <a:ext cx="11558282" cy="312650"/>
          </a:xfrm>
          <a:prstGeom prst="rect">
            <a:avLst/>
          </a:prstGeom>
          <a:noFill/>
        </p:spPr>
        <p:txBody>
          <a:bodyPr wrap="square">
            <a:spAutoFit/>
          </a:bodyPr>
          <a:lstStyle/>
          <a:p>
            <a:pPr algn="just">
              <a:lnSpc>
                <a:spcPct val="107000"/>
              </a:lnSpc>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Igualando término a término entre el polinomio característico del observador y el polinomio deseado, se obtienen las ganancias buscadas:</a:t>
            </a:r>
          </a:p>
        </p:txBody>
      </p:sp>
      <p:sp>
        <p:nvSpPr>
          <p:cNvPr id="24" name="Rectangle 7">
            <a:extLst>
              <a:ext uri="{FF2B5EF4-FFF2-40B4-BE49-F238E27FC236}">
                <a16:creationId xmlns:a16="http://schemas.microsoft.com/office/drawing/2014/main" id="{7DC6A6E1-F8E3-4B27-900A-73C6F18A9F0E}"/>
              </a:ext>
            </a:extLst>
          </p:cNvPr>
          <p:cNvSpPr/>
          <p:nvPr/>
        </p:nvSpPr>
        <p:spPr>
          <a:xfrm>
            <a:off x="320040" y="2084933"/>
            <a:ext cx="11369040" cy="83265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5" name="TextBox 8">
                <a:extLst>
                  <a:ext uri="{FF2B5EF4-FFF2-40B4-BE49-F238E27FC236}">
                    <a16:creationId xmlns:a16="http://schemas.microsoft.com/office/drawing/2014/main" id="{18B232AB-6313-4F1D-9651-FBB27FD8072F}"/>
                  </a:ext>
                </a:extLst>
              </p:cNvPr>
              <p:cNvSpPr txBox="1"/>
              <p:nvPr/>
            </p:nvSpPr>
            <p:spPr>
              <a:xfrm>
                <a:off x="-1055789" y="2027533"/>
                <a:ext cx="9207781" cy="890052"/>
              </a:xfrm>
              <a:prstGeom prst="rect">
                <a:avLst/>
              </a:prstGeom>
              <a:noFill/>
            </p:spPr>
            <p:txBody>
              <a:bodyPr wrap="square">
                <a:spAutoFit/>
              </a:bodyPr>
              <a:lstStyle/>
              <a:p>
                <a:pPr algn="ctr"/>
                <a14:m>
                  <m:oMath xmlns:m="http://schemas.openxmlformats.org/officeDocument/2006/math">
                    <m:d>
                      <m:dPr>
                        <m:begChr m:val="{"/>
                        <m:endChr m:val=""/>
                        <m:ctrlPr>
                          <a:rPr lang="es-AR" sz="1400" i="1" smtClean="0">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m:rPr>
                                      <m:sty m:val="p"/>
                                    </m:rPr>
                                    <a:rPr lang="es-AR" sz="1400">
                                      <a:latin typeface="Cambria Math" panose="02040503050406030204" pitchFamily="18" charset="0"/>
                                    </a:rPr>
                                    <m:t>θ</m:t>
                                  </m:r>
                                </m:sub>
                              </m:sSub>
                              <m:r>
                                <a:rPr lang="en-US" sz="1400" i="1">
                                  <a:latin typeface="Cambria Math" panose="02040503050406030204" pitchFamily="18" charset="0"/>
                                </a:rPr>
                                <m:t>=</m:t>
                              </m:r>
                              <m:r>
                                <a:rPr lang="en-US" sz="1400" i="1">
                                  <a:latin typeface="Cambria Math" panose="02040503050406030204" pitchFamily="18" charset="0"/>
                                </a:rPr>
                                <m:t>6</m:t>
                              </m:r>
                              <m:r>
                                <a:rPr lang="en-US" sz="1400" i="1">
                                  <a:latin typeface="Cambria Math" panose="02040503050406030204" pitchFamily="18" charset="0"/>
                                </a:rPr>
                                <m:t>.</m:t>
                              </m:r>
                              <m:r>
                                <a:rPr lang="en-US" sz="1400" i="1">
                                  <a:latin typeface="Cambria Math" panose="02040503050406030204" pitchFamily="18" charset="0"/>
                                </a:rPr>
                                <m:t>4</m:t>
                              </m:r>
                              <m:r>
                                <a:rPr lang="en-US" sz="1400">
                                  <a:latin typeface="Cambria Math" panose="02040503050406030204" pitchFamily="18" charset="0"/>
                                </a:rPr>
                                <m:t>×</m:t>
                              </m:r>
                              <m:sSup>
                                <m:sSupPr>
                                  <m:ctrlPr>
                                    <a:rPr lang="es-AR" sz="1400" i="1">
                                      <a:latin typeface="Cambria Math" panose="02040503050406030204" pitchFamily="18" charset="0"/>
                                    </a:rPr>
                                  </m:ctrlPr>
                                </m:sSupPr>
                                <m:e>
                                  <m:r>
                                    <a:rPr lang="en-US" sz="1400" i="1">
                                      <a:latin typeface="Cambria Math" panose="02040503050406030204" pitchFamily="18" charset="0"/>
                                    </a:rPr>
                                    <m:t>10</m:t>
                                  </m:r>
                                </m:e>
                                <m:sup>
                                  <m:r>
                                    <a:rPr lang="en-US" sz="1400" i="1">
                                      <a:latin typeface="Cambria Math" panose="02040503050406030204" pitchFamily="18" charset="0"/>
                                    </a:rPr>
                                    <m:t>3</m:t>
                                  </m:r>
                                </m:sup>
                              </m:sSup>
                              <m:r>
                                <a:rPr lang="en-US" sz="1400" i="1">
                                  <a:latin typeface="Cambria Math" panose="02040503050406030204" pitchFamily="18" charset="0"/>
                                </a:rPr>
                                <m:t> </m:t>
                              </m:r>
                              <m:r>
                                <m:rPr>
                                  <m:nor/>
                                </m:rPr>
                                <a:rPr lang="en-US" sz="1400"/>
                                <m:t>rad</m:t>
                              </m:r>
                              <m:r>
                                <m:rPr>
                                  <m:lit/>
                                  <m:nor/>
                                </m:rPr>
                                <a:rPr lang="en-US" sz="1400"/>
                                <m:t>/</m:t>
                              </m:r>
                              <m:r>
                                <m:rPr>
                                  <m:nor/>
                                </m:rPr>
                                <a:rPr lang="en-US" sz="1400"/>
                                <m:t>s</m:t>
                              </m:r>
                              <m:r>
                                <a:rPr lang="es-MX" sz="1400" b="0" i="1" smtClean="0">
                                  <a:latin typeface="Cambria Math" panose="02040503050406030204" pitchFamily="18" charset="0"/>
                                </a:rPr>
                                <m:t>           </m:t>
                              </m:r>
                            </m:e>
                          </m:m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m:rPr>
                                      <m:sty m:val="p"/>
                                    </m:rPr>
                                    <a:rPr lang="es-AR" sz="1400">
                                      <a:latin typeface="Cambria Math" panose="02040503050406030204" pitchFamily="18" charset="0"/>
                                    </a:rPr>
                                    <m:t>ω</m:t>
                                  </m:r>
                                </m:sub>
                              </m:sSub>
                              <m:r>
                                <a:rPr lang="en-US" sz="1400" i="1">
                                  <a:latin typeface="Cambria Math" panose="02040503050406030204" pitchFamily="18" charset="0"/>
                                </a:rPr>
                                <m:t>=</m:t>
                              </m:r>
                              <m:r>
                                <a:rPr lang="en-US" sz="1400" i="1">
                                  <a:latin typeface="Cambria Math" panose="02040503050406030204" pitchFamily="18" charset="0"/>
                                </a:rPr>
                                <m:t>1</m:t>
                              </m:r>
                              <m:r>
                                <a:rPr lang="en-US" sz="1400" i="1">
                                  <a:latin typeface="Cambria Math" panose="02040503050406030204" pitchFamily="18" charset="0"/>
                                </a:rPr>
                                <m:t>.</m:t>
                              </m:r>
                              <m:r>
                                <a:rPr lang="en-US" sz="1400" i="1">
                                  <a:latin typeface="Cambria Math" panose="02040503050406030204" pitchFamily="18" charset="0"/>
                                </a:rPr>
                                <m:t>024</m:t>
                              </m:r>
                              <m:r>
                                <a:rPr lang="en-US" sz="1400">
                                  <a:latin typeface="Cambria Math" panose="02040503050406030204" pitchFamily="18" charset="0"/>
                                </a:rPr>
                                <m:t>×</m:t>
                              </m:r>
                              <m:sSup>
                                <m:sSupPr>
                                  <m:ctrlPr>
                                    <a:rPr lang="es-AR" sz="1400" i="1">
                                      <a:latin typeface="Cambria Math" panose="02040503050406030204" pitchFamily="18" charset="0"/>
                                    </a:rPr>
                                  </m:ctrlPr>
                                </m:sSupPr>
                                <m:e>
                                  <m:r>
                                    <a:rPr lang="en-US" sz="1400" i="1">
                                      <a:latin typeface="Cambria Math" panose="02040503050406030204" pitchFamily="18" charset="0"/>
                                    </a:rPr>
                                    <m:t>10</m:t>
                                  </m:r>
                                </m:e>
                                <m:sup>
                                  <m:r>
                                    <a:rPr lang="en-US" sz="1400" i="1">
                                      <a:latin typeface="Cambria Math" panose="02040503050406030204" pitchFamily="18" charset="0"/>
                                    </a:rPr>
                                    <m:t>7</m:t>
                                  </m:r>
                                </m:sup>
                              </m:sSup>
                              <m:r>
                                <a:rPr lang="en-US" sz="1400" i="1">
                                  <a:latin typeface="Cambria Math" panose="02040503050406030204" pitchFamily="18" charset="0"/>
                                </a:rPr>
                                <m:t> </m:t>
                              </m:r>
                              <m:sSup>
                                <m:sSupPr>
                                  <m:ctrlPr>
                                    <a:rPr lang="es-AR" sz="1400" i="1">
                                      <a:latin typeface="Cambria Math" panose="02040503050406030204" pitchFamily="18" charset="0"/>
                                    </a:rPr>
                                  </m:ctrlPr>
                                </m:sSupPr>
                                <m:e>
                                  <m:r>
                                    <m:rPr>
                                      <m:nor/>
                                    </m:rPr>
                                    <a:rPr lang="en-US" sz="1400"/>
                                    <m:t>rad</m:t>
                                  </m:r>
                                  <m:r>
                                    <m:rPr>
                                      <m:lit/>
                                      <m:nor/>
                                    </m:rPr>
                                    <a:rPr lang="en-US" sz="1400"/>
                                    <m:t>/</m:t>
                                  </m:r>
                                  <m:r>
                                    <m:rPr>
                                      <m:nor/>
                                    </m:rPr>
                                    <a:rPr lang="en-US" sz="1400"/>
                                    <m:t>s</m:t>
                                  </m:r>
                                </m:e>
                                <m:sup>
                                  <m:r>
                                    <a:rPr lang="en-US" sz="1400" i="1">
                                      <a:latin typeface="Cambria Math" panose="02040503050406030204" pitchFamily="18" charset="0"/>
                                    </a:rPr>
                                    <m:t>2</m:t>
                                  </m:r>
                                  <m:r>
                                    <a:rPr lang="es-MX" sz="1400" b="0" i="1" smtClean="0">
                                      <a:latin typeface="Cambria Math" panose="02040503050406030204" pitchFamily="18" charset="0"/>
                                    </a:rPr>
                                    <m:t>      </m:t>
                                  </m:r>
                                </m:sup>
                              </m:sSup>
                            </m:e>
                          </m:mr>
                        </m:m>
                      </m:e>
                    </m:d>
                  </m:oMath>
                </a14:m>
                <a:r>
                  <a:rPr lang="es-MX" sz="1400" b="1" dirty="0">
                    <a:solidFill>
                      <a:schemeClr val="tx1"/>
                    </a:solidFill>
                    <a:latin typeface="Calibri"/>
                  </a:rPr>
                  <a:t>,                 </a:t>
                </a:r>
                <a14:m>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𝜃</m:t>
                                  </m:r>
                                </m:sub>
                              </m:sSub>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𝜔</m:t>
                                  </m:r>
                                </m:sub>
                              </m:sSub>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mr>
                        </m:m>
                      </m:e>
                    </m:d>
                  </m:oMath>
                </a14:m>
                <a:endParaRPr lang="ar-AE" sz="1400" b="1" dirty="0">
                  <a:solidFill>
                    <a:schemeClr val="tx1"/>
                  </a:solidFill>
                  <a:latin typeface="Calibri"/>
                </a:endParaRPr>
              </a:p>
            </p:txBody>
          </p:sp>
        </mc:Choice>
        <mc:Fallback xmlns="">
          <p:sp>
            <p:nvSpPr>
              <p:cNvPr id="25" name="TextBox 8">
                <a:extLst>
                  <a:ext uri="{FF2B5EF4-FFF2-40B4-BE49-F238E27FC236}">
                    <a16:creationId xmlns:a16="http://schemas.microsoft.com/office/drawing/2014/main" id="{18B232AB-6313-4F1D-9651-FBB27FD8072F}"/>
                  </a:ext>
                </a:extLst>
              </p:cNvPr>
              <p:cNvSpPr txBox="1">
                <a:spLocks noRot="1" noChangeAspect="1" noMove="1" noResize="1" noEditPoints="1" noAdjustHandles="1" noChangeArrowheads="1" noChangeShapeType="1" noTextEdit="1"/>
              </p:cNvSpPr>
              <p:nvPr/>
            </p:nvSpPr>
            <p:spPr>
              <a:xfrm>
                <a:off x="-1055789" y="2027533"/>
                <a:ext cx="9207781" cy="890052"/>
              </a:xfrm>
              <a:prstGeom prst="rect">
                <a:avLst/>
              </a:prstGeom>
              <a:blipFill>
                <a:blip r:embed="rId4"/>
                <a:stretch>
                  <a:fillRect/>
                </a:stretch>
              </a:blipFill>
            </p:spPr>
            <p:txBody>
              <a:bodyPr/>
              <a:lstStyle/>
              <a:p>
                <a:r>
                  <a:rPr lang="es-AR">
                    <a:noFill/>
                  </a:rPr>
                  <a:t> </a:t>
                </a:r>
              </a:p>
            </p:txBody>
          </p:sp>
        </mc:Fallback>
      </mc:AlternateContent>
      <p:pic>
        <p:nvPicPr>
          <p:cNvPr id="26" name="Imagen 25">
            <a:extLst>
              <a:ext uri="{FF2B5EF4-FFF2-40B4-BE49-F238E27FC236}">
                <a16:creationId xmlns:a16="http://schemas.microsoft.com/office/drawing/2014/main" id="{B43C3E9C-51E4-42F8-A725-3C8829DDEFDF}"/>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2146756" y="3067441"/>
            <a:ext cx="7039992" cy="2834979"/>
          </a:xfrm>
          <a:prstGeom prst="rect">
            <a:avLst/>
          </a:prstGeom>
        </p:spPr>
      </p:pic>
      <p:sp>
        <p:nvSpPr>
          <p:cNvPr id="27" name="CuadroTexto 26">
            <a:extLst>
              <a:ext uri="{FF2B5EF4-FFF2-40B4-BE49-F238E27FC236}">
                <a16:creationId xmlns:a16="http://schemas.microsoft.com/office/drawing/2014/main" id="{F554A308-3CE6-43AA-84C1-1C61C1DA4EBB}"/>
              </a:ext>
            </a:extLst>
          </p:cNvPr>
          <p:cNvSpPr txBox="1"/>
          <p:nvPr/>
        </p:nvSpPr>
        <p:spPr>
          <a:xfrm>
            <a:off x="3848464" y="5902420"/>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38— Observador de estado de orden reducido</a:t>
            </a:r>
          </a:p>
          <a:p>
            <a:endParaRPr lang="es-AR" dirty="0"/>
          </a:p>
        </p:txBody>
      </p:sp>
      <p:sp>
        <p:nvSpPr>
          <p:cNvPr id="15" name="Shape 2">
            <a:extLst>
              <a:ext uri="{FF2B5EF4-FFF2-40B4-BE49-F238E27FC236}">
                <a16:creationId xmlns:a16="http://schemas.microsoft.com/office/drawing/2014/main" id="{52BEB054-17D1-43A8-984D-91DB4C8A4E1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630444CC-1A9A-4EBD-9BC9-F18F8FE2C3C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7747458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Simulación en tiempo continuo</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Seguimiento de consigna · Rechazo a perturbaciones</a:t>
            </a:r>
          </a:p>
        </p:txBody>
      </p:sp>
      <p:sp>
        <p:nvSpPr>
          <p:cNvPr id="5" name="Shape 4">
            <a:extLst>
              <a:ext uri="{FF2B5EF4-FFF2-40B4-BE49-F238E27FC236}">
                <a16:creationId xmlns:a16="http://schemas.microsoft.com/office/drawing/2014/main" id="{5480A3CE-E5A4-41F1-8EBB-50C4BFC2B1C9}"/>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5167"/>
            <a:ext cx="6134885" cy="415498"/>
          </a:xfrm>
          <a:prstGeom prst="rect">
            <a:avLst/>
          </a:prstGeom>
          <a:noFill/>
        </p:spPr>
        <p:txBody>
          <a:bodyPr wrap="none">
            <a:spAutoFit/>
          </a:bodyPr>
          <a:lstStyle/>
          <a:p>
            <a:pPr algn="l"/>
            <a:r>
              <a:rPr lang="es-AR" sz="2100" b="1" dirty="0">
                <a:solidFill>
                  <a:srgbClr val="FFFFFF"/>
                </a:solidFill>
                <a:latin typeface="Cambria"/>
              </a:rPr>
              <a:t>Seguimiento de consigna — Posición y velocidad</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57 / ~75</a:t>
            </a:r>
          </a:p>
        </p:txBody>
      </p:sp>
      <mc:AlternateContent xmlns:mc="http://schemas.openxmlformats.org/markup-compatibility/2006" xmlns:a14="http://schemas.microsoft.com/office/drawing/2010/main">
        <mc:Choice Requires="a14">
          <p:sp>
            <p:nvSpPr>
              <p:cNvPr id="7" name="TextBox 6"/>
              <p:cNvSpPr txBox="1"/>
              <p:nvPr/>
            </p:nvSpPr>
            <p:spPr>
              <a:xfrm>
                <a:off x="143817" y="713232"/>
                <a:ext cx="12047877" cy="611962"/>
              </a:xfrm>
              <a:prstGeom prst="rect">
                <a:avLst/>
              </a:prstGeom>
              <a:noFill/>
            </p:spPr>
            <p:txBody>
              <a:bodyPr wrap="square">
                <a:spAutoFit/>
              </a:bodyPr>
              <a:lstStyle/>
              <a:p>
                <a:r>
                  <a:rPr lang="es-AR" sz="1400" b="1" dirty="0">
                    <a:solidFill>
                      <a:srgbClr val="1A3A6B"/>
                    </a:solidFill>
                  </a:rPr>
                  <a:t>Consigna trapezoidal de posición: </a:t>
                </a:r>
                <a:r>
                  <a:rPr lang="es-AR" sz="1400" dirty="0">
                    <a:latin typeface="Calibri" panose="020F0502020204030204" pitchFamily="34" charset="0"/>
                    <a:ea typeface="Calibri" panose="020F0502020204030204" pitchFamily="34" charset="0"/>
                    <a:cs typeface="Times New Roman" panose="02020603050405020304" pitchFamily="18" charset="0"/>
                  </a:rPr>
                  <a:t>La referencia de entrada se define como una trayectoria articular </a:t>
                </a:r>
                <a14:m>
                  <m:oMath xmlns:m="http://schemas.openxmlformats.org/officeDocument/2006/math">
                    <m:sSup>
                      <m:sSupPr>
                        <m:ctrlPr>
                          <a:rPr lang="es-AR" sz="1400" i="1">
                            <a:latin typeface="Cambria Math" panose="02040503050406030204" pitchFamily="18" charset="0"/>
                          </a:rPr>
                        </m:ctrlPr>
                      </m:sSupPr>
                      <m:e>
                        <m:r>
                          <a:rPr lang="es-AR" sz="1400" i="1">
                            <a:latin typeface="Cambria Math" panose="02040503050406030204" pitchFamily="18" charset="0"/>
                          </a:rPr>
                          <m:t>𝑞</m:t>
                        </m:r>
                      </m:e>
                      <m:sup>
                        <m:r>
                          <a:rPr lang="es-AR" sz="1400" i="1">
                            <a:latin typeface="Cambria Math" panose="02040503050406030204" pitchFamily="18" charset="0"/>
                          </a:rPr>
                          <m:t>∗</m:t>
                        </m:r>
                      </m:sup>
                    </m:s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con perfil trapezoidal de posición, de modo de imponer transiciones suaves de velocidad y evitar exigencias dinámicas excesivas sobre el accionamiento. Además, debido al set-point, sabemos que: </a:t>
                </a:r>
                <a14:m>
                  <m:oMath xmlns:m="http://schemas.openxmlformats.org/officeDocument/2006/math">
                    <m:sSup>
                      <m:sSupPr>
                        <m:ctrlPr>
                          <a:rPr lang="es-AR" sz="1400" i="1">
                            <a:latin typeface="Cambria Math" panose="02040503050406030204" pitchFamily="18" charset="0"/>
                          </a:rPr>
                        </m:ctrlPr>
                      </m:sSupPr>
                      <m:e>
                        <m:r>
                          <a:rPr lang="es-AR" sz="1400" i="1">
                            <a:latin typeface="Cambria Math" panose="02040503050406030204" pitchFamily="18" charset="0"/>
                          </a:rPr>
                          <m:t>𝑞</m:t>
                        </m:r>
                      </m:e>
                      <m:sup>
                        <m:r>
                          <a:rPr lang="es-AR" sz="1400" i="1">
                            <a:latin typeface="Cambria Math" panose="02040503050406030204" pitchFamily="18" charset="0"/>
                          </a:rPr>
                          <m:t>∗</m:t>
                        </m:r>
                      </m:sup>
                    </m:s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endParaRPr lang="es-AR" sz="1400" b="1" i="0" dirty="0">
                  <a:solidFill>
                    <a:srgbClr val="1A3A6B"/>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43817" y="713232"/>
                <a:ext cx="12047877" cy="611962"/>
              </a:xfrm>
              <a:prstGeom prst="rect">
                <a:avLst/>
              </a:prstGeom>
              <a:blipFill>
                <a:blip r:embed="rId3"/>
                <a:stretch>
                  <a:fillRect l="-152" t="-2000" b="-3000"/>
                </a:stretch>
              </a:blipFill>
            </p:spPr>
            <p:txBody>
              <a:bodyPr/>
              <a:lstStyle/>
              <a:p>
                <a:r>
                  <a:rPr lang="es-AR">
                    <a:noFill/>
                  </a:rPr>
                  <a:t> </a:t>
                </a:r>
              </a:p>
            </p:txBody>
          </p:sp>
        </mc:Fallback>
      </mc:AlternateContent>
      <p:pic>
        <p:nvPicPr>
          <p:cNvPr id="15" name="Imagen 14">
            <a:extLst>
              <a:ext uri="{FF2B5EF4-FFF2-40B4-BE49-F238E27FC236}">
                <a16:creationId xmlns:a16="http://schemas.microsoft.com/office/drawing/2014/main" id="{949FC557-A959-4D29-BF9F-42B6F758610D}"/>
              </a:ext>
            </a:extLst>
          </p:cNvPr>
          <p:cNvPicPr/>
          <p:nvPr/>
        </p:nvPicPr>
        <p:blipFill>
          <a:blip r:embed="rId4">
            <a:extLst>
              <a:ext uri="{28A0092B-C50C-407E-A947-70E740481C1C}">
                <a14:useLocalDpi xmlns:a14="http://schemas.microsoft.com/office/drawing/2010/main" val="0"/>
              </a:ext>
            </a:extLst>
          </a:blip>
          <a:srcRect t="17" b="17"/>
          <a:stretch>
            <a:fillRect/>
          </a:stretch>
        </p:blipFill>
        <p:spPr bwMode="auto">
          <a:xfrm>
            <a:off x="143818" y="1380058"/>
            <a:ext cx="3762357" cy="2595476"/>
          </a:xfrm>
          <a:prstGeom prst="rect">
            <a:avLst/>
          </a:prstGeom>
          <a:ln>
            <a:noFill/>
          </a:ln>
          <a:extLst>
            <a:ext uri="{53640926-AAD7-44D8-BBD7-CCE9431645EC}">
              <a14:shadowObscured xmlns:a14="http://schemas.microsoft.com/office/drawing/2010/main"/>
            </a:ext>
          </a:extLst>
        </p:spPr>
      </p:pic>
      <p:pic>
        <p:nvPicPr>
          <p:cNvPr id="16" name="Imagen 15">
            <a:extLst>
              <a:ext uri="{FF2B5EF4-FFF2-40B4-BE49-F238E27FC236}">
                <a16:creationId xmlns:a16="http://schemas.microsoft.com/office/drawing/2014/main" id="{E58707AE-2130-4D72-8B9E-A208DECAC78B}"/>
              </a:ext>
            </a:extLst>
          </p:cNvPr>
          <p:cNvPicPr/>
          <p:nvPr/>
        </p:nvPicPr>
        <p:blipFill>
          <a:blip r:embed="rId5">
            <a:extLst>
              <a:ext uri="{28A0092B-C50C-407E-A947-70E740481C1C}">
                <a14:useLocalDpi xmlns:a14="http://schemas.microsoft.com/office/drawing/2010/main" val="0"/>
              </a:ext>
            </a:extLst>
          </a:blip>
          <a:srcRect l="316" r="316"/>
          <a:stretch>
            <a:fillRect/>
          </a:stretch>
        </p:blipFill>
        <p:spPr bwMode="auto">
          <a:xfrm>
            <a:off x="4052430" y="1284423"/>
            <a:ext cx="3762357" cy="2790958"/>
          </a:xfrm>
          <a:prstGeom prst="rect">
            <a:avLst/>
          </a:prstGeom>
          <a:ln>
            <a:noFill/>
          </a:ln>
          <a:extLst>
            <a:ext uri="{53640926-AAD7-44D8-BBD7-CCE9431645EC}">
              <a14:shadowObscured xmlns:a14="http://schemas.microsoft.com/office/drawing/2010/main"/>
            </a:ext>
          </a:extLst>
        </p:spPr>
      </p:pic>
      <p:pic>
        <p:nvPicPr>
          <p:cNvPr id="17" name="Imagen 16">
            <a:extLst>
              <a:ext uri="{FF2B5EF4-FFF2-40B4-BE49-F238E27FC236}">
                <a16:creationId xmlns:a16="http://schemas.microsoft.com/office/drawing/2014/main" id="{9FCC5807-119D-440D-8444-0EE8540D7AB1}"/>
              </a:ext>
            </a:extLst>
          </p:cNvPr>
          <p:cNvPicPr/>
          <p:nvPr/>
        </p:nvPicPr>
        <p:blipFill>
          <a:blip r:embed="rId6">
            <a:extLst>
              <a:ext uri="{28A0092B-C50C-407E-A947-70E740481C1C}">
                <a14:useLocalDpi xmlns:a14="http://schemas.microsoft.com/office/drawing/2010/main" val="0"/>
              </a:ext>
            </a:extLst>
          </a:blip>
          <a:srcRect t="163" b="163"/>
          <a:stretch>
            <a:fillRect/>
          </a:stretch>
        </p:blipFill>
        <p:spPr bwMode="auto">
          <a:xfrm>
            <a:off x="7862716" y="1321868"/>
            <a:ext cx="3908613" cy="2790958"/>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73C79198-1B73-426A-A70B-3BBAC4E602F7}"/>
                  </a:ext>
                </a:extLst>
              </p:cNvPr>
              <p:cNvSpPr txBox="1"/>
              <p:nvPr/>
            </p:nvSpPr>
            <p:spPr>
              <a:xfrm>
                <a:off x="918833" y="405842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40— Consigna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𝜃</m:t>
                        </m:r>
                      </m:e>
                      <m:sub>
                        <m:r>
                          <a:rPr lang="es-AR">
                            <a:latin typeface="Cambria Math" panose="02040503050406030204" pitchFamily="18" charset="0"/>
                          </a:rPr>
                          <m:t>𝑚</m:t>
                        </m:r>
                      </m:sub>
                      <m:sup>
                        <m:r>
                          <a:rPr lang="es-AR">
                            <a:latin typeface="Cambria Math" panose="02040503050406030204" pitchFamily="18" charset="0"/>
                          </a:rPr>
                          <m:t>∗</m:t>
                        </m:r>
                      </m:sup>
                    </m:sSubSup>
                  </m:oMath>
                </a14:m>
                <a:endParaRPr lang="es-AR" dirty="0"/>
              </a:p>
            </p:txBody>
          </p:sp>
        </mc:Choice>
        <mc:Fallback xmlns="">
          <p:sp>
            <p:nvSpPr>
              <p:cNvPr id="18" name="CuadroTexto 17">
                <a:extLst>
                  <a:ext uri="{FF2B5EF4-FFF2-40B4-BE49-F238E27FC236}">
                    <a16:creationId xmlns:a16="http://schemas.microsoft.com/office/drawing/2014/main" id="{73C79198-1B73-426A-A70B-3BBAC4E602F7}"/>
                  </a:ext>
                </a:extLst>
              </p:cNvPr>
              <p:cNvSpPr txBox="1">
                <a:spLocks noRot="1" noChangeAspect="1" noMove="1" noResize="1" noEditPoints="1" noAdjustHandles="1" noChangeArrowheads="1" noChangeShapeType="1" noTextEdit="1"/>
              </p:cNvSpPr>
              <p:nvPr/>
            </p:nvSpPr>
            <p:spPr>
              <a:xfrm>
                <a:off x="918833" y="4058425"/>
                <a:ext cx="3996737" cy="261610"/>
              </a:xfrm>
              <a:prstGeom prst="rect">
                <a:avLst/>
              </a:prstGeom>
              <a:blipFill>
                <a:blip r:embed="rId7"/>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279E3F6-CD09-4B8B-A41D-EDFD49FE0F25}"/>
                  </a:ext>
                </a:extLst>
              </p:cNvPr>
              <p:cNvSpPr txBox="1"/>
              <p:nvPr/>
            </p:nvSpPr>
            <p:spPr>
              <a:xfrm>
                <a:off x="4097478" y="405842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41— Comparación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𝜃</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 </m:t>
                    </m:r>
                    <m:sSubSup>
                      <m:sSubSupPr>
                        <m:ctrlPr>
                          <a:rPr lang="es-AR" i="1">
                            <a:latin typeface="Cambria Math" panose="02040503050406030204" pitchFamily="18" charset="0"/>
                          </a:rPr>
                        </m:ctrlPr>
                      </m:sSubSupPr>
                      <m:e>
                        <m:r>
                          <a:rPr lang="es-AR">
                            <a:latin typeface="Cambria Math" panose="02040503050406030204" pitchFamily="18" charset="0"/>
                          </a:rPr>
                          <m:t>𝜃</m:t>
                        </m:r>
                      </m:e>
                      <m:sub>
                        <m:r>
                          <a:rPr lang="es-AR">
                            <a:latin typeface="Cambria Math" panose="02040503050406030204" pitchFamily="18" charset="0"/>
                          </a:rPr>
                          <m:t>𝑚</m:t>
                        </m:r>
                      </m:sub>
                      <m:sup>
                        <m:r>
                          <a:rPr lang="es-AR">
                            <a:latin typeface="Cambria Math" panose="02040503050406030204" pitchFamily="18" charset="0"/>
                          </a:rPr>
                          <m:t>∗</m:t>
                        </m:r>
                      </m:sup>
                    </m:sSubSup>
                    <m:d>
                      <m:dPr>
                        <m:ctrlPr>
                          <a:rPr lang="es-AR" i="1">
                            <a:latin typeface="Cambria Math" panose="02040503050406030204" pitchFamily="18" charset="0"/>
                          </a:rPr>
                        </m:ctrlPr>
                      </m:dPr>
                      <m:e>
                        <m:r>
                          <a:rPr lang="es-AR">
                            <a:latin typeface="Cambria Math" panose="02040503050406030204" pitchFamily="18" charset="0"/>
                          </a:rPr>
                          <m:t>𝑡</m:t>
                        </m:r>
                      </m:e>
                    </m:d>
                  </m:oMath>
                </a14:m>
                <a:r>
                  <a:rPr lang="es-AR" dirty="0"/>
                  <a:t> y observador</a:t>
                </a:r>
              </a:p>
            </p:txBody>
          </p:sp>
        </mc:Choice>
        <mc:Fallback xmlns="">
          <p:sp>
            <p:nvSpPr>
              <p:cNvPr id="19" name="CuadroTexto 18">
                <a:extLst>
                  <a:ext uri="{FF2B5EF4-FFF2-40B4-BE49-F238E27FC236}">
                    <a16:creationId xmlns:a16="http://schemas.microsoft.com/office/drawing/2014/main" id="{D279E3F6-CD09-4B8B-A41D-EDFD49FE0F25}"/>
                  </a:ext>
                </a:extLst>
              </p:cNvPr>
              <p:cNvSpPr txBox="1">
                <a:spLocks noRot="1" noChangeAspect="1" noMove="1" noResize="1" noEditPoints="1" noAdjustHandles="1" noChangeArrowheads="1" noChangeShapeType="1" noTextEdit="1"/>
              </p:cNvSpPr>
              <p:nvPr/>
            </p:nvSpPr>
            <p:spPr>
              <a:xfrm>
                <a:off x="4097478" y="4058425"/>
                <a:ext cx="3996737" cy="261610"/>
              </a:xfrm>
              <a:prstGeom prst="rect">
                <a:avLst/>
              </a:prstGeom>
              <a:blipFill>
                <a:blip r:embed="rId8"/>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204AB3E-FBEB-4A07-B2FA-6B1390456153}"/>
                  </a:ext>
                </a:extLst>
              </p:cNvPr>
              <p:cNvSpPr txBox="1"/>
              <p:nvPr/>
            </p:nvSpPr>
            <p:spPr>
              <a:xfrm>
                <a:off x="8294770" y="407891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42— Figura 42: Detalle en </a:t>
                </a:r>
                <a14:m>
                  <m:oMath xmlns:m="http://schemas.openxmlformats.org/officeDocument/2006/math">
                    <m:r>
                      <a:rPr lang="es-AR">
                        <a:latin typeface="Cambria Math" panose="02040503050406030204" pitchFamily="18" charset="0"/>
                      </a:rPr>
                      <m:t>𝑡</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𝑠</m:t>
                    </m:r>
                  </m:oMath>
                </a14:m>
                <a:endParaRPr lang="es-AR" dirty="0"/>
              </a:p>
            </p:txBody>
          </p:sp>
        </mc:Choice>
        <mc:Fallback xmlns="">
          <p:sp>
            <p:nvSpPr>
              <p:cNvPr id="20" name="CuadroTexto 19">
                <a:extLst>
                  <a:ext uri="{FF2B5EF4-FFF2-40B4-BE49-F238E27FC236}">
                    <a16:creationId xmlns:a16="http://schemas.microsoft.com/office/drawing/2014/main" id="{2204AB3E-FBEB-4A07-B2FA-6B1390456153}"/>
                  </a:ext>
                </a:extLst>
              </p:cNvPr>
              <p:cNvSpPr txBox="1">
                <a:spLocks noRot="1" noChangeAspect="1" noMove="1" noResize="1" noEditPoints="1" noAdjustHandles="1" noChangeArrowheads="1" noChangeShapeType="1" noTextEdit="1"/>
              </p:cNvSpPr>
              <p:nvPr/>
            </p:nvSpPr>
            <p:spPr>
              <a:xfrm>
                <a:off x="8294770" y="4078914"/>
                <a:ext cx="3996737" cy="261610"/>
              </a:xfrm>
              <a:prstGeom prst="rect">
                <a:avLst/>
              </a:prstGeom>
              <a:blipFill>
                <a:blip r:embed="rId9"/>
                <a:stretch>
                  <a:fillRect b="-16279"/>
                </a:stretch>
              </a:blipFill>
            </p:spPr>
            <p:txBody>
              <a:bodyPr/>
              <a:lstStyle/>
              <a:p>
                <a:r>
                  <a:rPr lang="es-AR">
                    <a:noFill/>
                  </a:rPr>
                  <a:t> </a:t>
                </a:r>
              </a:p>
            </p:txBody>
          </p:sp>
        </mc:Fallback>
      </mc:AlternateContent>
      <p:sp>
        <p:nvSpPr>
          <p:cNvPr id="22" name="CuadroTexto 21">
            <a:extLst>
              <a:ext uri="{FF2B5EF4-FFF2-40B4-BE49-F238E27FC236}">
                <a16:creationId xmlns:a16="http://schemas.microsoft.com/office/drawing/2014/main" id="{216ED2FA-5880-4476-B53A-A5DB20FDE6CC}"/>
              </a:ext>
            </a:extLst>
          </p:cNvPr>
          <p:cNvSpPr txBox="1"/>
          <p:nvPr/>
        </p:nvSpPr>
        <p:spPr>
          <a:xfrm>
            <a:off x="143817" y="4640675"/>
            <a:ext cx="11210937" cy="953210"/>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Puede observarse que la salida real reproduce con muy buen ajuste el perfil trapezoidal de referencia, sin error apreciable en régimen y con diferencias mínimas respecto de la señal estimada.</a:t>
            </a:r>
          </a:p>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También se aprecia un sobre pico pequeño en la respuesta de posición, acompañado por una oscilación amortiguada de corta duración. </a:t>
            </a:r>
          </a:p>
        </p:txBody>
      </p:sp>
      <p:sp>
        <p:nvSpPr>
          <p:cNvPr id="14" name="Shape 2">
            <a:extLst>
              <a:ext uri="{FF2B5EF4-FFF2-40B4-BE49-F238E27FC236}">
                <a16:creationId xmlns:a16="http://schemas.microsoft.com/office/drawing/2014/main" id="{5EBBAB15-9550-4660-B8A5-CB43C9AEAD2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1" name="Text 3">
            <a:extLst>
              <a:ext uri="{FF2B5EF4-FFF2-40B4-BE49-F238E27FC236}">
                <a16:creationId xmlns:a16="http://schemas.microsoft.com/office/drawing/2014/main" id="{79343C35-30C7-451B-8C3B-BB9C08A197E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6104"/>
            <a:ext cx="6134885" cy="415498"/>
          </a:xfrm>
          <a:prstGeom prst="rect">
            <a:avLst/>
          </a:prstGeom>
          <a:noFill/>
        </p:spPr>
        <p:txBody>
          <a:bodyPr wrap="none">
            <a:spAutoFit/>
          </a:bodyPr>
          <a:lstStyle/>
          <a:p>
            <a:pPr algn="l"/>
            <a:r>
              <a:rPr lang="es-AR" sz="2100" b="1" dirty="0">
                <a:solidFill>
                  <a:srgbClr val="FFFFFF"/>
                </a:solidFill>
                <a:latin typeface="Cambria"/>
              </a:rPr>
              <a:t>Seguimiento de consigna — Posición y velocidad</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57 / ~75</a:t>
            </a: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279E3F6-CD09-4B8B-A41D-EDFD49FE0F25}"/>
                  </a:ext>
                </a:extLst>
              </p:cNvPr>
              <p:cNvSpPr txBox="1"/>
              <p:nvPr/>
            </p:nvSpPr>
            <p:spPr>
              <a:xfrm>
                <a:off x="975867" y="4295672"/>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43— Comparación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𝜔</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 </m:t>
                    </m:r>
                    <m:sSubSup>
                      <m:sSubSupPr>
                        <m:ctrlPr>
                          <a:rPr lang="es-AR" i="1">
                            <a:latin typeface="Cambria Math" panose="02040503050406030204" pitchFamily="18" charset="0"/>
                          </a:rPr>
                        </m:ctrlPr>
                      </m:sSubSupPr>
                      <m:e>
                        <m:r>
                          <a:rPr lang="es-AR">
                            <a:latin typeface="Cambria Math" panose="02040503050406030204" pitchFamily="18" charset="0"/>
                          </a:rPr>
                          <m:t>⍵</m:t>
                        </m:r>
                      </m:e>
                      <m:sub>
                        <m:r>
                          <a:rPr lang="es-AR">
                            <a:latin typeface="Cambria Math" panose="02040503050406030204" pitchFamily="18" charset="0"/>
                          </a:rPr>
                          <m:t>𝑚</m:t>
                        </m:r>
                      </m:sub>
                      <m:sup>
                        <m:r>
                          <a:rPr lang="es-AR">
                            <a:latin typeface="Cambria Math" panose="02040503050406030204" pitchFamily="18" charset="0"/>
                          </a:rPr>
                          <m:t>∗</m:t>
                        </m:r>
                      </m:sup>
                    </m:sSubSup>
                    <m:d>
                      <m:dPr>
                        <m:ctrlPr>
                          <a:rPr lang="es-AR" i="1">
                            <a:latin typeface="Cambria Math" panose="02040503050406030204" pitchFamily="18" charset="0"/>
                          </a:rPr>
                        </m:ctrlPr>
                      </m:dPr>
                      <m:e>
                        <m:r>
                          <a:rPr lang="es-AR">
                            <a:latin typeface="Cambria Math" panose="02040503050406030204" pitchFamily="18" charset="0"/>
                          </a:rPr>
                          <m:t>𝑡</m:t>
                        </m:r>
                      </m:e>
                    </m:d>
                  </m:oMath>
                </a14:m>
                <a:r>
                  <a:rPr lang="es-AR" dirty="0"/>
                  <a:t> y observador</a:t>
                </a:r>
              </a:p>
            </p:txBody>
          </p:sp>
        </mc:Choice>
        <mc:Fallback xmlns="">
          <p:sp>
            <p:nvSpPr>
              <p:cNvPr id="19" name="CuadroTexto 18">
                <a:extLst>
                  <a:ext uri="{FF2B5EF4-FFF2-40B4-BE49-F238E27FC236}">
                    <a16:creationId xmlns:a16="http://schemas.microsoft.com/office/drawing/2014/main" id="{D279E3F6-CD09-4B8B-A41D-EDFD49FE0F25}"/>
                  </a:ext>
                </a:extLst>
              </p:cNvPr>
              <p:cNvSpPr txBox="1">
                <a:spLocks noRot="1" noChangeAspect="1" noMove="1" noResize="1" noEditPoints="1" noAdjustHandles="1" noChangeArrowheads="1" noChangeShapeType="1" noTextEdit="1"/>
              </p:cNvSpPr>
              <p:nvPr/>
            </p:nvSpPr>
            <p:spPr>
              <a:xfrm>
                <a:off x="975867" y="4295672"/>
                <a:ext cx="3996737"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204AB3E-FBEB-4A07-B2FA-6B1390456153}"/>
                  </a:ext>
                </a:extLst>
              </p:cNvPr>
              <p:cNvSpPr txBox="1"/>
              <p:nvPr/>
            </p:nvSpPr>
            <p:spPr>
              <a:xfrm>
                <a:off x="7388072" y="4371486"/>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44— Detalle en </a:t>
                </a:r>
                <a14:m>
                  <m:oMath xmlns:m="http://schemas.openxmlformats.org/officeDocument/2006/math">
                    <m:r>
                      <a:rPr lang="es-AR">
                        <a:latin typeface="Cambria Math" panose="02040503050406030204" pitchFamily="18" charset="0"/>
                      </a:rPr>
                      <m:t>𝑡</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𝑠</m:t>
                    </m:r>
                  </m:oMath>
                </a14:m>
                <a:endParaRPr lang="es-AR" dirty="0"/>
              </a:p>
            </p:txBody>
          </p:sp>
        </mc:Choice>
        <mc:Fallback xmlns="">
          <p:sp>
            <p:nvSpPr>
              <p:cNvPr id="20" name="CuadroTexto 19">
                <a:extLst>
                  <a:ext uri="{FF2B5EF4-FFF2-40B4-BE49-F238E27FC236}">
                    <a16:creationId xmlns:a16="http://schemas.microsoft.com/office/drawing/2014/main" id="{2204AB3E-FBEB-4A07-B2FA-6B1390456153}"/>
                  </a:ext>
                </a:extLst>
              </p:cNvPr>
              <p:cNvSpPr txBox="1">
                <a:spLocks noRot="1" noChangeAspect="1" noMove="1" noResize="1" noEditPoints="1" noAdjustHandles="1" noChangeArrowheads="1" noChangeShapeType="1" noTextEdit="1"/>
              </p:cNvSpPr>
              <p:nvPr/>
            </p:nvSpPr>
            <p:spPr>
              <a:xfrm>
                <a:off x="7388072" y="4371486"/>
                <a:ext cx="3996737" cy="261610"/>
              </a:xfrm>
              <a:prstGeom prst="rect">
                <a:avLst/>
              </a:prstGeom>
              <a:blipFill>
                <a:blip r:embed="rId3"/>
                <a:stretch>
                  <a:fillRect b="-16279"/>
                </a:stretch>
              </a:blipFill>
            </p:spPr>
            <p:txBody>
              <a:bodyPr/>
              <a:lstStyle/>
              <a:p>
                <a:r>
                  <a:rPr lang="es-AR">
                    <a:noFill/>
                  </a:rPr>
                  <a:t> </a:t>
                </a:r>
              </a:p>
            </p:txBody>
          </p:sp>
        </mc:Fallback>
      </mc:AlternateContent>
      <p:pic>
        <p:nvPicPr>
          <p:cNvPr id="22" name="Imagen 21">
            <a:extLst>
              <a:ext uri="{FF2B5EF4-FFF2-40B4-BE49-F238E27FC236}">
                <a16:creationId xmlns:a16="http://schemas.microsoft.com/office/drawing/2014/main" id="{575946F9-8954-466B-8754-5668ED3C48CF}"/>
              </a:ext>
            </a:extLst>
          </p:cNvPr>
          <p:cNvPicPr/>
          <p:nvPr/>
        </p:nvPicPr>
        <p:blipFill>
          <a:blip r:embed="rId4">
            <a:extLst>
              <a:ext uri="{28A0092B-C50C-407E-A947-70E740481C1C}">
                <a14:useLocalDpi xmlns:a14="http://schemas.microsoft.com/office/drawing/2010/main" val="0"/>
              </a:ext>
            </a:extLst>
          </a:blip>
          <a:srcRect l="244" r="244"/>
          <a:stretch>
            <a:fillRect/>
          </a:stretch>
        </p:blipFill>
        <p:spPr bwMode="auto">
          <a:xfrm>
            <a:off x="158154" y="883856"/>
            <a:ext cx="4902118" cy="3466201"/>
          </a:xfrm>
          <a:prstGeom prst="rect">
            <a:avLst/>
          </a:prstGeom>
          <a:ln>
            <a:noFill/>
          </a:ln>
          <a:extLst>
            <a:ext uri="{53640926-AAD7-44D8-BBD7-CCE9431645EC}">
              <a14:shadowObscured xmlns:a14="http://schemas.microsoft.com/office/drawing/2010/main"/>
            </a:ext>
          </a:extLst>
        </p:spPr>
      </p:pic>
      <p:pic>
        <p:nvPicPr>
          <p:cNvPr id="23" name="Imagen 22">
            <a:extLst>
              <a:ext uri="{FF2B5EF4-FFF2-40B4-BE49-F238E27FC236}">
                <a16:creationId xmlns:a16="http://schemas.microsoft.com/office/drawing/2014/main" id="{7B5C3A0A-4A2C-4061-AB5A-A94427B951A9}"/>
              </a:ext>
            </a:extLst>
          </p:cNvPr>
          <p:cNvPicPr/>
          <p:nvPr/>
        </p:nvPicPr>
        <p:blipFill>
          <a:blip r:embed="rId5">
            <a:extLst>
              <a:ext uri="{28A0092B-C50C-407E-A947-70E740481C1C}">
                <a14:useLocalDpi xmlns:a14="http://schemas.microsoft.com/office/drawing/2010/main" val="0"/>
              </a:ext>
            </a:extLst>
          </a:blip>
          <a:srcRect t="60" b="60"/>
          <a:stretch>
            <a:fillRect/>
          </a:stretch>
        </p:blipFill>
        <p:spPr bwMode="auto">
          <a:xfrm>
            <a:off x="6095846" y="842095"/>
            <a:ext cx="5018997" cy="3576381"/>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5F93BD11-44E9-4745-85E7-ADE45FCD5F73}"/>
                  </a:ext>
                </a:extLst>
              </p:cNvPr>
              <p:cNvSpPr txBox="1"/>
              <p:nvPr/>
            </p:nvSpPr>
            <p:spPr>
              <a:xfrm>
                <a:off x="202170" y="4781892"/>
                <a:ext cx="11787353" cy="1491177"/>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Se observa que la velocidad del eje motor sigue adecuadamente la referencia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reproduciendo los cambios escalonados impuestos por el perfil trapezoidal de posición. La señal estimada presenta una evolución prácticamente coincidente con la velocidad real, lo que confirma el buen desempeño del observador.</a:t>
                </a:r>
              </a:p>
              <a:p>
                <a:pPr algn="just">
                  <a:lnSpc>
                    <a:spcPct val="107000"/>
                  </a:lnSpc>
                  <a:spcBef>
                    <a:spcPts val="1200"/>
                  </a:spcBef>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Además, en el detalle se evidencia la presencia de un transitorio más pronunciado que en el caso de la posición. En particular, se observa un sobre pico negativo significativo seguido de una rápida recuperación hacia el valor de referencia. Este comportamiento es esperable debido a la naturaleza derivativa de la velocidad respecto de la posición.</a:t>
                </a:r>
              </a:p>
            </p:txBody>
          </p:sp>
        </mc:Choice>
        <mc:Fallback xmlns="">
          <p:sp>
            <p:nvSpPr>
              <p:cNvPr id="24" name="CuadroTexto 23">
                <a:extLst>
                  <a:ext uri="{FF2B5EF4-FFF2-40B4-BE49-F238E27FC236}">
                    <a16:creationId xmlns:a16="http://schemas.microsoft.com/office/drawing/2014/main" id="{5F93BD11-44E9-4745-85E7-ADE45FCD5F73}"/>
                  </a:ext>
                </a:extLst>
              </p:cNvPr>
              <p:cNvSpPr txBox="1">
                <a:spLocks noRot="1" noChangeAspect="1" noMove="1" noResize="1" noEditPoints="1" noAdjustHandles="1" noChangeArrowheads="1" noChangeShapeType="1" noTextEdit="1"/>
              </p:cNvSpPr>
              <p:nvPr/>
            </p:nvSpPr>
            <p:spPr>
              <a:xfrm>
                <a:off x="202170" y="4781892"/>
                <a:ext cx="11787353" cy="1491177"/>
              </a:xfrm>
              <a:prstGeom prst="rect">
                <a:avLst/>
              </a:prstGeom>
              <a:blipFill>
                <a:blip r:embed="rId6"/>
                <a:stretch>
                  <a:fillRect l="-155" r="-103" b="-3673"/>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3D64C0AE-D2B1-47B1-A136-2460EA20372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E28F1685-7A62-41DF-BF47-4E95EE68416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3477262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3818" y="82159"/>
            <a:ext cx="7143494" cy="415498"/>
          </a:xfrm>
          <a:prstGeom prst="rect">
            <a:avLst/>
          </a:prstGeom>
          <a:noFill/>
        </p:spPr>
        <p:txBody>
          <a:bodyPr wrap="none">
            <a:spAutoFit/>
          </a:bodyPr>
          <a:lstStyle/>
          <a:p>
            <a:pPr algn="l"/>
            <a:r>
              <a:rPr lang="es-AR" sz="2100" b="1" dirty="0">
                <a:solidFill>
                  <a:srgbClr val="FFFFFF"/>
                </a:solidFill>
                <a:latin typeface="Cambria"/>
              </a:rPr>
              <a:t>Seguimiento de consigna — Variables eléctricas y torque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57 / ~75</a:t>
            </a: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279E3F6-CD09-4B8B-A41D-EDFD49FE0F25}"/>
                  </a:ext>
                </a:extLst>
              </p:cNvPr>
              <p:cNvSpPr txBox="1"/>
              <p:nvPr/>
            </p:nvSpPr>
            <p:spPr>
              <a:xfrm>
                <a:off x="602792" y="365206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45— Torque motor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endParaRPr lang="es-AR" dirty="0"/>
              </a:p>
            </p:txBody>
          </p:sp>
        </mc:Choice>
        <mc:Fallback xmlns="">
          <p:sp>
            <p:nvSpPr>
              <p:cNvPr id="19" name="CuadroTexto 18">
                <a:extLst>
                  <a:ext uri="{FF2B5EF4-FFF2-40B4-BE49-F238E27FC236}">
                    <a16:creationId xmlns:a16="http://schemas.microsoft.com/office/drawing/2014/main" id="{D279E3F6-CD09-4B8B-A41D-EDFD49FE0F25}"/>
                  </a:ext>
                </a:extLst>
              </p:cNvPr>
              <p:cNvSpPr txBox="1">
                <a:spLocks noRot="1" noChangeAspect="1" noMove="1" noResize="1" noEditPoints="1" noAdjustHandles="1" noChangeArrowheads="1" noChangeShapeType="1" noTextEdit="1"/>
              </p:cNvSpPr>
              <p:nvPr/>
            </p:nvSpPr>
            <p:spPr>
              <a:xfrm>
                <a:off x="602792" y="3652065"/>
                <a:ext cx="3996737"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204AB3E-FBEB-4A07-B2FA-6B1390456153}"/>
                  </a:ext>
                </a:extLst>
              </p:cNvPr>
              <p:cNvSpPr txBox="1"/>
              <p:nvPr/>
            </p:nvSpPr>
            <p:spPr>
              <a:xfrm>
                <a:off x="4959951" y="3644150"/>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46— Corrientes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endParaRPr lang="es-AR" dirty="0"/>
              </a:p>
            </p:txBody>
          </p:sp>
        </mc:Choice>
        <mc:Fallback xmlns="">
          <p:sp>
            <p:nvSpPr>
              <p:cNvPr id="20" name="CuadroTexto 19">
                <a:extLst>
                  <a:ext uri="{FF2B5EF4-FFF2-40B4-BE49-F238E27FC236}">
                    <a16:creationId xmlns:a16="http://schemas.microsoft.com/office/drawing/2014/main" id="{2204AB3E-FBEB-4A07-B2FA-6B1390456153}"/>
                  </a:ext>
                </a:extLst>
              </p:cNvPr>
              <p:cNvSpPr txBox="1">
                <a:spLocks noRot="1" noChangeAspect="1" noMove="1" noResize="1" noEditPoints="1" noAdjustHandles="1" noChangeArrowheads="1" noChangeShapeType="1" noTextEdit="1"/>
              </p:cNvSpPr>
              <p:nvPr/>
            </p:nvSpPr>
            <p:spPr>
              <a:xfrm>
                <a:off x="4959951" y="3644150"/>
                <a:ext cx="3996737" cy="261610"/>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2487C17C-2069-4935-923F-155BD95AFBA8}"/>
              </a:ext>
            </a:extLst>
          </p:cNvPr>
          <p:cNvPicPr/>
          <p:nvPr/>
        </p:nvPicPr>
        <p:blipFill>
          <a:blip r:embed="rId4">
            <a:extLst>
              <a:ext uri="{28A0092B-C50C-407E-A947-70E740481C1C}">
                <a14:useLocalDpi xmlns:a14="http://schemas.microsoft.com/office/drawing/2010/main" val="0"/>
              </a:ext>
            </a:extLst>
          </a:blip>
          <a:srcRect l="502" r="502"/>
          <a:stretch>
            <a:fillRect/>
          </a:stretch>
        </p:blipFill>
        <p:spPr bwMode="auto">
          <a:xfrm>
            <a:off x="121460" y="811518"/>
            <a:ext cx="3865417" cy="2862169"/>
          </a:xfrm>
          <a:prstGeom prst="rect">
            <a:avLst/>
          </a:prstGeom>
          <a:ln>
            <a:noFill/>
          </a:ln>
          <a:extLst>
            <a:ext uri="{53640926-AAD7-44D8-BBD7-CCE9431645EC}">
              <a14:shadowObscured xmlns:a14="http://schemas.microsoft.com/office/drawing/2010/main"/>
            </a:ext>
          </a:extLst>
        </p:spPr>
      </p:pic>
      <p:pic>
        <p:nvPicPr>
          <p:cNvPr id="13" name="Imagen 12">
            <a:extLst>
              <a:ext uri="{FF2B5EF4-FFF2-40B4-BE49-F238E27FC236}">
                <a16:creationId xmlns:a16="http://schemas.microsoft.com/office/drawing/2014/main" id="{C7A76ADF-B9EE-4035-9BB4-08CE712C001B}"/>
              </a:ext>
            </a:extLst>
          </p:cNvPr>
          <p:cNvPicPr/>
          <p:nvPr/>
        </p:nvPicPr>
        <p:blipFill>
          <a:blip r:embed="rId5">
            <a:extLst>
              <a:ext uri="{28A0092B-C50C-407E-A947-70E740481C1C}">
                <a14:useLocalDpi xmlns:a14="http://schemas.microsoft.com/office/drawing/2010/main" val="0"/>
              </a:ext>
            </a:extLst>
          </a:blip>
          <a:srcRect l="13" r="13"/>
          <a:stretch>
            <a:fillRect/>
          </a:stretch>
        </p:blipFill>
        <p:spPr bwMode="auto">
          <a:xfrm>
            <a:off x="4028177" y="781981"/>
            <a:ext cx="3996736" cy="2862169"/>
          </a:xfrm>
          <a:prstGeom prst="rect">
            <a:avLst/>
          </a:prstGeom>
          <a:ln>
            <a:noFill/>
          </a:ln>
          <a:extLst>
            <a:ext uri="{53640926-AAD7-44D8-BBD7-CCE9431645EC}">
              <a14:shadowObscured xmlns:a14="http://schemas.microsoft.com/office/drawing/2010/main"/>
            </a:ext>
          </a:extLst>
        </p:spPr>
      </p:pic>
      <p:pic>
        <p:nvPicPr>
          <p:cNvPr id="14" name="Imagen 13">
            <a:extLst>
              <a:ext uri="{FF2B5EF4-FFF2-40B4-BE49-F238E27FC236}">
                <a16:creationId xmlns:a16="http://schemas.microsoft.com/office/drawing/2014/main" id="{72338769-A145-4748-9CAA-3CBFC42FDDD6}"/>
              </a:ext>
            </a:extLst>
          </p:cNvPr>
          <p:cNvPicPr/>
          <p:nvPr/>
        </p:nvPicPr>
        <p:blipFill>
          <a:blip r:embed="rId6">
            <a:extLst>
              <a:ext uri="{28A0092B-C50C-407E-A947-70E740481C1C}">
                <a14:useLocalDpi xmlns:a14="http://schemas.microsoft.com/office/drawing/2010/main" val="0"/>
              </a:ext>
            </a:extLst>
          </a:blip>
          <a:srcRect l="532" r="532"/>
          <a:stretch>
            <a:fillRect/>
          </a:stretch>
        </p:blipFill>
        <p:spPr bwMode="auto">
          <a:xfrm>
            <a:off x="8163824" y="709524"/>
            <a:ext cx="3865417" cy="2902355"/>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DE344D53-293C-4C7D-B06E-84DCF66BBE24}"/>
                  </a:ext>
                </a:extLst>
              </p:cNvPr>
              <p:cNvSpPr txBox="1"/>
              <p:nvPr/>
            </p:nvSpPr>
            <p:spPr>
              <a:xfrm>
                <a:off x="8681175" y="361382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47— Tensiones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𝑣</m:t>
                        </m:r>
                      </m:e>
                      <m:sub>
                        <m:r>
                          <a:rPr lang="es-AR">
                            <a:latin typeface="Cambria Math" panose="02040503050406030204" pitchFamily="18" charset="0"/>
                          </a:rPr>
                          <m:t>𝑎𝑏𝑐</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endParaRPr lang="es-AR" dirty="0"/>
              </a:p>
            </p:txBody>
          </p:sp>
        </mc:Choice>
        <mc:Fallback xmlns="">
          <p:sp>
            <p:nvSpPr>
              <p:cNvPr id="15" name="CuadroTexto 14">
                <a:extLst>
                  <a:ext uri="{FF2B5EF4-FFF2-40B4-BE49-F238E27FC236}">
                    <a16:creationId xmlns:a16="http://schemas.microsoft.com/office/drawing/2014/main" id="{DE344D53-293C-4C7D-B06E-84DCF66BBE24}"/>
                  </a:ext>
                </a:extLst>
              </p:cNvPr>
              <p:cNvSpPr txBox="1">
                <a:spLocks noRot="1" noChangeAspect="1" noMove="1" noResize="1" noEditPoints="1" noAdjustHandles="1" noChangeArrowheads="1" noChangeShapeType="1" noTextEdit="1"/>
              </p:cNvSpPr>
              <p:nvPr/>
            </p:nvSpPr>
            <p:spPr>
              <a:xfrm>
                <a:off x="8681175" y="3613824"/>
                <a:ext cx="3996737" cy="261610"/>
              </a:xfrm>
              <a:prstGeom prst="rect">
                <a:avLst/>
              </a:prstGeom>
              <a:blipFill>
                <a:blip r:embed="rId7"/>
                <a:stretch>
                  <a:fillRect b="-16279"/>
                </a:stretch>
              </a:blipFill>
            </p:spPr>
            <p:txBody>
              <a:bodyPr/>
              <a:lstStyle/>
              <a:p>
                <a:r>
                  <a:rPr lang="es-AR">
                    <a:noFill/>
                  </a:rPr>
                  <a:t> </a:t>
                </a:r>
              </a:p>
            </p:txBody>
          </p:sp>
        </mc:Fallback>
      </mc:AlternateContent>
      <p:pic>
        <p:nvPicPr>
          <p:cNvPr id="16" name="Imagen 15">
            <a:extLst>
              <a:ext uri="{FF2B5EF4-FFF2-40B4-BE49-F238E27FC236}">
                <a16:creationId xmlns:a16="http://schemas.microsoft.com/office/drawing/2014/main" id="{0D39F508-08E7-4C4C-A136-E7C937E49432}"/>
              </a:ext>
            </a:extLst>
          </p:cNvPr>
          <p:cNvPicPr/>
          <p:nvPr/>
        </p:nvPicPr>
        <p:blipFill>
          <a:blip r:embed="rId8">
            <a:extLst>
              <a:ext uri="{28A0092B-C50C-407E-A947-70E740481C1C}">
                <a14:useLocalDpi xmlns:a14="http://schemas.microsoft.com/office/drawing/2010/main" val="0"/>
              </a:ext>
            </a:extLst>
          </a:blip>
          <a:srcRect l="86" r="86"/>
          <a:stretch>
            <a:fillRect/>
          </a:stretch>
        </p:blipFill>
        <p:spPr bwMode="auto">
          <a:xfrm>
            <a:off x="121460" y="3913675"/>
            <a:ext cx="3271264" cy="2512215"/>
          </a:xfrm>
          <a:prstGeom prst="rect">
            <a:avLst/>
          </a:prstGeom>
          <a:ln>
            <a:noFill/>
          </a:ln>
          <a:extLst>
            <a:ext uri="{53640926-AAD7-44D8-BBD7-CCE9431645EC}">
              <a14:shadowObscured xmlns:a14="http://schemas.microsoft.com/office/drawing/2010/main"/>
            </a:ext>
          </a:extLst>
        </p:spPr>
      </p:pic>
      <p:sp>
        <p:nvSpPr>
          <p:cNvPr id="17" name="CuadroTexto 16">
            <a:extLst>
              <a:ext uri="{FF2B5EF4-FFF2-40B4-BE49-F238E27FC236}">
                <a16:creationId xmlns:a16="http://schemas.microsoft.com/office/drawing/2014/main" id="{2D93FD81-DF6D-4B50-AA41-D743CB010F55}"/>
              </a:ext>
            </a:extLst>
          </p:cNvPr>
          <p:cNvSpPr txBox="1"/>
          <p:nvPr/>
        </p:nvSpPr>
        <p:spPr>
          <a:xfrm>
            <a:off x="602791" y="6353892"/>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48— Temperatura del estator</a:t>
            </a:r>
          </a:p>
        </p:txBody>
      </p:sp>
      <p:sp>
        <p:nvSpPr>
          <p:cNvPr id="21" name="CuadroTexto 20">
            <a:extLst>
              <a:ext uri="{FF2B5EF4-FFF2-40B4-BE49-F238E27FC236}">
                <a16:creationId xmlns:a16="http://schemas.microsoft.com/office/drawing/2014/main" id="{3AFAFB9E-4D1E-41D9-B75B-784E9B29113E}"/>
              </a:ext>
            </a:extLst>
          </p:cNvPr>
          <p:cNvSpPr txBox="1"/>
          <p:nvPr/>
        </p:nvSpPr>
        <p:spPr>
          <a:xfrm>
            <a:off x="3446886" y="4260345"/>
            <a:ext cx="8744810" cy="1670394"/>
          </a:xfrm>
          <a:prstGeom prst="rect">
            <a:avLst/>
          </a:prstGeom>
          <a:noFill/>
        </p:spPr>
        <p:txBody>
          <a:bodyPr wrap="square">
            <a:spAutoFit/>
          </a:bodyPr>
          <a:lstStyle/>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Al estar definida en posición con cambios bruscos en su pendiente, la referencia introduce exigencias dinámicas elevadas que el sistema intenta seguir en tiempos muy reducidos.</a:t>
            </a:r>
          </a:p>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Se observan respuestas transitorias intensas en las variables eléctricas y mecánicas, particularmente en las corrientes, las tensiones y el par desarrollado. Estos picos alcanzan valores superiores a los niveles nominales.</a:t>
            </a:r>
          </a:p>
          <a:p>
            <a:pPr algn="just">
              <a:lnSpc>
                <a:spcPct val="107000"/>
              </a:lnSpc>
              <a:spcAft>
                <a:spcPts val="800"/>
              </a:spcAft>
            </a:pPr>
            <a:r>
              <a:rPr lang="es-MX" sz="1400" dirty="0"/>
              <a:t>El modelo no incorpora saturación de tensión ni corriente — en una implementación real, el convertidor limitaría estas magnitudes, modificando la respuesta observada.</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Shape 2">
            <a:extLst>
              <a:ext uri="{FF2B5EF4-FFF2-40B4-BE49-F238E27FC236}">
                <a16:creationId xmlns:a16="http://schemas.microsoft.com/office/drawing/2014/main" id="{A3C6A6B6-B076-45DD-A2B4-000DEFD369D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2" name="Text 3">
            <a:extLst>
              <a:ext uri="{FF2B5EF4-FFF2-40B4-BE49-F238E27FC236}">
                <a16:creationId xmlns:a16="http://schemas.microsoft.com/office/drawing/2014/main" id="{D0763BF3-8321-43D6-ABC0-2EC0E2BDD387}"/>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0395551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5613"/>
            <a:ext cx="11551615" cy="658368"/>
          </a:xfrm>
          <a:prstGeom prst="rect">
            <a:avLst/>
          </a:prstGeom>
          <a:noFill/>
        </p:spPr>
        <p:txBody>
          <a:bodyPr wrap="none">
            <a:spAutoFit/>
          </a:bodyPr>
          <a:lstStyle/>
          <a:p>
            <a:pPr algn="l"/>
            <a:r>
              <a:rPr sz="2100" b="1" dirty="0" err="1">
                <a:solidFill>
                  <a:srgbClr val="FFFFFF"/>
                </a:solidFill>
                <a:latin typeface="Cambria"/>
              </a:rPr>
              <a:t>Rechazo</a:t>
            </a:r>
            <a:r>
              <a:rPr sz="2100" b="1" dirty="0">
                <a:solidFill>
                  <a:srgbClr val="FFFFFF"/>
                </a:solidFill>
                <a:latin typeface="Cambria"/>
              </a:rPr>
              <a:t> a </a:t>
            </a:r>
            <a:r>
              <a:rPr sz="2100" b="1" dirty="0" err="1">
                <a:solidFill>
                  <a:srgbClr val="FFFFFF"/>
                </a:solidFill>
                <a:latin typeface="Cambria"/>
              </a:rPr>
              <a:t>perturbaciones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59 / ~75</a:t>
            </a:r>
          </a:p>
        </p:txBody>
      </p:sp>
      <mc:AlternateContent xmlns:mc="http://schemas.openxmlformats.org/markup-compatibility/2006" xmlns:a14="http://schemas.microsoft.com/office/drawing/2010/main">
        <mc:Choice Requires="a14">
          <p:sp>
            <p:nvSpPr>
              <p:cNvPr id="7" name="TextBox 6"/>
              <p:cNvSpPr txBox="1"/>
              <p:nvPr/>
            </p:nvSpPr>
            <p:spPr>
              <a:xfrm>
                <a:off x="126063" y="742871"/>
                <a:ext cx="11430000" cy="307777"/>
              </a:xfrm>
              <a:prstGeom prst="rect">
                <a:avLst/>
              </a:prstGeom>
              <a:noFill/>
            </p:spPr>
            <p:txBody>
              <a:bodyPr wrap="square">
                <a:spAutoFit/>
              </a:bodyPr>
              <a:lstStyle/>
              <a:p>
                <a:pPr algn="l"/>
                <a:r>
                  <a:rPr lang="es-AR" sz="1400" b="0" i="0" dirty="0">
                    <a:solidFill>
                      <a:srgbClr val="1A1A2E"/>
                    </a:solidFill>
                    <a:latin typeface="Calibri"/>
                  </a:rPr>
                  <a:t>Se aplica un escalón de par resistente </a:t>
                </a: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𝑙𝑑</m:t>
                        </m:r>
                      </m:sub>
                    </m:sSub>
                  </m:oMath>
                </a14:m>
                <a:r>
                  <a:rPr lang="es-AR" sz="1400" b="0" i="0" dirty="0">
                    <a:solidFill>
                      <a:srgbClr val="1A1A2E"/>
                    </a:solidFill>
                    <a:latin typeface="Calibri"/>
                  </a:rPr>
                  <a:t> = −5 N·m en t=5s y luego +5 N·m en t=10s (cambio de signo — condición más exigente).</a:t>
                </a:r>
              </a:p>
            </p:txBody>
          </p:sp>
        </mc:Choice>
        <mc:Fallback xmlns="">
          <p:sp>
            <p:nvSpPr>
              <p:cNvPr id="7" name="TextBox 6"/>
              <p:cNvSpPr txBox="1">
                <a:spLocks noRot="1" noChangeAspect="1" noMove="1" noResize="1" noEditPoints="1" noAdjustHandles="1" noChangeArrowheads="1" noChangeShapeType="1" noTextEdit="1"/>
              </p:cNvSpPr>
              <p:nvPr/>
            </p:nvSpPr>
            <p:spPr>
              <a:xfrm>
                <a:off x="126063" y="742871"/>
                <a:ext cx="11430000" cy="307777"/>
              </a:xfrm>
              <a:prstGeom prst="rect">
                <a:avLst/>
              </a:prstGeom>
              <a:blipFill>
                <a:blip r:embed="rId3"/>
                <a:stretch>
                  <a:fillRect l="-160" t="-4000" b="-20000"/>
                </a:stretch>
              </a:blipFill>
            </p:spPr>
            <p:txBody>
              <a:bodyPr/>
              <a:lstStyle/>
              <a:p>
                <a:r>
                  <a:rPr lang="es-AR">
                    <a:noFill/>
                  </a:rPr>
                  <a:t> </a:t>
                </a:r>
              </a:p>
            </p:txBody>
          </p:sp>
        </mc:Fallback>
      </mc:AlternateContent>
      <p:sp>
        <p:nvSpPr>
          <p:cNvPr id="14" name="TextBox 13"/>
          <p:cNvSpPr txBox="1"/>
          <p:nvPr/>
        </p:nvSpPr>
        <p:spPr>
          <a:xfrm>
            <a:off x="274320" y="4816525"/>
            <a:ext cx="11430000" cy="307777"/>
          </a:xfrm>
          <a:prstGeom prst="rect">
            <a:avLst/>
          </a:prstGeom>
          <a:noFill/>
        </p:spPr>
        <p:txBody>
          <a:bodyPr wrap="square">
            <a:spAutoFit/>
          </a:bodyPr>
          <a:lstStyle/>
          <a:p>
            <a:pPr algn="l"/>
            <a:r>
              <a:rPr lang="es-AR" sz="1400" b="1" i="0" dirty="0">
                <a:solidFill>
                  <a:srgbClr val="1A3A6B"/>
                </a:solidFill>
                <a:latin typeface="Calibri"/>
              </a:rPr>
              <a:t>Análisis de resultados:</a:t>
            </a:r>
          </a:p>
        </p:txBody>
      </p:sp>
      <mc:AlternateContent xmlns:mc="http://schemas.openxmlformats.org/markup-compatibility/2006" xmlns:a14="http://schemas.microsoft.com/office/drawing/2010/main">
        <mc:Choice Requires="a14">
          <p:sp>
            <p:nvSpPr>
              <p:cNvPr id="15" name="TextBox 14"/>
              <p:cNvSpPr txBox="1"/>
              <p:nvPr/>
            </p:nvSpPr>
            <p:spPr>
              <a:xfrm>
                <a:off x="274320" y="5167935"/>
                <a:ext cx="11430000" cy="1339021"/>
              </a:xfrm>
              <a:prstGeom prst="rect">
                <a:avLst/>
              </a:prstGeom>
              <a:noFill/>
            </p:spPr>
            <p:txBody>
              <a:bodyPr wrap="square">
                <a:spAutoFit/>
              </a:bodyPr>
              <a:lstStyle/>
              <a:p>
                <a:pPr marL="285750" indent="-285750">
                  <a:buFont typeface="Arial" panose="020B0604020202020204" pitchFamily="34" charset="0"/>
                  <a:buChar char="•"/>
                </a:pPr>
                <a:r>
                  <a:rPr lang="es-AR" sz="1350" dirty="0">
                    <a:solidFill>
                      <a:schemeClr val="tx1"/>
                    </a:solidFill>
                    <a:latin typeface="Calibri"/>
                  </a:rPr>
                  <a:t>El controlador compensa eficazmente la variación de carga — el error transitorio es acotado y rápidamente amortiguado</a:t>
                </a:r>
              </a:p>
              <a:p>
                <a:pPr marL="285750" indent="-285750">
                  <a:spcBef>
                    <a:spcPts val="400"/>
                  </a:spcBef>
                  <a:buFont typeface="Arial" panose="020B0604020202020204" pitchFamily="34" charset="0"/>
                  <a:buChar char="•"/>
                </a:pPr>
                <a:r>
                  <a:rPr lang="es-AR" sz="1350" dirty="0">
                    <a:solidFill>
                      <a:schemeClr val="tx1"/>
                    </a:solidFill>
                    <a:latin typeface="Calibri"/>
                  </a:rPr>
                  <a:t>Aparece un error de estado estacionario frente a </a:t>
                </a: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smtClean="0">
                            <a:solidFill>
                              <a:schemeClr val="tx1"/>
                            </a:solidFill>
                            <a:latin typeface="Cambria Math" panose="02040503050406030204" pitchFamily="18" charset="0"/>
                          </a:rPr>
                          <m:t>𝑇</m:t>
                        </m:r>
                      </m:e>
                      <m:sub>
                        <m:r>
                          <a:rPr lang="es-AR" sz="1400" smtClean="0">
                            <a:solidFill>
                              <a:schemeClr val="tx1"/>
                            </a:solidFill>
                            <a:latin typeface="Cambria Math" panose="02040503050406030204" pitchFamily="18" charset="0"/>
                          </a:rPr>
                          <m:t>𝑙𝑑</m:t>
                        </m:r>
                      </m:sub>
                    </m:sSub>
                  </m:oMath>
                </a14:m>
                <a:r>
                  <a:rPr lang="es-AR" sz="1350" dirty="0">
                    <a:solidFill>
                      <a:schemeClr val="tx1"/>
                    </a:solidFill>
                    <a:latin typeface="Calibri"/>
                  </a:rPr>
                  <a:t> constante — el observador básico no tiene acción integral</a:t>
                </a:r>
              </a:p>
              <a:p>
                <a:pPr marL="285750" indent="-285750">
                  <a:spcBef>
                    <a:spcPts val="400"/>
                  </a:spcBef>
                  <a:buFont typeface="Arial" panose="020B0604020202020204" pitchFamily="34" charset="0"/>
                  <a:buChar char="•"/>
                </a:pPr>
                <a:r>
                  <a:rPr lang="es-AR" sz="1350" dirty="0">
                    <a:solidFill>
                      <a:schemeClr val="tx1"/>
                    </a:solidFill>
                    <a:latin typeface="Calibri"/>
                  </a:rPr>
                  <a:t>La señal estimada sigue consistentemente la posición real sin discrepancias significativas</a:t>
                </a:r>
              </a:p>
              <a:p>
                <a:pPr marL="285750" indent="-285750">
                  <a:spcBef>
                    <a:spcPts val="400"/>
                  </a:spcBef>
                  <a:buFont typeface="Arial" panose="020B0604020202020204" pitchFamily="34" charset="0"/>
                  <a:buChar char="•"/>
                </a:pPr>
                <a:r>
                  <a:rPr lang="es-AR" sz="1350" dirty="0">
                    <a:solidFill>
                      <a:schemeClr val="tx1"/>
                    </a:solidFill>
                    <a:latin typeface="Calibri"/>
                  </a:rPr>
                  <a:t>El instante t=10s (cambio de signo de la carga) genera el transitorio más exigente</a:t>
                </a:r>
              </a:p>
              <a:p>
                <a:pPr marL="285750" indent="-285750">
                  <a:spcBef>
                    <a:spcPts val="400"/>
                  </a:spcBef>
                  <a:buFont typeface="Arial" panose="020B0604020202020204" pitchFamily="34" charset="0"/>
                  <a:buChar char="•"/>
                </a:pPr>
                <a:r>
                  <a:rPr lang="es-AR" sz="1350" b="0" dirty="0">
                    <a:solidFill>
                      <a:schemeClr val="tx1"/>
                    </a:solidFill>
                    <a:latin typeface="Calibri"/>
                  </a:rPr>
                  <a:t>Incorporar acción integral al observador para eliminar el error estacionario </a:t>
                </a:r>
              </a:p>
            </p:txBody>
          </p:sp>
        </mc:Choice>
        <mc:Fallback xmlns="">
          <p:sp>
            <p:nvSpPr>
              <p:cNvPr id="15" name="TextBox 14"/>
              <p:cNvSpPr txBox="1">
                <a:spLocks noRot="1" noChangeAspect="1" noMove="1" noResize="1" noEditPoints="1" noAdjustHandles="1" noChangeArrowheads="1" noChangeShapeType="1" noTextEdit="1"/>
              </p:cNvSpPr>
              <p:nvPr/>
            </p:nvSpPr>
            <p:spPr>
              <a:xfrm>
                <a:off x="274320" y="5167935"/>
                <a:ext cx="11430000" cy="1339021"/>
              </a:xfrm>
              <a:prstGeom prst="rect">
                <a:avLst/>
              </a:prstGeom>
              <a:blipFill>
                <a:blip r:embed="rId4"/>
                <a:stretch>
                  <a:fillRect l="-53" t="-913" b="-4110"/>
                </a:stretch>
              </a:blipFill>
            </p:spPr>
            <p:txBody>
              <a:bodyPr/>
              <a:lstStyle/>
              <a:p>
                <a:r>
                  <a:rPr lang="es-AR">
                    <a:noFill/>
                  </a:rPr>
                  <a:t> </a:t>
                </a:r>
              </a:p>
            </p:txBody>
          </p:sp>
        </mc:Fallback>
      </mc:AlternateContent>
      <p:pic>
        <p:nvPicPr>
          <p:cNvPr id="16" name="Imagen 15">
            <a:extLst>
              <a:ext uri="{FF2B5EF4-FFF2-40B4-BE49-F238E27FC236}">
                <a16:creationId xmlns:a16="http://schemas.microsoft.com/office/drawing/2014/main" id="{154EEA19-08E5-49BD-94A3-10471C0BBBB7}"/>
              </a:ext>
            </a:extLst>
          </p:cNvPr>
          <p:cNvPicPr/>
          <p:nvPr/>
        </p:nvPicPr>
        <p:blipFill>
          <a:blip r:embed="rId5"/>
          <a:stretch>
            <a:fillRect/>
          </a:stretch>
        </p:blipFill>
        <p:spPr>
          <a:xfrm>
            <a:off x="126063" y="1114655"/>
            <a:ext cx="4632368" cy="3483977"/>
          </a:xfrm>
          <a:prstGeom prst="rect">
            <a:avLst/>
          </a:prstGeom>
        </p:spPr>
      </p:pic>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D1A6B88F-EF4C-459D-8786-FBCBAB127437}"/>
                  </a:ext>
                </a:extLst>
              </p:cNvPr>
              <p:cNvSpPr txBox="1"/>
              <p:nvPr/>
            </p:nvSpPr>
            <p:spPr>
              <a:xfrm>
                <a:off x="1131493" y="454460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49— Perturbación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𝑙𝑑</m:t>
                        </m:r>
                      </m:sub>
                    </m:sSub>
                  </m:oMath>
                </a14:m>
                <a:endParaRPr lang="es-AR" dirty="0"/>
              </a:p>
            </p:txBody>
          </p:sp>
        </mc:Choice>
        <mc:Fallback xmlns="">
          <p:sp>
            <p:nvSpPr>
              <p:cNvPr id="17" name="CuadroTexto 16">
                <a:extLst>
                  <a:ext uri="{FF2B5EF4-FFF2-40B4-BE49-F238E27FC236}">
                    <a16:creationId xmlns:a16="http://schemas.microsoft.com/office/drawing/2014/main" id="{D1A6B88F-EF4C-459D-8786-FBCBAB127437}"/>
                  </a:ext>
                </a:extLst>
              </p:cNvPr>
              <p:cNvSpPr txBox="1">
                <a:spLocks noRot="1" noChangeAspect="1" noMove="1" noResize="1" noEditPoints="1" noAdjustHandles="1" noChangeArrowheads="1" noChangeShapeType="1" noTextEdit="1"/>
              </p:cNvSpPr>
              <p:nvPr/>
            </p:nvSpPr>
            <p:spPr>
              <a:xfrm>
                <a:off x="1131493" y="4544605"/>
                <a:ext cx="3996737" cy="261610"/>
              </a:xfrm>
              <a:prstGeom prst="rect">
                <a:avLst/>
              </a:prstGeom>
              <a:blipFill>
                <a:blip r:embed="rId6"/>
                <a:stretch>
                  <a:fillRect b="-19048"/>
                </a:stretch>
              </a:blipFill>
            </p:spPr>
            <p:txBody>
              <a:bodyPr/>
              <a:lstStyle/>
              <a:p>
                <a:r>
                  <a:rPr lang="es-AR">
                    <a:noFill/>
                  </a:rPr>
                  <a:t> </a:t>
                </a:r>
              </a:p>
            </p:txBody>
          </p:sp>
        </mc:Fallback>
      </mc:AlternateContent>
      <p:pic>
        <p:nvPicPr>
          <p:cNvPr id="18" name="Imagen 17">
            <a:extLst>
              <a:ext uri="{FF2B5EF4-FFF2-40B4-BE49-F238E27FC236}">
                <a16:creationId xmlns:a16="http://schemas.microsoft.com/office/drawing/2014/main" id="{375C99EC-A932-44A5-AD98-366F3963F965}"/>
              </a:ext>
            </a:extLst>
          </p:cNvPr>
          <p:cNvPicPr/>
          <p:nvPr/>
        </p:nvPicPr>
        <p:blipFill>
          <a:blip r:embed="rId7">
            <a:extLst>
              <a:ext uri="{28A0092B-C50C-407E-A947-70E740481C1C}">
                <a14:useLocalDpi xmlns:a14="http://schemas.microsoft.com/office/drawing/2010/main" val="0"/>
              </a:ext>
            </a:extLst>
          </a:blip>
          <a:stretch>
            <a:fillRect/>
          </a:stretch>
        </p:blipFill>
        <p:spPr>
          <a:xfrm>
            <a:off x="6133660" y="1038110"/>
            <a:ext cx="4632368" cy="3637065"/>
          </a:xfrm>
          <a:prstGeom prst="rect">
            <a:avLst/>
          </a:prstGeom>
        </p:spPr>
      </p:pic>
      <p:sp>
        <p:nvSpPr>
          <p:cNvPr id="21" name="CuadroTexto 20">
            <a:extLst>
              <a:ext uri="{FF2B5EF4-FFF2-40B4-BE49-F238E27FC236}">
                <a16:creationId xmlns:a16="http://schemas.microsoft.com/office/drawing/2014/main" id="{C5D91A85-CA8F-46BB-A2A2-12ADA260788B}"/>
              </a:ext>
            </a:extLst>
          </p:cNvPr>
          <p:cNvSpPr txBox="1"/>
          <p:nvPr/>
        </p:nvSpPr>
        <p:spPr>
          <a:xfrm>
            <a:off x="6983356" y="462728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50— Respuesta con error de estado estacionario</a:t>
            </a:r>
          </a:p>
        </p:txBody>
      </p:sp>
      <p:sp>
        <p:nvSpPr>
          <p:cNvPr id="19" name="Shape 2">
            <a:extLst>
              <a:ext uri="{FF2B5EF4-FFF2-40B4-BE49-F238E27FC236}">
                <a16:creationId xmlns:a16="http://schemas.microsoft.com/office/drawing/2014/main" id="{BABB2CB2-FEC1-4A08-9FCE-5033699B1A0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45EAF211-E266-4BF9-B7F9-FDEE7E303BB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Verificación de desempeño y mejoras</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Consigna suavizada · Observador integral · Análisis térmico · Sensores no ideales · Modulador no ideal</a:t>
            </a:r>
          </a:p>
        </p:txBody>
      </p:sp>
      <p:sp>
        <p:nvSpPr>
          <p:cNvPr id="5" name="Shape 4">
            <a:extLst>
              <a:ext uri="{FF2B5EF4-FFF2-40B4-BE49-F238E27FC236}">
                <a16:creationId xmlns:a16="http://schemas.microsoft.com/office/drawing/2014/main" id="{F1DC7B78-74F9-482B-ADCD-F312C9F6E530}"/>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32417"/>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p:sp>
        <p:nvSpPr>
          <p:cNvPr id="18" name="CuadroTexto 17">
            <a:extLst>
              <a:ext uri="{FF2B5EF4-FFF2-40B4-BE49-F238E27FC236}">
                <a16:creationId xmlns:a16="http://schemas.microsoft.com/office/drawing/2014/main" id="{75118225-8C9E-42F3-A20B-C14328F0BEB6}"/>
              </a:ext>
            </a:extLst>
          </p:cNvPr>
          <p:cNvSpPr txBox="1"/>
          <p:nvPr/>
        </p:nvSpPr>
        <p:spPr>
          <a:xfrm>
            <a:off x="96766" y="715151"/>
            <a:ext cx="11643055" cy="523220"/>
          </a:xfrm>
          <a:prstGeom prst="rect">
            <a:avLst/>
          </a:prstGeom>
          <a:noFill/>
        </p:spPr>
        <p:txBody>
          <a:bodyPr wrap="square">
            <a:spAutoFit/>
          </a:bodyPr>
          <a:lstStyle/>
          <a:p>
            <a:pPr algn="just"/>
            <a:r>
              <a:rPr lang="es-AR" sz="1400" dirty="0">
                <a:latin typeface="Calibri" panose="020F0502020204030204" pitchFamily="34" charset="0"/>
                <a:ea typeface="Calibri" panose="020F0502020204030204" pitchFamily="34" charset="0"/>
                <a:cs typeface="Times New Roman" panose="02020603050405020304" pitchFamily="18" charset="0"/>
              </a:rPr>
              <a:t>L</a:t>
            </a:r>
            <a:r>
              <a:rPr lang="es-AR" sz="1400" dirty="0">
                <a:effectLst/>
                <a:latin typeface="Calibri" panose="020F0502020204030204" pitchFamily="34" charset="0"/>
                <a:ea typeface="Calibri" panose="020F0502020204030204" pitchFamily="34" charset="0"/>
                <a:cs typeface="Times New Roman" panose="02020603050405020304" pitchFamily="18" charset="0"/>
              </a:rPr>
              <a:t>as exigencias dinámicas asociadas a dicha referencia resultan excesivas. En particular, los cambios bruscos en la pendiente de la trayectoria generan transitorios severos en las variables eléctricas y mecánicas del accionamiento.</a:t>
            </a:r>
            <a:endParaRPr lang="es-AR" sz="1600"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9" name="Tabla 18">
                <a:extLst>
                  <a:ext uri="{FF2B5EF4-FFF2-40B4-BE49-F238E27FC236}">
                    <a16:creationId xmlns:a16="http://schemas.microsoft.com/office/drawing/2014/main" id="{96ED1612-DC7C-4637-BC9F-C40929324DCA}"/>
                  </a:ext>
                </a:extLst>
              </p:cNvPr>
              <p:cNvGraphicFramePr>
                <a:graphicFrameLocks noGrp="1"/>
              </p:cNvGraphicFramePr>
              <p:nvPr>
                <p:extLst>
                  <p:ext uri="{D42A27DB-BD31-4B8C-83A1-F6EECF244321}">
                    <p14:modId xmlns:p14="http://schemas.microsoft.com/office/powerpoint/2010/main" val="2651962099"/>
                  </p:ext>
                </p:extLst>
              </p:nvPr>
            </p:nvGraphicFramePr>
            <p:xfrm>
              <a:off x="185542" y="1238371"/>
              <a:ext cx="8895102" cy="1895446"/>
            </p:xfrm>
            <a:graphic>
              <a:graphicData uri="http://schemas.openxmlformats.org/drawingml/2006/table">
                <a:tbl>
                  <a:tblPr firstRow="1" firstCol="1" bandRow="1">
                    <a:tableStyleId>{5C22544A-7EE6-4342-B048-85BDC9FD1C3A}</a:tableStyleId>
                  </a:tblPr>
                  <a:tblGrid>
                    <a:gridCol w="2281034">
                      <a:extLst>
                        <a:ext uri="{9D8B030D-6E8A-4147-A177-3AD203B41FA5}">
                          <a16:colId xmlns:a16="http://schemas.microsoft.com/office/drawing/2014/main" val="401265204"/>
                        </a:ext>
                      </a:extLst>
                    </a:gridCol>
                    <a:gridCol w="1682995">
                      <a:extLst>
                        <a:ext uri="{9D8B030D-6E8A-4147-A177-3AD203B41FA5}">
                          <a16:colId xmlns:a16="http://schemas.microsoft.com/office/drawing/2014/main" val="492610299"/>
                        </a:ext>
                      </a:extLst>
                    </a:gridCol>
                    <a:gridCol w="1683843">
                      <a:extLst>
                        <a:ext uri="{9D8B030D-6E8A-4147-A177-3AD203B41FA5}">
                          <a16:colId xmlns:a16="http://schemas.microsoft.com/office/drawing/2014/main" val="766750916"/>
                        </a:ext>
                      </a:extLst>
                    </a:gridCol>
                    <a:gridCol w="1683843">
                      <a:extLst>
                        <a:ext uri="{9D8B030D-6E8A-4147-A177-3AD203B41FA5}">
                          <a16:colId xmlns:a16="http://schemas.microsoft.com/office/drawing/2014/main" val="3109045525"/>
                        </a:ext>
                      </a:extLst>
                    </a:gridCol>
                    <a:gridCol w="1563387">
                      <a:extLst>
                        <a:ext uri="{9D8B030D-6E8A-4147-A177-3AD203B41FA5}">
                          <a16:colId xmlns:a16="http://schemas.microsoft.com/office/drawing/2014/main" val="1293281152"/>
                        </a:ext>
                      </a:extLst>
                    </a:gridCol>
                  </a:tblGrid>
                  <a:tr h="285613">
                    <a:tc rowSpan="2">
                      <a:txBody>
                        <a:bodyPr/>
                        <a:lstStyle/>
                        <a:p>
                          <a:pPr algn="ctr"/>
                          <a:r>
                            <a:rPr lang="es-AR" sz="1100" dirty="0">
                              <a:effectLst/>
                            </a:rPr>
                            <a:t> </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2">
                      <a:txBody>
                        <a:bodyPr/>
                        <a:lstStyle/>
                        <a:p>
                          <a:pPr algn="ctr"/>
                          <a:r>
                            <a:rPr lang="es-AR" sz="1100">
                              <a:effectLst/>
                            </a:rPr>
                            <a:t>Especificaciones de operación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tc gridSpan="2">
                      <a:txBody>
                        <a:bodyPr/>
                        <a:lstStyle/>
                        <a:p>
                          <a:pPr algn="ctr"/>
                          <a:r>
                            <a:rPr lang="es-AR" sz="1100">
                              <a:effectLst/>
                            </a:rPr>
                            <a:t>Valores de simulación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extLst>
                      <a:ext uri="{0D108BD9-81ED-4DB2-BD59-A6C34878D82A}">
                        <a16:rowId xmlns:a16="http://schemas.microsoft.com/office/drawing/2014/main" val="3205204497"/>
                      </a:ext>
                    </a:extLst>
                  </a:tr>
                  <a:tr h="285613">
                    <a:tc vMerge="1">
                      <a:txBody>
                        <a:bodyPr/>
                        <a:lstStyle/>
                        <a:p>
                          <a:endParaRPr lang="es-AR"/>
                        </a:p>
                      </a:txBody>
                      <a:tcPr/>
                    </a:tc>
                    <a:tc>
                      <a:txBody>
                        <a:bodyPr/>
                        <a:lstStyle/>
                        <a:p>
                          <a:pPr algn="ctr"/>
                          <a:r>
                            <a:rPr lang="es-AR" sz="1100" dirty="0">
                              <a:effectLst/>
                            </a:rPr>
                            <a:t>Régimen continuo</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Régimen continuo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35366098"/>
                      </a:ext>
                    </a:extLst>
                  </a:tr>
                  <a:tr h="285613">
                    <a:tc>
                      <a:txBody>
                        <a:bodyPr/>
                        <a:lstStyle/>
                        <a:p>
                          <a:pPr algn="ctr"/>
                          <a:r>
                            <a:rPr lang="es-AR" sz="1100">
                              <a:effectLst/>
                            </a:rPr>
                            <a:t>Torque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17</m:t>
                                </m:r>
                                <m:r>
                                  <a:rPr lang="es-AR" sz="1100">
                                    <a:effectLst/>
                                    <a:latin typeface="Cambria Math" panose="02040503050406030204" pitchFamily="18" charset="0"/>
                                  </a:rPr>
                                  <m:t>.</m:t>
                                </m:r>
                                <m:r>
                                  <a:rPr lang="es-AR" sz="1100">
                                    <a:effectLst/>
                                    <a:latin typeface="Cambria Math" panose="02040503050406030204" pitchFamily="18" charset="0"/>
                                  </a:rPr>
                                  <m:t>0</m:t>
                                </m:r>
                                <m:r>
                                  <a:rPr lang="es-AR" sz="1100">
                                    <a:effectLst/>
                                    <a:latin typeface="Cambria Math" panose="02040503050406030204" pitchFamily="18" charset="0"/>
                                  </a:rPr>
                                  <m:t>  </m:t>
                                </m:r>
                                <m:r>
                                  <a:rPr lang="es-AR" sz="1100">
                                    <a:effectLst/>
                                    <a:latin typeface="Cambria Math" panose="02040503050406030204" pitchFamily="18" charset="0"/>
                                  </a:rPr>
                                  <m:t>𝑁</m:t>
                                </m:r>
                                <m:r>
                                  <a:rPr lang="es-AR" sz="1100">
                                    <a:effectLst/>
                                    <a:latin typeface="Cambria Math" panose="02040503050406030204" pitchFamily="18" charset="0"/>
                                  </a:rPr>
                                  <m:t>.</m:t>
                                </m:r>
                                <m:r>
                                  <a:rPr lang="es-AR" sz="1100">
                                    <a:effectLst/>
                                    <a:latin typeface="Cambria Math" panose="02040503050406030204" pitchFamily="18" charset="0"/>
                                  </a:rPr>
                                  <m:t>𝑚</m:t>
                                </m:r>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smtClean="0">
                                    <a:effectLst/>
                                    <a:latin typeface="Cambria Math" panose="02040503050406030204" pitchFamily="18" charset="0"/>
                                  </a:rPr>
                                  <m:t>45</m:t>
                                </m:r>
                                <m:r>
                                  <a:rPr lang="es-AR" sz="1100" smtClean="0">
                                    <a:effectLst/>
                                    <a:latin typeface="Cambria Math" panose="02040503050406030204" pitchFamily="18" charset="0"/>
                                  </a:rPr>
                                  <m:t>.</m:t>
                                </m:r>
                                <m:r>
                                  <a:rPr lang="es-AR" sz="1100" smtClean="0">
                                    <a:effectLst/>
                                    <a:latin typeface="Cambria Math" panose="02040503050406030204" pitchFamily="18" charset="0"/>
                                  </a:rPr>
                                  <m:t>0</m:t>
                                </m:r>
                                <m:r>
                                  <a:rPr lang="es-AR" sz="1100" smtClean="0">
                                    <a:effectLst/>
                                    <a:latin typeface="Cambria Math" panose="02040503050406030204" pitchFamily="18" charset="0"/>
                                  </a:rPr>
                                  <m:t>  </m:t>
                                </m:r>
                                <m:r>
                                  <a:rPr lang="es-AR" sz="1100" smtClean="0">
                                    <a:effectLst/>
                                    <a:latin typeface="Cambria Math" panose="02040503050406030204" pitchFamily="18" charset="0"/>
                                  </a:rPr>
                                  <m:t>𝑁</m:t>
                                </m:r>
                                <m:r>
                                  <a:rPr lang="es-AR" sz="1100" smtClean="0">
                                    <a:effectLst/>
                                    <a:latin typeface="Cambria Math" panose="02040503050406030204" pitchFamily="18" charset="0"/>
                                  </a:rPr>
                                  <m:t>.</m:t>
                                </m:r>
                                <m:r>
                                  <a:rPr lang="es-AR" sz="1100" smtClean="0">
                                    <a:effectLst/>
                                    <a:latin typeface="Cambria Math" panose="02040503050406030204" pitchFamily="18" charset="0"/>
                                  </a:rPr>
                                  <m:t>𝑚</m:t>
                                </m:r>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0</m:t>
                                </m:r>
                                <m:r>
                                  <a:rPr lang="es-AR" sz="1100">
                                    <a:effectLst/>
                                    <a:latin typeface="Cambria Math" panose="02040503050406030204" pitchFamily="18" charset="0"/>
                                  </a:rPr>
                                  <m:t>.</m:t>
                                </m:r>
                                <m:r>
                                  <a:rPr lang="es-AR" sz="1100">
                                    <a:effectLst/>
                                    <a:latin typeface="Cambria Math" panose="02040503050406030204" pitchFamily="18" charset="0"/>
                                  </a:rPr>
                                  <m:t>0390</m:t>
                                </m:r>
                                <m:r>
                                  <a:rPr lang="es-AR" sz="1100">
                                    <a:effectLst/>
                                    <a:latin typeface="Cambria Math" panose="02040503050406030204" pitchFamily="18" charset="0"/>
                                  </a:rPr>
                                  <m:t>  </m:t>
                                </m:r>
                                <m:r>
                                  <a:rPr lang="es-AR" sz="1100">
                                    <a:effectLst/>
                                    <a:latin typeface="Cambria Math" panose="02040503050406030204" pitchFamily="18" charset="0"/>
                                  </a:rPr>
                                  <m:t>𝑁</m:t>
                                </m:r>
                                <m:r>
                                  <a:rPr lang="es-AR" sz="1100">
                                    <a:effectLst/>
                                    <a:latin typeface="Cambria Math" panose="02040503050406030204" pitchFamily="18" charset="0"/>
                                  </a:rPr>
                                  <m:t>.</m:t>
                                </m:r>
                                <m:r>
                                  <a:rPr lang="es-AR" sz="1100">
                                    <a:effectLst/>
                                    <a:latin typeface="Cambria Math" panose="02040503050406030204" pitchFamily="18" charset="0"/>
                                  </a:rPr>
                                  <m:t>𝑚</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5</m:t>
                                </m:r>
                                <m:r>
                                  <a:rPr lang="es-AR" sz="1100">
                                    <a:effectLst/>
                                    <a:latin typeface="Cambria Math" panose="02040503050406030204" pitchFamily="18" charset="0"/>
                                  </a:rPr>
                                  <m:t>.</m:t>
                                </m:r>
                                <m:r>
                                  <a:rPr lang="es-AR" sz="1100">
                                    <a:effectLst/>
                                    <a:latin typeface="Cambria Math" panose="02040503050406030204" pitchFamily="18" charset="0"/>
                                  </a:rPr>
                                  <m:t>0115</m:t>
                                </m:r>
                                <m:r>
                                  <a:rPr lang="es-AR" sz="1100">
                                    <a:effectLst/>
                                    <a:latin typeface="Cambria Math" panose="02040503050406030204" pitchFamily="18" charset="0"/>
                                  </a:rPr>
                                  <m:t>  </m:t>
                                </m:r>
                                <m:r>
                                  <a:rPr lang="es-AR" sz="1100">
                                    <a:effectLst/>
                                    <a:latin typeface="Cambria Math" panose="02040503050406030204" pitchFamily="18" charset="0"/>
                                  </a:rPr>
                                  <m:t>𝑁</m:t>
                                </m:r>
                                <m:r>
                                  <a:rPr lang="es-AR" sz="1100">
                                    <a:effectLst/>
                                    <a:latin typeface="Cambria Math" panose="02040503050406030204" pitchFamily="18" charset="0"/>
                                  </a:rPr>
                                  <m:t>.</m:t>
                                </m:r>
                                <m:r>
                                  <a:rPr lang="es-AR" sz="1100">
                                    <a:effectLst/>
                                    <a:latin typeface="Cambria Math" panose="02040503050406030204" pitchFamily="18" charset="0"/>
                                  </a:rPr>
                                  <m:t>𝑚</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86190967"/>
                      </a:ext>
                    </a:extLst>
                  </a:tr>
                  <a:tr h="285613">
                    <a:tc>
                      <a:txBody>
                        <a:bodyPr/>
                        <a:lstStyle/>
                        <a:p>
                          <a:pPr algn="ctr"/>
                          <a:r>
                            <a:rPr lang="es-AR" sz="1100">
                              <a:effectLst/>
                            </a:rPr>
                            <a:t>Velocidad angular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m:t>
                                </m:r>
                                <m:r>
                                  <a:rPr lang="es-AR" sz="1100">
                                    <a:effectLst/>
                                    <a:latin typeface="Cambria Math" panose="02040503050406030204" pitchFamily="18" charset="0"/>
                                  </a:rPr>
                                  <m:t>.</m:t>
                                </m:r>
                                <m:r>
                                  <a:rPr lang="es-AR" sz="1100">
                                    <a:effectLst/>
                                    <a:latin typeface="Cambria Math" panose="02040503050406030204" pitchFamily="18" charset="0"/>
                                  </a:rPr>
                                  <m:t>28</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m:t>
                                </m:r>
                                <m:r>
                                  <a:rPr lang="es-AR" sz="1100">
                                    <a:effectLst/>
                                    <a:latin typeface="Cambria Math" panose="02040503050406030204" pitchFamily="18" charset="0"/>
                                  </a:rPr>
                                  <m:t>.</m:t>
                                </m:r>
                                <m:r>
                                  <a:rPr lang="es-AR" sz="1100">
                                    <a:effectLst/>
                                    <a:latin typeface="Cambria Math" panose="02040503050406030204" pitchFamily="18" charset="0"/>
                                  </a:rPr>
                                  <m:t>28</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m:t>
                                </m:r>
                                <m:r>
                                  <a:rPr lang="es-AR" sz="1100">
                                    <a:effectLst/>
                                    <a:latin typeface="Cambria Math" panose="02040503050406030204" pitchFamily="18" charset="0"/>
                                  </a:rPr>
                                  <m:t>.</m:t>
                                </m:r>
                                <m:r>
                                  <a:rPr lang="es-AR" sz="1100">
                                    <a:effectLst/>
                                    <a:latin typeface="Cambria Math" panose="02040503050406030204" pitchFamily="18" charset="0"/>
                                  </a:rPr>
                                  <m:t>0000</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m:t>
                                </m:r>
                                <m:r>
                                  <a:rPr lang="es-AR" sz="1100">
                                    <a:effectLst/>
                                    <a:latin typeface="Cambria Math" panose="02040503050406030204" pitchFamily="18" charset="0"/>
                                  </a:rPr>
                                  <m:t>.</m:t>
                                </m:r>
                                <m:r>
                                  <a:rPr lang="es-AR" sz="1100">
                                    <a:effectLst/>
                                    <a:latin typeface="Cambria Math" panose="02040503050406030204" pitchFamily="18" charset="0"/>
                                  </a:rPr>
                                  <m:t>5951</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05035228"/>
                      </a:ext>
                    </a:extLst>
                  </a:tr>
                  <a:tr h="268983">
                    <a:tc>
                      <a:txBody>
                        <a:bodyPr/>
                        <a:lstStyle/>
                        <a:p>
                          <a:pPr algn="ctr"/>
                          <a:r>
                            <a:rPr lang="es-AR" sz="1100">
                              <a:effectLst/>
                            </a:rPr>
                            <a:t>Velocidad angular (motor)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691</m:t>
                                </m:r>
                                <m:r>
                                  <a:rPr lang="es-AR" sz="1100">
                                    <a:effectLst/>
                                    <a:latin typeface="Cambria Math" panose="02040503050406030204" pitchFamily="18" charset="0"/>
                                  </a:rPr>
                                  <m:t>.</m:t>
                                </m:r>
                                <m:r>
                                  <a:rPr lang="es-AR" sz="1100">
                                    <a:effectLst/>
                                    <a:latin typeface="Cambria Math" panose="02040503050406030204" pitchFamily="18" charset="0"/>
                                  </a:rPr>
                                  <m:t>15</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691</m:t>
                                </m:r>
                                <m:r>
                                  <a:rPr lang="es-AR" sz="1100">
                                    <a:effectLst/>
                                    <a:latin typeface="Cambria Math" panose="02040503050406030204" pitchFamily="18" charset="0"/>
                                  </a:rPr>
                                  <m:t>.</m:t>
                                </m:r>
                                <m:r>
                                  <a:rPr lang="es-AR" sz="1100">
                                    <a:effectLst/>
                                    <a:latin typeface="Cambria Math" panose="02040503050406030204" pitchFamily="18" charset="0"/>
                                  </a:rPr>
                                  <m:t>15</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120</m:t>
                                </m:r>
                                <m:r>
                                  <a:rPr lang="es-AR" sz="1100">
                                    <a:effectLst/>
                                    <a:latin typeface="Cambria Math" panose="02040503050406030204" pitchFamily="18" charset="0"/>
                                  </a:rPr>
                                  <m:t>.</m:t>
                                </m:r>
                                <m:r>
                                  <a:rPr lang="es-AR" sz="1100">
                                    <a:effectLst/>
                                    <a:latin typeface="Cambria Math" panose="02040503050406030204" pitchFamily="18" charset="0"/>
                                  </a:rPr>
                                  <m:t>0000</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191</m:t>
                                </m:r>
                                <m:r>
                                  <a:rPr lang="es-AR" sz="1100">
                                    <a:effectLst/>
                                    <a:latin typeface="Cambria Math" panose="02040503050406030204" pitchFamily="18" charset="0"/>
                                  </a:rPr>
                                  <m:t>.</m:t>
                                </m:r>
                                <m:r>
                                  <a:rPr lang="es-AR" sz="1100">
                                    <a:effectLst/>
                                    <a:latin typeface="Cambria Math" panose="02040503050406030204" pitchFamily="18" charset="0"/>
                                  </a:rPr>
                                  <m:t>4139</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03156221"/>
                      </a:ext>
                    </a:extLst>
                  </a:tr>
                  <a:tr h="285613">
                    <a:tc>
                      <a:txBody>
                        <a:bodyPr/>
                        <a:lstStyle/>
                        <a:p>
                          <a:pPr algn="ctr"/>
                          <a:r>
                            <a:rPr lang="es-AR" sz="1100">
                              <a:effectLst/>
                            </a:rPr>
                            <a:t>Corriente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0</m:t>
                                </m:r>
                                <m:r>
                                  <a:rPr lang="es-AR" sz="1100">
                                    <a:effectLst/>
                                    <a:latin typeface="Cambria Math" panose="02040503050406030204" pitchFamily="18" charset="0"/>
                                  </a:rPr>
                                  <m:t>.</m:t>
                                </m:r>
                                <m:r>
                                  <a:rPr lang="es-AR" sz="1100">
                                    <a:effectLst/>
                                    <a:latin typeface="Cambria Math" panose="02040503050406030204" pitchFamily="18" charset="0"/>
                                  </a:rPr>
                                  <m:t>4</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2</m:t>
                                </m:r>
                                <m:r>
                                  <a:rPr lang="es-AR" sz="1100">
                                    <a:effectLst/>
                                    <a:latin typeface="Cambria Math" panose="02040503050406030204" pitchFamily="18" charset="0"/>
                                  </a:rPr>
                                  <m:t>.</m:t>
                                </m:r>
                                <m:r>
                                  <a:rPr lang="es-AR" sz="1100">
                                    <a:effectLst/>
                                    <a:latin typeface="Cambria Math" panose="02040503050406030204" pitchFamily="18" charset="0"/>
                                  </a:rPr>
                                  <m:t>0</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0</m:t>
                                </m:r>
                                <m:r>
                                  <a:rPr lang="es-AR" sz="1100">
                                    <a:effectLst/>
                                    <a:latin typeface="Cambria Math" panose="02040503050406030204" pitchFamily="18" charset="0"/>
                                  </a:rPr>
                                  <m:t>.</m:t>
                                </m:r>
                                <m:r>
                                  <a:rPr lang="es-AR" sz="1100">
                                    <a:effectLst/>
                                    <a:latin typeface="Cambria Math" panose="02040503050406030204" pitchFamily="18" charset="0"/>
                                  </a:rPr>
                                  <m:t>5412</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72</m:t>
                                </m:r>
                                <m:r>
                                  <a:rPr lang="es-AR" sz="1100">
                                    <a:effectLst/>
                                    <a:latin typeface="Cambria Math" panose="02040503050406030204" pitchFamily="18" charset="0"/>
                                  </a:rPr>
                                  <m:t>.</m:t>
                                </m:r>
                                <m:r>
                                  <a:rPr lang="es-AR" sz="1100">
                                    <a:effectLst/>
                                    <a:latin typeface="Cambria Math" panose="02040503050406030204" pitchFamily="18" charset="0"/>
                                  </a:rPr>
                                  <m:t>4853</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66385861"/>
                      </a:ext>
                    </a:extLst>
                  </a:tr>
                  <a:tr h="198398">
                    <a:tc>
                      <a:txBody>
                        <a:bodyPr/>
                        <a:lstStyle/>
                        <a:p>
                          <a:pPr algn="ctr"/>
                          <a:r>
                            <a:rPr lang="es-AR" sz="1100">
                              <a:effectLst/>
                            </a:rPr>
                            <a:t>Tensión de Fase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30</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48</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5</m:t>
                                </m:r>
                                <m:r>
                                  <a:rPr lang="es-AR" sz="1100">
                                    <a:effectLst/>
                                    <a:latin typeface="Cambria Math" panose="02040503050406030204" pitchFamily="18" charset="0"/>
                                  </a:rPr>
                                  <m:t>.</m:t>
                                </m:r>
                                <m:r>
                                  <a:rPr lang="es-AR" sz="1100">
                                    <a:effectLst/>
                                    <a:latin typeface="Cambria Math" panose="02040503050406030204" pitchFamily="18" charset="0"/>
                                  </a:rPr>
                                  <m:t>0662</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1972</m:t>
                                </m:r>
                                <m:r>
                                  <a:rPr lang="es-AR" sz="1100">
                                    <a:effectLst/>
                                    <a:latin typeface="Cambria Math" panose="02040503050406030204" pitchFamily="18" charset="0"/>
                                  </a:rPr>
                                  <m:t>.</m:t>
                                </m:r>
                                <m:r>
                                  <a:rPr lang="es-AR" sz="1100">
                                    <a:effectLst/>
                                    <a:latin typeface="Cambria Math" panose="02040503050406030204" pitchFamily="18" charset="0"/>
                                  </a:rPr>
                                  <m:t>1495</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27880040"/>
                      </a:ext>
                    </a:extLst>
                  </a:tr>
                </a:tbl>
              </a:graphicData>
            </a:graphic>
          </p:graphicFrame>
        </mc:Choice>
        <mc:Fallback xmlns="">
          <p:graphicFrame>
            <p:nvGraphicFramePr>
              <p:cNvPr id="19" name="Tabla 18">
                <a:extLst>
                  <a:ext uri="{FF2B5EF4-FFF2-40B4-BE49-F238E27FC236}">
                    <a16:creationId xmlns:a16="http://schemas.microsoft.com/office/drawing/2014/main" id="{96ED1612-DC7C-4637-BC9F-C40929324DCA}"/>
                  </a:ext>
                </a:extLst>
              </p:cNvPr>
              <p:cNvGraphicFramePr>
                <a:graphicFrameLocks noGrp="1"/>
              </p:cNvGraphicFramePr>
              <p:nvPr>
                <p:extLst>
                  <p:ext uri="{D42A27DB-BD31-4B8C-83A1-F6EECF244321}">
                    <p14:modId xmlns:p14="http://schemas.microsoft.com/office/powerpoint/2010/main" val="2651962099"/>
                  </p:ext>
                </p:extLst>
              </p:nvPr>
            </p:nvGraphicFramePr>
            <p:xfrm>
              <a:off x="185542" y="1238371"/>
              <a:ext cx="8895102" cy="1895446"/>
            </p:xfrm>
            <a:graphic>
              <a:graphicData uri="http://schemas.openxmlformats.org/drawingml/2006/table">
                <a:tbl>
                  <a:tblPr firstRow="1" firstCol="1" bandRow="1">
                    <a:tableStyleId>{5C22544A-7EE6-4342-B048-85BDC9FD1C3A}</a:tableStyleId>
                  </a:tblPr>
                  <a:tblGrid>
                    <a:gridCol w="2281034">
                      <a:extLst>
                        <a:ext uri="{9D8B030D-6E8A-4147-A177-3AD203B41FA5}">
                          <a16:colId xmlns:a16="http://schemas.microsoft.com/office/drawing/2014/main" val="401265204"/>
                        </a:ext>
                      </a:extLst>
                    </a:gridCol>
                    <a:gridCol w="1682995">
                      <a:extLst>
                        <a:ext uri="{9D8B030D-6E8A-4147-A177-3AD203B41FA5}">
                          <a16:colId xmlns:a16="http://schemas.microsoft.com/office/drawing/2014/main" val="492610299"/>
                        </a:ext>
                      </a:extLst>
                    </a:gridCol>
                    <a:gridCol w="1683843">
                      <a:extLst>
                        <a:ext uri="{9D8B030D-6E8A-4147-A177-3AD203B41FA5}">
                          <a16:colId xmlns:a16="http://schemas.microsoft.com/office/drawing/2014/main" val="766750916"/>
                        </a:ext>
                      </a:extLst>
                    </a:gridCol>
                    <a:gridCol w="1683843">
                      <a:extLst>
                        <a:ext uri="{9D8B030D-6E8A-4147-A177-3AD203B41FA5}">
                          <a16:colId xmlns:a16="http://schemas.microsoft.com/office/drawing/2014/main" val="3109045525"/>
                        </a:ext>
                      </a:extLst>
                    </a:gridCol>
                    <a:gridCol w="1563387">
                      <a:extLst>
                        <a:ext uri="{9D8B030D-6E8A-4147-A177-3AD203B41FA5}">
                          <a16:colId xmlns:a16="http://schemas.microsoft.com/office/drawing/2014/main" val="1293281152"/>
                        </a:ext>
                      </a:extLst>
                    </a:gridCol>
                  </a:tblGrid>
                  <a:tr h="285613">
                    <a:tc rowSpan="2">
                      <a:txBody>
                        <a:bodyPr/>
                        <a:lstStyle/>
                        <a:p>
                          <a:pPr algn="ctr"/>
                          <a:r>
                            <a:rPr lang="es-AR" sz="1100" dirty="0">
                              <a:effectLst/>
                            </a:rPr>
                            <a:t> </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2">
                      <a:txBody>
                        <a:bodyPr/>
                        <a:lstStyle/>
                        <a:p>
                          <a:pPr algn="ctr"/>
                          <a:r>
                            <a:rPr lang="es-AR" sz="1100">
                              <a:effectLst/>
                            </a:rPr>
                            <a:t>Especificaciones de operación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tc gridSpan="2">
                      <a:txBody>
                        <a:bodyPr/>
                        <a:lstStyle/>
                        <a:p>
                          <a:pPr algn="ctr"/>
                          <a:r>
                            <a:rPr lang="es-AR" sz="1100">
                              <a:effectLst/>
                            </a:rPr>
                            <a:t>Valores de simulación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extLst>
                      <a:ext uri="{0D108BD9-81ED-4DB2-BD59-A6C34878D82A}">
                        <a16:rowId xmlns:a16="http://schemas.microsoft.com/office/drawing/2014/main" val="3205204497"/>
                      </a:ext>
                    </a:extLst>
                  </a:tr>
                  <a:tr h="285613">
                    <a:tc vMerge="1">
                      <a:txBody>
                        <a:bodyPr/>
                        <a:lstStyle/>
                        <a:p>
                          <a:endParaRPr lang="es-AR"/>
                        </a:p>
                      </a:txBody>
                      <a:tcPr/>
                    </a:tc>
                    <a:tc>
                      <a:txBody>
                        <a:bodyPr/>
                        <a:lstStyle/>
                        <a:p>
                          <a:pPr algn="ctr"/>
                          <a:r>
                            <a:rPr lang="es-AR" sz="1100" dirty="0">
                              <a:effectLst/>
                            </a:rPr>
                            <a:t>Régimen continuo</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Régimen continuo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35366098"/>
                      </a:ext>
                    </a:extLst>
                  </a:tr>
                  <a:tr h="285613">
                    <a:tc>
                      <a:txBody>
                        <a:bodyPr/>
                        <a:lstStyle/>
                        <a:p>
                          <a:pPr algn="ctr"/>
                          <a:r>
                            <a:rPr lang="es-AR" sz="1100">
                              <a:effectLst/>
                            </a:rPr>
                            <a:t>Torque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217021" r="-293502" b="-380851"/>
                          </a:stretch>
                        </a:blipFill>
                      </a:tcPr>
                    </a:tc>
                    <a:tc>
                      <a:txBody>
                        <a:bodyPr/>
                        <a:lstStyle/>
                        <a:p>
                          <a:endParaRPr lang="es-AR"/>
                        </a:p>
                      </a:txBody>
                      <a:tcPr marL="68580" marR="68580" marT="0" marB="0">
                        <a:blipFill>
                          <a:blip r:embed="rId2"/>
                          <a:stretch>
                            <a:fillRect l="-236232" t="-217021" r="-194565" b="-380851"/>
                          </a:stretch>
                        </a:blipFill>
                      </a:tcPr>
                    </a:tc>
                    <a:tc>
                      <a:txBody>
                        <a:bodyPr/>
                        <a:lstStyle/>
                        <a:p>
                          <a:endParaRPr lang="es-AR"/>
                        </a:p>
                      </a:txBody>
                      <a:tcPr marL="68580" marR="68580" marT="0" marB="0">
                        <a:blipFill>
                          <a:blip r:embed="rId2"/>
                          <a:stretch>
                            <a:fillRect l="-336232" t="-217021" r="-94565" b="-380851"/>
                          </a:stretch>
                        </a:blipFill>
                      </a:tcPr>
                    </a:tc>
                    <a:tc>
                      <a:txBody>
                        <a:bodyPr/>
                        <a:lstStyle/>
                        <a:p>
                          <a:endParaRPr lang="es-AR"/>
                        </a:p>
                      </a:txBody>
                      <a:tcPr marL="68580" marR="68580" marT="0" marB="0">
                        <a:blipFill>
                          <a:blip r:embed="rId2"/>
                          <a:stretch>
                            <a:fillRect l="-468482" t="-217021" r="-1556" b="-380851"/>
                          </a:stretch>
                        </a:blipFill>
                      </a:tcPr>
                    </a:tc>
                    <a:extLst>
                      <a:ext uri="{0D108BD9-81ED-4DB2-BD59-A6C34878D82A}">
                        <a16:rowId xmlns:a16="http://schemas.microsoft.com/office/drawing/2014/main" val="1686190967"/>
                      </a:ext>
                    </a:extLst>
                  </a:tr>
                  <a:tr h="285613">
                    <a:tc>
                      <a:txBody>
                        <a:bodyPr/>
                        <a:lstStyle/>
                        <a:p>
                          <a:pPr algn="ctr"/>
                          <a:r>
                            <a:rPr lang="es-AR" sz="1100">
                              <a:effectLst/>
                            </a:rPr>
                            <a:t>Velocidad angular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317021" r="-293502" b="-280851"/>
                          </a:stretch>
                        </a:blipFill>
                      </a:tcPr>
                    </a:tc>
                    <a:tc>
                      <a:txBody>
                        <a:bodyPr/>
                        <a:lstStyle/>
                        <a:p>
                          <a:endParaRPr lang="es-AR"/>
                        </a:p>
                      </a:txBody>
                      <a:tcPr marL="68580" marR="68580" marT="0" marB="0">
                        <a:blipFill>
                          <a:blip r:embed="rId2"/>
                          <a:stretch>
                            <a:fillRect l="-236232" t="-317021" r="-194565" b="-280851"/>
                          </a:stretch>
                        </a:blipFill>
                      </a:tcPr>
                    </a:tc>
                    <a:tc>
                      <a:txBody>
                        <a:bodyPr/>
                        <a:lstStyle/>
                        <a:p>
                          <a:endParaRPr lang="es-AR"/>
                        </a:p>
                      </a:txBody>
                      <a:tcPr marL="68580" marR="68580" marT="0" marB="0">
                        <a:blipFill>
                          <a:blip r:embed="rId2"/>
                          <a:stretch>
                            <a:fillRect l="-336232" t="-317021" r="-94565" b="-280851"/>
                          </a:stretch>
                        </a:blipFill>
                      </a:tcPr>
                    </a:tc>
                    <a:tc>
                      <a:txBody>
                        <a:bodyPr/>
                        <a:lstStyle/>
                        <a:p>
                          <a:endParaRPr lang="es-AR"/>
                        </a:p>
                      </a:txBody>
                      <a:tcPr marL="68580" marR="68580" marT="0" marB="0">
                        <a:blipFill>
                          <a:blip r:embed="rId2"/>
                          <a:stretch>
                            <a:fillRect l="-468482" t="-317021" r="-1556" b="-280851"/>
                          </a:stretch>
                        </a:blipFill>
                      </a:tcPr>
                    </a:tc>
                    <a:extLst>
                      <a:ext uri="{0D108BD9-81ED-4DB2-BD59-A6C34878D82A}">
                        <a16:rowId xmlns:a16="http://schemas.microsoft.com/office/drawing/2014/main" val="3405035228"/>
                      </a:ext>
                    </a:extLst>
                  </a:tr>
                  <a:tr h="268983">
                    <a:tc>
                      <a:txBody>
                        <a:bodyPr/>
                        <a:lstStyle/>
                        <a:p>
                          <a:pPr algn="ctr"/>
                          <a:r>
                            <a:rPr lang="es-AR" sz="1100">
                              <a:effectLst/>
                            </a:rPr>
                            <a:t>Velocidad angular (motor)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445455" r="-293502" b="-200000"/>
                          </a:stretch>
                        </a:blipFill>
                      </a:tcPr>
                    </a:tc>
                    <a:tc>
                      <a:txBody>
                        <a:bodyPr/>
                        <a:lstStyle/>
                        <a:p>
                          <a:endParaRPr lang="es-AR"/>
                        </a:p>
                      </a:txBody>
                      <a:tcPr marL="68580" marR="68580" marT="0" marB="0">
                        <a:blipFill>
                          <a:blip r:embed="rId2"/>
                          <a:stretch>
                            <a:fillRect l="-236232" t="-445455" r="-194565" b="-200000"/>
                          </a:stretch>
                        </a:blipFill>
                      </a:tcPr>
                    </a:tc>
                    <a:tc>
                      <a:txBody>
                        <a:bodyPr/>
                        <a:lstStyle/>
                        <a:p>
                          <a:endParaRPr lang="es-AR"/>
                        </a:p>
                      </a:txBody>
                      <a:tcPr marL="68580" marR="68580" marT="0" marB="0">
                        <a:blipFill>
                          <a:blip r:embed="rId2"/>
                          <a:stretch>
                            <a:fillRect l="-336232" t="-445455" r="-94565" b="-200000"/>
                          </a:stretch>
                        </a:blipFill>
                      </a:tcPr>
                    </a:tc>
                    <a:tc>
                      <a:txBody>
                        <a:bodyPr/>
                        <a:lstStyle/>
                        <a:p>
                          <a:endParaRPr lang="es-AR"/>
                        </a:p>
                      </a:txBody>
                      <a:tcPr marL="68580" marR="68580" marT="0" marB="0">
                        <a:blipFill>
                          <a:blip r:embed="rId2"/>
                          <a:stretch>
                            <a:fillRect l="-468482" t="-445455" r="-1556" b="-200000"/>
                          </a:stretch>
                        </a:blipFill>
                      </a:tcPr>
                    </a:tc>
                    <a:extLst>
                      <a:ext uri="{0D108BD9-81ED-4DB2-BD59-A6C34878D82A}">
                        <a16:rowId xmlns:a16="http://schemas.microsoft.com/office/drawing/2014/main" val="2003156221"/>
                      </a:ext>
                    </a:extLst>
                  </a:tr>
                  <a:tr h="285613">
                    <a:tc>
                      <a:txBody>
                        <a:bodyPr/>
                        <a:lstStyle/>
                        <a:p>
                          <a:pPr algn="ctr"/>
                          <a:r>
                            <a:rPr lang="es-AR" sz="1100">
                              <a:effectLst/>
                            </a:rPr>
                            <a:t>Corriente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510638" r="-293502" b="-87234"/>
                          </a:stretch>
                        </a:blipFill>
                      </a:tcPr>
                    </a:tc>
                    <a:tc>
                      <a:txBody>
                        <a:bodyPr/>
                        <a:lstStyle/>
                        <a:p>
                          <a:endParaRPr lang="es-AR"/>
                        </a:p>
                      </a:txBody>
                      <a:tcPr marL="68580" marR="68580" marT="0" marB="0">
                        <a:blipFill>
                          <a:blip r:embed="rId2"/>
                          <a:stretch>
                            <a:fillRect l="-236232" t="-510638" r="-194565" b="-87234"/>
                          </a:stretch>
                        </a:blipFill>
                      </a:tcPr>
                    </a:tc>
                    <a:tc>
                      <a:txBody>
                        <a:bodyPr/>
                        <a:lstStyle/>
                        <a:p>
                          <a:endParaRPr lang="es-AR"/>
                        </a:p>
                      </a:txBody>
                      <a:tcPr marL="68580" marR="68580" marT="0" marB="0">
                        <a:blipFill>
                          <a:blip r:embed="rId2"/>
                          <a:stretch>
                            <a:fillRect l="-336232" t="-510638" r="-94565" b="-87234"/>
                          </a:stretch>
                        </a:blipFill>
                      </a:tcPr>
                    </a:tc>
                    <a:tc>
                      <a:txBody>
                        <a:bodyPr/>
                        <a:lstStyle/>
                        <a:p>
                          <a:endParaRPr lang="es-AR"/>
                        </a:p>
                      </a:txBody>
                      <a:tcPr marL="68580" marR="68580" marT="0" marB="0">
                        <a:blipFill>
                          <a:blip r:embed="rId2"/>
                          <a:stretch>
                            <a:fillRect l="-468482" t="-510638" r="-1556" b="-87234"/>
                          </a:stretch>
                        </a:blipFill>
                      </a:tcPr>
                    </a:tc>
                    <a:extLst>
                      <a:ext uri="{0D108BD9-81ED-4DB2-BD59-A6C34878D82A}">
                        <a16:rowId xmlns:a16="http://schemas.microsoft.com/office/drawing/2014/main" val="2866385861"/>
                      </a:ext>
                    </a:extLst>
                  </a:tr>
                  <a:tr h="198398">
                    <a:tc>
                      <a:txBody>
                        <a:bodyPr/>
                        <a:lstStyle/>
                        <a:p>
                          <a:pPr algn="ctr"/>
                          <a:r>
                            <a:rPr lang="es-AR" sz="1100">
                              <a:effectLst/>
                            </a:rPr>
                            <a:t>Tensión de Fase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869697" r="-293502" b="-24242"/>
                          </a:stretch>
                        </a:blipFill>
                      </a:tcPr>
                    </a:tc>
                    <a:tc>
                      <a:txBody>
                        <a:bodyPr/>
                        <a:lstStyle/>
                        <a:p>
                          <a:endParaRPr lang="es-AR"/>
                        </a:p>
                      </a:txBody>
                      <a:tcPr marL="68580" marR="68580" marT="0" marB="0">
                        <a:blipFill>
                          <a:blip r:embed="rId2"/>
                          <a:stretch>
                            <a:fillRect l="-236232" t="-869697" r="-194565" b="-24242"/>
                          </a:stretch>
                        </a:blipFill>
                      </a:tcPr>
                    </a:tc>
                    <a:tc>
                      <a:txBody>
                        <a:bodyPr/>
                        <a:lstStyle/>
                        <a:p>
                          <a:endParaRPr lang="es-AR"/>
                        </a:p>
                      </a:txBody>
                      <a:tcPr marL="68580" marR="68580" marT="0" marB="0">
                        <a:blipFill>
                          <a:blip r:embed="rId2"/>
                          <a:stretch>
                            <a:fillRect l="-336232" t="-869697" r="-94565" b="-24242"/>
                          </a:stretch>
                        </a:blipFill>
                      </a:tcPr>
                    </a:tc>
                    <a:tc>
                      <a:txBody>
                        <a:bodyPr/>
                        <a:lstStyle/>
                        <a:p>
                          <a:endParaRPr lang="es-AR"/>
                        </a:p>
                      </a:txBody>
                      <a:tcPr marL="68580" marR="68580" marT="0" marB="0">
                        <a:blipFill>
                          <a:blip r:embed="rId2"/>
                          <a:stretch>
                            <a:fillRect l="-468482" t="-869697" r="-1556" b="-24242"/>
                          </a:stretch>
                        </a:blipFill>
                      </a:tcPr>
                    </a:tc>
                    <a:extLst>
                      <a:ext uri="{0D108BD9-81ED-4DB2-BD59-A6C34878D82A}">
                        <a16:rowId xmlns:a16="http://schemas.microsoft.com/office/drawing/2014/main" val="2027880040"/>
                      </a:ext>
                    </a:extLst>
                  </a:tr>
                </a:tbl>
              </a:graphicData>
            </a:graphic>
          </p:graphicFrame>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2DE4317B-02B3-4E13-80CB-916D5A3A55FD}"/>
                  </a:ext>
                </a:extLst>
              </p:cNvPr>
              <p:cNvSpPr txBox="1"/>
              <p:nvPr/>
            </p:nvSpPr>
            <p:spPr>
              <a:xfrm>
                <a:off x="185542" y="3242548"/>
                <a:ext cx="11465501" cy="738664"/>
              </a:xfrm>
              <a:prstGeom prst="rect">
                <a:avLst/>
              </a:prstGeom>
              <a:noFill/>
            </p:spPr>
            <p:txBody>
              <a:bodyPr wrap="square">
                <a:spAutoFit/>
              </a:bodyPr>
              <a:lstStyle/>
              <a:p>
                <a:pPr algn="just"/>
                <a:r>
                  <a:rPr lang="es-AR" sz="1400" dirty="0">
                    <a:effectLst/>
                    <a:latin typeface="Calibri" panose="020F0502020204030204" pitchFamily="34" charset="0"/>
                    <a:ea typeface="Calibri" panose="020F0502020204030204" pitchFamily="34" charset="0"/>
                    <a:cs typeface="Times New Roman" panose="02020603050405020304" pitchFamily="18" charset="0"/>
                  </a:rPr>
                  <a:t>A partir de este análisis, se concluye que resulta necesario reemplazar la referencia de posición articular </a:t>
                </a:r>
                <a14:m>
                  <m:oMath xmlns:m="http://schemas.openxmlformats.org/officeDocument/2006/math">
                    <m:sSup>
                      <m:s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p>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por una consigna de velocidad </a:t>
                </a:r>
                <a14:m>
                  <m:oMath xmlns:m="http://schemas.openxmlformats.org/officeDocument/2006/math">
                    <m:sSup>
                      <m:s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p>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con perfil trapezoidal. De este modo, se busca suavizar la evolución temporal de la referencia, reducir las discontinuidades que excitan al sistema y obtener valores de corriente y tensión más compatibles con las restricciones de operación establecidas. </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21" name="CuadroTexto 20">
                <a:extLst>
                  <a:ext uri="{FF2B5EF4-FFF2-40B4-BE49-F238E27FC236}">
                    <a16:creationId xmlns:a16="http://schemas.microsoft.com/office/drawing/2014/main" id="{2DE4317B-02B3-4E13-80CB-916D5A3A55FD}"/>
                  </a:ext>
                </a:extLst>
              </p:cNvPr>
              <p:cNvSpPr txBox="1">
                <a:spLocks noRot="1" noChangeAspect="1" noMove="1" noResize="1" noEditPoints="1" noAdjustHandles="1" noChangeArrowheads="1" noChangeShapeType="1" noTextEdit="1"/>
              </p:cNvSpPr>
              <p:nvPr/>
            </p:nvSpPr>
            <p:spPr>
              <a:xfrm>
                <a:off x="185542" y="3242548"/>
                <a:ext cx="11465501" cy="738664"/>
              </a:xfrm>
              <a:prstGeom prst="rect">
                <a:avLst/>
              </a:prstGeom>
              <a:blipFill>
                <a:blip r:embed="rId3"/>
                <a:stretch>
                  <a:fillRect l="-159" t="-1653" r="-159" b="-7438"/>
                </a:stretch>
              </a:blipFill>
            </p:spPr>
            <p:txBody>
              <a:bodyPr/>
              <a:lstStyle/>
              <a:p>
                <a:r>
                  <a:rPr lang="es-AR">
                    <a:noFill/>
                  </a:rPr>
                  <a:t> </a:t>
                </a:r>
              </a:p>
            </p:txBody>
          </p:sp>
        </mc:Fallback>
      </mc:AlternateContent>
      <p:pic>
        <p:nvPicPr>
          <p:cNvPr id="22" name="Imagen 21">
            <a:extLst>
              <a:ext uri="{FF2B5EF4-FFF2-40B4-BE49-F238E27FC236}">
                <a16:creationId xmlns:a16="http://schemas.microsoft.com/office/drawing/2014/main" id="{2732F362-515B-4A93-AF8E-70AD6975FE2E}"/>
              </a:ext>
            </a:extLst>
          </p:cNvPr>
          <p:cNvPicPr/>
          <p:nvPr/>
        </p:nvPicPr>
        <p:blipFill>
          <a:blip r:embed="rId4">
            <a:extLst>
              <a:ext uri="{28A0092B-C50C-407E-A947-70E740481C1C}">
                <a14:useLocalDpi xmlns:a14="http://schemas.microsoft.com/office/drawing/2010/main" val="0"/>
              </a:ext>
            </a:extLst>
          </a:blip>
          <a:stretch>
            <a:fillRect/>
          </a:stretch>
        </p:blipFill>
        <p:spPr>
          <a:xfrm>
            <a:off x="4036914" y="3981212"/>
            <a:ext cx="3571250" cy="2540871"/>
          </a:xfrm>
          <a:prstGeom prst="rect">
            <a:avLst/>
          </a:prstGeom>
        </p:spPr>
      </p:pic>
      <p:sp>
        <p:nvSpPr>
          <p:cNvPr id="23" name="CuadroTexto 22">
            <a:extLst>
              <a:ext uri="{FF2B5EF4-FFF2-40B4-BE49-F238E27FC236}">
                <a16:creationId xmlns:a16="http://schemas.microsoft.com/office/drawing/2014/main" id="{70B890C0-E4D5-4C7D-B13C-E3255DA09346}"/>
              </a:ext>
            </a:extLst>
          </p:cNvPr>
          <p:cNvSpPr txBox="1"/>
          <p:nvPr/>
        </p:nvSpPr>
        <p:spPr>
          <a:xfrm>
            <a:off x="7654306" y="487638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51— Perfil de velocidad </a:t>
            </a:r>
          </a:p>
        </p:txBody>
      </p:sp>
      <p:sp>
        <p:nvSpPr>
          <p:cNvPr id="11" name="Shape 2">
            <a:extLst>
              <a:ext uri="{FF2B5EF4-FFF2-40B4-BE49-F238E27FC236}">
                <a16:creationId xmlns:a16="http://schemas.microsoft.com/office/drawing/2014/main" id="{8AA5AC5B-3D5E-4FE3-9E45-B2F0132CE5D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9FD6D717-42EF-4AFA-957E-07CEEDFB8E1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8173"/>
            <a:ext cx="11551615" cy="658368"/>
          </a:xfrm>
          <a:prstGeom prst="rect">
            <a:avLst/>
          </a:prstGeom>
          <a:noFill/>
        </p:spPr>
        <p:txBody>
          <a:bodyPr wrap="none">
            <a:spAutoFit/>
          </a:bodyPr>
          <a:lstStyle/>
          <a:p>
            <a:pPr algn="l"/>
            <a:r>
              <a:rPr sz="2100" b="1">
                <a:solidFill>
                  <a:srgbClr val="FFFFFF"/>
                </a:solidFill>
                <a:latin typeface="Cambria"/>
              </a:rPr>
              <a:t>Modificación de consigna — Perfil de velocidad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p:pic>
        <p:nvPicPr>
          <p:cNvPr id="17" name="Imagen 16">
            <a:extLst>
              <a:ext uri="{FF2B5EF4-FFF2-40B4-BE49-F238E27FC236}">
                <a16:creationId xmlns:a16="http://schemas.microsoft.com/office/drawing/2014/main" id="{21676D9C-D9F7-4AE3-B1DC-A470105E7A2B}"/>
              </a:ext>
            </a:extLst>
          </p:cNvPr>
          <p:cNvPicPr/>
          <p:nvPr/>
        </p:nvPicPr>
        <p:blipFill rotWithShape="1">
          <a:blip r:embed="rId2">
            <a:extLst>
              <a:ext uri="{28A0092B-C50C-407E-A947-70E740481C1C}">
                <a14:useLocalDpi xmlns:a14="http://schemas.microsoft.com/office/drawing/2010/main" val="0"/>
              </a:ext>
            </a:extLst>
          </a:blip>
          <a:srcRect l="923" r="-4927"/>
          <a:stretch/>
        </p:blipFill>
        <p:spPr bwMode="auto">
          <a:xfrm>
            <a:off x="2692717" y="871433"/>
            <a:ext cx="6628837" cy="4570579"/>
          </a:xfrm>
          <a:prstGeom prst="rect">
            <a:avLst/>
          </a:prstGeom>
          <a:ln>
            <a:noFill/>
          </a:ln>
          <a:extLst>
            <a:ext uri="{53640926-AAD7-44D8-BBD7-CCE9431645EC}">
              <a14:shadowObscured xmlns:a14="http://schemas.microsoft.com/office/drawing/2010/main"/>
            </a:ext>
          </a:extLst>
        </p:spPr>
      </p:pic>
      <p:sp>
        <p:nvSpPr>
          <p:cNvPr id="21" name="CuadroTexto 20">
            <a:extLst>
              <a:ext uri="{FF2B5EF4-FFF2-40B4-BE49-F238E27FC236}">
                <a16:creationId xmlns:a16="http://schemas.microsoft.com/office/drawing/2014/main" id="{4F2178E3-4F5F-4A71-86D2-BDAC3049FFE2}"/>
              </a:ext>
            </a:extLst>
          </p:cNvPr>
          <p:cNvSpPr txBox="1"/>
          <p:nvPr/>
        </p:nvSpPr>
        <p:spPr>
          <a:xfrm>
            <a:off x="4306539" y="5449068"/>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52— Velocidad angular real vs observada vs consigna</a:t>
            </a:r>
          </a:p>
        </p:txBody>
      </p:sp>
      <p:sp>
        <p:nvSpPr>
          <p:cNvPr id="8" name="Shape 2">
            <a:extLst>
              <a:ext uri="{FF2B5EF4-FFF2-40B4-BE49-F238E27FC236}">
                <a16:creationId xmlns:a16="http://schemas.microsoft.com/office/drawing/2014/main" id="{240E8FA4-96E7-4138-B987-ED8F154384E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BA817797-FAC4-4B8A-9BFE-85CCBB90805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7394107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5590"/>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p:sp>
        <p:nvSpPr>
          <p:cNvPr id="21" name="CuadroTexto 20">
            <a:extLst>
              <a:ext uri="{FF2B5EF4-FFF2-40B4-BE49-F238E27FC236}">
                <a16:creationId xmlns:a16="http://schemas.microsoft.com/office/drawing/2014/main" id="{4F2178E3-4F5F-4A71-86D2-BDAC3049FFE2}"/>
              </a:ext>
            </a:extLst>
          </p:cNvPr>
          <p:cNvSpPr txBox="1"/>
          <p:nvPr/>
        </p:nvSpPr>
        <p:spPr>
          <a:xfrm>
            <a:off x="711082" y="4893420"/>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53— Posición angular real vs observada vs consigna</a:t>
            </a:r>
          </a:p>
        </p:txBody>
      </p:sp>
      <p:pic>
        <p:nvPicPr>
          <p:cNvPr id="9" name="Imagen 8">
            <a:extLst>
              <a:ext uri="{FF2B5EF4-FFF2-40B4-BE49-F238E27FC236}">
                <a16:creationId xmlns:a16="http://schemas.microsoft.com/office/drawing/2014/main" id="{F64FC887-3420-43BE-AB1D-C40737D95B1F}"/>
              </a:ext>
            </a:extLst>
          </p:cNvPr>
          <p:cNvPicPr/>
          <p:nvPr/>
        </p:nvPicPr>
        <p:blipFill>
          <a:blip r:embed="rId2">
            <a:extLst>
              <a:ext uri="{28A0092B-C50C-407E-A947-70E740481C1C}">
                <a14:useLocalDpi xmlns:a14="http://schemas.microsoft.com/office/drawing/2010/main" val="0"/>
              </a:ext>
            </a:extLst>
          </a:blip>
          <a:stretch>
            <a:fillRect/>
          </a:stretch>
        </p:blipFill>
        <p:spPr>
          <a:xfrm>
            <a:off x="189239" y="835385"/>
            <a:ext cx="4728990" cy="4011823"/>
          </a:xfrm>
          <a:prstGeom prst="rect">
            <a:avLst/>
          </a:prstGeom>
        </p:spPr>
      </p:pic>
      <p:pic>
        <p:nvPicPr>
          <p:cNvPr id="10" name="Imagen 9">
            <a:extLst>
              <a:ext uri="{FF2B5EF4-FFF2-40B4-BE49-F238E27FC236}">
                <a16:creationId xmlns:a16="http://schemas.microsoft.com/office/drawing/2014/main" id="{16EB9179-3ECE-4EFE-9385-AB178CDBDD14}"/>
              </a:ext>
            </a:extLst>
          </p:cNvPr>
          <p:cNvPicPr/>
          <p:nvPr/>
        </p:nvPicPr>
        <p:blipFill rotWithShape="1">
          <a:blip r:embed="rId3">
            <a:extLst>
              <a:ext uri="{28A0092B-C50C-407E-A947-70E740481C1C}">
                <a14:useLocalDpi xmlns:a14="http://schemas.microsoft.com/office/drawing/2010/main" val="0"/>
              </a:ext>
            </a:extLst>
          </a:blip>
          <a:srcRect t="582" b="-2"/>
          <a:stretch/>
        </p:blipFill>
        <p:spPr bwMode="auto">
          <a:xfrm>
            <a:off x="5469909" y="835384"/>
            <a:ext cx="5201050" cy="4011823"/>
          </a:xfrm>
          <a:prstGeom prst="rect">
            <a:avLst/>
          </a:prstGeom>
          <a:ln>
            <a:noFill/>
          </a:ln>
          <a:extLst>
            <a:ext uri="{53640926-AAD7-44D8-BBD7-CCE9431645EC}">
              <a14:shadowObscured xmlns:a14="http://schemas.microsoft.com/office/drawing/2010/main"/>
            </a:ext>
          </a:extLst>
        </p:spPr>
      </p:pic>
      <p:sp>
        <p:nvSpPr>
          <p:cNvPr id="11" name="CuadroTexto 10">
            <a:extLst>
              <a:ext uri="{FF2B5EF4-FFF2-40B4-BE49-F238E27FC236}">
                <a16:creationId xmlns:a16="http://schemas.microsoft.com/office/drawing/2014/main" id="{6ED071F9-0634-472C-AE3E-5A24A523A6C4}"/>
              </a:ext>
            </a:extLst>
          </p:cNvPr>
          <p:cNvSpPr txBox="1"/>
          <p:nvPr/>
        </p:nvSpPr>
        <p:spPr>
          <a:xfrm>
            <a:off x="6891419" y="4893420"/>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54— Detalle de posición angular</a:t>
            </a:r>
          </a:p>
        </p:txBody>
      </p:sp>
      <p:sp>
        <p:nvSpPr>
          <p:cNvPr id="12" name="Shape 2">
            <a:extLst>
              <a:ext uri="{FF2B5EF4-FFF2-40B4-BE49-F238E27FC236}">
                <a16:creationId xmlns:a16="http://schemas.microsoft.com/office/drawing/2014/main" id="{F84031A5-D1AC-49B4-8D96-CB8A1D5D61F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6F3174D3-BFEF-4F57-9409-79F07D8D7C1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7946784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809"/>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4F2178E3-4F5F-4A71-86D2-BDAC3049FFE2}"/>
                  </a:ext>
                </a:extLst>
              </p:cNvPr>
              <p:cNvSpPr txBox="1"/>
              <p:nvPr/>
            </p:nvSpPr>
            <p:spPr>
              <a:xfrm>
                <a:off x="1430123" y="4729671"/>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55— Torque motor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𝑚</m:t>
                        </m:r>
                      </m:sub>
                    </m:sSub>
                  </m:oMath>
                </a14:m>
                <a:endParaRPr lang="es-AR" dirty="0"/>
              </a:p>
            </p:txBody>
          </p:sp>
        </mc:Choice>
        <mc:Fallback xmlns="">
          <p:sp>
            <p:nvSpPr>
              <p:cNvPr id="21" name="CuadroTexto 20">
                <a:extLst>
                  <a:ext uri="{FF2B5EF4-FFF2-40B4-BE49-F238E27FC236}">
                    <a16:creationId xmlns:a16="http://schemas.microsoft.com/office/drawing/2014/main" id="{4F2178E3-4F5F-4A71-86D2-BDAC3049FFE2}"/>
                  </a:ext>
                </a:extLst>
              </p:cNvPr>
              <p:cNvSpPr txBox="1">
                <a:spLocks noRot="1" noChangeAspect="1" noMove="1" noResize="1" noEditPoints="1" noAdjustHandles="1" noChangeArrowheads="1" noChangeShapeType="1" noTextEdit="1"/>
              </p:cNvSpPr>
              <p:nvPr/>
            </p:nvSpPr>
            <p:spPr>
              <a:xfrm>
                <a:off x="1430123" y="4729671"/>
                <a:ext cx="4366945"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6ED071F9-0634-472C-AE3E-5A24A523A6C4}"/>
                  </a:ext>
                </a:extLst>
              </p:cNvPr>
              <p:cNvSpPr txBox="1"/>
              <p:nvPr/>
            </p:nvSpPr>
            <p:spPr>
              <a:xfrm>
                <a:off x="7504710" y="4759459"/>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56— Corrientes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endParaRPr lang="es-AR" dirty="0"/>
              </a:p>
            </p:txBody>
          </p:sp>
        </mc:Choice>
        <mc:Fallback xmlns="">
          <p:sp>
            <p:nvSpPr>
              <p:cNvPr id="11" name="CuadroTexto 10">
                <a:extLst>
                  <a:ext uri="{FF2B5EF4-FFF2-40B4-BE49-F238E27FC236}">
                    <a16:creationId xmlns:a16="http://schemas.microsoft.com/office/drawing/2014/main" id="{6ED071F9-0634-472C-AE3E-5A24A523A6C4}"/>
                  </a:ext>
                </a:extLst>
              </p:cNvPr>
              <p:cNvSpPr txBox="1">
                <a:spLocks noRot="1" noChangeAspect="1" noMove="1" noResize="1" noEditPoints="1" noAdjustHandles="1" noChangeArrowheads="1" noChangeShapeType="1" noTextEdit="1"/>
              </p:cNvSpPr>
              <p:nvPr/>
            </p:nvSpPr>
            <p:spPr>
              <a:xfrm>
                <a:off x="7504710" y="4759459"/>
                <a:ext cx="4366945" cy="261610"/>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73128FC7-C5F0-47F0-8A3E-620F84E4EAF8}"/>
              </a:ext>
            </a:extLst>
          </p:cNvPr>
          <p:cNvPicPr/>
          <p:nvPr/>
        </p:nvPicPr>
        <p:blipFill>
          <a:blip r:embed="rId4">
            <a:extLst>
              <a:ext uri="{28A0092B-C50C-407E-A947-70E740481C1C}">
                <a14:useLocalDpi xmlns:a14="http://schemas.microsoft.com/office/drawing/2010/main" val="0"/>
              </a:ext>
            </a:extLst>
          </a:blip>
          <a:stretch>
            <a:fillRect/>
          </a:stretch>
        </p:blipFill>
        <p:spPr>
          <a:xfrm>
            <a:off x="320040" y="933985"/>
            <a:ext cx="4465024" cy="3717914"/>
          </a:xfrm>
          <a:prstGeom prst="rect">
            <a:avLst/>
          </a:prstGeom>
        </p:spPr>
      </p:pic>
      <p:pic>
        <p:nvPicPr>
          <p:cNvPr id="13" name="Imagen 12">
            <a:extLst>
              <a:ext uri="{FF2B5EF4-FFF2-40B4-BE49-F238E27FC236}">
                <a16:creationId xmlns:a16="http://schemas.microsoft.com/office/drawing/2014/main" id="{A8BE010C-9E72-40EC-AB4B-412DDC01C099}"/>
              </a:ext>
            </a:extLst>
          </p:cNvPr>
          <p:cNvPicPr/>
          <p:nvPr/>
        </p:nvPicPr>
        <p:blipFill>
          <a:blip r:embed="rId5">
            <a:extLst>
              <a:ext uri="{28A0092B-C50C-407E-A947-70E740481C1C}">
                <a14:useLocalDpi xmlns:a14="http://schemas.microsoft.com/office/drawing/2010/main" val="0"/>
              </a:ext>
            </a:extLst>
          </a:blip>
          <a:srcRect t="644" b="644"/>
          <a:stretch>
            <a:fillRect/>
          </a:stretch>
        </p:blipFill>
        <p:spPr bwMode="auto">
          <a:xfrm>
            <a:off x="6095847" y="933985"/>
            <a:ext cx="4666030" cy="3811467"/>
          </a:xfrm>
          <a:prstGeom prst="rect">
            <a:avLst/>
          </a:prstGeom>
          <a:ln>
            <a:noFill/>
          </a:ln>
          <a:extLst>
            <a:ext uri="{53640926-AAD7-44D8-BBD7-CCE9431645EC}">
              <a14:shadowObscured xmlns:a14="http://schemas.microsoft.com/office/drawing/2010/main"/>
            </a:ext>
          </a:extLst>
        </p:spPr>
      </p:pic>
      <p:sp>
        <p:nvSpPr>
          <p:cNvPr id="10" name="Shape 2">
            <a:extLst>
              <a:ext uri="{FF2B5EF4-FFF2-40B4-BE49-F238E27FC236}">
                <a16:creationId xmlns:a16="http://schemas.microsoft.com/office/drawing/2014/main" id="{DB89B4B5-5098-427E-985B-DEE4C704E3F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212FA254-4F88-44E2-B4DD-AF3DA373DFF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6638340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18771"/>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4F2178E3-4F5F-4A71-86D2-BDAC3049FFE2}"/>
                  </a:ext>
                </a:extLst>
              </p:cNvPr>
              <p:cNvSpPr txBox="1"/>
              <p:nvPr/>
            </p:nvSpPr>
            <p:spPr>
              <a:xfrm>
                <a:off x="1527777" y="4656315"/>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57— Tensiones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endParaRPr lang="es-AR" dirty="0"/>
              </a:p>
            </p:txBody>
          </p:sp>
        </mc:Choice>
        <mc:Fallback xmlns="">
          <p:sp>
            <p:nvSpPr>
              <p:cNvPr id="21" name="CuadroTexto 20">
                <a:extLst>
                  <a:ext uri="{FF2B5EF4-FFF2-40B4-BE49-F238E27FC236}">
                    <a16:creationId xmlns:a16="http://schemas.microsoft.com/office/drawing/2014/main" id="{4F2178E3-4F5F-4A71-86D2-BDAC3049FFE2}"/>
                  </a:ext>
                </a:extLst>
              </p:cNvPr>
              <p:cNvSpPr txBox="1">
                <a:spLocks noRot="1" noChangeAspect="1" noMove="1" noResize="1" noEditPoints="1" noAdjustHandles="1" noChangeArrowheads="1" noChangeShapeType="1" noTextEdit="1"/>
              </p:cNvSpPr>
              <p:nvPr/>
            </p:nvSpPr>
            <p:spPr>
              <a:xfrm>
                <a:off x="1527777" y="4656315"/>
                <a:ext cx="4366945" cy="261610"/>
              </a:xfrm>
              <a:prstGeom prst="rect">
                <a:avLst/>
              </a:prstGeom>
              <a:blipFill>
                <a:blip r:embed="rId2"/>
                <a:stretch>
                  <a:fillRect b="-16279"/>
                </a:stretch>
              </a:blipFill>
            </p:spPr>
            <p:txBody>
              <a:bodyPr/>
              <a:lstStyle/>
              <a:p>
                <a:r>
                  <a:rPr lang="es-AR">
                    <a:noFill/>
                  </a:rPr>
                  <a:t> </a:t>
                </a:r>
              </a:p>
            </p:txBody>
          </p:sp>
        </mc:Fallback>
      </mc:AlternateContent>
      <p:sp>
        <p:nvSpPr>
          <p:cNvPr id="11" name="CuadroTexto 10">
            <a:extLst>
              <a:ext uri="{FF2B5EF4-FFF2-40B4-BE49-F238E27FC236}">
                <a16:creationId xmlns:a16="http://schemas.microsoft.com/office/drawing/2014/main" id="{6ED071F9-0634-472C-AE3E-5A24A523A6C4}"/>
              </a:ext>
            </a:extLst>
          </p:cNvPr>
          <p:cNvSpPr txBox="1"/>
          <p:nvPr/>
        </p:nvSpPr>
        <p:spPr>
          <a:xfrm>
            <a:off x="7504710" y="4662590"/>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58— Temperatura del estator</a:t>
            </a:r>
          </a:p>
        </p:txBody>
      </p:sp>
      <p:pic>
        <p:nvPicPr>
          <p:cNvPr id="14" name="Imagen 13">
            <a:extLst>
              <a:ext uri="{FF2B5EF4-FFF2-40B4-BE49-F238E27FC236}">
                <a16:creationId xmlns:a16="http://schemas.microsoft.com/office/drawing/2014/main" id="{B1B551A1-F426-4489-BB28-50A832B1A377}"/>
              </a:ext>
            </a:extLst>
          </p:cNvPr>
          <p:cNvPicPr/>
          <p:nvPr/>
        </p:nvPicPr>
        <p:blipFill>
          <a:blip r:embed="rId3">
            <a:extLst>
              <a:ext uri="{28A0092B-C50C-407E-A947-70E740481C1C}">
                <a14:useLocalDpi xmlns:a14="http://schemas.microsoft.com/office/drawing/2010/main" val="0"/>
              </a:ext>
            </a:extLst>
          </a:blip>
          <a:stretch>
            <a:fillRect/>
          </a:stretch>
        </p:blipFill>
        <p:spPr>
          <a:xfrm>
            <a:off x="320039" y="828919"/>
            <a:ext cx="4775743" cy="3760836"/>
          </a:xfrm>
          <a:prstGeom prst="rect">
            <a:avLst/>
          </a:prstGeom>
        </p:spPr>
      </p:pic>
      <p:pic>
        <p:nvPicPr>
          <p:cNvPr id="15" name="Imagen 14">
            <a:extLst>
              <a:ext uri="{FF2B5EF4-FFF2-40B4-BE49-F238E27FC236}">
                <a16:creationId xmlns:a16="http://schemas.microsoft.com/office/drawing/2014/main" id="{80F27CEF-4915-4233-B0B4-7A8424DE380C}"/>
              </a:ext>
            </a:extLst>
          </p:cNvPr>
          <p:cNvPicPr/>
          <p:nvPr/>
        </p:nvPicPr>
        <p:blipFill rotWithShape="1">
          <a:blip r:embed="rId4">
            <a:extLst>
              <a:ext uri="{28A0092B-C50C-407E-A947-70E740481C1C}">
                <a14:useLocalDpi xmlns:a14="http://schemas.microsoft.com/office/drawing/2010/main" val="0"/>
              </a:ext>
            </a:extLst>
          </a:blip>
          <a:srcRect t="815" b="-1363"/>
          <a:stretch/>
        </p:blipFill>
        <p:spPr bwMode="auto">
          <a:xfrm>
            <a:off x="6260757" y="866610"/>
            <a:ext cx="4596633" cy="3789705"/>
          </a:xfrm>
          <a:prstGeom prst="rect">
            <a:avLst/>
          </a:prstGeom>
          <a:ln>
            <a:noFill/>
          </a:ln>
          <a:extLst>
            <a:ext uri="{53640926-AAD7-44D8-BBD7-CCE9431645EC}">
              <a14:shadowObscured xmlns:a14="http://schemas.microsoft.com/office/drawing/2010/main"/>
            </a:ext>
          </a:extLst>
        </p:spPr>
      </p:pic>
      <p:sp>
        <p:nvSpPr>
          <p:cNvPr id="16" name="CuadroTexto 15">
            <a:extLst>
              <a:ext uri="{FF2B5EF4-FFF2-40B4-BE49-F238E27FC236}">
                <a16:creationId xmlns:a16="http://schemas.microsoft.com/office/drawing/2014/main" id="{DFAE28A3-C905-4EF3-B303-74157A73EA8A}"/>
              </a:ext>
            </a:extLst>
          </p:cNvPr>
          <p:cNvSpPr txBox="1"/>
          <p:nvPr/>
        </p:nvSpPr>
        <p:spPr>
          <a:xfrm>
            <a:off x="320040" y="5351684"/>
            <a:ext cx="11389607" cy="773673"/>
          </a:xfrm>
          <a:prstGeom prst="rect">
            <a:avLst/>
          </a:prstGeom>
          <a:noFill/>
        </p:spPr>
        <p:txBody>
          <a:bodyPr wrap="square">
            <a:spAutoFit/>
          </a:bodyPr>
          <a:lstStyle/>
          <a:p>
            <a:pPr algn="just">
              <a:lnSpc>
                <a:spcPct val="107000"/>
              </a:lnSpc>
              <a:spcBef>
                <a:spcPts val="18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Esta modificación permite reducir significativamente las amplitudes de las variables, manteniéndolas dentro de los límites operativos del sistema. Asimismo, se observa que la temperatura, que previamente superaba los 56 °C, ahora se mantiene por debajo de los 41 °C, lo cual se explica por la disminución en los niveles de corriente.</a:t>
            </a:r>
          </a:p>
        </p:txBody>
      </p:sp>
      <p:sp>
        <p:nvSpPr>
          <p:cNvPr id="12" name="Shape 2">
            <a:extLst>
              <a:ext uri="{FF2B5EF4-FFF2-40B4-BE49-F238E27FC236}">
                <a16:creationId xmlns:a16="http://schemas.microsoft.com/office/drawing/2014/main" id="{68A1AD0B-77C9-4BEB-BBB2-F3D9AEF273C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3CDFEB8B-7AB2-4624-B516-3765B6A1189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0869962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8" y="113388"/>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con </a:t>
            </a:r>
            <a:r>
              <a:rPr sz="2100" b="1" dirty="0" err="1">
                <a:solidFill>
                  <a:srgbClr val="FFFFFF"/>
                </a:solidFill>
                <a:latin typeface="Cambria"/>
              </a:rPr>
              <a:t>acción</a:t>
            </a:r>
            <a:r>
              <a:rPr sz="2100" b="1" dirty="0">
                <a:solidFill>
                  <a:srgbClr val="FFFFFF"/>
                </a:solidFill>
                <a:latin typeface="Cambria"/>
              </a:rPr>
              <a:t> integral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62 / ~75</a:t>
            </a:r>
          </a:p>
        </p:txBody>
      </p:sp>
      <mc:AlternateContent xmlns:mc="http://schemas.openxmlformats.org/markup-compatibility/2006" xmlns:a14="http://schemas.microsoft.com/office/drawing/2010/main">
        <mc:Choice Requires="a14">
          <p:sp>
            <p:nvSpPr>
              <p:cNvPr id="7" name="TextBox 6"/>
              <p:cNvSpPr txBox="1"/>
              <p:nvPr/>
            </p:nvSpPr>
            <p:spPr>
              <a:xfrm>
                <a:off x="148942" y="709517"/>
                <a:ext cx="11907939" cy="738664"/>
              </a:xfrm>
              <a:prstGeom prst="rect">
                <a:avLst/>
              </a:prstGeom>
              <a:noFill/>
            </p:spPr>
            <p:txBody>
              <a:bodyPr wrap="square">
                <a:spAutoFit/>
              </a:bodyPr>
              <a:lstStyle/>
              <a:p>
                <a:r>
                  <a:rPr lang="es-AR" sz="1400" dirty="0"/>
                  <a:t>Tenemos un error en régimen permanente frente a perturbaciones de torque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oMath>
                </a14:m>
                <a:r>
                  <a:rPr lang="es-AR" sz="1400" dirty="0"/>
                  <a:t>​. El observador tiene un comportamiento equivalente a un controlador tipo PD, ya que su acción depende del estado estimado y de su derivada. Se incorpora una acción integral en el diseño del observador. se define una nueva variable de estado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asociada a la integración del error de estimación:</a:t>
                </a:r>
              </a:p>
            </p:txBody>
          </p:sp>
        </mc:Choice>
        <mc:Fallback xmlns="">
          <p:sp>
            <p:nvSpPr>
              <p:cNvPr id="7" name="TextBox 6"/>
              <p:cNvSpPr txBox="1">
                <a:spLocks noRot="1" noChangeAspect="1" noMove="1" noResize="1" noEditPoints="1" noAdjustHandles="1" noChangeArrowheads="1" noChangeShapeType="1" noTextEdit="1"/>
              </p:cNvSpPr>
              <p:nvPr/>
            </p:nvSpPr>
            <p:spPr>
              <a:xfrm>
                <a:off x="148942" y="709517"/>
                <a:ext cx="11907939" cy="738664"/>
              </a:xfrm>
              <a:prstGeom prst="rect">
                <a:avLst/>
              </a:prstGeom>
              <a:blipFill>
                <a:blip r:embed="rId2"/>
                <a:stretch>
                  <a:fillRect l="-154" t="-820" b="-7377"/>
                </a:stretch>
              </a:blipFill>
            </p:spPr>
            <p:txBody>
              <a:bodyPr/>
              <a:lstStyle/>
              <a:p>
                <a:r>
                  <a:rPr lang="es-AR">
                    <a:noFill/>
                  </a:rPr>
                  <a:t> </a:t>
                </a:r>
              </a:p>
            </p:txBody>
          </p:sp>
        </mc:Fallback>
      </mc:AlternateContent>
      <p:sp>
        <p:nvSpPr>
          <p:cNvPr id="10" name="Rectangle 9"/>
          <p:cNvSpPr/>
          <p:nvPr/>
        </p:nvSpPr>
        <p:spPr>
          <a:xfrm>
            <a:off x="320039" y="1504188"/>
            <a:ext cx="11551615" cy="38290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TextBox 10"/>
              <p:cNvSpPr txBox="1"/>
              <p:nvPr/>
            </p:nvSpPr>
            <p:spPr>
              <a:xfrm>
                <a:off x="320040" y="1504188"/>
                <a:ext cx="2850193" cy="31495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400" i="1" smtClean="0">
                              <a:effectLst/>
                              <a:latin typeface="Cambria Math" panose="02040503050406030204" pitchFamily="18" charset="0"/>
                            </a:rPr>
                          </m:ctrlPr>
                        </m:sSubPr>
                        <m:e>
                          <m:acc>
                            <m:accPr>
                              <m:chr m:val="̇"/>
                              <m:ctrlPr>
                                <a:rPr lang="es-AR" sz="1400" i="1">
                                  <a:effectLst/>
                                  <a:latin typeface="Cambria Math" panose="02040503050406030204" pitchFamily="18" charset="0"/>
                                </a:rPr>
                              </m:ctrlPr>
                            </m:acc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e>
                          </m:acc>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s-AR" sz="1400" i="1">
                              <a:effectLst/>
                              <a:latin typeface="Cambria Math" panose="02040503050406030204" pitchFamily="18" charset="0"/>
                            </a:rPr>
                          </m:ctrlPr>
                        </m:acc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𝑦</m:t>
                          </m:r>
                        </m:e>
                      </m:acc>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rPr>
                          </m:ctrlPr>
                        </m:sSubPr>
                        <m:e>
                          <m:acc>
                            <m:accPr>
                              <m:chr m:val="̃"/>
                              <m:ctrlPr>
                                <a:rPr lang="es-AR" sz="1400" i="1">
                                  <a:effectLst/>
                                  <a:latin typeface="Cambria Math" panose="02040503050406030204" pitchFamily="18" charset="0"/>
                                </a:rPr>
                              </m:ctrlPr>
                            </m:acc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e>
                          </m:acc>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sz="1400" b="1" dirty="0">
                  <a:solidFill>
                    <a:srgbClr val="1B6B2A"/>
                  </a:solidFill>
                  <a:latin typeface="Calibri"/>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320040" y="1504188"/>
                <a:ext cx="2850193" cy="314958"/>
              </a:xfrm>
              <a:prstGeom prst="rect">
                <a:avLst/>
              </a:prstGeom>
              <a:blipFill>
                <a:blip r:embed="rId3"/>
                <a:stretch>
                  <a:fillRect t="-5882" b="-3922"/>
                </a:stretch>
              </a:blipFill>
            </p:spPr>
            <p:txBody>
              <a:bodyPr/>
              <a:lstStyle/>
              <a:p>
                <a:r>
                  <a:rPr lang="es-AR">
                    <a:noFill/>
                  </a:rPr>
                  <a:t> </a:t>
                </a:r>
              </a:p>
            </p:txBody>
          </p:sp>
        </mc:Fallback>
      </mc:AlternateContent>
      <p:sp>
        <p:nvSpPr>
          <p:cNvPr id="12" name="Rectangle 11"/>
          <p:cNvSpPr/>
          <p:nvPr/>
        </p:nvSpPr>
        <p:spPr>
          <a:xfrm>
            <a:off x="320039" y="2281428"/>
            <a:ext cx="1155161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25452" y="2243124"/>
                <a:ext cx="4231692" cy="513282"/>
              </a:xfrm>
              <a:prstGeom prst="rect">
                <a:avLst/>
              </a:prstGeom>
              <a:noFill/>
            </p:spPr>
            <p:txBody>
              <a:bodyPr wrap="square">
                <a:spAutoFit/>
              </a:bodyPr>
              <a:lstStyle/>
              <a:p>
                <a:pPr algn="ctr"/>
                <a14:m>
                  <m:oMath xmlns:m="http://schemas.openxmlformats.org/officeDocument/2006/math">
                    <m:sSub>
                      <m:sSubPr>
                        <m:ctrlPr>
                          <a:rPr lang="es-AR" sz="10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𝑢</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sub>
                    </m:sSub>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𝑒𝑞</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sub>
                    </m:sSub>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MX" sz="1100" b="1" dirty="0">
                    <a:solidFill>
                      <a:srgbClr val="1B6B2A"/>
                    </a:solidFill>
                    <a:latin typeface="Calibri"/>
                  </a:rPr>
                  <a:t>,                     </a:t>
                </a:r>
                <a14:m>
                  <m:oMath xmlns:m="http://schemas.openxmlformats.org/officeDocument/2006/math">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sub>
                        <m:r>
                          <a:rPr lang="es-AR" sz="1400" i="1">
                            <a:latin typeface="Cambria Math" panose="02040503050406030204" pitchFamily="18" charset="0"/>
                          </a:rPr>
                          <m:t>𝑎𝑢𝑔</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d>
                  </m:oMath>
                </a14:m>
                <a:endParaRPr sz="1100" b="1" dirty="0">
                  <a:solidFill>
                    <a:srgbClr val="1B6B2A"/>
                  </a:solidFill>
                  <a:latin typeface="Calibri"/>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25452" y="2243124"/>
                <a:ext cx="4231692" cy="513282"/>
              </a:xfrm>
              <a:prstGeom prst="rect">
                <a:avLst/>
              </a:prstGeom>
              <a:blipFill>
                <a:blip r:embed="rId4"/>
                <a:stretch>
                  <a:fillRect/>
                </a:stretch>
              </a:blipFill>
            </p:spPr>
            <p:txBody>
              <a:bodyPr/>
              <a:lstStyle/>
              <a:p>
                <a:r>
                  <a:rPr lang="es-AR">
                    <a:noFill/>
                  </a:rPr>
                  <a:t> </a:t>
                </a:r>
              </a:p>
            </p:txBody>
          </p:sp>
        </mc:Fallback>
      </mc:AlternateContent>
      <p:sp>
        <p:nvSpPr>
          <p:cNvPr id="23" name="CuadroTexto 22">
            <a:extLst>
              <a:ext uri="{FF2B5EF4-FFF2-40B4-BE49-F238E27FC236}">
                <a16:creationId xmlns:a16="http://schemas.microsoft.com/office/drawing/2014/main" id="{01BEB013-87EB-4F91-96A1-FF7E2D0C8ACA}"/>
              </a:ext>
            </a:extLst>
          </p:cNvPr>
          <p:cNvSpPr txBox="1"/>
          <p:nvPr/>
        </p:nvSpPr>
        <p:spPr>
          <a:xfrm>
            <a:off x="148942" y="1938047"/>
            <a:ext cx="6146276" cy="312650"/>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La acción integral se introduce a través de una nueva entrada:</a:t>
            </a:r>
          </a:p>
        </p:txBody>
      </p: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D71F3394-CC79-4C28-AE86-51AB62D512E6}"/>
                  </a:ext>
                </a:extLst>
              </p:cNvPr>
              <p:cNvSpPr txBox="1"/>
              <p:nvPr/>
            </p:nvSpPr>
            <p:spPr>
              <a:xfrm>
                <a:off x="203615" y="2771713"/>
                <a:ext cx="11853265" cy="312073"/>
              </a:xfrm>
              <a:prstGeom prst="rect">
                <a:avLst/>
              </a:prstGeom>
              <a:noFill/>
            </p:spPr>
            <p:txBody>
              <a:bodyPr wrap="square">
                <a:spAutoFit/>
              </a:bodyPr>
              <a:lstStyle/>
              <a:p>
                <a:pPr algn="just">
                  <a:lnSpc>
                    <a:spcPct val="107000"/>
                  </a:lnSpc>
                  <a:spcBef>
                    <a:spcPts val="1200"/>
                  </a:spcBef>
                  <a:spcAft>
                    <a:spcPts val="800"/>
                  </a:spcAft>
                </a:pPr>
                <a:r>
                  <a:rPr lang="es-AR" sz="1400" dirty="0">
                    <a:latin typeface="Calibri" panose="020F0502020204030204" pitchFamily="34" charset="0"/>
                    <a:ea typeface="Calibri" panose="020F0502020204030204" pitchFamily="34" charset="0"/>
                    <a:cs typeface="Times New Roman" panose="02020603050405020304" pitchFamily="18" charset="0"/>
                  </a:rPr>
                  <a:t>L</a:t>
                </a:r>
                <a:r>
                  <a:rPr lang="es-AR" sz="1400" dirty="0">
                    <a:effectLst/>
                    <a:latin typeface="Calibri" panose="020F0502020204030204" pitchFamily="34" charset="0"/>
                    <a:ea typeface="Calibri" panose="020F0502020204030204" pitchFamily="34" charset="0"/>
                    <a:cs typeface="Times New Roman" panose="02020603050405020304" pitchFamily="18" charset="0"/>
                  </a:rPr>
                  <a:t>a entrada del sistema está compuesta por dos términos: la consigna de torque </a:t>
                </a:r>
                <a14:m>
                  <m:oMath xmlns:m="http://schemas.openxmlformats.org/officeDocument/2006/math">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la contribución de la acción integral</a:t>
                </a:r>
              </a:p>
            </p:txBody>
          </p:sp>
        </mc:Choice>
        <mc:Fallback xmlns="">
          <p:sp>
            <p:nvSpPr>
              <p:cNvPr id="24" name="CuadroTexto 23">
                <a:extLst>
                  <a:ext uri="{FF2B5EF4-FFF2-40B4-BE49-F238E27FC236}">
                    <a16:creationId xmlns:a16="http://schemas.microsoft.com/office/drawing/2014/main" id="{D71F3394-CC79-4C28-AE86-51AB62D512E6}"/>
                  </a:ext>
                </a:extLst>
              </p:cNvPr>
              <p:cNvSpPr txBox="1">
                <a:spLocks noRot="1" noChangeAspect="1" noMove="1" noResize="1" noEditPoints="1" noAdjustHandles="1" noChangeArrowheads="1" noChangeShapeType="1" noTextEdit="1"/>
              </p:cNvSpPr>
              <p:nvPr/>
            </p:nvSpPr>
            <p:spPr>
              <a:xfrm>
                <a:off x="203615" y="2771713"/>
                <a:ext cx="11853265" cy="312073"/>
              </a:xfrm>
              <a:prstGeom prst="rect">
                <a:avLst/>
              </a:prstGeom>
              <a:blipFill>
                <a:blip r:embed="rId5"/>
                <a:stretch>
                  <a:fillRect l="-154" t="-1961" b="-19608"/>
                </a:stretch>
              </a:blipFill>
            </p:spPr>
            <p:txBody>
              <a:bodyPr/>
              <a:lstStyle/>
              <a:p>
                <a:r>
                  <a:rPr lang="es-AR">
                    <a:noFill/>
                  </a:rPr>
                  <a:t> </a:t>
                </a:r>
              </a:p>
            </p:txBody>
          </p:sp>
        </mc:Fallback>
      </mc:AlternateContent>
      <p:sp>
        <p:nvSpPr>
          <p:cNvPr id="25" name="Rectangle 11">
            <a:extLst>
              <a:ext uri="{FF2B5EF4-FFF2-40B4-BE49-F238E27FC236}">
                <a16:creationId xmlns:a16="http://schemas.microsoft.com/office/drawing/2014/main" id="{5ECBE2F0-7E23-47F7-96D4-E09B9453D19E}"/>
              </a:ext>
            </a:extLst>
          </p:cNvPr>
          <p:cNvSpPr/>
          <p:nvPr/>
        </p:nvSpPr>
        <p:spPr>
          <a:xfrm>
            <a:off x="320039" y="3098583"/>
            <a:ext cx="11597336" cy="118244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6" name="TextBox 12">
                <a:extLst>
                  <a:ext uri="{FF2B5EF4-FFF2-40B4-BE49-F238E27FC236}">
                    <a16:creationId xmlns:a16="http://schemas.microsoft.com/office/drawing/2014/main" id="{FAF94A62-78D3-47A8-A7D4-9D0647C6CA52}"/>
                  </a:ext>
                </a:extLst>
              </p:cNvPr>
              <p:cNvSpPr txBox="1"/>
              <p:nvPr/>
            </p:nvSpPr>
            <p:spPr>
              <a:xfrm>
                <a:off x="-229535" y="3077843"/>
                <a:ext cx="11988068" cy="1182440"/>
              </a:xfrm>
              <a:prstGeom prst="rect">
                <a:avLst/>
              </a:prstGeom>
              <a:noFill/>
            </p:spPr>
            <p:txBody>
              <a:bodyPr wrap="square">
                <a:spAutoFit/>
              </a:bodyPr>
              <a:lstStyle/>
              <a:p>
                <a:pPr algn="ctr"/>
                <a14:m>
                  <m:oMath xmlns:m="http://schemas.openxmlformats.org/officeDocument/2006/math">
                    <m:d>
                      <m:dPr>
                        <m:begChr m:val="{"/>
                        <m:endChr m:val=""/>
                        <m:ctrlPr>
                          <a:rPr lang="es-AR" sz="1400" i="1" smtClean="0">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acc>
                                <m:accPr>
                                  <m:chr m:val="̇"/>
                                  <m:ctrlPr>
                                    <a:rPr lang="es-AR" sz="1400" i="1">
                                      <a:solidFill>
                                        <a:schemeClr val="tx1"/>
                                      </a:solidFill>
                                      <a:latin typeface="Cambria Math" panose="02040503050406030204" pitchFamily="18" charset="0"/>
                                    </a:rPr>
                                  </m:ctrlPr>
                                </m:acc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𝐴</m:t>
                                  </m:r>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𝑒</m:t>
                                      </m:r>
                                    </m:sub>
                                  </m:sSub>
                                  <m:r>
                                    <a:rPr lang="es-AR" sz="1400" i="1">
                                      <a:solidFill>
                                        <a:schemeClr val="tx1"/>
                                      </a:solidFill>
                                      <a:latin typeface="Cambria Math" panose="02040503050406030204" pitchFamily="18" charset="0"/>
                                    </a:rPr>
                                    <m:t>𝐶</m:t>
                                  </m:r>
                                </m:e>
                              </m:d>
                              <m:r>
                                <a:rPr lang="es-AR" sz="1400" i="1">
                                  <a:solidFill>
                                    <a:schemeClr val="tx1"/>
                                  </a:solidFill>
                                  <a:latin typeface="Cambria Math" panose="02040503050406030204" pitchFamily="18" charset="0"/>
                                </a:rPr>
                                <m:t> </m:t>
                              </m:r>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𝐵</m:t>
                                  </m:r>
                                </m:e>
                                <m:sub>
                                  <m:r>
                                    <a:rPr lang="es-AR" sz="1400" i="1">
                                      <a:solidFill>
                                        <a:schemeClr val="tx1"/>
                                      </a:solidFill>
                                      <a:latin typeface="Cambria Math" panose="02040503050406030204" pitchFamily="18" charset="0"/>
                                    </a:rPr>
                                    <m:t>𝑐</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𝑖</m:t>
                                      </m:r>
                                    </m:sub>
                                  </m:sSub>
                                  <m:r>
                                    <a:rPr lang="es-AR" sz="1400" i="1">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𝑥</m:t>
                                      </m:r>
                                    </m:e>
                                    <m:sub>
                                      <m:r>
                                        <a:rPr lang="es-AR" sz="1400" i="1">
                                          <a:solidFill>
                                            <a:schemeClr val="tx1"/>
                                          </a:solidFill>
                                          <a:latin typeface="Cambria Math" panose="02040503050406030204" pitchFamily="18" charset="0"/>
                                        </a:rPr>
                                        <m:t>𝐼</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𝑒</m:t>
                                  </m:r>
                                </m:sub>
                              </m:sSub>
                              <m:r>
                                <a:rPr lang="es-AR" sz="1400" i="1">
                                  <a:solidFill>
                                    <a:schemeClr val="tx1"/>
                                  </a:solidFill>
                                  <a:latin typeface="Cambria Math" panose="02040503050406030204" pitchFamily="18" charset="0"/>
                                </a:rPr>
                                <m:t>𝐶</m:t>
                              </m:r>
                              <m:r>
                                <a:rPr lang="es-AR" sz="1400" i="1">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𝑥</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acc>
                                <m:accPr>
                                  <m:chr m:val="̇"/>
                                  <m:ctrlPr>
                                    <a:rPr lang="es-AR" sz="1400" i="1">
                                      <a:solidFill>
                                        <a:schemeClr val="tx1"/>
                                      </a:solidFill>
                                      <a:latin typeface="Cambria Math" panose="02040503050406030204" pitchFamily="18" charset="0"/>
                                    </a:rPr>
                                  </m:ctrlPr>
                                </m:acc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𝑥</m:t>
                                      </m:r>
                                    </m:e>
                                    <m:sub>
                                      <m:r>
                                        <a:rPr lang="es-AR" sz="1400" i="1">
                                          <a:solidFill>
                                            <a:schemeClr val="tx1"/>
                                          </a:solidFill>
                                          <a:latin typeface="Cambria Math" panose="02040503050406030204" pitchFamily="18" charset="0"/>
                                        </a:rPr>
                                        <m:t>𝐼</m:t>
                                      </m:r>
                                    </m:sub>
                                  </m:sSub>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𝐶</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𝑥</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r>
                                <a:rPr lang="es-AR" sz="1400" i="1">
                                  <a:solidFill>
                                    <a:schemeClr val="tx1"/>
                                  </a:solidFill>
                                  <a:latin typeface="Cambria Math" panose="02040503050406030204" pitchFamily="18" charset="0"/>
                                </a:rPr>
                                <m:t>                                                                        </m:t>
                              </m:r>
                            </m:e>
                          </m:mr>
                          <m:m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𝑦</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𝐶</m:t>
                              </m:r>
                              <m:r>
                                <a:rPr lang="es-AR" sz="1400" i="1">
                                  <a:solidFill>
                                    <a:schemeClr val="tx1"/>
                                  </a:solidFill>
                                  <a:latin typeface="Cambria Math" panose="02040503050406030204" pitchFamily="18" charset="0"/>
                                </a:rPr>
                                <m:t> </m:t>
                              </m:r>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                                                                                          </m:t>
                              </m:r>
                            </m:e>
                          </m:mr>
                        </m:m>
                      </m:e>
                    </m:d>
                  </m:oMath>
                </a14:m>
                <a:r>
                  <a:rPr lang="es-MX" sz="1100" b="1" dirty="0">
                    <a:solidFill>
                      <a:schemeClr val="tx1"/>
                    </a:solidFill>
                    <a:latin typeface="Calibri"/>
                  </a:rPr>
                  <a:t>,                     </a:t>
                </a:r>
                <a14:m>
                  <m:oMath xmlns:m="http://schemas.openxmlformats.org/officeDocument/2006/math">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𝜃</m:t>
                                                    </m:r>
                                                  </m:e>
                                                </m:acc>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m:t>
                                                    </m:r>
                                                  </m:e>
                                                </m:acc>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e>
                                          <m:sub>
                                            <m:r>
                                              <a:rPr lang="es-AR" sz="1400" i="1">
                                                <a:solidFill>
                                                  <a:schemeClr val="tx1"/>
                                                </a:solidFill>
                                                <a:latin typeface="Cambria Math" panose="02040503050406030204" pitchFamily="18" charset="0"/>
                                              </a:rPr>
                                              <m:t>𝐼</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mcs>
                                        <m:mc>
                                          <m:mcPr>
                                            <m:count m:val="3"/>
                                            <m:mcJc m:val="center"/>
                                          </m:mcPr>
                                        </m:mc>
                                      </m:mcs>
                                      <m:ctrlPr>
                                        <a:rPr lang="es-AR" sz="1400" i="1">
                                          <a:solidFill>
                                            <a:schemeClr val="tx1"/>
                                          </a:solidFill>
                                          <a:latin typeface="Cambria Math" panose="02040503050406030204" pitchFamily="18" charset="0"/>
                                        </a:rPr>
                                      </m:ctrlPr>
                                    </m:mPr>
                                    <m:mr>
                                      <m:e>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𝜃</m:t>
                                            </m:r>
                                          </m:sub>
                                        </m:sSub>
                                      </m:e>
                                      <m:e>
                                        <m:r>
                                          <a:rPr lang="es-AR" sz="1400" i="1">
                                            <a:solidFill>
                                              <a:schemeClr val="tx1"/>
                                            </a:solidFill>
                                            <a:latin typeface="Cambria Math" panose="02040503050406030204" pitchFamily="18" charset="0"/>
                                          </a:rPr>
                                          <m:t>1</m:t>
                                        </m:r>
                                      </m:e>
                                      <m:e>
                                        <m:r>
                                          <a:rPr lang="es-AR" sz="1400" i="1">
                                            <a:solidFill>
                                              <a:schemeClr val="tx1"/>
                                            </a:solidFill>
                                            <a:latin typeface="Cambria Math" panose="02040503050406030204" pitchFamily="18" charset="0"/>
                                          </a:rPr>
                                          <m:t>0</m:t>
                                        </m:r>
                                      </m:e>
                                    </m:mr>
                                    <m:mr>
                                      <m:e>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m:t>
                                            </m:r>
                                          </m:sub>
                                        </m:sSub>
                                      </m:e>
                                      <m:e>
                                        <m:r>
                                          <a:rPr lang="es-AR" sz="1400" i="1">
                                            <a:solidFill>
                                              <a:schemeClr val="tx1"/>
                                            </a:solidFill>
                                            <a:latin typeface="Cambria Math" panose="02040503050406030204" pitchFamily="18" charset="0"/>
                                          </a:rPr>
                                          <m:t>0</m:t>
                                        </m:r>
                                      </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𝑖</m:t>
                                            </m:r>
                                          </m:sub>
                                        </m:sSub>
                                      </m:e>
                                    </m:mr>
                                    <m:mr>
                                      <m:e>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1</m:t>
                                        </m:r>
                                      </m:e>
                                      <m:e>
                                        <m:r>
                                          <a:rPr lang="es-AR" sz="1400" i="1">
                                            <a:solidFill>
                                              <a:schemeClr val="tx1"/>
                                            </a:solidFill>
                                            <a:latin typeface="Cambria Math" panose="02040503050406030204" pitchFamily="18" charset="0"/>
                                          </a:rPr>
                                          <m:t>0</m:t>
                                        </m:r>
                                      </m:e>
                                      <m:e>
                                        <m:r>
                                          <a:rPr lang="es-AR" sz="1400" i="1">
                                            <a:solidFill>
                                              <a:schemeClr val="tx1"/>
                                            </a:solidFill>
                                            <a:latin typeface="Cambria Math" panose="02040503050406030204" pitchFamily="18" charset="0"/>
                                          </a:rPr>
                                          <m:t>0</m:t>
                                        </m:r>
                                      </m:e>
                                    </m:mr>
                                  </m:m>
                                </m:e>
                              </m:d>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𝜃</m:t>
                                                </m:r>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m:t>
                                                </m:r>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𝑥</m:t>
                                            </m:r>
                                          </m:e>
                                          <m:sub>
                                            <m:r>
                                              <a:rPr lang="es-AR" sz="1400" i="1">
                                                <a:solidFill>
                                                  <a:schemeClr val="tx1"/>
                                                </a:solidFill>
                                                <a:latin typeface="Cambria Math" panose="02040503050406030204" pitchFamily="18" charset="0"/>
                                              </a:rPr>
                                              <m:t>𝐼</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r>
                                          <a:rPr lang="es-AR" sz="1400" i="1">
                                            <a:solidFill>
                                              <a:schemeClr val="tx1"/>
                                            </a:solidFill>
                                            <a:latin typeface="Cambria Math" panose="02040503050406030204" pitchFamily="18" charset="0"/>
                                          </a:rPr>
                                          <m:t>0</m:t>
                                        </m:r>
                                      </m:e>
                                    </m:mr>
                                    <m:mr>
                                      <m:e>
                                        <m:box>
                                          <m:boxPr>
                                            <m:ctrlPr>
                                              <a:rPr lang="es-AR" sz="1400" i="1">
                                                <a:solidFill>
                                                  <a:schemeClr val="tx1"/>
                                                </a:solidFill>
                                                <a:latin typeface="Cambria Math" panose="02040503050406030204" pitchFamily="18" charset="0"/>
                                              </a:rPr>
                                            </m:ctrlPr>
                                          </m:boxPr>
                                          <m:e>
                                            <m:argPr>
                                              <m:argSz m:val="-1"/>
                                            </m:argP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den>
                                            </m:f>
                                          </m:e>
                                        </m:box>
                                      </m:e>
                                    </m:mr>
                                    <m:mr>
                                      <m:e>
                                        <m:r>
                                          <a:rPr lang="es-AR" sz="1400" i="1">
                                            <a:solidFill>
                                              <a:schemeClr val="tx1"/>
                                            </a:solidFill>
                                            <a:latin typeface="Cambria Math" panose="02040503050406030204" pitchFamily="18" charset="0"/>
                                          </a:rPr>
                                          <m:t>0</m:t>
                                        </m:r>
                                      </m:e>
                                    </m:mr>
                                  </m:m>
                                </m:e>
                              </m:d>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mcs>
                                        <m:mc>
                                          <m:mcPr>
                                            <m:count m:val="2"/>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𝜃</m:t>
                                            </m:r>
                                          </m:sub>
                                        </m:sSub>
                                      </m:e>
                                      <m:e>
                                        <m:r>
                                          <a:rPr lang="es-AR" sz="1400" i="1">
                                            <a:solidFill>
                                              <a:schemeClr val="tx1"/>
                                            </a:solidFill>
                                            <a:latin typeface="Cambria Math" panose="02040503050406030204" pitchFamily="18" charset="0"/>
                                          </a:rPr>
                                          <m:t>0</m:t>
                                        </m:r>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m:t>
                                            </m:r>
                                          </m:sub>
                                        </m:sSub>
                                      </m:e>
                                      <m:e>
                                        <m:r>
                                          <a:rPr lang="es-AR" sz="1400" i="1">
                                            <a:solidFill>
                                              <a:schemeClr val="tx1"/>
                                            </a:solidFill>
                                            <a:latin typeface="Cambria Math" panose="02040503050406030204" pitchFamily="18" charset="0"/>
                                          </a:rPr>
                                          <m:t>0</m:t>
                                        </m:r>
                                      </m:e>
                                    </m:mr>
                                    <m:mr>
                                      <m:e>
                                        <m:r>
                                          <a:rPr lang="es-AR" sz="1400" i="1">
                                            <a:solidFill>
                                              <a:schemeClr val="tx1"/>
                                            </a:solidFill>
                                            <a:latin typeface="Cambria Math" panose="02040503050406030204" pitchFamily="18" charset="0"/>
                                          </a:rPr>
                                          <m:t>1</m:t>
                                        </m:r>
                                      </m:e>
                                      <m:e>
                                        <m:r>
                                          <a:rPr lang="es-AR" sz="1400" i="1">
                                            <a:solidFill>
                                              <a:schemeClr val="tx1"/>
                                            </a:solidFill>
                                            <a:latin typeface="Cambria Math" panose="02040503050406030204" pitchFamily="18" charset="0"/>
                                          </a:rPr>
                                          <m:t>0</m:t>
                                        </m:r>
                                      </m:e>
                                    </m:mr>
                                  </m:m>
                                </m:e>
                              </m:d>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e>
                          </m:mr>
                          <m:mr>
                            <m:e>
                              <m:r>
                                <a:rPr lang="es-AR" sz="1400" i="1">
                                  <a:solidFill>
                                    <a:schemeClr val="tx1"/>
                                  </a:solidFill>
                                  <a:latin typeface="Cambria Math" panose="02040503050406030204" pitchFamily="18" charset="0"/>
                                </a:rPr>
                                <m:t>𝑦</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𝜃</m:t>
                                      </m:r>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                                                                                                         </m:t>
                              </m:r>
                            </m:e>
                          </m:mr>
                        </m:m>
                      </m:e>
                    </m:d>
                  </m:oMath>
                </a14:m>
                <a:endParaRPr sz="1100" b="1" dirty="0">
                  <a:solidFill>
                    <a:srgbClr val="1B6B2A"/>
                  </a:solidFill>
                  <a:latin typeface="Calibri"/>
                </a:endParaRPr>
              </a:p>
            </p:txBody>
          </p:sp>
        </mc:Choice>
        <mc:Fallback xmlns="">
          <p:sp>
            <p:nvSpPr>
              <p:cNvPr id="26" name="TextBox 12">
                <a:extLst>
                  <a:ext uri="{FF2B5EF4-FFF2-40B4-BE49-F238E27FC236}">
                    <a16:creationId xmlns:a16="http://schemas.microsoft.com/office/drawing/2014/main" id="{FAF94A62-78D3-47A8-A7D4-9D0647C6CA52}"/>
                  </a:ext>
                </a:extLst>
              </p:cNvPr>
              <p:cNvSpPr txBox="1">
                <a:spLocks noRot="1" noChangeAspect="1" noMove="1" noResize="1" noEditPoints="1" noAdjustHandles="1" noChangeArrowheads="1" noChangeShapeType="1" noTextEdit="1"/>
              </p:cNvSpPr>
              <p:nvPr/>
            </p:nvSpPr>
            <p:spPr>
              <a:xfrm>
                <a:off x="-229535" y="3077843"/>
                <a:ext cx="11988068" cy="1182440"/>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E7A37DA7-A3A0-442E-9058-3BB9C9F9B23E}"/>
                  </a:ext>
                </a:extLst>
              </p:cNvPr>
              <p:cNvSpPr txBox="1"/>
              <p:nvPr/>
            </p:nvSpPr>
            <p:spPr>
              <a:xfrm>
                <a:off x="274320" y="4341162"/>
                <a:ext cx="10670200" cy="312073"/>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Times New Roman" panose="02020603050405020304" pitchFamily="18" charset="0"/>
                    <a:cs typeface="Times New Roman" panose="02020603050405020304" pitchFamily="18" charset="0"/>
                  </a:rPr>
                  <a:t>El polinomio ahora de tercer orden, y con sus polos en </a:t>
                </a:r>
                <a14:m>
                  <m:oMath xmlns:m="http://schemas.openxmlformats.org/officeDocument/2006/math">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𝑝</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3200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f>
                      <m:fPr>
                        <m:type m:val="lin"/>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𝑟𝑎𝑑</m:t>
                        </m:r>
                      </m:num>
                      <m:den>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den>
                    </m:f>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8" name="CuadroTexto 27">
                <a:extLst>
                  <a:ext uri="{FF2B5EF4-FFF2-40B4-BE49-F238E27FC236}">
                    <a16:creationId xmlns:a16="http://schemas.microsoft.com/office/drawing/2014/main" id="{E7A37DA7-A3A0-442E-9058-3BB9C9F9B23E}"/>
                  </a:ext>
                </a:extLst>
              </p:cNvPr>
              <p:cNvSpPr txBox="1">
                <a:spLocks noRot="1" noChangeAspect="1" noMove="1" noResize="1" noEditPoints="1" noAdjustHandles="1" noChangeArrowheads="1" noChangeShapeType="1" noTextEdit="1"/>
              </p:cNvSpPr>
              <p:nvPr/>
            </p:nvSpPr>
            <p:spPr>
              <a:xfrm>
                <a:off x="274320" y="4341162"/>
                <a:ext cx="10670200" cy="312073"/>
              </a:xfrm>
              <a:prstGeom prst="rect">
                <a:avLst/>
              </a:prstGeom>
              <a:blipFill>
                <a:blip r:embed="rId7"/>
                <a:stretch>
                  <a:fillRect l="-171" t="-92157" b="-152941"/>
                </a:stretch>
              </a:blipFill>
            </p:spPr>
            <p:txBody>
              <a:bodyPr/>
              <a:lstStyle/>
              <a:p>
                <a:r>
                  <a:rPr lang="es-AR">
                    <a:noFill/>
                  </a:rPr>
                  <a:t> </a:t>
                </a:r>
              </a:p>
            </p:txBody>
          </p:sp>
        </mc:Fallback>
      </mc:AlternateContent>
      <p:sp>
        <p:nvSpPr>
          <p:cNvPr id="29" name="Rectangle 9">
            <a:extLst>
              <a:ext uri="{FF2B5EF4-FFF2-40B4-BE49-F238E27FC236}">
                <a16:creationId xmlns:a16="http://schemas.microsoft.com/office/drawing/2014/main" id="{A34C021A-A7F0-4906-8DB2-E8500A5C7BF2}"/>
              </a:ext>
            </a:extLst>
          </p:cNvPr>
          <p:cNvSpPr/>
          <p:nvPr/>
        </p:nvSpPr>
        <p:spPr>
          <a:xfrm>
            <a:off x="320192" y="4673821"/>
            <a:ext cx="11597183" cy="980933"/>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0" name="TextBox 10">
                <a:extLst>
                  <a:ext uri="{FF2B5EF4-FFF2-40B4-BE49-F238E27FC236}">
                    <a16:creationId xmlns:a16="http://schemas.microsoft.com/office/drawing/2014/main" id="{8DE8743D-7C43-4A92-8A25-B756CF5035C8}"/>
                  </a:ext>
                </a:extLst>
              </p:cNvPr>
              <p:cNvSpPr txBox="1"/>
              <p:nvPr/>
            </p:nvSpPr>
            <p:spPr>
              <a:xfrm>
                <a:off x="148942" y="4693001"/>
                <a:ext cx="7088956" cy="890052"/>
              </a:xfrm>
              <a:prstGeom prst="rect">
                <a:avLst/>
              </a:prstGeom>
              <a:noFill/>
            </p:spPr>
            <p:txBody>
              <a:bodyPr wrap="square">
                <a:spAutoFit/>
              </a:bodyPr>
              <a:lstStyle/>
              <a:p>
                <a:pPr algn="ct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𝑝</m:t>
                        </m:r>
                      </m:e>
                      <m:sub>
                        <m:r>
                          <a:rPr lang="es-AR" sz="1400" i="1">
                            <a:latin typeface="Cambria Math" panose="02040503050406030204" pitchFamily="18" charset="0"/>
                          </a:rPr>
                          <m:t>𝑑</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3200</m:t>
                            </m:r>
                          </m:e>
                        </m:d>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r>
                      <a:rPr lang="es-AR" sz="1400" i="1">
                        <a:latin typeface="Cambria Math" panose="02040503050406030204" pitchFamily="18" charset="0"/>
                      </a:rPr>
                      <m:t>9600</m:t>
                    </m:r>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m:t>
                    </m:r>
                    <m:r>
                      <a:rPr lang="es-AR" sz="1400" i="1">
                        <a:latin typeface="Cambria Math" panose="02040503050406030204" pitchFamily="18" charset="0"/>
                      </a:rPr>
                      <m:t>3</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3200</m:t>
                        </m:r>
                      </m:e>
                      <m:sup>
                        <m:r>
                          <a:rPr lang="es-AR" sz="1400" i="1">
                            <a:latin typeface="Cambria Math" panose="02040503050406030204" pitchFamily="18" charset="0"/>
                          </a:rPr>
                          <m:t>2</m:t>
                        </m:r>
                      </m:sup>
                    </m:sSup>
                    <m:r>
                      <a:rPr lang="es-AR" sz="1400" i="1">
                        <a:latin typeface="Cambria Math" panose="02040503050406030204" pitchFamily="18" charset="0"/>
                      </a:rPr>
                      <m:t> </m:t>
                    </m:r>
                    <m:r>
                      <a:rPr lang="es-AR" sz="1400" i="1">
                        <a:latin typeface="Cambria Math" panose="02040503050406030204" pitchFamily="18" charset="0"/>
                      </a:rPr>
                      <m:t>𝑠</m:t>
                    </m:r>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3200</m:t>
                        </m:r>
                      </m:e>
                      <m:sup>
                        <m:r>
                          <a:rPr lang="es-AR" sz="1400" i="1">
                            <a:latin typeface="Cambria Math" panose="02040503050406030204" pitchFamily="18" charset="0"/>
                          </a:rPr>
                          <m:t>3</m:t>
                        </m:r>
                      </m:sup>
                    </m:sSup>
                  </m:oMath>
                </a14:m>
                <a:r>
                  <a:rPr lang="es-MX" sz="1100" b="1" dirty="0">
                    <a:solidFill>
                      <a:srgbClr val="1B6B2A"/>
                    </a:solidFill>
                    <a:latin typeface="Calibri"/>
                  </a:rPr>
                  <a:t>,               </a:t>
                </a:r>
                <a14:m>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𝜃</m:t>
                                  </m:r>
                                </m:sub>
                              </m:sSub>
                              <m:r>
                                <a:rPr lang="es-AR" sz="1400" i="1">
                                  <a:latin typeface="Cambria Math" panose="02040503050406030204" pitchFamily="18" charset="0"/>
                                </a:rPr>
                                <m:t>=</m:t>
                              </m:r>
                              <m:r>
                                <a:rPr lang="es-AR" sz="1400" i="1">
                                  <a:latin typeface="Cambria Math" panose="02040503050406030204" pitchFamily="18" charset="0"/>
                                </a:rPr>
                                <m:t>9</m:t>
                              </m:r>
                              <m:r>
                                <a:rPr lang="es-AR" sz="1400" i="1">
                                  <a:latin typeface="Cambria Math" panose="02040503050406030204" pitchFamily="18" charset="0"/>
                                </a:rPr>
                                <m:t>.</m:t>
                              </m:r>
                              <m:r>
                                <a:rPr lang="es-AR" sz="1400" i="1">
                                  <a:latin typeface="Cambria Math" panose="02040503050406030204" pitchFamily="18" charset="0"/>
                                </a:rPr>
                                <m:t>6</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3</m:t>
                                  </m:r>
                                </m:sup>
                              </m:sSup>
                            </m:e>
                          </m:m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𝜔</m:t>
                                  </m:r>
                                </m:sub>
                              </m:sSub>
                              <m:r>
                                <a:rPr lang="es-AR" sz="1400" i="1">
                                  <a:latin typeface="Cambria Math" panose="02040503050406030204" pitchFamily="18" charset="0"/>
                                </a:rPr>
                                <m:t>=</m:t>
                              </m:r>
                              <m:r>
                                <a:rPr lang="es-AR" sz="1400" i="1">
                                  <a:latin typeface="Cambria Math" panose="02040503050406030204" pitchFamily="18" charset="0"/>
                                </a:rPr>
                                <m:t>3</m:t>
                              </m:r>
                              <m:r>
                                <a:rPr lang="es-AR" sz="1400" i="1">
                                  <a:latin typeface="Cambria Math" panose="02040503050406030204" pitchFamily="18" charset="0"/>
                                </a:rPr>
                                <m:t>.</m:t>
                              </m:r>
                              <m:r>
                                <a:rPr lang="es-AR" sz="1400" i="1">
                                  <a:latin typeface="Cambria Math" panose="02040503050406030204" pitchFamily="18" charset="0"/>
                                </a:rPr>
                                <m:t>072</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7</m:t>
                                  </m:r>
                                </m:sup>
                              </m:sSup>
                            </m:e>
                          </m:m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𝑖</m:t>
                                  </m:r>
                                </m:sub>
                              </m:sSub>
                              <m:r>
                                <a:rPr lang="es-AR" sz="1400" i="1">
                                  <a:latin typeface="Cambria Math" panose="02040503050406030204" pitchFamily="18" charset="0"/>
                                </a:rPr>
                                <m:t>=</m:t>
                              </m:r>
                              <m:r>
                                <a:rPr lang="es-AR" sz="1400" i="1">
                                  <a:latin typeface="Cambria Math" panose="02040503050406030204" pitchFamily="18" charset="0"/>
                                </a:rPr>
                                <m:t>3</m:t>
                              </m:r>
                              <m:r>
                                <a:rPr lang="es-AR" sz="1400" i="1">
                                  <a:latin typeface="Cambria Math" panose="02040503050406030204" pitchFamily="18" charset="0"/>
                                </a:rPr>
                                <m:t>.</m:t>
                              </m:r>
                              <m:r>
                                <a:rPr lang="es-AR" sz="1400" i="1">
                                  <a:latin typeface="Cambria Math" panose="02040503050406030204" pitchFamily="18" charset="0"/>
                                </a:rPr>
                                <m:t>2768</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10</m:t>
                                  </m:r>
                                </m:sup>
                              </m:sSup>
                            </m:e>
                          </m:mr>
                        </m:m>
                      </m:e>
                    </m:d>
                  </m:oMath>
                </a14:m>
                <a:endParaRPr sz="1100" b="1" dirty="0">
                  <a:solidFill>
                    <a:srgbClr val="1B6B2A"/>
                  </a:solidFill>
                  <a:latin typeface="Calibri"/>
                </a:endParaRPr>
              </a:p>
            </p:txBody>
          </p:sp>
        </mc:Choice>
        <mc:Fallback xmlns="">
          <p:sp>
            <p:nvSpPr>
              <p:cNvPr id="30" name="TextBox 10">
                <a:extLst>
                  <a:ext uri="{FF2B5EF4-FFF2-40B4-BE49-F238E27FC236}">
                    <a16:creationId xmlns:a16="http://schemas.microsoft.com/office/drawing/2014/main" id="{8DE8743D-7C43-4A92-8A25-B756CF5035C8}"/>
                  </a:ext>
                </a:extLst>
              </p:cNvPr>
              <p:cNvSpPr txBox="1">
                <a:spLocks noRot="1" noChangeAspect="1" noMove="1" noResize="1" noEditPoints="1" noAdjustHandles="1" noChangeArrowheads="1" noChangeShapeType="1" noTextEdit="1"/>
              </p:cNvSpPr>
              <p:nvPr/>
            </p:nvSpPr>
            <p:spPr>
              <a:xfrm>
                <a:off x="148942" y="4693001"/>
                <a:ext cx="7088956" cy="890052"/>
              </a:xfrm>
              <a:prstGeom prst="rect">
                <a:avLst/>
              </a:prstGeom>
              <a:blipFill>
                <a:blip r:embed="rId8"/>
                <a:stretch>
                  <a:fillRect/>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3D968CEA-AC52-4252-B94C-60CC9FF2492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3558FD33-D855-40C9-9CD3-5783452C377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0660"/>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con </a:t>
            </a:r>
            <a:r>
              <a:rPr sz="2100" b="1" dirty="0" err="1">
                <a:solidFill>
                  <a:srgbClr val="FFFFFF"/>
                </a:solidFill>
                <a:latin typeface="Cambria"/>
              </a:rPr>
              <a:t>acción</a:t>
            </a:r>
            <a:r>
              <a:rPr sz="2100" b="1" dirty="0">
                <a:solidFill>
                  <a:srgbClr val="FFFFFF"/>
                </a:solidFill>
                <a:latin typeface="Cambria"/>
              </a:rPr>
              <a:t> integral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62 / ~75</a:t>
            </a:r>
          </a:p>
        </p:txBody>
      </p:sp>
      <p:pic>
        <p:nvPicPr>
          <p:cNvPr id="19" name="Imagen 18">
            <a:extLst>
              <a:ext uri="{FF2B5EF4-FFF2-40B4-BE49-F238E27FC236}">
                <a16:creationId xmlns:a16="http://schemas.microsoft.com/office/drawing/2014/main" id="{1DEEB9F5-AB01-4BB4-892C-6F815C530B01}"/>
              </a:ext>
            </a:extLst>
          </p:cNvPr>
          <p:cNvPicPr/>
          <p:nvPr/>
        </p:nvPicPr>
        <p:blipFill>
          <a:blip r:embed="rId2">
            <a:extLst>
              <a:ext uri="{28A0092B-C50C-407E-A947-70E740481C1C}">
                <a14:useLocalDpi xmlns:a14="http://schemas.microsoft.com/office/drawing/2010/main" val="0"/>
              </a:ext>
            </a:extLst>
          </a:blip>
          <a:stretch>
            <a:fillRect/>
          </a:stretch>
        </p:blipFill>
        <p:spPr>
          <a:xfrm>
            <a:off x="74942" y="765424"/>
            <a:ext cx="6997488" cy="3636894"/>
          </a:xfrm>
          <a:prstGeom prst="rect">
            <a:avLst/>
          </a:prstGeom>
        </p:spPr>
      </p:pic>
      <p:sp>
        <p:nvSpPr>
          <p:cNvPr id="20" name="CuadroTexto 19">
            <a:extLst>
              <a:ext uri="{FF2B5EF4-FFF2-40B4-BE49-F238E27FC236}">
                <a16:creationId xmlns:a16="http://schemas.microsoft.com/office/drawing/2014/main" id="{D85BC094-E14E-4B85-9280-900710732102}"/>
              </a:ext>
            </a:extLst>
          </p:cNvPr>
          <p:cNvSpPr txBox="1"/>
          <p:nvPr/>
        </p:nvSpPr>
        <p:spPr>
          <a:xfrm>
            <a:off x="1329995" y="4421862"/>
            <a:ext cx="3789576"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59— Observador de estados con acción integral</a:t>
            </a:r>
          </a:p>
        </p:txBody>
      </p:sp>
      <p:pic>
        <p:nvPicPr>
          <p:cNvPr id="21" name="Imagen 20">
            <a:extLst>
              <a:ext uri="{FF2B5EF4-FFF2-40B4-BE49-F238E27FC236}">
                <a16:creationId xmlns:a16="http://schemas.microsoft.com/office/drawing/2014/main" id="{3DA007E0-AE03-4B06-A665-36040885FA69}"/>
              </a:ext>
            </a:extLst>
          </p:cNvPr>
          <p:cNvPicPr/>
          <p:nvPr/>
        </p:nvPicPr>
        <p:blipFill>
          <a:blip r:embed="rId3">
            <a:extLst>
              <a:ext uri="{28A0092B-C50C-407E-A947-70E740481C1C}">
                <a14:useLocalDpi xmlns:a14="http://schemas.microsoft.com/office/drawing/2010/main" val="0"/>
              </a:ext>
            </a:extLst>
          </a:blip>
          <a:stretch>
            <a:fillRect/>
          </a:stretch>
        </p:blipFill>
        <p:spPr>
          <a:xfrm>
            <a:off x="7072430" y="711896"/>
            <a:ext cx="5044627" cy="3690422"/>
          </a:xfrm>
          <a:prstGeom prst="rect">
            <a:avLst/>
          </a:prstGeom>
        </p:spPr>
      </p:pic>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36EA28D6-465C-479F-A106-639EAA066E22}"/>
                  </a:ext>
                </a:extLst>
              </p:cNvPr>
              <p:cNvSpPr txBox="1"/>
              <p:nvPr/>
            </p:nvSpPr>
            <p:spPr>
              <a:xfrm>
                <a:off x="7519104" y="4383390"/>
                <a:ext cx="4864230" cy="600164"/>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60—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𝜃</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r>
                  <a:rPr lang="es-AR" dirty="0"/>
                  <a:t> observador de estados con acción integral. Detalle en </a:t>
                </a:r>
                <a14:m>
                  <m:oMath xmlns:m="http://schemas.openxmlformats.org/officeDocument/2006/math">
                    <m:r>
                      <a:rPr lang="es-AR">
                        <a:latin typeface="Cambria Math" panose="02040503050406030204" pitchFamily="18" charset="0"/>
                      </a:rPr>
                      <m:t>𝑡</m:t>
                    </m:r>
                    <m:r>
                      <a:rPr lang="es-AR">
                        <a:latin typeface="Cambria Math" panose="02040503050406030204" pitchFamily="18" charset="0"/>
                      </a:rPr>
                      <m:t>=</m:t>
                    </m:r>
                    <m:r>
                      <a:rPr lang="es-AR">
                        <a:latin typeface="Cambria Math" panose="02040503050406030204" pitchFamily="18" charset="0"/>
                      </a:rPr>
                      <m:t>10</m:t>
                    </m:r>
                    <m:r>
                      <a:rPr lang="es-AR">
                        <a:latin typeface="Cambria Math" panose="02040503050406030204" pitchFamily="18" charset="0"/>
                      </a:rPr>
                      <m:t>𝑠</m:t>
                    </m:r>
                  </m:oMath>
                </a14:m>
                <a:r>
                  <a:rPr lang="es-AR" dirty="0"/>
                  <a:t>.</a:t>
                </a:r>
              </a:p>
              <a:p>
                <a:endParaRPr lang="es-AR" dirty="0"/>
              </a:p>
            </p:txBody>
          </p:sp>
        </mc:Choice>
        <mc:Fallback xmlns="">
          <p:sp>
            <p:nvSpPr>
              <p:cNvPr id="22" name="CuadroTexto 21">
                <a:extLst>
                  <a:ext uri="{FF2B5EF4-FFF2-40B4-BE49-F238E27FC236}">
                    <a16:creationId xmlns:a16="http://schemas.microsoft.com/office/drawing/2014/main" id="{36EA28D6-465C-479F-A106-639EAA066E22}"/>
                  </a:ext>
                </a:extLst>
              </p:cNvPr>
              <p:cNvSpPr txBox="1">
                <a:spLocks noRot="1" noChangeAspect="1" noMove="1" noResize="1" noEditPoints="1" noAdjustHandles="1" noChangeArrowheads="1" noChangeShapeType="1" noTextEdit="1"/>
              </p:cNvSpPr>
              <p:nvPr/>
            </p:nvSpPr>
            <p:spPr>
              <a:xfrm>
                <a:off x="7519104" y="4383390"/>
                <a:ext cx="4864230" cy="600164"/>
              </a:xfrm>
              <a:prstGeom prst="rect">
                <a:avLst/>
              </a:prstGeom>
              <a:blipFill>
                <a:blip r:embed="rId4"/>
                <a:stretch>
                  <a:fillRect/>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D7A4C12E-D7AF-4908-88F9-92DDB9C0BDE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23C5A4B8-0450-45AC-BBC1-C3A7C75F244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0225949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5839"/>
            <a:ext cx="11551615" cy="658368"/>
          </a:xfrm>
          <a:prstGeom prst="rect">
            <a:avLst/>
          </a:prstGeom>
          <a:noFill/>
        </p:spPr>
        <p:txBody>
          <a:bodyPr wrap="none">
            <a:spAutoFit/>
          </a:bodyPr>
          <a:lstStyle/>
          <a:p>
            <a:pPr algn="l"/>
            <a:r>
              <a:rPr sz="2100" b="1" dirty="0" err="1">
                <a:solidFill>
                  <a:srgbClr val="FFFFFF"/>
                </a:solidFill>
                <a:latin typeface="Cambria"/>
              </a:rPr>
              <a:t>Comportamiento</a:t>
            </a:r>
            <a:r>
              <a:rPr sz="2100" b="1" dirty="0">
                <a:solidFill>
                  <a:srgbClr val="FFFFFF"/>
                </a:solidFill>
                <a:latin typeface="Cambria"/>
              </a:rPr>
              <a:t> </a:t>
            </a:r>
            <a:r>
              <a:rPr sz="2100" b="1" dirty="0" err="1">
                <a:solidFill>
                  <a:srgbClr val="FFFFFF"/>
                </a:solidFill>
                <a:latin typeface="Cambria"/>
              </a:rPr>
              <a:t>térmico</a:t>
            </a:r>
            <a:r>
              <a:rPr sz="2100" b="1" dirty="0">
                <a:solidFill>
                  <a:srgbClr val="FFFFFF"/>
                </a:solidFill>
                <a:latin typeface="Cambria"/>
              </a:rPr>
              <a:t> a largo </a:t>
            </a:r>
            <a:r>
              <a:rPr sz="2100" b="1" dirty="0" err="1">
                <a:solidFill>
                  <a:srgbClr val="FFFFFF"/>
                </a:solidFill>
                <a:latin typeface="Cambria"/>
              </a:rPr>
              <a:t>plazo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63 / ~75</a:t>
            </a:r>
          </a:p>
        </p:txBody>
      </p:sp>
      <mc:AlternateContent xmlns:mc="http://schemas.openxmlformats.org/markup-compatibility/2006" xmlns:a14="http://schemas.microsoft.com/office/drawing/2010/main">
        <mc:Choice Requires="a14">
          <p:sp>
            <p:nvSpPr>
              <p:cNvPr id="7" name="TextBox 6"/>
              <p:cNvSpPr txBox="1"/>
              <p:nvPr/>
            </p:nvSpPr>
            <p:spPr>
              <a:xfrm>
                <a:off x="167797" y="754898"/>
                <a:ext cx="11430000" cy="523220"/>
              </a:xfrm>
              <a:prstGeom prst="rect">
                <a:avLst/>
              </a:prstGeom>
              <a:noFill/>
            </p:spPr>
            <p:txBody>
              <a:bodyPr wrap="square">
                <a:spAutoFit/>
              </a:bodyPr>
              <a:lstStyle/>
              <a:p>
                <a:pPr algn="l"/>
                <a:r>
                  <a:rPr lang="es-AR" sz="1400" dirty="0">
                    <a:latin typeface="Calibri" panose="020F0502020204030204" pitchFamily="34" charset="0"/>
                    <a:ea typeface="Calibri" panose="020F0502020204030204" pitchFamily="34" charset="0"/>
                    <a:cs typeface="Times New Roman" panose="02020603050405020304" pitchFamily="18" charset="0"/>
                  </a:rPr>
                  <a:t>Se analiza la e</a:t>
                </a:r>
                <a:r>
                  <a:rPr lang="es-AR" sz="1400" dirty="0">
                    <a:effectLst/>
                    <a:latin typeface="Calibri" panose="020F0502020204030204" pitchFamily="34" charset="0"/>
                    <a:ea typeface="Calibri" panose="020F0502020204030204" pitchFamily="34" charset="0"/>
                    <a:cs typeface="Times New Roman" panose="02020603050405020304" pitchFamily="18" charset="0"/>
                  </a:rPr>
                  <a:t>volución de la temperatura del estator en un intervalo de 300 s, considerando la aplicación cíclica de la consigna de velocidad trapezoidal previamente definida, y sin incluir perturbaciones de carga </a:t>
                </a:r>
                <a14:m>
                  <m:oMath xmlns:m="http://schemas.openxmlformats.org/officeDocument/2006/math">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𝑙𝑑</m:t>
                        </m:r>
                      </m:sub>
                    </m:sSub>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a:t>
                </a:r>
                <a:endParaRP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67797" y="754898"/>
                <a:ext cx="11430000" cy="523220"/>
              </a:xfrm>
              <a:prstGeom prst="rect">
                <a:avLst/>
              </a:prstGeom>
              <a:blipFill>
                <a:blip r:embed="rId2"/>
                <a:stretch>
                  <a:fillRect l="-160" t="-2326" b="-10465"/>
                </a:stretch>
              </a:blipFill>
            </p:spPr>
            <p:txBody>
              <a:bodyPr/>
              <a:lstStyle/>
              <a:p>
                <a:r>
                  <a:rPr lang="es-AR">
                    <a:noFill/>
                  </a:rPr>
                  <a:t> </a:t>
                </a:r>
              </a:p>
            </p:txBody>
          </p:sp>
        </mc:Fallback>
      </mc:AlternateContent>
      <p:pic>
        <p:nvPicPr>
          <p:cNvPr id="19" name="Imagen 18">
            <a:extLst>
              <a:ext uri="{FF2B5EF4-FFF2-40B4-BE49-F238E27FC236}">
                <a16:creationId xmlns:a16="http://schemas.microsoft.com/office/drawing/2014/main" id="{6905EF37-B7F5-4A97-9796-E5E2C9DFCC70}"/>
              </a:ext>
            </a:extLst>
          </p:cNvPr>
          <p:cNvPicPr/>
          <p:nvPr/>
        </p:nvPicPr>
        <p:blipFill rotWithShape="1">
          <a:blip r:embed="rId3">
            <a:extLst>
              <a:ext uri="{28A0092B-C50C-407E-A947-70E740481C1C}">
                <a14:useLocalDpi xmlns:a14="http://schemas.microsoft.com/office/drawing/2010/main" val="0"/>
              </a:ext>
            </a:extLst>
          </a:blip>
          <a:srcRect r="-1833"/>
          <a:stretch/>
        </p:blipFill>
        <p:spPr>
          <a:xfrm>
            <a:off x="167797" y="1362865"/>
            <a:ext cx="5208828" cy="4132269"/>
          </a:xfrm>
          <a:prstGeom prst="rect">
            <a:avLst/>
          </a:prstGeom>
        </p:spPr>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4A773F5F-0B19-4AAB-9B75-3C2E99385B0E}"/>
                  </a:ext>
                </a:extLst>
              </p:cNvPr>
              <p:cNvSpPr txBox="1"/>
              <p:nvPr/>
            </p:nvSpPr>
            <p:spPr>
              <a:xfrm>
                <a:off x="897651" y="5514755"/>
                <a:ext cx="4547015"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61— Evolución de temperatura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𝑠</m:t>
                        </m:r>
                      </m:sub>
                    </m:sSub>
                  </m:oMath>
                </a14:m>
                <a:r>
                  <a:rPr lang="es-AR" dirty="0"/>
                  <a:t> con duración de </a:t>
                </a:r>
                <a14:m>
                  <m:oMath xmlns:m="http://schemas.openxmlformats.org/officeDocument/2006/math">
                    <m:r>
                      <a:rPr lang="es-AR">
                        <a:latin typeface="Cambria Math" panose="02040503050406030204" pitchFamily="18" charset="0"/>
                      </a:rPr>
                      <m:t>300</m:t>
                    </m:r>
                    <m:r>
                      <a:rPr lang="es-AR">
                        <a:latin typeface="Cambria Math" panose="02040503050406030204" pitchFamily="18" charset="0"/>
                      </a:rPr>
                      <m:t>𝑠</m:t>
                    </m:r>
                  </m:oMath>
                </a14:m>
                <a:endParaRPr lang="es-AR" dirty="0"/>
              </a:p>
              <a:p>
                <a:endParaRPr lang="es-AR" dirty="0"/>
              </a:p>
            </p:txBody>
          </p:sp>
        </mc:Choice>
        <mc:Fallback xmlns="">
          <p:sp>
            <p:nvSpPr>
              <p:cNvPr id="23" name="CuadroTexto 22">
                <a:extLst>
                  <a:ext uri="{FF2B5EF4-FFF2-40B4-BE49-F238E27FC236}">
                    <a16:creationId xmlns:a16="http://schemas.microsoft.com/office/drawing/2014/main" id="{4A773F5F-0B19-4AAB-9B75-3C2E99385B0E}"/>
                  </a:ext>
                </a:extLst>
              </p:cNvPr>
              <p:cNvSpPr txBox="1">
                <a:spLocks noRot="1" noChangeAspect="1" noMove="1" noResize="1" noEditPoints="1" noAdjustHandles="1" noChangeArrowheads="1" noChangeShapeType="1" noTextEdit="1"/>
              </p:cNvSpPr>
              <p:nvPr/>
            </p:nvSpPr>
            <p:spPr>
              <a:xfrm>
                <a:off x="897651" y="5514755"/>
                <a:ext cx="4547015" cy="430887"/>
              </a:xfrm>
              <a:prstGeom prst="rect">
                <a:avLst/>
              </a:prstGeom>
              <a:blipFill>
                <a:blip r:embed="rId4"/>
                <a:stretch>
                  <a:fillRect/>
                </a:stretch>
              </a:blipFill>
            </p:spPr>
            <p:txBody>
              <a:bodyPr/>
              <a:lstStyle/>
              <a:p>
                <a:r>
                  <a:rPr lang="es-AR">
                    <a:noFill/>
                  </a:rPr>
                  <a:t> </a:t>
                </a:r>
              </a:p>
            </p:txBody>
          </p:sp>
        </mc:Fallback>
      </mc:AlternateContent>
      <p:pic>
        <p:nvPicPr>
          <p:cNvPr id="9" name="Imagen 8">
            <a:extLst>
              <a:ext uri="{FF2B5EF4-FFF2-40B4-BE49-F238E27FC236}">
                <a16:creationId xmlns:a16="http://schemas.microsoft.com/office/drawing/2014/main" id="{48F949A2-41F8-4679-A9FD-2D3252616ECB}"/>
              </a:ext>
            </a:extLst>
          </p:cNvPr>
          <p:cNvPicPr/>
          <p:nvPr/>
        </p:nvPicPr>
        <p:blipFill rotWithShape="1">
          <a:blip r:embed="rId5">
            <a:extLst>
              <a:ext uri="{28A0092B-C50C-407E-A947-70E740481C1C}">
                <a14:useLocalDpi xmlns:a14="http://schemas.microsoft.com/office/drawing/2010/main" val="0"/>
              </a:ext>
            </a:extLst>
          </a:blip>
          <a:srcRect l="798"/>
          <a:stretch/>
        </p:blipFill>
        <p:spPr bwMode="auto">
          <a:xfrm>
            <a:off x="6096000" y="1374648"/>
            <a:ext cx="5000081" cy="4132269"/>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63AA3D83-1C35-4420-B8B8-8D779F7F2DB6}"/>
                  </a:ext>
                </a:extLst>
              </p:cNvPr>
              <p:cNvSpPr txBox="1"/>
              <p:nvPr/>
            </p:nvSpPr>
            <p:spPr>
              <a:xfrm>
                <a:off x="6396844" y="5520585"/>
                <a:ext cx="5173314"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62— Temperatura del estator con carga cíclica con duración de </a:t>
                </a:r>
                <a14:m>
                  <m:oMath xmlns:m="http://schemas.openxmlformats.org/officeDocument/2006/math">
                    <m:r>
                      <a:rPr lang="es-MX" b="0" i="1" smtClean="0">
                        <a:latin typeface="Cambria Math" panose="02040503050406030204" pitchFamily="18" charset="0"/>
                      </a:rPr>
                      <m:t>6</m:t>
                    </m:r>
                    <m:r>
                      <a:rPr lang="es-AR">
                        <a:latin typeface="Cambria Math" panose="02040503050406030204" pitchFamily="18" charset="0"/>
                      </a:rPr>
                      <m:t>00</m:t>
                    </m:r>
                    <m:r>
                      <a:rPr lang="es-AR">
                        <a:latin typeface="Cambria Math" panose="02040503050406030204" pitchFamily="18" charset="0"/>
                      </a:rPr>
                      <m:t>𝑠</m:t>
                    </m:r>
                  </m:oMath>
                </a14:m>
                <a:endParaRPr lang="es-AR" dirty="0"/>
              </a:p>
              <a:p>
                <a:endParaRPr lang="es-AR" dirty="0"/>
              </a:p>
            </p:txBody>
          </p:sp>
        </mc:Choice>
        <mc:Fallback xmlns="">
          <p:sp>
            <p:nvSpPr>
              <p:cNvPr id="10" name="CuadroTexto 9">
                <a:extLst>
                  <a:ext uri="{FF2B5EF4-FFF2-40B4-BE49-F238E27FC236}">
                    <a16:creationId xmlns:a16="http://schemas.microsoft.com/office/drawing/2014/main" id="{63AA3D83-1C35-4420-B8B8-8D779F7F2DB6}"/>
                  </a:ext>
                </a:extLst>
              </p:cNvPr>
              <p:cNvSpPr txBox="1">
                <a:spLocks noRot="1" noChangeAspect="1" noMove="1" noResize="1" noEditPoints="1" noAdjustHandles="1" noChangeArrowheads="1" noChangeShapeType="1" noTextEdit="1"/>
              </p:cNvSpPr>
              <p:nvPr/>
            </p:nvSpPr>
            <p:spPr>
              <a:xfrm>
                <a:off x="6396844" y="5520585"/>
                <a:ext cx="5173314" cy="430887"/>
              </a:xfrm>
              <a:prstGeom prst="rect">
                <a:avLst/>
              </a:prstGeom>
              <a:blipFill>
                <a:blip r:embed="rId6"/>
                <a:stretch>
                  <a:fillRect/>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BCA25307-751D-4CAF-8E3A-DC1060D8189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6C818F10-FEB3-48AC-9B29-B7687051DD7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1171"/>
            <a:ext cx="11551615" cy="658368"/>
          </a:xfrm>
          <a:prstGeom prst="rect">
            <a:avLst/>
          </a:prstGeom>
          <a:noFill/>
        </p:spPr>
        <p:txBody>
          <a:bodyPr wrap="none">
            <a:spAutoFit/>
          </a:bodyPr>
          <a:lstStyle/>
          <a:p>
            <a:pPr algn="l"/>
            <a:r>
              <a:rPr sz="2100" b="1" dirty="0" err="1">
                <a:solidFill>
                  <a:srgbClr val="FFFFFF"/>
                </a:solidFill>
                <a:latin typeface="Cambria"/>
              </a:rPr>
              <a:t>Comportamiento</a:t>
            </a:r>
            <a:r>
              <a:rPr sz="2100" b="1" dirty="0">
                <a:solidFill>
                  <a:srgbClr val="FFFFFF"/>
                </a:solidFill>
                <a:latin typeface="Cambria"/>
              </a:rPr>
              <a:t> </a:t>
            </a:r>
            <a:r>
              <a:rPr sz="2100" b="1" dirty="0" err="1">
                <a:solidFill>
                  <a:srgbClr val="FFFFFF"/>
                </a:solidFill>
                <a:latin typeface="Cambria"/>
              </a:rPr>
              <a:t>térmico</a:t>
            </a:r>
            <a:r>
              <a:rPr sz="2100" b="1" dirty="0">
                <a:solidFill>
                  <a:srgbClr val="FFFFFF"/>
                </a:solidFill>
                <a:latin typeface="Cambria"/>
              </a:rPr>
              <a:t> a largo </a:t>
            </a:r>
            <a:r>
              <a:rPr sz="2100" b="1" dirty="0" err="1">
                <a:solidFill>
                  <a:srgbClr val="FFFFFF"/>
                </a:solidFill>
                <a:latin typeface="Cambria"/>
              </a:rPr>
              <a:t>plazo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63 / ~75</a:t>
            </a:r>
          </a:p>
        </p:txBody>
      </p:sp>
      <p:pic>
        <p:nvPicPr>
          <p:cNvPr id="22" name="Imagen 21">
            <a:extLst>
              <a:ext uri="{FF2B5EF4-FFF2-40B4-BE49-F238E27FC236}">
                <a16:creationId xmlns:a16="http://schemas.microsoft.com/office/drawing/2014/main" id="{493D2690-153C-456B-A197-5FCDB225506A}"/>
              </a:ext>
            </a:extLst>
          </p:cNvPr>
          <p:cNvPicPr/>
          <p:nvPr/>
        </p:nvPicPr>
        <p:blipFill>
          <a:blip r:embed="rId3">
            <a:extLst>
              <a:ext uri="{28A0092B-C50C-407E-A947-70E740481C1C}">
                <a14:useLocalDpi xmlns:a14="http://schemas.microsoft.com/office/drawing/2010/main" val="0"/>
              </a:ext>
            </a:extLst>
          </a:blip>
          <a:stretch>
            <a:fillRect/>
          </a:stretch>
        </p:blipFill>
        <p:spPr>
          <a:xfrm>
            <a:off x="71630" y="990243"/>
            <a:ext cx="5537559" cy="4185439"/>
          </a:xfrm>
          <a:prstGeom prst="rect">
            <a:avLst/>
          </a:prstGeom>
        </p:spPr>
      </p:pic>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2AFA0C8A-8D03-46E3-A57D-895A61B04ADF}"/>
                  </a:ext>
                </a:extLst>
              </p:cNvPr>
              <p:cNvSpPr txBox="1"/>
              <p:nvPr/>
            </p:nvSpPr>
            <p:spPr>
              <a:xfrm>
                <a:off x="274320" y="5175682"/>
                <a:ext cx="5334870"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63—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𝑠</m:t>
                        </m:r>
                      </m:sub>
                    </m:sSub>
                  </m:oMath>
                </a14:m>
                <a:r>
                  <a:rPr lang="es-AR" dirty="0"/>
                  <a:t> con carga </a:t>
                </a:r>
                <a14:m>
                  <m:oMath xmlns:m="http://schemas.openxmlformats.org/officeDocument/2006/math">
                    <m:r>
                      <a:rPr lang="es-AR">
                        <a:latin typeface="Cambria Math" panose="02040503050406030204" pitchFamily="18" charset="0"/>
                      </a:rPr>
                      <m:t>1.5 </m:t>
                    </m:r>
                    <m:r>
                      <a:rPr lang="es-AR">
                        <a:latin typeface="Cambria Math" panose="02040503050406030204" pitchFamily="18" charset="0"/>
                      </a:rPr>
                      <m:t>𝐾𝑔</m:t>
                    </m:r>
                  </m:oMath>
                </a14:m>
                <a:r>
                  <a:rPr lang="es-AR" dirty="0"/>
                  <a:t> de en el extremo, sin perturbación de </a:t>
                </a:r>
                <a:r>
                  <a:rPr lang="es-AR" dirty="0">
                    <a:ea typeface="Calibri" panose="020F0502020204030204" pitchFamily="34" charset="0"/>
                    <a:cs typeface="Times New Roman" panose="02020603050405020304" pitchFamily="18" charset="0"/>
                  </a:rPr>
                  <a:t>carga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ea typeface="Calibri" panose="020F0502020204030204" pitchFamily="34" charset="0"/>
                            <a:cs typeface="Times New Roman" panose="02020603050405020304" pitchFamily="18" charset="0"/>
                          </a:rPr>
                          <m:t>𝑇</m:t>
                        </m:r>
                      </m:e>
                      <m:sub>
                        <m:r>
                          <a:rPr lang="es-AR">
                            <a:latin typeface="Cambria Math" panose="02040503050406030204" pitchFamily="18" charset="0"/>
                            <a:ea typeface="Calibri" panose="020F0502020204030204" pitchFamily="34" charset="0"/>
                            <a:cs typeface="Times New Roman" panose="02020603050405020304" pitchFamily="18" charset="0"/>
                          </a:rPr>
                          <m:t>𝑙𝑑</m:t>
                        </m:r>
                      </m:sub>
                    </m:sSub>
                  </m:oMath>
                </a14:m>
                <a:endParaRPr lang="es-AR" dirty="0"/>
              </a:p>
              <a:p>
                <a:endParaRPr lang="es-AR" dirty="0"/>
              </a:p>
            </p:txBody>
          </p:sp>
        </mc:Choice>
        <mc:Fallback xmlns="">
          <p:sp>
            <p:nvSpPr>
              <p:cNvPr id="14" name="CuadroTexto 13">
                <a:extLst>
                  <a:ext uri="{FF2B5EF4-FFF2-40B4-BE49-F238E27FC236}">
                    <a16:creationId xmlns:a16="http://schemas.microsoft.com/office/drawing/2014/main" id="{2AFA0C8A-8D03-46E3-A57D-895A61B04ADF}"/>
                  </a:ext>
                </a:extLst>
              </p:cNvPr>
              <p:cNvSpPr txBox="1">
                <a:spLocks noRot="1" noChangeAspect="1" noMove="1" noResize="1" noEditPoints="1" noAdjustHandles="1" noChangeArrowheads="1" noChangeShapeType="1" noTextEdit="1"/>
              </p:cNvSpPr>
              <p:nvPr/>
            </p:nvSpPr>
            <p:spPr>
              <a:xfrm>
                <a:off x="274320" y="5175682"/>
                <a:ext cx="5334870" cy="430887"/>
              </a:xfrm>
              <a:prstGeom prst="rect">
                <a:avLst/>
              </a:prstGeom>
              <a:blipFill>
                <a:blip r:embed="rId4"/>
                <a:stretch>
                  <a:fillRect/>
                </a:stretch>
              </a:blipFill>
            </p:spPr>
            <p:txBody>
              <a:bodyPr/>
              <a:lstStyle/>
              <a:p>
                <a:r>
                  <a:rPr lang="es-AR">
                    <a:noFill/>
                  </a:rPr>
                  <a:t> </a:t>
                </a:r>
              </a:p>
            </p:txBody>
          </p:sp>
        </mc:Fallback>
      </mc:AlternateContent>
      <p:pic>
        <p:nvPicPr>
          <p:cNvPr id="7" name="Imagen 6">
            <a:extLst>
              <a:ext uri="{FF2B5EF4-FFF2-40B4-BE49-F238E27FC236}">
                <a16:creationId xmlns:a16="http://schemas.microsoft.com/office/drawing/2014/main" id="{E1238489-EDDB-4235-828A-104F5821054F}"/>
              </a:ext>
            </a:extLst>
          </p:cNvPr>
          <p:cNvPicPr>
            <a:picLocks noChangeAspect="1"/>
          </p:cNvPicPr>
          <p:nvPr/>
        </p:nvPicPr>
        <p:blipFill rotWithShape="1">
          <a:blip r:embed="rId5"/>
          <a:srcRect r="-2126"/>
          <a:stretch/>
        </p:blipFill>
        <p:spPr>
          <a:xfrm>
            <a:off x="6000338" y="935476"/>
            <a:ext cx="5673798" cy="4185439"/>
          </a:xfrm>
          <a:prstGeom prst="rect">
            <a:avLst/>
          </a:prstGeom>
        </p:spPr>
      </p:pic>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DB771B73-7F0F-413B-ABF6-968A103C3765}"/>
                  </a:ext>
                </a:extLst>
              </p:cNvPr>
              <p:cNvSpPr txBox="1"/>
              <p:nvPr/>
            </p:nvSpPr>
            <p:spPr>
              <a:xfrm>
                <a:off x="6536785" y="5175682"/>
                <a:ext cx="5334870"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𝑠</m:t>
                        </m:r>
                      </m:sub>
                    </m:sSub>
                  </m:oMath>
                </a14:m>
                <a:r>
                  <a:rPr lang="es-AR" dirty="0"/>
                  <a:t> con carga </a:t>
                </a:r>
                <a14:m>
                  <m:oMath xmlns:m="http://schemas.openxmlformats.org/officeDocument/2006/math">
                    <m:r>
                      <a:rPr lang="es-AR">
                        <a:latin typeface="Cambria Math" panose="02040503050406030204" pitchFamily="18" charset="0"/>
                      </a:rPr>
                      <m:t>1.5 </m:t>
                    </m:r>
                    <m:r>
                      <a:rPr lang="es-AR">
                        <a:latin typeface="Cambria Math" panose="02040503050406030204" pitchFamily="18" charset="0"/>
                      </a:rPr>
                      <m:t>𝐾𝑔</m:t>
                    </m:r>
                  </m:oMath>
                </a14:m>
                <a:r>
                  <a:rPr lang="es-AR" dirty="0"/>
                  <a:t> de en el extremo, con perturbación de </a:t>
                </a:r>
                <a:r>
                  <a:rPr lang="es-AR" dirty="0">
                    <a:ea typeface="Calibri" panose="020F0502020204030204" pitchFamily="34" charset="0"/>
                    <a:cs typeface="Times New Roman" panose="02020603050405020304" pitchFamily="18" charset="0"/>
                  </a:rPr>
                  <a:t>carga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ea typeface="Calibri" panose="020F0502020204030204" pitchFamily="34" charset="0"/>
                            <a:cs typeface="Times New Roman" panose="02020603050405020304" pitchFamily="18" charset="0"/>
                          </a:rPr>
                          <m:t>𝑇</m:t>
                        </m:r>
                      </m:e>
                      <m:sub>
                        <m:r>
                          <a:rPr lang="es-AR">
                            <a:latin typeface="Cambria Math" panose="02040503050406030204" pitchFamily="18" charset="0"/>
                            <a:ea typeface="Calibri" panose="020F0502020204030204" pitchFamily="34" charset="0"/>
                            <a:cs typeface="Times New Roman" panose="02020603050405020304" pitchFamily="18" charset="0"/>
                          </a:rPr>
                          <m:t>𝑙𝑑</m:t>
                        </m:r>
                      </m:sub>
                    </m:sSub>
                  </m:oMath>
                </a14:m>
                <a:endParaRPr lang="es-AR" dirty="0"/>
              </a:p>
              <a:p>
                <a:endParaRPr lang="es-AR" dirty="0"/>
              </a:p>
            </p:txBody>
          </p:sp>
        </mc:Choice>
        <mc:Fallback xmlns="">
          <p:sp>
            <p:nvSpPr>
              <p:cNvPr id="12" name="CuadroTexto 11">
                <a:extLst>
                  <a:ext uri="{FF2B5EF4-FFF2-40B4-BE49-F238E27FC236}">
                    <a16:creationId xmlns:a16="http://schemas.microsoft.com/office/drawing/2014/main" id="{DB771B73-7F0F-413B-ABF6-968A103C3765}"/>
                  </a:ext>
                </a:extLst>
              </p:cNvPr>
              <p:cNvSpPr txBox="1">
                <a:spLocks noRot="1" noChangeAspect="1" noMove="1" noResize="1" noEditPoints="1" noAdjustHandles="1" noChangeArrowheads="1" noChangeShapeType="1" noTextEdit="1"/>
              </p:cNvSpPr>
              <p:nvPr/>
            </p:nvSpPr>
            <p:spPr>
              <a:xfrm>
                <a:off x="6536785" y="5175682"/>
                <a:ext cx="5334870" cy="430887"/>
              </a:xfrm>
              <a:prstGeom prst="rect">
                <a:avLst/>
              </a:prstGeom>
              <a:blipFill>
                <a:blip r:embed="rId6"/>
                <a:stretch>
                  <a:fillRect/>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10D747D1-F355-4EC8-8ACF-3E48A215738B}"/>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F5014411-3702-4184-A058-B6FC4A5458B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4098471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89015" y="128781"/>
            <a:ext cx="11551615" cy="658368"/>
          </a:xfrm>
          <a:prstGeom prst="rect">
            <a:avLst/>
          </a:prstGeom>
          <a:noFill/>
        </p:spPr>
        <p:txBody>
          <a:bodyPr wrap="none">
            <a:spAutoFit/>
          </a:bodyPr>
          <a:lstStyle/>
          <a:p>
            <a:pPr algn="l"/>
            <a:r>
              <a:rPr sz="2100" b="1" dirty="0" err="1">
                <a:solidFill>
                  <a:srgbClr val="FFFFFF"/>
                </a:solidFill>
                <a:latin typeface="Cambria"/>
              </a:rPr>
              <a:t>Comportamiento</a:t>
            </a:r>
            <a:r>
              <a:rPr sz="2100" b="1" dirty="0">
                <a:solidFill>
                  <a:srgbClr val="FFFFFF"/>
                </a:solidFill>
                <a:latin typeface="Cambria"/>
              </a:rPr>
              <a:t> </a:t>
            </a:r>
            <a:r>
              <a:rPr sz="2100" b="1" dirty="0" err="1">
                <a:solidFill>
                  <a:srgbClr val="FFFFFF"/>
                </a:solidFill>
                <a:latin typeface="Cambria"/>
              </a:rPr>
              <a:t>térmico</a:t>
            </a:r>
            <a:r>
              <a:rPr sz="2100" b="1" dirty="0">
                <a:solidFill>
                  <a:srgbClr val="FFFFFF"/>
                </a:solidFill>
                <a:latin typeface="Cambria"/>
              </a:rPr>
              <a:t> a largo </a:t>
            </a:r>
            <a:r>
              <a:rPr sz="2100" b="1" dirty="0" err="1">
                <a:solidFill>
                  <a:srgbClr val="FFFFFF"/>
                </a:solidFill>
                <a:latin typeface="Cambria"/>
              </a:rPr>
              <a:t>plazo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63 / ~75</a:t>
            </a:r>
          </a:p>
        </p:txBody>
      </p:sp>
      <p:sp>
        <p:nvSpPr>
          <p:cNvPr id="17" name="TextBox 16"/>
          <p:cNvSpPr txBox="1"/>
          <p:nvPr/>
        </p:nvSpPr>
        <p:spPr>
          <a:xfrm>
            <a:off x="144507" y="885152"/>
            <a:ext cx="11430000" cy="338554"/>
          </a:xfrm>
          <a:prstGeom prst="rect">
            <a:avLst/>
          </a:prstGeom>
          <a:noFill/>
        </p:spPr>
        <p:txBody>
          <a:bodyPr wrap="square">
            <a:spAutoFit/>
          </a:bodyPr>
          <a:lstStyle/>
          <a:p>
            <a:pPr algn="l"/>
            <a:r>
              <a:rPr lang="es-AR" sz="1600" b="1" i="0" dirty="0">
                <a:solidFill>
                  <a:srgbClr val="1A3A6B"/>
                </a:solidFill>
                <a:latin typeface="Calibri"/>
              </a:rPr>
              <a:t>Conclusiones y acciones correctivas:</a:t>
            </a:r>
          </a:p>
        </p:txBody>
      </p:sp>
      <p:sp>
        <p:nvSpPr>
          <p:cNvPr id="18" name="TextBox 17"/>
          <p:cNvSpPr txBox="1"/>
          <p:nvPr/>
        </p:nvSpPr>
        <p:spPr>
          <a:xfrm>
            <a:off x="289015" y="1419713"/>
            <a:ext cx="11902680" cy="2923877"/>
          </a:xfrm>
          <a:prstGeom prst="rect">
            <a:avLst/>
          </a:prstGeom>
          <a:noFill/>
        </p:spPr>
        <p:txBody>
          <a:bodyPr wrap="square">
            <a:spAutoFit/>
          </a:bodyPr>
          <a:lstStyle/>
          <a:p>
            <a:pPr marL="285750" indent="-285750">
              <a:buFont typeface="Arial" panose="020B0604020202020204" pitchFamily="34" charset="0"/>
              <a:buChar char="•"/>
            </a:pPr>
            <a:r>
              <a:rPr lang="es-MX" sz="1600" dirty="0"/>
              <a:t>Sin perturbación de carga, la temperatura crece progresivamente pero se estabiliza por debajo de los 48 °C en 20 ciclos, manteniéndose dentro de condiciones térmicas aceptables.</a:t>
            </a:r>
          </a:p>
          <a:p>
            <a:pPr marL="285750" indent="-285750">
              <a:buFont typeface="Arial" panose="020B0604020202020204" pitchFamily="34" charset="0"/>
              <a:buChar char="•"/>
            </a:pPr>
            <a:r>
              <a:rPr lang="es-MX" sz="1600" dirty="0"/>
              <a:t>Al introducir una perturbación de carga cíclica, la temperatura continúa incrementándose hasta estabilizarse cerca del límite máximo admisible (~30 ciclos).</a:t>
            </a:r>
          </a:p>
          <a:p>
            <a:pPr marL="285750" indent="-285750">
              <a:buFont typeface="Arial" panose="020B0604020202020204" pitchFamily="34" charset="0"/>
              <a:buChar char="•"/>
            </a:pPr>
            <a:r>
              <a:rPr lang="es-MX" sz="1600" dirty="0"/>
              <a:t>Con carga máxima en el extremo del brazo, la temperatura </a:t>
            </a:r>
            <a:r>
              <a:rPr lang="es-MX" sz="1600" b="1" dirty="0"/>
              <a:t>supera el límite admisible</a:t>
            </a:r>
            <a:r>
              <a:rPr lang="es-MX" sz="1600" dirty="0"/>
              <a:t>, lo que representa una condición de operación insegura.</a:t>
            </a:r>
          </a:p>
          <a:p>
            <a:endParaRPr lang="es-MX" sz="1600" b="1" dirty="0"/>
          </a:p>
          <a:p>
            <a:r>
              <a:rPr lang="es-MX" sz="1600" b="1" dirty="0">
                <a:solidFill>
                  <a:srgbClr val="1A3A6B"/>
                </a:solidFill>
                <a:latin typeface="Calibri"/>
              </a:rPr>
              <a:t>Medidas para garantizar operación segura:</a:t>
            </a:r>
          </a:p>
          <a:p>
            <a:endParaRPr lang="es-MX" sz="1400" dirty="0"/>
          </a:p>
          <a:p>
            <a:pPr marL="285750" indent="-285750">
              <a:buFont typeface="Arial" panose="020B0604020202020204" pitchFamily="34" charset="0"/>
              <a:buChar char="•"/>
            </a:pPr>
            <a:r>
              <a:rPr lang="es-MX" sz="1400" dirty="0"/>
              <a:t>Limitar o evitar perturbaciones de carga sostenidas</a:t>
            </a:r>
          </a:p>
          <a:p>
            <a:pPr marL="285750" indent="-285750">
              <a:buFont typeface="Arial" panose="020B0604020202020204" pitchFamily="34" charset="0"/>
              <a:buChar char="•"/>
            </a:pPr>
            <a:r>
              <a:rPr lang="es-AR" sz="1400" dirty="0">
                <a:latin typeface="Calibri" panose="020F0502020204030204" pitchFamily="34" charset="0"/>
                <a:ea typeface="Calibri" panose="020F0502020204030204" pitchFamily="34" charset="0"/>
                <a:cs typeface="Times New Roman" panose="02020603050405020304" pitchFamily="18" charset="0"/>
              </a:rPr>
              <a:t>M</a:t>
            </a:r>
            <a:r>
              <a:rPr lang="es-AR" sz="1400" dirty="0">
                <a:effectLst/>
                <a:latin typeface="Calibri" panose="020F0502020204030204" pitchFamily="34" charset="0"/>
                <a:ea typeface="Calibri" panose="020F0502020204030204" pitchFamily="34" charset="0"/>
                <a:cs typeface="Times New Roman" panose="02020603050405020304" pitchFamily="18" charset="0"/>
              </a:rPr>
              <a:t>odificación en la consigna de velocidad </a:t>
            </a:r>
          </a:p>
          <a:p>
            <a:pPr marL="285750" indent="-285750">
              <a:buFont typeface="Arial" panose="020B0604020202020204" pitchFamily="34" charset="0"/>
              <a:buChar char="•"/>
            </a:pPr>
            <a:r>
              <a:rPr lang="es-MX" sz="1400" dirty="0"/>
              <a:t>Incorporar un mecanismo de refrigeración</a:t>
            </a:r>
          </a:p>
        </p:txBody>
      </p:sp>
      <p:sp>
        <p:nvSpPr>
          <p:cNvPr id="8" name="Shape 2">
            <a:extLst>
              <a:ext uri="{FF2B5EF4-FFF2-40B4-BE49-F238E27FC236}">
                <a16:creationId xmlns:a16="http://schemas.microsoft.com/office/drawing/2014/main" id="{98BB5D27-3F5B-46DC-9A6F-FD2444BCFA2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AB115AD5-C0F7-49EF-AAC0-43AFCEDF78C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64107167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04952" y="97728"/>
            <a:ext cx="11551615" cy="658368"/>
          </a:xfrm>
          <a:prstGeom prst="rect">
            <a:avLst/>
          </a:prstGeom>
          <a:noFill/>
        </p:spPr>
        <p:txBody>
          <a:bodyPr wrap="none">
            <a:spAutoFit/>
          </a:bodyPr>
          <a:lstStyle/>
          <a:p>
            <a:pPr algn="l"/>
            <a:r>
              <a:rPr sz="2100" b="1" dirty="0" err="1">
                <a:solidFill>
                  <a:srgbClr val="FFFFFF"/>
                </a:solidFill>
                <a:latin typeface="Cambria"/>
              </a:rPr>
              <a:t>Sensores</a:t>
            </a:r>
            <a:r>
              <a:rPr sz="2100" b="1" dirty="0">
                <a:solidFill>
                  <a:srgbClr val="FFFFFF"/>
                </a:solidFill>
                <a:latin typeface="Cambria"/>
              </a:rPr>
              <a:t> no </a:t>
            </a:r>
            <a:r>
              <a:rPr sz="2100" b="1" dirty="0" err="1">
                <a:solidFill>
                  <a:srgbClr val="FFFFFF"/>
                </a:solidFill>
                <a:latin typeface="Cambria"/>
              </a:rPr>
              <a:t>ideales</a:t>
            </a:r>
            <a:r>
              <a:rPr sz="2100" b="1" dirty="0">
                <a:solidFill>
                  <a:srgbClr val="FFFFFF"/>
                </a:solidFill>
                <a:latin typeface="Cambria"/>
              </a:rPr>
              <a:t> — </a:t>
            </a:r>
            <a:r>
              <a:rPr sz="2100" b="1" dirty="0" err="1">
                <a:solidFill>
                  <a:srgbClr val="FFFFFF"/>
                </a:solidFill>
                <a:latin typeface="Cambria"/>
              </a:rPr>
              <a:t>Modelos</a:t>
            </a:r>
            <a:r>
              <a:rPr sz="2100" b="1" dirty="0">
                <a:solidFill>
                  <a:srgbClr val="FFFFFF"/>
                </a:solidFill>
                <a:latin typeface="Cambria"/>
              </a:rPr>
              <a:t> y </a:t>
            </a:r>
            <a:r>
              <a:rPr sz="2100" b="1" dirty="0" err="1">
                <a:solidFill>
                  <a:srgbClr val="FFFFFF"/>
                </a:solidFill>
                <a:latin typeface="Cambria"/>
              </a:rPr>
              <a:t>análisis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583575"/>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sp>
        <p:nvSpPr>
          <p:cNvPr id="7" name="TextBox 6"/>
          <p:cNvSpPr txBox="1"/>
          <p:nvPr/>
        </p:nvSpPr>
        <p:spPr>
          <a:xfrm>
            <a:off x="148943" y="712179"/>
            <a:ext cx="11430000" cy="523220"/>
          </a:xfrm>
          <a:prstGeom prst="rect">
            <a:avLst/>
          </a:prstGeom>
          <a:noFill/>
        </p:spPr>
        <p:txBody>
          <a:bodyPr wrap="square">
            <a:spAutoFit/>
          </a:bodyPr>
          <a:lstStyle/>
          <a:p>
            <a:pPr algn="l"/>
            <a:r>
              <a:rPr lang="es-AR" sz="1400" dirty="0">
                <a:latin typeface="Calibri" panose="020F0502020204030204" pitchFamily="34" charset="0"/>
                <a:ea typeface="Calibri" panose="020F0502020204030204" pitchFamily="34" charset="0"/>
                <a:cs typeface="Times New Roman" panose="02020603050405020304" pitchFamily="18" charset="0"/>
              </a:rPr>
              <a:t>S</a:t>
            </a:r>
            <a:r>
              <a:rPr lang="es-AR" sz="1400" dirty="0">
                <a:effectLst/>
                <a:latin typeface="Calibri" panose="020F0502020204030204" pitchFamily="34" charset="0"/>
                <a:ea typeface="Calibri" panose="020F0502020204030204" pitchFamily="34" charset="0"/>
                <a:cs typeface="Times New Roman" panose="02020603050405020304" pitchFamily="18" charset="0"/>
              </a:rPr>
              <a:t>e reemplaza el modelo ideal de medición por modelos equivalentes aproximados con comportamiento de filtro pasa bajos y ganancia unitaria, formulados en el espacio de estados.</a:t>
            </a:r>
            <a:endParaRPr sz="1100" b="0" i="0" dirty="0">
              <a:solidFill>
                <a:srgbClr val="1A1A2E"/>
              </a:solidFill>
              <a:latin typeface="Calibri"/>
            </a:endParaRP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296864104"/>
                  </p:ext>
                </p:extLst>
              </p:nvPr>
            </p:nvGraphicFramePr>
            <p:xfrm>
              <a:off x="365760" y="1261872"/>
              <a:ext cx="11430000" cy="17373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5120640">
                      <a:extLst>
                        <a:ext uri="{9D8B030D-6E8A-4147-A177-3AD203B41FA5}">
                          <a16:colId xmlns:a16="http://schemas.microsoft.com/office/drawing/2014/main" val="20003"/>
                        </a:ext>
                      </a:extLst>
                    </a:gridCol>
                  </a:tblGrid>
                  <a:tr h="434340">
                    <a:tc>
                      <a:txBody>
                        <a:bodyPr/>
                        <a:lstStyle/>
                        <a:p>
                          <a:r>
                            <a:rPr sz="1200" b="1">
                              <a:solidFill>
                                <a:srgbClr val="FFFFFF"/>
                              </a:solidFill>
                              <a:latin typeface="Calibri"/>
                            </a:rPr>
                            <a:t>Sensor</a:t>
                          </a:r>
                        </a:p>
                      </a:txBody>
                      <a:tcPr>
                        <a:solidFill>
                          <a:srgbClr val="1A3A6B"/>
                        </a:solidFill>
                      </a:tcPr>
                    </a:tc>
                    <a:tc>
                      <a:txBody>
                        <a:bodyPr/>
                        <a:lstStyle/>
                        <a:p>
                          <a:r>
                            <a:rPr sz="1200" b="1">
                              <a:solidFill>
                                <a:srgbClr val="FFFFFF"/>
                              </a:solidFill>
                              <a:latin typeface="Calibri"/>
                            </a:rPr>
                            <a:t>Tipo de filtro</a:t>
                          </a:r>
                        </a:p>
                      </a:txBody>
                      <a:tcPr>
                        <a:solidFill>
                          <a:srgbClr val="1A3A6B"/>
                        </a:solidFill>
                      </a:tcPr>
                    </a:tc>
                    <a:tc>
                      <a:txBody>
                        <a:bodyPr/>
                        <a:lstStyle/>
                        <a:p>
                          <a:r>
                            <a:rPr sz="1200" b="1">
                              <a:solidFill>
                                <a:srgbClr val="FFFFFF"/>
                              </a:solidFill>
                              <a:latin typeface="Calibri"/>
                            </a:rPr>
                            <a:t>Parámetros iniciales</a:t>
                          </a:r>
                        </a:p>
                      </a:txBody>
                      <a:tcPr>
                        <a:solidFill>
                          <a:srgbClr val="1A3A6B"/>
                        </a:solidFill>
                      </a:tcPr>
                    </a:tc>
                    <a:tc>
                      <a:txBody>
                        <a:bodyPr/>
                        <a:lstStyle/>
                        <a:p>
                          <a:r>
                            <a:rPr sz="1200" b="1">
                              <a:solidFill>
                                <a:srgbClr val="FFFFFF"/>
                              </a:solidFill>
                              <a:latin typeface="Calibri"/>
                            </a:rPr>
                            <a:t>Parámetros finales adoptados</a:t>
                          </a:r>
                        </a:p>
                      </a:txBody>
                      <a:tcPr>
                        <a:solidFill>
                          <a:srgbClr val="1A3A6B"/>
                        </a:solidFill>
                      </a:tcPr>
                    </a:tc>
                    <a:extLst>
                      <a:ext uri="{0D108BD9-81ED-4DB2-BD59-A6C34878D82A}">
                        <a16:rowId xmlns:a16="http://schemas.microsoft.com/office/drawing/2014/main" val="10000"/>
                      </a:ext>
                    </a:extLst>
                  </a:tr>
                  <a:tr h="434340">
                    <a:tc>
                      <a:txBody>
                        <a:bodyPr/>
                        <a:lstStyle/>
                        <a:p>
                          <a:r>
                            <a:rPr lang="es-AR" sz="1400" noProof="0">
                              <a:latin typeface="Calibri"/>
                            </a:rPr>
                            <a:t>Posición </a:t>
                          </a:r>
                          <a14:m>
                            <m:oMath xmlns:m="http://schemas.openxmlformats.org/officeDocument/2006/math">
                              <m:sSub>
                                <m:sSubPr>
                                  <m:ctrlPr>
                                    <a:rPr lang="es-AR" sz="1400" i="1" noProof="0" smtClean="0">
                                      <a:latin typeface="Cambria Math" panose="02040503050406030204" pitchFamily="18" charset="0"/>
                                    </a:rPr>
                                  </m:ctrlPr>
                                </m:sSubPr>
                                <m:e>
                                  <m:r>
                                    <a:rPr lang="es-AR" sz="1400" i="1" noProof="0" smtClean="0">
                                      <a:latin typeface="Cambria Math" panose="02040503050406030204" pitchFamily="18" charset="0"/>
                                      <a:ea typeface="Cambria Math" panose="02040503050406030204" pitchFamily="18" charset="0"/>
                                    </a:rPr>
                                    <m:t>𝜃</m:t>
                                  </m:r>
                                </m:e>
                                <m:sub>
                                  <m:r>
                                    <a:rPr lang="es-AR" sz="1400" noProof="0">
                                      <a:latin typeface="Cambria Math" panose="02040503050406030204" pitchFamily="18" charset="0"/>
                                    </a:rPr>
                                    <m:t>𝑚</m:t>
                                  </m:r>
                                </m:sub>
                              </m:sSub>
                            </m:oMath>
                          </a14:m>
                          <a:endParaRPr lang="es-AR" sz="1400" noProof="0">
                            <a:latin typeface="Calibri"/>
                          </a:endParaRPr>
                        </a:p>
                      </a:txBody>
                      <a:tcPr/>
                    </a:tc>
                    <a:tc>
                      <a:txBody>
                        <a:bodyPr/>
                        <a:lstStyle/>
                        <a:p>
                          <a:r>
                            <a:rPr lang="es-AR" sz="1400" noProof="0">
                              <a:latin typeface="Calibri"/>
                            </a:rPr>
                            <a:t>PB 2° orden, ζ=1</a:t>
                          </a:r>
                        </a:p>
                      </a:txBody>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a:latin typeface="Cambria Math" panose="02040503050406030204" pitchFamily="18" charset="0"/>
                                    </a:rPr>
                                    <m:t>𝜔</m:t>
                                  </m:r>
                                </m:e>
                                <m:sub>
                                  <m:r>
                                    <a:rPr lang="es-AR" sz="1400" noProof="0">
                                      <a:latin typeface="Cambria Math" panose="02040503050406030204" pitchFamily="18" charset="0"/>
                                    </a:rPr>
                                    <m:t>𝑚</m:t>
                                  </m:r>
                                </m:sub>
                              </m:sSub>
                            </m:oMath>
                          </a14:m>
                          <a:r>
                            <a:rPr lang="es-AR" sz="1400" noProof="0" dirty="0">
                              <a:latin typeface="Calibri"/>
                            </a:rPr>
                            <a:t> = 2000 rad/s</a:t>
                          </a:r>
                        </a:p>
                      </a:txBody>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smtClean="0">
                                      <a:latin typeface="Cambria Math" panose="02040503050406030204" pitchFamily="18" charset="0"/>
                                    </a:rPr>
                                    <m:t>𝜔</m:t>
                                  </m:r>
                                </m:e>
                                <m:sub>
                                  <m:r>
                                    <a:rPr lang="es-AR" sz="1400" b="0" i="1" noProof="0" smtClean="0">
                                      <a:latin typeface="Cambria Math" panose="02040503050406030204" pitchFamily="18" charset="0"/>
                                    </a:rPr>
                                    <m:t>𝑛</m:t>
                                  </m:r>
                                </m:sub>
                              </m:sSub>
                            </m:oMath>
                          </a14:m>
                          <a:r>
                            <a:rPr lang="es-AR" sz="1400" noProof="0">
                              <a:latin typeface="Calibri"/>
                            </a:rPr>
                            <a:t> = 6000 rad/s</a:t>
                          </a:r>
                        </a:p>
                      </a:txBody>
                      <a:tcPr/>
                    </a:tc>
                    <a:extLst>
                      <a:ext uri="{0D108BD9-81ED-4DB2-BD59-A6C34878D82A}">
                        <a16:rowId xmlns:a16="http://schemas.microsoft.com/office/drawing/2014/main" val="10001"/>
                      </a:ext>
                    </a:extLst>
                  </a:tr>
                  <a:tr h="434340">
                    <a:tc>
                      <a:txBody>
                        <a:bodyPr/>
                        <a:lstStyle/>
                        <a:p>
                          <a:r>
                            <a:rPr lang="es-AR" sz="1400" noProof="0" dirty="0">
                              <a:latin typeface="Calibri"/>
                            </a:rPr>
                            <a:t>Corrientes </a:t>
                          </a:r>
                          <a14:m>
                            <m:oMath xmlns:m="http://schemas.openxmlformats.org/officeDocument/2006/math">
                              <m:sSub>
                                <m:sSubPr>
                                  <m:ctrlPr>
                                    <a:rPr lang="es-AR" sz="1400" i="1" smtClean="0">
                                      <a:latin typeface="Cambria Math" panose="02040503050406030204" pitchFamily="18" charset="0"/>
                                    </a:rPr>
                                  </m:ctrlPr>
                                </m:sSubPr>
                                <m:e>
                                  <m:r>
                                    <a:rPr lang="es-AR" sz="1400">
                                      <a:latin typeface="Cambria Math" panose="02040503050406030204" pitchFamily="18" charset="0"/>
                                    </a:rPr>
                                    <m:t>𝑖</m:t>
                                  </m:r>
                                </m:e>
                                <m:sub>
                                  <m:r>
                                    <a:rPr lang="es-AR" sz="1400">
                                      <a:latin typeface="Cambria Math" panose="02040503050406030204" pitchFamily="18" charset="0"/>
                                    </a:rPr>
                                    <m:t>𝑎𝑏𝑐</m:t>
                                  </m:r>
                                </m:sub>
                              </m:sSub>
                            </m:oMath>
                          </a14:m>
                          <a:endParaRPr lang="es-AR" sz="1400" noProof="0" dirty="0">
                            <a:latin typeface="Calibri"/>
                          </a:endParaRPr>
                        </a:p>
                      </a:txBody>
                      <a:tcPr>
                        <a:solidFill>
                          <a:srgbClr val="F0F4F8"/>
                        </a:solidFill>
                      </a:tcPr>
                    </a:tc>
                    <a:tc>
                      <a:txBody>
                        <a:bodyPr/>
                        <a:lstStyle/>
                        <a:p>
                          <a:r>
                            <a:rPr lang="es-AR" sz="1400" noProof="0">
                              <a:latin typeface="Calibri"/>
                            </a:rPr>
                            <a:t>PB 2° orden, ζ=1</a:t>
                          </a:r>
                        </a:p>
                      </a:txBody>
                      <a:tcPr>
                        <a:solidFill>
                          <a:srgbClr val="F0F4F8"/>
                        </a:solidFill>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a:latin typeface="Cambria Math" panose="02040503050406030204" pitchFamily="18" charset="0"/>
                                    </a:rPr>
                                    <m:t>𝜔</m:t>
                                  </m:r>
                                </m:e>
                                <m:sub>
                                  <m:r>
                                    <a:rPr lang="es-AR" sz="1400" noProof="0">
                                      <a:latin typeface="Cambria Math" panose="02040503050406030204" pitchFamily="18" charset="0"/>
                                    </a:rPr>
                                    <m:t>𝑚</m:t>
                                  </m:r>
                                </m:sub>
                              </m:sSub>
                            </m:oMath>
                          </a14:m>
                          <a:r>
                            <a:rPr lang="es-AR" sz="1400" noProof="0">
                              <a:latin typeface="Calibri"/>
                            </a:rPr>
                            <a:t> = 6000 rad/s</a:t>
                          </a:r>
                        </a:p>
                      </a:txBody>
                      <a:tcPr>
                        <a:solidFill>
                          <a:srgbClr val="F0F4F8"/>
                        </a:solidFill>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smtClean="0">
                                      <a:latin typeface="Cambria Math" panose="02040503050406030204" pitchFamily="18" charset="0"/>
                                    </a:rPr>
                                    <m:t>𝜔</m:t>
                                  </m:r>
                                </m:e>
                                <m:sub>
                                  <m:r>
                                    <a:rPr lang="es-AR" sz="1400" b="0" i="1" noProof="0" smtClean="0">
                                      <a:latin typeface="Cambria Math" panose="02040503050406030204" pitchFamily="18" charset="0"/>
                                    </a:rPr>
                                    <m:t>𝑛</m:t>
                                  </m:r>
                                </m:sub>
                              </m:sSub>
                            </m:oMath>
                          </a14:m>
                          <a:r>
                            <a:rPr lang="es-AR" sz="1400" noProof="0" dirty="0">
                              <a:latin typeface="Calibri"/>
                            </a:rPr>
                            <a:t> = 18000 rad/s</a:t>
                          </a:r>
                        </a:p>
                      </a:txBody>
                      <a:tcPr>
                        <a:solidFill>
                          <a:srgbClr val="F0F4F8"/>
                        </a:solidFill>
                      </a:tcPr>
                    </a:tc>
                    <a:extLst>
                      <a:ext uri="{0D108BD9-81ED-4DB2-BD59-A6C34878D82A}">
                        <a16:rowId xmlns:a16="http://schemas.microsoft.com/office/drawing/2014/main" val="10002"/>
                      </a:ext>
                    </a:extLst>
                  </a:tr>
                  <a:tr h="434340">
                    <a:tc>
                      <a:txBody>
                        <a:bodyPr/>
                        <a:lstStyle/>
                        <a:p>
                          <a:r>
                            <a:rPr lang="es-AR" sz="1400" noProof="0">
                              <a:latin typeface="Calibri"/>
                            </a:rPr>
                            <a:t>Temperatura Ts°</a:t>
                          </a:r>
                        </a:p>
                      </a:txBody>
                      <a:tcPr/>
                    </a:tc>
                    <a:tc>
                      <a:txBody>
                        <a:bodyPr/>
                        <a:lstStyle/>
                        <a:p>
                          <a:r>
                            <a:rPr lang="es-AR" sz="1400" noProof="0">
                              <a:latin typeface="Calibri"/>
                            </a:rPr>
                            <a:t>PB 1° orden</a:t>
                          </a:r>
                        </a:p>
                      </a:txBody>
                      <a:tcPr/>
                    </a:tc>
                    <a:tc>
                      <a:txBody>
                        <a:bodyPr/>
                        <a:lstStyle/>
                        <a:p>
                          <a:r>
                            <a:rPr lang="es-AR" sz="1400" noProof="0" dirty="0">
                              <a:latin typeface="Calibri"/>
                            </a:rPr>
                            <a:t>τ = 20 s</a:t>
                          </a:r>
                        </a:p>
                      </a:txBody>
                      <a:tcPr/>
                    </a:tc>
                    <a:tc>
                      <a:txBody>
                        <a:bodyPr/>
                        <a:lstStyle/>
                        <a:p>
                          <a:r>
                            <a:rPr lang="es-AR" sz="1400" noProof="0" dirty="0">
                              <a:latin typeface="Calibri"/>
                            </a:rPr>
                            <a:t>τ = 0.05 s</a:t>
                          </a:r>
                        </a:p>
                      </a:txBody>
                      <a:tcPr/>
                    </a:tc>
                    <a:extLst>
                      <a:ext uri="{0D108BD9-81ED-4DB2-BD59-A6C34878D82A}">
                        <a16:rowId xmlns:a16="http://schemas.microsoft.com/office/drawing/2014/main" val="10003"/>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296864104"/>
                  </p:ext>
                </p:extLst>
              </p:nvPr>
            </p:nvGraphicFramePr>
            <p:xfrm>
              <a:off x="365760" y="1261872"/>
              <a:ext cx="11430000" cy="17373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5120640">
                      <a:extLst>
                        <a:ext uri="{9D8B030D-6E8A-4147-A177-3AD203B41FA5}">
                          <a16:colId xmlns:a16="http://schemas.microsoft.com/office/drawing/2014/main" val="20003"/>
                        </a:ext>
                      </a:extLst>
                    </a:gridCol>
                  </a:tblGrid>
                  <a:tr h="434340">
                    <a:tc>
                      <a:txBody>
                        <a:bodyPr/>
                        <a:lstStyle/>
                        <a:p>
                          <a:r>
                            <a:rPr sz="1200" b="1">
                              <a:solidFill>
                                <a:srgbClr val="FFFFFF"/>
                              </a:solidFill>
                              <a:latin typeface="Calibri"/>
                            </a:rPr>
                            <a:t>Sensor</a:t>
                          </a:r>
                        </a:p>
                      </a:txBody>
                      <a:tcPr>
                        <a:solidFill>
                          <a:srgbClr val="1A3A6B"/>
                        </a:solidFill>
                      </a:tcPr>
                    </a:tc>
                    <a:tc>
                      <a:txBody>
                        <a:bodyPr/>
                        <a:lstStyle/>
                        <a:p>
                          <a:r>
                            <a:rPr sz="1200" b="1">
                              <a:solidFill>
                                <a:srgbClr val="FFFFFF"/>
                              </a:solidFill>
                              <a:latin typeface="Calibri"/>
                            </a:rPr>
                            <a:t>Tipo de filtro</a:t>
                          </a:r>
                        </a:p>
                      </a:txBody>
                      <a:tcPr>
                        <a:solidFill>
                          <a:srgbClr val="1A3A6B"/>
                        </a:solidFill>
                      </a:tcPr>
                    </a:tc>
                    <a:tc>
                      <a:txBody>
                        <a:bodyPr/>
                        <a:lstStyle/>
                        <a:p>
                          <a:r>
                            <a:rPr sz="1200" b="1">
                              <a:solidFill>
                                <a:srgbClr val="FFFFFF"/>
                              </a:solidFill>
                              <a:latin typeface="Calibri"/>
                            </a:rPr>
                            <a:t>Parámetros iniciales</a:t>
                          </a:r>
                        </a:p>
                      </a:txBody>
                      <a:tcPr>
                        <a:solidFill>
                          <a:srgbClr val="1A3A6B"/>
                        </a:solidFill>
                      </a:tcPr>
                    </a:tc>
                    <a:tc>
                      <a:txBody>
                        <a:bodyPr/>
                        <a:lstStyle/>
                        <a:p>
                          <a:r>
                            <a:rPr sz="1200" b="1">
                              <a:solidFill>
                                <a:srgbClr val="FFFFFF"/>
                              </a:solidFill>
                              <a:latin typeface="Calibri"/>
                            </a:rPr>
                            <a:t>Parámetros finales adoptados</a:t>
                          </a:r>
                        </a:p>
                      </a:txBody>
                      <a:tcPr>
                        <a:solidFill>
                          <a:srgbClr val="1A3A6B"/>
                        </a:solidFill>
                      </a:tcPr>
                    </a:tc>
                    <a:extLst>
                      <a:ext uri="{0D108BD9-81ED-4DB2-BD59-A6C34878D82A}">
                        <a16:rowId xmlns:a16="http://schemas.microsoft.com/office/drawing/2014/main" val="10000"/>
                      </a:ext>
                    </a:extLst>
                  </a:tr>
                  <a:tr h="434340">
                    <a:tc>
                      <a:txBody>
                        <a:bodyPr/>
                        <a:lstStyle/>
                        <a:p>
                          <a:endParaRPr lang="es-AR"/>
                        </a:p>
                      </a:txBody>
                      <a:tcPr>
                        <a:blipFill>
                          <a:blip r:embed="rId3"/>
                          <a:stretch>
                            <a:fillRect l="-606" t="-101389" r="-469697" b="-201389"/>
                          </a:stretch>
                        </a:blipFill>
                      </a:tcPr>
                    </a:tc>
                    <a:tc>
                      <a:txBody>
                        <a:bodyPr/>
                        <a:lstStyle/>
                        <a:p>
                          <a:r>
                            <a:rPr lang="es-AR" sz="1400" noProof="0">
                              <a:latin typeface="Calibri"/>
                            </a:rPr>
                            <a:t>PB 2° orden, ζ=1</a:t>
                          </a:r>
                        </a:p>
                      </a:txBody>
                      <a:tcPr/>
                    </a:tc>
                    <a:tc>
                      <a:txBody>
                        <a:bodyPr/>
                        <a:lstStyle/>
                        <a:p>
                          <a:endParaRPr lang="es-AR"/>
                        </a:p>
                      </a:txBody>
                      <a:tcPr>
                        <a:blipFill>
                          <a:blip r:embed="rId3"/>
                          <a:stretch>
                            <a:fillRect l="-176533" t="-101389" r="-225333" b="-201389"/>
                          </a:stretch>
                        </a:blipFill>
                      </a:tcPr>
                    </a:tc>
                    <a:tc>
                      <a:txBody>
                        <a:bodyPr/>
                        <a:lstStyle/>
                        <a:p>
                          <a:endParaRPr lang="es-AR"/>
                        </a:p>
                      </a:txBody>
                      <a:tcPr>
                        <a:blipFill>
                          <a:blip r:embed="rId3"/>
                          <a:stretch>
                            <a:fillRect l="-123452" t="-101389" r="-595" b="-201389"/>
                          </a:stretch>
                        </a:blipFill>
                      </a:tcPr>
                    </a:tc>
                    <a:extLst>
                      <a:ext uri="{0D108BD9-81ED-4DB2-BD59-A6C34878D82A}">
                        <a16:rowId xmlns:a16="http://schemas.microsoft.com/office/drawing/2014/main" val="10001"/>
                      </a:ext>
                    </a:extLst>
                  </a:tr>
                  <a:tr h="434340">
                    <a:tc>
                      <a:txBody>
                        <a:bodyPr/>
                        <a:lstStyle/>
                        <a:p>
                          <a:endParaRPr lang="es-AR"/>
                        </a:p>
                      </a:txBody>
                      <a:tcPr>
                        <a:blipFill>
                          <a:blip r:embed="rId3"/>
                          <a:stretch>
                            <a:fillRect l="-606" t="-204225" r="-469697" b="-104225"/>
                          </a:stretch>
                        </a:blipFill>
                      </a:tcPr>
                    </a:tc>
                    <a:tc>
                      <a:txBody>
                        <a:bodyPr/>
                        <a:lstStyle/>
                        <a:p>
                          <a:r>
                            <a:rPr lang="es-AR" sz="1400" noProof="0">
                              <a:latin typeface="Calibri"/>
                            </a:rPr>
                            <a:t>PB 2° orden, ζ=1</a:t>
                          </a:r>
                        </a:p>
                      </a:txBody>
                      <a:tcPr>
                        <a:solidFill>
                          <a:srgbClr val="F0F4F8"/>
                        </a:solidFill>
                      </a:tcPr>
                    </a:tc>
                    <a:tc>
                      <a:txBody>
                        <a:bodyPr/>
                        <a:lstStyle/>
                        <a:p>
                          <a:endParaRPr lang="es-AR"/>
                        </a:p>
                      </a:txBody>
                      <a:tcPr>
                        <a:blipFill>
                          <a:blip r:embed="rId3"/>
                          <a:stretch>
                            <a:fillRect l="-176533" t="-204225" r="-225333" b="-104225"/>
                          </a:stretch>
                        </a:blipFill>
                      </a:tcPr>
                    </a:tc>
                    <a:tc>
                      <a:txBody>
                        <a:bodyPr/>
                        <a:lstStyle/>
                        <a:p>
                          <a:endParaRPr lang="es-AR"/>
                        </a:p>
                      </a:txBody>
                      <a:tcPr>
                        <a:blipFill>
                          <a:blip r:embed="rId3"/>
                          <a:stretch>
                            <a:fillRect l="-123452" t="-204225" r="-595" b="-104225"/>
                          </a:stretch>
                        </a:blipFill>
                      </a:tcPr>
                    </a:tc>
                    <a:extLst>
                      <a:ext uri="{0D108BD9-81ED-4DB2-BD59-A6C34878D82A}">
                        <a16:rowId xmlns:a16="http://schemas.microsoft.com/office/drawing/2014/main" val="10002"/>
                      </a:ext>
                    </a:extLst>
                  </a:tr>
                  <a:tr h="434340">
                    <a:tc>
                      <a:txBody>
                        <a:bodyPr/>
                        <a:lstStyle/>
                        <a:p>
                          <a:r>
                            <a:rPr lang="es-AR" sz="1400" noProof="0">
                              <a:latin typeface="Calibri"/>
                            </a:rPr>
                            <a:t>Temperatura Ts°</a:t>
                          </a:r>
                        </a:p>
                      </a:txBody>
                      <a:tcPr/>
                    </a:tc>
                    <a:tc>
                      <a:txBody>
                        <a:bodyPr/>
                        <a:lstStyle/>
                        <a:p>
                          <a:r>
                            <a:rPr lang="es-AR" sz="1400" noProof="0">
                              <a:latin typeface="Calibri"/>
                            </a:rPr>
                            <a:t>PB 1° orden</a:t>
                          </a:r>
                        </a:p>
                      </a:txBody>
                      <a:tcPr/>
                    </a:tc>
                    <a:tc>
                      <a:txBody>
                        <a:bodyPr/>
                        <a:lstStyle/>
                        <a:p>
                          <a:r>
                            <a:rPr lang="es-AR" sz="1400" noProof="0" dirty="0">
                              <a:latin typeface="Calibri"/>
                            </a:rPr>
                            <a:t>τ = 20 s</a:t>
                          </a:r>
                        </a:p>
                      </a:txBody>
                      <a:tcPr/>
                    </a:tc>
                    <a:tc>
                      <a:txBody>
                        <a:bodyPr/>
                        <a:lstStyle/>
                        <a:p>
                          <a:r>
                            <a:rPr lang="es-AR" sz="1400" noProof="0" dirty="0">
                              <a:latin typeface="Calibri"/>
                            </a:rPr>
                            <a:t>τ = 0.05 s</a:t>
                          </a:r>
                        </a:p>
                      </a:txBody>
                      <a:tcPr/>
                    </a:tc>
                    <a:extLst>
                      <a:ext uri="{0D108BD9-81ED-4DB2-BD59-A6C34878D82A}">
                        <a16:rowId xmlns:a16="http://schemas.microsoft.com/office/drawing/2014/main" val="10003"/>
                      </a:ext>
                    </a:extLst>
                  </a:tr>
                </a:tbl>
              </a:graphicData>
            </a:graphic>
          </p:graphicFrame>
        </mc:Fallback>
      </mc:AlternateContent>
      <p:sp>
        <p:nvSpPr>
          <p:cNvPr id="9" name="Rectangle 8"/>
          <p:cNvSpPr/>
          <p:nvPr/>
        </p:nvSpPr>
        <p:spPr>
          <a:xfrm>
            <a:off x="274320" y="3411191"/>
            <a:ext cx="11430000" cy="58642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0" name="TextBox 9"/>
              <p:cNvSpPr txBox="1"/>
              <p:nvPr/>
            </p:nvSpPr>
            <p:spPr>
              <a:xfrm>
                <a:off x="274320" y="3383759"/>
                <a:ext cx="2167222" cy="56861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𝐺</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rPr>
                          </m:ctrlPr>
                        </m:fPr>
                        <m:num>
                          <m:sSubSup>
                            <m:sSubSupPr>
                              <m:ctrlPr>
                                <a:rPr lang="es-AR" sz="1400" i="1">
                                  <a:effectLst/>
                                  <a:latin typeface="Cambria Math" panose="02040503050406030204" pitchFamily="18" charset="0"/>
                                </a:rPr>
                              </m:ctrlPr>
                            </m:sSubSup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bSup>
                        </m:num>
                        <m:den>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ξ</m:t>
                          </m:r>
                          <m:sSub>
                            <m:sSubPr>
                              <m:ctrlPr>
                                <a:rPr lang="es-AR" sz="1400" i="1">
                                  <a:effectLst/>
                                  <a:latin typeface="Cambria Math" panose="02040503050406030204" pitchFamily="18" charset="0"/>
                                </a:rPr>
                              </m:ctrlPr>
                            </m:sSub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400" i="1">
                                  <a:effectLst/>
                                  <a:latin typeface="Cambria Math" panose="02040503050406030204" pitchFamily="18" charset="0"/>
                                </a:rPr>
                              </m:ctrlPr>
                            </m:sSubSup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bSup>
                        </m:den>
                      </m:f>
                    </m:oMath>
                  </m:oMathPara>
                </a14:m>
                <a:endParaRPr sz="1400" b="1" dirty="0">
                  <a:solidFill>
                    <a:srgbClr val="1B6B2A"/>
                  </a:solidFill>
                  <a:latin typeface="Calibri"/>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274320" y="3383759"/>
                <a:ext cx="2167222" cy="568617"/>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365760" y="5532120"/>
                <a:ext cx="11430000" cy="818173"/>
              </a:xfrm>
              <a:prstGeom prst="rect">
                <a:avLst/>
              </a:prstGeom>
              <a:noFill/>
            </p:spPr>
            <p:txBody>
              <a:bodyPr wrap="square">
                <a:spAutoFit/>
              </a:bodyPr>
              <a:lstStyle/>
              <a:p>
                <a:r>
                  <a:rPr lang="es-AR" sz="1350" dirty="0">
                    <a:solidFill>
                      <a:srgbClr val="1A1A2E"/>
                    </a:solidFill>
                    <a:latin typeface="Calibri"/>
                  </a:rPr>
                  <a:t>Posición: </a:t>
                </a:r>
                <a14:m>
                  <m:oMath xmlns:m="http://schemas.openxmlformats.org/officeDocument/2006/math">
                    <m:sSub>
                      <m:sSubPr>
                        <m:ctrlPr>
                          <a:rPr lang="es-AR" sz="1200" i="1" smtClean="0">
                            <a:latin typeface="Cambria Math" panose="02040503050406030204" pitchFamily="18" charset="0"/>
                          </a:rPr>
                        </m:ctrlPr>
                      </m:sSubPr>
                      <m:e>
                        <m:r>
                          <a:rPr lang="es-AR" sz="1200" smtClean="0">
                            <a:latin typeface="Cambria Math" panose="02040503050406030204" pitchFamily="18" charset="0"/>
                          </a:rPr>
                          <m:t>𝜔</m:t>
                        </m:r>
                      </m:e>
                      <m:sub>
                        <m:r>
                          <a:rPr lang="es-AR" sz="1200" b="0" i="1" smtClean="0">
                            <a:latin typeface="Cambria Math" panose="02040503050406030204" pitchFamily="18" charset="0"/>
                          </a:rPr>
                          <m:t>𝑛</m:t>
                        </m:r>
                      </m:sub>
                    </m:sSub>
                  </m:oMath>
                </a14:m>
                <a:r>
                  <a:rPr lang="es-AR" sz="1200" dirty="0">
                    <a:latin typeface="Calibri"/>
                  </a:rPr>
                  <a:t> </a:t>
                </a:r>
                <a:r>
                  <a:rPr lang="es-AR" sz="1350" dirty="0">
                    <a:solidFill>
                      <a:srgbClr val="1A1A2E"/>
                    </a:solidFill>
                    <a:latin typeface="Calibri"/>
                  </a:rPr>
                  <a:t> ≥ 6000 rad/s no muestra diferencias apreciables → no se requiere mayor resolución</a:t>
                </a:r>
              </a:p>
              <a:p>
                <a:pPr>
                  <a:spcBef>
                    <a:spcPts val="400"/>
                  </a:spcBef>
                </a:pPr>
                <a:r>
                  <a:rPr lang="es-AR" sz="1350" dirty="0">
                    <a:solidFill>
                      <a:srgbClr val="1A1A2E"/>
                    </a:solidFill>
                    <a:latin typeface="Calibri"/>
                  </a:rPr>
                  <a:t>Corriente: </a:t>
                </a:r>
                <a14:m>
                  <m:oMath xmlns:m="http://schemas.openxmlformats.org/officeDocument/2006/math">
                    <m:sSub>
                      <m:sSubPr>
                        <m:ctrlPr>
                          <a:rPr lang="es-AR" sz="1200" i="1" smtClean="0">
                            <a:latin typeface="Cambria Math" panose="02040503050406030204" pitchFamily="18" charset="0"/>
                          </a:rPr>
                        </m:ctrlPr>
                      </m:sSubPr>
                      <m:e>
                        <m:r>
                          <a:rPr lang="es-AR" sz="1200" smtClean="0">
                            <a:latin typeface="Cambria Math" panose="02040503050406030204" pitchFamily="18" charset="0"/>
                          </a:rPr>
                          <m:t>𝜔</m:t>
                        </m:r>
                      </m:e>
                      <m:sub>
                        <m:r>
                          <a:rPr lang="es-AR" sz="1200" b="0" i="1" smtClean="0">
                            <a:latin typeface="Cambria Math" panose="02040503050406030204" pitchFamily="18" charset="0"/>
                          </a:rPr>
                          <m:t>𝑛</m:t>
                        </m:r>
                      </m:sub>
                    </m:sSub>
                  </m:oMath>
                </a14:m>
                <a:r>
                  <a:rPr lang="es-AR" sz="1200" dirty="0">
                    <a:latin typeface="Calibri"/>
                  </a:rPr>
                  <a:t> </a:t>
                </a:r>
                <a:r>
                  <a:rPr lang="es-AR" sz="1350" dirty="0">
                    <a:solidFill>
                      <a:srgbClr val="1A1A2E"/>
                    </a:solidFill>
                    <a:latin typeface="Calibri"/>
                  </a:rPr>
                  <a:t> = 18000 rad/s ofrece buena respuesta sin necesidad de valores más altos</a:t>
                </a:r>
              </a:p>
              <a:p>
                <a:pPr>
                  <a:spcBef>
                    <a:spcPts val="400"/>
                  </a:spcBef>
                </a:pPr>
                <a:r>
                  <a:rPr lang="es-AR" sz="1350" dirty="0">
                    <a:solidFill>
                      <a:srgbClr val="1A1A2E"/>
                    </a:solidFill>
                    <a:latin typeface="Calibri"/>
                  </a:rPr>
                  <a:t>Temperatura: variable más afectada; τ = 0.05 s necesario para rastrear señal; para detectar máximos τ puede ser mayor</a:t>
                </a:r>
              </a:p>
            </p:txBody>
          </p:sp>
        </mc:Choice>
        <mc:Fallback xmlns="">
          <p:sp>
            <p:nvSpPr>
              <p:cNvPr id="14" name="TextBox 13"/>
              <p:cNvSpPr txBox="1">
                <a:spLocks noRot="1" noChangeAspect="1" noMove="1" noResize="1" noEditPoints="1" noAdjustHandles="1" noChangeArrowheads="1" noChangeShapeType="1" noTextEdit="1"/>
              </p:cNvSpPr>
              <p:nvPr/>
            </p:nvSpPr>
            <p:spPr>
              <a:xfrm>
                <a:off x="365760" y="5532120"/>
                <a:ext cx="11430000" cy="818173"/>
              </a:xfrm>
              <a:prstGeom prst="rect">
                <a:avLst/>
              </a:prstGeom>
              <a:blipFill>
                <a:blip r:embed="rId5"/>
                <a:stretch>
                  <a:fillRect l="-107" t="-1493" b="-5970"/>
                </a:stretch>
              </a:blipFill>
            </p:spPr>
            <p:txBody>
              <a:bodyPr/>
              <a:lstStyle/>
              <a:p>
                <a:r>
                  <a:rPr lang="es-AR">
                    <a:noFill/>
                  </a:rPr>
                  <a:t> </a:t>
                </a:r>
              </a:p>
            </p:txBody>
          </p:sp>
        </mc:Fallback>
      </mc:AlternateContent>
      <p:sp>
        <p:nvSpPr>
          <p:cNvPr id="16" name="CuadroTexto 15">
            <a:extLst>
              <a:ext uri="{FF2B5EF4-FFF2-40B4-BE49-F238E27FC236}">
                <a16:creationId xmlns:a16="http://schemas.microsoft.com/office/drawing/2014/main" id="{219F5C72-FDFE-4F04-B710-BFD5FC38B321}"/>
              </a:ext>
            </a:extLst>
          </p:cNvPr>
          <p:cNvSpPr txBox="1"/>
          <p:nvPr/>
        </p:nvSpPr>
        <p:spPr>
          <a:xfrm>
            <a:off x="165911" y="3071109"/>
            <a:ext cx="11646817" cy="312650"/>
          </a:xfrm>
          <a:prstGeom prst="rect">
            <a:avLst/>
          </a:prstGeom>
          <a:noFill/>
        </p:spPr>
        <p:txBody>
          <a:bodyPr wrap="square">
            <a:spAutoFit/>
          </a:bodyPr>
          <a:lstStyle/>
          <a:p>
            <a:pPr algn="just">
              <a:lnSpc>
                <a:spcPct val="107000"/>
              </a:lnSpc>
              <a:spcBef>
                <a:spcPts val="4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Un filtro pasa bajo de segundo orden con ganancia unitaria puede describirse mediante la función de transferencia:</a:t>
            </a:r>
          </a:p>
        </p:txBody>
      </p:sp>
      <p:sp>
        <p:nvSpPr>
          <p:cNvPr id="18" name="CuadroTexto 17">
            <a:extLst>
              <a:ext uri="{FF2B5EF4-FFF2-40B4-BE49-F238E27FC236}">
                <a16:creationId xmlns:a16="http://schemas.microsoft.com/office/drawing/2014/main" id="{49B2CB70-C495-4516-A847-EAD8AE0204B2}"/>
              </a:ext>
            </a:extLst>
          </p:cNvPr>
          <p:cNvSpPr txBox="1"/>
          <p:nvPr/>
        </p:nvSpPr>
        <p:spPr>
          <a:xfrm>
            <a:off x="224838" y="4095344"/>
            <a:ext cx="11646816" cy="312650"/>
          </a:xfrm>
          <a:prstGeom prst="rect">
            <a:avLst/>
          </a:prstGeom>
          <a:noFill/>
        </p:spPr>
        <p:txBody>
          <a:bodyPr wrap="square">
            <a:spAutoFit/>
          </a:bodyPr>
          <a:lstStyle/>
          <a:p>
            <a:pPr algn="just">
              <a:lnSpc>
                <a:spcPct val="107000"/>
              </a:lnSpc>
              <a:spcAft>
                <a:spcPts val="800"/>
              </a:spcAft>
            </a:pPr>
            <a:r>
              <a:rPr lang="es-AR" sz="1400" dirty="0">
                <a:latin typeface="Calibri" panose="020F0502020204030204" pitchFamily="34" charset="0"/>
                <a:ea typeface="Calibri" panose="020F0502020204030204" pitchFamily="34" charset="0"/>
                <a:cs typeface="Times New Roman" panose="02020603050405020304" pitchFamily="18" charset="0"/>
              </a:rPr>
              <a:t>E</a:t>
            </a:r>
            <a:r>
              <a:rPr lang="es-AR" sz="1400" dirty="0">
                <a:effectLst/>
                <a:latin typeface="Calibri" panose="020F0502020204030204" pitchFamily="34" charset="0"/>
                <a:ea typeface="Calibri" panose="020F0502020204030204" pitchFamily="34" charset="0"/>
                <a:cs typeface="Times New Roman" panose="02020603050405020304" pitchFamily="18" charset="0"/>
              </a:rPr>
              <a:t>l modelo en variables de estado queda expresado como:</a:t>
            </a:r>
          </a:p>
        </p:txBody>
      </p:sp>
      <p:sp>
        <p:nvSpPr>
          <p:cNvPr id="19" name="Rectangle 8">
            <a:extLst>
              <a:ext uri="{FF2B5EF4-FFF2-40B4-BE49-F238E27FC236}">
                <a16:creationId xmlns:a16="http://schemas.microsoft.com/office/drawing/2014/main" id="{FCB513D3-31CD-4B07-8F01-4A364FBDBBE5}"/>
              </a:ext>
            </a:extLst>
          </p:cNvPr>
          <p:cNvSpPr/>
          <p:nvPr/>
        </p:nvSpPr>
        <p:spPr>
          <a:xfrm>
            <a:off x="274320" y="4389015"/>
            <a:ext cx="11430000" cy="651909"/>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0" name="TextBox 9">
                <a:extLst>
                  <a:ext uri="{FF2B5EF4-FFF2-40B4-BE49-F238E27FC236}">
                    <a16:creationId xmlns:a16="http://schemas.microsoft.com/office/drawing/2014/main" id="{AABF1CCB-2941-4612-AF66-AE8F9E40FB3B}"/>
                  </a:ext>
                </a:extLst>
              </p:cNvPr>
              <p:cNvSpPr txBox="1"/>
              <p:nvPr/>
            </p:nvSpPr>
            <p:spPr>
              <a:xfrm>
                <a:off x="-215874" y="4389015"/>
                <a:ext cx="4627618" cy="6519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sub>
                                    <m:r>
                                      <a:rPr lang="es-AR" sz="1400" i="1">
                                        <a:latin typeface="Cambria Math" panose="02040503050406030204" pitchFamily="18" charset="0"/>
                                      </a:rPr>
                                      <m:t>1</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2</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sub>
                                    <m:r>
                                      <a:rPr lang="es-AR" sz="1400" i="1">
                                        <a:latin typeface="Cambria Math" panose="02040503050406030204" pitchFamily="18" charset="0"/>
                                      </a:rPr>
                                      <m:t>2</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𝑛</m:t>
                                    </m:r>
                                  </m:sub>
                                  <m:sup>
                                    <m:r>
                                      <a:rPr lang="es-AR" sz="1400" i="1">
                                        <a:latin typeface="Cambria Math" panose="02040503050406030204" pitchFamily="18" charset="0"/>
                                      </a:rPr>
                                      <m:t>2</m:t>
                                    </m:r>
                                  </m:sup>
                                </m:sSub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1</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2</m:t>
                                </m:r>
                                <m:r>
                                  <a:rPr lang="es-AR" sz="1400" i="1">
                                    <a:latin typeface="Cambria Math" panose="02040503050406030204" pitchFamily="18" charset="0"/>
                                  </a:rPr>
                                  <m:t> </m:t>
                                </m:r>
                                <m:r>
                                  <m:rPr>
                                    <m:sty m:val="p"/>
                                  </m:rPr>
                                  <a:rPr lang="es-AR" sz="1400">
                                    <a:latin typeface="Cambria Math" panose="02040503050406030204" pitchFamily="18" charset="0"/>
                                  </a:rPr>
                                  <m:t>ξ</m:t>
                                </m:r>
                                <m:r>
                                  <a:rPr lang="es-AR" sz="1400" i="1">
                                    <a:latin typeface="Cambria Math" panose="02040503050406030204" pitchFamily="18" charset="0"/>
                                  </a:rPr>
                                  <m:t> </m:t>
                                </m:r>
                                <m:sSub>
                                  <m:sSubPr>
                                    <m:ctrlPr>
                                      <a:rPr lang="es-AR" sz="1400" i="1">
                                        <a:latin typeface="Cambria Math" panose="02040503050406030204" pitchFamily="18" charset="0"/>
                                      </a:rPr>
                                    </m:ctrlPr>
                                  </m:sSubPr>
                                  <m:e>
                                    <m:r>
                                      <m:rPr>
                                        <m:sty m:val="p"/>
                                      </m:rPr>
                                      <a:rPr lang="es-AR" sz="1400">
                                        <a:latin typeface="Cambria Math" panose="02040503050406030204" pitchFamily="18" charset="0"/>
                                      </a:rPr>
                                      <m:t>ω</m:t>
                                    </m:r>
                                  </m:e>
                                  <m:sub>
                                    <m:r>
                                      <a:rPr lang="es-AR" sz="1400" i="1">
                                        <a:latin typeface="Cambria Math" panose="02040503050406030204" pitchFamily="18" charset="0"/>
                                      </a:rPr>
                                      <m:t>𝑛</m:t>
                                    </m:r>
                                  </m:sub>
                                </m:sSub>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2</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𝑛</m:t>
                                    </m:r>
                                  </m:sub>
                                  <m:sup>
                                    <m:r>
                                      <a:rPr lang="es-AR" sz="1400" i="1">
                                        <a:latin typeface="Cambria Math" panose="02040503050406030204" pitchFamily="18" charset="0"/>
                                      </a:rPr>
                                      <m:t>2</m:t>
                                    </m:r>
                                  </m:sup>
                                </m:sSubSup>
                                <m:r>
                                  <a:rPr lang="es-AR" sz="1400" i="1">
                                    <a:latin typeface="Cambria Math" panose="02040503050406030204" pitchFamily="18" charset="0"/>
                                  </a:rPr>
                                  <m:t> </m:t>
                                </m:r>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d>
                    </m:oMath>
                  </m:oMathPara>
                </a14:m>
                <a:endParaRPr sz="1100" b="1" dirty="0">
                  <a:solidFill>
                    <a:srgbClr val="1B6B2A"/>
                  </a:solidFill>
                  <a:latin typeface="Calibri"/>
                </a:endParaRPr>
              </a:p>
            </p:txBody>
          </p:sp>
        </mc:Choice>
        <mc:Fallback xmlns="">
          <p:sp>
            <p:nvSpPr>
              <p:cNvPr id="20" name="TextBox 9">
                <a:extLst>
                  <a:ext uri="{FF2B5EF4-FFF2-40B4-BE49-F238E27FC236}">
                    <a16:creationId xmlns:a16="http://schemas.microsoft.com/office/drawing/2014/main" id="{AABF1CCB-2941-4612-AF66-AE8F9E40FB3B}"/>
                  </a:ext>
                </a:extLst>
              </p:cNvPr>
              <p:cNvSpPr txBox="1">
                <a:spLocks noRot="1" noChangeAspect="1" noMove="1" noResize="1" noEditPoints="1" noAdjustHandles="1" noChangeArrowheads="1" noChangeShapeType="1" noTextEdit="1"/>
              </p:cNvSpPr>
              <p:nvPr/>
            </p:nvSpPr>
            <p:spPr>
              <a:xfrm>
                <a:off x="-215874" y="4389015"/>
                <a:ext cx="4627618" cy="651910"/>
              </a:xfrm>
              <a:prstGeom prst="rect">
                <a:avLst/>
              </a:prstGeom>
              <a:blipFill>
                <a:blip r:embed="rId6"/>
                <a:stretch>
                  <a:fillRect/>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A13DA14F-329A-4BAE-9092-E3E33EFA7F8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7" name="Text 3">
            <a:extLst>
              <a:ext uri="{FF2B5EF4-FFF2-40B4-BE49-F238E27FC236}">
                <a16:creationId xmlns:a16="http://schemas.microsoft.com/office/drawing/2014/main" id="{01DC0182-6FE6-425C-A178-6591D2A8459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058"/>
            <a:ext cx="11551615" cy="658368"/>
          </a:xfrm>
          <a:prstGeom prst="rect">
            <a:avLst/>
          </a:prstGeom>
          <a:noFill/>
        </p:spPr>
        <p:txBody>
          <a:bodyPr wrap="none">
            <a:spAutoFit/>
          </a:bodyPr>
          <a:lstStyle/>
          <a:p>
            <a:pPr algn="l"/>
            <a:r>
              <a:rPr sz="2100" b="1" dirty="0" err="1">
                <a:solidFill>
                  <a:srgbClr val="FFFFFF"/>
                </a:solidFill>
                <a:latin typeface="Cambria"/>
              </a:rPr>
              <a:t>Sensores</a:t>
            </a:r>
            <a:r>
              <a:rPr sz="2100" b="1" dirty="0">
                <a:solidFill>
                  <a:srgbClr val="FFFFFF"/>
                </a:solidFill>
                <a:latin typeface="Cambria"/>
              </a:rPr>
              <a:t> no </a:t>
            </a:r>
            <a:r>
              <a:rPr sz="2100" b="1" dirty="0" err="1">
                <a:solidFill>
                  <a:srgbClr val="FFFFFF"/>
                </a:solidFill>
                <a:latin typeface="Cambria"/>
              </a:rPr>
              <a:t>ideales</a:t>
            </a:r>
            <a:r>
              <a:rPr sz="2100" b="1" dirty="0">
                <a:solidFill>
                  <a:srgbClr val="FFFFFF"/>
                </a:solidFill>
                <a:latin typeface="Cambria"/>
              </a:rPr>
              <a:t> — </a:t>
            </a:r>
            <a:r>
              <a:rPr sz="2100" b="1" dirty="0" err="1">
                <a:solidFill>
                  <a:srgbClr val="FFFFFF"/>
                </a:solidFill>
                <a:latin typeface="Cambria"/>
              </a:rPr>
              <a:t>Modelos</a:t>
            </a:r>
            <a:r>
              <a:rPr sz="2100" b="1" dirty="0">
                <a:solidFill>
                  <a:srgbClr val="FFFFFF"/>
                </a:solidFill>
                <a:latin typeface="Cambria"/>
              </a:rPr>
              <a:t> y </a:t>
            </a:r>
            <a:r>
              <a:rPr sz="2100" b="1" dirty="0" err="1">
                <a:solidFill>
                  <a:srgbClr val="FFFFFF"/>
                </a:solidFill>
                <a:latin typeface="Cambria"/>
              </a:rPr>
              <a:t>análisis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pic>
        <p:nvPicPr>
          <p:cNvPr id="23" name="Imagen 22">
            <a:extLst>
              <a:ext uri="{FF2B5EF4-FFF2-40B4-BE49-F238E27FC236}">
                <a16:creationId xmlns:a16="http://schemas.microsoft.com/office/drawing/2014/main" id="{D06B7EBC-F8B2-4886-98A5-19EC4A309517}"/>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995015" y="925403"/>
            <a:ext cx="6781078" cy="3406807"/>
          </a:xfrm>
          <a:prstGeom prst="rect">
            <a:avLst/>
          </a:prstGeom>
        </p:spPr>
      </p:pic>
      <p:sp>
        <p:nvSpPr>
          <p:cNvPr id="24" name="CuadroTexto 23">
            <a:extLst>
              <a:ext uri="{FF2B5EF4-FFF2-40B4-BE49-F238E27FC236}">
                <a16:creationId xmlns:a16="http://schemas.microsoft.com/office/drawing/2014/main" id="{370C1F28-5AE7-4AB8-ACA3-4295C70EF545}"/>
              </a:ext>
            </a:extLst>
          </p:cNvPr>
          <p:cNvSpPr txBox="1"/>
          <p:nvPr/>
        </p:nvSpPr>
        <p:spPr>
          <a:xfrm>
            <a:off x="3956905" y="4332210"/>
            <a:ext cx="4547015"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63— Sensor no ideal genérico</a:t>
            </a:r>
          </a:p>
          <a:p>
            <a:endParaRPr lang="es-AR" dirty="0"/>
          </a:p>
        </p:txBody>
      </p:sp>
      <p:sp>
        <p:nvSpPr>
          <p:cNvPr id="9" name="Shape 2">
            <a:extLst>
              <a:ext uri="{FF2B5EF4-FFF2-40B4-BE49-F238E27FC236}">
                <a16:creationId xmlns:a16="http://schemas.microsoft.com/office/drawing/2014/main" id="{3B1129F7-0672-4BA0-9D9F-9C7BC2EAD1E0}"/>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97DF94D9-6FB6-458F-A15F-3B82DCC9734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46977142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058"/>
            <a:ext cx="11551615" cy="658368"/>
          </a:xfrm>
          <a:prstGeom prst="rect">
            <a:avLst/>
          </a:prstGeom>
          <a:noFill/>
        </p:spPr>
        <p:txBody>
          <a:bodyPr wrap="none">
            <a:spAutoFit/>
          </a:bodyPr>
          <a:lstStyle/>
          <a:p>
            <a:pPr algn="l"/>
            <a:r>
              <a:rPr sz="2100" b="1" dirty="0" err="1">
                <a:solidFill>
                  <a:srgbClr val="FFFFFF"/>
                </a:solidFill>
                <a:latin typeface="Cambria"/>
              </a:rPr>
              <a:t>Sensores</a:t>
            </a:r>
            <a:r>
              <a:rPr sz="2100" b="1" dirty="0">
                <a:solidFill>
                  <a:srgbClr val="FFFFFF"/>
                </a:solidFill>
                <a:latin typeface="Cambria"/>
              </a:rPr>
              <a:t> no </a:t>
            </a:r>
            <a:r>
              <a:rPr sz="2100" b="1" dirty="0" err="1">
                <a:solidFill>
                  <a:srgbClr val="FFFFFF"/>
                </a:solidFill>
                <a:latin typeface="Cambria"/>
              </a:rPr>
              <a:t>ideales</a:t>
            </a:r>
            <a:r>
              <a:rPr sz="2100" b="1" dirty="0">
                <a:solidFill>
                  <a:srgbClr val="FFFFFF"/>
                </a:solidFill>
                <a:latin typeface="Cambria"/>
              </a:rPr>
              <a:t> — </a:t>
            </a:r>
            <a:r>
              <a:rPr sz="2100" b="1" dirty="0" err="1">
                <a:solidFill>
                  <a:srgbClr val="FFFFFF"/>
                </a:solidFill>
                <a:latin typeface="Cambria"/>
              </a:rPr>
              <a:t>Modelos</a:t>
            </a:r>
            <a:r>
              <a:rPr sz="2100" b="1" dirty="0">
                <a:solidFill>
                  <a:srgbClr val="FFFFFF"/>
                </a:solidFill>
                <a:latin typeface="Cambria"/>
              </a:rPr>
              <a:t> y </a:t>
            </a:r>
            <a:r>
              <a:rPr sz="2100" b="1" dirty="0" err="1">
                <a:solidFill>
                  <a:srgbClr val="FFFFFF"/>
                </a:solidFill>
                <a:latin typeface="Cambria"/>
              </a:rPr>
              <a:t>análisis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sp>
        <p:nvSpPr>
          <p:cNvPr id="10" name="CuadroTexto 9">
            <a:extLst>
              <a:ext uri="{FF2B5EF4-FFF2-40B4-BE49-F238E27FC236}">
                <a16:creationId xmlns:a16="http://schemas.microsoft.com/office/drawing/2014/main" id="{AB7E7514-4C42-40A5-AFB9-F56693077EAF}"/>
              </a:ext>
            </a:extLst>
          </p:cNvPr>
          <p:cNvSpPr txBox="1"/>
          <p:nvPr/>
        </p:nvSpPr>
        <p:spPr>
          <a:xfrm>
            <a:off x="114067" y="719820"/>
            <a:ext cx="11757119" cy="543162"/>
          </a:xfrm>
          <a:prstGeom prst="rect">
            <a:avLst/>
          </a:prstGeom>
          <a:noFill/>
        </p:spPr>
        <p:txBody>
          <a:bodyPr wrap="square">
            <a:spAutoFit/>
          </a:bodyPr>
          <a:lstStyle/>
          <a:p>
            <a:pPr algn="just">
              <a:lnSpc>
                <a:spcPct val="107000"/>
              </a:lnSpc>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Por otro lado, el sensor de temperatura se modela mediante un sistema de primer orden, que permite representar su dinámica térmica con una única constante de tiempo. La ecuación diferencial adoptada es:</a:t>
            </a:r>
          </a:p>
        </p:txBody>
      </p:sp>
      <p:sp>
        <p:nvSpPr>
          <p:cNvPr id="11" name="Rectangle 8">
            <a:extLst>
              <a:ext uri="{FF2B5EF4-FFF2-40B4-BE49-F238E27FC236}">
                <a16:creationId xmlns:a16="http://schemas.microsoft.com/office/drawing/2014/main" id="{516C9081-549D-4288-809A-F0DAC88D231E}"/>
              </a:ext>
            </a:extLst>
          </p:cNvPr>
          <p:cNvSpPr/>
          <p:nvPr/>
        </p:nvSpPr>
        <p:spPr>
          <a:xfrm>
            <a:off x="160255" y="1274588"/>
            <a:ext cx="11430000" cy="58642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9">
                <a:extLst>
                  <a:ext uri="{FF2B5EF4-FFF2-40B4-BE49-F238E27FC236}">
                    <a16:creationId xmlns:a16="http://schemas.microsoft.com/office/drawing/2014/main" id="{A6840038-83C3-49B0-864C-376768B8098A}"/>
                  </a:ext>
                </a:extLst>
              </p:cNvPr>
              <p:cNvSpPr txBox="1"/>
              <p:nvPr/>
            </p:nvSpPr>
            <p:spPr>
              <a:xfrm>
                <a:off x="-292231" y="1287668"/>
                <a:ext cx="3516198" cy="5300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a:latin typeface="Cambria Math" panose="02040503050406030204" pitchFamily="18" charset="0"/>
                        </a:rPr>
                        <m:t>𝜏</m:t>
                      </m:r>
                      <m:r>
                        <a:rPr lang="es-AR" sz="1400" i="1">
                          <a:latin typeface="Cambria Math" panose="02040503050406030204" pitchFamily="18" charset="0"/>
                        </a:rPr>
                        <m:t> </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𝑒𝑛𝑡𝑟𝑎𝑑𝑎</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m:oMathPara>
                </a14:m>
                <a:endParaRPr sz="1100" b="1" dirty="0">
                  <a:solidFill>
                    <a:srgbClr val="1B6B2A"/>
                  </a:solidFill>
                  <a:latin typeface="Calibri"/>
                </a:endParaRPr>
              </a:p>
            </p:txBody>
          </p:sp>
        </mc:Choice>
        <mc:Fallback xmlns="">
          <p:sp>
            <p:nvSpPr>
              <p:cNvPr id="12" name="TextBox 9">
                <a:extLst>
                  <a:ext uri="{FF2B5EF4-FFF2-40B4-BE49-F238E27FC236}">
                    <a16:creationId xmlns:a16="http://schemas.microsoft.com/office/drawing/2014/main" id="{A6840038-83C3-49B0-864C-376768B8098A}"/>
                  </a:ext>
                </a:extLst>
              </p:cNvPr>
              <p:cNvSpPr txBox="1">
                <a:spLocks noRot="1" noChangeAspect="1" noMove="1" noResize="1" noEditPoints="1" noAdjustHandles="1" noChangeArrowheads="1" noChangeShapeType="1" noTextEdit="1"/>
              </p:cNvSpPr>
              <p:nvPr/>
            </p:nvSpPr>
            <p:spPr>
              <a:xfrm>
                <a:off x="-292231" y="1287668"/>
                <a:ext cx="3516198" cy="530082"/>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0C257C2-42F3-4591-9B1A-4B959A44FEA8}"/>
                  </a:ext>
                </a:extLst>
              </p:cNvPr>
              <p:cNvSpPr txBox="1"/>
              <p:nvPr/>
            </p:nvSpPr>
            <p:spPr>
              <a:xfrm>
                <a:off x="155542" y="1910386"/>
                <a:ext cx="11849493" cy="322974"/>
              </a:xfrm>
              <a:prstGeom prst="rect">
                <a:avLst/>
              </a:prstGeom>
              <a:noFill/>
            </p:spPr>
            <p:txBody>
              <a:bodyPr wrap="square">
                <a:spAutoFit/>
              </a:bodyPr>
              <a:lstStyle/>
              <a:p>
                <a:pPr algn="just">
                  <a:lnSpc>
                    <a:spcPct val="107000"/>
                  </a:lnSpc>
                  <a:spcBef>
                    <a:spcPts val="600"/>
                  </a:spcBef>
                  <a:spcAft>
                    <a:spcPts val="800"/>
                  </a:spcAft>
                </a:pPr>
                <a:r>
                  <a:rPr lang="es-AR" sz="1400" dirty="0">
                    <a:latin typeface="Calibri" panose="020F0502020204030204" pitchFamily="34" charset="0"/>
                    <a:ea typeface="Calibri" panose="020F0502020204030204" pitchFamily="34" charset="0"/>
                    <a:cs typeface="Times New Roman" panose="02020603050405020304" pitchFamily="18" charset="0"/>
                  </a:rPr>
                  <a:t>D</a:t>
                </a:r>
                <a:r>
                  <a:rPr lang="es-AR" sz="1400" dirty="0">
                    <a:effectLst/>
                    <a:latin typeface="Calibri" panose="020F0502020204030204" pitchFamily="34" charset="0"/>
                    <a:ea typeface="Calibri" panose="020F0502020204030204" pitchFamily="34" charset="0"/>
                    <a:cs typeface="Times New Roman" panose="02020603050405020304" pitchFamily="18" charset="0"/>
                  </a:rPr>
                  <a:t>onde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 la temperatura medida por el sensor,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𝑒𝑛𝑡𝑟𝑎𝑑𝑎</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 la temperatura real aplicada y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 la constante de tiempo del sensor.</a:t>
                </a:r>
              </a:p>
            </p:txBody>
          </p:sp>
        </mc:Choice>
        <mc:Fallback xmlns="">
          <p:sp>
            <p:nvSpPr>
              <p:cNvPr id="14" name="CuadroTexto 13">
                <a:extLst>
                  <a:ext uri="{FF2B5EF4-FFF2-40B4-BE49-F238E27FC236}">
                    <a16:creationId xmlns:a16="http://schemas.microsoft.com/office/drawing/2014/main" id="{80C257C2-42F3-4591-9B1A-4B959A44FEA8}"/>
                  </a:ext>
                </a:extLst>
              </p:cNvPr>
              <p:cNvSpPr txBox="1">
                <a:spLocks noRot="1" noChangeAspect="1" noMove="1" noResize="1" noEditPoints="1" noAdjustHandles="1" noChangeArrowheads="1" noChangeShapeType="1" noTextEdit="1"/>
              </p:cNvSpPr>
              <p:nvPr/>
            </p:nvSpPr>
            <p:spPr>
              <a:xfrm>
                <a:off x="155542" y="1910386"/>
                <a:ext cx="11849493" cy="322974"/>
              </a:xfrm>
              <a:prstGeom prst="rect">
                <a:avLst/>
              </a:prstGeom>
              <a:blipFill>
                <a:blip r:embed="rId4"/>
                <a:stretch>
                  <a:fillRect l="-154" b="-20755"/>
                </a:stretch>
              </a:blipFill>
            </p:spPr>
            <p:txBody>
              <a:bodyPr/>
              <a:lstStyle/>
              <a:p>
                <a:r>
                  <a:rPr lang="es-AR">
                    <a:noFill/>
                  </a:rPr>
                  <a:t> </a:t>
                </a:r>
              </a:p>
            </p:txBody>
          </p:sp>
        </mc:Fallback>
      </mc:AlternateContent>
      <p:sp>
        <p:nvSpPr>
          <p:cNvPr id="15" name="Rectangle 8">
            <a:extLst>
              <a:ext uri="{FF2B5EF4-FFF2-40B4-BE49-F238E27FC236}">
                <a16:creationId xmlns:a16="http://schemas.microsoft.com/office/drawing/2014/main" id="{4B504761-5413-425A-A90B-BE1D7ADDB43E}"/>
              </a:ext>
            </a:extLst>
          </p:cNvPr>
          <p:cNvSpPr/>
          <p:nvPr/>
        </p:nvSpPr>
        <p:spPr>
          <a:xfrm>
            <a:off x="155542" y="2274943"/>
            <a:ext cx="11430000" cy="58642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6" name="TextBox 9">
                <a:extLst>
                  <a:ext uri="{FF2B5EF4-FFF2-40B4-BE49-F238E27FC236}">
                    <a16:creationId xmlns:a16="http://schemas.microsoft.com/office/drawing/2014/main" id="{98529C54-C0AE-4E7B-813F-28F9139CE5E7}"/>
                  </a:ext>
                </a:extLst>
              </p:cNvPr>
              <p:cNvSpPr txBox="1"/>
              <p:nvPr/>
            </p:nvSpPr>
            <p:spPr>
              <a:xfrm>
                <a:off x="0" y="2306367"/>
                <a:ext cx="3516198" cy="5300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20</m:t>
                          </m:r>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20</m:t>
                          </m:r>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𝑒𝑛𝑡𝑟𝑎𝑑𝑎</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m:oMathPara>
                </a14:m>
                <a:endParaRPr sz="1000" b="1" dirty="0">
                  <a:solidFill>
                    <a:srgbClr val="1B6B2A"/>
                  </a:solidFill>
                  <a:latin typeface="Calibri"/>
                </a:endParaRPr>
              </a:p>
            </p:txBody>
          </p:sp>
        </mc:Choice>
        <mc:Fallback xmlns="">
          <p:sp>
            <p:nvSpPr>
              <p:cNvPr id="16" name="TextBox 9">
                <a:extLst>
                  <a:ext uri="{FF2B5EF4-FFF2-40B4-BE49-F238E27FC236}">
                    <a16:creationId xmlns:a16="http://schemas.microsoft.com/office/drawing/2014/main" id="{98529C54-C0AE-4E7B-813F-28F9139CE5E7}"/>
                  </a:ext>
                </a:extLst>
              </p:cNvPr>
              <p:cNvSpPr txBox="1">
                <a:spLocks noRot="1" noChangeAspect="1" noMove="1" noResize="1" noEditPoints="1" noAdjustHandles="1" noChangeArrowheads="1" noChangeShapeType="1" noTextEdit="1"/>
              </p:cNvSpPr>
              <p:nvPr/>
            </p:nvSpPr>
            <p:spPr>
              <a:xfrm>
                <a:off x="0" y="2306367"/>
                <a:ext cx="3516198" cy="530082"/>
              </a:xfrm>
              <a:prstGeom prst="rect">
                <a:avLst/>
              </a:prstGeom>
              <a:blipFill>
                <a:blip r:embed="rId5"/>
                <a:stretch>
                  <a:fillRect/>
                </a:stretch>
              </a:blipFill>
            </p:spPr>
            <p:txBody>
              <a:bodyPr/>
              <a:lstStyle/>
              <a:p>
                <a:r>
                  <a:rPr lang="es-AR">
                    <a:noFill/>
                  </a:rPr>
                  <a:t> </a:t>
                </a:r>
              </a:p>
            </p:txBody>
          </p:sp>
        </mc:Fallback>
      </mc:AlternateContent>
      <p:pic>
        <p:nvPicPr>
          <p:cNvPr id="17" name="Imagen 16">
            <a:extLst>
              <a:ext uri="{FF2B5EF4-FFF2-40B4-BE49-F238E27FC236}">
                <a16:creationId xmlns:a16="http://schemas.microsoft.com/office/drawing/2014/main" id="{28C6A5E9-7B96-48DA-B82C-E48E5E2C326E}"/>
              </a:ext>
            </a:extLst>
          </p:cNvPr>
          <p:cNvPicPr/>
          <p:nvPr/>
        </p:nvPicPr>
        <p:blipFill>
          <a:blip r:embed="rId6">
            <a:extLst>
              <a:ext uri="{28A0092B-C50C-407E-A947-70E740481C1C}">
                <a14:useLocalDpi xmlns:a14="http://schemas.microsoft.com/office/drawing/2010/main" val="0"/>
              </a:ext>
            </a:extLst>
          </a:blip>
          <a:stretch>
            <a:fillRect/>
          </a:stretch>
        </p:blipFill>
        <p:spPr>
          <a:xfrm>
            <a:off x="2432933" y="3117295"/>
            <a:ext cx="6937309" cy="2213113"/>
          </a:xfrm>
          <a:prstGeom prst="rect">
            <a:avLst/>
          </a:prstGeom>
        </p:spPr>
      </p:pic>
      <p:sp>
        <p:nvSpPr>
          <p:cNvPr id="19" name="CuadroTexto 18">
            <a:extLst>
              <a:ext uri="{FF2B5EF4-FFF2-40B4-BE49-F238E27FC236}">
                <a16:creationId xmlns:a16="http://schemas.microsoft.com/office/drawing/2014/main" id="{0E3283E1-195A-411E-B01D-4C59F7B7931E}"/>
              </a:ext>
            </a:extLst>
          </p:cNvPr>
          <p:cNvSpPr txBox="1"/>
          <p:nvPr/>
        </p:nvSpPr>
        <p:spPr>
          <a:xfrm>
            <a:off x="4495647" y="5266716"/>
            <a:ext cx="4547015"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65— Sensor de temperatura</a:t>
            </a:r>
          </a:p>
          <a:p>
            <a:endParaRPr lang="es-AR" dirty="0"/>
          </a:p>
        </p:txBody>
      </p:sp>
      <p:sp>
        <p:nvSpPr>
          <p:cNvPr id="18" name="Shape 2">
            <a:extLst>
              <a:ext uri="{FF2B5EF4-FFF2-40B4-BE49-F238E27FC236}">
                <a16:creationId xmlns:a16="http://schemas.microsoft.com/office/drawing/2014/main" id="{FBA580B0-2C99-4F47-8075-B9ADB5C2243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0946DC70-B070-4E6C-B1D9-0A1D5EA3714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38053470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sp>
        <p:nvSpPr>
          <p:cNvPr id="19" name="CuadroTexto 18">
            <a:extLst>
              <a:ext uri="{FF2B5EF4-FFF2-40B4-BE49-F238E27FC236}">
                <a16:creationId xmlns:a16="http://schemas.microsoft.com/office/drawing/2014/main" id="{0E3283E1-195A-411E-B01D-4C59F7B7931E}"/>
              </a:ext>
            </a:extLst>
          </p:cNvPr>
          <p:cNvSpPr txBox="1"/>
          <p:nvPr/>
        </p:nvSpPr>
        <p:spPr>
          <a:xfrm>
            <a:off x="0" y="6009001"/>
            <a:ext cx="454701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66— Bloques de sensores no ideales</a:t>
            </a:r>
          </a:p>
        </p:txBody>
      </p:sp>
      <p:pic>
        <p:nvPicPr>
          <p:cNvPr id="18" name="Imagen 17">
            <a:extLst>
              <a:ext uri="{FF2B5EF4-FFF2-40B4-BE49-F238E27FC236}">
                <a16:creationId xmlns:a16="http://schemas.microsoft.com/office/drawing/2014/main" id="{BFF90303-F127-45F4-8940-6A5C1C956928}"/>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779803"/>
            <a:ext cx="2906054" cy="5107763"/>
          </a:xfrm>
          <a:prstGeom prst="rect">
            <a:avLst/>
          </a:prstGeom>
        </p:spPr>
      </p:pic>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A471200D-02B9-475D-9F27-6DEF9B504CA0}"/>
                  </a:ext>
                </a:extLst>
              </p:cNvPr>
              <p:cNvSpPr txBox="1"/>
              <p:nvPr/>
            </p:nvSpPr>
            <p:spPr>
              <a:xfrm>
                <a:off x="2906054" y="769861"/>
                <a:ext cx="8357730" cy="366575"/>
              </a:xfrm>
              <a:prstGeom prst="rect">
                <a:avLst/>
              </a:prstGeom>
              <a:noFill/>
            </p:spPr>
            <p:txBody>
              <a:bodyPr wrap="square">
                <a:spAutoFit/>
              </a:bodyPr>
              <a:lstStyle/>
              <a:p>
                <a:pPr algn="just">
                  <a:lnSpc>
                    <a:spcPct val="107000"/>
                  </a:lnSpc>
                  <a:spcBef>
                    <a:spcPts val="1800"/>
                  </a:spcBef>
                  <a:spcAft>
                    <a:spcPts val="1800"/>
                  </a:spcAft>
                </a:pPr>
                <a:r>
                  <a:rPr lang="es-MX" sz="1400" b="0" dirty="0">
                    <a:effectLst/>
                    <a:ea typeface="Calibri" panose="020F0502020204030204" pitchFamily="34" charset="0"/>
                    <a:cs typeface="Times New Roman" panose="02020603050405020304" pitchFamily="18" charset="0"/>
                  </a:rPr>
                  <a:t>Para</a:t>
                </a:r>
                <a14:m>
                  <m:oMath xmlns:m="http://schemas.openxmlformats.org/officeDocument/2006/math">
                    <m: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r>
                              <a:rPr lang="es-MX" sz="1400" b="0" i="1" smtClean="0">
                                <a:effectLst/>
                                <a:latin typeface="Cambria Math" panose="02040503050406030204" pitchFamily="18" charset="0"/>
                                <a:ea typeface="Calibri" panose="020F0502020204030204" pitchFamily="34" charset="0"/>
                                <a:cs typeface="Times New Roman" panose="02020603050405020304" pitchFamily="18" charset="0"/>
                              </a:rPr>
                              <m:t>𝑜𝑠</m:t>
                            </m:r>
                          </m:sub>
                        </m:sSub>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2000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𝑟𝑎𝑑</m:t>
                    </m:r>
                    <m:r>
                      <m:rPr>
                        <m:lit/>
                      </m:rP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𝑐</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𝑜𝑟𝑟𝑖𝑒𝑛𝑡𝑒</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6000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𝑟𝑎𝑑</m:t>
                    </m:r>
                    <m:r>
                      <m:rPr>
                        <m:lit/>
                      </m:rP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20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a:t>
                </a:r>
                <a:r>
                  <a:rPr lang="es-AR" sz="1400" dirty="0">
                    <a:effectLst/>
                    <a:latin typeface="Calibri" panose="020F0502020204030204" pitchFamily="34" charset="0"/>
                    <a:ea typeface="Calibri" panose="020F0502020204030204" pitchFamily="34" charset="0"/>
                    <a:cs typeface="Times New Roman" panose="02020603050405020304" pitchFamily="18" charset="0"/>
                  </a:rPr>
                  <a:t> se obtienen las siguientes gráficas:</a:t>
                </a:r>
              </a:p>
            </p:txBody>
          </p:sp>
        </mc:Choice>
        <mc:Fallback xmlns="">
          <p:sp>
            <p:nvSpPr>
              <p:cNvPr id="20" name="CuadroTexto 19">
                <a:extLst>
                  <a:ext uri="{FF2B5EF4-FFF2-40B4-BE49-F238E27FC236}">
                    <a16:creationId xmlns:a16="http://schemas.microsoft.com/office/drawing/2014/main" id="{A471200D-02B9-475D-9F27-6DEF9B504CA0}"/>
                  </a:ext>
                </a:extLst>
              </p:cNvPr>
              <p:cNvSpPr txBox="1">
                <a:spLocks noRot="1" noChangeAspect="1" noMove="1" noResize="1" noEditPoints="1" noAdjustHandles="1" noChangeArrowheads="1" noChangeShapeType="1" noTextEdit="1"/>
              </p:cNvSpPr>
              <p:nvPr/>
            </p:nvSpPr>
            <p:spPr>
              <a:xfrm>
                <a:off x="2906054" y="769861"/>
                <a:ext cx="8357730" cy="366575"/>
              </a:xfrm>
              <a:prstGeom prst="rect">
                <a:avLst/>
              </a:prstGeom>
              <a:blipFill>
                <a:blip r:embed="rId4"/>
                <a:stretch>
                  <a:fillRect l="-219" b="-8333"/>
                </a:stretch>
              </a:blipFill>
            </p:spPr>
            <p:txBody>
              <a:bodyPr/>
              <a:lstStyle/>
              <a:p>
                <a:r>
                  <a:rPr lang="es-AR">
                    <a:noFill/>
                  </a:rPr>
                  <a:t> </a:t>
                </a:r>
              </a:p>
            </p:txBody>
          </p:sp>
        </mc:Fallback>
      </mc:AlternateContent>
      <p:pic>
        <p:nvPicPr>
          <p:cNvPr id="21" name="Imagen 20">
            <a:extLst>
              <a:ext uri="{FF2B5EF4-FFF2-40B4-BE49-F238E27FC236}">
                <a16:creationId xmlns:a16="http://schemas.microsoft.com/office/drawing/2014/main" id="{F52F62D5-6C5C-4F56-9D00-ABD9926F4C74}"/>
              </a:ext>
            </a:extLst>
          </p:cNvPr>
          <p:cNvPicPr/>
          <p:nvPr/>
        </p:nvPicPr>
        <p:blipFill>
          <a:blip r:embed="rId5">
            <a:extLst>
              <a:ext uri="{28A0092B-C50C-407E-A947-70E740481C1C}">
                <a14:useLocalDpi xmlns:a14="http://schemas.microsoft.com/office/drawing/2010/main" val="0"/>
              </a:ext>
            </a:extLst>
          </a:blip>
          <a:stretch>
            <a:fillRect/>
          </a:stretch>
        </p:blipFill>
        <p:spPr>
          <a:xfrm>
            <a:off x="2793890" y="1267735"/>
            <a:ext cx="4671395" cy="3250102"/>
          </a:xfrm>
          <a:prstGeom prst="rect">
            <a:avLst/>
          </a:prstGeom>
        </p:spPr>
      </p:pic>
      <p:pic>
        <p:nvPicPr>
          <p:cNvPr id="22" name="Imagen 21">
            <a:extLst>
              <a:ext uri="{FF2B5EF4-FFF2-40B4-BE49-F238E27FC236}">
                <a16:creationId xmlns:a16="http://schemas.microsoft.com/office/drawing/2014/main" id="{5DC30182-38C3-4B95-B281-6E0BBF6E9898}"/>
              </a:ext>
            </a:extLst>
          </p:cNvPr>
          <p:cNvPicPr/>
          <p:nvPr/>
        </p:nvPicPr>
        <p:blipFill>
          <a:blip r:embed="rId6">
            <a:extLst>
              <a:ext uri="{28A0092B-C50C-407E-A947-70E740481C1C}">
                <a14:useLocalDpi xmlns:a14="http://schemas.microsoft.com/office/drawing/2010/main" val="0"/>
              </a:ext>
            </a:extLst>
          </a:blip>
          <a:stretch>
            <a:fillRect/>
          </a:stretch>
        </p:blipFill>
        <p:spPr>
          <a:xfrm>
            <a:off x="7515861" y="1267735"/>
            <a:ext cx="4671395" cy="3194988"/>
          </a:xfrm>
          <a:prstGeom prst="rect">
            <a:avLst/>
          </a:prstGeom>
        </p:spPr>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3289363" y="4462723"/>
                <a:ext cx="4040254" cy="276742"/>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67—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m:t>
                    </m:r>
                    <m:r>
                      <a:rPr lang="es-AR">
                        <a:latin typeface="Cambria Math" panose="02040503050406030204" pitchFamily="18" charset="0"/>
                      </a:rPr>
                      <m:t>2000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3289363" y="4462723"/>
                <a:ext cx="4040254" cy="276742"/>
              </a:xfrm>
              <a:prstGeom prst="rect">
                <a:avLst/>
              </a:prstGeom>
              <a:blipFill>
                <a:blip r:embed="rId7"/>
                <a:stretch>
                  <a:fillRect b="-11111"/>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BC65AA96-C107-4A9B-8C3B-6F430F0CE1DC}"/>
                  </a:ext>
                </a:extLst>
              </p:cNvPr>
              <p:cNvSpPr txBox="1"/>
              <p:nvPr/>
            </p:nvSpPr>
            <p:spPr>
              <a:xfrm>
                <a:off x="8087408" y="4431368"/>
                <a:ext cx="4040254" cy="276742"/>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68—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m:t>
                    </m:r>
                    <m:r>
                      <a:rPr lang="es-AR">
                        <a:latin typeface="Cambria Math" panose="02040503050406030204" pitchFamily="18" charset="0"/>
                      </a:rPr>
                      <m:t>2000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4" name="CuadroTexto 23">
                <a:extLst>
                  <a:ext uri="{FF2B5EF4-FFF2-40B4-BE49-F238E27FC236}">
                    <a16:creationId xmlns:a16="http://schemas.microsoft.com/office/drawing/2014/main" id="{BC65AA96-C107-4A9B-8C3B-6F430F0CE1DC}"/>
                  </a:ext>
                </a:extLst>
              </p:cNvPr>
              <p:cNvSpPr txBox="1">
                <a:spLocks noRot="1" noChangeAspect="1" noMove="1" noResize="1" noEditPoints="1" noAdjustHandles="1" noChangeArrowheads="1" noChangeShapeType="1" noTextEdit="1"/>
              </p:cNvSpPr>
              <p:nvPr/>
            </p:nvSpPr>
            <p:spPr>
              <a:xfrm>
                <a:off x="8087408" y="4431368"/>
                <a:ext cx="4040254" cy="276742"/>
              </a:xfrm>
              <a:prstGeom prst="rect">
                <a:avLst/>
              </a:prstGeom>
              <a:blipFill>
                <a:blip r:embed="rId8"/>
                <a:stretch>
                  <a:fillRect b="-11111"/>
                </a:stretch>
              </a:blipFill>
            </p:spPr>
            <p:txBody>
              <a:bodyPr/>
              <a:lstStyle/>
              <a:p>
                <a:r>
                  <a:rPr lang="es-AR">
                    <a:noFill/>
                  </a:rPr>
                  <a:t> </a:t>
                </a:r>
              </a:p>
            </p:txBody>
          </p:sp>
        </mc:Fallback>
      </mc:AlternateContent>
      <p:sp>
        <p:nvSpPr>
          <p:cNvPr id="13" name="Shape 2">
            <a:extLst>
              <a:ext uri="{FF2B5EF4-FFF2-40B4-BE49-F238E27FC236}">
                <a16:creationId xmlns:a16="http://schemas.microsoft.com/office/drawing/2014/main" id="{973F290B-C0C6-467C-8EB9-CE00A9CDE38C}"/>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B0AA8044-5B87-40F3-955D-E7E28828787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0008135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CFF3FB85-0778-42B7-B56F-EEF1354A91C2}"/>
                  </a:ext>
                </a:extLst>
              </p:cNvPr>
              <p:cNvSpPr txBox="1"/>
              <p:nvPr/>
            </p:nvSpPr>
            <p:spPr>
              <a:xfrm>
                <a:off x="274320" y="5128388"/>
                <a:ext cx="12041171" cy="1477328"/>
              </a:xfrm>
              <a:prstGeom prst="rect">
                <a:avLst/>
              </a:prstGeom>
              <a:noFill/>
            </p:spPr>
            <p:txBody>
              <a:bodyPr wrap="square">
                <a:spAutoFit/>
              </a:bodyPr>
              <a:lstStyle/>
              <a:p>
                <a:r>
                  <a:rPr lang="es-AR" sz="1400" dirty="0"/>
                  <a:t>Se observa que el tiempo de simulación alcanzado es del orden de </a:t>
                </a:r>
                <a14:m>
                  <m:oMath xmlns:m="http://schemas.openxmlformats.org/officeDocument/2006/math">
                    <m:r>
                      <a:rPr lang="es-AR" sz="1400">
                        <a:latin typeface="Cambria Math" panose="02040503050406030204" pitchFamily="18" charset="0"/>
                      </a:rPr>
                      <m:t>𝑡</m:t>
                    </m:r>
                    <m:r>
                      <a:rPr lang="es-AR" sz="1400">
                        <a:latin typeface="Cambria Math" panose="02040503050406030204" pitchFamily="18" charset="0"/>
                      </a:rPr>
                      <m:t>=</m:t>
                    </m:r>
                    <m:r>
                      <a:rPr lang="es-AR" sz="1400">
                        <a:latin typeface="Cambria Math" panose="02040503050406030204" pitchFamily="18" charset="0"/>
                      </a:rPr>
                      <m:t>0</m:t>
                    </m:r>
                    <m:r>
                      <a:rPr lang="es-AR" sz="1400">
                        <a:latin typeface="Cambria Math" panose="02040503050406030204" pitchFamily="18" charset="0"/>
                      </a:rPr>
                      <m:t>.</m:t>
                    </m:r>
                    <m:r>
                      <a:rPr lang="es-AR" sz="1400">
                        <a:latin typeface="Cambria Math" panose="02040503050406030204" pitchFamily="18" charset="0"/>
                      </a:rPr>
                      <m:t>03</m:t>
                    </m:r>
                    <m:r>
                      <a:rPr lang="es-AR" sz="1400">
                        <a:latin typeface="Cambria Math" panose="02040503050406030204" pitchFamily="18" charset="0"/>
                      </a:rPr>
                      <m:t>𝑠</m:t>
                    </m:r>
                  </m:oMath>
                </a14:m>
                <a:r>
                  <a:rPr lang="es-MX" sz="1400" dirty="0"/>
                  <a:t>, debido a inestabilidades numéricas causadas por la rigidez del modelo: coexistencia de dinámicas muy rápidas y muy lentas que obligan al solver a usar pasos de integración extremadamente pequeños. Los filtros de sensores con parámetros iniciales no logran capturar adecuadamente las dinámicas rápidas, agravando el problema.</a:t>
                </a:r>
              </a:p>
              <a:p>
                <a:r>
                  <a:rPr lang="es-MX" sz="1400" b="1" dirty="0"/>
                  <a:t>Solución propuesta: </a:t>
                </a:r>
                <a:r>
                  <a:rPr lang="es-MX" sz="1400" dirty="0"/>
                  <a:t>incrementar las frecuencias de corte de los sensores, duplicando y triplicando </a:t>
                </a:r>
                <a14:m>
                  <m:oMath xmlns:m="http://schemas.openxmlformats.org/officeDocument/2006/math">
                    <m:sSub>
                      <m:sSubPr>
                        <m:ctrlPr>
                          <a:rPr lang="es-AR" sz="1400" i="1" smtClean="0">
                            <a:latin typeface="Cambria Math" panose="02040503050406030204" pitchFamily="18" charset="0"/>
                          </a:rPr>
                        </m:ctrlPr>
                      </m:sSubPr>
                      <m:e>
                        <m:r>
                          <a:rPr lang="es-AR" sz="1400">
                            <a:latin typeface="Cambria Math" panose="02040503050406030204" pitchFamily="18" charset="0"/>
                          </a:rPr>
                          <m:t>⍵</m:t>
                        </m:r>
                      </m:e>
                      <m:sub>
                        <m:r>
                          <a:rPr lang="es-AR" sz="1400">
                            <a:latin typeface="Cambria Math" panose="02040503050406030204" pitchFamily="18" charset="0"/>
                          </a:rPr>
                          <m:t>𝑛</m:t>
                        </m:r>
                      </m:sub>
                    </m:sSub>
                    <m:r>
                      <a:rPr lang="es-AR" sz="1400" i="1">
                        <a:latin typeface="Cambria Math" panose="02040503050406030204" pitchFamily="18" charset="0"/>
                      </a:rPr>
                      <m:t> </m:t>
                    </m:r>
                  </m:oMath>
                </a14:m>
                <a:r>
                  <a:rPr lang="es-MX" sz="1400" dirty="0"/>
                  <a:t>​en posición y corriente, y reduciendo la constante de tiempo </a:t>
                </a:r>
                <a:r>
                  <a:rPr lang="es-AR" sz="1400" noProof="0" dirty="0">
                    <a:latin typeface="Calibri"/>
                  </a:rPr>
                  <a:t>τ </a:t>
                </a:r>
                <a:r>
                  <a:rPr lang="es-MX" sz="1400" dirty="0"/>
                  <a:t>del sensor de temperatura  para mitigar la rigidez y extender el tiempo de simulación estable.</a:t>
                </a:r>
              </a:p>
              <a:p>
                <a:pPr algn="just"/>
                <a:endParaRPr lang="es-AR" sz="2000" dirty="0">
                  <a:effectLst/>
                  <a:latin typeface="Times New Roman" panose="02020603050405020304" pitchFamily="18" charset="0"/>
                  <a:ea typeface="Times New Roman" panose="02020603050405020304" pitchFamily="18" charset="0"/>
                </a:endParaRPr>
              </a:p>
            </p:txBody>
          </p:sp>
        </mc:Choice>
        <mc:Fallback xmlns="">
          <p:sp>
            <p:nvSpPr>
              <p:cNvPr id="25" name="CuadroTexto 24">
                <a:extLst>
                  <a:ext uri="{FF2B5EF4-FFF2-40B4-BE49-F238E27FC236}">
                    <a16:creationId xmlns:a16="http://schemas.microsoft.com/office/drawing/2014/main" id="{CFF3FB85-0778-42B7-B56F-EEF1354A91C2}"/>
                  </a:ext>
                </a:extLst>
              </p:cNvPr>
              <p:cNvSpPr txBox="1">
                <a:spLocks noRot="1" noChangeAspect="1" noMove="1" noResize="1" noEditPoints="1" noAdjustHandles="1" noChangeArrowheads="1" noChangeShapeType="1" noTextEdit="1"/>
              </p:cNvSpPr>
              <p:nvPr/>
            </p:nvSpPr>
            <p:spPr>
              <a:xfrm>
                <a:off x="274320" y="5128388"/>
                <a:ext cx="12041171" cy="1477328"/>
              </a:xfrm>
              <a:prstGeom prst="rect">
                <a:avLst/>
              </a:prstGeom>
              <a:blipFill>
                <a:blip r:embed="rId2"/>
                <a:stretch>
                  <a:fillRect l="-152" t="-412"/>
                </a:stretch>
              </a:blipFill>
            </p:spPr>
            <p:txBody>
              <a:bodyPr/>
              <a:lstStyle/>
              <a:p>
                <a:r>
                  <a:rPr lang="es-AR">
                    <a:noFill/>
                  </a:rPr>
                  <a:t> </a:t>
                </a:r>
              </a:p>
            </p:txBody>
          </p:sp>
        </mc:Fallback>
      </mc:AlternateContent>
      <p:pic>
        <p:nvPicPr>
          <p:cNvPr id="14" name="Imagen 13">
            <a:extLst>
              <a:ext uri="{FF2B5EF4-FFF2-40B4-BE49-F238E27FC236}">
                <a16:creationId xmlns:a16="http://schemas.microsoft.com/office/drawing/2014/main" id="{CF669D34-8448-41D8-AD09-3D028D326B05}"/>
              </a:ext>
            </a:extLst>
          </p:cNvPr>
          <p:cNvPicPr/>
          <p:nvPr/>
        </p:nvPicPr>
        <p:blipFill>
          <a:blip r:embed="rId3">
            <a:extLst>
              <a:ext uri="{28A0092B-C50C-407E-A947-70E740481C1C}">
                <a14:useLocalDpi xmlns:a14="http://schemas.microsoft.com/office/drawing/2010/main" val="0"/>
              </a:ext>
            </a:extLst>
          </a:blip>
          <a:stretch>
            <a:fillRect/>
          </a:stretch>
        </p:blipFill>
        <p:spPr>
          <a:xfrm>
            <a:off x="274320" y="776749"/>
            <a:ext cx="5090475" cy="3834845"/>
          </a:xfrm>
          <a:prstGeom prst="rect">
            <a:avLst/>
          </a:prstGeom>
        </p:spPr>
      </p:pic>
      <p:pic>
        <p:nvPicPr>
          <p:cNvPr id="15" name="Imagen 14">
            <a:extLst>
              <a:ext uri="{FF2B5EF4-FFF2-40B4-BE49-F238E27FC236}">
                <a16:creationId xmlns:a16="http://schemas.microsoft.com/office/drawing/2014/main" id="{4C9E71E1-51C5-4EAD-8AA2-534D5FF9DBED}"/>
              </a:ext>
            </a:extLst>
          </p:cNvPr>
          <p:cNvPicPr/>
          <p:nvPr/>
        </p:nvPicPr>
        <p:blipFill>
          <a:blip r:embed="rId4">
            <a:extLst>
              <a:ext uri="{28A0092B-C50C-407E-A947-70E740481C1C}">
                <a14:useLocalDpi xmlns:a14="http://schemas.microsoft.com/office/drawing/2010/main" val="0"/>
              </a:ext>
            </a:extLst>
          </a:blip>
          <a:stretch>
            <a:fillRect/>
          </a:stretch>
        </p:blipFill>
        <p:spPr>
          <a:xfrm>
            <a:off x="6402693" y="736423"/>
            <a:ext cx="5090475" cy="3915495"/>
          </a:xfrm>
          <a:prstGeom prst="rect">
            <a:avLst/>
          </a:prstGeom>
        </p:spPr>
      </p:pic>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94042BF6-315E-4BCB-9041-00FBBAAFC850}"/>
                  </a:ext>
                </a:extLst>
              </p:cNvPr>
              <p:cNvSpPr txBox="1"/>
              <p:nvPr/>
            </p:nvSpPr>
            <p:spPr>
              <a:xfrm>
                <a:off x="853837" y="4619295"/>
                <a:ext cx="4464767"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69— Curvas de corriente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𝑐𝑜𝑟𝑟𝑖𝑒𝑛𝑡𝑒</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6" name="CuadroTexto 15">
                <a:extLst>
                  <a:ext uri="{FF2B5EF4-FFF2-40B4-BE49-F238E27FC236}">
                    <a16:creationId xmlns:a16="http://schemas.microsoft.com/office/drawing/2014/main" id="{94042BF6-315E-4BCB-9041-00FBBAAFC850}"/>
                  </a:ext>
                </a:extLst>
              </p:cNvPr>
              <p:cNvSpPr txBox="1">
                <a:spLocks noRot="1" noChangeAspect="1" noMove="1" noResize="1" noEditPoints="1" noAdjustHandles="1" noChangeArrowheads="1" noChangeShapeType="1" noTextEdit="1"/>
              </p:cNvSpPr>
              <p:nvPr/>
            </p:nvSpPr>
            <p:spPr>
              <a:xfrm>
                <a:off x="853837" y="4619295"/>
                <a:ext cx="4464767" cy="267253"/>
              </a:xfrm>
              <a:prstGeom prst="rect">
                <a:avLst/>
              </a:prstGeom>
              <a:blipFill>
                <a:blip r:embed="rId5"/>
                <a:stretch>
                  <a:fillRect b="-1363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B20ED1C2-BA7D-4666-98A6-17E5784DF0EA}"/>
                  </a:ext>
                </a:extLst>
              </p:cNvPr>
              <p:cNvSpPr txBox="1"/>
              <p:nvPr/>
            </p:nvSpPr>
            <p:spPr>
              <a:xfrm>
                <a:off x="6927803" y="4635218"/>
                <a:ext cx="4040254"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70—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20</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17" name="CuadroTexto 16">
                <a:extLst>
                  <a:ext uri="{FF2B5EF4-FFF2-40B4-BE49-F238E27FC236}">
                    <a16:creationId xmlns:a16="http://schemas.microsoft.com/office/drawing/2014/main" id="{B20ED1C2-BA7D-4666-98A6-17E5784DF0EA}"/>
                  </a:ext>
                </a:extLst>
              </p:cNvPr>
              <p:cNvSpPr txBox="1">
                <a:spLocks noRot="1" noChangeAspect="1" noMove="1" noResize="1" noEditPoints="1" noAdjustHandles="1" noChangeArrowheads="1" noChangeShapeType="1" noTextEdit="1"/>
              </p:cNvSpPr>
              <p:nvPr/>
            </p:nvSpPr>
            <p:spPr>
              <a:xfrm>
                <a:off x="6927803" y="4635218"/>
                <a:ext cx="4040254" cy="261610"/>
              </a:xfrm>
              <a:prstGeom prst="rect">
                <a:avLst/>
              </a:prstGeom>
              <a:blipFill>
                <a:blip r:embed="rId6"/>
                <a:stretch>
                  <a:fillRect b="-16279"/>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60A39584-7769-4FBA-9E21-F0365D40836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BD37AEF7-A22D-40F4-BB5C-7304EBB9794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77844849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3943523" y="5296495"/>
                <a:ext cx="4232239" cy="443904"/>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71—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m:t>
                    </m:r>
                    <m:r>
                      <a:rPr lang="es-AR">
                        <a:latin typeface="Cambria Math" panose="02040503050406030204" pitchFamily="18" charset="0"/>
                      </a:rPr>
                      <m:t>4000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a:p>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3943523" y="5296495"/>
                <a:ext cx="4232239" cy="443904"/>
              </a:xfrm>
              <a:prstGeom prst="rect">
                <a:avLst/>
              </a:prstGeom>
              <a:blipFill>
                <a:blip r:embed="rId2"/>
                <a:stretch>
                  <a:fillRect/>
                </a:stretch>
              </a:blipFill>
            </p:spPr>
            <p:txBody>
              <a:bodyPr/>
              <a:lstStyle/>
              <a:p>
                <a:r>
                  <a:rPr lang="es-AR">
                    <a:noFill/>
                  </a:rPr>
                  <a:t> </a:t>
                </a:r>
              </a:p>
            </p:txBody>
          </p:sp>
        </mc:Fallback>
      </mc:AlternateContent>
      <p:pic>
        <p:nvPicPr>
          <p:cNvPr id="14" name="Imagen 13">
            <a:extLst>
              <a:ext uri="{FF2B5EF4-FFF2-40B4-BE49-F238E27FC236}">
                <a16:creationId xmlns:a16="http://schemas.microsoft.com/office/drawing/2014/main" id="{26BD677C-BE44-49FA-82D5-6BD93CD6D046}"/>
              </a:ext>
            </a:extLst>
          </p:cNvPr>
          <p:cNvPicPr/>
          <p:nvPr/>
        </p:nvPicPr>
        <p:blipFill>
          <a:blip r:embed="rId3">
            <a:extLst>
              <a:ext uri="{28A0092B-C50C-407E-A947-70E740481C1C}">
                <a14:useLocalDpi xmlns:a14="http://schemas.microsoft.com/office/drawing/2010/main" val="0"/>
              </a:ext>
            </a:extLst>
          </a:blip>
          <a:stretch>
            <a:fillRect/>
          </a:stretch>
        </p:blipFill>
        <p:spPr>
          <a:xfrm>
            <a:off x="2786435" y="795392"/>
            <a:ext cx="5876797" cy="4501103"/>
          </a:xfrm>
          <a:prstGeom prst="rect">
            <a:avLst/>
          </a:prstGeom>
        </p:spPr>
      </p:pic>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D269DC64-8C65-4615-9CD9-132F68D53A93}"/>
                  </a:ext>
                </a:extLst>
              </p:cNvPr>
              <p:cNvSpPr txBox="1"/>
              <p:nvPr/>
            </p:nvSpPr>
            <p:spPr>
              <a:xfrm>
                <a:off x="448589" y="5731678"/>
                <a:ext cx="12022317" cy="379271"/>
              </a:xfrm>
              <a:prstGeom prst="rect">
                <a:avLst/>
              </a:prstGeom>
              <a:noFill/>
            </p:spPr>
            <p:txBody>
              <a:bodyPr wrap="square">
                <a:spAutoFit/>
              </a:bodyPr>
              <a:lstStyle/>
              <a:p>
                <a:pPr>
                  <a:lnSpc>
                    <a:spcPct val="107000"/>
                  </a:lnSpc>
                  <a:spcAft>
                    <a:spcPts val="800"/>
                  </a:spcAft>
                </a:pPr>
                <a:r>
                  <a:rPr lang="es-AR" sz="1600" dirty="0">
                    <a:effectLst/>
                    <a:latin typeface="Calibri" panose="020F0502020204030204" pitchFamily="34" charset="0"/>
                    <a:ea typeface="Calibri" panose="020F0502020204030204" pitchFamily="34" charset="0"/>
                    <a:cs typeface="Times New Roman" panose="02020603050405020304" pitchFamily="18" charset="0"/>
                  </a:rPr>
                  <a:t>Al comparar con la frecuencia </a:t>
                </a:r>
                <a14:m>
                  <m:oMath xmlns:m="http://schemas.openxmlformats.org/officeDocument/2006/math">
                    <m:sSub>
                      <m:sSubPr>
                        <m:ctrlPr>
                          <a:rPr lang="es-AR" sz="16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m:rPr>
                            <m:sty m:val="p"/>
                          </m:rPr>
                          <a:rPr lang="es-AR" sz="1600">
                            <a:effectLst/>
                            <a:latin typeface="Cambria Math" panose="02040503050406030204" pitchFamily="18" charset="0"/>
                            <a:ea typeface="Calibri" panose="020F0502020204030204" pitchFamily="34" charset="0"/>
                            <a:cs typeface="Times New Roman" panose="02020603050405020304" pitchFamily="18" charset="0"/>
                          </a:rPr>
                          <m:t>n</m:t>
                        </m:r>
                        <m:r>
                          <a:rPr lang="es-AR" sz="1600">
                            <a:effectLst/>
                            <a:latin typeface="Cambria Math" panose="02040503050406030204" pitchFamily="18" charset="0"/>
                            <a:ea typeface="Calibri" panose="020F0502020204030204" pitchFamily="34" charset="0"/>
                            <a:cs typeface="Times New Roman" panose="02020603050405020304" pitchFamily="18" charset="0"/>
                          </a:rPr>
                          <m:t>_</m:t>
                        </m:r>
                        <m:r>
                          <m:rPr>
                            <m:sty m:val="p"/>
                          </m:rPr>
                          <a:rPr lang="es-AR" sz="1600">
                            <a:effectLst/>
                            <a:latin typeface="Cambria Math" panose="02040503050406030204" pitchFamily="18" charset="0"/>
                            <a:ea typeface="Calibri" panose="020F0502020204030204" pitchFamily="34" charset="0"/>
                            <a:cs typeface="Times New Roman" panose="02020603050405020304" pitchFamily="18" charset="0"/>
                          </a:rPr>
                          <m:t>pos</m:t>
                        </m:r>
                      </m:sub>
                    </m:sSub>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a:effectLst/>
                        <a:latin typeface="Cambria Math" panose="02040503050406030204" pitchFamily="18" charset="0"/>
                        <a:ea typeface="Calibri" panose="020F0502020204030204" pitchFamily="34" charset="0"/>
                        <a:cs typeface="Times New Roman" panose="02020603050405020304" pitchFamily="18" charset="0"/>
                      </a:rPr>
                      <m:t>6</m:t>
                    </m:r>
                    <m:r>
                      <a:rPr lang="es-AR" sz="1600" i="1">
                        <a:effectLst/>
                        <a:latin typeface="Cambria Math" panose="02040503050406030204" pitchFamily="18" charset="0"/>
                        <a:ea typeface="Calibri" panose="020F0502020204030204" pitchFamily="34" charset="0"/>
                        <a:cs typeface="Times New Roman" panose="02020603050405020304" pitchFamily="18" charset="0"/>
                      </a:rPr>
                      <m:t>000</m:t>
                    </m:r>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𝑟𝑎𝑑</m:t>
                    </m:r>
                    <m:r>
                      <m:rPr>
                        <m:lit/>
                      </m:rP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600" dirty="0">
                    <a:effectLst/>
                    <a:latin typeface="Calibri" panose="020F0502020204030204" pitchFamily="34" charset="0"/>
                    <a:ea typeface="Times New Roman" panose="02020603050405020304" pitchFamily="18" charset="0"/>
                    <a:cs typeface="Times New Roman" panose="02020603050405020304" pitchFamily="18" charset="0"/>
                  </a:rPr>
                  <a:t>, no notamos diferencias apreciables, por lo que no exige mayor resolución.</a:t>
                </a:r>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6" name="CuadroTexto 15">
                <a:extLst>
                  <a:ext uri="{FF2B5EF4-FFF2-40B4-BE49-F238E27FC236}">
                    <a16:creationId xmlns:a16="http://schemas.microsoft.com/office/drawing/2014/main" id="{D269DC64-8C65-4615-9CD9-132F68D53A93}"/>
                  </a:ext>
                </a:extLst>
              </p:cNvPr>
              <p:cNvSpPr txBox="1">
                <a:spLocks noRot="1" noChangeAspect="1" noMove="1" noResize="1" noEditPoints="1" noAdjustHandles="1" noChangeArrowheads="1" noChangeShapeType="1" noTextEdit="1"/>
              </p:cNvSpPr>
              <p:nvPr/>
            </p:nvSpPr>
            <p:spPr>
              <a:xfrm>
                <a:off x="448589" y="5731678"/>
                <a:ext cx="12022317" cy="379271"/>
              </a:xfrm>
              <a:prstGeom prst="rect">
                <a:avLst/>
              </a:prstGeom>
              <a:blipFill>
                <a:blip r:embed="rId4"/>
                <a:stretch>
                  <a:fillRect l="-304" b="-16129"/>
                </a:stretch>
              </a:blipFill>
            </p:spPr>
            <p:txBody>
              <a:bodyPr/>
              <a:lstStyle/>
              <a:p>
                <a:r>
                  <a:rPr lang="es-AR">
                    <a:noFill/>
                  </a:rPr>
                  <a:t> </a:t>
                </a:r>
              </a:p>
            </p:txBody>
          </p:sp>
        </mc:Fallback>
      </mc:AlternateContent>
      <p:sp>
        <p:nvSpPr>
          <p:cNvPr id="9" name="Shape 2">
            <a:extLst>
              <a:ext uri="{FF2B5EF4-FFF2-40B4-BE49-F238E27FC236}">
                <a16:creationId xmlns:a16="http://schemas.microsoft.com/office/drawing/2014/main" id="{325C8D78-021C-487A-99CA-523FDE6349B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EF997396-FF3F-415B-BA53-32C7ACB9895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92204503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924222" y="4569739"/>
                <a:ext cx="4232239" cy="27462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72—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=4000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924222" y="4569739"/>
                <a:ext cx="4232239" cy="274627"/>
              </a:xfrm>
              <a:prstGeom prst="rect">
                <a:avLst/>
              </a:prstGeom>
              <a:blipFill>
                <a:blip r:embed="rId2"/>
                <a:stretch>
                  <a:fillRect b="-11111"/>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BC65AA96-C107-4A9B-8C3B-6F430F0CE1DC}"/>
                  </a:ext>
                </a:extLst>
              </p:cNvPr>
              <p:cNvSpPr txBox="1"/>
              <p:nvPr/>
            </p:nvSpPr>
            <p:spPr>
              <a:xfrm>
                <a:off x="7035541" y="4573660"/>
                <a:ext cx="4040254" cy="276742"/>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73—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=6000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4" name="CuadroTexto 23">
                <a:extLst>
                  <a:ext uri="{FF2B5EF4-FFF2-40B4-BE49-F238E27FC236}">
                    <a16:creationId xmlns:a16="http://schemas.microsoft.com/office/drawing/2014/main" id="{BC65AA96-C107-4A9B-8C3B-6F430F0CE1DC}"/>
                  </a:ext>
                </a:extLst>
              </p:cNvPr>
              <p:cNvSpPr txBox="1">
                <a:spLocks noRot="1" noChangeAspect="1" noMove="1" noResize="1" noEditPoints="1" noAdjustHandles="1" noChangeArrowheads="1" noChangeShapeType="1" noTextEdit="1"/>
              </p:cNvSpPr>
              <p:nvPr/>
            </p:nvSpPr>
            <p:spPr>
              <a:xfrm>
                <a:off x="7035541" y="4573660"/>
                <a:ext cx="4040254" cy="276742"/>
              </a:xfrm>
              <a:prstGeom prst="rect">
                <a:avLst/>
              </a:prstGeom>
              <a:blipFill>
                <a:blip r:embed="rId3"/>
                <a:stretch>
                  <a:fillRect b="-8696"/>
                </a:stretch>
              </a:blipFill>
            </p:spPr>
            <p:txBody>
              <a:bodyPr/>
              <a:lstStyle/>
              <a:p>
                <a:r>
                  <a:rPr lang="es-AR">
                    <a:noFill/>
                  </a:rPr>
                  <a:t> </a:t>
                </a:r>
              </a:p>
            </p:txBody>
          </p:sp>
        </mc:Fallback>
      </mc:AlternateContent>
      <p:sp>
        <p:nvSpPr>
          <p:cNvPr id="16" name="CuadroTexto 15">
            <a:extLst>
              <a:ext uri="{FF2B5EF4-FFF2-40B4-BE49-F238E27FC236}">
                <a16:creationId xmlns:a16="http://schemas.microsoft.com/office/drawing/2014/main" id="{D269DC64-8C65-4615-9CD9-132F68D53A93}"/>
              </a:ext>
            </a:extLst>
          </p:cNvPr>
          <p:cNvSpPr txBox="1"/>
          <p:nvPr/>
        </p:nvSpPr>
        <p:spPr>
          <a:xfrm>
            <a:off x="269480" y="5364017"/>
            <a:ext cx="12022317" cy="338554"/>
          </a:xfrm>
          <a:prstGeom prst="rect">
            <a:avLst/>
          </a:prstGeom>
          <a:noFill/>
        </p:spPr>
        <p:txBody>
          <a:bodyPr wrap="square">
            <a:spAutoFit/>
          </a:bodyPr>
          <a:lstStyle/>
          <a:p>
            <a:r>
              <a:rPr lang="es-AR" sz="1600" dirty="0"/>
              <a:t>Para el caso de la velocidad, se nota una leve mejora en la estabilidad al triplicar la frecuencia.</a:t>
            </a:r>
          </a:p>
        </p:txBody>
      </p:sp>
      <p:pic>
        <p:nvPicPr>
          <p:cNvPr id="17" name="Imagen 16">
            <a:extLst>
              <a:ext uri="{FF2B5EF4-FFF2-40B4-BE49-F238E27FC236}">
                <a16:creationId xmlns:a16="http://schemas.microsoft.com/office/drawing/2014/main" id="{B00F16F4-E8F7-4A3D-AE3E-48E99990D636}"/>
              </a:ext>
            </a:extLst>
          </p:cNvPr>
          <p:cNvPicPr/>
          <p:nvPr/>
        </p:nvPicPr>
        <p:blipFill>
          <a:blip r:embed="rId4">
            <a:extLst>
              <a:ext uri="{28A0092B-C50C-407E-A947-70E740481C1C}">
                <a14:useLocalDpi xmlns:a14="http://schemas.microsoft.com/office/drawing/2010/main" val="0"/>
              </a:ext>
            </a:extLst>
          </a:blip>
          <a:stretch>
            <a:fillRect/>
          </a:stretch>
        </p:blipFill>
        <p:spPr>
          <a:xfrm>
            <a:off x="269480" y="842008"/>
            <a:ext cx="5018957" cy="3651565"/>
          </a:xfrm>
          <a:prstGeom prst="rect">
            <a:avLst/>
          </a:prstGeom>
        </p:spPr>
      </p:pic>
      <p:pic>
        <p:nvPicPr>
          <p:cNvPr id="26" name="Imagen 25">
            <a:extLst>
              <a:ext uri="{FF2B5EF4-FFF2-40B4-BE49-F238E27FC236}">
                <a16:creationId xmlns:a16="http://schemas.microsoft.com/office/drawing/2014/main" id="{28678D3F-A963-4A96-A807-9F74A0FBE801}"/>
              </a:ext>
            </a:extLst>
          </p:cNvPr>
          <p:cNvPicPr/>
          <p:nvPr/>
        </p:nvPicPr>
        <p:blipFill>
          <a:blip r:embed="rId5">
            <a:extLst>
              <a:ext uri="{28A0092B-C50C-407E-A947-70E740481C1C}">
                <a14:useLocalDpi xmlns:a14="http://schemas.microsoft.com/office/drawing/2010/main" val="0"/>
              </a:ext>
            </a:extLst>
          </a:blip>
          <a:stretch>
            <a:fillRect/>
          </a:stretch>
        </p:blipFill>
        <p:spPr>
          <a:xfrm>
            <a:off x="5987919" y="849633"/>
            <a:ext cx="5277111" cy="3704458"/>
          </a:xfrm>
          <a:prstGeom prst="rect">
            <a:avLst/>
          </a:prstGeom>
        </p:spPr>
      </p:pic>
      <p:sp>
        <p:nvSpPr>
          <p:cNvPr id="11" name="Shape 2">
            <a:extLst>
              <a:ext uri="{FF2B5EF4-FFF2-40B4-BE49-F238E27FC236}">
                <a16:creationId xmlns:a16="http://schemas.microsoft.com/office/drawing/2014/main" id="{A85E4BF2-DEB9-47DA-9AC5-03C20893866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4AEE53A0-3336-41F5-8A04-6DD03ED73B6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7247330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141797" y="4012147"/>
                <a:ext cx="4232239"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74—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141797" y="4012147"/>
                <a:ext cx="4232239"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D269DC64-8C65-4615-9CD9-132F68D53A93}"/>
                  </a:ext>
                </a:extLst>
              </p:cNvPr>
              <p:cNvSpPr txBox="1"/>
              <p:nvPr/>
            </p:nvSpPr>
            <p:spPr>
              <a:xfrm>
                <a:off x="84688" y="4678209"/>
                <a:ext cx="12022317" cy="1887183"/>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La temperatura resulta ser la variable más afectada por la dinámica del sensor, lo cual se evidencia claramente en los resultados de simulación. Para lograr un seguimiento adecuado de la señal, sería necesario adoptar valores de constante de tiempo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considerablemente pequeños, lo que implica un sensor con respuesta muy rápida. </a:t>
                </a:r>
              </a:p>
              <a:p>
                <a:pPr algn="just">
                  <a:lnSpc>
                    <a:spcPct val="107000"/>
                  </a:lnSpc>
                  <a:spcBef>
                    <a:spcPts val="600"/>
                  </a:spcBef>
                  <a:spcAft>
                    <a:spcPts val="800"/>
                  </a:spcAft>
                </a:pPr>
                <a:r>
                  <a:rPr lang="es-AR" sz="1400" dirty="0"/>
                  <a:t>El aspecto más relevante es el correcto seguimiento de los valores máximos de temperatura. Para este objetivo, no resulta imprescindible una constante de tiempo tan reducida, lo que permite emplear sensores más simples y de menor costo.</a:t>
                </a:r>
              </a:p>
              <a:p>
                <a:pPr algn="just">
                  <a:lnSpc>
                    <a:spcPct val="107000"/>
                  </a:lnSpc>
                  <a:spcBef>
                    <a:spcPts val="600"/>
                  </a:spcBef>
                  <a:spcAft>
                    <a:spcPts val="800"/>
                  </a:spcAft>
                </a:pP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6" name="CuadroTexto 15">
                <a:extLst>
                  <a:ext uri="{FF2B5EF4-FFF2-40B4-BE49-F238E27FC236}">
                    <a16:creationId xmlns:a16="http://schemas.microsoft.com/office/drawing/2014/main" id="{D269DC64-8C65-4615-9CD9-132F68D53A93}"/>
                  </a:ext>
                </a:extLst>
              </p:cNvPr>
              <p:cNvSpPr txBox="1">
                <a:spLocks noRot="1" noChangeAspect="1" noMove="1" noResize="1" noEditPoints="1" noAdjustHandles="1" noChangeArrowheads="1" noChangeShapeType="1" noTextEdit="1"/>
              </p:cNvSpPr>
              <p:nvPr/>
            </p:nvSpPr>
            <p:spPr>
              <a:xfrm>
                <a:off x="84688" y="4678209"/>
                <a:ext cx="12022317" cy="1887183"/>
              </a:xfrm>
              <a:prstGeom prst="rect">
                <a:avLst/>
              </a:prstGeom>
              <a:blipFill>
                <a:blip r:embed="rId3"/>
                <a:stretch>
                  <a:fillRect l="-152" r="-152"/>
                </a:stretch>
              </a:blipFill>
            </p:spPr>
            <p:txBody>
              <a:bodyPr/>
              <a:lstStyle/>
              <a:p>
                <a:r>
                  <a:rPr lang="es-AR">
                    <a:noFill/>
                  </a:rPr>
                  <a:t> </a:t>
                </a:r>
              </a:p>
            </p:txBody>
          </p:sp>
        </mc:Fallback>
      </mc:AlternateContent>
      <p:pic>
        <p:nvPicPr>
          <p:cNvPr id="11" name="Imagen 10">
            <a:extLst>
              <a:ext uri="{FF2B5EF4-FFF2-40B4-BE49-F238E27FC236}">
                <a16:creationId xmlns:a16="http://schemas.microsoft.com/office/drawing/2014/main" id="{71868927-1F05-46A9-9532-B62231355191}"/>
              </a:ext>
            </a:extLst>
          </p:cNvPr>
          <p:cNvPicPr/>
          <p:nvPr/>
        </p:nvPicPr>
        <p:blipFill>
          <a:blip r:embed="rId4">
            <a:extLst>
              <a:ext uri="{28A0092B-C50C-407E-A947-70E740481C1C}">
                <a14:useLocalDpi xmlns:a14="http://schemas.microsoft.com/office/drawing/2010/main" val="0"/>
              </a:ext>
            </a:extLst>
          </a:blip>
          <a:stretch>
            <a:fillRect/>
          </a:stretch>
        </p:blipFill>
        <p:spPr>
          <a:xfrm>
            <a:off x="0" y="792870"/>
            <a:ext cx="4014876" cy="3226589"/>
          </a:xfrm>
          <a:prstGeom prst="rect">
            <a:avLst/>
          </a:prstGeom>
        </p:spPr>
      </p:pic>
      <p:pic>
        <p:nvPicPr>
          <p:cNvPr id="12" name="Imagen 11">
            <a:extLst>
              <a:ext uri="{FF2B5EF4-FFF2-40B4-BE49-F238E27FC236}">
                <a16:creationId xmlns:a16="http://schemas.microsoft.com/office/drawing/2014/main" id="{F55DBAE9-F7CE-4D5E-ABCC-16AE32B3A60F}"/>
              </a:ext>
            </a:extLst>
          </p:cNvPr>
          <p:cNvPicPr/>
          <p:nvPr/>
        </p:nvPicPr>
        <p:blipFill>
          <a:blip r:embed="rId5">
            <a:extLst>
              <a:ext uri="{28A0092B-C50C-407E-A947-70E740481C1C}">
                <a14:useLocalDpi xmlns:a14="http://schemas.microsoft.com/office/drawing/2010/main" val="0"/>
              </a:ext>
            </a:extLst>
          </a:blip>
          <a:stretch>
            <a:fillRect/>
          </a:stretch>
        </p:blipFill>
        <p:spPr>
          <a:xfrm>
            <a:off x="3989498" y="813001"/>
            <a:ext cx="4040254" cy="3206458"/>
          </a:xfrm>
          <a:prstGeom prst="rect">
            <a:avLst/>
          </a:prstGeom>
        </p:spPr>
      </p:pic>
      <p:pic>
        <p:nvPicPr>
          <p:cNvPr id="13" name="Imagen 12">
            <a:extLst>
              <a:ext uri="{FF2B5EF4-FFF2-40B4-BE49-F238E27FC236}">
                <a16:creationId xmlns:a16="http://schemas.microsoft.com/office/drawing/2014/main" id="{553E7F1D-45D5-418F-88F2-224B98F55B0F}"/>
              </a:ext>
            </a:extLst>
          </p:cNvPr>
          <p:cNvPicPr/>
          <p:nvPr/>
        </p:nvPicPr>
        <p:blipFill>
          <a:blip r:embed="rId6">
            <a:extLst>
              <a:ext uri="{28A0092B-C50C-407E-A947-70E740481C1C}">
                <a14:useLocalDpi xmlns:a14="http://schemas.microsoft.com/office/drawing/2010/main" val="0"/>
              </a:ext>
            </a:extLst>
          </a:blip>
          <a:stretch>
            <a:fillRect/>
          </a:stretch>
        </p:blipFill>
        <p:spPr>
          <a:xfrm>
            <a:off x="8004374" y="792870"/>
            <a:ext cx="4161943" cy="3269006"/>
          </a:xfrm>
          <a:prstGeom prst="rect">
            <a:avLst/>
          </a:prstGeom>
        </p:spPr>
      </p:pic>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10086F5-FA72-4AB2-99DE-E67F21D4CDBA}"/>
                  </a:ext>
                </a:extLst>
              </p:cNvPr>
              <p:cNvSpPr txBox="1"/>
              <p:nvPr/>
            </p:nvSpPr>
            <p:spPr>
              <a:xfrm>
                <a:off x="4131295" y="4025165"/>
                <a:ext cx="4232239"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75—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0</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810086F5-FA72-4AB2-99DE-E67F21D4CDBA}"/>
                  </a:ext>
                </a:extLst>
              </p:cNvPr>
              <p:cNvSpPr txBox="1">
                <a:spLocks noRot="1" noChangeAspect="1" noMove="1" noResize="1" noEditPoints="1" noAdjustHandles="1" noChangeArrowheads="1" noChangeShapeType="1" noTextEdit="1"/>
              </p:cNvSpPr>
              <p:nvPr/>
            </p:nvSpPr>
            <p:spPr>
              <a:xfrm>
                <a:off x="4131295" y="4025165"/>
                <a:ext cx="4232239" cy="261610"/>
              </a:xfrm>
              <a:prstGeom prst="rect">
                <a:avLst/>
              </a:prstGeom>
              <a:blipFill>
                <a:blip r:embed="rId7"/>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F5AE9F1-AD73-49A7-9B24-1304D4F554F0}"/>
                  </a:ext>
                </a:extLst>
              </p:cNvPr>
              <p:cNvSpPr txBox="1"/>
              <p:nvPr/>
            </p:nvSpPr>
            <p:spPr>
              <a:xfrm>
                <a:off x="8479953" y="4046760"/>
                <a:ext cx="4232239"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76—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0</m:t>
                    </m:r>
                    <m:r>
                      <a:rPr lang="es-AR">
                        <a:latin typeface="Cambria Math" panose="02040503050406030204" pitchFamily="18" charset="0"/>
                      </a:rPr>
                      <m:t>.</m:t>
                    </m:r>
                    <m:r>
                      <a:rPr lang="es-MX" b="0" i="1" smtClean="0">
                        <a:latin typeface="Cambria Math" panose="02040503050406030204" pitchFamily="18" charset="0"/>
                      </a:rPr>
                      <m:t>0</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F5AE9F1-AD73-49A7-9B24-1304D4F554F0}"/>
                  </a:ext>
                </a:extLst>
              </p:cNvPr>
              <p:cNvSpPr txBox="1">
                <a:spLocks noRot="1" noChangeAspect="1" noMove="1" noResize="1" noEditPoints="1" noAdjustHandles="1" noChangeArrowheads="1" noChangeShapeType="1" noTextEdit="1"/>
              </p:cNvSpPr>
              <p:nvPr/>
            </p:nvSpPr>
            <p:spPr>
              <a:xfrm>
                <a:off x="8479953" y="4046760"/>
                <a:ext cx="4232239" cy="261610"/>
              </a:xfrm>
              <a:prstGeom prst="rect">
                <a:avLst/>
              </a:prstGeom>
              <a:blipFill>
                <a:blip r:embed="rId8"/>
                <a:stretch>
                  <a:fillRect b="-16279"/>
                </a:stretch>
              </a:blipFill>
            </p:spPr>
            <p:txBody>
              <a:bodyPr/>
              <a:lstStyle/>
              <a:p>
                <a:r>
                  <a:rPr lang="es-AR">
                    <a:noFill/>
                  </a:rPr>
                  <a:t> </a:t>
                </a:r>
              </a:p>
            </p:txBody>
          </p:sp>
        </mc:Fallback>
      </mc:AlternateContent>
      <p:sp>
        <p:nvSpPr>
          <p:cNvPr id="17" name="Shape 2">
            <a:extLst>
              <a:ext uri="{FF2B5EF4-FFF2-40B4-BE49-F238E27FC236}">
                <a16:creationId xmlns:a16="http://schemas.microsoft.com/office/drawing/2014/main" id="{1CC8509D-1A86-43E7-8D86-976EBF31EC5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8" name="Text 3">
            <a:extLst>
              <a:ext uri="{FF2B5EF4-FFF2-40B4-BE49-F238E27FC236}">
                <a16:creationId xmlns:a16="http://schemas.microsoft.com/office/drawing/2014/main" id="{846C00EB-FCA4-4A07-9F4E-966D6A24650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84409133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724682" y="463672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77— Curvas de corriente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𝑐𝑜𝑟𝑟𝑖𝑒𝑛𝑡𝑒</m:t>
                        </m:r>
                      </m:sub>
                    </m:sSub>
                    <m:r>
                      <a:rPr lang="es-AR">
                        <a:latin typeface="Cambria Math" panose="02040503050406030204" pitchFamily="18" charset="0"/>
                      </a:rPr>
                      <m:t>=</m:t>
                    </m:r>
                    <m:r>
                      <a:rPr lang="es-AR">
                        <a:latin typeface="Cambria Math" panose="02040503050406030204" pitchFamily="18" charset="0"/>
                      </a:rPr>
                      <m:t>12000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724682" y="4636721"/>
                <a:ext cx="4554874" cy="267253"/>
              </a:xfrm>
              <a:prstGeom prst="rect">
                <a:avLst/>
              </a:prstGeom>
              <a:blipFill>
                <a:blip r:embed="rId2"/>
                <a:stretch>
                  <a:fillRect b="-16279"/>
                </a:stretch>
              </a:blipFill>
            </p:spPr>
            <p:txBody>
              <a:bodyPr/>
              <a:lstStyle/>
              <a:p>
                <a:r>
                  <a:rPr lang="es-AR">
                    <a:noFill/>
                  </a:rPr>
                  <a:t> </a:t>
                </a:r>
              </a:p>
            </p:txBody>
          </p:sp>
        </mc:Fallback>
      </mc:AlternateContent>
      <p:sp>
        <p:nvSpPr>
          <p:cNvPr id="16" name="CuadroTexto 15">
            <a:extLst>
              <a:ext uri="{FF2B5EF4-FFF2-40B4-BE49-F238E27FC236}">
                <a16:creationId xmlns:a16="http://schemas.microsoft.com/office/drawing/2014/main" id="{D269DC64-8C65-4615-9CD9-132F68D53A93}"/>
              </a:ext>
            </a:extLst>
          </p:cNvPr>
          <p:cNvSpPr txBox="1"/>
          <p:nvPr/>
        </p:nvSpPr>
        <p:spPr>
          <a:xfrm>
            <a:off x="84688" y="5187595"/>
            <a:ext cx="12022317" cy="1314271"/>
          </a:xfrm>
          <a:prstGeom prst="rect">
            <a:avLst/>
          </a:prstGeom>
          <a:noFill/>
        </p:spPr>
        <p:txBody>
          <a:bodyPr wrap="square">
            <a:spAutoFit/>
          </a:bodyPr>
          <a:lstStyle/>
          <a:p>
            <a:r>
              <a:rPr lang="es-AR" sz="1400" dirty="0"/>
              <a:t>Para el caso de frecuencia duplicada, la señal presenta valores pico a pico ligeramente más pronunciados respecto al caso en que la frecuencia se triplica. No obstante, las diferencias entre ambos escenarios no resultan significativas.</a:t>
            </a:r>
          </a:p>
          <a:p>
            <a:r>
              <a:rPr lang="es-AR" sz="1400" dirty="0"/>
              <a:t>En consecuencia, puede concluirse que no es estrictamente necesario incrementar excesivamente la frecuencia de corte de los sensores de corriente y posición, siendo posible optar por dispositivos de menor precisión sin comprometer de forma relevante el desempeño global.</a:t>
            </a:r>
          </a:p>
          <a:p>
            <a:pPr algn="just">
              <a:lnSpc>
                <a:spcPct val="107000"/>
              </a:lnSpc>
              <a:spcBef>
                <a:spcPts val="600"/>
              </a:spcBef>
              <a:spcAft>
                <a:spcPts val="800"/>
              </a:spcAft>
            </a:pP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10086F5-FA72-4AB2-99DE-E67F21D4CDBA}"/>
                  </a:ext>
                </a:extLst>
              </p:cNvPr>
              <p:cNvSpPr txBox="1"/>
              <p:nvPr/>
            </p:nvSpPr>
            <p:spPr>
              <a:xfrm>
                <a:off x="6280849" y="4671890"/>
                <a:ext cx="4609312"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78— Curvas de corriente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𝑐𝑜𝑟𝑟𝑖𝑒𝑛𝑡𝑒</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810086F5-FA72-4AB2-99DE-E67F21D4CDBA}"/>
                  </a:ext>
                </a:extLst>
              </p:cNvPr>
              <p:cNvSpPr txBox="1">
                <a:spLocks noRot="1" noChangeAspect="1" noMove="1" noResize="1" noEditPoints="1" noAdjustHandles="1" noChangeArrowheads="1" noChangeShapeType="1" noTextEdit="1"/>
              </p:cNvSpPr>
              <p:nvPr/>
            </p:nvSpPr>
            <p:spPr>
              <a:xfrm>
                <a:off x="6280849" y="4671890"/>
                <a:ext cx="4609312" cy="267253"/>
              </a:xfrm>
              <a:prstGeom prst="rect">
                <a:avLst/>
              </a:prstGeom>
              <a:blipFill>
                <a:blip r:embed="rId3"/>
                <a:stretch>
                  <a:fillRect b="-13636"/>
                </a:stretch>
              </a:blipFill>
            </p:spPr>
            <p:txBody>
              <a:bodyPr/>
              <a:lstStyle/>
              <a:p>
                <a:r>
                  <a:rPr lang="es-AR">
                    <a:noFill/>
                  </a:rPr>
                  <a:t> </a:t>
                </a:r>
              </a:p>
            </p:txBody>
          </p:sp>
        </mc:Fallback>
      </mc:AlternateContent>
      <p:pic>
        <p:nvPicPr>
          <p:cNvPr id="17" name="Imagen 16">
            <a:extLst>
              <a:ext uri="{FF2B5EF4-FFF2-40B4-BE49-F238E27FC236}">
                <a16:creationId xmlns:a16="http://schemas.microsoft.com/office/drawing/2014/main" id="{4672065E-279F-41D9-85D1-61D7E4FABA3C}"/>
              </a:ext>
            </a:extLst>
          </p:cNvPr>
          <p:cNvPicPr/>
          <p:nvPr/>
        </p:nvPicPr>
        <p:blipFill>
          <a:blip r:embed="rId4">
            <a:extLst>
              <a:ext uri="{28A0092B-C50C-407E-A947-70E740481C1C}">
                <a14:useLocalDpi xmlns:a14="http://schemas.microsoft.com/office/drawing/2010/main" val="0"/>
              </a:ext>
            </a:extLst>
          </a:blip>
          <a:stretch>
            <a:fillRect/>
          </a:stretch>
        </p:blipFill>
        <p:spPr>
          <a:xfrm>
            <a:off x="274320" y="863874"/>
            <a:ext cx="4609312" cy="3764403"/>
          </a:xfrm>
          <a:prstGeom prst="rect">
            <a:avLst/>
          </a:prstGeom>
        </p:spPr>
      </p:pic>
      <p:pic>
        <p:nvPicPr>
          <p:cNvPr id="18" name="Imagen 17">
            <a:extLst>
              <a:ext uri="{FF2B5EF4-FFF2-40B4-BE49-F238E27FC236}">
                <a16:creationId xmlns:a16="http://schemas.microsoft.com/office/drawing/2014/main" id="{BB8444B4-B86C-4052-B46A-E8D6917C2D9A}"/>
              </a:ext>
            </a:extLst>
          </p:cNvPr>
          <p:cNvPicPr/>
          <p:nvPr/>
        </p:nvPicPr>
        <p:blipFill>
          <a:blip r:embed="rId5">
            <a:extLst>
              <a:ext uri="{28A0092B-C50C-407E-A947-70E740481C1C}">
                <a14:useLocalDpi xmlns:a14="http://schemas.microsoft.com/office/drawing/2010/main" val="0"/>
              </a:ext>
            </a:extLst>
          </a:blip>
          <a:stretch>
            <a:fillRect/>
          </a:stretch>
        </p:blipFill>
        <p:spPr>
          <a:xfrm>
            <a:off x="5767708" y="863873"/>
            <a:ext cx="4790313" cy="3764403"/>
          </a:xfrm>
          <a:prstGeom prst="rect">
            <a:avLst/>
          </a:prstGeom>
        </p:spPr>
      </p:pic>
      <p:sp>
        <p:nvSpPr>
          <p:cNvPr id="11" name="Shape 2">
            <a:extLst>
              <a:ext uri="{FF2B5EF4-FFF2-40B4-BE49-F238E27FC236}">
                <a16:creationId xmlns:a16="http://schemas.microsoft.com/office/drawing/2014/main" id="{50E7B2D0-E5D1-4833-AB58-377488E1066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66F3B043-FEC4-434B-8EA4-1E7E66A1F51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78699250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0722" y="116036"/>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65 / ~75</a:t>
            </a:r>
          </a:p>
        </p:txBody>
      </p:sp>
      <mc:AlternateContent xmlns:mc="http://schemas.openxmlformats.org/markup-compatibility/2006" xmlns:a14="http://schemas.microsoft.com/office/drawing/2010/main">
        <mc:Choice Requires="a14">
          <p:sp>
            <p:nvSpPr>
              <p:cNvPr id="7" name="TextBox 6"/>
              <p:cNvSpPr txBox="1"/>
              <p:nvPr/>
            </p:nvSpPr>
            <p:spPr>
              <a:xfrm>
                <a:off x="0" y="736452"/>
                <a:ext cx="12003150" cy="523220"/>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cs typeface="Times New Roman" panose="02020603050405020304" pitchFamily="18" charset="0"/>
                  </a:rPr>
                  <a:t>S</a:t>
                </a:r>
                <a:r>
                  <a:rPr lang="es-AR" sz="1400" dirty="0">
                    <a:effectLst/>
                    <a:latin typeface="Calibri" panose="020F0502020204030204" pitchFamily="34" charset="0"/>
                    <a:ea typeface="Calibri" panose="020F0502020204030204" pitchFamily="34" charset="0"/>
                    <a:cs typeface="Times New Roman" panose="02020603050405020304" pitchFamily="18" charset="0"/>
                  </a:rPr>
                  <a:t>e adopta un modelo aproximado que incluye dos efectos principales: la saturación de tensión y la dinámica asociada al proceso de modulación, la cual se modela mediante un filtro pasa bajos. Las tensiones trifásicas de salida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rPr>
                          <m:t>𝑎𝑠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rPr>
                          <m:t>𝑏𝑠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rPr>
                          <m:t>𝑐𝑠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se encuentran limitadas por la siguiente condición de saturación:</a:t>
                </a:r>
                <a:endParaRPr lang="es-AR" sz="1400" dirty="0">
                  <a:effectLst/>
                  <a:latin typeface="Times New Roman" panose="02020603050405020304" pitchFamily="18" charset="0"/>
                  <a:ea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0" y="736452"/>
                <a:ext cx="12003150" cy="523220"/>
              </a:xfrm>
              <a:prstGeom prst="rect">
                <a:avLst/>
              </a:prstGeom>
              <a:blipFill>
                <a:blip r:embed="rId3"/>
                <a:stretch>
                  <a:fillRect l="-152" t="-2326" b="-10465"/>
                </a:stretch>
              </a:blipFill>
            </p:spPr>
            <p:txBody>
              <a:bodyPr/>
              <a:lstStyle/>
              <a:p>
                <a:r>
                  <a:rPr lang="es-AR">
                    <a:noFill/>
                  </a:rPr>
                  <a:t> </a:t>
                </a:r>
              </a:p>
            </p:txBody>
          </p:sp>
        </mc:Fallback>
      </mc:AlternateContent>
      <p:sp>
        <p:nvSpPr>
          <p:cNvPr id="8" name="Rectangle 7"/>
          <p:cNvSpPr/>
          <p:nvPr/>
        </p:nvSpPr>
        <p:spPr>
          <a:xfrm>
            <a:off x="130090" y="1307839"/>
            <a:ext cx="11482790" cy="50267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0" y="1301595"/>
                <a:ext cx="5247586" cy="449226"/>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effectLst/>
                            <a:latin typeface="Cambria Math" panose="02040503050406030204" pitchFamily="18" charset="0"/>
                          </a:rPr>
                        </m:ctrlPr>
                      </m:dPr>
                      <m:e>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𝑎𝑠</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ar-AE" sz="1400" i="1">
                            <a:solidFill>
                              <a:schemeClr val="tx1"/>
                            </a:solidFill>
                            <a:effectLst/>
                            <a:latin typeface="Cambria Math" panose="02040503050406030204" pitchFamily="18" charset="0"/>
                          </a:rPr>
                        </m:ctrlPr>
                      </m:dPr>
                      <m:e>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𝑏𝑠</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ar-AE" sz="1400" i="1">
                            <a:solidFill>
                              <a:schemeClr val="tx1"/>
                            </a:solidFill>
                            <a:effectLst/>
                            <a:latin typeface="Cambria Math" panose="02040503050406030204" pitchFamily="18" charset="0"/>
                          </a:rPr>
                        </m:ctrlPr>
                      </m:dPr>
                      <m:e>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𝑐𝑠</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ar-AE"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ar-AE" sz="1400" i="1">
                            <a:solidFill>
                              <a:schemeClr val="tx1"/>
                            </a:solidFill>
                            <a:effectLst/>
                            <a:latin typeface="Cambria Math" panose="02040503050406030204" pitchFamily="18" charset="0"/>
                          </a:rPr>
                        </m:ctrlPr>
                      </m:fPr>
                      <m:num>
                        <m:rad>
                          <m:radPr>
                            <m:degHide m:val="on"/>
                            <m:ctrlPr>
                              <a:rPr lang="ar-AE" sz="1400" i="1">
                                <a:solidFill>
                                  <a:schemeClr val="tx1"/>
                                </a:solidFill>
                                <a:effectLst/>
                                <a:latin typeface="Cambria Math" panose="02040503050406030204" pitchFamily="18" charset="0"/>
                              </a:rPr>
                            </m:ctrlPr>
                          </m:radPr>
                          <m:deg/>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e>
                        </m:rad>
                      </m:num>
                      <m:den>
                        <m:rad>
                          <m:radPr>
                            <m:degHide m:val="on"/>
                            <m:ctrlPr>
                              <a:rPr lang="ar-AE" sz="1400" i="1">
                                <a:solidFill>
                                  <a:schemeClr val="tx1"/>
                                </a:solidFill>
                                <a:effectLst/>
                                <a:latin typeface="Cambria Math" panose="02040503050406030204" pitchFamily="18" charset="0"/>
                              </a:rPr>
                            </m:ctrlPr>
                          </m:radPr>
                          <m:deg/>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3</m:t>
                            </m:r>
                          </m:e>
                        </m:rad>
                      </m:den>
                    </m:f>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𝑠𝑙</m:t>
                        </m:r>
                        <m:r>
                          <m:rPr>
                            <m:lit/>
                          </m:rP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_</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s-MX" sz="1400" b="1" dirty="0">
                    <a:solidFill>
                      <a:schemeClr val="tx1"/>
                    </a:solidFill>
                    <a:latin typeface="Calibri"/>
                  </a:rPr>
                  <a:t> ,</a:t>
                </a:r>
                <a:r>
                  <a:rPr lang="ar-AE"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𝑉</m:t>
                        </m:r>
                      </m:e>
                      <m:sub>
                        <m:r>
                          <a:rPr lang="ar-AE" sz="1400" i="1">
                            <a:solidFill>
                              <a:schemeClr val="tx1"/>
                            </a:solidFill>
                            <a:latin typeface="Cambria Math" panose="02040503050406030204" pitchFamily="18" charset="0"/>
                          </a:rPr>
                          <m:t>𝑠𝑙</m:t>
                        </m:r>
                        <m:r>
                          <m:rPr>
                            <m:lit/>
                          </m:rPr>
                          <a:rPr lang="ar-AE" sz="1400" i="1">
                            <a:solidFill>
                              <a:schemeClr val="tx1"/>
                            </a:solidFill>
                            <a:latin typeface="Cambria Math" panose="02040503050406030204" pitchFamily="18" charset="0"/>
                          </a:rPr>
                          <m:t>_</m:t>
                        </m:r>
                        <m:r>
                          <a:rPr lang="ar-AE" sz="1400" i="1">
                            <a:solidFill>
                              <a:schemeClr val="tx1"/>
                            </a:solidFill>
                            <a:latin typeface="Cambria Math" panose="02040503050406030204" pitchFamily="18" charset="0"/>
                          </a:rPr>
                          <m:t>𝑚𝑎𝑥</m:t>
                        </m:r>
                      </m:sub>
                    </m:sSub>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48</m:t>
                    </m:r>
                    <m:r>
                      <a:rPr lang="ar-AE" sz="1400" i="1">
                        <a:solidFill>
                          <a:schemeClr val="tx1"/>
                        </a:solidFill>
                        <a:latin typeface="Cambria Math" panose="02040503050406030204" pitchFamily="18" charset="0"/>
                      </a:rPr>
                      <m:t> </m:t>
                    </m:r>
                    <m:sSub>
                      <m:sSubPr>
                        <m:ctrlPr>
                          <a:rPr lang="ar-AE" sz="1400" i="1">
                            <a:solidFill>
                              <a:schemeClr val="tx1"/>
                            </a:solidFill>
                            <a:latin typeface="Cambria Math" panose="02040503050406030204" pitchFamily="18" charset="0"/>
                          </a:rPr>
                        </m:ctrlPr>
                      </m:sSubPr>
                      <m:e>
                        <m:r>
                          <m:rPr>
                            <m:nor/>
                          </m:rPr>
                          <a:rPr lang="es-AR" sz="1400">
                            <a:solidFill>
                              <a:schemeClr val="tx1"/>
                            </a:solidFill>
                          </a:rPr>
                          <m:t>V</m:t>
                        </m:r>
                      </m:e>
                      <m:sub>
                        <m:r>
                          <m:rPr>
                            <m:nor/>
                          </m:rPr>
                          <a:rPr lang="es-AR" sz="1400">
                            <a:solidFill>
                              <a:schemeClr val="tx1"/>
                            </a:solidFill>
                          </a:rPr>
                          <m:t>rms</m:t>
                        </m:r>
                      </m:sub>
                    </m:sSub>
                  </m:oMath>
                </a14:m>
                <a:endParaRPr lang="ar-AE" sz="1400" b="1" dirty="0">
                  <a:solidFill>
                    <a:schemeClr val="tx1"/>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0" y="1301595"/>
                <a:ext cx="5247586" cy="449226"/>
              </a:xfrm>
              <a:prstGeom prst="rect">
                <a:avLst/>
              </a:prstGeom>
              <a:blipFill>
                <a:blip r:embed="rId4"/>
                <a:stretch>
                  <a:fillRect b="-137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62F2501C-F83B-45C0-A72A-B4CA9374833A}"/>
                  </a:ext>
                </a:extLst>
              </p:cNvPr>
              <p:cNvSpPr txBox="1"/>
              <p:nvPr/>
            </p:nvSpPr>
            <p:spPr>
              <a:xfrm>
                <a:off x="0" y="1885599"/>
                <a:ext cx="11873060" cy="1891352"/>
              </a:xfrm>
              <a:prstGeom prst="rect">
                <a:avLst/>
              </a:prstGeom>
              <a:noFill/>
            </p:spPr>
            <p:txBody>
              <a:bodyPr wrap="square">
                <a:spAutoFit/>
              </a:bodyPr>
              <a:lstStyle/>
              <a:p>
                <a:pPr algn="just"/>
                <a:r>
                  <a:rPr lang="es-AR" sz="1400" dirty="0">
                    <a:effectLst/>
                    <a:latin typeface="Calibri" panose="020F0502020204030204" pitchFamily="34" charset="0"/>
                    <a:ea typeface="Calibri" panose="020F0502020204030204" pitchFamily="34" charset="0"/>
                    <a:cs typeface="Times New Roman" panose="02020603050405020304" pitchFamily="18" charset="0"/>
                  </a:rPr>
                  <a:t>Esta restricción asegura que las tensiones de salida permanezcan dentro de los límites físicos impuestos por la modulación trifásica.</a:t>
                </a:r>
                <a:endParaRPr lang="es-AR" sz="1600" dirty="0">
                  <a:effectLst/>
                  <a:latin typeface="Times New Roman" panose="02020603050405020304" pitchFamily="18" charset="0"/>
                  <a:ea typeface="Times New Roman" panose="02020603050405020304" pitchFamily="18" charset="0"/>
                </a:endParaRPr>
              </a:p>
              <a:p>
                <a:pPr algn="just"/>
                <a:r>
                  <a:rPr lang="es-AR" sz="1400" dirty="0">
                    <a:effectLst/>
                    <a:latin typeface="Calibri" panose="020F0502020204030204" pitchFamily="34" charset="0"/>
                    <a:ea typeface="Calibri" panose="020F0502020204030204" pitchFamily="34" charset="0"/>
                    <a:cs typeface="Times New Roman" panose="02020603050405020304" pitchFamily="18" charset="0"/>
                  </a:rPr>
                  <a:t>Adicionalmente, cada una de las tensiones de fase se modela mediante un filtro pasa bajos de segundo orden con ganancia unitaria, de forma análoga a lo realizado para los sensores no ideales. Este filtro permite representar la dinámica del modulador, introduciendo un retardo y limitando el ancho de banda de las tensiones aplicadas.</a:t>
                </a:r>
                <a:endParaRPr lang="es-AR" sz="1600" dirty="0">
                  <a:effectLst/>
                  <a:latin typeface="Times New Roman" panose="02020603050405020304" pitchFamily="18" charset="0"/>
                  <a:ea typeface="Times New Roman" panose="02020603050405020304" pitchFamily="18" charset="0"/>
                </a:endParaRPr>
              </a:p>
              <a:p>
                <a:pPr>
                  <a:lnSpc>
                    <a:spcPct val="107000"/>
                  </a:lnSpc>
                  <a:spcBef>
                    <a:spcPts val="400"/>
                  </a:spcBef>
                  <a:spcAft>
                    <a:spcPts val="4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Para dicho modelo se adoptan los siguientes parámetros:</a:t>
                </a:r>
              </a:p>
              <a:p>
                <a:pPr marL="285750" lvl="0" indent="-285750">
                  <a:lnSpc>
                    <a:spcPct val="107000"/>
                  </a:lnSpc>
                  <a:spcBef>
                    <a:spcPts val="400"/>
                  </a:spcBef>
                  <a:spcAft>
                    <a:spcPts val="400"/>
                  </a:spcAft>
                  <a:buSzPts val="1000"/>
                  <a:buFont typeface="Arial" panose="020B0604020202020204" pitchFamily="34" charset="0"/>
                  <a:buChar char="•"/>
                  <a:tabLst>
                    <a:tab pos="457200" algn="l"/>
                  </a:tabLst>
                </a:pPr>
                <a:r>
                  <a:rPr lang="es-AR" sz="1400" dirty="0">
                    <a:effectLst/>
                    <a:latin typeface="Calibri" panose="020F0502020204030204" pitchFamily="34" charset="0"/>
                    <a:ea typeface="Calibri" panose="020F0502020204030204" pitchFamily="34" charset="0"/>
                    <a:cs typeface="Times New Roman" panose="02020603050405020304" pitchFamily="18" charset="0"/>
                  </a:rPr>
                  <a:t>Frecuencia natural: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6000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f>
                      <m:fPr>
                        <m:type m:val="lin"/>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𝑟𝑎𝑑</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den>
                    </m:f>
                  </m:oMath>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nSpc>
                    <a:spcPct val="107000"/>
                  </a:lnSpc>
                  <a:spcBef>
                    <a:spcPts val="400"/>
                  </a:spcBef>
                  <a:spcAft>
                    <a:spcPts val="400"/>
                  </a:spcAft>
                  <a:buSzPts val="1000"/>
                  <a:buFont typeface="Arial" panose="020B0604020202020204" pitchFamily="34" charset="0"/>
                  <a:buChar char="•"/>
                  <a:tabLst>
                    <a:tab pos="457200" algn="l"/>
                  </a:tabLst>
                </a:pPr>
                <a:r>
                  <a:rPr lang="es-AR" sz="1400" dirty="0">
                    <a:effectLst/>
                    <a:latin typeface="Calibri" panose="020F0502020204030204" pitchFamily="34" charset="0"/>
                    <a:ea typeface="Calibri" panose="020F0502020204030204" pitchFamily="34" charset="0"/>
                    <a:cs typeface="Times New Roman" panose="02020603050405020304" pitchFamily="18" charset="0"/>
                  </a:rPr>
                  <a:t>Factor de amortiguamiento: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𝜁</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oMath>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CuadroTexto 22">
                <a:extLst>
                  <a:ext uri="{FF2B5EF4-FFF2-40B4-BE49-F238E27FC236}">
                    <a16:creationId xmlns:a16="http://schemas.microsoft.com/office/drawing/2014/main" id="{62F2501C-F83B-45C0-A72A-B4CA9374833A}"/>
                  </a:ext>
                </a:extLst>
              </p:cNvPr>
              <p:cNvSpPr txBox="1">
                <a:spLocks noRot="1" noChangeAspect="1" noMove="1" noResize="1" noEditPoints="1" noAdjustHandles="1" noChangeArrowheads="1" noChangeShapeType="1" noTextEdit="1"/>
              </p:cNvSpPr>
              <p:nvPr/>
            </p:nvSpPr>
            <p:spPr>
              <a:xfrm>
                <a:off x="0" y="1885599"/>
                <a:ext cx="11873060" cy="1891352"/>
              </a:xfrm>
              <a:prstGeom prst="rect">
                <a:avLst/>
              </a:prstGeom>
              <a:blipFill>
                <a:blip r:embed="rId5"/>
                <a:stretch>
                  <a:fillRect l="-154" t="-322" r="-103" b="-6752"/>
                </a:stretch>
              </a:blipFill>
            </p:spPr>
            <p:txBody>
              <a:bodyPr/>
              <a:lstStyle/>
              <a:p>
                <a:r>
                  <a:rPr lang="es-AR">
                    <a:noFill/>
                  </a:rPr>
                  <a:t> </a:t>
                </a:r>
              </a:p>
            </p:txBody>
          </p:sp>
        </mc:Fallback>
      </mc:AlternateContent>
      <p:pic>
        <p:nvPicPr>
          <p:cNvPr id="24" name="Imagen 23">
            <a:extLst>
              <a:ext uri="{FF2B5EF4-FFF2-40B4-BE49-F238E27FC236}">
                <a16:creationId xmlns:a16="http://schemas.microsoft.com/office/drawing/2014/main" id="{12EAC9BE-EE69-47D9-B205-66C80EEAC87C}"/>
              </a:ext>
            </a:extLst>
          </p:cNvPr>
          <p:cNvPicPr/>
          <p:nvPr/>
        </p:nvPicPr>
        <p:blipFill>
          <a:blip r:embed="rId6"/>
          <a:srcRect/>
          <a:stretch/>
        </p:blipFill>
        <p:spPr>
          <a:xfrm>
            <a:off x="5247586" y="2775020"/>
            <a:ext cx="3785084" cy="3772834"/>
          </a:xfrm>
          <a:prstGeom prst="rect">
            <a:avLst/>
          </a:prstGeom>
        </p:spPr>
      </p:pic>
      <p:sp>
        <p:nvSpPr>
          <p:cNvPr id="25" name="CuadroTexto 24">
            <a:extLst>
              <a:ext uri="{FF2B5EF4-FFF2-40B4-BE49-F238E27FC236}">
                <a16:creationId xmlns:a16="http://schemas.microsoft.com/office/drawing/2014/main" id="{E10430F9-FD11-4D6D-9AA9-8EDC2362C113}"/>
              </a:ext>
            </a:extLst>
          </p:cNvPr>
          <p:cNvSpPr txBox="1"/>
          <p:nvPr/>
        </p:nvSpPr>
        <p:spPr>
          <a:xfrm>
            <a:off x="9003707" y="4290460"/>
            <a:ext cx="3187988"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79— Modulador de tensión no ideal</a:t>
            </a:r>
          </a:p>
        </p:txBody>
      </p:sp>
      <p:sp>
        <p:nvSpPr>
          <p:cNvPr id="12" name="Shape 2">
            <a:extLst>
              <a:ext uri="{FF2B5EF4-FFF2-40B4-BE49-F238E27FC236}">
                <a16:creationId xmlns:a16="http://schemas.microsoft.com/office/drawing/2014/main" id="{9CD9A43E-425E-44CA-9898-70312589551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599C1D2D-E224-4B6A-ACA2-9565EA94229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30805"/>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p:pic>
        <p:nvPicPr>
          <p:cNvPr id="12" name="Imagen 11">
            <a:extLst>
              <a:ext uri="{FF2B5EF4-FFF2-40B4-BE49-F238E27FC236}">
                <a16:creationId xmlns:a16="http://schemas.microsoft.com/office/drawing/2014/main" id="{8CE8B700-A663-4796-86D1-FCCEA2EF0637}"/>
              </a:ext>
            </a:extLst>
          </p:cNvPr>
          <p:cNvPicPr/>
          <p:nvPr/>
        </p:nvPicPr>
        <p:blipFill>
          <a:blip r:embed="rId2">
            <a:extLst>
              <a:ext uri="{28A0092B-C50C-407E-A947-70E740481C1C}">
                <a14:useLocalDpi xmlns:a14="http://schemas.microsoft.com/office/drawing/2010/main" val="0"/>
              </a:ext>
            </a:extLst>
          </a:blip>
          <a:stretch>
            <a:fillRect/>
          </a:stretch>
        </p:blipFill>
        <p:spPr>
          <a:xfrm>
            <a:off x="183177" y="849096"/>
            <a:ext cx="5362620" cy="4075222"/>
          </a:xfrm>
          <a:prstGeom prst="rect">
            <a:avLst/>
          </a:prstGeom>
        </p:spPr>
      </p:pic>
      <p:pic>
        <p:nvPicPr>
          <p:cNvPr id="13" name="Imagen 12">
            <a:extLst>
              <a:ext uri="{FF2B5EF4-FFF2-40B4-BE49-F238E27FC236}">
                <a16:creationId xmlns:a16="http://schemas.microsoft.com/office/drawing/2014/main" id="{33568A11-FE22-4A87-8D15-5347606B3DE8}"/>
              </a:ext>
            </a:extLst>
          </p:cNvPr>
          <p:cNvPicPr/>
          <p:nvPr/>
        </p:nvPicPr>
        <p:blipFill>
          <a:blip r:embed="rId3">
            <a:extLst>
              <a:ext uri="{28A0092B-C50C-407E-A947-70E740481C1C}">
                <a14:useLocalDpi xmlns:a14="http://schemas.microsoft.com/office/drawing/2010/main" val="0"/>
              </a:ext>
            </a:extLst>
          </a:blip>
          <a:stretch>
            <a:fillRect/>
          </a:stretch>
        </p:blipFill>
        <p:spPr>
          <a:xfrm>
            <a:off x="6437540" y="849096"/>
            <a:ext cx="5362620" cy="4075222"/>
          </a:xfrm>
          <a:prstGeom prst="rect">
            <a:avLst/>
          </a:prstGeom>
        </p:spPr>
      </p:pic>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990923" y="498424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80—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=6000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990923" y="4984241"/>
                <a:ext cx="4554874" cy="267253"/>
              </a:xfrm>
              <a:prstGeom prst="rect">
                <a:avLst/>
              </a:prstGeom>
              <a:blipFill>
                <a:blip r:embed="rId4"/>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5057944"/>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81—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=18000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5057944"/>
                <a:ext cx="4554874" cy="267253"/>
              </a:xfrm>
              <a:prstGeom prst="rect">
                <a:avLst/>
              </a:prstGeom>
              <a:blipFill>
                <a:blip r:embed="rId5"/>
                <a:stretch>
                  <a:fillRect b="-13636"/>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3CC3B270-7FB9-41C0-8F26-B6E27D8CF480}"/>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70F81246-E218-43E2-B959-73110BCD28A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4413870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25188"/>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990923" y="498424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82—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990923" y="4984241"/>
                <a:ext cx="4554874" cy="267253"/>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4989418"/>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83—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4989418"/>
                <a:ext cx="4554874" cy="267253"/>
              </a:xfrm>
              <a:prstGeom prst="rect">
                <a:avLst/>
              </a:prstGeom>
              <a:blipFill>
                <a:blip r:embed="rId3"/>
                <a:stretch>
                  <a:fillRect b="-13636"/>
                </a:stretch>
              </a:blipFill>
            </p:spPr>
            <p:txBody>
              <a:bodyPr/>
              <a:lstStyle/>
              <a:p>
                <a:r>
                  <a:rPr lang="es-AR">
                    <a:noFill/>
                  </a:rPr>
                  <a:t> </a:t>
                </a:r>
              </a:p>
            </p:txBody>
          </p:sp>
        </mc:Fallback>
      </mc:AlternateContent>
      <p:pic>
        <p:nvPicPr>
          <p:cNvPr id="11" name="Imagen 10">
            <a:extLst>
              <a:ext uri="{FF2B5EF4-FFF2-40B4-BE49-F238E27FC236}">
                <a16:creationId xmlns:a16="http://schemas.microsoft.com/office/drawing/2014/main" id="{E4973BD4-0249-42A8-8055-F0CAB6C18447}"/>
              </a:ext>
            </a:extLst>
          </p:cNvPr>
          <p:cNvPicPr/>
          <p:nvPr/>
        </p:nvPicPr>
        <p:blipFill>
          <a:blip r:embed="rId4">
            <a:extLst>
              <a:ext uri="{28A0092B-C50C-407E-A947-70E740481C1C}">
                <a14:useLocalDpi xmlns:a14="http://schemas.microsoft.com/office/drawing/2010/main" val="0"/>
              </a:ext>
            </a:extLst>
          </a:blip>
          <a:stretch>
            <a:fillRect/>
          </a:stretch>
        </p:blipFill>
        <p:spPr>
          <a:xfrm>
            <a:off x="391839" y="849095"/>
            <a:ext cx="5153957" cy="3949147"/>
          </a:xfrm>
          <a:prstGeom prst="rect">
            <a:avLst/>
          </a:prstGeom>
        </p:spPr>
      </p:pic>
      <p:pic>
        <p:nvPicPr>
          <p:cNvPr id="16" name="Imagen 15">
            <a:extLst>
              <a:ext uri="{FF2B5EF4-FFF2-40B4-BE49-F238E27FC236}">
                <a16:creationId xmlns:a16="http://schemas.microsoft.com/office/drawing/2014/main" id="{7A7F9AFC-9FF5-4F48-9E06-595323B49044}"/>
              </a:ext>
            </a:extLst>
          </p:cNvPr>
          <p:cNvPicPr/>
          <p:nvPr/>
        </p:nvPicPr>
        <p:blipFill>
          <a:blip r:embed="rId5">
            <a:extLst>
              <a:ext uri="{28A0092B-C50C-407E-A947-70E740481C1C}">
                <a14:useLocalDpi xmlns:a14="http://schemas.microsoft.com/office/drawing/2010/main" val="0"/>
              </a:ext>
            </a:extLst>
          </a:blip>
          <a:stretch>
            <a:fillRect/>
          </a:stretch>
        </p:blipFill>
        <p:spPr>
          <a:xfrm>
            <a:off x="6536382" y="749847"/>
            <a:ext cx="5099601" cy="4114383"/>
          </a:xfrm>
          <a:prstGeom prst="rect">
            <a:avLst/>
          </a:prstGeom>
        </p:spPr>
      </p:pic>
      <p:sp>
        <p:nvSpPr>
          <p:cNvPr id="12" name="Shape 2">
            <a:extLst>
              <a:ext uri="{FF2B5EF4-FFF2-40B4-BE49-F238E27FC236}">
                <a16:creationId xmlns:a16="http://schemas.microsoft.com/office/drawing/2014/main" id="{03F873A4-2695-4F27-9435-8C89E6399DC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604B0837-F3DD-4019-A95E-07E441F9485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3721197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54687"/>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819047"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84—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𝑣</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819047" y="4855791"/>
                <a:ext cx="4554874" cy="267253"/>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85—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𝑣</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4855791"/>
                <a:ext cx="4554874" cy="267253"/>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478297AB-B676-4C5D-B6DB-B38DCA301408}"/>
              </a:ext>
            </a:extLst>
          </p:cNvPr>
          <p:cNvPicPr/>
          <p:nvPr/>
        </p:nvPicPr>
        <p:blipFill>
          <a:blip r:embed="rId4">
            <a:extLst>
              <a:ext uri="{28A0092B-C50C-407E-A947-70E740481C1C}">
                <a14:useLocalDpi xmlns:a14="http://schemas.microsoft.com/office/drawing/2010/main" val="0"/>
              </a:ext>
            </a:extLst>
          </a:blip>
          <a:stretch>
            <a:fillRect/>
          </a:stretch>
        </p:blipFill>
        <p:spPr>
          <a:xfrm>
            <a:off x="274320" y="813054"/>
            <a:ext cx="5099601" cy="4016501"/>
          </a:xfrm>
          <a:prstGeom prst="rect">
            <a:avLst/>
          </a:prstGeom>
        </p:spPr>
      </p:pic>
      <p:pic>
        <p:nvPicPr>
          <p:cNvPr id="13" name="Imagen 12">
            <a:extLst>
              <a:ext uri="{FF2B5EF4-FFF2-40B4-BE49-F238E27FC236}">
                <a16:creationId xmlns:a16="http://schemas.microsoft.com/office/drawing/2014/main" id="{ACE9E3A0-B74A-4F2B-B7E1-8009B6134884}"/>
              </a:ext>
            </a:extLst>
          </p:cNvPr>
          <p:cNvPicPr/>
          <p:nvPr/>
        </p:nvPicPr>
        <p:blipFill>
          <a:blip r:embed="rId5">
            <a:extLst>
              <a:ext uri="{28A0092B-C50C-407E-A947-70E740481C1C}">
                <a14:useLocalDpi xmlns:a14="http://schemas.microsoft.com/office/drawing/2010/main" val="0"/>
              </a:ext>
            </a:extLst>
          </a:blip>
          <a:stretch>
            <a:fillRect/>
          </a:stretch>
        </p:blipFill>
        <p:spPr>
          <a:xfrm>
            <a:off x="6607450" y="813055"/>
            <a:ext cx="5028534" cy="4016500"/>
          </a:xfrm>
          <a:prstGeom prst="rect">
            <a:avLst/>
          </a:prstGeom>
        </p:spPr>
      </p:pic>
      <p:sp>
        <p:nvSpPr>
          <p:cNvPr id="11" name="Shape 2">
            <a:extLst>
              <a:ext uri="{FF2B5EF4-FFF2-40B4-BE49-F238E27FC236}">
                <a16:creationId xmlns:a16="http://schemas.microsoft.com/office/drawing/2014/main" id="{1DDBC64F-DC1B-4F09-BB50-4286848ECAF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D7ACFD22-4DCB-49C8-9CB9-18B18129296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83761626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6641"/>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819047"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86—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819047" y="4855791"/>
                <a:ext cx="4554874" cy="267253"/>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87—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4855791"/>
                <a:ext cx="4554874" cy="267253"/>
              </a:xfrm>
              <a:prstGeom prst="rect">
                <a:avLst/>
              </a:prstGeom>
              <a:blipFill>
                <a:blip r:embed="rId3"/>
                <a:stretch>
                  <a:fillRect b="-16279"/>
                </a:stretch>
              </a:blipFill>
            </p:spPr>
            <p:txBody>
              <a:bodyPr/>
              <a:lstStyle/>
              <a:p>
                <a:r>
                  <a:rPr lang="es-AR">
                    <a:noFill/>
                  </a:rPr>
                  <a:t> </a:t>
                </a:r>
              </a:p>
            </p:txBody>
          </p:sp>
        </mc:Fallback>
      </mc:AlternateContent>
      <p:pic>
        <p:nvPicPr>
          <p:cNvPr id="13" name="Imagen 12">
            <a:extLst>
              <a:ext uri="{FF2B5EF4-FFF2-40B4-BE49-F238E27FC236}">
                <a16:creationId xmlns:a16="http://schemas.microsoft.com/office/drawing/2014/main" id="{ACE9E3A0-B74A-4F2B-B7E1-8009B6134884}"/>
              </a:ext>
            </a:extLst>
          </p:cNvPr>
          <p:cNvPicPr/>
          <p:nvPr/>
        </p:nvPicPr>
        <p:blipFill>
          <a:blip r:embed="rId4"/>
          <a:srcRect/>
          <a:stretch/>
        </p:blipFill>
        <p:spPr>
          <a:xfrm>
            <a:off x="6607450" y="1038993"/>
            <a:ext cx="5028534" cy="3564623"/>
          </a:xfrm>
          <a:prstGeom prst="rect">
            <a:avLst/>
          </a:prstGeom>
        </p:spPr>
      </p:pic>
      <p:pic>
        <p:nvPicPr>
          <p:cNvPr id="11" name="Imagen 10">
            <a:extLst>
              <a:ext uri="{FF2B5EF4-FFF2-40B4-BE49-F238E27FC236}">
                <a16:creationId xmlns:a16="http://schemas.microsoft.com/office/drawing/2014/main" id="{B4BB8278-956E-4087-AEE8-6D5AE12D0785}"/>
              </a:ext>
            </a:extLst>
          </p:cNvPr>
          <p:cNvPicPr/>
          <p:nvPr/>
        </p:nvPicPr>
        <p:blipFill>
          <a:blip r:embed="rId5">
            <a:extLst>
              <a:ext uri="{28A0092B-C50C-407E-A947-70E740481C1C}">
                <a14:useLocalDpi xmlns:a14="http://schemas.microsoft.com/office/drawing/2010/main" val="0"/>
              </a:ext>
            </a:extLst>
          </a:blip>
          <a:stretch>
            <a:fillRect/>
          </a:stretch>
        </p:blipFill>
        <p:spPr>
          <a:xfrm>
            <a:off x="320040" y="893263"/>
            <a:ext cx="5028534" cy="4016500"/>
          </a:xfrm>
          <a:prstGeom prst="rect">
            <a:avLst/>
          </a:prstGeom>
        </p:spPr>
      </p:pic>
      <p:sp>
        <p:nvSpPr>
          <p:cNvPr id="12" name="Shape 2">
            <a:extLst>
              <a:ext uri="{FF2B5EF4-FFF2-40B4-BE49-F238E27FC236}">
                <a16:creationId xmlns:a16="http://schemas.microsoft.com/office/drawing/2014/main" id="{F3A8D687-6101-4B62-B00D-5E521EAFA2E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F802A1B3-E2DE-48B5-BCFA-A72B89EF8AD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40791785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97178" y="91479"/>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p:sp>
        <p:nvSpPr>
          <p:cNvPr id="12" name="TextBox 16">
            <a:extLst>
              <a:ext uri="{FF2B5EF4-FFF2-40B4-BE49-F238E27FC236}">
                <a16:creationId xmlns:a16="http://schemas.microsoft.com/office/drawing/2014/main" id="{7B305629-F234-40F9-AA87-AA6BFB073DFB}"/>
              </a:ext>
            </a:extLst>
          </p:cNvPr>
          <p:cNvSpPr txBox="1"/>
          <p:nvPr/>
        </p:nvSpPr>
        <p:spPr>
          <a:xfrm>
            <a:off x="144507" y="885152"/>
            <a:ext cx="11430000" cy="338554"/>
          </a:xfrm>
          <a:prstGeom prst="rect">
            <a:avLst/>
          </a:prstGeom>
          <a:noFill/>
        </p:spPr>
        <p:txBody>
          <a:bodyPr wrap="square">
            <a:spAutoFit/>
          </a:bodyPr>
          <a:lstStyle/>
          <a:p>
            <a:pPr algn="l"/>
            <a:r>
              <a:rPr lang="es-AR" sz="1600" b="1" i="0" dirty="0">
                <a:solidFill>
                  <a:srgbClr val="1A3A6B"/>
                </a:solidFill>
                <a:latin typeface="Calibri"/>
              </a:rPr>
              <a:t>Conclusiones:</a:t>
            </a:r>
          </a:p>
        </p:txBody>
      </p:sp>
      <p:sp>
        <p:nvSpPr>
          <p:cNvPr id="16" name="CuadroTexto 15">
            <a:extLst>
              <a:ext uri="{FF2B5EF4-FFF2-40B4-BE49-F238E27FC236}">
                <a16:creationId xmlns:a16="http://schemas.microsoft.com/office/drawing/2014/main" id="{13AA8040-65B7-4B73-B893-E8810EA99AA6}"/>
              </a:ext>
            </a:extLst>
          </p:cNvPr>
          <p:cNvSpPr txBox="1"/>
          <p:nvPr/>
        </p:nvSpPr>
        <p:spPr>
          <a:xfrm>
            <a:off x="274319" y="1406663"/>
            <a:ext cx="11597335" cy="3742307"/>
          </a:xfrm>
          <a:prstGeom prst="rect">
            <a:avLst/>
          </a:prstGeom>
          <a:noFill/>
        </p:spPr>
        <p:txBody>
          <a:bodyPr wrap="square">
            <a:spAutoFit/>
          </a:bodyPr>
          <a:lstStyle/>
          <a:p>
            <a:r>
              <a:rPr lang="es-MX" sz="1600" dirty="0"/>
              <a:t>Con la frecuencia inicial del modulador, el sistema presenta comportamiento inestable. El modulador no logra seguir las variaciones de las tensiones de referencia, por lo que la planta recibe valores incorrectos en sus entradas.</a:t>
            </a:r>
          </a:p>
          <a:p>
            <a:endParaRPr lang="es-MX" sz="1600" dirty="0"/>
          </a:p>
          <a:p>
            <a:r>
              <a:rPr lang="es-MX" sz="1600" dirty="0"/>
              <a:t>Al incrementar la frecuencia natural del modulador se obtiene una mejora significativa: el modulador sigue con mayor fidelidad las tensiones de referencia, logrando una representación más precisa de la dinámica real.</a:t>
            </a:r>
          </a:p>
          <a:p>
            <a:endParaRPr lang="es-MX" sz="1600" dirty="0"/>
          </a:p>
          <a:p>
            <a:r>
              <a:rPr lang="es-MX" sz="1600" dirty="0"/>
              <a:t>Condición necesaria para el correcto funcionamiento: el modulador debe poseer una dinámica considerablemente más rápida que la del resto del sistema. Se obtiene un desempeño adecuado para valores de frecuencia del orden del triple de la inicial.</a:t>
            </a:r>
          </a:p>
          <a:p>
            <a:endParaRPr lang="es-MX" sz="1600" dirty="0"/>
          </a:p>
          <a:p>
            <a:pPr algn="just">
              <a:lnSpc>
                <a:spcPct val="107000"/>
              </a:lnSpc>
              <a:spcAft>
                <a:spcPts val="800"/>
              </a:spcAft>
            </a:pPr>
            <a:r>
              <a:rPr lang="es-AR" sz="1600" dirty="0">
                <a:effectLst/>
                <a:ea typeface="Calibri" panose="020F0502020204030204" pitchFamily="34" charset="0"/>
                <a:cs typeface="Times New Roman" panose="02020603050405020304" pitchFamily="18" charset="0"/>
              </a:rPr>
              <a:t>En caso de contar con sensores no ideales, es necesario que el modulador presente una frecuencia aún mayor para compensar las limitaciones introducidas por estos.</a:t>
            </a:r>
          </a:p>
          <a:p>
            <a:pPr marL="285750" indent="-285750">
              <a:buFont typeface="Arial" panose="020B0604020202020204" pitchFamily="34" charset="0"/>
              <a:buChar char="•"/>
            </a:pPr>
            <a:r>
              <a:rPr lang="es-MX" sz="1600" dirty="0"/>
              <a:t>Con sensores ideales, basta con que el modulador sea suficientemente más rápido que la planta.</a:t>
            </a:r>
          </a:p>
          <a:p>
            <a:pPr marL="285750" indent="-285750">
              <a:buFont typeface="Arial" panose="020B0604020202020204" pitchFamily="34" charset="0"/>
              <a:buChar char="•"/>
            </a:pPr>
            <a:r>
              <a:rPr lang="es-MX" sz="1600" dirty="0"/>
              <a:t>Con sensores no ideales (dinámica más lenta), el modulador debe operar a una frecuencia aún mayor para compensar las limitaciones introducidas por estos y garantizar estabilidad.</a:t>
            </a:r>
          </a:p>
        </p:txBody>
      </p:sp>
      <p:sp>
        <p:nvSpPr>
          <p:cNvPr id="8" name="Shape 2">
            <a:extLst>
              <a:ext uri="{FF2B5EF4-FFF2-40B4-BE49-F238E27FC236}">
                <a16:creationId xmlns:a16="http://schemas.microsoft.com/office/drawing/2014/main" id="{B20DBDDD-CAF2-4802-AD89-F2BF028F931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01D5CA00-3EB7-4B9F-A894-03874397A09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1955718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Diseño final y discretización</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Sistema continuo completo · Tustin · Validación del controlador discreto</a:t>
            </a:r>
          </a:p>
        </p:txBody>
      </p:sp>
      <p:sp>
        <p:nvSpPr>
          <p:cNvPr id="5" name="Shape 4">
            <a:extLst>
              <a:ext uri="{FF2B5EF4-FFF2-40B4-BE49-F238E27FC236}">
                <a16:creationId xmlns:a16="http://schemas.microsoft.com/office/drawing/2014/main" id="{1F9414B9-10F4-4036-B821-DE35287CE689}"/>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2218"/>
            <a:ext cx="8232125" cy="415498"/>
          </a:xfrm>
          <a:prstGeom prst="rect">
            <a:avLst/>
          </a:prstGeom>
          <a:noFill/>
        </p:spPr>
        <p:txBody>
          <a:bodyPr wrap="none">
            <a:spAutoFit/>
          </a:bodyPr>
          <a:lstStyle/>
          <a:p>
            <a:pPr algn="l"/>
            <a:r>
              <a:rPr lang="es-AR" sz="2100" b="1" dirty="0">
                <a:solidFill>
                  <a:srgbClr val="FFFFFF"/>
                </a:solidFill>
                <a:latin typeface="Cambria"/>
              </a:rPr>
              <a:t>Sistema continuo completo — Parámetros finales del controlador</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67 / ~75</a:t>
            </a:r>
          </a:p>
        </p:txBody>
      </p:sp>
      <p:sp>
        <p:nvSpPr>
          <p:cNvPr id="13" name="CuadroTexto 12">
            <a:extLst>
              <a:ext uri="{FF2B5EF4-FFF2-40B4-BE49-F238E27FC236}">
                <a16:creationId xmlns:a16="http://schemas.microsoft.com/office/drawing/2014/main" id="{80E6232C-4CE1-44D3-81B4-072AE205783C}"/>
              </a:ext>
            </a:extLst>
          </p:cNvPr>
          <p:cNvSpPr txBox="1"/>
          <p:nvPr/>
        </p:nvSpPr>
        <p:spPr>
          <a:xfrm>
            <a:off x="274320" y="878799"/>
            <a:ext cx="11795759" cy="830997"/>
          </a:xfrm>
          <a:prstGeom prst="rect">
            <a:avLst/>
          </a:prstGeom>
          <a:noFill/>
        </p:spPr>
        <p:txBody>
          <a:bodyPr wrap="square">
            <a:spAutoFit/>
          </a:bodyPr>
          <a:lstStyle/>
          <a:p>
            <a:pPr algn="just"/>
            <a:r>
              <a:rPr lang="es-AR" sz="1600" dirty="0">
                <a:effectLst/>
                <a:latin typeface="Calibri" panose="020F0502020204030204" pitchFamily="34" charset="0"/>
                <a:ea typeface="Times New Roman" panose="02020603050405020304" pitchFamily="18" charset="0"/>
              </a:rPr>
              <a:t>El controlador completo integra, en orden, los bloques desarrollados a lo largo del trabajo: set-point, observador aumentado con acción integral, PID externo, modulador de torque y lazos de corriente. Todos los parámetros se conservan sin modificación al pasar a tiempo discreto. Resumen de parámetros:</a:t>
            </a:r>
            <a:endParaRPr lang="es-AR"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4" name="Tabla 13">
                <a:extLst>
                  <a:ext uri="{FF2B5EF4-FFF2-40B4-BE49-F238E27FC236}">
                    <a16:creationId xmlns:a16="http://schemas.microsoft.com/office/drawing/2014/main" id="{05E8C9E8-69FB-402E-B4CB-3F501E50F29D}"/>
                  </a:ext>
                </a:extLst>
              </p:cNvPr>
              <p:cNvGraphicFramePr>
                <a:graphicFrameLocks noGrp="1"/>
              </p:cNvGraphicFramePr>
              <p:nvPr>
                <p:extLst>
                  <p:ext uri="{D42A27DB-BD31-4B8C-83A1-F6EECF244321}">
                    <p14:modId xmlns:p14="http://schemas.microsoft.com/office/powerpoint/2010/main" val="400564117"/>
                  </p:ext>
                </p:extLst>
              </p:nvPr>
            </p:nvGraphicFramePr>
            <p:xfrm>
              <a:off x="510684" y="2003236"/>
              <a:ext cx="10669506" cy="4114759"/>
            </p:xfrm>
            <a:graphic>
              <a:graphicData uri="http://schemas.openxmlformats.org/drawingml/2006/table">
                <a:tbl>
                  <a:tblPr firstRow="1" firstCol="1" bandRow="1">
                    <a:tableStyleId>{5C22544A-7EE6-4342-B048-85BDC9FD1C3A}</a:tableStyleId>
                  </a:tblPr>
                  <a:tblGrid>
                    <a:gridCol w="2550712">
                      <a:extLst>
                        <a:ext uri="{9D8B030D-6E8A-4147-A177-3AD203B41FA5}">
                          <a16:colId xmlns:a16="http://schemas.microsoft.com/office/drawing/2014/main" val="4030613405"/>
                        </a:ext>
                      </a:extLst>
                    </a:gridCol>
                    <a:gridCol w="8118794">
                      <a:extLst>
                        <a:ext uri="{9D8B030D-6E8A-4147-A177-3AD203B41FA5}">
                          <a16:colId xmlns:a16="http://schemas.microsoft.com/office/drawing/2014/main" val="787142213"/>
                        </a:ext>
                      </a:extLst>
                    </a:gridCol>
                  </a:tblGrid>
                  <a:tr h="318487">
                    <a:tc>
                      <a:txBody>
                        <a:bodyPr/>
                        <a:lstStyle/>
                        <a:p>
                          <a:pPr algn="ctr"/>
                          <a:r>
                            <a:rPr lang="es-AR" sz="1400">
                              <a:effectLst/>
                            </a:rPr>
                            <a:t>Bloque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400" dirty="0">
                              <a:effectLst/>
                            </a:rPr>
                            <a:t>Parámetros</a:t>
                          </a:r>
                          <a:endParaRPr lang="es-AR"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0881623"/>
                      </a:ext>
                    </a:extLst>
                  </a:tr>
                  <a:tr h="650004">
                    <a:tc>
                      <a:txBody>
                        <a:bodyPr/>
                        <a:lstStyle/>
                        <a:p>
                          <a:pPr algn="ctr"/>
                          <a:r>
                            <a:rPr lang="es-AR" sz="1400">
                              <a:effectLst/>
                            </a:rPr>
                            <a:t>PID externo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𝑏</m:t>
                                    </m:r>
                                  </m:e>
                                  <m:sub>
                                    <m:r>
                                      <a:rPr lang="es-AR" sz="1400">
                                        <a:effectLst/>
                                        <a:latin typeface="Cambria Math" panose="02040503050406030204" pitchFamily="18" charset="0"/>
                                      </a:rPr>
                                      <m:t>𝑎</m:t>
                                    </m:r>
                                  </m:sub>
                                </m:sSub>
                                <m:r>
                                  <a:rPr lang="es-AR" sz="1400">
                                    <a:effectLst/>
                                    <a:latin typeface="Cambria Math" panose="02040503050406030204" pitchFamily="18" charset="0"/>
                                  </a:rPr>
                                  <m:t>=0.03957</m:t>
                                </m:r>
                                <m:f>
                                  <m:fPr>
                                    <m:ctrlPr>
                                      <a:rPr lang="es-AR" sz="1400" i="1">
                                        <a:effectLst/>
                                        <a:latin typeface="Cambria Math" panose="02040503050406030204" pitchFamily="18" charset="0"/>
                                      </a:rPr>
                                    </m:ctrlPr>
                                  </m:fPr>
                                  <m:num>
                                    <m:r>
                                      <a:rPr lang="es-AR" sz="1400">
                                        <a:effectLst/>
                                        <a:latin typeface="Cambria Math" panose="02040503050406030204" pitchFamily="18" charset="0"/>
                                      </a:rPr>
                                      <m:t>𝑁</m:t>
                                    </m:r>
                                    <m:r>
                                      <a:rPr lang="es-AR" sz="1400">
                                        <a:effectLst/>
                                        <a:latin typeface="Cambria Math" panose="02040503050406030204" pitchFamily="18" charset="0"/>
                                      </a:rPr>
                                      <m:t>⋅</m:t>
                                    </m:r>
                                    <m:r>
                                      <a:rPr lang="es-AR" sz="1400">
                                        <a:effectLst/>
                                        <a:latin typeface="Cambria Math" panose="02040503050406030204" pitchFamily="18" charset="0"/>
                                      </a:rPr>
                                      <m:t>𝑚</m:t>
                                    </m:r>
                                  </m:num>
                                  <m:den>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den>
                                </m:f>
                                <m:r>
                                  <a:rPr lang="es-AR" sz="1400">
                                    <a:effectLst/>
                                    <a:latin typeface="Cambria Math" panose="02040503050406030204" pitchFamily="18" charset="0"/>
                                  </a:rPr>
                                  <m:t>,</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𝑠𝑎</m:t>
                                    </m:r>
                                  </m:sub>
                                </m:sSub>
                                <m:r>
                                  <a:rPr lang="es-AR" sz="1400">
                                    <a:effectLst/>
                                    <a:latin typeface="Cambria Math" panose="02040503050406030204" pitchFamily="18" charset="0"/>
                                  </a:rPr>
                                  <m:t>=31.6556</m:t>
                                </m:r>
                                <m:f>
                                  <m:fPr>
                                    <m:ctrlPr>
                                      <a:rPr lang="es-AR" sz="1400" i="1">
                                        <a:effectLst/>
                                        <a:latin typeface="Cambria Math" panose="02040503050406030204" pitchFamily="18" charset="0"/>
                                      </a:rPr>
                                    </m:ctrlPr>
                                  </m:fPr>
                                  <m:num>
                                    <m:r>
                                      <a:rPr lang="es-AR" sz="1400">
                                        <a:effectLst/>
                                        <a:latin typeface="Cambria Math" panose="02040503050406030204" pitchFamily="18" charset="0"/>
                                      </a:rPr>
                                      <m:t>𝑁</m:t>
                                    </m:r>
                                    <m:r>
                                      <a:rPr lang="es-AR" sz="1400">
                                        <a:effectLst/>
                                        <a:latin typeface="Cambria Math" panose="02040503050406030204" pitchFamily="18" charset="0"/>
                                      </a:rPr>
                                      <m:t>⋅</m:t>
                                    </m:r>
                                    <m:r>
                                      <a:rPr lang="es-AR" sz="1400">
                                        <a:effectLst/>
                                        <a:latin typeface="Cambria Math" panose="02040503050406030204" pitchFamily="18" charset="0"/>
                                      </a:rPr>
                                      <m:t>𝑚</m:t>
                                    </m:r>
                                  </m:num>
                                  <m:den>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2</m:t>
                                            </m:r>
                                          </m:sup>
                                        </m:sSup>
                                      </m:den>
                                    </m:f>
                                  </m:den>
                                </m:f>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𝑠𝑖𝑎</m:t>
                                    </m:r>
                                  </m:sub>
                                </m:sSub>
                                <m:r>
                                  <a:rPr lang="es-AR" sz="1400">
                                    <a:effectLst/>
                                    <a:latin typeface="Cambria Math" panose="02040503050406030204" pitchFamily="18" charset="0"/>
                                  </a:rPr>
                                  <m:t>=10129.78</m:t>
                                </m:r>
                                <m:f>
                                  <m:fPr>
                                    <m:ctrlPr>
                                      <a:rPr lang="es-AR" sz="1400" i="1">
                                        <a:effectLst/>
                                        <a:latin typeface="Cambria Math" panose="02040503050406030204" pitchFamily="18" charset="0"/>
                                      </a:rPr>
                                    </m:ctrlPr>
                                  </m:fPr>
                                  <m:num>
                                    <m:r>
                                      <a:rPr lang="es-AR" sz="1400">
                                        <a:effectLst/>
                                        <a:latin typeface="Cambria Math" panose="02040503050406030204" pitchFamily="18" charset="0"/>
                                      </a:rPr>
                                      <m:t>𝑁</m:t>
                                    </m:r>
                                    <m:r>
                                      <a:rPr lang="es-AR" sz="1400">
                                        <a:effectLst/>
                                        <a:latin typeface="Cambria Math" panose="02040503050406030204" pitchFamily="18" charset="0"/>
                                      </a:rPr>
                                      <m:t>⋅</m:t>
                                    </m:r>
                                    <m:r>
                                      <a:rPr lang="es-AR" sz="1400">
                                        <a:effectLst/>
                                        <a:latin typeface="Cambria Math" panose="02040503050406030204" pitchFamily="18" charset="0"/>
                                      </a:rPr>
                                      <m:t>𝑚</m:t>
                                    </m:r>
                                  </m:num>
                                  <m:den>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3</m:t>
                                            </m:r>
                                          </m:sup>
                                        </m:sSup>
                                      </m:den>
                                    </m:f>
                                  </m:den>
                                </m:f>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6996979"/>
                      </a:ext>
                    </a:extLst>
                  </a:tr>
                  <a:tr h="651451">
                    <a:tc>
                      <a:txBody>
                        <a:bodyPr/>
                        <a:lstStyle/>
                        <a:p>
                          <a:pPr algn="ctr"/>
                          <a:r>
                            <a:rPr lang="es-AR" sz="1400">
                              <a:effectLst/>
                            </a:rPr>
                            <a:t>Observador aumentado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𝑘</m:t>
                                    </m:r>
                                  </m:e>
                                  <m:sub>
                                    <m:r>
                                      <a:rPr lang="es-AR" sz="1400">
                                        <a:effectLst/>
                                        <a:latin typeface="Cambria Math" panose="02040503050406030204" pitchFamily="18" charset="0"/>
                                      </a:rPr>
                                      <m:t>𝜃</m:t>
                                    </m:r>
                                    <m:r>
                                      <a:rPr lang="es-AR" sz="1400">
                                        <a:effectLst/>
                                        <a:latin typeface="Cambria Math" panose="02040503050406030204" pitchFamily="18" charset="0"/>
                                      </a:rPr>
                                      <m:t>​</m:t>
                                    </m:r>
                                  </m:sub>
                                </m:sSub>
                                <m:r>
                                  <a:rPr lang="es-AR" sz="1400">
                                    <a:effectLst/>
                                    <a:latin typeface="Cambria Math" panose="02040503050406030204" pitchFamily="18" charset="0"/>
                                  </a:rPr>
                                  <m:t>=9.6×</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3</m:t>
                                    </m:r>
                                  </m:sup>
                                </m:sSup>
                                <m:r>
                                  <a:rPr lang="es-AR" sz="1400">
                                    <a:effectLst/>
                                    <a:latin typeface="Cambria Math" panose="02040503050406030204" pitchFamily="18" charset="0"/>
                                  </a:rPr>
                                  <m:t>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𝜔</m:t>
                                    </m:r>
                                    <m:r>
                                      <a:rPr lang="es-AR" sz="1400">
                                        <a:effectLst/>
                                        <a:latin typeface="Cambria Math" panose="02040503050406030204" pitchFamily="18" charset="0"/>
                                      </a:rPr>
                                      <m:t>​</m:t>
                                    </m:r>
                                  </m:sub>
                                </m:sSub>
                                <m:r>
                                  <a:rPr lang="es-AR" sz="1400">
                                    <a:effectLst/>
                                    <a:latin typeface="Cambria Math" panose="02040503050406030204" pitchFamily="18" charset="0"/>
                                  </a:rPr>
                                  <m:t>=3.072×</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7</m:t>
                                    </m:r>
                                  </m:sup>
                                </m:sSup>
                                <m:f>
                                  <m:fPr>
                                    <m:type m:val="lin"/>
                                    <m:ctrlPr>
                                      <a:rPr lang="es-AR" sz="1400" i="1">
                                        <a:effectLst/>
                                        <a:latin typeface="Cambria Math" panose="02040503050406030204" pitchFamily="18" charset="0"/>
                                      </a:rPr>
                                    </m:ctrlPr>
                                  </m:fPr>
                                  <m:num>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𝑟𝑎𝑑</m:t>
                                        </m:r>
                                      </m:e>
                                      <m:sup>
                                        <m:r>
                                          <a:rPr lang="es-AR" sz="1400">
                                            <a:effectLst/>
                                            <a:latin typeface="Cambria Math" panose="02040503050406030204" pitchFamily="18" charset="0"/>
                                          </a:rPr>
                                          <m:t>2</m:t>
                                        </m:r>
                                      </m:sup>
                                    </m:sSup>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2</m:t>
                                        </m:r>
                                      </m:sup>
                                    </m:sSup>
                                  </m:den>
                                </m:f>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𝑖</m:t>
                                    </m:r>
                                  </m:sub>
                                </m:sSub>
                                <m:r>
                                  <a:rPr lang="es-AR" sz="1400">
                                    <a:effectLst/>
                                    <a:latin typeface="Cambria Math" panose="02040503050406030204" pitchFamily="18" charset="0"/>
                                  </a:rPr>
                                  <m:t>=3.2768×</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10</m:t>
                                    </m:r>
                                  </m:sup>
                                </m:sSup>
                                <m:f>
                                  <m:fPr>
                                    <m:type m:val="lin"/>
                                    <m:ctrlPr>
                                      <a:rPr lang="es-AR" sz="1400" i="1">
                                        <a:effectLst/>
                                        <a:latin typeface="Cambria Math" panose="02040503050406030204" pitchFamily="18" charset="0"/>
                                      </a:rPr>
                                    </m:ctrlPr>
                                  </m:fPr>
                                  <m:num>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𝑟𝑎𝑑</m:t>
                                        </m:r>
                                      </m:e>
                                      <m:sup>
                                        <m:r>
                                          <a:rPr lang="es-AR" sz="1400">
                                            <a:effectLst/>
                                            <a:latin typeface="Cambria Math" panose="02040503050406030204" pitchFamily="18" charset="0"/>
                                          </a:rPr>
                                          <m:t>3</m:t>
                                        </m:r>
                                      </m:sup>
                                    </m:sSup>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3</m:t>
                                        </m:r>
                                      </m:sup>
                                    </m:sSup>
                                  </m:den>
                                </m:f>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71997362"/>
                      </a:ext>
                    </a:extLst>
                  </a:tr>
                  <a:tr h="498240">
                    <a:tc>
                      <a:txBody>
                        <a:bodyPr/>
                        <a:lstStyle/>
                        <a:p>
                          <a:pPr algn="ctr"/>
                          <a:r>
                            <a:rPr lang="es-AR" sz="1400">
                              <a:effectLst/>
                            </a:rPr>
                            <a:t>Lazo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sSubSup>
                                  <m:sSubSupPr>
                                    <m:ctrlPr>
                                      <a:rPr lang="es-AR" sz="1400" i="1">
                                        <a:effectLst/>
                                        <a:latin typeface="Cambria Math" panose="02040503050406030204" pitchFamily="18" charset="0"/>
                                      </a:rPr>
                                    </m:ctrlPr>
                                  </m:sSubSupPr>
                                  <m:e>
                                    <m:r>
                                      <a:rPr lang="es-AR" sz="1400">
                                        <a:effectLst/>
                                        <a:latin typeface="Cambria Math" panose="02040503050406030204" pitchFamily="18" charset="0"/>
                                      </a:rPr>
                                      <m:t>𝑅</m:t>
                                    </m:r>
                                  </m:e>
                                  <m:sub>
                                    <m:r>
                                      <a:rPr lang="es-AR" sz="1400">
                                        <a:effectLst/>
                                        <a:latin typeface="Cambria Math" panose="02040503050406030204" pitchFamily="18" charset="0"/>
                                      </a:rPr>
                                      <m:t>𝑞</m:t>
                                    </m:r>
                                  </m:sub>
                                  <m:sup>
                                    <m:r>
                                      <a:rPr lang="es-AR" sz="1400">
                                        <a:effectLst/>
                                        <a:latin typeface="Cambria Math" panose="02040503050406030204" pitchFamily="18" charset="0"/>
                                      </a:rPr>
                                      <m:t>′</m:t>
                                    </m:r>
                                  </m:sup>
                                </m:sSubSup>
                                <m:r>
                                  <a:rPr lang="es-AR" sz="1400">
                                    <a:effectLst/>
                                    <a:latin typeface="Cambria Math" panose="02040503050406030204" pitchFamily="18" charset="0"/>
                                  </a:rPr>
                                  <m:t>=29 </m:t>
                                </m:r>
                                <m:r>
                                  <a:rPr lang="es-AR" sz="1400">
                                    <a:effectLst/>
                                    <a:latin typeface="Cambria Math" panose="02040503050406030204" pitchFamily="18" charset="0"/>
                                  </a:rPr>
                                  <m:t>𝛺</m:t>
                                </m:r>
                                <m:r>
                                  <a:rPr lang="es-AR" sz="1400">
                                    <a:effectLst/>
                                    <a:latin typeface="Cambria Math" panose="02040503050406030204" pitchFamily="18" charset="0"/>
                                  </a:rPr>
                                  <m:t>,</m:t>
                                </m:r>
                                <m:sSubSup>
                                  <m:sSubSupPr>
                                    <m:ctrlPr>
                                      <a:rPr lang="es-AR" sz="1400" i="1">
                                        <a:effectLst/>
                                        <a:latin typeface="Cambria Math" panose="02040503050406030204" pitchFamily="18" charset="0"/>
                                      </a:rPr>
                                    </m:ctrlPr>
                                  </m:sSubSupPr>
                                  <m:e>
                                    <m:r>
                                      <a:rPr lang="es-AR" sz="1400">
                                        <a:effectLst/>
                                        <a:latin typeface="Cambria Math" panose="02040503050406030204" pitchFamily="18" charset="0"/>
                                      </a:rPr>
                                      <m:t> </m:t>
                                    </m:r>
                                    <m:r>
                                      <a:rPr lang="es-AR" sz="1400">
                                        <a:effectLst/>
                                        <a:latin typeface="Cambria Math" panose="02040503050406030204" pitchFamily="18" charset="0"/>
                                      </a:rPr>
                                      <m:t>𝑅</m:t>
                                    </m:r>
                                  </m:e>
                                  <m:sub>
                                    <m:r>
                                      <a:rPr lang="es-AR" sz="1400">
                                        <a:effectLst/>
                                        <a:latin typeface="Cambria Math" panose="02040503050406030204" pitchFamily="18" charset="0"/>
                                      </a:rPr>
                                      <m:t>𝑑</m:t>
                                    </m:r>
                                  </m:sub>
                                  <m:sup>
                                    <m:r>
                                      <a:rPr lang="es-AR" sz="1400">
                                        <a:effectLst/>
                                        <a:latin typeface="Cambria Math" panose="02040503050406030204" pitchFamily="18" charset="0"/>
                                      </a:rPr>
                                      <m:t>′</m:t>
                                    </m:r>
                                  </m:sup>
                                </m:sSubSup>
                                <m:r>
                                  <a:rPr lang="es-AR" sz="1400">
                                    <a:effectLst/>
                                    <a:latin typeface="Cambria Math" panose="02040503050406030204" pitchFamily="18" charset="0"/>
                                  </a:rPr>
                                  <m:t>=33 </m:t>
                                </m:r>
                                <m:r>
                                  <a:rPr lang="es-AR" sz="1400">
                                    <a:effectLst/>
                                    <a:latin typeface="Cambria Math" panose="02040503050406030204" pitchFamily="18" charset="0"/>
                                  </a:rPr>
                                  <m:t>𝛺</m:t>
                                </m:r>
                                <m:r>
                                  <a:rPr lang="es-AR" sz="1400">
                                    <a:effectLst/>
                                    <a:latin typeface="Cambria Math" panose="02040503050406030204" pitchFamily="18" charset="0"/>
                                  </a:rPr>
                                  <m:t>, </m:t>
                                </m:r>
                                <m:r>
                                  <a:rPr lang="es-AR" sz="1400">
                                    <a:effectLst/>
                                    <a:latin typeface="Cambria Math" panose="02040503050406030204" pitchFamily="18" charset="0"/>
                                  </a:rPr>
                                  <m:t>𝑐𝑜𝑛</m:t>
                                </m:r>
                                <m:r>
                                  <a:rPr lang="es-AR" sz="1400">
                                    <a:effectLst/>
                                    <a:latin typeface="Cambria Math" panose="02040503050406030204" pitchFamily="18" charset="0"/>
                                  </a:rPr>
                                  <m:t> </m:t>
                                </m:r>
                                <m:r>
                                  <a:rPr lang="es-AR" sz="1400">
                                    <a:effectLst/>
                                    <a:latin typeface="Cambria Math" panose="02040503050406030204" pitchFamily="18" charset="0"/>
                                  </a:rPr>
                                  <m:t>𝑝𝑜𝑙𝑜</m:t>
                                </m:r>
                                <m:r>
                                  <a:rPr lang="es-AR" sz="1400">
                                    <a:effectLst/>
                                    <a:latin typeface="Cambria Math" panose="02040503050406030204" pitchFamily="18" charset="0"/>
                                  </a:rPr>
                                  <m:t> </m:t>
                                </m:r>
                                <m:r>
                                  <a:rPr lang="es-AR" sz="1400">
                                    <a:effectLst/>
                                    <a:latin typeface="Cambria Math" panose="02040503050406030204" pitchFamily="18" charset="0"/>
                                  </a:rPr>
                                  <m:t>𝑒𝑛</m:t>
                                </m:r>
                                <m:r>
                                  <a:rPr lang="es-AR" sz="1400">
                                    <a:effectLst/>
                                    <a:latin typeface="Cambria Math" panose="02040503050406030204" pitchFamily="18" charset="0"/>
                                  </a:rPr>
                                  <m:t> </m:t>
                                </m:r>
                                <m:r>
                                  <a:rPr lang="es-AR" sz="1400">
                                    <a:effectLst/>
                                    <a:latin typeface="Cambria Math" panose="02040503050406030204" pitchFamily="18" charset="0"/>
                                  </a:rPr>
                                  <m:t>𝑝</m:t>
                                </m:r>
                                <m:r>
                                  <a:rPr lang="es-AR" sz="1400">
                                    <a:effectLst/>
                                    <a:latin typeface="Cambria Math" panose="02040503050406030204" pitchFamily="18" charset="0"/>
                                  </a:rPr>
                                  <m:t>=−5000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70768187"/>
                      </a:ext>
                    </a:extLst>
                  </a:tr>
                  <a:tr h="488588">
                    <a:tc>
                      <a:txBody>
                        <a:bodyPr/>
                        <a:lstStyle/>
                        <a:p>
                          <a:pPr algn="ctr"/>
                          <a:r>
                            <a:rPr lang="es-AR" sz="1400">
                              <a:effectLst/>
                            </a:rPr>
                            <a:t>Sensor de posición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2°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=6000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  </m:t>
                                </m:r>
                                <m:r>
                                  <a:rPr lang="es-AR" sz="1400">
                                    <a:effectLst/>
                                    <a:latin typeface="Cambria Math" panose="02040503050406030204" pitchFamily="18" charset="0"/>
                                  </a:rPr>
                                  <m:t>𝜉</m:t>
                                </m:r>
                                <m:r>
                                  <a:rPr lang="es-AR" sz="1400">
                                    <a:effectLst/>
                                    <a:latin typeface="Cambria Math" panose="02040503050406030204" pitchFamily="18" charset="0"/>
                                  </a:rPr>
                                  <m:t>=1</m:t>
                                </m:r>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19337898"/>
                      </a:ext>
                    </a:extLst>
                  </a:tr>
                  <a:tr h="511510">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2°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  </m:t>
                                </m:r>
                                <m:r>
                                  <a:rPr lang="es-AR" sz="1400">
                                    <a:effectLst/>
                                    <a:latin typeface="Cambria Math" panose="02040503050406030204" pitchFamily="18" charset="0"/>
                                  </a:rPr>
                                  <m:t>𝜉</m:t>
                                </m:r>
                                <m:r>
                                  <a:rPr lang="es-AR" sz="1400">
                                    <a:effectLst/>
                                    <a:latin typeface="Cambria Math" panose="02040503050406030204" pitchFamily="18" charset="0"/>
                                  </a:rPr>
                                  <m:t>=1</m:t>
                                </m:r>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76861396"/>
                      </a:ext>
                    </a:extLst>
                  </a:tr>
                  <a:tr h="503065">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1°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r>
                                  <a:rPr lang="es-AR" sz="1400">
                                    <a:effectLst/>
                                    <a:latin typeface="Cambria Math" panose="02040503050406030204" pitchFamily="18" charset="0"/>
                                  </a:rPr>
                                  <m:t>𝜏</m:t>
                                </m:r>
                                <m:r>
                                  <a:rPr lang="es-AR" sz="1400">
                                    <a:effectLst/>
                                    <a:latin typeface="Cambria Math" panose="02040503050406030204" pitchFamily="18" charset="0"/>
                                  </a:rPr>
                                  <m:t>=0.05 </m:t>
                                </m:r>
                                <m:r>
                                  <a:rPr lang="es-AR" sz="1400">
                                    <a:effectLst/>
                                    <a:latin typeface="Cambria Math" panose="02040503050406030204" pitchFamily="18" charset="0"/>
                                  </a:rPr>
                                  <m:t>𝑠</m:t>
                                </m:r>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41226692"/>
                      </a:ext>
                    </a:extLst>
                  </a:tr>
                  <a:tr h="493414">
                    <a:tc>
                      <a:txBody>
                        <a:bodyPr/>
                        <a:lstStyle/>
                        <a:p>
                          <a:pPr algn="ctr"/>
                          <a:r>
                            <a:rPr lang="es-AR" sz="1400">
                              <a:effectLst/>
                            </a:rPr>
                            <a:t>Modulador de tensión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2°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  </m:t>
                                </m:r>
                                <m:r>
                                  <a:rPr lang="es-AR" sz="1400">
                                    <a:effectLst/>
                                    <a:latin typeface="Cambria Math" panose="02040503050406030204" pitchFamily="18" charset="0"/>
                                  </a:rPr>
                                  <m:t>𝜉</m:t>
                                </m:r>
                                <m:r>
                                  <a:rPr lang="es-AR" sz="1400">
                                    <a:effectLst/>
                                    <a:latin typeface="Cambria Math" panose="02040503050406030204" pitchFamily="18" charset="0"/>
                                  </a:rPr>
                                  <m:t>=1</m:t>
                                </m:r>
                              </m:oMath>
                            </m:oMathPara>
                          </a14:m>
                          <a:endParaRPr lang="es-AR"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36480092"/>
                      </a:ext>
                    </a:extLst>
                  </a:tr>
                </a:tbl>
              </a:graphicData>
            </a:graphic>
          </p:graphicFrame>
        </mc:Choice>
        <mc:Fallback xmlns="">
          <p:graphicFrame>
            <p:nvGraphicFramePr>
              <p:cNvPr id="14" name="Tabla 13">
                <a:extLst>
                  <a:ext uri="{FF2B5EF4-FFF2-40B4-BE49-F238E27FC236}">
                    <a16:creationId xmlns:a16="http://schemas.microsoft.com/office/drawing/2014/main" id="{05E8C9E8-69FB-402E-B4CB-3F501E50F29D}"/>
                  </a:ext>
                </a:extLst>
              </p:cNvPr>
              <p:cNvGraphicFramePr>
                <a:graphicFrameLocks noGrp="1"/>
              </p:cNvGraphicFramePr>
              <p:nvPr>
                <p:extLst>
                  <p:ext uri="{D42A27DB-BD31-4B8C-83A1-F6EECF244321}">
                    <p14:modId xmlns:p14="http://schemas.microsoft.com/office/powerpoint/2010/main" val="400564117"/>
                  </p:ext>
                </p:extLst>
              </p:nvPr>
            </p:nvGraphicFramePr>
            <p:xfrm>
              <a:off x="510684" y="2003236"/>
              <a:ext cx="10669506" cy="4114759"/>
            </p:xfrm>
            <a:graphic>
              <a:graphicData uri="http://schemas.openxmlformats.org/drawingml/2006/table">
                <a:tbl>
                  <a:tblPr firstRow="1" firstCol="1" bandRow="1">
                    <a:tableStyleId>{5C22544A-7EE6-4342-B048-85BDC9FD1C3A}</a:tableStyleId>
                  </a:tblPr>
                  <a:tblGrid>
                    <a:gridCol w="2550712">
                      <a:extLst>
                        <a:ext uri="{9D8B030D-6E8A-4147-A177-3AD203B41FA5}">
                          <a16:colId xmlns:a16="http://schemas.microsoft.com/office/drawing/2014/main" val="4030613405"/>
                        </a:ext>
                      </a:extLst>
                    </a:gridCol>
                    <a:gridCol w="8118794">
                      <a:extLst>
                        <a:ext uri="{9D8B030D-6E8A-4147-A177-3AD203B41FA5}">
                          <a16:colId xmlns:a16="http://schemas.microsoft.com/office/drawing/2014/main" val="787142213"/>
                        </a:ext>
                      </a:extLst>
                    </a:gridCol>
                  </a:tblGrid>
                  <a:tr h="318487">
                    <a:tc>
                      <a:txBody>
                        <a:bodyPr/>
                        <a:lstStyle/>
                        <a:p>
                          <a:pPr algn="ctr"/>
                          <a:r>
                            <a:rPr lang="es-AR" sz="1400">
                              <a:effectLst/>
                            </a:rPr>
                            <a:t>Bloque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400" dirty="0">
                              <a:effectLst/>
                            </a:rPr>
                            <a:t>Parámetros</a:t>
                          </a:r>
                          <a:endParaRPr lang="es-AR"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0881623"/>
                      </a:ext>
                    </a:extLst>
                  </a:tr>
                  <a:tr h="650004">
                    <a:tc>
                      <a:txBody>
                        <a:bodyPr/>
                        <a:lstStyle/>
                        <a:p>
                          <a:pPr algn="ctr"/>
                          <a:r>
                            <a:rPr lang="es-AR" sz="1400">
                              <a:effectLst/>
                            </a:rPr>
                            <a:t>PID externo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57009" r="-300" b="-520561"/>
                          </a:stretch>
                        </a:blipFill>
                      </a:tcPr>
                    </a:tc>
                    <a:extLst>
                      <a:ext uri="{0D108BD9-81ED-4DB2-BD59-A6C34878D82A}">
                        <a16:rowId xmlns:a16="http://schemas.microsoft.com/office/drawing/2014/main" val="286996979"/>
                      </a:ext>
                    </a:extLst>
                  </a:tr>
                  <a:tr h="651451">
                    <a:tc>
                      <a:txBody>
                        <a:bodyPr/>
                        <a:lstStyle/>
                        <a:p>
                          <a:pPr algn="ctr"/>
                          <a:r>
                            <a:rPr lang="es-AR" sz="1400">
                              <a:effectLst/>
                            </a:rPr>
                            <a:t>Observador aumentado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157009" r="-300" b="-420561"/>
                          </a:stretch>
                        </a:blipFill>
                      </a:tcPr>
                    </a:tc>
                    <a:extLst>
                      <a:ext uri="{0D108BD9-81ED-4DB2-BD59-A6C34878D82A}">
                        <a16:rowId xmlns:a16="http://schemas.microsoft.com/office/drawing/2014/main" val="3571997362"/>
                      </a:ext>
                    </a:extLst>
                  </a:tr>
                  <a:tr h="498240">
                    <a:tc>
                      <a:txBody>
                        <a:bodyPr/>
                        <a:lstStyle/>
                        <a:p>
                          <a:pPr algn="ctr"/>
                          <a:r>
                            <a:rPr lang="es-AR" sz="1400">
                              <a:effectLst/>
                            </a:rPr>
                            <a:t>Lazo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335366" r="-300" b="-448780"/>
                          </a:stretch>
                        </a:blipFill>
                      </a:tcPr>
                    </a:tc>
                    <a:extLst>
                      <a:ext uri="{0D108BD9-81ED-4DB2-BD59-A6C34878D82A}">
                        <a16:rowId xmlns:a16="http://schemas.microsoft.com/office/drawing/2014/main" val="1870768187"/>
                      </a:ext>
                    </a:extLst>
                  </a:tr>
                  <a:tr h="488588">
                    <a:tc>
                      <a:txBody>
                        <a:bodyPr/>
                        <a:lstStyle/>
                        <a:p>
                          <a:pPr algn="ctr"/>
                          <a:r>
                            <a:rPr lang="es-AR" sz="1400">
                              <a:effectLst/>
                            </a:rPr>
                            <a:t>Sensor de posición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446250" r="-300" b="-360000"/>
                          </a:stretch>
                        </a:blipFill>
                      </a:tcPr>
                    </a:tc>
                    <a:extLst>
                      <a:ext uri="{0D108BD9-81ED-4DB2-BD59-A6C34878D82A}">
                        <a16:rowId xmlns:a16="http://schemas.microsoft.com/office/drawing/2014/main" val="1419337898"/>
                      </a:ext>
                    </a:extLst>
                  </a:tr>
                  <a:tr h="511510">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520238" r="-300" b="-242857"/>
                          </a:stretch>
                        </a:blipFill>
                      </a:tcPr>
                    </a:tc>
                    <a:extLst>
                      <a:ext uri="{0D108BD9-81ED-4DB2-BD59-A6C34878D82A}">
                        <a16:rowId xmlns:a16="http://schemas.microsoft.com/office/drawing/2014/main" val="476861396"/>
                      </a:ext>
                    </a:extLst>
                  </a:tr>
                  <a:tr h="503065">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627711" r="-300" b="-145783"/>
                          </a:stretch>
                        </a:blipFill>
                      </a:tcPr>
                    </a:tc>
                    <a:extLst>
                      <a:ext uri="{0D108BD9-81ED-4DB2-BD59-A6C34878D82A}">
                        <a16:rowId xmlns:a16="http://schemas.microsoft.com/office/drawing/2014/main" val="3341226692"/>
                      </a:ext>
                    </a:extLst>
                  </a:tr>
                  <a:tr h="493414">
                    <a:tc>
                      <a:txBody>
                        <a:bodyPr/>
                        <a:lstStyle/>
                        <a:p>
                          <a:pPr algn="ctr"/>
                          <a:r>
                            <a:rPr lang="es-AR" sz="1400">
                              <a:effectLst/>
                            </a:rPr>
                            <a:t>Modulador de tensión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745679" r="-300" b="-49383"/>
                          </a:stretch>
                        </a:blipFill>
                      </a:tcPr>
                    </a:tc>
                    <a:extLst>
                      <a:ext uri="{0D108BD9-81ED-4DB2-BD59-A6C34878D82A}">
                        <a16:rowId xmlns:a16="http://schemas.microsoft.com/office/drawing/2014/main" val="1736480092"/>
                      </a:ext>
                    </a:extLst>
                  </a:tr>
                </a:tbl>
              </a:graphicData>
            </a:graphic>
          </p:graphicFrame>
        </mc:Fallback>
      </mc:AlternateContent>
      <p:sp>
        <p:nvSpPr>
          <p:cNvPr id="9" name="Shape 2">
            <a:extLst>
              <a:ext uri="{FF2B5EF4-FFF2-40B4-BE49-F238E27FC236}">
                <a16:creationId xmlns:a16="http://schemas.microsoft.com/office/drawing/2014/main" id="{F1A018D6-6668-4EB9-851C-AB2AB998A90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9A29213D-9EFF-4B15-A8B4-277241B7DB4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5193"/>
            <a:ext cx="11551615" cy="658368"/>
          </a:xfrm>
          <a:prstGeom prst="rect">
            <a:avLst/>
          </a:prstGeom>
          <a:noFill/>
        </p:spPr>
        <p:txBody>
          <a:bodyPr wrap="none">
            <a:spAutoFit/>
          </a:bodyPr>
          <a:lstStyle/>
          <a:p>
            <a:pPr algn="l"/>
            <a:r>
              <a:rPr sz="2100" b="1">
                <a:solidFill>
                  <a:srgbClr val="FFFFFF"/>
                </a:solidFill>
                <a:latin typeface="Cambria"/>
              </a:rPr>
              <a:t>Discretización — Método de Tustin y período de muestreo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7" name="TextBox 6"/>
          <p:cNvSpPr txBox="1"/>
          <p:nvPr/>
        </p:nvSpPr>
        <p:spPr>
          <a:xfrm>
            <a:off x="71172" y="722376"/>
            <a:ext cx="11551614" cy="307777"/>
          </a:xfrm>
          <a:prstGeom prst="rect">
            <a:avLst/>
          </a:prstGeom>
          <a:noFill/>
        </p:spPr>
        <p:txBody>
          <a:bodyPr wrap="square">
            <a:spAutoFit/>
          </a:bodyPr>
          <a:lstStyle/>
          <a:p>
            <a:pPr algn="l"/>
            <a:r>
              <a:rPr lang="es-MX" sz="1400" b="0" i="0" dirty="0">
                <a:solidFill>
                  <a:srgbClr val="1A1A2E"/>
                </a:solidFill>
                <a:latin typeface="Calibri"/>
              </a:rPr>
              <a:t>Se toma el siguiente periodo de muestreo </a:t>
            </a:r>
            <a:r>
              <a:rPr lang="es-AR" sz="1400" dirty="0">
                <a:effectLst/>
                <a:latin typeface="Calibri" panose="020F0502020204030204" pitchFamily="34" charset="0"/>
                <a:ea typeface="Calibri" panose="020F0502020204030204" pitchFamily="34" charset="0"/>
              </a:rPr>
              <a:t>para minimizar errores de reconstrucción y estimación en el observador</a:t>
            </a:r>
            <a:r>
              <a:rPr lang="es-MX" sz="1400" b="0" i="0" dirty="0">
                <a:solidFill>
                  <a:srgbClr val="1A1A2E"/>
                </a:solidFill>
                <a:latin typeface="Calibri"/>
              </a:rPr>
              <a:t>: </a:t>
            </a:r>
            <a:endParaRPr sz="1400" b="0" i="0" dirty="0">
              <a:solidFill>
                <a:srgbClr val="1A1A2E"/>
              </a:solidFill>
              <a:latin typeface="Calibri"/>
            </a:endParaRPr>
          </a:p>
        </p:txBody>
      </p:sp>
      <p:sp>
        <p:nvSpPr>
          <p:cNvPr id="8" name="Rectangle 7"/>
          <p:cNvSpPr/>
          <p:nvPr/>
        </p:nvSpPr>
        <p:spPr>
          <a:xfrm>
            <a:off x="157427" y="1103305"/>
            <a:ext cx="1168877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163084" y="1121593"/>
                <a:ext cx="11465359" cy="406778"/>
              </a:xfrm>
              <a:prstGeom prst="rect">
                <a:avLst/>
              </a:prstGeom>
              <a:noFill/>
            </p:spPr>
            <p:txBody>
              <a:bodyPr wrap="square">
                <a:spAutoFit/>
              </a:bodyPr>
              <a:lstStyle/>
              <a:p>
                <a:pPr algn="ct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​≥10</m:t>
                    </m:r>
                    <m:r>
                      <a:rPr lang="es-AR" sz="1400" i="1">
                        <a:effectLst/>
                        <a:latin typeface="Cambria Math" panose="02040503050406030204" pitchFamily="18" charset="0"/>
                        <a:ea typeface="Calibri" panose="020F0502020204030204" pitchFamily="34" charset="0"/>
                        <a:cs typeface="Cambria Math" panose="02040503050406030204" pitchFamily="18" charset="0"/>
                      </a:rPr>
                      <m:t>⋅</m:t>
                    </m:r>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s-MX" sz="1400" b="1" dirty="0">
                    <a:solidFill>
                      <a:srgbClr val="1B6B2A"/>
                    </a:solidFill>
                    <a:latin typeface="Calibri"/>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𝑝</m:t>
                        </m:r>
                      </m:e>
                      <m:sub>
                        <m:r>
                          <a:rPr lang="es-AR" sz="1400" i="1">
                            <a:latin typeface="Cambria Math" panose="02040503050406030204" pitchFamily="18" charset="0"/>
                          </a:rPr>
                          <m:t>𝑐𝑜𝑟𝑟𝑖𝑒𝑛𝑡𝑒</m:t>
                        </m:r>
                      </m:sub>
                    </m:sSub>
                    <m:r>
                      <a:rPr lang="es-AR" sz="1400" i="1">
                        <a:latin typeface="Cambria Math" panose="02040503050406030204" pitchFamily="18" charset="0"/>
                      </a:rPr>
                      <m:t>​=−5000</m:t>
                    </m:r>
                    <m:f>
                      <m:fPr>
                        <m:ctrlPr>
                          <a:rPr lang="es-AR" sz="1400" i="1">
                            <a:latin typeface="Cambria Math" panose="02040503050406030204" pitchFamily="18" charset="0"/>
                          </a:rPr>
                        </m:ctrlPr>
                      </m:fPr>
                      <m:num>
                        <m:r>
                          <a:rPr lang="es-AR" sz="1400" i="1">
                            <a:latin typeface="Cambria Math" panose="02040503050406030204" pitchFamily="18" charset="0"/>
                          </a:rPr>
                          <m:t>𝑟𝑎𝑑</m:t>
                        </m:r>
                      </m:num>
                      <m:den>
                        <m:r>
                          <a:rPr lang="es-AR" sz="1400" i="1">
                            <a:latin typeface="Cambria Math" panose="02040503050406030204" pitchFamily="18" charset="0"/>
                          </a:rPr>
                          <m:t>𝑠</m:t>
                        </m:r>
                      </m:den>
                    </m:f>
                    <m:r>
                      <a:rPr lang="es-AR" sz="1400" i="1">
                        <a:latin typeface="Cambria Math" panose="02040503050406030204" pitchFamily="18" charset="0"/>
                      </a:rPr>
                      <m:t>​      ⟹     </m:t>
                    </m:r>
                    <m:sSub>
                      <m:sSubPr>
                        <m:ctrlPr>
                          <a:rPr lang="es-AR" sz="1400" i="1">
                            <a:latin typeface="Cambria Math" panose="02040503050406030204" pitchFamily="18" charset="0"/>
                          </a:rPr>
                        </m:ctrlPr>
                      </m:sSubPr>
                      <m:e>
                        <m:r>
                          <a:rPr lang="es-AR" sz="1400" i="1">
                            <a:latin typeface="Cambria Math" panose="02040503050406030204" pitchFamily="18" charset="0"/>
                          </a:rPr>
                          <m:t>𝑓</m:t>
                        </m:r>
                      </m:e>
                      <m:sub>
                        <m:r>
                          <a:rPr lang="es-AR" sz="1400" i="1">
                            <a:latin typeface="Cambria Math" panose="02040503050406030204" pitchFamily="18" charset="0"/>
                          </a:rPr>
                          <m:t>𝑚𝑎𝑥</m:t>
                        </m:r>
                      </m:sub>
                    </m:sSub>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m:t>
                        </m:r>
                        <m:r>
                          <a:rPr lang="es-AR" sz="1400" i="1">
                            <a:latin typeface="Cambria Math" panose="02040503050406030204" pitchFamily="18" charset="0"/>
                          </a:rPr>
                          <m:t>𝑝</m:t>
                        </m:r>
                        <m:r>
                          <a:rPr lang="es-AR" sz="1400" i="1">
                            <a:latin typeface="Cambria Math" panose="02040503050406030204" pitchFamily="18" charset="0"/>
                          </a:rPr>
                          <m:t>∣</m:t>
                        </m:r>
                      </m:num>
                      <m:den>
                        <m:r>
                          <a:rPr lang="es-AR" sz="1400" i="1">
                            <a:latin typeface="Cambria Math" panose="02040503050406030204" pitchFamily="18" charset="0"/>
                          </a:rPr>
                          <m:t>2</m:t>
                        </m:r>
                        <m:r>
                          <a:rPr lang="es-AR" sz="1400" i="1">
                            <a:latin typeface="Cambria Math" panose="02040503050406030204" pitchFamily="18" charset="0"/>
                          </a:rPr>
                          <m:t>𝜋</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5000</m:t>
                        </m:r>
                      </m:num>
                      <m:den>
                        <m:r>
                          <a:rPr lang="es-AR" sz="1400" i="1">
                            <a:latin typeface="Cambria Math" panose="02040503050406030204" pitchFamily="18" charset="0"/>
                          </a:rPr>
                          <m:t>2</m:t>
                        </m:r>
                        <m:r>
                          <a:rPr lang="es-AR" sz="1400" i="1">
                            <a:latin typeface="Cambria Math" panose="02040503050406030204" pitchFamily="18" charset="0"/>
                          </a:rPr>
                          <m:t>𝜋</m:t>
                        </m:r>
                      </m:den>
                    </m:f>
                    <m:r>
                      <a:rPr lang="es-AR" sz="1400" i="1">
                        <a:latin typeface="Cambria Math" panose="02040503050406030204" pitchFamily="18" charset="0"/>
                      </a:rPr>
                      <m:t>​≈796</m:t>
                    </m:r>
                    <m:r>
                      <a:rPr lang="es-AR" sz="1400" i="1">
                        <a:latin typeface="Cambria Math" panose="02040503050406030204" pitchFamily="18" charset="0"/>
                      </a:rPr>
                      <m:t>𝐻𝑧</m:t>
                    </m:r>
                    <m:r>
                      <a:rPr lang="es-MX" sz="1400" b="0" i="1" smtClean="0">
                        <a:latin typeface="Cambria Math" panose="02040503050406030204" pitchFamily="18" charset="0"/>
                      </a:rPr>
                      <m:t>      </m:t>
                    </m:r>
                    <m:r>
                      <a:rPr lang="es-AR" sz="1400" i="1">
                        <a:latin typeface="Cambria Math" panose="02040503050406030204" pitchFamily="18" charset="0"/>
                      </a:rPr>
                      <m:t>⟹</m:t>
                    </m:r>
                    <m:r>
                      <a:rPr lang="es-MX" sz="1400" b="0" i="1" smtClean="0">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2</m:t>
                        </m:r>
                        <m:r>
                          <m:rPr>
                            <m:sty m:val="p"/>
                          </m:rPr>
                          <a:rPr lang="es-AR" sz="1400">
                            <a:latin typeface="Cambria Math" panose="02040503050406030204" pitchFamily="18" charset="0"/>
                          </a:rPr>
                          <m:t>π</m:t>
                        </m:r>
                      </m:num>
                      <m:den>
                        <m:r>
                          <a:rPr lang="es-AR" sz="1400" i="1">
                            <a:latin typeface="Cambria Math" panose="02040503050406030204" pitchFamily="18" charset="0"/>
                          </a:rPr>
                          <m:t>10⋅5000</m:t>
                        </m:r>
                      </m:den>
                    </m:f>
                    <m:r>
                      <a:rPr lang="es-AR" sz="1400">
                        <a:latin typeface="Cambria Math" panose="02040503050406030204" pitchFamily="18" charset="0"/>
                      </a:rPr>
                      <m:t>≈1.2566×</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−4</m:t>
                        </m:r>
                      </m:sup>
                    </m:sSup>
                    <m:r>
                      <m:rPr>
                        <m:sty m:val="p"/>
                      </m:rPr>
                      <a:rPr lang="es-AR" sz="1400">
                        <a:latin typeface="Cambria Math" panose="02040503050406030204" pitchFamily="18" charset="0"/>
                      </a:rPr>
                      <m:t>s</m:t>
                    </m:r>
                    <m:r>
                      <a:rPr lang="es-MX" sz="1400" b="0" i="1" smtClean="0">
                        <a:latin typeface="Cambria Math" panose="02040503050406030204" pitchFamily="18" charset="0"/>
                      </a:rPr>
                      <m:t>    </m:t>
                    </m:r>
                    <m:r>
                      <a:rPr lang="es-AR" sz="1400" i="1">
                        <a:latin typeface="Cambria Math" panose="02040503050406030204" pitchFamily="18" charset="0"/>
                      </a:rPr>
                      <m:t>⟹</m:t>
                    </m:r>
                    <m:r>
                      <a:rPr lang="es-AR" sz="1400" i="1">
                        <a:latin typeface="Cambria Math" panose="02040503050406030204" pitchFamily="18" charset="0"/>
                      </a:rPr>
                      <m:t>𝑓</m:t>
                    </m:r>
                    <m:r>
                      <a:rPr lang="es-AR" sz="1400" i="1">
                        <a:latin typeface="Cambria Math" panose="02040503050406030204" pitchFamily="18" charset="0"/>
                      </a:rPr>
                      <m:t>≈7958</m:t>
                    </m:r>
                    <m:r>
                      <a:rPr lang="es-AR" sz="1400">
                        <a:latin typeface="Cambria Math" panose="02040503050406030204" pitchFamily="18" charset="0"/>
                      </a:rPr>
                      <m:t> </m:t>
                    </m:r>
                    <m:r>
                      <m:rPr>
                        <m:sty m:val="p"/>
                      </m:rPr>
                      <a:rPr lang="es-AR" sz="1400">
                        <a:latin typeface="Cambria Math" panose="02040503050406030204" pitchFamily="18" charset="0"/>
                      </a:rPr>
                      <m:t>Hz</m:t>
                    </m:r>
                  </m:oMath>
                </a14:m>
                <a:endParaRPr sz="14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63084" y="1121593"/>
                <a:ext cx="11465359" cy="406778"/>
              </a:xfrm>
              <a:prstGeom prst="rect">
                <a:avLst/>
              </a:prstGeom>
              <a:blipFill>
                <a:blip r:embed="rId2"/>
                <a:stretch>
                  <a:fillRect b="-2985"/>
                </a:stretch>
              </a:blipFill>
            </p:spPr>
            <p:txBody>
              <a:bodyPr/>
              <a:lstStyle/>
              <a:p>
                <a:r>
                  <a:rPr lang="es-AR">
                    <a:noFill/>
                  </a:rPr>
                  <a:t> </a:t>
                </a:r>
              </a:p>
            </p:txBody>
          </p:sp>
        </mc:Fallback>
      </mc:AlternateContent>
      <p:sp>
        <p:nvSpPr>
          <p:cNvPr id="10" name="TextBox 9"/>
          <p:cNvSpPr txBox="1"/>
          <p:nvPr/>
        </p:nvSpPr>
        <p:spPr>
          <a:xfrm>
            <a:off x="0" y="2693250"/>
            <a:ext cx="7772400" cy="338554"/>
          </a:xfrm>
          <a:prstGeom prst="rect">
            <a:avLst/>
          </a:prstGeom>
          <a:noFill/>
        </p:spPr>
        <p:txBody>
          <a:bodyPr wrap="square">
            <a:spAutoFit/>
          </a:bodyPr>
          <a:lstStyle/>
          <a:p>
            <a:pPr algn="l"/>
            <a:r>
              <a:rPr lang="es-MX" sz="1600" b="1" i="0" dirty="0">
                <a:solidFill>
                  <a:srgbClr val="1A3A6B"/>
                </a:solidFill>
                <a:latin typeface="Calibri"/>
              </a:rPr>
              <a:t>Método de Tustin:</a:t>
            </a:r>
            <a:endParaRPr sz="1600" b="1" i="0" dirty="0">
              <a:solidFill>
                <a:srgbClr val="1A3A6B"/>
              </a:solidFill>
              <a:latin typeface="Calibri"/>
            </a:endParaRPr>
          </a:p>
        </p:txBody>
      </p:sp>
      <p:sp>
        <p:nvSpPr>
          <p:cNvPr id="11" name="Rectangle 10"/>
          <p:cNvSpPr/>
          <p:nvPr/>
        </p:nvSpPr>
        <p:spPr>
          <a:xfrm>
            <a:off x="71172" y="3463175"/>
            <a:ext cx="11775028" cy="50292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263951" y="3425632"/>
                <a:ext cx="4056825" cy="49423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−1]+</m:t>
                      </m:r>
                      <m:f>
                        <m:fPr>
                          <m:ctrlPr>
                            <a:rPr lang="es-AR" sz="1400" i="1">
                              <a:effectLst/>
                              <a:latin typeface="Cambria Math" panose="02040503050406030204" pitchFamily="18" charset="0"/>
                            </a:rPr>
                          </m:ctrlPr>
                        </m:fPr>
                        <m:num>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oMath>
                  </m:oMathPara>
                </a14:m>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63951" y="3425632"/>
                <a:ext cx="4056825" cy="494238"/>
              </a:xfrm>
              <a:prstGeom prst="rect">
                <a:avLst/>
              </a:prstGeom>
              <a:blipFill>
                <a:blip r:embed="rId3"/>
                <a:stretch>
                  <a:fillRect b="-1235"/>
                </a:stretch>
              </a:blipFill>
            </p:spPr>
            <p:txBody>
              <a:bodyPr/>
              <a:lstStyle/>
              <a:p>
                <a:r>
                  <a:rPr lang="es-AR">
                    <a:noFill/>
                  </a:rPr>
                  <a:t> </a:t>
                </a:r>
              </a:p>
            </p:txBody>
          </p:sp>
        </mc:Fallback>
      </mc:AlternateContent>
      <p:sp>
        <p:nvSpPr>
          <p:cNvPr id="13" name="TextBox 12"/>
          <p:cNvSpPr txBox="1"/>
          <p:nvPr/>
        </p:nvSpPr>
        <p:spPr>
          <a:xfrm>
            <a:off x="101571" y="4070170"/>
            <a:ext cx="11714228" cy="543162"/>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 diferencia del método de Euler hacia adelante o hacia atrás, Tustin preserva la estabilidad del sistema continuo en el discreto y mantiene la frecuencia natural sin distorsión.</a:t>
            </a: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1D25D1D9-9289-400B-A436-B0A1D9670563}"/>
                  </a:ext>
                </a:extLst>
              </p:cNvPr>
              <p:cNvSpPr txBox="1"/>
              <p:nvPr/>
            </p:nvSpPr>
            <p:spPr>
              <a:xfrm>
                <a:off x="71172" y="1724154"/>
                <a:ext cx="11775030" cy="910442"/>
              </a:xfrm>
              <a:prstGeom prst="rect">
                <a:avLst/>
              </a:prstGeom>
              <a:noFill/>
            </p:spPr>
            <p:txBody>
              <a:bodyPr wrap="square">
                <a:spAutoFit/>
              </a:bodyPr>
              <a:lstStyle/>
              <a:p>
                <a:pPr algn="just"/>
                <a:r>
                  <a:rPr lang="es-AR" sz="1400" dirty="0">
                    <a:effectLst/>
                    <a:latin typeface="Calibri" panose="020F0502020204030204" pitchFamily="34" charset="0"/>
                    <a:ea typeface="Times New Roman" panose="02020603050405020304" pitchFamily="18" charset="0"/>
                  </a:rPr>
                  <a:t>Este valor garantiza que todos los modos dinámicos relevantes del sistema queden representados fielmente en tiempo discreto. </a:t>
                </a:r>
                <a:endParaRPr lang="es-AR" sz="1600" dirty="0">
                  <a:effectLst/>
                  <a:latin typeface="Times New Roman" panose="02020603050405020304" pitchFamily="18" charset="0"/>
                  <a:ea typeface="Times New Roman" panose="02020603050405020304" pitchFamily="18" charset="0"/>
                </a:endParaRPr>
              </a:p>
              <a:p>
                <a:pPr algn="just">
                  <a:spcBef>
                    <a:spcPts val="600"/>
                  </a:spcBef>
                </a:pPr>
                <a:r>
                  <a:rPr lang="es-AR" sz="1400" dirty="0">
                    <a:effectLst/>
                    <a:latin typeface="Calibri" panose="020F0502020204030204" pitchFamily="34" charset="0"/>
                    <a:ea typeface="Times New Roman" panose="02020603050405020304" pitchFamily="18" charset="0"/>
                  </a:rPr>
                  <a:t>Cabe destacar que los polos del observador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𝑜𝑏𝑠</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rPr>
                      <m:t>−</m:t>
                    </m:r>
                    <m:r>
                      <a:rPr lang="es-AR" sz="1400">
                        <a:effectLst/>
                        <a:latin typeface="Cambria Math" panose="02040503050406030204" pitchFamily="18" charset="0"/>
                        <a:ea typeface="Times New Roman" panose="02020603050405020304" pitchFamily="18" charset="0"/>
                      </a:rPr>
                      <m:t>3200</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rPr>
                          <m:t>𝑟𝑎𝑑</m:t>
                        </m:r>
                      </m:num>
                      <m:den>
                        <m:r>
                          <a:rPr lang="es-AR" sz="1400" i="1">
                            <a:effectLst/>
                            <a:latin typeface="Cambria Math" panose="02040503050406030204" pitchFamily="18" charset="0"/>
                            <a:ea typeface="Times New Roman" panose="02020603050405020304" pitchFamily="18" charset="0"/>
                          </a:rPr>
                          <m:t>𝑠</m:t>
                        </m:r>
                      </m:den>
                    </m:f>
                  </m:oMath>
                </a14:m>
                <a:r>
                  <a:rPr lang="es-AR" sz="1400" dirty="0">
                    <a:effectLst/>
                    <a:latin typeface="Calibri" panose="020F0502020204030204" pitchFamily="34" charset="0"/>
                    <a:ea typeface="Times New Roman" panose="02020603050405020304" pitchFamily="18" charset="0"/>
                  </a:rPr>
                  <a:t> ) y del PID externo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𝑃𝐼𝐷</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rPr>
                      <m:t>−</m:t>
                    </m:r>
                    <m:r>
                      <a:rPr lang="es-AR" sz="1400">
                        <a:effectLst/>
                        <a:latin typeface="Cambria Math" panose="02040503050406030204" pitchFamily="18" charset="0"/>
                        <a:ea typeface="Times New Roman" panose="02020603050405020304" pitchFamily="18" charset="0"/>
                      </a:rPr>
                      <m:t>800</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rPr>
                          <m:t>𝑟𝑎𝑑</m:t>
                        </m:r>
                      </m:num>
                      <m:den>
                        <m:r>
                          <a:rPr lang="es-AR" sz="1400" i="1">
                            <a:effectLst/>
                            <a:latin typeface="Cambria Math" panose="02040503050406030204" pitchFamily="18" charset="0"/>
                            <a:ea typeface="Times New Roman" panose="02020603050405020304" pitchFamily="18" charset="0"/>
                          </a:rPr>
                          <m:t>𝑠</m:t>
                        </m:r>
                      </m:den>
                    </m:f>
                  </m:oMath>
                </a14:m>
                <a:r>
                  <a:rPr lang="es-AR" sz="1400" dirty="0">
                    <a:effectLst/>
                    <a:latin typeface="Calibri" panose="020F0502020204030204" pitchFamily="34" charset="0"/>
                    <a:ea typeface="Times New Roman" panose="02020603050405020304" pitchFamily="18" charset="0"/>
                  </a:rPr>
                  <a:t>) son considerablemente más lentos que el lazo de corriente, por lo que la elección de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ub>
                    </m:sSub>
                  </m:oMath>
                </a14:m>
                <a:r>
                  <a:rPr lang="es-AR" sz="1400" dirty="0">
                    <a:effectLst/>
                    <a:latin typeface="Calibri" panose="020F0502020204030204" pitchFamily="34" charset="0"/>
                    <a:ea typeface="Times New Roman" panose="02020603050405020304" pitchFamily="18" charset="0"/>
                  </a:rPr>
                  <a:t>​ basada en este último resulta suficientemente conservadora para todo el sistema.</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20" name="CuadroTexto 19">
                <a:extLst>
                  <a:ext uri="{FF2B5EF4-FFF2-40B4-BE49-F238E27FC236}">
                    <a16:creationId xmlns:a16="http://schemas.microsoft.com/office/drawing/2014/main" id="{1D25D1D9-9289-400B-A436-B0A1D9670563}"/>
                  </a:ext>
                </a:extLst>
              </p:cNvPr>
              <p:cNvSpPr txBox="1">
                <a:spLocks noRot="1" noChangeAspect="1" noMove="1" noResize="1" noEditPoints="1" noAdjustHandles="1" noChangeArrowheads="1" noChangeShapeType="1" noTextEdit="1"/>
              </p:cNvSpPr>
              <p:nvPr/>
            </p:nvSpPr>
            <p:spPr>
              <a:xfrm>
                <a:off x="71172" y="1724154"/>
                <a:ext cx="11775030" cy="910442"/>
              </a:xfrm>
              <a:prstGeom prst="rect">
                <a:avLst/>
              </a:prstGeom>
              <a:blipFill>
                <a:blip r:embed="rId4"/>
                <a:stretch>
                  <a:fillRect l="-155" t="-1342" r="-207" b="-604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0F982078-5C78-451D-B56C-4C7EE6BEBF04}"/>
                  </a:ext>
                </a:extLst>
              </p:cNvPr>
              <p:cNvSpPr txBox="1"/>
              <p:nvPr/>
            </p:nvSpPr>
            <p:spPr>
              <a:xfrm>
                <a:off x="71171" y="2979692"/>
                <a:ext cx="11775029" cy="424347"/>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El método de Tustin reemplaza cada integración continua </a:t>
                </a:r>
                <a14:m>
                  <m:oMath xmlns:m="http://schemas.openxmlformats.org/officeDocument/2006/math">
                    <m:f>
                      <m:f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𝑑𝑥</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por la regla trapezoidal:</a:t>
                </a:r>
              </a:p>
            </p:txBody>
          </p:sp>
        </mc:Choice>
        <mc:Fallback xmlns="">
          <p:sp>
            <p:nvSpPr>
              <p:cNvPr id="22" name="CuadroTexto 21">
                <a:extLst>
                  <a:ext uri="{FF2B5EF4-FFF2-40B4-BE49-F238E27FC236}">
                    <a16:creationId xmlns:a16="http://schemas.microsoft.com/office/drawing/2014/main" id="{0F982078-5C78-451D-B56C-4C7EE6BEBF04}"/>
                  </a:ext>
                </a:extLst>
              </p:cNvPr>
              <p:cNvSpPr txBox="1">
                <a:spLocks noRot="1" noChangeAspect="1" noMove="1" noResize="1" noEditPoints="1" noAdjustHandles="1" noChangeArrowheads="1" noChangeShapeType="1" noTextEdit="1"/>
              </p:cNvSpPr>
              <p:nvPr/>
            </p:nvSpPr>
            <p:spPr>
              <a:xfrm>
                <a:off x="71171" y="2979692"/>
                <a:ext cx="11775029" cy="424347"/>
              </a:xfrm>
              <a:prstGeom prst="rect">
                <a:avLst/>
              </a:prstGeom>
              <a:blipFill>
                <a:blip r:embed="rId5"/>
                <a:stretch>
                  <a:fillRect l="-155" b="-4348"/>
                </a:stretch>
              </a:blipFill>
            </p:spPr>
            <p:txBody>
              <a:bodyPr/>
              <a:lstStyle/>
              <a:p>
                <a:r>
                  <a:rPr lang="es-AR">
                    <a:noFill/>
                  </a:rPr>
                  <a:t> </a:t>
                </a:r>
              </a:p>
            </p:txBody>
          </p:sp>
        </mc:Fallback>
      </mc:AlternateContent>
      <p:pic>
        <p:nvPicPr>
          <p:cNvPr id="23" name="Imagen 22">
            <a:extLst>
              <a:ext uri="{FF2B5EF4-FFF2-40B4-BE49-F238E27FC236}">
                <a16:creationId xmlns:a16="http://schemas.microsoft.com/office/drawing/2014/main" id="{AA1A926F-CE10-4BFD-A532-F8A8B1F8F134}"/>
              </a:ext>
            </a:extLst>
          </p:cNvPr>
          <p:cNvPicPr/>
          <p:nvPr/>
        </p:nvPicPr>
        <p:blipFill>
          <a:blip r:embed="rId6"/>
          <a:stretch>
            <a:fillRect/>
          </a:stretch>
        </p:blipFill>
        <p:spPr>
          <a:xfrm>
            <a:off x="3194479" y="4702468"/>
            <a:ext cx="5614670" cy="1221105"/>
          </a:xfrm>
          <a:prstGeom prst="rect">
            <a:avLst/>
          </a:prstGeom>
        </p:spPr>
      </p:pic>
      <p:sp>
        <p:nvSpPr>
          <p:cNvPr id="24" name="CuadroTexto 23">
            <a:extLst>
              <a:ext uri="{FF2B5EF4-FFF2-40B4-BE49-F238E27FC236}">
                <a16:creationId xmlns:a16="http://schemas.microsoft.com/office/drawing/2014/main" id="{42C1B375-B2A8-491B-BFDF-160134613C1A}"/>
              </a:ext>
            </a:extLst>
          </p:cNvPr>
          <p:cNvSpPr txBox="1"/>
          <p:nvPr/>
        </p:nvSpPr>
        <p:spPr>
          <a:xfrm>
            <a:off x="3979221" y="593187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89— Integrador por trapecios</a:t>
            </a:r>
          </a:p>
        </p:txBody>
      </p:sp>
      <p:sp>
        <p:nvSpPr>
          <p:cNvPr id="18" name="Shape 2">
            <a:extLst>
              <a:ext uri="{FF2B5EF4-FFF2-40B4-BE49-F238E27FC236}">
                <a16:creationId xmlns:a16="http://schemas.microsoft.com/office/drawing/2014/main" id="{0088565B-890C-47A8-A875-90A6D3DA455B}"/>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44A63500-EE49-4377-AAE3-2B1BBA674E7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n 27">
            <a:extLst>
              <a:ext uri="{FF2B5EF4-FFF2-40B4-BE49-F238E27FC236}">
                <a16:creationId xmlns:a16="http://schemas.microsoft.com/office/drawing/2014/main" id="{38B620A1-4024-498B-A692-8C5CEEEC50EC}"/>
              </a:ext>
            </a:extLst>
          </p:cNvPr>
          <p:cNvPicPr/>
          <p:nvPr/>
        </p:nvPicPr>
        <p:blipFill rotWithShape="1">
          <a:blip r:embed="rId2">
            <a:extLst>
              <a:ext uri="{28A0092B-C50C-407E-A947-70E740481C1C}">
                <a14:useLocalDpi xmlns:a14="http://schemas.microsoft.com/office/drawing/2010/main" val="0"/>
              </a:ext>
            </a:extLst>
          </a:blip>
          <a:srcRect b="10462"/>
          <a:stretch/>
        </p:blipFill>
        <p:spPr bwMode="auto">
          <a:xfrm>
            <a:off x="5631229" y="3829102"/>
            <a:ext cx="6455386" cy="2493264"/>
          </a:xfrm>
          <a:prstGeom prst="rect">
            <a:avLst/>
          </a:prstGeom>
          <a:ln>
            <a:noFill/>
          </a:ln>
          <a:extLst>
            <a:ext uri="{53640926-AAD7-44D8-BBD7-CCE9431645EC}">
              <a14:shadowObscured xmlns:a14="http://schemas.microsoft.com/office/drawing/2010/main"/>
            </a:ext>
          </a:extLst>
        </p:spPr>
      </p:pic>
      <p:sp>
        <p:nvSpPr>
          <p:cNvPr id="27" name="Rectangle 10">
            <a:extLst>
              <a:ext uri="{FF2B5EF4-FFF2-40B4-BE49-F238E27FC236}">
                <a16:creationId xmlns:a16="http://schemas.microsoft.com/office/drawing/2014/main" id="{731945F5-DBAB-4273-8C1E-F2D6D618DA0A}"/>
              </a:ext>
            </a:extLst>
          </p:cNvPr>
          <p:cNvSpPr/>
          <p:nvPr/>
        </p:nvSpPr>
        <p:spPr>
          <a:xfrm>
            <a:off x="142347" y="3000154"/>
            <a:ext cx="3581241" cy="134672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97883"/>
            <a:ext cx="11551615" cy="658368"/>
          </a:xfrm>
          <a:prstGeom prst="rect">
            <a:avLst/>
          </a:prstGeom>
          <a:noFill/>
        </p:spPr>
        <p:txBody>
          <a:bodyPr wrap="none">
            <a:spAutoFit/>
          </a:bodyPr>
          <a:lstStyle/>
          <a:p>
            <a:pPr algn="l"/>
            <a:r>
              <a:rPr sz="2100" b="1" dirty="0" err="1">
                <a:solidFill>
                  <a:srgbClr val="FFFFFF"/>
                </a:solidFill>
                <a:latin typeface="Cambria"/>
              </a:rPr>
              <a:t>Discretización</a:t>
            </a:r>
            <a:r>
              <a:rPr sz="2100" b="1" dirty="0">
                <a:solidFill>
                  <a:srgbClr val="FFFFFF"/>
                </a:solidFill>
                <a:latin typeface="Cambria"/>
              </a:rPr>
              <a:t> — </a:t>
            </a:r>
            <a:r>
              <a:rPr sz="2100" b="1" dirty="0" err="1">
                <a:solidFill>
                  <a:srgbClr val="FFFFFF"/>
                </a:solidFill>
                <a:latin typeface="Cambria"/>
              </a:rPr>
              <a:t>Método</a:t>
            </a:r>
            <a:r>
              <a:rPr sz="2100" b="1" dirty="0">
                <a:solidFill>
                  <a:srgbClr val="FFFFFF"/>
                </a:solidFill>
                <a:latin typeface="Cambria"/>
              </a:rPr>
              <a:t> de Tustin y </a:t>
            </a:r>
            <a:r>
              <a:rPr sz="2100" b="1" dirty="0" err="1">
                <a:solidFill>
                  <a:srgbClr val="FFFFFF"/>
                </a:solidFill>
                <a:latin typeface="Cambria"/>
              </a:rPr>
              <a:t>período</a:t>
            </a:r>
            <a:r>
              <a:rPr sz="2100" b="1" dirty="0">
                <a:solidFill>
                  <a:srgbClr val="FFFFFF"/>
                </a:solidFill>
                <a:latin typeface="Cambria"/>
              </a:rPr>
              <a:t> de </a:t>
            </a:r>
            <a:r>
              <a:rPr sz="2100" b="1" dirty="0" err="1">
                <a:solidFill>
                  <a:srgbClr val="FFFFFF"/>
                </a:solidFill>
                <a:latin typeface="Cambria"/>
              </a:rPr>
              <a:t>muestreo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10" name="TextBox 9"/>
          <p:cNvSpPr txBox="1"/>
          <p:nvPr/>
        </p:nvSpPr>
        <p:spPr>
          <a:xfrm>
            <a:off x="71171" y="691193"/>
            <a:ext cx="7772400" cy="338554"/>
          </a:xfrm>
          <a:prstGeom prst="rect">
            <a:avLst/>
          </a:prstGeom>
          <a:noFill/>
        </p:spPr>
        <p:txBody>
          <a:bodyPr wrap="square">
            <a:spAutoFit/>
          </a:bodyPr>
          <a:lstStyle/>
          <a:p>
            <a:pPr algn="l"/>
            <a:r>
              <a:rPr lang="es-MX" sz="1600" b="1" i="0" dirty="0">
                <a:solidFill>
                  <a:srgbClr val="1A3A6B"/>
                </a:solidFill>
                <a:latin typeface="Calibri"/>
              </a:rPr>
              <a:t>Ecuaciones en diferencias:</a:t>
            </a:r>
            <a:endParaRPr sz="1600" b="1" i="0" dirty="0">
              <a:solidFill>
                <a:srgbClr val="1A3A6B"/>
              </a:solidFill>
              <a:latin typeface="Calibri"/>
            </a:endParaRPr>
          </a:p>
        </p:txBody>
      </p:sp>
      <p:sp>
        <p:nvSpPr>
          <p:cNvPr id="11" name="Rectangle 10"/>
          <p:cNvSpPr/>
          <p:nvPr/>
        </p:nvSpPr>
        <p:spPr>
          <a:xfrm>
            <a:off x="142347" y="1537578"/>
            <a:ext cx="2877299" cy="547136"/>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723746" y="1573808"/>
                <a:ext cx="4056825" cy="54713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num>
                        <m:den>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den>
                      </m:f>
                    </m:oMath>
                  </m:oMathPara>
                </a14:m>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723746" y="1573808"/>
                <a:ext cx="4056825" cy="547137"/>
              </a:xfrm>
              <a:prstGeom prst="rect">
                <a:avLst/>
              </a:prstGeom>
              <a:blipFill>
                <a:blip r:embed="rId3"/>
                <a:stretch>
                  <a:fillRect/>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71E527D0-AD58-41B6-9147-8A44261BBB19}"/>
              </a:ext>
            </a:extLst>
          </p:cNvPr>
          <p:cNvSpPr txBox="1"/>
          <p:nvPr/>
        </p:nvSpPr>
        <p:spPr>
          <a:xfrm>
            <a:off x="101570" y="958586"/>
            <a:ext cx="5441391" cy="543162"/>
          </a:xfrm>
          <a:prstGeom prst="rect">
            <a:avLst/>
          </a:prstGeom>
          <a:noFill/>
        </p:spPr>
        <p:txBody>
          <a:bodyPr wrap="square">
            <a:spAutoFit/>
          </a:bodyPr>
          <a:lstStyle/>
          <a:p>
            <a:pPr algn="just">
              <a:lnSpc>
                <a:spcPct val="107000"/>
              </a:lnSpc>
              <a:spcAft>
                <a:spcPts val="1200"/>
              </a:spcAft>
            </a:pPr>
            <a:r>
              <a:rPr lang="es-AR" sz="1400" dirty="0">
                <a:effectLst/>
                <a:latin typeface="Calibri" panose="020F0502020204030204" pitchFamily="34" charset="0"/>
                <a:ea typeface="Times New Roman" panose="02020603050405020304" pitchFamily="18" charset="0"/>
                <a:cs typeface="Calibri" panose="020F0502020204030204" pitchFamily="34" charset="0"/>
              </a:rPr>
              <a:t>En el bloque </a:t>
            </a:r>
            <a:r>
              <a:rPr lang="es-AR" sz="1400" b="1" dirty="0">
                <a:effectLst/>
                <a:latin typeface="Calibri" panose="020F0502020204030204" pitchFamily="34" charset="0"/>
                <a:ea typeface="Times New Roman" panose="02020603050405020304" pitchFamily="18" charset="0"/>
                <a:cs typeface="Calibri" panose="020F0502020204030204" pitchFamily="34" charset="0"/>
              </a:rPr>
              <a:t>Set-point</a:t>
            </a:r>
            <a:r>
              <a:rPr lang="es-AR" sz="1400" dirty="0">
                <a:effectLst/>
                <a:latin typeface="Calibri" panose="020F0502020204030204" pitchFamily="34" charset="0"/>
                <a:ea typeface="Times New Roman" panose="02020603050405020304" pitchFamily="18" charset="0"/>
                <a:cs typeface="Calibri" panose="020F0502020204030204" pitchFamily="34" charset="0"/>
              </a:rPr>
              <a:t>, la consigna de velocidad se obtiene por diferencias finitas sobre la referencia (no requiere filtrado):</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1" name="Imagen 20">
            <a:extLst>
              <a:ext uri="{FF2B5EF4-FFF2-40B4-BE49-F238E27FC236}">
                <a16:creationId xmlns:a16="http://schemas.microsoft.com/office/drawing/2014/main" id="{D07B43FA-F348-427F-89D5-C7F01C6B97F0}"/>
              </a:ext>
            </a:extLst>
          </p:cNvPr>
          <p:cNvPicPr/>
          <p:nvPr/>
        </p:nvPicPr>
        <p:blipFill>
          <a:blip r:embed="rId4">
            <a:extLst>
              <a:ext uri="{28A0092B-C50C-407E-A947-70E740481C1C}">
                <a14:useLocalDpi xmlns:a14="http://schemas.microsoft.com/office/drawing/2010/main" val="0"/>
              </a:ext>
            </a:extLst>
          </a:blip>
          <a:stretch>
            <a:fillRect/>
          </a:stretch>
        </p:blipFill>
        <p:spPr>
          <a:xfrm>
            <a:off x="5784616" y="698017"/>
            <a:ext cx="5998890" cy="2966265"/>
          </a:xfrm>
          <a:prstGeom prst="rect">
            <a:avLst/>
          </a:prstGeom>
        </p:spPr>
      </p:pic>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9EF9EF40-F923-470C-9780-35E43069CD00}"/>
                  </a:ext>
                </a:extLst>
              </p:cNvPr>
              <p:cNvSpPr txBox="1"/>
              <p:nvPr/>
            </p:nvSpPr>
            <p:spPr>
              <a:xfrm>
                <a:off x="142347" y="2349144"/>
                <a:ext cx="5130801" cy="542584"/>
              </a:xfrm>
              <a:prstGeom prst="rect">
                <a:avLst/>
              </a:prstGeom>
              <a:noFill/>
            </p:spPr>
            <p:txBody>
              <a:bodyPr wrap="square">
                <a:spAutoFit/>
              </a:bodyPr>
              <a:lstStyle/>
              <a:p>
                <a:pPr algn="just">
                  <a:lnSpc>
                    <a:spcPct val="107000"/>
                  </a:lnSpc>
                  <a:spcBef>
                    <a:spcPts val="600"/>
                  </a:spcBef>
                  <a:spcAft>
                    <a:spcPts val="800"/>
                  </a:spcAft>
                </a:pPr>
                <a:r>
                  <a:rPr lang="es-AR" sz="1400" b="0" dirty="0">
                    <a:effectLst/>
                    <a:latin typeface="Calibri" panose="020F0502020204030204" pitchFamily="34" charset="0"/>
                    <a:ea typeface="Calibri" panose="020F0502020204030204" pitchFamily="34" charset="0"/>
                    <a:cs typeface="Times New Roman" panose="02020603050405020304" pitchFamily="18" charset="0"/>
                  </a:rPr>
                  <a:t>El bloque </a:t>
                </a:r>
                <a:r>
                  <a:rPr lang="es-AR" sz="1400" b="1" dirty="0">
                    <a:effectLst/>
                    <a:latin typeface="Calibri" panose="020F0502020204030204" pitchFamily="34" charset="0"/>
                    <a:ea typeface="Calibri" panose="020F0502020204030204" pitchFamily="34" charset="0"/>
                    <a:cs typeface="Times New Roman" panose="02020603050405020304" pitchFamily="18" charset="0"/>
                  </a:rPr>
                  <a:t>PID externo</a:t>
                </a:r>
                <a:r>
                  <a:rPr lang="es-AR" sz="1400" dirty="0">
                    <a:effectLst/>
                    <a:latin typeface="Calibri" panose="020F0502020204030204" pitchFamily="34" charset="0"/>
                    <a:ea typeface="Calibri" panose="020F0502020204030204" pitchFamily="34" charset="0"/>
                    <a:cs typeface="Times New Roman" panose="02020603050405020304" pitchFamily="18" charset="0"/>
                  </a:rPr>
                  <a:t>, definiendo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como la integración del error de velocidad 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como su segunda integración:</a:t>
                </a:r>
              </a:p>
            </p:txBody>
          </p:sp>
        </mc:Choice>
        <mc:Fallback xmlns="">
          <p:sp>
            <p:nvSpPr>
              <p:cNvPr id="25" name="CuadroTexto 24">
                <a:extLst>
                  <a:ext uri="{FF2B5EF4-FFF2-40B4-BE49-F238E27FC236}">
                    <a16:creationId xmlns:a16="http://schemas.microsoft.com/office/drawing/2014/main" id="{9EF9EF40-F923-470C-9780-35E43069CD00}"/>
                  </a:ext>
                </a:extLst>
              </p:cNvPr>
              <p:cNvSpPr txBox="1">
                <a:spLocks noRot="1" noChangeAspect="1" noMove="1" noResize="1" noEditPoints="1" noAdjustHandles="1" noChangeArrowheads="1" noChangeShapeType="1" noTextEdit="1"/>
              </p:cNvSpPr>
              <p:nvPr/>
            </p:nvSpPr>
            <p:spPr>
              <a:xfrm>
                <a:off x="142347" y="2349144"/>
                <a:ext cx="5130801" cy="542584"/>
              </a:xfrm>
              <a:prstGeom prst="rect">
                <a:avLst/>
              </a:prstGeom>
              <a:blipFill>
                <a:blip r:embed="rId5"/>
                <a:stretch>
                  <a:fillRect l="-356" r="-238" b="-1236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BD54E6B-DAC7-43CD-BE7E-389DAABE9C0C}"/>
                  </a:ext>
                </a:extLst>
              </p:cNvPr>
              <p:cNvSpPr txBox="1"/>
              <p:nvPr/>
            </p:nvSpPr>
            <p:spPr>
              <a:xfrm>
                <a:off x="0" y="2948611"/>
                <a:ext cx="3855562" cy="1490729"/>
              </a:xfrm>
              <a:prstGeom prst="rect">
                <a:avLst/>
              </a:prstGeom>
              <a:noFill/>
            </p:spPr>
            <p:txBody>
              <a:bodyPr wrap="square">
                <a:spAutoFit/>
              </a:bodyPr>
              <a:lstStyle/>
              <a:p>
                <a:pPr algn="just">
                  <a:lnSpc>
                    <a:spcPct val="107000"/>
                  </a:lnSpc>
                  <a:spcAft>
                    <a:spcPts val="600"/>
                  </a:spcAft>
                </a:pP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𝜔</m:t>
                              </m:r>
                            </m:sub>
                          </m:sSub>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𝜔</m:t>
                              </m:r>
                            </m:sub>
                          </m:sSub>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600"/>
                  </a:spcBef>
                  <a:spcAft>
                    <a:spcPts val="1200"/>
                  </a:spcAft>
                </a:pPr>
                <a14:m>
                  <m:oMathPara xmlns:m="http://schemas.openxmlformats.org/officeDocument/2006/math">
                    <m:oMathParaPr>
                      <m:jc m:val="centerGroup"/>
                    </m:oMathParaPr>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𝑎</m:t>
                          </m:r>
                        </m:sub>
                      </m:sSub>
                      <m:r>
                        <a:rPr lang="es-AR" sz="14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e>
                        <m:sub>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sub>
                      </m:sSub>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𝐾</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𝑠𝑎</m:t>
                          </m:r>
                        </m:sub>
                      </m:sSub>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𝐾</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𝑠𝑖𝑎</m:t>
                          </m:r>
                        </m:sub>
                      </m:sSub>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6" name="CuadroTexto 25">
                <a:extLst>
                  <a:ext uri="{FF2B5EF4-FFF2-40B4-BE49-F238E27FC236}">
                    <a16:creationId xmlns:a16="http://schemas.microsoft.com/office/drawing/2014/main" id="{CBD54E6B-DAC7-43CD-BE7E-389DAABE9C0C}"/>
                  </a:ext>
                </a:extLst>
              </p:cNvPr>
              <p:cNvSpPr txBox="1">
                <a:spLocks noRot="1" noChangeAspect="1" noMove="1" noResize="1" noEditPoints="1" noAdjustHandles="1" noChangeArrowheads="1" noChangeShapeType="1" noTextEdit="1"/>
              </p:cNvSpPr>
              <p:nvPr/>
            </p:nvSpPr>
            <p:spPr>
              <a:xfrm>
                <a:off x="0" y="2948611"/>
                <a:ext cx="3855562" cy="1490729"/>
              </a:xfrm>
              <a:prstGeom prst="rect">
                <a:avLst/>
              </a:prstGeom>
              <a:blipFill>
                <a:blip r:embed="rId6"/>
                <a:stretch>
                  <a:fillRect/>
                </a:stretch>
              </a:blipFill>
            </p:spPr>
            <p:txBody>
              <a:bodyPr/>
              <a:lstStyle/>
              <a:p>
                <a:r>
                  <a:rPr lang="es-AR">
                    <a:noFill/>
                  </a:rPr>
                  <a:t> </a:t>
                </a:r>
              </a:p>
            </p:txBody>
          </p:sp>
        </mc:Fallback>
      </mc:AlternateContent>
      <p:sp>
        <p:nvSpPr>
          <p:cNvPr id="30" name="CuadroTexto 29">
            <a:extLst>
              <a:ext uri="{FF2B5EF4-FFF2-40B4-BE49-F238E27FC236}">
                <a16:creationId xmlns:a16="http://schemas.microsoft.com/office/drawing/2014/main" id="{AFF04977-62DC-4B0F-8833-52859944481E}"/>
              </a:ext>
            </a:extLst>
          </p:cNvPr>
          <p:cNvSpPr txBox="1"/>
          <p:nvPr/>
        </p:nvSpPr>
        <p:spPr>
          <a:xfrm>
            <a:off x="7889823" y="3583870"/>
            <a:ext cx="4554874"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90— Set-point Discretizado</a:t>
            </a:r>
          </a:p>
        </p:txBody>
      </p:sp>
      <p:sp>
        <p:nvSpPr>
          <p:cNvPr id="31" name="CuadroTexto 30">
            <a:extLst>
              <a:ext uri="{FF2B5EF4-FFF2-40B4-BE49-F238E27FC236}">
                <a16:creationId xmlns:a16="http://schemas.microsoft.com/office/drawing/2014/main" id="{1BE49922-937E-4AAF-A250-65272AEBA2DB}"/>
              </a:ext>
            </a:extLst>
          </p:cNvPr>
          <p:cNvSpPr txBox="1"/>
          <p:nvPr/>
        </p:nvSpPr>
        <p:spPr>
          <a:xfrm>
            <a:off x="7811281" y="6138962"/>
            <a:ext cx="4554874"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91— PID externo discretizado</a:t>
            </a:r>
          </a:p>
        </p:txBody>
      </p:sp>
      <p:sp>
        <p:nvSpPr>
          <p:cNvPr id="18" name="Shape 2">
            <a:extLst>
              <a:ext uri="{FF2B5EF4-FFF2-40B4-BE49-F238E27FC236}">
                <a16:creationId xmlns:a16="http://schemas.microsoft.com/office/drawing/2014/main" id="{85ED1E0F-A9C6-4E87-BDAF-DC82C07BBA2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00739E89-9090-4B51-943B-8C8CF4B6F0D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9637572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34998"/>
            <a:ext cx="11551615" cy="658368"/>
          </a:xfrm>
          <a:prstGeom prst="rect">
            <a:avLst/>
          </a:prstGeom>
          <a:noFill/>
        </p:spPr>
        <p:txBody>
          <a:bodyPr wrap="none">
            <a:spAutoFit/>
          </a:bodyPr>
          <a:lstStyle/>
          <a:p>
            <a:pPr algn="l"/>
            <a:r>
              <a:rPr sz="2100" b="1" dirty="0" err="1">
                <a:solidFill>
                  <a:srgbClr val="FFFFFF"/>
                </a:solidFill>
                <a:latin typeface="Cambria"/>
              </a:rPr>
              <a:t>Discretización</a:t>
            </a:r>
            <a:r>
              <a:rPr sz="2100" b="1" dirty="0">
                <a:solidFill>
                  <a:srgbClr val="FFFFFF"/>
                </a:solidFill>
                <a:latin typeface="Cambria"/>
              </a:rPr>
              <a:t> — </a:t>
            </a:r>
            <a:r>
              <a:rPr sz="2100" b="1" dirty="0" err="1">
                <a:solidFill>
                  <a:srgbClr val="FFFFFF"/>
                </a:solidFill>
                <a:latin typeface="Cambria"/>
              </a:rPr>
              <a:t>Método</a:t>
            </a:r>
            <a:r>
              <a:rPr sz="2100" b="1" dirty="0">
                <a:solidFill>
                  <a:srgbClr val="FFFFFF"/>
                </a:solidFill>
                <a:latin typeface="Cambria"/>
              </a:rPr>
              <a:t> de Tustin y </a:t>
            </a:r>
            <a:r>
              <a:rPr sz="2100" b="1" dirty="0" err="1">
                <a:solidFill>
                  <a:srgbClr val="FFFFFF"/>
                </a:solidFill>
                <a:latin typeface="Cambria"/>
              </a:rPr>
              <a:t>período</a:t>
            </a:r>
            <a:r>
              <a:rPr sz="2100" b="1" dirty="0">
                <a:solidFill>
                  <a:srgbClr val="FFFFFF"/>
                </a:solidFill>
                <a:latin typeface="Cambria"/>
              </a:rPr>
              <a:t> de </a:t>
            </a:r>
            <a:r>
              <a:rPr sz="2100" b="1" dirty="0" err="1">
                <a:solidFill>
                  <a:srgbClr val="FFFFFF"/>
                </a:solidFill>
                <a:latin typeface="Cambria"/>
              </a:rPr>
              <a:t>muestreo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11" name="Rectangle 10"/>
          <p:cNvSpPr/>
          <p:nvPr/>
        </p:nvSpPr>
        <p:spPr>
          <a:xfrm>
            <a:off x="153891" y="1113194"/>
            <a:ext cx="10856615" cy="147104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274320" y="1222539"/>
                <a:ext cx="4056825" cy="1471044"/>
              </a:xfrm>
              <a:prstGeom prst="rect">
                <a:avLst/>
              </a:prstGeom>
              <a:noFill/>
            </p:spPr>
            <p:txBody>
              <a:bodyPr wrap="square">
                <a:spAutoFit/>
              </a:bodyPr>
              <a:lstStyle/>
              <a:p>
                <a14:m>
                  <m:oMath xmlns:m="http://schemas.openxmlformats.org/officeDocument/2006/math">
                    <m:r>
                      <a:rPr lang="es-AR" sz="1400" i="1">
                        <a:latin typeface="Cambria Math" panose="02040503050406030204" pitchFamily="18" charset="0"/>
                      </a:rPr>
                      <m:t>𝜀</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oMath>
                </a14:m>
                <a:r>
                  <a:rPr lang="es-AR" sz="1400" dirty="0"/>
                  <a:t>  </a:t>
                </a:r>
              </a:p>
              <a:p>
                <a14:m>
                  <m:oMath xmlns:m="http://schemas.openxmlformats.org/officeDocument/2006/math">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num>
                      <m:den>
                        <m:r>
                          <a:rPr lang="es-AR" sz="1400" i="1">
                            <a:latin typeface="Cambria Math" panose="02040503050406030204" pitchFamily="18" charset="0"/>
                          </a:rPr>
                          <m:t>2</m:t>
                        </m:r>
                      </m:den>
                    </m:f>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e>
                    </m:d>
                  </m:oMath>
                </a14:m>
                <a:r>
                  <a:rPr lang="es-AR" sz="1400" dirty="0"/>
                  <a:t>  </a:t>
                </a:r>
              </a:p>
              <a:p>
                <a14:m>
                  <m:oMath xmlns:m="http://schemas.openxmlformats.org/officeDocument/2006/math">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num>
                      <m:den>
                        <m:r>
                          <a:rPr lang="es-AR" sz="1400" i="1">
                            <a:latin typeface="Cambria Math" panose="02040503050406030204" pitchFamily="18" charset="0"/>
                          </a:rPr>
                          <m:t>2</m:t>
                        </m:r>
                      </m:den>
                    </m:f>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e>
                    </m:d>
                  </m:oMath>
                </a14:m>
                <a:r>
                  <a:rPr lang="es-AR" sz="1400" dirty="0"/>
                  <a:t> </a:t>
                </a:r>
              </a:p>
              <a:p>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num>
                      <m:den>
                        <m:r>
                          <a:rPr lang="es-AR" sz="1400" i="1">
                            <a:latin typeface="Cambria Math" panose="02040503050406030204" pitchFamily="18" charset="0"/>
                          </a:rPr>
                          <m:t>2</m:t>
                        </m:r>
                      </m:den>
                    </m:f>
                    <m:d>
                      <m:dPr>
                        <m:ctrlPr>
                          <a:rPr lang="es-AR" sz="1400" i="1">
                            <a:latin typeface="Cambria Math" panose="02040503050406030204" pitchFamily="18" charset="0"/>
                          </a:rPr>
                        </m:ctrlPr>
                      </m:dPr>
                      <m:e>
                        <m:r>
                          <m:rPr>
                            <m:sty m:val="p"/>
                          </m:rPr>
                          <a:rPr lang="es-AR" sz="1400">
                            <a:latin typeface="Cambria Math" panose="02040503050406030204" pitchFamily="18" charset="0"/>
                          </a:rPr>
                          <m:t>ε</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r>
                          <m:rPr>
                            <m:sty m:val="p"/>
                          </m:rPr>
                          <a:rPr lang="es-AR" sz="1400">
                            <a:latin typeface="Cambria Math" panose="02040503050406030204" pitchFamily="18" charset="0"/>
                          </a:rPr>
                          <m:t>ε</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e>
                    </m:d>
                  </m:oMath>
                </a14:m>
                <a:r>
                  <a:rPr lang="es-AR" sz="1400" dirty="0"/>
                  <a:t> </a:t>
                </a:r>
              </a:p>
              <a:p>
                <a:pPr algn="ctr"/>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74320" y="1222539"/>
                <a:ext cx="4056825" cy="1471044"/>
              </a:xfrm>
              <a:prstGeom prst="rect">
                <a:avLst/>
              </a:prstGeom>
              <a:blipFill>
                <a:blip r:embed="rId2"/>
                <a:stretch>
                  <a:fillRect t="-1245"/>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71E527D0-AD58-41B6-9147-8A44261BBB19}"/>
              </a:ext>
            </a:extLst>
          </p:cNvPr>
          <p:cNvSpPr txBox="1"/>
          <p:nvPr/>
        </p:nvSpPr>
        <p:spPr>
          <a:xfrm>
            <a:off x="101570" y="745069"/>
            <a:ext cx="11700789" cy="312650"/>
          </a:xfrm>
          <a:prstGeom prst="rect">
            <a:avLst/>
          </a:prstGeom>
          <a:noFill/>
        </p:spPr>
        <p:txBody>
          <a:bodyPr wrap="square">
            <a:spAutoFit/>
          </a:bodyPr>
          <a:lstStyle/>
          <a:p>
            <a:pPr algn="just">
              <a:lnSpc>
                <a:spcPct val="107000"/>
              </a:lnSpc>
              <a:spcBef>
                <a:spcPts val="600"/>
              </a:spcBef>
              <a:spcAft>
                <a:spcPts val="600"/>
              </a:spcAft>
            </a:pPr>
            <a:r>
              <a:rPr lang="es-AR" sz="1400" b="0" dirty="0">
                <a:effectLst/>
                <a:latin typeface="Calibri" panose="020F0502020204030204" pitchFamily="34" charset="0"/>
                <a:ea typeface="Calibri" panose="020F0502020204030204" pitchFamily="34" charset="0"/>
                <a:cs typeface="Times New Roman" panose="02020603050405020304" pitchFamily="18" charset="0"/>
              </a:rPr>
              <a:t>El bloque del </a:t>
            </a:r>
            <a:r>
              <a:rPr lang="es-AR" sz="1400" dirty="0">
                <a:effectLst/>
                <a:latin typeface="Calibri" panose="020F0502020204030204" pitchFamily="34" charset="0"/>
                <a:ea typeface="Calibri" panose="020F0502020204030204" pitchFamily="34" charset="0"/>
                <a:cs typeface="Times New Roman" panose="02020603050405020304" pitchFamily="18" charset="0"/>
              </a:rPr>
              <a:t>Observador, aplicando Tustin a la forma expandida, con:</a:t>
            </a:r>
          </a:p>
        </p:txBody>
      </p:sp>
      <p:sp>
        <p:nvSpPr>
          <p:cNvPr id="31" name="CuadroTexto 30">
            <a:extLst>
              <a:ext uri="{FF2B5EF4-FFF2-40B4-BE49-F238E27FC236}">
                <a16:creationId xmlns:a16="http://schemas.microsoft.com/office/drawing/2014/main" id="{1BE49922-937E-4AAF-A250-65272AEBA2DB}"/>
              </a:ext>
            </a:extLst>
          </p:cNvPr>
          <p:cNvSpPr txBox="1"/>
          <p:nvPr/>
        </p:nvSpPr>
        <p:spPr>
          <a:xfrm>
            <a:off x="4173071" y="5735154"/>
            <a:ext cx="4554874"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92— Observador aumentado discretizado</a:t>
            </a:r>
          </a:p>
          <a:p>
            <a:endParaRPr lang="es-AR" dirty="0"/>
          </a:p>
        </p:txBody>
      </p:sp>
      <p:pic>
        <p:nvPicPr>
          <p:cNvPr id="18" name="Imagen 17">
            <a:extLst>
              <a:ext uri="{FF2B5EF4-FFF2-40B4-BE49-F238E27FC236}">
                <a16:creationId xmlns:a16="http://schemas.microsoft.com/office/drawing/2014/main" id="{FDA11935-5BDB-4D49-9C60-2DC9BF2F88B1}"/>
              </a:ext>
            </a:extLst>
          </p:cNvPr>
          <p:cNvPicPr/>
          <p:nvPr/>
        </p:nvPicPr>
        <p:blipFill>
          <a:blip r:embed="rId3">
            <a:extLst>
              <a:ext uri="{28A0092B-C50C-407E-A947-70E740481C1C}">
                <a14:useLocalDpi xmlns:a14="http://schemas.microsoft.com/office/drawing/2010/main" val="0"/>
              </a:ext>
            </a:extLst>
          </a:blip>
          <a:stretch>
            <a:fillRect/>
          </a:stretch>
        </p:blipFill>
        <p:spPr>
          <a:xfrm>
            <a:off x="2045617" y="2776416"/>
            <a:ext cx="7592856" cy="2881208"/>
          </a:xfrm>
          <a:prstGeom prst="rect">
            <a:avLst/>
          </a:prstGeom>
        </p:spPr>
      </p:pic>
      <p:sp>
        <p:nvSpPr>
          <p:cNvPr id="13" name="Shape 2">
            <a:extLst>
              <a:ext uri="{FF2B5EF4-FFF2-40B4-BE49-F238E27FC236}">
                <a16:creationId xmlns:a16="http://schemas.microsoft.com/office/drawing/2014/main" id="{42B3901B-0064-48A3-A656-95C27C5ABF0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106A1CFA-ED65-4F74-AD27-F01362250D65}"/>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2281053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17321"/>
            <a:ext cx="7336688" cy="415498"/>
          </a:xfrm>
          <a:prstGeom prst="rect">
            <a:avLst/>
          </a:prstGeom>
          <a:noFill/>
        </p:spPr>
        <p:txBody>
          <a:bodyPr wrap="none">
            <a:spAutoFit/>
          </a:bodyPr>
          <a:lstStyle/>
          <a:p>
            <a:pPr algn="l"/>
            <a:r>
              <a:rPr lang="es-AR" sz="2100" b="1" dirty="0">
                <a:solidFill>
                  <a:srgbClr val="FFFFFF"/>
                </a:solidFill>
                <a:latin typeface="Cambria"/>
              </a:rPr>
              <a:t>Discretización — Método de Tustin y período de muestreo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20" name="CuadroTexto 19">
            <a:extLst>
              <a:ext uri="{FF2B5EF4-FFF2-40B4-BE49-F238E27FC236}">
                <a16:creationId xmlns:a16="http://schemas.microsoft.com/office/drawing/2014/main" id="{2A133480-A24F-4AA2-974C-3329BBBDCAEC}"/>
              </a:ext>
            </a:extLst>
          </p:cNvPr>
          <p:cNvSpPr txBox="1"/>
          <p:nvPr/>
        </p:nvSpPr>
        <p:spPr>
          <a:xfrm>
            <a:off x="191374" y="893009"/>
            <a:ext cx="8342721" cy="344069"/>
          </a:xfrm>
          <a:prstGeom prst="rect">
            <a:avLst/>
          </a:prstGeom>
          <a:noFill/>
        </p:spPr>
        <p:txBody>
          <a:bodyPr wrap="square">
            <a:spAutoFit/>
          </a:bodyPr>
          <a:lstStyle/>
          <a:p>
            <a:pPr algn="just">
              <a:lnSpc>
                <a:spcPct val="107000"/>
              </a:lnSpc>
              <a:spcBef>
                <a:spcPts val="1800"/>
              </a:spcBef>
              <a:spcAft>
                <a:spcPts val="800"/>
              </a:spcAft>
            </a:pPr>
            <a:r>
              <a:rPr lang="es-AR" sz="1600" dirty="0">
                <a:latin typeface="Calibri" panose="020F0502020204030204" pitchFamily="34" charset="0"/>
                <a:ea typeface="Calibri" panose="020F0502020204030204" pitchFamily="34" charset="0"/>
                <a:cs typeface="Times New Roman" panose="02020603050405020304" pitchFamily="18" charset="0"/>
              </a:rPr>
              <a:t>L</a:t>
            </a:r>
            <a:r>
              <a:rPr lang="es-AR" sz="1600" dirty="0">
                <a:effectLst/>
                <a:latin typeface="Calibri" panose="020F0502020204030204" pitchFamily="34" charset="0"/>
                <a:ea typeface="Calibri" panose="020F0502020204030204" pitchFamily="34" charset="0"/>
                <a:cs typeface="Times New Roman" panose="02020603050405020304" pitchFamily="18" charset="0"/>
              </a:rPr>
              <a:t>as especificaciones finales del sistema discreto quedan resumidas en la siguiente tabla:</a:t>
            </a:r>
          </a:p>
        </p:txBody>
      </p:sp>
      <mc:AlternateContent xmlns:mc="http://schemas.openxmlformats.org/markup-compatibility/2006" xmlns:a14="http://schemas.microsoft.com/office/drawing/2010/main">
        <mc:Choice Requires="a14">
          <p:graphicFrame>
            <p:nvGraphicFramePr>
              <p:cNvPr id="7" name="Tabla 6">
                <a:extLst>
                  <a:ext uri="{FF2B5EF4-FFF2-40B4-BE49-F238E27FC236}">
                    <a16:creationId xmlns:a16="http://schemas.microsoft.com/office/drawing/2014/main" id="{4567178A-CEE3-407F-8058-6B3436031D8F}"/>
                  </a:ext>
                </a:extLst>
              </p:cNvPr>
              <p:cNvGraphicFramePr>
                <a:graphicFrameLocks noGrp="1"/>
              </p:cNvGraphicFramePr>
              <p:nvPr>
                <p:extLst>
                  <p:ext uri="{D42A27DB-BD31-4B8C-83A1-F6EECF244321}">
                    <p14:modId xmlns:p14="http://schemas.microsoft.com/office/powerpoint/2010/main" val="387363712"/>
                  </p:ext>
                </p:extLst>
              </p:nvPr>
            </p:nvGraphicFramePr>
            <p:xfrm>
              <a:off x="395454" y="1471719"/>
              <a:ext cx="7308850" cy="2750940"/>
            </p:xfrm>
            <a:graphic>
              <a:graphicData uri="http://schemas.openxmlformats.org/drawingml/2006/table">
                <a:tbl>
                  <a:tblPr firstRow="1" firstCol="1" bandRow="1">
                    <a:tableStyleId>{5C22544A-7EE6-4342-B048-85BDC9FD1C3A}</a:tableStyleId>
                  </a:tblPr>
                  <a:tblGrid>
                    <a:gridCol w="3654425">
                      <a:extLst>
                        <a:ext uri="{9D8B030D-6E8A-4147-A177-3AD203B41FA5}">
                          <a16:colId xmlns:a16="http://schemas.microsoft.com/office/drawing/2014/main" val="2648612710"/>
                        </a:ext>
                      </a:extLst>
                    </a:gridCol>
                    <a:gridCol w="3654425">
                      <a:extLst>
                        <a:ext uri="{9D8B030D-6E8A-4147-A177-3AD203B41FA5}">
                          <a16:colId xmlns:a16="http://schemas.microsoft.com/office/drawing/2014/main" val="1751610341"/>
                        </a:ext>
                      </a:extLst>
                    </a:gridCol>
                  </a:tblGrid>
                  <a:tr h="298450">
                    <a:tc>
                      <a:txBody>
                        <a:bodyPr/>
                        <a:lstStyle/>
                        <a:p>
                          <a:pPr algn="ctr">
                            <a:lnSpc>
                              <a:spcPct val="107000"/>
                            </a:lnSpc>
                            <a:spcAft>
                              <a:spcPts val="800"/>
                            </a:spcAft>
                          </a:pPr>
                          <a:r>
                            <a:rPr lang="es-AR" sz="1400">
                              <a:effectLst/>
                            </a:rPr>
                            <a:t>Componente</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400">
                              <a:effectLst/>
                            </a:rPr>
                            <a:t>Especificación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08947483"/>
                      </a:ext>
                    </a:extLst>
                  </a:tr>
                  <a:tr h="489679">
                    <a:tc>
                      <a:txBody>
                        <a:bodyPr/>
                        <a:lstStyle/>
                        <a:p>
                          <a:pPr algn="ctr">
                            <a:lnSpc>
                              <a:spcPct val="107000"/>
                            </a:lnSpc>
                            <a:spcAft>
                              <a:spcPts val="800"/>
                            </a:spcAft>
                          </a:pPr>
                          <a:r>
                            <a:rPr lang="es-AR" sz="1400">
                              <a:effectLst/>
                            </a:rPr>
                            <a:t>Sensor de posición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=6000</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11498732"/>
                      </a:ext>
                    </a:extLst>
                  </a:tr>
                  <a:tr h="489128">
                    <a:tc>
                      <a:txBody>
                        <a:bodyPr/>
                        <a:lstStyle/>
                        <a:p>
                          <a:pPr algn="ctr">
                            <a:lnSpc>
                              <a:spcPct val="107000"/>
                            </a:lnSpc>
                            <a:spcAft>
                              <a:spcPts val="800"/>
                            </a:spcAft>
                          </a:pPr>
                          <a:r>
                            <a:rPr lang="es-AR" sz="1400" dirty="0">
                              <a:effectLst/>
                            </a:rPr>
                            <a:t>Sensor de corriente</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90954027"/>
                      </a:ext>
                    </a:extLst>
                  </a:tr>
                  <a:tr h="489128">
                    <a:tc>
                      <a:txBody>
                        <a:bodyPr/>
                        <a:lstStyle/>
                        <a:p>
                          <a:pPr algn="ctr">
                            <a:lnSpc>
                              <a:spcPct val="107000"/>
                            </a:lnSpc>
                            <a:spcAft>
                              <a:spcPts val="800"/>
                            </a:spcAft>
                          </a:pPr>
                          <a:r>
                            <a:rPr lang="es-AR" sz="1400">
                              <a:effectLst/>
                            </a:rPr>
                            <a:t>Sensor de temperatura</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𝜏</m:t>
                                </m:r>
                                <m:r>
                                  <a:rPr lang="es-AR" sz="1400">
                                    <a:effectLst/>
                                    <a:latin typeface="Cambria Math" panose="02040503050406030204" pitchFamily="18" charset="0"/>
                                  </a:rPr>
                                  <m:t>=0.05 </m:t>
                                </m:r>
                                <m:r>
                                  <a:rPr lang="es-AR" sz="1400">
                                    <a:effectLst/>
                                    <a:latin typeface="Cambria Math" panose="02040503050406030204" pitchFamily="18" charset="0"/>
                                  </a:rPr>
                                  <m:t>𝑠</m:t>
                                </m:r>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27684993"/>
                      </a:ext>
                    </a:extLst>
                  </a:tr>
                  <a:tr h="489128">
                    <a:tc>
                      <a:txBody>
                        <a:bodyPr/>
                        <a:lstStyle/>
                        <a:p>
                          <a:pPr algn="ctr">
                            <a:lnSpc>
                              <a:spcPct val="107000"/>
                            </a:lnSpc>
                            <a:spcAft>
                              <a:spcPts val="800"/>
                            </a:spcAft>
                          </a:pPr>
                          <a:r>
                            <a:rPr lang="es-AR" sz="1400">
                              <a:effectLst/>
                            </a:rPr>
                            <a:t>Modulador de tensión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0915104"/>
                      </a:ext>
                    </a:extLst>
                  </a:tr>
                  <a:tr h="495427">
                    <a:tc>
                      <a:txBody>
                        <a:bodyPr/>
                        <a:lstStyle/>
                        <a:p>
                          <a:pPr algn="ctr">
                            <a:lnSpc>
                              <a:spcPct val="107000"/>
                            </a:lnSpc>
                            <a:spcAft>
                              <a:spcPts val="800"/>
                            </a:spcAft>
                          </a:pPr>
                          <a:r>
                            <a:rPr lang="es-AR" sz="1400" dirty="0">
                              <a:effectLst/>
                            </a:rPr>
                            <a:t>Período de muestreo</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𝑇</m:t>
                                    </m:r>
                                  </m:e>
                                  <m:sub>
                                    <m:r>
                                      <a:rPr lang="es-AR" sz="1400">
                                        <a:effectLst/>
                                        <a:latin typeface="Cambria Math" panose="02040503050406030204" pitchFamily="18" charset="0"/>
                                      </a:rPr>
                                      <m:t>𝑠</m:t>
                                    </m:r>
                                  </m:sub>
                                </m:sSub>
                                <m:r>
                                  <a:rPr lang="es-AR" sz="1400">
                                    <a:effectLst/>
                                    <a:latin typeface="Cambria Math" panose="02040503050406030204" pitchFamily="18" charset="0"/>
                                  </a:rPr>
                                  <m:t>=1.2566×</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−4</m:t>
                                    </m:r>
                                  </m:sup>
                                </m:sSup>
                                <m:r>
                                  <a:rPr lang="es-AR" sz="1400">
                                    <a:effectLst/>
                                    <a:latin typeface="Cambria Math" panose="02040503050406030204" pitchFamily="18" charset="0"/>
                                  </a:rPr>
                                  <m:t>𝑠</m:t>
                                </m:r>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38431513"/>
                      </a:ext>
                    </a:extLst>
                  </a:tr>
                </a:tbl>
              </a:graphicData>
            </a:graphic>
          </p:graphicFrame>
        </mc:Choice>
        <mc:Fallback xmlns="">
          <p:graphicFrame>
            <p:nvGraphicFramePr>
              <p:cNvPr id="7" name="Tabla 6">
                <a:extLst>
                  <a:ext uri="{FF2B5EF4-FFF2-40B4-BE49-F238E27FC236}">
                    <a16:creationId xmlns:a16="http://schemas.microsoft.com/office/drawing/2014/main" id="{4567178A-CEE3-407F-8058-6B3436031D8F}"/>
                  </a:ext>
                </a:extLst>
              </p:cNvPr>
              <p:cNvGraphicFramePr>
                <a:graphicFrameLocks noGrp="1"/>
              </p:cNvGraphicFramePr>
              <p:nvPr>
                <p:extLst>
                  <p:ext uri="{D42A27DB-BD31-4B8C-83A1-F6EECF244321}">
                    <p14:modId xmlns:p14="http://schemas.microsoft.com/office/powerpoint/2010/main" val="387363712"/>
                  </p:ext>
                </p:extLst>
              </p:nvPr>
            </p:nvGraphicFramePr>
            <p:xfrm>
              <a:off x="395454" y="1471719"/>
              <a:ext cx="7308850" cy="2750940"/>
            </p:xfrm>
            <a:graphic>
              <a:graphicData uri="http://schemas.openxmlformats.org/drawingml/2006/table">
                <a:tbl>
                  <a:tblPr firstRow="1" firstCol="1" bandRow="1">
                    <a:tableStyleId>{5C22544A-7EE6-4342-B048-85BDC9FD1C3A}</a:tableStyleId>
                  </a:tblPr>
                  <a:tblGrid>
                    <a:gridCol w="3654425">
                      <a:extLst>
                        <a:ext uri="{9D8B030D-6E8A-4147-A177-3AD203B41FA5}">
                          <a16:colId xmlns:a16="http://schemas.microsoft.com/office/drawing/2014/main" val="2648612710"/>
                        </a:ext>
                      </a:extLst>
                    </a:gridCol>
                    <a:gridCol w="3654425">
                      <a:extLst>
                        <a:ext uri="{9D8B030D-6E8A-4147-A177-3AD203B41FA5}">
                          <a16:colId xmlns:a16="http://schemas.microsoft.com/office/drawing/2014/main" val="1751610341"/>
                        </a:ext>
                      </a:extLst>
                    </a:gridCol>
                  </a:tblGrid>
                  <a:tr h="298450">
                    <a:tc>
                      <a:txBody>
                        <a:bodyPr/>
                        <a:lstStyle/>
                        <a:p>
                          <a:pPr algn="ctr">
                            <a:lnSpc>
                              <a:spcPct val="107000"/>
                            </a:lnSpc>
                            <a:spcAft>
                              <a:spcPts val="800"/>
                            </a:spcAft>
                          </a:pPr>
                          <a:r>
                            <a:rPr lang="es-AR" sz="1400">
                              <a:effectLst/>
                            </a:rPr>
                            <a:t>Componente</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400">
                              <a:effectLst/>
                            </a:rPr>
                            <a:t>Especificación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08947483"/>
                      </a:ext>
                    </a:extLst>
                  </a:tr>
                  <a:tr h="489679">
                    <a:tc>
                      <a:txBody>
                        <a:bodyPr/>
                        <a:lstStyle/>
                        <a:p>
                          <a:pPr algn="ctr">
                            <a:lnSpc>
                              <a:spcPct val="107000"/>
                            </a:lnSpc>
                            <a:spcAft>
                              <a:spcPts val="800"/>
                            </a:spcAft>
                          </a:pPr>
                          <a:r>
                            <a:rPr lang="es-AR" sz="1400">
                              <a:effectLst/>
                            </a:rPr>
                            <a:t>Sensor de posición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71250" r="-667" b="-406250"/>
                          </a:stretch>
                        </a:blipFill>
                      </a:tcPr>
                    </a:tc>
                    <a:extLst>
                      <a:ext uri="{0D108BD9-81ED-4DB2-BD59-A6C34878D82A}">
                        <a16:rowId xmlns:a16="http://schemas.microsoft.com/office/drawing/2014/main" val="3311498732"/>
                      </a:ext>
                    </a:extLst>
                  </a:tr>
                  <a:tr h="489128">
                    <a:tc>
                      <a:txBody>
                        <a:bodyPr/>
                        <a:lstStyle/>
                        <a:p>
                          <a:pPr algn="ctr">
                            <a:lnSpc>
                              <a:spcPct val="107000"/>
                            </a:lnSpc>
                            <a:spcAft>
                              <a:spcPts val="800"/>
                            </a:spcAft>
                          </a:pPr>
                          <a:r>
                            <a:rPr lang="es-AR" sz="1400" dirty="0">
                              <a:effectLst/>
                            </a:rPr>
                            <a:t>Sensor de corriente</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169136" r="-667" b="-301235"/>
                          </a:stretch>
                        </a:blipFill>
                      </a:tcPr>
                    </a:tc>
                    <a:extLst>
                      <a:ext uri="{0D108BD9-81ED-4DB2-BD59-A6C34878D82A}">
                        <a16:rowId xmlns:a16="http://schemas.microsoft.com/office/drawing/2014/main" val="890954027"/>
                      </a:ext>
                    </a:extLst>
                  </a:tr>
                  <a:tr h="489128">
                    <a:tc>
                      <a:txBody>
                        <a:bodyPr/>
                        <a:lstStyle/>
                        <a:p>
                          <a:pPr algn="ctr">
                            <a:lnSpc>
                              <a:spcPct val="107000"/>
                            </a:lnSpc>
                            <a:spcAft>
                              <a:spcPts val="800"/>
                            </a:spcAft>
                          </a:pPr>
                          <a:r>
                            <a:rPr lang="es-AR" sz="1400">
                              <a:effectLst/>
                            </a:rPr>
                            <a:t>Sensor de temperatura</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272500" r="-667" b="-205000"/>
                          </a:stretch>
                        </a:blipFill>
                      </a:tcPr>
                    </a:tc>
                    <a:extLst>
                      <a:ext uri="{0D108BD9-81ED-4DB2-BD59-A6C34878D82A}">
                        <a16:rowId xmlns:a16="http://schemas.microsoft.com/office/drawing/2014/main" val="1727684993"/>
                      </a:ext>
                    </a:extLst>
                  </a:tr>
                  <a:tr h="489128">
                    <a:tc>
                      <a:txBody>
                        <a:bodyPr/>
                        <a:lstStyle/>
                        <a:p>
                          <a:pPr algn="ctr">
                            <a:lnSpc>
                              <a:spcPct val="107000"/>
                            </a:lnSpc>
                            <a:spcAft>
                              <a:spcPts val="800"/>
                            </a:spcAft>
                          </a:pPr>
                          <a:r>
                            <a:rPr lang="es-AR" sz="1400">
                              <a:effectLst/>
                            </a:rPr>
                            <a:t>Modulador de tensión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367901" r="-667" b="-102469"/>
                          </a:stretch>
                        </a:blipFill>
                      </a:tcPr>
                    </a:tc>
                    <a:extLst>
                      <a:ext uri="{0D108BD9-81ED-4DB2-BD59-A6C34878D82A}">
                        <a16:rowId xmlns:a16="http://schemas.microsoft.com/office/drawing/2014/main" val="320915104"/>
                      </a:ext>
                    </a:extLst>
                  </a:tr>
                  <a:tr h="495427">
                    <a:tc>
                      <a:txBody>
                        <a:bodyPr/>
                        <a:lstStyle/>
                        <a:p>
                          <a:pPr algn="ctr">
                            <a:lnSpc>
                              <a:spcPct val="107000"/>
                            </a:lnSpc>
                            <a:spcAft>
                              <a:spcPts val="800"/>
                            </a:spcAft>
                          </a:pPr>
                          <a:r>
                            <a:rPr lang="es-AR" sz="1400" dirty="0">
                              <a:effectLst/>
                            </a:rPr>
                            <a:t>Período de muestreo</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467901" r="-667" b="-2469"/>
                          </a:stretch>
                        </a:blipFill>
                      </a:tcPr>
                    </a:tc>
                    <a:extLst>
                      <a:ext uri="{0D108BD9-81ED-4DB2-BD59-A6C34878D82A}">
                        <a16:rowId xmlns:a16="http://schemas.microsoft.com/office/drawing/2014/main" val="2138431513"/>
                      </a:ext>
                    </a:extLst>
                  </a:tr>
                </a:tbl>
              </a:graphicData>
            </a:graphic>
          </p:graphicFrame>
        </mc:Fallback>
      </mc:AlternateContent>
      <p:sp>
        <p:nvSpPr>
          <p:cNvPr id="9" name="Shape 2">
            <a:extLst>
              <a:ext uri="{FF2B5EF4-FFF2-40B4-BE49-F238E27FC236}">
                <a16:creationId xmlns:a16="http://schemas.microsoft.com/office/drawing/2014/main" id="{E48B6EC8-A82B-4093-AAAA-64BCD54E5F3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52D28B1D-53B3-4502-8332-33196D41246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38500408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345" y="65899"/>
            <a:ext cx="7246279" cy="415498"/>
          </a:xfrm>
          <a:prstGeom prst="rect">
            <a:avLst/>
          </a:prstGeom>
          <a:noFill/>
        </p:spPr>
        <p:txBody>
          <a:bodyPr wrap="none">
            <a:spAutoFit/>
          </a:bodyPr>
          <a:lstStyle/>
          <a:p>
            <a:pPr algn="l"/>
            <a:r>
              <a:rPr lang="en-US" sz="2100" b="1" dirty="0">
                <a:solidFill>
                  <a:srgbClr val="FFFFFF"/>
                </a:solidFill>
                <a:latin typeface="Cambria"/>
              </a:rPr>
              <a:t>Sistema </a:t>
            </a:r>
            <a:r>
              <a:rPr lang="en-US" sz="2100" b="1" dirty="0" err="1">
                <a:solidFill>
                  <a:srgbClr val="FFFFFF"/>
                </a:solidFill>
                <a:latin typeface="Cambria"/>
              </a:rPr>
              <a:t>completo</a:t>
            </a:r>
            <a:r>
              <a:rPr lang="en-US" sz="2100" b="1" dirty="0">
                <a:solidFill>
                  <a:srgbClr val="FFFFFF"/>
                </a:solidFill>
                <a:latin typeface="Cambria"/>
              </a:rPr>
              <a:t> </a:t>
            </a:r>
            <a:r>
              <a:rPr lang="en-US" sz="2100" b="1" dirty="0" err="1">
                <a:solidFill>
                  <a:srgbClr val="FFFFFF"/>
                </a:solidFill>
                <a:latin typeface="Cambria"/>
              </a:rPr>
              <a:t>discretizado</a:t>
            </a:r>
            <a:r>
              <a:rPr lang="en-US" sz="2100" b="1" dirty="0">
                <a:solidFill>
                  <a:srgbClr val="FFFFFF"/>
                </a:solidFill>
                <a:latin typeface="Cambria"/>
              </a:rPr>
              <a:t> </a:t>
            </a:r>
            <a:r>
              <a:rPr lang="es-AR" sz="2100" b="1" dirty="0">
                <a:solidFill>
                  <a:srgbClr val="FFFFFF"/>
                </a:solidFill>
                <a:latin typeface="Cambria"/>
              </a:rPr>
              <a:t>— Resultados y validación</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pic>
        <p:nvPicPr>
          <p:cNvPr id="22" name="Imagen 21">
            <a:extLst>
              <a:ext uri="{FF2B5EF4-FFF2-40B4-BE49-F238E27FC236}">
                <a16:creationId xmlns:a16="http://schemas.microsoft.com/office/drawing/2014/main" id="{1E9BBB49-A005-436E-B79D-BF2D938F484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0" y="836955"/>
            <a:ext cx="12191695" cy="3791605"/>
          </a:xfrm>
          <a:prstGeom prst="rect">
            <a:avLst/>
          </a:prstGeom>
        </p:spPr>
      </p:pic>
      <p:sp>
        <p:nvSpPr>
          <p:cNvPr id="10" name="CuadroTexto 9">
            <a:extLst>
              <a:ext uri="{FF2B5EF4-FFF2-40B4-BE49-F238E27FC236}">
                <a16:creationId xmlns:a16="http://schemas.microsoft.com/office/drawing/2014/main" id="{A3C746FA-B106-48E1-AEDE-5FA4AECA4688}"/>
              </a:ext>
            </a:extLst>
          </p:cNvPr>
          <p:cNvSpPr txBox="1"/>
          <p:nvPr/>
        </p:nvSpPr>
        <p:spPr>
          <a:xfrm>
            <a:off x="4380461" y="4591703"/>
            <a:ext cx="4554874" cy="600164"/>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93— Sistema completo discreto</a:t>
            </a:r>
          </a:p>
          <a:p>
            <a:endParaRPr lang="es-AR" dirty="0"/>
          </a:p>
          <a:p>
            <a:endParaRPr lang="es-AR" dirty="0"/>
          </a:p>
        </p:txBody>
      </p:sp>
      <p:sp>
        <p:nvSpPr>
          <p:cNvPr id="9" name="Shape 2">
            <a:extLst>
              <a:ext uri="{FF2B5EF4-FFF2-40B4-BE49-F238E27FC236}">
                <a16:creationId xmlns:a16="http://schemas.microsoft.com/office/drawing/2014/main" id="{3FF759CE-C7C8-49A1-9280-9BCA1000D24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A001E546-08C0-4B59-B0D7-BF89E62E174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77730186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7021"/>
            <a:ext cx="4653133" cy="415498"/>
          </a:xfrm>
          <a:prstGeom prst="rect">
            <a:avLst/>
          </a:prstGeom>
          <a:noFill/>
        </p:spPr>
        <p:txBody>
          <a:bodyPr wrap="none">
            <a:spAutoFit/>
          </a:bodyPr>
          <a:lstStyle/>
          <a:p>
            <a:pPr algn="l"/>
            <a:r>
              <a:rPr lang="es-AR" sz="2100" b="1" dirty="0">
                <a:solidFill>
                  <a:srgbClr val="FFFFFF"/>
                </a:solidFill>
                <a:latin typeface="Cambria"/>
              </a:rPr>
              <a:t>Resultados con controlador discreto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pic>
        <p:nvPicPr>
          <p:cNvPr id="18" name="Imagen 17">
            <a:extLst>
              <a:ext uri="{FF2B5EF4-FFF2-40B4-BE49-F238E27FC236}">
                <a16:creationId xmlns:a16="http://schemas.microsoft.com/office/drawing/2014/main" id="{FB60BD7D-FC67-448D-B74C-45E1461D146F}"/>
              </a:ext>
            </a:extLst>
          </p:cNvPr>
          <p:cNvPicPr/>
          <p:nvPr/>
        </p:nvPicPr>
        <p:blipFill>
          <a:blip r:embed="rId2">
            <a:extLst>
              <a:ext uri="{28A0092B-C50C-407E-A947-70E740481C1C}">
                <a14:useLocalDpi xmlns:a14="http://schemas.microsoft.com/office/drawing/2010/main" val="0"/>
              </a:ext>
            </a:extLst>
          </a:blip>
          <a:stretch>
            <a:fillRect/>
          </a:stretch>
        </p:blipFill>
        <p:spPr>
          <a:xfrm>
            <a:off x="588645" y="734568"/>
            <a:ext cx="4270229" cy="3014553"/>
          </a:xfrm>
          <a:prstGeom prst="rect">
            <a:avLst/>
          </a:prstGeom>
        </p:spPr>
        <p:style>
          <a:lnRef idx="2">
            <a:schemeClr val="accent1"/>
          </a:lnRef>
          <a:fillRef idx="1">
            <a:schemeClr val="lt1"/>
          </a:fillRef>
          <a:effectRef idx="0">
            <a:schemeClr val="accent1"/>
          </a:effectRef>
          <a:fontRef idx="minor">
            <a:schemeClr val="dk1"/>
          </a:fontRef>
        </p:style>
      </p:pic>
      <p:pic>
        <p:nvPicPr>
          <p:cNvPr id="19" name="Imagen 18">
            <a:extLst>
              <a:ext uri="{FF2B5EF4-FFF2-40B4-BE49-F238E27FC236}">
                <a16:creationId xmlns:a16="http://schemas.microsoft.com/office/drawing/2014/main" id="{E5E99950-A618-4C48-8259-DE1906E23C2B}"/>
              </a:ext>
            </a:extLst>
          </p:cNvPr>
          <p:cNvPicPr/>
          <p:nvPr/>
        </p:nvPicPr>
        <p:blipFill>
          <a:blip r:embed="rId3">
            <a:extLst>
              <a:ext uri="{28A0092B-C50C-407E-A947-70E740481C1C}">
                <a14:useLocalDpi xmlns:a14="http://schemas.microsoft.com/office/drawing/2010/main" val="0"/>
              </a:ext>
            </a:extLst>
          </a:blip>
          <a:stretch>
            <a:fillRect/>
          </a:stretch>
        </p:blipFill>
        <p:spPr>
          <a:xfrm>
            <a:off x="7647453" y="734568"/>
            <a:ext cx="4125448" cy="3014553"/>
          </a:xfrm>
          <a:prstGeom prst="rect">
            <a:avLst/>
          </a:prstGeom>
        </p:spPr>
        <p:style>
          <a:lnRef idx="2">
            <a:schemeClr val="accent1"/>
          </a:lnRef>
          <a:fillRef idx="1">
            <a:schemeClr val="lt1"/>
          </a:fillRef>
          <a:effectRef idx="0">
            <a:schemeClr val="accent1"/>
          </a:effectRef>
          <a:fontRef idx="minor">
            <a:schemeClr val="dk1"/>
          </a:fontRef>
        </p:style>
      </p:pic>
      <p:pic>
        <p:nvPicPr>
          <p:cNvPr id="20" name="Imagen 19">
            <a:extLst>
              <a:ext uri="{FF2B5EF4-FFF2-40B4-BE49-F238E27FC236}">
                <a16:creationId xmlns:a16="http://schemas.microsoft.com/office/drawing/2014/main" id="{8DE2DBAD-71F1-446C-9773-2C04DD80EF66}"/>
              </a:ext>
            </a:extLst>
          </p:cNvPr>
          <p:cNvPicPr/>
          <p:nvPr/>
        </p:nvPicPr>
        <p:blipFill>
          <a:blip r:embed="rId4">
            <a:extLst>
              <a:ext uri="{28A0092B-C50C-407E-A947-70E740481C1C}">
                <a14:useLocalDpi xmlns:a14="http://schemas.microsoft.com/office/drawing/2010/main" val="0"/>
              </a:ext>
            </a:extLst>
          </a:blip>
          <a:stretch>
            <a:fillRect/>
          </a:stretch>
        </p:blipFill>
        <p:spPr>
          <a:xfrm>
            <a:off x="178117" y="3991991"/>
            <a:ext cx="3453765" cy="2429510"/>
          </a:xfrm>
          <a:prstGeom prst="rect">
            <a:avLst/>
          </a:prstGeom>
        </p:spPr>
      </p:pic>
      <p:graphicFrame>
        <p:nvGraphicFramePr>
          <p:cNvPr id="21" name="Tabla 21">
            <a:extLst>
              <a:ext uri="{FF2B5EF4-FFF2-40B4-BE49-F238E27FC236}">
                <a16:creationId xmlns:a16="http://schemas.microsoft.com/office/drawing/2014/main" id="{4DC96354-B257-434B-9F4A-63357F75F47D}"/>
              </a:ext>
            </a:extLst>
          </p:cNvPr>
          <p:cNvGraphicFramePr>
            <a:graphicFrameLocks noGrp="1"/>
          </p:cNvGraphicFramePr>
          <p:nvPr/>
        </p:nvGraphicFramePr>
        <p:xfrm>
          <a:off x="0" y="668782"/>
          <a:ext cx="12191694" cy="5896610"/>
        </p:xfrm>
        <a:graphic>
          <a:graphicData uri="http://schemas.openxmlformats.org/drawingml/2006/table">
            <a:tbl>
              <a:tblPr firstRow="1" bandRow="1">
                <a:tableStyleId>{5C22544A-7EE6-4342-B048-85BDC9FD1C3A}</a:tableStyleId>
              </a:tblPr>
              <a:tblGrid>
                <a:gridCol w="6095847">
                  <a:extLst>
                    <a:ext uri="{9D8B030D-6E8A-4147-A177-3AD203B41FA5}">
                      <a16:colId xmlns:a16="http://schemas.microsoft.com/office/drawing/2014/main" val="500867234"/>
                    </a:ext>
                  </a:extLst>
                </a:gridCol>
                <a:gridCol w="6095847">
                  <a:extLst>
                    <a:ext uri="{9D8B030D-6E8A-4147-A177-3AD203B41FA5}">
                      <a16:colId xmlns:a16="http://schemas.microsoft.com/office/drawing/2014/main" val="4033675718"/>
                    </a:ext>
                  </a:extLst>
                </a:gridCol>
              </a:tblGrid>
              <a:tr h="2948305">
                <a:tc>
                  <a:txBody>
                    <a:bodyPr/>
                    <a:lstStyle/>
                    <a:p>
                      <a:endParaRPr lang="es-AR" dirty="0"/>
                    </a:p>
                  </a:txBody>
                  <a:tcPr/>
                </a:tc>
                <a:tc>
                  <a:txBody>
                    <a:bodyPr/>
                    <a:lstStyle/>
                    <a:p>
                      <a:endParaRPr lang="es-AR"/>
                    </a:p>
                  </a:txBody>
                  <a:tcPr/>
                </a:tc>
                <a:extLst>
                  <a:ext uri="{0D108BD9-81ED-4DB2-BD59-A6C34878D82A}">
                    <a16:rowId xmlns:a16="http://schemas.microsoft.com/office/drawing/2014/main" val="3219475773"/>
                  </a:ext>
                </a:extLst>
              </a:tr>
              <a:tr h="2948305">
                <a:tc>
                  <a:txBody>
                    <a:bodyPr/>
                    <a:lstStyle/>
                    <a:p>
                      <a:endParaRPr lang="es-AR" dirty="0"/>
                    </a:p>
                  </a:txBody>
                  <a:tcPr/>
                </a:tc>
                <a:tc>
                  <a:txBody>
                    <a:bodyPr/>
                    <a:lstStyle/>
                    <a:p>
                      <a:endParaRPr lang="es-AR" dirty="0"/>
                    </a:p>
                  </a:txBody>
                  <a:tcPr/>
                </a:tc>
                <a:extLst>
                  <a:ext uri="{0D108BD9-81ED-4DB2-BD59-A6C34878D82A}">
                    <a16:rowId xmlns:a16="http://schemas.microsoft.com/office/drawing/2014/main" val="1060784161"/>
                  </a:ext>
                </a:extLst>
              </a:tr>
            </a:tbl>
          </a:graphicData>
        </a:graphic>
      </p:graphicFrame>
      <p:pic>
        <p:nvPicPr>
          <p:cNvPr id="22" name="Imagen 21">
            <a:extLst>
              <a:ext uri="{FF2B5EF4-FFF2-40B4-BE49-F238E27FC236}">
                <a16:creationId xmlns:a16="http://schemas.microsoft.com/office/drawing/2014/main" id="{04051067-6736-473D-A748-A2E70EB97C8F}"/>
              </a:ext>
            </a:extLst>
          </p:cNvPr>
          <p:cNvPicPr/>
          <p:nvPr/>
        </p:nvPicPr>
        <p:blipFill>
          <a:blip r:embed="rId2">
            <a:extLst>
              <a:ext uri="{28A0092B-C50C-407E-A947-70E740481C1C}">
                <a14:useLocalDpi xmlns:a14="http://schemas.microsoft.com/office/drawing/2010/main" val="0"/>
              </a:ext>
            </a:extLst>
          </a:blip>
          <a:stretch>
            <a:fillRect/>
          </a:stretch>
        </p:blipFill>
        <p:spPr>
          <a:xfrm>
            <a:off x="76199" y="724155"/>
            <a:ext cx="5953126" cy="2704846"/>
          </a:xfrm>
          <a:prstGeom prst="rect">
            <a:avLst/>
          </a:prstGeom>
        </p:spPr>
      </p:pic>
      <p:pic>
        <p:nvPicPr>
          <p:cNvPr id="23" name="Imagen 22">
            <a:extLst>
              <a:ext uri="{FF2B5EF4-FFF2-40B4-BE49-F238E27FC236}">
                <a16:creationId xmlns:a16="http://schemas.microsoft.com/office/drawing/2014/main" id="{16F7F114-FFF5-40D2-8935-BBC426472874}"/>
              </a:ext>
            </a:extLst>
          </p:cNvPr>
          <p:cNvPicPr/>
          <p:nvPr/>
        </p:nvPicPr>
        <p:blipFill>
          <a:blip r:embed="rId3">
            <a:extLst>
              <a:ext uri="{28A0092B-C50C-407E-A947-70E740481C1C}">
                <a14:useLocalDpi xmlns:a14="http://schemas.microsoft.com/office/drawing/2010/main" val="0"/>
              </a:ext>
            </a:extLst>
          </a:blip>
          <a:stretch>
            <a:fillRect/>
          </a:stretch>
        </p:blipFill>
        <p:spPr>
          <a:xfrm>
            <a:off x="6162677" y="724154"/>
            <a:ext cx="5953124" cy="2704846"/>
          </a:xfrm>
          <a:prstGeom prst="rect">
            <a:avLst/>
          </a:prstGeom>
        </p:spPr>
      </p:pic>
      <p:pic>
        <p:nvPicPr>
          <p:cNvPr id="24" name="Imagen 23">
            <a:extLst>
              <a:ext uri="{FF2B5EF4-FFF2-40B4-BE49-F238E27FC236}">
                <a16:creationId xmlns:a16="http://schemas.microsoft.com/office/drawing/2014/main" id="{BD1F2E0C-314D-4C57-8459-8687E73CCBBB}"/>
              </a:ext>
            </a:extLst>
          </p:cNvPr>
          <p:cNvPicPr/>
          <p:nvPr/>
        </p:nvPicPr>
        <p:blipFill>
          <a:blip r:embed="rId4">
            <a:extLst>
              <a:ext uri="{28A0092B-C50C-407E-A947-70E740481C1C}">
                <a14:useLocalDpi xmlns:a14="http://schemas.microsoft.com/office/drawing/2010/main" val="0"/>
              </a:ext>
            </a:extLst>
          </a:blip>
          <a:stretch>
            <a:fillRect/>
          </a:stretch>
        </p:blipFill>
        <p:spPr>
          <a:xfrm>
            <a:off x="76199" y="3693921"/>
            <a:ext cx="5953126" cy="2704845"/>
          </a:xfrm>
          <a:prstGeom prst="rect">
            <a:avLst/>
          </a:prstGeom>
        </p:spPr>
      </p:pic>
      <p:pic>
        <p:nvPicPr>
          <p:cNvPr id="25" name="Imagen 24">
            <a:extLst>
              <a:ext uri="{FF2B5EF4-FFF2-40B4-BE49-F238E27FC236}">
                <a16:creationId xmlns:a16="http://schemas.microsoft.com/office/drawing/2014/main" id="{CB6E6B92-8F7C-40E7-9673-4BB2824CAC23}"/>
              </a:ext>
            </a:extLst>
          </p:cNvPr>
          <p:cNvPicPr/>
          <p:nvPr/>
        </p:nvPicPr>
        <p:blipFill>
          <a:blip r:embed="rId5">
            <a:extLst>
              <a:ext uri="{28A0092B-C50C-407E-A947-70E740481C1C}">
                <a14:useLocalDpi xmlns:a14="http://schemas.microsoft.com/office/drawing/2010/main" val="0"/>
              </a:ext>
            </a:extLst>
          </a:blip>
          <a:stretch>
            <a:fillRect/>
          </a:stretch>
        </p:blipFill>
        <p:spPr>
          <a:xfrm>
            <a:off x="6162677" y="3693921"/>
            <a:ext cx="5953124" cy="2704845"/>
          </a:xfrm>
          <a:prstGeom prst="rect">
            <a:avLst/>
          </a:prstGeom>
        </p:spPr>
      </p:pic>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8585CC3-AFEF-4D6F-B679-CE62DEC87440}"/>
                  </a:ext>
                </a:extLst>
              </p:cNvPr>
              <p:cNvSpPr txBox="1"/>
              <p:nvPr/>
            </p:nvSpPr>
            <p:spPr>
              <a:xfrm>
                <a:off x="154368"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94: Curvas de posición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6" name="CuadroTexto 25">
                <a:extLst>
                  <a:ext uri="{FF2B5EF4-FFF2-40B4-BE49-F238E27FC236}">
                    <a16:creationId xmlns:a16="http://schemas.microsoft.com/office/drawing/2014/main" id="{C8585CC3-AFEF-4D6F-B679-CE62DEC87440}"/>
                  </a:ext>
                </a:extLst>
              </p:cNvPr>
              <p:cNvSpPr txBox="1">
                <a:spLocks noRot="1" noChangeAspect="1" noMove="1" noResize="1" noEditPoints="1" noAdjustHandles="1" noChangeArrowheads="1" noChangeShapeType="1" noTextEdit="1"/>
              </p:cNvSpPr>
              <p:nvPr/>
            </p:nvSpPr>
            <p:spPr>
              <a:xfrm>
                <a:off x="154368" y="3374517"/>
                <a:ext cx="6098796" cy="430887"/>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F87AD530-A257-472A-B1B3-DCF398968D5F}"/>
                  </a:ext>
                </a:extLst>
              </p:cNvPr>
              <p:cNvSpPr txBox="1"/>
              <p:nvPr/>
            </p:nvSpPr>
            <p:spPr>
              <a:xfrm>
                <a:off x="6159574"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95: Curvas de velocidad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7" name="CuadroTexto 26">
                <a:extLst>
                  <a:ext uri="{FF2B5EF4-FFF2-40B4-BE49-F238E27FC236}">
                    <a16:creationId xmlns:a16="http://schemas.microsoft.com/office/drawing/2014/main" id="{F87AD530-A257-472A-B1B3-DCF398968D5F}"/>
                  </a:ext>
                </a:extLst>
              </p:cNvPr>
              <p:cNvSpPr txBox="1">
                <a:spLocks noRot="1" noChangeAspect="1" noMove="1" noResize="1" noEditPoints="1" noAdjustHandles="1" noChangeArrowheads="1" noChangeShapeType="1" noTextEdit="1"/>
              </p:cNvSpPr>
              <p:nvPr/>
            </p:nvSpPr>
            <p:spPr>
              <a:xfrm>
                <a:off x="6159574" y="3374517"/>
                <a:ext cx="6098796" cy="430887"/>
              </a:xfrm>
              <a:prstGeom prst="rect">
                <a:avLst/>
              </a:prstGeom>
              <a:blipFill>
                <a:blip r:embed="rId7"/>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10D5052E-C84A-4D0D-8F0B-6741E82D8547}"/>
                  </a:ext>
                </a:extLst>
              </p:cNvPr>
              <p:cNvSpPr txBox="1"/>
              <p:nvPr/>
            </p:nvSpPr>
            <p:spPr>
              <a:xfrm>
                <a:off x="274319" y="6339534"/>
                <a:ext cx="6098796" cy="600164"/>
              </a:xfrm>
              <a:prstGeom prst="rect">
                <a:avLst/>
              </a:prstGeom>
              <a:noFill/>
            </p:spPr>
            <p:txBody>
              <a:bodyPr wrap="square">
                <a:spAutoFit/>
              </a:bodyPr>
              <a:lstStyle/>
              <a:p>
                <a:pPr algn="ctr"/>
                <a:r>
                  <a:rPr lang="es-AR" sz="1100" i="1" dirty="0">
                    <a:solidFill>
                      <a:schemeClr val="tx1"/>
                    </a:solidFill>
                    <a:latin typeface="Calibri" pitchFamily="34" charset="0"/>
                    <a:ea typeface="Calibri" pitchFamily="34" charset="-122"/>
                    <a:cs typeface="Calibri" pitchFamily="34" charset="-120"/>
                  </a:rPr>
                  <a:t>FIGURA: </a:t>
                </a:r>
                <a:r>
                  <a:rPr lang="es-AR" sz="1100" i="1" dirty="0">
                    <a:solidFill>
                      <a:schemeClr val="tx1"/>
                    </a:solidFill>
                  </a:rPr>
                  <a:t>Figura 96: Curvas de corrientes </a:t>
                </a:r>
                <a14:m>
                  <m:oMath xmlns:m="http://schemas.openxmlformats.org/officeDocument/2006/math">
                    <m:sSub>
                      <m:sSubPr>
                        <m:ctrlPr>
                          <a:rPr lang="es-AR" sz="1100" i="1">
                            <a:solidFill>
                              <a:schemeClr val="tx1"/>
                            </a:solidFill>
                            <a:latin typeface="Cambria Math" panose="02040503050406030204" pitchFamily="18" charset="0"/>
                          </a:rPr>
                        </m:ctrlPr>
                      </m:sSubPr>
                      <m:e>
                        <m:r>
                          <a:rPr lang="es-AR" sz="1100" i="1">
                            <a:solidFill>
                              <a:schemeClr val="tx1"/>
                            </a:solidFill>
                            <a:latin typeface="Cambria Math" panose="02040503050406030204" pitchFamily="18" charset="0"/>
                          </a:rPr>
                          <m:t>𝑖</m:t>
                        </m:r>
                      </m:e>
                      <m:sub>
                        <m:r>
                          <a:rPr lang="es-AR" sz="1100" i="1">
                            <a:solidFill>
                              <a:schemeClr val="tx1"/>
                            </a:solidFill>
                            <a:latin typeface="Cambria Math" panose="02040503050406030204" pitchFamily="18" charset="0"/>
                          </a:rPr>
                          <m:t>𝑎𝑏𝑐</m:t>
                        </m:r>
                      </m:sub>
                    </m:sSub>
                  </m:oMath>
                </a14:m>
                <a:r>
                  <a:rPr lang="es-AR" sz="1100" i="1" dirty="0">
                    <a:solidFill>
                      <a:schemeClr val="tx1"/>
                    </a:solidFill>
                  </a:rPr>
                  <a:t> con controlador discreto</a:t>
                </a:r>
              </a:p>
              <a:p>
                <a:pPr algn="ctr"/>
                <a:endPar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gn="ctr">
                  <a:buNone/>
                </a:pPr>
                <a:endParaRPr lang="es-AR" sz="1100" i="1" dirty="0">
                  <a:solidFill>
                    <a:schemeClr val="tx2"/>
                  </a:solidFill>
                </a:endParaRPr>
              </a:p>
            </p:txBody>
          </p:sp>
        </mc:Choice>
        <mc:Fallback xmlns="">
          <p:sp>
            <p:nvSpPr>
              <p:cNvPr id="28" name="CuadroTexto 27">
                <a:extLst>
                  <a:ext uri="{FF2B5EF4-FFF2-40B4-BE49-F238E27FC236}">
                    <a16:creationId xmlns:a16="http://schemas.microsoft.com/office/drawing/2014/main" id="{10D5052E-C84A-4D0D-8F0B-6741E82D8547}"/>
                  </a:ext>
                </a:extLst>
              </p:cNvPr>
              <p:cNvSpPr txBox="1">
                <a:spLocks noRot="1" noChangeAspect="1" noMove="1" noResize="1" noEditPoints="1" noAdjustHandles="1" noChangeArrowheads="1" noChangeShapeType="1" noTextEdit="1"/>
              </p:cNvSpPr>
              <p:nvPr/>
            </p:nvSpPr>
            <p:spPr>
              <a:xfrm>
                <a:off x="274319" y="6339534"/>
                <a:ext cx="6098796" cy="600164"/>
              </a:xfrm>
              <a:prstGeom prst="rect">
                <a:avLst/>
              </a:prstGeom>
              <a:blipFill>
                <a:blip r:embed="rId8"/>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284A114E-CCDD-4A32-B157-6EE1A24480AA}"/>
                  </a:ext>
                </a:extLst>
              </p:cNvPr>
              <p:cNvSpPr txBox="1"/>
              <p:nvPr/>
            </p:nvSpPr>
            <p:spPr>
              <a:xfrm>
                <a:off x="6303644" y="6357338"/>
                <a:ext cx="6098796" cy="769441"/>
              </a:xfrm>
              <a:prstGeom prst="rect">
                <a:avLst/>
              </a:prstGeom>
              <a:noFill/>
            </p:spPr>
            <p:txBody>
              <a:bodyPr wrap="square">
                <a:spAutoFit/>
              </a:bodyPr>
              <a:lstStyle/>
              <a:p>
                <a:pPr algn="ctr"/>
                <a:r>
                  <a:rPr lang="es-AR" sz="1100" i="1" dirty="0">
                    <a:solidFill>
                      <a:schemeClr val="tx1"/>
                    </a:solidFill>
                    <a:latin typeface="Calibri" pitchFamily="34" charset="0"/>
                    <a:ea typeface="Calibri" pitchFamily="34" charset="-122"/>
                    <a:cs typeface="Calibri" pitchFamily="34" charset="-120"/>
                  </a:rPr>
                  <a:t>FIGURA: </a:t>
                </a:r>
                <a:r>
                  <a:rPr lang="es-AR" sz="1100" i="1" dirty="0"/>
                  <a:t>Figura 97: Curvas de tensiones </a:t>
                </a:r>
                <a14:m>
                  <m:oMath xmlns:m="http://schemas.openxmlformats.org/officeDocument/2006/math">
                    <m:sSub>
                      <m:sSubPr>
                        <m:ctrlPr>
                          <a:rPr lang="es-AR" sz="1100" i="1">
                            <a:latin typeface="Cambria Math" panose="02040503050406030204" pitchFamily="18" charset="0"/>
                          </a:rPr>
                        </m:ctrlPr>
                      </m:sSubPr>
                      <m:e>
                        <m:r>
                          <a:rPr lang="es-AR" sz="1100" i="1">
                            <a:latin typeface="Cambria Math" panose="02040503050406030204" pitchFamily="18" charset="0"/>
                          </a:rPr>
                          <m:t>𝑣</m:t>
                        </m:r>
                      </m:e>
                      <m:sub>
                        <m:r>
                          <a:rPr lang="es-AR" sz="1100" i="1">
                            <a:latin typeface="Cambria Math" panose="02040503050406030204" pitchFamily="18" charset="0"/>
                          </a:rPr>
                          <m:t>𝑎𝑏𝑐</m:t>
                        </m:r>
                      </m:sub>
                    </m:sSub>
                  </m:oMath>
                </a14:m>
                <a:r>
                  <a:rPr lang="es-AR" sz="1100" i="1" dirty="0"/>
                  <a:t>  con controlador discreto </a:t>
                </a:r>
              </a:p>
              <a:p>
                <a:pPr algn="ctr"/>
                <a:endParaRPr lang="es-AR" sz="1100" i="1" dirty="0">
                  <a:solidFill>
                    <a:schemeClr val="tx1"/>
                  </a:solidFill>
                </a:endParaRPr>
              </a:p>
              <a:p>
                <a:pPr algn="ctr"/>
                <a:endPar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gn="ctr">
                  <a:buNone/>
                </a:pPr>
                <a:endParaRPr lang="es-AR" sz="1100" i="1" dirty="0">
                  <a:solidFill>
                    <a:schemeClr val="tx2"/>
                  </a:solidFill>
                </a:endParaRPr>
              </a:p>
            </p:txBody>
          </p:sp>
        </mc:Choice>
        <mc:Fallback xmlns="">
          <p:sp>
            <p:nvSpPr>
              <p:cNvPr id="29" name="CuadroTexto 28">
                <a:extLst>
                  <a:ext uri="{FF2B5EF4-FFF2-40B4-BE49-F238E27FC236}">
                    <a16:creationId xmlns:a16="http://schemas.microsoft.com/office/drawing/2014/main" id="{284A114E-CCDD-4A32-B157-6EE1A24480AA}"/>
                  </a:ext>
                </a:extLst>
              </p:cNvPr>
              <p:cNvSpPr txBox="1">
                <a:spLocks noRot="1" noChangeAspect="1" noMove="1" noResize="1" noEditPoints="1" noAdjustHandles="1" noChangeArrowheads="1" noChangeShapeType="1" noTextEdit="1"/>
              </p:cNvSpPr>
              <p:nvPr/>
            </p:nvSpPr>
            <p:spPr>
              <a:xfrm>
                <a:off x="6303644" y="6357338"/>
                <a:ext cx="6098796" cy="769441"/>
              </a:xfrm>
              <a:prstGeom prst="rect">
                <a:avLst/>
              </a:prstGeom>
              <a:blipFill>
                <a:blip r:embed="rId9"/>
                <a:stretch>
                  <a:fillRect/>
                </a:stretch>
              </a:blipFill>
            </p:spPr>
            <p:txBody>
              <a:bodyPr/>
              <a:lstStyle/>
              <a:p>
                <a:r>
                  <a:rPr lang="es-AR">
                    <a:noFill/>
                  </a:rPr>
                  <a:t> </a:t>
                </a:r>
              </a:p>
            </p:txBody>
          </p:sp>
        </mc:Fallback>
      </mc:AlternateContent>
      <p:sp>
        <p:nvSpPr>
          <p:cNvPr id="30" name="Shape 2">
            <a:extLst>
              <a:ext uri="{FF2B5EF4-FFF2-40B4-BE49-F238E27FC236}">
                <a16:creationId xmlns:a16="http://schemas.microsoft.com/office/drawing/2014/main" id="{DF209EEB-6677-4C00-8073-05612CF599E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31" name="Text 3">
            <a:extLst>
              <a:ext uri="{FF2B5EF4-FFF2-40B4-BE49-F238E27FC236}">
                <a16:creationId xmlns:a16="http://schemas.microsoft.com/office/drawing/2014/main" id="{6701EE98-416F-4147-BA2D-1E709D39E77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59968152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1568"/>
            <a:ext cx="4653133" cy="415498"/>
          </a:xfrm>
          <a:prstGeom prst="rect">
            <a:avLst/>
          </a:prstGeom>
          <a:noFill/>
        </p:spPr>
        <p:txBody>
          <a:bodyPr wrap="none">
            <a:spAutoFit/>
          </a:bodyPr>
          <a:lstStyle/>
          <a:p>
            <a:pPr algn="l"/>
            <a:r>
              <a:rPr lang="es-AR" sz="2100" b="1" dirty="0">
                <a:solidFill>
                  <a:srgbClr val="FFFFFF"/>
                </a:solidFill>
                <a:latin typeface="Cambria"/>
              </a:rPr>
              <a:t>Resultados con controlador discreto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8585CC3-AFEF-4D6F-B679-CE62DEC87440}"/>
                  </a:ext>
                </a:extLst>
              </p:cNvPr>
              <p:cNvSpPr txBox="1"/>
              <p:nvPr/>
            </p:nvSpPr>
            <p:spPr>
              <a:xfrm>
                <a:off x="154368"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94: Curvas de posición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6" name="CuadroTexto 25">
                <a:extLst>
                  <a:ext uri="{FF2B5EF4-FFF2-40B4-BE49-F238E27FC236}">
                    <a16:creationId xmlns:a16="http://schemas.microsoft.com/office/drawing/2014/main" id="{C8585CC3-AFEF-4D6F-B679-CE62DEC87440}"/>
                  </a:ext>
                </a:extLst>
              </p:cNvPr>
              <p:cNvSpPr txBox="1">
                <a:spLocks noRot="1" noChangeAspect="1" noMove="1" noResize="1" noEditPoints="1" noAdjustHandles="1" noChangeArrowheads="1" noChangeShapeType="1" noTextEdit="1"/>
              </p:cNvSpPr>
              <p:nvPr/>
            </p:nvSpPr>
            <p:spPr>
              <a:xfrm>
                <a:off x="154368" y="3374517"/>
                <a:ext cx="6098796" cy="430887"/>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F87AD530-A257-472A-B1B3-DCF398968D5F}"/>
                  </a:ext>
                </a:extLst>
              </p:cNvPr>
              <p:cNvSpPr txBox="1"/>
              <p:nvPr/>
            </p:nvSpPr>
            <p:spPr>
              <a:xfrm>
                <a:off x="6159574"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95: Curvas de velocidad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7" name="CuadroTexto 26">
                <a:extLst>
                  <a:ext uri="{FF2B5EF4-FFF2-40B4-BE49-F238E27FC236}">
                    <a16:creationId xmlns:a16="http://schemas.microsoft.com/office/drawing/2014/main" id="{F87AD530-A257-472A-B1B3-DCF398968D5F}"/>
                  </a:ext>
                </a:extLst>
              </p:cNvPr>
              <p:cNvSpPr txBox="1">
                <a:spLocks noRot="1" noChangeAspect="1" noMove="1" noResize="1" noEditPoints="1" noAdjustHandles="1" noChangeArrowheads="1" noChangeShapeType="1" noTextEdit="1"/>
              </p:cNvSpPr>
              <p:nvPr/>
            </p:nvSpPr>
            <p:spPr>
              <a:xfrm>
                <a:off x="6159574" y="3374517"/>
                <a:ext cx="6098796" cy="430887"/>
              </a:xfrm>
              <a:prstGeom prst="rect">
                <a:avLst/>
              </a:prstGeom>
              <a:blipFill>
                <a:blip r:embed="rId3"/>
                <a:stretch>
                  <a:fillRect/>
                </a:stretch>
              </a:blipFill>
            </p:spPr>
            <p:txBody>
              <a:bodyPr/>
              <a:lstStyle/>
              <a:p>
                <a:r>
                  <a:rPr lang="es-AR">
                    <a:noFill/>
                  </a:rPr>
                  <a:t> </a:t>
                </a:r>
              </a:p>
            </p:txBody>
          </p:sp>
        </mc:Fallback>
      </mc:AlternateContent>
      <p:pic>
        <p:nvPicPr>
          <p:cNvPr id="30" name="Imagen 29">
            <a:extLst>
              <a:ext uri="{FF2B5EF4-FFF2-40B4-BE49-F238E27FC236}">
                <a16:creationId xmlns:a16="http://schemas.microsoft.com/office/drawing/2014/main" id="{2822B486-B39E-43A4-8D0E-84E74715BA04}"/>
              </a:ext>
            </a:extLst>
          </p:cNvPr>
          <p:cNvPicPr/>
          <p:nvPr/>
        </p:nvPicPr>
        <p:blipFill>
          <a:blip r:embed="rId4">
            <a:extLst>
              <a:ext uri="{28A0092B-C50C-407E-A947-70E740481C1C}">
                <a14:useLocalDpi xmlns:a14="http://schemas.microsoft.com/office/drawing/2010/main" val="0"/>
              </a:ext>
            </a:extLst>
          </a:blip>
          <a:stretch>
            <a:fillRect/>
          </a:stretch>
        </p:blipFill>
        <p:spPr>
          <a:xfrm>
            <a:off x="2241234" y="755307"/>
            <a:ext cx="7112316" cy="4169117"/>
          </a:xfrm>
          <a:prstGeom prst="rect">
            <a:avLst/>
          </a:prstGeom>
        </p:spPr>
        <p:style>
          <a:lnRef idx="2">
            <a:schemeClr val="dk1"/>
          </a:lnRef>
          <a:fillRef idx="1">
            <a:schemeClr val="lt1"/>
          </a:fillRef>
          <a:effectRef idx="0">
            <a:schemeClr val="dk1"/>
          </a:effectRef>
          <a:fontRef idx="minor">
            <a:schemeClr val="dk1"/>
          </a:fontRef>
        </p:style>
      </p:pic>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3BAD8A74-ED17-4DE0-BB26-DD9B139160BE}"/>
                  </a:ext>
                </a:extLst>
              </p:cNvPr>
              <p:cNvSpPr txBox="1"/>
              <p:nvPr/>
            </p:nvSpPr>
            <p:spPr>
              <a:xfrm>
                <a:off x="4447246" y="5098577"/>
                <a:ext cx="3297201" cy="430887"/>
              </a:xfrm>
              <a:prstGeom prst="rect">
                <a:avLst/>
              </a:prstGeom>
              <a:noFill/>
            </p:spPr>
            <p:txBody>
              <a:bodyPr wrap="square">
                <a:spAutoFit/>
              </a:bodyPr>
              <a:lstStyle/>
              <a:p>
                <a:r>
                  <a:rPr lang="es-AR" sz="1100" i="1" dirty="0">
                    <a:solidFill>
                      <a:schemeClr val="tx1"/>
                    </a:solidFill>
                    <a:latin typeface="Calibri" pitchFamily="34" charset="0"/>
                    <a:ea typeface="Calibri" pitchFamily="34" charset="-122"/>
                    <a:cs typeface="Calibri" pitchFamily="34" charset="-120"/>
                  </a:rPr>
                  <a:t>FIGURA: </a:t>
                </a:r>
                <a:r>
                  <a:rPr lang="es-AR" sz="1100" i="1" dirty="0"/>
                  <a:t>Figura 98: Torque </a:t>
                </a:r>
                <a14:m>
                  <m:oMath xmlns:m="http://schemas.openxmlformats.org/officeDocument/2006/math">
                    <m:sSub>
                      <m:sSubPr>
                        <m:ctrlPr>
                          <a:rPr lang="es-AR" sz="1100" i="1">
                            <a:latin typeface="Cambria Math" panose="02040503050406030204" pitchFamily="18" charset="0"/>
                          </a:rPr>
                        </m:ctrlPr>
                      </m:sSubPr>
                      <m:e>
                        <m:r>
                          <a:rPr lang="es-AR" sz="1100" i="1">
                            <a:latin typeface="Cambria Math" panose="02040503050406030204" pitchFamily="18" charset="0"/>
                          </a:rPr>
                          <m:t>𝑇</m:t>
                        </m:r>
                      </m:e>
                      <m:sub>
                        <m:r>
                          <a:rPr lang="es-AR" sz="1100" i="1">
                            <a:latin typeface="Cambria Math" panose="02040503050406030204" pitchFamily="18" charset="0"/>
                          </a:rPr>
                          <m:t>𝑚</m:t>
                        </m:r>
                      </m:sub>
                    </m:sSub>
                  </m:oMath>
                </a14:m>
                <a:r>
                  <a:rPr lang="es-AR" sz="1100" i="1" dirty="0"/>
                  <a:t>con controlador discreto</a:t>
                </a:r>
              </a:p>
              <a:p>
                <a:pPr marL="0" indent="0" algn="ctr">
                  <a:buNone/>
                </a:pPr>
                <a:endParaRPr lang="es-AR" sz="1100" i="1" dirty="0">
                  <a:solidFill>
                    <a:schemeClr val="tx2"/>
                  </a:solidFill>
                </a:endParaRPr>
              </a:p>
            </p:txBody>
          </p:sp>
        </mc:Choice>
        <mc:Fallback xmlns="">
          <p:sp>
            <p:nvSpPr>
              <p:cNvPr id="31" name="CuadroTexto 30">
                <a:extLst>
                  <a:ext uri="{FF2B5EF4-FFF2-40B4-BE49-F238E27FC236}">
                    <a16:creationId xmlns:a16="http://schemas.microsoft.com/office/drawing/2014/main" id="{3BAD8A74-ED17-4DE0-BB26-DD9B139160BE}"/>
                  </a:ext>
                </a:extLst>
              </p:cNvPr>
              <p:cNvSpPr txBox="1">
                <a:spLocks noRot="1" noChangeAspect="1" noMove="1" noResize="1" noEditPoints="1" noAdjustHandles="1" noChangeArrowheads="1" noChangeShapeType="1" noTextEdit="1"/>
              </p:cNvSpPr>
              <p:nvPr/>
            </p:nvSpPr>
            <p:spPr>
              <a:xfrm>
                <a:off x="4447246" y="5098577"/>
                <a:ext cx="3297201" cy="430887"/>
              </a:xfrm>
              <a:prstGeom prst="rect">
                <a:avLst/>
              </a:prstGeom>
              <a:blipFill>
                <a:blip r:embed="rId5"/>
                <a:stretch>
                  <a:fillRect/>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D3311189-B744-4EFD-BA00-1A74FEE392C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81E208C3-6D93-4665-9F14-981A6731BF0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17351032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45930"/>
            <a:ext cx="3069943" cy="415498"/>
          </a:xfrm>
          <a:prstGeom prst="rect">
            <a:avLst/>
          </a:prstGeom>
          <a:noFill/>
        </p:spPr>
        <p:txBody>
          <a:bodyPr wrap="none">
            <a:spAutoFit/>
          </a:bodyPr>
          <a:lstStyle/>
          <a:p>
            <a:pPr algn="l"/>
            <a:r>
              <a:rPr lang="es-AR" sz="2100" b="1" dirty="0">
                <a:solidFill>
                  <a:srgbClr val="FFFFFF"/>
                </a:solidFill>
                <a:latin typeface="Cambria"/>
              </a:rPr>
              <a:t>Modelo final codificado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pic>
        <p:nvPicPr>
          <p:cNvPr id="19" name="Imagen 18">
            <a:extLst>
              <a:ext uri="{FF2B5EF4-FFF2-40B4-BE49-F238E27FC236}">
                <a16:creationId xmlns:a16="http://schemas.microsoft.com/office/drawing/2014/main" id="{5B21EE59-DCD7-4AE8-94A0-54322EAD4511}"/>
              </a:ext>
            </a:extLst>
          </p:cNvPr>
          <p:cNvPicPr>
            <a:picLocks noChangeAspect="1"/>
          </p:cNvPicPr>
          <p:nvPr/>
        </p:nvPicPr>
        <p:blipFill>
          <a:blip r:embed="rId2"/>
          <a:srcRect/>
          <a:stretch/>
        </p:blipFill>
        <p:spPr>
          <a:xfrm>
            <a:off x="-610" y="2336663"/>
            <a:ext cx="12192000" cy="3891759"/>
          </a:xfrm>
          <a:prstGeom prst="rect">
            <a:avLst/>
          </a:prstGeom>
        </p:spPr>
      </p:pic>
      <p:sp>
        <p:nvSpPr>
          <p:cNvPr id="22" name="Rectangle 15">
            <a:extLst>
              <a:ext uri="{FF2B5EF4-FFF2-40B4-BE49-F238E27FC236}">
                <a16:creationId xmlns:a16="http://schemas.microsoft.com/office/drawing/2014/main" id="{198FF9F3-3AF4-4354-81FD-EC0CDA5B529F}"/>
              </a:ext>
            </a:extLst>
          </p:cNvPr>
          <p:cNvSpPr/>
          <p:nvPr/>
        </p:nvSpPr>
        <p:spPr>
          <a:xfrm>
            <a:off x="137159" y="898398"/>
            <a:ext cx="11359515" cy="1382266"/>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3" name="TextBox 16">
                <a:extLst>
                  <a:ext uri="{FF2B5EF4-FFF2-40B4-BE49-F238E27FC236}">
                    <a16:creationId xmlns:a16="http://schemas.microsoft.com/office/drawing/2014/main" id="{53767F22-EC6A-45E9-99D5-AE28AEB2AF5A}"/>
                  </a:ext>
                </a:extLst>
              </p:cNvPr>
              <p:cNvSpPr txBox="1"/>
              <p:nvPr/>
            </p:nvSpPr>
            <p:spPr>
              <a:xfrm>
                <a:off x="274319" y="944118"/>
                <a:ext cx="11222355" cy="1277273"/>
              </a:xfrm>
              <a:prstGeom prst="rect">
                <a:avLst/>
              </a:prstGeom>
              <a:noFill/>
            </p:spPr>
            <p:txBody>
              <a:bodyPr wrap="square">
                <a:spAutoFit/>
              </a:bodyPr>
              <a:lstStyle/>
              <a:p>
                <a:pPr algn="just"/>
                <a:r>
                  <a:rPr lang="es-AR" sz="1600" dirty="0">
                    <a:latin typeface="+mj-lt"/>
                  </a:rPr>
                  <a:t>Diagrama de bloques final con la implementación codificada del controlador externo. </a:t>
                </a:r>
                <a:r>
                  <a:rPr lang="es-AR" sz="1600" dirty="0">
                    <a:effectLst/>
                    <a:latin typeface="+mj-lt"/>
                    <a:ea typeface="Calibri" panose="020F0502020204030204" pitchFamily="34" charset="0"/>
                    <a:cs typeface="Times New Roman" panose="02020603050405020304" pitchFamily="18" charset="0"/>
                  </a:rPr>
                  <a:t>Esta implementación reemplaza la estructura gráfica del controlador por un algoritmo secuencial ejecutado en cada período de muestreo </a:t>
                </a:r>
                <a14:m>
                  <m:oMath xmlns:m="http://schemas.openxmlformats.org/officeDocument/2006/math">
                    <m:sSub>
                      <m:sSubPr>
                        <m:ctrlPr>
                          <a:rPr lang="es-AR" sz="160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rPr>
                          <m:t>𝑠</m:t>
                        </m:r>
                      </m:sub>
                    </m:sSub>
                  </m:oMath>
                </a14:m>
                <a:r>
                  <a:rPr lang="es-AR" sz="1600" dirty="0">
                    <a:effectLst/>
                    <a:latin typeface="+mj-lt"/>
                    <a:ea typeface="Calibri" panose="020F0502020204030204" pitchFamily="34" charset="0"/>
                    <a:cs typeface="Times New Roman" panose="02020603050405020304" pitchFamily="18" charset="0"/>
                  </a:rPr>
                  <a:t>, utilizando variables persistentes para almacenar los estados internos del sistema. De esta forma, se emula el comportamiento de un controlador digital implementado en un microcontrolador o DSP.</a:t>
                </a:r>
                <a:endParaRPr lang="es-AR" sz="1600" dirty="0">
                  <a:effectLst/>
                  <a:latin typeface="+mj-lt"/>
                  <a:ea typeface="Times New Roman" panose="02020603050405020304" pitchFamily="18" charset="0"/>
                </a:endParaRPr>
              </a:p>
              <a:p>
                <a:pPr algn="l"/>
                <a:endParaRPr sz="1300" dirty="0">
                  <a:solidFill>
                    <a:srgbClr val="1A3A6B"/>
                  </a:solidFill>
                  <a:latin typeface="Calibri"/>
                </a:endParaRPr>
              </a:p>
            </p:txBody>
          </p:sp>
        </mc:Choice>
        <mc:Fallback xmlns="">
          <p:sp>
            <p:nvSpPr>
              <p:cNvPr id="23" name="TextBox 16">
                <a:extLst>
                  <a:ext uri="{FF2B5EF4-FFF2-40B4-BE49-F238E27FC236}">
                    <a16:creationId xmlns:a16="http://schemas.microsoft.com/office/drawing/2014/main" id="{53767F22-EC6A-45E9-99D5-AE28AEB2AF5A}"/>
                  </a:ext>
                </a:extLst>
              </p:cNvPr>
              <p:cNvSpPr txBox="1">
                <a:spLocks noRot="1" noChangeAspect="1" noMove="1" noResize="1" noEditPoints="1" noAdjustHandles="1" noChangeArrowheads="1" noChangeShapeType="1" noTextEdit="1"/>
              </p:cNvSpPr>
              <p:nvPr/>
            </p:nvSpPr>
            <p:spPr>
              <a:xfrm>
                <a:off x="274319" y="944118"/>
                <a:ext cx="11222355" cy="1277273"/>
              </a:xfrm>
              <a:prstGeom prst="rect">
                <a:avLst/>
              </a:prstGeom>
              <a:blipFill>
                <a:blip r:embed="rId3"/>
                <a:stretch>
                  <a:fillRect l="-272" t="-1435" r="-272"/>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2DA11B25-2160-468C-9C12-C5728FF05D1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61CC0F0E-27FA-482A-AE85-DC199926C92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22469880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15">
            <a:extLst>
              <a:ext uri="{FF2B5EF4-FFF2-40B4-BE49-F238E27FC236}">
                <a16:creationId xmlns:a16="http://schemas.microsoft.com/office/drawing/2014/main" id="{6619EC2F-A093-46B2-B9F5-87F2A54DF31D}"/>
              </a:ext>
            </a:extLst>
          </p:cNvPr>
          <p:cNvSpPr/>
          <p:nvPr/>
        </p:nvSpPr>
        <p:spPr>
          <a:xfrm>
            <a:off x="2628117" y="5972117"/>
            <a:ext cx="6756389" cy="500076"/>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5">
            <a:extLst>
              <a:ext uri="{FF2B5EF4-FFF2-40B4-BE49-F238E27FC236}">
                <a16:creationId xmlns:a16="http://schemas.microsoft.com/office/drawing/2014/main" id="{5256F758-419A-4566-B4B5-CD4CAECF7228}"/>
              </a:ext>
            </a:extLst>
          </p:cNvPr>
          <p:cNvSpPr/>
          <p:nvPr/>
        </p:nvSpPr>
        <p:spPr>
          <a:xfrm>
            <a:off x="118110" y="1139672"/>
            <a:ext cx="3539490" cy="3054020"/>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4348"/>
            <a:ext cx="4542526" cy="415498"/>
          </a:xfrm>
          <a:prstGeom prst="rect">
            <a:avLst/>
          </a:prstGeom>
          <a:noFill/>
        </p:spPr>
        <p:txBody>
          <a:bodyPr wrap="none">
            <a:spAutoFit/>
          </a:bodyPr>
          <a:lstStyle/>
          <a:p>
            <a:pPr algn="l"/>
            <a:r>
              <a:rPr lang="en-US" sz="2100" b="1" dirty="0" err="1">
                <a:solidFill>
                  <a:srgbClr val="FFFFFF"/>
                </a:solidFill>
                <a:latin typeface="Cambria"/>
              </a:rPr>
              <a:t>Estructura</a:t>
            </a:r>
            <a:r>
              <a:rPr lang="en-US" sz="2100" b="1" dirty="0">
                <a:solidFill>
                  <a:srgbClr val="FFFFFF"/>
                </a:solidFill>
                <a:latin typeface="Cambria"/>
              </a:rPr>
              <a:t> del </a:t>
            </a:r>
            <a:r>
              <a:rPr lang="en-US" sz="2100" b="1" dirty="0" err="1">
                <a:solidFill>
                  <a:srgbClr val="FFFFFF"/>
                </a:solidFill>
                <a:latin typeface="Cambria"/>
              </a:rPr>
              <a:t>algoritmo</a:t>
            </a:r>
            <a:r>
              <a:rPr lang="en-US" sz="2100" b="1" dirty="0">
                <a:solidFill>
                  <a:srgbClr val="FFFFFF"/>
                </a:solidFill>
                <a:latin typeface="Cambria"/>
              </a:rPr>
              <a:t> de control</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sp>
        <p:nvSpPr>
          <p:cNvPr id="22" name="Rectangle 15">
            <a:extLst>
              <a:ext uri="{FF2B5EF4-FFF2-40B4-BE49-F238E27FC236}">
                <a16:creationId xmlns:a16="http://schemas.microsoft.com/office/drawing/2014/main" id="{198FF9F3-3AF4-4354-81FD-EC0CDA5B529F}"/>
              </a:ext>
            </a:extLst>
          </p:cNvPr>
          <p:cNvSpPr/>
          <p:nvPr/>
        </p:nvSpPr>
        <p:spPr>
          <a:xfrm>
            <a:off x="8473134" y="1112871"/>
            <a:ext cx="3539490" cy="3031194"/>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Imagen 9">
            <a:extLst>
              <a:ext uri="{FF2B5EF4-FFF2-40B4-BE49-F238E27FC236}">
                <a16:creationId xmlns:a16="http://schemas.microsoft.com/office/drawing/2014/main" id="{85996C9B-5BFC-4A11-AF3D-45BEA1A2EACF}"/>
              </a:ext>
            </a:extLst>
          </p:cNvPr>
          <p:cNvPicPr/>
          <p:nvPr/>
        </p:nvPicPr>
        <p:blipFill rotWithShape="1">
          <a:blip r:embed="rId2"/>
          <a:srcRect t="1132" b="-47"/>
          <a:stretch/>
        </p:blipFill>
        <p:spPr bwMode="auto">
          <a:xfrm>
            <a:off x="3718867" y="1750102"/>
            <a:ext cx="4651704" cy="4170303"/>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1" name="Rectangle 4">
                <a:extLst>
                  <a:ext uri="{FF2B5EF4-FFF2-40B4-BE49-F238E27FC236}">
                    <a16:creationId xmlns:a16="http://schemas.microsoft.com/office/drawing/2014/main" id="{80288983-C1E7-48F7-84E7-670D673A33F3}"/>
                  </a:ext>
                </a:extLst>
              </p:cNvPr>
              <p:cNvSpPr>
                <a:spLocks noChangeArrowheads="1"/>
              </p:cNvSpPr>
              <p:nvPr/>
            </p:nvSpPr>
            <p:spPr bwMode="auto">
              <a:xfrm>
                <a:off x="118110" y="1080426"/>
                <a:ext cx="3470910" cy="335809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buFontTx/>
                  <a:buChar char="•"/>
                </a:pPr>
                <a:r>
                  <a:rPr kumimoji="0" lang="es-AR" altLang="es-AR" sz="1400" b="1" i="0" u="none" strike="noStrike" cap="none" normalizeH="0" baseline="0" dirty="0">
                    <a:ln>
                      <a:noFill/>
                    </a:ln>
                    <a:solidFill>
                      <a:schemeClr val="tx1"/>
                    </a:solidFill>
                    <a:effectLst/>
                  </a:rPr>
                  <a:t>Observador de estado aumentado</a:t>
                </a:r>
                <a:r>
                  <a:rPr lang="es-AR" altLang="es-AR" sz="1400" dirty="0"/>
                  <a:t>: E</a:t>
                </a:r>
                <a:r>
                  <a:rPr kumimoji="0" lang="es-AR" altLang="es-AR" sz="1400" b="0" i="0" u="none" strike="noStrike" cap="none" normalizeH="0" baseline="0" dirty="0">
                    <a:ln>
                      <a:noFill/>
                    </a:ln>
                    <a:solidFill>
                      <a:schemeClr val="tx1"/>
                    </a:solidFill>
                    <a:effectLst/>
                  </a:rPr>
                  <a:t>stima </a:t>
                </a: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oMath>
                </a14:m>
                <a:r>
                  <a:rPr kumimoji="0" lang="es-AR" altLang="es-AR" sz="1400" b="0" i="0" u="none" strike="noStrike" cap="none" normalizeH="0" baseline="0" dirty="0">
                    <a:ln>
                      <a:noFill/>
                    </a:ln>
                    <a:solidFill>
                      <a:schemeClr val="tx1"/>
                    </a:solidFill>
                    <a:effectLst/>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m:t>
                        </m:r>
                      </m:e>
                      <m:sub>
                        <m:r>
                          <a:rPr lang="es-AR" sz="1400" i="1">
                            <a:latin typeface="Cambria Math" panose="02040503050406030204" pitchFamily="18" charset="0"/>
                          </a:rPr>
                          <m:t>𝑚</m:t>
                        </m:r>
                      </m:sub>
                    </m:sSub>
                    <m:r>
                      <a:rPr lang="es-AR" sz="1400" i="1">
                        <a:latin typeface="Cambria Math" panose="02040503050406030204" pitchFamily="18" charset="0"/>
                      </a:rPr>
                      <m:t>(</m:t>
                    </m:r>
                    <m:r>
                      <a:rPr lang="es-AR" sz="1400" i="1">
                        <a:latin typeface="Cambria Math" panose="02040503050406030204" pitchFamily="18" charset="0"/>
                      </a:rPr>
                      <m:t>𝑡</m:t>
                    </m:r>
                    <m:r>
                      <a:rPr lang="es-AR" sz="1400" i="1">
                        <a:latin typeface="Cambria Math" panose="02040503050406030204" pitchFamily="18" charset="0"/>
                      </a:rPr>
                      <m:t>)</m:t>
                    </m:r>
                  </m:oMath>
                </a14:m>
                <a:r>
                  <a:rPr kumimoji="0" lang="es-AR" altLang="es-AR" sz="1400" b="0" i="0" u="none" strike="noStrike" cap="none" normalizeH="0" baseline="0" dirty="0">
                    <a:ln>
                      <a:noFill/>
                    </a:ln>
                    <a:solidFill>
                      <a:schemeClr val="tx1"/>
                    </a:solidFill>
                    <a:effectLst/>
                  </a:rPr>
                  <a:t> y realiza la acción integral a partir de la medición de posición </a:t>
                </a:r>
              </a:p>
              <a:p>
                <a:pPr marL="0" marR="0" lvl="0" indent="0" algn="just" defTabSz="914400" rtl="0" eaLnBrk="0" fontAlgn="base" latinLnBrk="0" hangingPunct="0">
                  <a:lnSpc>
                    <a:spcPct val="100000"/>
                  </a:lnSpc>
                  <a:spcBef>
                    <a:spcPct val="0"/>
                  </a:spcBef>
                  <a:spcAft>
                    <a:spcPct val="0"/>
                  </a:spcAft>
                  <a:buClrTx/>
                  <a:buSzTx/>
                  <a:buFontTx/>
                  <a:buChar char="•"/>
                  <a:tabLst/>
                </a:pPr>
                <a:endParaRPr lang="es-AR" altLang="es-AR" sz="1400" dirty="0"/>
              </a:p>
              <a:p>
                <a:pPr marL="0" marR="0" lvl="0" indent="0" algn="just" defTabSz="914400" rtl="0" eaLnBrk="0" fontAlgn="base" latinLnBrk="0" hangingPunct="0">
                  <a:lnSpc>
                    <a:spcPct val="100000"/>
                  </a:lnSpc>
                  <a:spcBef>
                    <a:spcPct val="0"/>
                  </a:spcBef>
                  <a:spcAft>
                    <a:spcPct val="0"/>
                  </a:spcAft>
                  <a:buClrTx/>
                  <a:buSzTx/>
                  <a:tabLst/>
                </a:pPr>
                <a:endParaRPr kumimoji="0" lang="es-AR" altLang="es-AR" sz="1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AR" altLang="es-AR" sz="1400" b="1" i="0" u="none" strike="noStrike" cap="none" normalizeH="0" baseline="0" dirty="0">
                    <a:ln>
                      <a:noFill/>
                    </a:ln>
                    <a:solidFill>
                      <a:schemeClr val="tx1"/>
                    </a:solidFill>
                    <a:effectLst/>
                  </a:rPr>
                  <a:t>Generación de referencias</a:t>
                </a:r>
                <a:r>
                  <a:rPr kumimoji="0" lang="es-AR" altLang="es-AR" sz="1400" b="0" i="0" u="none" strike="noStrike" cap="none" normalizeH="0" baseline="0" dirty="0">
                    <a:ln>
                      <a:noFill/>
                    </a:ln>
                    <a:solidFill>
                      <a:schemeClr val="tx1"/>
                    </a:solidFill>
                    <a:effectLst/>
                  </a:rPr>
                  <a:t>: Selecciona modo de velocidad / modo posición, con integración o derivación discreta según corresponda </a:t>
                </a:r>
              </a:p>
              <a:p>
                <a:pPr marL="0" marR="0" lvl="0" indent="0" algn="just" defTabSz="914400" rtl="0" eaLnBrk="0" fontAlgn="base" latinLnBrk="0" hangingPunct="0">
                  <a:lnSpc>
                    <a:spcPct val="100000"/>
                  </a:lnSpc>
                  <a:spcBef>
                    <a:spcPct val="0"/>
                  </a:spcBef>
                  <a:spcAft>
                    <a:spcPct val="0"/>
                  </a:spcAft>
                  <a:buClrTx/>
                  <a:buSzTx/>
                  <a:buFontTx/>
                  <a:buChar char="•"/>
                  <a:tabLst/>
                </a:pPr>
                <a:endParaRPr lang="es-AR" altLang="es-AR" sz="1400" dirty="0"/>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AR" altLang="es-AR" sz="1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AR" altLang="es-AR" sz="1400" b="1" i="0" u="none" strike="noStrike" cap="none" normalizeH="0" baseline="0" dirty="0">
                    <a:ln>
                      <a:noFill/>
                    </a:ln>
                    <a:solidFill>
                      <a:schemeClr val="tx1"/>
                    </a:solidFill>
                    <a:effectLst/>
                  </a:rPr>
                  <a:t>Controlador externo PID</a:t>
                </a:r>
                <a:r>
                  <a:rPr lang="es-AR" altLang="es-AR" sz="1400" dirty="0"/>
                  <a:t>: O</a:t>
                </a:r>
                <a:r>
                  <a:rPr kumimoji="0" lang="es-AR" altLang="es-AR" sz="1400" b="0" i="0" u="none" strike="noStrike" cap="none" normalizeH="0" baseline="0" dirty="0">
                    <a:ln>
                      <a:noFill/>
                    </a:ln>
                    <a:solidFill>
                      <a:schemeClr val="tx1"/>
                    </a:solidFill>
                    <a:effectLst/>
                  </a:rPr>
                  <a:t>pera sobre el error de velocidad y genera la referencia de torque </a:t>
                </a: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𝑟𝑒𝑓</m:t>
                        </m:r>
                      </m:sub>
                    </m:sSub>
                  </m:oMath>
                </a14:m>
                <a:endParaRPr kumimoji="0" lang="es-AR" altLang="es-AR" sz="1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AR" altLang="es-AR" sz="1200" b="0" i="0" u="none" strike="noStrike" cap="none" normalizeH="0" baseline="0" dirty="0">
                  <a:ln>
                    <a:noFill/>
                  </a:ln>
                  <a:solidFill>
                    <a:schemeClr val="tx1"/>
                  </a:solidFill>
                  <a:effectLst/>
                  <a:latin typeface="Arial" panose="020B0604020202020204" pitchFamily="34" charset="0"/>
                </a:endParaRPr>
              </a:p>
            </p:txBody>
          </p:sp>
        </mc:Choice>
        <mc:Fallback xmlns="">
          <p:sp>
            <p:nvSpPr>
              <p:cNvPr id="11" name="Rectangle 4">
                <a:extLst>
                  <a:ext uri="{FF2B5EF4-FFF2-40B4-BE49-F238E27FC236}">
                    <a16:creationId xmlns:a16="http://schemas.microsoft.com/office/drawing/2014/main" id="{80288983-C1E7-48F7-84E7-670D673A33F3}"/>
                  </a:ext>
                </a:extLst>
              </p:cNvPr>
              <p:cNvSpPr>
                <a:spLocks noRot="1" noChangeAspect="1" noMove="1" noResize="1" noEditPoints="1" noAdjustHandles="1" noChangeArrowheads="1" noChangeShapeType="1" noTextEdit="1"/>
              </p:cNvSpPr>
              <p:nvPr/>
            </p:nvSpPr>
            <p:spPr bwMode="auto">
              <a:xfrm>
                <a:off x="118110" y="1080426"/>
                <a:ext cx="3470910" cy="3358099"/>
              </a:xfrm>
              <a:prstGeom prst="rect">
                <a:avLst/>
              </a:prstGeom>
              <a:blipFill>
                <a:blip r:embed="rId3"/>
                <a:stretch>
                  <a:fillRect l="-526" r="-35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 name="Rectangle 7">
                <a:extLst>
                  <a:ext uri="{FF2B5EF4-FFF2-40B4-BE49-F238E27FC236}">
                    <a16:creationId xmlns:a16="http://schemas.microsoft.com/office/drawing/2014/main" id="{98F1B1D7-B89B-410B-8128-15D5DDA1E472}"/>
                  </a:ext>
                </a:extLst>
              </p:cNvPr>
              <p:cNvSpPr>
                <a:spLocks noChangeArrowheads="1"/>
              </p:cNvSpPr>
              <p:nvPr/>
            </p:nvSpPr>
            <p:spPr bwMode="auto">
              <a:xfrm>
                <a:off x="8473133" y="1235981"/>
                <a:ext cx="3539491" cy="267765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buFontTx/>
                  <a:buChar char="•"/>
                </a:pPr>
                <a:r>
                  <a:rPr lang="es-AR" altLang="es-AR" sz="1400" b="1" dirty="0"/>
                  <a:t>Actualización del observador: </a:t>
                </a:r>
                <a:r>
                  <a:rPr lang="es-AR" altLang="es-AR" sz="1400" dirty="0"/>
                  <a:t>Corrige</a:t>
                </a:r>
                <a:r>
                  <a:rPr lang="es-AR" altLang="es-AR" sz="1400" b="1" dirty="0"/>
                  <a:t> </a:t>
                </a:r>
                <a:r>
                  <a:rPr lang="es-AR" altLang="es-AR" sz="1400" dirty="0"/>
                  <a:t>los estados estimados con el error de observación.</a:t>
                </a:r>
              </a:p>
              <a:p>
                <a:pPr lvl="0" algn="just" defTabSz="914400" eaLnBrk="0" fontAlgn="base" hangingPunct="0">
                  <a:spcBef>
                    <a:spcPct val="0"/>
                  </a:spcBef>
                  <a:spcAft>
                    <a:spcPct val="0"/>
                  </a:spcAft>
                  <a:buFontTx/>
                  <a:buChar char="•"/>
                </a:pPr>
                <a:endParaRPr lang="es-AR" altLang="es-AR" sz="1400" dirty="0"/>
              </a:p>
              <a:p>
                <a:pPr lvl="0" algn="just" defTabSz="914400" eaLnBrk="0" fontAlgn="base" hangingPunct="0">
                  <a:spcBef>
                    <a:spcPct val="0"/>
                  </a:spcBef>
                  <a:spcAft>
                    <a:spcPct val="0"/>
                  </a:spcAft>
                  <a:buFontTx/>
                  <a:buChar char="•"/>
                </a:pPr>
                <a:endParaRPr lang="es-AR" altLang="es-AR" sz="1400" dirty="0"/>
              </a:p>
              <a:p>
                <a:pPr lvl="0" algn="just" defTabSz="914400" eaLnBrk="0" fontAlgn="base" hangingPunct="0">
                  <a:spcBef>
                    <a:spcPct val="0"/>
                  </a:spcBef>
                  <a:spcAft>
                    <a:spcPct val="0"/>
                  </a:spcAft>
                  <a:buFontTx/>
                  <a:buChar char="•"/>
                </a:pPr>
                <a:r>
                  <a:rPr lang="es-AR" altLang="es-AR" sz="1400" b="1" dirty="0"/>
                  <a:t>Modulador de torque: </a:t>
                </a:r>
                <a:r>
                  <a:rPr lang="es-AR" altLang="es-AR" sz="1400" dirty="0"/>
                  <a:t>Calcula </a:t>
                </a:r>
                <a14:m>
                  <m:oMath xmlns:m="http://schemas.openxmlformats.org/officeDocument/2006/math">
                    <m:sSub>
                      <m:sSubPr>
                        <m:ctrlPr>
                          <a:rPr lang="es-AR" sz="11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𝑟𝑒𝑓</m:t>
                        </m:r>
                      </m:sub>
                    </m:sSub>
                  </m:oMath>
                </a14:m>
                <a:r>
                  <a:rPr lang="es-AR" altLang="es-AR" sz="1400" dirty="0"/>
                  <a:t> a partir del modelo mecánico y electromagnético</a:t>
                </a:r>
              </a:p>
              <a:p>
                <a:pPr lvl="0" algn="just" defTabSz="914400" eaLnBrk="0" fontAlgn="base" hangingPunct="0">
                  <a:spcBef>
                    <a:spcPct val="0"/>
                  </a:spcBef>
                  <a:spcAft>
                    <a:spcPct val="0"/>
                  </a:spcAft>
                  <a:buFontTx/>
                  <a:buChar char="•"/>
                </a:pPr>
                <a:endParaRPr lang="es-AR" altLang="es-AR" sz="1400" dirty="0"/>
              </a:p>
              <a:p>
                <a:pPr lvl="0" algn="just" defTabSz="914400" eaLnBrk="0" fontAlgn="base" hangingPunct="0">
                  <a:spcBef>
                    <a:spcPct val="0"/>
                  </a:spcBef>
                  <a:spcAft>
                    <a:spcPct val="0"/>
                  </a:spcAft>
                </a:pPr>
                <a:endParaRPr lang="es-AR" altLang="es-AR" sz="1400" dirty="0"/>
              </a:p>
              <a:p>
                <a:pPr lvl="0" algn="just" defTabSz="914400" eaLnBrk="0" fontAlgn="base" hangingPunct="0">
                  <a:spcBef>
                    <a:spcPct val="0"/>
                  </a:spcBef>
                  <a:spcAft>
                    <a:spcPct val="0"/>
                  </a:spcAft>
                  <a:buFontTx/>
                  <a:buChar char="•"/>
                </a:pPr>
                <a:r>
                  <a:rPr lang="es-AR" altLang="es-AR" sz="1400" b="1" dirty="0"/>
                  <a:t>Modulador de corriente + desacople: </a:t>
                </a:r>
                <a:r>
                  <a:rPr lang="es-AR" altLang="es-AR" sz="1400" dirty="0"/>
                  <a:t>Reguladores proporcionales por eje y compensación de términos cruzados </a:t>
                </a:r>
              </a:p>
            </p:txBody>
          </p:sp>
        </mc:Choice>
        <mc:Fallback xmlns="">
          <p:sp>
            <p:nvSpPr>
              <p:cNvPr id="14" name="Rectangle 7">
                <a:extLst>
                  <a:ext uri="{FF2B5EF4-FFF2-40B4-BE49-F238E27FC236}">
                    <a16:creationId xmlns:a16="http://schemas.microsoft.com/office/drawing/2014/main" id="{98F1B1D7-B89B-410B-8128-15D5DDA1E472}"/>
                  </a:ext>
                </a:extLst>
              </p:cNvPr>
              <p:cNvSpPr>
                <a:spLocks noRot="1" noChangeAspect="1" noMove="1" noResize="1" noEditPoints="1" noAdjustHandles="1" noChangeArrowheads="1" noChangeShapeType="1" noTextEdit="1"/>
              </p:cNvSpPr>
              <p:nvPr/>
            </p:nvSpPr>
            <p:spPr bwMode="auto">
              <a:xfrm>
                <a:off x="8473133" y="1235981"/>
                <a:ext cx="3539491" cy="2677656"/>
              </a:xfrm>
              <a:prstGeom prst="rect">
                <a:avLst/>
              </a:prstGeom>
              <a:blipFill>
                <a:blip r:embed="rId4"/>
                <a:stretch>
                  <a:fillRect l="-688" t="-228" r="-516" b="-182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s-AR">
                    <a:noFill/>
                  </a:rPr>
                  <a:t> </a:t>
                </a:r>
              </a:p>
            </p:txBody>
          </p:sp>
        </mc:Fallback>
      </mc:AlternateContent>
      <p:sp>
        <p:nvSpPr>
          <p:cNvPr id="20" name="CuadroTexto 19">
            <a:extLst>
              <a:ext uri="{FF2B5EF4-FFF2-40B4-BE49-F238E27FC236}">
                <a16:creationId xmlns:a16="http://schemas.microsoft.com/office/drawing/2014/main" id="{B5F975F1-6706-45AB-B2EA-1907C28ABBC5}"/>
              </a:ext>
            </a:extLst>
          </p:cNvPr>
          <p:cNvSpPr txBox="1"/>
          <p:nvPr/>
        </p:nvSpPr>
        <p:spPr>
          <a:xfrm>
            <a:off x="2735274" y="6094238"/>
            <a:ext cx="11193780" cy="253916"/>
          </a:xfrm>
          <a:prstGeom prst="rect">
            <a:avLst/>
          </a:prstGeom>
          <a:noFill/>
        </p:spPr>
        <p:txBody>
          <a:bodyPr wrap="square">
            <a:spAutoFit/>
          </a:bodyPr>
          <a:lstStyle/>
          <a:p>
            <a:pPr algn="just"/>
            <a:r>
              <a:rPr lang="es-AR" sz="1050" dirty="0"/>
              <a:t>Todas las integraciones discretizadas con método de </a:t>
            </a:r>
            <a:r>
              <a:rPr lang="es-AR" sz="1050" dirty="0" err="1"/>
              <a:t>Tustin</a:t>
            </a:r>
            <a:r>
              <a:rPr lang="es-AR" sz="1050" dirty="0"/>
              <a:t>. Estados internos almacenados en variables persistentes.</a:t>
            </a:r>
          </a:p>
        </p:txBody>
      </p:sp>
      <p:sp>
        <p:nvSpPr>
          <p:cNvPr id="15" name="Shape 2">
            <a:extLst>
              <a:ext uri="{FF2B5EF4-FFF2-40B4-BE49-F238E27FC236}">
                <a16:creationId xmlns:a16="http://schemas.microsoft.com/office/drawing/2014/main" id="{699C05DC-E197-46D4-9BC0-57D72EFDD4B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3DD8B458-E2F3-40D8-A839-9BD95313903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5469907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15">
            <a:extLst>
              <a:ext uri="{FF2B5EF4-FFF2-40B4-BE49-F238E27FC236}">
                <a16:creationId xmlns:a16="http://schemas.microsoft.com/office/drawing/2014/main" id="{6619EC2F-A093-46B2-B9F5-87F2A54DF31D}"/>
              </a:ext>
            </a:extLst>
          </p:cNvPr>
          <p:cNvSpPr/>
          <p:nvPr/>
        </p:nvSpPr>
        <p:spPr>
          <a:xfrm>
            <a:off x="681037" y="658368"/>
            <a:ext cx="10853738" cy="543162"/>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dirty="0"/>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2016"/>
            <a:ext cx="4470904" cy="415498"/>
          </a:xfrm>
          <a:prstGeom prst="rect">
            <a:avLst/>
          </a:prstGeom>
          <a:noFill/>
        </p:spPr>
        <p:txBody>
          <a:bodyPr wrap="none">
            <a:spAutoFit/>
          </a:bodyPr>
          <a:lstStyle/>
          <a:p>
            <a:pPr algn="l"/>
            <a:r>
              <a:rPr lang="en-US" sz="2100" b="1" dirty="0" err="1">
                <a:solidFill>
                  <a:srgbClr val="FFFFFF"/>
                </a:solidFill>
                <a:latin typeface="Cambria"/>
              </a:rPr>
              <a:t>Resultados</a:t>
            </a:r>
            <a:r>
              <a:rPr lang="en-US" sz="2100" b="1" dirty="0">
                <a:solidFill>
                  <a:srgbClr val="FFFFFF"/>
                </a:solidFill>
                <a:latin typeface="Cambria"/>
              </a:rPr>
              <a:t>  del </a:t>
            </a:r>
            <a:r>
              <a:rPr lang="en-US" sz="2100" b="1" dirty="0" err="1">
                <a:solidFill>
                  <a:srgbClr val="FFFFFF"/>
                </a:solidFill>
                <a:latin typeface="Cambria"/>
              </a:rPr>
              <a:t>modelo</a:t>
            </a:r>
            <a:r>
              <a:rPr lang="en-US" sz="2100" b="1" dirty="0">
                <a:solidFill>
                  <a:srgbClr val="FFFFFF"/>
                </a:solidFill>
                <a:latin typeface="Cambria"/>
              </a:rPr>
              <a:t> </a:t>
            </a:r>
            <a:r>
              <a:rPr lang="en-US" sz="2100" b="1" dirty="0" err="1">
                <a:solidFill>
                  <a:srgbClr val="FFFFFF"/>
                </a:solidFill>
                <a:latin typeface="Cambria"/>
              </a:rPr>
              <a:t>codificado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sp>
        <p:nvSpPr>
          <p:cNvPr id="15" name="CuadroTexto 14">
            <a:extLst>
              <a:ext uri="{FF2B5EF4-FFF2-40B4-BE49-F238E27FC236}">
                <a16:creationId xmlns:a16="http://schemas.microsoft.com/office/drawing/2014/main" id="{FB446ED9-17A6-4898-9F49-B17E11795EB9}"/>
              </a:ext>
            </a:extLst>
          </p:cNvPr>
          <p:cNvSpPr txBox="1"/>
          <p:nvPr/>
        </p:nvSpPr>
        <p:spPr>
          <a:xfrm>
            <a:off x="668978" y="694367"/>
            <a:ext cx="10853738" cy="543162"/>
          </a:xfrm>
          <a:prstGeom prst="rect">
            <a:avLst/>
          </a:prstGeom>
          <a:noFill/>
        </p:spPr>
        <p:txBody>
          <a:bodyPr wrap="square">
            <a:spAutoFit/>
          </a:bodyPr>
          <a:lstStyle/>
          <a:p>
            <a:pPr marL="0" marR="0" algn="ctr">
              <a:lnSpc>
                <a:spcPct val="107000"/>
              </a:lnSpc>
              <a:spcBef>
                <a:spcPts val="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El comportamiento del controlador implementado en texto estructurado fue validado comparando sus resultados con los obtenidos previamente mediante el modelo en bloques de </a:t>
            </a:r>
            <a:r>
              <a:rPr lang="es-AR" sz="1400" dirty="0" err="1">
                <a:effectLst/>
                <a:latin typeface="Calibri" panose="020F0502020204030204" pitchFamily="34" charset="0"/>
                <a:ea typeface="Calibri" panose="020F0502020204030204" pitchFamily="34" charset="0"/>
                <a:cs typeface="Times New Roman" panose="02020603050405020304" pitchFamily="18" charset="0"/>
              </a:rPr>
              <a:t>Simulink</a:t>
            </a:r>
            <a:r>
              <a:rPr lang="es-AR" sz="1400" dirty="0">
                <a:effectLst/>
                <a:latin typeface="Calibri" panose="020F0502020204030204" pitchFamily="34" charset="0"/>
                <a:ea typeface="Calibri" panose="020F0502020204030204" pitchFamily="34" charset="0"/>
                <a:cs typeface="Times New Roman" panose="02020603050405020304" pitchFamily="18" charset="0"/>
              </a:rPr>
              <a:t>.</a:t>
            </a:r>
          </a:p>
        </p:txBody>
      </p:sp>
      <p:pic>
        <p:nvPicPr>
          <p:cNvPr id="16" name="Imagen 15">
            <a:extLst>
              <a:ext uri="{FF2B5EF4-FFF2-40B4-BE49-F238E27FC236}">
                <a16:creationId xmlns:a16="http://schemas.microsoft.com/office/drawing/2014/main" id="{47E2607F-59BD-4FFC-A7EE-97A01964828E}"/>
              </a:ext>
            </a:extLst>
          </p:cNvPr>
          <p:cNvPicPr/>
          <p:nvPr/>
        </p:nvPicPr>
        <p:blipFill>
          <a:blip r:embed="rId2">
            <a:extLst>
              <a:ext uri="{28A0092B-C50C-407E-A947-70E740481C1C}">
                <a14:useLocalDpi xmlns:a14="http://schemas.microsoft.com/office/drawing/2010/main" val="0"/>
              </a:ext>
            </a:extLst>
          </a:blip>
          <a:stretch>
            <a:fillRect/>
          </a:stretch>
        </p:blipFill>
        <p:spPr>
          <a:xfrm>
            <a:off x="59349" y="1281070"/>
            <a:ext cx="5616905" cy="2422822"/>
          </a:xfrm>
          <a:prstGeom prst="rect">
            <a:avLst/>
          </a:prstGeom>
        </p:spPr>
        <p:style>
          <a:lnRef idx="2">
            <a:schemeClr val="accent1"/>
          </a:lnRef>
          <a:fillRef idx="1">
            <a:schemeClr val="lt1"/>
          </a:fillRef>
          <a:effectRef idx="0">
            <a:schemeClr val="accent1"/>
          </a:effectRef>
          <a:fontRef idx="minor">
            <a:schemeClr val="dk1"/>
          </a:fontRef>
        </p:style>
      </p:pic>
      <p:pic>
        <p:nvPicPr>
          <p:cNvPr id="17" name="Imagen 16">
            <a:extLst>
              <a:ext uri="{FF2B5EF4-FFF2-40B4-BE49-F238E27FC236}">
                <a16:creationId xmlns:a16="http://schemas.microsoft.com/office/drawing/2014/main" id="{CFA72D58-4B0F-4BEC-A06D-738ADB9D35F8}"/>
              </a:ext>
            </a:extLst>
          </p:cNvPr>
          <p:cNvPicPr/>
          <p:nvPr/>
        </p:nvPicPr>
        <p:blipFill>
          <a:blip r:embed="rId3">
            <a:extLst>
              <a:ext uri="{28A0092B-C50C-407E-A947-70E740481C1C}">
                <a14:useLocalDpi xmlns:a14="http://schemas.microsoft.com/office/drawing/2010/main" val="0"/>
              </a:ext>
            </a:extLst>
          </a:blip>
          <a:stretch>
            <a:fillRect/>
          </a:stretch>
        </p:blipFill>
        <p:spPr>
          <a:xfrm>
            <a:off x="6515747" y="1259132"/>
            <a:ext cx="5616905" cy="2422822"/>
          </a:xfrm>
          <a:prstGeom prst="rect">
            <a:avLst/>
          </a:prstGeom>
        </p:spPr>
        <p:style>
          <a:lnRef idx="2">
            <a:schemeClr val="accent1"/>
          </a:lnRef>
          <a:fillRef idx="1">
            <a:schemeClr val="lt1"/>
          </a:fillRef>
          <a:effectRef idx="0">
            <a:schemeClr val="accent1"/>
          </a:effectRef>
          <a:fontRef idx="minor">
            <a:schemeClr val="dk1"/>
          </a:fontRef>
        </p:style>
      </p:pic>
      <p:pic>
        <p:nvPicPr>
          <p:cNvPr id="19" name="Imagen 18">
            <a:extLst>
              <a:ext uri="{FF2B5EF4-FFF2-40B4-BE49-F238E27FC236}">
                <a16:creationId xmlns:a16="http://schemas.microsoft.com/office/drawing/2014/main" id="{DCFB1DF7-D86E-4A07-8DB2-3638233B0AA9}"/>
              </a:ext>
            </a:extLst>
          </p:cNvPr>
          <p:cNvPicPr/>
          <p:nvPr/>
        </p:nvPicPr>
        <p:blipFill>
          <a:blip r:embed="rId4">
            <a:extLst>
              <a:ext uri="{28A0092B-C50C-407E-A947-70E740481C1C}">
                <a14:useLocalDpi xmlns:a14="http://schemas.microsoft.com/office/drawing/2010/main" val="0"/>
              </a:ext>
            </a:extLst>
          </a:blip>
          <a:stretch>
            <a:fillRect/>
          </a:stretch>
        </p:blipFill>
        <p:spPr>
          <a:xfrm>
            <a:off x="3295885" y="3935575"/>
            <a:ext cx="5599923" cy="2422822"/>
          </a:xfrm>
          <a:prstGeom prst="rect">
            <a:avLst/>
          </a:prstGeom>
        </p:spPr>
        <p:style>
          <a:lnRef idx="2">
            <a:schemeClr val="accent1"/>
          </a:lnRef>
          <a:fillRef idx="1">
            <a:schemeClr val="lt1"/>
          </a:fillRef>
          <a:effectRef idx="0">
            <a:schemeClr val="accent1"/>
          </a:effectRef>
          <a:fontRef idx="minor">
            <a:schemeClr val="dk1"/>
          </a:fontRef>
        </p:style>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973DF57B-F855-4801-82A9-11E435668C63}"/>
                  </a:ext>
                </a:extLst>
              </p:cNvPr>
              <p:cNvSpPr txBox="1"/>
              <p:nvPr/>
            </p:nvSpPr>
            <p:spPr>
              <a:xfrm>
                <a:off x="-265741" y="3650925"/>
                <a:ext cx="6148386" cy="276999"/>
              </a:xfrm>
              <a:prstGeom prst="rect">
                <a:avLst/>
              </a:prstGeom>
              <a:noFill/>
            </p:spPr>
            <p:txBody>
              <a:bodyPr wrap="square">
                <a:spAutoFit/>
              </a:bodyPr>
              <a:lstStyle/>
              <a:p>
                <a:pPr marL="0" indent="0" algn="ctr">
                  <a:buNone/>
                </a:pPr>
                <a:r>
                  <a:rPr lang="es-AR" sz="1200" i="1" dirty="0">
                    <a:solidFill>
                      <a:schemeClr val="tx2"/>
                    </a:solidFill>
                    <a:latin typeface="Calibri" pitchFamily="34" charset="0"/>
                    <a:ea typeface="Calibri" pitchFamily="34" charset="-122"/>
                    <a:cs typeface="Calibri" pitchFamily="34" charset="-120"/>
                  </a:rPr>
                  <a:t>FIGURA: </a:t>
                </a:r>
                <a:r>
                  <a:rPr lang="es-AR" sz="12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Figura 100: Figura 96: Curvas de posición </a:t>
                </a:r>
                <a14:m>
                  <m:oMath xmlns:m="http://schemas.openxmlformats.org/officeDocument/2006/math">
                    <m:sSub>
                      <m:sSubPr>
                        <m:ctrlPr>
                          <a:rPr lang="es-AR" sz="1200" i="1">
                            <a:solidFill>
                              <a:schemeClr val="tx2"/>
                            </a:solidFill>
                            <a:effectLst/>
                            <a:latin typeface="Cambria Math" panose="02040503050406030204" pitchFamily="18" charset="0"/>
                          </a:rPr>
                        </m:ctrlPr>
                      </m:sSubPr>
                      <m:e>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2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controlador discreto codificado</a:t>
                </a:r>
                <a:endParaRPr lang="es-AR" sz="1200" i="1" dirty="0">
                  <a:solidFill>
                    <a:schemeClr val="tx2"/>
                  </a:solidFill>
                </a:endParaRPr>
              </a:p>
            </p:txBody>
          </p:sp>
        </mc:Choice>
        <mc:Fallback xmlns="">
          <p:sp>
            <p:nvSpPr>
              <p:cNvPr id="23" name="CuadroTexto 22">
                <a:extLst>
                  <a:ext uri="{FF2B5EF4-FFF2-40B4-BE49-F238E27FC236}">
                    <a16:creationId xmlns:a16="http://schemas.microsoft.com/office/drawing/2014/main" id="{973DF57B-F855-4801-82A9-11E435668C63}"/>
                  </a:ext>
                </a:extLst>
              </p:cNvPr>
              <p:cNvSpPr txBox="1">
                <a:spLocks noRot="1" noChangeAspect="1" noMove="1" noResize="1" noEditPoints="1" noAdjustHandles="1" noChangeArrowheads="1" noChangeShapeType="1" noTextEdit="1"/>
              </p:cNvSpPr>
              <p:nvPr/>
            </p:nvSpPr>
            <p:spPr>
              <a:xfrm>
                <a:off x="-265741" y="3650925"/>
                <a:ext cx="6148386" cy="276999"/>
              </a:xfrm>
              <a:prstGeom prst="rect">
                <a:avLst/>
              </a:prstGeom>
              <a:blipFill>
                <a:blip r:embed="rId5"/>
                <a:stretch>
                  <a:fillRect t="-2222" b="-1777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302F3835-C550-4082-8AA7-EDF6FA1C8FFF}"/>
                  </a:ext>
                </a:extLst>
              </p:cNvPr>
              <p:cNvSpPr txBox="1"/>
              <p:nvPr/>
            </p:nvSpPr>
            <p:spPr>
              <a:xfrm>
                <a:off x="3021653" y="6341320"/>
                <a:ext cx="6148386" cy="553998"/>
              </a:xfrm>
              <a:prstGeom prst="rect">
                <a:avLst/>
              </a:prstGeom>
              <a:noFill/>
            </p:spPr>
            <p:txBody>
              <a:bodyPr wrap="square">
                <a:spAutoFit/>
              </a:bodyPr>
              <a:lstStyle/>
              <a:p>
                <a:pPr algn="ctr"/>
                <a:r>
                  <a:rPr lang="es-AR" sz="1100" i="1" dirty="0">
                    <a:solidFill>
                      <a:schemeClr val="tx2"/>
                    </a:solidFill>
                    <a:latin typeface="Calibri" pitchFamily="34" charset="0"/>
                    <a:ea typeface="Calibri" pitchFamily="34" charset="-122"/>
                    <a:cs typeface="Calibri" pitchFamily="34" charset="-120"/>
                  </a:rPr>
                  <a:t>FIGURA: </a:t>
                </a:r>
                <a:r>
                  <a:rPr lang="es-AR" sz="11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Figura 102: Torque </a:t>
                </a:r>
                <a14:m>
                  <m:oMath xmlns:m="http://schemas.openxmlformats.org/officeDocument/2006/math">
                    <m:sSub>
                      <m:sSubPr>
                        <m:ctrlPr>
                          <a:rPr lang="es-AR" sz="11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1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con controlador discreto codificado</a:t>
                </a:r>
              </a:p>
              <a:p>
                <a:pPr marL="0" indent="0" algn="ctr">
                  <a:buNone/>
                </a:pPr>
                <a:endParaRPr lang="es-AR" sz="1800" i="1" dirty="0">
                  <a:solidFill>
                    <a:schemeClr val="tx2"/>
                  </a:solidFill>
                </a:endParaRPr>
              </a:p>
            </p:txBody>
          </p:sp>
        </mc:Choice>
        <mc:Fallback xmlns="">
          <p:sp>
            <p:nvSpPr>
              <p:cNvPr id="25" name="CuadroTexto 24">
                <a:extLst>
                  <a:ext uri="{FF2B5EF4-FFF2-40B4-BE49-F238E27FC236}">
                    <a16:creationId xmlns:a16="http://schemas.microsoft.com/office/drawing/2014/main" id="{302F3835-C550-4082-8AA7-EDF6FA1C8FFF}"/>
                  </a:ext>
                </a:extLst>
              </p:cNvPr>
              <p:cNvSpPr txBox="1">
                <a:spLocks noRot="1" noChangeAspect="1" noMove="1" noResize="1" noEditPoints="1" noAdjustHandles="1" noChangeArrowheads="1" noChangeShapeType="1" noTextEdit="1"/>
              </p:cNvSpPr>
              <p:nvPr/>
            </p:nvSpPr>
            <p:spPr>
              <a:xfrm>
                <a:off x="3021653" y="6341320"/>
                <a:ext cx="6148386" cy="553998"/>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E5F5C51E-5D36-4BB9-843D-0CFE06C61DA2}"/>
                  </a:ext>
                </a:extLst>
              </p:cNvPr>
              <p:cNvSpPr txBox="1"/>
              <p:nvPr/>
            </p:nvSpPr>
            <p:spPr>
              <a:xfrm>
                <a:off x="6250006" y="3641464"/>
                <a:ext cx="6148386" cy="276999"/>
              </a:xfrm>
              <a:prstGeom prst="rect">
                <a:avLst/>
              </a:prstGeom>
              <a:noFill/>
            </p:spPr>
            <p:txBody>
              <a:bodyPr wrap="square">
                <a:spAutoFit/>
              </a:bodyPr>
              <a:lstStyle/>
              <a:p>
                <a:pPr marL="0" indent="0" algn="ctr">
                  <a:buNone/>
                </a:pPr>
                <a:r>
                  <a:rPr lang="es-AR" sz="1200" i="1" dirty="0">
                    <a:solidFill>
                      <a:schemeClr val="tx2"/>
                    </a:solidFill>
                    <a:latin typeface="+mj-lt"/>
                    <a:ea typeface="Calibri" pitchFamily="34" charset="-122"/>
                    <a:cs typeface="Calibri" pitchFamily="34" charset="-120"/>
                  </a:rPr>
                  <a:t>FIGURA: </a:t>
                </a:r>
                <a:r>
                  <a:rPr lang="es-AR" sz="1200" i="1" dirty="0">
                    <a:solidFill>
                      <a:schemeClr val="tx2"/>
                    </a:solidFill>
                    <a:effectLst/>
                    <a:latin typeface="+mj-lt"/>
                    <a:ea typeface="Calibri" panose="020F0502020204030204" pitchFamily="34" charset="0"/>
                    <a:cs typeface="Times New Roman" panose="02020603050405020304" pitchFamily="18" charset="0"/>
                  </a:rPr>
                  <a:t>Figura 101: Curvas de velocidad </a:t>
                </a:r>
                <a14:m>
                  <m:oMath xmlns:m="http://schemas.openxmlformats.org/officeDocument/2006/math">
                    <m:sSub>
                      <m:sSubPr>
                        <m:ctrlPr>
                          <a:rPr lang="es-AR" sz="1200" i="1">
                            <a:solidFill>
                              <a:schemeClr val="tx2"/>
                            </a:solidFill>
                            <a:effectLst/>
                            <a:latin typeface="Cambria Math" panose="02040503050406030204" pitchFamily="18" charset="0"/>
                          </a:rPr>
                        </m:ctrlPr>
                      </m:sSubPr>
                      <m:e>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200" i="1" dirty="0">
                    <a:solidFill>
                      <a:schemeClr val="tx2"/>
                    </a:solidFill>
                    <a:effectLst/>
                    <a:latin typeface="+mj-lt"/>
                    <a:ea typeface="Calibri" panose="020F0502020204030204" pitchFamily="34" charset="0"/>
                    <a:cs typeface="Times New Roman" panose="02020603050405020304" pitchFamily="18" charset="0"/>
                  </a:rPr>
                  <a:t> con controlador discreto codificado</a:t>
                </a:r>
                <a:endParaRPr lang="es-AR" sz="1200" i="1" dirty="0">
                  <a:solidFill>
                    <a:schemeClr val="tx2"/>
                  </a:solidFill>
                  <a:latin typeface="+mj-lt"/>
                </a:endParaRPr>
              </a:p>
            </p:txBody>
          </p:sp>
        </mc:Choice>
        <mc:Fallback xmlns="">
          <p:sp>
            <p:nvSpPr>
              <p:cNvPr id="27" name="CuadroTexto 26">
                <a:extLst>
                  <a:ext uri="{FF2B5EF4-FFF2-40B4-BE49-F238E27FC236}">
                    <a16:creationId xmlns:a16="http://schemas.microsoft.com/office/drawing/2014/main" id="{E5F5C51E-5D36-4BB9-843D-0CFE06C61DA2}"/>
                  </a:ext>
                </a:extLst>
              </p:cNvPr>
              <p:cNvSpPr txBox="1">
                <a:spLocks noRot="1" noChangeAspect="1" noMove="1" noResize="1" noEditPoints="1" noAdjustHandles="1" noChangeArrowheads="1" noChangeShapeType="1" noTextEdit="1"/>
              </p:cNvSpPr>
              <p:nvPr/>
            </p:nvSpPr>
            <p:spPr>
              <a:xfrm>
                <a:off x="6250006" y="3641464"/>
                <a:ext cx="6148386" cy="276999"/>
              </a:xfrm>
              <a:prstGeom prst="rect">
                <a:avLst/>
              </a:prstGeom>
              <a:blipFill>
                <a:blip r:embed="rId7"/>
                <a:stretch>
                  <a:fillRect b="-15217"/>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841F5B3E-D2AC-42F7-990D-5ABFDFC9D16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36D5DDB2-3C29-455E-85B7-C5FB179F250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74318010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8291"/>
            <a:ext cx="11551615" cy="658368"/>
          </a:xfrm>
          <a:prstGeom prst="rect">
            <a:avLst/>
          </a:prstGeom>
          <a:noFill/>
        </p:spPr>
        <p:txBody>
          <a:bodyPr wrap="none">
            <a:spAutoFit/>
          </a:bodyPr>
          <a:lstStyle/>
          <a:p>
            <a:pPr algn="l"/>
            <a:r>
              <a:rPr sz="2100" b="1" dirty="0" err="1">
                <a:solidFill>
                  <a:srgbClr val="FFFFFF"/>
                </a:solidFill>
                <a:latin typeface="Cambria"/>
              </a:rPr>
              <a:t>Referencias</a:t>
            </a:r>
            <a:endParaRPr sz="2100" b="1" dirty="0">
              <a:solidFill>
                <a:srgbClr val="FFFFFF"/>
              </a:solidFill>
              <a:latin typeface="Cambria"/>
            </a:endParaRPr>
          </a:p>
        </p:txBody>
      </p:sp>
      <p:sp>
        <p:nvSpPr>
          <p:cNvPr id="4" name="Rectangle 3"/>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71 / ~75</a:t>
            </a:r>
          </a:p>
        </p:txBody>
      </p:sp>
      <p:sp>
        <p:nvSpPr>
          <p:cNvPr id="6" name="TextBox 5"/>
          <p:cNvSpPr txBox="1"/>
          <p:nvPr/>
        </p:nvSpPr>
        <p:spPr>
          <a:xfrm>
            <a:off x="365760" y="822960"/>
            <a:ext cx="11430000" cy="3862596"/>
          </a:xfrm>
          <a:prstGeom prst="rect">
            <a:avLst/>
          </a:prstGeom>
          <a:noFill/>
        </p:spPr>
        <p:txBody>
          <a:bodyPr wrap="square">
            <a:spAutoFit/>
          </a:bodyPr>
          <a:lstStyle/>
          <a:p>
            <a:r>
              <a:rPr sz="2000" dirty="0">
                <a:solidFill>
                  <a:srgbClr val="1A1A2E"/>
                </a:solidFill>
                <a:latin typeface="Calibri"/>
              </a:rPr>
              <a:t>[1] G. Julián. Proyecto Global </a:t>
            </a:r>
            <a:r>
              <a:rPr sz="2000" dirty="0" err="1">
                <a:solidFill>
                  <a:srgbClr val="1A1A2E"/>
                </a:solidFill>
                <a:latin typeface="Calibri"/>
              </a:rPr>
              <a:t>Integrador</a:t>
            </a:r>
            <a:r>
              <a:rPr sz="2000" dirty="0">
                <a:solidFill>
                  <a:srgbClr val="1A1A2E"/>
                </a:solidFill>
                <a:latin typeface="Calibri"/>
              </a:rPr>
              <a:t>: Control de </a:t>
            </a:r>
            <a:r>
              <a:rPr sz="2000" dirty="0" err="1">
                <a:solidFill>
                  <a:srgbClr val="1A1A2E"/>
                </a:solidFill>
                <a:latin typeface="Calibri"/>
              </a:rPr>
              <a:t>Accionamiento</a:t>
            </a:r>
            <a:r>
              <a:rPr sz="2000" dirty="0">
                <a:solidFill>
                  <a:srgbClr val="1A1A2E"/>
                </a:solidFill>
                <a:latin typeface="Calibri"/>
              </a:rPr>
              <a:t> de CA con Motor </a:t>
            </a:r>
            <a:r>
              <a:rPr sz="2000" dirty="0" err="1">
                <a:solidFill>
                  <a:srgbClr val="1A1A2E"/>
                </a:solidFill>
                <a:latin typeface="Calibri"/>
              </a:rPr>
              <a:t>Síncrono</a:t>
            </a:r>
            <a:r>
              <a:rPr sz="2000" dirty="0">
                <a:solidFill>
                  <a:srgbClr val="1A1A2E"/>
                </a:solidFill>
                <a:latin typeface="Calibri"/>
              </a:rPr>
              <a:t> de </a:t>
            </a:r>
            <a:r>
              <a:rPr sz="2000" dirty="0" err="1">
                <a:solidFill>
                  <a:srgbClr val="1A1A2E"/>
                </a:solidFill>
                <a:latin typeface="Calibri"/>
              </a:rPr>
              <a:t>Imanes</a:t>
            </a:r>
            <a:r>
              <a:rPr sz="2000" dirty="0">
                <a:solidFill>
                  <a:srgbClr val="1A1A2E"/>
                </a:solidFill>
                <a:latin typeface="Calibri"/>
              </a:rPr>
              <a:t> </a:t>
            </a:r>
            <a:r>
              <a:rPr sz="2000" dirty="0" err="1">
                <a:solidFill>
                  <a:srgbClr val="1A1A2E"/>
                </a:solidFill>
                <a:latin typeface="Calibri"/>
              </a:rPr>
              <a:t>Permanentes</a:t>
            </a:r>
            <a:r>
              <a:rPr sz="2000" dirty="0">
                <a:solidFill>
                  <a:srgbClr val="1A1A2E"/>
                </a:solidFill>
                <a:latin typeface="Calibri"/>
              </a:rPr>
              <a:t>. </a:t>
            </a:r>
            <a:r>
              <a:rPr sz="2000" dirty="0" err="1">
                <a:solidFill>
                  <a:srgbClr val="1A1A2E"/>
                </a:solidFill>
                <a:latin typeface="Calibri"/>
              </a:rPr>
              <a:t>UNCuyo</a:t>
            </a:r>
            <a:r>
              <a:rPr sz="2000" dirty="0">
                <a:solidFill>
                  <a:srgbClr val="1A1A2E"/>
                </a:solidFill>
                <a:latin typeface="Calibri"/>
              </a:rPr>
              <a:t>, Ing. </a:t>
            </a:r>
            <a:r>
              <a:rPr sz="2000" dirty="0" err="1">
                <a:solidFill>
                  <a:srgbClr val="1A1A2E"/>
                </a:solidFill>
                <a:latin typeface="Calibri"/>
              </a:rPr>
              <a:t>en</a:t>
            </a:r>
            <a:r>
              <a:rPr sz="2000" dirty="0">
                <a:solidFill>
                  <a:srgbClr val="1A1A2E"/>
                </a:solidFill>
                <a:latin typeface="Calibri"/>
              </a:rPr>
              <a:t> </a:t>
            </a:r>
            <a:r>
              <a:rPr sz="2000" dirty="0" err="1">
                <a:solidFill>
                  <a:srgbClr val="1A1A2E"/>
                </a:solidFill>
                <a:latin typeface="Calibri"/>
              </a:rPr>
              <a:t>Mecatrónica</a:t>
            </a:r>
            <a:r>
              <a:rPr sz="2000" dirty="0">
                <a:solidFill>
                  <a:srgbClr val="1A1A2E"/>
                </a:solidFill>
                <a:latin typeface="Calibri"/>
              </a:rPr>
              <a:t>, 2024.</a:t>
            </a:r>
          </a:p>
          <a:p>
            <a:pPr>
              <a:spcBef>
                <a:spcPts val="900"/>
              </a:spcBef>
            </a:pPr>
            <a:r>
              <a:rPr sz="2000" dirty="0">
                <a:solidFill>
                  <a:srgbClr val="1A1A2E"/>
                </a:solidFill>
                <a:latin typeface="Calibri"/>
              </a:rPr>
              <a:t>[2] G. Julián. </a:t>
            </a:r>
            <a:r>
              <a:rPr sz="2000" dirty="0" err="1">
                <a:solidFill>
                  <a:srgbClr val="1A1A2E"/>
                </a:solidFill>
                <a:latin typeface="Calibri"/>
              </a:rPr>
              <a:t>Guía</a:t>
            </a:r>
            <a:r>
              <a:rPr sz="2000" dirty="0">
                <a:solidFill>
                  <a:srgbClr val="1A1A2E"/>
                </a:solidFill>
                <a:latin typeface="Calibri"/>
              </a:rPr>
              <a:t> de </a:t>
            </a:r>
            <a:r>
              <a:rPr sz="2000" dirty="0" err="1">
                <a:solidFill>
                  <a:srgbClr val="1A1A2E"/>
                </a:solidFill>
                <a:latin typeface="Calibri"/>
              </a:rPr>
              <a:t>trabajo</a:t>
            </a:r>
            <a:r>
              <a:rPr sz="2000" dirty="0">
                <a:solidFill>
                  <a:srgbClr val="1A1A2E"/>
                </a:solidFill>
                <a:latin typeface="Calibri"/>
              </a:rPr>
              <a:t> — Proyecto Global </a:t>
            </a:r>
            <a:r>
              <a:rPr sz="2000" dirty="0" err="1">
                <a:solidFill>
                  <a:srgbClr val="1A1A2E"/>
                </a:solidFill>
                <a:latin typeface="Calibri"/>
              </a:rPr>
              <a:t>Integrador</a:t>
            </a:r>
            <a:r>
              <a:rPr sz="2000" dirty="0">
                <a:solidFill>
                  <a:srgbClr val="1A1A2E"/>
                </a:solidFill>
                <a:latin typeface="Calibri"/>
              </a:rPr>
              <a:t>. </a:t>
            </a:r>
            <a:r>
              <a:rPr sz="2000" dirty="0" err="1">
                <a:solidFill>
                  <a:srgbClr val="1A1A2E"/>
                </a:solidFill>
                <a:latin typeface="Calibri"/>
              </a:rPr>
              <a:t>UNCuyo</a:t>
            </a:r>
            <a:r>
              <a:rPr sz="2000" dirty="0">
                <a:solidFill>
                  <a:srgbClr val="1A1A2E"/>
                </a:solidFill>
                <a:latin typeface="Calibri"/>
              </a:rPr>
              <a:t>, 2024.</a:t>
            </a:r>
          </a:p>
          <a:p>
            <a:pPr>
              <a:spcBef>
                <a:spcPts val="900"/>
              </a:spcBef>
            </a:pPr>
            <a:r>
              <a:rPr sz="2000" dirty="0">
                <a:solidFill>
                  <a:srgbClr val="1A1A2E"/>
                </a:solidFill>
                <a:latin typeface="Calibri"/>
              </a:rPr>
              <a:t>[3] P. Krause, O. </a:t>
            </a:r>
            <a:r>
              <a:rPr sz="2000" dirty="0" err="1">
                <a:solidFill>
                  <a:srgbClr val="1A1A2E"/>
                </a:solidFill>
                <a:latin typeface="Calibri"/>
              </a:rPr>
              <a:t>Wasynczuk</a:t>
            </a:r>
            <a:r>
              <a:rPr sz="2000" dirty="0">
                <a:solidFill>
                  <a:srgbClr val="1A1A2E"/>
                </a:solidFill>
                <a:latin typeface="Calibri"/>
              </a:rPr>
              <a:t>, S. D. </a:t>
            </a:r>
            <a:r>
              <a:rPr sz="2000" dirty="0" err="1">
                <a:solidFill>
                  <a:srgbClr val="1A1A2E"/>
                </a:solidFill>
                <a:latin typeface="Calibri"/>
              </a:rPr>
              <a:t>Sudhoff</a:t>
            </a:r>
            <a:r>
              <a:rPr sz="2000" dirty="0">
                <a:solidFill>
                  <a:srgbClr val="1A1A2E"/>
                </a:solidFill>
                <a:latin typeface="Calibri"/>
              </a:rPr>
              <a:t>, S. </a:t>
            </a:r>
            <a:r>
              <a:rPr sz="2000" dirty="0" err="1">
                <a:solidFill>
                  <a:srgbClr val="1A1A2E"/>
                </a:solidFill>
                <a:latin typeface="Calibri"/>
              </a:rPr>
              <a:t>Pekarek</a:t>
            </a:r>
            <a:r>
              <a:rPr sz="2000" dirty="0">
                <a:solidFill>
                  <a:srgbClr val="1A1A2E"/>
                </a:solidFill>
                <a:latin typeface="Calibri"/>
              </a:rPr>
              <a:t>. Analysis of Electric Machinery and Drive Systems. 3ª ed. Wiley-IEEE Press, 2013.</a:t>
            </a:r>
          </a:p>
          <a:p>
            <a:pPr>
              <a:spcBef>
                <a:spcPts val="900"/>
              </a:spcBef>
            </a:pPr>
            <a:r>
              <a:rPr sz="2000" dirty="0">
                <a:solidFill>
                  <a:srgbClr val="1A1A2E"/>
                </a:solidFill>
                <a:latin typeface="Calibri"/>
              </a:rPr>
              <a:t>[4] G. F. Franklin, J. D. Powell, A. </a:t>
            </a:r>
            <a:r>
              <a:rPr sz="2000" dirty="0" err="1">
                <a:solidFill>
                  <a:srgbClr val="1A1A2E"/>
                </a:solidFill>
                <a:latin typeface="Calibri"/>
              </a:rPr>
              <a:t>Emami-Naeni</a:t>
            </a:r>
            <a:r>
              <a:rPr sz="2000" dirty="0">
                <a:solidFill>
                  <a:srgbClr val="1A1A2E"/>
                </a:solidFill>
                <a:latin typeface="Calibri"/>
              </a:rPr>
              <a:t>. Feedback Control of Dynamic Systems. 7ª ed. Pearson, 2015.</a:t>
            </a:r>
          </a:p>
          <a:p>
            <a:pPr>
              <a:spcBef>
                <a:spcPts val="900"/>
              </a:spcBef>
            </a:pPr>
            <a:r>
              <a:rPr sz="2000" dirty="0">
                <a:solidFill>
                  <a:srgbClr val="1A1A2E"/>
                </a:solidFill>
                <a:latin typeface="Calibri"/>
              </a:rPr>
              <a:t>[5] K. Ogata. </a:t>
            </a:r>
            <a:r>
              <a:rPr sz="2000" dirty="0" err="1">
                <a:solidFill>
                  <a:srgbClr val="1A1A2E"/>
                </a:solidFill>
                <a:latin typeface="Calibri"/>
              </a:rPr>
              <a:t>Ingeniería</a:t>
            </a:r>
            <a:r>
              <a:rPr sz="2000" dirty="0">
                <a:solidFill>
                  <a:srgbClr val="1A1A2E"/>
                </a:solidFill>
                <a:latin typeface="Calibri"/>
              </a:rPr>
              <a:t> de Control Moderna. 5ª ed. Prentice Hall, 2010.</a:t>
            </a:r>
          </a:p>
          <a:p>
            <a:pPr>
              <a:spcBef>
                <a:spcPts val="900"/>
              </a:spcBef>
            </a:pPr>
            <a:r>
              <a:rPr sz="2000" dirty="0">
                <a:solidFill>
                  <a:srgbClr val="1A1A2E"/>
                </a:solidFill>
                <a:latin typeface="Calibri"/>
              </a:rPr>
              <a:t>[6] K. M. Lynch, F. C. Park. Modern Robotics: Mechanics, Planning, and Control. Cambridge University Press, 2017.</a:t>
            </a:r>
          </a:p>
          <a:p>
            <a:pPr>
              <a:spcBef>
                <a:spcPts val="900"/>
              </a:spcBef>
            </a:pPr>
            <a:r>
              <a:rPr sz="2000" dirty="0">
                <a:solidFill>
                  <a:srgbClr val="1A1A2E"/>
                </a:solidFill>
                <a:latin typeface="Calibri"/>
              </a:rPr>
              <a:t>[7] MathWorks. MATLAB/Simulink R2024b Documentation. www.mathworks.com</a:t>
            </a:r>
          </a:p>
        </p:txBody>
      </p:sp>
      <p:sp>
        <p:nvSpPr>
          <p:cNvPr id="7" name="Shape 2">
            <a:extLst>
              <a:ext uri="{FF2B5EF4-FFF2-40B4-BE49-F238E27FC236}">
                <a16:creationId xmlns:a16="http://schemas.microsoft.com/office/drawing/2014/main" id="{9D9668B5-8702-41AB-A269-7116182D662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8" name="Text 3">
            <a:extLst>
              <a:ext uri="{FF2B5EF4-FFF2-40B4-BE49-F238E27FC236}">
                <a16:creationId xmlns:a16="http://schemas.microsoft.com/office/drawing/2014/main" id="{2952A8C6-EC75-4352-911C-8F166453E33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06B7BD3-24EE-4E37-BB7E-BDAF6D8AE93C}">
  <we:reference id="wa200010001" version="1.0.0.1" store="en-US" storeType="OMEX"/>
  <we:alternateReferences>
    <we:reference id="wa200010001" version="1.0.0.1" store="en-US" storeType="OMEX"/>
  </we:alternateReferences>
  <we:properties>
    <we:property name="claude.fileId" value="&quot;4f4e5174-8d27-4df9-b004-8766beb56b9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8687</TotalTime>
  <Words>14334</Words>
  <Application>Microsoft Office PowerPoint</Application>
  <PresentationFormat>Panorámica</PresentationFormat>
  <Paragraphs>1397</Paragraphs>
  <Slides>119</Slides>
  <Notes>15</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119</vt:i4>
      </vt:variant>
    </vt:vector>
  </HeadingPairs>
  <TitlesOfParts>
    <vt:vector size="126" baseType="lpstr">
      <vt:lpstr>Arial</vt:lpstr>
      <vt:lpstr>Calibri</vt:lpstr>
      <vt:lpstr>Cambria</vt:lpstr>
      <vt:lpstr>Cambria Math</vt:lpstr>
      <vt:lpstr>Symbol</vt:lpstr>
      <vt:lpstr>Times New Roman</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Juan</dc:creator>
  <cp:keywords/>
  <dc:description>generated using python-pptx</dc:description>
  <cp:lastModifiedBy>juan stella</cp:lastModifiedBy>
  <cp:revision>277</cp:revision>
  <dcterms:created xsi:type="dcterms:W3CDTF">2013-01-27T09:14:16Z</dcterms:created>
  <dcterms:modified xsi:type="dcterms:W3CDTF">2026-05-08T16:02:34Z</dcterms:modified>
  <cp:category/>
</cp:coreProperties>
</file>