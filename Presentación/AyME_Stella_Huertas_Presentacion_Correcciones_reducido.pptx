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4"/>
  </p:notesMasterIdLst>
  <p:sldIdLst>
    <p:sldId id="256" r:id="rId2"/>
    <p:sldId id="257" r:id="rId3"/>
    <p:sldId id="258" r:id="rId4"/>
    <p:sldId id="384" r:id="rId5"/>
    <p:sldId id="261" r:id="rId6"/>
    <p:sldId id="262" r:id="rId7"/>
    <p:sldId id="263" r:id="rId8"/>
    <p:sldId id="382" r:id="rId9"/>
    <p:sldId id="264" r:id="rId10"/>
    <p:sldId id="265" r:id="rId11"/>
    <p:sldId id="266" r:id="rId12"/>
    <p:sldId id="267" r:id="rId13"/>
    <p:sldId id="268" r:id="rId14"/>
    <p:sldId id="269" r:id="rId15"/>
    <p:sldId id="270" r:id="rId16"/>
    <p:sldId id="271" r:id="rId17"/>
    <p:sldId id="272" r:id="rId18"/>
    <p:sldId id="273" r:id="rId19"/>
    <p:sldId id="274" r:id="rId20"/>
    <p:sldId id="386" r:id="rId21"/>
    <p:sldId id="276" r:id="rId22"/>
    <p:sldId id="277" r:id="rId23"/>
    <p:sldId id="278" r:id="rId24"/>
    <p:sldId id="279" r:id="rId25"/>
    <p:sldId id="280" r:id="rId26"/>
    <p:sldId id="281" r:id="rId27"/>
    <p:sldId id="282" r:id="rId28"/>
    <p:sldId id="284" r:id="rId29"/>
    <p:sldId id="285" r:id="rId30"/>
    <p:sldId id="286" r:id="rId31"/>
    <p:sldId id="287" r:id="rId32"/>
    <p:sldId id="328" r:id="rId33"/>
    <p:sldId id="329" r:id="rId34"/>
    <p:sldId id="330" r:id="rId35"/>
    <p:sldId id="288" r:id="rId36"/>
    <p:sldId id="290" r:id="rId37"/>
    <p:sldId id="331" r:id="rId38"/>
    <p:sldId id="291" r:id="rId39"/>
    <p:sldId id="332" r:id="rId40"/>
    <p:sldId id="292" r:id="rId41"/>
    <p:sldId id="293" r:id="rId42"/>
    <p:sldId id="294" r:id="rId43"/>
    <p:sldId id="295" r:id="rId44"/>
    <p:sldId id="297" r:id="rId45"/>
    <p:sldId id="337" r:id="rId46"/>
    <p:sldId id="296" r:id="rId47"/>
    <p:sldId id="338" r:id="rId48"/>
    <p:sldId id="299" r:id="rId49"/>
    <p:sldId id="298" r:id="rId50"/>
    <p:sldId id="339" r:id="rId51"/>
    <p:sldId id="340" r:id="rId52"/>
    <p:sldId id="385" r:id="rId53"/>
    <p:sldId id="300" r:id="rId54"/>
    <p:sldId id="301" r:id="rId55"/>
    <p:sldId id="302" r:id="rId56"/>
    <p:sldId id="343" r:id="rId57"/>
    <p:sldId id="344" r:id="rId58"/>
    <p:sldId id="303" r:id="rId59"/>
    <p:sldId id="345" r:id="rId60"/>
    <p:sldId id="304" r:id="rId61"/>
    <p:sldId id="346" r:id="rId62"/>
    <p:sldId id="305" r:id="rId63"/>
    <p:sldId id="306" r:id="rId64"/>
    <p:sldId id="347" r:id="rId65"/>
    <p:sldId id="307" r:id="rId66"/>
    <p:sldId id="348" r:id="rId67"/>
    <p:sldId id="309" r:id="rId68"/>
    <p:sldId id="310" r:id="rId69"/>
    <p:sldId id="349" r:id="rId70"/>
    <p:sldId id="311" r:id="rId71"/>
    <p:sldId id="312" r:id="rId72"/>
    <p:sldId id="350" r:id="rId73"/>
    <p:sldId id="351" r:id="rId74"/>
    <p:sldId id="314" r:id="rId75"/>
    <p:sldId id="315" r:id="rId76"/>
    <p:sldId id="316" r:id="rId77"/>
    <p:sldId id="352" r:id="rId78"/>
    <p:sldId id="353" r:id="rId79"/>
    <p:sldId id="354" r:id="rId80"/>
    <p:sldId id="355" r:id="rId81"/>
    <p:sldId id="317" r:id="rId82"/>
    <p:sldId id="356" r:id="rId83"/>
    <p:sldId id="318" r:id="rId84"/>
    <p:sldId id="357" r:id="rId85"/>
    <p:sldId id="319" r:id="rId86"/>
    <p:sldId id="359" r:id="rId87"/>
    <p:sldId id="360" r:id="rId88"/>
    <p:sldId id="361" r:id="rId89"/>
    <p:sldId id="363" r:id="rId90"/>
    <p:sldId id="364" r:id="rId91"/>
    <p:sldId id="362" r:id="rId92"/>
    <p:sldId id="365" r:id="rId93"/>
    <p:sldId id="366" r:id="rId94"/>
    <p:sldId id="320" r:id="rId95"/>
    <p:sldId id="367" r:id="rId96"/>
    <p:sldId id="368" r:id="rId97"/>
    <p:sldId id="369" r:id="rId98"/>
    <p:sldId id="370" r:id="rId99"/>
    <p:sldId id="387" r:id="rId100"/>
    <p:sldId id="321" r:id="rId101"/>
    <p:sldId id="322" r:id="rId102"/>
    <p:sldId id="323" r:id="rId103"/>
    <p:sldId id="372" r:id="rId104"/>
    <p:sldId id="373" r:id="rId105"/>
    <p:sldId id="374" r:id="rId106"/>
    <p:sldId id="375" r:id="rId107"/>
    <p:sldId id="377" r:id="rId108"/>
    <p:sldId id="378" r:id="rId109"/>
    <p:sldId id="379" r:id="rId110"/>
    <p:sldId id="380" r:id="rId111"/>
    <p:sldId id="381" r:id="rId112"/>
    <p:sldId id="388" r:id="rId1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7" autoAdjust="0"/>
    <p:restoredTop sz="96357" autoAdjust="0"/>
  </p:normalViewPr>
  <p:slideViewPr>
    <p:cSldViewPr snapToGrid="0" snapToObjects="1">
      <p:cViewPr varScale="1">
        <p:scale>
          <a:sx n="112" d="100"/>
          <a:sy n="112" d="100"/>
        </p:scale>
        <p:origin x="49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EF5A6-2F60-400E-8415-C9D2D2E0D30C}" type="datetimeFigureOut">
              <a:rPr lang="es-AR" smtClean="0"/>
              <a:t>15/5/2026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0AEA6E-7F1E-4587-89A6-F004A649745A}" type="slidenum">
              <a:rPr lang="es-AR" smtClean="0"/>
              <a:t>‹Nº›</a:t>
            </a:fld>
            <a:endParaRPr lang="es-AR"/>
          </a:p>
        </p:txBody>
      </p:sp>
    </p:spTree>
    <p:extLst>
      <p:ext uri="{BB962C8B-B14F-4D97-AF65-F5344CB8AC3E}">
        <p14:creationId xmlns:p14="http://schemas.microsoft.com/office/powerpoint/2010/main" val="364096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1</a:t>
            </a:fld>
            <a:endParaRPr lang="es-AR"/>
          </a:p>
        </p:txBody>
      </p:sp>
    </p:spTree>
    <p:extLst>
      <p:ext uri="{BB962C8B-B14F-4D97-AF65-F5344CB8AC3E}">
        <p14:creationId xmlns:p14="http://schemas.microsoft.com/office/powerpoint/2010/main" val="534224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27</a:t>
            </a:fld>
            <a:endParaRPr lang="es-AR"/>
          </a:p>
        </p:txBody>
      </p:sp>
    </p:spTree>
    <p:extLst>
      <p:ext uri="{BB962C8B-B14F-4D97-AF65-F5344CB8AC3E}">
        <p14:creationId xmlns:p14="http://schemas.microsoft.com/office/powerpoint/2010/main" val="1687900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40</a:t>
            </a:fld>
            <a:endParaRPr lang="es-AR"/>
          </a:p>
        </p:txBody>
      </p:sp>
    </p:spTree>
    <p:extLst>
      <p:ext uri="{BB962C8B-B14F-4D97-AF65-F5344CB8AC3E}">
        <p14:creationId xmlns:p14="http://schemas.microsoft.com/office/powerpoint/2010/main" val="1107798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51</a:t>
            </a:fld>
            <a:endParaRPr lang="es-AR"/>
          </a:p>
        </p:txBody>
      </p:sp>
    </p:spTree>
    <p:extLst>
      <p:ext uri="{BB962C8B-B14F-4D97-AF65-F5344CB8AC3E}">
        <p14:creationId xmlns:p14="http://schemas.microsoft.com/office/powerpoint/2010/main" val="49915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52</a:t>
            </a:fld>
            <a:endParaRPr lang="es-AR"/>
          </a:p>
        </p:txBody>
      </p:sp>
    </p:spTree>
    <p:extLst>
      <p:ext uri="{BB962C8B-B14F-4D97-AF65-F5344CB8AC3E}">
        <p14:creationId xmlns:p14="http://schemas.microsoft.com/office/powerpoint/2010/main" val="3888759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61</a:t>
            </a:fld>
            <a:endParaRPr lang="es-AR"/>
          </a:p>
        </p:txBody>
      </p:sp>
    </p:spTree>
    <p:extLst>
      <p:ext uri="{BB962C8B-B14F-4D97-AF65-F5344CB8AC3E}">
        <p14:creationId xmlns:p14="http://schemas.microsoft.com/office/powerpoint/2010/main" val="1318227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68</a:t>
            </a:fld>
            <a:endParaRPr lang="es-AR"/>
          </a:p>
        </p:txBody>
      </p:sp>
    </p:spTree>
    <p:extLst>
      <p:ext uri="{BB962C8B-B14F-4D97-AF65-F5344CB8AC3E}">
        <p14:creationId xmlns:p14="http://schemas.microsoft.com/office/powerpoint/2010/main" val="2292566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71</a:t>
            </a:fld>
            <a:endParaRPr lang="es-AR"/>
          </a:p>
        </p:txBody>
      </p:sp>
    </p:spTree>
    <p:extLst>
      <p:ext uri="{BB962C8B-B14F-4D97-AF65-F5344CB8AC3E}">
        <p14:creationId xmlns:p14="http://schemas.microsoft.com/office/powerpoint/2010/main" val="2517246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74</a:t>
            </a:fld>
            <a:endParaRPr lang="es-AR"/>
          </a:p>
        </p:txBody>
      </p:sp>
    </p:spTree>
    <p:extLst>
      <p:ext uri="{BB962C8B-B14F-4D97-AF65-F5344CB8AC3E}">
        <p14:creationId xmlns:p14="http://schemas.microsoft.com/office/powerpoint/2010/main" val="1143811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84</a:t>
            </a:fld>
            <a:endParaRPr lang="es-AR"/>
          </a:p>
        </p:txBody>
      </p:sp>
    </p:spTree>
    <p:extLst>
      <p:ext uri="{BB962C8B-B14F-4D97-AF65-F5344CB8AC3E}">
        <p14:creationId xmlns:p14="http://schemas.microsoft.com/office/powerpoint/2010/main" val="284707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85</a:t>
            </a:fld>
            <a:endParaRPr lang="es-AR"/>
          </a:p>
        </p:txBody>
      </p:sp>
    </p:spTree>
    <p:extLst>
      <p:ext uri="{BB962C8B-B14F-4D97-AF65-F5344CB8AC3E}">
        <p14:creationId xmlns:p14="http://schemas.microsoft.com/office/powerpoint/2010/main" val="145126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87</a:t>
            </a:fld>
            <a:endParaRPr lang="es-AR"/>
          </a:p>
        </p:txBody>
      </p:sp>
    </p:spTree>
    <p:extLst>
      <p:ext uri="{BB962C8B-B14F-4D97-AF65-F5344CB8AC3E}">
        <p14:creationId xmlns:p14="http://schemas.microsoft.com/office/powerpoint/2010/main" val="3932018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88</a:t>
            </a:fld>
            <a:endParaRPr lang="es-AR"/>
          </a:p>
        </p:txBody>
      </p:sp>
    </p:spTree>
    <p:extLst>
      <p:ext uri="{BB962C8B-B14F-4D97-AF65-F5344CB8AC3E}">
        <p14:creationId xmlns:p14="http://schemas.microsoft.com/office/powerpoint/2010/main" val="789508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E10AEA6E-7F1E-4587-89A6-F004A649745A}" type="slidenum">
              <a:rPr lang="es-AR" smtClean="0"/>
              <a:t>94</a:t>
            </a:fld>
            <a:endParaRPr lang="es-AR"/>
          </a:p>
        </p:txBody>
      </p:sp>
    </p:spTree>
    <p:extLst>
      <p:ext uri="{BB962C8B-B14F-4D97-AF65-F5344CB8AC3E}">
        <p14:creationId xmlns:p14="http://schemas.microsoft.com/office/powerpoint/2010/main" val="75301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7.xml"/><Relationship Id="rId6" Type="http://schemas.openxmlformats.org/officeDocument/2006/relationships/image" Target="../media/image511.png"/><Relationship Id="rId5" Type="http://schemas.openxmlformats.org/officeDocument/2006/relationships/image" Target="../media/image2100.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27.png"/><Relationship Id="rId3" Type="http://schemas.openxmlformats.org/officeDocument/2006/relationships/image" Target="../media/image510.png"/><Relationship Id="rId12"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11" Type="http://schemas.openxmlformats.org/officeDocument/2006/relationships/image" Target="../media/image9.png"/><Relationship Id="rId10" Type="http://schemas.openxmlformats.org/officeDocument/2006/relationships/image" Target="../media/image8.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10.png"/><Relationship Id="rId2" Type="http://schemas.openxmlformats.org/officeDocument/2006/relationships/image" Target="../media/image2010.png"/><Relationship Id="rId1" Type="http://schemas.openxmlformats.org/officeDocument/2006/relationships/slideLayout" Target="../slideLayouts/slideLayout7.xml"/><Relationship Id="rId6"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910.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image" Target="../media/image2610.png"/><Relationship Id="rId1" Type="http://schemas.openxmlformats.org/officeDocument/2006/relationships/slideLayout" Target="../slideLayouts/slideLayout7.xml"/><Relationship Id="rId6" Type="http://schemas.openxmlformats.org/officeDocument/2006/relationships/image" Target="../media/image3010.png"/><Relationship Id="rId5" Type="http://schemas.openxmlformats.org/officeDocument/2006/relationships/image" Target="../media/image2910.png"/><Relationship Id="rId4" Type="http://schemas.openxmlformats.org/officeDocument/2006/relationships/image" Target="../media/image2810.png"/></Relationships>
</file>

<file path=ppt/slides/_rels/slide16.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1.png"/><Relationship Id="rId4" Type="http://schemas.openxmlformats.org/officeDocument/2006/relationships/image" Target="../media/image350.png"/></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90.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7" Type="http://schemas.openxmlformats.org/officeDocument/2006/relationships/image" Target="../media/image410.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4.png"/><Relationship Id="rId9"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8" Type="http://schemas.openxmlformats.org/officeDocument/2006/relationships/image" Target="../media/image55.png"/><Relationship Id="rId7"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7.png"/><Relationship Id="rId11" Type="http://schemas.openxmlformats.org/officeDocument/2006/relationships/image" Target="../media/image531.png"/><Relationship Id="rId10" Type="http://schemas.openxmlformats.org/officeDocument/2006/relationships/image" Target="../media/image501.png"/><Relationship Id="rId9" Type="http://schemas.openxmlformats.org/officeDocument/2006/relationships/image" Target="../media/image491.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91.png"/><Relationship Id="rId2" Type="http://schemas.openxmlformats.org/officeDocument/2006/relationships/image" Target="../media/image370.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490.png"/><Relationship Id="rId4" Type="http://schemas.openxmlformats.org/officeDocument/2006/relationships/image" Target="../media/image450.png"/></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1.png"/><Relationship Id="rId1" Type="http://schemas.openxmlformats.org/officeDocument/2006/relationships/slideLayout" Target="../slideLayouts/slideLayout7.xml"/><Relationship Id="rId4" Type="http://schemas.openxmlformats.org/officeDocument/2006/relationships/image" Target="../media/image580.png"/></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00.png"/><Relationship Id="rId5" Type="http://schemas.openxmlformats.org/officeDocument/2006/relationships/image" Target="../media/image65.png"/><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71.pn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67.png"/><Relationship Id="rId4" Type="http://schemas.openxmlformats.org/officeDocument/2006/relationships/image" Target="../media/image70.png"/></Relationships>
</file>

<file path=ppt/slides/_rels/slide35.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6.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1.png"/></Relationships>
</file>

<file path=ppt/slides/_rels/slide3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3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3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3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73.png"/><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1.png"/></Relationships>
</file>

<file path=ppt/slides/_rels/slide4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4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2.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6.png"/></Relationships>
</file>

<file path=ppt/slides/_rels/slide48.xml.rels><?xml version="1.0" encoding="UTF-8" standalone="yes"?>
<Relationships xmlns="http://schemas.openxmlformats.org/package/2006/relationships"><Relationship Id="rId3" Type="http://schemas.openxmlformats.org/officeDocument/2006/relationships/image" Target="../media/image1110.png"/><Relationship Id="rId7" Type="http://schemas.openxmlformats.org/officeDocument/2006/relationships/image" Target="../media/image103.png"/><Relationship Id="rId2" Type="http://schemas.openxmlformats.org/officeDocument/2006/relationships/image" Target="../media/image1101.png"/><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0.png"/></Relationships>
</file>

<file path=ppt/slides/_rels/slide4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4" Type="http://schemas.openxmlformats.org/officeDocument/2006/relationships/image" Target="../media/image104.png"/></Relationships>
</file>

<file path=ppt/slides/_rels/slide5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50.png"/><Relationship Id="rId1" Type="http://schemas.openxmlformats.org/officeDocument/2006/relationships/slideLayout" Target="../slideLayouts/slideLayout7.xml"/><Relationship Id="rId6" Type="http://schemas.openxmlformats.org/officeDocument/2006/relationships/image" Target="../media/image124.png"/><Relationship Id="rId5" Type="http://schemas.openxmlformats.org/officeDocument/2006/relationships/image" Target="../media/image115.png"/><Relationship Id="rId4" Type="http://schemas.openxmlformats.org/officeDocument/2006/relationships/image" Target="../media/image105.png"/></Relationships>
</file>

<file path=ppt/slides/_rels/slide5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116.png"/><Relationship Id="rId4" Type="http://schemas.openxmlformats.org/officeDocument/2006/relationships/image" Target="../media/image126.png"/></Relationships>
</file>

<file path=ppt/slides/_rels/slide5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1.png"/><Relationship Id="rId1" Type="http://schemas.openxmlformats.org/officeDocument/2006/relationships/slideLayout" Target="../slideLayouts/slideLayout7.xml"/><Relationship Id="rId5" Type="http://schemas.openxmlformats.org/officeDocument/2006/relationships/image" Target="../media/image135.png"/><Relationship Id="rId4" Type="http://schemas.openxmlformats.org/officeDocument/2006/relationships/image" Target="../media/image134.png"/></Relationships>
</file>

<file path=ppt/slides/_rels/slide56.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image" Target="../media/image137.png"/><Relationship Id="rId1" Type="http://schemas.openxmlformats.org/officeDocument/2006/relationships/slideLayout" Target="../slideLayouts/slideLayout7.xml"/><Relationship Id="rId4" Type="http://schemas.openxmlformats.org/officeDocument/2006/relationships/image" Target="../media/image139.png"/></Relationships>
</file>

<file path=ppt/slides/_rels/slide5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image" Target="../media/image122.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5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1.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6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8.png"/><Relationship Id="rId1" Type="http://schemas.openxmlformats.org/officeDocument/2006/relationships/slideLayout" Target="../slideLayouts/slideLayout7.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6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64.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64.png"/><Relationship Id="rId7" Type="http://schemas.openxmlformats.org/officeDocument/2006/relationships/image" Target="../media/image168.png"/><Relationship Id="rId2" Type="http://schemas.openxmlformats.org/officeDocument/2006/relationships/image" Target="../media/image163.png"/><Relationship Id="rId1" Type="http://schemas.openxmlformats.org/officeDocument/2006/relationships/slideLayout" Target="../slideLayouts/slideLayout7.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 Id="rId9" Type="http://schemas.openxmlformats.org/officeDocument/2006/relationships/image" Target="../media/image170.png"/></Relationships>
</file>

<file path=ppt/slides/_rels/slide6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38.png"/><Relationship Id="rId5" Type="http://schemas.openxmlformats.org/officeDocument/2006/relationships/image" Target="../media/image136.png"/><Relationship Id="rId4" Type="http://schemas.openxmlformats.org/officeDocument/2006/relationships/image" Target="../media/image173.png"/></Relationships>
</file>

<file path=ppt/slides/_rels/slide66.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s>
</file>

<file path=ppt/slides/_rels/slide69.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54.png"/><Relationship Id="rId1" Type="http://schemas.openxmlformats.org/officeDocument/2006/relationships/slideLayout" Target="../slideLayouts/slideLayout7.xml"/><Relationship Id="rId5" Type="http://schemas.openxmlformats.org/officeDocument/2006/relationships/image" Target="../media/image185.png"/><Relationship Id="rId4" Type="http://schemas.openxmlformats.org/officeDocument/2006/relationships/image" Target="../media/image18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7.png"/><Relationship Id="rId7" Type="http://schemas.openxmlformats.org/officeDocument/2006/relationships/image" Target="../media/image18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 Id="rId9" Type="http://schemas.openxmlformats.org/officeDocument/2006/relationships/image" Target="../media/image191.png"/></Relationships>
</file>

<file path=ppt/slides/_rels/slide72.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7.xml"/><Relationship Id="rId6" Type="http://schemas.openxmlformats.org/officeDocument/2006/relationships/image" Target="../media/image193.png"/><Relationship Id="rId5" Type="http://schemas.openxmlformats.org/officeDocument/2006/relationships/image" Target="../media/image175.png"/><Relationship Id="rId4" Type="http://schemas.openxmlformats.org/officeDocument/2006/relationships/image" Target="../media/image174.png"/></Relationships>
</file>

<file path=ppt/slides/_rels/slide73.xml.rels><?xml version="1.0" encoding="UTF-8" standalone="yes"?>
<Relationships xmlns="http://schemas.openxmlformats.org/package/2006/relationships"><Relationship Id="rId8" Type="http://schemas.openxmlformats.org/officeDocument/2006/relationships/image" Target="../media/image192.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188.png"/><Relationship Id="rId5" Type="http://schemas.openxmlformats.org/officeDocument/2006/relationships/image" Target="../media/image186.png"/><Relationship Id="rId4" Type="http://schemas.openxmlformats.org/officeDocument/2006/relationships/image" Target="../media/image177.png"/></Relationships>
</file>

<file path=ppt/slides/_rels/slide74.xml.rels><?xml version="1.0" encoding="UTF-8" standalone="yes"?>
<Relationships xmlns="http://schemas.openxmlformats.org/package/2006/relationships"><Relationship Id="rId3" Type="http://schemas.openxmlformats.org/officeDocument/2006/relationships/image" Target="../media/image207.png"/><Relationship Id="rId7" Type="http://schemas.openxmlformats.org/officeDocument/2006/relationships/image" Target="../media/image19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10.png"/><Relationship Id="rId5" Type="http://schemas.openxmlformats.org/officeDocument/2006/relationships/image" Target="../media/image194.png"/><Relationship Id="rId4" Type="http://schemas.openxmlformats.org/officeDocument/2006/relationships/image" Target="../media/image20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06.png"/><Relationship Id="rId1" Type="http://schemas.openxmlformats.org/officeDocument/2006/relationships/slideLayout" Target="../slideLayouts/slideLayout7.xml"/><Relationship Id="rId4" Type="http://schemas.openxmlformats.org/officeDocument/2006/relationships/image" Target="../media/image198.png"/></Relationships>
</file>

<file path=ppt/slides/_rels/slide77.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image" Target="../media/image202.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140.png"/><Relationship Id="rId2" Type="http://schemas.openxmlformats.org/officeDocument/2006/relationships/image" Target="../media/image204.png"/><Relationship Id="rId1" Type="http://schemas.openxmlformats.org/officeDocument/2006/relationships/slideLayout" Target="../slideLayouts/slideLayout7.xml"/><Relationship Id="rId5" Type="http://schemas.openxmlformats.org/officeDocument/2006/relationships/image" Target="../media/image209.png"/><Relationship Id="rId4" Type="http://schemas.openxmlformats.org/officeDocument/2006/relationships/image" Target="../media/image215.png"/></Relationships>
</file>

<file path=ppt/slides/_rels/slide80.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7.png"/><Relationship Id="rId1" Type="http://schemas.openxmlformats.org/officeDocument/2006/relationships/slideLayout" Target="../slideLayouts/slideLayout7.xml"/><Relationship Id="rId4" Type="http://schemas.openxmlformats.org/officeDocument/2006/relationships/image" Target="../media/image212.png"/></Relationships>
</file>

<file path=ppt/slides/_rels/slide81.xml.rels><?xml version="1.0" encoding="UTF-8" standalone="yes"?>
<Relationships xmlns="http://schemas.openxmlformats.org/package/2006/relationships"><Relationship Id="rId8" Type="http://schemas.openxmlformats.org/officeDocument/2006/relationships/image" Target="../media/image231.png"/><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image" Target="../media/image225.png"/><Relationship Id="rId1" Type="http://schemas.openxmlformats.org/officeDocument/2006/relationships/slideLayout" Target="../slideLayouts/slideLayout7.xml"/><Relationship Id="rId6" Type="http://schemas.openxmlformats.org/officeDocument/2006/relationships/image" Target="../media/image223.png"/><Relationship Id="rId5" Type="http://schemas.openxmlformats.org/officeDocument/2006/relationships/image" Target="../media/image228.png"/><Relationship Id="rId4" Type="http://schemas.openxmlformats.org/officeDocument/2006/relationships/image" Target="../media/image227.png"/></Relationships>
</file>

<file path=ppt/slides/_rels/slide82.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4.png"/><Relationship Id="rId1" Type="http://schemas.openxmlformats.org/officeDocument/2006/relationships/slideLayout" Target="../slideLayouts/slideLayout7.xml"/><Relationship Id="rId4" Type="http://schemas.openxmlformats.org/officeDocument/2006/relationships/image" Target="../media/image234.png"/></Relationships>
</file>

<file path=ppt/slides/_rels/slide83.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32.png"/><Relationship Id="rId1" Type="http://schemas.openxmlformats.org/officeDocument/2006/relationships/slideLayout" Target="../slideLayouts/slideLayout7.xml"/><Relationship Id="rId6" Type="http://schemas.openxmlformats.org/officeDocument/2006/relationships/image" Target="../media/image229.png"/><Relationship Id="rId5" Type="http://schemas.openxmlformats.org/officeDocument/2006/relationships/image" Target="../media/image219.png"/><Relationship Id="rId4" Type="http://schemas.openxmlformats.org/officeDocument/2006/relationships/image" Target="../media/image233.png"/></Relationships>
</file>

<file path=ppt/slides/_rels/slide84.xml.rels><?xml version="1.0" encoding="UTF-8" standalone="yes"?>
<Relationships xmlns="http://schemas.openxmlformats.org/package/2006/relationships"><Relationship Id="rId3" Type="http://schemas.openxmlformats.org/officeDocument/2006/relationships/image" Target="../media/image220.png"/><Relationship Id="rId7" Type="http://schemas.openxmlformats.org/officeDocument/2006/relationships/image" Target="../media/image22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40.png"/><Relationship Id="rId4" Type="http://schemas.openxmlformats.org/officeDocument/2006/relationships/image" Target="../media/image238.png"/></Relationships>
</file>

<file path=ppt/slides/_rels/slide85.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37.png"/><Relationship Id="rId5" Type="http://schemas.openxmlformats.org/officeDocument/2006/relationships/image" Target="../media/image243.png"/><Relationship Id="rId4" Type="http://schemas.openxmlformats.org/officeDocument/2006/relationships/image" Target="../media/image242.png"/></Relationships>
</file>

<file path=ppt/slides/_rels/slide86.xml.rels><?xml version="1.0" encoding="UTF-8" standalone="yes"?>
<Relationships xmlns="http://schemas.openxmlformats.org/package/2006/relationships"><Relationship Id="rId2" Type="http://schemas.openxmlformats.org/officeDocument/2006/relationships/image" Target="../media/image222.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24.png"/><Relationship Id="rId5" Type="http://schemas.openxmlformats.org/officeDocument/2006/relationships/image" Target="../media/image247.png"/><Relationship Id="rId4" Type="http://schemas.openxmlformats.org/officeDocument/2006/relationships/image" Target="../media/image246.png"/></Relationships>
</file>

<file path=ppt/slides/_rels/slide88.xml.rels><?xml version="1.0" encoding="UTF-8" standalone="yes"?>
<Relationships xmlns="http://schemas.openxmlformats.org/package/2006/relationships"><Relationship Id="rId8" Type="http://schemas.openxmlformats.org/officeDocument/2006/relationships/image" Target="../media/image253.png"/><Relationship Id="rId3" Type="http://schemas.openxmlformats.org/officeDocument/2006/relationships/image" Target="../media/image235.png"/><Relationship Id="rId7" Type="http://schemas.openxmlformats.org/officeDocument/2006/relationships/image" Target="../media/image25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39.png"/><Relationship Id="rId5" Type="http://schemas.openxmlformats.org/officeDocument/2006/relationships/image" Target="../media/image236.png"/><Relationship Id="rId4" Type="http://schemas.openxmlformats.org/officeDocument/2006/relationships/image" Target="../media/image250.png"/></Relationships>
</file>

<file path=ppt/slides/_rels/slide89.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image" Target="../media/image255.png"/><Relationship Id="rId1" Type="http://schemas.openxmlformats.org/officeDocument/2006/relationships/slideLayout" Target="../slideLayouts/slideLayout7.xml"/><Relationship Id="rId6" Type="http://schemas.openxmlformats.org/officeDocument/2006/relationships/image" Target="../media/image259.png"/><Relationship Id="rId5" Type="http://schemas.openxmlformats.org/officeDocument/2006/relationships/image" Target="../media/image258.png"/><Relationship Id="rId4" Type="http://schemas.openxmlformats.org/officeDocument/2006/relationships/image" Target="../media/image248.png"/></Relationships>
</file>

<file path=ppt/slides/_rels/slide90.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image" Target="../media/image260.png"/><Relationship Id="rId1" Type="http://schemas.openxmlformats.org/officeDocument/2006/relationships/slideLayout" Target="../slideLayouts/slideLayout7.xml"/><Relationship Id="rId4" Type="http://schemas.openxmlformats.org/officeDocument/2006/relationships/image" Target="../media/image262.png"/></Relationships>
</file>

<file path=ppt/slides/_rels/slide91.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3.png"/><Relationship Id="rId1" Type="http://schemas.openxmlformats.org/officeDocument/2006/relationships/slideLayout" Target="../slideLayouts/slideLayout7.xml"/><Relationship Id="rId5" Type="http://schemas.openxmlformats.org/officeDocument/2006/relationships/image" Target="../media/image254.png"/><Relationship Id="rId4" Type="http://schemas.openxmlformats.org/officeDocument/2006/relationships/image" Target="../media/image251.png"/></Relationships>
</file>

<file path=ppt/slides/_rels/slide92.xml.rels><?xml version="1.0" encoding="UTF-8" standalone="yes"?>
<Relationships xmlns="http://schemas.openxmlformats.org/package/2006/relationships"><Relationship Id="rId8" Type="http://schemas.openxmlformats.org/officeDocument/2006/relationships/image" Target="../media/image273.png"/><Relationship Id="rId3" Type="http://schemas.openxmlformats.org/officeDocument/2006/relationships/image" Target="../media/image266.png"/><Relationship Id="rId7" Type="http://schemas.openxmlformats.org/officeDocument/2006/relationships/image" Target="../media/image272.png"/><Relationship Id="rId2" Type="http://schemas.openxmlformats.org/officeDocument/2006/relationships/image" Target="../media/image267.png"/><Relationship Id="rId1" Type="http://schemas.openxmlformats.org/officeDocument/2006/relationships/slideLayout" Target="../slideLayouts/slideLayout7.xml"/><Relationship Id="rId6" Type="http://schemas.openxmlformats.org/officeDocument/2006/relationships/image" Target="../media/image264.png"/><Relationship Id="rId5" Type="http://schemas.openxmlformats.org/officeDocument/2006/relationships/image" Target="../media/image257.png"/><Relationship Id="rId4" Type="http://schemas.openxmlformats.org/officeDocument/2006/relationships/image" Target="../media/image256.png"/></Relationships>
</file>

<file path=ppt/slides/_rels/slide93.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image" Target="../media/image271.png"/><Relationship Id="rId1" Type="http://schemas.openxmlformats.org/officeDocument/2006/relationships/slideLayout" Target="../slideLayouts/slideLayout7.xml"/><Relationship Id="rId5" Type="http://schemas.openxmlformats.org/officeDocument/2006/relationships/image" Target="../media/image268.png"/><Relationship Id="rId4" Type="http://schemas.openxmlformats.org/officeDocument/2006/relationships/image" Target="../media/image265.png"/></Relationships>
</file>

<file path=ppt/slides/_rels/slide94.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69.png"/><Relationship Id="rId5" Type="http://schemas.openxmlformats.org/officeDocument/2006/relationships/image" Target="../media/image280.png"/><Relationship Id="rId4" Type="http://schemas.openxmlformats.org/officeDocument/2006/relationships/image" Target="../media/image279.png"/></Relationships>
</file>

<file path=ppt/slides/_rels/slide95.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270.png"/><Relationship Id="rId1" Type="http://schemas.openxmlformats.org/officeDocument/2006/relationships/slideLayout" Target="../slideLayouts/slideLayout7.xml"/><Relationship Id="rId5" Type="http://schemas.openxmlformats.org/officeDocument/2006/relationships/image" Target="../media/image285.png"/><Relationship Id="rId4" Type="http://schemas.openxmlformats.org/officeDocument/2006/relationships/image" Target="../media/image282.png"/></Relationships>
</file>

<file path=ppt/slides/_rels/slide96.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image" Target="../media/image286.png"/><Relationship Id="rId1" Type="http://schemas.openxmlformats.org/officeDocument/2006/relationships/slideLayout" Target="../slideLayouts/slideLayout7.xml"/><Relationship Id="rId5" Type="http://schemas.openxmlformats.org/officeDocument/2006/relationships/image" Target="../media/image276.png"/><Relationship Id="rId4" Type="http://schemas.openxmlformats.org/officeDocument/2006/relationships/image" Target="../media/image275.png"/></Relationships>
</file>

<file path=ppt/slides/_rels/slide97.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90.png"/><Relationship Id="rId1" Type="http://schemas.openxmlformats.org/officeDocument/2006/relationships/slideLayout" Target="../slideLayouts/slideLayout7.xml"/><Relationship Id="rId5" Type="http://schemas.openxmlformats.org/officeDocument/2006/relationships/image" Target="../media/image281.png"/><Relationship Id="rId4" Type="http://schemas.openxmlformats.org/officeDocument/2006/relationships/image" Target="../media/image277.png"/></Relationships>
</file>

<file path=ppt/slides/_rels/slide98.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7.xml"/><Relationship Id="rId5" Type="http://schemas.openxmlformats.org/officeDocument/2006/relationships/image" Target="../media/image284.png"/><Relationship Id="rId4" Type="http://schemas.openxmlformats.org/officeDocument/2006/relationships/image" Target="../media/image283.png"/></Relationships>
</file>

<file path=ppt/slides/_rels/slide99.xml.rels><?xml version="1.0" encoding="UTF-8" standalone="yes"?>
<Relationships xmlns="http://schemas.openxmlformats.org/package/2006/relationships"><Relationship Id="rId2" Type="http://schemas.openxmlformats.org/officeDocument/2006/relationships/image" Target="../media/image288.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2970.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image" Target="../media/image298.png"/><Relationship Id="rId1" Type="http://schemas.openxmlformats.org/officeDocument/2006/relationships/slideLayout" Target="../slideLayouts/slideLayout7.xml"/><Relationship Id="rId6" Type="http://schemas.openxmlformats.org/officeDocument/2006/relationships/image" Target="../media/image289.png"/><Relationship Id="rId5" Type="http://schemas.openxmlformats.org/officeDocument/2006/relationships/image" Target="../media/image301.png"/><Relationship Id="rId4" Type="http://schemas.openxmlformats.org/officeDocument/2006/relationships/image" Target="../media/image300.png"/></Relationships>
</file>

<file path=ppt/slides/_rels/slide103.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292.png"/><Relationship Id="rId1" Type="http://schemas.openxmlformats.org/officeDocument/2006/relationships/slideLayout" Target="../slideLayouts/slideLayout7.xml"/><Relationship Id="rId6" Type="http://schemas.openxmlformats.org/officeDocument/2006/relationships/image" Target="../media/image307.png"/><Relationship Id="rId5" Type="http://schemas.openxmlformats.org/officeDocument/2006/relationships/image" Target="../media/image306.png"/><Relationship Id="rId4" Type="http://schemas.openxmlformats.org/officeDocument/2006/relationships/image" Target="../media/image293.png"/></Relationships>
</file>

<file path=ppt/slides/_rels/slide104.xml.rels><?xml version="1.0" encoding="UTF-8" standalone="yes"?>
<Relationships xmlns="http://schemas.openxmlformats.org/package/2006/relationships"><Relationship Id="rId3" Type="http://schemas.openxmlformats.org/officeDocument/2006/relationships/image" Target="../media/image296.png"/><Relationship Id="rId2" Type="http://schemas.openxmlformats.org/officeDocument/2006/relationships/image" Target="../media/image308.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297.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8" Type="http://schemas.openxmlformats.org/officeDocument/2006/relationships/image" Target="../media/image313.png"/><Relationship Id="rId3" Type="http://schemas.openxmlformats.org/officeDocument/2006/relationships/image" Target="../media/image303.png"/><Relationship Id="rId7" Type="http://schemas.openxmlformats.org/officeDocument/2006/relationships/image" Target="../media/image312.png"/><Relationship Id="rId12" Type="http://schemas.openxmlformats.org/officeDocument/2006/relationships/image" Target="../media/image1620.png"/><Relationship Id="rId2" Type="http://schemas.openxmlformats.org/officeDocument/2006/relationships/image" Target="../media/image302.png"/><Relationship Id="rId1" Type="http://schemas.openxmlformats.org/officeDocument/2006/relationships/slideLayout" Target="../slideLayouts/slideLayout7.xml"/><Relationship Id="rId6" Type="http://schemas.openxmlformats.org/officeDocument/2006/relationships/image" Target="../media/image311.png"/><Relationship Id="rId11" Type="http://schemas.openxmlformats.org/officeDocument/2006/relationships/image" Target="../media/image1610.png"/><Relationship Id="rId5" Type="http://schemas.openxmlformats.org/officeDocument/2006/relationships/image" Target="../media/image309.png"/><Relationship Id="rId10" Type="http://schemas.openxmlformats.org/officeDocument/2006/relationships/image" Target="../media/image1600.png"/><Relationship Id="rId4" Type="http://schemas.openxmlformats.org/officeDocument/2006/relationships/image" Target="../media/image305.png"/><Relationship Id="rId9" Type="http://schemas.openxmlformats.org/officeDocument/2006/relationships/image" Target="../media/image1590.png"/></Relationships>
</file>

<file path=ppt/slides/_rels/slide108.xml.rels><?xml version="1.0" encoding="UTF-8" standalone="yes"?>
<Relationships xmlns="http://schemas.openxmlformats.org/package/2006/relationships"><Relationship Id="rId3" Type="http://schemas.openxmlformats.org/officeDocument/2006/relationships/image" Target="../media/image1600.png"/><Relationship Id="rId2" Type="http://schemas.openxmlformats.org/officeDocument/2006/relationships/image" Target="../media/image1590.png"/><Relationship Id="rId1" Type="http://schemas.openxmlformats.org/officeDocument/2006/relationships/slideLayout" Target="../slideLayouts/slideLayout7.xml"/><Relationship Id="rId5" Type="http://schemas.openxmlformats.org/officeDocument/2006/relationships/image" Target="../media/image3170.png"/><Relationship Id="rId4" Type="http://schemas.openxmlformats.org/officeDocument/2006/relationships/image" Target="../media/image314.png"/></Relationships>
</file>

<file path=ppt/slides/_rels/slide109.xml.rels><?xml version="1.0" encoding="UTF-8" standalone="yes"?>
<Relationships xmlns="http://schemas.openxmlformats.org/package/2006/relationships"><Relationship Id="rId3" Type="http://schemas.openxmlformats.org/officeDocument/2006/relationships/image" Target="../media/image3190.png"/><Relationship Id="rId2" Type="http://schemas.openxmlformats.org/officeDocument/2006/relationships/image" Target="../media/image315.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316.png"/><Relationship Id="rId1" Type="http://schemas.openxmlformats.org/officeDocument/2006/relationships/slideLayout" Target="../slideLayouts/slideLayout7.xml"/><Relationship Id="rId4" Type="http://schemas.openxmlformats.org/officeDocument/2006/relationships/image" Target="../media/image322.png"/></Relationships>
</file>

<file path=ppt/slides/_rels/slide111.xml.rels><?xml version="1.0" encoding="UTF-8" standalone="yes"?>
<Relationships xmlns="http://schemas.openxmlformats.org/package/2006/relationships"><Relationship Id="rId3" Type="http://schemas.openxmlformats.org/officeDocument/2006/relationships/image" Target="../media/image318.png"/><Relationship Id="rId7" Type="http://schemas.openxmlformats.org/officeDocument/2006/relationships/image" Target="../media/image1730.png"/><Relationship Id="rId2" Type="http://schemas.openxmlformats.org/officeDocument/2006/relationships/image" Target="../media/image317.png"/><Relationship Id="rId1" Type="http://schemas.openxmlformats.org/officeDocument/2006/relationships/slideLayout" Target="../slideLayouts/slideLayout7.xml"/><Relationship Id="rId6" Type="http://schemas.openxmlformats.org/officeDocument/2006/relationships/image" Target="../media/image1720.png"/><Relationship Id="rId5" Type="http://schemas.openxmlformats.org/officeDocument/2006/relationships/image" Target="../media/image1710.png"/><Relationship Id="rId4" Type="http://schemas.openxmlformats.org/officeDocument/2006/relationships/image" Target="../media/image31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1737360"/>
          </a:xfrm>
          <a:prstGeom prst="rect">
            <a:avLst/>
          </a:prstGeom>
          <a:solidFill>
            <a:srgbClr val="1A386B"/>
          </a:solidFill>
          <a:ln w="12700">
            <a:solidFill>
              <a:srgbClr val="1A386B"/>
            </a:solidFill>
            <a:prstDash val="solid"/>
          </a:ln>
        </p:spPr>
      </p:sp>
      <p:sp>
        <p:nvSpPr>
          <p:cNvPr id="3" name="Shape 1"/>
          <p:cNvSpPr/>
          <p:nvPr/>
        </p:nvSpPr>
        <p:spPr>
          <a:xfrm>
            <a:off x="0" y="1737360"/>
            <a:ext cx="12192000" cy="73152"/>
          </a:xfrm>
          <a:prstGeom prst="rect">
            <a:avLst/>
          </a:prstGeom>
          <a:solidFill>
            <a:srgbClr val="C0392B"/>
          </a:solidFill>
          <a:ln w="12700">
            <a:solidFill>
              <a:srgbClr val="C0392B"/>
            </a:solidFill>
            <a:prstDash val="solid"/>
          </a:ln>
        </p:spPr>
      </p:sp>
      <p:sp>
        <p:nvSpPr>
          <p:cNvPr id="4" name="Shape 2"/>
          <p:cNvSpPr/>
          <p:nvPr/>
        </p:nvSpPr>
        <p:spPr>
          <a:xfrm>
            <a:off x="0" y="5852160"/>
            <a:ext cx="12192000" cy="1005840"/>
          </a:xfrm>
          <a:prstGeom prst="rect">
            <a:avLst/>
          </a:prstGeom>
          <a:solidFill>
            <a:srgbClr val="1A386B"/>
          </a:solidFill>
          <a:ln w="12700">
            <a:solidFill>
              <a:srgbClr val="1A386B"/>
            </a:solidFill>
            <a:prstDash val="solid"/>
          </a:ln>
        </p:spPr>
      </p:sp>
      <p:sp>
        <p:nvSpPr>
          <p:cNvPr id="5" name="Text 3"/>
          <p:cNvSpPr/>
          <p:nvPr/>
        </p:nvSpPr>
        <p:spPr>
          <a:xfrm>
            <a:off x="457200" y="91440"/>
            <a:ext cx="11247120" cy="502920"/>
          </a:xfrm>
          <a:prstGeom prst="rect">
            <a:avLst/>
          </a:prstGeom>
          <a:noFill/>
          <a:ln/>
        </p:spPr>
        <p:txBody>
          <a:bodyPr wrap="square" rtlCol="0" anchor="ctr"/>
          <a:lstStyle/>
          <a:p>
            <a:pPr marL="0" indent="0" algn="ctr">
              <a:buNone/>
            </a:pPr>
            <a:r>
              <a:rPr lang="en-US" sz="1500" dirty="0">
                <a:solidFill>
                  <a:srgbClr val="9EC5F5"/>
                </a:solidFill>
                <a:latin typeface="Calibri" pitchFamily="34" charset="0"/>
                <a:ea typeface="Calibri" pitchFamily="34" charset="-122"/>
                <a:cs typeface="Calibri" pitchFamily="34" charset="-120"/>
              </a:rPr>
              <a:t>Automática y Máquinas Eléctricas</a:t>
            </a:r>
            <a:endParaRPr lang="en-US" sz="1500" dirty="0"/>
          </a:p>
        </p:txBody>
      </p:sp>
      <p:sp>
        <p:nvSpPr>
          <p:cNvPr id="6" name="Text 4"/>
          <p:cNvSpPr/>
          <p:nvPr/>
        </p:nvSpPr>
        <p:spPr>
          <a:xfrm>
            <a:off x="457200" y="566928"/>
            <a:ext cx="11247120" cy="594360"/>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Proyecto Global Integrador — 2025</a:t>
            </a:r>
            <a:endParaRPr lang="en-US" sz="2300" dirty="0"/>
          </a:p>
        </p:txBody>
      </p:sp>
      <p:sp>
        <p:nvSpPr>
          <p:cNvPr id="7" name="Text 5"/>
          <p:cNvSpPr/>
          <p:nvPr/>
        </p:nvSpPr>
        <p:spPr>
          <a:xfrm>
            <a:off x="457200" y="1133856"/>
            <a:ext cx="11247120" cy="502920"/>
          </a:xfrm>
          <a:prstGeom prst="rect">
            <a:avLst/>
          </a:prstGeom>
          <a:noFill/>
          <a:ln/>
        </p:spPr>
        <p:txBody>
          <a:bodyPr wrap="square" rtlCol="0" anchor="ctr"/>
          <a:lstStyle/>
          <a:p>
            <a:pPr marL="0" indent="0" algn="ctr">
              <a:buNone/>
            </a:pPr>
            <a:r>
              <a:rPr lang="en-US" sz="1400" dirty="0">
                <a:solidFill>
                  <a:srgbClr val="B0CBEE"/>
                </a:solidFill>
                <a:latin typeface="Calibri" pitchFamily="34" charset="0"/>
                <a:ea typeface="Calibri" pitchFamily="34" charset="-122"/>
                <a:cs typeface="Calibri" pitchFamily="34" charset="-120"/>
              </a:rPr>
              <a:t>UNCuyo — Ingeniería en Mecatrónica</a:t>
            </a:r>
            <a:endParaRPr lang="en-US" sz="1400" dirty="0"/>
          </a:p>
        </p:txBody>
      </p:sp>
      <p:sp>
        <p:nvSpPr>
          <p:cNvPr id="8" name="Text 6"/>
          <p:cNvSpPr/>
          <p:nvPr/>
        </p:nvSpPr>
        <p:spPr>
          <a:xfrm>
            <a:off x="914400" y="2057400"/>
            <a:ext cx="10332720" cy="1828800"/>
          </a:xfrm>
          <a:prstGeom prst="rect">
            <a:avLst/>
          </a:prstGeom>
          <a:noFill/>
          <a:ln/>
        </p:spPr>
        <p:txBody>
          <a:bodyPr wrap="square" rtlCol="0" anchor="ctr"/>
          <a:lstStyle/>
          <a:p>
            <a:pPr marL="0" indent="0" algn="ctr">
              <a:buNone/>
            </a:pPr>
            <a:r>
              <a:rPr lang="en-US" sz="3000" b="1" dirty="0">
                <a:solidFill>
                  <a:srgbClr val="1A386B"/>
                </a:solidFill>
                <a:latin typeface="Cambria" pitchFamily="34" charset="0"/>
                <a:ea typeface="Cambria" pitchFamily="34" charset="-122"/>
                <a:cs typeface="Cambria" pitchFamily="34" charset="-120"/>
              </a:rPr>
              <a:t>Control de Accionamiento de CA con</a:t>
            </a:r>
            <a:endParaRPr lang="en-US" sz="3000" dirty="0"/>
          </a:p>
          <a:p>
            <a:pPr marL="0" indent="0" algn="ctr">
              <a:buNone/>
            </a:pPr>
            <a:r>
              <a:rPr lang="en-US" sz="3000" b="1" dirty="0">
                <a:solidFill>
                  <a:srgbClr val="1A386B"/>
                </a:solidFill>
                <a:latin typeface="Cambria" pitchFamily="34" charset="0"/>
                <a:ea typeface="Cambria" pitchFamily="34" charset="-122"/>
                <a:cs typeface="Cambria" pitchFamily="34" charset="-120"/>
              </a:rPr>
              <a:t>Motor Síncrono de Imanes Permanentes (PMSM)</a:t>
            </a:r>
            <a:endParaRPr lang="en-US" sz="3000" dirty="0"/>
          </a:p>
        </p:txBody>
      </p:sp>
      <p:sp>
        <p:nvSpPr>
          <p:cNvPr id="10" name="Text 8"/>
          <p:cNvSpPr/>
          <p:nvPr/>
        </p:nvSpPr>
        <p:spPr>
          <a:xfrm>
            <a:off x="1371600" y="4114800"/>
            <a:ext cx="9418320" cy="502920"/>
          </a:xfrm>
          <a:prstGeom prst="rect">
            <a:avLst/>
          </a:prstGeom>
          <a:noFill/>
          <a:ln/>
        </p:spPr>
        <p:txBody>
          <a:bodyPr wrap="square" rtlCol="0" anchor="ctr"/>
          <a:lstStyle/>
          <a:p>
            <a:pPr marL="0" indent="0" algn="ctr">
              <a:buNone/>
            </a:pPr>
            <a:r>
              <a:rPr lang="en-US" sz="1600" dirty="0">
                <a:solidFill>
                  <a:srgbClr val="111111"/>
                </a:solidFill>
                <a:latin typeface="Calibri" pitchFamily="34" charset="0"/>
                <a:ea typeface="Calibri" pitchFamily="34" charset="-122"/>
                <a:cs typeface="Calibri" pitchFamily="34" charset="-120"/>
              </a:rPr>
              <a:t>Juan Stella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12552        Juan Francisco Huertas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12620</a:t>
            </a:r>
            <a:endParaRPr lang="en-US" sz="1600" dirty="0"/>
          </a:p>
        </p:txBody>
      </p:sp>
      <p:sp>
        <p:nvSpPr>
          <p:cNvPr id="11" name="Text 9"/>
          <p:cNvSpPr/>
          <p:nvPr/>
        </p:nvSpPr>
        <p:spPr>
          <a:xfrm>
            <a:off x="457200" y="5943600"/>
            <a:ext cx="11247120" cy="64008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Contenidos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Shape 5"/>
          <p:cNvSpPr/>
          <p:nvPr/>
        </p:nvSpPr>
        <p:spPr>
          <a:xfrm>
            <a:off x="365760" y="896112"/>
            <a:ext cx="411480" cy="411480"/>
          </a:xfrm>
          <a:prstGeom prst="ellipse">
            <a:avLst/>
          </a:prstGeom>
          <a:solidFill>
            <a:srgbClr val="1A386B"/>
          </a:solidFill>
          <a:ln w="12700">
            <a:solidFill>
              <a:srgbClr val="1A386B"/>
            </a:solidFill>
            <a:prstDash val="solid"/>
          </a:ln>
        </p:spPr>
      </p:sp>
      <p:sp>
        <p:nvSpPr>
          <p:cNvPr id="8" name="Text 6"/>
          <p:cNvSpPr/>
          <p:nvPr/>
        </p:nvSpPr>
        <p:spPr>
          <a:xfrm>
            <a:off x="36576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45821" y="92354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Presentación del sistema físico</a:t>
            </a:r>
            <a:endParaRPr lang="en-US" sz="1200" dirty="0"/>
          </a:p>
        </p:txBody>
      </p:sp>
      <p:sp>
        <p:nvSpPr>
          <p:cNvPr id="11" name="Shape 9"/>
          <p:cNvSpPr/>
          <p:nvPr/>
        </p:nvSpPr>
        <p:spPr>
          <a:xfrm>
            <a:off x="365760" y="1600200"/>
            <a:ext cx="411480" cy="411480"/>
          </a:xfrm>
          <a:prstGeom prst="ellipse">
            <a:avLst/>
          </a:prstGeom>
          <a:solidFill>
            <a:srgbClr val="1A386B"/>
          </a:solidFill>
          <a:ln w="12700">
            <a:solidFill>
              <a:srgbClr val="1A386B"/>
            </a:solidFill>
            <a:prstDash val="solid"/>
          </a:ln>
        </p:spPr>
      </p:sp>
      <p:sp>
        <p:nvSpPr>
          <p:cNvPr id="12" name="Text 10"/>
          <p:cNvSpPr/>
          <p:nvPr/>
        </p:nvSpPr>
        <p:spPr>
          <a:xfrm>
            <a:off x="36576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45821" y="16322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mecánico</a:t>
            </a:r>
            <a:endParaRPr lang="en-US" sz="1200" dirty="0"/>
          </a:p>
        </p:txBody>
      </p:sp>
      <p:sp>
        <p:nvSpPr>
          <p:cNvPr id="15" name="Shape 13"/>
          <p:cNvSpPr/>
          <p:nvPr/>
        </p:nvSpPr>
        <p:spPr>
          <a:xfrm>
            <a:off x="365760" y="2304288"/>
            <a:ext cx="411480" cy="411480"/>
          </a:xfrm>
          <a:prstGeom prst="ellipse">
            <a:avLst/>
          </a:prstGeom>
          <a:solidFill>
            <a:srgbClr val="1A386B"/>
          </a:solidFill>
          <a:ln w="12700">
            <a:solidFill>
              <a:srgbClr val="1A386B"/>
            </a:solidFill>
            <a:prstDash val="solid"/>
          </a:ln>
        </p:spPr>
      </p:sp>
      <p:sp>
        <p:nvSpPr>
          <p:cNvPr id="16" name="Text 14"/>
          <p:cNvSpPr/>
          <p:nvPr/>
        </p:nvSpPr>
        <p:spPr>
          <a:xfrm>
            <a:off x="36576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845821" y="2350008"/>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electromagnético</a:t>
            </a:r>
            <a:endParaRPr lang="en-US" sz="1200" dirty="0"/>
          </a:p>
        </p:txBody>
      </p:sp>
      <p:sp>
        <p:nvSpPr>
          <p:cNvPr id="19" name="Shape 17"/>
          <p:cNvSpPr/>
          <p:nvPr/>
        </p:nvSpPr>
        <p:spPr>
          <a:xfrm>
            <a:off x="365760" y="3008376"/>
            <a:ext cx="411480" cy="411480"/>
          </a:xfrm>
          <a:prstGeom prst="ellipse">
            <a:avLst/>
          </a:prstGeom>
          <a:solidFill>
            <a:srgbClr val="1A386B"/>
          </a:solidFill>
          <a:ln w="12700">
            <a:solidFill>
              <a:srgbClr val="1A386B"/>
            </a:solidFill>
            <a:prstDash val="solid"/>
          </a:ln>
        </p:spPr>
      </p:sp>
      <p:sp>
        <p:nvSpPr>
          <p:cNvPr id="20" name="Text 18"/>
          <p:cNvSpPr/>
          <p:nvPr/>
        </p:nvSpPr>
        <p:spPr>
          <a:xfrm>
            <a:off x="36576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45821" y="306781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térmico</a:t>
            </a:r>
            <a:endParaRPr lang="en-US" sz="1200" dirty="0"/>
          </a:p>
        </p:txBody>
      </p:sp>
      <p:sp>
        <p:nvSpPr>
          <p:cNvPr id="23" name="Shape 21"/>
          <p:cNvSpPr/>
          <p:nvPr/>
        </p:nvSpPr>
        <p:spPr>
          <a:xfrm>
            <a:off x="365760" y="3712464"/>
            <a:ext cx="411480" cy="411480"/>
          </a:xfrm>
          <a:prstGeom prst="ellipse">
            <a:avLst/>
          </a:prstGeom>
          <a:solidFill>
            <a:srgbClr val="1A386B"/>
          </a:solidFill>
          <a:ln w="12700">
            <a:solidFill>
              <a:srgbClr val="1A386B"/>
            </a:solidFill>
            <a:prstDash val="solid"/>
          </a:ln>
        </p:spPr>
      </p:sp>
      <p:sp>
        <p:nvSpPr>
          <p:cNvPr id="24" name="Text 22"/>
          <p:cNvSpPr/>
          <p:nvPr/>
        </p:nvSpPr>
        <p:spPr>
          <a:xfrm>
            <a:off x="36576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845821" y="3747215"/>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Modelo global NL → LPV → LTI equivalente</a:t>
            </a:r>
            <a:endParaRPr lang="en-US" sz="1200" dirty="0"/>
          </a:p>
        </p:txBody>
      </p:sp>
      <p:sp>
        <p:nvSpPr>
          <p:cNvPr id="27" name="Shape 25"/>
          <p:cNvSpPr/>
          <p:nvPr/>
        </p:nvSpPr>
        <p:spPr>
          <a:xfrm>
            <a:off x="365760" y="4416552"/>
            <a:ext cx="411480" cy="411480"/>
          </a:xfrm>
          <a:prstGeom prst="ellipse">
            <a:avLst/>
          </a:prstGeom>
          <a:solidFill>
            <a:srgbClr val="1A386B"/>
          </a:solidFill>
          <a:ln w="12700">
            <a:solidFill>
              <a:srgbClr val="1A386B"/>
            </a:solidFill>
            <a:prstDash val="solid"/>
          </a:ln>
        </p:spPr>
      </p:sp>
      <p:sp>
        <p:nvSpPr>
          <p:cNvPr id="28" name="Text 26"/>
          <p:cNvSpPr/>
          <p:nvPr/>
        </p:nvSpPr>
        <p:spPr>
          <a:xfrm>
            <a:off x="36576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7"/>
          <p:cNvSpPr/>
          <p:nvPr/>
        </p:nvSpPr>
        <p:spPr>
          <a:xfrm>
            <a:off x="845821" y="446913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Análisis del modelo LTI</a:t>
            </a:r>
            <a:endParaRPr lang="en-US" sz="1200" dirty="0"/>
          </a:p>
        </p:txBody>
      </p:sp>
      <p:sp>
        <p:nvSpPr>
          <p:cNvPr id="31" name="Shape 29"/>
          <p:cNvSpPr/>
          <p:nvPr/>
        </p:nvSpPr>
        <p:spPr>
          <a:xfrm>
            <a:off x="365760" y="5120640"/>
            <a:ext cx="411480" cy="411480"/>
          </a:xfrm>
          <a:prstGeom prst="ellipse">
            <a:avLst/>
          </a:prstGeom>
          <a:solidFill>
            <a:srgbClr val="1A386B"/>
          </a:solidFill>
          <a:ln w="12700">
            <a:solidFill>
              <a:srgbClr val="1A386B"/>
            </a:solidFill>
            <a:prstDash val="solid"/>
          </a:ln>
        </p:spPr>
      </p:sp>
      <p:sp>
        <p:nvSpPr>
          <p:cNvPr id="32" name="Text 30"/>
          <p:cNvSpPr/>
          <p:nvPr/>
        </p:nvSpPr>
        <p:spPr>
          <a:xfrm>
            <a:off x="365760" y="512064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1"/>
          <p:cNvSpPr/>
          <p:nvPr/>
        </p:nvSpPr>
        <p:spPr>
          <a:xfrm>
            <a:off x="845821" y="51755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Respuesta dinámica a lazo abierto</a:t>
            </a:r>
            <a:endParaRPr lang="en-US" sz="1200" dirty="0"/>
          </a:p>
        </p:txBody>
      </p:sp>
      <p:sp>
        <p:nvSpPr>
          <p:cNvPr id="35" name="Shape 33"/>
          <p:cNvSpPr/>
          <p:nvPr/>
        </p:nvSpPr>
        <p:spPr>
          <a:xfrm>
            <a:off x="6355080" y="896112"/>
            <a:ext cx="411480" cy="411480"/>
          </a:xfrm>
          <a:prstGeom prst="ellipse">
            <a:avLst/>
          </a:prstGeom>
          <a:solidFill>
            <a:srgbClr val="1A386B"/>
          </a:solidFill>
          <a:ln w="12700">
            <a:solidFill>
              <a:srgbClr val="1A386B"/>
            </a:solidFill>
            <a:prstDash val="solid"/>
          </a:ln>
        </p:spPr>
      </p:sp>
      <p:sp>
        <p:nvSpPr>
          <p:cNvPr id="36" name="Text 34"/>
          <p:cNvSpPr/>
          <p:nvPr/>
        </p:nvSpPr>
        <p:spPr>
          <a:xfrm>
            <a:off x="635508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5"/>
          <p:cNvSpPr/>
          <p:nvPr/>
        </p:nvSpPr>
        <p:spPr>
          <a:xfrm>
            <a:off x="6858000" y="87871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Modulador de torque equivalente</a:t>
            </a:r>
            <a:endParaRPr lang="en-US" sz="1200" dirty="0"/>
          </a:p>
        </p:txBody>
      </p:sp>
      <p:sp>
        <p:nvSpPr>
          <p:cNvPr id="39" name="Shape 37"/>
          <p:cNvSpPr/>
          <p:nvPr/>
        </p:nvSpPr>
        <p:spPr>
          <a:xfrm>
            <a:off x="6355080" y="1600200"/>
            <a:ext cx="411480" cy="411480"/>
          </a:xfrm>
          <a:prstGeom prst="ellipse">
            <a:avLst/>
          </a:prstGeom>
          <a:solidFill>
            <a:srgbClr val="1A386B"/>
          </a:solidFill>
          <a:ln w="12700">
            <a:solidFill>
              <a:srgbClr val="1A386B"/>
            </a:solidFill>
            <a:prstDash val="solid"/>
          </a:ln>
        </p:spPr>
      </p:sp>
      <p:sp>
        <p:nvSpPr>
          <p:cNvPr id="40" name="Text 38"/>
          <p:cNvSpPr/>
          <p:nvPr/>
        </p:nvSpPr>
        <p:spPr>
          <a:xfrm>
            <a:off x="635508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9"/>
          <p:cNvSpPr/>
          <p:nvPr/>
        </p:nvSpPr>
        <p:spPr>
          <a:xfrm>
            <a:off x="6858000" y="1585687"/>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Controlador externo PID + Observador</a:t>
            </a:r>
            <a:endParaRPr lang="en-US" sz="1200" dirty="0"/>
          </a:p>
        </p:txBody>
      </p:sp>
      <p:sp>
        <p:nvSpPr>
          <p:cNvPr id="43" name="Shape 41"/>
          <p:cNvSpPr/>
          <p:nvPr/>
        </p:nvSpPr>
        <p:spPr>
          <a:xfrm>
            <a:off x="6355080" y="2304288"/>
            <a:ext cx="411480" cy="411480"/>
          </a:xfrm>
          <a:prstGeom prst="ellipse">
            <a:avLst/>
          </a:prstGeom>
          <a:solidFill>
            <a:srgbClr val="1A386B"/>
          </a:solidFill>
          <a:ln w="12700">
            <a:solidFill>
              <a:srgbClr val="1A386B"/>
            </a:solidFill>
            <a:prstDash val="solid"/>
          </a:ln>
        </p:spPr>
      </p:sp>
      <p:sp>
        <p:nvSpPr>
          <p:cNvPr id="44" name="Text 42"/>
          <p:cNvSpPr/>
          <p:nvPr/>
        </p:nvSpPr>
        <p:spPr>
          <a:xfrm>
            <a:off x="635508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3"/>
          <p:cNvSpPr/>
          <p:nvPr/>
        </p:nvSpPr>
        <p:spPr>
          <a:xfrm>
            <a:off x="6858000" y="2349211"/>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Simulación en tiempo continuo</a:t>
            </a:r>
            <a:endParaRPr lang="en-US" sz="1200" dirty="0"/>
          </a:p>
        </p:txBody>
      </p:sp>
      <p:sp>
        <p:nvSpPr>
          <p:cNvPr id="47" name="Shape 45"/>
          <p:cNvSpPr/>
          <p:nvPr/>
        </p:nvSpPr>
        <p:spPr>
          <a:xfrm>
            <a:off x="6355080" y="3008376"/>
            <a:ext cx="411480" cy="411480"/>
          </a:xfrm>
          <a:prstGeom prst="ellipse">
            <a:avLst/>
          </a:prstGeom>
          <a:solidFill>
            <a:srgbClr val="1A386B"/>
          </a:solidFill>
          <a:ln w="12700">
            <a:solidFill>
              <a:srgbClr val="1A386B"/>
            </a:solidFill>
            <a:prstDash val="solid"/>
          </a:ln>
        </p:spPr>
      </p:sp>
      <p:sp>
        <p:nvSpPr>
          <p:cNvPr id="48" name="Text 46"/>
          <p:cNvSpPr/>
          <p:nvPr/>
        </p:nvSpPr>
        <p:spPr>
          <a:xfrm>
            <a:off x="635508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9" name="Text 47"/>
          <p:cNvSpPr/>
          <p:nvPr/>
        </p:nvSpPr>
        <p:spPr>
          <a:xfrm>
            <a:off x="6858000" y="301889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Desempeño y mejoras</a:t>
            </a:r>
            <a:endParaRPr lang="en-US" sz="1200" dirty="0"/>
          </a:p>
        </p:txBody>
      </p:sp>
      <p:sp>
        <p:nvSpPr>
          <p:cNvPr id="51" name="Shape 49"/>
          <p:cNvSpPr/>
          <p:nvPr/>
        </p:nvSpPr>
        <p:spPr>
          <a:xfrm>
            <a:off x="6355080" y="3712464"/>
            <a:ext cx="411480" cy="411480"/>
          </a:xfrm>
          <a:prstGeom prst="ellipse">
            <a:avLst/>
          </a:prstGeom>
          <a:solidFill>
            <a:srgbClr val="1A386B"/>
          </a:solidFill>
          <a:ln w="12700">
            <a:solidFill>
              <a:srgbClr val="1A386B"/>
            </a:solidFill>
            <a:prstDash val="solid"/>
          </a:ln>
        </p:spPr>
      </p:sp>
      <p:sp>
        <p:nvSpPr>
          <p:cNvPr id="52" name="Text 50"/>
          <p:cNvSpPr/>
          <p:nvPr/>
        </p:nvSpPr>
        <p:spPr>
          <a:xfrm>
            <a:off x="635508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3" name="Text 51"/>
          <p:cNvSpPr/>
          <p:nvPr/>
        </p:nvSpPr>
        <p:spPr>
          <a:xfrm>
            <a:off x="6858000" y="3747215"/>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Diseño final y discretización </a:t>
            </a:r>
            <a:endParaRPr lang="es-AR" sz="1200" dirty="0"/>
          </a:p>
        </p:txBody>
      </p:sp>
      <p:sp>
        <p:nvSpPr>
          <p:cNvPr id="55" name="Shape 53"/>
          <p:cNvSpPr/>
          <p:nvPr/>
        </p:nvSpPr>
        <p:spPr>
          <a:xfrm>
            <a:off x="6355080" y="4416552"/>
            <a:ext cx="411480" cy="411480"/>
          </a:xfrm>
          <a:prstGeom prst="ellipse">
            <a:avLst/>
          </a:prstGeom>
          <a:solidFill>
            <a:srgbClr val="1A386B"/>
          </a:solidFill>
          <a:ln w="12700">
            <a:solidFill>
              <a:srgbClr val="1A386B"/>
            </a:solidFill>
            <a:prstDash val="solid"/>
          </a:ln>
        </p:spPr>
      </p:sp>
      <p:sp>
        <p:nvSpPr>
          <p:cNvPr id="56" name="Text 54"/>
          <p:cNvSpPr/>
          <p:nvPr/>
        </p:nvSpPr>
        <p:spPr>
          <a:xfrm>
            <a:off x="635508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57" name="Text 55"/>
          <p:cNvSpPr/>
          <p:nvPr/>
        </p:nvSpPr>
        <p:spPr>
          <a:xfrm>
            <a:off x="6858000" y="4455241"/>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Codificación</a:t>
            </a:r>
            <a:r>
              <a:rPr lang="en-US" sz="1200" b="1" dirty="0">
                <a:solidFill>
                  <a:srgbClr val="1A386B"/>
                </a:solidFill>
                <a:latin typeface="Calibri" pitchFamily="34" charset="0"/>
                <a:ea typeface="Calibri" pitchFamily="34" charset="-122"/>
                <a:cs typeface="Calibri" pitchFamily="34" charset="-120"/>
              </a:rPr>
              <a:t> </a:t>
            </a:r>
            <a:endParaRPr lang="en-US" sz="1200" dirty="0"/>
          </a:p>
        </p:txBody>
      </p:sp>
      <p:sp>
        <p:nvSpPr>
          <p:cNvPr id="58" name="Shape 56"/>
          <p:cNvSpPr/>
          <p:nvPr/>
        </p:nvSpPr>
        <p:spPr>
          <a:xfrm>
            <a:off x="6126480" y="777240"/>
            <a:ext cx="0" cy="5303520"/>
          </a:xfrm>
          <a:prstGeom prst="line">
            <a:avLst/>
          </a:prstGeom>
          <a:noFill/>
          <a:ln w="12700">
            <a:solidFill>
              <a:srgbClr val="C0C8D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9200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Presentación del sistema físico</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1B0CE61A-FC5B-45C3-A219-99BBA00CBA13}"/>
              </a:ext>
            </a:extLst>
          </p:cNvPr>
          <p:cNvPicPr>
            <a:picLocks noChangeAspect="1"/>
          </p:cNvPicPr>
          <p:nvPr/>
        </p:nvPicPr>
        <p:blipFill>
          <a:blip r:embed="rId2"/>
          <a:stretch>
            <a:fillRect/>
          </a:stretch>
        </p:blipFill>
        <p:spPr>
          <a:xfrm>
            <a:off x="9527960" y="1537461"/>
            <a:ext cx="2267800" cy="1487560"/>
          </a:xfrm>
          <a:prstGeom prst="rect">
            <a:avLst/>
          </a:prstGeom>
        </p:spPr>
      </p:pic>
      <p:pic>
        <p:nvPicPr>
          <p:cNvPr id="17" name="Imagen 16">
            <a:extLst>
              <a:ext uri="{FF2B5EF4-FFF2-40B4-BE49-F238E27FC236}">
                <a16:creationId xmlns:a16="http://schemas.microsoft.com/office/drawing/2014/main" id="{BE8F19BD-15C2-416B-8492-42E6BB338E60}"/>
              </a:ext>
            </a:extLst>
          </p:cNvPr>
          <p:cNvPicPr>
            <a:picLocks noChangeAspect="1"/>
          </p:cNvPicPr>
          <p:nvPr/>
        </p:nvPicPr>
        <p:blipFill>
          <a:blip r:embed="rId3"/>
          <a:stretch>
            <a:fillRect/>
          </a:stretch>
        </p:blipFill>
        <p:spPr>
          <a:xfrm>
            <a:off x="4243526" y="1597480"/>
            <a:ext cx="2014399" cy="2014399"/>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Partes del accionamiento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Máquina Eléctrica PMSM</a:t>
            </a:r>
            <a:endParaRPr lang="en-US" sz="1400" dirty="0"/>
          </a:p>
        </p:txBody>
      </p:sp>
      <p:sp>
        <p:nvSpPr>
          <p:cNvPr id="8" name="Text 6"/>
          <p:cNvSpPr/>
          <p:nvPr/>
        </p:nvSpPr>
        <p:spPr>
          <a:xfrm>
            <a:off x="365760" y="1170432"/>
            <a:ext cx="530352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Estator simétrico y equilibrado — bornes de fase abc accesibles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Conexión estrella con neutro flotante (no accesible)</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Excitación por imanes permanentes en el rotor</a:t>
            </a:r>
            <a:endParaRPr lang="en-US" sz="1300" dirty="0"/>
          </a:p>
        </p:txBody>
      </p:sp>
      <p:sp>
        <p:nvSpPr>
          <p:cNvPr id="9" name="Text 7"/>
          <p:cNvSpPr/>
          <p:nvPr/>
        </p:nvSpPr>
        <p:spPr>
          <a:xfrm>
            <a:off x="411333" y="3406902"/>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Carga Mecánica</a:t>
            </a:r>
            <a:endParaRPr lang="en-US" sz="1400" dirty="0"/>
          </a:p>
        </p:txBody>
      </p:sp>
      <mc:AlternateContent xmlns:mc="http://schemas.openxmlformats.org/markup-compatibility/2006" xmlns:a14="http://schemas.microsoft.com/office/drawing/2010/main">
        <mc:Choice Requires="a14">
          <p:sp>
            <p:nvSpPr>
              <p:cNvPr id="10" name="Text 8"/>
              <p:cNvSpPr/>
              <p:nvPr/>
            </p:nvSpPr>
            <p:spPr>
              <a:xfrm>
                <a:off x="411332" y="3792093"/>
                <a:ext cx="5684667" cy="155448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Brazo manipulador robótico de 1 GDL (articulación rotacional)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Eje horizontal sometido a acción de la gravedad</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Masa del brazo m = 1 kg  |  Carga útil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𝑚</m:t>
                        </m:r>
                      </m:e>
                      <m:sub>
                        <m:r>
                          <a:rPr lang="es-AR" sz="1300" b="0" i="1" smtClean="0">
                            <a:effectLst/>
                            <a:latin typeface="Cambria Math" panose="02040503050406030204" pitchFamily="18" charset="0"/>
                          </a:rPr>
                          <m:t>𝑙</m:t>
                        </m:r>
                      </m:sub>
                    </m:sSub>
                  </m:oMath>
                </a14:m>
                <a:r>
                  <a:rPr lang="en-US" sz="1300" dirty="0">
                    <a:solidFill>
                      <a:srgbClr val="111111"/>
                    </a:solidFill>
                    <a:latin typeface="Calibri" pitchFamily="34" charset="0"/>
                    <a:ea typeface="Calibri" pitchFamily="34" charset="-122"/>
                    <a:cs typeface="Calibri" pitchFamily="34" charset="-120"/>
                  </a:rPr>
                  <a:t> ∈ [0, 1.5] kg</a:t>
                </a:r>
                <a:endParaRPr lang="en-US" sz="1300" dirty="0"/>
              </a:p>
              <a:p>
                <a:pPr marL="342900" indent="-342900">
                  <a:buSzPct val="100000"/>
                  <a:buChar char="•"/>
                </a:pPr>
                <a:r>
                  <a:rPr lang="es-AR" sz="1300" dirty="0">
                    <a:solidFill>
                      <a:srgbClr val="111111"/>
                    </a:solidFill>
                    <a:latin typeface="Calibri" pitchFamily="34" charset="0"/>
                    <a:ea typeface="Calibri" pitchFamily="34" charset="-122"/>
                    <a:cs typeface="Calibri" pitchFamily="34" charset="-120"/>
                  </a:rPr>
                  <a:t>Posición q(t) ≡ </a:t>
                </a:r>
                <a14:m>
                  <m:oMath xmlns:m="http://schemas.openxmlformats.org/officeDocument/2006/math">
                    <m:sSub>
                      <m:sSubPr>
                        <m:ctrlPr>
                          <a:rPr lang="es-AR" sz="1300" i="1" smtClean="0">
                            <a:effectLst/>
                            <a:latin typeface="Cambria Math" panose="02040503050406030204" pitchFamily="18" charset="0"/>
                          </a:rPr>
                        </m:ctrlPr>
                      </m:sSubPr>
                      <m:e>
                        <m:r>
                          <a:rPr lang="es-AR" sz="1300" i="1" smtClean="0">
                            <a:effectLst/>
                            <a:latin typeface="Cambria Math" panose="02040503050406030204" pitchFamily="18" charset="0"/>
                            <a:ea typeface="Cambria Math" panose="02040503050406030204" pitchFamily="18" charset="0"/>
                          </a:rPr>
                          <m:t>𝜃</m:t>
                        </m:r>
                      </m:e>
                      <m:sub>
                        <m:r>
                          <a:rPr lang="es-AR" sz="1300" b="0" i="1" smtClean="0">
                            <a:effectLst/>
                            <a:latin typeface="Cambria Math" panose="02040503050406030204" pitchFamily="18" charset="0"/>
                          </a:rPr>
                          <m:t>𝑙</m:t>
                        </m:r>
                      </m:sub>
                    </m:sSub>
                    <m:r>
                      <a:rPr lang="es-AR" sz="1300" b="0" i="1" smtClean="0">
                        <a:effectLst/>
                        <a:latin typeface="Cambria Math" panose="02040503050406030204" pitchFamily="18" charset="0"/>
                      </a:rPr>
                      <m:t> </m:t>
                    </m:r>
                  </m:oMath>
                </a14:m>
                <a:r>
                  <a:rPr lang="es-AR" sz="1300" dirty="0">
                    <a:solidFill>
                      <a:srgbClr val="111111"/>
                    </a:solidFill>
                    <a:latin typeface="Calibri" pitchFamily="34" charset="0"/>
                    <a:ea typeface="Calibri" pitchFamily="34" charset="-122"/>
                    <a:cs typeface="Calibri" pitchFamily="34" charset="-120"/>
                  </a:rPr>
                  <a:t>(t) medida desde vertical, positivo en sentido antihorario</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411332" y="3792093"/>
                <a:ext cx="5684667" cy="1554480"/>
              </a:xfrm>
              <a:prstGeom prst="rect">
                <a:avLst/>
              </a:prstGeom>
              <a:blipFill>
                <a:blip r:embed="rId4"/>
                <a:stretch>
                  <a:fillRect l="-214" t="-784"/>
                </a:stretch>
              </a:blipFill>
              <a:ln/>
            </p:spPr>
            <p:txBody>
              <a:bodyPr/>
              <a:lstStyle/>
              <a:p>
                <a:r>
                  <a:rPr lang="es-AR">
                    <a:noFill/>
                  </a:rPr>
                  <a:t> </a:t>
                </a:r>
              </a:p>
            </p:txBody>
          </p:sp>
        </mc:Fallback>
      </mc:AlternateContent>
      <p:sp>
        <p:nvSpPr>
          <p:cNvPr id="11" name="Text 9"/>
          <p:cNvSpPr/>
          <p:nvPr/>
        </p:nvSpPr>
        <p:spPr>
          <a:xfrm>
            <a:off x="6400800" y="777240"/>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planetaria</a:t>
            </a:r>
            <a:endParaRPr lang="en-US" sz="1400" dirty="0"/>
          </a:p>
        </p:txBody>
      </p:sp>
      <p:sp>
        <p:nvSpPr>
          <p:cNvPr id="12" name="Text 10"/>
          <p:cNvSpPr/>
          <p:nvPr/>
        </p:nvSpPr>
        <p:spPr>
          <a:xfrm>
            <a:off x="6400800" y="1170432"/>
            <a:ext cx="539496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Relación de reducción r = 120:1</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Inercia y pérdidas internas reflejadas al eje del motor</a:t>
            </a:r>
            <a:endParaRPr lang="en-US" sz="1300" dirty="0"/>
          </a:p>
        </p:txBody>
      </p:sp>
      <p:sp>
        <p:nvSpPr>
          <p:cNvPr id="13" name="Text 11"/>
          <p:cNvSpPr/>
          <p:nvPr/>
        </p:nvSpPr>
        <p:spPr>
          <a:xfrm>
            <a:off x="6400800" y="3324987"/>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Inversor trifásico de 4 cuadrantes</a:t>
            </a:r>
            <a:endParaRPr lang="en-US" sz="1400" dirty="0"/>
          </a:p>
        </p:txBody>
      </p:sp>
      <mc:AlternateContent xmlns:mc="http://schemas.openxmlformats.org/markup-compatibility/2006" xmlns:a14="http://schemas.microsoft.com/office/drawing/2010/main">
        <mc:Choice Requires="a14">
          <p:sp>
            <p:nvSpPr>
              <p:cNvPr id="14" name="Text 12"/>
              <p:cNvSpPr/>
              <p:nvPr/>
            </p:nvSpPr>
            <p:spPr>
              <a:xfrm>
                <a:off x="6385707" y="3683508"/>
                <a:ext cx="5394960" cy="192024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Fuente ideal de CC + puente trifásico PWM</a:t>
                </a:r>
                <a:endParaRPr lang="en-US" sz="1300" dirty="0"/>
              </a:p>
              <a:p>
                <a:pPr marL="342900" indent="-342900">
                  <a:buSzPct val="100000"/>
                  <a:buChar char="•"/>
                </a:pPr>
                <a:r>
                  <a:rPr lang="en-US" sz="1300" dirty="0" err="1">
                    <a:solidFill>
                      <a:srgbClr val="111111"/>
                    </a:solidFill>
                    <a:latin typeface="Calibri" pitchFamily="34" charset="0"/>
                    <a:ea typeface="Calibri" pitchFamily="34" charset="-122"/>
                    <a:cs typeface="Calibri" pitchFamily="34" charset="-120"/>
                  </a:rPr>
                  <a:t>Parámetros</a:t>
                </a:r>
                <a:r>
                  <a:rPr lang="en-US" sz="1300" dirty="0">
                    <a:solidFill>
                      <a:srgbClr val="111111"/>
                    </a:solidFill>
                    <a:latin typeface="Calibri" pitchFamily="34" charset="0"/>
                    <a:ea typeface="Calibri" pitchFamily="34" charset="-122"/>
                    <a:cs typeface="Calibri" pitchFamily="34" charset="-120"/>
                  </a:rPr>
                  <a:t> ajustables: módulo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r>
                      <a:rPr lang="es-MX" sz="1300" b="0" i="1" smtClean="0">
                        <a:effectLst/>
                        <a:latin typeface="Cambria Math" panose="02040503050406030204" pitchFamily="18" charset="0"/>
                      </a:rPr>
                      <m:t> </m:t>
                    </m:r>
                  </m:oMath>
                </a14:m>
                <a:r>
                  <a:rPr lang="en-US" sz="1300" dirty="0">
                    <a:solidFill>
                      <a:srgbClr val="111111"/>
                    </a:solidFill>
                    <a:latin typeface="Calibri" pitchFamily="34" charset="0"/>
                    <a:ea typeface="Calibri" pitchFamily="34" charset="-122"/>
                    <a:cs typeface="Calibri" pitchFamily="34" charset="-120"/>
                  </a:rPr>
                  <a:t>(t) y frecuencia </a:t>
                </a:r>
                <a14:m>
                  <m:oMath xmlns:m="http://schemas.openxmlformats.org/officeDocument/2006/math">
                    <m:sSub>
                      <m:sSubPr>
                        <m:ctrlPr>
                          <a:rPr lang="es-AR" sz="1000" i="1">
                            <a:latin typeface="Cambria Math" panose="020405030504060302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b="0" i="1" smtClean="0">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(t)</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Tensión máxima de línea: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oMath>
                </a14:m>
                <a:r>
                  <a:rPr lang="en-US" sz="1300" dirty="0">
                    <a:solidFill>
                      <a:srgbClr val="111111"/>
                    </a:solidFill>
                    <a:latin typeface="Calibri" pitchFamily="34" charset="0"/>
                    <a:ea typeface="Calibri" pitchFamily="34" charset="-122"/>
                    <a:cs typeface="Calibri" pitchFamily="34" charset="-120"/>
                  </a:rPr>
                  <a:t> ∈ [0, 48] V CA rms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Frecuencia: </a:t>
                </a:r>
                <a14:m>
                  <m:oMath xmlns:m="http://schemas.openxmlformats.org/officeDocument/2006/math">
                    <m:sSub>
                      <m:sSubPr>
                        <m:ctrlPr>
                          <a:rPr lang="es-AR" sz="1000" i="1" smtClean="0">
                            <a:effectLst/>
                            <a:latin typeface="Cambria Math" panose="02040503050406030204" pitchFamily="18" charset="0"/>
                          </a:rPr>
                        </m:ctrlPr>
                      </m:sSubPr>
                      <m:e>
                        <m:r>
                          <a:rPr lang="es-AR" sz="1000" b="0" i="1" smtClean="0">
                            <a:effectLst/>
                            <a:latin typeface="Cambria Math" panose="02040503050406030204" pitchFamily="18" charset="0"/>
                          </a:rPr>
                          <m:t>𝑓</m:t>
                        </m:r>
                      </m:e>
                      <m:sub>
                        <m:r>
                          <a:rPr lang="es-AR" sz="1400" b="0" i="1" smtClean="0">
                            <a:effectLst/>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 ∈ [-330, +330] Hz (determina sentido de giro)</a:t>
                </a:r>
                <a:endParaRPr lang="en-US" sz="1300" dirty="0"/>
              </a:p>
            </p:txBody>
          </p:sp>
        </mc:Choice>
        <mc:Fallback xmlns="">
          <p:sp>
            <p:nvSpPr>
              <p:cNvPr id="14" name="Text 12"/>
              <p:cNvSpPr>
                <a:spLocks noRot="1" noChangeAspect="1" noMove="1" noResize="1" noEditPoints="1" noAdjustHandles="1" noChangeArrowheads="1" noChangeShapeType="1" noTextEdit="1"/>
              </p:cNvSpPr>
              <p:nvPr/>
            </p:nvSpPr>
            <p:spPr>
              <a:xfrm>
                <a:off x="6385707" y="3683508"/>
                <a:ext cx="5394960" cy="1920240"/>
              </a:xfrm>
              <a:prstGeom prst="rect">
                <a:avLst/>
              </a:prstGeom>
              <a:blipFill>
                <a:blip r:embed="rId5"/>
                <a:stretch>
                  <a:fillRect l="-226" t="-635"/>
                </a:stretch>
              </a:blipFill>
              <a:ln/>
            </p:spPr>
            <p:txBody>
              <a:bodyPr/>
              <a:lstStyle/>
              <a:p>
                <a:r>
                  <a:rPr lang="es-AR">
                    <a:noFill/>
                  </a:rPr>
                  <a:t> </a:t>
                </a:r>
              </a:p>
            </p:txBody>
          </p:sp>
        </mc:Fallback>
      </mc:AlternateContent>
      <p:pic>
        <p:nvPicPr>
          <p:cNvPr id="16" name="Picture 2" descr="The four-quadrant operation of a DC motor can be described as follows">
            <a:extLst>
              <a:ext uri="{FF2B5EF4-FFF2-40B4-BE49-F238E27FC236}">
                <a16:creationId xmlns:a16="http://schemas.microsoft.com/office/drawing/2014/main" id="{8D9D9F26-C412-4508-9C72-2443C2C53F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7668" y="4688507"/>
            <a:ext cx="2252707" cy="17722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1021" y="0"/>
            <a:ext cx="12263021"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Modelado del sistema físico a lazo abierto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Subsistemas mecánico · electromagnético · térmico</a:t>
            </a:r>
            <a:endParaRPr lang="en-US" sz="1600" dirty="0"/>
          </a:p>
        </p:txBody>
      </p:sp>
      <p:sp>
        <p:nvSpPr>
          <p:cNvPr id="6" name="Shape 4"/>
          <p:cNvSpPr/>
          <p:nvPr/>
        </p:nvSpPr>
        <p:spPr>
          <a:xfrm>
            <a:off x="-71023" y="6565392"/>
            <a:ext cx="12263021" cy="292608"/>
          </a:xfrm>
          <a:prstGeom prst="rect">
            <a:avLst/>
          </a:prstGeom>
          <a:solidFill>
            <a:srgbClr val="14213D"/>
          </a:solidFill>
          <a:ln w="12700">
            <a:solidFill>
              <a:srgbClr val="14213D"/>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Carga mecánica — Modelo dinámico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0" y="76809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Modelo no lineal con parámetros variables, referido al eje de salida de la caja reductora:</a:t>
            </a:r>
            <a:endParaRPr lang="en-US" sz="1400" dirty="0"/>
          </a:p>
        </p:txBody>
      </p:sp>
      <p:sp>
        <p:nvSpPr>
          <p:cNvPr id="8" name="Shape 6"/>
          <p:cNvSpPr/>
          <p:nvPr/>
        </p:nvSpPr>
        <p:spPr>
          <a:xfrm>
            <a:off x="1371600" y="132588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32588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325880"/>
                <a:ext cx="8961120" cy="594360"/>
              </a:xfrm>
              <a:prstGeom prst="rect">
                <a:avLst/>
              </a:prstGeom>
              <a:blipFill>
                <a:blip r:embed="rId2"/>
                <a:stretch>
                  <a:fillRect/>
                </a:stretch>
              </a:blipFill>
              <a:ln/>
            </p:spPr>
            <p:txBody>
              <a:bodyPr/>
              <a:lstStyle/>
              <a:p>
                <a:r>
                  <a:rPr lang="es-AR">
                    <a:noFill/>
                  </a:rPr>
                  <a:t> </a:t>
                </a:r>
              </a:p>
            </p:txBody>
          </p:sp>
        </mc:Fallback>
      </mc:AlternateContent>
      <p:sp>
        <p:nvSpPr>
          <p:cNvPr id="10" name="Shape 8"/>
          <p:cNvSpPr/>
          <p:nvPr/>
        </p:nvSpPr>
        <p:spPr>
          <a:xfrm>
            <a:off x="1371600" y="2011680"/>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1" name="Text 9"/>
              <p:cNvSpPr/>
              <p:nvPr/>
            </p:nvSpPr>
            <p:spPr>
              <a:xfrm>
                <a:off x="1463040" y="2011680"/>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nary>
                        <m:naryPr>
                          <m:ctrlPr>
                            <a:rPr lang="es-AR" sz="1050" i="1">
                              <a:effectLst/>
                              <a:latin typeface="Cambria Math" panose="02040503050406030204" pitchFamily="18" charset="0"/>
                            </a:rPr>
                          </m:ctrlPr>
                        </m:naryPr>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sup>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e>
                          </m:d>
                        </m:e>
                      </m:nary>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oMath>
                  </m:oMathPara>
                </a14:m>
                <a:endParaRPr lang="en-US" sz="1100" dirty="0"/>
              </a:p>
            </p:txBody>
          </p:sp>
        </mc:Choice>
        <mc:Fallback xmlns="">
          <p:sp>
            <p:nvSpPr>
              <p:cNvPr id="11" name="Text 9"/>
              <p:cNvSpPr>
                <a:spLocks noRot="1" noChangeAspect="1" noMove="1" noResize="1" noEditPoints="1" noAdjustHandles="1" noChangeArrowheads="1" noChangeShapeType="1" noTextEdit="1"/>
              </p:cNvSpPr>
              <p:nvPr/>
            </p:nvSpPr>
            <p:spPr>
              <a:xfrm>
                <a:off x="1463040" y="2011680"/>
                <a:ext cx="8961120" cy="548640"/>
              </a:xfrm>
              <a:prstGeom prst="rect">
                <a:avLst/>
              </a:prstGeom>
              <a:blipFill>
                <a:blip r:embed="rId5"/>
                <a:stretch>
                  <a:fillRect t="-100000" b="-166667"/>
                </a:stretch>
              </a:blipFill>
              <a:ln/>
            </p:spPr>
            <p:txBody>
              <a:bodyPr/>
              <a:lstStyle/>
              <a:p>
                <a:r>
                  <a:rPr lang="es-AR">
                    <a:noFill/>
                  </a:rPr>
                  <a:t> </a:t>
                </a:r>
              </a:p>
            </p:txBody>
          </p:sp>
        </mc:Fallback>
      </mc:AlternateContent>
      <p:sp>
        <p:nvSpPr>
          <p:cNvPr id="12" name="Shape 10"/>
          <p:cNvSpPr/>
          <p:nvPr/>
        </p:nvSpPr>
        <p:spPr>
          <a:xfrm>
            <a:off x="1371600" y="265176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1463040" y="265176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𝑙𝑑</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𝑔</m:t>
                      </m:r>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𝑘</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func>
                        <m:funcPr>
                          <m:ctrlPr>
                            <a:rPr lang="es-AR" sz="1050" i="1">
                              <a:effectLst/>
                              <a:latin typeface="Cambria Math" panose="02040503050406030204" pitchFamily="18" charset="0"/>
                              <a:cs typeface="Calibri Light" panose="020F0302020204030204" pitchFamily="34" charset="0"/>
                            </a:rPr>
                          </m:ctrlPr>
                        </m:funcPr>
                        <m:fName>
                          <m:r>
                            <m:rPr>
                              <m:sty m:val="p"/>
                            </m:rPr>
                            <a:rPr lang="es-AR" sz="1600">
                              <a:effectLst/>
                              <a:latin typeface="Cambria Math" panose="02040503050406030204" pitchFamily="18" charset="0"/>
                              <a:ea typeface="Calibri" panose="020F0502020204030204" pitchFamily="34" charset="0"/>
                              <a:cs typeface="Calibri Light" panose="020F0302020204030204" pitchFamily="34" charset="0"/>
                            </a:rPr>
                            <m:t>sin</m:t>
                          </m:r>
                        </m:fName>
                        <m:e>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𝜃</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e>
                      </m:func>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463040" y="2651760"/>
                <a:ext cx="8961120" cy="594360"/>
              </a:xfrm>
              <a:prstGeom prst="rect">
                <a:avLst/>
              </a:prstGeom>
              <a:blipFill>
                <a:blip r:embed="rId5"/>
                <a:stretch>
                  <a:fillRect/>
                </a:stretch>
              </a:blipFill>
              <a:ln/>
            </p:spPr>
            <p:txBody>
              <a:bodyPr/>
              <a:lstStyle/>
              <a:p>
                <a:r>
                  <a:rPr lang="es-AR">
                    <a:noFill/>
                  </a:rPr>
                  <a:t> </a:t>
                </a:r>
              </a:p>
            </p:txBody>
          </p:sp>
        </mc:Fallback>
      </mc:AlternateContent>
      <p:sp>
        <p:nvSpPr>
          <p:cNvPr id="14" name="Text 12"/>
          <p:cNvSpPr/>
          <p:nvPr/>
        </p:nvSpPr>
        <p:spPr>
          <a:xfrm>
            <a:off x="365760" y="3492246"/>
            <a:ext cx="11430000" cy="347472"/>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Parámetros</a:t>
            </a:r>
            <a:r>
              <a:rPr lang="en-US" sz="1300" b="1" dirty="0">
                <a:solidFill>
                  <a:srgbClr val="1A386B"/>
                </a:solidFill>
                <a:latin typeface="Calibri" pitchFamily="34" charset="0"/>
                <a:ea typeface="Calibri" pitchFamily="34" charset="-122"/>
                <a:cs typeface="Calibri" pitchFamily="34" charset="-120"/>
              </a:rPr>
              <a:t>:</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381000" y="3857244"/>
                <a:ext cx="11430000" cy="1828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b</m:t>
                        </m:r>
                      </m:e>
                      <m:sub>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l</m:t>
                        </m:r>
                      </m:sub>
                    </m:sSub>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s-AR" sz="1400" i="1">
                            <a:effectLst/>
                            <a:latin typeface="Cambria Math" panose="02040503050406030204" pitchFamily="18" charset="0"/>
                            <a:ea typeface="Times New Roman" panose="02020603050405020304" pitchFamily="18" charset="0"/>
                          </a:rPr>
                        </m:ctrlPr>
                      </m:dPr>
                      <m:e>
                        <m:r>
                          <a:rPr lang="es-AR" sz="1400">
                            <a:effectLst/>
                            <a:latin typeface="Cambria Math" panose="02040503050406030204" pitchFamily="18" charset="0"/>
                            <a:ea typeface="Times New Roman" panose="02020603050405020304" pitchFamily="18" charset="0"/>
                            <a:cs typeface="Times New Roman" panose="02020603050405020304" pitchFamily="18" charset="0"/>
                          </a:rPr>
                          <m:t>0.1±0.03</m:t>
                        </m:r>
                      </m:e>
                    </m:d>
                    <m:r>
                      <a:rPr lang="es-AR" sz="1400">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effectLst/>
                            <a:latin typeface="Cambria Math" panose="02040503050406030204" pitchFamily="18" charset="0"/>
                            <a:ea typeface="Times New Roman" panose="02020603050405020304" pitchFamily="18" charset="0"/>
                          </a:rPr>
                        </m:ctrlPr>
                      </m:fPr>
                      <m:num>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N</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m:t>
                        </m:r>
                      </m:num>
                      <m:den>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rad</m:t>
                        </m:r>
                        <m:r>
                          <m:rPr>
                            <m:lit/>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s</m:t>
                        </m:r>
                      </m:den>
                    </m:f>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𝑚</m:t>
                    </m:r>
                    <m:r>
                      <a:rPr lang="es-AR" sz="1400" i="1">
                        <a:latin typeface="Cambria Math" panose="02040503050406030204" pitchFamily="18" charset="0"/>
                      </a:rPr>
                      <m:t>=1.0 </m:t>
                    </m:r>
                    <m:r>
                      <a:rPr lang="es-AR" sz="1400" i="1">
                        <a:latin typeface="Cambria Math" panose="02040503050406030204" pitchFamily="18" charset="0"/>
                      </a:rPr>
                      <m:t>𝑘𝑔</m:t>
                    </m:r>
                    <m:r>
                      <a:rPr lang="es-MX" sz="1400" b="0" i="0" smtClean="0">
                        <a:latin typeface="Cambria Math" panose="020405030504060302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𝑔</m:t>
                    </m:r>
                    <m:r>
                      <a:rPr lang="es-AR" sz="1400" i="1">
                        <a:latin typeface="Cambria Math" panose="02040503050406030204" pitchFamily="18" charset="0"/>
                      </a:rPr>
                      <m:t>=9.80665 </m:t>
                    </m:r>
                    <m:f>
                      <m:fPr>
                        <m:ctrlPr>
                          <a:rPr lang="es-AR" sz="1400" i="1">
                            <a:latin typeface="Cambria Math" panose="02040503050406030204" pitchFamily="18" charset="0"/>
                          </a:rPr>
                        </m:ctrlPr>
                      </m:fPr>
                      <m:num>
                        <m:r>
                          <a:rPr lang="es-AR" sz="1400" i="1">
                            <a:latin typeface="Cambria Math" panose="02040503050406030204" pitchFamily="18" charset="0"/>
                          </a:rPr>
                          <m:t>𝑚</m:t>
                        </m:r>
                      </m:num>
                      <m:den>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den>
                    </m:f>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=0.25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=0.0208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p>
                      <m:s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p>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sup>
                    </m:sSup>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r>
                          <a:rPr lang="es-AR" sz="1400" i="1">
                            <a:latin typeface="Cambria Math" panose="02040503050406030204" pitchFamily="18" charset="0"/>
                          </a:rPr>
                          <m:t> </m:t>
                        </m:r>
                      </m:sub>
                    </m:sSub>
                    <m:r>
                      <a:rPr lang="es-AR" sz="1400" i="1">
                        <a:latin typeface="Cambria Math" panose="02040503050406030204" pitchFamily="18" charset="0"/>
                      </a:rPr>
                      <m:t>=0.50 </m:t>
                    </m:r>
                    <m:r>
                      <a:rPr lang="es-AR" sz="1400" i="1">
                        <a:latin typeface="Cambria Math" panose="02040503050406030204" pitchFamily="18"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0⋯1.5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MX" sz="1400" b="0" i="0" smtClean="0">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𝑚</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𝑐𝑚</m:t>
                            </m:r>
                          </m:sub>
                          <m:sup>
                            <m:r>
                              <a:rPr lang="es-AR" sz="1400" i="1">
                                <a:latin typeface="Cambria Math" panose="02040503050406030204" pitchFamily="18" charset="0"/>
                              </a:rPr>
                              <m:t>2</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𝑐𝑚</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𝑙</m:t>
                        </m:r>
                      </m:sub>
                      <m:sup>
                        <m:r>
                          <a:rPr lang="es-AR" sz="1400" i="1">
                            <a:latin typeface="Cambria Math" panose="02040503050406030204" pitchFamily="18" charset="0"/>
                          </a:rPr>
                          <m:t>2</m:t>
                        </m:r>
                      </m:sup>
                    </m:sSubSup>
                    <m:r>
                      <a:rPr lang="es-AR" sz="1400" i="1">
                        <a:latin typeface="Cambria Math" panose="02040503050406030204" pitchFamily="18" charset="0"/>
                      </a:rPr>
                      <m:t>=0.0833+</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0⋯0.</m:t>
                        </m:r>
                        <m:r>
                          <a:rPr lang="es-MX" sz="1400" b="0" i="1" smtClean="0">
                            <a:latin typeface="Cambria Math" panose="02040503050406030204" pitchFamily="18" charset="0"/>
                          </a:rPr>
                          <m:t>3</m:t>
                        </m:r>
                        <m:r>
                          <a:rPr lang="es-AR" sz="1400" i="1">
                            <a:latin typeface="Cambria Math" panose="02040503050406030204" pitchFamily="18" charset="0"/>
                          </a:rPr>
                          <m:t>75</m:t>
                        </m:r>
                      </m:e>
                    </m:d>
                    <m:r>
                      <a:rPr lang="es-AR" sz="1400" i="1">
                        <a:latin typeface="Cambria Math" panose="02040503050406030204" pitchFamily="18" charset="0"/>
                      </a:rPr>
                      <m:t> </m:t>
                    </m:r>
                    <m:r>
                      <a:rPr lang="es-AR" sz="1400" i="1">
                        <a:latin typeface="Cambria Math" panose="02040503050406030204" pitchFamily="18" charset="0"/>
                      </a:rPr>
                      <m:t>𝑘𝑔</m:t>
                    </m:r>
                    <m:r>
                      <a:rPr lang="es-AR" sz="1400" i="1">
                        <a:latin typeface="Cambria Math" panose="02040503050406030204" pitchFamily="18" charset="0"/>
                      </a:rPr>
                      <m:t>∙</m:t>
                    </m:r>
                    <m:r>
                      <a:rPr lang="es-AR" sz="1400" i="1">
                        <a:latin typeface="Cambria Math" panose="02040503050406030204" pitchFamily="18" charset="0"/>
                      </a:rPr>
                      <m:t>𝑚</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𝑘</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smtClean="0">
                        <a:effectLst/>
                        <a:latin typeface="Cambria Math" panose="02040503050406030204" pitchFamily="18" charset="0"/>
                        <a:ea typeface="Times New Roman" panose="02020603050405020304" pitchFamily="18" charset="0"/>
                        <a:cs typeface="Calibri" panose="020F0502020204030204" pitchFamily="34" charset="0"/>
                      </a:rPr>
                      <m:t>=</m:t>
                    </m:r>
                    <m:r>
                      <a:rPr lang="es-AR" sz="1400" i="1">
                        <a:latin typeface="Cambria Math" panose="02040503050406030204" pitchFamily="18" charset="0"/>
                      </a:rPr>
                      <m:t>𝑚</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𝑐𝑚</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sub>
                    </m:sSub>
                    <m:r>
                      <a:rPr lang="es-AR" sz="1400" i="1">
                        <a:latin typeface="Cambria Math" panose="02040503050406030204" pitchFamily="18"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0.25+</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0⋯0.75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𝑙𝑑</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0±5.0</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𝑁</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381000" y="3857244"/>
                <a:ext cx="11430000" cy="1828800"/>
              </a:xfrm>
              <a:prstGeom prst="rect">
                <a:avLst/>
              </a:prstGeom>
              <a:blipFill>
                <a:blip r:embed="rId6"/>
                <a:stretch>
                  <a:fillRect l="-160"/>
                </a:stretch>
              </a:blipFill>
              <a:ln/>
            </p:spPr>
            <p:txBody>
              <a:bodyPr/>
              <a:lstStyle/>
              <a:p>
                <a:r>
                  <a:rPr lang="es-AR">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9">
            <a:extLst>
              <a:ext uri="{FF2B5EF4-FFF2-40B4-BE49-F238E27FC236}">
                <a16:creationId xmlns:a16="http://schemas.microsoft.com/office/drawing/2014/main" id="{FC67A3CE-E47F-460B-BB07-C75E41941322}"/>
              </a:ext>
            </a:extLst>
          </p:cNvPr>
          <p:cNvSpPr/>
          <p:nvPr/>
        </p:nvSpPr>
        <p:spPr>
          <a:xfrm>
            <a:off x="457200" y="4284000"/>
            <a:ext cx="5212080" cy="649152"/>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(modelo equivalente rígido):</a:t>
            </a:r>
            <a:endParaRPr lang="en-US" sz="1400" dirty="0"/>
          </a:p>
        </p:txBody>
      </p:sp>
      <p:sp>
        <p:nvSpPr>
          <p:cNvPr id="8" name="Text 6"/>
          <p:cNvSpPr/>
          <p:nvPr/>
        </p:nvSpPr>
        <p:spPr>
          <a:xfrm>
            <a:off x="365760" y="1207008"/>
            <a:ext cx="54864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 sin pérdidas internas.</a:t>
            </a:r>
            <a:endParaRPr lang="en-US" sz="1300" dirty="0"/>
          </a:p>
        </p:txBody>
      </p:sp>
      <p:sp>
        <p:nvSpPr>
          <p:cNvPr id="9" name="Shape 7"/>
          <p:cNvSpPr/>
          <p:nvPr/>
        </p:nvSpPr>
        <p:spPr>
          <a:xfrm>
            <a:off x="457200" y="1783080"/>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548640" y="1783080"/>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0" name="Text 8"/>
              <p:cNvSpPr>
                <a:spLocks noRot="1" noChangeAspect="1" noMove="1" noResize="1" noEditPoints="1" noAdjustHandles="1" noChangeArrowheads="1" noChangeShapeType="1" noTextEdit="1"/>
              </p:cNvSpPr>
              <p:nvPr/>
            </p:nvSpPr>
            <p:spPr>
              <a:xfrm>
                <a:off x="548640" y="1783080"/>
                <a:ext cx="5029200" cy="530352"/>
              </a:xfrm>
              <a:prstGeom prst="rect">
                <a:avLst/>
              </a:prstGeom>
              <a:blipFill>
                <a:blip r:embed="rId3"/>
                <a:stretch>
                  <a:fillRect/>
                </a:stretch>
              </a:blipFill>
              <a:ln/>
            </p:spPr>
            <p:txBody>
              <a:bodyPr/>
              <a:lstStyle/>
              <a:p>
                <a:r>
                  <a:rPr lang="es-AR">
                    <a:noFill/>
                  </a:rPr>
                  <a:t> </a:t>
                </a:r>
              </a:p>
            </p:txBody>
          </p:sp>
        </mc:Fallback>
      </mc:AlternateContent>
      <p:sp>
        <p:nvSpPr>
          <p:cNvPr id="11" name="Shape 9"/>
          <p:cNvSpPr/>
          <p:nvPr/>
        </p:nvSpPr>
        <p:spPr>
          <a:xfrm>
            <a:off x="457200" y="2395728"/>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2" name="Text 10"/>
              <p:cNvSpPr/>
              <p:nvPr/>
            </p:nvSpPr>
            <p:spPr>
              <a:xfrm>
                <a:off x="548640" y="2395728"/>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12" name="Text 10"/>
              <p:cNvSpPr>
                <a:spLocks noRot="1" noChangeAspect="1" noMove="1" noResize="1" noEditPoints="1" noAdjustHandles="1" noChangeArrowheads="1" noChangeShapeType="1" noTextEdit="1"/>
              </p:cNvSpPr>
              <p:nvPr/>
            </p:nvSpPr>
            <p:spPr>
              <a:xfrm>
                <a:off x="548640" y="2395728"/>
                <a:ext cx="5029200" cy="530352"/>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Text 11"/>
              <p:cNvSpPr/>
              <p:nvPr/>
            </p:nvSpPr>
            <p:spPr>
              <a:xfrm>
                <a:off x="365760" y="2999232"/>
                <a:ext cx="5486400" cy="777240"/>
              </a:xfrm>
              <a:prstGeom prst="rect">
                <a:avLst/>
              </a:prstGeom>
              <a:noFill/>
              <a:ln/>
            </p:spPr>
            <p:txBody>
              <a:bodyPr wrap="square" rtlCol="0" anchor="t"/>
              <a:lstStyle/>
              <a:p>
                <a:pPr marL="342900" indent="-342900">
                  <a:buSzPct val="100000"/>
                  <a:buChar char="•"/>
                </a:pP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=120.0:1</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𝑛𝑜𝑚</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=17.0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𝑞</m:t>
                        </m:r>
                        <m:r>
                          <a:rPr lang="es-AR" sz="1400" i="1">
                            <a:latin typeface="Cambria Math" panose="02040503050406030204" pitchFamily="18" charset="0"/>
                          </a:rPr>
                          <m:t> </m:t>
                        </m:r>
                        <m:r>
                          <a:rPr lang="es-AR" sz="1400" i="1">
                            <a:latin typeface="Cambria Math" panose="02040503050406030204" pitchFamily="18" charset="0"/>
                          </a:rPr>
                          <m:t>𝑚𝑎𝑥</m:t>
                        </m:r>
                      </m:sub>
                    </m:sSub>
                    <m:r>
                      <a:rPr lang="es-AR" sz="1400" i="1">
                        <a:latin typeface="Cambria Math" panose="02040503050406030204" pitchFamily="18" charset="0"/>
                      </a:rPr>
                      <m:t>=45.0 </m:t>
                    </m:r>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oMath>
                </a14:m>
                <a:endParaRPr lang="es-AR" sz="1400" dirty="0">
                  <a:latin typeface="Calibri" pitchFamily="34" charset="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𝑇𝑜𝑟𝑞𝑢𝑒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𝑒𝑛𝑡𝑟𝑎𝑑𝑎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𝑙𝑎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𝑐𝑎𝑗𝑎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𝑟𝑒𝑑𝑢𝑐𝑡𝑜𝑟𝑎</m:t>
                    </m:r>
                  </m:oMath>
                </a14:m>
                <a:endParaRPr lang="en-US" sz="1400" dirty="0"/>
              </a:p>
            </p:txBody>
          </p:sp>
        </mc:Choice>
        <mc:Fallback xmlns="">
          <p:sp>
            <p:nvSpPr>
              <p:cNvPr id="13" name="Text 11"/>
              <p:cNvSpPr>
                <a:spLocks noRot="1" noChangeAspect="1" noMove="1" noResize="1" noEditPoints="1" noAdjustHandles="1" noChangeArrowheads="1" noChangeShapeType="1" noTextEdit="1"/>
              </p:cNvSpPr>
              <p:nvPr/>
            </p:nvSpPr>
            <p:spPr>
              <a:xfrm>
                <a:off x="365760" y="2999232"/>
                <a:ext cx="5486400" cy="777240"/>
              </a:xfrm>
              <a:prstGeom prst="rect">
                <a:avLst/>
              </a:prstGeom>
              <a:blipFill>
                <a:blip r:embed="rId9"/>
                <a:stretch>
                  <a:fillRect l="-222" t="-1563" b="-2344"/>
                </a:stretch>
              </a:blipFill>
              <a:ln/>
            </p:spPr>
            <p:txBody>
              <a:bodyPr/>
              <a:lstStyle/>
              <a:p>
                <a:r>
                  <a:rPr lang="es-AR">
                    <a:noFill/>
                  </a:rPr>
                  <a:t> </a:t>
                </a:r>
              </a:p>
            </p:txBody>
          </p:sp>
        </mc:Fallback>
      </mc:AlternateContent>
      <p:sp>
        <p:nvSpPr>
          <p:cNvPr id="14" name="Text 12"/>
          <p:cNvSpPr/>
          <p:nvPr/>
        </p:nvSpPr>
        <p:spPr>
          <a:xfrm>
            <a:off x="640080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Subsistema mecánico del motor PMSM:</a:t>
            </a:r>
            <a:endParaRPr lang="en-US" sz="1400" dirty="0"/>
          </a:p>
        </p:txBody>
      </p:sp>
      <p:sp>
        <p:nvSpPr>
          <p:cNvPr id="15" name="Text 13"/>
          <p:cNvSpPr/>
          <p:nvPr/>
        </p:nvSpPr>
        <p:spPr>
          <a:xfrm>
            <a:off x="6400800" y="1122493"/>
            <a:ext cx="5486400" cy="411480"/>
          </a:xfrm>
          <a:prstGeom prst="rect">
            <a:avLst/>
          </a:prstGeom>
          <a:noFill/>
          <a:ln/>
        </p:spPr>
        <p:txBody>
          <a:bodyPr wrap="square" rtlCol="0" anchor="t"/>
          <a:lstStyle/>
          <a:p>
            <a:pPr marL="0" indent="0" algn="l">
              <a:buNone/>
            </a:pPr>
            <a:r>
              <a:rPr lang="es-MX" sz="1400" dirty="0"/>
              <a:t>El subsistema mecánico del motor corresponde al rotor referido al estator estacionario</a:t>
            </a:r>
            <a:r>
              <a:rPr lang="en-US" sz="1400" dirty="0">
                <a:solidFill>
                  <a:srgbClr val="111111"/>
                </a:solidFill>
                <a:latin typeface="Calibri" pitchFamily="34" charset="0"/>
                <a:ea typeface="Calibri" pitchFamily="34" charset="-122"/>
                <a:cs typeface="Calibri" pitchFamily="34" charset="-120"/>
              </a:rPr>
              <a:t>— parámetros concentrados:</a:t>
            </a:r>
            <a:endParaRPr lang="en-US" sz="1400" dirty="0"/>
          </a:p>
        </p:txBody>
      </p:sp>
      <p:sp>
        <p:nvSpPr>
          <p:cNvPr id="16" name="Shape 14"/>
          <p:cNvSpPr/>
          <p:nvPr/>
        </p:nvSpPr>
        <p:spPr>
          <a:xfrm>
            <a:off x="6492240" y="1691640"/>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6035040" y="1655064"/>
                <a:ext cx="512064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6035040" y="1655064"/>
                <a:ext cx="5120640" cy="530352"/>
              </a:xfrm>
              <a:prstGeom prst="rect">
                <a:avLst/>
              </a:prstGeom>
              <a:blipFill>
                <a:blip r:embed="rId10"/>
                <a:stretch>
                  <a:fillRect/>
                </a:stretch>
              </a:blipFill>
              <a:ln/>
            </p:spPr>
            <p:txBody>
              <a:bodyPr/>
              <a:lstStyle/>
              <a:p>
                <a:r>
                  <a:rPr lang="es-AR">
                    <a:noFill/>
                  </a:rPr>
                  <a:t> </a:t>
                </a:r>
              </a:p>
            </p:txBody>
          </p:sp>
        </mc:Fallback>
      </mc:AlternateContent>
      <p:sp>
        <p:nvSpPr>
          <p:cNvPr id="18" name="Shape 16"/>
          <p:cNvSpPr/>
          <p:nvPr/>
        </p:nvSpPr>
        <p:spPr>
          <a:xfrm>
            <a:off x="6492240" y="2304288"/>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17"/>
              <p:cNvSpPr/>
              <p:nvPr/>
            </p:nvSpPr>
            <p:spPr>
              <a:xfrm>
                <a:off x="6522722" y="2295144"/>
                <a:ext cx="54864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nary>
                        <m:naryPr>
                          <m:ctrlPr>
                            <a:rPr lang="es-AR" sz="1050" i="1">
                              <a:effectLst/>
                              <a:latin typeface="Cambria Math" panose="02040503050406030204" pitchFamily="18" charset="0"/>
                              <a:ea typeface="Times New Roman" panose="02020603050405020304" pitchFamily="18" charset="0"/>
                            </a:rPr>
                          </m:ctrlPr>
                        </m:naryPr>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sup>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e>
                          </m:d>
                        </m:e>
                      </m:nary>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oMath>
                  </m:oMathPara>
                </a14:m>
                <a:endParaRPr lang="en-US" sz="1100" dirty="0"/>
              </a:p>
            </p:txBody>
          </p:sp>
        </mc:Choice>
        <mc:Fallback xmlns="">
          <p:sp>
            <p:nvSpPr>
              <p:cNvPr id="19" name="Text 17"/>
              <p:cNvSpPr>
                <a:spLocks noRot="1" noChangeAspect="1" noMove="1" noResize="1" noEditPoints="1" noAdjustHandles="1" noChangeArrowheads="1" noChangeShapeType="1" noTextEdit="1"/>
              </p:cNvSpPr>
              <p:nvPr/>
            </p:nvSpPr>
            <p:spPr>
              <a:xfrm>
                <a:off x="6522722" y="2295144"/>
                <a:ext cx="5486400" cy="530352"/>
              </a:xfrm>
              <a:prstGeom prst="rect">
                <a:avLst/>
              </a:prstGeom>
              <a:blipFill>
                <a:blip r:embed="rId8"/>
                <a:stretch>
                  <a:fillRect t="-108046" b="-171264"/>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Text 18"/>
              <p:cNvSpPr/>
              <p:nvPr/>
            </p:nvSpPr>
            <p:spPr>
              <a:xfrm>
                <a:off x="6400800" y="2907792"/>
                <a:ext cx="5486400" cy="685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≈1.4∙</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−4</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𝑘𝑔</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≈15∙</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−6</m:t>
                        </m:r>
                      </m:sup>
                    </m:sSup>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num>
                      <m:den>
                        <m:r>
                          <a:rPr lang="es-AR" sz="1400" i="1">
                            <a:latin typeface="Cambria Math" panose="02040503050406030204" pitchFamily="18" charset="0"/>
                          </a:rPr>
                          <m:t>𝑟𝑎𝑑</m:t>
                        </m:r>
                        <m:r>
                          <m:rPr>
                            <m:lit/>
                          </m:rPr>
                          <a:rPr lang="es-AR" sz="1400" i="1">
                            <a:latin typeface="Cambria Math" panose="02040503050406030204" pitchFamily="18" charset="0"/>
                          </a:rPr>
                          <m:t>/</m:t>
                        </m:r>
                        <m:r>
                          <a:rPr lang="es-AR" sz="1400" i="1">
                            <a:latin typeface="Cambria Math" panose="02040503050406030204" pitchFamily="18" charset="0"/>
                          </a:rPr>
                          <m:t>𝑠</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𝑛𝑜𝑚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latin typeface="Cambria Math" panose="02040503050406030204" pitchFamily="18" charset="0"/>
                      </a:rPr>
                      <m:t>691.15 </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oMath>
                </a14:m>
                <a:endParaRPr lang="en-US" sz="1400" dirty="0"/>
              </a:p>
            </p:txBody>
          </p:sp>
        </mc:Choice>
        <mc:Fallback xmlns="">
          <p:sp>
            <p:nvSpPr>
              <p:cNvPr id="20" name="Text 18"/>
              <p:cNvSpPr>
                <a:spLocks noRot="1" noChangeAspect="1" noMove="1" noResize="1" noEditPoints="1" noAdjustHandles="1" noChangeArrowheads="1" noChangeShapeType="1" noTextEdit="1"/>
              </p:cNvSpPr>
              <p:nvPr/>
            </p:nvSpPr>
            <p:spPr>
              <a:xfrm>
                <a:off x="6400800" y="2907792"/>
                <a:ext cx="5486400" cy="685800"/>
              </a:xfrm>
              <a:prstGeom prst="rect">
                <a:avLst/>
              </a:prstGeom>
              <a:blipFill>
                <a:blip r:embed="rId2"/>
                <a:stretch>
                  <a:fillRect l="-222" b="-708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Text 6">
                <a:extLst>
                  <a:ext uri="{FF2B5EF4-FFF2-40B4-BE49-F238E27FC236}">
                    <a16:creationId xmlns:a16="http://schemas.microsoft.com/office/drawing/2014/main" id="{9B4CF49A-AADC-44C9-9A28-1F5C08A0EA0B}"/>
                  </a:ext>
                </a:extLst>
              </p:cNvPr>
              <p:cNvSpPr/>
              <p:nvPr/>
            </p:nvSpPr>
            <p:spPr>
              <a:xfrm>
                <a:off x="91440" y="3942041"/>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Expresando las variables de la carga mecánica en función de las del motor, utilizando la relación de transmisión y despejando </a:t>
                </a:r>
                <a14:m>
                  <m:oMath xmlns:m="http://schemas.openxmlformats.org/officeDocument/2006/math">
                    <m:sSub>
                      <m:sSubPr>
                        <m:ctrlPr>
                          <a:rPr lang="es-AR" sz="1300" i="1" smtClean="0">
                            <a:effectLst/>
                            <a:latin typeface="Cambria Math" panose="02040503050406030204" pitchFamily="18" charset="0"/>
                            <a:ea typeface="Times New Roman" panose="02020603050405020304" pitchFamily="18" charset="0"/>
                          </a:rPr>
                        </m:ctrlPr>
                      </m:sSub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3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oMath>
                </a14:m>
                <a:r>
                  <a:rPr lang="es-AR" sz="1300" dirty="0">
                    <a:solidFill>
                      <a:srgbClr val="111111"/>
                    </a:solidFill>
                    <a:latin typeface="Calibri" pitchFamily="34" charset="0"/>
                    <a:ea typeface="Calibri" pitchFamily="34" charset="-122"/>
                    <a:cs typeface="Calibri" pitchFamily="34" charset="-120"/>
                  </a:rPr>
                  <a:t>: </a:t>
                </a:r>
                <a:endParaRPr lang="es-AR" sz="1300" dirty="0"/>
              </a:p>
            </p:txBody>
          </p:sp>
        </mc:Choice>
        <mc:Fallback xmlns="">
          <p:sp>
            <p:nvSpPr>
              <p:cNvPr id="25" name="Text 6">
                <a:extLst>
                  <a:ext uri="{FF2B5EF4-FFF2-40B4-BE49-F238E27FC236}">
                    <a16:creationId xmlns:a16="http://schemas.microsoft.com/office/drawing/2014/main" id="{9B4CF49A-AADC-44C9-9A28-1F5C08A0EA0B}"/>
                  </a:ext>
                </a:extLst>
              </p:cNvPr>
              <p:cNvSpPr>
                <a:spLocks noRot="1" noChangeAspect="1" noMove="1" noResize="1" noEditPoints="1" noAdjustHandles="1" noChangeArrowheads="1" noChangeShapeType="1" noTextEdit="1"/>
              </p:cNvSpPr>
              <p:nvPr/>
            </p:nvSpPr>
            <p:spPr>
              <a:xfrm>
                <a:off x="91440" y="3942041"/>
                <a:ext cx="11704320" cy="502920"/>
              </a:xfrm>
              <a:prstGeom prst="rect">
                <a:avLst/>
              </a:prstGeom>
              <a:blipFill>
                <a:blip r:embed="rId11"/>
                <a:stretch>
                  <a:fillRect l="-52" t="-122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1442EDF-7B72-4F84-BA33-1E72FD3CFE59}"/>
                  </a:ext>
                </a:extLst>
              </p:cNvPr>
              <p:cNvSpPr txBox="1"/>
              <p:nvPr/>
            </p:nvSpPr>
            <p:spPr>
              <a:xfrm>
                <a:off x="457200" y="4322514"/>
                <a:ext cx="3442909"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lang="es-AR" sz="1100" dirty="0">
                  <a:solidFill>
                    <a:schemeClr val="tx1"/>
                  </a:solidFill>
                </a:endParaRPr>
              </a:p>
            </p:txBody>
          </p:sp>
        </mc:Choice>
        <mc:Fallback xmlns="">
          <p:sp>
            <p:nvSpPr>
              <p:cNvPr id="28" name="CuadroTexto 27">
                <a:extLst>
                  <a:ext uri="{FF2B5EF4-FFF2-40B4-BE49-F238E27FC236}">
                    <a16:creationId xmlns:a16="http://schemas.microsoft.com/office/drawing/2014/main" id="{31442EDF-7B72-4F84-BA33-1E72FD3CFE59}"/>
                  </a:ext>
                </a:extLst>
              </p:cNvPr>
              <p:cNvSpPr txBox="1">
                <a:spLocks noRot="1" noChangeAspect="1" noMove="1" noResize="1" noEditPoints="1" noAdjustHandles="1" noChangeArrowheads="1" noChangeShapeType="1" noTextEdit="1"/>
              </p:cNvSpPr>
              <p:nvPr/>
            </p:nvSpPr>
            <p:spPr>
              <a:xfrm>
                <a:off x="457200" y="4322514"/>
                <a:ext cx="3442909" cy="499945"/>
              </a:xfrm>
              <a:prstGeom prst="rect">
                <a:avLst/>
              </a:prstGeom>
              <a:blipFill>
                <a:blip r:embed="rId12"/>
                <a:stretch>
                  <a:fillRect/>
                </a:stretch>
              </a:blipFill>
            </p:spPr>
            <p:txBody>
              <a:bodyPr/>
              <a:lstStyle/>
              <a:p>
                <a:r>
                  <a:rPr lang="es-AR">
                    <a:noFill/>
                  </a:rPr>
                  <a:t> </a:t>
                </a:r>
              </a:p>
            </p:txBody>
          </p:sp>
        </mc:Fallback>
      </mc:AlternateContent>
      <p:sp>
        <p:nvSpPr>
          <p:cNvPr id="30" name="Text 6">
            <a:extLst>
              <a:ext uri="{FF2B5EF4-FFF2-40B4-BE49-F238E27FC236}">
                <a16:creationId xmlns:a16="http://schemas.microsoft.com/office/drawing/2014/main" id="{07AD0427-720A-4A83-BE86-A827F1CA1736}"/>
              </a:ext>
            </a:extLst>
          </p:cNvPr>
          <p:cNvSpPr/>
          <p:nvPr/>
        </p:nvSpPr>
        <p:spPr>
          <a:xfrm>
            <a:off x="182880" y="5014108"/>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Y reemplazando en la ecuación del subsistema del motor:</a:t>
            </a:r>
            <a:endParaRPr lang="es-AR" sz="1300" dirty="0"/>
          </a:p>
        </p:txBody>
      </p:sp>
      <p:sp>
        <p:nvSpPr>
          <p:cNvPr id="31" name="Shape 9">
            <a:extLst>
              <a:ext uri="{FF2B5EF4-FFF2-40B4-BE49-F238E27FC236}">
                <a16:creationId xmlns:a16="http://schemas.microsoft.com/office/drawing/2014/main" id="{D9788D1C-B7CB-47DE-B01D-2EBC987D943C}"/>
              </a:ext>
            </a:extLst>
          </p:cNvPr>
          <p:cNvSpPr/>
          <p:nvPr/>
        </p:nvSpPr>
        <p:spPr>
          <a:xfrm>
            <a:off x="457200" y="5416444"/>
            <a:ext cx="10719786" cy="6491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3CA2346-43EF-445B-948C-A91E2B55DD49}"/>
                  </a:ext>
                </a:extLst>
              </p:cNvPr>
              <p:cNvSpPr txBox="1"/>
              <p:nvPr/>
            </p:nvSpPr>
            <p:spPr>
              <a:xfrm>
                <a:off x="679140" y="5488553"/>
                <a:ext cx="7824779" cy="473335"/>
              </a:xfrm>
              <a:prstGeom prst="rect">
                <a:avLst/>
              </a:prstGeom>
              <a:noFill/>
            </p:spPr>
            <p:txBody>
              <a:bodyPr wrap="square">
                <a:spAutoFit/>
              </a:bodyPr>
              <a:lstStyle/>
              <a:p>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endParaRPr lang="es-AR" sz="1400" dirty="0">
                  <a:solidFill>
                    <a:schemeClr val="tx1"/>
                  </a:solidFill>
                </a:endParaRPr>
              </a:p>
            </p:txBody>
          </p:sp>
        </mc:Choice>
        <mc:Fallback xmlns="">
          <p:sp>
            <p:nvSpPr>
              <p:cNvPr id="32" name="CuadroTexto 31">
                <a:extLst>
                  <a:ext uri="{FF2B5EF4-FFF2-40B4-BE49-F238E27FC236}">
                    <a16:creationId xmlns:a16="http://schemas.microsoft.com/office/drawing/2014/main" id="{73CA2346-43EF-445B-948C-A91E2B55DD49}"/>
                  </a:ext>
                </a:extLst>
              </p:cNvPr>
              <p:cNvSpPr txBox="1">
                <a:spLocks noRot="1" noChangeAspect="1" noMove="1" noResize="1" noEditPoints="1" noAdjustHandles="1" noChangeArrowheads="1" noChangeShapeType="1" noTextEdit="1"/>
              </p:cNvSpPr>
              <p:nvPr/>
            </p:nvSpPr>
            <p:spPr>
              <a:xfrm>
                <a:off x="679140" y="5488553"/>
                <a:ext cx="7824779" cy="473335"/>
              </a:xfrm>
              <a:prstGeom prst="rect">
                <a:avLst/>
              </a:prstGeom>
              <a:blipFill>
                <a:blip r:embed="rId1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830440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a:solidFill>
                  <a:srgbClr val="FFFFFF"/>
                </a:solidFill>
                <a:latin typeface="Calibri" pitchFamily="34" charset="0"/>
                <a:ea typeface="Calibri" pitchFamily="34" charset="-122"/>
                <a:cs typeface="Calibri" pitchFamily="34" charset="-120"/>
              </a:rPr>
              <a:t>Subsistema</a:t>
            </a:r>
            <a:r>
              <a:rPr lang="en-US" sz="1900" b="1" dirty="0">
                <a:solidFill>
                  <a:srgbClr val="FFFFFF"/>
                </a:solidFill>
                <a:latin typeface="Calibri" pitchFamily="34" charset="0"/>
                <a:ea typeface="Calibri" pitchFamily="34" charset="-122"/>
                <a:cs typeface="Calibri" pitchFamily="34" charset="-120"/>
              </a:rPr>
              <a:t>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1" name="Text 19"/>
          <p:cNvSpPr/>
          <p:nvPr/>
        </p:nvSpPr>
        <p:spPr>
          <a:xfrm>
            <a:off x="177198" y="1882411"/>
            <a:ext cx="11341401"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Se obtiene entonces el modelo mecánico equivalente completo (referido al eje del motor):</a:t>
            </a:r>
            <a:endParaRPr lang="es-AR" sz="1400" dirty="0"/>
          </a:p>
        </p:txBody>
      </p:sp>
      <p:sp>
        <p:nvSpPr>
          <p:cNvPr id="22" name="Shape 20"/>
          <p:cNvSpPr/>
          <p:nvPr/>
        </p:nvSpPr>
        <p:spPr>
          <a:xfrm>
            <a:off x="182880" y="2335739"/>
            <a:ext cx="11247120" cy="121446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21"/>
              <p:cNvSpPr/>
              <p:nvPr/>
            </p:nvSpPr>
            <p:spPr>
              <a:xfrm>
                <a:off x="-373473" y="2625559"/>
                <a:ext cx="5178523" cy="59436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es-AR" sz="1600" i="1">
                                    <a:effectLst/>
                                    <a:latin typeface="Cambria Math" panose="02040503050406030204" pitchFamily="18" charset="0"/>
                                    <a:ea typeface="Cambria Math" panose="02040503050406030204" pitchFamily="18" charset="0"/>
                                    <a:cs typeface="Cambria Math" panose="02040503050406030204" pitchFamily="18" charset="0"/>
                                  </a:rPr>
                                  <m:t>𝑦</m:t>
                                </m:r>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600" dirty="0"/>
              </a:p>
            </p:txBody>
          </p:sp>
        </mc:Choice>
        <mc:Fallback xmlns="">
          <p:sp>
            <p:nvSpPr>
              <p:cNvPr id="23" name="Text 21"/>
              <p:cNvSpPr>
                <a:spLocks noRot="1" noChangeAspect="1" noMove="1" noResize="1" noEditPoints="1" noAdjustHandles="1" noChangeArrowheads="1" noChangeShapeType="1" noTextEdit="1"/>
              </p:cNvSpPr>
              <p:nvPr/>
            </p:nvSpPr>
            <p:spPr>
              <a:xfrm>
                <a:off x="-373473" y="2625559"/>
                <a:ext cx="5178523" cy="594360"/>
              </a:xfrm>
              <a:prstGeom prst="rect">
                <a:avLst/>
              </a:prstGeom>
              <a:blipFill>
                <a:blip r:embed="rId2"/>
                <a:stretch>
                  <a:fillRect t="-37113" b="-44330"/>
                </a:stretch>
              </a:blipFill>
              <a:ln/>
            </p:spPr>
            <p:txBody>
              <a:bodyPr/>
              <a:lstStyle/>
              <a:p>
                <a:r>
                  <a:rPr lang="es-AR">
                    <a:noFill/>
                  </a:rPr>
                  <a:t> </a:t>
                </a:r>
              </a:p>
            </p:txBody>
          </p:sp>
        </mc:Fallback>
      </mc:AlternateContent>
      <p:sp>
        <p:nvSpPr>
          <p:cNvPr id="25" name="Text 6">
            <a:extLst>
              <a:ext uri="{FF2B5EF4-FFF2-40B4-BE49-F238E27FC236}">
                <a16:creationId xmlns:a16="http://schemas.microsoft.com/office/drawing/2014/main" id="{59955CD1-FD34-4648-B4C4-E65F5F9E10DD}"/>
              </a:ext>
            </a:extLst>
          </p:cNvPr>
          <p:cNvSpPr/>
          <p:nvPr/>
        </p:nvSpPr>
        <p:spPr>
          <a:xfrm>
            <a:off x="177198" y="715313"/>
            <a:ext cx="11618562"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Con los siguientes vectores de estados, entrada y salida, respectivamente:</a:t>
            </a:r>
            <a:endParaRPr lang="es-AR" sz="1300" dirty="0"/>
          </a:p>
        </p:txBody>
      </p:sp>
      <p:sp>
        <p:nvSpPr>
          <p:cNvPr id="27" name="Shape 20">
            <a:extLst>
              <a:ext uri="{FF2B5EF4-FFF2-40B4-BE49-F238E27FC236}">
                <a16:creationId xmlns:a16="http://schemas.microsoft.com/office/drawing/2014/main" id="{05FE7D54-3017-4137-9195-493937B70021}"/>
              </a:ext>
            </a:extLst>
          </p:cNvPr>
          <p:cNvSpPr/>
          <p:nvPr/>
        </p:nvSpPr>
        <p:spPr>
          <a:xfrm>
            <a:off x="182879" y="1057709"/>
            <a:ext cx="11244279" cy="79176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8" name="Text 21">
                <a:extLst>
                  <a:ext uri="{FF2B5EF4-FFF2-40B4-BE49-F238E27FC236}">
                    <a16:creationId xmlns:a16="http://schemas.microsoft.com/office/drawing/2014/main" id="{9CB1D5DA-B895-49EC-AF0F-2B5E12F4D128}"/>
                  </a:ext>
                </a:extLst>
              </p:cNvPr>
              <p:cNvSpPr/>
              <p:nvPr/>
            </p:nvSpPr>
            <p:spPr>
              <a:xfrm>
                <a:off x="91440" y="1109831"/>
                <a:ext cx="5387571" cy="594360"/>
              </a:xfrm>
              <a:prstGeom prst="rect">
                <a:avLst/>
              </a:prstGeom>
              <a:noFill/>
              <a:ln/>
            </p:spPr>
            <p:txBody>
              <a:bodyPr wrap="square" rtlCol="0" anchor="ctr"/>
              <a:lstStyle/>
              <a:p>
                <a:pPr algn="ctr"/>
                <a14:m>
                  <m:oMath xmlns:m="http://schemas.openxmlformats.org/officeDocument/2006/math">
                    <m:r>
                      <a:rPr lang="es-AR" sz="1600" i="1" smtClean="0">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MX" sz="1600" b="0" i="1" smtClean="0">
                        <a:latin typeface="Cambria Math" panose="02040503050406030204" pitchFamily="18" charset="0"/>
                      </a:rPr>
                      <m:t>    </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a14:m>
                <a:endParaRPr lang="en-US" sz="1600" dirty="0"/>
              </a:p>
            </p:txBody>
          </p:sp>
        </mc:Choice>
        <mc:Fallback xmlns="">
          <p:sp>
            <p:nvSpPr>
              <p:cNvPr id="28" name="Text 21">
                <a:extLst>
                  <a:ext uri="{FF2B5EF4-FFF2-40B4-BE49-F238E27FC236}">
                    <a16:creationId xmlns:a16="http://schemas.microsoft.com/office/drawing/2014/main" id="{9CB1D5DA-B895-49EC-AF0F-2B5E12F4D128}"/>
                  </a:ext>
                </a:extLst>
              </p:cNvPr>
              <p:cNvSpPr>
                <a:spLocks noRot="1" noChangeAspect="1" noMove="1" noResize="1" noEditPoints="1" noAdjustHandles="1" noChangeArrowheads="1" noChangeShapeType="1" noTextEdit="1"/>
              </p:cNvSpPr>
              <p:nvPr/>
            </p:nvSpPr>
            <p:spPr>
              <a:xfrm>
                <a:off x="91440" y="1109831"/>
                <a:ext cx="5387571" cy="594360"/>
              </a:xfrm>
              <a:prstGeom prst="rect">
                <a:avLst/>
              </a:prstGeom>
              <a:blipFill>
                <a:blip r:embed="rId3"/>
                <a:stretch>
                  <a:fillRect b="-2041"/>
                </a:stretch>
              </a:blipFill>
              <a:ln/>
            </p:spPr>
            <p:txBody>
              <a:bodyPr/>
              <a:lstStyle/>
              <a:p>
                <a:r>
                  <a:rPr lang="es-AR">
                    <a:noFill/>
                  </a:rPr>
                  <a:t> </a:t>
                </a:r>
              </a:p>
            </p:txBody>
          </p:sp>
        </mc:Fallback>
      </mc:AlternateContent>
      <p:sp>
        <p:nvSpPr>
          <p:cNvPr id="29" name="Text 19">
            <a:extLst>
              <a:ext uri="{FF2B5EF4-FFF2-40B4-BE49-F238E27FC236}">
                <a16:creationId xmlns:a16="http://schemas.microsoft.com/office/drawing/2014/main" id="{CE663B03-D651-4B0D-8172-D7C28A9FF0C5}"/>
              </a:ext>
            </a:extLst>
          </p:cNvPr>
          <p:cNvSpPr/>
          <p:nvPr/>
        </p:nvSpPr>
        <p:spPr>
          <a:xfrm>
            <a:off x="227179" y="3681280"/>
            <a:ext cx="11291420"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Representación matricial en espacio de estados:</a:t>
            </a:r>
            <a:endParaRPr lang="es-AR" sz="1400" dirty="0"/>
          </a:p>
        </p:txBody>
      </p:sp>
      <p:sp>
        <p:nvSpPr>
          <p:cNvPr id="30" name="Shape 20">
            <a:extLst>
              <a:ext uri="{FF2B5EF4-FFF2-40B4-BE49-F238E27FC236}">
                <a16:creationId xmlns:a16="http://schemas.microsoft.com/office/drawing/2014/main" id="{8B4DE1EB-B212-4A92-A0D0-0B0C5C1971DD}"/>
              </a:ext>
            </a:extLst>
          </p:cNvPr>
          <p:cNvSpPr/>
          <p:nvPr/>
        </p:nvSpPr>
        <p:spPr>
          <a:xfrm>
            <a:off x="227179" y="4231196"/>
            <a:ext cx="11158521" cy="121446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31" name="Text 21">
                <a:extLst>
                  <a:ext uri="{FF2B5EF4-FFF2-40B4-BE49-F238E27FC236}">
                    <a16:creationId xmlns:a16="http://schemas.microsoft.com/office/drawing/2014/main" id="{2F45BAC8-DE8F-46C4-B1B9-E38DCFAD6909}"/>
                  </a:ext>
                </a:extLst>
              </p:cNvPr>
              <p:cNvSpPr/>
              <p:nvPr/>
            </p:nvSpPr>
            <p:spPr>
              <a:xfrm>
                <a:off x="91440" y="4558603"/>
                <a:ext cx="5178523"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eqArr>
                            <m:eqArrPr>
                              <m:ctrlPr>
                                <a:rPr lang="es-AR" sz="1400" i="1">
                                  <a:effectLst/>
                                  <a:latin typeface="Cambria Math" panose="02040503050406030204" pitchFamily="18" charset="0"/>
                                  <a:ea typeface="Times New Roman" panose="02020603050405020304" pitchFamily="18" charset="0"/>
                                </a:rPr>
                              </m:ctrlPr>
                            </m:eqArrPr>
                            <m:e>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b="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𝑦</m:t>
                              </m:r>
                              <m:d>
                                <m:dPr>
                                  <m:ctrlPr>
                                    <a:rPr lang="es-AR" sz="1400" i="1">
                                      <a:effectLst/>
                                      <a:latin typeface="Cambria Math" panose="02040503050406030204" pitchFamily="18" charset="0"/>
                                      <a:ea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US" sz="1400" dirty="0"/>
              </a:p>
            </p:txBody>
          </p:sp>
        </mc:Choice>
        <mc:Fallback xmlns="">
          <p:sp>
            <p:nvSpPr>
              <p:cNvPr id="31" name="Text 21">
                <a:extLst>
                  <a:ext uri="{FF2B5EF4-FFF2-40B4-BE49-F238E27FC236}">
                    <a16:creationId xmlns:a16="http://schemas.microsoft.com/office/drawing/2014/main" id="{2F45BAC8-DE8F-46C4-B1B9-E38DCFAD6909}"/>
                  </a:ext>
                </a:extLst>
              </p:cNvPr>
              <p:cNvSpPr>
                <a:spLocks noRot="1" noChangeAspect="1" noMove="1" noResize="1" noEditPoints="1" noAdjustHandles="1" noChangeArrowheads="1" noChangeShapeType="1" noTextEdit="1"/>
              </p:cNvSpPr>
              <p:nvPr/>
            </p:nvSpPr>
            <p:spPr>
              <a:xfrm>
                <a:off x="91440" y="4558603"/>
                <a:ext cx="5178523" cy="594360"/>
              </a:xfrm>
              <a:prstGeom prst="rect">
                <a:avLst/>
              </a:prstGeom>
              <a:blipFill>
                <a:blip r:embed="rId4"/>
                <a:stretch>
                  <a:fillRect t="-31959" b="-36082"/>
                </a:stretch>
              </a:blipFill>
              <a:ln/>
            </p:spPr>
            <p:txBody>
              <a:bodyPr/>
              <a:lstStyle/>
              <a:p>
                <a:r>
                  <a:rPr lang="es-AR">
                    <a:noFill/>
                  </a:rPr>
                  <a:t> </a:t>
                </a:r>
              </a:p>
            </p:txBody>
          </p:sp>
        </mc:Fallback>
      </mc:AlternateContent>
    </p:spTree>
    <p:extLst>
      <p:ext uri="{BB962C8B-B14F-4D97-AF65-F5344CB8AC3E}">
        <p14:creationId xmlns:p14="http://schemas.microsoft.com/office/powerpoint/2010/main" val="2774258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5" name="Text 23"/>
          <p:cNvSpPr/>
          <p:nvPr/>
        </p:nvSpPr>
        <p:spPr>
          <a:xfrm>
            <a:off x="274320" y="5146645"/>
            <a:ext cx="11247120" cy="73152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2 — Diagrama de bloques Simulink del subsistema mecánico</a:t>
            </a:r>
            <a:endParaRPr lang="en-US" sz="1100" dirty="0"/>
          </a:p>
        </p:txBody>
      </p:sp>
      <p:pic>
        <p:nvPicPr>
          <p:cNvPr id="8" name="Imagen 7">
            <a:extLst>
              <a:ext uri="{FF2B5EF4-FFF2-40B4-BE49-F238E27FC236}">
                <a16:creationId xmlns:a16="http://schemas.microsoft.com/office/drawing/2014/main" id="{03C02F6E-DCE2-418F-B492-D759EBA8D24F}"/>
              </a:ext>
            </a:extLst>
          </p:cNvPr>
          <p:cNvPicPr>
            <a:picLocks noChangeAspect="1"/>
          </p:cNvPicPr>
          <p:nvPr/>
        </p:nvPicPr>
        <p:blipFill>
          <a:blip r:embed="rId2"/>
          <a:stretch>
            <a:fillRect/>
          </a:stretch>
        </p:blipFill>
        <p:spPr>
          <a:xfrm>
            <a:off x="286138" y="964586"/>
            <a:ext cx="10869542" cy="41820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6">
            <a:extLst>
              <a:ext uri="{FF2B5EF4-FFF2-40B4-BE49-F238E27FC236}">
                <a16:creationId xmlns:a16="http://schemas.microsoft.com/office/drawing/2014/main" id="{F39677F8-8741-419C-ACC2-2D0D8DF251F6}"/>
              </a:ext>
            </a:extLst>
          </p:cNvPr>
          <p:cNvSpPr/>
          <p:nvPr/>
        </p:nvSpPr>
        <p:spPr>
          <a:xfrm>
            <a:off x="271212" y="2629425"/>
            <a:ext cx="11210722" cy="1372030"/>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161573" y="76047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El PMSM es síncrono: la velocidad del rotor coincide con la del campo magnético rodante.</a:t>
            </a:r>
            <a:endParaRPr lang="en-US" sz="1400" dirty="0"/>
          </a:p>
        </p:txBody>
      </p:sp>
      <p:sp>
        <p:nvSpPr>
          <p:cNvPr id="8" name="Shape 6"/>
          <p:cNvSpPr/>
          <p:nvPr/>
        </p:nvSpPr>
        <p:spPr>
          <a:xfrm>
            <a:off x="1371600" y="1103718"/>
            <a:ext cx="9144000" cy="548640"/>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9" name="Text 7"/>
              <p:cNvSpPr/>
              <p:nvPr/>
            </p:nvSpPr>
            <p:spPr>
              <a:xfrm>
                <a:off x="1463040" y="1082368"/>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p:sp>
            <p:nvSpPr>
              <p:cNvPr id="9" name="Text 7"/>
              <p:cNvSpPr>
                <a:spLocks noRot="1" noChangeAspect="1" noMove="1" noResize="1" noEditPoints="1" noAdjustHandles="1" noChangeArrowheads="1" noChangeShapeType="1" noTextEdit="1"/>
              </p:cNvSpPr>
              <p:nvPr/>
            </p:nvSpPr>
            <p:spPr>
              <a:xfrm>
                <a:off x="1463040" y="1082368"/>
                <a:ext cx="8961120" cy="548640"/>
              </a:xfrm>
              <a:prstGeom prst="rect">
                <a:avLst/>
              </a:prstGeom>
              <a:blipFill>
                <a:blip r:embed="rId2"/>
                <a:stretch>
                  <a:fillRect/>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0" name="Text 8"/>
              <p:cNvSpPr/>
              <p:nvPr/>
            </p:nvSpPr>
            <p:spPr>
              <a:xfrm>
                <a:off x="161573" y="1732212"/>
                <a:ext cx="11430000" cy="73152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La transformación de Park convierte el sistema trifásico estacionario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a un sistema rotante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𝑞𝑑</m:t>
                    </m:r>
                    <m:r>
                      <a:rPr lang="es-AR" sz="1300" i="1" smtClean="0">
                        <a:solidFill>
                          <a:srgbClr val="111111"/>
                        </a:solidFill>
                        <a:latin typeface="Cambria Math" panose="02040503050406030204" pitchFamily="18" charset="0"/>
                        <a:ea typeface="Calibri" pitchFamily="34" charset="-122"/>
                        <a:cs typeface="Calibri" pitchFamily="34" charset="-120"/>
                      </a:rPr>
                      <m:t>0</m:t>
                    </m:r>
                    <m:r>
                      <a:rPr lang="es-AR" sz="1300" i="1" smtClean="0">
                        <a:solidFill>
                          <a:srgbClr val="111111"/>
                        </a:solidFill>
                        <a:latin typeface="Cambria Math" panose="02040503050406030204" pitchFamily="18" charset="0"/>
                        <a:ea typeface="Calibri" pitchFamily="34" charset="-122"/>
                        <a:cs typeface="Calibri" pitchFamily="34" charset="-120"/>
                      </a:rPr>
                      <m:t>𝑟</m:t>
                    </m:r>
                  </m:oMath>
                </a14:m>
                <a:r>
                  <a:rPr lang="es-AR" sz="1300" dirty="0">
                    <a:solidFill>
                      <a:srgbClr val="111111"/>
                    </a:solidFill>
                    <a:latin typeface="Calibri" pitchFamily="34" charset="0"/>
                    <a:ea typeface="Calibri" pitchFamily="34" charset="-122"/>
                    <a:cs typeface="Calibri" pitchFamily="34" charset="-120"/>
                  </a:rPr>
                  <a:t> que gira a velocidad eléctrica </a:t>
                </a:r>
                <a14:m>
                  <m:oMath xmlns:m="http://schemas.openxmlformats.org/officeDocument/2006/math">
                    <m:sSub>
                      <m:sSubPr>
                        <m:ctrlPr>
                          <a:rPr lang="es-AR" sz="1300" i="1">
                            <a:solidFill>
                              <a:srgbClr val="111111"/>
                            </a:solidFill>
                            <a:latin typeface="Cambria Math" panose="02040503050406030204" pitchFamily="18" charset="0"/>
                            <a:ea typeface="Calibri" pitchFamily="34" charset="-122"/>
                            <a:cs typeface="Calibri" pitchFamily="34" charset="-120"/>
                          </a:rPr>
                        </m:ctrlPr>
                      </m:sSubPr>
                      <m:e>
                        <m:r>
                          <a:rPr lang="es-AR" sz="1300">
                            <a:solidFill>
                              <a:srgbClr val="111111"/>
                            </a:solidFill>
                            <a:latin typeface="Cambria Math" panose="02040503050406030204" pitchFamily="18" charset="0"/>
                            <a:ea typeface="Calibri" pitchFamily="34" charset="-122"/>
                            <a:cs typeface="Calibri" pitchFamily="34" charset="-120"/>
                          </a:rPr>
                          <m:t>𝜔</m:t>
                        </m:r>
                      </m:e>
                      <m:sub>
                        <m:r>
                          <a:rPr lang="es-AR" sz="1300">
                            <a:solidFill>
                              <a:srgbClr val="111111"/>
                            </a:solidFill>
                            <a:latin typeface="Cambria Math" panose="02040503050406030204" pitchFamily="18" charset="0"/>
                            <a:ea typeface="Calibri" pitchFamily="34" charset="-122"/>
                            <a:cs typeface="Calibri" pitchFamily="34" charset="-120"/>
                          </a:rPr>
                          <m:t>𝑟</m:t>
                        </m:r>
                      </m:sub>
                    </m:sSub>
                    <m:d>
                      <m:dPr>
                        <m:ctrlPr>
                          <a:rPr lang="es-AR" sz="1300" i="1">
                            <a:solidFill>
                              <a:srgbClr val="111111"/>
                            </a:solidFill>
                            <a:latin typeface="Cambria Math" panose="02040503050406030204" pitchFamily="18" charset="0"/>
                            <a:ea typeface="Calibri" pitchFamily="34" charset="-122"/>
                            <a:cs typeface="Calibri" pitchFamily="34" charset="-120"/>
                          </a:rPr>
                        </m:ctrlPr>
                      </m:dPr>
                      <m:e>
                        <m:r>
                          <a:rPr lang="es-AR" sz="1300">
                            <a:solidFill>
                              <a:srgbClr val="111111"/>
                            </a:solidFill>
                            <a:latin typeface="Cambria Math" panose="02040503050406030204" pitchFamily="18" charset="0"/>
                            <a:ea typeface="Calibri" pitchFamily="34" charset="-122"/>
                            <a:cs typeface="Calibri" pitchFamily="34" charset="-120"/>
                          </a:rPr>
                          <m:t>𝑡</m:t>
                        </m:r>
                      </m:e>
                    </m:d>
                    <m:r>
                      <a:rPr lang="es-AR" sz="1300">
                        <a:solidFill>
                          <a:srgbClr val="111111"/>
                        </a:solidFill>
                        <a:latin typeface="Cambria Math" panose="02040503050406030204" pitchFamily="18" charset="0"/>
                        <a:ea typeface="Calibri" pitchFamily="34" charset="-122"/>
                        <a:cs typeface="Calibri" pitchFamily="34" charset="-120"/>
                      </a:rPr>
                      <m:t>=2</m:t>
                    </m:r>
                    <m:r>
                      <a:rPr lang="es-AR" sz="1300">
                        <a:solidFill>
                          <a:srgbClr val="111111"/>
                        </a:solidFill>
                        <a:latin typeface="Cambria Math" panose="02040503050406030204" pitchFamily="18" charset="0"/>
                        <a:ea typeface="Calibri" pitchFamily="34" charset="-122"/>
                        <a:cs typeface="Calibri" pitchFamily="34" charset="-120"/>
                      </a:rPr>
                      <m:t>𝜋</m:t>
                    </m:r>
                    <m:r>
                      <a:rPr lang="es-AR" sz="1300">
                        <a:solidFill>
                          <a:srgbClr val="111111"/>
                        </a:solidFill>
                        <a:latin typeface="Cambria Math" panose="02040503050406030204" pitchFamily="18" charset="0"/>
                        <a:ea typeface="Calibri" pitchFamily="34" charset="-122"/>
                        <a:cs typeface="Calibri" pitchFamily="34" charset="-120"/>
                      </a:rPr>
                      <m:t>𝑓</m:t>
                    </m:r>
                  </m:oMath>
                </a14:m>
                <a:r>
                  <a:rPr lang="es-AR" sz="1300" dirty="0">
                    <a:solidFill>
                      <a:srgbClr val="111111"/>
                    </a:solidFill>
                    <a:latin typeface="Calibri" pitchFamily="34" charset="0"/>
                    <a:ea typeface="Calibri" pitchFamily="34" charset="-122"/>
                    <a:cs typeface="Calibri" pitchFamily="34" charset="-120"/>
                  </a:rPr>
                  <a:t>. Las señales sinusoidales en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se transforman en variables aproximadamente constantes en régimen permanente, facilitando el diseño del control.</a:t>
                </a:r>
                <a:endParaRPr lang="es-AR" sz="1300" dirty="0"/>
              </a:p>
            </p:txBody>
          </p:sp>
        </mc:Choice>
        <mc:Fallback>
          <p:sp>
            <p:nvSpPr>
              <p:cNvPr id="10" name="Text 8"/>
              <p:cNvSpPr>
                <a:spLocks noRot="1" noChangeAspect="1" noMove="1" noResize="1" noEditPoints="1" noAdjustHandles="1" noChangeArrowheads="1" noChangeShapeType="1" noTextEdit="1"/>
              </p:cNvSpPr>
              <p:nvPr/>
            </p:nvSpPr>
            <p:spPr>
              <a:xfrm>
                <a:off x="161573" y="1732212"/>
                <a:ext cx="11430000" cy="731520"/>
              </a:xfrm>
              <a:prstGeom prst="rect">
                <a:avLst/>
              </a:prstGeom>
              <a:blipFill>
                <a:blip r:embed="rId3"/>
                <a:stretch>
                  <a:fillRect l="-107" t="-833"/>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0773CF10-C926-47C3-9DB9-8212B5133B9D}"/>
                  </a:ext>
                </a:extLst>
              </p:cNvPr>
              <p:cNvSpPr txBox="1"/>
              <p:nvPr/>
            </p:nvSpPr>
            <p:spPr>
              <a:xfrm>
                <a:off x="99280" y="2782921"/>
                <a:ext cx="5698726" cy="927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p>
            </p:txBody>
          </p:sp>
        </mc:Choice>
        <mc:Fallback>
          <p:sp>
            <p:nvSpPr>
              <p:cNvPr id="18" name="CuadroTexto 17">
                <a:extLst>
                  <a:ext uri="{FF2B5EF4-FFF2-40B4-BE49-F238E27FC236}">
                    <a16:creationId xmlns:a16="http://schemas.microsoft.com/office/drawing/2014/main" id="{0773CF10-C926-47C3-9DB9-8212B5133B9D}"/>
                  </a:ext>
                </a:extLst>
              </p:cNvPr>
              <p:cNvSpPr txBox="1">
                <a:spLocks noRot="1" noChangeAspect="1" noMove="1" noResize="1" noEditPoints="1" noAdjustHandles="1" noChangeArrowheads="1" noChangeShapeType="1" noTextEdit="1"/>
              </p:cNvSpPr>
              <p:nvPr/>
            </p:nvSpPr>
            <p:spPr>
              <a:xfrm>
                <a:off x="99280" y="2782921"/>
                <a:ext cx="5698726" cy="92756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152BB38B-053F-4FC4-B437-B4A2C041E4CB}"/>
                  </a:ext>
                </a:extLst>
              </p:cNvPr>
              <p:cNvSpPr txBox="1"/>
              <p:nvPr/>
            </p:nvSpPr>
            <p:spPr>
              <a:xfrm>
                <a:off x="5444676" y="2776788"/>
                <a:ext cx="6280950" cy="886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solidFill>
                    <a:schemeClr val="tx1"/>
                  </a:solidFill>
                </a:endParaRPr>
              </a:p>
            </p:txBody>
          </p:sp>
        </mc:Choice>
        <mc:Fallback>
          <p:sp>
            <p:nvSpPr>
              <p:cNvPr id="20" name="CuadroTexto 19">
                <a:extLst>
                  <a:ext uri="{FF2B5EF4-FFF2-40B4-BE49-F238E27FC236}">
                    <a16:creationId xmlns:a16="http://schemas.microsoft.com/office/drawing/2014/main" id="{152BB38B-053F-4FC4-B437-B4A2C041E4CB}"/>
                  </a:ext>
                </a:extLst>
              </p:cNvPr>
              <p:cNvSpPr txBox="1">
                <a:spLocks noRot="1" noChangeAspect="1" noMove="1" noResize="1" noEditPoints="1" noAdjustHandles="1" noChangeArrowheads="1" noChangeShapeType="1" noTextEdit="1"/>
              </p:cNvSpPr>
              <p:nvPr/>
            </p:nvSpPr>
            <p:spPr>
              <a:xfrm>
                <a:off x="5444676" y="2776788"/>
                <a:ext cx="6280950" cy="886012"/>
              </a:xfrm>
              <a:prstGeom prst="rect">
                <a:avLst/>
              </a:prstGeom>
              <a:blipFill>
                <a:blip r:embed="rId5"/>
                <a:stretch>
                  <a:fillRect/>
                </a:stretch>
              </a:blipFill>
            </p:spPr>
            <p:txBody>
              <a:bodyPr/>
              <a:lstStyle/>
              <a:p>
                <a:r>
                  <a:rPr lang="es-AR">
                    <a:noFill/>
                  </a:rPr>
                  <a:t> </a:t>
                </a:r>
              </a:p>
            </p:txBody>
          </p:sp>
        </mc:Fallback>
      </mc:AlternateContent>
      <p:sp>
        <p:nvSpPr>
          <p:cNvPr id="24" name="Text 8">
            <a:extLst>
              <a:ext uri="{FF2B5EF4-FFF2-40B4-BE49-F238E27FC236}">
                <a16:creationId xmlns:a16="http://schemas.microsoft.com/office/drawing/2014/main" id="{54B8DB2A-BA6B-41D8-90FF-4614853674F0}"/>
              </a:ext>
            </a:extLst>
          </p:cNvPr>
          <p:cNvSpPr/>
          <p:nvPr/>
        </p:nvSpPr>
        <p:spPr>
          <a:xfrm>
            <a:off x="274320" y="2316084"/>
            <a:ext cx="2628678"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directa de Park:</a:t>
            </a:r>
            <a:endParaRPr lang="es-AR" sz="1300" b="1" dirty="0"/>
          </a:p>
        </p:txBody>
      </p:sp>
      <p:sp>
        <p:nvSpPr>
          <p:cNvPr id="25" name="Text 8">
            <a:extLst>
              <a:ext uri="{FF2B5EF4-FFF2-40B4-BE49-F238E27FC236}">
                <a16:creationId xmlns:a16="http://schemas.microsoft.com/office/drawing/2014/main" id="{74590FBB-C950-45EA-A07D-45F2DDD51A93}"/>
              </a:ext>
            </a:extLst>
          </p:cNvPr>
          <p:cNvSpPr/>
          <p:nvPr/>
        </p:nvSpPr>
        <p:spPr>
          <a:xfrm>
            <a:off x="6267636" y="2319191"/>
            <a:ext cx="2388092"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inversa de Park:</a:t>
            </a:r>
            <a:endParaRPr lang="es-AR" sz="1300" b="1" dirty="0"/>
          </a:p>
        </p:txBody>
      </p:sp>
      <mc:AlternateContent xmlns:mc="http://schemas.openxmlformats.org/markup-compatibility/2006">
        <mc:Choice xmlns:a14="http://schemas.microsoft.com/office/drawing/2010/main" Requires="a14">
          <p:sp>
            <p:nvSpPr>
              <p:cNvPr id="27" name="Text 8">
                <a:extLst>
                  <a:ext uri="{FF2B5EF4-FFF2-40B4-BE49-F238E27FC236}">
                    <a16:creationId xmlns:a16="http://schemas.microsoft.com/office/drawing/2014/main" id="{1D34D745-8CFD-4B34-851B-3B6060ED7E8C}"/>
                  </a:ext>
                </a:extLst>
              </p:cNvPr>
              <p:cNvSpPr/>
              <p:nvPr/>
            </p:nvSpPr>
            <p:spPr>
              <a:xfrm>
                <a:off x="228600" y="4059050"/>
                <a:ext cx="11430000" cy="731520"/>
              </a:xfrm>
              <a:prstGeom prst="rect">
                <a:avLst/>
              </a:prstGeom>
              <a:noFill/>
              <a:ln/>
            </p:spPr>
            <p:txBody>
              <a:bodyPr wrap="square" rtlCol="0" anchor="t"/>
              <a:lstStyle/>
              <a:p>
                <a:r>
                  <a:rPr lang="es-AR" sz="1400" dirty="0"/>
                  <a:t>Las expresiones de </a:t>
                </a:r>
                <a14:m>
                  <m:oMath xmlns:m="http://schemas.openxmlformats.org/officeDocument/2006/math">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se puede representar tensión </a:t>
                </a:r>
                <a14:m>
                  <m:oMath xmlns:m="http://schemas.openxmlformats.org/officeDocument/2006/math">
                    <m:r>
                      <a:rPr lang="es-AR" sz="1400" i="1">
                        <a:latin typeface="Cambria Math" panose="02040503050406030204" pitchFamily="18" charset="0"/>
                      </a:rPr>
                      <m:t>𝑣</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corriente </a:t>
                </a:r>
                <a14:m>
                  <m:oMath xmlns:m="http://schemas.openxmlformats.org/officeDocument/2006/math">
                    <m:r>
                      <a:rPr lang="es-AR" sz="1400" i="1">
                        <a:latin typeface="Cambria Math" panose="02040503050406030204" pitchFamily="18" charset="0"/>
                      </a:rPr>
                      <m:t>𝑖</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flujo concatenado </a:t>
                </a:r>
                <a14:m>
                  <m:oMath xmlns:m="http://schemas.openxmlformats.org/officeDocument/2006/math">
                    <m:r>
                      <a:rPr lang="es-AR" sz="1400" i="1">
                        <a:latin typeface="Cambria Math" panose="02040503050406030204" pitchFamily="18" charset="0"/>
                      </a:rPr>
                      <m:t>𝜆</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¸etc.</a:t>
                </a:r>
              </a:p>
            </p:txBody>
          </p:sp>
        </mc:Choice>
        <mc:Fallback>
          <p:sp>
            <p:nvSpPr>
              <p:cNvPr id="27" name="Text 8">
                <a:extLst>
                  <a:ext uri="{FF2B5EF4-FFF2-40B4-BE49-F238E27FC236}">
                    <a16:creationId xmlns:a16="http://schemas.microsoft.com/office/drawing/2014/main" id="{1D34D745-8CFD-4B34-851B-3B6060ED7E8C}"/>
                  </a:ext>
                </a:extLst>
              </p:cNvPr>
              <p:cNvSpPr>
                <a:spLocks noRot="1" noChangeAspect="1" noMove="1" noResize="1" noEditPoints="1" noAdjustHandles="1" noChangeArrowheads="1" noChangeShapeType="1" noTextEdit="1"/>
              </p:cNvSpPr>
              <p:nvPr/>
            </p:nvSpPr>
            <p:spPr>
              <a:xfrm>
                <a:off x="228600" y="4059050"/>
                <a:ext cx="11430000" cy="731520"/>
              </a:xfrm>
              <a:prstGeom prst="rect">
                <a:avLst/>
              </a:prstGeom>
              <a:blipFill>
                <a:blip r:embed="rId6"/>
                <a:stretch>
                  <a:fillRect l="-160" t="-1667"/>
                </a:stretch>
              </a:blipFill>
              <a:ln/>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C240382E-B464-47CA-9B22-CC7A848DA512}"/>
              </a:ext>
            </a:extLst>
          </p:cNvPr>
          <p:cNvSpPr txBox="1"/>
          <p:nvPr/>
        </p:nvSpPr>
        <p:spPr>
          <a:xfrm>
            <a:off x="274320" y="136634"/>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pic>
        <p:nvPicPr>
          <p:cNvPr id="16" name="Imagen 15">
            <a:extLst>
              <a:ext uri="{FF2B5EF4-FFF2-40B4-BE49-F238E27FC236}">
                <a16:creationId xmlns:a16="http://schemas.microsoft.com/office/drawing/2014/main" id="{B742D08B-8B80-4687-BFC9-2E8529ABFF12}"/>
              </a:ext>
            </a:extLst>
          </p:cNvPr>
          <p:cNvPicPr>
            <a:picLocks noChangeAspect="1"/>
          </p:cNvPicPr>
          <p:nvPr/>
        </p:nvPicPr>
        <p:blipFill>
          <a:blip r:embed="rId7"/>
          <a:stretch>
            <a:fillRect/>
          </a:stretch>
        </p:blipFill>
        <p:spPr>
          <a:xfrm>
            <a:off x="302626" y="4391745"/>
            <a:ext cx="4316699" cy="2092945"/>
          </a:xfrm>
          <a:prstGeom prst="rect">
            <a:avLst/>
          </a:prstGeom>
        </p:spPr>
      </p:pic>
      <p:sp>
        <p:nvSpPr>
          <p:cNvPr id="17" name="Text 10">
            <a:extLst>
              <a:ext uri="{FF2B5EF4-FFF2-40B4-BE49-F238E27FC236}">
                <a16:creationId xmlns:a16="http://schemas.microsoft.com/office/drawing/2014/main" id="{E59DCB59-1367-4BCF-B1D3-ED7C1C0104E2}"/>
              </a:ext>
            </a:extLst>
          </p:cNvPr>
          <p:cNvSpPr/>
          <p:nvPr/>
        </p:nvSpPr>
        <p:spPr>
          <a:xfrm>
            <a:off x="4693351" y="4871272"/>
            <a:ext cx="5282281" cy="685800"/>
          </a:xfrm>
          <a:prstGeom prst="rect">
            <a:avLst/>
          </a:prstGeom>
          <a:noFill/>
          <a:ln/>
        </p:spPr>
        <p:txBody>
          <a:bodyPr wrap="square" rtlCol="0" anchor="ctr"/>
          <a:lstStyle/>
          <a:p>
            <a:pPr marL="0" indent="0" algn="ctr">
              <a:buNone/>
            </a:pPr>
            <a:br>
              <a:rPr lang="en-US" sz="1100" i="1" dirty="0">
                <a:solidFill>
                  <a:srgbClr val="224488"/>
                </a:solidFill>
                <a:latin typeface="Calibri" pitchFamily="34" charset="0"/>
                <a:ea typeface="Calibri" pitchFamily="34" charset="-122"/>
                <a:cs typeface="Calibri" pitchFamily="34" charset="-120"/>
              </a:rPr>
            </a:br>
            <a:r>
              <a:rPr lang="en-US" sz="1100" i="1" dirty="0">
                <a:solidFill>
                  <a:srgbClr val="224488"/>
                </a:solidFill>
                <a:latin typeface="Calibri" pitchFamily="34" charset="0"/>
                <a:ea typeface="Calibri" pitchFamily="34" charset="-122"/>
                <a:cs typeface="Calibri" pitchFamily="34" charset="-120"/>
              </a:rPr>
              <a:t> FIGURA: Figura 3 — Bloques Simulink de la </a:t>
            </a:r>
            <a:r>
              <a:rPr lang="en-US" sz="1100" i="1" dirty="0" err="1">
                <a:solidFill>
                  <a:srgbClr val="224488"/>
                </a:solidFill>
                <a:latin typeface="Calibri" pitchFamily="34" charset="0"/>
                <a:ea typeface="Calibri" pitchFamily="34" charset="-122"/>
                <a:cs typeface="Calibri" pitchFamily="34" charset="-120"/>
              </a:rPr>
              <a:t>transformación</a:t>
            </a:r>
            <a:r>
              <a:rPr lang="en-US" sz="1100" i="1" dirty="0">
                <a:solidFill>
                  <a:srgbClr val="224488"/>
                </a:solidFill>
                <a:latin typeface="Calibri" pitchFamily="34" charset="0"/>
                <a:ea typeface="Calibri" pitchFamily="34" charset="-122"/>
                <a:cs typeface="Calibri" pitchFamily="34" charset="-120"/>
              </a:rPr>
              <a:t> de Park directa e inversa</a:t>
            </a:r>
            <a:endParaRPr lang="en-US" sz="1100" dirty="0"/>
          </a:p>
        </p:txBody>
      </p:sp>
    </p:spTree>
    <p:extLst>
      <p:ext uri="{BB962C8B-B14F-4D97-AF65-F5344CB8AC3E}">
        <p14:creationId xmlns:p14="http://schemas.microsoft.com/office/powerpoint/2010/main" val="2229578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3" name="Text 11"/>
          <p:cNvSpPr/>
          <p:nvPr/>
        </p:nvSpPr>
        <p:spPr>
          <a:xfrm>
            <a:off x="152696" y="7219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Balance de tensiones del estator en coordenadas qd0r:</a:t>
            </a:r>
            <a:endParaRPr lang="en-US" sz="1400" dirty="0"/>
          </a:p>
        </p:txBody>
      </p:sp>
      <p:sp>
        <p:nvSpPr>
          <p:cNvPr id="14" name="Shape 12"/>
          <p:cNvSpPr/>
          <p:nvPr/>
        </p:nvSpPr>
        <p:spPr>
          <a:xfrm>
            <a:off x="365760" y="1137773"/>
            <a:ext cx="11460480" cy="151795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 13"/>
              <p:cNvSpPr/>
              <p:nvPr/>
            </p:nvSpPr>
            <p:spPr>
              <a:xfrm>
                <a:off x="573947" y="1582514"/>
                <a:ext cx="5007984"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smtClean="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573947" y="1582514"/>
                <a:ext cx="5007984" cy="548640"/>
              </a:xfrm>
              <a:prstGeom prst="rect">
                <a:avLst/>
              </a:prstGeom>
              <a:blipFill>
                <a:blip r:embed="rId2"/>
                <a:stretch>
                  <a:fillRect l="-1946" t="-70000" r="-1217" b="-75556"/>
                </a:stretch>
              </a:blipFill>
              <a:ln/>
            </p:spPr>
            <p:txBody>
              <a:bodyPr/>
              <a:lstStyle/>
              <a:p>
                <a:r>
                  <a:rPr lang="es-AR">
                    <a:noFill/>
                  </a:rPr>
                  <a:t> </a:t>
                </a:r>
              </a:p>
            </p:txBody>
          </p:sp>
        </mc:Fallback>
      </mc:AlternateContent>
      <p:sp>
        <p:nvSpPr>
          <p:cNvPr id="16" name="Shape 14"/>
          <p:cNvSpPr/>
          <p:nvPr/>
        </p:nvSpPr>
        <p:spPr>
          <a:xfrm>
            <a:off x="381000" y="3477005"/>
            <a:ext cx="11430000" cy="178197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274320" y="4070657"/>
                <a:ext cx="6155557"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m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500" dirty="0"/>
              </a:p>
            </p:txBody>
          </p:sp>
        </mc:Choice>
        <mc:Fallback xmlns="">
          <p:sp>
            <p:nvSpPr>
              <p:cNvPr id="17" name="Text 15"/>
              <p:cNvSpPr>
                <a:spLocks noRot="1" noChangeAspect="1" noMove="1" noResize="1" noEditPoints="1" noAdjustHandles="1" noChangeArrowheads="1" noChangeShapeType="1" noTextEdit="1"/>
              </p:cNvSpPr>
              <p:nvPr/>
            </p:nvSpPr>
            <p:spPr>
              <a:xfrm>
                <a:off x="274320" y="4070657"/>
                <a:ext cx="6155557" cy="548640"/>
              </a:xfrm>
              <a:prstGeom prst="rect">
                <a:avLst/>
              </a:prstGeom>
              <a:blipFill>
                <a:blip r:embed="rId3"/>
                <a:stretch>
                  <a:fillRect t="-82222" b="-86667"/>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Text 16"/>
              <p:cNvSpPr/>
              <p:nvPr/>
            </p:nvSpPr>
            <p:spPr>
              <a:xfrm>
                <a:off x="274320" y="2764641"/>
                <a:ext cx="11430000" cy="457200"/>
              </a:xfrm>
              <a:prstGeom prst="rect">
                <a:avLst/>
              </a:prstGeom>
              <a:noFill/>
              <a:ln/>
            </p:spPr>
            <p:txBody>
              <a:bodyPr wrap="square" rtlCol="0" anchor="t"/>
              <a:lstStyle/>
              <a:p>
                <a:r>
                  <a:rPr lang="en-US" sz="1200" i="1" dirty="0">
                    <a:latin typeface="Calibri" pitchFamily="34" charset="0"/>
                    <a:ea typeface="Calibri" pitchFamily="34" charset="-122"/>
                    <a:cs typeface="Calibri" pitchFamily="34" charset="-120"/>
                  </a:rPr>
                  <a:t>Nótese el acoplamiento cruzado entre ejes q y d a través de </a:t>
                </a:r>
                <a14:m>
                  <m:oMath xmlns:m="http://schemas.openxmlformats.org/officeDocument/2006/math">
                    <m:sSub>
                      <m:sSubPr>
                        <m:ctrlPr>
                          <a:rPr lang="es-AR" sz="9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m:t>
                        </m:r>
                      </m:e>
                      <m:sub>
                        <m:r>
                          <a:rPr lang="es-AR" sz="1200" b="0" i="1" smtClean="0">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900" i="1">
                            <a:latin typeface="Cambria Math" panose="02040503050406030204" pitchFamily="18" charset="0"/>
                            <a:ea typeface="Times New Roman" panose="02020603050405020304" pitchFamily="18" charset="0"/>
                          </a:rPr>
                        </m:ctrlPr>
                      </m:dPr>
                      <m:e>
                        <m:r>
                          <a:rPr lang="es-AR" sz="12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i="1" dirty="0">
                    <a:latin typeface="Calibri" pitchFamily="34" charset="0"/>
                    <a:ea typeface="Calibri" pitchFamily="34" charset="-122"/>
                    <a:cs typeface="Calibri" pitchFamily="34" charset="-120"/>
                  </a:rPr>
                  <a:t>. La resistencia </a:t>
                </a:r>
                <a14:m>
                  <m:oMath xmlns:m="http://schemas.openxmlformats.org/officeDocument/2006/math">
                    <m:sSub>
                      <m:sSubPr>
                        <m:ctrlPr>
                          <a:rPr lang="es-AR" sz="10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latin typeface="Cambria Math" panose="02040503050406030204" pitchFamily="18" charset="0"/>
                            <a:ea typeface="Times New Roman" panose="02020603050405020304" pitchFamily="18" charset="0"/>
                            <a:cs typeface="Times New Roman" panose="02020603050405020304" pitchFamily="18" charset="0"/>
                          </a:rPr>
                          <m:t>𝑠</m:t>
                        </m:r>
                      </m:sub>
                    </m:sSub>
                  </m:oMath>
                </a14:m>
                <a:r>
                  <a:rPr lang="en-US" sz="1200" i="1" dirty="0">
                    <a:latin typeface="Calibri" pitchFamily="34" charset="0"/>
                    <a:ea typeface="Calibri" pitchFamily="34" charset="-122"/>
                    <a:cs typeface="Calibri" pitchFamily="34" charset="-120"/>
                  </a:rPr>
                  <a:t> varía con la temperatura: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00" i="1" smtClean="0">
                            <a:effectLst/>
                            <a:latin typeface="Cambria Math" panose="02040503050406030204" pitchFamily="18" charset="0"/>
                            <a:ea typeface="Times New Roman" panose="020206030504050203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𝛼</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𝑐𝑢</m:t>
                            </m:r>
                          </m:sub>
                        </m:sSub>
                        <m:d>
                          <m:dPr>
                            <m:ctrlPr>
                              <a:rPr lang="es-AR" sz="1000" i="1">
                                <a:effectLst/>
                                <a:latin typeface="Cambria Math" panose="02040503050406030204" pitchFamily="18" charset="0"/>
                                <a:ea typeface="Times New Roman" panose="020206030504050203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d>
                  </m:oMath>
                </a14:m>
                <a:endParaRPr lang="en-US" sz="1200" dirty="0"/>
              </a:p>
            </p:txBody>
          </p:sp>
        </mc:Choice>
        <mc:Fallback xmlns="">
          <p:sp>
            <p:nvSpPr>
              <p:cNvPr id="18" name="Text 16"/>
              <p:cNvSpPr>
                <a:spLocks noRot="1" noChangeAspect="1" noMove="1" noResize="1" noEditPoints="1" noAdjustHandles="1" noChangeArrowheads="1" noChangeShapeType="1" noTextEdit="1"/>
              </p:cNvSpPr>
              <p:nvPr/>
            </p:nvSpPr>
            <p:spPr>
              <a:xfrm>
                <a:off x="274320" y="2764641"/>
                <a:ext cx="11430000" cy="457200"/>
              </a:xfrm>
              <a:prstGeom prst="rect">
                <a:avLst/>
              </a:prstGeom>
              <a:blipFill>
                <a:blip r:embed="rId4"/>
                <a:stretch>
                  <a:fillRect/>
                </a:stretch>
              </a:blipFill>
              <a:ln/>
            </p:spPr>
            <p:txBody>
              <a:bodyPr/>
              <a:lstStyle/>
              <a:p>
                <a:r>
                  <a:rPr lang="es-AR">
                    <a:noFill/>
                  </a:rPr>
                  <a:t> </a:t>
                </a:r>
              </a:p>
            </p:txBody>
          </p:sp>
        </mc:Fallback>
      </mc:AlternateContent>
      <p:sp>
        <p:nvSpPr>
          <p:cNvPr id="24" name="Text 5">
            <a:extLst>
              <a:ext uri="{FF2B5EF4-FFF2-40B4-BE49-F238E27FC236}">
                <a16:creationId xmlns:a16="http://schemas.microsoft.com/office/drawing/2014/main" id="{1E87B317-5267-44EA-9CD2-BA0AA07589B3}"/>
              </a:ext>
            </a:extLst>
          </p:cNvPr>
          <p:cNvSpPr/>
          <p:nvPr/>
        </p:nvSpPr>
        <p:spPr>
          <a:xfrm>
            <a:off x="274320" y="3149839"/>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Despejando las derivadas de las </a:t>
            </a:r>
            <a:r>
              <a:rPr lang="en-US" sz="1400" dirty="0" err="1">
                <a:solidFill>
                  <a:srgbClr val="111111"/>
                </a:solidFill>
                <a:latin typeface="Calibri" pitchFamily="34" charset="0"/>
                <a:ea typeface="Calibri" pitchFamily="34" charset="-122"/>
                <a:cs typeface="Calibri" pitchFamily="34" charset="-120"/>
              </a:rPr>
              <a:t>corrientes</a:t>
            </a: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25" name="Text 10">
            <a:extLst>
              <a:ext uri="{FF2B5EF4-FFF2-40B4-BE49-F238E27FC236}">
                <a16:creationId xmlns:a16="http://schemas.microsoft.com/office/drawing/2014/main" id="{C0D6C996-7D83-4288-B527-2A4E55EA4457}"/>
              </a:ext>
            </a:extLst>
          </p:cNvPr>
          <p:cNvSpPr/>
          <p:nvPr/>
        </p:nvSpPr>
        <p:spPr>
          <a:xfrm>
            <a:off x="274320" y="53175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Torque electromagnético:</a:t>
            </a:r>
            <a:endParaRPr lang="en-US" sz="1400" dirty="0"/>
          </a:p>
        </p:txBody>
      </p:sp>
      <mc:AlternateContent xmlns:mc="http://schemas.openxmlformats.org/markup-compatibility/2006" xmlns:a14="http://schemas.microsoft.com/office/drawing/2010/main">
        <mc:Choice Requires="a14">
          <p:sp>
            <p:nvSpPr>
              <p:cNvPr id="26" name="Text 13">
                <a:extLst>
                  <a:ext uri="{FF2B5EF4-FFF2-40B4-BE49-F238E27FC236}">
                    <a16:creationId xmlns:a16="http://schemas.microsoft.com/office/drawing/2014/main" id="{12E79842-49C7-463E-B87B-0AD84247764F}"/>
                  </a:ext>
                </a:extLst>
              </p:cNvPr>
              <p:cNvSpPr/>
              <p:nvPr/>
            </p:nvSpPr>
            <p:spPr>
              <a:xfrm>
                <a:off x="365760" y="5602662"/>
                <a:ext cx="11430000" cy="346745"/>
              </a:xfrm>
              <a:prstGeom prst="rect">
                <a:avLst/>
              </a:prstGeom>
              <a:noFill/>
              <a:ln/>
            </p:spPr>
            <p:txBody>
              <a:bodyPr wrap="square" rtlCol="0" anchor="t"/>
              <a:lstStyle/>
              <a:p>
                <a:r>
                  <a:rPr lang="es-AR" sz="1400" dirty="0">
                    <a:solidFill>
                      <a:srgbClr val="111111"/>
                    </a:solidFill>
                    <a:latin typeface="Calibri" pitchFamily="34" charset="0"/>
                    <a:cs typeface="Calibri" pitchFamily="34" charset="-120"/>
                  </a:rPr>
                  <a:t>Para el PMSM con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oMath>
                </a14:m>
                <a:r>
                  <a:rPr lang="es-AR" sz="1400" dirty="0">
                    <a:solidFill>
                      <a:srgbClr val="111111"/>
                    </a:solidFill>
                    <a:latin typeface="Calibri" pitchFamily="34" charset="0"/>
                    <a:cs typeface="Calibri" pitchFamily="34" charset="-120"/>
                  </a:rPr>
                  <a:t> ≈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oMath>
                </a14:m>
                <a:r>
                  <a:rPr lang="es-AR" sz="1400" dirty="0">
                    <a:solidFill>
                      <a:srgbClr val="111111"/>
                    </a:solidFill>
                    <a:latin typeface="Calibri" pitchFamily="34" charset="0"/>
                    <a:cs typeface="Calibri" pitchFamily="34" charset="-120"/>
                  </a:rPr>
                  <a:t>, el torque depende principalmente de </a:t>
                </a:r>
                <a14:m>
                  <m:oMath xmlns:m="http://schemas.openxmlformats.org/officeDocument/2006/math">
                    <m:sSubSup>
                      <m:sSubSupPr>
                        <m:ctrlPr>
                          <a:rPr lang="es-AR" sz="1000" i="1" smtClean="0">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(torque de imanes). El término </a:t>
                </a:r>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000" i="1">
                            <a:latin typeface="Cambria Math" panose="02040503050406030204" pitchFamily="18" charset="0"/>
                            <a:ea typeface="Times New Roman" panose="02020603050405020304" pitchFamily="18" charset="0"/>
                          </a:rPr>
                        </m:ctrlPr>
                      </m:sSubSupPr>
                      <m:e>
                        <m:r>
                          <a:rPr lang="es-AR" sz="1400" i="1">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latin typeface="Cambria Math" panose="02040503050406030204" pitchFamily="18" charset="0"/>
                            <a:ea typeface="Times New Roman" panose="02020603050405020304" pitchFamily="18" charset="0"/>
                          </a:rPr>
                        </m:ctrlPr>
                      </m:dPr>
                      <m:e>
                        <m:r>
                          <a:rPr lang="es-AR" sz="14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es el torque de reluctancia.</a:t>
                </a:r>
              </a:p>
            </p:txBody>
          </p:sp>
        </mc:Choice>
        <mc:Fallback xmlns="">
          <p:sp>
            <p:nvSpPr>
              <p:cNvPr id="26" name="Text 13">
                <a:extLst>
                  <a:ext uri="{FF2B5EF4-FFF2-40B4-BE49-F238E27FC236}">
                    <a16:creationId xmlns:a16="http://schemas.microsoft.com/office/drawing/2014/main" id="{12E79842-49C7-463E-B87B-0AD84247764F}"/>
                  </a:ext>
                </a:extLst>
              </p:cNvPr>
              <p:cNvSpPr>
                <a:spLocks noRot="1" noChangeAspect="1" noMove="1" noResize="1" noEditPoints="1" noAdjustHandles="1" noChangeArrowheads="1" noChangeShapeType="1" noTextEdit="1"/>
              </p:cNvSpPr>
              <p:nvPr/>
            </p:nvSpPr>
            <p:spPr>
              <a:xfrm>
                <a:off x="365760" y="5602662"/>
                <a:ext cx="11430000" cy="346745"/>
              </a:xfrm>
              <a:prstGeom prst="rect">
                <a:avLst/>
              </a:prstGeom>
              <a:blipFill>
                <a:blip r:embed="rId6"/>
                <a:stretch>
                  <a:fillRect l="-160" b="-1228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86E67A6-B4D4-442F-9F99-D61E6B430E56}"/>
                  </a:ext>
                </a:extLst>
              </p:cNvPr>
              <p:cNvSpPr txBox="1"/>
              <p:nvPr/>
            </p:nvSpPr>
            <p:spPr>
              <a:xfrm>
                <a:off x="2418127" y="5881833"/>
                <a:ext cx="6212048" cy="5533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r>
                            <a:rPr lang="es-AR" sz="1600" i="0">
                              <a:solidFill>
                                <a:schemeClr val="tx1"/>
                              </a:solidFill>
                              <a:latin typeface="Cambria Math" panose="02040503050406030204" pitchFamily="18" charset="0"/>
                            </a:rPr>
                            <m:t>+</m:t>
                          </m:r>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e>
                          </m:d>
                          <m:r>
                            <a:rPr lang="es-AR" sz="1600" i="0">
                              <a:solidFill>
                                <a:schemeClr val="tx1"/>
                              </a:solidFill>
                              <a:latin typeface="Cambria Math" panose="02040503050406030204" pitchFamily="18" charset="0"/>
                            </a:rPr>
                            <m:t> </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oMath>
                  </m:oMathPara>
                </a14:m>
                <a:endParaRPr lang="es-AR" dirty="0"/>
              </a:p>
            </p:txBody>
          </p:sp>
        </mc:Choice>
        <mc:Fallback xmlns="">
          <p:sp>
            <p:nvSpPr>
              <p:cNvPr id="28" name="CuadroTexto 27">
                <a:extLst>
                  <a:ext uri="{FF2B5EF4-FFF2-40B4-BE49-F238E27FC236}">
                    <a16:creationId xmlns:a16="http://schemas.microsoft.com/office/drawing/2014/main" id="{286E67A6-B4D4-442F-9F99-D61E6B430E56}"/>
                  </a:ext>
                </a:extLst>
              </p:cNvPr>
              <p:cNvSpPr txBox="1">
                <a:spLocks noRot="1" noChangeAspect="1" noMove="1" noResize="1" noEditPoints="1" noAdjustHandles="1" noChangeArrowheads="1" noChangeShapeType="1" noTextEdit="1"/>
              </p:cNvSpPr>
              <p:nvPr/>
            </p:nvSpPr>
            <p:spPr>
              <a:xfrm>
                <a:off x="2418127" y="5881833"/>
                <a:ext cx="6212048" cy="553357"/>
              </a:xfrm>
              <a:prstGeom prst="rect">
                <a:avLst/>
              </a:prstGeom>
              <a:blipFill>
                <a:blip r:embed="rId9"/>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59646BFE-5B29-4924-BE61-8E62C94BCF85}"/>
              </a:ext>
            </a:extLst>
          </p:cNvPr>
          <p:cNvSpPr txBox="1"/>
          <p:nvPr/>
        </p:nvSpPr>
        <p:spPr>
          <a:xfrm>
            <a:off x="152696" y="144518"/>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D14FAA62-805A-4164-83CC-4C19D4EDB9C1}"/>
              </a:ext>
            </a:extLst>
          </p:cNvPr>
          <p:cNvPicPr>
            <a:picLocks noChangeAspect="1"/>
          </p:cNvPicPr>
          <p:nvPr/>
        </p:nvPicPr>
        <p:blipFill>
          <a:blip r:embed="rId2"/>
          <a:stretch>
            <a:fillRect/>
          </a:stretch>
        </p:blipFill>
        <p:spPr>
          <a:xfrm>
            <a:off x="2165065" y="690663"/>
            <a:ext cx="7595200" cy="5281038"/>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Modelo en espacio de estados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457200" y="5755857"/>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4 — Diagrama de bloques Simulink del subsistema electromagnético</a:t>
            </a:r>
            <a:endParaRPr lang="es-AR"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74320" y="806712"/>
            <a:ext cx="11430000" cy="8229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Modelo de primer orden que representa el comportamiento térmico del bobinado del estator. Se consideran únicamente las pérdidas resistivas por efecto Joule (se desprecian pérdidas magnéticas en el núcleo). La transferencia de calor al ambiente se modela por conducción y convección natural sin ventilación forzada.</a:t>
            </a:r>
            <a:endParaRPr lang="en-US" sz="1300" dirty="0"/>
          </a:p>
        </p:txBody>
      </p:sp>
      <p:sp>
        <p:nvSpPr>
          <p:cNvPr id="8" name="Text 6"/>
          <p:cNvSpPr/>
          <p:nvPr/>
        </p:nvSpPr>
        <p:spPr>
          <a:xfrm>
            <a:off x="274320" y="1458399"/>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Potencia disipada por efecto Joule (en coordenadas qd0):</a:t>
            </a:r>
            <a:endParaRPr lang="en-US" sz="1300" dirty="0"/>
          </a:p>
        </p:txBody>
      </p:sp>
      <p:sp>
        <p:nvSpPr>
          <p:cNvPr id="9" name="Shape 7"/>
          <p:cNvSpPr/>
          <p:nvPr/>
        </p:nvSpPr>
        <p:spPr>
          <a:xfrm>
            <a:off x="213360" y="1883513"/>
            <a:ext cx="1144524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1478280" y="1851851"/>
                <a:ext cx="8961120"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𝑝𝑒𝑟𝑑</m:t>
                          </m:r>
                        </m:sub>
                      </m:sSub>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600" i="1">
                              <a:effectLst/>
                              <a:latin typeface="Cambria Math" panose="02040503050406030204" pitchFamily="18" charset="0"/>
                            </a:rPr>
                          </m:ctrlPr>
                        </m:sSubPr>
                        <m:e>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600" i="1">
                              <a:effectLst/>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600" i="1">
                              <a:effectLst/>
                              <a:latin typeface="Cambria Math" panose="02040503050406030204" pitchFamily="18" charset="0"/>
                            </a:rPr>
                          </m:ctrlPr>
                        </m:dPr>
                        <m:e>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oMath>
                  </m:oMathPara>
                </a14:m>
                <a:endParaRPr lang="en-US" sz="1600" dirty="0"/>
              </a:p>
            </p:txBody>
          </p:sp>
        </mc:Choice>
        <mc:Fallback xmlns="">
          <p:sp>
            <p:nvSpPr>
              <p:cNvPr id="10" name="Text 8"/>
              <p:cNvSpPr>
                <a:spLocks noRot="1" noChangeAspect="1" noMove="1" noResize="1" noEditPoints="1" noAdjustHandles="1" noChangeArrowheads="1" noChangeShapeType="1" noTextEdit="1"/>
              </p:cNvSpPr>
              <p:nvPr/>
            </p:nvSpPr>
            <p:spPr>
              <a:xfrm>
                <a:off x="1478280" y="1851851"/>
                <a:ext cx="8961120" cy="566928"/>
              </a:xfrm>
              <a:prstGeom prst="rect">
                <a:avLst/>
              </a:prstGeom>
              <a:blipFill>
                <a:blip r:embed="rId2"/>
                <a:stretch>
                  <a:fillRect/>
                </a:stretch>
              </a:blipFill>
              <a:ln/>
            </p:spPr>
            <p:txBody>
              <a:bodyPr/>
              <a:lstStyle/>
              <a:p>
                <a:r>
                  <a:rPr lang="es-AR">
                    <a:noFill/>
                  </a:rPr>
                  <a:t> </a:t>
                </a:r>
              </a:p>
            </p:txBody>
          </p:sp>
        </mc:Fallback>
      </mc:AlternateContent>
      <p:sp>
        <p:nvSpPr>
          <p:cNvPr id="11" name="Text 9"/>
          <p:cNvSpPr/>
          <p:nvPr/>
        </p:nvSpPr>
        <p:spPr>
          <a:xfrm>
            <a:off x="289560" y="2566725"/>
            <a:ext cx="11430000" cy="475488"/>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Balance energético en el bobinado — la potencia de pérdidas = energía almacenada + energía disipada al ambiente:</a:t>
            </a:r>
            <a:endParaRPr lang="en-US" sz="1300" dirty="0"/>
          </a:p>
        </p:txBody>
      </p:sp>
      <p:sp>
        <p:nvSpPr>
          <p:cNvPr id="12" name="Shape 10"/>
          <p:cNvSpPr/>
          <p:nvPr/>
        </p:nvSpPr>
        <p:spPr>
          <a:xfrm>
            <a:off x="213360" y="4068346"/>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213360" y="4076755"/>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f>
                        <m:fPr>
                          <m:ctrlPr>
                            <a:rPr lang="es-AR" sz="1400" i="1" smtClean="0">
                              <a:solidFill>
                                <a:schemeClr val="tx1"/>
                              </a:solidFill>
                              <a:effectLst/>
                              <a:latin typeface="Cambria Math" panose="02040503050406030204" pitchFamily="18" charset="0"/>
                              <a:ea typeface="Times New Roman" panose="02020603050405020304" pitchFamily="18" charset="0"/>
                            </a:rPr>
                          </m:ctrlPr>
                        </m:fPr>
                        <m:num>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rPr>
                              </m:ctrlPr>
                            </m:sSub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𝑡𝑠</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s-AR" sz="1400" i="1">
                              <a:solidFill>
                                <a:schemeClr val="tx1"/>
                              </a:solidFill>
                              <a:effectLst/>
                              <a:latin typeface="Cambria Math" panose="02040503050406030204" pitchFamily="18" charset="0"/>
                            </a:rPr>
                          </m:ctrlPr>
                        </m:dPr>
                        <m:e>
                          <m:sSub>
                            <m:sSubPr>
                              <m:ctrlPr>
                                <a:rPr lang="es-AR" sz="1400" i="1">
                                  <a:solidFill>
                                    <a:schemeClr val="tx1"/>
                                  </a:solidFill>
                                  <a:effectLst/>
                                  <a:latin typeface="Cambria Math" panose="02040503050406030204" pitchFamily="18" charset="0"/>
                                </a:rPr>
                              </m:ctrlPr>
                            </m:sSubPr>
                            <m:e>
                              <m:f>
                                <m:fPr>
                                  <m:ctrlPr>
                                    <a:rPr lang="es-AR" sz="1400" i="1">
                                      <a:solidFill>
                                        <a:schemeClr val="tx1"/>
                                      </a:solidFill>
                                      <a:effectLst/>
                                      <a:latin typeface="Cambria Math" panose="02040503050406030204" pitchFamily="18" charset="0"/>
                                    </a:rPr>
                                  </m:ctrlPr>
                                </m:fPr>
                                <m:num>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400" i="1">
                                  <a:solidFill>
                                    <a:schemeClr val="tx1"/>
                                  </a:solidFill>
                                  <a:effectLst/>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400" i="1">
                                  <a:solidFill>
                                    <a:schemeClr val="tx1"/>
                                  </a:solidFill>
                                  <a:effectLst/>
                                  <a:latin typeface="Cambria Math" panose="02040503050406030204" pitchFamily="18" charset="0"/>
                                </a:rPr>
                              </m:ctrlPr>
                            </m:dPr>
                            <m:e>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ea typeface="Times New Roman" panose="02020603050405020304" pitchFamily="18"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e>
                      </m:d>
                      <m:r>
                        <a:rPr lang="es-MX" sz="1400" b="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a:solidFill>
                                <a:schemeClr val="tx1"/>
                              </a:solidFill>
                              <a:latin typeface="Cambria Math" panose="02040503050406030204" pitchFamily="18" charset="0"/>
                            </a:rPr>
                            <m:t>1</m:t>
                          </m:r>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𝛼</m:t>
                              </m:r>
                            </m:e>
                            <m:sub>
                              <m:r>
                                <a:rPr lang="es-AR" sz="1400" i="1">
                                  <a:solidFill>
                                    <a:schemeClr val="tx1"/>
                                  </a:solidFill>
                                  <a:latin typeface="Cambria Math" panose="02040503050406030204" pitchFamily="18" charset="0"/>
                                </a:rPr>
                                <m:t>𝑐𝑢</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n-US" sz="1400" dirty="0">
                  <a:solidFill>
                    <a:schemeClr val="tx1"/>
                  </a:solidFill>
                </a:endParaRPr>
              </a:p>
            </p:txBody>
          </p:sp>
        </mc:Choice>
        <mc:Fallback xmlns="">
          <p:sp>
            <p:nvSpPr>
              <p:cNvPr id="13" name="Text 11"/>
              <p:cNvSpPr>
                <a:spLocks noRot="1" noChangeAspect="1" noMove="1" noResize="1" noEditPoints="1" noAdjustHandles="1" noChangeArrowheads="1" noChangeShapeType="1" noTextEdit="1"/>
              </p:cNvSpPr>
              <p:nvPr/>
            </p:nvSpPr>
            <p:spPr>
              <a:xfrm>
                <a:off x="213360" y="4076755"/>
                <a:ext cx="11247120" cy="621792"/>
              </a:xfrm>
              <a:prstGeom prst="rect">
                <a:avLst/>
              </a:prstGeom>
              <a:blipFill>
                <a:blip r:embed="rId3"/>
                <a:stretch>
                  <a:fillRect/>
                </a:stretch>
              </a:blipFill>
              <a:ln/>
            </p:spPr>
            <p:txBody>
              <a:bodyPr/>
              <a:lstStyle/>
              <a:p>
                <a:r>
                  <a:rPr lang="es-AR">
                    <a:noFill/>
                  </a:rPr>
                  <a:t> </a:t>
                </a:r>
              </a:p>
            </p:txBody>
          </p:sp>
        </mc:Fallback>
      </mc:AlternateContent>
      <p:sp>
        <p:nvSpPr>
          <p:cNvPr id="14" name="Text 12"/>
          <p:cNvSpPr/>
          <p:nvPr/>
        </p:nvSpPr>
        <p:spPr>
          <a:xfrm>
            <a:off x="213360" y="493776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Parámetros del modelo térmico:</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213360" y="5321808"/>
                <a:ext cx="11430000" cy="1179576"/>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Capacitancia térmica del estator: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818</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num>
                      <m:den>
                        <m:d>
                          <m:dPr>
                            <m:ctrlPr>
                              <a:rPr lang="es-AR" sz="1400" i="1">
                                <a:effectLst/>
                                <a:latin typeface="Cambria Math" panose="02040503050406030204" pitchFamily="18" charset="0"/>
                                <a:ea typeface="Times New Roman" panose="02020603050405020304" pitchFamily="18" charset="0"/>
                              </a:rPr>
                            </m:ctrlPr>
                          </m:dPr>
                          <m:e>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e>
                        </m:d>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Resistencia térmica estator-ambiente: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146</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7</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Constante de tiempo térmica: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120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Temperatura máxima admisible: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115</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MX" sz="1400" b="0" i="0" smtClean="0">
                        <a:latin typeface="Cambria Math" panose="02040503050406030204" pitchFamily="18" charset="0"/>
                      </a:rPr>
                      <m:t>;  </m:t>
                    </m:r>
                    <m:r>
                      <a:rPr lang="es-AR" sz="1400" i="1">
                        <a:latin typeface="Cambria Math" panose="02040503050406030204" pitchFamily="18" charset="0"/>
                      </a:rPr>
                      <m:t>−</m:t>
                    </m:r>
                    <m:r>
                      <a:rPr lang="es-AR" sz="1400" i="1">
                        <a:latin typeface="Cambria Math" panose="02040503050406030204" pitchFamily="18" charset="0"/>
                      </a:rPr>
                      <m:t>15</m:t>
                    </m:r>
                    <m:r>
                      <a:rPr lang="es-AR" sz="1400" i="1">
                        <a:latin typeface="Cambria Math" panose="02040503050406030204" pitchFamily="18" charset="0"/>
                      </a:rPr>
                      <m:t> °</m:t>
                    </m:r>
                    <m:r>
                      <a:rPr lang="es-AR" sz="1400" i="1">
                        <a:latin typeface="Cambria Math" panose="02040503050406030204" pitchFamily="18" charset="0"/>
                      </a:rPr>
                      <m:t>𝐶</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𝑎𝑚𝑏</m:t>
                        </m:r>
                      </m:sub>
                    </m:sSub>
                    <m:r>
                      <a:rPr lang="es-AR" sz="1400" i="1">
                        <a:latin typeface="Cambria Math" panose="02040503050406030204" pitchFamily="18" charset="0"/>
                      </a:rPr>
                      <m:t>≤</m:t>
                    </m:r>
                    <m:r>
                      <a:rPr lang="es-AR" sz="1400" i="1">
                        <a:latin typeface="Cambria Math" panose="02040503050406030204" pitchFamily="18" charset="0"/>
                      </a:rPr>
                      <m:t>40</m:t>
                    </m:r>
                    <m:r>
                      <a:rPr lang="es-AR" sz="1400" i="1">
                        <a:latin typeface="Cambria Math" panose="02040503050406030204" pitchFamily="18" charset="0"/>
                      </a:rPr>
                      <m:t>°</m:t>
                    </m:r>
                    <m:r>
                      <a:rPr lang="es-AR" sz="1400" i="1">
                        <a:latin typeface="Cambria Math" panose="02040503050406030204" pitchFamily="18" charset="0"/>
                      </a:rPr>
                      <m:t>𝐶</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213360" y="5321808"/>
                <a:ext cx="11430000" cy="1179576"/>
              </a:xfrm>
              <a:prstGeom prst="rect">
                <a:avLst/>
              </a:prstGeom>
              <a:blipFill>
                <a:blip r:embed="rId4"/>
                <a:stretch>
                  <a:fillRect l="-160" t="-24742"/>
                </a:stretch>
              </a:blipFill>
              <a:ln/>
            </p:spPr>
            <p:txBody>
              <a:bodyPr/>
              <a:lstStyle/>
              <a:p>
                <a:r>
                  <a:rPr lang="es-AR">
                    <a:noFill/>
                  </a:rPr>
                  <a:t> </a:t>
                </a:r>
              </a:p>
            </p:txBody>
          </p:sp>
        </mc:Fallback>
      </mc:AlternateContent>
      <p:sp>
        <p:nvSpPr>
          <p:cNvPr id="16" name="Shape 10">
            <a:extLst>
              <a:ext uri="{FF2B5EF4-FFF2-40B4-BE49-F238E27FC236}">
                <a16:creationId xmlns:a16="http://schemas.microsoft.com/office/drawing/2014/main" id="{3801E66D-3CD5-4C4D-9C96-0DDF4563177B}"/>
              </a:ext>
            </a:extLst>
          </p:cNvPr>
          <p:cNvSpPr/>
          <p:nvPr/>
        </p:nvSpPr>
        <p:spPr>
          <a:xfrm>
            <a:off x="213360" y="2967933"/>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1">
                <a:extLst>
                  <a:ext uri="{FF2B5EF4-FFF2-40B4-BE49-F238E27FC236}">
                    <a16:creationId xmlns:a16="http://schemas.microsoft.com/office/drawing/2014/main" id="{2C5B11D9-002E-4394-98EC-B6421BAAA077}"/>
                  </a:ext>
                </a:extLst>
              </p:cNvPr>
              <p:cNvSpPr/>
              <p:nvPr/>
            </p:nvSpPr>
            <p:spPr>
              <a:xfrm>
                <a:off x="472440" y="3012537"/>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𝑠</m:t>
                          </m:r>
                          <m:r>
                            <a:rPr lang="es-AR" sz="1600" i="1">
                              <a:latin typeface="Cambria Math" panose="02040503050406030204" pitchFamily="18" charset="0"/>
                            </a:rPr>
                            <m:t>,</m:t>
                          </m:r>
                          <m:r>
                            <a:rPr lang="es-AR" sz="1600" i="1">
                              <a:latin typeface="Cambria Math" panose="02040503050406030204" pitchFamily="18" charset="0"/>
                            </a:rPr>
                            <m:t>𝑝𝑒𝑟𝑑</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𝐶</m:t>
                          </m:r>
                        </m:e>
                        <m:sub>
                          <m:r>
                            <a:rPr lang="es-AR" sz="1600" i="1">
                              <a:latin typeface="Cambria Math" panose="02040503050406030204" pitchFamily="18" charset="0"/>
                            </a:rPr>
                            <m:t>𝑡𝑠</m:t>
                          </m:r>
                        </m:sub>
                      </m:sSub>
                      <m:r>
                        <a:rPr lang="es-AR" sz="1600" i="1">
                          <a:latin typeface="Cambria Math" panose="02040503050406030204" pitchFamily="18" charset="0"/>
                        </a:rPr>
                        <m:t>·</m:t>
                      </m:r>
                      <m:f>
                        <m:fPr>
                          <m:ctrlPr>
                            <a:rPr lang="es-AR" sz="1600" i="1">
                              <a:latin typeface="Cambria Math" panose="02040503050406030204" pitchFamily="18" charset="0"/>
                            </a:rPr>
                          </m:ctrlPr>
                        </m:fPr>
                        <m:num>
                          <m:sSubSup>
                            <m:sSubSupPr>
                              <m:ctrlPr>
                                <a:rPr lang="es-AR" sz="1600" i="1">
                                  <a:latin typeface="Cambria Math" panose="02040503050406030204" pitchFamily="18" charset="0"/>
                                </a:rPr>
                              </m:ctrlPr>
                            </m:sSubSupPr>
                            <m:e>
                              <m:r>
                                <a:rPr lang="es-AR" sz="1600" i="1">
                                  <a:latin typeface="Cambria Math" panose="02040503050406030204" pitchFamily="18" charset="0"/>
                                </a:rPr>
                                <m:t>𝑑𝑇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𝑡𝑠</m:t>
                              </m:r>
                              <m:r>
                                <a:rPr lang="es-AR" sz="1600" i="1">
                                  <a:latin typeface="Cambria Math" panose="02040503050406030204" pitchFamily="18" charset="0"/>
                                </a:rPr>
                                <m:t>−</m:t>
                              </m:r>
                              <m:r>
                                <a:rPr lang="es-AR" sz="1600" i="1">
                                  <a:latin typeface="Cambria Math" panose="02040503050406030204" pitchFamily="18" charset="0"/>
                                </a:rPr>
                                <m:t>𝑎𝑚𝑏</m:t>
                              </m:r>
                            </m:sub>
                          </m:sSub>
                        </m:den>
                      </m:f>
                      <m:r>
                        <a:rPr lang="es-AR" sz="1600" i="1">
                          <a:latin typeface="Cambria Math" panose="02040503050406030204" pitchFamily="18" charset="0"/>
                        </a:rPr>
                        <m:t>·</m:t>
                      </m:r>
                      <m:d>
                        <m:dPr>
                          <m:ctrlPr>
                            <a:rPr lang="es-AR" sz="1600" i="1">
                              <a:latin typeface="Cambria Math" panose="02040503050406030204" pitchFamily="18" charset="0"/>
                            </a:rPr>
                          </m:ctrlPr>
                        </m:dPr>
                        <m:e>
                          <m:sSubSup>
                            <m:sSubSupPr>
                              <m:ctrlPr>
                                <a:rPr lang="es-AR" sz="1600" i="1" smtClean="0">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𝑎𝑚𝑏</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oMath>
                  </m:oMathPara>
                </a14:m>
                <a:endParaRPr lang="en-US" sz="1050" dirty="0"/>
              </a:p>
            </p:txBody>
          </p:sp>
        </mc:Choice>
        <mc:Fallback xmlns="">
          <p:sp>
            <p:nvSpPr>
              <p:cNvPr id="17" name="Text 11">
                <a:extLst>
                  <a:ext uri="{FF2B5EF4-FFF2-40B4-BE49-F238E27FC236}">
                    <a16:creationId xmlns:a16="http://schemas.microsoft.com/office/drawing/2014/main" id="{2C5B11D9-002E-4394-98EC-B6421BAAA077}"/>
                  </a:ext>
                </a:extLst>
              </p:cNvPr>
              <p:cNvSpPr>
                <a:spLocks noRot="1" noChangeAspect="1" noMove="1" noResize="1" noEditPoints="1" noAdjustHandles="1" noChangeArrowheads="1" noChangeShapeType="1" noTextEdit="1"/>
              </p:cNvSpPr>
              <p:nvPr/>
            </p:nvSpPr>
            <p:spPr>
              <a:xfrm>
                <a:off x="472440" y="3012537"/>
                <a:ext cx="11247120" cy="621792"/>
              </a:xfrm>
              <a:prstGeom prst="rect">
                <a:avLst/>
              </a:prstGeom>
              <a:blipFill>
                <a:blip r:embed="rId5"/>
                <a:stretch>
                  <a:fillRect/>
                </a:stretch>
              </a:blipFill>
              <a:ln/>
            </p:spPr>
            <p:txBody>
              <a:bodyPr/>
              <a:lstStyle/>
              <a:p>
                <a:r>
                  <a:rPr lang="es-AR">
                    <a:noFill/>
                  </a:rPr>
                  <a:t> </a:t>
                </a:r>
              </a:p>
            </p:txBody>
          </p:sp>
        </mc:Fallback>
      </mc:AlternateContent>
      <p:sp>
        <p:nvSpPr>
          <p:cNvPr id="18" name="Text 9">
            <a:extLst>
              <a:ext uri="{FF2B5EF4-FFF2-40B4-BE49-F238E27FC236}">
                <a16:creationId xmlns:a16="http://schemas.microsoft.com/office/drawing/2014/main" id="{6C1EDED8-B4EA-45BE-97E9-29BA3BEC0B58}"/>
              </a:ext>
            </a:extLst>
          </p:cNvPr>
          <p:cNvSpPr/>
          <p:nvPr/>
        </p:nvSpPr>
        <p:spPr>
          <a:xfrm>
            <a:off x="365760" y="3721945"/>
            <a:ext cx="11430000" cy="475488"/>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Igualando</a:t>
            </a:r>
            <a:r>
              <a:rPr lang="en-US" sz="1300" dirty="0">
                <a:solidFill>
                  <a:srgbClr val="111111"/>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3058347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364921" y="5526017"/>
            <a:ext cx="11247120" cy="6858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5 — Diagrama de bloques Simulink del </a:t>
            </a:r>
            <a:r>
              <a:rPr lang="en-US" sz="1100" i="1" dirty="0" err="1">
                <a:solidFill>
                  <a:srgbClr val="224488"/>
                </a:solidFill>
                <a:latin typeface="Calibri" pitchFamily="34" charset="0"/>
                <a:ea typeface="Calibri" pitchFamily="34" charset="-122"/>
                <a:cs typeface="Calibri" pitchFamily="34" charset="-120"/>
              </a:rPr>
              <a:t>subsistema</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térmico</a:t>
            </a:r>
            <a:endParaRPr lang="en-US" sz="1100" dirty="0"/>
          </a:p>
        </p:txBody>
      </p:sp>
      <p:pic>
        <p:nvPicPr>
          <p:cNvPr id="19" name="Imagen 18">
            <a:extLst>
              <a:ext uri="{FF2B5EF4-FFF2-40B4-BE49-F238E27FC236}">
                <a16:creationId xmlns:a16="http://schemas.microsoft.com/office/drawing/2014/main" id="{02026230-4F51-4289-A0FC-3371D2AC4663}"/>
              </a:ext>
            </a:extLst>
          </p:cNvPr>
          <p:cNvPicPr>
            <a:picLocks noChangeAspect="1"/>
          </p:cNvPicPr>
          <p:nvPr/>
        </p:nvPicPr>
        <p:blipFill>
          <a:blip r:embed="rId2"/>
          <a:stretch>
            <a:fillRect/>
          </a:stretch>
        </p:blipFill>
        <p:spPr>
          <a:xfrm>
            <a:off x="889231" y="1162472"/>
            <a:ext cx="10452685" cy="43700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Inversor</a:t>
            </a:r>
            <a:r>
              <a:rPr lang="en-US" sz="1900" b="1" dirty="0">
                <a:solidFill>
                  <a:srgbClr val="FFFFFF"/>
                </a:solidFill>
                <a:latin typeface="Calibri" pitchFamily="34" charset="0"/>
                <a:ea typeface="Calibri" pitchFamily="34" charset="-122"/>
                <a:cs typeface="Calibri" pitchFamily="34" charset="-120"/>
              </a:rPr>
              <a:t> </a:t>
            </a:r>
            <a:r>
              <a:rPr lang="en-US" sz="1900" b="1" dirty="0" err="1">
                <a:solidFill>
                  <a:srgbClr val="FFFFFF"/>
                </a:solidFill>
                <a:latin typeface="Calibri" pitchFamily="34" charset="0"/>
                <a:ea typeface="Calibri" pitchFamily="34" charset="-122"/>
                <a:cs typeface="Calibri" pitchFamily="34" charset="-120"/>
              </a:rPr>
              <a:t>trifásico</a:t>
            </a:r>
            <a:r>
              <a:rPr lang="en-US" sz="1900" b="1" dirty="0">
                <a:solidFill>
                  <a:srgbClr val="FFFFFF"/>
                </a:solidFill>
                <a:latin typeface="Calibri" pitchFamily="34" charset="0"/>
                <a:ea typeface="Calibri" pitchFamily="34" charset="-122"/>
                <a:cs typeface="Calibri" pitchFamily="34" charset="-120"/>
              </a:rPr>
              <a:t> y </a:t>
            </a:r>
            <a:r>
              <a:rPr lang="en-US" sz="1900" b="1" dirty="0" err="1">
                <a:solidFill>
                  <a:srgbClr val="FFFFFF"/>
                </a:solidFill>
                <a:latin typeface="Calibri" pitchFamily="34" charset="0"/>
                <a:ea typeface="Calibri" pitchFamily="34" charset="-122"/>
                <a:cs typeface="Calibri" pitchFamily="34" charset="-120"/>
              </a:rPr>
              <a:t>sensores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13360" y="717804"/>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Inversor trifásico (modelo promediado):</a:t>
            </a:r>
            <a:endParaRPr lang="en-US" sz="1600" dirty="0"/>
          </a:p>
        </p:txBody>
      </p:sp>
      <mc:AlternateContent xmlns:mc="http://schemas.openxmlformats.org/markup-compatibility/2006" xmlns:a14="http://schemas.microsoft.com/office/drawing/2010/main">
        <mc:Choice Requires="a14">
          <p:sp>
            <p:nvSpPr>
              <p:cNvPr id="8" name="Text 6"/>
              <p:cNvSpPr/>
              <p:nvPr/>
            </p:nvSpPr>
            <p:spPr>
              <a:xfrm>
                <a:off x="168380" y="1136320"/>
                <a:ext cx="11612880" cy="7772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Modulador ideal de tensión trifásica vectorial: aplica tensiones sinusoidales equilibradas de secuencia positiva abc con módulo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y frecuencia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m:t>
                        </m:r>
                      </m:e>
                      <m:sub>
                        <m:r>
                          <a:rPr lang="es-AR" sz="1200" i="1">
                            <a:latin typeface="Cambria Math" panose="02040503050406030204" pitchFamily="18" charset="0"/>
                          </a:rPr>
                          <m:t>𝑒</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oMath>
                </a14:m>
                <a:r>
                  <a:rPr lang="en-US" sz="1200" dirty="0">
                    <a:solidFill>
                      <a:srgbClr val="111111"/>
                    </a:solidFill>
                    <a:latin typeface="Calibri" pitchFamily="34" charset="0"/>
                    <a:ea typeface="Calibri" pitchFamily="34" charset="-122"/>
                    <a:cs typeface="Calibri" pitchFamily="34" charset="-120"/>
                  </a:rPr>
                  <a:t> ajustables por PWM.</a:t>
                </a:r>
                <a:endParaRPr lang="en-US" sz="1200" dirty="0"/>
              </a:p>
            </p:txBody>
          </p:sp>
        </mc:Choice>
        <mc:Fallback xmlns="">
          <p:sp>
            <p:nvSpPr>
              <p:cNvPr id="8" name="Text 6"/>
              <p:cNvSpPr>
                <a:spLocks noRot="1" noChangeAspect="1" noMove="1" noResize="1" noEditPoints="1" noAdjustHandles="1" noChangeArrowheads="1" noChangeShapeType="1" noTextEdit="1"/>
              </p:cNvSpPr>
              <p:nvPr/>
            </p:nvSpPr>
            <p:spPr>
              <a:xfrm>
                <a:off x="168380" y="1136320"/>
                <a:ext cx="11612880" cy="777240"/>
              </a:xfrm>
              <a:prstGeom prst="rect">
                <a:avLst/>
              </a:prstGeom>
              <a:blipFill>
                <a:blip r:embed="rId2"/>
                <a:stretch>
                  <a:fillRect l="-52"/>
                </a:stretch>
              </a:blipFill>
              <a:ln/>
            </p:spPr>
            <p:txBody>
              <a:bodyPr/>
              <a:lstStyle/>
              <a:p>
                <a:r>
                  <a:rPr lang="es-AR">
                    <a:noFill/>
                  </a:rPr>
                  <a:t> </a:t>
                </a:r>
              </a:p>
            </p:txBody>
          </p:sp>
        </mc:Fallback>
      </mc:AlternateContent>
      <p:sp>
        <p:nvSpPr>
          <p:cNvPr id="16" name="Shape 7">
            <a:extLst>
              <a:ext uri="{FF2B5EF4-FFF2-40B4-BE49-F238E27FC236}">
                <a16:creationId xmlns:a16="http://schemas.microsoft.com/office/drawing/2014/main" id="{A03BEA2F-A2B3-4DCD-9E0D-A5E8DED4A719}"/>
              </a:ext>
            </a:extLst>
          </p:cNvPr>
          <p:cNvSpPr/>
          <p:nvPr/>
        </p:nvSpPr>
        <p:spPr>
          <a:xfrm>
            <a:off x="213360" y="1643035"/>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8">
                <a:extLst>
                  <a:ext uri="{FF2B5EF4-FFF2-40B4-BE49-F238E27FC236}">
                    <a16:creationId xmlns:a16="http://schemas.microsoft.com/office/drawing/2014/main" id="{0EDBDC51-0DF1-4A2A-AD84-8D4288D029B3}"/>
                  </a:ext>
                </a:extLst>
              </p:cNvPr>
              <p:cNvSpPr/>
              <p:nvPr/>
            </p:nvSpPr>
            <p:spPr>
              <a:xfrm>
                <a:off x="-675591" y="1591722"/>
                <a:ext cx="9952756" cy="566928"/>
              </a:xfrm>
              <a:prstGeom prst="rect">
                <a:avLst/>
              </a:prstGeom>
              <a:noFill/>
              <a:ln/>
            </p:spPr>
            <p:txBody>
              <a:bodyPr wrap="square" rtlCol="0" anchor="ctr"/>
              <a:lstStyle/>
              <a:p>
                <a:pPr algn="ct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𝑎𝑠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b="0" i="1" smtClean="0">
                                    <a:latin typeface="Cambria Math" panose="02040503050406030204" pitchFamily="18" charset="0"/>
                                  </a:rPr>
                                  <m:t>𝑒</m:t>
                                </m:r>
                                <m:r>
                                  <a:rPr lang="es-AR" sz="1400" i="1">
                                    <a:latin typeface="Cambria Math" panose="02040503050406030204" pitchFamily="18" charset="0"/>
                                  </a:rPr>
                                  <m:t>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𝑏𝑠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MX"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𝑐𝑠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4</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endParaRPr lang="en-US" sz="1400" dirty="0"/>
              </a:p>
            </p:txBody>
          </p:sp>
        </mc:Choice>
        <mc:Fallback xmlns="">
          <p:sp>
            <p:nvSpPr>
              <p:cNvPr id="19" name="Text 8">
                <a:extLst>
                  <a:ext uri="{FF2B5EF4-FFF2-40B4-BE49-F238E27FC236}">
                    <a16:creationId xmlns:a16="http://schemas.microsoft.com/office/drawing/2014/main" id="{0EDBDC51-0DF1-4A2A-AD84-8D4288D029B3}"/>
                  </a:ext>
                </a:extLst>
              </p:cNvPr>
              <p:cNvSpPr>
                <a:spLocks noRot="1" noChangeAspect="1" noMove="1" noResize="1" noEditPoints="1" noAdjustHandles="1" noChangeArrowheads="1" noChangeShapeType="1" noTextEdit="1"/>
              </p:cNvSpPr>
              <p:nvPr/>
            </p:nvSpPr>
            <p:spPr>
              <a:xfrm>
                <a:off x="-675591" y="1591722"/>
                <a:ext cx="9952756" cy="566928"/>
              </a:xfrm>
              <a:prstGeom prst="rect">
                <a:avLst/>
              </a:prstGeom>
              <a:blipFill>
                <a:blip r:embed="rId3"/>
                <a:stretch>
                  <a:fillRect/>
                </a:stretch>
              </a:blipFill>
              <a:ln/>
            </p:spPr>
            <p:txBody>
              <a:bodyPr/>
              <a:lstStyle/>
              <a:p>
                <a:r>
                  <a:rPr lang="es-AR">
                    <a:noFill/>
                  </a:rPr>
                  <a:t> </a:t>
                </a:r>
              </a:p>
            </p:txBody>
          </p:sp>
        </mc:Fallback>
      </mc:AlternateContent>
      <p:sp>
        <p:nvSpPr>
          <p:cNvPr id="20" name="Shape 7">
            <a:extLst>
              <a:ext uri="{FF2B5EF4-FFF2-40B4-BE49-F238E27FC236}">
                <a16:creationId xmlns:a16="http://schemas.microsoft.com/office/drawing/2014/main" id="{D3DC9DBE-C90E-473D-81B4-083F1E247E8F}"/>
              </a:ext>
            </a:extLst>
          </p:cNvPr>
          <p:cNvSpPr/>
          <p:nvPr/>
        </p:nvSpPr>
        <p:spPr>
          <a:xfrm>
            <a:off x="213360" y="2392976"/>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8">
                <a:extLst>
                  <a:ext uri="{FF2B5EF4-FFF2-40B4-BE49-F238E27FC236}">
                    <a16:creationId xmlns:a16="http://schemas.microsoft.com/office/drawing/2014/main" id="{F62D270F-4021-4CDA-B12A-6BF5F3C0189C}"/>
                  </a:ext>
                </a:extLst>
              </p:cNvPr>
              <p:cNvSpPr/>
              <p:nvPr/>
            </p:nvSpPr>
            <p:spPr>
              <a:xfrm>
                <a:off x="0" y="2368962"/>
                <a:ext cx="5496757"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≡2</m:t>
                      </m:r>
                      <m:r>
                        <a:rPr lang="es-AR" sz="1400" i="1">
                          <a:latin typeface="Cambria Math" panose="02040503050406030204" pitchFamily="18" charset="0"/>
                        </a:rPr>
                        <m:t>𝜋</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nary>
                        <m:naryPr>
                          <m:ctrlPr>
                            <a:rPr lang="es-AR" sz="1400" i="1">
                              <a:latin typeface="Cambria Math" panose="02040503050406030204" pitchFamily="18" charset="0"/>
                            </a:rPr>
                          </m:ctrlPr>
                        </m:naryPr>
                        <m:sub>
                          <m:r>
                            <a:rPr lang="es-AR" sz="1400" i="1">
                              <a:latin typeface="Cambria Math" panose="02040503050406030204" pitchFamily="18" charset="0"/>
                            </a:rPr>
                            <m:t>0</m:t>
                          </m:r>
                        </m:sub>
                        <m:sup>
                          <m:r>
                            <a:rPr lang="es-AR" sz="1400" i="1">
                              <a:latin typeface="Cambria Math" panose="02040503050406030204" pitchFamily="18" charset="0"/>
                            </a:rPr>
                            <m:t>𝑡</m:t>
                          </m:r>
                        </m:sup>
                        <m:e>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𝜉</m:t>
                              </m:r>
                            </m:e>
                          </m:d>
                        </m:e>
                      </m:nary>
                      <m:r>
                        <a:rPr lang="es-AR" sz="1400" i="1">
                          <a:latin typeface="Cambria Math" panose="02040503050406030204" pitchFamily="18" charset="0"/>
                        </a:rPr>
                        <m:t> </m:t>
                      </m:r>
                      <m:r>
                        <a:rPr lang="es-AR" sz="1400" i="1">
                          <a:latin typeface="Cambria Math" panose="02040503050406030204" pitchFamily="18" charset="0"/>
                        </a:rPr>
                        <m:t>𝑑</m:t>
                      </m:r>
                      <m:r>
                        <a:rPr lang="es-AR" sz="1400" i="1">
                          <a:latin typeface="Cambria Math" panose="02040503050406030204" pitchFamily="18" charset="0"/>
                        </a:rPr>
                        <m:t>𝜉</m:t>
                      </m:r>
                    </m:oMath>
                  </m:oMathPara>
                </a14:m>
                <a:endParaRPr lang="en-US" sz="1400" dirty="0"/>
              </a:p>
            </p:txBody>
          </p:sp>
        </mc:Choice>
        <mc:Fallback xmlns="">
          <p:sp>
            <p:nvSpPr>
              <p:cNvPr id="21" name="Text 8">
                <a:extLst>
                  <a:ext uri="{FF2B5EF4-FFF2-40B4-BE49-F238E27FC236}">
                    <a16:creationId xmlns:a16="http://schemas.microsoft.com/office/drawing/2014/main" id="{F62D270F-4021-4CDA-B12A-6BF5F3C0189C}"/>
                  </a:ext>
                </a:extLst>
              </p:cNvPr>
              <p:cNvSpPr>
                <a:spLocks noRot="1" noChangeAspect="1" noMove="1" noResize="1" noEditPoints="1" noAdjustHandles="1" noChangeArrowheads="1" noChangeShapeType="1" noTextEdit="1"/>
              </p:cNvSpPr>
              <p:nvPr/>
            </p:nvSpPr>
            <p:spPr>
              <a:xfrm>
                <a:off x="0" y="2368962"/>
                <a:ext cx="5496757" cy="566928"/>
              </a:xfrm>
              <a:prstGeom prst="rect">
                <a:avLst/>
              </a:prstGeom>
              <a:blipFill>
                <a:blip r:embed="rId4"/>
                <a:stretch>
                  <a:fillRect t="-147312" b="-22043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D6D6003-48B9-48F6-9C9C-39A88D4D7ED9}"/>
                  </a:ext>
                </a:extLst>
              </p:cNvPr>
              <p:cNvSpPr txBox="1"/>
              <p:nvPr/>
            </p:nvSpPr>
            <p:spPr>
              <a:xfrm>
                <a:off x="213360" y="3307578"/>
                <a:ext cx="11522920" cy="312073"/>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Parámetros variables: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𝑒</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a:rPr lang="es-AR" sz="1400" i="1">
                        <a:effectLst/>
                        <a:latin typeface="Cambria Math" panose="02040503050406030204" pitchFamily="18" charset="0"/>
                        <a:ea typeface="Calibri" panose="020F0502020204030204" pitchFamily="34" charset="0"/>
                        <a:cs typeface="Times New Roman" panose="02020603050405020304" pitchFamily="18" charset="0"/>
                      </a:rPr>
                      <m:t>𝜋</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pueden variarse a voluntad, dentro de ciertos límites, a partir del control por PWM.</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AD6D6003-48B9-48F6-9C9C-39A88D4D7ED9}"/>
                  </a:ext>
                </a:extLst>
              </p:cNvPr>
              <p:cNvSpPr txBox="1">
                <a:spLocks noRot="1" noChangeAspect="1" noMove="1" noResize="1" noEditPoints="1" noAdjustHandles="1" noChangeArrowheads="1" noChangeShapeType="1" noTextEdit="1"/>
              </p:cNvSpPr>
              <p:nvPr/>
            </p:nvSpPr>
            <p:spPr>
              <a:xfrm>
                <a:off x="213360" y="3307578"/>
                <a:ext cx="11522920" cy="312073"/>
              </a:xfrm>
              <a:prstGeom prst="rect">
                <a:avLst/>
              </a:prstGeom>
              <a:blipFill>
                <a:blip r:embed="rId5"/>
                <a:stretch>
                  <a:fillRect l="-159" t="-1961" b="-19608"/>
                </a:stretch>
              </a:blipFill>
            </p:spPr>
            <p:txBody>
              <a:bodyPr/>
              <a:lstStyle/>
              <a:p>
                <a:r>
                  <a:rPr lang="es-AR">
                    <a:noFill/>
                  </a:rPr>
                  <a:t> </a:t>
                </a:r>
              </a:p>
            </p:txBody>
          </p:sp>
        </mc:Fallback>
      </mc:AlternateContent>
      <p:sp>
        <p:nvSpPr>
          <p:cNvPr id="25" name="Text 7">
            <a:extLst>
              <a:ext uri="{FF2B5EF4-FFF2-40B4-BE49-F238E27FC236}">
                <a16:creationId xmlns:a16="http://schemas.microsoft.com/office/drawing/2014/main" id="{E1179467-0D33-489B-83FB-C8099C435821}"/>
              </a:ext>
            </a:extLst>
          </p:cNvPr>
          <p:cNvSpPr/>
          <p:nvPr/>
        </p:nvSpPr>
        <p:spPr>
          <a:xfrm>
            <a:off x="213360" y="4033505"/>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Sensores (inicialmente ideales):</a:t>
            </a:r>
            <a:endParaRPr lang="en-US" sz="1600" dirty="0"/>
          </a:p>
        </p:txBody>
      </p:sp>
      <mc:AlternateContent xmlns:mc="http://schemas.openxmlformats.org/markup-compatibility/2006" xmlns:a14="http://schemas.microsoft.com/office/drawing/2010/main">
        <mc:Choice Requires="a14">
          <p:sp>
            <p:nvSpPr>
              <p:cNvPr id="26" name="Text 8">
                <a:extLst>
                  <a:ext uri="{FF2B5EF4-FFF2-40B4-BE49-F238E27FC236}">
                    <a16:creationId xmlns:a16="http://schemas.microsoft.com/office/drawing/2014/main" id="{DEEEDBF9-B6DE-46B6-B15C-6D0BCE210AF8}"/>
                  </a:ext>
                </a:extLst>
              </p:cNvPr>
              <p:cNvSpPr/>
              <p:nvPr/>
            </p:nvSpPr>
            <p:spPr>
              <a:xfrm>
                <a:off x="213360" y="4444985"/>
                <a:ext cx="5486400" cy="1554480"/>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Encoder: posición angular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absoluta, multi-vuelta</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Sensores de corriente: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𝑎𝑏𝑐</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en salida del inversor</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 de temperatura: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embebido en bobinado</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Modelo ideal: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≡1 </m:t>
                    </m:r>
                  </m:oMath>
                </a14:m>
                <a:r>
                  <a:rPr lang="en-US" sz="1400" dirty="0">
                    <a:solidFill>
                      <a:srgbClr val="111111"/>
                    </a:solidFill>
                    <a:latin typeface="Calibri" pitchFamily="34" charset="0"/>
                    <a:ea typeface="Calibri" pitchFamily="34" charset="-122"/>
                    <a:cs typeface="Calibri" pitchFamily="34" charset="-120"/>
                  </a:rPr>
                  <a:t>(ganancia unitaria, BW infinito)</a:t>
                </a:r>
                <a:endParaRPr lang="en-US" sz="1400" dirty="0"/>
              </a:p>
            </p:txBody>
          </p:sp>
        </mc:Choice>
        <mc:Fallback xmlns="">
          <p:sp>
            <p:nvSpPr>
              <p:cNvPr id="26" name="Text 8">
                <a:extLst>
                  <a:ext uri="{FF2B5EF4-FFF2-40B4-BE49-F238E27FC236}">
                    <a16:creationId xmlns:a16="http://schemas.microsoft.com/office/drawing/2014/main" id="{DEEEDBF9-B6DE-46B6-B15C-6D0BCE210AF8}"/>
                  </a:ext>
                </a:extLst>
              </p:cNvPr>
              <p:cNvSpPr>
                <a:spLocks noRot="1" noChangeAspect="1" noMove="1" noResize="1" noEditPoints="1" noAdjustHandles="1" noChangeArrowheads="1" noChangeShapeType="1" noTextEdit="1"/>
              </p:cNvSpPr>
              <p:nvPr/>
            </p:nvSpPr>
            <p:spPr>
              <a:xfrm>
                <a:off x="213360" y="4444985"/>
                <a:ext cx="5486400" cy="1554480"/>
              </a:xfrm>
              <a:prstGeom prst="rect">
                <a:avLst/>
              </a:prstGeom>
              <a:blipFill>
                <a:blip r:embed="rId6"/>
                <a:stretch>
                  <a:fillRect l="-333" t="-1176"/>
                </a:stretch>
              </a:blipFill>
              <a:ln/>
            </p:spPr>
            <p:txBody>
              <a:bodyPr/>
              <a:lstStyle/>
              <a:p>
                <a:r>
                  <a:rPr lang="es-AR">
                    <a:noFill/>
                  </a:rPr>
                  <a:t> </a:t>
                </a:r>
              </a:p>
            </p:txBody>
          </p:sp>
        </mc:Fallback>
      </mc:AlternateContent>
      <p:pic>
        <p:nvPicPr>
          <p:cNvPr id="15" name="Imagen 14">
            <a:extLst>
              <a:ext uri="{FF2B5EF4-FFF2-40B4-BE49-F238E27FC236}">
                <a16:creationId xmlns:a16="http://schemas.microsoft.com/office/drawing/2014/main" id="{EDD9B0C2-A4AE-470B-BD78-B2B38C17C5D3}"/>
              </a:ext>
            </a:extLst>
          </p:cNvPr>
          <p:cNvPicPr>
            <a:picLocks noChangeAspect="1"/>
          </p:cNvPicPr>
          <p:nvPr/>
        </p:nvPicPr>
        <p:blipFill>
          <a:blip r:embed="rId7"/>
          <a:stretch>
            <a:fillRect/>
          </a:stretch>
        </p:blipFill>
        <p:spPr>
          <a:xfrm>
            <a:off x="6905150" y="4047593"/>
            <a:ext cx="4220235" cy="842345"/>
          </a:xfrm>
          <a:prstGeom prst="rect">
            <a:avLst/>
          </a:prstGeom>
        </p:spPr>
      </p:pic>
      <p:sp>
        <p:nvSpPr>
          <p:cNvPr id="17" name="CuadroTexto 16">
            <a:extLst>
              <a:ext uri="{FF2B5EF4-FFF2-40B4-BE49-F238E27FC236}">
                <a16:creationId xmlns:a16="http://schemas.microsoft.com/office/drawing/2014/main" id="{2B47554C-3CFC-4A0C-915A-AF3092AC39BD}"/>
              </a:ext>
            </a:extLst>
          </p:cNvPr>
          <p:cNvSpPr txBox="1"/>
          <p:nvPr/>
        </p:nvSpPr>
        <p:spPr>
          <a:xfrm>
            <a:off x="5539740" y="4917370"/>
            <a:ext cx="6438900" cy="430887"/>
          </a:xfrm>
          <a:prstGeom prst="rect">
            <a:avLst/>
          </a:prstGeom>
          <a:noFill/>
        </p:spPr>
        <p:txBody>
          <a:bodyPr wrap="square">
            <a:spAutoFit/>
          </a:bodyPr>
          <a:lstStyle/>
          <a:p>
            <a:r>
              <a:rPr lang="es-AR" sz="1100" dirty="0"/>
              <a:t>La alta frecuencia del PWM (5kHz) es filtrada naturalmente por la inductancia del motor, permitiéndonos trabajar solo con la componente fundamental que efectivamente controla el movimiento del brazo.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global no lineal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8" name="Text 6">
            <a:extLst>
              <a:ext uri="{FF2B5EF4-FFF2-40B4-BE49-F238E27FC236}">
                <a16:creationId xmlns:a16="http://schemas.microsoft.com/office/drawing/2014/main" id="{DB86A14F-2892-4C19-832C-72B4C18FF5BD}"/>
              </a:ext>
            </a:extLst>
          </p:cNvPr>
          <p:cNvSpPr/>
          <p:nvPr/>
        </p:nvSpPr>
        <p:spPr>
          <a:xfrm>
            <a:off x="116606" y="831861"/>
            <a:ext cx="11018101" cy="777240"/>
          </a:xfrm>
          <a:prstGeom prst="rect">
            <a:avLst/>
          </a:prstGeom>
          <a:noFill/>
          <a:ln/>
        </p:spPr>
        <p:txBody>
          <a:bodyPr wrap="square" rtlCol="0" anchor="t"/>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combinan las ecuaciones correspondientes a los subsistemas mecánico, electromagnético y térmico ya desarrollados, obteniéndose el siguiente modelo dinámico no lineal para el sistema físico completo:</a:t>
            </a:r>
          </a:p>
          <a:p>
            <a:endParaRPr lang="en-US" sz="1200" dirty="0"/>
          </a:p>
        </p:txBody>
      </p:sp>
      <mc:AlternateContent xmlns:mc="http://schemas.openxmlformats.org/markup-compatibility/2006" xmlns:a14="http://schemas.microsoft.com/office/drawing/2010/main">
        <mc:Choice Requires="a14">
          <p:sp>
            <p:nvSpPr>
              <p:cNvPr id="19" name="Shape 7">
                <a:extLst>
                  <a:ext uri="{FF2B5EF4-FFF2-40B4-BE49-F238E27FC236}">
                    <a16:creationId xmlns:a16="http://schemas.microsoft.com/office/drawing/2014/main" id="{1E27AC72-650E-4CCC-B475-1352A198EA0A}"/>
                  </a:ext>
                </a:extLst>
              </p:cNvPr>
              <p:cNvSpPr/>
              <p:nvPr/>
            </p:nvSpPr>
            <p:spPr>
              <a:xfrm>
                <a:off x="215597" y="1406320"/>
                <a:ext cx="11176653" cy="3085781"/>
              </a:xfrm>
              <a:prstGeom prst="rect">
                <a:avLst/>
              </a:prstGeom>
              <a:solidFill>
                <a:srgbClr val="FFF8E8"/>
              </a:solidFill>
              <a:ln w="19050">
                <a:solidFill>
                  <a:srgbClr val="DDAA00"/>
                </a:solidFill>
                <a:prstDash val="solid"/>
              </a:ln>
            </p:spPr>
            <p:txBody>
              <a:bodyPr/>
              <a:lstStyle/>
              <a:p>
                <a:pPr/>
                <a14:m>
                  <m:oMathPara xmlns:m="http://schemas.openxmlformats.org/officeDocument/2006/math">
                    <m:oMathParaPr>
                      <m:jc m:val="left"/>
                    </m:oMathParaPr>
                    <m:oMath xmlns:m="http://schemas.openxmlformats.org/officeDocument/2006/math">
                      <m:d>
                        <m:dPr>
                          <m:begChr m:val="{"/>
                          <m:endChr m:val=""/>
                          <m:ctrlPr>
                            <a:rPr lang="es-AR" sz="1500" i="1" smtClean="0">
                              <a:latin typeface="Cambria Math" panose="02040503050406030204" pitchFamily="18" charset="0"/>
                            </a:rPr>
                          </m:ctrlPr>
                        </m:dPr>
                        <m:e>
                          <m:m>
                            <m:mPr>
                              <m:mcs>
                                <m:mc>
                                  <m:mcPr>
                                    <m:count m:val="1"/>
                                    <m:mcJc m:val="center"/>
                                  </m:mcPr>
                                </m:mc>
                              </m:mcs>
                              <m:ctrlPr>
                                <a:rPr lang="es-AR" sz="1500" i="1">
                                  <a:latin typeface="Cambria Math" panose="02040503050406030204" pitchFamily="18" charset="0"/>
                                </a:rPr>
                              </m:ctrlPr>
                            </m:mPr>
                            <m:mr>
                              <m:e>
                                <m:sSub>
                                  <m:sSubPr>
                                    <m:ctrlPr>
                                      <a:rPr lang="es-AR" sz="1500" i="1">
                                        <a:latin typeface="Cambria Math" panose="02040503050406030204" pitchFamily="18" charset="0"/>
                                      </a:rPr>
                                    </m:ctrlPr>
                                  </m:sSubPr>
                                  <m:e>
                                    <m:acc>
                                      <m:accPr>
                                        <m:chr m:val="̇"/>
                                        <m:ctrlPr>
                                          <a:rPr lang="es-AR" sz="1500" i="1">
                                            <a:latin typeface="Cambria Math" panose="02040503050406030204" pitchFamily="18" charset="0"/>
                                          </a:rPr>
                                        </m:ctrlPr>
                                      </m:accPr>
                                      <m:e>
                                        <m:r>
                                          <a:rPr lang="es-AR" sz="1500" i="1">
                                            <a:latin typeface="Cambria Math" panose="02040503050406030204" pitchFamily="18" charset="0"/>
                                          </a:rPr>
                                          <m:t>𝜃</m:t>
                                        </m:r>
                                      </m:e>
                                    </m:acc>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                         </m:t>
                                </m:r>
                                <m:r>
                                  <a:rPr lang="es-MX" sz="1500" b="0" i="1" smtClean="0">
                                    <a:latin typeface="Cambria Math" panose="02040503050406030204" pitchFamily="18" charset="0"/>
                                  </a:rPr>
                                  <m:t>  </m:t>
                                </m:r>
                                <m:r>
                                  <a:rPr lang="es-AR" sz="1500" i="1">
                                    <a:latin typeface="Cambria Math" panose="02040503050406030204" pitchFamily="18" charset="0"/>
                                  </a:rPr>
                                  <m:t>                                                                                                                                        </m:t>
                                </m:r>
                              </m:e>
                            </m:mr>
                            <m:mr>
                              <m:e>
                                <m:sSub>
                                  <m:sSubPr>
                                    <m:ctrlPr>
                                      <a:rPr lang="es-AR" sz="1500" i="1">
                                        <a:latin typeface="Cambria Math" panose="02040503050406030204" pitchFamily="18" charset="0"/>
                                      </a:rPr>
                                    </m:ctrlPr>
                                  </m:sSubPr>
                                  <m:e>
                                    <m:acc>
                                      <m:accPr>
                                        <m:chr m:val="̇"/>
                                        <m:ctrlPr>
                                          <a:rPr lang="es-AR" sz="1500" i="1">
                                            <a:latin typeface="Cambria Math" panose="02040503050406030204" pitchFamily="18" charset="0"/>
                                          </a:rPr>
                                        </m:ctrlPr>
                                      </m:accPr>
                                      <m:e>
                                        <m:r>
                                          <a:rPr lang="es-AR" sz="1500" i="1">
                                            <a:latin typeface="Cambria Math" panose="02040503050406030204" pitchFamily="18" charset="0"/>
                                          </a:rPr>
                                          <m:t>⍵</m:t>
                                        </m:r>
                                      </m:e>
                                    </m:acc>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𝐽</m:t>
                                        </m:r>
                                      </m:e>
                                      <m:sub>
                                        <m:r>
                                          <a:rPr lang="es-AR" sz="1500" i="1">
                                            <a:latin typeface="Cambria Math" panose="02040503050406030204" pitchFamily="18" charset="0"/>
                                          </a:rPr>
                                          <m:t>𝑒𝑞</m:t>
                                        </m:r>
                                      </m:sub>
                                    </m:sSub>
                                  </m:den>
                                </m:f>
                                <m:d>
                                  <m:dPr>
                                    <m:begChr m:val="["/>
                                    <m:endChr m:val="]"/>
                                    <m:ctrlPr>
                                      <a:rPr lang="es-AR" sz="1500" i="1">
                                        <a:latin typeface="Cambria Math" panose="02040503050406030204" pitchFamily="18" charset="0"/>
                                      </a:rPr>
                                    </m:ctrlPr>
                                  </m:dPr>
                                  <m:e>
                                    <m:f>
                                      <m:fPr>
                                        <m:ctrlPr>
                                          <a:rPr lang="es-AR" sz="1500" i="1">
                                            <a:latin typeface="Cambria Math" panose="02040503050406030204" pitchFamily="18" charset="0"/>
                                          </a:rPr>
                                        </m:ctrlPr>
                                      </m:fPr>
                                      <m:num>
                                        <m:r>
                                          <a:rPr lang="es-AR" sz="1500" i="1">
                                            <a:latin typeface="Cambria Math" panose="02040503050406030204" pitchFamily="18" charset="0"/>
                                          </a:rPr>
                                          <m:t>3</m:t>
                                        </m:r>
                                      </m:num>
                                      <m:den>
                                        <m:r>
                                          <a:rPr lang="es-AR" sz="1500" i="1">
                                            <a:latin typeface="Cambria Math" panose="02040503050406030204" pitchFamily="18" charset="0"/>
                                          </a:rPr>
                                          <m:t>2</m:t>
                                        </m:r>
                                      </m:den>
                                    </m:f>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𝜆</m:t>
                                            </m:r>
                                          </m:e>
                                          <m:sub>
                                            <m:r>
                                              <a:rPr lang="es-AR" sz="1500" i="1">
                                                <a:latin typeface="Cambria Math" panose="02040503050406030204" pitchFamily="18" charset="0"/>
                                              </a:rPr>
                                              <m:t>𝑚</m:t>
                                            </m:r>
                                          </m:sub>
                                          <m:sup>
                                            <m:r>
                                              <a:rPr lang="es-AR" sz="1500" i="1">
                                                <a:latin typeface="Cambria Math" panose="02040503050406030204" pitchFamily="18" charset="0"/>
                                              </a:rPr>
                                              <m:t>ˊ</m:t>
                                            </m:r>
                                            <m:r>
                                              <a:rPr lang="es-AR" sz="1500" i="1">
                                                <a:latin typeface="Cambria Math" panose="02040503050406030204" pitchFamily="18" charset="0"/>
                                              </a:rPr>
                                              <m:t>𝑟</m:t>
                                            </m:r>
                                          </m:sup>
                                        </m:sSubSup>
                                        <m:r>
                                          <a:rPr lang="es-AR" sz="1500" i="1">
                                            <a:latin typeface="Cambria Math" panose="02040503050406030204" pitchFamily="18" charset="0"/>
                                          </a:rPr>
                                          <m:t>+</m:t>
                                        </m:r>
                                        <m:d>
                                          <m:dPr>
                                            <m:ctrlPr>
                                              <a:rPr lang="es-AR" sz="1500" i="1">
                                                <a:latin typeface="Cambria Math" panose="02040503050406030204" pitchFamily="18" charset="0"/>
                                              </a:rPr>
                                            </m:ctrlPr>
                                          </m:dPr>
                                          <m:e>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𝑏</m:t>
                                        </m:r>
                                      </m:e>
                                      <m:sub>
                                        <m:r>
                                          <a:rPr lang="es-AR" sz="1500" i="1">
                                            <a:latin typeface="Cambria Math" panose="02040503050406030204" pitchFamily="18" charset="0"/>
                                          </a:rPr>
                                          <m:t>𝑒𝑞</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r>
                                          <a:rPr lang="es-AR" sz="1500" i="1">
                                            <a:latin typeface="Cambria Math" panose="02040503050406030204" pitchFamily="18" charset="0"/>
                                          </a:rPr>
                                          <m:t>𝑟</m:t>
                                        </m:r>
                                      </m:den>
                                    </m:f>
                                    <m:d>
                                      <m:dPr>
                                        <m:ctrlPr>
                                          <a:rPr lang="es-AR" sz="1500" i="1" smtClean="0">
                                            <a:latin typeface="Cambria Math" panose="02040503050406030204" pitchFamily="18" charset="0"/>
                                          </a:rPr>
                                        </m:ctrlPr>
                                      </m:dPr>
                                      <m:e>
                                        <m:sSub>
                                          <m:sSubPr>
                                            <m:ctrlPr>
                                              <a:rPr lang="es-AR" sz="1500" i="1" smtClean="0">
                                                <a:latin typeface="Cambria Math" panose="02040503050406030204" pitchFamily="18" charset="0"/>
                                              </a:rPr>
                                            </m:ctrlPr>
                                          </m:sSubPr>
                                          <m:e>
                                            <m:r>
                                              <a:rPr lang="es-AR" sz="1500" i="1">
                                                <a:latin typeface="Cambria Math" panose="02040503050406030204" pitchFamily="18" charset="0"/>
                                              </a:rPr>
                                              <m:t>𝑇</m:t>
                                            </m:r>
                                          </m:e>
                                          <m:sub>
                                            <m:r>
                                              <a:rPr lang="es-AR" sz="1500" i="1">
                                                <a:latin typeface="Cambria Math" panose="02040503050406030204" pitchFamily="18" charset="0"/>
                                              </a:rPr>
                                              <m:t>𝑙𝑑</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r>
                                          <a:rPr lang="es-AR" sz="1500" i="1">
                                            <a:latin typeface="Cambria Math" panose="02040503050406030204" pitchFamily="18" charset="0"/>
                                          </a:rPr>
                                          <m:t>𝑔</m:t>
                                        </m:r>
                                        <m:r>
                                          <a:rPr lang="es-AR" sz="1500" i="1">
                                            <a:latin typeface="Cambria Math" panose="02040503050406030204" pitchFamily="18" charset="0"/>
                                          </a:rPr>
                                          <m:t> </m:t>
                                        </m:r>
                                        <m:sSub>
                                          <m:sSubPr>
                                            <m:ctrlPr>
                                              <a:rPr lang="es-AR" sz="1500" i="1">
                                                <a:latin typeface="Cambria Math" panose="02040503050406030204" pitchFamily="18" charset="0"/>
                                              </a:rPr>
                                            </m:ctrlPr>
                                          </m:sSubPr>
                                          <m:e>
                                            <m:r>
                                              <a:rPr lang="es-AR" sz="1500" i="1">
                                                <a:latin typeface="Cambria Math" panose="02040503050406030204" pitchFamily="18" charset="0"/>
                                              </a:rPr>
                                              <m:t>𝑘</m:t>
                                            </m:r>
                                          </m:e>
                                          <m:sub>
                                            <m:r>
                                              <a:rPr lang="es-AR" sz="1500" i="1">
                                                <a:latin typeface="Cambria Math" panose="02040503050406030204" pitchFamily="18" charset="0"/>
                                              </a:rPr>
                                              <m:t>𝑙</m:t>
                                            </m:r>
                                          </m:sub>
                                        </m:sSub>
                                        <m:func>
                                          <m:funcPr>
                                            <m:ctrlPr>
                                              <a:rPr lang="es-AR" sz="1500" i="1">
                                                <a:latin typeface="Cambria Math" panose="02040503050406030204" pitchFamily="18" charset="0"/>
                                              </a:rPr>
                                            </m:ctrlPr>
                                          </m:funcPr>
                                          <m:fName>
                                            <m:r>
                                              <a:rPr lang="es-AR" sz="1500" i="1">
                                                <a:latin typeface="Cambria Math" panose="02040503050406030204" pitchFamily="18" charset="0"/>
                                              </a:rPr>
                                              <m:t>𝑠𝑖𝑛</m:t>
                                            </m:r>
                                          </m:fName>
                                          <m:e>
                                            <m:d>
                                              <m:dPr>
                                                <m:ctrlPr>
                                                  <a:rPr lang="es-AR" sz="1500" i="1">
                                                    <a:latin typeface="Cambria Math" panose="02040503050406030204" pitchFamily="18" charset="0"/>
                                                  </a:rPr>
                                                </m:ctrlPr>
                                              </m:dPr>
                                              <m:e>
                                                <m:f>
                                                  <m:fPr>
                                                    <m:ctrlPr>
                                                      <a:rPr lang="es-AR" sz="1500" i="1">
                                                        <a:latin typeface="Cambria Math" panose="02040503050406030204" pitchFamily="18" charset="0"/>
                                                      </a:rPr>
                                                    </m:ctrlPr>
                                                  </m:fPr>
                                                  <m:num>
                                                    <m:sSub>
                                                      <m:sSubPr>
                                                        <m:ctrlPr>
                                                          <a:rPr lang="es-AR" sz="1500" i="1">
                                                            <a:latin typeface="Cambria Math" panose="02040503050406030204" pitchFamily="18" charset="0"/>
                                                          </a:rPr>
                                                        </m:ctrlPr>
                                                      </m:sSubPr>
                                                      <m:e>
                                                        <m:r>
                                                          <a:rPr lang="es-AR" sz="1500" i="1">
                                                            <a:latin typeface="Cambria Math" panose="02040503050406030204" pitchFamily="18" charset="0"/>
                                                          </a:rPr>
                                                          <m:t>𝜃</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𝑟</m:t>
                                                    </m:r>
                                                  </m:den>
                                                </m:f>
                                              </m:e>
                                            </m:d>
                                          </m:e>
                                        </m:func>
                                      </m:e>
                                    </m:d>
                                  </m:e>
                                </m:d>
                                <m:r>
                                  <a:rPr lang="es-AR" sz="1500" i="1">
                                    <a:latin typeface="Cambria Math" panose="02040503050406030204" pitchFamily="18" charset="0"/>
                                  </a:rPr>
                                  <m:t>          </m:t>
                                </m:r>
                              </m:e>
                            </m:mr>
                            <m:mr>
                              <m:e>
                                <m:m>
                                  <m:mPr>
                                    <m:mcs>
                                      <m:mc>
                                        <m:mcPr>
                                          <m:count m:val="1"/>
                                          <m:mcJc m:val="center"/>
                                        </m:mcPr>
                                      </m:mc>
                                    </m:mcs>
                                    <m:ctrlPr>
                                      <a:rPr lang="es-AR" sz="1500" i="1">
                                        <a:latin typeface="Cambria Math" panose="02040503050406030204" pitchFamily="18" charset="0"/>
                                      </a:rPr>
                                    </m:ctrlPr>
                                  </m:mP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𝜆</m:t>
                                                  </m:r>
                                                </m:e>
                                                <m:sub>
                                                  <m:r>
                                                    <a:rPr lang="es-AR" sz="1500" i="1">
                                                      <a:latin typeface="Cambria Math" panose="02040503050406030204" pitchFamily="18" charset="0"/>
                                                    </a:rPr>
                                                    <m:t>𝑚</m:t>
                                                  </m:r>
                                                </m:sub>
                                                <m:sup>
                                                  <m:r>
                                                    <a:rPr lang="es-AR" sz="1500" i="1">
                                                      <a:latin typeface="Cambria Math" panose="02040503050406030204" pitchFamily="18" charset="0"/>
                                                    </a:rPr>
                                                    <m:t>ˊ</m:t>
                                                  </m:r>
                                                  <m:r>
                                                    <a:rPr lang="es-AR" sz="1500" i="1">
                                                      <a:latin typeface="Cambria Math" panose="02040503050406030204" pitchFamily="18" charset="0"/>
                                                    </a:rPr>
                                                    <m:t>𝑟</m:t>
                                                  </m:r>
                                                </m:sup>
                                              </m:sSubSup>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e>
                                  </m:m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e>
                                  </m:mr>
                                  <m:mr>
                                    <m:e>
                                      <m:m>
                                        <m:mPr>
                                          <m:mcs>
                                            <m:mc>
                                              <m:mcPr>
                                                <m:count m:val="1"/>
                                                <m:mcJc m:val="center"/>
                                              </m:mcPr>
                                            </m:mc>
                                          </m:mcs>
                                          <m:ctrlPr>
                                            <a:rPr lang="es-AR" sz="1500" i="1">
                                              <a:latin typeface="Cambria Math" panose="02040503050406030204" pitchFamily="18" charset="0"/>
                                            </a:rPr>
                                          </m:ctrlPr>
                                        </m:mP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𝑙𝑠</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r>
                                              <a:rPr lang="es-MX" sz="1500" b="0" i="1" smtClean="0">
                                                <a:latin typeface="Cambria Math" panose="02040503050406030204" pitchFamily="18" charset="0"/>
                                              </a:rPr>
                                              <m:t>  </m:t>
                                            </m:r>
                                            <m:r>
                                              <a:rPr lang="es-AR" sz="1500" i="1">
                                                <a:latin typeface="Cambria Math" panose="02040503050406030204" pitchFamily="18" charset="0"/>
                                              </a:rPr>
                                              <m:t>                                                                            </m:t>
                                            </m:r>
                                          </m:e>
                                        </m:mr>
                                        <m:mr>
                                          <m:e>
                                            <m:f>
                                              <m:fPr>
                                                <m:ctrlPr>
                                                  <a:rPr lang="es-AR" sz="1500" i="1">
                                                    <a:latin typeface="Cambria Math" panose="02040503050406030204" pitchFamily="18" charset="0"/>
                                                  </a:rPr>
                                                </m:ctrlPr>
                                              </m:fPr>
                                              <m:num>
                                                <m:r>
                                                  <a:rPr lang="es-AR" sz="1500" i="1">
                                                    <a:latin typeface="Cambria Math" panose="02040503050406030204" pitchFamily="18" charset="0"/>
                                                  </a:rPr>
                                                  <m:t>𝑑</m:t>
                                                </m:r>
                                                <m:sSub>
                                                  <m:sSubPr>
                                                    <m:ctrlPr>
                                                      <a:rPr lang="es-AR" sz="1500" i="1">
                                                        <a:latin typeface="Cambria Math" panose="02040503050406030204" pitchFamily="18" charset="0"/>
                                                      </a:rPr>
                                                    </m:ctrlPr>
                                                  </m:sSubPr>
                                                  <m:e>
                                                    <m:r>
                                                      <a:rPr lang="es-AR" sz="1500" i="1">
                                                        <a:latin typeface="Cambria Math" panose="02040503050406030204" pitchFamily="18" charset="0"/>
                                                      </a:rPr>
                                                      <m:t>𝑇</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𝐶</m:t>
                                                    </m:r>
                                                  </m:e>
                                                  <m:sub>
                                                    <m:r>
                                                      <a:rPr lang="es-AR" sz="1500" i="1">
                                                        <a:latin typeface="Cambria Math" panose="02040503050406030204" pitchFamily="18" charset="0"/>
                                                      </a:rPr>
                                                      <m:t>𝑡𝑠</m:t>
                                                    </m:r>
                                                  </m:sub>
                                                </m:sSub>
                                              </m:den>
                                            </m:f>
                                            <m:d>
                                              <m:dPr>
                                                <m:begChr m:val="["/>
                                                <m:endChr m:val="]"/>
                                                <m:ctrlPr>
                                                  <a:rPr lang="es-AR" sz="1500" i="1">
                                                    <a:latin typeface="Cambria Math" panose="02040503050406030204" pitchFamily="18" charset="0"/>
                                                  </a:rPr>
                                                </m:ctrlPr>
                                              </m:dPr>
                                              <m:e>
                                                <m:f>
                                                  <m:fPr>
                                                    <m:ctrlPr>
                                                      <a:rPr lang="es-AR" sz="1500" i="1">
                                                        <a:latin typeface="Cambria Math" panose="02040503050406030204" pitchFamily="18" charset="0"/>
                                                      </a:rPr>
                                                    </m:ctrlPr>
                                                  </m:fPr>
                                                  <m:num>
                                                    <m:r>
                                                      <a:rPr lang="es-AR" sz="1500" i="1">
                                                        <a:latin typeface="Cambria Math" panose="02040503050406030204" pitchFamily="18" charset="0"/>
                                                      </a:rPr>
                                                      <m:t>3</m:t>
                                                    </m:r>
                                                  </m:num>
                                                  <m:den>
                                                    <m:r>
                                                      <a:rPr lang="es-AR" sz="1500" i="1">
                                                        <a:latin typeface="Cambria Math" panose="02040503050406030204" pitchFamily="18" charset="0"/>
                                                      </a:rPr>
                                                      <m:t>2</m:t>
                                                    </m:r>
                                                  </m:den>
                                                </m:f>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d>
                                                  <m:dPr>
                                                    <m:ctrlPr>
                                                      <a:rPr lang="es-AR" sz="1500" i="1">
                                                        <a:latin typeface="Cambria Math" panose="02040503050406030204" pitchFamily="18" charset="0"/>
                                                      </a:rPr>
                                                    </m:ctrlPr>
                                                  </m:dPr>
                                                  <m:e>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r>
                                                      <a:rPr lang="es-AR" sz="1500" i="1">
                                                        <a:latin typeface="Cambria Math" panose="02040503050406030204" pitchFamily="18" charset="0"/>
                                                      </a:rPr>
                                                      <m:t>+</m:t>
                                                    </m:r>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r>
                                                      <a:rPr lang="es-AR" sz="1500" i="1">
                                                        <a:latin typeface="Cambria Math" panose="02040503050406030204" pitchFamily="18" charset="0"/>
                                                      </a:rPr>
                                                      <m:t>+</m:t>
                                                    </m:r>
                                                    <m:r>
                                                      <a:rPr lang="es-AR" sz="1500" i="1">
                                                        <a:latin typeface="Cambria Math" panose="02040503050406030204" pitchFamily="18" charset="0"/>
                                                      </a:rPr>
                                                      <m:t>2</m:t>
                                                    </m:r>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𝑡𝑠</m:t>
                                                        </m:r>
                                                        <m:r>
                                                          <a:rPr lang="es-AR" sz="1500" i="1">
                                                            <a:latin typeface="Cambria Math" panose="02040503050406030204" pitchFamily="18" charset="0"/>
                                                          </a:rPr>
                                                          <m:t>−</m:t>
                                                        </m:r>
                                                        <m:r>
                                                          <a:rPr lang="es-AR" sz="1500" i="1">
                                                            <a:latin typeface="Cambria Math" panose="02040503050406030204" pitchFamily="18" charset="0"/>
                                                          </a:rPr>
                                                          <m:t>𝑎𝑚𝑏</m:t>
                                                        </m:r>
                                                      </m:sub>
                                                    </m:sSub>
                                                  </m:den>
                                                </m:f>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sSubSup>
                                                      <m:sSubSupPr>
                                                        <m:ctrlPr>
                                                          <a:rPr lang="es-AR" sz="1500" i="1">
                                                            <a:latin typeface="Cambria Math" panose="02040503050406030204" pitchFamily="18" charset="0"/>
                                                          </a:rPr>
                                                        </m:ctrlPr>
                                                      </m:sSubSupPr>
                                                      <m:e>
                                                        <m:r>
                                                          <a:rPr lang="es-AR" sz="1500" i="1">
                                                            <a:latin typeface="Cambria Math" panose="02040503050406030204" pitchFamily="18" charset="0"/>
                                                          </a:rPr>
                                                          <m:t>−</m:t>
                                                        </m:r>
                                                        <m:r>
                                                          <a:rPr lang="es-AR" sz="1500" i="1">
                                                            <a:latin typeface="Cambria Math" panose="02040503050406030204" pitchFamily="18" charset="0"/>
                                                          </a:rPr>
                                                          <m:t>𝑇</m:t>
                                                        </m:r>
                                                      </m:e>
                                                      <m:sub>
                                                        <m:r>
                                                          <a:rPr lang="es-AR" sz="1500" i="1">
                                                            <a:latin typeface="Cambria Math" panose="02040503050406030204" pitchFamily="18" charset="0"/>
                                                          </a:rPr>
                                                          <m:t>𝑎𝑚𝑏</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e>
                                            </m:d>
                                            <m:r>
                                              <a:rPr lang="es-AR" sz="1500" i="1">
                                                <a:latin typeface="Cambria Math" panose="02040503050406030204" pitchFamily="18" charset="0"/>
                                              </a:rPr>
                                              <m:t>    </m:t>
                                            </m:r>
                                            <m:r>
                                              <a:rPr lang="es-MX" sz="1500" b="0" i="1" smtClean="0">
                                                <a:latin typeface="Cambria Math" panose="02040503050406030204" pitchFamily="18" charset="0"/>
                                              </a:rPr>
                                              <m:t> </m:t>
                                            </m:r>
                                            <m:r>
                                              <a:rPr lang="es-AR" sz="1500" i="1">
                                                <a:latin typeface="Cambria Math" panose="02040503050406030204" pitchFamily="18" charset="0"/>
                                              </a:rPr>
                                              <m:t>                        </m:t>
                                            </m:r>
                                          </m:e>
                                        </m:mr>
                                      </m:m>
                                    </m:e>
                                  </m:mr>
                                </m:m>
                              </m:e>
                            </m:mr>
                          </m:m>
                        </m:e>
                      </m:d>
                    </m:oMath>
                  </m:oMathPara>
                </a14:m>
                <a:endParaRPr lang="es-AR" sz="1500" dirty="0"/>
              </a:p>
            </p:txBody>
          </p:sp>
        </mc:Choice>
        <mc:Fallback xmlns="">
          <p:sp>
            <p:nvSpPr>
              <p:cNvPr id="19" name="Shape 7">
                <a:extLst>
                  <a:ext uri="{FF2B5EF4-FFF2-40B4-BE49-F238E27FC236}">
                    <a16:creationId xmlns:a16="http://schemas.microsoft.com/office/drawing/2014/main" id="{1E27AC72-650E-4CCC-B475-1352A198EA0A}"/>
                  </a:ext>
                </a:extLst>
              </p:cNvPr>
              <p:cNvSpPr>
                <a:spLocks noRot="1" noChangeAspect="1" noMove="1" noResize="1" noEditPoints="1" noAdjustHandles="1" noChangeArrowheads="1" noChangeShapeType="1" noTextEdit="1"/>
              </p:cNvSpPr>
              <p:nvPr/>
            </p:nvSpPr>
            <p:spPr>
              <a:xfrm>
                <a:off x="215597" y="1406320"/>
                <a:ext cx="11176653" cy="3085781"/>
              </a:xfrm>
              <a:prstGeom prst="rect">
                <a:avLst/>
              </a:prstGeom>
              <a:blipFill>
                <a:blip r:embed="rId2"/>
                <a:stretch>
                  <a:fillRect/>
                </a:stretch>
              </a:blipFill>
              <a:ln w="19050">
                <a:solidFill>
                  <a:srgbClr val="DDAA00"/>
                </a:solidFill>
                <a:prstDash val="solid"/>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 10">
                <a:extLst>
                  <a:ext uri="{FF2B5EF4-FFF2-40B4-BE49-F238E27FC236}">
                    <a16:creationId xmlns:a16="http://schemas.microsoft.com/office/drawing/2014/main" id="{8487B241-9AC0-49F2-B841-AFF136F1385B}"/>
                  </a:ext>
                </a:extLst>
              </p:cNvPr>
              <p:cNvSpPr/>
              <p:nvPr/>
            </p:nvSpPr>
            <p:spPr>
              <a:xfrm>
                <a:off x="274320" y="4596542"/>
                <a:ext cx="5486400" cy="1307592"/>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Estado: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2"/>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mr>
                            </m:m>
                          </m:e>
                        </m:d>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Control: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Perturbación: </a:t>
                </a:r>
                <a14:m>
                  <m:oMath xmlns:m="http://schemas.openxmlformats.org/officeDocument/2006/math">
                    <m:r>
                      <a:rPr lang="es-AR" sz="1400" i="1" smtClean="0">
                        <a:effectLst/>
                        <a:latin typeface="Cambria Math" panose="02040503050406030204" pitchFamily="18" charset="0"/>
                        <a:ea typeface="Times New Roman" panose="02020603050405020304" pitchFamily="18" charset="0"/>
                        <a:cs typeface="Times New Roman" panose="02020603050405020304" pitchFamily="18" charset="0"/>
                      </a:rPr>
                      <m:t>𝑑</m:t>
                    </m:r>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d>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Salida: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400" i="1">
                                          <a:effectLst/>
                                          <a:latin typeface="Cambria Math" panose="02040503050406030204" pitchFamily="18" charset="0"/>
                                          <a:ea typeface="Times New Roman" panose="020206030504050203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d>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400" dirty="0"/>
              </a:p>
            </p:txBody>
          </p:sp>
        </mc:Choice>
        <mc:Fallback xmlns="">
          <p:sp>
            <p:nvSpPr>
              <p:cNvPr id="9" name="Text 10">
                <a:extLst>
                  <a:ext uri="{FF2B5EF4-FFF2-40B4-BE49-F238E27FC236}">
                    <a16:creationId xmlns:a16="http://schemas.microsoft.com/office/drawing/2014/main" id="{8487B241-9AC0-49F2-B841-AFF136F1385B}"/>
                  </a:ext>
                </a:extLst>
              </p:cNvPr>
              <p:cNvSpPr>
                <a:spLocks noRot="1" noChangeAspect="1" noMove="1" noResize="1" noEditPoints="1" noAdjustHandles="1" noChangeArrowheads="1" noChangeShapeType="1" noTextEdit="1"/>
              </p:cNvSpPr>
              <p:nvPr/>
            </p:nvSpPr>
            <p:spPr>
              <a:xfrm>
                <a:off x="274320" y="4596542"/>
                <a:ext cx="5486400" cy="1307592"/>
              </a:xfrm>
              <a:prstGeom prst="rect">
                <a:avLst/>
              </a:prstGeom>
              <a:blipFill>
                <a:blip r:embed="rId3"/>
                <a:stretch>
                  <a:fillRect l="-333" b="-45116"/>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7595111-B765-4817-96C6-473C4B8ED581}"/>
                  </a:ext>
                </a:extLst>
              </p:cNvPr>
              <p:cNvSpPr txBox="1"/>
              <p:nvPr/>
            </p:nvSpPr>
            <p:spPr>
              <a:xfrm>
                <a:off x="6241684" y="3938944"/>
                <a:ext cx="6102990" cy="4147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a:solidFill>
                                <a:schemeClr val="tx1"/>
                              </a:solidFill>
                              <a:latin typeface="Cambria Math" panose="02040503050406030204" pitchFamily="18" charset="0"/>
                            </a:rPr>
                            <m:t>1</m:t>
                          </m:r>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𝛼</m:t>
                              </m:r>
                            </m:e>
                            <m:sub>
                              <m:r>
                                <a:rPr lang="es-AR" sz="1400" i="1">
                                  <a:solidFill>
                                    <a:schemeClr val="tx1"/>
                                  </a:solidFill>
                                  <a:latin typeface="Cambria Math" panose="02040503050406030204" pitchFamily="18" charset="0"/>
                                </a:rPr>
                                <m:t>𝑐𝑢</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s-AR" sz="1400" dirty="0"/>
              </a:p>
            </p:txBody>
          </p:sp>
        </mc:Choice>
        <mc:Fallback xmlns="">
          <p:sp>
            <p:nvSpPr>
              <p:cNvPr id="10" name="CuadroTexto 9">
                <a:extLst>
                  <a:ext uri="{FF2B5EF4-FFF2-40B4-BE49-F238E27FC236}">
                    <a16:creationId xmlns:a16="http://schemas.microsoft.com/office/drawing/2014/main" id="{A7595111-B765-4817-96C6-473C4B8ED581}"/>
                  </a:ext>
                </a:extLst>
              </p:cNvPr>
              <p:cNvSpPr txBox="1">
                <a:spLocks noRot="1" noChangeAspect="1" noMove="1" noResize="1" noEditPoints="1" noAdjustHandles="1" noChangeArrowheads="1" noChangeShapeType="1" noTextEdit="1"/>
              </p:cNvSpPr>
              <p:nvPr/>
            </p:nvSpPr>
            <p:spPr>
              <a:xfrm>
                <a:off x="6241684" y="3938944"/>
                <a:ext cx="6102990" cy="414729"/>
              </a:xfrm>
              <a:prstGeom prst="rect">
                <a:avLst/>
              </a:prstGeom>
              <a:blipFill>
                <a:blip r:embed="rId4"/>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356624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Modelo</a:t>
            </a:r>
            <a:r>
              <a:rPr lang="en-US" sz="1900" b="1" dirty="0">
                <a:solidFill>
                  <a:srgbClr val="FFFFFF"/>
                </a:solidFill>
                <a:latin typeface="Calibri" pitchFamily="34" charset="0"/>
                <a:ea typeface="Calibri" pitchFamily="34" charset="-122"/>
                <a:cs typeface="Calibri" pitchFamily="34" charset="-120"/>
              </a:rPr>
              <a:t> global no lineal</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5" name="Text 13"/>
          <p:cNvSpPr/>
          <p:nvPr/>
        </p:nvSpPr>
        <p:spPr>
          <a:xfrm>
            <a:off x="472440" y="5246475"/>
            <a:ext cx="11247120" cy="1254993"/>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7 — Diagrama de bloques Simulink del sistema físico completo</a:t>
            </a:r>
            <a:endParaRPr lang="en-US" sz="1100" dirty="0"/>
          </a:p>
        </p:txBody>
      </p:sp>
      <p:pic>
        <p:nvPicPr>
          <p:cNvPr id="10" name="Imagen 9">
            <a:extLst>
              <a:ext uri="{FF2B5EF4-FFF2-40B4-BE49-F238E27FC236}">
                <a16:creationId xmlns:a16="http://schemas.microsoft.com/office/drawing/2014/main" id="{7DC8590B-E34D-4A07-9DEB-703B9252A1B0}"/>
              </a:ext>
            </a:extLst>
          </p:cNvPr>
          <p:cNvPicPr>
            <a:picLocks noChangeAspect="1"/>
          </p:cNvPicPr>
          <p:nvPr/>
        </p:nvPicPr>
        <p:blipFill>
          <a:blip r:embed="rId2"/>
          <a:stretch>
            <a:fillRect/>
          </a:stretch>
        </p:blipFill>
        <p:spPr>
          <a:xfrm>
            <a:off x="1077227" y="793314"/>
            <a:ext cx="10594134" cy="4923906"/>
          </a:xfrm>
          <a:prstGeom prst="rect">
            <a:avLst/>
          </a:prstGeom>
        </p:spPr>
      </p:pic>
    </p:spTree>
    <p:extLst>
      <p:ext uri="{BB962C8B-B14F-4D97-AF65-F5344CB8AC3E}">
        <p14:creationId xmlns:p14="http://schemas.microsoft.com/office/powerpoint/2010/main" val="2436779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err="1">
                <a:solidFill>
                  <a:srgbClr val="FFFFFF"/>
                </a:solidFill>
                <a:latin typeface="Cambria" pitchFamily="34" charset="0"/>
                <a:ea typeface="Cambria" pitchFamily="34" charset="-122"/>
                <a:cs typeface="Cambria" pitchFamily="34" charset="-120"/>
              </a:rPr>
              <a:t>Modelo</a:t>
            </a:r>
            <a:r>
              <a:rPr lang="en-US" sz="3400" b="1" dirty="0">
                <a:solidFill>
                  <a:srgbClr val="FFFFFF"/>
                </a:solidFill>
                <a:latin typeface="Cambria" pitchFamily="34" charset="0"/>
                <a:ea typeface="Cambria" pitchFamily="34" charset="-122"/>
                <a:cs typeface="Cambria" pitchFamily="34" charset="-120"/>
              </a:rPr>
              <a:t> LTI equivalente y análisis</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91440" y="677772"/>
                <a:ext cx="11978640" cy="785384"/>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El sistema es no lineal por acoplamientos entre variables de estado y entre ejes </a:t>
                </a:r>
                <a14:m>
                  <m:oMath xmlns:m="http://schemas.openxmlformats.org/officeDocument/2006/math">
                    <m:r>
                      <a:rPr lang="es-AR" sz="1400" i="1" smtClean="0">
                        <a:solidFill>
                          <a:srgbClr val="111111"/>
                        </a:solidFill>
                        <a:latin typeface="Cambria Math" panose="02040503050406030204" pitchFamily="18" charset="0"/>
                        <a:ea typeface="Calibri" pitchFamily="34" charset="-122"/>
                        <a:cs typeface="Calibri" pitchFamily="34" charset="-120"/>
                      </a:rPr>
                      <m:t>𝑑</m:t>
                    </m:r>
                    <m:r>
                      <a:rPr lang="es-AR" sz="1400" i="1" smtClean="0">
                        <a:solidFill>
                          <a:srgbClr val="111111"/>
                        </a:solidFill>
                        <a:latin typeface="Cambria Math" panose="02040503050406030204" pitchFamily="18" charset="0"/>
                        <a:ea typeface="Calibri" pitchFamily="34" charset="-122"/>
                        <a:cs typeface="Calibri" pitchFamily="34" charset="-120"/>
                      </a:rPr>
                      <m:t>−</m:t>
                    </m:r>
                    <m:r>
                      <a:rPr lang="es-AR" sz="1400" i="1" smtClean="0">
                        <a:solidFill>
                          <a:srgbClr val="111111"/>
                        </a:solidFill>
                        <a:latin typeface="Cambria Math" panose="02040503050406030204" pitchFamily="18" charset="0"/>
                        <a:ea typeface="Calibri" pitchFamily="34" charset="-122"/>
                        <a:cs typeface="Calibri" pitchFamily="34" charset="-120"/>
                      </a:rPr>
                      <m:t>𝑞</m:t>
                    </m:r>
                  </m:oMath>
                </a14:m>
                <a:r>
                  <a:rPr lang="es-AR" sz="1400" dirty="0">
                    <a:solidFill>
                      <a:srgbClr val="111111"/>
                    </a:solidFill>
                    <a:latin typeface="Calibri" pitchFamily="34" charset="0"/>
                    <a:ea typeface="Calibri" pitchFamily="34" charset="-122"/>
                    <a:cs typeface="Calibri" pitchFamily="34" charset="-120"/>
                  </a:rPr>
                  <a:t>. </a:t>
                </a:r>
                <a:r>
                  <a:rPr lang="es-AR" sz="1400" dirty="0"/>
                  <a:t>De manera general, un sistema dinámico no lineal puede describirse mediante un conjunto de ecuaciones diferenciales, donde la dinámica está representada por una función vectorial </a:t>
                </a:r>
                <a14:m>
                  <m:oMath xmlns:m="http://schemas.openxmlformats.org/officeDocument/2006/math">
                    <m:r>
                      <a:rPr lang="es-AR" sz="1400" i="1">
                        <a:latin typeface="Cambria Math" panose="02040503050406030204" pitchFamily="18" charset="0"/>
                      </a:rPr>
                      <m:t>𝑓</m:t>
                    </m:r>
                  </m:oMath>
                </a14:m>
                <a:r>
                  <a:rPr lang="es-AR" sz="1400" dirty="0"/>
                  <a:t>, dependiente del vector de estado </a:t>
                </a:r>
                <a14:m>
                  <m:oMath xmlns:m="http://schemas.openxmlformats.org/officeDocument/2006/math">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de la entrada de control </a:t>
                </a:r>
                <a14:m>
                  <m:oMath xmlns:m="http://schemas.openxmlformats.org/officeDocument/2006/math">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La salida del sistema se considera, en este caso, como una combinación lineal de las variables de estado.</a:t>
                </a:r>
              </a:p>
              <a:p>
                <a:br>
                  <a:rPr lang="en-US" sz="1300" dirty="0">
                    <a:solidFill>
                      <a:srgbClr val="111111"/>
                    </a:solidFill>
                    <a:latin typeface="Calibri" pitchFamily="34" charset="0"/>
                    <a:ea typeface="Calibri" pitchFamily="34" charset="-122"/>
                    <a:cs typeface="Calibri" pitchFamily="34" charset="-120"/>
                  </a:rPr>
                </a:br>
                <a:endParaRPr lang="en-US" sz="1300" dirty="0"/>
              </a:p>
            </p:txBody>
          </p:sp>
        </mc:Choice>
        <mc:Fallback xmlns="">
          <p:sp>
            <p:nvSpPr>
              <p:cNvPr id="7" name="Text 5"/>
              <p:cNvSpPr>
                <a:spLocks noRot="1" noChangeAspect="1" noMove="1" noResize="1" noEditPoints="1" noAdjustHandles="1" noChangeArrowheads="1" noChangeShapeType="1" noTextEdit="1"/>
              </p:cNvSpPr>
              <p:nvPr/>
            </p:nvSpPr>
            <p:spPr>
              <a:xfrm>
                <a:off x="91440" y="677772"/>
                <a:ext cx="11978640" cy="785384"/>
              </a:xfrm>
              <a:prstGeom prst="rect">
                <a:avLst/>
              </a:prstGeom>
              <a:blipFill>
                <a:blip r:embed="rId2"/>
                <a:stretch>
                  <a:fillRect l="-153" t="-1550" r="-153" b="-1550"/>
                </a:stretch>
              </a:blipFill>
              <a:ln/>
            </p:spPr>
            <p:txBody>
              <a:bodyPr/>
              <a:lstStyle/>
              <a:p>
                <a:r>
                  <a:rPr lang="es-AR">
                    <a:noFill/>
                  </a:rPr>
                  <a:t> </a:t>
                </a:r>
              </a:p>
            </p:txBody>
          </p:sp>
        </mc:Fallback>
      </mc:AlternateContent>
      <p:sp>
        <p:nvSpPr>
          <p:cNvPr id="8" name="Shape 6"/>
          <p:cNvSpPr/>
          <p:nvPr/>
        </p:nvSpPr>
        <p:spPr>
          <a:xfrm>
            <a:off x="127543" y="2482774"/>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19597" y="2469105"/>
                <a:ext cx="2936289"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𝑍</m:t>
                          </m:r>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r>
                        <m:rPr>
                          <m:sty m:val="p"/>
                        </m:rPr>
                        <a:rPr lang="es-AR" sz="1600">
                          <a:effectLst/>
                          <a:latin typeface="Cambria Math" panose="02040503050406030204" pitchFamily="18" charset="0"/>
                          <a:ea typeface="Calibri" panose="020F0502020204030204" pitchFamily="34" charset="0"/>
                          <a:cs typeface="Calibri" panose="020F0502020204030204" pitchFamily="34" charset="0"/>
                        </a:rPr>
                        <m:t>Δ</m:t>
                      </m:r>
                      <m:r>
                        <a:rPr lang="es-AR" sz="1600" i="1">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19597" y="2469105"/>
                <a:ext cx="2936289" cy="530352"/>
              </a:xfrm>
              <a:prstGeom prst="rect">
                <a:avLst/>
              </a:prstGeom>
              <a:blipFill>
                <a:blip r:embed="rId3"/>
                <a:stretch>
                  <a:fillRect/>
                </a:stretch>
              </a:blipFill>
              <a:ln/>
            </p:spPr>
            <p:txBody>
              <a:bodyPr/>
              <a:lstStyle/>
              <a:p>
                <a:r>
                  <a:rPr lang="es-AR">
                    <a:noFill/>
                  </a:rPr>
                  <a:t> </a:t>
                </a:r>
              </a:p>
            </p:txBody>
          </p:sp>
        </mc:Fallback>
      </mc:AlternateContent>
      <p:sp>
        <p:nvSpPr>
          <p:cNvPr id="10" name="Text 8"/>
          <p:cNvSpPr/>
          <p:nvPr/>
        </p:nvSpPr>
        <p:spPr>
          <a:xfrm>
            <a:off x="127543" y="3060525"/>
            <a:ext cx="11430000" cy="384048"/>
          </a:xfrm>
          <a:prstGeom prst="rect">
            <a:avLst/>
          </a:prstGeom>
          <a:noFill/>
          <a:ln/>
        </p:spPr>
        <p:txBody>
          <a:bodyPr wrap="square" rtlCol="0" anchor="t"/>
          <a:lstStyle/>
          <a:p>
            <a:pPr marL="0" indent="0" algn="l">
              <a:buNone/>
            </a:pPr>
            <a:r>
              <a:rPr lang="es-AR" sz="1400" dirty="0">
                <a:solidFill>
                  <a:srgbClr val="111111"/>
                </a:solidFill>
                <a:latin typeface="Calibri" pitchFamily="34" charset="0"/>
                <a:ea typeface="Calibri" pitchFamily="34" charset="-122"/>
                <a:cs typeface="Calibri" pitchFamily="34" charset="-120"/>
              </a:rPr>
              <a:t>Entonces, el sistema no lineal queda expresado como: </a:t>
            </a:r>
            <a:endParaRPr lang="es-AR" sz="1400" dirty="0"/>
          </a:p>
        </p:txBody>
      </p:sp>
      <p:sp>
        <p:nvSpPr>
          <p:cNvPr id="18" name="Shape 6">
            <a:extLst>
              <a:ext uri="{FF2B5EF4-FFF2-40B4-BE49-F238E27FC236}">
                <a16:creationId xmlns:a16="http://schemas.microsoft.com/office/drawing/2014/main" id="{BBAC01EC-E856-4860-B292-FF94F5A2DFFA}"/>
              </a:ext>
            </a:extLst>
          </p:cNvPr>
          <p:cNvSpPr/>
          <p:nvPr/>
        </p:nvSpPr>
        <p:spPr>
          <a:xfrm>
            <a:off x="143078" y="3472258"/>
            <a:ext cx="9144000" cy="1059694"/>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7">
                <a:extLst>
                  <a:ext uri="{FF2B5EF4-FFF2-40B4-BE49-F238E27FC236}">
                    <a16:creationId xmlns:a16="http://schemas.microsoft.com/office/drawing/2014/main" id="{43434609-4479-46CB-A4E2-9F9A2E6B04CF}"/>
                  </a:ext>
                </a:extLst>
              </p:cNvPr>
              <p:cNvSpPr/>
              <p:nvPr/>
            </p:nvSpPr>
            <p:spPr>
              <a:xfrm>
                <a:off x="258636" y="3582142"/>
                <a:ext cx="5593524" cy="815929"/>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𝑋</m:t>
                                        </m:r>
                                      </m:e>
                                    </m:acc>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 </m:t>
                                        </m:r>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b="0" i="1" smtClean="0">
                                    <a:latin typeface="Cambria Math" panose="02040503050406030204" pitchFamily="18" charset="0"/>
                                  </a:rPr>
                                  <m:t>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≡0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𝑌</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b="0" i="1" smtClean="0">
                                    <a:latin typeface="Cambria Math" panose="02040503050406030204" pitchFamily="18" charset="0"/>
                                  </a:rPr>
                                  <m:t>       </m:t>
                                </m:r>
                                <m:r>
                                  <a:rPr lang="es-AR" sz="1600" i="1">
                                    <a:latin typeface="Cambria Math" panose="02040503050406030204" pitchFamily="18" charset="0"/>
                                  </a:rPr>
                                  <m:t>                                                </m:t>
                                </m:r>
                              </m:e>
                            </m:mr>
                          </m:m>
                        </m:e>
                      </m:d>
                    </m:oMath>
                  </m:oMathPara>
                </a14:m>
                <a:endParaRPr lang="en-US" sz="1100" dirty="0"/>
              </a:p>
            </p:txBody>
          </p:sp>
        </mc:Choice>
        <mc:Fallback xmlns="">
          <p:sp>
            <p:nvSpPr>
              <p:cNvPr id="19" name="Text 7">
                <a:extLst>
                  <a:ext uri="{FF2B5EF4-FFF2-40B4-BE49-F238E27FC236}">
                    <a16:creationId xmlns:a16="http://schemas.microsoft.com/office/drawing/2014/main" id="{43434609-4479-46CB-A4E2-9F9A2E6B04CF}"/>
                  </a:ext>
                </a:extLst>
              </p:cNvPr>
              <p:cNvSpPr>
                <a:spLocks noRot="1" noChangeAspect="1" noMove="1" noResize="1" noEditPoints="1" noAdjustHandles="1" noChangeArrowheads="1" noChangeShapeType="1" noTextEdit="1"/>
              </p:cNvSpPr>
              <p:nvPr/>
            </p:nvSpPr>
            <p:spPr>
              <a:xfrm>
                <a:off x="258636" y="3582142"/>
                <a:ext cx="5593524" cy="815929"/>
              </a:xfrm>
              <a:prstGeom prst="rect">
                <a:avLst/>
              </a:prstGeom>
              <a:blipFill>
                <a:blip r:embed="rId4"/>
                <a:stretch>
                  <a:fillRect t="-752" b="-6015"/>
                </a:stretch>
              </a:blipFill>
              <a:ln/>
            </p:spPr>
            <p:txBody>
              <a:bodyPr/>
              <a:lstStyle/>
              <a:p>
                <a:r>
                  <a:rPr lang="es-AR">
                    <a:noFill/>
                  </a:rPr>
                  <a:t> </a:t>
                </a:r>
              </a:p>
            </p:txBody>
          </p:sp>
        </mc:Fallback>
      </mc:AlternateContent>
      <p:sp>
        <p:nvSpPr>
          <p:cNvPr id="21" name="CuadroTexto 20">
            <a:extLst>
              <a:ext uri="{FF2B5EF4-FFF2-40B4-BE49-F238E27FC236}">
                <a16:creationId xmlns:a16="http://schemas.microsoft.com/office/drawing/2014/main" id="{22247350-CC90-462B-9096-1174407C4704}"/>
              </a:ext>
            </a:extLst>
          </p:cNvPr>
          <p:cNvSpPr txBox="1"/>
          <p:nvPr/>
        </p:nvSpPr>
        <p:spPr>
          <a:xfrm>
            <a:off x="127543" y="4628082"/>
            <a:ext cx="6098796" cy="312650"/>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Calibri" panose="020F0502020204030204" pitchFamily="34" charset="0"/>
              </a:rPr>
              <a:t>Aproximando mediante serie de Taylor truncada a 1° orden: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Shape 6">
            <a:extLst>
              <a:ext uri="{FF2B5EF4-FFF2-40B4-BE49-F238E27FC236}">
                <a16:creationId xmlns:a16="http://schemas.microsoft.com/office/drawing/2014/main" id="{60D09976-D798-4B9D-9F75-CB50CE19CC44}"/>
              </a:ext>
            </a:extLst>
          </p:cNvPr>
          <p:cNvSpPr/>
          <p:nvPr/>
        </p:nvSpPr>
        <p:spPr>
          <a:xfrm>
            <a:off x="143078" y="4976203"/>
            <a:ext cx="9144000" cy="728709"/>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7">
                <a:extLst>
                  <a:ext uri="{FF2B5EF4-FFF2-40B4-BE49-F238E27FC236}">
                    <a16:creationId xmlns:a16="http://schemas.microsoft.com/office/drawing/2014/main" id="{03D3DAA2-D292-4B97-81CA-1484AD1CF633}"/>
                  </a:ext>
                </a:extLst>
              </p:cNvPr>
              <p:cNvSpPr/>
              <p:nvPr/>
            </p:nvSpPr>
            <p:spPr>
              <a:xfrm>
                <a:off x="234518" y="5049759"/>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𝑥</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𝑢</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3" name="Text 7">
                <a:extLst>
                  <a:ext uri="{FF2B5EF4-FFF2-40B4-BE49-F238E27FC236}">
                    <a16:creationId xmlns:a16="http://schemas.microsoft.com/office/drawing/2014/main" id="{03D3DAA2-D292-4B97-81CA-1484AD1CF633}"/>
                  </a:ext>
                </a:extLst>
              </p:cNvPr>
              <p:cNvSpPr>
                <a:spLocks noRot="1" noChangeAspect="1" noMove="1" noResize="1" noEditPoints="1" noAdjustHandles="1" noChangeArrowheads="1" noChangeShapeType="1" noTextEdit="1"/>
              </p:cNvSpPr>
              <p:nvPr/>
            </p:nvSpPr>
            <p:spPr>
              <a:xfrm>
                <a:off x="234518" y="5049759"/>
                <a:ext cx="8961120" cy="530352"/>
              </a:xfrm>
              <a:prstGeom prst="rect">
                <a:avLst/>
              </a:prstGeom>
              <a:blipFill>
                <a:blip r:embed="rId5"/>
                <a:stretch>
                  <a:fillRect b="-4598"/>
                </a:stretch>
              </a:blipFill>
              <a:ln/>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8F754313-D02B-4E2E-B80B-F2528F7F7E50}"/>
              </a:ext>
            </a:extLst>
          </p:cNvPr>
          <p:cNvSpPr txBox="1"/>
          <p:nvPr/>
        </p:nvSpPr>
        <p:spPr>
          <a:xfrm>
            <a:off x="127543" y="6000725"/>
            <a:ext cx="6098796" cy="296876"/>
          </a:xfrm>
          <a:prstGeom prst="rect">
            <a:avLst/>
          </a:prstGeom>
          <a:noFill/>
        </p:spPr>
        <p:txBody>
          <a:bodyPr wrap="square">
            <a:spAutoFit/>
          </a:bodyPr>
          <a:lstStyle/>
          <a:p>
            <a:pPr algn="just">
              <a:lnSpc>
                <a:spcPct val="107000"/>
              </a:lnSpc>
              <a:spcBef>
                <a:spcPts val="600"/>
              </a:spcBef>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El modelo puede descomponerse en dos componentes:</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Shape 6">
            <a:extLst>
              <a:ext uri="{FF2B5EF4-FFF2-40B4-BE49-F238E27FC236}">
                <a16:creationId xmlns:a16="http://schemas.microsoft.com/office/drawing/2014/main" id="{38AA6824-F3C0-4639-A0BE-357DF624F043}"/>
              </a:ext>
            </a:extLst>
          </p:cNvPr>
          <p:cNvSpPr/>
          <p:nvPr/>
        </p:nvSpPr>
        <p:spPr>
          <a:xfrm>
            <a:off x="127543" y="1498627"/>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7">
                <a:extLst>
                  <a:ext uri="{FF2B5EF4-FFF2-40B4-BE49-F238E27FC236}">
                    <a16:creationId xmlns:a16="http://schemas.microsoft.com/office/drawing/2014/main" id="{DA892EF5-3E87-4AFE-BB7C-31BC1FD0C14A}"/>
                  </a:ext>
                </a:extLst>
              </p:cNvPr>
              <p:cNvSpPr/>
              <p:nvPr/>
            </p:nvSpPr>
            <p:spPr>
              <a:xfrm>
                <a:off x="-319597" y="1472537"/>
                <a:ext cx="4074111"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𝑥</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𝑡</m:t>
                                    </m:r>
                                  </m:e>
                                  <m:sub>
                                    <m:r>
                                      <a:rPr lang="es-AR" sz="1400" i="1">
                                        <a:latin typeface="Cambria Math" panose="02040503050406030204" pitchFamily="18" charset="0"/>
                                      </a:rPr>
                                      <m:t>0</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e>
                        </m:mr>
                        <m:mr>
                          <m:e>
                            <m:r>
                              <a:rPr lang="es-AR" sz="1400" i="1">
                                <a:latin typeface="Cambria Math" panose="02040503050406030204" pitchFamily="18" charset="0"/>
                              </a:rPr>
                              <m:t>𝑦</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oMath>
                  </m:oMathPara>
                </a14:m>
                <a:endParaRPr lang="en-US" sz="1400" dirty="0"/>
              </a:p>
            </p:txBody>
          </p:sp>
        </mc:Choice>
        <mc:Fallback xmlns="">
          <p:sp>
            <p:nvSpPr>
              <p:cNvPr id="20" name="Text 7">
                <a:extLst>
                  <a:ext uri="{FF2B5EF4-FFF2-40B4-BE49-F238E27FC236}">
                    <a16:creationId xmlns:a16="http://schemas.microsoft.com/office/drawing/2014/main" id="{DA892EF5-3E87-4AFE-BB7C-31BC1FD0C14A}"/>
                  </a:ext>
                </a:extLst>
              </p:cNvPr>
              <p:cNvSpPr>
                <a:spLocks noRot="1" noChangeAspect="1" noMove="1" noResize="1" noEditPoints="1" noAdjustHandles="1" noChangeArrowheads="1" noChangeShapeType="1" noTextEdit="1"/>
              </p:cNvSpPr>
              <p:nvPr/>
            </p:nvSpPr>
            <p:spPr>
              <a:xfrm>
                <a:off x="-319597" y="1472537"/>
                <a:ext cx="4074111" cy="530352"/>
              </a:xfrm>
              <a:prstGeom prst="rect">
                <a:avLst/>
              </a:prstGeom>
              <a:blipFill>
                <a:blip r:embed="rId6"/>
                <a:stretch>
                  <a:fillRect/>
                </a:stretch>
              </a:blipFill>
              <a:ln/>
            </p:spPr>
            <p:txBody>
              <a:bodyPr/>
              <a:lstStyle/>
              <a:p>
                <a:r>
                  <a:rPr lang="es-AR">
                    <a:noFill/>
                  </a:rPr>
                  <a:t> </a:t>
                </a:r>
              </a:p>
            </p:txBody>
          </p:sp>
        </mc:Fallback>
      </mc:AlternateContent>
      <p:sp>
        <p:nvSpPr>
          <p:cNvPr id="25" name="CuadroTexto 24">
            <a:extLst>
              <a:ext uri="{FF2B5EF4-FFF2-40B4-BE49-F238E27FC236}">
                <a16:creationId xmlns:a16="http://schemas.microsoft.com/office/drawing/2014/main" id="{7601BCCB-31A5-4894-96E6-AA6A026EDF08}"/>
              </a:ext>
            </a:extLst>
          </p:cNvPr>
          <p:cNvSpPr txBox="1"/>
          <p:nvPr/>
        </p:nvSpPr>
        <p:spPr>
          <a:xfrm>
            <a:off x="91440" y="2077418"/>
            <a:ext cx="11887200" cy="307777"/>
          </a:xfrm>
          <a:prstGeom prst="rect">
            <a:avLst/>
          </a:prstGeom>
          <a:noFill/>
        </p:spPr>
        <p:txBody>
          <a:bodyPr wrap="square">
            <a:spAutoFit/>
          </a:bodyPr>
          <a:lstStyle/>
          <a:p>
            <a:r>
              <a:rPr lang="es-AR" sz="1400" dirty="0">
                <a:solidFill>
                  <a:srgbClr val="111111"/>
                </a:solidFill>
                <a:latin typeface="Calibri" pitchFamily="34" charset="0"/>
                <a:ea typeface="Calibri" pitchFamily="34" charset="-122"/>
                <a:cs typeface="Calibri" pitchFamily="34" charset="-120"/>
              </a:rPr>
              <a:t>Para usar herramientas de control lineal, se descompone cada variable en un punto de operación cuasi-estacionario y una perturbación de pequeña magnitud. </a:t>
            </a:r>
            <a:endParaRPr lang="es-AR"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8FB12-F75E-4A29-9959-2F834F8F880C}"/>
              </a:ext>
            </a:extLst>
          </p:cNvPr>
          <p:cNvSpPr>
            <a:spLocks noGrp="1"/>
          </p:cNvSpPr>
          <p:nvPr>
            <p:ph type="ctrTitle"/>
          </p:nvPr>
        </p:nvSpPr>
        <p:spPr/>
        <p:txBody>
          <a:bodyPr/>
          <a:lstStyle/>
          <a:p>
            <a:endParaRPr lang="es-AR"/>
          </a:p>
        </p:txBody>
      </p:sp>
      <p:sp>
        <p:nvSpPr>
          <p:cNvPr id="3" name="Subtítulo 2">
            <a:extLst>
              <a:ext uri="{FF2B5EF4-FFF2-40B4-BE49-F238E27FC236}">
                <a16:creationId xmlns:a16="http://schemas.microsoft.com/office/drawing/2014/main" id="{652584DA-C060-4B7A-938A-0531151C7C52}"/>
              </a:ext>
            </a:extLst>
          </p:cNvPr>
          <p:cNvSpPr>
            <a:spLocks noGrp="1"/>
          </p:cNvSpPr>
          <p:nvPr>
            <p:ph type="subTitle" idx="1"/>
          </p:nvPr>
        </p:nvSpPr>
        <p:spPr/>
        <p:txBody>
          <a:bodyPr/>
          <a:lstStyle/>
          <a:p>
            <a:endParaRPr lang="es-AR"/>
          </a:p>
        </p:txBody>
      </p:sp>
      <p:pic>
        <p:nvPicPr>
          <p:cNvPr id="5" name="Imagen 4">
            <a:extLst>
              <a:ext uri="{FF2B5EF4-FFF2-40B4-BE49-F238E27FC236}">
                <a16:creationId xmlns:a16="http://schemas.microsoft.com/office/drawing/2014/main" id="{3C5F1C77-3B26-4AFF-82A0-865EF7D219C2}"/>
              </a:ext>
            </a:extLst>
          </p:cNvPr>
          <p:cNvPicPr>
            <a:picLocks noChangeAspect="1"/>
          </p:cNvPicPr>
          <p:nvPr/>
        </p:nvPicPr>
        <p:blipFill>
          <a:blip r:embed="rId2"/>
          <a:stretch>
            <a:fillRect/>
          </a:stretch>
        </p:blipFill>
        <p:spPr>
          <a:xfrm>
            <a:off x="0" y="0"/>
            <a:ext cx="12286695" cy="6899520"/>
          </a:xfrm>
          <a:prstGeom prst="rect">
            <a:avLst/>
          </a:prstGeom>
        </p:spPr>
      </p:pic>
      <p:sp>
        <p:nvSpPr>
          <p:cNvPr id="7" name="Shape 2">
            <a:extLst>
              <a:ext uri="{FF2B5EF4-FFF2-40B4-BE49-F238E27FC236}">
                <a16:creationId xmlns:a16="http://schemas.microsoft.com/office/drawing/2014/main" id="{07F4DF46-6727-4D7A-9974-4CC2899DCB60}"/>
              </a:ext>
            </a:extLst>
          </p:cNvPr>
          <p:cNvSpPr/>
          <p:nvPr/>
        </p:nvSpPr>
        <p:spPr>
          <a:xfrm>
            <a:off x="-1" y="6565392"/>
            <a:ext cx="12286695"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9BB34DC3-921B-4EFB-A538-4333B0B4DD2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Shape 10"/>
          <p:cNvSpPr/>
          <p:nvPr/>
        </p:nvSpPr>
        <p:spPr>
          <a:xfrm>
            <a:off x="520117" y="897623"/>
            <a:ext cx="10343626" cy="296737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13" name="Text 11"/>
              <p:cNvSpPr/>
              <p:nvPr/>
            </p:nvSpPr>
            <p:spPr>
              <a:xfrm>
                <a:off x="1200466" y="1777415"/>
                <a:ext cx="9132254" cy="1230414"/>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  </m:t>
                              </m:r>
                              <m:r>
                                <a:rPr lang="es-AR" sz="1400" i="1">
                                  <a:latin typeface="Cambria Math" panose="02040503050406030204" pitchFamily="18" charset="0"/>
                                </a:rPr>
                                <m:t>                                                                                                                                                                                                                        </m:t>
                              </m:r>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𝑔</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r>
                                            <m:rPr>
                                              <m:nor/>
                                            </m:rPr>
                                            <a:rPr lang="es-MX" sz="1400" b="0" i="0" smtClean="0"/>
                                            <m:t>   </m:t>
                                          </m:r>
                                          <m:r>
                                            <m:rPr>
                                              <m:nor/>
                                            </m:rPr>
                                            <a:rPr lang="es-AR" sz="1400"/>
                                            <m:t>       </m:t>
                                          </m:r>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r>
                                            <a:rPr lang="es-AR" sz="1400" i="1">
                                              <a:latin typeface="Cambria Math" panose="02040503050406030204" pitchFamily="18" charset="0"/>
                                            </a:rPr>
                                            <m:t>,                                                                                     </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3</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2</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r>
                                                              <a:rPr lang="es-AR" sz="1400" i="1">
                                                                <a:latin typeface="Cambria Math" panose="02040503050406030204" pitchFamily="18" charset="0"/>
                                                              </a:rPr>
                                                              <m:t>0</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den>
                                                    </m:f>
                                                  </m:e>
                                                </m:d>
                                                <m:r>
                                                  <a:rPr lang="es-AR" sz="1400" i="1">
                                                    <a:latin typeface="Cambria Math" panose="02040503050406030204" pitchFamily="18" charset="0"/>
                                                  </a:rPr>
                                                  <m:t>                                                                   </m:t>
                                                </m:r>
                                              </m:e>
                                            </m:mr>
                                          </m:m>
                                        </m:e>
                                      </m:mr>
                                    </m:m>
                                  </m:e>
                                </m:mr>
                              </m:m>
                            </m:e>
                          </m:eqArr>
                        </m:e>
                      </m:d>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200466" y="1777415"/>
                <a:ext cx="9132254" cy="1230414"/>
              </a:xfrm>
              <a:prstGeom prst="rect">
                <a:avLst/>
              </a:prstGeom>
              <a:blipFill>
                <a:blip r:embed="rId2"/>
                <a:stretch>
                  <a:fillRect l="-5474" t="-60199" r="-3805" b="-62687"/>
                </a:stretch>
              </a:blipFill>
              <a:ln/>
            </p:spPr>
            <p:txBody>
              <a:bodyPr/>
              <a:lstStyle/>
              <a:p>
                <a:r>
                  <a:rPr lang="es-AR">
                    <a:noFill/>
                  </a:rPr>
                  <a:t> </a:t>
                </a:r>
              </a:p>
            </p:txBody>
          </p:sp>
        </mc:Fallback>
      </mc:AlternateContent>
      <p:sp>
        <p:nvSpPr>
          <p:cNvPr id="17" name="Text 15"/>
          <p:cNvSpPr/>
          <p:nvPr/>
        </p:nvSpPr>
        <p:spPr>
          <a:xfrm>
            <a:off x="369564" y="5970066"/>
            <a:ext cx="11430000" cy="6858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A diferencia del LTI, en el LPV las matrices jacobianas A y B dependen del punto de operación (X0,U0). El modelo LPV representa fielmente el comportamiento real pero no permite diseño directo por herramientas lineales.</a:t>
            </a:r>
            <a:endParaRPr lang="en-US" sz="1200" dirty="0"/>
          </a:p>
        </p:txBody>
      </p:sp>
      <p:sp>
        <p:nvSpPr>
          <p:cNvPr id="19" name="Shape 6">
            <a:extLst>
              <a:ext uri="{FF2B5EF4-FFF2-40B4-BE49-F238E27FC236}">
                <a16:creationId xmlns:a16="http://schemas.microsoft.com/office/drawing/2014/main" id="{D9EE6CE9-741C-4384-8469-0F087C096528}"/>
              </a:ext>
            </a:extLst>
          </p:cNvPr>
          <p:cNvSpPr/>
          <p:nvPr/>
        </p:nvSpPr>
        <p:spPr>
          <a:xfrm>
            <a:off x="520117" y="4336920"/>
            <a:ext cx="10343626" cy="15000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ED8989D8-139E-4C98-8026-F7FCFD551A71}"/>
                  </a:ext>
                </a:extLst>
              </p:cNvPr>
              <p:cNvSpPr/>
              <p:nvPr/>
            </p:nvSpPr>
            <p:spPr>
              <a:xfrm>
                <a:off x="611557" y="4852274"/>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𝑋</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mr>
                              </m:m>
                            </m:e>
                          </m:eqArr>
                        </m:e>
                      </m:d>
                      <m:r>
                        <a:rPr lang="es-AR" sz="1400" i="1">
                          <a:latin typeface="Cambria Math" panose="02040503050406030204" pitchFamily="18" charset="0"/>
                        </a:rPr>
                        <m:t>,           </m:t>
                      </m:r>
                      <m:r>
                        <a:rPr lang="es-AR" sz="1400" i="1">
                          <a:latin typeface="Cambria Math" panose="02040503050406030204" pitchFamily="18" charset="0"/>
                        </a:rPr>
                        <m:t>𝑢</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eqArr>
                        </m:e>
                      </m:d>
                    </m:oMath>
                  </m:oMathPara>
                </a14:m>
                <a:endParaRPr lang="en-US" sz="1100" dirty="0"/>
              </a:p>
            </p:txBody>
          </p:sp>
        </mc:Choice>
        <mc:Fallback xmlns="">
          <p:sp>
            <p:nvSpPr>
              <p:cNvPr id="21" name="Text 7">
                <a:extLst>
                  <a:ext uri="{FF2B5EF4-FFF2-40B4-BE49-F238E27FC236}">
                    <a16:creationId xmlns:a16="http://schemas.microsoft.com/office/drawing/2014/main" id="{ED8989D8-139E-4C98-8026-F7FCFD551A71}"/>
                  </a:ext>
                </a:extLst>
              </p:cNvPr>
              <p:cNvSpPr>
                <a:spLocks noRot="1" noChangeAspect="1" noMove="1" noResize="1" noEditPoints="1" noAdjustHandles="1" noChangeArrowheads="1" noChangeShapeType="1" noTextEdit="1"/>
              </p:cNvSpPr>
              <p:nvPr/>
            </p:nvSpPr>
            <p:spPr>
              <a:xfrm>
                <a:off x="611557" y="4852274"/>
                <a:ext cx="8961120" cy="530352"/>
              </a:xfrm>
              <a:prstGeom prst="rect">
                <a:avLst/>
              </a:prstGeom>
              <a:blipFill>
                <a:blip r:embed="rId3"/>
                <a:stretch>
                  <a:fillRect t="-73563" b="-7816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D5BEB0-0EEC-4E07-8711-A04C9C73D21E}"/>
                  </a:ext>
                </a:extLst>
              </p:cNvPr>
              <p:cNvSpPr txBox="1"/>
              <p:nvPr/>
            </p:nvSpPr>
            <p:spPr>
              <a:xfrm>
                <a:off x="274320" y="3943989"/>
                <a:ext cx="11397563"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Times New Roman" panose="02020603050405020304" pitchFamily="18" charset="0"/>
                    <a:cs typeface="Calibri" panose="020F0502020204030204" pitchFamily="34" charset="0"/>
                  </a:rPr>
                  <a:t>El sistema de ecuaciones en variables de estado queda estructurado mediante los siguientes vectores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 y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𝑢</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97D5BEB0-0EEC-4E07-8711-A04C9C73D21E}"/>
                  </a:ext>
                </a:extLst>
              </p:cNvPr>
              <p:cNvSpPr txBox="1">
                <a:spLocks noRot="1" noChangeAspect="1" noMove="1" noResize="1" noEditPoints="1" noAdjustHandles="1" noChangeArrowheads="1" noChangeShapeType="1" noTextEdit="1"/>
              </p:cNvSpPr>
              <p:nvPr/>
            </p:nvSpPr>
            <p:spPr>
              <a:xfrm>
                <a:off x="274320" y="3943989"/>
                <a:ext cx="11397563" cy="296363"/>
              </a:xfrm>
              <a:prstGeom prst="rect">
                <a:avLst/>
              </a:prstGeom>
              <a:blipFill>
                <a:blip r:embed="rId4"/>
                <a:stretch>
                  <a:fillRect l="-53" b="-16327"/>
                </a:stretch>
              </a:blipFill>
            </p:spPr>
            <p:txBody>
              <a:bodyPr/>
              <a:lstStyle/>
              <a:p>
                <a:r>
                  <a:rPr lang="es-AR">
                    <a:noFill/>
                  </a:rPr>
                  <a:t> </a:t>
                </a:r>
              </a:p>
            </p:txBody>
          </p:sp>
        </mc:Fallback>
      </mc:AlternateContent>
    </p:spTree>
    <p:extLst>
      <p:ext uri="{BB962C8B-B14F-4D97-AF65-F5344CB8AC3E}">
        <p14:creationId xmlns:p14="http://schemas.microsoft.com/office/powerpoint/2010/main" val="3275191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aplican tres hipótesis para obtener un modelo LTI con matrices A y B constantes:</a:t>
            </a:r>
            <a:endParaRPr lang="en-US" sz="1300" dirty="0"/>
          </a:p>
        </p:txBody>
      </p:sp>
      <p:sp>
        <p:nvSpPr>
          <p:cNvPr id="8" name="Shape 6"/>
          <p:cNvSpPr/>
          <p:nvPr/>
        </p:nvSpPr>
        <p:spPr>
          <a:xfrm>
            <a:off x="365760" y="137160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9" name="Text 7"/>
              <p:cNvSpPr/>
              <p:nvPr/>
            </p:nvSpPr>
            <p:spPr>
              <a:xfrm>
                <a:off x="502920" y="137160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1. Ley de control mínima:  </a:t>
                </a:r>
                <a14:m>
                  <m:oMath xmlns:m="http://schemas.openxmlformats.org/officeDocument/2006/math">
                    <m:sSubSup>
                      <m:sSubSupPr>
                        <m:ctrlPr>
                          <a:rPr lang="es-AR" sz="1200" b="1" i="1" smtClean="0">
                            <a:solidFill>
                              <a:schemeClr val="bg1"/>
                            </a:solidFill>
                            <a:effectLst/>
                            <a:latin typeface="Cambria Math" panose="02040503050406030204" pitchFamily="18" charset="0"/>
                            <a:ea typeface="Times New Roman" panose="02020603050405020304" pitchFamily="18" charset="0"/>
                          </a:rPr>
                        </m:ctrlPr>
                      </m:sSubSup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𝒊</m:t>
                        </m:r>
                      </m:e>
                      <m:sub>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𝒅𝒔</m:t>
                        </m:r>
                      </m:sub>
                      <m:sup>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𝒓</m:t>
                        </m:r>
                      </m:sup>
                    </m:sSubSup>
                    <m:d>
                      <m:dPr>
                        <m:ctrlPr>
                          <a:rPr lang="es-AR" sz="1200" b="1" i="1">
                            <a:solidFill>
                              <a:schemeClr val="bg1"/>
                            </a:solidFill>
                            <a:effectLst/>
                            <a:latin typeface="Cambria Math" panose="02040503050406030204" pitchFamily="18" charset="0"/>
                            <a:ea typeface="Times New Roman" panose="02020603050405020304" pitchFamily="18" charset="0"/>
                          </a:rPr>
                        </m:ctrlPr>
                      </m:d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𝒕</m:t>
                        </m:r>
                      </m:e>
                    </m:d>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200" b="1" dirty="0">
                    <a:solidFill>
                      <a:srgbClr val="FFFFFF"/>
                    </a:solidFill>
                    <a:latin typeface="Calibri" pitchFamily="34" charset="0"/>
                    <a:ea typeface="Calibri" pitchFamily="34" charset="-122"/>
                    <a:cs typeface="Calibri" pitchFamily="34" charset="-120"/>
                  </a:rPr>
                  <a:t>(FOC)</a:t>
                </a:r>
                <a:endParaRPr lang="en-US" sz="1200" dirty="0"/>
              </a:p>
            </p:txBody>
          </p:sp>
        </mc:Choice>
        <mc:Fallback xmlns="">
          <p:sp>
            <p:nvSpPr>
              <p:cNvPr id="9" name="Text 7"/>
              <p:cNvSpPr>
                <a:spLocks noRot="1" noChangeAspect="1" noMove="1" noResize="1" noEditPoints="1" noAdjustHandles="1" noChangeArrowheads="1" noChangeShapeType="1" noTextEdit="1"/>
              </p:cNvSpPr>
              <p:nvPr/>
            </p:nvSpPr>
            <p:spPr>
              <a:xfrm>
                <a:off x="502920" y="1371600"/>
                <a:ext cx="11155680" cy="347472"/>
              </a:xfrm>
              <a:prstGeom prst="rect">
                <a:avLst/>
              </a:prstGeom>
              <a:blipFill>
                <a:blip r:embed="rId2"/>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502920" y="1755648"/>
                <a:ext cx="11155680" cy="100584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Desacopla el control del flujo (eje d) del control de torque (eje q). Todo el torque lo produce </a:t>
                </a:r>
                <a14:m>
                  <m:oMath xmlns:m="http://schemas.openxmlformats.org/officeDocument/2006/math">
                    <m:sSubSup>
                      <m:sSubSupPr>
                        <m:ctrlPr>
                          <a:rPr lang="es-AR" sz="120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a:t>
                </a:r>
                <a:endParaRPr lang="en-US" sz="1200" dirty="0"/>
              </a:p>
            </p:txBody>
          </p:sp>
        </mc:Choice>
        <mc:Fallback xmlns="">
          <p:sp>
            <p:nvSpPr>
              <p:cNvPr id="10" name="Text 8"/>
              <p:cNvSpPr>
                <a:spLocks noRot="1" noChangeAspect="1" noMove="1" noResize="1" noEditPoints="1" noAdjustHandles="1" noChangeArrowheads="1" noChangeShapeType="1" noTextEdit="1"/>
              </p:cNvSpPr>
              <p:nvPr/>
            </p:nvSpPr>
            <p:spPr>
              <a:xfrm>
                <a:off x="502920" y="1755648"/>
                <a:ext cx="11155680" cy="1005840"/>
              </a:xfrm>
              <a:prstGeom prst="rect">
                <a:avLst/>
              </a:prstGeom>
              <a:blipFill>
                <a:blip r:embed="rId6"/>
                <a:stretch>
                  <a:fillRect l="-55"/>
                </a:stretch>
              </a:blipFill>
              <a:ln/>
            </p:spPr>
            <p:txBody>
              <a:bodyPr/>
              <a:lstStyle/>
              <a:p>
                <a:r>
                  <a:rPr lang="es-AR">
                    <a:noFill/>
                  </a:rPr>
                  <a:t> </a:t>
                </a:r>
              </a:p>
            </p:txBody>
          </p:sp>
        </mc:Fallback>
      </mc:AlternateContent>
      <p:sp>
        <p:nvSpPr>
          <p:cNvPr id="11" name="Shape 9"/>
          <p:cNvSpPr/>
          <p:nvPr/>
        </p:nvSpPr>
        <p:spPr>
          <a:xfrm>
            <a:off x="365760" y="2880360"/>
            <a:ext cx="11430000" cy="347472"/>
          </a:xfrm>
          <a:prstGeom prst="rect">
            <a:avLst/>
          </a:prstGeom>
          <a:solidFill>
            <a:srgbClr val="1A386B"/>
          </a:solidFill>
          <a:ln w="12700">
            <a:solidFill>
              <a:srgbClr val="1A386B"/>
            </a:solidFill>
            <a:prstDash val="solid"/>
          </a:ln>
        </p:spPr>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3" name="Text 11"/>
              <p:cNvSpPr/>
              <p:nvPr/>
            </p:nvSpPr>
            <p:spPr>
              <a:xfrm>
                <a:off x="502920" y="3264408"/>
                <a:ext cx="11155680" cy="10058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Se desprecia la variación de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i="1">
                            <a:solidFill>
                              <a:schemeClr val="tx1"/>
                            </a:solidFill>
                            <a:latin typeface="Cambria Math" panose="02040503050406030204" pitchFamily="18" charset="0"/>
                          </a:rPr>
                          <m:t>𝑅</m:t>
                        </m:r>
                      </m:e>
                      <m:sub>
                        <m:r>
                          <a:rPr lang="es-AR" sz="1200" i="1">
                            <a:solidFill>
                              <a:schemeClr val="tx1"/>
                            </a:solidFill>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con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dentro del modelo eléctrico. El subsistema térmico se modela como independiente (sin realimentación hacia las ecuaciones eléctricas).</a:t>
                </a:r>
                <a:endParaRPr lang="en-US" sz="1200" dirty="0"/>
              </a:p>
            </p:txBody>
          </p:sp>
        </mc:Choice>
        <mc:Fallback xmlns="">
          <p:sp>
            <p:nvSpPr>
              <p:cNvPr id="13" name="Text 11"/>
              <p:cNvSpPr>
                <a:spLocks noRot="1" noChangeAspect="1" noMove="1" noResize="1" noEditPoints="1" noAdjustHandles="1" noChangeArrowheads="1" noChangeShapeType="1" noTextEdit="1"/>
              </p:cNvSpPr>
              <p:nvPr/>
            </p:nvSpPr>
            <p:spPr>
              <a:xfrm>
                <a:off x="502920" y="3264408"/>
                <a:ext cx="11155680" cy="1005840"/>
              </a:xfrm>
              <a:prstGeom prst="rect">
                <a:avLst/>
              </a:prstGeom>
              <a:blipFill>
                <a:blip r:embed="rId7"/>
                <a:stretch>
                  <a:fillRect l="-55" t="-606"/>
                </a:stretch>
              </a:blipFill>
              <a:ln/>
            </p:spPr>
            <p:txBody>
              <a:bodyPr/>
              <a:lstStyle/>
              <a:p>
                <a:r>
                  <a:rPr lang="es-AR">
                    <a:noFill/>
                  </a:rPr>
                  <a:t> </a:t>
                </a:r>
              </a:p>
            </p:txBody>
          </p:sp>
        </mc:Fallback>
      </mc:AlternateContent>
      <p:sp>
        <p:nvSpPr>
          <p:cNvPr id="14" name="Shape 12"/>
          <p:cNvSpPr/>
          <p:nvPr/>
        </p:nvSpPr>
        <p:spPr>
          <a:xfrm>
            <a:off x="365760" y="438912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15" name="Text 13"/>
              <p:cNvSpPr/>
              <p:nvPr/>
            </p:nvSpPr>
            <p:spPr>
              <a:xfrm>
                <a:off x="502920" y="438912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3. Corriente homopolar nula  </a:t>
                </a:r>
                <a14:m>
                  <m:oMath xmlns:m="http://schemas.openxmlformats.org/officeDocument/2006/math">
                    <m:sSub>
                      <m:sSubPr>
                        <m:ctrlPr>
                          <a:rPr lang="es-AR" sz="1000" i="1" smtClean="0">
                            <a:solidFill>
                              <a:schemeClr val="bg1"/>
                            </a:solidFill>
                            <a:effectLst/>
                            <a:latin typeface="Cambria Math" panose="02040503050406030204" pitchFamily="18" charset="0"/>
                            <a:cs typeface="Calibri" panose="020F0502020204030204" pitchFamily="34" charset="0"/>
                          </a:rPr>
                        </m:ctrlPr>
                      </m:sSub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𝑖</m:t>
                        </m:r>
                      </m:e>
                      <m:sub>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0</m:t>
                        </m:r>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000" i="1">
                            <a:solidFill>
                              <a:schemeClr val="bg1"/>
                            </a:solidFill>
                            <a:effectLst/>
                            <a:latin typeface="Cambria Math" panose="02040503050406030204" pitchFamily="18" charset="0"/>
                            <a:cs typeface="Calibri" panose="020F0502020204030204" pitchFamily="34" charset="0"/>
                          </a:rPr>
                        </m:ctrlPr>
                      </m:d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200" dirty="0">
                    <a:solidFill>
                      <a:schemeClr val="bg1"/>
                    </a:solidFill>
                  </a:rPr>
                  <a:t>=0</a:t>
                </a:r>
              </a:p>
            </p:txBody>
          </p:sp>
        </mc:Choice>
        <mc:Fallback xmlns="">
          <p:sp>
            <p:nvSpPr>
              <p:cNvPr id="15" name="Text 13"/>
              <p:cNvSpPr>
                <a:spLocks noRot="1" noChangeAspect="1" noMove="1" noResize="1" noEditPoints="1" noAdjustHandles="1" noChangeArrowheads="1" noChangeShapeType="1" noTextEdit="1"/>
              </p:cNvSpPr>
              <p:nvPr/>
            </p:nvSpPr>
            <p:spPr>
              <a:xfrm>
                <a:off x="502920" y="4389120"/>
                <a:ext cx="11155680" cy="347472"/>
              </a:xfrm>
              <a:prstGeom prst="rect">
                <a:avLst/>
              </a:prstGeom>
              <a:blipFill>
                <a:blip r:embed="rId5"/>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 14"/>
              <p:cNvSpPr/>
              <p:nvPr/>
            </p:nvSpPr>
            <p:spPr>
              <a:xfrm>
                <a:off x="518160" y="4773168"/>
                <a:ext cx="11155680" cy="1005840"/>
              </a:xfrm>
              <a:prstGeom prst="rect">
                <a:avLst/>
              </a:prstGeom>
              <a:noFill/>
              <a:ln/>
            </p:spPr>
            <p:txBody>
              <a:bodyPr wrap="square" rtlCol="0" anchor="t"/>
              <a:lstStyle/>
              <a:p>
                <a:r>
                  <a:rPr lang="es-AR" sz="1200" dirty="0">
                    <a:solidFill>
                      <a:srgbClr val="111111"/>
                    </a:solidFill>
                    <a:latin typeface="Calibri" pitchFamily="34" charset="0"/>
                    <a:ea typeface="Calibri" pitchFamily="34" charset="-122"/>
                    <a:cs typeface="Calibri" pitchFamily="34" charset="-120"/>
                  </a:rPr>
                  <a:t>Por neutro flotante y sistema equilibrado: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𝑎𝑠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𝑏𝑠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𝑐𝑠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=0</m:t>
                    </m:r>
                    <m:r>
                      <a:rPr lang="es-AR" sz="1200" b="0" i="1" smtClean="0">
                        <a:effectLst/>
                        <a:latin typeface="Cambria Math" panose="02040503050406030204" pitchFamily="18" charset="0"/>
                        <a:ea typeface="Times New Roman" panose="02020603050405020304" pitchFamily="18" charset="0"/>
                        <a:cs typeface="Calibri" panose="020F0502020204030204" pitchFamily="34" charset="0"/>
                      </a:rPr>
                      <m:t>.</m:t>
                    </m:r>
                  </m:oMath>
                </a14:m>
                <a:r>
                  <a:rPr lang="es-AR" sz="1200" dirty="0">
                    <a:solidFill>
                      <a:srgbClr val="111111"/>
                    </a:solidFill>
                    <a:latin typeface="Calibri" pitchFamily="34" charset="0"/>
                    <a:ea typeface="Calibri" pitchFamily="34" charset="-122"/>
                    <a:cs typeface="Calibri" pitchFamily="34" charset="-120"/>
                  </a:rPr>
                  <a:t> Aplicando transformación de Park: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r>
                          <a:rPr lang="es-AR" sz="1200" i="1">
                            <a:latin typeface="Cambria Math" panose="02040503050406030204" pitchFamily="18" charset="0"/>
                          </a:rPr>
                          <m:t>3</m:t>
                        </m:r>
                      </m:den>
                    </m:f>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𝑎𝑠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𝑏𝑠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𝑐𝑠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m:t>
                    </m:r>
                  </m:oMath>
                </a14:m>
                <a:br>
                  <a:rPr lang="es-AR" sz="1200" dirty="0">
                    <a:solidFill>
                      <a:srgbClr val="111111"/>
                    </a:solidFill>
                    <a:latin typeface="Calibri" pitchFamily="34" charset="0"/>
                    <a:ea typeface="Calibri" pitchFamily="34" charset="-122"/>
                    <a:cs typeface="Calibri" pitchFamily="34" charset="-120"/>
                  </a:rPr>
                </a:br>
                <a:r>
                  <a:rPr lang="es-AR" sz="12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 ∴    </m:t>
                    </m:r>
                    <m:f>
                      <m:fPr>
                        <m:ctrlPr>
                          <a:rPr lang="es-AR" sz="1200" i="1">
                            <a:latin typeface="Cambria Math" panose="02040503050406030204" pitchFamily="18" charset="0"/>
                          </a:rPr>
                        </m:ctrlPr>
                      </m:fPr>
                      <m:num>
                        <m:r>
                          <a:rPr lang="es-AR" sz="1200" i="1">
                            <a:latin typeface="Cambria Math" panose="02040503050406030204" pitchFamily="18" charset="0"/>
                          </a:rPr>
                          <m:t>𝑑</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≡0,   </m:t>
                    </m:r>
                    <m:sSub>
                      <m:sSubPr>
                        <m:ctrlPr>
                          <a:rPr lang="es-AR" sz="1200" i="1">
                            <a:latin typeface="Cambria Math" panose="02040503050406030204" pitchFamily="18" charset="0"/>
                          </a:rPr>
                        </m:ctrlPr>
                      </m:sSubPr>
                      <m:e>
                        <m:r>
                          <a:rPr lang="es-AR" sz="1200" i="1">
                            <a:latin typeface="Cambria Math" panose="02040503050406030204" pitchFamily="18" charset="0"/>
                          </a:rPr>
                          <m:t>𝑣</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m:t>
                    </m:r>
                  </m:oMath>
                </a14:m>
                <a:r>
                  <a:rPr lang="es-AR" sz="1200" dirty="0">
                    <a:solidFill>
                      <a:srgbClr val="111111"/>
                    </a:solidFill>
                    <a:latin typeface="Calibri" pitchFamily="34" charset="0"/>
                    <a:ea typeface="Calibri" pitchFamily="34" charset="-122"/>
                    <a:cs typeface="Calibri" pitchFamily="34" charset="-120"/>
                  </a:rPr>
                  <a:t>. </a:t>
                </a:r>
                <a:endParaRPr lang="es-AR" sz="1200" dirty="0"/>
              </a:p>
            </p:txBody>
          </p:sp>
        </mc:Choice>
        <mc:Fallback xmlns="">
          <p:sp>
            <p:nvSpPr>
              <p:cNvPr id="16" name="Text 14"/>
              <p:cNvSpPr>
                <a:spLocks noRot="1" noChangeAspect="1" noMove="1" noResize="1" noEditPoints="1" noAdjustHandles="1" noChangeArrowheads="1" noChangeShapeType="1" noTextEdit="1"/>
              </p:cNvSpPr>
              <p:nvPr/>
            </p:nvSpPr>
            <p:spPr>
              <a:xfrm>
                <a:off x="518160" y="4773168"/>
                <a:ext cx="11155680" cy="1005840"/>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CD5206C2-985C-4664-8B02-2537914AA0C5}"/>
                  </a:ext>
                </a:extLst>
              </p:cNvPr>
              <p:cNvSpPr txBox="1"/>
              <p:nvPr/>
            </p:nvSpPr>
            <p:spPr>
              <a:xfrm>
                <a:off x="2722227" y="3614036"/>
                <a:ext cx="6098796" cy="571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1400" i="1" smtClean="0">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𝐶</m:t>
                              </m:r>
                            </m:e>
                            <m:sub>
                              <m:r>
                                <a:rPr lang="es-AR" sz="1400" i="1">
                                  <a:solidFill>
                                    <a:schemeClr val="tx1"/>
                                  </a:solidFill>
                                  <a:latin typeface="Cambria Math" panose="02040503050406030204" pitchFamily="18" charset="0"/>
                                </a:rPr>
                                <m:t>𝑙𝑠</m:t>
                              </m:r>
                            </m:sub>
                          </m:sSub>
                        </m:den>
                      </m:f>
                      <m:d>
                        <m:dPr>
                          <m:begChr m:val="["/>
                          <m:endChr m:val="]"/>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𝑡𝑠</m:t>
                                  </m:r>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𝑎𝑚𝑏</m:t>
                                  </m:r>
                                </m:sub>
                              </m:sSub>
                            </m:den>
                          </m:f>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sSubSup>
                                <m:sSubSupPr>
                                  <m:ctrlPr>
                                    <a:rPr lang="es-AR" sz="1400" i="1">
                                      <a:latin typeface="Cambria Math" panose="02040503050406030204" pitchFamily="18" charset="0"/>
                                    </a:rPr>
                                  </m:ctrlPr>
                                </m:sSubSupPr>
                                <m:e>
                                  <m:r>
                                    <a:rPr lang="es-AR" sz="1400" i="1">
                                      <a:latin typeface="Cambria Math" panose="02040503050406030204" pitchFamily="18" charset="0"/>
                                    </a:rPr>
                                    <m:t>−</m:t>
                                  </m:r>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i="1">
                                      <a:latin typeface="Cambria Math" panose="020405030504060302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oMath>
                  </m:oMathPara>
                </a14:m>
                <a:endParaRPr lang="es-AR" dirty="0">
                  <a:solidFill>
                    <a:schemeClr val="tx1"/>
                  </a:solidFill>
                </a:endParaRPr>
              </a:p>
            </p:txBody>
          </p:sp>
        </mc:Choice>
        <mc:Fallback xmlns="">
          <p:sp>
            <p:nvSpPr>
              <p:cNvPr id="18" name="CuadroTexto 17">
                <a:extLst>
                  <a:ext uri="{FF2B5EF4-FFF2-40B4-BE49-F238E27FC236}">
                    <a16:creationId xmlns:a16="http://schemas.microsoft.com/office/drawing/2014/main" id="{CD5206C2-985C-4664-8B02-2537914AA0C5}"/>
                  </a:ext>
                </a:extLst>
              </p:cNvPr>
              <p:cNvSpPr txBox="1">
                <a:spLocks noRot="1" noChangeAspect="1" noMove="1" noResize="1" noEditPoints="1" noAdjustHandles="1" noChangeArrowheads="1" noChangeShapeType="1" noTextEdit="1"/>
              </p:cNvSpPr>
              <p:nvPr/>
            </p:nvSpPr>
            <p:spPr>
              <a:xfrm>
                <a:off x="2722227" y="3614036"/>
                <a:ext cx="6098796" cy="571760"/>
              </a:xfrm>
              <a:prstGeom prst="rect">
                <a:avLst/>
              </a:prstGeom>
              <a:blipFill>
                <a:blip r:embed="rId9"/>
                <a:stretch>
                  <a:fillRect/>
                </a:stretch>
              </a:blipFill>
            </p:spPr>
            <p:txBody>
              <a:bodyPr/>
              <a:lstStyle/>
              <a:p>
                <a:r>
                  <a:rPr lang="es-AR">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6" name="Text 14"/>
              <p:cNvSpPr/>
              <p:nvPr/>
            </p:nvSpPr>
            <p:spPr>
              <a:xfrm>
                <a:off x="163483" y="796620"/>
                <a:ext cx="11843789" cy="1005840"/>
              </a:xfrm>
              <a:prstGeom prst="rect">
                <a:avLst/>
              </a:prstGeom>
              <a:noFill/>
              <a:ln/>
            </p:spPr>
            <p:txBody>
              <a:bodyPr wrap="square" rtlCol="0" anchor="t"/>
              <a:lstStyle/>
              <a:p>
                <a:r>
                  <a:rPr lang="es-AR" sz="1400" dirty="0"/>
                  <a:t>Aplicando las hipótesis de simplificación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a:rPr lang="es-AR" sz="1400">
                        <a:latin typeface="Cambria Math" panose="02040503050406030204" pitchFamily="18" charset="0"/>
                      </a:rPr>
                      <m:t>0</m:t>
                    </m:r>
                  </m:oMath>
                </a14:m>
                <a:r>
                  <a:rPr lang="es-AR" sz="1400" dirty="0"/>
                  <a:t>, desacople térmico, y eliminación de la componente homopolar al modelo global no lineal, se obtiene un modelo reducido que evita productos entre variables de estado y resulta adecuado para representar el comportamiento dinámico principal del accionamiento en torno al punto de operación.</a:t>
                </a:r>
              </a:p>
            </p:txBody>
          </p:sp>
        </mc:Choice>
        <mc:Fallback xmlns="">
          <p:sp>
            <p:nvSpPr>
              <p:cNvPr id="16" name="Text 14"/>
              <p:cNvSpPr>
                <a:spLocks noRot="1" noChangeAspect="1" noMove="1" noResize="1" noEditPoints="1" noAdjustHandles="1" noChangeArrowheads="1" noChangeShapeType="1" noTextEdit="1"/>
              </p:cNvSpPr>
              <p:nvPr/>
            </p:nvSpPr>
            <p:spPr>
              <a:xfrm>
                <a:off x="163483" y="796620"/>
                <a:ext cx="11843789" cy="1005840"/>
              </a:xfrm>
              <a:prstGeom prst="rect">
                <a:avLst/>
              </a:prstGeom>
              <a:blipFill>
                <a:blip r:embed="rId2"/>
                <a:stretch>
                  <a:fillRect l="-154" t="-1212" r="-154"/>
                </a:stretch>
              </a:blipFill>
              <a:ln/>
            </p:spPr>
            <p:txBody>
              <a:bodyPr/>
              <a:lstStyle/>
              <a:p>
                <a:r>
                  <a:rPr lang="es-AR">
                    <a:noFill/>
                  </a:rPr>
                  <a:t> </a:t>
                </a:r>
              </a:p>
            </p:txBody>
          </p:sp>
        </mc:Fallback>
      </mc:AlternateContent>
      <p:sp>
        <p:nvSpPr>
          <p:cNvPr id="19" name="Shape 13">
            <a:extLst>
              <a:ext uri="{FF2B5EF4-FFF2-40B4-BE49-F238E27FC236}">
                <a16:creationId xmlns:a16="http://schemas.microsoft.com/office/drawing/2014/main" id="{0633B3F7-1BCE-4F19-95D1-803FE14C5B12}"/>
              </a:ext>
            </a:extLst>
          </p:cNvPr>
          <p:cNvSpPr/>
          <p:nvPr/>
        </p:nvSpPr>
        <p:spPr>
          <a:xfrm>
            <a:off x="331977" y="1753465"/>
            <a:ext cx="11073469" cy="177007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14">
                <a:extLst>
                  <a:ext uri="{FF2B5EF4-FFF2-40B4-BE49-F238E27FC236}">
                    <a16:creationId xmlns:a16="http://schemas.microsoft.com/office/drawing/2014/main" id="{6681E64D-8DA0-46E4-A62C-0B74117F54E5}"/>
                  </a:ext>
                </a:extLst>
              </p:cNvPr>
              <p:cNvSpPr/>
              <p:nvPr/>
            </p:nvSpPr>
            <p:spPr>
              <a:xfrm>
                <a:off x="354771" y="2232646"/>
                <a:ext cx="4544034"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eqArr>
                            <m:eqArrPr>
                              <m:ctrlPr>
                                <a:rPr lang="es-AR" sz="1600" i="1">
                                  <a:latin typeface="Cambria Math" panose="02040503050406030204" pitchFamily="18" charset="0"/>
                                </a:rPr>
                              </m:ctrlPr>
                            </m:eqArrP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                                                                </m:t>
                              </m:r>
                            </m:e>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e>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d>
                                <m:dPr>
                                  <m:begChr m:val="["/>
                                  <m:endChr m:val="]"/>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     </m:t>
                              </m:r>
                            </m:e>
                          </m:eqArr>
                        </m:e>
                      </m:d>
                    </m:oMath>
                  </m:oMathPara>
                </a14:m>
                <a:endParaRPr lang="en-US" sz="1100" dirty="0"/>
              </a:p>
            </p:txBody>
          </p:sp>
        </mc:Choice>
        <mc:Fallback xmlns="">
          <p:sp>
            <p:nvSpPr>
              <p:cNvPr id="20" name="Text 14">
                <a:extLst>
                  <a:ext uri="{FF2B5EF4-FFF2-40B4-BE49-F238E27FC236}">
                    <a16:creationId xmlns:a16="http://schemas.microsoft.com/office/drawing/2014/main" id="{6681E64D-8DA0-46E4-A62C-0B74117F54E5}"/>
                  </a:ext>
                </a:extLst>
              </p:cNvPr>
              <p:cNvSpPr>
                <a:spLocks noRot="1" noChangeAspect="1" noMove="1" noResize="1" noEditPoints="1" noAdjustHandles="1" noChangeArrowheads="1" noChangeShapeType="1" noTextEdit="1"/>
              </p:cNvSpPr>
              <p:nvPr/>
            </p:nvSpPr>
            <p:spPr>
              <a:xfrm>
                <a:off x="354771" y="2232646"/>
                <a:ext cx="4544034" cy="530352"/>
              </a:xfrm>
              <a:prstGeom prst="rect">
                <a:avLst/>
              </a:prstGeom>
              <a:blipFill>
                <a:blip r:embed="rId3"/>
                <a:stretch>
                  <a:fillRect t="-65517" b="-104598"/>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1" name="Text 14">
                <a:extLst>
                  <a:ext uri="{FF2B5EF4-FFF2-40B4-BE49-F238E27FC236}">
                    <a16:creationId xmlns:a16="http://schemas.microsoft.com/office/drawing/2014/main" id="{FB8015F6-289C-42FB-ADFF-05DE85785676}"/>
                  </a:ext>
                </a:extLst>
              </p:cNvPr>
              <p:cNvSpPr/>
              <p:nvPr/>
            </p:nvSpPr>
            <p:spPr>
              <a:xfrm>
                <a:off x="5151867" y="2350008"/>
                <a:ext cx="6512659"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3"/>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e>
                                <m:r>
                                  <a:rPr lang="es-AR" sz="1600" i="1">
                                    <a:latin typeface="Cambria Math" panose="02040503050406030204" pitchFamily="18" charset="0"/>
                                  </a:rPr>
                                  <m:t>1</m:t>
                                </m:r>
                              </m:e>
                              <m:e>
                                <m:r>
                                  <a:rPr lang="es-AR" sz="1600" i="1">
                                    <a:latin typeface="Cambria Math" panose="02040503050406030204" pitchFamily="18" charset="0"/>
                                  </a:rPr>
                                  <m:t>0</m:t>
                                </m:r>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3</m:t>
                                        </m:r>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r>
                                          <a:rPr lang="es-AR" sz="1600" i="1">
                                            <a:latin typeface="Cambria Math" panose="02040503050406030204" pitchFamily="18" charset="0"/>
                                          </a:rPr>
                                          <m:t>2</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mr>
                          </m:m>
                        </m:e>
                      </m:d>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14">
                <a:extLst>
                  <a:ext uri="{FF2B5EF4-FFF2-40B4-BE49-F238E27FC236}">
                    <a16:creationId xmlns:a16="http://schemas.microsoft.com/office/drawing/2014/main" id="{FB8015F6-289C-42FB-ADFF-05DE85785676}"/>
                  </a:ext>
                </a:extLst>
              </p:cNvPr>
              <p:cNvSpPr>
                <a:spLocks noRot="1" noChangeAspect="1" noMove="1" noResize="1" noEditPoints="1" noAdjustHandles="1" noChangeArrowheads="1" noChangeShapeType="1" noTextEdit="1"/>
              </p:cNvSpPr>
              <p:nvPr/>
            </p:nvSpPr>
            <p:spPr>
              <a:xfrm>
                <a:off x="5151867" y="2350008"/>
                <a:ext cx="6512659" cy="530352"/>
              </a:xfrm>
              <a:prstGeom prst="rect">
                <a:avLst/>
              </a:prstGeom>
              <a:blipFill>
                <a:blip r:embed="rId4"/>
                <a:stretch>
                  <a:fillRect t="-45977" b="-50575"/>
                </a:stretch>
              </a:blipFill>
              <a:ln/>
            </p:spPr>
            <p:txBody>
              <a:bodyPr/>
              <a:lstStyle/>
              <a:p>
                <a:r>
                  <a:rPr lang="es-AR">
                    <a:noFill/>
                  </a:rPr>
                  <a:t> </a:t>
                </a:r>
              </a:p>
            </p:txBody>
          </p:sp>
        </mc:Fallback>
      </mc:AlternateContent>
    </p:spTree>
    <p:extLst>
      <p:ext uri="{BB962C8B-B14F-4D97-AF65-F5344CB8AC3E}">
        <p14:creationId xmlns:p14="http://schemas.microsoft.com/office/powerpoint/2010/main" val="614999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2932B77-5246-4A11-B291-D130B43CBD2E}"/>
              </a:ext>
            </a:extLst>
          </p:cNvPr>
          <p:cNvPicPr>
            <a:picLocks noChangeAspect="1"/>
          </p:cNvPicPr>
          <p:nvPr/>
        </p:nvPicPr>
        <p:blipFill>
          <a:blip r:embed="rId2"/>
          <a:srcRect/>
          <a:stretch/>
        </p:blipFill>
        <p:spPr>
          <a:xfrm>
            <a:off x="570760" y="658368"/>
            <a:ext cx="10545932" cy="5584759"/>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p:sp>
        <p:nvSpPr>
          <p:cNvPr id="15" name="CuadroTexto 14">
            <a:extLst>
              <a:ext uri="{FF2B5EF4-FFF2-40B4-BE49-F238E27FC236}">
                <a16:creationId xmlns:a16="http://schemas.microsoft.com/office/drawing/2014/main" id="{9A639F6C-1BED-47BA-BB04-A7534BAF33FF}"/>
              </a:ext>
            </a:extLst>
          </p:cNvPr>
          <p:cNvSpPr txBox="1"/>
          <p:nvPr/>
        </p:nvSpPr>
        <p:spPr>
          <a:xfrm>
            <a:off x="2915174" y="6214256"/>
            <a:ext cx="6098796" cy="261610"/>
          </a:xfrm>
          <a:prstGeom prst="rect">
            <a:avLst/>
          </a:prstGeom>
          <a:noFill/>
        </p:spPr>
        <p:txBody>
          <a:bodyPr wrap="square">
            <a:spAutoFit/>
          </a:bodyP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8 Sistema completo LTI</a:t>
            </a:r>
            <a:endParaRPr lang="es-AR" sz="1100" dirty="0"/>
          </a:p>
        </p:txBody>
      </p:sp>
    </p:spTree>
    <p:extLst>
      <p:ext uri="{BB962C8B-B14F-4D97-AF65-F5344CB8AC3E}">
        <p14:creationId xmlns:p14="http://schemas.microsoft.com/office/powerpoint/2010/main" val="2769730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4" name="Imagen 23">
            <a:extLst>
              <a:ext uri="{FF2B5EF4-FFF2-40B4-BE49-F238E27FC236}">
                <a16:creationId xmlns:a16="http://schemas.microsoft.com/office/drawing/2014/main" id="{806F06E3-4BF3-4F2D-B285-D726CCBDB148}"/>
              </a:ext>
            </a:extLst>
          </p:cNvPr>
          <p:cNvPicPr>
            <a:picLocks noChangeAspect="1"/>
          </p:cNvPicPr>
          <p:nvPr/>
        </p:nvPicPr>
        <p:blipFill>
          <a:blip r:embed="rId2"/>
          <a:stretch>
            <a:fillRect/>
          </a:stretch>
        </p:blipFill>
        <p:spPr>
          <a:xfrm>
            <a:off x="1097489" y="2027830"/>
            <a:ext cx="9252731" cy="4537562"/>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Ley de control mínima</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179329" y="717751"/>
                <a:ext cx="11430000" cy="548640"/>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Para garantizar que se cumpla la condición </a:t>
                </a:r>
                <a14:m>
                  <m:oMath xmlns:m="http://schemas.openxmlformats.org/officeDocument/2006/math">
                    <m:sSubSup>
                      <m:sSubSupPr>
                        <m:ctrlPr>
                          <a:rPr lang="es-AR" sz="14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y</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MX" sz="1400" b="0" i="1" smtClean="0">
                        <a:latin typeface="Cambria Math" panose="02040503050406030204" pitchFamily="18" charset="0"/>
                      </a:rPr>
                      <m:t>=0</m:t>
                    </m:r>
                  </m:oMath>
                </a14:m>
                <a:r>
                  <a:rPr lang="es-AR" sz="1400" dirty="0"/>
                  <a:t>, es necesario imponer una ley de control sobre las variables manipuladas:</a:t>
                </a:r>
              </a:p>
            </p:txBody>
          </p:sp>
        </mc:Choice>
        <mc:Fallback xmlns="">
          <p:sp>
            <p:nvSpPr>
              <p:cNvPr id="7" name="Text 5"/>
              <p:cNvSpPr>
                <a:spLocks noRot="1" noChangeAspect="1" noMove="1" noResize="1" noEditPoints="1" noAdjustHandles="1" noChangeArrowheads="1" noChangeShapeType="1" noTextEdit="1"/>
              </p:cNvSpPr>
              <p:nvPr/>
            </p:nvSpPr>
            <p:spPr>
              <a:xfrm>
                <a:off x="179329" y="717751"/>
                <a:ext cx="11430000" cy="548640"/>
              </a:xfrm>
              <a:prstGeom prst="rect">
                <a:avLst/>
              </a:prstGeom>
              <a:blipFill>
                <a:blip r:embed="rId3"/>
                <a:stretch>
                  <a:fillRect l="-160"/>
                </a:stretch>
              </a:blipFill>
              <a:ln/>
            </p:spPr>
            <p:txBody>
              <a:bodyPr/>
              <a:lstStyle/>
              <a:p>
                <a:r>
                  <a:rPr lang="es-AR">
                    <a:noFill/>
                  </a:rPr>
                  <a:t> </a:t>
                </a:r>
              </a:p>
            </p:txBody>
          </p:sp>
        </mc:Fallback>
      </mc:AlternateContent>
      <p:sp>
        <p:nvSpPr>
          <p:cNvPr id="8" name="Shape 6"/>
          <p:cNvSpPr/>
          <p:nvPr/>
        </p:nvSpPr>
        <p:spPr>
          <a:xfrm>
            <a:off x="457200" y="1225465"/>
            <a:ext cx="9164972" cy="50292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225465"/>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050" i="1" smtClean="0">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m:t>
                          </m:r>
                        </m:sub>
                      </m:sSub>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𝑝</m:t>
                          </m:r>
                        </m:sub>
                      </m:sSub>
                      <m:r>
                        <a:rPr lang="es-AR" sz="1600" i="1">
                          <a:effectLst/>
                          <a:latin typeface="Cambria Math" panose="02040503050406030204" pitchFamily="18" charset="0"/>
                          <a:ea typeface="Calibri" panose="020F0502020204030204" pitchFamily="34" charset="0"/>
                          <a:cs typeface="Calibri" panose="020F0502020204030204" pitchFamily="34" charset="0"/>
                        </a:rPr>
                        <m:t> </m:t>
                      </m:r>
                      <m:sSubSup>
                        <m:sSubSupPr>
                          <m:ctrlPr>
                            <a:rPr lang="es-AR" sz="105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225465"/>
                <a:ext cx="7589520" cy="502920"/>
              </a:xfrm>
              <a:prstGeom prst="rect">
                <a:avLst/>
              </a:prstGeom>
              <a:blipFill>
                <a:blip r:embed="rId4"/>
                <a:stretch>
                  <a:fillRect/>
                </a:stretch>
              </a:blipFill>
              <a:ln/>
            </p:spPr>
            <p:txBody>
              <a:bodyPr/>
              <a:lstStyle/>
              <a:p>
                <a:r>
                  <a:rPr lang="es-AR">
                    <a:noFill/>
                  </a:rPr>
                  <a:t> </a:t>
                </a:r>
              </a:p>
            </p:txBody>
          </p:sp>
        </mc:Fallback>
      </mc:AlternateContent>
      <p:sp>
        <p:nvSpPr>
          <p:cNvPr id="20" name="Text 18"/>
          <p:cNvSpPr/>
          <p:nvPr/>
        </p:nvSpPr>
        <p:spPr>
          <a:xfrm>
            <a:off x="2405237" y="5573047"/>
            <a:ext cx="5177457" cy="364951"/>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9 — </a:t>
            </a:r>
            <a:r>
              <a:rPr lang="en-US" sz="1100" i="1" dirty="0" err="1">
                <a:solidFill>
                  <a:srgbClr val="224488"/>
                </a:solidFill>
                <a:latin typeface="Calibri" pitchFamily="34" charset="0"/>
                <a:ea typeface="Calibri" pitchFamily="34" charset="-122"/>
                <a:cs typeface="Calibri" pitchFamily="34" charset="-120"/>
              </a:rPr>
              <a:t>Modelo</a:t>
            </a:r>
            <a:r>
              <a:rPr lang="en-US" sz="1100" i="1" dirty="0">
                <a:solidFill>
                  <a:srgbClr val="224488"/>
                </a:solidFill>
                <a:latin typeface="Calibri" pitchFamily="34" charset="0"/>
                <a:ea typeface="Calibri" pitchFamily="34" charset="-122"/>
                <a:cs typeface="Calibri" pitchFamily="34" charset="-120"/>
              </a:rPr>
              <a:t> global NL con ley de control minima </a:t>
            </a:r>
            <a:r>
              <a:rPr lang="en-US" sz="1100" i="1" dirty="0" err="1">
                <a:solidFill>
                  <a:srgbClr val="224488"/>
                </a:solidFill>
                <a:latin typeface="Calibri" pitchFamily="34" charset="0"/>
                <a:ea typeface="Calibri" pitchFamily="34" charset="-122"/>
                <a:cs typeface="Calibri" pitchFamily="34" charset="-120"/>
              </a:rPr>
              <a:t>en</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eje</a:t>
            </a:r>
            <a:r>
              <a:rPr lang="en-US" sz="1100" i="1" dirty="0">
                <a:solidFill>
                  <a:srgbClr val="224488"/>
                </a:solidFill>
                <a:latin typeface="Calibri" pitchFamily="34" charset="0"/>
                <a:ea typeface="Calibri" pitchFamily="34" charset="-122"/>
                <a:cs typeface="Calibri" pitchFamily="34" charset="-120"/>
              </a:rPr>
              <a:t> d</a:t>
            </a:r>
            <a:endParaRPr lang="en-US" sz="1100" dirty="0"/>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3CDC4FC-F664-4108-A1C8-47801ED3E3A9}"/>
                  </a:ext>
                </a:extLst>
              </p:cNvPr>
              <p:cNvSpPr txBox="1"/>
              <p:nvPr/>
            </p:nvSpPr>
            <p:spPr>
              <a:xfrm>
                <a:off x="365760" y="1765939"/>
                <a:ext cx="9256412" cy="296363"/>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De este modo, </a:t>
                </a:r>
                <a14:m>
                  <m:oMath xmlns:m="http://schemas.openxmlformats.org/officeDocument/2006/math">
                    <m:sSubSup>
                      <m:sSubSup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3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3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300" i="1">
                            <a:effectLst/>
                            <a:latin typeface="Cambria Math" panose="02040503050406030204" pitchFamily="18" charset="0"/>
                            <a:ea typeface="Calibri" panose="020F0502020204030204" pitchFamily="34" charset="0"/>
                            <a:cs typeface="Calibri" panose="020F0502020204030204" pitchFamily="34" charset="0"/>
                          </a:rPr>
                        </m:ctrlPr>
                      </m:dPr>
                      <m:e>
                        <m:r>
                          <a:rPr lang="es-AR" sz="13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300" dirty="0">
                    <a:effectLst/>
                    <a:latin typeface="Calibri" panose="020F0502020204030204" pitchFamily="34" charset="0"/>
                    <a:ea typeface="Calibri" panose="020F0502020204030204" pitchFamily="34" charset="0"/>
                    <a:cs typeface="Calibri" panose="020F0502020204030204" pitchFamily="34" charset="0"/>
                  </a:rPr>
                  <a:t> no se considera una variable manipulable directamente.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C3CDC4FC-F664-4108-A1C8-47801ED3E3A9}"/>
                  </a:ext>
                </a:extLst>
              </p:cNvPr>
              <p:cNvSpPr txBox="1">
                <a:spLocks noRot="1" noChangeAspect="1" noMove="1" noResize="1" noEditPoints="1" noAdjustHandles="1" noChangeArrowheads="1" noChangeShapeType="1" noTextEdit="1"/>
              </p:cNvSpPr>
              <p:nvPr/>
            </p:nvSpPr>
            <p:spPr>
              <a:xfrm>
                <a:off x="365760" y="1765939"/>
                <a:ext cx="9256412" cy="296363"/>
              </a:xfrm>
              <a:prstGeom prst="rect">
                <a:avLst/>
              </a:prstGeom>
              <a:blipFill>
                <a:blip r:embed="rId5"/>
                <a:stretch>
                  <a:fillRect l="-66" b="-18750"/>
                </a:stretch>
              </a:blipFill>
            </p:spPr>
            <p:txBody>
              <a:bodyPr/>
              <a:lstStyle/>
              <a:p>
                <a:r>
                  <a:rPr lang="es-AR">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365760" y="777240"/>
                <a:ext cx="11430000" cy="54864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Debemos analizar el comportamiento del sistema cuando tenemos </a:t>
                </a:r>
                <a14:m>
                  <m:oMath xmlns:m="http://schemas.openxmlformats.org/officeDocument/2006/math">
                    <m:sSubSup>
                      <m:sSubSupPr>
                        <m:ctrlPr>
                          <a:rPr lang="es-AR" sz="1300" i="1" smtClean="0">
                            <a:effectLst/>
                            <a:latin typeface="Cambria Math" panose="020405030504060302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300" i="1">
                            <a:effectLst/>
                            <a:latin typeface="Cambria Math" panose="02040503050406030204" pitchFamily="18" charset="0"/>
                          </a:rPr>
                        </m:ctrlPr>
                      </m:d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300" i="1">
                        <a:effectLst/>
                        <a:latin typeface="Cambria Math" panose="02040503050406030204" pitchFamily="18" charset="0"/>
                        <a:ea typeface="Calibri" panose="020F0502020204030204" pitchFamily="34" charset="0"/>
                        <a:cs typeface="Times New Roman" panose="02020603050405020304" pitchFamily="18" charset="0"/>
                      </a:rPr>
                      <m:t>≠</m:t>
                    </m:r>
                    <m:r>
                      <a:rPr lang="es-AR" sz="1300" i="1">
                        <a:effectLst/>
                        <a:latin typeface="Cambria Math" panose="02040503050406030204" pitchFamily="18" charset="0"/>
                        <a:ea typeface="Calibri" panose="020F0502020204030204" pitchFamily="34" charset="0"/>
                        <a:cs typeface="Times New Roman" panose="02020603050405020304" pitchFamily="18" charset="0"/>
                      </a:rPr>
                      <m:t>0</m:t>
                    </m:r>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300" dirty="0"/>
                  <a:t> Aplicando la ley de control mínima sobre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300" dirty="0"/>
                  <a:t>:</a:t>
                </a:r>
              </a:p>
            </p:txBody>
          </p:sp>
        </mc:Choice>
        <mc:Fallback xmlns="">
          <p:sp>
            <p:nvSpPr>
              <p:cNvPr id="7" name="Text 5"/>
              <p:cNvSpPr>
                <a:spLocks noRot="1" noChangeAspect="1" noMove="1" noResize="1" noEditPoints="1" noAdjustHandles="1" noChangeArrowheads="1" noChangeShapeType="1" noTextEdit="1"/>
              </p:cNvSpPr>
              <p:nvPr/>
            </p:nvSpPr>
            <p:spPr>
              <a:xfrm>
                <a:off x="365760" y="777240"/>
                <a:ext cx="11430000" cy="548640"/>
              </a:xfrm>
              <a:prstGeom prst="rect">
                <a:avLst/>
              </a:prstGeom>
              <a:blipFill>
                <a:blip r:embed="rId2"/>
                <a:stretch>
                  <a:fillRect l="-53"/>
                </a:stretch>
              </a:blipFill>
              <a:ln/>
            </p:spPr>
            <p:txBody>
              <a:bodyPr/>
              <a:lstStyle/>
              <a:p>
                <a:r>
                  <a:rPr lang="es-AR">
                    <a:noFill/>
                  </a:rPr>
                  <a:t> </a:t>
                </a:r>
              </a:p>
            </p:txBody>
          </p:sp>
        </mc:Fallback>
      </mc:AlternateContent>
      <p:sp>
        <p:nvSpPr>
          <p:cNvPr id="8" name="Shape 6"/>
          <p:cNvSpPr/>
          <p:nvPr/>
        </p:nvSpPr>
        <p:spPr>
          <a:xfrm>
            <a:off x="457200" y="1138428"/>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138428"/>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138428"/>
                <a:ext cx="7589520" cy="502920"/>
              </a:xfrm>
              <a:prstGeom prst="rect">
                <a:avLst/>
              </a:prstGeom>
              <a:blipFill>
                <a:blip r:embed="rId7"/>
                <a:stretch>
                  <a:fillRect b="-4878"/>
                </a:stretch>
              </a:blipFill>
              <a:ln/>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C3CDC4FC-F664-4108-A1C8-47801ED3E3A9}"/>
              </a:ext>
            </a:extLst>
          </p:cNvPr>
          <p:cNvSpPr txBox="1"/>
          <p:nvPr/>
        </p:nvSpPr>
        <p:spPr>
          <a:xfrm>
            <a:off x="365760" y="1854354"/>
            <a:ext cx="9256412" cy="296876"/>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Esta ecuación corresponde a un sistema lineal de primer orden, con solución analítica: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Shape 6">
            <a:extLst>
              <a:ext uri="{FF2B5EF4-FFF2-40B4-BE49-F238E27FC236}">
                <a16:creationId xmlns:a16="http://schemas.microsoft.com/office/drawing/2014/main" id="{0E87EB8E-556D-4111-8DA0-F71091BAEAC5}"/>
              </a:ext>
            </a:extLst>
          </p:cNvPr>
          <p:cNvSpPr/>
          <p:nvPr/>
        </p:nvSpPr>
        <p:spPr>
          <a:xfrm>
            <a:off x="457200" y="2241695"/>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4" name="Text 7">
                <a:extLst>
                  <a:ext uri="{FF2B5EF4-FFF2-40B4-BE49-F238E27FC236}">
                    <a16:creationId xmlns:a16="http://schemas.microsoft.com/office/drawing/2014/main" id="{4DB2723C-E875-49E6-A17E-427760616966}"/>
                  </a:ext>
                </a:extLst>
              </p:cNvPr>
              <p:cNvSpPr/>
              <p:nvPr/>
            </p:nvSpPr>
            <p:spPr>
              <a:xfrm>
                <a:off x="365760" y="2241695"/>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0</m:t>
                          </m:r>
                        </m:e>
                      </m:d>
                      <m:sSup>
                        <m:sSupPr>
                          <m:ctrlPr>
                            <a:rPr lang="es-AR" sz="1600" i="1">
                              <a:latin typeface="Cambria Math" panose="02040503050406030204" pitchFamily="18" charset="0"/>
                            </a:rPr>
                          </m:ctrlPr>
                        </m:sSupPr>
                        <m:e>
                          <m:r>
                            <a:rPr lang="es-AR" sz="1600" i="1">
                              <a:latin typeface="Cambria Math" panose="02040503050406030204" pitchFamily="18" charset="0"/>
                            </a:rPr>
                            <m:t>𝑒</m:t>
                          </m:r>
                        </m:e>
                        <m: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den>
                          </m:f>
                          <m:r>
                            <a:rPr lang="es-AR" sz="1600" i="1">
                              <a:latin typeface="Cambria Math" panose="02040503050406030204" pitchFamily="18" charset="0"/>
                            </a:rPr>
                            <m:t>𝑡</m:t>
                          </m:r>
                        </m:sup>
                      </m:sSup>
                    </m:oMath>
                  </m:oMathPara>
                </a14:m>
                <a:endParaRPr lang="en-US" sz="1100" dirty="0"/>
              </a:p>
            </p:txBody>
          </p:sp>
        </mc:Choice>
        <mc:Fallback xmlns="">
          <p:sp>
            <p:nvSpPr>
              <p:cNvPr id="14" name="Text 7">
                <a:extLst>
                  <a:ext uri="{FF2B5EF4-FFF2-40B4-BE49-F238E27FC236}">
                    <a16:creationId xmlns:a16="http://schemas.microsoft.com/office/drawing/2014/main" id="{4DB2723C-E875-49E6-A17E-427760616966}"/>
                  </a:ext>
                </a:extLst>
              </p:cNvPr>
              <p:cNvSpPr>
                <a:spLocks noRot="1" noChangeAspect="1" noMove="1" noResize="1" noEditPoints="1" noAdjustHandles="1" noChangeArrowheads="1" noChangeShapeType="1" noTextEdit="1"/>
              </p:cNvSpPr>
              <p:nvPr/>
            </p:nvSpPr>
            <p:spPr>
              <a:xfrm>
                <a:off x="365760" y="2241695"/>
                <a:ext cx="7589520" cy="502920"/>
              </a:xfrm>
              <a:prstGeom prst="rect">
                <a:avLst/>
              </a:prstGeom>
              <a:blipFill>
                <a:blip r:embed="rId6"/>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C3DD1D0-FBCD-495D-B997-43A13D152833}"/>
                  </a:ext>
                </a:extLst>
              </p:cNvPr>
              <p:cNvSpPr txBox="1"/>
              <p:nvPr/>
            </p:nvSpPr>
            <p:spPr>
              <a:xfrm>
                <a:off x="365760" y="2911518"/>
                <a:ext cx="11680831" cy="668453"/>
              </a:xfrm>
              <a:prstGeom prst="rect">
                <a:avLst/>
              </a:prstGeom>
              <a:noFill/>
            </p:spPr>
            <p:txBody>
              <a:bodyPr wrap="square">
                <a:spAutoFit/>
              </a:bodyPr>
              <a:lstStyle/>
              <a:p>
                <a:pPr algn="just">
                  <a:lnSpc>
                    <a:spcPct val="107000"/>
                  </a:lnSpc>
                  <a:spcBef>
                    <a:spcPts val="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corriente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Calibri" panose="020F0502020204030204" pitchFamily="34"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presenta un decaimiento exponencial determinado por la constante de tiempo eléctrica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num>
                      <m:den>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en>
                    </m:f>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Esto implica que, aun cuando la condición inicial no sea exactamente nula, la componente directa tenderá naturalmente a extinguirse con el tiempo.</a:t>
                </a:r>
              </a:p>
            </p:txBody>
          </p:sp>
        </mc:Choice>
        <mc:Fallback xmlns="">
          <p:sp>
            <p:nvSpPr>
              <p:cNvPr id="16" name="CuadroTexto 15">
                <a:extLst>
                  <a:ext uri="{FF2B5EF4-FFF2-40B4-BE49-F238E27FC236}">
                    <a16:creationId xmlns:a16="http://schemas.microsoft.com/office/drawing/2014/main" id="{FC3DD1D0-FBCD-495D-B997-43A13D152833}"/>
                  </a:ext>
                </a:extLst>
              </p:cNvPr>
              <p:cNvSpPr txBox="1">
                <a:spLocks noRot="1" noChangeAspect="1" noMove="1" noResize="1" noEditPoints="1" noAdjustHandles="1" noChangeArrowheads="1" noChangeShapeType="1" noTextEdit="1"/>
              </p:cNvSpPr>
              <p:nvPr/>
            </p:nvSpPr>
            <p:spPr>
              <a:xfrm>
                <a:off x="365760" y="2911518"/>
                <a:ext cx="11680831" cy="668453"/>
              </a:xfrm>
              <a:prstGeom prst="rect">
                <a:avLst/>
              </a:prstGeom>
              <a:blipFill>
                <a:blip r:embed="rId8"/>
                <a:stretch>
                  <a:fillRect l="-157" r="-157" b="-917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115BED1-7ECD-4D78-B3DB-CFE08CC34666}"/>
                  </a:ext>
                </a:extLst>
              </p:cNvPr>
              <p:cNvSpPr txBox="1"/>
              <p:nvPr/>
            </p:nvSpPr>
            <p:spPr>
              <a:xfrm>
                <a:off x="365760" y="3615763"/>
                <a:ext cx="11612880" cy="539828"/>
              </a:xfrm>
              <a:prstGeom prst="rect">
                <a:avLst/>
              </a:prstGeom>
              <a:noFill/>
            </p:spPr>
            <p:txBody>
              <a:bodyPr wrap="square">
                <a:spAutoFit/>
              </a:bodyPr>
              <a:lstStyle/>
              <a:p>
                <a:r>
                  <a:rPr lang="es-AR" sz="1400" dirty="0"/>
                  <a:t>Se puede implementar una restricción o Ley de Control complementaria mínima en el eje q para eliminar completamente el acoplamiento, y obtener un modelo equivalente lineal, independiente del estado inicial de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Partiendo de la ecuación diferencial del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t>, podemos despejar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a:t>
                </a:r>
              </a:p>
            </p:txBody>
          </p:sp>
        </mc:Choice>
        <mc:Fallback xmlns="">
          <p:sp>
            <p:nvSpPr>
              <p:cNvPr id="18" name="CuadroTexto 17">
                <a:extLst>
                  <a:ext uri="{FF2B5EF4-FFF2-40B4-BE49-F238E27FC236}">
                    <a16:creationId xmlns:a16="http://schemas.microsoft.com/office/drawing/2014/main" id="{4115BED1-7ECD-4D78-B3DB-CFE08CC34666}"/>
                  </a:ext>
                </a:extLst>
              </p:cNvPr>
              <p:cNvSpPr txBox="1">
                <a:spLocks noRot="1" noChangeAspect="1" noMove="1" noResize="1" noEditPoints="1" noAdjustHandles="1" noChangeArrowheads="1" noChangeShapeType="1" noTextEdit="1"/>
              </p:cNvSpPr>
              <p:nvPr/>
            </p:nvSpPr>
            <p:spPr>
              <a:xfrm>
                <a:off x="365760" y="3615763"/>
                <a:ext cx="11612880" cy="539828"/>
              </a:xfrm>
              <a:prstGeom prst="rect">
                <a:avLst/>
              </a:prstGeom>
              <a:blipFill>
                <a:blip r:embed="rId9"/>
                <a:stretch>
                  <a:fillRect l="-157" t="-2247" b="-8989"/>
                </a:stretch>
              </a:blipFill>
            </p:spPr>
            <p:txBody>
              <a:bodyPr/>
              <a:lstStyle/>
              <a:p>
                <a:r>
                  <a:rPr lang="es-AR">
                    <a:noFill/>
                  </a:rPr>
                  <a:t> </a:t>
                </a:r>
              </a:p>
            </p:txBody>
          </p:sp>
        </mc:Fallback>
      </mc:AlternateContent>
      <p:sp>
        <p:nvSpPr>
          <p:cNvPr id="19" name="Shape 6">
            <a:extLst>
              <a:ext uri="{FF2B5EF4-FFF2-40B4-BE49-F238E27FC236}">
                <a16:creationId xmlns:a16="http://schemas.microsoft.com/office/drawing/2014/main" id="{1BB9ABEA-4385-48D5-BB7D-367940840E23}"/>
              </a:ext>
            </a:extLst>
          </p:cNvPr>
          <p:cNvSpPr/>
          <p:nvPr/>
        </p:nvSpPr>
        <p:spPr>
          <a:xfrm>
            <a:off x="457200" y="428725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1EE3BB44-59D1-4087-A1C2-E48BC1A3E443}"/>
                  </a:ext>
                </a:extLst>
              </p:cNvPr>
              <p:cNvSpPr/>
              <p:nvPr/>
            </p:nvSpPr>
            <p:spPr>
              <a:xfrm>
                <a:off x="421127" y="432015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7">
                <a:extLst>
                  <a:ext uri="{FF2B5EF4-FFF2-40B4-BE49-F238E27FC236}">
                    <a16:creationId xmlns:a16="http://schemas.microsoft.com/office/drawing/2014/main" id="{1EE3BB44-59D1-4087-A1C2-E48BC1A3E443}"/>
                  </a:ext>
                </a:extLst>
              </p:cNvPr>
              <p:cNvSpPr>
                <a:spLocks noRot="1" noChangeAspect="1" noMove="1" noResize="1" noEditPoints="1" noAdjustHandles="1" noChangeArrowheads="1" noChangeShapeType="1" noTextEdit="1"/>
              </p:cNvSpPr>
              <p:nvPr/>
            </p:nvSpPr>
            <p:spPr>
              <a:xfrm>
                <a:off x="421127" y="4320152"/>
                <a:ext cx="7589520" cy="502920"/>
              </a:xfrm>
              <a:prstGeom prst="rect">
                <a:avLst/>
              </a:prstGeom>
              <a:blipFill>
                <a:blip r:embed="rId10"/>
                <a:stretch>
                  <a:fillRect/>
                </a:stretch>
              </a:blipFill>
              <a:ln/>
            </p:spPr>
            <p:txBody>
              <a:bodyPr/>
              <a:lstStyle/>
              <a:p>
                <a:r>
                  <a:rPr lang="es-AR">
                    <a:noFill/>
                  </a:rPr>
                  <a:t> </a:t>
                </a:r>
              </a:p>
            </p:txBody>
          </p:sp>
        </mc:Fallback>
      </mc:AlternateContent>
      <p:sp>
        <p:nvSpPr>
          <p:cNvPr id="23" name="Shape 6">
            <a:extLst>
              <a:ext uri="{FF2B5EF4-FFF2-40B4-BE49-F238E27FC236}">
                <a16:creationId xmlns:a16="http://schemas.microsoft.com/office/drawing/2014/main" id="{C0844480-546B-44C5-AB65-2D4269E944D2}"/>
              </a:ext>
            </a:extLst>
          </p:cNvPr>
          <p:cNvSpPr/>
          <p:nvPr/>
        </p:nvSpPr>
        <p:spPr>
          <a:xfrm>
            <a:off x="457200" y="509458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5" name="Text 7">
                <a:extLst>
                  <a:ext uri="{FF2B5EF4-FFF2-40B4-BE49-F238E27FC236}">
                    <a16:creationId xmlns:a16="http://schemas.microsoft.com/office/drawing/2014/main" id="{C536CD7F-DFE4-45ED-AB11-BBB0B11ED666}"/>
                  </a:ext>
                </a:extLst>
              </p:cNvPr>
              <p:cNvSpPr/>
              <p:nvPr/>
            </p:nvSpPr>
            <p:spPr>
              <a:xfrm>
                <a:off x="421127" y="512748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5" name="Text 7">
                <a:extLst>
                  <a:ext uri="{FF2B5EF4-FFF2-40B4-BE49-F238E27FC236}">
                    <a16:creationId xmlns:a16="http://schemas.microsoft.com/office/drawing/2014/main" id="{C536CD7F-DFE4-45ED-AB11-BBB0B11ED666}"/>
                  </a:ext>
                </a:extLst>
              </p:cNvPr>
              <p:cNvSpPr>
                <a:spLocks noRot="1" noChangeAspect="1" noMove="1" noResize="1" noEditPoints="1" noAdjustHandles="1" noChangeArrowheads="1" noChangeShapeType="1" noTextEdit="1"/>
              </p:cNvSpPr>
              <p:nvPr/>
            </p:nvSpPr>
            <p:spPr>
              <a:xfrm>
                <a:off x="421127" y="5127482"/>
                <a:ext cx="7589520" cy="502920"/>
              </a:xfrm>
              <a:prstGeom prst="rect">
                <a:avLst/>
              </a:prstGeom>
              <a:blipFill>
                <a:blip r:embed="rId11"/>
                <a:stretch>
                  <a:fillRect/>
                </a:stretch>
              </a:blipFill>
              <a:ln/>
            </p:spPr>
            <p:txBody>
              <a:bodyPr/>
              <a:lstStyle/>
              <a:p>
                <a:r>
                  <a:rPr lang="es-AR">
                    <a:noFill/>
                  </a:rPr>
                  <a:t> </a:t>
                </a:r>
              </a:p>
            </p:txBody>
          </p:sp>
        </mc:Fallback>
      </mc:AlternateContent>
    </p:spTree>
    <p:extLst>
      <p:ext uri="{BB962C8B-B14F-4D97-AF65-F5344CB8AC3E}">
        <p14:creationId xmlns:p14="http://schemas.microsoft.com/office/powerpoint/2010/main" val="3220606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19E0564-D6DC-483D-A7DA-D040A55C1EF1}"/>
              </a:ext>
            </a:extLst>
          </p:cNvPr>
          <p:cNvPicPr/>
          <p:nvPr/>
        </p:nvPicPr>
        <p:blipFill>
          <a:blip r:embed="rId3"/>
          <a:srcRect/>
          <a:stretch/>
        </p:blipFill>
        <p:spPr>
          <a:xfrm>
            <a:off x="493611" y="864951"/>
            <a:ext cx="11174298" cy="5493857"/>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0" name="Text 18"/>
          <p:cNvSpPr/>
          <p:nvPr/>
        </p:nvSpPr>
        <p:spPr>
          <a:xfrm>
            <a:off x="472440" y="5657582"/>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10 — Modelo global NL con ley de control mínima en eje d y q</a:t>
            </a:r>
            <a:endParaRPr lang="es-AR" sz="1100" dirty="0"/>
          </a:p>
        </p:txBody>
      </p:sp>
    </p:spTree>
    <p:extLst>
      <p:ext uri="{BB962C8B-B14F-4D97-AF65-F5344CB8AC3E}">
        <p14:creationId xmlns:p14="http://schemas.microsoft.com/office/powerpoint/2010/main" val="3306844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D2CF1D4E-7B7A-4658-91C1-0749D2711A67}"/>
              </a:ext>
            </a:extLst>
          </p:cNvPr>
          <p:cNvSpPr/>
          <p:nvPr/>
        </p:nvSpPr>
        <p:spPr>
          <a:xfrm>
            <a:off x="274320" y="1364398"/>
            <a:ext cx="10480366" cy="2939154"/>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0" name="CuadroTexto 9">
            <a:extLst>
              <a:ext uri="{FF2B5EF4-FFF2-40B4-BE49-F238E27FC236}">
                <a16:creationId xmlns:a16="http://schemas.microsoft.com/office/drawing/2014/main" id="{83643FA9-B065-469F-9A42-F74AB55CF040}"/>
              </a:ext>
            </a:extLst>
          </p:cNvPr>
          <p:cNvSpPr txBox="1"/>
          <p:nvPr/>
        </p:nvSpPr>
        <p:spPr>
          <a:xfrm>
            <a:off x="205530" y="772111"/>
            <a:ext cx="11681669" cy="510909"/>
          </a:xfrm>
          <a:prstGeom prst="rect">
            <a:avLst/>
          </a:prstGeom>
          <a:noFill/>
        </p:spPr>
        <p:txBody>
          <a:bodyPr wrap="square">
            <a:spAutoFit/>
          </a:bodyPr>
          <a:lstStyle/>
          <a:p>
            <a:pPr algn="just">
              <a:lnSpc>
                <a:spcPct val="107000"/>
              </a:lnSpc>
              <a:spcBef>
                <a:spcPts val="1800"/>
              </a:spcBef>
              <a:spcAft>
                <a:spcPts val="10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De este modo, nuestro sistema simplificado lineal e invariante en el tiempo presenta un error transitorio, que resulta despreciable en régimen forzado. Agregando la dinámica residual y despreciando el mencionado acoplamiento se obtienen las ecuaciones del modelo completo LTI equivalente aumentado:</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BE6C7E4-D7C6-45B7-B9D9-2A4E91B5FEC0}"/>
                  </a:ext>
                </a:extLst>
              </p:cNvPr>
              <p:cNvSpPr txBox="1"/>
              <p:nvPr/>
            </p:nvSpPr>
            <p:spPr>
              <a:xfrm>
                <a:off x="499143" y="1421383"/>
                <a:ext cx="6455329" cy="27778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600" i="1" smtClean="0">
                              <a:solidFill>
                                <a:schemeClr val="tx1"/>
                              </a:solidFill>
                              <a:latin typeface="Cambria Math" panose="02040503050406030204" pitchFamily="18" charset="0"/>
                            </a:rPr>
                          </m:ctrlPr>
                        </m:dPr>
                        <m:e>
                          <m:m>
                            <m:mPr>
                              <m:plcHide m:val="on"/>
                              <m:mcs>
                                <m:mc>
                                  <m:mcPr>
                                    <m:count m:val="1"/>
                                    <m:mcJc m:val="center"/>
                                  </m:mcPr>
                                </m:mc>
                              </m:mcs>
                              <m:ctrlPr>
                                <a:rPr lang="es-AR" sz="1600" i="1">
                                  <a:solidFill>
                                    <a:schemeClr val="tx1"/>
                                  </a:solidFill>
                                  <a:latin typeface="Cambria Math" panose="02040503050406030204" pitchFamily="18" charset="0"/>
                                </a:rPr>
                              </m:ctrlPr>
                            </m:mP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𝜃</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e>
                            </m:m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𝜔</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𝐽</m:t>
                                        </m:r>
                                      </m:e>
                                      <m:sub>
                                        <m:r>
                                          <a:rPr lang="es-AR" sz="1600" i="1">
                                            <a:solidFill>
                                              <a:schemeClr val="tx1"/>
                                            </a:solidFill>
                                            <a:latin typeface="Cambria Math" panose="02040503050406030204" pitchFamily="18" charset="0"/>
                                          </a:rPr>
                                          <m:t>𝑒𝑞</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𝑏</m:t>
                                        </m:r>
                                      </m:e>
                                      <m:sub>
                                        <m:r>
                                          <a:rPr lang="es-AR" sz="1600" i="1">
                                            <a:solidFill>
                                              <a:schemeClr val="tx1"/>
                                            </a:solidFill>
                                            <a:latin typeface="Cambria Math" panose="02040503050406030204" pitchFamily="18" charset="0"/>
                                          </a:rPr>
                                          <m:t>𝑒𝑞</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r>
                                          <a:rPr lang="es-AR" sz="1600" i="1">
                                            <a:solidFill>
                                              <a:schemeClr val="tx1"/>
                                            </a:solidFill>
                                            <a:latin typeface="Cambria Math" panose="02040503050406030204" pitchFamily="18" charset="0"/>
                                          </a:rPr>
                                          <m:t>𝑟</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𝑙</m:t>
                                        </m:r>
                                      </m:sub>
                                    </m:sSub>
                                  </m:e>
                                </m:d>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den>
                                      </m:f>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𝑣</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                                                 </m:t>
                                      </m:r>
                                    </m:e>
                                  </m:mr>
                                  <m:mr>
                                    <m:e>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den>
                                            </m:f>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r>
                                              <a:rPr lang="es-MX" sz="1600" b="0" i="0" smtClean="0">
                                                <a:solidFill>
                                                  <a:schemeClr val="tx1"/>
                                                </a:solidFill>
                                                <a:latin typeface="Cambria Math" panose="02040503050406030204" pitchFamily="18" charset="0"/>
                                              </a:rPr>
                                              <m:t>       </m:t>
                                            </m:r>
                                            <m:r>
                                              <a:rPr lang="es-AR" sz="1600" i="0">
                                                <a:solidFill>
                                                  <a:schemeClr val="tx1"/>
                                                </a:solidFill>
                                                <a:latin typeface="Cambria Math" panose="02040503050406030204" pitchFamily="18" charset="0"/>
                                              </a:rPr>
                                              <m:t>                                                                                    </m:t>
                                            </m:r>
                                          </m:e>
                                        </m:m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𝐶</m:t>
                                                    </m:r>
                                                  </m:e>
                                                  <m:sub>
                                                    <m:r>
                                                      <a:rPr lang="es-AR" sz="1600" i="1">
                                                        <a:solidFill>
                                                          <a:schemeClr val="tx1"/>
                                                        </a:solidFill>
                                                        <a:latin typeface="Cambria Math" panose="02040503050406030204" pitchFamily="18" charset="0"/>
                                                      </a:rPr>
                                                      <m:t>𝑡𝑠</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r>
                                                      <a:rPr lang="es-AR" sz="1600" i="0">
                                                        <a:solidFill>
                                                          <a:schemeClr val="tx1"/>
                                                        </a:solidFill>
                                                        <a:latin typeface="Cambria Math" panose="02040503050406030204" pitchFamily="18" charset="0"/>
                                                      </a:rPr>
                                                      <m:t>+</m:t>
                                                    </m:r>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𝑡𝑠</m:t>
                                                        </m:r>
                                                        <m:r>
                                                          <a:rPr lang="es-AR" sz="1600" i="0">
                                                            <a:solidFill>
                                                              <a:schemeClr val="tx1"/>
                                                            </a:solidFill>
                                                            <a:latin typeface="Cambria Math" panose="02040503050406030204" pitchFamily="18" charset="0"/>
                                                          </a:rPr>
                                                          <m:t>−</m:t>
                                                        </m:r>
                                                        <m:r>
                                                          <a:rPr lang="es-AR" sz="1600" i="1">
                                                            <a:solidFill>
                                                              <a:schemeClr val="tx1"/>
                                                            </a:solidFill>
                                                            <a:latin typeface="Cambria Math" panose="02040503050406030204" pitchFamily="18" charset="0"/>
                                                          </a:rPr>
                                                          <m:t>𝑎𝑚𝑏</m:t>
                                                        </m:r>
                                                      </m:sub>
                                                    </m:sSub>
                                                  </m:den>
                                                </m:f>
                                                <m:d>
                                                  <m:dPr>
                                                    <m:ctrlPr>
                                                      <a:rPr lang="es-AR" sz="1600" i="1" smtClean="0">
                                                        <a:solidFill>
                                                          <a:schemeClr val="tx1"/>
                                                        </a:solidFill>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𝑎𝑚𝑏</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e>
                                            </m:d>
                                          </m:e>
                                        </m:mr>
                                      </m:m>
                                    </m:e>
                                  </m:mr>
                                </m:m>
                              </m:e>
                            </m:mr>
                          </m:m>
                        </m:e>
                      </m:d>
                    </m:oMath>
                  </m:oMathPara>
                </a14:m>
                <a:endParaRPr lang="es-AR" dirty="0"/>
              </a:p>
            </p:txBody>
          </p:sp>
        </mc:Choice>
        <mc:Fallback xmlns="">
          <p:sp>
            <p:nvSpPr>
              <p:cNvPr id="13" name="CuadroTexto 12">
                <a:extLst>
                  <a:ext uri="{FF2B5EF4-FFF2-40B4-BE49-F238E27FC236}">
                    <a16:creationId xmlns:a16="http://schemas.microsoft.com/office/drawing/2014/main" id="{2BE6C7E4-D7C6-45B7-B9D9-2A4E91B5FEC0}"/>
                  </a:ext>
                </a:extLst>
              </p:cNvPr>
              <p:cNvSpPr txBox="1">
                <a:spLocks noRot="1" noChangeAspect="1" noMove="1" noResize="1" noEditPoints="1" noAdjustHandles="1" noChangeArrowheads="1" noChangeShapeType="1" noTextEdit="1"/>
              </p:cNvSpPr>
              <p:nvPr/>
            </p:nvSpPr>
            <p:spPr>
              <a:xfrm>
                <a:off x="499143" y="1421383"/>
                <a:ext cx="6455329" cy="2777812"/>
              </a:xfrm>
              <a:prstGeom prst="rect">
                <a:avLst/>
              </a:prstGeom>
              <a:blipFill>
                <a:blip r:embed="rId2"/>
                <a:stretch>
                  <a:fillRect r="-378"/>
                </a:stretch>
              </a:blipFill>
            </p:spPr>
            <p:txBody>
              <a:bodyPr/>
              <a:lstStyle/>
              <a:p>
                <a:r>
                  <a:rPr lang="es-AR">
                    <a:noFill/>
                  </a:rPr>
                  <a:t> </a:t>
                </a:r>
              </a:p>
            </p:txBody>
          </p:sp>
        </mc:Fallback>
      </mc:AlternateContent>
    </p:spTree>
    <p:extLst>
      <p:ext uri="{BB962C8B-B14F-4D97-AF65-F5344CB8AC3E}">
        <p14:creationId xmlns:p14="http://schemas.microsoft.com/office/powerpoint/2010/main" val="4061875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22" name="Imagen 21">
            <a:extLst>
              <a:ext uri="{FF2B5EF4-FFF2-40B4-BE49-F238E27FC236}">
                <a16:creationId xmlns:a16="http://schemas.microsoft.com/office/drawing/2014/main" id="{9C1DD316-F0A1-461D-97D4-E1C6320DCC20}"/>
              </a:ext>
            </a:extLst>
          </p:cNvPr>
          <p:cNvPicPr>
            <a:picLocks noChangeAspect="1"/>
          </p:cNvPicPr>
          <p:nvPr/>
        </p:nvPicPr>
        <p:blipFill rotWithShape="1">
          <a:blip r:embed="rId2"/>
          <a:srcRect r="-4037"/>
          <a:stretch/>
        </p:blipFill>
        <p:spPr>
          <a:xfrm>
            <a:off x="1834064" y="739997"/>
            <a:ext cx="8283059" cy="5120757"/>
          </a:xfrm>
          <a:prstGeom prst="rect">
            <a:avLst/>
          </a:prstGeom>
        </p:spPr>
      </p:pic>
      <p:sp>
        <p:nvSpPr>
          <p:cNvPr id="24" name="CuadroTexto 23">
            <a:extLst>
              <a:ext uri="{FF2B5EF4-FFF2-40B4-BE49-F238E27FC236}">
                <a16:creationId xmlns:a16="http://schemas.microsoft.com/office/drawing/2014/main" id="{530C68AD-0AAA-41B5-BBAF-EB9F06BE5615}"/>
              </a:ext>
            </a:extLst>
          </p:cNvPr>
          <p:cNvSpPr txBox="1"/>
          <p:nvPr/>
        </p:nvSpPr>
        <p:spPr>
          <a:xfrm>
            <a:off x="2228116" y="595146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11— Sistema LTI </a:t>
            </a:r>
            <a:r>
              <a:rPr lang="en-US" sz="1100" i="1" dirty="0" err="1">
                <a:solidFill>
                  <a:srgbClr val="224488"/>
                </a:solidFill>
                <a:latin typeface="Calibri" pitchFamily="34" charset="0"/>
                <a:ea typeface="Calibri" pitchFamily="34" charset="-122"/>
                <a:cs typeface="Calibri" pitchFamily="34" charset="-120"/>
              </a:rPr>
              <a:t>equivalente</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aumentado</a:t>
            </a:r>
            <a:endParaRPr lang="en-US" sz="1100" dirty="0"/>
          </a:p>
        </p:txBody>
      </p:sp>
    </p:spTree>
    <p:extLst>
      <p:ext uri="{BB962C8B-B14F-4D97-AF65-F5344CB8AC3E}">
        <p14:creationId xmlns:p14="http://schemas.microsoft.com/office/powerpoint/2010/main" val="38241609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14">
            <a:extLst>
              <a:ext uri="{FF2B5EF4-FFF2-40B4-BE49-F238E27FC236}">
                <a16:creationId xmlns:a16="http://schemas.microsoft.com/office/drawing/2014/main" id="{77FA8158-E83D-437F-86A0-D999DF4DA36E}"/>
              </a:ext>
            </a:extLst>
          </p:cNvPr>
          <p:cNvSpPr/>
          <p:nvPr/>
        </p:nvSpPr>
        <p:spPr>
          <a:xfrm>
            <a:off x="365760" y="4523925"/>
            <a:ext cx="11672360" cy="769141"/>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109728"/>
            <a:ext cx="3198824" cy="415498"/>
          </a:xfrm>
          <a:prstGeom prst="rect">
            <a:avLst/>
          </a:prstGeom>
          <a:noFill/>
        </p:spPr>
        <p:txBody>
          <a:bodyPr wrap="none">
            <a:spAutoFit/>
          </a:bodyPr>
          <a:lstStyle/>
          <a:p>
            <a:pPr algn="l"/>
            <a:r>
              <a:rPr lang="es-AR" sz="2100" b="1" dirty="0">
                <a:solidFill>
                  <a:srgbClr val="FFFFFF"/>
                </a:solidFill>
                <a:latin typeface="Cambria"/>
              </a:rPr>
              <a:t>Comparación LTI vs. LPV</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31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523861"/>
              </a:xfrm>
              <a:prstGeom prst="rect">
                <a:avLst/>
              </a:prstGeom>
              <a:noFill/>
            </p:spPr>
            <p:txBody>
              <a:bodyPr wrap="square">
                <a:spAutoFit/>
              </a:bodyPr>
              <a:lstStyle/>
              <a:p>
                <a:r>
                  <a:rPr lang="es-AR" sz="1400" b="0" i="0" dirty="0">
                    <a:solidFill>
                      <a:srgbClr val="1A1A2E"/>
                    </a:solidFill>
                    <a:latin typeface="Calibri"/>
                  </a:rPr>
                  <a:t>El modelo global LPV no impone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0" i="0" dirty="0">
                    <a:solidFill>
                      <a:srgbClr val="1A1A2E"/>
                    </a:solidFill>
                    <a:latin typeface="Calibri"/>
                  </a:rPr>
                  <a:t>, por lo que representa con mayor fidelidad al sistema real. El modelo LTI equivalente es una simplificación construida a partir de fijar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a:rPr lang="es-AR" sz="1400">
                        <a:latin typeface="Cambria Math" panose="02040503050406030204" pitchFamily="18" charset="0"/>
                      </a:rPr>
                      <m:t>0</m:t>
                    </m:r>
                  </m:oMath>
                </a14:m>
                <a:r>
                  <a:rPr lang="es-AR" sz="1400" b="0" i="0" dirty="0">
                    <a:solidFill>
                      <a:srgbClr val="1A1A2E"/>
                    </a:solidFill>
                    <a:latin typeface="Calibri"/>
                  </a:rPr>
                  <a:t> para desacoplar las dinámicas d–q.</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523861"/>
              </a:xfrm>
              <a:prstGeom prst="rect">
                <a:avLst/>
              </a:prstGeom>
              <a:blipFill>
                <a:blip r:embed="rId2"/>
                <a:stretch>
                  <a:fillRect l="-160" t="-2353" b="-11765"/>
                </a:stretch>
              </a:blipFill>
            </p:spPr>
            <p:txBody>
              <a:bodyPr/>
              <a:lstStyle/>
              <a:p>
                <a:r>
                  <a:rPr lang="es-AR">
                    <a:noFill/>
                  </a:rPr>
                  <a:t> </a:t>
                </a:r>
              </a:p>
            </p:txBody>
          </p:sp>
        </mc:Fallback>
      </mc:AlternateContent>
      <p:sp>
        <p:nvSpPr>
          <p:cNvPr id="8" name="TextBox 7"/>
          <p:cNvSpPr txBox="1"/>
          <p:nvPr/>
        </p:nvSpPr>
        <p:spPr>
          <a:xfrm>
            <a:off x="365760" y="1572768"/>
            <a:ext cx="5486400" cy="347472"/>
          </a:xfrm>
          <a:prstGeom prst="rect">
            <a:avLst/>
          </a:prstGeom>
          <a:noFill/>
        </p:spPr>
        <p:txBody>
          <a:bodyPr wrap="square">
            <a:spAutoFit/>
          </a:bodyPr>
          <a:lstStyle/>
          <a:p>
            <a:pPr algn="l"/>
            <a:r>
              <a:rPr sz="1400" b="1" i="0">
                <a:solidFill>
                  <a:srgbClr val="1A3A6B"/>
                </a:solidFill>
                <a:latin typeface="Calibri"/>
              </a:rPr>
              <a:t>Ventajas del modelo LPV:</a:t>
            </a:r>
          </a:p>
        </p:txBody>
      </p:sp>
      <mc:AlternateContent xmlns:mc="http://schemas.openxmlformats.org/markup-compatibility/2006" xmlns:a14="http://schemas.microsoft.com/office/drawing/2010/main">
        <mc:Choice Requires="a14">
          <p:sp>
            <p:nvSpPr>
              <p:cNvPr id="9" name="TextBox 8"/>
              <p:cNvSpPr txBox="1"/>
              <p:nvPr/>
            </p:nvSpPr>
            <p:spPr>
              <a:xfrm>
                <a:off x="365760" y="1965960"/>
                <a:ext cx="5486400" cy="818173"/>
              </a:xfrm>
              <a:prstGeom prst="rect">
                <a:avLst/>
              </a:prstGeom>
              <a:noFill/>
            </p:spPr>
            <p:txBody>
              <a:bodyPr wrap="square">
                <a:spAutoFit/>
              </a:bodyPr>
              <a:lstStyle/>
              <a:p>
                <a:r>
                  <a:rPr lang="es-AR" sz="1350" dirty="0">
                    <a:solidFill>
                      <a:srgbClr val="1A1A2E"/>
                    </a:solidFill>
                    <a:latin typeface="Calibri"/>
                  </a:rPr>
                  <a:t>Conserva los acoplamientos y no linealidades del sistema real</a:t>
                </a:r>
              </a:p>
              <a:p>
                <a:pPr>
                  <a:spcBef>
                    <a:spcPts val="400"/>
                  </a:spcBef>
                </a:pPr>
                <a:r>
                  <a:rPr lang="es-AR" sz="1350" dirty="0">
                    <a:solidFill>
                      <a:srgbClr val="1A1A2E"/>
                    </a:solidFill>
                    <a:latin typeface="Calibri"/>
                  </a:rPr>
                  <a:t>Mayor validez para distintos regímenes de operación (no solo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a:p>
                <a:pPr>
                  <a:spcBef>
                    <a:spcPts val="400"/>
                  </a:spcBef>
                </a:pPr>
                <a:r>
                  <a:rPr lang="es-AR" sz="1350" dirty="0">
                    <a:solidFill>
                      <a:srgbClr val="1A1A2E"/>
                    </a:solidFill>
                    <a:latin typeface="Calibri"/>
                  </a:rPr>
                  <a:t>Permite simular el efecto del campo magnético en el torque para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p:txBody>
          </p:sp>
        </mc:Choice>
        <mc:Fallback xmlns="">
          <p:sp>
            <p:nvSpPr>
              <p:cNvPr id="9" name="TextBox 8"/>
              <p:cNvSpPr txBox="1">
                <a:spLocks noRot="1" noChangeAspect="1" noMove="1" noResize="1" noEditPoints="1" noAdjustHandles="1" noChangeArrowheads="1" noChangeShapeType="1" noTextEdit="1"/>
              </p:cNvSpPr>
              <p:nvPr/>
            </p:nvSpPr>
            <p:spPr>
              <a:xfrm>
                <a:off x="365760" y="1965960"/>
                <a:ext cx="5486400" cy="818173"/>
              </a:xfrm>
              <a:prstGeom prst="rect">
                <a:avLst/>
              </a:prstGeom>
              <a:blipFill>
                <a:blip r:embed="rId3"/>
                <a:stretch>
                  <a:fillRect l="-222" t="-1493" b="-5970"/>
                </a:stretch>
              </a:blipFill>
            </p:spPr>
            <p:txBody>
              <a:bodyPr/>
              <a:lstStyle/>
              <a:p>
                <a:r>
                  <a:rPr lang="es-AR">
                    <a:noFill/>
                  </a:rPr>
                  <a:t> </a:t>
                </a:r>
              </a:p>
            </p:txBody>
          </p:sp>
        </mc:Fallback>
      </mc:AlternateContent>
      <p:sp>
        <p:nvSpPr>
          <p:cNvPr id="10" name="TextBox 9"/>
          <p:cNvSpPr txBox="1"/>
          <p:nvPr/>
        </p:nvSpPr>
        <p:spPr>
          <a:xfrm>
            <a:off x="6217920" y="1572768"/>
            <a:ext cx="5486400" cy="347472"/>
          </a:xfrm>
          <a:prstGeom prst="rect">
            <a:avLst/>
          </a:prstGeom>
          <a:noFill/>
        </p:spPr>
        <p:txBody>
          <a:bodyPr wrap="square">
            <a:spAutoFit/>
          </a:bodyPr>
          <a:lstStyle/>
          <a:p>
            <a:pPr algn="l"/>
            <a:r>
              <a:rPr sz="1400" b="1" i="0">
                <a:solidFill>
                  <a:srgbClr val="1A3A6B"/>
                </a:solidFill>
                <a:latin typeface="Calibri"/>
              </a:rPr>
              <a:t>Ventajas del modelo LTI:</a:t>
            </a:r>
          </a:p>
        </p:txBody>
      </p:sp>
      <p:sp>
        <p:nvSpPr>
          <p:cNvPr id="11" name="TextBox 10"/>
          <p:cNvSpPr txBox="1"/>
          <p:nvPr/>
        </p:nvSpPr>
        <p:spPr>
          <a:xfrm>
            <a:off x="6217920" y="1965960"/>
            <a:ext cx="5486400" cy="559127"/>
          </a:xfrm>
          <a:prstGeom prst="rect">
            <a:avLst/>
          </a:prstGeom>
          <a:noFill/>
        </p:spPr>
        <p:txBody>
          <a:bodyPr wrap="square">
            <a:spAutoFit/>
          </a:bodyPr>
          <a:lstStyle/>
          <a:p>
            <a:pPr>
              <a:spcBef>
                <a:spcPts val="400"/>
              </a:spcBef>
            </a:pPr>
            <a:r>
              <a:rPr lang="es-AR" sz="1350" dirty="0">
                <a:solidFill>
                  <a:srgbClr val="1A1A2E"/>
                </a:solidFill>
                <a:latin typeface="Calibri"/>
              </a:rPr>
              <a:t>Verificación analítica de observabilidad y controlabilidad</a:t>
            </a:r>
          </a:p>
          <a:p>
            <a:pPr>
              <a:spcBef>
                <a:spcPts val="400"/>
              </a:spcBef>
            </a:pPr>
            <a:r>
              <a:rPr lang="es-AR" sz="1350" dirty="0">
                <a:solidFill>
                  <a:srgbClr val="1A1A2E"/>
                </a:solidFill>
                <a:latin typeface="Calibri"/>
              </a:rPr>
              <a:t>Simplifica el diseño al desacoplar las dinámicas q y d</a:t>
            </a:r>
          </a:p>
        </p:txBody>
      </p:sp>
      <p:sp>
        <p:nvSpPr>
          <p:cNvPr id="12" name="Rectangle 11"/>
          <p:cNvSpPr/>
          <p:nvPr/>
        </p:nvSpPr>
        <p:spPr>
          <a:xfrm>
            <a:off x="5840175" y="1580545"/>
            <a:ext cx="9144" cy="2423160"/>
          </a:xfrm>
          <a:prstGeom prst="rect">
            <a:avLst/>
          </a:prstGeom>
          <a:solidFill>
            <a:srgbClr val="D0D8E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20345" y="3967578"/>
                <a:ext cx="11430000" cy="313291"/>
              </a:xfrm>
              <a:prstGeom prst="rect">
                <a:avLst/>
              </a:prstGeom>
              <a:noFill/>
            </p:spPr>
            <p:txBody>
              <a:bodyPr wrap="square">
                <a:spAutoFit/>
              </a:bodyPr>
              <a:lstStyle/>
              <a:p>
                <a:pPr algn="l"/>
                <a:r>
                  <a:rPr lang="es-AR" sz="1400" b="1" i="0" dirty="0">
                    <a:solidFill>
                      <a:srgbClr val="1A3A6B"/>
                    </a:solidFill>
                    <a:latin typeface="Calibri"/>
                  </a:rPr>
                  <a:t>Efecto de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1" i="0" dirty="0">
                    <a:solidFill>
                      <a:srgbClr val="1A3A6B"/>
                    </a:solidFill>
                    <a:latin typeface="Calibri"/>
                  </a:rPr>
                  <a:t> sobre el torque:</a:t>
                </a:r>
              </a:p>
            </p:txBody>
          </p:sp>
        </mc:Choice>
        <mc:Fallback xmlns="">
          <p:sp>
            <p:nvSpPr>
              <p:cNvPr id="13" name="TextBox 12"/>
              <p:cNvSpPr txBox="1">
                <a:spLocks noRot="1" noChangeAspect="1" noMove="1" noResize="1" noEditPoints="1" noAdjustHandles="1" noChangeArrowheads="1" noChangeShapeType="1" noTextEdit="1"/>
              </p:cNvSpPr>
              <p:nvPr/>
            </p:nvSpPr>
            <p:spPr>
              <a:xfrm>
                <a:off x="320345" y="3967578"/>
                <a:ext cx="11430000" cy="313291"/>
              </a:xfrm>
              <a:prstGeom prst="rect">
                <a:avLst/>
              </a:prstGeom>
              <a:blipFill>
                <a:blip r:embed="rId4"/>
                <a:stretch>
                  <a:fillRect l="-160" t="-3922" b="-1764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66699" y="4667421"/>
                <a:ext cx="11658295" cy="47564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𝑝</m:t>
                        </m:r>
                      </m:sub>
                    </m:sSub>
                    <m:d>
                      <m:dPr>
                        <m:begChr m:val="["/>
                        <m:endChr m:val="]"/>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m:t>
                                </m:r>
                              </m:sub>
                            </m:s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m:t>
                                </m:r>
                              </m:sub>
                            </m:sSub>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MX" sz="1400" b="1" dirty="0">
                    <a:solidFill>
                      <a:schemeClr val="tx1"/>
                    </a:solidFill>
                    <a:latin typeface="Calibri"/>
                  </a:rPr>
                  <a:t>;	 	</a:t>
                </a:r>
                <a14:m>
                  <m:oMath xmlns:m="http://schemas.openxmlformats.org/officeDocument/2006/math">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den>
                    </m:f>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oMath>
                </a14:m>
                <a:r>
                  <a:rPr lang="es-MX"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MX" sz="1400" b="0" i="0" smtClean="0">
                            <a:solidFill>
                              <a:schemeClr val="tx1"/>
                            </a:solidFill>
                            <a:latin typeface="Cambria Math" panose="02040503050406030204" pitchFamily="18" charset="0"/>
                          </a:rPr>
                          <m:t> </m:t>
                        </m:r>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en>
                    </m:f>
                  </m:oMath>
                </a14:m>
                <a:r>
                  <a:rPr lang="es-MX" sz="1100" b="1" dirty="0">
                    <a:solidFill>
                      <a:srgbClr val="1B6B2A"/>
                    </a:solidFill>
                    <a:latin typeface="Calibri"/>
                  </a:rPr>
                  <a:t>	</a:t>
                </a:r>
                <a:endParaRPr sz="1100" b="1" dirty="0">
                  <a:solidFill>
                    <a:srgbClr val="1B6B2A"/>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266699" y="4667421"/>
                <a:ext cx="11658295" cy="475643"/>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65760" y="5424883"/>
                <a:ext cx="11430000" cy="833883"/>
              </a:xfrm>
              <a:prstGeom prst="rect">
                <a:avLst/>
              </a:prstGeom>
              <a:noFill/>
            </p:spPr>
            <p:txBody>
              <a:bodyPr wrap="square">
                <a:spAutoFit/>
              </a:bodyPr>
              <a:lstStyle/>
              <a:p>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&gt; 0  →  field forcing: refuerza el flujo → ↑ torque disponible, ↓ velocidad para igual potencia</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&lt; 0  →  field weakening: debilita el flujo → ↓ torque, permite ↑ velocidades de rotación</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 0  →  ley de control mínima: flujo determinado solo por los imanes permanentes (</a:t>
                </a:r>
                <a14:m>
                  <m:oMath xmlns:m="http://schemas.openxmlformats.org/officeDocument/2006/math">
                    <m:sSubSup>
                      <m:sSubSupPr>
                        <m:ctrlPr>
                          <a:rPr lang="es-AR" sz="1200" i="1">
                            <a:latin typeface="Cambria Math" panose="02040503050406030204" pitchFamily="18" charset="0"/>
                            <a:ea typeface="Times New Roman" panose="02020603050405020304" pitchFamily="18" charset="0"/>
                            <a:cs typeface="Calibri" panose="020F0502020204030204" pitchFamily="34" charset="0"/>
                          </a:rPr>
                        </m:ctrlPr>
                      </m:sSubSupPr>
                      <m:e>
                        <m:r>
                          <a:rPr lang="es-AR" sz="1200" i="1">
                            <a:latin typeface="Cambria Math" panose="02040503050406030204" pitchFamily="18" charset="0"/>
                            <a:ea typeface="Times New Roman" panose="02020603050405020304" pitchFamily="18" charset="0"/>
                            <a:cs typeface="Calibri" panose="020F0502020204030204" pitchFamily="34" charset="0"/>
                          </a:rPr>
                          <m:t>𝜆</m:t>
                        </m:r>
                      </m:e>
                      <m:sub>
                        <m:r>
                          <a:rPr lang="es-AR" sz="1200" i="1">
                            <a:latin typeface="Cambria Math" panose="02040503050406030204" pitchFamily="18" charset="0"/>
                            <a:ea typeface="Times New Roman" panose="02020603050405020304" pitchFamily="18" charset="0"/>
                            <a:cs typeface="Calibri" panose="020F0502020204030204" pitchFamily="34" charset="0"/>
                          </a:rPr>
                          <m:t>𝑚</m:t>
                        </m:r>
                      </m:sub>
                      <m:sup>
                        <m:r>
                          <a:rPr lang="es-AR" sz="1200" i="1">
                            <a:latin typeface="Cambria Math" panose="02040503050406030204" pitchFamily="18" charset="0"/>
                            <a:ea typeface="Times New Roman" panose="02020603050405020304" pitchFamily="18" charset="0"/>
                            <a:cs typeface="Calibri" panose="020F0502020204030204" pitchFamily="34" charset="0"/>
                          </a:rPr>
                          <m:t>ˊ</m:t>
                        </m:r>
                        <m:r>
                          <a:rPr lang="es-AR" sz="1200" i="1">
                            <a:latin typeface="Cambria Math" panose="02040503050406030204" pitchFamily="18" charset="0"/>
                            <a:ea typeface="Times New Roman" panose="02020603050405020304" pitchFamily="18" charset="0"/>
                            <a:cs typeface="Calibri" panose="020F0502020204030204" pitchFamily="34" charset="0"/>
                          </a:rPr>
                          <m:t>𝑟</m:t>
                        </m:r>
                      </m:sup>
                    </m:sSubSup>
                  </m:oMath>
                </a14:m>
                <a:r>
                  <a:rPr lang="es-AR" sz="1350" b="0" dirty="0">
                    <a:solidFill>
                      <a:srgbClr val="1A1A2E"/>
                    </a:solidFill>
                    <a:latin typeface="Calibri"/>
                  </a:rPr>
                  <a:t>)</a:t>
                </a:r>
              </a:p>
            </p:txBody>
          </p:sp>
        </mc:Choice>
        <mc:Fallback xmlns="">
          <p:sp>
            <p:nvSpPr>
              <p:cNvPr id="16" name="TextBox 15"/>
              <p:cNvSpPr txBox="1">
                <a:spLocks noRot="1" noChangeAspect="1" noMove="1" noResize="1" noEditPoints="1" noAdjustHandles="1" noChangeArrowheads="1" noChangeShapeType="1" noTextEdit="1"/>
              </p:cNvSpPr>
              <p:nvPr/>
            </p:nvSpPr>
            <p:spPr>
              <a:xfrm>
                <a:off x="365760" y="5424883"/>
                <a:ext cx="11430000" cy="833883"/>
              </a:xfrm>
              <a:prstGeom prst="rect">
                <a:avLst/>
              </a:prstGeom>
              <a:blipFill>
                <a:blip r:embed="rId6"/>
                <a:stretch>
                  <a:fillRect t="-1460" b="-4380"/>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E9AB88BD-473F-457C-BE0D-6B5E7369D8B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035A1F7F-6008-498D-AE98-60FE7149D92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14">
            <a:extLst>
              <a:ext uri="{FF2B5EF4-FFF2-40B4-BE49-F238E27FC236}">
                <a16:creationId xmlns:a16="http://schemas.microsoft.com/office/drawing/2014/main" id="{CCB4F42B-FF07-42F3-97D6-1CA0C4F3A1E7}"/>
              </a:ext>
            </a:extLst>
          </p:cNvPr>
          <p:cNvSpPr/>
          <p:nvPr/>
        </p:nvSpPr>
        <p:spPr>
          <a:xfrm>
            <a:off x="365761" y="4291343"/>
            <a:ext cx="11672360" cy="532232"/>
          </a:xfrm>
          <a:prstGeom prst="rect">
            <a:avLst/>
          </a:prstGeom>
          <a:solidFill>
            <a:srgbClr val="FFF8E8"/>
          </a:solidFill>
          <a:ln w="19050">
            <a:solidFill>
              <a:srgbClr val="DDAA00"/>
            </a:solidFill>
            <a:prstDash val="solid"/>
          </a:ln>
        </p:spPr>
      </p:sp>
      <p:sp>
        <p:nvSpPr>
          <p:cNvPr id="28" name="Shape 14">
            <a:extLst>
              <a:ext uri="{FF2B5EF4-FFF2-40B4-BE49-F238E27FC236}">
                <a16:creationId xmlns:a16="http://schemas.microsoft.com/office/drawing/2014/main" id="{30A7FC32-B579-492E-95AB-80EF5ADA18AB}"/>
              </a:ext>
            </a:extLst>
          </p:cNvPr>
          <p:cNvSpPr/>
          <p:nvPr/>
        </p:nvSpPr>
        <p:spPr>
          <a:xfrm>
            <a:off x="365761" y="2779438"/>
            <a:ext cx="11672360" cy="849939"/>
          </a:xfrm>
          <a:prstGeom prst="rect">
            <a:avLst/>
          </a:prstGeom>
          <a:solidFill>
            <a:srgbClr val="FFF8E8"/>
          </a:solidFill>
          <a:ln w="19050">
            <a:solidFill>
              <a:srgbClr val="DDAA00"/>
            </a:solidFill>
            <a:prstDash val="solid"/>
          </a:ln>
        </p:spPr>
      </p:sp>
      <p:sp>
        <p:nvSpPr>
          <p:cNvPr id="27" name="Shape 14">
            <a:extLst>
              <a:ext uri="{FF2B5EF4-FFF2-40B4-BE49-F238E27FC236}">
                <a16:creationId xmlns:a16="http://schemas.microsoft.com/office/drawing/2014/main" id="{7F284CDE-44D1-4B6E-822E-2A01AF52DF8B}"/>
              </a:ext>
            </a:extLst>
          </p:cNvPr>
          <p:cNvSpPr/>
          <p:nvPr/>
        </p:nvSpPr>
        <p:spPr>
          <a:xfrm>
            <a:off x="365761" y="1111971"/>
            <a:ext cx="11551614" cy="1197942"/>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Funciones de transferencia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380847" y="711464"/>
            <a:ext cx="11430000" cy="307777"/>
          </a:xfrm>
          <a:prstGeom prst="rect">
            <a:avLst/>
          </a:prstGeom>
          <a:noFill/>
        </p:spPr>
        <p:txBody>
          <a:bodyPr wrap="square">
            <a:spAutoFit/>
          </a:bodyPr>
          <a:lstStyle/>
          <a:p>
            <a:pPr algn="l"/>
            <a:r>
              <a:rPr lang="es-AR" sz="1400" b="0" i="0" dirty="0">
                <a:solidFill>
                  <a:srgbClr val="1A1A2E"/>
                </a:solidFill>
                <a:latin typeface="Calibri"/>
              </a:rPr>
              <a:t>Aplicando la Transformada de Laplace al sistema LTI simplificado (condiciones iniciales nulas):</a:t>
            </a:r>
          </a:p>
        </p:txBody>
      </p:sp>
      <mc:AlternateContent xmlns:mc="http://schemas.openxmlformats.org/markup-compatibility/2006" xmlns:a14="http://schemas.microsoft.com/office/drawing/2010/main">
        <mc:Choice Requires="a14">
          <p:sp>
            <p:nvSpPr>
              <p:cNvPr id="9" name="TextBox 8"/>
              <p:cNvSpPr txBox="1"/>
              <p:nvPr/>
            </p:nvSpPr>
            <p:spPr>
              <a:xfrm>
                <a:off x="457200" y="1135878"/>
                <a:ext cx="4025136" cy="114800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dPr>
                        <m:e>
                          <m:m>
                            <m:mPr>
                              <m:mcs>
                                <m:mc>
                                  <m:mcPr>
                                    <m:count m:val="1"/>
                                    <m:mcJc m:val="center"/>
                                  </m:mcPr>
                                </m:mc>
                              </m:mcs>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mP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Θ</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MX" sz="1400" b="0" i="1" smtClean="0">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𝑏</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den>
                                    </m:f>
                                  </m:e>
                                </m:d>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57200" y="1135878"/>
                <a:ext cx="4025136" cy="1148007"/>
              </a:xfrm>
              <a:prstGeom prst="rect">
                <a:avLst/>
              </a:prstGeom>
              <a:blipFill>
                <a:blip r:embed="rId2"/>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13EA3122-FBB3-4F37-A939-4DB98854FCE6}"/>
              </a:ext>
            </a:extLst>
          </p:cNvPr>
          <p:cNvSpPr txBox="1"/>
          <p:nvPr/>
        </p:nvSpPr>
        <p:spPr>
          <a:xfrm>
            <a:off x="365760" y="2325557"/>
            <a:ext cx="7925984" cy="369332"/>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Por</a:t>
            </a:r>
            <a:r>
              <a:rPr lang="es-AR" sz="1800" dirty="0">
                <a:effectLst/>
                <a:latin typeface="Calibri" panose="020F0502020204030204" pitchFamily="34" charset="0"/>
                <a:ea typeface="Calibri" panose="020F0502020204030204" pitchFamily="34"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lo tanto, las funciones de transferencia resultan:</a:t>
            </a:r>
            <a:endParaRPr lang="es-AR" sz="1400" dirty="0"/>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5A6A7BCB-C69A-43DC-B8F0-757517C9C07B}"/>
                  </a:ext>
                </a:extLst>
              </p:cNvPr>
              <p:cNvSpPr txBox="1"/>
              <p:nvPr/>
            </p:nvSpPr>
            <p:spPr>
              <a:xfrm>
                <a:off x="-649847" y="2858879"/>
                <a:ext cx="11368735" cy="591829"/>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3</m:t>
                                </m:r>
                              </m:num>
                              <m:den>
                                <m:r>
                                  <a:rPr lang="es-AR" sz="1400" i="1">
                                    <a:solidFill>
                                      <a:schemeClr val="tx1"/>
                                    </a:solidFill>
                                    <a:latin typeface="Cambria Math" panose="02040503050406030204" pitchFamily="18" charset="0"/>
                                  </a:rPr>
                                  <m:t>2</m:t>
                                </m:r>
                              </m:den>
                            </m:f>
                          </m:e>
                        </m:box>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ˊ</m:t>
                            </m:r>
                            <m:r>
                              <a:rPr lang="es-AR" sz="1400" i="1">
                                <a:solidFill>
                                  <a:schemeClr val="tx1"/>
                                </a:solidFill>
                                <a:latin typeface="Cambria Math" panose="02040503050406030204" pitchFamily="18" charset="0"/>
                              </a:rPr>
                              <m:t>𝑟</m:t>
                            </m:r>
                          </m:sup>
                        </m:sSub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r>
                  <a:rPr lang="es-AR"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m:t>
                        </m:r>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e>
                        </m:box>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endParaRPr lang="es-AR" sz="1400" b="1" dirty="0">
                  <a:solidFill>
                    <a:srgbClr val="1B6B2A"/>
                  </a:solidFill>
                  <a:latin typeface="Calibri"/>
                </a:endParaRPr>
              </a:p>
            </p:txBody>
          </p:sp>
        </mc:Choice>
        <mc:Fallback xmlns="">
          <p:sp>
            <p:nvSpPr>
              <p:cNvPr id="22" name="TextBox 8">
                <a:extLst>
                  <a:ext uri="{FF2B5EF4-FFF2-40B4-BE49-F238E27FC236}">
                    <a16:creationId xmlns:a16="http://schemas.microsoft.com/office/drawing/2014/main" id="{5A6A7BCB-C69A-43DC-B8F0-757517C9C07B}"/>
                  </a:ext>
                </a:extLst>
              </p:cNvPr>
              <p:cNvSpPr txBox="1">
                <a:spLocks noRot="1" noChangeAspect="1" noMove="1" noResize="1" noEditPoints="1" noAdjustHandles="1" noChangeArrowheads="1" noChangeShapeType="1" noTextEdit="1"/>
              </p:cNvSpPr>
              <p:nvPr/>
            </p:nvSpPr>
            <p:spPr>
              <a:xfrm>
                <a:off x="-649847" y="2858879"/>
                <a:ext cx="11368735" cy="591829"/>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B3E77446-79F7-4C6B-BEA3-FADA71F20966}"/>
              </a:ext>
            </a:extLst>
          </p:cNvPr>
          <p:cNvSpPr txBox="1"/>
          <p:nvPr/>
        </p:nvSpPr>
        <p:spPr>
          <a:xfrm>
            <a:off x="365761" y="3806471"/>
            <a:ext cx="7925984" cy="30777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Entonces la respuesta completa del sistema se expresa como:</a:t>
            </a:r>
            <a:endParaRPr lang="es-AR" sz="1400" dirty="0"/>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DEED4F2C-6069-4E7B-BDD3-CD7752D9EC8B}"/>
                  </a:ext>
                </a:extLst>
              </p:cNvPr>
              <p:cNvSpPr txBox="1"/>
              <p:nvPr/>
            </p:nvSpPr>
            <p:spPr>
              <a:xfrm>
                <a:off x="-108301" y="4365670"/>
                <a:ext cx="4528493" cy="3486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m:oMathPara>
                </a14:m>
                <a:endParaRPr lang="es-AR" sz="1400" dirty="0">
                  <a:solidFill>
                    <a:schemeClr val="tx1"/>
                  </a:solidFill>
                </a:endParaRPr>
              </a:p>
            </p:txBody>
          </p:sp>
        </mc:Choice>
        <mc:Fallback xmlns="">
          <p:sp>
            <p:nvSpPr>
              <p:cNvPr id="25" name="CuadroTexto 24">
                <a:extLst>
                  <a:ext uri="{FF2B5EF4-FFF2-40B4-BE49-F238E27FC236}">
                    <a16:creationId xmlns:a16="http://schemas.microsoft.com/office/drawing/2014/main" id="{DEED4F2C-6069-4E7B-BDD3-CD7752D9EC8B}"/>
                  </a:ext>
                </a:extLst>
              </p:cNvPr>
              <p:cNvSpPr txBox="1">
                <a:spLocks noRot="1" noChangeAspect="1" noMove="1" noResize="1" noEditPoints="1" noAdjustHandles="1" noChangeArrowheads="1" noChangeShapeType="1" noTextEdit="1"/>
              </p:cNvSpPr>
              <p:nvPr/>
            </p:nvSpPr>
            <p:spPr>
              <a:xfrm>
                <a:off x="-108301" y="4365670"/>
                <a:ext cx="4528493" cy="348622"/>
              </a:xfrm>
              <a:prstGeom prst="rect">
                <a:avLst/>
              </a:prstGeom>
              <a:blipFill>
                <a:blip r:embed="rId4"/>
                <a:stretch>
                  <a:fillRect b="-1754"/>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3B6330C9-AE53-465F-8E68-60BE235EA6A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8A5A027C-DD61-4AAD-95E4-31BD96243E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FF903311-39D6-4D9C-86B1-0F4AA541792D}"/>
              </a:ext>
            </a:extLst>
          </p:cNvPr>
          <p:cNvSpPr/>
          <p:nvPr/>
        </p:nvSpPr>
        <p:spPr>
          <a:xfrm>
            <a:off x="396240" y="3189721"/>
            <a:ext cx="11672360" cy="617166"/>
          </a:xfrm>
          <a:prstGeom prst="rect">
            <a:avLst/>
          </a:prstGeom>
          <a:solidFill>
            <a:srgbClr val="FFF8E8"/>
          </a:solidFill>
          <a:ln w="19050">
            <a:solidFill>
              <a:srgbClr val="DDAA00"/>
            </a:solidFill>
            <a:prstDash val="solid"/>
          </a:ln>
        </p:spPr>
      </p:sp>
      <p:sp>
        <p:nvSpPr>
          <p:cNvPr id="18" name="Shape 14">
            <a:extLst>
              <a:ext uri="{FF2B5EF4-FFF2-40B4-BE49-F238E27FC236}">
                <a16:creationId xmlns:a16="http://schemas.microsoft.com/office/drawing/2014/main" id="{7BCAB2A3-B4A8-4194-A2BF-52D20E4135A1}"/>
              </a:ext>
            </a:extLst>
          </p:cNvPr>
          <p:cNvSpPr/>
          <p:nvPr/>
        </p:nvSpPr>
        <p:spPr>
          <a:xfrm>
            <a:off x="365760" y="1063453"/>
            <a:ext cx="11672360" cy="1380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382948"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228600" y="714794"/>
            <a:ext cx="11430000" cy="307777"/>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os polos del modelo LTI equivalente aumentado a lazo abierto se determinan imponiendo que dicho polinomio sea nulo</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sp>
            <p:nvSpPr>
              <p:cNvPr id="9" name="TextBox 8"/>
              <p:cNvSpPr txBox="1"/>
              <p:nvPr/>
            </p:nvSpPr>
            <p:spPr>
              <a:xfrm>
                <a:off x="-100668" y="1159318"/>
                <a:ext cx="8455189" cy="107965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𝑠</m:t>
                                    </m:r>
                                  </m:e>
                                  <m:sub>
                                    <m:r>
                                      <a:rPr lang="es-AR" sz="1400" i="1">
                                        <a:latin typeface="Cambria Math" panose="02040503050406030204" pitchFamily="18" charset="0"/>
                                      </a:rPr>
                                      <m:t>1</m:t>
                                    </m:r>
                                  </m:sub>
                                </m:sSub>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r>
                                      <a:rPr lang="es-AR" sz="1400" i="1">
                                        <a:latin typeface="Cambria Math" panose="02040503050406030204" pitchFamily="18" charset="0"/>
                                      </a:rPr>
                                      <m:t>𝑠</m:t>
                                    </m:r>
                                  </m:e>
                                  <m:sub>
                                    <m:r>
                                      <a:rPr lang="es-AR" sz="1400" i="1">
                                        <a:latin typeface="Cambria Math" panose="02040503050406030204" pitchFamily="18" charset="0"/>
                                      </a:rPr>
                                      <m:t>2</m:t>
                                    </m:r>
                                    <m:r>
                                      <a:rPr lang="es-AR" sz="1400" i="1">
                                        <a:latin typeface="Cambria Math" panose="02040503050406030204" pitchFamily="18" charset="0"/>
                                      </a:rPr>
                                      <m:t>,</m:t>
                                    </m:r>
                                    <m:r>
                                      <a:rPr lang="es-AR" sz="1400" i="1">
                                        <a:latin typeface="Cambria Math" panose="02040503050406030204" pitchFamily="18" charset="0"/>
                                      </a:rPr>
                                      <m:t>3</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e>
                                    </m:d>
                                    <m:r>
                                      <a:rPr lang="es-AR" sz="1400">
                                        <a:latin typeface="Cambria Math" panose="02040503050406030204" pitchFamily="18" charset="0"/>
                                      </a:rPr>
                                      <m:t>±</m:t>
                                    </m:r>
                                    <m:rad>
                                      <m:radPr>
                                        <m:degHide m:val="on"/>
                                        <m:ctrlPr>
                                          <a:rPr lang="es-AR" sz="1400" i="1">
                                            <a:latin typeface="Cambria Math" panose="02040503050406030204" pitchFamily="18" charset="0"/>
                                          </a:rPr>
                                        </m:ctrlPr>
                                      </m:radPr>
                                      <m:deg/>
                                      <m:e>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e>
                                            </m:d>
                                          </m:e>
                                          <m:sup>
                                            <m:r>
                                              <a:rPr lang="es-AR" sz="1400" i="1">
                                                <a:latin typeface="Cambria Math" panose="02040503050406030204" pitchFamily="18" charset="0"/>
                                              </a:rPr>
                                              <m:t>2</m:t>
                                            </m:r>
                                          </m:sup>
                                        </m:sSup>
                                        <m:r>
                                          <a:rPr lang="es-AR" sz="1400" i="1">
                                            <a:latin typeface="Cambria Math" panose="02040503050406030204" pitchFamily="18" charset="0"/>
                                          </a:rPr>
                                          <m:t>−</m:t>
                                        </m:r>
                                        <m:r>
                                          <a:rPr lang="es-AR" sz="1400" i="1">
                                            <a:latin typeface="Cambria Math" panose="02040503050406030204" pitchFamily="18" charset="0"/>
                                          </a:rPr>
                                          <m:t>4</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Sup>
                                              <m:sSubSupPr>
                                                <m:ctrlPr>
                                                  <a:rPr lang="es-AR" sz="1400" i="1">
                                                    <a:latin typeface="Cambria Math" panose="02040503050406030204" pitchFamily="18" charset="0"/>
                                                  </a:rPr>
                                                </m:ctrlPr>
                                              </m:sSubSupPr>
                                              <m:e>
                                                <m:r>
                                                  <a:rPr lang="es-AR" sz="1400" i="1">
                                                    <a:latin typeface="Cambria Math" panose="02040503050406030204" pitchFamily="18" charset="0"/>
                                                  </a:rPr>
                                                  <m:t>𝑃</m:t>
                                                </m:r>
                                              </m:e>
                                              <m:sub>
                                                <m:r>
                                                  <a:rPr lang="es-AR" sz="1400" i="1">
                                                    <a:latin typeface="Cambria Math" panose="02040503050406030204" pitchFamily="18" charset="0"/>
                                                  </a:rPr>
                                                  <m:t>𝑝</m:t>
                                                </m:r>
                                              </m:sub>
                                              <m:sup>
                                                <m:r>
                                                  <a:rPr lang="es-AR" sz="1400" i="1">
                                                    <a:latin typeface="Cambria Math" panose="02040503050406030204" pitchFamily="18" charset="0"/>
                                                  </a:rPr>
                                                  <m:t>2</m:t>
                                                </m:r>
                                              </m:sup>
                                            </m:sSubSup>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e>
                                    </m:rad>
                                  </m:num>
                                  <m:den>
                                    <m:r>
                                      <a:rPr lang="es-AR" sz="1400" i="1">
                                        <a:latin typeface="Cambria Math" panose="02040503050406030204" pitchFamily="18" charset="0"/>
                                      </a:rPr>
                                      <m:t>2</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en>
                                </m:f>
                              </m:e>
                            </m:mr>
                          </m:m>
                        </m:e>
                      </m:d>
                    </m:oMath>
                  </m:oMathPara>
                </a14:m>
                <a:endParaRPr lang="es-AR" sz="105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0668" y="1159318"/>
                <a:ext cx="8455189" cy="1079655"/>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337591EA-19AA-4976-8C55-51E66F24B4D0}"/>
                  </a:ext>
                </a:extLst>
              </p:cNvPr>
              <p:cNvSpPr txBox="1"/>
              <p:nvPr/>
            </p:nvSpPr>
            <p:spPr>
              <a:xfrm>
                <a:off x="335279" y="2620149"/>
                <a:ext cx="11521135" cy="510909"/>
              </a:xfrm>
              <a:prstGeom prst="rect">
                <a:avLst/>
              </a:prstGeom>
              <a:noFill/>
            </p:spPr>
            <p:txBody>
              <a:bodyPr wrap="square">
                <a:spAutoFit/>
              </a:bodyPr>
              <a:lstStyle/>
              <a:p>
                <a:pPr algn="just">
                  <a:lnSpc>
                    <a:spcPct val="107000"/>
                  </a:lnSpc>
                  <a:spcBef>
                    <a:spcPts val="1200"/>
                  </a:spcBef>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Observando las funciones de transferencia, vemos que la única que introduce ceros en el sistema es la relacionada con la entrada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𝑙</m:t>
                        </m:r>
                      </m:sub>
                    </m:sSub>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Entonces, igualando el numerador a cero:</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337591EA-19AA-4976-8C55-51E66F24B4D0}"/>
                  </a:ext>
                </a:extLst>
              </p:cNvPr>
              <p:cNvSpPr txBox="1">
                <a:spLocks noRot="1" noChangeAspect="1" noMove="1" noResize="1" noEditPoints="1" noAdjustHandles="1" noChangeArrowheads="1" noChangeShapeType="1" noTextEdit="1"/>
              </p:cNvSpPr>
              <p:nvPr/>
            </p:nvSpPr>
            <p:spPr>
              <a:xfrm>
                <a:off x="335279" y="2620149"/>
                <a:ext cx="11521135" cy="510909"/>
              </a:xfrm>
              <a:prstGeom prst="rect">
                <a:avLst/>
              </a:prstGeom>
              <a:blipFill>
                <a:blip r:embed="rId3"/>
                <a:stretch>
                  <a:fillRect l="-53" r="-53" b="-952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990F4C8-6500-4B50-A15B-AF446869707A}"/>
                  </a:ext>
                </a:extLst>
              </p:cNvPr>
              <p:cNvSpPr txBox="1"/>
              <p:nvPr/>
            </p:nvSpPr>
            <p:spPr>
              <a:xfrm>
                <a:off x="-295369" y="3187823"/>
                <a:ext cx="3143816" cy="621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𝑠</m:t>
                          </m:r>
                        </m:e>
                        <m:sub>
                          <m:r>
                            <a:rPr lang="es-AR" sz="1600" i="1">
                              <a:solidFill>
                                <a:schemeClr val="tx1"/>
                              </a:solidFill>
                              <a:latin typeface="Cambria Math" panose="02040503050406030204" pitchFamily="18" charset="0"/>
                            </a:rPr>
                            <m:t>𝑧</m:t>
                          </m:r>
                        </m:sub>
                      </m:sSub>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den>
                      </m:f>
                    </m:oMath>
                  </m:oMathPara>
                </a14:m>
                <a:endParaRPr lang="es-AR" dirty="0"/>
              </a:p>
            </p:txBody>
          </p:sp>
        </mc:Choice>
        <mc:Fallback xmlns="">
          <p:sp>
            <p:nvSpPr>
              <p:cNvPr id="24" name="CuadroTexto 23">
                <a:extLst>
                  <a:ext uri="{FF2B5EF4-FFF2-40B4-BE49-F238E27FC236}">
                    <a16:creationId xmlns:a16="http://schemas.microsoft.com/office/drawing/2014/main" id="{8990F4C8-6500-4B50-A15B-AF446869707A}"/>
                  </a:ext>
                </a:extLst>
              </p:cNvPr>
              <p:cNvSpPr txBox="1">
                <a:spLocks noRot="1" noChangeAspect="1" noMove="1" noResize="1" noEditPoints="1" noAdjustHandles="1" noChangeArrowheads="1" noChangeShapeType="1" noTextEdit="1"/>
              </p:cNvSpPr>
              <p:nvPr/>
            </p:nvSpPr>
            <p:spPr>
              <a:xfrm>
                <a:off x="-295369" y="3187823"/>
                <a:ext cx="3143816" cy="6219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203737D7-0139-42C1-AF68-D1A0321BE078}"/>
                  </a:ext>
                </a:extLst>
              </p:cNvPr>
              <p:cNvSpPr txBox="1"/>
              <p:nvPr/>
            </p:nvSpPr>
            <p:spPr>
              <a:xfrm>
                <a:off x="396240" y="3942210"/>
                <a:ext cx="11641880"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A partir de estos valores, se muestra cómo cambian los polos y ceros del sistema cuando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a:effectLst/>
                                <a:latin typeface="Cambria Math" panose="02040503050406030204" pitchFamily="18" charset="0"/>
                                <a:ea typeface="Calibri" panose="020F0502020204030204" pitchFamily="34" charset="0"/>
                                <a:cs typeface="Times New Roman" panose="02020603050405020304" pitchFamily="18" charset="0"/>
                              </a:rPr>
                              <m:t>∘</m:t>
                            </m:r>
                          </m:sup>
                        </m:sSubSup>
                      </m:e>
                    </m:d>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300" dirty="0">
                    <a:effectLst/>
                    <a:latin typeface="Calibri" panose="020F0502020204030204" pitchFamily="34" charset="0"/>
                    <a:ea typeface="Calibri" panose="020F0502020204030204" pitchFamily="34" charset="0"/>
                    <a:cs typeface="Times New Roman" panose="02020603050405020304" pitchFamily="18" charset="0"/>
                  </a:rPr>
                  <a:t>varía dentro del intervalo de temperaturas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40</m:t>
                    </m:r>
                    <m:r>
                      <a:rPr lang="es-AR" sz="1300" i="1">
                        <a:effectLst/>
                        <a:latin typeface="Cambria Math" panose="02040503050406030204" pitchFamily="18" charset="0"/>
                        <a:ea typeface="Calibri" panose="020F0502020204030204" pitchFamily="34" charset="0"/>
                        <a:cs typeface="Times New Roman" panose="02020603050405020304" pitchFamily="18" charset="0"/>
                      </a:rPr>
                      <m:t>℃</m:t>
                    </m:r>
                    <m:r>
                      <a:rPr lang="es-AR" sz="13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m:t>
                        </m:r>
                      </m:sup>
                    </m:sSubSup>
                    <m:r>
                      <a:rPr lang="es-AR" sz="1300" i="1">
                        <a:effectLst/>
                        <a:latin typeface="Cambria Math" panose="02040503050406030204" pitchFamily="18" charset="0"/>
                        <a:ea typeface="Calibri" panose="020F0502020204030204" pitchFamily="34" charset="0"/>
                        <a:cs typeface="Times New Roman" panose="02020603050405020304" pitchFamily="18" charset="0"/>
                      </a:rPr>
                      <m:t>≤</m:t>
                    </m:r>
                    <m:r>
                      <a:rPr lang="es-AR" sz="1300" i="1">
                        <a:effectLst/>
                        <a:latin typeface="Cambria Math" panose="02040503050406030204" pitchFamily="18" charset="0"/>
                        <a:ea typeface="Calibri" panose="020F0502020204030204" pitchFamily="34" charset="0"/>
                        <a:cs typeface="Times New Roman" panose="02020603050405020304" pitchFamily="18" charset="0"/>
                      </a:rPr>
                      <m:t>115</m:t>
                    </m:r>
                    <m:r>
                      <a:rPr lang="es-AR" sz="1300" i="1">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203737D7-0139-42C1-AF68-D1A0321BE078}"/>
                  </a:ext>
                </a:extLst>
              </p:cNvPr>
              <p:cNvSpPr txBox="1">
                <a:spLocks noRot="1" noChangeAspect="1" noMove="1" noResize="1" noEditPoints="1" noAdjustHandles="1" noChangeArrowheads="1" noChangeShapeType="1" noTextEdit="1"/>
              </p:cNvSpPr>
              <p:nvPr/>
            </p:nvSpPr>
            <p:spPr>
              <a:xfrm>
                <a:off x="396240" y="3942210"/>
                <a:ext cx="11641880" cy="296363"/>
              </a:xfrm>
              <a:prstGeom prst="rect">
                <a:avLst/>
              </a:prstGeom>
              <a:blipFill>
                <a:blip r:embed="rId5"/>
                <a:stretch>
                  <a:fillRect l="-52" b="-1875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19050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𝑹</m:t>
                                    </m:r>
                                  </m:e>
                                  <m:sub>
                                    <m:r>
                                      <a:rPr lang="es-AR" sz="1200">
                                        <a:effectLst/>
                                        <a:latin typeface="Cambria Math" panose="02040503050406030204" pitchFamily="18" charset="0"/>
                                      </a:rPr>
                                      <m:t>𝒔</m:t>
                                    </m:r>
                                  </m:sub>
                                </m:sSub>
                                <m:d>
                                  <m:dPr>
                                    <m:begChr m:val="["/>
                                    <m:endChr m:val="]"/>
                                    <m:ctrlPr>
                                      <a:rPr lang="es-AR" sz="1200" i="1">
                                        <a:effectLst/>
                                        <a:latin typeface="Cambria Math" panose="02040503050406030204" pitchFamily="18" charset="0"/>
                                      </a:rPr>
                                    </m:ctrlPr>
                                  </m:dPr>
                                  <m:e>
                                    <m:r>
                                      <a:rPr lang="es-AR" sz="1200">
                                        <a:effectLst/>
                                        <a:latin typeface="Cambria Math" panose="02040503050406030204" pitchFamily="18" charset="0"/>
                                      </a:rPr>
                                      <m:t>𝜴</m:t>
                                    </m:r>
                                  </m:e>
                                </m:d>
                              </m:oMath>
                            </m:oMathPara>
                          </a14:m>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Choice>
        <mc:Fallback xmlns="">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297307">
                    <a:tc>
                      <a:txBody>
                        <a:bodyPr/>
                        <a:lstStyle/>
                        <a:p>
                          <a:endParaRPr lang="es-AR"/>
                        </a:p>
                      </a:txBody>
                      <a:tcPr marL="44450" marR="44450" marT="0" marB="0" anchor="b">
                        <a:blipFill>
                          <a:blip r:embed="rId6"/>
                          <a:stretch>
                            <a:fillRect l="-617" t="-100000" r="-940741" b="-542857"/>
                          </a:stretch>
                        </a:blipFill>
                      </a:tcPr>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endParaRPr lang="es-AR"/>
                        </a:p>
                      </a:txBody>
                      <a:tcPr marL="44450" marR="44450" marT="0" marB="0" anchor="b">
                        <a:blipFill>
                          <a:blip r:embed="rId6"/>
                          <a:stretch>
                            <a:fillRect l="-505042" t="-100000" r="-103782" b="-542857"/>
                          </a:stretch>
                        </a:blipFill>
                      </a:tcPr>
                    </a:tc>
                    <a:tc>
                      <a:txBody>
                        <a:bodyPr/>
                        <a:lstStyle/>
                        <a:p>
                          <a:endParaRPr lang="es-AR"/>
                        </a:p>
                      </a:txBody>
                      <a:tcPr marL="44450" marR="44450" marT="0" marB="0" anchor="b">
                        <a:blipFill>
                          <a:blip r:embed="rId6"/>
                          <a:stretch>
                            <a:fillRect l="-592593" t="-100000" r="-1646" b="-542857"/>
                          </a:stretch>
                        </a:blipFill>
                      </a:tcPr>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Fallback>
      </mc:AlternateContent>
      <p:sp>
        <p:nvSpPr>
          <p:cNvPr id="14" name="Shape 2">
            <a:extLst>
              <a:ext uri="{FF2B5EF4-FFF2-40B4-BE49-F238E27FC236}">
                <a16:creationId xmlns:a16="http://schemas.microsoft.com/office/drawing/2014/main" id="{713C4DB4-2557-4CC5-B40B-56F1839661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159E7C06-6CD3-4BE1-8A88-E83C2573745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577791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19" name="CuadroTexto 18">
            <a:extLst>
              <a:ext uri="{FF2B5EF4-FFF2-40B4-BE49-F238E27FC236}">
                <a16:creationId xmlns:a16="http://schemas.microsoft.com/office/drawing/2014/main" id="{A0563E09-CD90-43F3-BEE4-4FEC9CEFD601}"/>
              </a:ext>
            </a:extLst>
          </p:cNvPr>
          <p:cNvSpPr txBox="1"/>
          <p:nvPr/>
        </p:nvSpPr>
        <p:spPr>
          <a:xfrm>
            <a:off x="-641887" y="584980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12— </a:t>
            </a:r>
            <a:r>
              <a:rPr lang="en-US" sz="1100" i="1" dirty="0" err="1">
                <a:solidFill>
                  <a:srgbClr val="224488"/>
                </a:solidFill>
                <a:latin typeface="Calibri" pitchFamily="34" charset="0"/>
                <a:ea typeface="Calibri" pitchFamily="34" charset="-122"/>
                <a:cs typeface="Calibri" pitchFamily="34" charset="-120"/>
              </a:rPr>
              <a:t>Variación</a:t>
            </a:r>
            <a:r>
              <a:rPr lang="en-US" sz="1100" i="1" dirty="0">
                <a:solidFill>
                  <a:srgbClr val="224488"/>
                </a:solidFill>
                <a:latin typeface="Calibri" pitchFamily="34" charset="0"/>
                <a:ea typeface="Calibri" pitchFamily="34" charset="-122"/>
                <a:cs typeface="Calibri" pitchFamily="34" charset="-120"/>
              </a:rPr>
              <a:t> de polos y ceros con Ts</a:t>
            </a:r>
            <a:endParaRPr lang="en-US" sz="1100" dirty="0"/>
          </a:p>
        </p:txBody>
      </p:sp>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tretch>
            <a:fillRect/>
          </a:stretch>
        </p:blipFill>
        <p:spPr>
          <a:xfrm>
            <a:off x="114700" y="777240"/>
            <a:ext cx="6192114" cy="4953691"/>
          </a:xfrm>
          <a:prstGeom prst="rect">
            <a:avLst/>
          </a:prstGeom>
        </p:spPr>
      </p:pic>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F7D81D3-F92F-4F11-A865-EF75714EDBDC}"/>
                  </a:ext>
                </a:extLst>
              </p:cNvPr>
              <p:cNvSpPr txBox="1"/>
              <p:nvPr/>
            </p:nvSpPr>
            <p:spPr>
              <a:xfrm>
                <a:off x="6489576" y="955610"/>
                <a:ext cx="5504156" cy="4770537"/>
              </a:xfrm>
              <a:prstGeom prst="rect">
                <a:avLst/>
              </a:prstGeom>
              <a:noFill/>
            </p:spPr>
            <p:txBody>
              <a:bodyPr wrap="square">
                <a:spAutoFit/>
              </a:bodyPr>
              <a:lstStyle/>
              <a:p>
                <a:r>
                  <a:rPr lang="es-AR" sz="1600" dirty="0">
                    <a:effectLst/>
                    <a:latin typeface="Calibri" panose="020F0502020204030204" pitchFamily="34" charset="0"/>
                    <a:ea typeface="Calibri" panose="020F0502020204030204" pitchFamily="34" charset="0"/>
                    <a:cs typeface="Times New Roman" panose="02020603050405020304" pitchFamily="18" charset="0"/>
                  </a:rPr>
                  <a:t>El sistema presenta polos con parte real negativa en todos los casos analizados, lo que indica que el modelo es estable en las condiciones consideradas.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Se observa que el incremento de la resistencia estatórica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produce un aumento del amortiguamiento del sistema, disminuyendo la magnitud de las oscilaciones y mejorando el comportamiento transitorio.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No obstante, la frecuencia natural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permanece prácticamente inalterada ante estas variaciones.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Si el valor de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se incrementa excesivamente, el sistema puede tender a un comportamiento sobre amortiguado, lo que implicaría una reducción en la rapidez de respuesta. </a:t>
                </a:r>
              </a:p>
              <a:p>
                <a:endParaRPr lang="es-AR" sz="1600" dirty="0">
                  <a:latin typeface="Calibri" panose="020F0502020204030204" pitchFamily="34" charset="0"/>
                  <a:cs typeface="Times New Roman" panose="02020603050405020304" pitchFamily="18" charset="0"/>
                </a:endParaRPr>
              </a:p>
              <a:p>
                <a:r>
                  <a:rPr lang="es-MX" sz="1600" dirty="0">
                    <a:solidFill>
                      <a:srgbClr val="1A1A2E"/>
                    </a:solidFill>
                    <a:latin typeface="Calibri"/>
                  </a:rPr>
                  <a:t>El polo s₁=0 (integrador de posición) se estabilizará con el lazo cerrado del controlador PID externo</a:t>
                </a:r>
              </a:p>
              <a:p>
                <a:endParaRPr lang="es-AR" sz="1600" dirty="0"/>
              </a:p>
            </p:txBody>
          </p:sp>
        </mc:Choice>
        <mc:Fallback xmlns="">
          <p:sp>
            <p:nvSpPr>
              <p:cNvPr id="21" name="CuadroTexto 20">
                <a:extLst>
                  <a:ext uri="{FF2B5EF4-FFF2-40B4-BE49-F238E27FC236}">
                    <a16:creationId xmlns:a16="http://schemas.microsoft.com/office/drawing/2014/main" id="{7F7D81D3-F92F-4F11-A865-EF75714EDBDC}"/>
                  </a:ext>
                </a:extLst>
              </p:cNvPr>
              <p:cNvSpPr txBox="1">
                <a:spLocks noRot="1" noChangeAspect="1" noMove="1" noResize="1" noEditPoints="1" noAdjustHandles="1" noChangeArrowheads="1" noChangeShapeType="1" noTextEdit="1"/>
              </p:cNvSpPr>
              <p:nvPr/>
            </p:nvSpPr>
            <p:spPr>
              <a:xfrm>
                <a:off x="6489576" y="955610"/>
                <a:ext cx="5504156" cy="4770537"/>
              </a:xfrm>
              <a:prstGeom prst="rect">
                <a:avLst/>
              </a:prstGeom>
              <a:blipFill>
                <a:blip r:embed="rId3"/>
                <a:stretch>
                  <a:fillRect l="-665" t="-384" r="-1330"/>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C08E497B-ECA8-4D23-BF7F-9E20B033DA4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26B81D0-53DF-485F-BB96-6AED60AE41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5235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rcRect/>
          <a:stretch/>
        </p:blipFill>
        <p:spPr>
          <a:xfrm>
            <a:off x="0" y="658369"/>
            <a:ext cx="5372395" cy="4196880"/>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0563E09-CD90-43F3-BEE4-4FEC9CEFD601}"/>
                  </a:ext>
                </a:extLst>
              </p:cNvPr>
              <p:cNvSpPr txBox="1"/>
              <p:nvPr/>
            </p:nvSpPr>
            <p:spPr>
              <a:xfrm>
                <a:off x="819260" y="4871784"/>
                <a:ext cx="4035141" cy="44602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12— Variación de polos y ceros con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𝑏</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𝐽</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endParaRPr lang="es-AR" sz="1100" i="1" dirty="0">
                  <a:solidFill>
                    <a:srgbClr val="224488"/>
                  </a:solidFill>
                  <a:latin typeface="Calibri" pitchFamily="34" charset="0"/>
                  <a:ea typeface="Calibri" pitchFamily="34" charset="-122"/>
                  <a:cs typeface="Calibri" pitchFamily="34" charset="-120"/>
                </a:endParaRPr>
              </a:p>
              <a:p>
                <a:pPr marL="0" indent="0" algn="ctr">
                  <a:buNone/>
                </a:pPr>
                <a:endParaRPr lang="en-US" sz="1100" dirty="0"/>
              </a:p>
            </p:txBody>
          </p:sp>
        </mc:Choice>
        <mc:Fallback xmlns="">
          <p:sp>
            <p:nvSpPr>
              <p:cNvPr id="19" name="CuadroTexto 18">
                <a:extLst>
                  <a:ext uri="{FF2B5EF4-FFF2-40B4-BE49-F238E27FC236}">
                    <a16:creationId xmlns:a16="http://schemas.microsoft.com/office/drawing/2014/main" id="{A0563E09-CD90-43F3-BEE4-4FEC9CEFD601}"/>
                  </a:ext>
                </a:extLst>
              </p:cNvPr>
              <p:cNvSpPr txBox="1">
                <a:spLocks noRot="1" noChangeAspect="1" noMove="1" noResize="1" noEditPoints="1" noAdjustHandles="1" noChangeArrowheads="1" noChangeShapeType="1" noTextEdit="1"/>
              </p:cNvSpPr>
              <p:nvPr/>
            </p:nvSpPr>
            <p:spPr>
              <a:xfrm>
                <a:off x="819260" y="4871784"/>
                <a:ext cx="4035141" cy="446020"/>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3149C70-2F2B-4F86-A50E-7C7A8B289E15}"/>
                  </a:ext>
                </a:extLst>
              </p:cNvPr>
              <p:cNvSpPr txBox="1"/>
              <p:nvPr/>
            </p:nvSpPr>
            <p:spPr>
              <a:xfrm>
                <a:off x="5939161" y="835466"/>
                <a:ext cx="5978214" cy="1444498"/>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Asimismo, es posible estudiar la influencia de las variaciones en los parámetros mecánicos equivalentes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Para ello, se consideran los valores nominales, mínimos y máximos asociados a la carga y fricción del sistema, manteniendo fija la temperatura de referencia en </a:t>
                </a:r>
                <a14:m>
                  <m:oMath xmlns:m="http://schemas.openxmlformats.org/officeDocument/2006/math">
                    <m:r>
                      <a:rPr lang="es-AR" sz="1600">
                        <a:latin typeface="Cambria Math" panose="02040503050406030204" pitchFamily="18" charset="0"/>
                        <a:ea typeface="Calibri" panose="020F0502020204030204" pitchFamily="34" charset="0"/>
                        <a:cs typeface="Times New Roman" panose="02020603050405020304" pitchFamily="18" charset="0"/>
                      </a:rPr>
                      <m:t>40℃</m:t>
                    </m:r>
                  </m:oMath>
                </a14:m>
                <a:r>
                  <a:rPr lang="es-AR" sz="1600" dirty="0">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0" name="CuadroTexto 9">
                <a:extLst>
                  <a:ext uri="{FF2B5EF4-FFF2-40B4-BE49-F238E27FC236}">
                    <a16:creationId xmlns:a16="http://schemas.microsoft.com/office/drawing/2014/main" id="{F3149C70-2F2B-4F86-A50E-7C7A8B289E15}"/>
                  </a:ext>
                </a:extLst>
              </p:cNvPr>
              <p:cNvSpPr txBox="1">
                <a:spLocks noRot="1" noChangeAspect="1" noMove="1" noResize="1" noEditPoints="1" noAdjustHandles="1" noChangeArrowheads="1" noChangeShapeType="1" noTextEdit="1"/>
              </p:cNvSpPr>
              <p:nvPr/>
            </p:nvSpPr>
            <p:spPr>
              <a:xfrm>
                <a:off x="5939161" y="835466"/>
                <a:ext cx="5978214" cy="1444498"/>
              </a:xfrm>
              <a:prstGeom prst="rect">
                <a:avLst/>
              </a:prstGeom>
              <a:blipFill>
                <a:blip r:embed="rId4"/>
                <a:stretch>
                  <a:fillRect l="-510" t="-844" r="-612" b="-295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38237">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𝑱</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r>
                                      <m:rPr>
                                        <m:nor/>
                                      </m:rPr>
                                      <a:rPr lang="es-AR" sz="1200">
                                        <a:effectLst/>
                                      </a:rPr>
                                      <m:t>kg</m:t>
                                    </m:r>
                                    <m:r>
                                      <m:rPr>
                                        <m:nor/>
                                      </m:rPr>
                                      <a:rPr lang="es-AR" sz="1200">
                                        <a:effectLst/>
                                      </a:rPr>
                                      <m:t>⋅</m:t>
                                    </m:r>
                                    <m:sSup>
                                      <m:sSupPr>
                                        <m:ctrlPr>
                                          <a:rPr lang="es-AR" sz="1200" i="1">
                                            <a:effectLst/>
                                            <a:latin typeface="Cambria Math" panose="02040503050406030204" pitchFamily="18" charset="0"/>
                                          </a:rPr>
                                        </m:ctrlPr>
                                      </m:sSupPr>
                                      <m:e>
                                        <m:r>
                                          <m:rPr>
                                            <m:nor/>
                                          </m:rPr>
                                          <a:rPr lang="es-AR" sz="1200">
                                            <a:effectLst/>
                                          </a:rPr>
                                          <m:t>m</m:t>
                                        </m:r>
                                      </m:e>
                                      <m:sup>
                                        <m:r>
                                          <m:rPr>
                                            <m:nor/>
                                          </m:rPr>
                                          <a:rPr lang="es-AR" sz="1200">
                                            <a:effectLst/>
                                          </a:rPr>
                                          <m:t>2</m:t>
                                        </m:r>
                                      </m:sup>
                                    </m:sSup>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𝒃</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𝑵</m:t>
                                        </m:r>
                                        <m:r>
                                          <a:rPr lang="es-AR" sz="1200">
                                            <a:effectLst/>
                                            <a:latin typeface="Cambria Math" panose="02040503050406030204" pitchFamily="18" charset="0"/>
                                          </a:rPr>
                                          <m:t>∙</m:t>
                                        </m:r>
                                        <m:r>
                                          <a:rPr lang="es-AR" sz="1200">
                                            <a:effectLst/>
                                            <a:latin typeface="Cambria Math" panose="02040503050406030204" pitchFamily="18" charset="0"/>
                                          </a:rPr>
                                          <m:t>𝒎</m:t>
                                        </m:r>
                                      </m:num>
                                      <m:den>
                                        <m:r>
                                          <a:rPr lang="es-AR" sz="1200">
                                            <a:effectLst/>
                                            <a:latin typeface="Cambria Math" panose="02040503050406030204" pitchFamily="18" charset="0"/>
                                          </a:rPr>
                                          <m:t>𝒓𝒂𝒅</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Choice>
        <mc:Fallback xmlns="">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48425">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158125" t="-84483" r="-623125" b="-313793"/>
                          </a:stretch>
                        </a:blipFill>
                      </a:tcPr>
                    </a:tc>
                    <a:tc>
                      <a:txBody>
                        <a:bodyPr/>
                        <a:lstStyle/>
                        <a:p>
                          <a:endParaRPr lang="es-AR"/>
                        </a:p>
                      </a:txBody>
                      <a:tcPr marL="68580" marR="68580" marT="0" marB="0">
                        <a:blipFill>
                          <a:blip r:embed="rId5"/>
                          <a:stretch>
                            <a:fillRect l="-220856" t="-84483" r="-433155" b="-313793"/>
                          </a:stretch>
                        </a:blipFill>
                      </a:tcPr>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900763" t="-84483" r="-75573" b="-313793"/>
                          </a:stretch>
                        </a:blipFill>
                      </a:tcPr>
                    </a:tc>
                    <a:tc>
                      <a:txBody>
                        <a:bodyPr/>
                        <a:lstStyle/>
                        <a:p>
                          <a:endParaRPr lang="es-AR"/>
                        </a:p>
                      </a:txBody>
                      <a:tcPr marL="68580" marR="68580" marT="0" marB="0">
                        <a:blipFill>
                          <a:blip r:embed="rId5"/>
                          <a:stretch>
                            <a:fillRect l="-1380000" t="-84483" r="-4211" b="-313793"/>
                          </a:stretch>
                        </a:blipFill>
                      </a:tcPr>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CF2CC9C-B9B4-4051-9FFB-1096870A0BB5}"/>
                  </a:ext>
                </a:extLst>
              </p:cNvPr>
              <p:cNvSpPr txBox="1"/>
              <p:nvPr/>
            </p:nvSpPr>
            <p:spPr>
              <a:xfrm>
                <a:off x="5939161" y="2394221"/>
                <a:ext cx="5978214" cy="1158074"/>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Los resultados muestran que un incremento en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provoca una disminución de la frecuencia natural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m:t>
                        </m:r>
                      </m:e>
                      <m:sub>
                        <m:r>
                          <a:rPr lang="es-AR" sz="1600">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lo que se traduce en una respuesta dinámica más lenta. Por otro lado, un aumento en ζ reduce la amplitud de las oscilaciones. </a:t>
                </a:r>
              </a:p>
            </p:txBody>
          </p:sp>
        </mc:Choice>
        <mc:Fallback xmlns="">
          <p:sp>
            <p:nvSpPr>
              <p:cNvPr id="13" name="CuadroTexto 12">
                <a:extLst>
                  <a:ext uri="{FF2B5EF4-FFF2-40B4-BE49-F238E27FC236}">
                    <a16:creationId xmlns:a16="http://schemas.microsoft.com/office/drawing/2014/main" id="{ECF2CC9C-B9B4-4051-9FFB-1096870A0BB5}"/>
                  </a:ext>
                </a:extLst>
              </p:cNvPr>
              <p:cNvSpPr txBox="1">
                <a:spLocks noRot="1" noChangeAspect="1" noMove="1" noResize="1" noEditPoints="1" noAdjustHandles="1" noChangeArrowheads="1" noChangeShapeType="1" noTextEdit="1"/>
              </p:cNvSpPr>
              <p:nvPr/>
            </p:nvSpPr>
            <p:spPr>
              <a:xfrm>
                <a:off x="5939161" y="2394221"/>
                <a:ext cx="5978214" cy="1158074"/>
              </a:xfrm>
              <a:prstGeom prst="rect">
                <a:avLst/>
              </a:prstGeom>
              <a:blipFill>
                <a:blip r:embed="rId6"/>
                <a:stretch>
                  <a:fillRect l="-510" r="-1427" b="-5789"/>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B235AFBD-3FDD-4ED8-A44F-F79C276D30E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A40EF86F-C0A8-499F-AFDA-E9B2920A42E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9254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14">
            <a:extLst>
              <a:ext uri="{FF2B5EF4-FFF2-40B4-BE49-F238E27FC236}">
                <a16:creationId xmlns:a16="http://schemas.microsoft.com/office/drawing/2014/main" id="{EA90CB89-4741-482C-98FF-C640C05AA55E}"/>
              </a:ext>
            </a:extLst>
          </p:cNvPr>
          <p:cNvSpPr/>
          <p:nvPr/>
        </p:nvSpPr>
        <p:spPr>
          <a:xfrm>
            <a:off x="320039" y="2372477"/>
            <a:ext cx="11551615" cy="962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5458" y="89115"/>
            <a:ext cx="4940904" cy="415498"/>
          </a:xfrm>
          <a:prstGeom prst="rect">
            <a:avLst/>
          </a:prstGeom>
          <a:noFill/>
        </p:spPr>
        <p:txBody>
          <a:bodyPr wrap="none">
            <a:spAutoFit/>
          </a:bodyPr>
          <a:lstStyle/>
          <a:p>
            <a:pPr algn="l"/>
            <a:r>
              <a:rPr sz="2100" b="1" dirty="0" err="1">
                <a:solidFill>
                  <a:srgbClr val="FFFFFF"/>
                </a:solidFill>
                <a:latin typeface="Cambria"/>
              </a:rPr>
              <a:t>Frecuencia</a:t>
            </a:r>
            <a:r>
              <a:rPr sz="2100" b="1" dirty="0">
                <a:solidFill>
                  <a:srgbClr val="FFFFFF"/>
                </a:solidFill>
                <a:latin typeface="Cambria"/>
              </a:rPr>
              <a:t> natural y </a:t>
            </a:r>
            <a:r>
              <a:rPr sz="2100" b="1" dirty="0" err="1">
                <a:solidFill>
                  <a:srgbClr val="FFFFFF"/>
                </a:solidFill>
                <a:latin typeface="Cambria"/>
              </a:rPr>
              <a:t>amortiguamiento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33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307777"/>
              </a:xfrm>
              <a:prstGeom prst="rect">
                <a:avLst/>
              </a:prstGeom>
              <a:noFill/>
            </p:spPr>
            <p:txBody>
              <a:bodyPr wrap="square">
                <a:spAutoFit/>
              </a:bodyPr>
              <a:lstStyle/>
              <a:p>
                <a:r>
                  <a:rPr lang="es-AR" sz="1400" b="0" i="0" dirty="0">
                    <a:solidFill>
                      <a:srgbClr val="1A1A2E"/>
                    </a:solidFill>
                    <a:latin typeface="Calibri"/>
                  </a:rPr>
                  <a:t>Comparando el polinomio característico de s₂,₃ con la forma canónica de segundo orden, se obtienen </a:t>
                </a:r>
                <a14:m>
                  <m:oMath xmlns:m="http://schemas.openxmlformats.org/officeDocument/2006/math">
                    <m:sSub>
                      <m:sSubPr>
                        <m:ctrlPr>
                          <a:rPr lang="es-AR" sz="1400" i="1">
                            <a:latin typeface="Cambria Math" panose="02040503050406030204" pitchFamily="18" charset="0"/>
                            <a:ea typeface="Calibri" panose="020F0502020204030204" pitchFamily="34" charset="0"/>
                            <a:cs typeface="Times New Roman" panose="020206030504050203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i="1">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400" b="0" i="0" dirty="0">
                    <a:solidFill>
                      <a:srgbClr val="1A1A2E"/>
                    </a:solidFill>
                    <a:latin typeface="Calibri"/>
                  </a:rPr>
                  <a:t> y ζ en función de los parámetros del sistema:</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307777"/>
              </a:xfrm>
              <a:prstGeom prst="rect">
                <a:avLst/>
              </a:prstGeom>
              <a:blipFill>
                <a:blip r:embed="rId2"/>
                <a:stretch>
                  <a:fillRect l="-160" t="-4000"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14:m>
                            <m:oMath xmlns:m="http://schemas.openxmlformats.org/officeDocument/2006/math">
                              <m:sSub>
                                <m:sSubPr>
                                  <m:ctrlPr>
                                    <a:rPr lang="es-AR" sz="1200" i="1" smtClean="0">
                                      <a:solidFill>
                                        <a:schemeClr val="bg1"/>
                                      </a:solidFill>
                                      <a:latin typeface="Cambria Math" panose="02040503050406030204" pitchFamily="18" charset="0"/>
                                    </a:rPr>
                                  </m:ctrlPr>
                                </m:sSubPr>
                                <m:e>
                                  <m:r>
                                    <m:rPr>
                                      <m:sty m:val="p"/>
                                    </m:rPr>
                                    <a:rPr lang="es-AR" sz="1200">
                                      <a:solidFill>
                                        <a:schemeClr val="bg1"/>
                                      </a:solidFill>
                                      <a:latin typeface="Cambria Math" panose="02040503050406030204" pitchFamily="18" charset="0"/>
                                    </a:rPr>
                                    <m:t>ω</m:t>
                                  </m:r>
                                </m:e>
                                <m:sub>
                                  <m:r>
                                    <a:rPr lang="es-AR" sz="1200" i="1">
                                      <a:solidFill>
                                        <a:schemeClr val="bg1"/>
                                      </a:solidFill>
                                      <a:latin typeface="Cambria Math" panose="02040503050406030204" pitchFamily="18" charset="0"/>
                                    </a:rPr>
                                    <m:t>𝑛</m:t>
                                  </m:r>
                                </m:sub>
                              </m:sSub>
                            </m:oMath>
                          </a14:m>
                          <a:r>
                            <a:rPr sz="1200" b="1" dirty="0">
                              <a:solidFill>
                                <a:srgbClr val="FFFFFF"/>
                              </a:solidFill>
                              <a:latin typeface="Calibri"/>
                            </a:rPr>
                            <a:t>[rad/s]</a:t>
                          </a:r>
                        </a:p>
                      </a:txBody>
                      <a:tcPr>
                        <a:solidFill>
                          <a:srgbClr val="1A3A6B"/>
                        </a:solid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mínimos (Rs @ 40°C)</a:t>
                          </a:r>
                        </a:p>
                      </a:txBody>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máximos (Rs @ 40°C) — </a:t>
                          </a:r>
                          <a14:m>
                            <m:oMath xmlns:m="http://schemas.openxmlformats.org/officeDocument/2006/math">
                              <m:sSub>
                                <m:sSubPr>
                                  <m:ctrlPr>
                                    <a:rPr lang="es-AR" sz="1200" i="1" smtClean="0">
                                      <a:latin typeface="Cambria Math" panose="02040503050406030204" pitchFamily="18" charset="0"/>
                                    </a:rPr>
                                  </m:ctrlPr>
                                </m:sSubPr>
                                <m:e>
                                  <m:r>
                                    <a:rPr lang="es-AR" sz="1200" b="0" i="1" smtClean="0">
                                      <a:latin typeface="Cambria Math" panose="02040503050406030204" pitchFamily="18" charset="0"/>
                                    </a:rPr>
                                    <m:t>𝑚</m:t>
                                  </m:r>
                                </m:e>
                                <m:sub>
                                  <m:r>
                                    <a:rPr lang="es-AR" sz="1200" b="0" i="1" smtClean="0">
                                      <a:latin typeface="Cambria Math" panose="02040503050406030204" pitchFamily="18" charset="0"/>
                                    </a:rPr>
                                    <m:t>𝑙</m:t>
                                  </m:r>
                                </m:sub>
                              </m:sSub>
                            </m:oMath>
                          </a14:m>
                          <a:r>
                            <a:rPr lang="es-AR" sz="1200" noProof="0" dirty="0">
                              <a:latin typeface="+mn-lt"/>
                            </a:rPr>
                            <a:t>=1.5 kg</a:t>
                          </a:r>
                        </a:p>
                      </a:txBody>
                      <a:tcPr>
                        <a:solidFill>
                          <a:srgbClr val="F0F4F8"/>
                        </a:solid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Calibri"/>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Calibri"/>
                            </a:rPr>
                            <a:t> máximos (Rs @ 115°C)</a:t>
                          </a:r>
                        </a:p>
                      </a:txBody>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endParaRPr lang="es-AR"/>
                        </a:p>
                      </a:txBody>
                      <a:tcPr>
                        <a:blipFill>
                          <a:blip r:embed="rId3"/>
                          <a:stretch>
                            <a:fillRect l="-169438" t="-2000" r="-118652" b="-514000"/>
                          </a:stretch>
                        </a:blip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endParaRPr lang="es-AR"/>
                        </a:p>
                      </a:txBody>
                      <a:tcPr>
                        <a:blipFill>
                          <a:blip r:embed="rId3"/>
                          <a:stretch>
                            <a:fillRect l="-133" t="-290385" r="-129216" b="-201923"/>
                          </a:stretch>
                        </a:blipFill>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endParaRPr lang="es-AR"/>
                        </a:p>
                      </a:txBody>
                      <a:tcPr>
                        <a:blipFill>
                          <a:blip r:embed="rId3"/>
                          <a:stretch>
                            <a:fillRect l="-133" t="-398039" r="-129216" b="-105882"/>
                          </a:stretch>
                        </a:blip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endParaRPr lang="es-AR"/>
                        </a:p>
                      </a:txBody>
                      <a:tcPr>
                        <a:blipFill>
                          <a:blip r:embed="rId3"/>
                          <a:stretch>
                            <a:fillRect l="-133" t="-488462" r="-129216" b="-3846"/>
                          </a:stretch>
                        </a:blipFill>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380846" y="5569940"/>
                <a:ext cx="11430000" cy="812915"/>
              </a:xfrm>
              <a:prstGeom prst="rect">
                <a:avLst/>
              </a:prstGeom>
              <a:noFill/>
            </p:spPr>
            <p:txBody>
              <a:bodyPr wrap="square">
                <a:spAutoFit/>
              </a:bodyPr>
              <a:lstStyle/>
              <a:p>
                <a14:m>
                  <m:oMath xmlns:m="http://schemas.openxmlformats.org/officeDocument/2006/math">
                    <m:sSub>
                      <m:sSubPr>
                        <m:ctrlPr>
                          <a:rPr lang="es-AR" sz="1300" i="1" smtClean="0">
                            <a:solidFill>
                              <a:schemeClr val="tx1"/>
                            </a:solidFill>
                            <a:latin typeface="Cambria Math" panose="02040503050406030204" pitchFamily="18" charset="0"/>
                          </a:rPr>
                        </m:ctrlPr>
                      </m:sSubPr>
                      <m:e>
                        <m:r>
                          <m:rPr>
                            <m:sty m:val="p"/>
                          </m:rPr>
                          <a:rPr lang="es-AR" sz="1300">
                            <a:solidFill>
                              <a:schemeClr val="tx1"/>
                            </a:solidFill>
                            <a:latin typeface="Cambria Math" panose="02040503050406030204" pitchFamily="18" charset="0"/>
                          </a:rPr>
                          <m:t>ω</m:t>
                        </m:r>
                      </m:e>
                      <m:sub>
                        <m:r>
                          <a:rPr lang="es-AR" sz="1300" i="1">
                            <a:solidFill>
                              <a:schemeClr val="tx1"/>
                            </a:solidFill>
                            <a:latin typeface="Cambria Math" panose="02040503050406030204" pitchFamily="18" charset="0"/>
                          </a:rPr>
                          <m:t>𝑛</m:t>
                        </m:r>
                      </m:sub>
                    </m:sSub>
                  </m:oMath>
                </a14:m>
                <a:r>
                  <a:rPr lang="es-AR" sz="1300" dirty="0">
                    <a:solidFill>
                      <a:srgbClr val="1A1A2E"/>
                    </a:solidFill>
                    <a:latin typeface="Calibri"/>
                  </a:rPr>
                  <a:t> prácticamente no varía con la temperatura — lo que cambia es el amortiguamiento ζ</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rgbClr val="836967"/>
                            </a:solidFill>
                            <a:latin typeface="Cambria Math" panose="02040503050406030204" pitchFamily="18" charset="0"/>
                          </a:rPr>
                        </m:ctrlPr>
                      </m:sSubPr>
                      <m:e>
                        <m:r>
                          <m:rPr>
                            <m:sty m:val="p"/>
                          </m:rPr>
                          <a:rPr lang="es-AR" sz="1300" i="0">
                            <a:latin typeface="Cambria Math" panose="02040503050406030204" pitchFamily="18" charset="0"/>
                          </a:rPr>
                          <m:t>J</m:t>
                        </m:r>
                      </m:e>
                      <m:sub>
                        <m:r>
                          <m:rPr>
                            <m:sty m:val="p"/>
                          </m:rPr>
                          <a:rPr lang="es-AR" sz="1300" i="0">
                            <a:latin typeface="Cambria Math" panose="02040503050406030204" pitchFamily="18" charset="0"/>
                          </a:rPr>
                          <m:t>eq</m:t>
                        </m:r>
                      </m:sub>
                    </m:sSub>
                    <m:r>
                      <a:rPr lang="es-AR" sz="1300" i="0">
                        <a:latin typeface="Cambria Math" panose="02040503050406030204" pitchFamily="18" charset="0"/>
                      </a:rPr>
                      <m:t> </m:t>
                    </m:r>
                  </m:oMath>
                </a14:m>
                <a:r>
                  <a:rPr lang="es-AR" sz="1300" dirty="0">
                    <a:solidFill>
                      <a:srgbClr val="1A1A2E"/>
                    </a:solidFill>
                    <a:latin typeface="Calibri"/>
                  </a:rPr>
                  <a:t> (mayor carga) → </a:t>
                </a:r>
                <a14:m>
                  <m:oMath xmlns:m="http://schemas.openxmlformats.org/officeDocument/2006/math">
                    <m:sSub>
                      <m:sSubPr>
                        <m:ctrlPr>
                          <a:rPr lang="es-AR" sz="1300" i="1">
                            <a:latin typeface="Cambria Math" panose="02040503050406030204" pitchFamily="18" charset="0"/>
                          </a:rPr>
                        </m:ctrlPr>
                      </m:sSubPr>
                      <m:e>
                        <m:r>
                          <m:rPr>
                            <m:sty m:val="p"/>
                          </m:rPr>
                          <a:rPr lang="es-AR" sz="1300">
                            <a:latin typeface="Cambria Math" panose="02040503050406030204" pitchFamily="18" charset="0"/>
                          </a:rPr>
                          <m:t>ω</m:t>
                        </m:r>
                      </m:e>
                      <m:sub>
                        <m:r>
                          <a:rPr lang="es-AR" sz="1300" i="1">
                            <a:latin typeface="Cambria Math" panose="02040503050406030204" pitchFamily="18" charset="0"/>
                          </a:rPr>
                          <m:t>𝑛</m:t>
                        </m:r>
                      </m:sub>
                    </m:sSub>
                  </m:oMath>
                </a14:m>
                <a:r>
                  <a:rPr lang="es-AR" sz="1300" dirty="0">
                    <a:solidFill>
                      <a:srgbClr val="1A1A2E"/>
                    </a:solidFill>
                    <a:latin typeface="Calibri"/>
                  </a:rPr>
                  <a:t> disminuye significativamente (respuesta más lenta)</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chemeClr val="tx1"/>
                            </a:solidFill>
                            <a:latin typeface="Cambria Math" panose="02040503050406030204" pitchFamily="18" charset="0"/>
                          </a:rPr>
                        </m:ctrlPr>
                      </m:sSubPr>
                      <m:e>
                        <m:r>
                          <a:rPr lang="es-AR" sz="1300" i="1">
                            <a:solidFill>
                              <a:schemeClr val="tx1"/>
                            </a:solidFill>
                            <a:latin typeface="Cambria Math" panose="02040503050406030204" pitchFamily="18" charset="0"/>
                          </a:rPr>
                          <m:t>𝑅</m:t>
                        </m:r>
                      </m:e>
                      <m:sub>
                        <m:r>
                          <a:rPr lang="es-AR" sz="1300" i="1">
                            <a:solidFill>
                              <a:schemeClr val="tx1"/>
                            </a:solidFill>
                            <a:latin typeface="Cambria Math" panose="02040503050406030204" pitchFamily="18" charset="0"/>
                          </a:rPr>
                          <m:t>𝑠</m:t>
                        </m:r>
                      </m:sub>
                    </m:sSub>
                  </m:oMath>
                </a14:m>
                <a:r>
                  <a:rPr lang="es-AR" sz="1300" dirty="0">
                    <a:solidFill>
                      <a:srgbClr val="1A1A2E"/>
                    </a:solidFill>
                    <a:latin typeface="Calibri"/>
                  </a:rPr>
                  <a:t> (mayor temperatura) → ζ aumenta (sistema más amortiguado, puede volverse sobre amortiguado)</a:t>
                </a:r>
              </a:p>
            </p:txBody>
          </p:sp>
        </mc:Choice>
        <mc:Fallback xmlns="">
          <p:sp>
            <p:nvSpPr>
              <p:cNvPr id="13" name="TextBox 12"/>
              <p:cNvSpPr txBox="1">
                <a:spLocks noRot="1" noChangeAspect="1" noMove="1" noResize="1" noEditPoints="1" noAdjustHandles="1" noChangeArrowheads="1" noChangeShapeType="1" noTextEdit="1"/>
              </p:cNvSpPr>
              <p:nvPr/>
            </p:nvSpPr>
            <p:spPr>
              <a:xfrm>
                <a:off x="380846" y="5569940"/>
                <a:ext cx="11430000" cy="812915"/>
              </a:xfrm>
              <a:prstGeom prst="rect">
                <a:avLst/>
              </a:prstGeom>
              <a:blipFill>
                <a:blip r:embed="rId4"/>
                <a:stretch>
                  <a:fillRect l="-53" t="-752" b="-601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3DF8E19-10B4-4C82-B49F-788B31D4C8E8}"/>
                  </a:ext>
                </a:extLst>
              </p:cNvPr>
              <p:cNvSpPr txBox="1"/>
              <p:nvPr/>
            </p:nvSpPr>
            <p:spPr>
              <a:xfrm>
                <a:off x="-1305013" y="2360402"/>
                <a:ext cx="6143346"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𝑛</m:t>
                          </m:r>
                        </m:sub>
                      </m:sSub>
                      <m:r>
                        <a:rPr lang="es-AR" sz="1400" i="0">
                          <a:solidFill>
                            <a:schemeClr val="tx1"/>
                          </a:solidFill>
                          <a:latin typeface="Cambria Math" panose="02040503050406030204" pitchFamily="18" charset="0"/>
                        </a:rPr>
                        <m:t>=</m:t>
                      </m:r>
                      <m:rad>
                        <m:radPr>
                          <m:degHide m:val="on"/>
                          <m:ctrlPr>
                            <a:rPr lang="es-AR" sz="1400" i="1">
                              <a:solidFill>
                                <a:schemeClr val="tx1"/>
                              </a:solidFill>
                              <a:latin typeface="Cambria Math" panose="02040503050406030204" pitchFamily="18" charset="0"/>
                            </a:rPr>
                          </m:ctrlPr>
                        </m:radPr>
                        <m:deg/>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𝑝</m:t>
                                  </m:r>
                                </m:e>
                                <m:sub>
                                  <m:r>
                                    <a:rPr lang="es-AR" sz="1400" i="1">
                                      <a:solidFill>
                                        <a:schemeClr val="tx1"/>
                                      </a:solidFill>
                                      <a:latin typeface="Cambria Math" panose="02040503050406030204" pitchFamily="18" charset="0"/>
                                    </a:rPr>
                                    <m:t>𝑝</m:t>
                                  </m:r>
                                </m:sub>
                                <m:sup>
                                  <m:r>
                                    <a:rPr lang="es-AR" sz="1400" i="0">
                                      <a:solidFill>
                                        <a:schemeClr val="tx1"/>
                                      </a:solidFill>
                                      <a:latin typeface="Cambria Math" panose="02040503050406030204" pitchFamily="18" charset="0"/>
                                    </a:rPr>
                                    <m:t>2</m:t>
                                  </m:r>
                                </m:sup>
                              </m:sSubSup>
                              <m:r>
                                <a:rPr lang="es-AR" sz="1400" i="0">
                                  <a:solidFill>
                                    <a:schemeClr val="tx1"/>
                                  </a:solidFill>
                                  <a:latin typeface="Cambria Math" panose="02040503050406030204" pitchFamily="18" charset="0"/>
                                </a:rPr>
                                <m:t> </m:t>
                              </m:r>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λ</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e>
                                  </m:d>
                                </m:e>
                                <m:sup>
                                  <m:r>
                                    <a:rPr lang="es-AR" sz="1400" i="0">
                                      <a:solidFill>
                                        <a:schemeClr val="tx1"/>
                                      </a:solidFill>
                                      <a:latin typeface="Cambria Math" panose="02040503050406030204" pitchFamily="18" charset="0"/>
                                    </a:rPr>
                                    <m:t>2</m:t>
                                  </m:r>
                                </m:sup>
                              </m:s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rad>
                    </m:oMath>
                  </m:oMathPara>
                </a14:m>
                <a:endParaRPr lang="es-AR" dirty="0"/>
              </a:p>
            </p:txBody>
          </p:sp>
        </mc:Choice>
        <mc:Fallback xmlns="">
          <p:sp>
            <p:nvSpPr>
              <p:cNvPr id="15" name="CuadroTexto 14">
                <a:extLst>
                  <a:ext uri="{FF2B5EF4-FFF2-40B4-BE49-F238E27FC236}">
                    <a16:creationId xmlns:a16="http://schemas.microsoft.com/office/drawing/2014/main" id="{C3DF8E19-10B4-4C82-B49F-788B31D4C8E8}"/>
                  </a:ext>
                </a:extLst>
              </p:cNvPr>
              <p:cNvSpPr txBox="1">
                <a:spLocks noRot="1" noChangeAspect="1" noMove="1" noResize="1" noEditPoints="1" noAdjustHandles="1" noChangeArrowheads="1" noChangeShapeType="1" noTextEdit="1"/>
              </p:cNvSpPr>
              <p:nvPr/>
            </p:nvSpPr>
            <p:spPr>
              <a:xfrm>
                <a:off x="-1305013" y="2360402"/>
                <a:ext cx="6143346" cy="930511"/>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D47FAB2-910A-4CC2-9CFC-9DA082C28652}"/>
                  </a:ext>
                </a:extLst>
              </p:cNvPr>
              <p:cNvSpPr txBox="1"/>
              <p:nvPr/>
            </p:nvSpPr>
            <p:spPr>
              <a:xfrm>
                <a:off x="1217872" y="2577733"/>
                <a:ext cx="6143346" cy="581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b</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R</m:t>
                              </m:r>
                            </m:e>
                            <m:sub>
                              <m:r>
                                <m:rPr>
                                  <m:sty m:val="p"/>
                                </m:rPr>
                                <a:rPr lang="es-AR" sz="1400" i="0">
                                  <a:solidFill>
                                    <a:schemeClr val="tx1"/>
                                  </a:solidFill>
                                  <a:latin typeface="Cambria Math" panose="02040503050406030204" pitchFamily="18" charset="0"/>
                                </a:rPr>
                                <m:t>s</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T</m:t>
                                  </m:r>
                                </m:e>
                                <m:sub>
                                  <m:r>
                                    <m:rPr>
                                      <m:sty m:val="p"/>
                                    </m:rPr>
                                    <a:rPr lang="es-AR" sz="1400" i="0">
                                      <a:solidFill>
                                        <a:schemeClr val="tx1"/>
                                      </a:solidFill>
                                      <a:latin typeface="Cambria Math" panose="02040503050406030204" pitchFamily="18" charset="0"/>
                                    </a:rPr>
                                    <m:t>s</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num>
                        <m:den>
                          <m:r>
                            <a:rPr lang="es-AR" sz="1400" i="0">
                              <a:solidFill>
                                <a:schemeClr val="tx1"/>
                              </a:solidFill>
                              <a:latin typeface="Cambria Math" panose="02040503050406030204" pitchFamily="18" charset="0"/>
                            </a:rPr>
                            <m:t>2 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m:rPr>
                                  <m:sty m:val="p"/>
                                </m:rPr>
                                <a:rPr lang="es-AR" sz="1400" i="0">
                                  <a:solidFill>
                                    <a:schemeClr val="tx1"/>
                                  </a:solidFill>
                                  <a:latin typeface="Cambria Math" panose="02040503050406030204" pitchFamily="18" charset="0"/>
                                </a:rPr>
                                <m:t>n</m:t>
                              </m:r>
                            </m:sub>
                          </m:sSub>
                        </m:den>
                      </m:f>
                    </m:oMath>
                  </m:oMathPara>
                </a14:m>
                <a:endParaRPr lang="es-AR" sz="1400" dirty="0"/>
              </a:p>
            </p:txBody>
          </p:sp>
        </mc:Choice>
        <mc:Fallback xmlns="">
          <p:sp>
            <p:nvSpPr>
              <p:cNvPr id="17" name="CuadroTexto 16">
                <a:extLst>
                  <a:ext uri="{FF2B5EF4-FFF2-40B4-BE49-F238E27FC236}">
                    <a16:creationId xmlns:a16="http://schemas.microsoft.com/office/drawing/2014/main" id="{0D47FAB2-910A-4CC2-9CFC-9DA082C28652}"/>
                  </a:ext>
                </a:extLst>
              </p:cNvPr>
              <p:cNvSpPr txBox="1">
                <a:spLocks noRot="1" noChangeAspect="1" noMove="1" noResize="1" noEditPoints="1" noAdjustHandles="1" noChangeArrowheads="1" noChangeShapeType="1" noTextEdit="1"/>
              </p:cNvSpPr>
              <p:nvPr/>
            </p:nvSpPr>
            <p:spPr>
              <a:xfrm>
                <a:off x="1217872" y="2577733"/>
                <a:ext cx="6143346" cy="581057"/>
              </a:xfrm>
              <a:prstGeom prst="rect">
                <a:avLst/>
              </a:prstGeom>
              <a:blipFill>
                <a:blip r:embed="rId6"/>
                <a:stretch>
                  <a:fillRect/>
                </a:stretch>
              </a:blipFill>
            </p:spPr>
            <p:txBody>
              <a:bodyPr/>
              <a:lstStyle/>
              <a:p>
                <a:r>
                  <a:rPr lang="es-AR">
                    <a:noFill/>
                  </a:rPr>
                  <a:t> </a:t>
                </a:r>
              </a:p>
            </p:txBody>
          </p:sp>
        </mc:Fallback>
      </mc:AlternateContent>
      <p:sp>
        <p:nvSpPr>
          <p:cNvPr id="14" name="Shape 14">
            <a:extLst>
              <a:ext uri="{FF2B5EF4-FFF2-40B4-BE49-F238E27FC236}">
                <a16:creationId xmlns:a16="http://schemas.microsoft.com/office/drawing/2014/main" id="{EDA96A35-DC5A-4231-B367-8F13B52C36A3}"/>
              </a:ext>
            </a:extLst>
          </p:cNvPr>
          <p:cNvSpPr/>
          <p:nvPr/>
        </p:nvSpPr>
        <p:spPr>
          <a:xfrm>
            <a:off x="320039" y="1234199"/>
            <a:ext cx="11551615" cy="962983"/>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BB668F99-9D93-4E57-9121-0A4CDA553DE1}"/>
                  </a:ext>
                </a:extLst>
              </p:cNvPr>
              <p:cNvSpPr txBox="1"/>
              <p:nvPr/>
            </p:nvSpPr>
            <p:spPr>
              <a:xfrm>
                <a:off x="551973" y="1390398"/>
                <a:ext cx="8572722" cy="634148"/>
              </a:xfrm>
              <a:prstGeom prst="rect">
                <a:avLst/>
              </a:prstGeom>
              <a:noFill/>
            </p:spPr>
            <p:txBody>
              <a:bodyPr wrap="square">
                <a:spAutoFit/>
              </a:bodyPr>
              <a:lstStyle/>
              <a:p>
                <a14:m>
                  <m:oMath xmlns:m="http://schemas.openxmlformats.org/officeDocument/2006/math">
                    <m:sSup>
                      <m:sSupPr>
                        <m:ctrlPr>
                          <a:rPr lang="es-AR" sz="1600" i="1" smtClean="0">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+2</m:t>
                    </m:r>
                    <m:r>
                      <a:rPr lang="es-AR" sz="1600" i="1">
                        <a:latin typeface="Cambria Math" panose="02040503050406030204" pitchFamily="18" charset="0"/>
                      </a:rPr>
                      <m:t>𝜁</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𝑛</m:t>
                        </m:r>
                      </m:sub>
                    </m:sSub>
                    <m:r>
                      <a:rPr lang="es-AR" sz="1600" i="1">
                        <a:latin typeface="Cambria Math" panose="02040503050406030204" pitchFamily="18" charset="0"/>
                      </a:rPr>
                      <m:t>𝑠</m:t>
                    </m:r>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𝜔</m:t>
                        </m:r>
                      </m:e>
                      <m:sub>
                        <m:r>
                          <a:rPr lang="es-AR" sz="1600" i="1">
                            <a:latin typeface="Cambria Math" panose="02040503050406030204" pitchFamily="18" charset="0"/>
                          </a:rPr>
                          <m:t>𝑛</m:t>
                        </m:r>
                      </m:sub>
                      <m:sup>
                        <m:r>
                          <a:rPr lang="es-AR" sz="1600" i="1">
                            <a:latin typeface="Cambria Math" panose="02040503050406030204" pitchFamily="18" charset="0"/>
                          </a:rPr>
                          <m:t>2</m:t>
                        </m:r>
                      </m:sup>
                    </m:sSubSup>
                    <m:r>
                      <a:rPr lang="es-AR" sz="1600" i="1">
                        <a:latin typeface="Cambria Math" panose="02040503050406030204" pitchFamily="18" charset="0"/>
                      </a:rPr>
                      <m:t>=0</m:t>
                    </m:r>
                    <m:r>
                      <a:rPr lang="es-AR" sz="1600" b="0" i="1" smtClean="0">
                        <a:latin typeface="Cambria Math" panose="02040503050406030204" pitchFamily="18" charset="0"/>
                      </a:rPr>
                      <m:t>;        </m:t>
                    </m:r>
                  </m:oMath>
                </a14:m>
                <a:r>
                  <a:rPr lang="es-AR" sz="1400" dirty="0"/>
                  <a:t> </a:t>
                </a:r>
                <a14:m>
                  <m:oMath xmlns:m="http://schemas.openxmlformats.org/officeDocument/2006/math">
                    <m:sSup>
                      <m:sSupPr>
                        <m:ctrlPr>
                          <a:rPr lang="es-AR" sz="1600" i="1">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 </m:t>
                    </m:r>
                    <m:r>
                      <a:rPr lang="es-AR" sz="1600" i="1">
                        <a:latin typeface="Cambria Math" panose="02040503050406030204" pitchFamily="18" charset="0"/>
                      </a:rPr>
                      <m:t>𝑠</m:t>
                    </m:r>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r>
                          <a:rPr lang="es-AR" sz="1600" i="1">
                            <a:latin typeface="Cambria Math" panose="02040503050406030204" pitchFamily="18" charset="0"/>
                          </a:rPr>
                          <m:t> </m:t>
                        </m:r>
                        <m:sSubSup>
                          <m:sSubSupPr>
                            <m:ctrlPr>
                              <a:rPr lang="es-AR" sz="1600" i="1">
                                <a:latin typeface="Cambria Math" panose="02040503050406030204" pitchFamily="18" charset="0"/>
                              </a:rPr>
                            </m:ctrlPr>
                          </m:sSubSupPr>
                          <m:e>
                            <m:r>
                              <a:rPr lang="es-AR" sz="1600" i="1">
                                <a:latin typeface="Cambria Math" panose="02040503050406030204" pitchFamily="18" charset="0"/>
                              </a:rPr>
                              <m:t>𝑝</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r>
                          <a:rPr lang="es-AR" sz="1600" i="1">
                            <a:latin typeface="Cambria Math" panose="02040503050406030204" pitchFamily="18" charset="0"/>
                          </a:rPr>
                          <m:t> </m:t>
                        </m:r>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m:rPr>
                                        <m:sty m:val="p"/>
                                      </m:rPr>
                                      <a:rPr lang="es-AR" sz="1600">
                                        <a:latin typeface="Cambria Math" panose="02040503050406030204" pitchFamily="18" charset="0"/>
                                      </a:rPr>
                                      <m:t>λ</m:t>
                                    </m:r>
                                  </m:e>
                                  <m:sub>
                                    <m:r>
                                      <a:rPr lang="es-AR" sz="1600" i="1">
                                        <a:latin typeface="Cambria Math" panose="02040503050406030204" pitchFamily="18" charset="0"/>
                                      </a:rPr>
                                      <m:t>𝑚</m:t>
                                    </m:r>
                                  </m:sub>
                                  <m:sup>
                                    <m:r>
                                      <a:rPr lang="es-AR" sz="1600" i="1">
                                        <a:latin typeface="Cambria Math" panose="02040503050406030204" pitchFamily="18" charset="0"/>
                                      </a:rPr>
                                      <m:t>′</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=0</m:t>
                    </m:r>
                  </m:oMath>
                </a14:m>
                <a:endParaRPr lang="es-AR" sz="1400" dirty="0"/>
              </a:p>
            </p:txBody>
          </p:sp>
        </mc:Choice>
        <mc:Fallback xmlns="">
          <p:sp>
            <p:nvSpPr>
              <p:cNvPr id="16" name="CuadroTexto 15">
                <a:extLst>
                  <a:ext uri="{FF2B5EF4-FFF2-40B4-BE49-F238E27FC236}">
                    <a16:creationId xmlns:a16="http://schemas.microsoft.com/office/drawing/2014/main" id="{BB668F99-9D93-4E57-9121-0A4CDA553DE1}"/>
                  </a:ext>
                </a:extLst>
              </p:cNvPr>
              <p:cNvSpPr txBox="1">
                <a:spLocks noRot="1" noChangeAspect="1" noMove="1" noResize="1" noEditPoints="1" noAdjustHandles="1" noChangeArrowheads="1" noChangeShapeType="1" noTextEdit="1"/>
              </p:cNvSpPr>
              <p:nvPr/>
            </p:nvSpPr>
            <p:spPr>
              <a:xfrm>
                <a:off x="551973" y="1390398"/>
                <a:ext cx="8572722" cy="634148"/>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C285BC6C-CC9C-4A7F-9DC9-46277DC56D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7F0E2F02-B34A-438E-AA40-05A39917580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65760" y="1334171"/>
            <a:ext cx="11672360" cy="1824317"/>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551615" cy="658368"/>
          </a:xfrm>
          <a:prstGeom prst="rect">
            <a:avLst/>
          </a:prstGeom>
          <a:noFill/>
        </p:spPr>
        <p:txBody>
          <a:bodyPr wrap="none">
            <a:spAutoFit/>
          </a:bodyPr>
          <a:lstStyle/>
          <a:p>
            <a:pPr algn="l"/>
            <a:r>
              <a:rPr sz="2100" b="1" dirty="0">
                <a:solidFill>
                  <a:srgbClr val="FFFFFF"/>
                </a:solidFill>
                <a:latin typeface="Cambria"/>
              </a:rPr>
              <a:t>Observabilidad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p:sp>
        <p:nvSpPr>
          <p:cNvPr id="7" name="TextBox 6"/>
          <p:cNvSpPr txBox="1"/>
          <p:nvPr/>
        </p:nvSpPr>
        <p:spPr>
          <a:xfrm>
            <a:off x="274321" y="768499"/>
            <a:ext cx="11430000" cy="523220"/>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es completamente observable si el rango de la matriz de observabilidad O es n. Para una matriz cuadrada: rango = n ↔ </a:t>
            </a:r>
            <a:r>
              <a:rPr lang="es-AR" sz="1400" b="0" i="0" dirty="0" err="1">
                <a:solidFill>
                  <a:srgbClr val="1A1A2E"/>
                </a:solidFill>
                <a:latin typeface="Calibri"/>
              </a:rPr>
              <a:t>det</a:t>
            </a:r>
            <a:r>
              <a:rPr lang="es-AR" sz="1400" b="0" i="0" dirty="0">
                <a:solidFill>
                  <a:srgbClr val="1A1A2E"/>
                </a:solidFill>
                <a:latin typeface="Calibri"/>
              </a:rPr>
              <a:t>(O) ≠ 0.</a:t>
            </a:r>
          </a:p>
        </p:txBody>
      </p:sp>
      <mc:AlternateContent xmlns:mc="http://schemas.openxmlformats.org/markup-compatibility/2006" xmlns:a14="http://schemas.microsoft.com/office/drawing/2010/main">
        <mc:Choice Requires="a14">
          <p:sp>
            <p:nvSpPr>
              <p:cNvPr id="9" name="TextBox 8"/>
              <p:cNvSpPr txBox="1"/>
              <p:nvPr/>
            </p:nvSpPr>
            <p:spPr>
              <a:xfrm>
                <a:off x="-320484" y="1407605"/>
                <a:ext cx="885326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𝒪</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𝐶𝐴</m:t>
                                </m:r>
                              </m:e>
                            </m:mr>
                            <m:m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sup>
                                      </m:sSup>
                                    </m:e>
                                  </m:mr>
                                </m:m>
                              </m:e>
                            </m:mr>
                          </m:m>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𝐶</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mr>
                                </m:m>
                              </m:e>
                              <m:e>
                                <m:r>
                                  <a:rPr lang="es-AR" sz="1400" i="1">
                                    <a:latin typeface="Cambria Math" panose="02040503050406030204" pitchFamily="18" charset="0"/>
                                  </a:rPr>
                                  <m:t>0</m:t>
                                </m:r>
                              </m:e>
                              <m:e>
                                <m:r>
                                  <a:rPr lang="es-AR" sz="1400" i="1">
                                    <a:latin typeface="Cambria Math" panose="02040503050406030204" pitchFamily="18" charset="0"/>
                                  </a:rPr>
                                  <m:t>0</m:t>
                                </m:r>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20484" y="1407605"/>
                <a:ext cx="8853262" cy="1677447"/>
              </a:xfrm>
              <a:prstGeom prst="rect">
                <a:avLst/>
              </a:prstGeom>
              <a:blipFill>
                <a:blip r:embed="rId2"/>
                <a:stretch>
                  <a:fillRect/>
                </a:stretch>
              </a:blipFill>
            </p:spPr>
            <p:txBody>
              <a:bodyPr/>
              <a:lstStyle/>
              <a:p>
                <a:r>
                  <a:rPr lang="es-AR">
                    <a:noFill/>
                  </a:rPr>
                  <a:t> </a:t>
                </a:r>
              </a:p>
            </p:txBody>
          </p:sp>
        </mc:Fallback>
      </mc:AlternateContent>
      <p:sp>
        <p:nvSpPr>
          <p:cNvPr id="12" name="Rectangle 11"/>
          <p:cNvSpPr/>
          <p:nvPr/>
        </p:nvSpPr>
        <p:spPr>
          <a:xfrm>
            <a:off x="411481" y="5154416"/>
            <a:ext cx="11430000" cy="73882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472287" y="5275460"/>
                <a:ext cx="11155680" cy="492443"/>
              </a:xfrm>
              <a:prstGeom prst="rect">
                <a:avLst/>
              </a:prstGeom>
              <a:noFill/>
            </p:spPr>
            <p:txBody>
              <a:bodyPr wrap="square">
                <a:spAutoFit/>
              </a:bodyPr>
              <a:lstStyle/>
              <a:p>
                <a:r>
                  <a:rPr lang="es-AR" sz="1300" dirty="0">
                    <a:solidFill>
                      <a:srgbClr val="1A3A6B"/>
                    </a:solidFill>
                    <a:latin typeface="Calibri"/>
                  </a:rPr>
                  <a:t>El determinante </a:t>
                </a:r>
                <a14:m>
                  <m:oMath xmlns:m="http://schemas.openxmlformats.org/officeDocument/2006/math">
                    <m:r>
                      <a:rPr lang="es-AR" sz="1300">
                        <a:solidFill>
                          <a:srgbClr val="1A3A6B"/>
                        </a:solidFill>
                        <a:latin typeface="Cambria Math" panose="02040503050406030204" pitchFamily="18" charset="0"/>
                      </a:rPr>
                      <m:t>𝑑𝑒𝑡</m:t>
                    </m:r>
                    <m:d>
                      <m:dPr>
                        <m:ctrlPr>
                          <a:rPr lang="es-AR" sz="1300" i="1">
                            <a:solidFill>
                              <a:srgbClr val="1A3A6B"/>
                            </a:solidFill>
                            <a:latin typeface="Cambria Math" panose="02040503050406030204" pitchFamily="18" charset="0"/>
                          </a:rPr>
                        </m:ctrlPr>
                      </m:dPr>
                      <m:e>
                        <m:r>
                          <a:rPr lang="es-AR" sz="1300">
                            <a:solidFill>
                              <a:srgbClr val="1A3A6B"/>
                            </a:solidFill>
                            <a:latin typeface="Cambria Math" panose="02040503050406030204" pitchFamily="18" charset="0"/>
                          </a:rPr>
                          <m:t>𝒪</m:t>
                        </m:r>
                      </m:e>
                    </m:d>
                    <m:r>
                      <a:rPr lang="es-AR" sz="1300">
                        <a:solidFill>
                          <a:srgbClr val="1A3A6B"/>
                        </a:solidFill>
                        <a:latin typeface="Cambria Math" panose="02040503050406030204" pitchFamily="18" charset="0"/>
                      </a:rPr>
                      <m:t>≠0</m:t>
                    </m:r>
                  </m:oMath>
                </a14:m>
                <a:r>
                  <a:rPr lang="es-AR" sz="1300" dirty="0">
                    <a:solidFill>
                      <a:srgbClr val="1A3A6B"/>
                    </a:solidFill>
                    <a:latin typeface="Calibri"/>
                  </a:rPr>
                  <a:t>, por lo que el sistema simplificado es totalmente observable desde </a:t>
                </a:r>
                <a14:m>
                  <m:oMath xmlns:m="http://schemas.openxmlformats.org/officeDocument/2006/math">
                    <m:sSub>
                      <m:sSubPr>
                        <m:ctrlPr>
                          <a:rPr lang="es-AR" sz="1300" i="1">
                            <a:solidFill>
                              <a:srgbClr val="1A3A6B"/>
                            </a:solidFill>
                            <a:latin typeface="Cambria Math" panose="02040503050406030204" pitchFamily="18" charset="0"/>
                          </a:rPr>
                        </m:ctrlPr>
                      </m:sSubPr>
                      <m:e>
                        <m:r>
                          <a:rPr lang="es-AR" sz="1300">
                            <a:solidFill>
                              <a:srgbClr val="1A3A6B"/>
                            </a:solidFill>
                            <a:latin typeface="Cambria Math" panose="02040503050406030204" pitchFamily="18" charset="0"/>
                          </a:rPr>
                          <m:t>𝜃</m:t>
                        </m:r>
                      </m:e>
                      <m:sub>
                        <m:r>
                          <a:rPr lang="es-AR" sz="1300">
                            <a:solidFill>
                              <a:srgbClr val="1A3A6B"/>
                            </a:solidFill>
                            <a:latin typeface="Cambria Math" panose="02040503050406030204" pitchFamily="18" charset="0"/>
                          </a:rPr>
                          <m:t>𝑚</m:t>
                        </m:r>
                      </m:sub>
                    </m:sSub>
                  </m:oMath>
                </a14:m>
                <a:r>
                  <a:rPr lang="es-AR" sz="1300" dirty="0">
                    <a:solidFill>
                      <a:srgbClr val="1A3A6B"/>
                    </a:solidFill>
                    <a:latin typeface="Calibri"/>
                  </a:rPr>
                  <a:t>.</a:t>
                </a:r>
                <a:br>
                  <a:rPr lang="es-MX" sz="1300" dirty="0">
                    <a:solidFill>
                      <a:srgbClr val="1A3A6B"/>
                    </a:solidFill>
                    <a:latin typeface="Calibri"/>
                  </a:rPr>
                </a:br>
                <a:r>
                  <a:rPr lang="es-AR" sz="1300" dirty="0">
                    <a:solidFill>
                      <a:srgbClr val="1A3A6B"/>
                    </a:solidFill>
                    <a:latin typeface="Calibri"/>
                  </a:rPr>
                  <a:t>El resultado de observabilidad garantiza que con un único sensor de posición (encoder) es posible estimar todas las variables de estado del sistema.</a:t>
                </a:r>
              </a:p>
            </p:txBody>
          </p:sp>
        </mc:Choice>
        <mc:Fallback xmlns="">
          <p:sp>
            <p:nvSpPr>
              <p:cNvPr id="13" name="TextBox 12"/>
              <p:cNvSpPr txBox="1">
                <a:spLocks noRot="1" noChangeAspect="1" noMove="1" noResize="1" noEditPoints="1" noAdjustHandles="1" noChangeArrowheads="1" noChangeShapeType="1" noTextEdit="1"/>
              </p:cNvSpPr>
              <p:nvPr/>
            </p:nvSpPr>
            <p:spPr>
              <a:xfrm>
                <a:off x="472287" y="5275460"/>
                <a:ext cx="11155680" cy="492443"/>
              </a:xfrm>
              <a:prstGeom prst="rect">
                <a:avLst/>
              </a:prstGeom>
              <a:blipFill>
                <a:blip r:embed="rId3"/>
                <a:stretch>
                  <a:fillRect l="-55" t="-1235" b="-987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6">
                <a:extLst>
                  <a:ext uri="{FF2B5EF4-FFF2-40B4-BE49-F238E27FC236}">
                    <a16:creationId xmlns:a16="http://schemas.microsoft.com/office/drawing/2014/main" id="{7101C5DD-C9F7-43B5-A986-B43987CC275F}"/>
                  </a:ext>
                </a:extLst>
              </p:cNvPr>
              <p:cNvSpPr txBox="1"/>
              <p:nvPr/>
            </p:nvSpPr>
            <p:spPr>
              <a:xfrm>
                <a:off x="274321" y="3257801"/>
                <a:ext cx="11430000" cy="523861"/>
              </a:xfrm>
              <a:prstGeom prst="rect">
                <a:avLst/>
              </a:prstGeom>
              <a:noFill/>
            </p:spPr>
            <p:txBody>
              <a:bodyPr wrap="square">
                <a:spAutoFit/>
              </a:bodyPr>
              <a:lstStyle/>
              <a:p>
                <a:pPr algn="l"/>
                <a:r>
                  <a:rPr lang="es-MX" sz="1400" dirty="0">
                    <a:solidFill>
                      <a:srgbClr val="1A1A2E"/>
                    </a:solidFill>
                    <a:latin typeface="Calibri"/>
                  </a:rPr>
                  <a:t>Si analizamos la observabilidad del modelo tomando como salida la posición, entonces </a:t>
                </a:r>
                <a:r>
                  <a:rPr lang="es-AR" sz="1400" dirty="0">
                    <a:solidFill>
                      <a:srgbClr val="1A1A2E"/>
                    </a:solidFill>
                    <a:latin typeface="Calibri"/>
                  </a:rPr>
                  <a:t>se procede a simplificar el análisis reduciendo el modelo bajo las hipótesis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r>
                      <a:rPr lang="es-MX" sz="1400" b="0" i="1" smtClean="0">
                        <a:solidFill>
                          <a:srgbClr val="1A1A2E"/>
                        </a:solidFill>
                        <a:latin typeface="Cambria Math" panose="02040503050406030204" pitchFamily="18" charset="0"/>
                      </a:rPr>
                      <m:t>=0</m:t>
                    </m:r>
                  </m:oMath>
                </a14:m>
                <a:r>
                  <a:rPr lang="es-AR" sz="1400" dirty="0">
                    <a:solidFill>
                      <a:srgbClr val="1A1A2E"/>
                    </a:solidFill>
                    <a:latin typeface="Calibri"/>
                  </a:rPr>
                  <a:t> y despreciando el efecto de la temperatura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m:t>
                        </m:r>
                      </m:sup>
                    </m:sSubSup>
                  </m:oMath>
                </a14:m>
                <a:r>
                  <a:rPr lang="es-AR" sz="1400" dirty="0">
                    <a:solidFill>
                      <a:srgbClr val="1A1A2E"/>
                    </a:solidFill>
                    <a:latin typeface="Calibri"/>
                  </a:rPr>
                  <a:t> en la dinámica</a:t>
                </a:r>
                <a:endParaRPr sz="1400" dirty="0">
                  <a:solidFill>
                    <a:srgbClr val="1A1A2E"/>
                  </a:solidFill>
                  <a:latin typeface="Calibri"/>
                </a:endParaRPr>
              </a:p>
            </p:txBody>
          </p:sp>
        </mc:Choice>
        <mc:Fallback xmlns="">
          <p:sp>
            <p:nvSpPr>
              <p:cNvPr id="16" name="TextBox 6">
                <a:extLst>
                  <a:ext uri="{FF2B5EF4-FFF2-40B4-BE49-F238E27FC236}">
                    <a16:creationId xmlns:a16="http://schemas.microsoft.com/office/drawing/2014/main" id="{7101C5DD-C9F7-43B5-A986-B43987CC275F}"/>
                  </a:ext>
                </a:extLst>
              </p:cNvPr>
              <p:cNvSpPr txBox="1">
                <a:spLocks noRot="1" noChangeAspect="1" noMove="1" noResize="1" noEditPoints="1" noAdjustHandles="1" noChangeArrowheads="1" noChangeShapeType="1" noTextEdit="1"/>
              </p:cNvSpPr>
              <p:nvPr/>
            </p:nvSpPr>
            <p:spPr>
              <a:xfrm>
                <a:off x="274321" y="3257801"/>
                <a:ext cx="11430000" cy="523861"/>
              </a:xfrm>
              <a:prstGeom prst="rect">
                <a:avLst/>
              </a:prstGeom>
              <a:blipFill>
                <a:blip r:embed="rId4"/>
                <a:stretch>
                  <a:fillRect l="-160" t="-1163" b="-11628"/>
                </a:stretch>
              </a:blipFill>
            </p:spPr>
            <p:txBody>
              <a:bodyPr/>
              <a:lstStyle/>
              <a:p>
                <a:r>
                  <a:rPr lang="es-AR">
                    <a:noFill/>
                  </a:rPr>
                  <a:t> </a:t>
                </a:r>
              </a:p>
            </p:txBody>
          </p:sp>
        </mc:Fallback>
      </mc:AlternateContent>
      <p:sp>
        <p:nvSpPr>
          <p:cNvPr id="17" name="Shape 14">
            <a:extLst>
              <a:ext uri="{FF2B5EF4-FFF2-40B4-BE49-F238E27FC236}">
                <a16:creationId xmlns:a16="http://schemas.microsoft.com/office/drawing/2014/main" id="{D6412B6C-5E25-4C05-8731-4546638D7020}"/>
              </a:ext>
            </a:extLst>
          </p:cNvPr>
          <p:cNvSpPr/>
          <p:nvPr/>
        </p:nvSpPr>
        <p:spPr>
          <a:xfrm>
            <a:off x="365760" y="3887825"/>
            <a:ext cx="11718081" cy="10515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8" name="TextBox 8">
                <a:extLst>
                  <a:ext uri="{FF2B5EF4-FFF2-40B4-BE49-F238E27FC236}">
                    <a16:creationId xmlns:a16="http://schemas.microsoft.com/office/drawing/2014/main" id="{44CCBDD6-DCD9-4C2E-A925-08CD526E890B}"/>
                  </a:ext>
                </a:extLst>
              </p:cNvPr>
              <p:cNvSpPr txBox="1"/>
              <p:nvPr/>
            </p:nvSpPr>
            <p:spPr>
              <a:xfrm>
                <a:off x="-84814" y="3878739"/>
                <a:ext cx="6829153" cy="1000402"/>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18" name="TextBox 8">
                <a:extLst>
                  <a:ext uri="{FF2B5EF4-FFF2-40B4-BE49-F238E27FC236}">
                    <a16:creationId xmlns:a16="http://schemas.microsoft.com/office/drawing/2014/main" id="{44CCBDD6-DCD9-4C2E-A925-08CD526E890B}"/>
                  </a:ext>
                </a:extLst>
              </p:cNvPr>
              <p:cNvSpPr txBox="1">
                <a:spLocks noRot="1" noChangeAspect="1" noMove="1" noResize="1" noEditPoints="1" noAdjustHandles="1" noChangeArrowheads="1" noChangeShapeType="1" noTextEdit="1"/>
              </p:cNvSpPr>
              <p:nvPr/>
            </p:nvSpPr>
            <p:spPr>
              <a:xfrm>
                <a:off x="-84814" y="3878739"/>
                <a:ext cx="6829153" cy="1000402"/>
              </a:xfrm>
              <a:prstGeom prst="rect">
                <a:avLst/>
              </a:prstGeom>
              <a:blipFill>
                <a:blip r:embed="rId5"/>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BF761FD9-1C08-4F3D-BCBB-17D6D1C0936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99EF442-B346-4B16-A4E1-C99E05B7948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96240" y="2106530"/>
            <a:ext cx="11672360" cy="13365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3961982" cy="415498"/>
          </a:xfrm>
          <a:prstGeom prst="rect">
            <a:avLst/>
          </a:prstGeom>
          <a:noFill/>
        </p:spPr>
        <p:txBody>
          <a:bodyPr wrap="none">
            <a:spAutoFit/>
          </a:bodyPr>
          <a:lstStyle/>
          <a:p>
            <a:pPr algn="l"/>
            <a:r>
              <a:rPr lang="es-AR" sz="2100" b="1" dirty="0">
                <a:solidFill>
                  <a:srgbClr val="FFFFFF"/>
                </a:solidFill>
                <a:latin typeface="Cambria"/>
              </a:rPr>
              <a:t>Observabilidad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1670394"/>
              </a:xfrm>
              <a:prstGeom prst="rect">
                <a:avLst/>
              </a:prstGeom>
              <a:noFill/>
            </p:spPr>
            <p:txBody>
              <a:bodyPr wrap="square">
                <a:spAutoFit/>
              </a:bodyPr>
              <a:lstStyle/>
              <a:p>
                <a:pPr algn="just">
                  <a:lnSpc>
                    <a:spcPct val="107000"/>
                  </a:lnSpc>
                  <a:spcAft>
                    <a:spcPts val="800"/>
                  </a:spcAft>
                </a:pPr>
                <a:r>
                  <a:rPr lang="es-AR" sz="1400" dirty="0">
                    <a:solidFill>
                      <a:srgbClr val="1A1A2E"/>
                    </a:solidFill>
                    <a:latin typeface="Calibri"/>
                  </a:rPr>
                  <a:t>Sin embargo, al evaluar numéricamente la observabilidad del sistema LTI equivalente aumentado, el determinante de la matriz de observabilidad resulta nulo, lo cual indica que el sistema no es completamente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En consecuencia, el modelo aumentado es parcialmente observable con esa salida, no pudiéndose reconstruir ciertos estados asociados al subsistema eléctrico en el eje d y a la dinámica térmica.</a:t>
                </a:r>
              </a:p>
              <a:p>
                <a:pPr algn="just">
                  <a:lnSpc>
                    <a:spcPct val="107000"/>
                  </a:lnSpc>
                  <a:spcAft>
                    <a:spcPts val="800"/>
                  </a:spcAft>
                </a:pPr>
                <a:r>
                  <a:rPr lang="es-AR" sz="1400" dirty="0">
                    <a:solidFill>
                      <a:srgbClr val="1A1A2E"/>
                    </a:solidFill>
                    <a:latin typeface="Calibri"/>
                  </a:rPr>
                  <a:t>Si en lugar de medir posición con encoder se considera un taco generador para medir velocidad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se repite el análisis aplicando la misma simplificación y tomando una matriz de salida del tipo. </a:t>
                </a:r>
              </a:p>
              <a:p>
                <a:pPr algn="just">
                  <a:lnSpc>
                    <a:spcPct val="107000"/>
                  </a:lnSpc>
                  <a:spcAft>
                    <a:spcPts val="800"/>
                  </a:spcAft>
                </a:pPr>
                <a:endParaRPr lang="es-AR" sz="140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1670394"/>
              </a:xfrm>
              <a:prstGeom prst="rect">
                <a:avLst/>
              </a:prstGeom>
              <a:blipFill>
                <a:blip r:embed="rId2"/>
                <a:stretch>
                  <a:fillRect l="-160" t="-365" r="-1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74320" y="2186265"/>
                <a:ext cx="5425144" cy="1075231"/>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num>
                                    <m:den>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e>
                              </m:box>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p>
                                    <m:sSupPr>
                                      <m:ctrlPr>
                                        <a:rPr lang="ar-AE" sz="1400" i="1">
                                          <a:solidFill>
                                            <a:schemeClr val="tx1"/>
                                          </a:solidFill>
                                          <a:latin typeface="Cambria Math" panose="02040503050406030204" pitchFamily="18" charset="0"/>
                                        </a:rPr>
                                      </m:ctrlPr>
                                    </m:sSupPr>
                                    <m:e>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e>
                                    <m:sup>
                                      <m:r>
                                        <a:rPr lang="ar-AE" sz="1400" i="1">
                                          <a:solidFill>
                                            <a:schemeClr val="tx1"/>
                                          </a:solidFill>
                                          <a:latin typeface="Cambria Math" panose="02040503050406030204" pitchFamily="18" charset="0"/>
                                        </a:rPr>
                                        <m:t>2</m:t>
                                      </m:r>
                                    </m:sup>
                                  </m:s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oMath>
                </a14:m>
                <a:r>
                  <a:rPr lang="ar-AE" sz="1400" b="1" dirty="0">
                    <a:solidFill>
                      <a:schemeClr val="tx1"/>
                    </a:solidFill>
                    <a:latin typeface="Calibri"/>
                  </a:rPr>
                  <a:t>, 	</a:t>
                </a:r>
                <a:r>
                  <a:rPr lang="ar-AE" sz="1400" dirty="0">
                    <a:solidFill>
                      <a:schemeClr val="tx1"/>
                    </a:solidFill>
                  </a:rPr>
                  <a:t> </a:t>
                </a:r>
                <a14:m>
                  <m:oMath xmlns:m="http://schemas.openxmlformats.org/officeDocument/2006/math">
                    <m:r>
                      <a:rPr lang="ar-AE" sz="1400">
                        <a:solidFill>
                          <a:schemeClr val="tx1"/>
                        </a:solidFill>
                        <a:latin typeface="Cambria Math" panose="02040503050406030204" pitchFamily="18" charset="0"/>
                      </a:rPr>
                      <m:t>𝐶</m:t>
                    </m:r>
                    <m:r>
                      <a:rPr lang="ar-AE" sz="140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a:solidFill>
                                    <a:schemeClr val="tx1"/>
                                  </a:solidFill>
                                  <a:latin typeface="Cambria Math" panose="02040503050406030204" pitchFamily="18" charset="0"/>
                                </a:rPr>
                                <m:t>0</m:t>
                              </m:r>
                            </m:e>
                            <m:e>
                              <m:r>
                                <a:rPr lang="ar-AE" sz="1400">
                                  <a:solidFill>
                                    <a:schemeClr val="tx1"/>
                                  </a:solidFill>
                                  <a:latin typeface="Cambria Math" panose="02040503050406030204" pitchFamily="18" charset="0"/>
                                </a:rPr>
                                <m:t>1</m:t>
                              </m:r>
                            </m:e>
                            <m:e>
                              <m:r>
                                <a:rPr lang="ar-AE" sz="1400">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74320" y="2186265"/>
                <a:ext cx="5425144" cy="1075231"/>
              </a:xfrm>
              <a:prstGeom prst="rect">
                <a:avLst/>
              </a:prstGeom>
              <a:blipFill>
                <a:blip r:embed="rId3"/>
                <a:stretch>
                  <a:fillRect/>
                </a:stretch>
              </a:blipFill>
            </p:spPr>
            <p:txBody>
              <a:bodyPr/>
              <a:lstStyle/>
              <a:p>
                <a:r>
                  <a:rPr lang="es-AR">
                    <a:noFill/>
                  </a:rPr>
                  <a:t> </a:t>
                </a:r>
              </a:p>
            </p:txBody>
          </p:sp>
        </mc:Fallback>
      </mc:AlternateContent>
      <p:sp>
        <p:nvSpPr>
          <p:cNvPr id="12" name="Rectangle 11"/>
          <p:cNvSpPr/>
          <p:nvPr/>
        </p:nvSpPr>
        <p:spPr>
          <a:xfrm>
            <a:off x="365760" y="3742625"/>
            <a:ext cx="11430000" cy="678455"/>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65760" y="3810271"/>
                <a:ext cx="11155680" cy="543162"/>
              </a:xfrm>
              <a:prstGeom prst="rect">
                <a:avLst/>
              </a:prstGeom>
              <a:noFill/>
            </p:spPr>
            <p:txBody>
              <a:bodyPr wrap="square">
                <a:spAutoFit/>
              </a:bodyPr>
              <a:lstStyle/>
              <a:p>
                <a:pPr algn="just">
                  <a:lnSpc>
                    <a:spcPct val="107000"/>
                  </a:lnSpc>
                  <a:spcBef>
                    <a:spcPts val="1200"/>
                  </a:spcBef>
                  <a:spcAft>
                    <a:spcPts val="800"/>
                  </a:spcAft>
                </a:pPr>
                <a:r>
                  <a:rPr lang="es-AR" sz="1400" dirty="0">
                    <a:solidFill>
                      <a:srgbClr val="1A1A2E"/>
                    </a:solidFill>
                    <a:latin typeface="Calibri"/>
                  </a:rPr>
                  <a:t>Bajo estas condiciones, la matriz de observabilidad obtenida tiene determinante igual a cero, por lo que el sistema no es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Esto es consistente con el hecho de que, aun conociendo la velocidad, no es posible recuperar la posición si la condición inicial de posición es desconocida.</a:t>
                </a:r>
              </a:p>
            </p:txBody>
          </p:sp>
        </mc:Choice>
        <mc:Fallback xmlns="">
          <p:sp>
            <p:nvSpPr>
              <p:cNvPr id="13" name="TextBox 12"/>
              <p:cNvSpPr txBox="1">
                <a:spLocks noRot="1" noChangeAspect="1" noMove="1" noResize="1" noEditPoints="1" noAdjustHandles="1" noChangeArrowheads="1" noChangeShapeType="1" noTextEdit="1"/>
              </p:cNvSpPr>
              <p:nvPr/>
            </p:nvSpPr>
            <p:spPr>
              <a:xfrm>
                <a:off x="365760" y="3810271"/>
                <a:ext cx="11155680" cy="543162"/>
              </a:xfrm>
              <a:prstGeom prst="rect">
                <a:avLst/>
              </a:prstGeom>
              <a:blipFill>
                <a:blip r:embed="rId4"/>
                <a:stretch>
                  <a:fillRect l="-164" t="-1124" r="-164" b="-12360"/>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0470EBB-D6CB-4D7C-A74A-2F6DBF978C5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B9C7D1E3-FF31-4895-B1EC-0865CB5DA00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42039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88D984E5-AAA2-4A7A-B785-552D83A42C05}"/>
              </a:ext>
            </a:extLst>
          </p:cNvPr>
          <p:cNvSpPr/>
          <p:nvPr/>
        </p:nvSpPr>
        <p:spPr>
          <a:xfrm>
            <a:off x="365760" y="3783945"/>
            <a:ext cx="11672359" cy="17711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232" y="73210"/>
            <a:ext cx="11551615" cy="658368"/>
          </a:xfrm>
          <a:prstGeom prst="rect">
            <a:avLst/>
          </a:prstGeom>
          <a:noFill/>
        </p:spPr>
        <p:txBody>
          <a:bodyPr wrap="none">
            <a:spAutoFit/>
          </a:bodyPr>
          <a:lstStyle/>
          <a:p>
            <a:pPr algn="l"/>
            <a:r>
              <a:rPr sz="2100" b="1" dirty="0" err="1">
                <a:solidFill>
                  <a:srgbClr val="FFFFFF"/>
                </a:solidFill>
                <a:latin typeface="Cambria"/>
              </a:rPr>
              <a:t>Controlabilidad</a:t>
            </a:r>
            <a:r>
              <a:rPr sz="2100" b="1" dirty="0">
                <a:solidFill>
                  <a:srgbClr val="FFFFFF"/>
                </a:solidFill>
                <a:latin typeface="Cambria"/>
              </a:rPr>
              <a:t>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p:sp>
        <p:nvSpPr>
          <p:cNvPr id="7" name="TextBox 6"/>
          <p:cNvSpPr txBox="1"/>
          <p:nvPr/>
        </p:nvSpPr>
        <p:spPr>
          <a:xfrm>
            <a:off x="320040" y="740197"/>
            <a:ext cx="11430000" cy="307777"/>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con p entradas es completamente controlable si el rango de la matriz de controlabilidad C es n.</a:t>
            </a:r>
          </a:p>
        </p:txBody>
      </p:sp>
      <p:sp>
        <p:nvSpPr>
          <p:cNvPr id="14" name="Shape 14">
            <a:extLst>
              <a:ext uri="{FF2B5EF4-FFF2-40B4-BE49-F238E27FC236}">
                <a16:creationId xmlns:a16="http://schemas.microsoft.com/office/drawing/2014/main" id="{A77D075C-2329-47AE-A04A-FA8EE65B618B}"/>
              </a:ext>
            </a:extLst>
          </p:cNvPr>
          <p:cNvSpPr/>
          <p:nvPr/>
        </p:nvSpPr>
        <p:spPr>
          <a:xfrm>
            <a:off x="365760" y="1192126"/>
            <a:ext cx="11672360" cy="175525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Box 8">
                <a:extLst>
                  <a:ext uri="{FF2B5EF4-FFF2-40B4-BE49-F238E27FC236}">
                    <a16:creationId xmlns:a16="http://schemas.microsoft.com/office/drawing/2014/main" id="{EEF5C91D-4DA2-495A-9E10-C1C80ADE5322}"/>
                  </a:ext>
                </a:extLst>
              </p:cNvPr>
              <p:cNvSpPr txBox="1"/>
              <p:nvPr/>
            </p:nvSpPr>
            <p:spPr>
              <a:xfrm>
                <a:off x="441960" y="1201183"/>
                <a:ext cx="711989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latin typeface="Cambria Math" panose="02040503050406030204" pitchFamily="18" charset="0"/>
                        </a:rPr>
                        <m:t>ℂ</m:t>
                      </m:r>
                      <m:r>
                        <a:rPr lang="es-AR" sz="1400" i="1" smtClean="0">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𝐵</m:t>
                          </m:r>
                          <m:r>
                            <a:rPr lang="es-AR" sz="1400" i="1">
                              <a:latin typeface="Cambria Math" panose="02040503050406030204" pitchFamily="18" charset="0"/>
                            </a:rPr>
                            <m:t> </m:t>
                          </m:r>
                          <m:r>
                            <a:rPr lang="es-AR" sz="1400" i="1">
                              <a:latin typeface="Cambria Math" panose="02040503050406030204" pitchFamily="18" charset="0"/>
                            </a:rPr>
                            <m:t>𝐴𝐵</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2</m:t>
                              </m:r>
                            </m:sup>
                          </m:sSup>
                          <m:r>
                            <a:rPr lang="es-AR" sz="1400" i="1">
                              <a:latin typeface="Cambria Math" panose="02040503050406030204" pitchFamily="18" charset="0"/>
                            </a:rPr>
                            <m:t>𝐵</m:t>
                          </m:r>
                          <m:r>
                            <a:rPr lang="es-AR" sz="1400" i="1">
                              <a:latin typeface="Cambria Math" panose="02040503050406030204" pitchFamily="18" charset="0"/>
                            </a:rPr>
                            <m:t>  . . .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𝑛</m:t>
                              </m:r>
                              <m:r>
                                <a:rPr lang="es-AR" sz="1400" i="1">
                                  <a:latin typeface="Cambria Math" panose="02040503050406030204" pitchFamily="18" charset="0"/>
                                </a:rPr>
                                <m:t>−</m:t>
                              </m:r>
                              <m:r>
                                <a:rPr lang="es-AR" sz="1400" i="1">
                                  <a:latin typeface="Cambria Math" panose="02040503050406030204" pitchFamily="18" charset="0"/>
                                </a:rPr>
                                <m:t>1</m:t>
                              </m:r>
                            </m:sup>
                          </m:sSup>
                          <m:r>
                            <a:rPr lang="es-AR" sz="1400" i="1">
                              <a:latin typeface="Cambria Math" panose="02040503050406030204" pitchFamily="18" charset="0"/>
                            </a:rPr>
                            <m:t>𝐵</m:t>
                          </m:r>
                          <m:r>
                            <a:rPr lang="es-AR" sz="1400">
                              <a:latin typeface="Cambria Math" panose="02040503050406030204" pitchFamily="18" charset="0"/>
                            </a:rPr>
                            <m:t> </m:t>
                          </m:r>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𝐵</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mr>
                            <m:mr>
                              <m:e>
                                <m:r>
                                  <a:rPr lang="es-AR" sz="1400" i="1">
                                    <a:latin typeface="Cambria Math" panose="02040503050406030204" pitchFamily="18" charset="0"/>
                                  </a:rPr>
                                  <m:t>0</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mr>
                                  <m:mr>
                                    <m:e>
                                      <m:r>
                                        <a:rPr lang="es-AR" sz="1400" i="1">
                                          <a:latin typeface="Cambria Math" panose="02040503050406030204" pitchFamily="18" charset="0"/>
                                        </a:rPr>
                                        <m:t>0</m:t>
                                      </m:r>
                                    </m:e>
                                  </m:mr>
                                </m:m>
                              </m:e>
                            </m:mr>
                          </m:m>
                        </m:e>
                      </m:d>
                    </m:oMath>
                  </m:oMathPara>
                </a14:m>
                <a:endParaRPr sz="1400" b="1" dirty="0">
                  <a:solidFill>
                    <a:srgbClr val="1B6B2A"/>
                  </a:solidFill>
                  <a:latin typeface="Calibri"/>
                </a:endParaRPr>
              </a:p>
            </p:txBody>
          </p:sp>
        </mc:Choice>
        <mc:Fallback xmlns="">
          <p:sp>
            <p:nvSpPr>
              <p:cNvPr id="15" name="TextBox 8">
                <a:extLst>
                  <a:ext uri="{FF2B5EF4-FFF2-40B4-BE49-F238E27FC236}">
                    <a16:creationId xmlns:a16="http://schemas.microsoft.com/office/drawing/2014/main" id="{EEF5C91D-4DA2-495A-9E10-C1C80ADE5322}"/>
                  </a:ext>
                </a:extLst>
              </p:cNvPr>
              <p:cNvSpPr txBox="1">
                <a:spLocks noRot="1" noChangeAspect="1" noMove="1" noResize="1" noEditPoints="1" noAdjustHandles="1" noChangeArrowheads="1" noChangeShapeType="1" noTextEdit="1"/>
              </p:cNvSpPr>
              <p:nvPr/>
            </p:nvSpPr>
            <p:spPr>
              <a:xfrm>
                <a:off x="441960" y="1201183"/>
                <a:ext cx="7119892" cy="167744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8D997F0-F44F-4854-97B1-8F21234D83DE}"/>
                  </a:ext>
                </a:extLst>
              </p:cNvPr>
              <p:cNvSpPr txBox="1"/>
              <p:nvPr/>
            </p:nvSpPr>
            <p:spPr>
              <a:xfrm>
                <a:off x="320040" y="3067624"/>
                <a:ext cx="11672359" cy="560346"/>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evalúa la controlabilidad del sistema LTI aumentado, desde la entrada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Para simplificar el cálculo, se considera inicialmente el modelo reducido bajo las hipótesis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despreciando la influencia de la temperatura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en la dinámica. La matriz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se simplifica a:</a:t>
                </a:r>
              </a:p>
            </p:txBody>
          </p:sp>
        </mc:Choice>
        <mc:Fallback xmlns="">
          <p:sp>
            <p:nvSpPr>
              <p:cNvPr id="17" name="CuadroTexto 16">
                <a:extLst>
                  <a:ext uri="{FF2B5EF4-FFF2-40B4-BE49-F238E27FC236}">
                    <a16:creationId xmlns:a16="http://schemas.microsoft.com/office/drawing/2014/main" id="{88D997F0-F44F-4854-97B1-8F21234D83DE}"/>
                  </a:ext>
                </a:extLst>
              </p:cNvPr>
              <p:cNvSpPr txBox="1">
                <a:spLocks noRot="1" noChangeAspect="1" noMove="1" noResize="1" noEditPoints="1" noAdjustHandles="1" noChangeArrowheads="1" noChangeShapeType="1" noTextEdit="1"/>
              </p:cNvSpPr>
              <p:nvPr/>
            </p:nvSpPr>
            <p:spPr>
              <a:xfrm>
                <a:off x="320040" y="3067624"/>
                <a:ext cx="11672359" cy="560346"/>
              </a:xfrm>
              <a:prstGeom prst="rect">
                <a:avLst/>
              </a:prstGeom>
              <a:blipFill>
                <a:blip r:embed="rId3"/>
                <a:stretch>
                  <a:fillRect l="-157" r="-157" b="-108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D6F130A-FBC4-4904-BB45-D397134FCF1C}"/>
                  </a:ext>
                </a:extLst>
              </p:cNvPr>
              <p:cNvSpPr txBox="1"/>
              <p:nvPr/>
            </p:nvSpPr>
            <p:spPr>
              <a:xfrm>
                <a:off x="320040" y="3808747"/>
                <a:ext cx="4799960" cy="16343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𝐵</m:t>
                      </m:r>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r>
                                  <a:rPr lang="es-AR" sz="1400" i="0">
                                    <a:solidFill>
                                      <a:schemeClr val="tx1"/>
                                    </a:solidFill>
                                    <a:latin typeface="Cambria Math" panose="02040503050406030204" pitchFamily="18" charset="0"/>
                                  </a:rPr>
                                  <m:t>0</m:t>
                                </m:r>
                              </m:e>
                            </m:mr>
                            <m:mr>
                              <m:e>
                                <m:r>
                                  <a:rPr lang="es-AR" sz="1400" i="0">
                                    <a:solidFill>
                                      <a:schemeClr val="tx1"/>
                                    </a:solidFill>
                                    <a:latin typeface="Cambria Math" panose="02040503050406030204" pitchFamily="18" charset="0"/>
                                  </a:rPr>
                                  <m:t>0</m:t>
                                </m:r>
                              </m:e>
                            </m:mr>
                            <m:m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mr>
                          </m:m>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r>
                        <a:rPr lang="es-AR" sz="1400" i="1">
                          <a:latin typeface="Cambria Math" panose="02040503050406030204" pitchFamily="18" charset="0"/>
                        </a:rPr>
                        <m:t>ℂ</m:t>
                      </m:r>
                      <m:r>
                        <a:rPr lang="es-AR" sz="1400" i="1">
                          <a:latin typeface="Cambria Math" panose="02040503050406030204" pitchFamily="18" charset="0"/>
                        </a:rPr>
                        <m:t> = </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Sup>
                                      <m:sSubSupPr>
                                        <m:ctrlPr>
                                          <a:rPr lang="es-AR" sz="1400" i="1">
                                            <a:latin typeface="Cambria Math" panose="02040503050406030204" pitchFamily="18" charset="0"/>
                                          </a:rPr>
                                        </m:ctrlPr>
                                      </m:sSubSupPr>
                                      <m:e>
                                        <m:r>
                                          <a:rPr lang="es-AR" sz="1400" i="1">
                                            <a:latin typeface="Cambria Math" panose="02040503050406030204" pitchFamily="18" charset="0"/>
                                          </a:rPr>
                                          <m:t>𝐽</m:t>
                                        </m:r>
                                      </m:e>
                                      <m:sub>
                                        <m:r>
                                          <a:rPr lang="es-AR" sz="1400" i="1">
                                            <a:latin typeface="Cambria Math" panose="02040503050406030204" pitchFamily="18" charset="0"/>
                                          </a:rPr>
                                          <m:t>𝑒𝑞</m:t>
                                        </m:r>
                                      </m:sub>
                                      <m:sup>
                                        <m:r>
                                          <a:rPr lang="es-AR" sz="1400" i="1">
                                            <a:latin typeface="Cambria Math" panose="02040503050406030204" pitchFamily="18" charset="0"/>
                                          </a:rPr>
                                          <m:t>2</m:t>
                                        </m:r>
                                      </m:sup>
                                    </m:sSubSup>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e>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𝑠</m:t>
                                        </m:r>
                                      </m:sub>
                                      <m:sup>
                                        <m:r>
                                          <a:rPr lang="es-AR" sz="1400" i="1">
                                            <a:latin typeface="Cambria Math" panose="02040503050406030204" pitchFamily="18" charset="0"/>
                                          </a:rPr>
                                          <m:t>2</m:t>
                                        </m:r>
                                      </m:sup>
                                    </m:sSubSup>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3</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Sup>
                                      <m:sSubSupPr>
                                        <m:ctrlPr>
                                          <a:rPr lang="es-AR" sz="1400" i="1">
                                            <a:latin typeface="Cambria Math" panose="02040503050406030204" pitchFamily="18" charset="0"/>
                                          </a:rPr>
                                        </m:ctrlPr>
                                      </m:sSubSupPr>
                                      <m:e>
                                        <m:r>
                                          <a:rPr lang="es-AR" sz="1400" i="1">
                                            <a:latin typeface="Cambria Math" panose="02040503050406030204" pitchFamily="18" charset="0"/>
                                          </a:rPr>
                                          <m:t>𝑃</m:t>
                                        </m:r>
                                      </m:e>
                                      <m:sub>
                                        <m:r>
                                          <a:rPr lang="es-AR" sz="1400" i="1">
                                            <a:latin typeface="Cambria Math" panose="02040503050406030204" pitchFamily="18" charset="0"/>
                                          </a:rPr>
                                          <m:t>𝑝</m:t>
                                        </m:r>
                                      </m:sub>
                                      <m:sup>
                                        <m:r>
                                          <a:rPr lang="es-AR" sz="1400" i="1">
                                            <a:latin typeface="Cambria Math" panose="02040503050406030204" pitchFamily="18" charset="0"/>
                                          </a:rPr>
                                          <m:t>2</m:t>
                                        </m:r>
                                      </m:sup>
                                    </m:sSubSup>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
                        </m:e>
                      </m:d>
                    </m:oMath>
                  </m:oMathPara>
                </a14:m>
                <a:endParaRPr lang="es-AR" sz="1400" dirty="0">
                  <a:solidFill>
                    <a:schemeClr val="tx1"/>
                  </a:solidFill>
                </a:endParaRPr>
              </a:p>
            </p:txBody>
          </p:sp>
        </mc:Choice>
        <mc:Fallback xmlns="">
          <p:sp>
            <p:nvSpPr>
              <p:cNvPr id="19" name="CuadroTexto 18">
                <a:extLst>
                  <a:ext uri="{FF2B5EF4-FFF2-40B4-BE49-F238E27FC236}">
                    <a16:creationId xmlns:a16="http://schemas.microsoft.com/office/drawing/2014/main" id="{DD6F130A-FBC4-4904-BB45-D397134FCF1C}"/>
                  </a:ext>
                </a:extLst>
              </p:cNvPr>
              <p:cNvSpPr txBox="1">
                <a:spLocks noRot="1" noChangeAspect="1" noMove="1" noResize="1" noEditPoints="1" noAdjustHandles="1" noChangeArrowheads="1" noChangeShapeType="1" noTextEdit="1"/>
              </p:cNvSpPr>
              <p:nvPr/>
            </p:nvSpPr>
            <p:spPr>
              <a:xfrm>
                <a:off x="320040" y="3808747"/>
                <a:ext cx="4799960" cy="1634358"/>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3AC6C61C-B986-46D4-88B7-80E1DC9A439B}"/>
                  </a:ext>
                </a:extLst>
              </p:cNvPr>
              <p:cNvSpPr txBox="1"/>
              <p:nvPr/>
            </p:nvSpPr>
            <p:spPr>
              <a:xfrm>
                <a:off x="365760" y="5623883"/>
                <a:ext cx="11672360" cy="790858"/>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El determinante es distinto de cero. El sistema simplificado es totalmente controlable desde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Sin embargo, si se analiza el sistema aumentado numéricamente, se observa que el sistema no es totalmente controlable. Es decir, se deberían implementar entradas de control adicionales para manipular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8" name="CuadroTexto 17">
                <a:extLst>
                  <a:ext uri="{FF2B5EF4-FFF2-40B4-BE49-F238E27FC236}">
                    <a16:creationId xmlns:a16="http://schemas.microsoft.com/office/drawing/2014/main" id="{3AC6C61C-B986-46D4-88B7-80E1DC9A439B}"/>
                  </a:ext>
                </a:extLst>
              </p:cNvPr>
              <p:cNvSpPr txBox="1">
                <a:spLocks noRot="1" noChangeAspect="1" noMove="1" noResize="1" noEditPoints="1" noAdjustHandles="1" noChangeArrowheads="1" noChangeShapeType="1" noTextEdit="1"/>
              </p:cNvSpPr>
              <p:nvPr/>
            </p:nvSpPr>
            <p:spPr>
              <a:xfrm>
                <a:off x="365760" y="5623883"/>
                <a:ext cx="11672360" cy="790858"/>
              </a:xfrm>
              <a:prstGeom prst="rect">
                <a:avLst/>
              </a:prstGeom>
              <a:blipFill>
                <a:blip r:embed="rId5"/>
                <a:stretch>
                  <a:fillRect l="-157" r="-157" b="-7752"/>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22B6A428-420C-4A3D-898C-D3482F948E4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9B63925-0C75-4087-A3AF-B51B2009572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Controlabilidad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1E11B25-3B84-4CFB-9B7A-BF639C90C521}"/>
                  </a:ext>
                </a:extLst>
              </p:cNvPr>
              <p:cNvSpPr txBox="1"/>
              <p:nvPr/>
            </p:nvSpPr>
            <p:spPr>
              <a:xfrm>
                <a:off x="411933" y="996894"/>
                <a:ext cx="10913951" cy="1350754"/>
              </a:xfrm>
              <a:prstGeom prst="rect">
                <a:avLst/>
              </a:prstGeom>
              <a:noFill/>
            </p:spPr>
            <p:txBody>
              <a:bodyPr wrap="square">
                <a:spAutoFit/>
              </a:bodyPr>
              <a:lstStyle/>
              <a:p>
                <a:pPr algn="just">
                  <a:spcBef>
                    <a:spcPts val="400"/>
                  </a:spcBef>
                  <a:spcAft>
                    <a:spcPts val="400"/>
                  </a:spcAft>
                </a:pPr>
                <a:r>
                  <a:rPr lang="es-AR" sz="1600" b="1" dirty="0">
                    <a:effectLst/>
                    <a:latin typeface="Calibri" panose="020F0502020204030204" pitchFamily="34" charset="0"/>
                    <a:ea typeface="Times New Roman" panose="02020603050405020304" pitchFamily="18" charset="0"/>
                  </a:rPr>
                  <a:t>Interpretación física:</a:t>
                </a:r>
                <a:endParaRPr lang="es-AR" sz="1600" dirty="0">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Corriente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600" dirty="0">
                    <a:solidFill>
                      <a:schemeClr val="tx1"/>
                    </a:solidFill>
                    <a:effectLst/>
                    <a:latin typeface="Calibri" panose="020F0502020204030204" pitchFamily="34" charset="0"/>
                    <a:ea typeface="Times New Roman" panose="02020603050405020304" pitchFamily="18" charset="0"/>
                  </a:rPr>
                  <a:t>​: No aparece en la ecuación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Para controlarla se necesita actuar sobre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  </a:t>
                </a:r>
                <a:endParaRPr lang="es-AR" sz="16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Temperatura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Depende de las pérdidas Joule que son función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AR" sz="1600" i="1">
                        <a:solidFill>
                          <a:schemeClr val="tx1"/>
                        </a:solidFill>
                        <a:effectLst/>
                        <a:latin typeface="Cambria Math" panose="02040503050406030204" pitchFamily="18" charset="0"/>
                        <a:ea typeface="Times New Roman" panose="02020603050405020304" pitchFamily="18" charset="0"/>
                      </a:rPr>
                      <m:t>+</m:t>
                    </m:r>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MX" sz="1600" b="0" i="0" smtClean="0">
                        <a:solidFill>
                          <a:schemeClr val="tx1"/>
                        </a:solidFill>
                        <a:effectLst/>
                        <a:latin typeface="Cambria Math" panose="02040503050406030204" pitchFamily="18" charset="0"/>
                        <a:ea typeface="Times New Roman" panose="02020603050405020304" pitchFamily="18" charset="0"/>
                      </a:rPr>
                      <m:t>. </m:t>
                    </m:r>
                  </m:oMath>
                </a14:m>
                <a:r>
                  <a:rPr lang="es-AR" sz="1600" dirty="0">
                    <a:solidFill>
                      <a:schemeClr val="tx1"/>
                    </a:solidFill>
                    <a:effectLst/>
                    <a:latin typeface="Calibri" panose="020F0502020204030204" pitchFamily="34" charset="0"/>
                    <a:ea typeface="Times New Roman" panose="02020603050405020304" pitchFamily="18" charset="0"/>
                  </a:rPr>
                  <a:t>Aunque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puede influir indirectamente en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a través de </a:t>
                </a:r>
                <a14:m>
                  <m:oMath xmlns:m="http://schemas.openxmlformats.org/officeDocument/2006/math">
                    <m:sSubSup>
                      <m:sSubSupPr>
                        <m:ctrlPr>
                          <a:rPr lang="es-AR" sz="16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a:t>
                </a:r>
                <a:r>
                  <a:rPr lang="es-AR" sz="1600" b="1" dirty="0">
                    <a:solidFill>
                      <a:schemeClr val="tx1"/>
                    </a:solidFill>
                    <a:effectLst/>
                    <a:latin typeface="Calibri" panose="020F0502020204030204" pitchFamily="34" charset="0"/>
                    <a:ea typeface="Times New Roman" panose="02020603050405020304" pitchFamily="18" charset="0"/>
                  </a:rPr>
                  <a:t>no puede forzar 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a:t>
                </a:r>
                <a:r>
                  <a:rPr lang="es-AR" sz="1600" b="1" dirty="0">
                    <a:solidFill>
                      <a:schemeClr val="tx1"/>
                    </a:solidFill>
                    <a:effectLst/>
                    <a:latin typeface="Calibri" panose="020F0502020204030204" pitchFamily="34" charset="0"/>
                    <a:ea typeface="Times New Roman" panose="02020603050405020304" pitchFamily="18" charset="0"/>
                  </a:rPr>
                  <a:t> a un valor arbitrario </a:t>
                </a:r>
                <a:r>
                  <a:rPr lang="es-AR" sz="1600" dirty="0">
                    <a:solidFill>
                      <a:schemeClr val="tx1"/>
                    </a:solidFill>
                    <a:effectLst/>
                    <a:latin typeface="Calibri" panose="020F0502020204030204" pitchFamily="34" charset="0"/>
                    <a:ea typeface="Times New Roman" panose="02020603050405020304" pitchFamily="18" charset="0"/>
                  </a:rPr>
                  <a:t>porque la dinámica térmica es autónoma.</a:t>
                </a:r>
                <a:endParaRPr lang="es-AR" sz="16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8" name="CuadroTexto 17">
                <a:extLst>
                  <a:ext uri="{FF2B5EF4-FFF2-40B4-BE49-F238E27FC236}">
                    <a16:creationId xmlns:a16="http://schemas.microsoft.com/office/drawing/2014/main" id="{71E11B25-3B84-4CFB-9B7A-BF639C90C521}"/>
                  </a:ext>
                </a:extLst>
              </p:cNvPr>
              <p:cNvSpPr txBox="1">
                <a:spLocks noRot="1" noChangeAspect="1" noMove="1" noResize="1" noEditPoints="1" noAdjustHandles="1" noChangeArrowheads="1" noChangeShapeType="1" noTextEdit="1"/>
              </p:cNvSpPr>
              <p:nvPr/>
            </p:nvSpPr>
            <p:spPr>
              <a:xfrm>
                <a:off x="411933" y="996894"/>
                <a:ext cx="10913951" cy="1350754"/>
              </a:xfrm>
              <a:prstGeom prst="rect">
                <a:avLst/>
              </a:prstGeom>
              <a:blipFill>
                <a:blip r:embed="rId2"/>
                <a:stretch>
                  <a:fillRect l="-335" t="-1357" r="-279" b="-4072"/>
                </a:stretch>
              </a:blipFill>
            </p:spPr>
            <p:txBody>
              <a:bodyPr/>
              <a:lstStyle/>
              <a:p>
                <a:r>
                  <a:rPr lang="es-AR">
                    <a:noFill/>
                  </a:rPr>
                  <a:t> </a:t>
                </a:r>
              </a:p>
            </p:txBody>
          </p:sp>
        </mc:Fallback>
      </mc:AlternateContent>
      <p:sp>
        <p:nvSpPr>
          <p:cNvPr id="7" name="Shape 2">
            <a:extLst>
              <a:ext uri="{FF2B5EF4-FFF2-40B4-BE49-F238E27FC236}">
                <a16:creationId xmlns:a16="http://schemas.microsoft.com/office/drawing/2014/main" id="{980706F5-6513-4AE0-B1B9-F15A452A04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1FD6463C-8ECC-4B5E-BE9A-6E2DA717194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55757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Respuesta dinámica a lazo abierto</a:t>
            </a:r>
          </a:p>
        </p:txBody>
      </p:sp>
      <p:sp>
        <p:nvSpPr>
          <p:cNvPr id="4" name="TextBox 3"/>
          <p:cNvSpPr txBox="1"/>
          <p:nvPr/>
        </p:nvSpPr>
        <p:spPr>
          <a:xfrm>
            <a:off x="3758605" y="3429000"/>
            <a:ext cx="4674485" cy="353943"/>
          </a:xfrm>
          <a:prstGeom prst="rect">
            <a:avLst/>
          </a:prstGeom>
          <a:noFill/>
        </p:spPr>
        <p:txBody>
          <a:bodyPr wrap="none">
            <a:spAutoFit/>
          </a:bodyPr>
          <a:lstStyle/>
          <a:p>
            <a:pPr algn="ctr"/>
            <a:r>
              <a:rPr lang="es-AR" sz="1700" dirty="0">
                <a:solidFill>
                  <a:srgbClr val="A0C4FF"/>
                </a:solidFill>
                <a:latin typeface="Calibri"/>
              </a:rPr>
              <a:t>Simulación del modelo NL · 4 cuadrantes · LTI vs NL</a:t>
            </a:r>
          </a:p>
        </p:txBody>
      </p:sp>
      <p:sp>
        <p:nvSpPr>
          <p:cNvPr id="5" name="Shape 4">
            <a:extLst>
              <a:ext uri="{FF2B5EF4-FFF2-40B4-BE49-F238E27FC236}">
                <a16:creationId xmlns:a16="http://schemas.microsoft.com/office/drawing/2014/main" id="{3D60419B-BD00-4C61-AA51-52AC809A8D5E}"/>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C4E0C6ED-563E-49AB-8131-0DE0A9CB5BCD}"/>
              </a:ext>
            </a:extLst>
          </p:cNvPr>
          <p:cNvPicPr/>
          <p:nvPr/>
        </p:nvPicPr>
        <p:blipFill rotWithShape="1">
          <a:blip r:embed="rId2"/>
          <a:srcRect l="-1634" r="-816"/>
          <a:stretch/>
        </p:blipFill>
        <p:spPr bwMode="auto">
          <a:xfrm>
            <a:off x="1322773" y="2259275"/>
            <a:ext cx="9072978" cy="3235563"/>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9153" y="117547"/>
            <a:ext cx="6599820" cy="415498"/>
          </a:xfrm>
          <a:prstGeom prst="rect">
            <a:avLst/>
          </a:prstGeom>
          <a:noFill/>
        </p:spPr>
        <p:txBody>
          <a:bodyPr wrap="none">
            <a:spAutoFit/>
          </a:bodyPr>
          <a:lstStyle/>
          <a:p>
            <a:pPr algn="l"/>
            <a:r>
              <a:rPr lang="es-AR" sz="2100" b="1" dirty="0">
                <a:solidFill>
                  <a:srgbClr val="FFFFFF"/>
                </a:solidFill>
                <a:latin typeface="Cambria"/>
              </a:rPr>
              <a:t>Respuesta dinámica — Descripción de la simulación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38 / ~75</a:t>
            </a:r>
          </a:p>
        </p:txBody>
      </p:sp>
      <p:sp>
        <p:nvSpPr>
          <p:cNvPr id="7" name="TextBox 6"/>
          <p:cNvSpPr txBox="1"/>
          <p:nvPr/>
        </p:nvSpPr>
        <p:spPr>
          <a:xfrm>
            <a:off x="365760" y="777240"/>
            <a:ext cx="7772400" cy="411480"/>
          </a:xfrm>
          <a:prstGeom prst="rect">
            <a:avLst/>
          </a:prstGeom>
          <a:noFill/>
        </p:spPr>
        <p:txBody>
          <a:bodyPr wrap="square">
            <a:spAutoFit/>
          </a:bodyPr>
          <a:lstStyle/>
          <a:p>
            <a:pPr algn="l"/>
            <a:r>
              <a:rPr sz="1400" b="1" i="0">
                <a:solidFill>
                  <a:srgbClr val="1A3A6B"/>
                </a:solidFill>
                <a:latin typeface="Calibri"/>
              </a:rPr>
              <a:t>Se simula el modelo global NL con las siguientes entradas:</a:t>
            </a:r>
          </a:p>
        </p:txBody>
      </p:sp>
      <mc:AlternateContent xmlns:mc="http://schemas.openxmlformats.org/markup-compatibility/2006" xmlns:a14="http://schemas.microsoft.com/office/drawing/2010/main">
        <mc:Choice Requires="a14">
          <p:sp>
            <p:nvSpPr>
              <p:cNvPr id="8" name="TextBox 7"/>
              <p:cNvSpPr txBox="1"/>
              <p:nvPr/>
            </p:nvSpPr>
            <p:spPr>
              <a:xfrm>
                <a:off x="428342" y="1188720"/>
                <a:ext cx="11335009" cy="879856"/>
              </a:xfrm>
              <a:prstGeom prst="rect">
                <a:avLst/>
              </a:prstGeom>
              <a:noFill/>
            </p:spPr>
            <p:txBody>
              <a:bodyPr wrap="square">
                <a:spAutoFit/>
              </a:bodyPr>
              <a:lstStyle/>
              <a:p>
                <a:r>
                  <a:rPr lang="es-AR" sz="1400" dirty="0">
                    <a:solidFill>
                      <a:srgbClr val="1A1A2E"/>
                    </a:solidFill>
                    <a:latin typeface="Calibri"/>
                  </a:rPr>
                  <a:t>Consigna de tensión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𝑣</m:t>
                        </m:r>
                      </m:e>
                      <m:sub>
                        <m:r>
                          <a:rPr lang="es-AR" sz="1400">
                            <a:solidFill>
                              <a:srgbClr val="1A1A2E"/>
                            </a:solidFill>
                            <a:latin typeface="Cambria Math" panose="02040503050406030204" pitchFamily="18" charset="0"/>
                          </a:rPr>
                          <m:t>𝑞𝑠</m:t>
                        </m:r>
                      </m:sub>
                      <m:sup>
                        <m:r>
                          <a:rPr lang="es-AR" sz="1400">
                            <a:solidFill>
                              <a:srgbClr val="1A1A2E"/>
                            </a:solidFill>
                            <a:latin typeface="Cambria Math" panose="02040503050406030204" pitchFamily="18" charset="0"/>
                          </a:rPr>
                          <m:t>𝑟</m:t>
                        </m:r>
                      </m:sup>
                    </m:sSubSup>
                  </m:oMath>
                </a14:m>
                <a:r>
                  <a:rPr lang="es-AR" sz="1400" dirty="0">
                    <a:solidFill>
                      <a:srgbClr val="1A1A2E"/>
                    </a:solidFill>
                    <a:latin typeface="Calibri"/>
                  </a:rPr>
                  <a:t>: escalones de ±19.56 V en t = 0.1 s, t = 0.7 s y t = 1.1 s</a:t>
                </a:r>
              </a:p>
              <a:p>
                <a:pPr>
                  <a:spcBef>
                    <a:spcPts val="400"/>
                  </a:spcBef>
                </a:pPr>
                <a:r>
                  <a:rPr lang="es-AR" sz="1400" dirty="0">
                    <a:solidFill>
                      <a:srgbClr val="1A1A2E"/>
                    </a:solidFill>
                    <a:latin typeface="Calibri"/>
                  </a:rPr>
                  <a:t>Perturbaciones de torque de carga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𝑙</m:t>
                        </m:r>
                      </m:sub>
                    </m:sSub>
                  </m:oMath>
                </a14:m>
                <a:r>
                  <a:rPr lang="es-AR" sz="1400" dirty="0">
                    <a:solidFill>
                      <a:srgbClr val="1A1A2E"/>
                    </a:solidFill>
                    <a:latin typeface="Calibri"/>
                  </a:rPr>
                  <a:t>: doble pulso ±6.28 N·m entre t = 0.3–0.9 s y t = 1.3–1.9 s</a:t>
                </a:r>
              </a:p>
              <a:p>
                <a:pPr>
                  <a:spcBef>
                    <a:spcPts val="400"/>
                  </a:spcBef>
                </a:pPr>
                <a:r>
                  <a:rPr lang="es-AR" sz="1400" dirty="0">
                    <a:solidFill>
                      <a:srgbClr val="1A1A2E"/>
                    </a:solidFill>
                    <a:latin typeface="Calibri"/>
                  </a:rPr>
                  <a:t>Condiciones iniciales nulas: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MX" sz="1400">
                            <a:solidFill>
                              <a:srgbClr val="1A1A2E"/>
                            </a:solidFill>
                            <a:latin typeface="Cambria Math" panose="02040503050406030204" pitchFamily="18" charset="0"/>
                          </a:rPr>
                          <m:t>𝑞</m:t>
                        </m:r>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0,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oMath>
                </a14:m>
                <a:r>
                  <a:rPr lang="es-AR" sz="1400" dirty="0">
                    <a:solidFill>
                      <a:srgbClr val="1A1A2E"/>
                    </a:solidFill>
                    <a:latin typeface="Calibri"/>
                  </a:rPr>
                  <a:t> = Tamb = 40°C</a:t>
                </a:r>
              </a:p>
            </p:txBody>
          </p:sp>
        </mc:Choice>
        <mc:Fallback xmlns="">
          <p:sp>
            <p:nvSpPr>
              <p:cNvPr id="8" name="TextBox 7"/>
              <p:cNvSpPr txBox="1">
                <a:spLocks noRot="1" noChangeAspect="1" noMove="1" noResize="1" noEditPoints="1" noAdjustHandles="1" noChangeArrowheads="1" noChangeShapeType="1" noTextEdit="1"/>
              </p:cNvSpPr>
              <p:nvPr/>
            </p:nvSpPr>
            <p:spPr>
              <a:xfrm>
                <a:off x="428342" y="1188720"/>
                <a:ext cx="11335009" cy="879856"/>
              </a:xfrm>
              <a:prstGeom prst="rect">
                <a:avLst/>
              </a:prstGeom>
              <a:blipFill>
                <a:blip r:embed="rId3"/>
                <a:stretch>
                  <a:fillRect l="-161" t="-694" b="-4167"/>
                </a:stretch>
              </a:blipFill>
            </p:spPr>
            <p:txBody>
              <a:bodyPr/>
              <a:lstStyle/>
              <a:p>
                <a:r>
                  <a:rPr lang="es-AR">
                    <a:noFill/>
                  </a:rPr>
                  <a:t> </a:t>
                </a:r>
              </a:p>
            </p:txBody>
          </p:sp>
        </mc:Fallback>
      </mc:AlternateContent>
      <p:sp>
        <p:nvSpPr>
          <p:cNvPr id="18" name="CuadroTexto 17">
            <a:extLst>
              <a:ext uri="{FF2B5EF4-FFF2-40B4-BE49-F238E27FC236}">
                <a16:creationId xmlns:a16="http://schemas.microsoft.com/office/drawing/2014/main" id="{247D878E-C5E7-4C06-93AF-E9B576AB979D}"/>
              </a:ext>
            </a:extLst>
          </p:cNvPr>
          <p:cNvSpPr txBox="1"/>
          <p:nvPr/>
        </p:nvSpPr>
        <p:spPr>
          <a:xfrm>
            <a:off x="1976014" y="556364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14— </a:t>
            </a:r>
            <a:r>
              <a:rPr lang="es-AR" sz="1100" i="1" dirty="0">
                <a:solidFill>
                  <a:srgbClr val="224488"/>
                </a:solidFill>
                <a:latin typeface="Calibri" pitchFamily="34" charset="0"/>
                <a:cs typeface="Calibri" pitchFamily="34" charset="-120"/>
              </a:rPr>
              <a:t>Entrada de tensión y torque de perturbación</a:t>
            </a:r>
          </a:p>
        </p:txBody>
      </p:sp>
      <p:sp>
        <p:nvSpPr>
          <p:cNvPr id="10" name="Shape 2">
            <a:extLst>
              <a:ext uri="{FF2B5EF4-FFF2-40B4-BE49-F238E27FC236}">
                <a16:creationId xmlns:a16="http://schemas.microsoft.com/office/drawing/2014/main" id="{4F73D3C3-3B70-4D8D-955E-0DE7B68503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D11588B5-281D-4505-BC79-F69EED3594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pic>
        <p:nvPicPr>
          <p:cNvPr id="23" name="Imagen 22">
            <a:extLst>
              <a:ext uri="{FF2B5EF4-FFF2-40B4-BE49-F238E27FC236}">
                <a16:creationId xmlns:a16="http://schemas.microsoft.com/office/drawing/2014/main" id="{33BEBE12-7637-47D1-9CB1-60155501F8FA}"/>
              </a:ext>
            </a:extLst>
          </p:cNvPr>
          <p:cNvPicPr>
            <a:picLocks noChangeAspect="1"/>
          </p:cNvPicPr>
          <p:nvPr/>
        </p:nvPicPr>
        <p:blipFill rotWithShape="1">
          <a:blip r:embed="rId2"/>
          <a:srcRect t="1" r="2045" b="-2063"/>
          <a:stretch/>
        </p:blipFill>
        <p:spPr>
          <a:xfrm>
            <a:off x="1" y="756712"/>
            <a:ext cx="6096000" cy="2474760"/>
          </a:xfrm>
          <a:prstGeom prst="rect">
            <a:avLst/>
          </a:prstGeom>
        </p:spPr>
      </p:pic>
      <p:pic>
        <p:nvPicPr>
          <p:cNvPr id="25" name="Imagen 24">
            <a:extLst>
              <a:ext uri="{FF2B5EF4-FFF2-40B4-BE49-F238E27FC236}">
                <a16:creationId xmlns:a16="http://schemas.microsoft.com/office/drawing/2014/main" id="{630D634D-26C9-476A-B795-FAB30D5B9D38}"/>
              </a:ext>
            </a:extLst>
          </p:cNvPr>
          <p:cNvPicPr>
            <a:picLocks noChangeAspect="1"/>
          </p:cNvPicPr>
          <p:nvPr/>
        </p:nvPicPr>
        <p:blipFill>
          <a:blip r:embed="rId3"/>
          <a:stretch>
            <a:fillRect/>
          </a:stretch>
        </p:blipFill>
        <p:spPr>
          <a:xfrm>
            <a:off x="6096001" y="756712"/>
            <a:ext cx="6095694" cy="2374546"/>
          </a:xfrm>
          <a:prstGeom prst="rect">
            <a:avLst/>
          </a:prstGeom>
        </p:spPr>
      </p:pic>
      <p:pic>
        <p:nvPicPr>
          <p:cNvPr id="27" name="Imagen 26">
            <a:extLst>
              <a:ext uri="{FF2B5EF4-FFF2-40B4-BE49-F238E27FC236}">
                <a16:creationId xmlns:a16="http://schemas.microsoft.com/office/drawing/2014/main" id="{C069C04C-A846-43D1-8B24-83FD4A22E05C}"/>
              </a:ext>
            </a:extLst>
          </p:cNvPr>
          <p:cNvPicPr>
            <a:picLocks noChangeAspect="1"/>
          </p:cNvPicPr>
          <p:nvPr/>
        </p:nvPicPr>
        <p:blipFill>
          <a:blip r:embed="rId4"/>
          <a:stretch>
            <a:fillRect/>
          </a:stretch>
        </p:blipFill>
        <p:spPr>
          <a:xfrm>
            <a:off x="3000060" y="3131258"/>
            <a:ext cx="6446374" cy="2576394"/>
          </a:xfrm>
          <a:prstGeom prst="rect">
            <a:avLst/>
          </a:prstGeom>
        </p:spPr>
      </p:pic>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CD8FF6B-7F48-4B69-BA77-7061EB35BD6C}"/>
                  </a:ext>
                </a:extLst>
              </p:cNvPr>
              <p:cNvSpPr txBox="1"/>
              <p:nvPr/>
            </p:nvSpPr>
            <p:spPr>
              <a:xfrm>
                <a:off x="2370603" y="582525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15— Respuesta del sistema NL: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𝜃</m:t>
                        </m:r>
                      </m:e>
                      <m:sub>
                        <m:r>
                          <a:rPr lang="es-AR" sz="1100" i="1">
                            <a:solidFill>
                              <a:srgbClr val="224488"/>
                            </a:solidFill>
                            <a:latin typeface="Cambria Math" panose="02040503050406030204" pitchFamily="18" charset="0"/>
                            <a:ea typeface="Calibri" pitchFamily="34" charset="-122"/>
                            <a:cs typeface="Calibri" pitchFamily="34" charset="-120"/>
                          </a:rPr>
                          <m:t>𝑚</m:t>
                        </m:r>
                      </m:sub>
                    </m:sSub>
                    <m:r>
                      <a:rPr lang="es-AR" sz="1100" i="1">
                        <a:solidFill>
                          <a:srgbClr val="224488"/>
                        </a:solidFill>
                        <a:latin typeface="Cambria Math" panose="02040503050406030204" pitchFamily="18" charset="0"/>
                        <a:ea typeface="Calibri" pitchFamily="34" charset="-122"/>
                        <a:cs typeface="Calibri" pitchFamily="34" charset="-120"/>
                      </a:rPr>
                      <m:t>, </m:t>
                    </m:r>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respectivamente</a:t>
                </a:r>
              </a:p>
            </p:txBody>
          </p:sp>
        </mc:Choice>
        <mc:Fallback xmlns="">
          <p:sp>
            <p:nvSpPr>
              <p:cNvPr id="28" name="CuadroTexto 27">
                <a:extLst>
                  <a:ext uri="{FF2B5EF4-FFF2-40B4-BE49-F238E27FC236}">
                    <a16:creationId xmlns:a16="http://schemas.microsoft.com/office/drawing/2014/main" id="{3CD8FF6B-7F48-4B69-BA77-7061EB35BD6C}"/>
                  </a:ext>
                </a:extLst>
              </p:cNvPr>
              <p:cNvSpPr txBox="1">
                <a:spLocks noRot="1" noChangeAspect="1" noMove="1" noResize="1" noEditPoints="1" noAdjustHandles="1" noChangeArrowheads="1" noChangeShapeType="1" noTextEdit="1"/>
              </p:cNvSpPr>
              <p:nvPr/>
            </p:nvSpPr>
            <p:spPr>
              <a:xfrm>
                <a:off x="2370603" y="5825256"/>
                <a:ext cx="7705288" cy="261610"/>
              </a:xfrm>
              <a:prstGeom prst="rect">
                <a:avLst/>
              </a:prstGeom>
              <a:blipFill>
                <a:blip r:embed="rId5"/>
                <a:stretch>
                  <a:fillRect b="-16279"/>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E5E0C3D0-923E-47FD-B4FD-91F6262E4A2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500AFDC3-8ADA-460C-9388-E9E2B4E86E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EF5ECAAA-6EA8-4DC5-9BC4-DEEE3BFDEA19}"/>
              </a:ext>
            </a:extLst>
          </p:cNvPr>
          <p:cNvPicPr>
            <a:picLocks noChangeAspect="1"/>
          </p:cNvPicPr>
          <p:nvPr/>
        </p:nvPicPr>
        <p:blipFill>
          <a:blip r:embed="rId2"/>
          <a:stretch>
            <a:fillRect/>
          </a:stretch>
        </p:blipFill>
        <p:spPr>
          <a:xfrm>
            <a:off x="91053" y="3560639"/>
            <a:ext cx="4025102" cy="2856288"/>
          </a:xfrm>
          <a:prstGeom prst="rect">
            <a:avLst/>
          </a:prstGeom>
        </p:spPr>
      </p:pic>
      <p:pic>
        <p:nvPicPr>
          <p:cNvPr id="27" name="Imagen 26">
            <a:extLst>
              <a:ext uri="{FF2B5EF4-FFF2-40B4-BE49-F238E27FC236}">
                <a16:creationId xmlns:a16="http://schemas.microsoft.com/office/drawing/2014/main" id="{09165717-D2DB-45CC-88F0-6266CED539BA}"/>
              </a:ext>
            </a:extLst>
          </p:cNvPr>
          <p:cNvPicPr>
            <a:picLocks noChangeAspect="1"/>
          </p:cNvPicPr>
          <p:nvPr/>
        </p:nvPicPr>
        <p:blipFill rotWithShape="1">
          <a:blip r:embed="rId3"/>
          <a:srcRect r="4768" b="9471"/>
          <a:stretch/>
        </p:blipFill>
        <p:spPr>
          <a:xfrm>
            <a:off x="4209973" y="3517623"/>
            <a:ext cx="4060741" cy="2843604"/>
          </a:xfrm>
          <a:prstGeom prst="rect">
            <a:avLst/>
          </a:prstGeom>
        </p:spPr>
      </p:pic>
      <p:pic>
        <p:nvPicPr>
          <p:cNvPr id="23" name="Imagen 22">
            <a:extLst>
              <a:ext uri="{FF2B5EF4-FFF2-40B4-BE49-F238E27FC236}">
                <a16:creationId xmlns:a16="http://schemas.microsoft.com/office/drawing/2014/main" id="{36E7A5AC-9094-429C-AA60-7142231F7EA6}"/>
              </a:ext>
            </a:extLst>
          </p:cNvPr>
          <p:cNvPicPr>
            <a:picLocks noChangeAspect="1"/>
          </p:cNvPicPr>
          <p:nvPr/>
        </p:nvPicPr>
        <p:blipFill>
          <a:blip r:embed="rId4"/>
          <a:stretch>
            <a:fillRect/>
          </a:stretch>
        </p:blipFill>
        <p:spPr>
          <a:xfrm>
            <a:off x="7997656" y="711477"/>
            <a:ext cx="3899940" cy="2774548"/>
          </a:xfrm>
          <a:prstGeom prst="rect">
            <a:avLst/>
          </a:prstGeom>
        </p:spPr>
      </p:pic>
      <p:pic>
        <p:nvPicPr>
          <p:cNvPr id="19" name="Imagen 18">
            <a:extLst>
              <a:ext uri="{FF2B5EF4-FFF2-40B4-BE49-F238E27FC236}">
                <a16:creationId xmlns:a16="http://schemas.microsoft.com/office/drawing/2014/main" id="{DCBE0694-1FC6-4BCD-8D6A-71F13C9FE6DF}"/>
              </a:ext>
            </a:extLst>
          </p:cNvPr>
          <p:cNvPicPr>
            <a:picLocks noChangeAspect="1"/>
          </p:cNvPicPr>
          <p:nvPr/>
        </p:nvPicPr>
        <p:blipFill>
          <a:blip r:embed="rId5"/>
          <a:stretch>
            <a:fillRect/>
          </a:stretch>
        </p:blipFill>
        <p:spPr>
          <a:xfrm>
            <a:off x="179147" y="728502"/>
            <a:ext cx="3874694" cy="2733421"/>
          </a:xfrm>
          <a:prstGeom prst="rect">
            <a:avLst/>
          </a:prstGeom>
        </p:spPr>
      </p:pic>
      <p:pic>
        <p:nvPicPr>
          <p:cNvPr id="21" name="Imagen 20">
            <a:extLst>
              <a:ext uri="{FF2B5EF4-FFF2-40B4-BE49-F238E27FC236}">
                <a16:creationId xmlns:a16="http://schemas.microsoft.com/office/drawing/2014/main" id="{8856759D-4833-4F77-8A63-56E826FAEFF7}"/>
              </a:ext>
            </a:extLst>
          </p:cNvPr>
          <p:cNvPicPr>
            <a:picLocks noChangeAspect="1"/>
          </p:cNvPicPr>
          <p:nvPr/>
        </p:nvPicPr>
        <p:blipFill>
          <a:blip r:embed="rId6"/>
          <a:stretch>
            <a:fillRect/>
          </a:stretch>
        </p:blipFill>
        <p:spPr>
          <a:xfrm>
            <a:off x="4209973" y="711477"/>
            <a:ext cx="3742379" cy="2759327"/>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4145" y="76519"/>
            <a:ext cx="7568419" cy="415498"/>
          </a:xfrm>
          <a:prstGeom prst="rect">
            <a:avLst/>
          </a:prstGeom>
          <a:noFill/>
        </p:spPr>
        <p:txBody>
          <a:bodyPr wrap="none">
            <a:spAutoFit/>
          </a:bodyPr>
          <a:lstStyle/>
          <a:p>
            <a:pPr algn="l"/>
            <a:r>
              <a:rPr lang="es-AR" sz="2100" b="1" dirty="0">
                <a:solidFill>
                  <a:srgbClr val="FFFFFF"/>
                </a:solidFill>
                <a:latin typeface="Cambria"/>
              </a:rPr>
              <a:t>Respuesta dinámica — Corrientes y temperatura del estator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1" name="Shape 2">
            <a:extLst>
              <a:ext uri="{FF2B5EF4-FFF2-40B4-BE49-F238E27FC236}">
                <a16:creationId xmlns:a16="http://schemas.microsoft.com/office/drawing/2014/main" id="{5634863D-8B8E-413B-8641-345DFB627C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87F7CBF-CA10-47E5-ACEA-018937E4693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20" name="CuadroTexto 19">
            <a:extLst>
              <a:ext uri="{FF2B5EF4-FFF2-40B4-BE49-F238E27FC236}">
                <a16:creationId xmlns:a16="http://schemas.microsoft.com/office/drawing/2014/main" id="{EBD4DBEA-D7B7-4037-AD63-BCE8A9F6FE9D}"/>
              </a:ext>
            </a:extLst>
          </p:cNvPr>
          <p:cNvSpPr txBox="1"/>
          <p:nvPr/>
        </p:nvSpPr>
        <p:spPr>
          <a:xfrm>
            <a:off x="2709745" y="5487483"/>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BDB800DF-73AE-4914-9F49-B9CA73A208F0}"/>
              </a:ext>
            </a:extLst>
          </p:cNvPr>
          <p:cNvPicPr/>
          <p:nvPr/>
        </p:nvPicPr>
        <p:blipFill>
          <a:blip r:embed="rId2"/>
          <a:srcRect/>
          <a:stretch/>
        </p:blipFill>
        <p:spPr>
          <a:xfrm>
            <a:off x="-1" y="681156"/>
            <a:ext cx="5871937" cy="4711475"/>
          </a:xfrm>
          <a:prstGeom prst="rect">
            <a:avLst/>
          </a:prstGeom>
        </p:spPr>
      </p:pic>
      <p:pic>
        <p:nvPicPr>
          <p:cNvPr id="11" name="Imagen 10">
            <a:extLst>
              <a:ext uri="{FF2B5EF4-FFF2-40B4-BE49-F238E27FC236}">
                <a16:creationId xmlns:a16="http://schemas.microsoft.com/office/drawing/2014/main" id="{E8DEAC34-30CC-425F-BD46-69B9B383EA78}"/>
              </a:ext>
            </a:extLst>
          </p:cNvPr>
          <p:cNvPicPr/>
          <p:nvPr/>
        </p:nvPicPr>
        <p:blipFill>
          <a:blip r:embed="rId3"/>
          <a:srcRect/>
          <a:stretch/>
        </p:blipFill>
        <p:spPr>
          <a:xfrm>
            <a:off x="5929473" y="662163"/>
            <a:ext cx="6204990" cy="4753257"/>
          </a:xfrm>
          <a:prstGeom prst="rect">
            <a:avLst/>
          </a:prstGeom>
        </p:spPr>
      </p:pic>
      <p:sp>
        <p:nvSpPr>
          <p:cNvPr id="12" name="Rectangle 1">
            <a:extLst>
              <a:ext uri="{FF2B5EF4-FFF2-40B4-BE49-F238E27FC236}">
                <a16:creationId xmlns:a16="http://schemas.microsoft.com/office/drawing/2014/main" id="{48DE2D0E-5D14-4808-94B8-5CECCB96FB0C}"/>
              </a:ext>
            </a:extLst>
          </p:cNvPr>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2">
            <a:extLst>
              <a:ext uri="{FF2B5EF4-FFF2-40B4-BE49-F238E27FC236}">
                <a16:creationId xmlns:a16="http://schemas.microsoft.com/office/drawing/2014/main" id="{002B0B06-C79C-4E89-9F83-017A37B564E7}"/>
              </a:ext>
            </a:extLst>
          </p:cNvPr>
          <p:cNvSpPr txBox="1"/>
          <p:nvPr/>
        </p:nvSpPr>
        <p:spPr>
          <a:xfrm>
            <a:off x="274320" y="93432"/>
            <a:ext cx="5863015" cy="415498"/>
          </a:xfrm>
          <a:prstGeom prst="rect">
            <a:avLst/>
          </a:prstGeom>
          <a:noFill/>
        </p:spPr>
        <p:txBody>
          <a:bodyPr wrap="none">
            <a:spAutoFit/>
          </a:bodyPr>
          <a:lstStyle/>
          <a:p>
            <a:pPr algn="l"/>
            <a:r>
              <a:rPr lang="es-MX" sz="2100" b="1" dirty="0">
                <a:solidFill>
                  <a:srgbClr val="FFFFFF"/>
                </a:solidFill>
                <a:latin typeface="Cambria"/>
              </a:rPr>
              <a:t>Comparación modelo LTI vs. modelo No Lineal</a:t>
            </a:r>
          </a:p>
        </p:txBody>
      </p:sp>
      <p:sp>
        <p:nvSpPr>
          <p:cNvPr id="14" name="Shape 2">
            <a:extLst>
              <a:ext uri="{FF2B5EF4-FFF2-40B4-BE49-F238E27FC236}">
                <a16:creationId xmlns:a16="http://schemas.microsoft.com/office/drawing/2014/main" id="{4A5B1CD4-E06D-491A-9CC6-8D42A91C3DF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29D29585-3B9D-438F-B508-D97C505F8EC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640" y="85421"/>
            <a:ext cx="5863015" cy="415498"/>
          </a:xfrm>
          <a:prstGeom prst="rect">
            <a:avLst/>
          </a:prstGeom>
          <a:noFill/>
        </p:spPr>
        <p:txBody>
          <a:bodyPr wrap="none">
            <a:spAutoFit/>
          </a:bodyPr>
          <a:lstStyle/>
          <a:p>
            <a:pPr algn="l"/>
            <a:r>
              <a:rPr lang="es-AR" sz="2100" b="1" dirty="0">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2" name="CuadroTexto 11">
            <a:extLst>
              <a:ext uri="{FF2B5EF4-FFF2-40B4-BE49-F238E27FC236}">
                <a16:creationId xmlns:a16="http://schemas.microsoft.com/office/drawing/2014/main" id="{5F0C2A2C-061D-4B06-8871-6152E8F0A5AC}"/>
              </a:ext>
            </a:extLst>
          </p:cNvPr>
          <p:cNvSpPr txBox="1"/>
          <p:nvPr/>
        </p:nvSpPr>
        <p:spPr>
          <a:xfrm>
            <a:off x="2709745" y="5453055"/>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05DB3275-9249-4D2F-87F1-60CD290B4F26}"/>
              </a:ext>
            </a:extLst>
          </p:cNvPr>
          <p:cNvPicPr/>
          <p:nvPr/>
        </p:nvPicPr>
        <p:blipFill>
          <a:blip r:embed="rId2"/>
          <a:srcRect/>
          <a:stretch/>
        </p:blipFill>
        <p:spPr>
          <a:xfrm>
            <a:off x="6114116" y="658367"/>
            <a:ext cx="6059613" cy="4623847"/>
          </a:xfrm>
          <a:prstGeom prst="rect">
            <a:avLst/>
          </a:prstGeom>
        </p:spPr>
      </p:pic>
      <p:pic>
        <p:nvPicPr>
          <p:cNvPr id="11" name="Imagen 10">
            <a:extLst>
              <a:ext uri="{FF2B5EF4-FFF2-40B4-BE49-F238E27FC236}">
                <a16:creationId xmlns:a16="http://schemas.microsoft.com/office/drawing/2014/main" id="{899A7762-C028-4627-8BA9-2C8C9A9761F7}"/>
              </a:ext>
            </a:extLst>
          </p:cNvPr>
          <p:cNvPicPr/>
          <p:nvPr/>
        </p:nvPicPr>
        <p:blipFill>
          <a:blip r:embed="rId3"/>
          <a:srcRect/>
          <a:stretch/>
        </p:blipFill>
        <p:spPr>
          <a:xfrm>
            <a:off x="105324" y="658368"/>
            <a:ext cx="5884894" cy="4623846"/>
          </a:xfrm>
          <a:prstGeom prst="rect">
            <a:avLst/>
          </a:prstGeom>
        </p:spPr>
      </p:pic>
      <p:sp>
        <p:nvSpPr>
          <p:cNvPr id="9" name="Shape 2">
            <a:extLst>
              <a:ext uri="{FF2B5EF4-FFF2-40B4-BE49-F238E27FC236}">
                <a16:creationId xmlns:a16="http://schemas.microsoft.com/office/drawing/2014/main" id="{7429C8DB-F505-447F-B37B-E8E225B772F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A70B4DE0-D2D3-42E7-B8CA-51A3FB08B53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716209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799DFA5F-DAF0-4C0A-A856-CB35702D6091}"/>
              </a:ext>
            </a:extLst>
          </p:cNvPr>
          <p:cNvPicPr>
            <a:picLocks noChangeAspect="1"/>
          </p:cNvPicPr>
          <p:nvPr/>
        </p:nvPicPr>
        <p:blipFill>
          <a:blip r:embed="rId2"/>
          <a:stretch>
            <a:fillRect/>
          </a:stretch>
        </p:blipFill>
        <p:spPr>
          <a:xfrm>
            <a:off x="2357466" y="658367"/>
            <a:ext cx="7576647" cy="5461339"/>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BB663631-9473-4D18-B9DD-83B48EEDE9FF}"/>
                  </a:ext>
                </a:extLst>
              </p:cNvPr>
              <p:cNvSpPr txBox="1"/>
              <p:nvPr/>
            </p:nvSpPr>
            <p:spPr>
              <a:xfrm>
                <a:off x="2497587" y="6192673"/>
                <a:ext cx="7705288" cy="430887"/>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25— Velocidad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vs Torque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endParaRPr lang="es-AR" sz="1100" i="1" dirty="0">
                  <a:solidFill>
                    <a:srgbClr val="224488"/>
                  </a:solidFill>
                  <a:latin typeface="Calibri" pitchFamily="34" charset="0"/>
                  <a:ea typeface="Calibri" pitchFamily="34" charset="-122"/>
                  <a:cs typeface="Calibri" pitchFamily="34" charset="-120"/>
                </a:endParaRPr>
              </a:p>
              <a:p>
                <a:pPr algn="ctr"/>
                <a:endParaRPr lang="es-AR" sz="1100" i="1" dirty="0">
                  <a:solidFill>
                    <a:srgbClr val="224488"/>
                  </a:solidFill>
                  <a:latin typeface="Calibri" pitchFamily="34" charset="0"/>
                  <a:ea typeface="Calibri" pitchFamily="34" charset="-122"/>
                  <a:cs typeface="Calibri" pitchFamily="34" charset="-120"/>
                </a:endParaRPr>
              </a:p>
            </p:txBody>
          </p:sp>
        </mc:Choice>
        <mc:Fallback xmlns="">
          <p:sp>
            <p:nvSpPr>
              <p:cNvPr id="18" name="CuadroTexto 17">
                <a:extLst>
                  <a:ext uri="{FF2B5EF4-FFF2-40B4-BE49-F238E27FC236}">
                    <a16:creationId xmlns:a16="http://schemas.microsoft.com/office/drawing/2014/main" id="{BB663631-9473-4D18-B9DD-83B48EEDE9FF}"/>
                  </a:ext>
                </a:extLst>
              </p:cNvPr>
              <p:cNvSpPr txBox="1">
                <a:spLocks noRot="1" noChangeAspect="1" noMove="1" noResize="1" noEditPoints="1" noAdjustHandles="1" noChangeArrowheads="1" noChangeShapeType="1" noTextEdit="1"/>
              </p:cNvSpPr>
              <p:nvPr/>
            </p:nvSpPr>
            <p:spPr>
              <a:xfrm>
                <a:off x="2497587" y="6192673"/>
                <a:ext cx="7705288" cy="430887"/>
              </a:xfrm>
              <a:prstGeom prst="rect">
                <a:avLst/>
              </a:prstGeom>
              <a:blipFill>
                <a:blip r:embed="rId3"/>
                <a:stretch>
                  <a:fillRect/>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81467AAA-8A13-4367-8851-BCC9A15D155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1C33BD35-B93D-4080-AA88-8446AD371BE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p:sp>
        <p:nvSpPr>
          <p:cNvPr id="13" name="TextBox 12"/>
          <p:cNvSpPr txBox="1"/>
          <p:nvPr/>
        </p:nvSpPr>
        <p:spPr>
          <a:xfrm>
            <a:off x="274320" y="907882"/>
            <a:ext cx="3959352" cy="307777"/>
          </a:xfrm>
          <a:prstGeom prst="rect">
            <a:avLst/>
          </a:prstGeom>
          <a:noFill/>
        </p:spPr>
        <p:txBody>
          <a:bodyPr wrap="square">
            <a:spAutoFit/>
          </a:bodyPr>
          <a:lstStyle/>
          <a:p>
            <a:pPr algn="l"/>
            <a:r>
              <a:rPr sz="1400" b="1" i="0">
                <a:solidFill>
                  <a:srgbClr val="1A3A6B"/>
                </a:solidFill>
                <a:latin typeface="Calibri"/>
              </a:rPr>
              <a:t>Análisis de los 4 cuadrantes (secuencia temporal):</a:t>
            </a:r>
          </a:p>
        </p:txBody>
      </p:sp>
      <p:sp>
        <p:nvSpPr>
          <p:cNvPr id="12" name="Rectangle 10">
            <a:extLst>
              <a:ext uri="{FF2B5EF4-FFF2-40B4-BE49-F238E27FC236}">
                <a16:creationId xmlns:a16="http://schemas.microsoft.com/office/drawing/2014/main" id="{94D3D8E3-AB25-45D5-BFD7-DDDEEEA30703}"/>
              </a:ext>
            </a:extLst>
          </p:cNvPr>
          <p:cNvSpPr/>
          <p:nvPr/>
        </p:nvSpPr>
        <p:spPr>
          <a:xfrm>
            <a:off x="4645152" y="889594"/>
            <a:ext cx="38404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 name="TextBox 11">
            <a:extLst>
              <a:ext uri="{FF2B5EF4-FFF2-40B4-BE49-F238E27FC236}">
                <a16:creationId xmlns:a16="http://schemas.microsoft.com/office/drawing/2014/main" id="{F2C8AAD1-109B-44BA-89FE-94D32D9BC8D0}"/>
              </a:ext>
            </a:extLst>
          </p:cNvPr>
          <p:cNvSpPr txBox="1"/>
          <p:nvPr/>
        </p:nvSpPr>
        <p:spPr>
          <a:xfrm>
            <a:off x="4672584" y="907882"/>
            <a:ext cx="329184" cy="253916"/>
          </a:xfrm>
          <a:prstGeom prst="rect">
            <a:avLst/>
          </a:prstGeom>
          <a:noFill/>
        </p:spPr>
        <p:txBody>
          <a:bodyPr wrap="square">
            <a:spAutoFit/>
          </a:bodyPr>
          <a:lstStyle/>
          <a:p>
            <a:pPr algn="ctr"/>
            <a:r>
              <a:rPr sz="1050" b="1">
                <a:solidFill>
                  <a:schemeClr val="bg1"/>
                </a:solidFill>
                <a:latin typeface="Calibri"/>
              </a:rPr>
              <a:t>#</a:t>
            </a:r>
          </a:p>
        </p:txBody>
      </p:sp>
      <p:sp>
        <p:nvSpPr>
          <p:cNvPr id="17" name="Rectangle 12">
            <a:extLst>
              <a:ext uri="{FF2B5EF4-FFF2-40B4-BE49-F238E27FC236}">
                <a16:creationId xmlns:a16="http://schemas.microsoft.com/office/drawing/2014/main" id="{CBF55BBB-B43F-4C4A-A4EE-61C5C01CE08E}"/>
              </a:ext>
            </a:extLst>
          </p:cNvPr>
          <p:cNvSpPr/>
          <p:nvPr/>
        </p:nvSpPr>
        <p:spPr>
          <a:xfrm>
            <a:off x="5029200" y="889594"/>
            <a:ext cx="56692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 name="TextBox 13">
            <a:extLst>
              <a:ext uri="{FF2B5EF4-FFF2-40B4-BE49-F238E27FC236}">
                <a16:creationId xmlns:a16="http://schemas.microsoft.com/office/drawing/2014/main" id="{D71E1DAA-6022-49B2-A51D-989AD828FD96}"/>
              </a:ext>
            </a:extLst>
          </p:cNvPr>
          <p:cNvSpPr txBox="1"/>
          <p:nvPr/>
        </p:nvSpPr>
        <p:spPr>
          <a:xfrm>
            <a:off x="5056632" y="907882"/>
            <a:ext cx="512064" cy="253916"/>
          </a:xfrm>
          <a:prstGeom prst="rect">
            <a:avLst/>
          </a:prstGeom>
          <a:noFill/>
        </p:spPr>
        <p:txBody>
          <a:bodyPr wrap="square">
            <a:spAutoFit/>
          </a:bodyPr>
          <a:lstStyle/>
          <a:p>
            <a:pPr algn="ctr"/>
            <a:r>
              <a:rPr sz="1050" b="1">
                <a:solidFill>
                  <a:schemeClr val="bg1"/>
                </a:solidFill>
                <a:latin typeface="Calibri"/>
              </a:rPr>
              <a:t>t [s]</a:t>
            </a:r>
          </a:p>
        </p:txBody>
      </p:sp>
      <p:sp>
        <p:nvSpPr>
          <p:cNvPr id="19" name="Rectangle 14">
            <a:extLst>
              <a:ext uri="{FF2B5EF4-FFF2-40B4-BE49-F238E27FC236}">
                <a16:creationId xmlns:a16="http://schemas.microsoft.com/office/drawing/2014/main" id="{3FC4E96C-FF2A-45D8-BAC7-C4CDDD5AFF75}"/>
              </a:ext>
            </a:extLst>
          </p:cNvPr>
          <p:cNvSpPr/>
          <p:nvPr/>
        </p:nvSpPr>
        <p:spPr>
          <a:xfrm>
            <a:off x="55961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0" name="TextBox 15">
                <a:extLst>
                  <a:ext uri="{FF2B5EF4-FFF2-40B4-BE49-F238E27FC236}">
                    <a16:creationId xmlns:a16="http://schemas.microsoft.com/office/drawing/2014/main" id="{8C207F8E-A6D8-4C49-9D98-0D8C84C70158}"/>
                  </a:ext>
                </a:extLst>
              </p:cNvPr>
              <p:cNvSpPr txBox="1"/>
              <p:nvPr/>
            </p:nvSpPr>
            <p:spPr>
              <a:xfrm>
                <a:off x="56235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𝜔</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0" name="TextBox 15">
                <a:extLst>
                  <a:ext uri="{FF2B5EF4-FFF2-40B4-BE49-F238E27FC236}">
                    <a16:creationId xmlns:a16="http://schemas.microsoft.com/office/drawing/2014/main" id="{8C207F8E-A6D8-4C49-9D98-0D8C84C70158}"/>
                  </a:ext>
                </a:extLst>
              </p:cNvPr>
              <p:cNvSpPr txBox="1">
                <a:spLocks noRot="1" noChangeAspect="1" noMove="1" noResize="1" noEditPoints="1" noAdjustHandles="1" noChangeArrowheads="1" noChangeShapeType="1" noTextEdit="1"/>
              </p:cNvSpPr>
              <p:nvPr/>
            </p:nvSpPr>
            <p:spPr>
              <a:xfrm>
                <a:off x="5623560" y="907882"/>
                <a:ext cx="402336" cy="338554"/>
              </a:xfrm>
              <a:prstGeom prst="rect">
                <a:avLst/>
              </a:prstGeom>
              <a:blipFill>
                <a:blip r:embed="rId2"/>
                <a:stretch>
                  <a:fillRect l="-4545"/>
                </a:stretch>
              </a:blipFill>
            </p:spPr>
            <p:txBody>
              <a:bodyPr/>
              <a:lstStyle/>
              <a:p>
                <a:r>
                  <a:rPr lang="es-AR">
                    <a:noFill/>
                  </a:rPr>
                  <a:t> </a:t>
                </a:r>
              </a:p>
            </p:txBody>
          </p:sp>
        </mc:Fallback>
      </mc:AlternateContent>
      <p:sp>
        <p:nvSpPr>
          <p:cNvPr id="21" name="Rectangle 16">
            <a:extLst>
              <a:ext uri="{FF2B5EF4-FFF2-40B4-BE49-F238E27FC236}">
                <a16:creationId xmlns:a16="http://schemas.microsoft.com/office/drawing/2014/main" id="{187A37D2-E924-4730-AF6C-B2A6DA25B96A}"/>
              </a:ext>
            </a:extLst>
          </p:cNvPr>
          <p:cNvSpPr/>
          <p:nvPr/>
        </p:nvSpPr>
        <p:spPr>
          <a:xfrm>
            <a:off x="60533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2" name="TextBox 17">
                <a:extLst>
                  <a:ext uri="{FF2B5EF4-FFF2-40B4-BE49-F238E27FC236}">
                    <a16:creationId xmlns:a16="http://schemas.microsoft.com/office/drawing/2014/main" id="{30F08783-12ED-44F8-AE28-800E4902F15E}"/>
                  </a:ext>
                </a:extLst>
              </p:cNvPr>
              <p:cNvSpPr txBox="1"/>
              <p:nvPr/>
            </p:nvSpPr>
            <p:spPr>
              <a:xfrm>
                <a:off x="60807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𝑇</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2" name="TextBox 17">
                <a:extLst>
                  <a:ext uri="{FF2B5EF4-FFF2-40B4-BE49-F238E27FC236}">
                    <a16:creationId xmlns:a16="http://schemas.microsoft.com/office/drawing/2014/main" id="{30F08783-12ED-44F8-AE28-800E4902F15E}"/>
                  </a:ext>
                </a:extLst>
              </p:cNvPr>
              <p:cNvSpPr txBox="1">
                <a:spLocks noRot="1" noChangeAspect="1" noMove="1" noResize="1" noEditPoints="1" noAdjustHandles="1" noChangeArrowheads="1" noChangeShapeType="1" noTextEdit="1"/>
              </p:cNvSpPr>
              <p:nvPr/>
            </p:nvSpPr>
            <p:spPr>
              <a:xfrm>
                <a:off x="6080760" y="907882"/>
                <a:ext cx="402336" cy="338554"/>
              </a:xfrm>
              <a:prstGeom prst="rect">
                <a:avLst/>
              </a:prstGeom>
              <a:blipFill>
                <a:blip r:embed="rId3"/>
                <a:stretch>
                  <a:fillRect l="-4545"/>
                </a:stretch>
              </a:blipFill>
            </p:spPr>
            <p:txBody>
              <a:bodyPr/>
              <a:lstStyle/>
              <a:p>
                <a:r>
                  <a:rPr lang="es-AR">
                    <a:noFill/>
                  </a:rPr>
                  <a:t> </a:t>
                </a:r>
              </a:p>
            </p:txBody>
          </p:sp>
        </mc:Fallback>
      </mc:AlternateContent>
      <p:sp>
        <p:nvSpPr>
          <p:cNvPr id="23" name="Rectangle 18">
            <a:extLst>
              <a:ext uri="{FF2B5EF4-FFF2-40B4-BE49-F238E27FC236}">
                <a16:creationId xmlns:a16="http://schemas.microsoft.com/office/drawing/2014/main" id="{A45CD8E1-D6E6-496B-94D6-CA55F8A7CACD}"/>
              </a:ext>
            </a:extLst>
          </p:cNvPr>
          <p:cNvSpPr/>
          <p:nvPr/>
        </p:nvSpPr>
        <p:spPr>
          <a:xfrm>
            <a:off x="6510528" y="889594"/>
            <a:ext cx="43891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 name="TextBox 19">
            <a:extLst>
              <a:ext uri="{FF2B5EF4-FFF2-40B4-BE49-F238E27FC236}">
                <a16:creationId xmlns:a16="http://schemas.microsoft.com/office/drawing/2014/main" id="{C6D808A6-E34C-43AC-B3C5-AE73C2999EE0}"/>
              </a:ext>
            </a:extLst>
          </p:cNvPr>
          <p:cNvSpPr txBox="1"/>
          <p:nvPr/>
        </p:nvSpPr>
        <p:spPr>
          <a:xfrm>
            <a:off x="6537960" y="907882"/>
            <a:ext cx="384048" cy="253916"/>
          </a:xfrm>
          <a:prstGeom prst="rect">
            <a:avLst/>
          </a:prstGeom>
          <a:noFill/>
        </p:spPr>
        <p:txBody>
          <a:bodyPr wrap="square">
            <a:spAutoFit/>
          </a:bodyPr>
          <a:lstStyle/>
          <a:p>
            <a:pPr algn="ctr"/>
            <a:r>
              <a:rPr sz="1050" b="1">
                <a:solidFill>
                  <a:schemeClr val="bg1"/>
                </a:solidFill>
                <a:latin typeface="Calibri"/>
              </a:rPr>
              <a:t>Q°</a:t>
            </a:r>
          </a:p>
        </p:txBody>
      </p:sp>
      <p:sp>
        <p:nvSpPr>
          <p:cNvPr id="25" name="Rectangle 20">
            <a:extLst>
              <a:ext uri="{FF2B5EF4-FFF2-40B4-BE49-F238E27FC236}">
                <a16:creationId xmlns:a16="http://schemas.microsoft.com/office/drawing/2014/main" id="{B19BA9C9-97A3-4B63-8BC2-94AA6551BE29}"/>
              </a:ext>
            </a:extLst>
          </p:cNvPr>
          <p:cNvSpPr/>
          <p:nvPr/>
        </p:nvSpPr>
        <p:spPr>
          <a:xfrm>
            <a:off x="6949440" y="889594"/>
            <a:ext cx="19933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6" name="TextBox 21">
            <a:extLst>
              <a:ext uri="{FF2B5EF4-FFF2-40B4-BE49-F238E27FC236}">
                <a16:creationId xmlns:a16="http://schemas.microsoft.com/office/drawing/2014/main" id="{BEFA5D63-D846-4652-9B97-17C5D8E072C7}"/>
              </a:ext>
            </a:extLst>
          </p:cNvPr>
          <p:cNvSpPr txBox="1"/>
          <p:nvPr/>
        </p:nvSpPr>
        <p:spPr>
          <a:xfrm>
            <a:off x="6976871" y="907882"/>
            <a:ext cx="1938528" cy="253916"/>
          </a:xfrm>
          <a:prstGeom prst="rect">
            <a:avLst/>
          </a:prstGeom>
          <a:noFill/>
        </p:spPr>
        <p:txBody>
          <a:bodyPr wrap="square">
            <a:spAutoFit/>
          </a:bodyPr>
          <a:lstStyle/>
          <a:p>
            <a:pPr algn="ctr"/>
            <a:r>
              <a:rPr sz="1050" b="1">
                <a:solidFill>
                  <a:schemeClr val="bg1"/>
                </a:solidFill>
                <a:latin typeface="Calibri"/>
              </a:rPr>
              <a:t>Régimen</a:t>
            </a:r>
          </a:p>
        </p:txBody>
      </p:sp>
      <p:sp>
        <p:nvSpPr>
          <p:cNvPr id="27" name="Rectangle 22">
            <a:extLst>
              <a:ext uri="{FF2B5EF4-FFF2-40B4-BE49-F238E27FC236}">
                <a16:creationId xmlns:a16="http://schemas.microsoft.com/office/drawing/2014/main" id="{E3D057DF-86EE-4742-982C-9AE6BA3D89B2}"/>
              </a:ext>
            </a:extLst>
          </p:cNvPr>
          <p:cNvSpPr/>
          <p:nvPr/>
        </p:nvSpPr>
        <p:spPr>
          <a:xfrm>
            <a:off x="8942832" y="889594"/>
            <a:ext cx="54864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8" name="TextBox 23">
                <a:extLst>
                  <a:ext uri="{FF2B5EF4-FFF2-40B4-BE49-F238E27FC236}">
                    <a16:creationId xmlns:a16="http://schemas.microsoft.com/office/drawing/2014/main" id="{05947E8B-63DE-46BB-9C21-E783C1807622}"/>
                  </a:ext>
                </a:extLst>
              </p:cNvPr>
              <p:cNvSpPr txBox="1"/>
              <p:nvPr/>
            </p:nvSpPr>
            <p:spPr>
              <a:xfrm>
                <a:off x="8906257" y="879903"/>
                <a:ext cx="594359" cy="464423"/>
              </a:xfrm>
              <a:prstGeom prst="rect">
                <a:avLst/>
              </a:prstGeom>
              <a:noFill/>
            </p:spPr>
            <p:txBody>
              <a:bodyPr wrap="square">
                <a:spAutoFit/>
              </a:bodyPr>
              <a:lstStyle/>
              <a:p>
                <a:pPr algn="ctr"/>
                <a14:m>
                  <m:oMath xmlns:m="http://schemas.openxmlformats.org/officeDocument/2006/math">
                    <m:sSub>
                      <m:sSubPr>
                        <m:ctrlPr>
                          <a:rPr lang="ar-AE" sz="1400" i="1" smtClean="0">
                            <a:solidFill>
                              <a:schemeClr val="bg1"/>
                            </a:solidFill>
                            <a:latin typeface="Cambria Math" panose="02040503050406030204" pitchFamily="18" charset="0"/>
                            <a:ea typeface="Calibri" pitchFamily="34" charset="-122"/>
                            <a:cs typeface="Calibri" pitchFamily="34" charset="-120"/>
                          </a:rPr>
                        </m:ctrlPr>
                      </m:sSubPr>
                      <m:e>
                        <m:r>
                          <a:rPr lang="ar-AE" sz="1400" i="1">
                            <a:solidFill>
                              <a:schemeClr val="bg1"/>
                            </a:solidFill>
                            <a:latin typeface="Cambria Math" panose="02040503050406030204" pitchFamily="18" charset="0"/>
                            <a:ea typeface="Calibri" pitchFamily="34" charset="-122"/>
                            <a:cs typeface="Calibri" pitchFamily="34" charset="-120"/>
                          </a:rPr>
                          <m:t>𝑇</m:t>
                        </m:r>
                      </m:e>
                      <m:sub>
                        <m:r>
                          <a:rPr lang="ar-AE" sz="1400" b="0" i="1" smtClean="0">
                            <a:solidFill>
                              <a:schemeClr val="bg1"/>
                            </a:solidFill>
                            <a:latin typeface="Cambria Math" panose="02040503050406030204" pitchFamily="18" charset="0"/>
                            <a:ea typeface="Calibri" pitchFamily="34" charset="-122"/>
                            <a:cs typeface="Calibri" pitchFamily="34" charset="-120"/>
                          </a:rPr>
                          <m:t>𝑙</m:t>
                        </m:r>
                        <m:r>
                          <a:rPr lang="es-MX" sz="1400" b="0" i="1" smtClean="0">
                            <a:solidFill>
                              <a:schemeClr val="bg1"/>
                            </a:solidFill>
                            <a:latin typeface="Cambria Math" panose="02040503050406030204" pitchFamily="18" charset="0"/>
                            <a:ea typeface="Calibri" pitchFamily="34" charset="-122"/>
                            <a:cs typeface="Calibri" pitchFamily="34" charset="-120"/>
                          </a:rPr>
                          <m:t>𝑑</m:t>
                        </m:r>
                      </m:sub>
                    </m:sSub>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N·m]</a:t>
                </a:r>
                <a:endParaRPr sz="1050" b="1" dirty="0">
                  <a:solidFill>
                    <a:schemeClr val="bg1"/>
                  </a:solidFill>
                  <a:latin typeface="Calibri"/>
                </a:endParaRPr>
              </a:p>
            </p:txBody>
          </p:sp>
        </mc:Choice>
        <mc:Fallback xmlns="">
          <p:sp>
            <p:nvSpPr>
              <p:cNvPr id="28" name="TextBox 23">
                <a:extLst>
                  <a:ext uri="{FF2B5EF4-FFF2-40B4-BE49-F238E27FC236}">
                    <a16:creationId xmlns:a16="http://schemas.microsoft.com/office/drawing/2014/main" id="{05947E8B-63DE-46BB-9C21-E783C1807622}"/>
                  </a:ext>
                </a:extLst>
              </p:cNvPr>
              <p:cNvSpPr txBox="1">
                <a:spLocks noRot="1" noChangeAspect="1" noMove="1" noResize="1" noEditPoints="1" noAdjustHandles="1" noChangeArrowheads="1" noChangeShapeType="1" noTextEdit="1"/>
              </p:cNvSpPr>
              <p:nvPr/>
            </p:nvSpPr>
            <p:spPr>
              <a:xfrm>
                <a:off x="8906257" y="879903"/>
                <a:ext cx="594359" cy="464423"/>
              </a:xfrm>
              <a:prstGeom prst="rect">
                <a:avLst/>
              </a:prstGeom>
              <a:blipFill>
                <a:blip r:embed="rId4"/>
                <a:stretch>
                  <a:fillRect b="-6494"/>
                </a:stretch>
              </a:blipFill>
            </p:spPr>
            <p:txBody>
              <a:bodyPr/>
              <a:lstStyle/>
              <a:p>
                <a:r>
                  <a:rPr lang="es-AR">
                    <a:noFill/>
                  </a:rPr>
                  <a:t> </a:t>
                </a:r>
              </a:p>
            </p:txBody>
          </p:sp>
        </mc:Fallback>
      </mc:AlternateContent>
      <p:sp>
        <p:nvSpPr>
          <p:cNvPr id="29" name="Rectangle 24">
            <a:extLst>
              <a:ext uri="{FF2B5EF4-FFF2-40B4-BE49-F238E27FC236}">
                <a16:creationId xmlns:a16="http://schemas.microsoft.com/office/drawing/2014/main" id="{F4AA5613-2980-4BA3-95F6-1D37CF362683}"/>
              </a:ext>
            </a:extLst>
          </p:cNvPr>
          <p:cNvSpPr/>
          <p:nvPr/>
        </p:nvSpPr>
        <p:spPr>
          <a:xfrm>
            <a:off x="9491471" y="889594"/>
            <a:ext cx="6217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0" name="TextBox 25">
                <a:extLst>
                  <a:ext uri="{FF2B5EF4-FFF2-40B4-BE49-F238E27FC236}">
                    <a16:creationId xmlns:a16="http://schemas.microsoft.com/office/drawing/2014/main" id="{F4A45EC6-BB19-4D3F-877D-ACEC3109C603}"/>
                  </a:ext>
                </a:extLst>
              </p:cNvPr>
              <p:cNvSpPr txBox="1"/>
              <p:nvPr/>
            </p:nvSpPr>
            <p:spPr>
              <a:xfrm>
                <a:off x="9546335" y="859764"/>
                <a:ext cx="548641" cy="485967"/>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bg1"/>
                            </a:solidFill>
                            <a:latin typeface="Cambria Math" panose="02040503050406030204" pitchFamily="18" charset="0"/>
                          </a:rPr>
                        </m:ctrlPr>
                      </m:sSubSupPr>
                      <m:e>
                        <m:r>
                          <a:rPr lang="ar-AE" sz="1400">
                            <a:solidFill>
                              <a:schemeClr val="bg1"/>
                            </a:solidFill>
                            <a:latin typeface="Cambria Math" panose="02040503050406030204" pitchFamily="18" charset="0"/>
                          </a:rPr>
                          <m:t>𝑣</m:t>
                        </m:r>
                      </m:e>
                      <m:sub>
                        <m:r>
                          <a:rPr lang="ar-AE" sz="1400">
                            <a:solidFill>
                              <a:schemeClr val="bg1"/>
                            </a:solidFill>
                            <a:latin typeface="Cambria Math" panose="02040503050406030204" pitchFamily="18" charset="0"/>
                          </a:rPr>
                          <m:t>𝑞𝑠</m:t>
                        </m:r>
                      </m:sub>
                      <m:sup>
                        <m:r>
                          <a:rPr lang="ar-AE" sz="1400">
                            <a:solidFill>
                              <a:schemeClr val="bg1"/>
                            </a:solidFill>
                            <a:latin typeface="Cambria Math" panose="02040503050406030204" pitchFamily="18" charset="0"/>
                          </a:rPr>
                          <m:t>𝑟</m:t>
                        </m:r>
                      </m:sup>
                    </m:sSubSup>
                    <m:r>
                      <a:rPr lang="ar-AE" sz="1400" i="1">
                        <a:solidFill>
                          <a:schemeClr val="bg1"/>
                        </a:solidFill>
                        <a:latin typeface="Cambria Math" panose="02040503050406030204" pitchFamily="18" charset="0"/>
                      </a:rPr>
                      <m:t> </m:t>
                    </m:r>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V]</a:t>
                </a:r>
              </a:p>
            </p:txBody>
          </p:sp>
        </mc:Choice>
        <mc:Fallback xmlns="">
          <p:sp>
            <p:nvSpPr>
              <p:cNvPr id="30" name="TextBox 25">
                <a:extLst>
                  <a:ext uri="{FF2B5EF4-FFF2-40B4-BE49-F238E27FC236}">
                    <a16:creationId xmlns:a16="http://schemas.microsoft.com/office/drawing/2014/main" id="{F4A45EC6-BB19-4D3F-877D-ACEC3109C603}"/>
                  </a:ext>
                </a:extLst>
              </p:cNvPr>
              <p:cNvSpPr txBox="1">
                <a:spLocks noRot="1" noChangeAspect="1" noMove="1" noResize="1" noEditPoints="1" noAdjustHandles="1" noChangeArrowheads="1" noChangeShapeType="1" noTextEdit="1"/>
              </p:cNvSpPr>
              <p:nvPr/>
            </p:nvSpPr>
            <p:spPr>
              <a:xfrm>
                <a:off x="9546335" y="859764"/>
                <a:ext cx="548641" cy="485967"/>
              </a:xfrm>
              <a:prstGeom prst="rect">
                <a:avLst/>
              </a:prstGeom>
              <a:blipFill>
                <a:blip r:embed="rId5"/>
                <a:stretch>
                  <a:fillRect b="-6250"/>
                </a:stretch>
              </a:blipFill>
            </p:spPr>
            <p:txBody>
              <a:bodyPr/>
              <a:lstStyle/>
              <a:p>
                <a:r>
                  <a:rPr lang="es-AR">
                    <a:noFill/>
                  </a:rPr>
                  <a:t> </a:t>
                </a:r>
              </a:p>
            </p:txBody>
          </p:sp>
        </mc:Fallback>
      </mc:AlternateContent>
      <p:sp>
        <p:nvSpPr>
          <p:cNvPr id="31" name="Rectangle 26">
            <a:extLst>
              <a:ext uri="{FF2B5EF4-FFF2-40B4-BE49-F238E27FC236}">
                <a16:creationId xmlns:a16="http://schemas.microsoft.com/office/drawing/2014/main" id="{CC408467-DCBE-4CD7-B8A2-065287DD01F4}"/>
              </a:ext>
            </a:extLst>
          </p:cNvPr>
          <p:cNvSpPr/>
          <p:nvPr/>
        </p:nvSpPr>
        <p:spPr>
          <a:xfrm>
            <a:off x="10113263" y="889594"/>
            <a:ext cx="6858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2" name="TextBox 27">
                <a:extLst>
                  <a:ext uri="{FF2B5EF4-FFF2-40B4-BE49-F238E27FC236}">
                    <a16:creationId xmlns:a16="http://schemas.microsoft.com/office/drawing/2014/main" id="{03644BFE-F399-42A1-8C5D-CD276E2C4465}"/>
                  </a:ext>
                </a:extLst>
              </p:cNvPr>
              <p:cNvSpPr txBox="1"/>
              <p:nvPr/>
            </p:nvSpPr>
            <p:spPr>
              <a:xfrm>
                <a:off x="10149840" y="859942"/>
                <a:ext cx="630936"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𝜔</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[rad/s]</a:t>
                </a:r>
              </a:p>
            </p:txBody>
          </p:sp>
        </mc:Choice>
        <mc:Fallback xmlns="">
          <p:sp>
            <p:nvSpPr>
              <p:cNvPr id="32" name="TextBox 27">
                <a:extLst>
                  <a:ext uri="{FF2B5EF4-FFF2-40B4-BE49-F238E27FC236}">
                    <a16:creationId xmlns:a16="http://schemas.microsoft.com/office/drawing/2014/main" id="{03644BFE-F399-42A1-8C5D-CD276E2C4465}"/>
                  </a:ext>
                </a:extLst>
              </p:cNvPr>
              <p:cNvSpPr txBox="1">
                <a:spLocks noRot="1" noChangeAspect="1" noMove="1" noResize="1" noEditPoints="1" noAdjustHandles="1" noChangeArrowheads="1" noChangeShapeType="1" noTextEdit="1"/>
              </p:cNvSpPr>
              <p:nvPr/>
            </p:nvSpPr>
            <p:spPr>
              <a:xfrm>
                <a:off x="10149840" y="859942"/>
                <a:ext cx="630936" cy="464423"/>
              </a:xfrm>
              <a:prstGeom prst="rect">
                <a:avLst/>
              </a:prstGeom>
              <a:blipFill>
                <a:blip r:embed="rId6"/>
                <a:stretch>
                  <a:fillRect b="-7895"/>
                </a:stretch>
              </a:blipFill>
            </p:spPr>
            <p:txBody>
              <a:bodyPr/>
              <a:lstStyle/>
              <a:p>
                <a:r>
                  <a:rPr lang="es-AR">
                    <a:noFill/>
                  </a:rPr>
                  <a:t> </a:t>
                </a:r>
              </a:p>
            </p:txBody>
          </p:sp>
        </mc:Fallback>
      </mc:AlternateContent>
      <p:sp>
        <p:nvSpPr>
          <p:cNvPr id="33" name="Rectangle 28">
            <a:extLst>
              <a:ext uri="{FF2B5EF4-FFF2-40B4-BE49-F238E27FC236}">
                <a16:creationId xmlns:a16="http://schemas.microsoft.com/office/drawing/2014/main" id="{4C7C7705-13DD-495B-940C-4FF6B4B6EF0A}"/>
              </a:ext>
            </a:extLst>
          </p:cNvPr>
          <p:cNvSpPr/>
          <p:nvPr/>
        </p:nvSpPr>
        <p:spPr>
          <a:xfrm>
            <a:off x="10799063" y="889594"/>
            <a:ext cx="64008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4" name="TextBox 29">
                <a:extLst>
                  <a:ext uri="{FF2B5EF4-FFF2-40B4-BE49-F238E27FC236}">
                    <a16:creationId xmlns:a16="http://schemas.microsoft.com/office/drawing/2014/main" id="{39D06A79-7921-47A8-A37C-F0F9280B041C}"/>
                  </a:ext>
                </a:extLst>
              </p:cNvPr>
              <p:cNvSpPr txBox="1"/>
              <p:nvPr/>
            </p:nvSpPr>
            <p:spPr>
              <a:xfrm>
                <a:off x="10826495" y="888981"/>
                <a:ext cx="585215"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𝑇</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[N·m]</a:t>
                </a:r>
              </a:p>
            </p:txBody>
          </p:sp>
        </mc:Choice>
        <mc:Fallback xmlns="">
          <p:sp>
            <p:nvSpPr>
              <p:cNvPr id="34" name="TextBox 29">
                <a:extLst>
                  <a:ext uri="{FF2B5EF4-FFF2-40B4-BE49-F238E27FC236}">
                    <a16:creationId xmlns:a16="http://schemas.microsoft.com/office/drawing/2014/main" id="{39D06A79-7921-47A8-A37C-F0F9280B041C}"/>
                  </a:ext>
                </a:extLst>
              </p:cNvPr>
              <p:cNvSpPr txBox="1">
                <a:spLocks noRot="1" noChangeAspect="1" noMove="1" noResize="1" noEditPoints="1" noAdjustHandles="1" noChangeArrowheads="1" noChangeShapeType="1" noTextEdit="1"/>
              </p:cNvSpPr>
              <p:nvPr/>
            </p:nvSpPr>
            <p:spPr>
              <a:xfrm>
                <a:off x="10826495" y="888981"/>
                <a:ext cx="585215" cy="464423"/>
              </a:xfrm>
              <a:prstGeom prst="rect">
                <a:avLst/>
              </a:prstGeom>
              <a:blipFill>
                <a:blip r:embed="rId7"/>
                <a:stretch>
                  <a:fillRect b="-7895"/>
                </a:stretch>
              </a:blipFill>
            </p:spPr>
            <p:txBody>
              <a:bodyPr/>
              <a:lstStyle/>
              <a:p>
                <a:r>
                  <a:rPr lang="es-AR">
                    <a:noFill/>
                  </a:rPr>
                  <a:t> </a:t>
                </a:r>
              </a:p>
            </p:txBody>
          </p:sp>
        </mc:Fallback>
      </mc:AlternateContent>
      <p:sp>
        <p:nvSpPr>
          <p:cNvPr id="35" name="Rectangle 30">
            <a:extLst>
              <a:ext uri="{FF2B5EF4-FFF2-40B4-BE49-F238E27FC236}">
                <a16:creationId xmlns:a16="http://schemas.microsoft.com/office/drawing/2014/main" id="{858E8921-866A-4A75-BFD6-C49F7C0E5B2C}"/>
              </a:ext>
            </a:extLst>
          </p:cNvPr>
          <p:cNvSpPr/>
          <p:nvPr/>
        </p:nvSpPr>
        <p:spPr>
          <a:xfrm>
            <a:off x="4645152" y="133536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6" name="TextBox 31">
            <a:extLst>
              <a:ext uri="{FF2B5EF4-FFF2-40B4-BE49-F238E27FC236}">
                <a16:creationId xmlns:a16="http://schemas.microsoft.com/office/drawing/2014/main" id="{65B6CD86-0725-4362-92B7-17A671D78221}"/>
              </a:ext>
            </a:extLst>
          </p:cNvPr>
          <p:cNvSpPr txBox="1"/>
          <p:nvPr/>
        </p:nvSpPr>
        <p:spPr>
          <a:xfrm>
            <a:off x="4672584" y="1353652"/>
            <a:ext cx="329184" cy="253916"/>
          </a:xfrm>
          <a:prstGeom prst="rect">
            <a:avLst/>
          </a:prstGeom>
          <a:noFill/>
        </p:spPr>
        <p:txBody>
          <a:bodyPr wrap="square">
            <a:spAutoFit/>
          </a:bodyPr>
          <a:lstStyle/>
          <a:p>
            <a:pPr algn="ctr"/>
            <a:r>
              <a:rPr sz="1050" b="0">
                <a:latin typeface="Calibri"/>
              </a:rPr>
              <a:t>0</a:t>
            </a:r>
          </a:p>
        </p:txBody>
      </p:sp>
      <p:sp>
        <p:nvSpPr>
          <p:cNvPr id="37" name="Rectangle 32">
            <a:extLst>
              <a:ext uri="{FF2B5EF4-FFF2-40B4-BE49-F238E27FC236}">
                <a16:creationId xmlns:a16="http://schemas.microsoft.com/office/drawing/2014/main" id="{AB1C264D-8DDB-4474-806E-25BEEA6F8DC1}"/>
              </a:ext>
            </a:extLst>
          </p:cNvPr>
          <p:cNvSpPr/>
          <p:nvPr/>
        </p:nvSpPr>
        <p:spPr>
          <a:xfrm>
            <a:off x="5029200" y="133536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8" name="TextBox 33">
            <a:extLst>
              <a:ext uri="{FF2B5EF4-FFF2-40B4-BE49-F238E27FC236}">
                <a16:creationId xmlns:a16="http://schemas.microsoft.com/office/drawing/2014/main" id="{4646AA0C-0416-43D8-9149-4E356534D33E}"/>
              </a:ext>
            </a:extLst>
          </p:cNvPr>
          <p:cNvSpPr txBox="1"/>
          <p:nvPr/>
        </p:nvSpPr>
        <p:spPr>
          <a:xfrm>
            <a:off x="5056632" y="1353652"/>
            <a:ext cx="512064" cy="253916"/>
          </a:xfrm>
          <a:prstGeom prst="rect">
            <a:avLst/>
          </a:prstGeom>
          <a:noFill/>
        </p:spPr>
        <p:txBody>
          <a:bodyPr wrap="square">
            <a:spAutoFit/>
          </a:bodyPr>
          <a:lstStyle/>
          <a:p>
            <a:pPr algn="ctr"/>
            <a:r>
              <a:rPr sz="1050" b="0">
                <a:latin typeface="Calibri"/>
              </a:rPr>
              <a:t>t=0</a:t>
            </a:r>
          </a:p>
        </p:txBody>
      </p:sp>
      <p:sp>
        <p:nvSpPr>
          <p:cNvPr id="39" name="Rectangle 34">
            <a:extLst>
              <a:ext uri="{FF2B5EF4-FFF2-40B4-BE49-F238E27FC236}">
                <a16:creationId xmlns:a16="http://schemas.microsoft.com/office/drawing/2014/main" id="{D18DA07E-2800-450A-B9A2-E4D2FA580A1C}"/>
              </a:ext>
            </a:extLst>
          </p:cNvPr>
          <p:cNvSpPr/>
          <p:nvPr/>
        </p:nvSpPr>
        <p:spPr>
          <a:xfrm>
            <a:off x="55961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0" name="TextBox 35">
            <a:extLst>
              <a:ext uri="{FF2B5EF4-FFF2-40B4-BE49-F238E27FC236}">
                <a16:creationId xmlns:a16="http://schemas.microsoft.com/office/drawing/2014/main" id="{B75300C5-73AD-4865-909F-04D0F1F25DE2}"/>
              </a:ext>
            </a:extLst>
          </p:cNvPr>
          <p:cNvSpPr txBox="1"/>
          <p:nvPr/>
        </p:nvSpPr>
        <p:spPr>
          <a:xfrm>
            <a:off x="5623560" y="1353652"/>
            <a:ext cx="402336" cy="253916"/>
          </a:xfrm>
          <a:prstGeom prst="rect">
            <a:avLst/>
          </a:prstGeom>
          <a:noFill/>
        </p:spPr>
        <p:txBody>
          <a:bodyPr wrap="square">
            <a:spAutoFit/>
          </a:bodyPr>
          <a:lstStyle/>
          <a:p>
            <a:pPr algn="ctr"/>
            <a:r>
              <a:rPr sz="1050" b="1">
                <a:latin typeface="Calibri"/>
              </a:rPr>
              <a:t>=0</a:t>
            </a:r>
          </a:p>
        </p:txBody>
      </p:sp>
      <p:sp>
        <p:nvSpPr>
          <p:cNvPr id="41" name="Rectangle 36">
            <a:extLst>
              <a:ext uri="{FF2B5EF4-FFF2-40B4-BE49-F238E27FC236}">
                <a16:creationId xmlns:a16="http://schemas.microsoft.com/office/drawing/2014/main" id="{D4702DFA-97C1-49F1-ADD5-351566C93A84}"/>
              </a:ext>
            </a:extLst>
          </p:cNvPr>
          <p:cNvSpPr/>
          <p:nvPr/>
        </p:nvSpPr>
        <p:spPr>
          <a:xfrm>
            <a:off x="60533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2" name="TextBox 37">
            <a:extLst>
              <a:ext uri="{FF2B5EF4-FFF2-40B4-BE49-F238E27FC236}">
                <a16:creationId xmlns:a16="http://schemas.microsoft.com/office/drawing/2014/main" id="{80D1AA1F-B9BF-4175-8B34-25A5D20EE2C0}"/>
              </a:ext>
            </a:extLst>
          </p:cNvPr>
          <p:cNvSpPr txBox="1"/>
          <p:nvPr/>
        </p:nvSpPr>
        <p:spPr>
          <a:xfrm>
            <a:off x="6080760" y="1353652"/>
            <a:ext cx="402336" cy="253916"/>
          </a:xfrm>
          <a:prstGeom prst="rect">
            <a:avLst/>
          </a:prstGeom>
          <a:noFill/>
        </p:spPr>
        <p:txBody>
          <a:bodyPr wrap="square">
            <a:spAutoFit/>
          </a:bodyPr>
          <a:lstStyle/>
          <a:p>
            <a:pPr algn="ctr"/>
            <a:r>
              <a:rPr sz="1050" b="1">
                <a:latin typeface="Calibri"/>
              </a:rPr>
              <a:t>=0</a:t>
            </a:r>
          </a:p>
        </p:txBody>
      </p:sp>
      <p:sp>
        <p:nvSpPr>
          <p:cNvPr id="43" name="Rectangle 38">
            <a:extLst>
              <a:ext uri="{FF2B5EF4-FFF2-40B4-BE49-F238E27FC236}">
                <a16:creationId xmlns:a16="http://schemas.microsoft.com/office/drawing/2014/main" id="{7C534841-A1C0-47C2-A3E6-522AA619F888}"/>
              </a:ext>
            </a:extLst>
          </p:cNvPr>
          <p:cNvSpPr/>
          <p:nvPr/>
        </p:nvSpPr>
        <p:spPr>
          <a:xfrm>
            <a:off x="6510528" y="1335364"/>
            <a:ext cx="43891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4" name="TextBox 39">
            <a:extLst>
              <a:ext uri="{FF2B5EF4-FFF2-40B4-BE49-F238E27FC236}">
                <a16:creationId xmlns:a16="http://schemas.microsoft.com/office/drawing/2014/main" id="{BB00C86A-0D2B-4F89-9980-46AB4DEB5CF9}"/>
              </a:ext>
            </a:extLst>
          </p:cNvPr>
          <p:cNvSpPr txBox="1"/>
          <p:nvPr/>
        </p:nvSpPr>
        <p:spPr>
          <a:xfrm>
            <a:off x="6537960" y="1353652"/>
            <a:ext cx="384048" cy="253916"/>
          </a:xfrm>
          <a:prstGeom prst="rect">
            <a:avLst/>
          </a:prstGeom>
          <a:noFill/>
        </p:spPr>
        <p:txBody>
          <a:bodyPr wrap="square">
            <a:spAutoFit/>
          </a:bodyPr>
          <a:lstStyle/>
          <a:p>
            <a:pPr algn="ctr"/>
            <a:r>
              <a:rPr sz="1050" b="1" dirty="0">
                <a:latin typeface="Calibri"/>
              </a:rPr>
              <a:t>—</a:t>
            </a:r>
          </a:p>
        </p:txBody>
      </p:sp>
      <p:sp>
        <p:nvSpPr>
          <p:cNvPr id="45" name="Rectangle 40">
            <a:extLst>
              <a:ext uri="{FF2B5EF4-FFF2-40B4-BE49-F238E27FC236}">
                <a16:creationId xmlns:a16="http://schemas.microsoft.com/office/drawing/2014/main" id="{F752D482-259B-4EB0-B780-78B0832B42A1}"/>
              </a:ext>
            </a:extLst>
          </p:cNvPr>
          <p:cNvSpPr/>
          <p:nvPr/>
        </p:nvSpPr>
        <p:spPr>
          <a:xfrm>
            <a:off x="6949440" y="133536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6" name="TextBox 41">
            <a:extLst>
              <a:ext uri="{FF2B5EF4-FFF2-40B4-BE49-F238E27FC236}">
                <a16:creationId xmlns:a16="http://schemas.microsoft.com/office/drawing/2014/main" id="{7CEE9DFE-B4FF-4414-96EE-0B606E7A8DE0}"/>
              </a:ext>
            </a:extLst>
          </p:cNvPr>
          <p:cNvSpPr txBox="1"/>
          <p:nvPr/>
        </p:nvSpPr>
        <p:spPr>
          <a:xfrm>
            <a:off x="6976871" y="1353652"/>
            <a:ext cx="1938528" cy="253916"/>
          </a:xfrm>
          <a:prstGeom prst="rect">
            <a:avLst/>
          </a:prstGeom>
          <a:noFill/>
        </p:spPr>
        <p:txBody>
          <a:bodyPr wrap="square">
            <a:spAutoFit/>
          </a:bodyPr>
          <a:lstStyle/>
          <a:p>
            <a:pPr algn="ctr"/>
            <a:r>
              <a:rPr sz="1050" b="0">
                <a:latin typeface="Calibri"/>
              </a:rPr>
              <a:t>Reposo</a:t>
            </a:r>
          </a:p>
        </p:txBody>
      </p:sp>
      <p:sp>
        <p:nvSpPr>
          <p:cNvPr id="47" name="Rectangle 42">
            <a:extLst>
              <a:ext uri="{FF2B5EF4-FFF2-40B4-BE49-F238E27FC236}">
                <a16:creationId xmlns:a16="http://schemas.microsoft.com/office/drawing/2014/main" id="{A3934391-0A63-4379-B770-1109ECC71613}"/>
              </a:ext>
            </a:extLst>
          </p:cNvPr>
          <p:cNvSpPr/>
          <p:nvPr/>
        </p:nvSpPr>
        <p:spPr>
          <a:xfrm>
            <a:off x="8942832" y="133536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8" name="TextBox 43">
            <a:extLst>
              <a:ext uri="{FF2B5EF4-FFF2-40B4-BE49-F238E27FC236}">
                <a16:creationId xmlns:a16="http://schemas.microsoft.com/office/drawing/2014/main" id="{9CB83DEC-0F95-4262-92FA-0B7F1A2C652C}"/>
              </a:ext>
            </a:extLst>
          </p:cNvPr>
          <p:cNvSpPr txBox="1"/>
          <p:nvPr/>
        </p:nvSpPr>
        <p:spPr>
          <a:xfrm>
            <a:off x="8970263" y="1353652"/>
            <a:ext cx="493776" cy="253916"/>
          </a:xfrm>
          <a:prstGeom prst="rect">
            <a:avLst/>
          </a:prstGeom>
          <a:noFill/>
        </p:spPr>
        <p:txBody>
          <a:bodyPr wrap="square">
            <a:spAutoFit/>
          </a:bodyPr>
          <a:lstStyle/>
          <a:p>
            <a:pPr algn="ctr"/>
            <a:r>
              <a:rPr sz="1050" b="0">
                <a:latin typeface="Calibri"/>
              </a:rPr>
              <a:t>0</a:t>
            </a:r>
          </a:p>
        </p:txBody>
      </p:sp>
      <p:sp>
        <p:nvSpPr>
          <p:cNvPr id="49" name="Rectangle 44">
            <a:extLst>
              <a:ext uri="{FF2B5EF4-FFF2-40B4-BE49-F238E27FC236}">
                <a16:creationId xmlns:a16="http://schemas.microsoft.com/office/drawing/2014/main" id="{7071AC30-6F57-4674-AF9F-8FE38172C5C1}"/>
              </a:ext>
            </a:extLst>
          </p:cNvPr>
          <p:cNvSpPr/>
          <p:nvPr/>
        </p:nvSpPr>
        <p:spPr>
          <a:xfrm>
            <a:off x="9518903" y="1323380"/>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0" name="TextBox 45">
            <a:extLst>
              <a:ext uri="{FF2B5EF4-FFF2-40B4-BE49-F238E27FC236}">
                <a16:creationId xmlns:a16="http://schemas.microsoft.com/office/drawing/2014/main" id="{77716528-85B6-4558-A3A6-CA07D9842784}"/>
              </a:ext>
            </a:extLst>
          </p:cNvPr>
          <p:cNvSpPr txBox="1"/>
          <p:nvPr/>
        </p:nvSpPr>
        <p:spPr>
          <a:xfrm>
            <a:off x="9518903" y="1353652"/>
            <a:ext cx="566928" cy="253916"/>
          </a:xfrm>
          <a:prstGeom prst="rect">
            <a:avLst/>
          </a:prstGeom>
          <a:noFill/>
        </p:spPr>
        <p:txBody>
          <a:bodyPr wrap="square">
            <a:spAutoFit/>
          </a:bodyPr>
          <a:lstStyle/>
          <a:p>
            <a:pPr algn="ctr"/>
            <a:r>
              <a:rPr sz="1050" b="0">
                <a:latin typeface="Calibri"/>
              </a:rPr>
              <a:t>0</a:t>
            </a:r>
          </a:p>
        </p:txBody>
      </p:sp>
      <p:sp>
        <p:nvSpPr>
          <p:cNvPr id="51" name="Rectangle 46">
            <a:extLst>
              <a:ext uri="{FF2B5EF4-FFF2-40B4-BE49-F238E27FC236}">
                <a16:creationId xmlns:a16="http://schemas.microsoft.com/office/drawing/2014/main" id="{36B34013-1220-4D8C-9A6F-59C4428FD2E0}"/>
              </a:ext>
            </a:extLst>
          </p:cNvPr>
          <p:cNvSpPr/>
          <p:nvPr/>
        </p:nvSpPr>
        <p:spPr>
          <a:xfrm>
            <a:off x="10113263" y="133536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2" name="TextBox 47">
            <a:extLst>
              <a:ext uri="{FF2B5EF4-FFF2-40B4-BE49-F238E27FC236}">
                <a16:creationId xmlns:a16="http://schemas.microsoft.com/office/drawing/2014/main" id="{85E8035F-34B5-4A5F-A368-CF19D92353A4}"/>
              </a:ext>
            </a:extLst>
          </p:cNvPr>
          <p:cNvSpPr txBox="1"/>
          <p:nvPr/>
        </p:nvSpPr>
        <p:spPr>
          <a:xfrm>
            <a:off x="10140695" y="1353652"/>
            <a:ext cx="630936" cy="253916"/>
          </a:xfrm>
          <a:prstGeom prst="rect">
            <a:avLst/>
          </a:prstGeom>
          <a:noFill/>
        </p:spPr>
        <p:txBody>
          <a:bodyPr wrap="square">
            <a:spAutoFit/>
          </a:bodyPr>
          <a:lstStyle/>
          <a:p>
            <a:pPr algn="ctr"/>
            <a:r>
              <a:rPr sz="1050" b="0">
                <a:latin typeface="Calibri"/>
              </a:rPr>
              <a:t>—</a:t>
            </a:r>
          </a:p>
        </p:txBody>
      </p:sp>
      <p:sp>
        <p:nvSpPr>
          <p:cNvPr id="53" name="Rectangle 48">
            <a:extLst>
              <a:ext uri="{FF2B5EF4-FFF2-40B4-BE49-F238E27FC236}">
                <a16:creationId xmlns:a16="http://schemas.microsoft.com/office/drawing/2014/main" id="{E2F73FF6-B70B-44FF-9FC2-70E19F4B6816}"/>
              </a:ext>
            </a:extLst>
          </p:cNvPr>
          <p:cNvSpPr/>
          <p:nvPr/>
        </p:nvSpPr>
        <p:spPr>
          <a:xfrm>
            <a:off x="10799063" y="133536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4" name="TextBox 49">
            <a:extLst>
              <a:ext uri="{FF2B5EF4-FFF2-40B4-BE49-F238E27FC236}">
                <a16:creationId xmlns:a16="http://schemas.microsoft.com/office/drawing/2014/main" id="{E0DD3442-EBA7-4738-A24C-43649C3B2CC1}"/>
              </a:ext>
            </a:extLst>
          </p:cNvPr>
          <p:cNvSpPr txBox="1"/>
          <p:nvPr/>
        </p:nvSpPr>
        <p:spPr>
          <a:xfrm>
            <a:off x="10826495" y="1353652"/>
            <a:ext cx="585215" cy="253916"/>
          </a:xfrm>
          <a:prstGeom prst="rect">
            <a:avLst/>
          </a:prstGeom>
          <a:noFill/>
        </p:spPr>
        <p:txBody>
          <a:bodyPr wrap="square">
            <a:spAutoFit/>
          </a:bodyPr>
          <a:lstStyle/>
          <a:p>
            <a:pPr algn="ctr"/>
            <a:r>
              <a:rPr sz="1050" b="0">
                <a:latin typeface="Calibri"/>
              </a:rPr>
              <a:t>—</a:t>
            </a:r>
          </a:p>
        </p:txBody>
      </p:sp>
      <p:sp>
        <p:nvSpPr>
          <p:cNvPr id="75" name="Rectangle 70">
            <a:extLst>
              <a:ext uri="{FF2B5EF4-FFF2-40B4-BE49-F238E27FC236}">
                <a16:creationId xmlns:a16="http://schemas.microsoft.com/office/drawing/2014/main" id="{7C045FA5-D243-44A5-89D8-46F99FA6BE13}"/>
              </a:ext>
            </a:extLst>
          </p:cNvPr>
          <p:cNvSpPr/>
          <p:nvPr/>
        </p:nvSpPr>
        <p:spPr>
          <a:xfrm>
            <a:off x="4645152" y="178113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6" name="TextBox 71">
            <a:extLst>
              <a:ext uri="{FF2B5EF4-FFF2-40B4-BE49-F238E27FC236}">
                <a16:creationId xmlns:a16="http://schemas.microsoft.com/office/drawing/2014/main" id="{4D30838B-34D9-4862-9314-1493612092B5}"/>
              </a:ext>
            </a:extLst>
          </p:cNvPr>
          <p:cNvSpPr txBox="1"/>
          <p:nvPr/>
        </p:nvSpPr>
        <p:spPr>
          <a:xfrm>
            <a:off x="4672584" y="1799422"/>
            <a:ext cx="329184" cy="253916"/>
          </a:xfrm>
          <a:prstGeom prst="rect">
            <a:avLst/>
          </a:prstGeom>
          <a:noFill/>
        </p:spPr>
        <p:txBody>
          <a:bodyPr wrap="square">
            <a:spAutoFit/>
          </a:bodyPr>
          <a:lstStyle/>
          <a:p>
            <a:pPr algn="ctr"/>
            <a:r>
              <a:rPr lang="es-MX" sz="1050" b="0" dirty="0">
                <a:latin typeface="Calibri"/>
              </a:rPr>
              <a:t>1</a:t>
            </a:r>
            <a:endParaRPr sz="1050" b="0" dirty="0">
              <a:latin typeface="Calibri"/>
            </a:endParaRPr>
          </a:p>
        </p:txBody>
      </p:sp>
      <p:sp>
        <p:nvSpPr>
          <p:cNvPr id="77" name="Rectangle 72">
            <a:extLst>
              <a:ext uri="{FF2B5EF4-FFF2-40B4-BE49-F238E27FC236}">
                <a16:creationId xmlns:a16="http://schemas.microsoft.com/office/drawing/2014/main" id="{25CBEB9A-83B4-4EB7-9EB2-97CCE78BA6FC}"/>
              </a:ext>
            </a:extLst>
          </p:cNvPr>
          <p:cNvSpPr/>
          <p:nvPr/>
        </p:nvSpPr>
        <p:spPr>
          <a:xfrm>
            <a:off x="5029200" y="178113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8" name="TextBox 73">
            <a:extLst>
              <a:ext uri="{FF2B5EF4-FFF2-40B4-BE49-F238E27FC236}">
                <a16:creationId xmlns:a16="http://schemas.microsoft.com/office/drawing/2014/main" id="{E3375ED1-5E19-4232-9025-A406D04B51CA}"/>
              </a:ext>
            </a:extLst>
          </p:cNvPr>
          <p:cNvSpPr txBox="1"/>
          <p:nvPr/>
        </p:nvSpPr>
        <p:spPr>
          <a:xfrm>
            <a:off x="5056632" y="1799422"/>
            <a:ext cx="512064" cy="253916"/>
          </a:xfrm>
          <a:prstGeom prst="rect">
            <a:avLst/>
          </a:prstGeom>
          <a:noFill/>
        </p:spPr>
        <p:txBody>
          <a:bodyPr wrap="square">
            <a:spAutoFit/>
          </a:bodyPr>
          <a:lstStyle/>
          <a:p>
            <a:pPr algn="ctr"/>
            <a:r>
              <a:rPr sz="1050" b="0">
                <a:latin typeface="Calibri"/>
              </a:rPr>
              <a:t>t=0.3</a:t>
            </a:r>
          </a:p>
        </p:txBody>
      </p:sp>
      <p:sp>
        <p:nvSpPr>
          <p:cNvPr id="79" name="Rectangle 74">
            <a:extLst>
              <a:ext uri="{FF2B5EF4-FFF2-40B4-BE49-F238E27FC236}">
                <a16:creationId xmlns:a16="http://schemas.microsoft.com/office/drawing/2014/main" id="{7C8451A4-BB2F-48AB-9120-8B1753636074}"/>
              </a:ext>
            </a:extLst>
          </p:cNvPr>
          <p:cNvSpPr/>
          <p:nvPr/>
        </p:nvSpPr>
        <p:spPr>
          <a:xfrm>
            <a:off x="55961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0" name="TextBox 75">
            <a:extLst>
              <a:ext uri="{FF2B5EF4-FFF2-40B4-BE49-F238E27FC236}">
                <a16:creationId xmlns:a16="http://schemas.microsoft.com/office/drawing/2014/main" id="{EAEA403F-8665-4620-B340-B5F0EE10D41F}"/>
              </a:ext>
            </a:extLst>
          </p:cNvPr>
          <p:cNvSpPr txBox="1"/>
          <p:nvPr/>
        </p:nvSpPr>
        <p:spPr>
          <a:xfrm>
            <a:off x="5623560" y="1799422"/>
            <a:ext cx="402336" cy="253916"/>
          </a:xfrm>
          <a:prstGeom prst="rect">
            <a:avLst/>
          </a:prstGeom>
          <a:noFill/>
        </p:spPr>
        <p:txBody>
          <a:bodyPr wrap="square">
            <a:spAutoFit/>
          </a:bodyPr>
          <a:lstStyle/>
          <a:p>
            <a:pPr algn="ctr"/>
            <a:r>
              <a:rPr sz="1050" b="1">
                <a:latin typeface="Calibri"/>
              </a:rPr>
              <a:t>&gt;0</a:t>
            </a:r>
          </a:p>
        </p:txBody>
      </p:sp>
      <p:sp>
        <p:nvSpPr>
          <p:cNvPr id="81" name="Rectangle 76">
            <a:extLst>
              <a:ext uri="{FF2B5EF4-FFF2-40B4-BE49-F238E27FC236}">
                <a16:creationId xmlns:a16="http://schemas.microsoft.com/office/drawing/2014/main" id="{D59200C6-9C7B-40F7-945F-CA4A86061D32}"/>
              </a:ext>
            </a:extLst>
          </p:cNvPr>
          <p:cNvSpPr/>
          <p:nvPr/>
        </p:nvSpPr>
        <p:spPr>
          <a:xfrm>
            <a:off x="60533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2" name="TextBox 77">
            <a:extLst>
              <a:ext uri="{FF2B5EF4-FFF2-40B4-BE49-F238E27FC236}">
                <a16:creationId xmlns:a16="http://schemas.microsoft.com/office/drawing/2014/main" id="{87F5F0F5-19CB-4E6A-B3AA-6022CB22342A}"/>
              </a:ext>
            </a:extLst>
          </p:cNvPr>
          <p:cNvSpPr txBox="1"/>
          <p:nvPr/>
        </p:nvSpPr>
        <p:spPr>
          <a:xfrm>
            <a:off x="6080760" y="1799422"/>
            <a:ext cx="402336" cy="253916"/>
          </a:xfrm>
          <a:prstGeom prst="rect">
            <a:avLst/>
          </a:prstGeom>
          <a:noFill/>
        </p:spPr>
        <p:txBody>
          <a:bodyPr wrap="square">
            <a:spAutoFit/>
          </a:bodyPr>
          <a:lstStyle/>
          <a:p>
            <a:pPr algn="ctr"/>
            <a:r>
              <a:rPr sz="1050" b="1">
                <a:latin typeface="Calibri"/>
              </a:rPr>
              <a:t>&gt;0</a:t>
            </a:r>
          </a:p>
        </p:txBody>
      </p:sp>
      <p:sp>
        <p:nvSpPr>
          <p:cNvPr id="83" name="Rectangle 78">
            <a:extLst>
              <a:ext uri="{FF2B5EF4-FFF2-40B4-BE49-F238E27FC236}">
                <a16:creationId xmlns:a16="http://schemas.microsoft.com/office/drawing/2014/main" id="{320EE948-5077-4FBB-8D6C-810DF2C3F1A6}"/>
              </a:ext>
            </a:extLst>
          </p:cNvPr>
          <p:cNvSpPr/>
          <p:nvPr/>
        </p:nvSpPr>
        <p:spPr>
          <a:xfrm>
            <a:off x="6510528" y="178113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4" name="TextBox 79">
            <a:extLst>
              <a:ext uri="{FF2B5EF4-FFF2-40B4-BE49-F238E27FC236}">
                <a16:creationId xmlns:a16="http://schemas.microsoft.com/office/drawing/2014/main" id="{82D7BA81-8FA0-4015-82EC-640B86EDAC55}"/>
              </a:ext>
            </a:extLst>
          </p:cNvPr>
          <p:cNvSpPr txBox="1"/>
          <p:nvPr/>
        </p:nvSpPr>
        <p:spPr>
          <a:xfrm>
            <a:off x="6537960" y="1799422"/>
            <a:ext cx="384048" cy="253916"/>
          </a:xfrm>
          <a:prstGeom prst="rect">
            <a:avLst/>
          </a:prstGeom>
          <a:noFill/>
        </p:spPr>
        <p:txBody>
          <a:bodyPr wrap="square">
            <a:spAutoFit/>
          </a:bodyPr>
          <a:lstStyle/>
          <a:p>
            <a:pPr algn="ctr"/>
            <a:r>
              <a:rPr sz="1050" b="1">
                <a:latin typeface="Calibri"/>
              </a:rPr>
              <a:t>1°</a:t>
            </a:r>
          </a:p>
        </p:txBody>
      </p:sp>
      <p:sp>
        <p:nvSpPr>
          <p:cNvPr id="85" name="Rectangle 80">
            <a:extLst>
              <a:ext uri="{FF2B5EF4-FFF2-40B4-BE49-F238E27FC236}">
                <a16:creationId xmlns:a16="http://schemas.microsoft.com/office/drawing/2014/main" id="{A29740FC-3EB8-400A-83F6-C2A4D820D812}"/>
              </a:ext>
            </a:extLst>
          </p:cNvPr>
          <p:cNvSpPr/>
          <p:nvPr/>
        </p:nvSpPr>
        <p:spPr>
          <a:xfrm>
            <a:off x="6949440" y="178113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6" name="TextBox 81">
            <a:extLst>
              <a:ext uri="{FF2B5EF4-FFF2-40B4-BE49-F238E27FC236}">
                <a16:creationId xmlns:a16="http://schemas.microsoft.com/office/drawing/2014/main" id="{247F13F7-3C45-4108-9D42-1E8B376A9AFA}"/>
              </a:ext>
            </a:extLst>
          </p:cNvPr>
          <p:cNvSpPr txBox="1"/>
          <p:nvPr/>
        </p:nvSpPr>
        <p:spPr>
          <a:xfrm>
            <a:off x="6976871" y="1799422"/>
            <a:ext cx="1938528" cy="253916"/>
          </a:xfrm>
          <a:prstGeom prst="rect">
            <a:avLst/>
          </a:prstGeom>
          <a:noFill/>
        </p:spPr>
        <p:txBody>
          <a:bodyPr wrap="square">
            <a:spAutoFit/>
          </a:bodyPr>
          <a:lstStyle/>
          <a:p>
            <a:pPr algn="ctr"/>
            <a:r>
              <a:rPr sz="1050" b="0">
                <a:latin typeface="Calibri"/>
              </a:rPr>
              <a:t>Motor. directa + carga</a:t>
            </a:r>
          </a:p>
        </p:txBody>
      </p:sp>
      <p:sp>
        <p:nvSpPr>
          <p:cNvPr id="87" name="Rectangle 82">
            <a:extLst>
              <a:ext uri="{FF2B5EF4-FFF2-40B4-BE49-F238E27FC236}">
                <a16:creationId xmlns:a16="http://schemas.microsoft.com/office/drawing/2014/main" id="{55EAF722-C647-4610-B15B-48B3DEBD18DF}"/>
              </a:ext>
            </a:extLst>
          </p:cNvPr>
          <p:cNvSpPr/>
          <p:nvPr/>
        </p:nvSpPr>
        <p:spPr>
          <a:xfrm>
            <a:off x="8942832" y="178113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8" name="TextBox 83">
            <a:extLst>
              <a:ext uri="{FF2B5EF4-FFF2-40B4-BE49-F238E27FC236}">
                <a16:creationId xmlns:a16="http://schemas.microsoft.com/office/drawing/2014/main" id="{CD4AAAF3-034B-4482-A86F-E6A4029733A4}"/>
              </a:ext>
            </a:extLst>
          </p:cNvPr>
          <p:cNvSpPr txBox="1"/>
          <p:nvPr/>
        </p:nvSpPr>
        <p:spPr>
          <a:xfrm>
            <a:off x="8970263" y="1799422"/>
            <a:ext cx="493776" cy="253916"/>
          </a:xfrm>
          <a:prstGeom prst="rect">
            <a:avLst/>
          </a:prstGeom>
          <a:noFill/>
        </p:spPr>
        <p:txBody>
          <a:bodyPr wrap="square">
            <a:spAutoFit/>
          </a:bodyPr>
          <a:lstStyle/>
          <a:p>
            <a:pPr algn="ctr"/>
            <a:r>
              <a:rPr sz="1050" b="0">
                <a:latin typeface="Calibri"/>
              </a:rPr>
              <a:t>+5</a:t>
            </a:r>
          </a:p>
        </p:txBody>
      </p:sp>
      <p:sp>
        <p:nvSpPr>
          <p:cNvPr id="89" name="Rectangle 84">
            <a:extLst>
              <a:ext uri="{FF2B5EF4-FFF2-40B4-BE49-F238E27FC236}">
                <a16:creationId xmlns:a16="http://schemas.microsoft.com/office/drawing/2014/main" id="{62C2AA65-F3C8-40EC-B736-20B619563634}"/>
              </a:ext>
            </a:extLst>
          </p:cNvPr>
          <p:cNvSpPr/>
          <p:nvPr/>
        </p:nvSpPr>
        <p:spPr>
          <a:xfrm>
            <a:off x="9491471" y="178113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0" name="TextBox 85">
            <a:extLst>
              <a:ext uri="{FF2B5EF4-FFF2-40B4-BE49-F238E27FC236}">
                <a16:creationId xmlns:a16="http://schemas.microsoft.com/office/drawing/2014/main" id="{740758D9-40D5-430D-99A0-C5EA7D6DCE80}"/>
              </a:ext>
            </a:extLst>
          </p:cNvPr>
          <p:cNvSpPr txBox="1"/>
          <p:nvPr/>
        </p:nvSpPr>
        <p:spPr>
          <a:xfrm>
            <a:off x="9518903" y="1799422"/>
            <a:ext cx="566928" cy="253916"/>
          </a:xfrm>
          <a:prstGeom prst="rect">
            <a:avLst/>
          </a:prstGeom>
          <a:noFill/>
        </p:spPr>
        <p:txBody>
          <a:bodyPr wrap="square">
            <a:spAutoFit/>
          </a:bodyPr>
          <a:lstStyle/>
          <a:p>
            <a:pPr algn="ctr"/>
            <a:r>
              <a:rPr sz="1050" b="0">
                <a:latin typeface="Calibri"/>
              </a:rPr>
              <a:t>+19.56</a:t>
            </a:r>
          </a:p>
        </p:txBody>
      </p:sp>
      <p:sp>
        <p:nvSpPr>
          <p:cNvPr id="91" name="Rectangle 86">
            <a:extLst>
              <a:ext uri="{FF2B5EF4-FFF2-40B4-BE49-F238E27FC236}">
                <a16:creationId xmlns:a16="http://schemas.microsoft.com/office/drawing/2014/main" id="{E3805C13-89C0-4E0C-956B-43FD2619C737}"/>
              </a:ext>
            </a:extLst>
          </p:cNvPr>
          <p:cNvSpPr/>
          <p:nvPr/>
        </p:nvSpPr>
        <p:spPr>
          <a:xfrm>
            <a:off x="10113263" y="178113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2" name="TextBox 87">
            <a:extLst>
              <a:ext uri="{FF2B5EF4-FFF2-40B4-BE49-F238E27FC236}">
                <a16:creationId xmlns:a16="http://schemas.microsoft.com/office/drawing/2014/main" id="{4C3897D5-F5C2-48BE-A191-EC21A590E746}"/>
              </a:ext>
            </a:extLst>
          </p:cNvPr>
          <p:cNvSpPr txBox="1"/>
          <p:nvPr/>
        </p:nvSpPr>
        <p:spPr>
          <a:xfrm>
            <a:off x="10140695" y="1799422"/>
            <a:ext cx="630936" cy="253916"/>
          </a:xfrm>
          <a:prstGeom prst="rect">
            <a:avLst/>
          </a:prstGeom>
          <a:noFill/>
        </p:spPr>
        <p:txBody>
          <a:bodyPr wrap="square">
            <a:spAutoFit/>
          </a:bodyPr>
          <a:lstStyle/>
          <a:p>
            <a:pPr algn="ctr"/>
            <a:r>
              <a:rPr sz="1050" b="0">
                <a:latin typeface="Calibri"/>
              </a:rPr>
              <a:t>401.5</a:t>
            </a:r>
          </a:p>
        </p:txBody>
      </p:sp>
      <p:sp>
        <p:nvSpPr>
          <p:cNvPr id="93" name="Rectangle 88">
            <a:extLst>
              <a:ext uri="{FF2B5EF4-FFF2-40B4-BE49-F238E27FC236}">
                <a16:creationId xmlns:a16="http://schemas.microsoft.com/office/drawing/2014/main" id="{80FB7F78-BED2-4491-846F-1CD7FD4C2D29}"/>
              </a:ext>
            </a:extLst>
          </p:cNvPr>
          <p:cNvSpPr/>
          <p:nvPr/>
        </p:nvSpPr>
        <p:spPr>
          <a:xfrm>
            <a:off x="10799063" y="178113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4" name="TextBox 89">
            <a:extLst>
              <a:ext uri="{FF2B5EF4-FFF2-40B4-BE49-F238E27FC236}">
                <a16:creationId xmlns:a16="http://schemas.microsoft.com/office/drawing/2014/main" id="{9E70A217-59C8-4635-BFF7-893239EB6776}"/>
              </a:ext>
            </a:extLst>
          </p:cNvPr>
          <p:cNvSpPr txBox="1"/>
          <p:nvPr/>
        </p:nvSpPr>
        <p:spPr>
          <a:xfrm>
            <a:off x="10826495" y="1799422"/>
            <a:ext cx="585215" cy="253916"/>
          </a:xfrm>
          <a:prstGeom prst="rect">
            <a:avLst/>
          </a:prstGeom>
          <a:noFill/>
        </p:spPr>
        <p:txBody>
          <a:bodyPr wrap="square">
            <a:spAutoFit/>
          </a:bodyPr>
          <a:lstStyle/>
          <a:p>
            <a:pPr algn="ctr"/>
            <a:r>
              <a:rPr sz="1050" b="0">
                <a:latin typeface="Calibri"/>
              </a:rPr>
              <a:t>0.021</a:t>
            </a:r>
          </a:p>
        </p:txBody>
      </p:sp>
      <p:sp>
        <p:nvSpPr>
          <p:cNvPr id="95" name="Rectangle 90">
            <a:extLst>
              <a:ext uri="{FF2B5EF4-FFF2-40B4-BE49-F238E27FC236}">
                <a16:creationId xmlns:a16="http://schemas.microsoft.com/office/drawing/2014/main" id="{2C406D44-DA5B-4009-8E29-71A37A15ED9D}"/>
              </a:ext>
            </a:extLst>
          </p:cNvPr>
          <p:cNvSpPr/>
          <p:nvPr/>
        </p:nvSpPr>
        <p:spPr>
          <a:xfrm>
            <a:off x="4645152" y="222690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6" name="TextBox 91">
            <a:extLst>
              <a:ext uri="{FF2B5EF4-FFF2-40B4-BE49-F238E27FC236}">
                <a16:creationId xmlns:a16="http://schemas.microsoft.com/office/drawing/2014/main" id="{AD55F08B-2D5C-4B48-9676-98C5E68651E7}"/>
              </a:ext>
            </a:extLst>
          </p:cNvPr>
          <p:cNvSpPr txBox="1"/>
          <p:nvPr/>
        </p:nvSpPr>
        <p:spPr>
          <a:xfrm>
            <a:off x="4672584" y="2245192"/>
            <a:ext cx="329184" cy="253916"/>
          </a:xfrm>
          <a:prstGeom prst="rect">
            <a:avLst/>
          </a:prstGeom>
          <a:noFill/>
        </p:spPr>
        <p:txBody>
          <a:bodyPr wrap="square">
            <a:spAutoFit/>
          </a:bodyPr>
          <a:lstStyle/>
          <a:p>
            <a:pPr algn="ctr"/>
            <a:r>
              <a:rPr lang="es-MX" sz="1050" dirty="0">
                <a:latin typeface="Calibri"/>
              </a:rPr>
              <a:t>2</a:t>
            </a:r>
            <a:endParaRPr sz="1050" b="0" dirty="0">
              <a:latin typeface="Calibri"/>
            </a:endParaRPr>
          </a:p>
        </p:txBody>
      </p:sp>
      <p:sp>
        <p:nvSpPr>
          <p:cNvPr id="97" name="Rectangle 92">
            <a:extLst>
              <a:ext uri="{FF2B5EF4-FFF2-40B4-BE49-F238E27FC236}">
                <a16:creationId xmlns:a16="http://schemas.microsoft.com/office/drawing/2014/main" id="{483B3BAF-D377-4F52-B39F-21E86D4B60C7}"/>
              </a:ext>
            </a:extLst>
          </p:cNvPr>
          <p:cNvSpPr/>
          <p:nvPr/>
        </p:nvSpPr>
        <p:spPr>
          <a:xfrm>
            <a:off x="5029200" y="222690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8" name="TextBox 93">
            <a:extLst>
              <a:ext uri="{FF2B5EF4-FFF2-40B4-BE49-F238E27FC236}">
                <a16:creationId xmlns:a16="http://schemas.microsoft.com/office/drawing/2014/main" id="{88671214-FF52-48AC-A6A0-81AFF1B39C11}"/>
              </a:ext>
            </a:extLst>
          </p:cNvPr>
          <p:cNvSpPr txBox="1"/>
          <p:nvPr/>
        </p:nvSpPr>
        <p:spPr>
          <a:xfrm>
            <a:off x="5056632" y="2245192"/>
            <a:ext cx="512064" cy="253916"/>
          </a:xfrm>
          <a:prstGeom prst="rect">
            <a:avLst/>
          </a:prstGeom>
          <a:noFill/>
        </p:spPr>
        <p:txBody>
          <a:bodyPr wrap="square">
            <a:spAutoFit/>
          </a:bodyPr>
          <a:lstStyle/>
          <a:p>
            <a:pPr algn="ctr"/>
            <a:r>
              <a:rPr sz="1050" b="0">
                <a:latin typeface="Calibri"/>
              </a:rPr>
              <a:t>t=0.5</a:t>
            </a:r>
          </a:p>
        </p:txBody>
      </p:sp>
      <p:sp>
        <p:nvSpPr>
          <p:cNvPr id="99" name="Rectangle 94">
            <a:extLst>
              <a:ext uri="{FF2B5EF4-FFF2-40B4-BE49-F238E27FC236}">
                <a16:creationId xmlns:a16="http://schemas.microsoft.com/office/drawing/2014/main" id="{772CD476-CFBB-487C-A1FB-AEBBAB4200B9}"/>
              </a:ext>
            </a:extLst>
          </p:cNvPr>
          <p:cNvSpPr/>
          <p:nvPr/>
        </p:nvSpPr>
        <p:spPr>
          <a:xfrm>
            <a:off x="55961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0" name="TextBox 95">
            <a:extLst>
              <a:ext uri="{FF2B5EF4-FFF2-40B4-BE49-F238E27FC236}">
                <a16:creationId xmlns:a16="http://schemas.microsoft.com/office/drawing/2014/main" id="{08C110E4-9F50-4C6A-8CB7-7B0987A0EABD}"/>
              </a:ext>
            </a:extLst>
          </p:cNvPr>
          <p:cNvSpPr txBox="1"/>
          <p:nvPr/>
        </p:nvSpPr>
        <p:spPr>
          <a:xfrm>
            <a:off x="5623560" y="2245192"/>
            <a:ext cx="402336" cy="253916"/>
          </a:xfrm>
          <a:prstGeom prst="rect">
            <a:avLst/>
          </a:prstGeom>
          <a:noFill/>
        </p:spPr>
        <p:txBody>
          <a:bodyPr wrap="square">
            <a:spAutoFit/>
          </a:bodyPr>
          <a:lstStyle/>
          <a:p>
            <a:pPr algn="ctr"/>
            <a:r>
              <a:rPr sz="1050" b="1">
                <a:latin typeface="Calibri"/>
              </a:rPr>
              <a:t>&gt;0</a:t>
            </a:r>
          </a:p>
        </p:txBody>
      </p:sp>
      <p:sp>
        <p:nvSpPr>
          <p:cNvPr id="101" name="Rectangle 96">
            <a:extLst>
              <a:ext uri="{FF2B5EF4-FFF2-40B4-BE49-F238E27FC236}">
                <a16:creationId xmlns:a16="http://schemas.microsoft.com/office/drawing/2014/main" id="{E76D8252-3DE7-4BE7-8535-9E59D2B1365B}"/>
              </a:ext>
            </a:extLst>
          </p:cNvPr>
          <p:cNvSpPr/>
          <p:nvPr/>
        </p:nvSpPr>
        <p:spPr>
          <a:xfrm>
            <a:off x="60533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2" name="TextBox 97">
            <a:extLst>
              <a:ext uri="{FF2B5EF4-FFF2-40B4-BE49-F238E27FC236}">
                <a16:creationId xmlns:a16="http://schemas.microsoft.com/office/drawing/2014/main" id="{F744644E-BC5F-45AB-A813-A766C44762C0}"/>
              </a:ext>
            </a:extLst>
          </p:cNvPr>
          <p:cNvSpPr txBox="1"/>
          <p:nvPr/>
        </p:nvSpPr>
        <p:spPr>
          <a:xfrm>
            <a:off x="6080760" y="2245192"/>
            <a:ext cx="402336" cy="253916"/>
          </a:xfrm>
          <a:prstGeom prst="rect">
            <a:avLst/>
          </a:prstGeom>
          <a:noFill/>
        </p:spPr>
        <p:txBody>
          <a:bodyPr wrap="square">
            <a:spAutoFit/>
          </a:bodyPr>
          <a:lstStyle/>
          <a:p>
            <a:pPr algn="ctr"/>
            <a:r>
              <a:rPr sz="1050" b="1">
                <a:latin typeface="Calibri"/>
              </a:rPr>
              <a:t>&gt;0</a:t>
            </a:r>
          </a:p>
        </p:txBody>
      </p:sp>
      <p:sp>
        <p:nvSpPr>
          <p:cNvPr id="103" name="Rectangle 98">
            <a:extLst>
              <a:ext uri="{FF2B5EF4-FFF2-40B4-BE49-F238E27FC236}">
                <a16:creationId xmlns:a16="http://schemas.microsoft.com/office/drawing/2014/main" id="{A273EC5C-54E7-4045-9DC7-C00C802FA649}"/>
              </a:ext>
            </a:extLst>
          </p:cNvPr>
          <p:cNvSpPr/>
          <p:nvPr/>
        </p:nvSpPr>
        <p:spPr>
          <a:xfrm>
            <a:off x="6510528" y="222690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4" name="TextBox 99">
            <a:extLst>
              <a:ext uri="{FF2B5EF4-FFF2-40B4-BE49-F238E27FC236}">
                <a16:creationId xmlns:a16="http://schemas.microsoft.com/office/drawing/2014/main" id="{5FBF5040-F02B-4B66-B948-14139330A4F4}"/>
              </a:ext>
            </a:extLst>
          </p:cNvPr>
          <p:cNvSpPr txBox="1"/>
          <p:nvPr/>
        </p:nvSpPr>
        <p:spPr>
          <a:xfrm>
            <a:off x="6537960" y="2245192"/>
            <a:ext cx="384048" cy="253916"/>
          </a:xfrm>
          <a:prstGeom prst="rect">
            <a:avLst/>
          </a:prstGeom>
          <a:noFill/>
        </p:spPr>
        <p:txBody>
          <a:bodyPr wrap="square">
            <a:spAutoFit/>
          </a:bodyPr>
          <a:lstStyle/>
          <a:p>
            <a:pPr algn="ctr"/>
            <a:r>
              <a:rPr sz="1050" b="1">
                <a:latin typeface="Calibri"/>
              </a:rPr>
              <a:t>1°</a:t>
            </a:r>
          </a:p>
        </p:txBody>
      </p:sp>
      <p:sp>
        <p:nvSpPr>
          <p:cNvPr id="105" name="Rectangle 100">
            <a:extLst>
              <a:ext uri="{FF2B5EF4-FFF2-40B4-BE49-F238E27FC236}">
                <a16:creationId xmlns:a16="http://schemas.microsoft.com/office/drawing/2014/main" id="{377D09B7-DE6A-4482-A8EE-511641032391}"/>
              </a:ext>
            </a:extLst>
          </p:cNvPr>
          <p:cNvSpPr/>
          <p:nvPr/>
        </p:nvSpPr>
        <p:spPr>
          <a:xfrm>
            <a:off x="6949440" y="222690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6" name="TextBox 101">
            <a:extLst>
              <a:ext uri="{FF2B5EF4-FFF2-40B4-BE49-F238E27FC236}">
                <a16:creationId xmlns:a16="http://schemas.microsoft.com/office/drawing/2014/main" id="{500538EC-C61F-4488-BDFC-FB88AD3BA9F2}"/>
              </a:ext>
            </a:extLst>
          </p:cNvPr>
          <p:cNvSpPr txBox="1"/>
          <p:nvPr/>
        </p:nvSpPr>
        <p:spPr>
          <a:xfrm>
            <a:off x="6976871" y="2245192"/>
            <a:ext cx="1938528" cy="253916"/>
          </a:xfrm>
          <a:prstGeom prst="rect">
            <a:avLst/>
          </a:prstGeom>
          <a:noFill/>
        </p:spPr>
        <p:txBody>
          <a:bodyPr wrap="square">
            <a:spAutoFit/>
          </a:bodyPr>
          <a:lstStyle/>
          <a:p>
            <a:pPr algn="ctr"/>
            <a:r>
              <a:rPr sz="1050" b="0" dirty="0">
                <a:latin typeface="Calibri"/>
              </a:rPr>
              <a:t>Motor. </a:t>
            </a:r>
            <a:r>
              <a:rPr sz="1050" b="0" dirty="0" err="1">
                <a:latin typeface="Calibri"/>
              </a:rPr>
              <a:t>directa</a:t>
            </a:r>
            <a:endParaRPr sz="1050" b="0" dirty="0">
              <a:latin typeface="Calibri"/>
            </a:endParaRPr>
          </a:p>
        </p:txBody>
      </p:sp>
      <p:sp>
        <p:nvSpPr>
          <p:cNvPr id="107" name="Rectangle 102">
            <a:extLst>
              <a:ext uri="{FF2B5EF4-FFF2-40B4-BE49-F238E27FC236}">
                <a16:creationId xmlns:a16="http://schemas.microsoft.com/office/drawing/2014/main" id="{A3493CEF-5C43-46AE-AEAA-5A43918F6D1E}"/>
              </a:ext>
            </a:extLst>
          </p:cNvPr>
          <p:cNvSpPr/>
          <p:nvPr/>
        </p:nvSpPr>
        <p:spPr>
          <a:xfrm>
            <a:off x="8942832" y="222690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8" name="TextBox 103">
            <a:extLst>
              <a:ext uri="{FF2B5EF4-FFF2-40B4-BE49-F238E27FC236}">
                <a16:creationId xmlns:a16="http://schemas.microsoft.com/office/drawing/2014/main" id="{ACD2B0D1-C114-4DDF-B329-3E8966C91FE8}"/>
              </a:ext>
            </a:extLst>
          </p:cNvPr>
          <p:cNvSpPr txBox="1"/>
          <p:nvPr/>
        </p:nvSpPr>
        <p:spPr>
          <a:xfrm>
            <a:off x="8970263" y="2245192"/>
            <a:ext cx="493776" cy="253916"/>
          </a:xfrm>
          <a:prstGeom prst="rect">
            <a:avLst/>
          </a:prstGeom>
          <a:noFill/>
        </p:spPr>
        <p:txBody>
          <a:bodyPr wrap="square">
            <a:spAutoFit/>
          </a:bodyPr>
          <a:lstStyle/>
          <a:p>
            <a:pPr algn="ctr"/>
            <a:r>
              <a:rPr sz="1050" b="0">
                <a:latin typeface="Calibri"/>
              </a:rPr>
              <a:t>−5</a:t>
            </a:r>
          </a:p>
        </p:txBody>
      </p:sp>
      <p:sp>
        <p:nvSpPr>
          <p:cNvPr id="109" name="Rectangle 104">
            <a:extLst>
              <a:ext uri="{FF2B5EF4-FFF2-40B4-BE49-F238E27FC236}">
                <a16:creationId xmlns:a16="http://schemas.microsoft.com/office/drawing/2014/main" id="{52F7136F-CCEF-4368-98AF-19E45610712E}"/>
              </a:ext>
            </a:extLst>
          </p:cNvPr>
          <p:cNvSpPr/>
          <p:nvPr/>
        </p:nvSpPr>
        <p:spPr>
          <a:xfrm>
            <a:off x="9491471" y="222690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0" name="TextBox 105">
            <a:extLst>
              <a:ext uri="{FF2B5EF4-FFF2-40B4-BE49-F238E27FC236}">
                <a16:creationId xmlns:a16="http://schemas.microsoft.com/office/drawing/2014/main" id="{AEBF2A03-61EE-40E2-BC9B-5AFD4E3CC79B}"/>
              </a:ext>
            </a:extLst>
          </p:cNvPr>
          <p:cNvSpPr txBox="1"/>
          <p:nvPr/>
        </p:nvSpPr>
        <p:spPr>
          <a:xfrm>
            <a:off x="9518903" y="2245192"/>
            <a:ext cx="566928" cy="253916"/>
          </a:xfrm>
          <a:prstGeom prst="rect">
            <a:avLst/>
          </a:prstGeom>
          <a:noFill/>
        </p:spPr>
        <p:txBody>
          <a:bodyPr wrap="square">
            <a:spAutoFit/>
          </a:bodyPr>
          <a:lstStyle/>
          <a:p>
            <a:pPr algn="ctr"/>
            <a:r>
              <a:rPr sz="1050" b="0">
                <a:latin typeface="Calibri"/>
              </a:rPr>
              <a:t>+19.56</a:t>
            </a:r>
          </a:p>
        </p:txBody>
      </p:sp>
      <p:sp>
        <p:nvSpPr>
          <p:cNvPr id="111" name="Rectangle 106">
            <a:extLst>
              <a:ext uri="{FF2B5EF4-FFF2-40B4-BE49-F238E27FC236}">
                <a16:creationId xmlns:a16="http://schemas.microsoft.com/office/drawing/2014/main" id="{D186920E-43A0-4B44-B101-35BBC8E7A7A5}"/>
              </a:ext>
            </a:extLst>
          </p:cNvPr>
          <p:cNvSpPr/>
          <p:nvPr/>
        </p:nvSpPr>
        <p:spPr>
          <a:xfrm>
            <a:off x="10113263" y="222690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2" name="TextBox 107">
            <a:extLst>
              <a:ext uri="{FF2B5EF4-FFF2-40B4-BE49-F238E27FC236}">
                <a16:creationId xmlns:a16="http://schemas.microsoft.com/office/drawing/2014/main" id="{7829F9FB-4799-4997-A613-8A39C2878AE5}"/>
              </a:ext>
            </a:extLst>
          </p:cNvPr>
          <p:cNvSpPr txBox="1"/>
          <p:nvPr/>
        </p:nvSpPr>
        <p:spPr>
          <a:xfrm>
            <a:off x="10140695" y="2245192"/>
            <a:ext cx="630936" cy="253916"/>
          </a:xfrm>
          <a:prstGeom prst="rect">
            <a:avLst/>
          </a:prstGeom>
          <a:noFill/>
        </p:spPr>
        <p:txBody>
          <a:bodyPr wrap="square">
            <a:spAutoFit/>
          </a:bodyPr>
          <a:lstStyle/>
          <a:p>
            <a:pPr algn="ctr"/>
            <a:r>
              <a:rPr sz="1050" b="0">
                <a:latin typeface="Calibri"/>
              </a:rPr>
              <a:t>383.3</a:t>
            </a:r>
          </a:p>
        </p:txBody>
      </p:sp>
      <p:sp>
        <p:nvSpPr>
          <p:cNvPr id="113" name="Rectangle 108">
            <a:extLst>
              <a:ext uri="{FF2B5EF4-FFF2-40B4-BE49-F238E27FC236}">
                <a16:creationId xmlns:a16="http://schemas.microsoft.com/office/drawing/2014/main" id="{1D36B59F-1975-42B5-BB2C-49E6C4E98C66}"/>
              </a:ext>
            </a:extLst>
          </p:cNvPr>
          <p:cNvSpPr/>
          <p:nvPr/>
        </p:nvSpPr>
        <p:spPr>
          <a:xfrm>
            <a:off x="10799063" y="222690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4" name="TextBox 109">
            <a:extLst>
              <a:ext uri="{FF2B5EF4-FFF2-40B4-BE49-F238E27FC236}">
                <a16:creationId xmlns:a16="http://schemas.microsoft.com/office/drawing/2014/main" id="{29D0B821-B5E0-4855-A58F-A30FF93B6327}"/>
              </a:ext>
            </a:extLst>
          </p:cNvPr>
          <p:cNvSpPr txBox="1"/>
          <p:nvPr/>
        </p:nvSpPr>
        <p:spPr>
          <a:xfrm>
            <a:off x="10826495" y="2245192"/>
            <a:ext cx="585215" cy="253916"/>
          </a:xfrm>
          <a:prstGeom prst="rect">
            <a:avLst/>
          </a:prstGeom>
          <a:noFill/>
        </p:spPr>
        <p:txBody>
          <a:bodyPr wrap="square">
            <a:spAutoFit/>
          </a:bodyPr>
          <a:lstStyle/>
          <a:p>
            <a:pPr algn="ctr"/>
            <a:r>
              <a:rPr sz="1050" b="0">
                <a:latin typeface="Calibri"/>
              </a:rPr>
              <a:t>0.080</a:t>
            </a:r>
          </a:p>
        </p:txBody>
      </p:sp>
      <p:sp>
        <p:nvSpPr>
          <p:cNvPr id="115" name="Rectangle 110">
            <a:extLst>
              <a:ext uri="{FF2B5EF4-FFF2-40B4-BE49-F238E27FC236}">
                <a16:creationId xmlns:a16="http://schemas.microsoft.com/office/drawing/2014/main" id="{A40D261A-8772-4BD8-B743-8FAD7A347C2B}"/>
              </a:ext>
            </a:extLst>
          </p:cNvPr>
          <p:cNvSpPr/>
          <p:nvPr/>
        </p:nvSpPr>
        <p:spPr>
          <a:xfrm>
            <a:off x="4645152" y="267267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6" name="TextBox 111">
            <a:extLst>
              <a:ext uri="{FF2B5EF4-FFF2-40B4-BE49-F238E27FC236}">
                <a16:creationId xmlns:a16="http://schemas.microsoft.com/office/drawing/2014/main" id="{EE58B76E-7BAD-4455-B411-155F1C61B477}"/>
              </a:ext>
            </a:extLst>
          </p:cNvPr>
          <p:cNvSpPr txBox="1"/>
          <p:nvPr/>
        </p:nvSpPr>
        <p:spPr>
          <a:xfrm>
            <a:off x="4672584" y="2690962"/>
            <a:ext cx="329184" cy="253916"/>
          </a:xfrm>
          <a:prstGeom prst="rect">
            <a:avLst/>
          </a:prstGeom>
          <a:noFill/>
        </p:spPr>
        <p:txBody>
          <a:bodyPr wrap="square">
            <a:spAutoFit/>
          </a:bodyPr>
          <a:lstStyle/>
          <a:p>
            <a:pPr algn="ctr"/>
            <a:r>
              <a:rPr lang="es-MX" sz="1050" b="0" dirty="0">
                <a:latin typeface="Calibri"/>
              </a:rPr>
              <a:t>3</a:t>
            </a:r>
            <a:endParaRPr sz="1050" b="0" dirty="0">
              <a:latin typeface="Calibri"/>
            </a:endParaRPr>
          </a:p>
        </p:txBody>
      </p:sp>
      <p:sp>
        <p:nvSpPr>
          <p:cNvPr id="117" name="Rectangle 112">
            <a:extLst>
              <a:ext uri="{FF2B5EF4-FFF2-40B4-BE49-F238E27FC236}">
                <a16:creationId xmlns:a16="http://schemas.microsoft.com/office/drawing/2014/main" id="{CA22CB62-EAB7-4C22-AB34-3EE6A621AC91}"/>
              </a:ext>
            </a:extLst>
          </p:cNvPr>
          <p:cNvSpPr/>
          <p:nvPr/>
        </p:nvSpPr>
        <p:spPr>
          <a:xfrm>
            <a:off x="5029200" y="267267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8" name="TextBox 113">
            <a:extLst>
              <a:ext uri="{FF2B5EF4-FFF2-40B4-BE49-F238E27FC236}">
                <a16:creationId xmlns:a16="http://schemas.microsoft.com/office/drawing/2014/main" id="{7A096583-90E3-4988-8669-51E277889AB5}"/>
              </a:ext>
            </a:extLst>
          </p:cNvPr>
          <p:cNvSpPr txBox="1"/>
          <p:nvPr/>
        </p:nvSpPr>
        <p:spPr>
          <a:xfrm>
            <a:off x="5056632" y="2690962"/>
            <a:ext cx="512064" cy="253916"/>
          </a:xfrm>
          <a:prstGeom prst="rect">
            <a:avLst/>
          </a:prstGeom>
          <a:noFill/>
        </p:spPr>
        <p:txBody>
          <a:bodyPr wrap="square">
            <a:spAutoFit/>
          </a:bodyPr>
          <a:lstStyle/>
          <a:p>
            <a:pPr algn="ctr"/>
            <a:r>
              <a:rPr sz="1050" b="0">
                <a:latin typeface="Calibri"/>
              </a:rPr>
              <a:t>t=0.7</a:t>
            </a:r>
          </a:p>
        </p:txBody>
      </p:sp>
      <p:sp>
        <p:nvSpPr>
          <p:cNvPr id="119" name="Rectangle 114">
            <a:extLst>
              <a:ext uri="{FF2B5EF4-FFF2-40B4-BE49-F238E27FC236}">
                <a16:creationId xmlns:a16="http://schemas.microsoft.com/office/drawing/2014/main" id="{3112A443-8BDC-4855-9231-831CD3E8916C}"/>
              </a:ext>
            </a:extLst>
          </p:cNvPr>
          <p:cNvSpPr/>
          <p:nvPr/>
        </p:nvSpPr>
        <p:spPr>
          <a:xfrm>
            <a:off x="55961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0" name="TextBox 115">
            <a:extLst>
              <a:ext uri="{FF2B5EF4-FFF2-40B4-BE49-F238E27FC236}">
                <a16:creationId xmlns:a16="http://schemas.microsoft.com/office/drawing/2014/main" id="{2D4C87F1-3EB8-4902-BE8D-CB850595F534}"/>
              </a:ext>
            </a:extLst>
          </p:cNvPr>
          <p:cNvSpPr txBox="1"/>
          <p:nvPr/>
        </p:nvSpPr>
        <p:spPr>
          <a:xfrm>
            <a:off x="5623560" y="2690962"/>
            <a:ext cx="402336" cy="253916"/>
          </a:xfrm>
          <a:prstGeom prst="rect">
            <a:avLst/>
          </a:prstGeom>
          <a:noFill/>
        </p:spPr>
        <p:txBody>
          <a:bodyPr wrap="square">
            <a:spAutoFit/>
          </a:bodyPr>
          <a:lstStyle/>
          <a:p>
            <a:pPr algn="ctr"/>
            <a:r>
              <a:rPr sz="1050" b="1">
                <a:latin typeface="Calibri"/>
              </a:rPr>
              <a:t>&gt;0</a:t>
            </a:r>
          </a:p>
        </p:txBody>
      </p:sp>
      <p:sp>
        <p:nvSpPr>
          <p:cNvPr id="121" name="Rectangle 116">
            <a:extLst>
              <a:ext uri="{FF2B5EF4-FFF2-40B4-BE49-F238E27FC236}">
                <a16:creationId xmlns:a16="http://schemas.microsoft.com/office/drawing/2014/main" id="{76D5A5FD-29D8-4D41-AD66-9942DF6FDE57}"/>
              </a:ext>
            </a:extLst>
          </p:cNvPr>
          <p:cNvSpPr/>
          <p:nvPr/>
        </p:nvSpPr>
        <p:spPr>
          <a:xfrm>
            <a:off x="60533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2" name="TextBox 117">
            <a:extLst>
              <a:ext uri="{FF2B5EF4-FFF2-40B4-BE49-F238E27FC236}">
                <a16:creationId xmlns:a16="http://schemas.microsoft.com/office/drawing/2014/main" id="{9FE4EF8A-919E-4AC1-9D88-2025CF75CC0F}"/>
              </a:ext>
            </a:extLst>
          </p:cNvPr>
          <p:cNvSpPr txBox="1"/>
          <p:nvPr/>
        </p:nvSpPr>
        <p:spPr>
          <a:xfrm>
            <a:off x="6080760" y="2690962"/>
            <a:ext cx="402336" cy="253916"/>
          </a:xfrm>
          <a:prstGeom prst="rect">
            <a:avLst/>
          </a:prstGeom>
          <a:noFill/>
        </p:spPr>
        <p:txBody>
          <a:bodyPr wrap="square">
            <a:spAutoFit/>
          </a:bodyPr>
          <a:lstStyle/>
          <a:p>
            <a:pPr algn="ctr"/>
            <a:r>
              <a:rPr sz="1050" b="1">
                <a:latin typeface="Calibri"/>
              </a:rPr>
              <a:t>&lt;0</a:t>
            </a:r>
          </a:p>
        </p:txBody>
      </p:sp>
      <p:sp>
        <p:nvSpPr>
          <p:cNvPr id="123" name="Rectangle 118">
            <a:extLst>
              <a:ext uri="{FF2B5EF4-FFF2-40B4-BE49-F238E27FC236}">
                <a16:creationId xmlns:a16="http://schemas.microsoft.com/office/drawing/2014/main" id="{982F6B27-21F1-46DD-A9E9-D063A06B982B}"/>
              </a:ext>
            </a:extLst>
          </p:cNvPr>
          <p:cNvSpPr/>
          <p:nvPr/>
        </p:nvSpPr>
        <p:spPr>
          <a:xfrm>
            <a:off x="6510528" y="267267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4" name="TextBox 119">
            <a:extLst>
              <a:ext uri="{FF2B5EF4-FFF2-40B4-BE49-F238E27FC236}">
                <a16:creationId xmlns:a16="http://schemas.microsoft.com/office/drawing/2014/main" id="{B1224BA0-D53F-4D46-B811-1F2FE5C04F7D}"/>
              </a:ext>
            </a:extLst>
          </p:cNvPr>
          <p:cNvSpPr txBox="1"/>
          <p:nvPr/>
        </p:nvSpPr>
        <p:spPr>
          <a:xfrm>
            <a:off x="6537960" y="2690962"/>
            <a:ext cx="384048" cy="253916"/>
          </a:xfrm>
          <a:prstGeom prst="rect">
            <a:avLst/>
          </a:prstGeom>
          <a:noFill/>
        </p:spPr>
        <p:txBody>
          <a:bodyPr wrap="square">
            <a:spAutoFit/>
          </a:bodyPr>
          <a:lstStyle/>
          <a:p>
            <a:pPr algn="ctr"/>
            <a:r>
              <a:rPr sz="1050" b="1">
                <a:latin typeface="Calibri"/>
              </a:rPr>
              <a:t>4°</a:t>
            </a:r>
          </a:p>
        </p:txBody>
      </p:sp>
      <p:sp>
        <p:nvSpPr>
          <p:cNvPr id="125" name="Rectangle 120">
            <a:extLst>
              <a:ext uri="{FF2B5EF4-FFF2-40B4-BE49-F238E27FC236}">
                <a16:creationId xmlns:a16="http://schemas.microsoft.com/office/drawing/2014/main" id="{F509B930-6E14-4EC1-AE70-9ED8110FF50A}"/>
              </a:ext>
            </a:extLst>
          </p:cNvPr>
          <p:cNvSpPr/>
          <p:nvPr/>
        </p:nvSpPr>
        <p:spPr>
          <a:xfrm>
            <a:off x="6949440" y="267267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6" name="TextBox 121">
            <a:extLst>
              <a:ext uri="{FF2B5EF4-FFF2-40B4-BE49-F238E27FC236}">
                <a16:creationId xmlns:a16="http://schemas.microsoft.com/office/drawing/2014/main" id="{A15A9758-5D26-4FEA-B3B1-B206F3233D5D}"/>
              </a:ext>
            </a:extLst>
          </p:cNvPr>
          <p:cNvSpPr txBox="1"/>
          <p:nvPr/>
        </p:nvSpPr>
        <p:spPr>
          <a:xfrm>
            <a:off x="6976871" y="2690962"/>
            <a:ext cx="1938528" cy="253916"/>
          </a:xfrm>
          <a:prstGeom prst="rect">
            <a:avLst/>
          </a:prstGeom>
          <a:noFill/>
        </p:spPr>
        <p:txBody>
          <a:bodyPr wrap="square">
            <a:spAutoFit/>
          </a:bodyPr>
          <a:lstStyle/>
          <a:p>
            <a:pPr algn="ctr"/>
            <a:r>
              <a:rPr sz="1050" b="0">
                <a:latin typeface="Calibri"/>
              </a:rPr>
              <a:t>Fren. regen. directo</a:t>
            </a:r>
          </a:p>
        </p:txBody>
      </p:sp>
      <p:sp>
        <p:nvSpPr>
          <p:cNvPr id="127" name="Rectangle 122">
            <a:extLst>
              <a:ext uri="{FF2B5EF4-FFF2-40B4-BE49-F238E27FC236}">
                <a16:creationId xmlns:a16="http://schemas.microsoft.com/office/drawing/2014/main" id="{DA15BB15-1D0F-4795-BE59-DF8845CBC9AB}"/>
              </a:ext>
            </a:extLst>
          </p:cNvPr>
          <p:cNvSpPr/>
          <p:nvPr/>
        </p:nvSpPr>
        <p:spPr>
          <a:xfrm>
            <a:off x="8942832" y="267267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8" name="TextBox 123">
            <a:extLst>
              <a:ext uri="{FF2B5EF4-FFF2-40B4-BE49-F238E27FC236}">
                <a16:creationId xmlns:a16="http://schemas.microsoft.com/office/drawing/2014/main" id="{467E39AB-8863-4472-A0F8-26B6ACD67BCF}"/>
              </a:ext>
            </a:extLst>
          </p:cNvPr>
          <p:cNvSpPr txBox="1"/>
          <p:nvPr/>
        </p:nvSpPr>
        <p:spPr>
          <a:xfrm>
            <a:off x="8970263" y="2690962"/>
            <a:ext cx="493776" cy="253916"/>
          </a:xfrm>
          <a:prstGeom prst="rect">
            <a:avLst/>
          </a:prstGeom>
          <a:noFill/>
        </p:spPr>
        <p:txBody>
          <a:bodyPr wrap="square">
            <a:spAutoFit/>
          </a:bodyPr>
          <a:lstStyle/>
          <a:p>
            <a:pPr algn="ctr"/>
            <a:r>
              <a:rPr sz="1050" b="0">
                <a:latin typeface="Calibri"/>
              </a:rPr>
              <a:t>−5</a:t>
            </a:r>
          </a:p>
        </p:txBody>
      </p:sp>
      <p:sp>
        <p:nvSpPr>
          <p:cNvPr id="129" name="Rectangle 124">
            <a:extLst>
              <a:ext uri="{FF2B5EF4-FFF2-40B4-BE49-F238E27FC236}">
                <a16:creationId xmlns:a16="http://schemas.microsoft.com/office/drawing/2014/main" id="{32BFE1EA-425B-401C-87F8-AFB2535B67A6}"/>
              </a:ext>
            </a:extLst>
          </p:cNvPr>
          <p:cNvSpPr/>
          <p:nvPr/>
        </p:nvSpPr>
        <p:spPr>
          <a:xfrm>
            <a:off x="9491471" y="267267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0" name="TextBox 125">
            <a:extLst>
              <a:ext uri="{FF2B5EF4-FFF2-40B4-BE49-F238E27FC236}">
                <a16:creationId xmlns:a16="http://schemas.microsoft.com/office/drawing/2014/main" id="{6BDDD9E8-3481-44EF-94DC-8EED59ED0D4D}"/>
              </a:ext>
            </a:extLst>
          </p:cNvPr>
          <p:cNvSpPr txBox="1"/>
          <p:nvPr/>
        </p:nvSpPr>
        <p:spPr>
          <a:xfrm>
            <a:off x="9518903" y="2690962"/>
            <a:ext cx="566928" cy="253916"/>
          </a:xfrm>
          <a:prstGeom prst="rect">
            <a:avLst/>
          </a:prstGeom>
          <a:noFill/>
        </p:spPr>
        <p:txBody>
          <a:bodyPr wrap="square">
            <a:spAutoFit/>
          </a:bodyPr>
          <a:lstStyle/>
          <a:p>
            <a:pPr algn="ctr"/>
            <a:r>
              <a:rPr sz="1050" b="0">
                <a:latin typeface="Calibri"/>
              </a:rPr>
              <a:t>0</a:t>
            </a:r>
          </a:p>
        </p:txBody>
      </p:sp>
      <p:sp>
        <p:nvSpPr>
          <p:cNvPr id="131" name="Rectangle 126">
            <a:extLst>
              <a:ext uri="{FF2B5EF4-FFF2-40B4-BE49-F238E27FC236}">
                <a16:creationId xmlns:a16="http://schemas.microsoft.com/office/drawing/2014/main" id="{5DF5F9B4-C93B-4F73-8C85-B21FB8DB9131}"/>
              </a:ext>
            </a:extLst>
          </p:cNvPr>
          <p:cNvSpPr/>
          <p:nvPr/>
        </p:nvSpPr>
        <p:spPr>
          <a:xfrm>
            <a:off x="10113263" y="267267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2" name="TextBox 127">
            <a:extLst>
              <a:ext uri="{FF2B5EF4-FFF2-40B4-BE49-F238E27FC236}">
                <a16:creationId xmlns:a16="http://schemas.microsoft.com/office/drawing/2014/main" id="{2C97A107-43EC-4CAB-B37F-22A4C1A97900}"/>
              </a:ext>
            </a:extLst>
          </p:cNvPr>
          <p:cNvSpPr txBox="1"/>
          <p:nvPr/>
        </p:nvSpPr>
        <p:spPr>
          <a:xfrm>
            <a:off x="10140695" y="2690962"/>
            <a:ext cx="630936" cy="253916"/>
          </a:xfrm>
          <a:prstGeom prst="rect">
            <a:avLst/>
          </a:prstGeom>
          <a:noFill/>
        </p:spPr>
        <p:txBody>
          <a:bodyPr wrap="square">
            <a:spAutoFit/>
          </a:bodyPr>
          <a:lstStyle/>
          <a:p>
            <a:pPr algn="ctr"/>
            <a:r>
              <a:rPr sz="1050" b="0">
                <a:latin typeface="Calibri"/>
              </a:rPr>
              <a:t>416.1</a:t>
            </a:r>
          </a:p>
        </p:txBody>
      </p:sp>
      <p:sp>
        <p:nvSpPr>
          <p:cNvPr id="133" name="Rectangle 128">
            <a:extLst>
              <a:ext uri="{FF2B5EF4-FFF2-40B4-BE49-F238E27FC236}">
                <a16:creationId xmlns:a16="http://schemas.microsoft.com/office/drawing/2014/main" id="{1B12C80B-E4A3-4297-8D57-36652320A6E7}"/>
              </a:ext>
            </a:extLst>
          </p:cNvPr>
          <p:cNvSpPr/>
          <p:nvPr/>
        </p:nvSpPr>
        <p:spPr>
          <a:xfrm>
            <a:off x="10799063" y="267267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4" name="TextBox 129">
            <a:extLst>
              <a:ext uri="{FF2B5EF4-FFF2-40B4-BE49-F238E27FC236}">
                <a16:creationId xmlns:a16="http://schemas.microsoft.com/office/drawing/2014/main" id="{0D5041BA-C37A-4D01-AAF8-AD5F4FC0E0F4}"/>
              </a:ext>
            </a:extLst>
          </p:cNvPr>
          <p:cNvSpPr txBox="1"/>
          <p:nvPr/>
        </p:nvSpPr>
        <p:spPr>
          <a:xfrm>
            <a:off x="10826495" y="2690962"/>
            <a:ext cx="585215" cy="253916"/>
          </a:xfrm>
          <a:prstGeom prst="rect">
            <a:avLst/>
          </a:prstGeom>
          <a:noFill/>
        </p:spPr>
        <p:txBody>
          <a:bodyPr wrap="square">
            <a:spAutoFit/>
          </a:bodyPr>
          <a:lstStyle/>
          <a:p>
            <a:pPr algn="ctr"/>
            <a:r>
              <a:rPr sz="1050" b="0">
                <a:latin typeface="Calibri"/>
              </a:rPr>
              <a:t>−0.024</a:t>
            </a:r>
          </a:p>
        </p:txBody>
      </p:sp>
      <p:sp>
        <p:nvSpPr>
          <p:cNvPr id="135" name="Rectangle 130">
            <a:extLst>
              <a:ext uri="{FF2B5EF4-FFF2-40B4-BE49-F238E27FC236}">
                <a16:creationId xmlns:a16="http://schemas.microsoft.com/office/drawing/2014/main" id="{1F524BCF-8D52-4D77-97B2-02425A8F84F9}"/>
              </a:ext>
            </a:extLst>
          </p:cNvPr>
          <p:cNvSpPr/>
          <p:nvPr/>
        </p:nvSpPr>
        <p:spPr>
          <a:xfrm>
            <a:off x="4645152" y="311844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6" name="TextBox 131">
            <a:extLst>
              <a:ext uri="{FF2B5EF4-FFF2-40B4-BE49-F238E27FC236}">
                <a16:creationId xmlns:a16="http://schemas.microsoft.com/office/drawing/2014/main" id="{0D209761-71BE-40AD-AFCD-CD64A92DC3FF}"/>
              </a:ext>
            </a:extLst>
          </p:cNvPr>
          <p:cNvSpPr txBox="1"/>
          <p:nvPr/>
        </p:nvSpPr>
        <p:spPr>
          <a:xfrm>
            <a:off x="4672584" y="3136731"/>
            <a:ext cx="329184" cy="253916"/>
          </a:xfrm>
          <a:prstGeom prst="rect">
            <a:avLst/>
          </a:prstGeom>
          <a:noFill/>
        </p:spPr>
        <p:txBody>
          <a:bodyPr wrap="square">
            <a:spAutoFit/>
          </a:bodyPr>
          <a:lstStyle/>
          <a:p>
            <a:pPr algn="ctr"/>
            <a:r>
              <a:rPr lang="es-MX" sz="1050" b="0" dirty="0">
                <a:latin typeface="Calibri"/>
              </a:rPr>
              <a:t>4</a:t>
            </a:r>
            <a:endParaRPr sz="1050" b="0" dirty="0">
              <a:latin typeface="Calibri"/>
            </a:endParaRPr>
          </a:p>
        </p:txBody>
      </p:sp>
      <p:sp>
        <p:nvSpPr>
          <p:cNvPr id="137" name="Rectangle 132">
            <a:extLst>
              <a:ext uri="{FF2B5EF4-FFF2-40B4-BE49-F238E27FC236}">
                <a16:creationId xmlns:a16="http://schemas.microsoft.com/office/drawing/2014/main" id="{571E19D6-0613-4ED7-B5D8-DA16D3ECA32C}"/>
              </a:ext>
            </a:extLst>
          </p:cNvPr>
          <p:cNvSpPr/>
          <p:nvPr/>
        </p:nvSpPr>
        <p:spPr>
          <a:xfrm>
            <a:off x="5029200" y="311844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8" name="TextBox 133">
            <a:extLst>
              <a:ext uri="{FF2B5EF4-FFF2-40B4-BE49-F238E27FC236}">
                <a16:creationId xmlns:a16="http://schemas.microsoft.com/office/drawing/2014/main" id="{4419194B-9E75-44DD-92A3-9C73E518763D}"/>
              </a:ext>
            </a:extLst>
          </p:cNvPr>
          <p:cNvSpPr txBox="1"/>
          <p:nvPr/>
        </p:nvSpPr>
        <p:spPr>
          <a:xfrm>
            <a:off x="5056632" y="3136731"/>
            <a:ext cx="512064" cy="253916"/>
          </a:xfrm>
          <a:prstGeom prst="rect">
            <a:avLst/>
          </a:prstGeom>
          <a:noFill/>
        </p:spPr>
        <p:txBody>
          <a:bodyPr wrap="square">
            <a:spAutoFit/>
          </a:bodyPr>
          <a:lstStyle/>
          <a:p>
            <a:pPr algn="ctr"/>
            <a:r>
              <a:rPr sz="1050" b="0">
                <a:latin typeface="Calibri"/>
              </a:rPr>
              <a:t>t=0.9</a:t>
            </a:r>
          </a:p>
        </p:txBody>
      </p:sp>
      <p:sp>
        <p:nvSpPr>
          <p:cNvPr id="139" name="Rectangle 134">
            <a:extLst>
              <a:ext uri="{FF2B5EF4-FFF2-40B4-BE49-F238E27FC236}">
                <a16:creationId xmlns:a16="http://schemas.microsoft.com/office/drawing/2014/main" id="{FD785D6F-E921-4ADE-8A1C-2D520E5FBBB0}"/>
              </a:ext>
            </a:extLst>
          </p:cNvPr>
          <p:cNvSpPr/>
          <p:nvPr/>
        </p:nvSpPr>
        <p:spPr>
          <a:xfrm>
            <a:off x="55961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0" name="TextBox 135">
            <a:extLst>
              <a:ext uri="{FF2B5EF4-FFF2-40B4-BE49-F238E27FC236}">
                <a16:creationId xmlns:a16="http://schemas.microsoft.com/office/drawing/2014/main" id="{215F7554-F788-4801-8D85-C2CC1965621B}"/>
              </a:ext>
            </a:extLst>
          </p:cNvPr>
          <p:cNvSpPr txBox="1"/>
          <p:nvPr/>
        </p:nvSpPr>
        <p:spPr>
          <a:xfrm>
            <a:off x="5623560" y="3136731"/>
            <a:ext cx="402336" cy="253916"/>
          </a:xfrm>
          <a:prstGeom prst="rect">
            <a:avLst/>
          </a:prstGeom>
          <a:noFill/>
        </p:spPr>
        <p:txBody>
          <a:bodyPr wrap="square">
            <a:spAutoFit/>
          </a:bodyPr>
          <a:lstStyle/>
          <a:p>
            <a:pPr algn="ctr"/>
            <a:r>
              <a:rPr sz="1050" b="1">
                <a:latin typeface="Calibri"/>
              </a:rPr>
              <a:t>&gt;0</a:t>
            </a:r>
          </a:p>
        </p:txBody>
      </p:sp>
      <p:sp>
        <p:nvSpPr>
          <p:cNvPr id="141" name="Rectangle 136">
            <a:extLst>
              <a:ext uri="{FF2B5EF4-FFF2-40B4-BE49-F238E27FC236}">
                <a16:creationId xmlns:a16="http://schemas.microsoft.com/office/drawing/2014/main" id="{F642E7F0-D71E-42EE-86F0-6C7FC941A472}"/>
              </a:ext>
            </a:extLst>
          </p:cNvPr>
          <p:cNvSpPr/>
          <p:nvPr/>
        </p:nvSpPr>
        <p:spPr>
          <a:xfrm>
            <a:off x="60533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2" name="TextBox 137">
            <a:extLst>
              <a:ext uri="{FF2B5EF4-FFF2-40B4-BE49-F238E27FC236}">
                <a16:creationId xmlns:a16="http://schemas.microsoft.com/office/drawing/2014/main" id="{B4642AB7-49EC-4123-B448-79030109B733}"/>
              </a:ext>
            </a:extLst>
          </p:cNvPr>
          <p:cNvSpPr txBox="1"/>
          <p:nvPr/>
        </p:nvSpPr>
        <p:spPr>
          <a:xfrm>
            <a:off x="6080760" y="3136731"/>
            <a:ext cx="402336" cy="253916"/>
          </a:xfrm>
          <a:prstGeom prst="rect">
            <a:avLst/>
          </a:prstGeom>
          <a:noFill/>
        </p:spPr>
        <p:txBody>
          <a:bodyPr wrap="square">
            <a:spAutoFit/>
          </a:bodyPr>
          <a:lstStyle/>
          <a:p>
            <a:pPr algn="ctr"/>
            <a:r>
              <a:rPr sz="1050" b="1">
                <a:latin typeface="Calibri"/>
              </a:rPr>
              <a:t>&lt;0</a:t>
            </a:r>
          </a:p>
        </p:txBody>
      </p:sp>
      <p:sp>
        <p:nvSpPr>
          <p:cNvPr id="143" name="Rectangle 138">
            <a:extLst>
              <a:ext uri="{FF2B5EF4-FFF2-40B4-BE49-F238E27FC236}">
                <a16:creationId xmlns:a16="http://schemas.microsoft.com/office/drawing/2014/main" id="{5FEF1E74-2359-450E-A631-89524E8F6D77}"/>
              </a:ext>
            </a:extLst>
          </p:cNvPr>
          <p:cNvSpPr/>
          <p:nvPr/>
        </p:nvSpPr>
        <p:spPr>
          <a:xfrm>
            <a:off x="6510528" y="311844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4" name="TextBox 139">
            <a:extLst>
              <a:ext uri="{FF2B5EF4-FFF2-40B4-BE49-F238E27FC236}">
                <a16:creationId xmlns:a16="http://schemas.microsoft.com/office/drawing/2014/main" id="{DD18FAE6-3A91-4637-9A55-5046DD301A23}"/>
              </a:ext>
            </a:extLst>
          </p:cNvPr>
          <p:cNvSpPr txBox="1"/>
          <p:nvPr/>
        </p:nvSpPr>
        <p:spPr>
          <a:xfrm>
            <a:off x="6537960" y="3136731"/>
            <a:ext cx="384048" cy="253916"/>
          </a:xfrm>
          <a:prstGeom prst="rect">
            <a:avLst/>
          </a:prstGeom>
          <a:noFill/>
        </p:spPr>
        <p:txBody>
          <a:bodyPr wrap="square">
            <a:spAutoFit/>
          </a:bodyPr>
          <a:lstStyle/>
          <a:p>
            <a:pPr algn="ctr"/>
            <a:r>
              <a:rPr sz="1050" b="1">
                <a:latin typeface="Calibri"/>
              </a:rPr>
              <a:t>4°</a:t>
            </a:r>
          </a:p>
        </p:txBody>
      </p:sp>
      <p:sp>
        <p:nvSpPr>
          <p:cNvPr id="145" name="Rectangle 140">
            <a:extLst>
              <a:ext uri="{FF2B5EF4-FFF2-40B4-BE49-F238E27FC236}">
                <a16:creationId xmlns:a16="http://schemas.microsoft.com/office/drawing/2014/main" id="{CFBA278C-E4AC-45FD-B9F1-40DAB7773245}"/>
              </a:ext>
            </a:extLst>
          </p:cNvPr>
          <p:cNvSpPr/>
          <p:nvPr/>
        </p:nvSpPr>
        <p:spPr>
          <a:xfrm>
            <a:off x="6949440" y="311844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6" name="TextBox 141">
            <a:extLst>
              <a:ext uri="{FF2B5EF4-FFF2-40B4-BE49-F238E27FC236}">
                <a16:creationId xmlns:a16="http://schemas.microsoft.com/office/drawing/2014/main" id="{410B48DE-7E9E-483C-88D3-97056969B0BA}"/>
              </a:ext>
            </a:extLst>
          </p:cNvPr>
          <p:cNvSpPr txBox="1"/>
          <p:nvPr/>
        </p:nvSpPr>
        <p:spPr>
          <a:xfrm>
            <a:off x="6976871" y="3136731"/>
            <a:ext cx="1938528" cy="253916"/>
          </a:xfrm>
          <a:prstGeom prst="rect">
            <a:avLst/>
          </a:prstGeom>
          <a:noFill/>
        </p:spPr>
        <p:txBody>
          <a:bodyPr wrap="square">
            <a:spAutoFit/>
          </a:bodyPr>
          <a:lstStyle/>
          <a:p>
            <a:pPr algn="ctr"/>
            <a:r>
              <a:rPr sz="1050" b="0" dirty="0" err="1">
                <a:latin typeface="Calibri"/>
              </a:rPr>
              <a:t>Fren</a:t>
            </a:r>
            <a:r>
              <a:rPr sz="1050" b="0" dirty="0">
                <a:latin typeface="Calibri"/>
              </a:rPr>
              <a:t>. regen. </a:t>
            </a:r>
            <a:r>
              <a:rPr sz="1050" b="0" dirty="0" err="1">
                <a:latin typeface="Calibri"/>
              </a:rPr>
              <a:t>dir</a:t>
            </a:r>
            <a:r>
              <a:rPr lang="es-MX" sz="1050" dirty="0" err="1">
                <a:latin typeface="Calibri"/>
              </a:rPr>
              <a:t>ecto</a:t>
            </a:r>
            <a:endParaRPr sz="1050" b="0" dirty="0">
              <a:latin typeface="Calibri"/>
            </a:endParaRPr>
          </a:p>
        </p:txBody>
      </p:sp>
      <p:sp>
        <p:nvSpPr>
          <p:cNvPr id="147" name="Rectangle 142">
            <a:extLst>
              <a:ext uri="{FF2B5EF4-FFF2-40B4-BE49-F238E27FC236}">
                <a16:creationId xmlns:a16="http://schemas.microsoft.com/office/drawing/2014/main" id="{CA22792A-F0D1-457D-AF79-0A0F38D570EE}"/>
              </a:ext>
            </a:extLst>
          </p:cNvPr>
          <p:cNvSpPr/>
          <p:nvPr/>
        </p:nvSpPr>
        <p:spPr>
          <a:xfrm>
            <a:off x="8942832" y="311844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8" name="TextBox 143">
            <a:extLst>
              <a:ext uri="{FF2B5EF4-FFF2-40B4-BE49-F238E27FC236}">
                <a16:creationId xmlns:a16="http://schemas.microsoft.com/office/drawing/2014/main" id="{C450D91C-C394-456B-8D8D-F2FCEF2D426F}"/>
              </a:ext>
            </a:extLst>
          </p:cNvPr>
          <p:cNvSpPr txBox="1"/>
          <p:nvPr/>
        </p:nvSpPr>
        <p:spPr>
          <a:xfrm>
            <a:off x="8970263" y="3136731"/>
            <a:ext cx="493776" cy="253916"/>
          </a:xfrm>
          <a:prstGeom prst="rect">
            <a:avLst/>
          </a:prstGeom>
          <a:noFill/>
        </p:spPr>
        <p:txBody>
          <a:bodyPr wrap="square">
            <a:spAutoFit/>
          </a:bodyPr>
          <a:lstStyle/>
          <a:p>
            <a:pPr algn="ctr"/>
            <a:r>
              <a:rPr sz="1050" b="0">
                <a:latin typeface="Calibri"/>
              </a:rPr>
              <a:t>0</a:t>
            </a:r>
          </a:p>
        </p:txBody>
      </p:sp>
      <p:sp>
        <p:nvSpPr>
          <p:cNvPr id="149" name="Rectangle 144">
            <a:extLst>
              <a:ext uri="{FF2B5EF4-FFF2-40B4-BE49-F238E27FC236}">
                <a16:creationId xmlns:a16="http://schemas.microsoft.com/office/drawing/2014/main" id="{B77395DC-0DCF-4FD9-81D2-CB2010A36036}"/>
              </a:ext>
            </a:extLst>
          </p:cNvPr>
          <p:cNvSpPr/>
          <p:nvPr/>
        </p:nvSpPr>
        <p:spPr>
          <a:xfrm>
            <a:off x="9491471" y="311844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0" name="TextBox 145">
            <a:extLst>
              <a:ext uri="{FF2B5EF4-FFF2-40B4-BE49-F238E27FC236}">
                <a16:creationId xmlns:a16="http://schemas.microsoft.com/office/drawing/2014/main" id="{EB16DB44-6389-4601-B09A-7EBC385F88FD}"/>
              </a:ext>
            </a:extLst>
          </p:cNvPr>
          <p:cNvSpPr txBox="1"/>
          <p:nvPr/>
        </p:nvSpPr>
        <p:spPr>
          <a:xfrm>
            <a:off x="9518903" y="3136731"/>
            <a:ext cx="566928" cy="253916"/>
          </a:xfrm>
          <a:prstGeom prst="rect">
            <a:avLst/>
          </a:prstGeom>
          <a:noFill/>
        </p:spPr>
        <p:txBody>
          <a:bodyPr wrap="square">
            <a:spAutoFit/>
          </a:bodyPr>
          <a:lstStyle/>
          <a:p>
            <a:pPr algn="ctr"/>
            <a:r>
              <a:rPr sz="1050" b="0">
                <a:latin typeface="Calibri"/>
              </a:rPr>
              <a:t>0</a:t>
            </a:r>
          </a:p>
        </p:txBody>
      </p:sp>
      <p:sp>
        <p:nvSpPr>
          <p:cNvPr id="151" name="Rectangle 146">
            <a:extLst>
              <a:ext uri="{FF2B5EF4-FFF2-40B4-BE49-F238E27FC236}">
                <a16:creationId xmlns:a16="http://schemas.microsoft.com/office/drawing/2014/main" id="{3A0C0203-AA88-477F-A8F5-3316AA314233}"/>
              </a:ext>
            </a:extLst>
          </p:cNvPr>
          <p:cNvSpPr/>
          <p:nvPr/>
        </p:nvSpPr>
        <p:spPr>
          <a:xfrm>
            <a:off x="10113263" y="311844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2" name="TextBox 147">
            <a:extLst>
              <a:ext uri="{FF2B5EF4-FFF2-40B4-BE49-F238E27FC236}">
                <a16:creationId xmlns:a16="http://schemas.microsoft.com/office/drawing/2014/main" id="{D643D5DB-47A9-448E-954F-71F6C2A58DE1}"/>
              </a:ext>
            </a:extLst>
          </p:cNvPr>
          <p:cNvSpPr txBox="1"/>
          <p:nvPr/>
        </p:nvSpPr>
        <p:spPr>
          <a:xfrm>
            <a:off x="10140695" y="3136731"/>
            <a:ext cx="630936" cy="253916"/>
          </a:xfrm>
          <a:prstGeom prst="rect">
            <a:avLst/>
          </a:prstGeom>
          <a:noFill/>
        </p:spPr>
        <p:txBody>
          <a:bodyPr wrap="square">
            <a:spAutoFit/>
          </a:bodyPr>
          <a:lstStyle/>
          <a:p>
            <a:pPr algn="ctr"/>
            <a:r>
              <a:rPr sz="1050" b="0">
                <a:latin typeface="Calibri"/>
              </a:rPr>
              <a:t>9.34</a:t>
            </a:r>
          </a:p>
        </p:txBody>
      </p:sp>
      <p:sp>
        <p:nvSpPr>
          <p:cNvPr id="153" name="Rectangle 148">
            <a:extLst>
              <a:ext uri="{FF2B5EF4-FFF2-40B4-BE49-F238E27FC236}">
                <a16:creationId xmlns:a16="http://schemas.microsoft.com/office/drawing/2014/main" id="{DD2EEB9B-165B-4ED1-A13E-46EC0FE20238}"/>
              </a:ext>
            </a:extLst>
          </p:cNvPr>
          <p:cNvSpPr/>
          <p:nvPr/>
        </p:nvSpPr>
        <p:spPr>
          <a:xfrm>
            <a:off x="10799063" y="311844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4" name="TextBox 149">
            <a:extLst>
              <a:ext uri="{FF2B5EF4-FFF2-40B4-BE49-F238E27FC236}">
                <a16:creationId xmlns:a16="http://schemas.microsoft.com/office/drawing/2014/main" id="{6D6B423A-86AA-4516-849B-5E7AE0E6A862}"/>
              </a:ext>
            </a:extLst>
          </p:cNvPr>
          <p:cNvSpPr txBox="1"/>
          <p:nvPr/>
        </p:nvSpPr>
        <p:spPr>
          <a:xfrm>
            <a:off x="10826495" y="3136731"/>
            <a:ext cx="585215" cy="253916"/>
          </a:xfrm>
          <a:prstGeom prst="rect">
            <a:avLst/>
          </a:prstGeom>
          <a:noFill/>
        </p:spPr>
        <p:txBody>
          <a:bodyPr wrap="square">
            <a:spAutoFit/>
          </a:bodyPr>
          <a:lstStyle/>
          <a:p>
            <a:pPr algn="ctr"/>
            <a:r>
              <a:rPr sz="1050" b="0">
                <a:latin typeface="Calibri"/>
              </a:rPr>
              <a:t>−0.033</a:t>
            </a:r>
          </a:p>
        </p:txBody>
      </p:sp>
      <p:sp>
        <p:nvSpPr>
          <p:cNvPr id="155" name="Rectangle 150">
            <a:extLst>
              <a:ext uri="{FF2B5EF4-FFF2-40B4-BE49-F238E27FC236}">
                <a16:creationId xmlns:a16="http://schemas.microsoft.com/office/drawing/2014/main" id="{BDB18933-395C-4D72-9F14-4DF1F639DE67}"/>
              </a:ext>
            </a:extLst>
          </p:cNvPr>
          <p:cNvSpPr/>
          <p:nvPr/>
        </p:nvSpPr>
        <p:spPr>
          <a:xfrm>
            <a:off x="4645152" y="356421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6" name="TextBox 151">
            <a:extLst>
              <a:ext uri="{FF2B5EF4-FFF2-40B4-BE49-F238E27FC236}">
                <a16:creationId xmlns:a16="http://schemas.microsoft.com/office/drawing/2014/main" id="{2DF01C31-C8EA-4188-A619-94BD40786CF3}"/>
              </a:ext>
            </a:extLst>
          </p:cNvPr>
          <p:cNvSpPr txBox="1"/>
          <p:nvPr/>
        </p:nvSpPr>
        <p:spPr>
          <a:xfrm>
            <a:off x="4672584" y="3582502"/>
            <a:ext cx="329184" cy="253916"/>
          </a:xfrm>
          <a:prstGeom prst="rect">
            <a:avLst/>
          </a:prstGeom>
          <a:noFill/>
        </p:spPr>
        <p:txBody>
          <a:bodyPr wrap="square">
            <a:spAutoFit/>
          </a:bodyPr>
          <a:lstStyle/>
          <a:p>
            <a:pPr algn="ctr"/>
            <a:r>
              <a:rPr lang="es-MX" sz="1050" b="0" dirty="0">
                <a:latin typeface="Calibri"/>
              </a:rPr>
              <a:t>5</a:t>
            </a:r>
            <a:endParaRPr sz="1050" b="0" dirty="0">
              <a:latin typeface="Calibri"/>
            </a:endParaRPr>
          </a:p>
        </p:txBody>
      </p:sp>
      <p:sp>
        <p:nvSpPr>
          <p:cNvPr id="157" name="Rectangle 152">
            <a:extLst>
              <a:ext uri="{FF2B5EF4-FFF2-40B4-BE49-F238E27FC236}">
                <a16:creationId xmlns:a16="http://schemas.microsoft.com/office/drawing/2014/main" id="{2A4D0B98-B6FC-42F5-8584-FC82D710EA54}"/>
              </a:ext>
            </a:extLst>
          </p:cNvPr>
          <p:cNvSpPr/>
          <p:nvPr/>
        </p:nvSpPr>
        <p:spPr>
          <a:xfrm>
            <a:off x="5029200" y="356421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8" name="TextBox 153">
            <a:extLst>
              <a:ext uri="{FF2B5EF4-FFF2-40B4-BE49-F238E27FC236}">
                <a16:creationId xmlns:a16="http://schemas.microsoft.com/office/drawing/2014/main" id="{416C01B0-1127-4740-B9AF-407989C64D3A}"/>
              </a:ext>
            </a:extLst>
          </p:cNvPr>
          <p:cNvSpPr txBox="1"/>
          <p:nvPr/>
        </p:nvSpPr>
        <p:spPr>
          <a:xfrm>
            <a:off x="5056632" y="3582502"/>
            <a:ext cx="512064" cy="253916"/>
          </a:xfrm>
          <a:prstGeom prst="rect">
            <a:avLst/>
          </a:prstGeom>
          <a:noFill/>
        </p:spPr>
        <p:txBody>
          <a:bodyPr wrap="square">
            <a:spAutoFit/>
          </a:bodyPr>
          <a:lstStyle/>
          <a:p>
            <a:pPr algn="ctr"/>
            <a:r>
              <a:rPr sz="1050" b="0">
                <a:latin typeface="Calibri"/>
              </a:rPr>
              <a:t>t=1.1</a:t>
            </a:r>
          </a:p>
        </p:txBody>
      </p:sp>
      <p:sp>
        <p:nvSpPr>
          <p:cNvPr id="159" name="Rectangle 154">
            <a:extLst>
              <a:ext uri="{FF2B5EF4-FFF2-40B4-BE49-F238E27FC236}">
                <a16:creationId xmlns:a16="http://schemas.microsoft.com/office/drawing/2014/main" id="{5B917172-2E89-4CD2-90DE-082D31542FEA}"/>
              </a:ext>
            </a:extLst>
          </p:cNvPr>
          <p:cNvSpPr/>
          <p:nvPr/>
        </p:nvSpPr>
        <p:spPr>
          <a:xfrm>
            <a:off x="55961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0" name="TextBox 155">
            <a:extLst>
              <a:ext uri="{FF2B5EF4-FFF2-40B4-BE49-F238E27FC236}">
                <a16:creationId xmlns:a16="http://schemas.microsoft.com/office/drawing/2014/main" id="{ABA713CE-9C0D-495B-8369-76F44336B198}"/>
              </a:ext>
            </a:extLst>
          </p:cNvPr>
          <p:cNvSpPr txBox="1"/>
          <p:nvPr/>
        </p:nvSpPr>
        <p:spPr>
          <a:xfrm>
            <a:off x="5623560" y="3582502"/>
            <a:ext cx="402336" cy="253916"/>
          </a:xfrm>
          <a:prstGeom prst="rect">
            <a:avLst/>
          </a:prstGeom>
          <a:noFill/>
        </p:spPr>
        <p:txBody>
          <a:bodyPr wrap="square">
            <a:spAutoFit/>
          </a:bodyPr>
          <a:lstStyle/>
          <a:p>
            <a:pPr algn="ctr"/>
            <a:r>
              <a:rPr sz="1050" b="1">
                <a:latin typeface="Calibri"/>
              </a:rPr>
              <a:t>&lt;0</a:t>
            </a:r>
          </a:p>
        </p:txBody>
      </p:sp>
      <p:sp>
        <p:nvSpPr>
          <p:cNvPr id="161" name="Rectangle 156">
            <a:extLst>
              <a:ext uri="{FF2B5EF4-FFF2-40B4-BE49-F238E27FC236}">
                <a16:creationId xmlns:a16="http://schemas.microsoft.com/office/drawing/2014/main" id="{3C73334E-E01F-41A5-8322-4D4BEC3C3C41}"/>
              </a:ext>
            </a:extLst>
          </p:cNvPr>
          <p:cNvSpPr/>
          <p:nvPr/>
        </p:nvSpPr>
        <p:spPr>
          <a:xfrm>
            <a:off x="60533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2" name="TextBox 157">
            <a:extLst>
              <a:ext uri="{FF2B5EF4-FFF2-40B4-BE49-F238E27FC236}">
                <a16:creationId xmlns:a16="http://schemas.microsoft.com/office/drawing/2014/main" id="{6F615FEA-9AC0-464D-B1B0-561B75A75C03}"/>
              </a:ext>
            </a:extLst>
          </p:cNvPr>
          <p:cNvSpPr txBox="1"/>
          <p:nvPr/>
        </p:nvSpPr>
        <p:spPr>
          <a:xfrm>
            <a:off x="6080760" y="3582502"/>
            <a:ext cx="402336" cy="253916"/>
          </a:xfrm>
          <a:prstGeom prst="rect">
            <a:avLst/>
          </a:prstGeom>
          <a:noFill/>
        </p:spPr>
        <p:txBody>
          <a:bodyPr wrap="square">
            <a:spAutoFit/>
          </a:bodyPr>
          <a:lstStyle/>
          <a:p>
            <a:pPr algn="ctr"/>
            <a:r>
              <a:rPr sz="1050" b="1">
                <a:latin typeface="Calibri"/>
              </a:rPr>
              <a:t>&gt;0</a:t>
            </a:r>
          </a:p>
        </p:txBody>
      </p:sp>
      <p:sp>
        <p:nvSpPr>
          <p:cNvPr id="163" name="Rectangle 158">
            <a:extLst>
              <a:ext uri="{FF2B5EF4-FFF2-40B4-BE49-F238E27FC236}">
                <a16:creationId xmlns:a16="http://schemas.microsoft.com/office/drawing/2014/main" id="{DDE52AAB-A194-4205-904E-992CD5D2D6D3}"/>
              </a:ext>
            </a:extLst>
          </p:cNvPr>
          <p:cNvSpPr/>
          <p:nvPr/>
        </p:nvSpPr>
        <p:spPr>
          <a:xfrm>
            <a:off x="6510528" y="356421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4" name="TextBox 159">
            <a:extLst>
              <a:ext uri="{FF2B5EF4-FFF2-40B4-BE49-F238E27FC236}">
                <a16:creationId xmlns:a16="http://schemas.microsoft.com/office/drawing/2014/main" id="{ED93CA1D-3FE9-400C-BC0A-110CA994AEC9}"/>
              </a:ext>
            </a:extLst>
          </p:cNvPr>
          <p:cNvSpPr txBox="1"/>
          <p:nvPr/>
        </p:nvSpPr>
        <p:spPr>
          <a:xfrm>
            <a:off x="6537960" y="3582502"/>
            <a:ext cx="384048" cy="253916"/>
          </a:xfrm>
          <a:prstGeom prst="rect">
            <a:avLst/>
          </a:prstGeom>
          <a:noFill/>
        </p:spPr>
        <p:txBody>
          <a:bodyPr wrap="square">
            <a:spAutoFit/>
          </a:bodyPr>
          <a:lstStyle/>
          <a:p>
            <a:pPr algn="ctr"/>
            <a:r>
              <a:rPr sz="1050" b="1">
                <a:latin typeface="Calibri"/>
              </a:rPr>
              <a:t>2°</a:t>
            </a:r>
          </a:p>
        </p:txBody>
      </p:sp>
      <p:sp>
        <p:nvSpPr>
          <p:cNvPr id="165" name="Rectangle 160">
            <a:extLst>
              <a:ext uri="{FF2B5EF4-FFF2-40B4-BE49-F238E27FC236}">
                <a16:creationId xmlns:a16="http://schemas.microsoft.com/office/drawing/2014/main" id="{3D6A0829-8EB9-4ACB-BB17-9F018E75F3BE}"/>
              </a:ext>
            </a:extLst>
          </p:cNvPr>
          <p:cNvSpPr/>
          <p:nvPr/>
        </p:nvSpPr>
        <p:spPr>
          <a:xfrm>
            <a:off x="6949440" y="356421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6" name="TextBox 161">
            <a:extLst>
              <a:ext uri="{FF2B5EF4-FFF2-40B4-BE49-F238E27FC236}">
                <a16:creationId xmlns:a16="http://schemas.microsoft.com/office/drawing/2014/main" id="{8F6EE09A-C7BD-43BB-A8DD-679EFB1D042A}"/>
              </a:ext>
            </a:extLst>
          </p:cNvPr>
          <p:cNvSpPr txBox="1"/>
          <p:nvPr/>
        </p:nvSpPr>
        <p:spPr>
          <a:xfrm>
            <a:off x="6976871" y="3582502"/>
            <a:ext cx="1938528" cy="253916"/>
          </a:xfrm>
          <a:prstGeom prst="rect">
            <a:avLst/>
          </a:prstGeom>
          <a:noFill/>
        </p:spPr>
        <p:txBody>
          <a:bodyPr wrap="square">
            <a:spAutoFit/>
          </a:bodyPr>
          <a:lstStyle/>
          <a:p>
            <a:pPr algn="ctr"/>
            <a:r>
              <a:rPr sz="1050" b="0">
                <a:latin typeface="Calibri"/>
              </a:rPr>
              <a:t>Fren. regen. inverso</a:t>
            </a:r>
          </a:p>
        </p:txBody>
      </p:sp>
      <p:sp>
        <p:nvSpPr>
          <p:cNvPr id="167" name="Rectangle 162">
            <a:extLst>
              <a:ext uri="{FF2B5EF4-FFF2-40B4-BE49-F238E27FC236}">
                <a16:creationId xmlns:a16="http://schemas.microsoft.com/office/drawing/2014/main" id="{14D750B5-AACF-4AE1-8E57-F852E32BC26C}"/>
              </a:ext>
            </a:extLst>
          </p:cNvPr>
          <p:cNvSpPr/>
          <p:nvPr/>
        </p:nvSpPr>
        <p:spPr>
          <a:xfrm>
            <a:off x="8942832" y="356421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8" name="TextBox 163">
            <a:extLst>
              <a:ext uri="{FF2B5EF4-FFF2-40B4-BE49-F238E27FC236}">
                <a16:creationId xmlns:a16="http://schemas.microsoft.com/office/drawing/2014/main" id="{BB517A20-23D5-4775-A8CA-F9CBB2287C3D}"/>
              </a:ext>
            </a:extLst>
          </p:cNvPr>
          <p:cNvSpPr txBox="1"/>
          <p:nvPr/>
        </p:nvSpPr>
        <p:spPr>
          <a:xfrm>
            <a:off x="8970263" y="3582502"/>
            <a:ext cx="493776" cy="253916"/>
          </a:xfrm>
          <a:prstGeom prst="rect">
            <a:avLst/>
          </a:prstGeom>
          <a:noFill/>
        </p:spPr>
        <p:txBody>
          <a:bodyPr wrap="square">
            <a:spAutoFit/>
          </a:bodyPr>
          <a:lstStyle/>
          <a:p>
            <a:pPr algn="ctr"/>
            <a:r>
              <a:rPr sz="1050" b="0">
                <a:latin typeface="Calibri"/>
              </a:rPr>
              <a:t>0</a:t>
            </a:r>
          </a:p>
        </p:txBody>
      </p:sp>
      <p:sp>
        <p:nvSpPr>
          <p:cNvPr id="169" name="Rectangle 164">
            <a:extLst>
              <a:ext uri="{FF2B5EF4-FFF2-40B4-BE49-F238E27FC236}">
                <a16:creationId xmlns:a16="http://schemas.microsoft.com/office/drawing/2014/main" id="{6D51AB6B-9C6F-4163-B0E7-7B89B90D9E72}"/>
              </a:ext>
            </a:extLst>
          </p:cNvPr>
          <p:cNvSpPr/>
          <p:nvPr/>
        </p:nvSpPr>
        <p:spPr>
          <a:xfrm>
            <a:off x="9491471" y="356421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0" name="TextBox 165">
            <a:extLst>
              <a:ext uri="{FF2B5EF4-FFF2-40B4-BE49-F238E27FC236}">
                <a16:creationId xmlns:a16="http://schemas.microsoft.com/office/drawing/2014/main" id="{0CA5077A-D061-4546-B20F-03E395CDE490}"/>
              </a:ext>
            </a:extLst>
          </p:cNvPr>
          <p:cNvSpPr txBox="1"/>
          <p:nvPr/>
        </p:nvSpPr>
        <p:spPr>
          <a:xfrm>
            <a:off x="9518903" y="3582502"/>
            <a:ext cx="566928" cy="253916"/>
          </a:xfrm>
          <a:prstGeom prst="rect">
            <a:avLst/>
          </a:prstGeom>
          <a:noFill/>
        </p:spPr>
        <p:txBody>
          <a:bodyPr wrap="square">
            <a:spAutoFit/>
          </a:bodyPr>
          <a:lstStyle/>
          <a:p>
            <a:pPr algn="ctr"/>
            <a:r>
              <a:rPr sz="1050" b="0">
                <a:latin typeface="Calibri"/>
              </a:rPr>
              <a:t>−19.56</a:t>
            </a:r>
          </a:p>
        </p:txBody>
      </p:sp>
      <p:sp>
        <p:nvSpPr>
          <p:cNvPr id="171" name="Rectangle 166">
            <a:extLst>
              <a:ext uri="{FF2B5EF4-FFF2-40B4-BE49-F238E27FC236}">
                <a16:creationId xmlns:a16="http://schemas.microsoft.com/office/drawing/2014/main" id="{F3B4DE8B-06DF-4639-B9B8-BD58403486AD}"/>
              </a:ext>
            </a:extLst>
          </p:cNvPr>
          <p:cNvSpPr/>
          <p:nvPr/>
        </p:nvSpPr>
        <p:spPr>
          <a:xfrm>
            <a:off x="10113263" y="356421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2" name="TextBox 167">
            <a:extLst>
              <a:ext uri="{FF2B5EF4-FFF2-40B4-BE49-F238E27FC236}">
                <a16:creationId xmlns:a16="http://schemas.microsoft.com/office/drawing/2014/main" id="{0390887C-806D-4A11-B538-AADF92BDDA30}"/>
              </a:ext>
            </a:extLst>
          </p:cNvPr>
          <p:cNvSpPr txBox="1"/>
          <p:nvPr/>
        </p:nvSpPr>
        <p:spPr>
          <a:xfrm>
            <a:off x="10140695" y="3582502"/>
            <a:ext cx="630936" cy="253916"/>
          </a:xfrm>
          <a:prstGeom prst="rect">
            <a:avLst/>
          </a:prstGeom>
          <a:noFill/>
        </p:spPr>
        <p:txBody>
          <a:bodyPr wrap="square">
            <a:spAutoFit/>
          </a:bodyPr>
          <a:lstStyle/>
          <a:p>
            <a:pPr algn="ctr"/>
            <a:r>
              <a:rPr sz="1050" b="0">
                <a:latin typeface="Calibri"/>
              </a:rPr>
              <a:t>−5.93</a:t>
            </a:r>
          </a:p>
        </p:txBody>
      </p:sp>
      <p:sp>
        <p:nvSpPr>
          <p:cNvPr id="173" name="Rectangle 168">
            <a:extLst>
              <a:ext uri="{FF2B5EF4-FFF2-40B4-BE49-F238E27FC236}">
                <a16:creationId xmlns:a16="http://schemas.microsoft.com/office/drawing/2014/main" id="{0AE5243A-B680-4E1F-9B5F-F99618CD75F8}"/>
              </a:ext>
            </a:extLst>
          </p:cNvPr>
          <p:cNvSpPr/>
          <p:nvPr/>
        </p:nvSpPr>
        <p:spPr>
          <a:xfrm>
            <a:off x="10799063" y="356421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4" name="TextBox 169">
            <a:extLst>
              <a:ext uri="{FF2B5EF4-FFF2-40B4-BE49-F238E27FC236}">
                <a16:creationId xmlns:a16="http://schemas.microsoft.com/office/drawing/2014/main" id="{27DBE4DC-FF56-45DD-85BF-CCB894A95239}"/>
              </a:ext>
            </a:extLst>
          </p:cNvPr>
          <p:cNvSpPr txBox="1"/>
          <p:nvPr/>
        </p:nvSpPr>
        <p:spPr>
          <a:xfrm>
            <a:off x="10826495" y="3582502"/>
            <a:ext cx="585215" cy="253916"/>
          </a:xfrm>
          <a:prstGeom prst="rect">
            <a:avLst/>
          </a:prstGeom>
          <a:noFill/>
        </p:spPr>
        <p:txBody>
          <a:bodyPr wrap="square">
            <a:spAutoFit/>
          </a:bodyPr>
          <a:lstStyle/>
          <a:p>
            <a:pPr algn="ctr"/>
            <a:r>
              <a:rPr sz="1050" b="0">
                <a:latin typeface="Calibri"/>
              </a:rPr>
              <a:t>+0.018</a:t>
            </a:r>
          </a:p>
        </p:txBody>
      </p:sp>
      <p:sp>
        <p:nvSpPr>
          <p:cNvPr id="175" name="Rectangle 170">
            <a:extLst>
              <a:ext uri="{FF2B5EF4-FFF2-40B4-BE49-F238E27FC236}">
                <a16:creationId xmlns:a16="http://schemas.microsoft.com/office/drawing/2014/main" id="{A8A21679-5389-42A6-92F3-60084B993D85}"/>
              </a:ext>
            </a:extLst>
          </p:cNvPr>
          <p:cNvSpPr/>
          <p:nvPr/>
        </p:nvSpPr>
        <p:spPr>
          <a:xfrm>
            <a:off x="4645152" y="400998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6" name="TextBox 171">
            <a:extLst>
              <a:ext uri="{FF2B5EF4-FFF2-40B4-BE49-F238E27FC236}">
                <a16:creationId xmlns:a16="http://schemas.microsoft.com/office/drawing/2014/main" id="{9369EBCB-224A-4CF1-BC69-00B66F2D9016}"/>
              </a:ext>
            </a:extLst>
          </p:cNvPr>
          <p:cNvSpPr txBox="1"/>
          <p:nvPr/>
        </p:nvSpPr>
        <p:spPr>
          <a:xfrm>
            <a:off x="4672584" y="4028271"/>
            <a:ext cx="329184" cy="253916"/>
          </a:xfrm>
          <a:prstGeom prst="rect">
            <a:avLst/>
          </a:prstGeom>
          <a:noFill/>
        </p:spPr>
        <p:txBody>
          <a:bodyPr wrap="square">
            <a:spAutoFit/>
          </a:bodyPr>
          <a:lstStyle/>
          <a:p>
            <a:pPr algn="ctr"/>
            <a:r>
              <a:rPr lang="es-MX" sz="1050" b="0" dirty="0">
                <a:latin typeface="Calibri"/>
              </a:rPr>
              <a:t>6</a:t>
            </a:r>
            <a:endParaRPr sz="1050" b="0" dirty="0">
              <a:latin typeface="Calibri"/>
            </a:endParaRPr>
          </a:p>
        </p:txBody>
      </p:sp>
      <p:sp>
        <p:nvSpPr>
          <p:cNvPr id="177" name="Rectangle 172">
            <a:extLst>
              <a:ext uri="{FF2B5EF4-FFF2-40B4-BE49-F238E27FC236}">
                <a16:creationId xmlns:a16="http://schemas.microsoft.com/office/drawing/2014/main" id="{DE538022-83A6-4C40-B539-CA118E48C29D}"/>
              </a:ext>
            </a:extLst>
          </p:cNvPr>
          <p:cNvSpPr/>
          <p:nvPr/>
        </p:nvSpPr>
        <p:spPr>
          <a:xfrm>
            <a:off x="5029200" y="400998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8" name="TextBox 173">
            <a:extLst>
              <a:ext uri="{FF2B5EF4-FFF2-40B4-BE49-F238E27FC236}">
                <a16:creationId xmlns:a16="http://schemas.microsoft.com/office/drawing/2014/main" id="{7DEF721D-218D-4D68-912B-8C4ACC7EE526}"/>
              </a:ext>
            </a:extLst>
          </p:cNvPr>
          <p:cNvSpPr txBox="1"/>
          <p:nvPr/>
        </p:nvSpPr>
        <p:spPr>
          <a:xfrm>
            <a:off x="5056632" y="4028271"/>
            <a:ext cx="512064" cy="253916"/>
          </a:xfrm>
          <a:prstGeom prst="rect">
            <a:avLst/>
          </a:prstGeom>
          <a:noFill/>
        </p:spPr>
        <p:txBody>
          <a:bodyPr wrap="square">
            <a:spAutoFit/>
          </a:bodyPr>
          <a:lstStyle/>
          <a:p>
            <a:pPr algn="ctr"/>
            <a:r>
              <a:rPr sz="1050" b="0">
                <a:latin typeface="Calibri"/>
              </a:rPr>
              <a:t>t=1.3</a:t>
            </a:r>
          </a:p>
        </p:txBody>
      </p:sp>
      <p:sp>
        <p:nvSpPr>
          <p:cNvPr id="179" name="Rectangle 174">
            <a:extLst>
              <a:ext uri="{FF2B5EF4-FFF2-40B4-BE49-F238E27FC236}">
                <a16:creationId xmlns:a16="http://schemas.microsoft.com/office/drawing/2014/main" id="{36C02374-46B2-4807-8A82-45B42F6E4875}"/>
              </a:ext>
            </a:extLst>
          </p:cNvPr>
          <p:cNvSpPr/>
          <p:nvPr/>
        </p:nvSpPr>
        <p:spPr>
          <a:xfrm>
            <a:off x="55961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0" name="TextBox 175">
            <a:extLst>
              <a:ext uri="{FF2B5EF4-FFF2-40B4-BE49-F238E27FC236}">
                <a16:creationId xmlns:a16="http://schemas.microsoft.com/office/drawing/2014/main" id="{785FF807-C488-4099-B66F-5324D624590E}"/>
              </a:ext>
            </a:extLst>
          </p:cNvPr>
          <p:cNvSpPr txBox="1"/>
          <p:nvPr/>
        </p:nvSpPr>
        <p:spPr>
          <a:xfrm>
            <a:off x="5623560" y="4028271"/>
            <a:ext cx="402336" cy="253916"/>
          </a:xfrm>
          <a:prstGeom prst="rect">
            <a:avLst/>
          </a:prstGeom>
          <a:noFill/>
        </p:spPr>
        <p:txBody>
          <a:bodyPr wrap="square">
            <a:spAutoFit/>
          </a:bodyPr>
          <a:lstStyle/>
          <a:p>
            <a:pPr algn="ctr"/>
            <a:r>
              <a:rPr sz="1050" b="1">
                <a:latin typeface="Calibri"/>
              </a:rPr>
              <a:t>&lt;0</a:t>
            </a:r>
          </a:p>
        </p:txBody>
      </p:sp>
      <p:sp>
        <p:nvSpPr>
          <p:cNvPr id="181" name="Rectangle 176">
            <a:extLst>
              <a:ext uri="{FF2B5EF4-FFF2-40B4-BE49-F238E27FC236}">
                <a16:creationId xmlns:a16="http://schemas.microsoft.com/office/drawing/2014/main" id="{479C9206-BCED-4C39-A54B-5DDA13C5B6AE}"/>
              </a:ext>
            </a:extLst>
          </p:cNvPr>
          <p:cNvSpPr/>
          <p:nvPr/>
        </p:nvSpPr>
        <p:spPr>
          <a:xfrm>
            <a:off x="60533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2" name="TextBox 177">
            <a:extLst>
              <a:ext uri="{FF2B5EF4-FFF2-40B4-BE49-F238E27FC236}">
                <a16:creationId xmlns:a16="http://schemas.microsoft.com/office/drawing/2014/main" id="{A4BF0304-2921-4901-B316-905F73CA4F2F}"/>
              </a:ext>
            </a:extLst>
          </p:cNvPr>
          <p:cNvSpPr txBox="1"/>
          <p:nvPr/>
        </p:nvSpPr>
        <p:spPr>
          <a:xfrm>
            <a:off x="6080760" y="4028271"/>
            <a:ext cx="402336" cy="253916"/>
          </a:xfrm>
          <a:prstGeom prst="rect">
            <a:avLst/>
          </a:prstGeom>
          <a:noFill/>
        </p:spPr>
        <p:txBody>
          <a:bodyPr wrap="square">
            <a:spAutoFit/>
          </a:bodyPr>
          <a:lstStyle/>
          <a:p>
            <a:pPr algn="ctr"/>
            <a:r>
              <a:rPr sz="1050" b="1">
                <a:latin typeface="Calibri"/>
              </a:rPr>
              <a:t>&gt;0</a:t>
            </a:r>
          </a:p>
        </p:txBody>
      </p:sp>
      <p:sp>
        <p:nvSpPr>
          <p:cNvPr id="183" name="Rectangle 178">
            <a:extLst>
              <a:ext uri="{FF2B5EF4-FFF2-40B4-BE49-F238E27FC236}">
                <a16:creationId xmlns:a16="http://schemas.microsoft.com/office/drawing/2014/main" id="{581E73B5-9CFC-468C-81BB-C9F82D0FCF09}"/>
              </a:ext>
            </a:extLst>
          </p:cNvPr>
          <p:cNvSpPr/>
          <p:nvPr/>
        </p:nvSpPr>
        <p:spPr>
          <a:xfrm>
            <a:off x="6510528" y="400998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4" name="TextBox 179">
            <a:extLst>
              <a:ext uri="{FF2B5EF4-FFF2-40B4-BE49-F238E27FC236}">
                <a16:creationId xmlns:a16="http://schemas.microsoft.com/office/drawing/2014/main" id="{1A0FB4A7-D25E-4976-B418-459C91998184}"/>
              </a:ext>
            </a:extLst>
          </p:cNvPr>
          <p:cNvSpPr txBox="1"/>
          <p:nvPr/>
        </p:nvSpPr>
        <p:spPr>
          <a:xfrm>
            <a:off x="6537960" y="4028271"/>
            <a:ext cx="384048" cy="253916"/>
          </a:xfrm>
          <a:prstGeom prst="rect">
            <a:avLst/>
          </a:prstGeom>
          <a:noFill/>
        </p:spPr>
        <p:txBody>
          <a:bodyPr wrap="square">
            <a:spAutoFit/>
          </a:bodyPr>
          <a:lstStyle/>
          <a:p>
            <a:pPr algn="ctr"/>
            <a:r>
              <a:rPr sz="1050" b="1">
                <a:latin typeface="Calibri"/>
              </a:rPr>
              <a:t>2°</a:t>
            </a:r>
          </a:p>
        </p:txBody>
      </p:sp>
      <p:sp>
        <p:nvSpPr>
          <p:cNvPr id="185" name="Rectangle 180">
            <a:extLst>
              <a:ext uri="{FF2B5EF4-FFF2-40B4-BE49-F238E27FC236}">
                <a16:creationId xmlns:a16="http://schemas.microsoft.com/office/drawing/2014/main" id="{09B5AB65-AACD-4CFD-A250-F31AC133A962}"/>
              </a:ext>
            </a:extLst>
          </p:cNvPr>
          <p:cNvSpPr/>
          <p:nvPr/>
        </p:nvSpPr>
        <p:spPr>
          <a:xfrm>
            <a:off x="6949440" y="400998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6" name="TextBox 181">
            <a:extLst>
              <a:ext uri="{FF2B5EF4-FFF2-40B4-BE49-F238E27FC236}">
                <a16:creationId xmlns:a16="http://schemas.microsoft.com/office/drawing/2014/main" id="{F9619DA9-66D8-4222-8EEA-B60E5C2BCDC9}"/>
              </a:ext>
            </a:extLst>
          </p:cNvPr>
          <p:cNvSpPr txBox="1"/>
          <p:nvPr/>
        </p:nvSpPr>
        <p:spPr>
          <a:xfrm>
            <a:off x="6976871" y="4028271"/>
            <a:ext cx="1938528" cy="253916"/>
          </a:xfrm>
          <a:prstGeom prst="rect">
            <a:avLst/>
          </a:prstGeom>
          <a:noFill/>
        </p:spPr>
        <p:txBody>
          <a:bodyPr wrap="square">
            <a:spAutoFit/>
          </a:bodyPr>
          <a:lstStyle/>
          <a:p>
            <a:pPr algn="ctr"/>
            <a:r>
              <a:rPr sz="1050" b="0">
                <a:latin typeface="Calibri"/>
              </a:rPr>
              <a:t>Fren. regen. inv. + carga</a:t>
            </a:r>
          </a:p>
        </p:txBody>
      </p:sp>
      <p:sp>
        <p:nvSpPr>
          <p:cNvPr id="187" name="Rectangle 182">
            <a:extLst>
              <a:ext uri="{FF2B5EF4-FFF2-40B4-BE49-F238E27FC236}">
                <a16:creationId xmlns:a16="http://schemas.microsoft.com/office/drawing/2014/main" id="{9DE61997-076D-4B5A-B5CE-5D523F747A0D}"/>
              </a:ext>
            </a:extLst>
          </p:cNvPr>
          <p:cNvSpPr/>
          <p:nvPr/>
        </p:nvSpPr>
        <p:spPr>
          <a:xfrm>
            <a:off x="8942832" y="400998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8" name="TextBox 183">
            <a:extLst>
              <a:ext uri="{FF2B5EF4-FFF2-40B4-BE49-F238E27FC236}">
                <a16:creationId xmlns:a16="http://schemas.microsoft.com/office/drawing/2014/main" id="{D47497FF-3A02-4907-9109-B213D5A1B074}"/>
              </a:ext>
            </a:extLst>
          </p:cNvPr>
          <p:cNvSpPr txBox="1"/>
          <p:nvPr/>
        </p:nvSpPr>
        <p:spPr>
          <a:xfrm>
            <a:off x="8970263" y="4028271"/>
            <a:ext cx="493776" cy="253916"/>
          </a:xfrm>
          <a:prstGeom prst="rect">
            <a:avLst/>
          </a:prstGeom>
          <a:noFill/>
        </p:spPr>
        <p:txBody>
          <a:bodyPr wrap="square">
            <a:spAutoFit/>
          </a:bodyPr>
          <a:lstStyle/>
          <a:p>
            <a:pPr algn="ctr"/>
            <a:r>
              <a:rPr sz="1050" b="0">
                <a:latin typeface="Calibri"/>
              </a:rPr>
              <a:t>+5</a:t>
            </a:r>
          </a:p>
        </p:txBody>
      </p:sp>
      <p:sp>
        <p:nvSpPr>
          <p:cNvPr id="189" name="Rectangle 184">
            <a:extLst>
              <a:ext uri="{FF2B5EF4-FFF2-40B4-BE49-F238E27FC236}">
                <a16:creationId xmlns:a16="http://schemas.microsoft.com/office/drawing/2014/main" id="{D1EDA066-CCF5-4EA2-9D98-8FE4028EF8AE}"/>
              </a:ext>
            </a:extLst>
          </p:cNvPr>
          <p:cNvSpPr/>
          <p:nvPr/>
        </p:nvSpPr>
        <p:spPr>
          <a:xfrm>
            <a:off x="9491471" y="400998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0" name="TextBox 185">
            <a:extLst>
              <a:ext uri="{FF2B5EF4-FFF2-40B4-BE49-F238E27FC236}">
                <a16:creationId xmlns:a16="http://schemas.microsoft.com/office/drawing/2014/main" id="{8A7B124E-4EF2-465F-85C5-ABA9DF511F18}"/>
              </a:ext>
            </a:extLst>
          </p:cNvPr>
          <p:cNvSpPr txBox="1"/>
          <p:nvPr/>
        </p:nvSpPr>
        <p:spPr>
          <a:xfrm>
            <a:off x="9518903" y="4028271"/>
            <a:ext cx="566928" cy="253916"/>
          </a:xfrm>
          <a:prstGeom prst="rect">
            <a:avLst/>
          </a:prstGeom>
          <a:noFill/>
        </p:spPr>
        <p:txBody>
          <a:bodyPr wrap="square">
            <a:spAutoFit/>
          </a:bodyPr>
          <a:lstStyle/>
          <a:p>
            <a:pPr algn="ctr"/>
            <a:r>
              <a:rPr sz="1050" b="0">
                <a:latin typeface="Calibri"/>
              </a:rPr>
              <a:t>−19.56</a:t>
            </a:r>
          </a:p>
        </p:txBody>
      </p:sp>
      <p:sp>
        <p:nvSpPr>
          <p:cNvPr id="191" name="Rectangle 186">
            <a:extLst>
              <a:ext uri="{FF2B5EF4-FFF2-40B4-BE49-F238E27FC236}">
                <a16:creationId xmlns:a16="http://schemas.microsoft.com/office/drawing/2014/main" id="{82F21082-0D44-4A5A-AD78-22B8AC26C7C6}"/>
              </a:ext>
            </a:extLst>
          </p:cNvPr>
          <p:cNvSpPr/>
          <p:nvPr/>
        </p:nvSpPr>
        <p:spPr>
          <a:xfrm>
            <a:off x="10113263" y="400998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2" name="TextBox 187">
            <a:extLst>
              <a:ext uri="{FF2B5EF4-FFF2-40B4-BE49-F238E27FC236}">
                <a16:creationId xmlns:a16="http://schemas.microsoft.com/office/drawing/2014/main" id="{AED5AD58-E375-4405-A83C-B9DA3228143A}"/>
              </a:ext>
            </a:extLst>
          </p:cNvPr>
          <p:cNvSpPr txBox="1"/>
          <p:nvPr/>
        </p:nvSpPr>
        <p:spPr>
          <a:xfrm>
            <a:off x="10140695" y="4028271"/>
            <a:ext cx="630936" cy="253916"/>
          </a:xfrm>
          <a:prstGeom prst="rect">
            <a:avLst/>
          </a:prstGeom>
          <a:noFill/>
        </p:spPr>
        <p:txBody>
          <a:bodyPr wrap="square">
            <a:spAutoFit/>
          </a:bodyPr>
          <a:lstStyle/>
          <a:p>
            <a:pPr algn="ctr"/>
            <a:r>
              <a:rPr sz="1050" b="0">
                <a:latin typeface="Calibri"/>
              </a:rPr>
              <a:t>−412.2</a:t>
            </a:r>
          </a:p>
        </p:txBody>
      </p:sp>
      <p:sp>
        <p:nvSpPr>
          <p:cNvPr id="193" name="Rectangle 188">
            <a:extLst>
              <a:ext uri="{FF2B5EF4-FFF2-40B4-BE49-F238E27FC236}">
                <a16:creationId xmlns:a16="http://schemas.microsoft.com/office/drawing/2014/main" id="{998AD007-99BE-47CB-933A-B5AE1AD2D0E6}"/>
              </a:ext>
            </a:extLst>
          </p:cNvPr>
          <p:cNvSpPr/>
          <p:nvPr/>
        </p:nvSpPr>
        <p:spPr>
          <a:xfrm>
            <a:off x="10799063" y="400998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4" name="TextBox 189">
            <a:extLst>
              <a:ext uri="{FF2B5EF4-FFF2-40B4-BE49-F238E27FC236}">
                <a16:creationId xmlns:a16="http://schemas.microsoft.com/office/drawing/2014/main" id="{1BF547B1-D6F6-46E3-850E-885C29009AF9}"/>
              </a:ext>
            </a:extLst>
          </p:cNvPr>
          <p:cNvSpPr txBox="1"/>
          <p:nvPr/>
        </p:nvSpPr>
        <p:spPr>
          <a:xfrm>
            <a:off x="10826495" y="4028271"/>
            <a:ext cx="585215" cy="253916"/>
          </a:xfrm>
          <a:prstGeom prst="rect">
            <a:avLst/>
          </a:prstGeom>
          <a:noFill/>
        </p:spPr>
        <p:txBody>
          <a:bodyPr wrap="square">
            <a:spAutoFit/>
          </a:bodyPr>
          <a:lstStyle/>
          <a:p>
            <a:pPr algn="ctr"/>
            <a:r>
              <a:rPr sz="1050" b="0">
                <a:latin typeface="Calibri"/>
              </a:rPr>
              <a:t>+0.011</a:t>
            </a:r>
          </a:p>
        </p:txBody>
      </p:sp>
      <p:sp>
        <p:nvSpPr>
          <p:cNvPr id="195" name="Rectangle 190">
            <a:extLst>
              <a:ext uri="{FF2B5EF4-FFF2-40B4-BE49-F238E27FC236}">
                <a16:creationId xmlns:a16="http://schemas.microsoft.com/office/drawing/2014/main" id="{BEF02F80-DFE3-4FD5-A6E7-FFEB269309E5}"/>
              </a:ext>
            </a:extLst>
          </p:cNvPr>
          <p:cNvSpPr/>
          <p:nvPr/>
        </p:nvSpPr>
        <p:spPr>
          <a:xfrm>
            <a:off x="4645152" y="445575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6" name="TextBox 191">
            <a:extLst>
              <a:ext uri="{FF2B5EF4-FFF2-40B4-BE49-F238E27FC236}">
                <a16:creationId xmlns:a16="http://schemas.microsoft.com/office/drawing/2014/main" id="{6C6E0591-34C7-4B90-921A-BB2C9E3A90D1}"/>
              </a:ext>
            </a:extLst>
          </p:cNvPr>
          <p:cNvSpPr txBox="1"/>
          <p:nvPr/>
        </p:nvSpPr>
        <p:spPr>
          <a:xfrm>
            <a:off x="4672584" y="4474042"/>
            <a:ext cx="329184" cy="253916"/>
          </a:xfrm>
          <a:prstGeom prst="rect">
            <a:avLst/>
          </a:prstGeom>
          <a:noFill/>
        </p:spPr>
        <p:txBody>
          <a:bodyPr wrap="square">
            <a:spAutoFit/>
          </a:bodyPr>
          <a:lstStyle/>
          <a:p>
            <a:pPr algn="ctr"/>
            <a:r>
              <a:rPr lang="es-MX" sz="1050" b="0" dirty="0">
                <a:latin typeface="Calibri"/>
              </a:rPr>
              <a:t>7</a:t>
            </a:r>
            <a:endParaRPr sz="1050" b="0" dirty="0">
              <a:latin typeface="Calibri"/>
            </a:endParaRPr>
          </a:p>
        </p:txBody>
      </p:sp>
      <p:sp>
        <p:nvSpPr>
          <p:cNvPr id="197" name="Rectangle 192">
            <a:extLst>
              <a:ext uri="{FF2B5EF4-FFF2-40B4-BE49-F238E27FC236}">
                <a16:creationId xmlns:a16="http://schemas.microsoft.com/office/drawing/2014/main" id="{25FB9F2D-3EBB-49D9-BA15-A262978EFAFC}"/>
              </a:ext>
            </a:extLst>
          </p:cNvPr>
          <p:cNvSpPr/>
          <p:nvPr/>
        </p:nvSpPr>
        <p:spPr>
          <a:xfrm>
            <a:off x="5029200" y="445575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8" name="TextBox 193">
            <a:extLst>
              <a:ext uri="{FF2B5EF4-FFF2-40B4-BE49-F238E27FC236}">
                <a16:creationId xmlns:a16="http://schemas.microsoft.com/office/drawing/2014/main" id="{BC522173-538C-42FB-A1CB-CF74C1D41AF2}"/>
              </a:ext>
            </a:extLst>
          </p:cNvPr>
          <p:cNvSpPr txBox="1"/>
          <p:nvPr/>
        </p:nvSpPr>
        <p:spPr>
          <a:xfrm>
            <a:off x="5056632" y="4474042"/>
            <a:ext cx="512064" cy="253916"/>
          </a:xfrm>
          <a:prstGeom prst="rect">
            <a:avLst/>
          </a:prstGeom>
          <a:noFill/>
        </p:spPr>
        <p:txBody>
          <a:bodyPr wrap="square">
            <a:spAutoFit/>
          </a:bodyPr>
          <a:lstStyle/>
          <a:p>
            <a:pPr algn="ctr"/>
            <a:r>
              <a:rPr sz="1050" b="0">
                <a:latin typeface="Calibri"/>
              </a:rPr>
              <a:t>t=1.5</a:t>
            </a:r>
          </a:p>
        </p:txBody>
      </p:sp>
      <p:sp>
        <p:nvSpPr>
          <p:cNvPr id="199" name="Rectangle 194">
            <a:extLst>
              <a:ext uri="{FF2B5EF4-FFF2-40B4-BE49-F238E27FC236}">
                <a16:creationId xmlns:a16="http://schemas.microsoft.com/office/drawing/2014/main" id="{044F078A-5F11-4F5F-98EB-D7FD5C46F38B}"/>
              </a:ext>
            </a:extLst>
          </p:cNvPr>
          <p:cNvSpPr/>
          <p:nvPr/>
        </p:nvSpPr>
        <p:spPr>
          <a:xfrm>
            <a:off x="55961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0" name="TextBox 195">
            <a:extLst>
              <a:ext uri="{FF2B5EF4-FFF2-40B4-BE49-F238E27FC236}">
                <a16:creationId xmlns:a16="http://schemas.microsoft.com/office/drawing/2014/main" id="{25EDA075-0933-4459-AB60-928A41779331}"/>
              </a:ext>
            </a:extLst>
          </p:cNvPr>
          <p:cNvSpPr txBox="1"/>
          <p:nvPr/>
        </p:nvSpPr>
        <p:spPr>
          <a:xfrm>
            <a:off x="5623560" y="4474042"/>
            <a:ext cx="402336" cy="253916"/>
          </a:xfrm>
          <a:prstGeom prst="rect">
            <a:avLst/>
          </a:prstGeom>
          <a:noFill/>
        </p:spPr>
        <p:txBody>
          <a:bodyPr wrap="square">
            <a:spAutoFit/>
          </a:bodyPr>
          <a:lstStyle/>
          <a:p>
            <a:pPr algn="ctr"/>
            <a:r>
              <a:rPr sz="1050" b="1">
                <a:latin typeface="Calibri"/>
              </a:rPr>
              <a:t>&lt;0</a:t>
            </a:r>
          </a:p>
        </p:txBody>
      </p:sp>
      <p:sp>
        <p:nvSpPr>
          <p:cNvPr id="201" name="Rectangle 196">
            <a:extLst>
              <a:ext uri="{FF2B5EF4-FFF2-40B4-BE49-F238E27FC236}">
                <a16:creationId xmlns:a16="http://schemas.microsoft.com/office/drawing/2014/main" id="{EB6E2F99-89DE-4CDE-9E46-914EDF68BC4B}"/>
              </a:ext>
            </a:extLst>
          </p:cNvPr>
          <p:cNvSpPr/>
          <p:nvPr/>
        </p:nvSpPr>
        <p:spPr>
          <a:xfrm>
            <a:off x="60533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2" name="TextBox 197">
            <a:extLst>
              <a:ext uri="{FF2B5EF4-FFF2-40B4-BE49-F238E27FC236}">
                <a16:creationId xmlns:a16="http://schemas.microsoft.com/office/drawing/2014/main" id="{FBF08F93-D2DD-43A7-B83B-0C4BE077E801}"/>
              </a:ext>
            </a:extLst>
          </p:cNvPr>
          <p:cNvSpPr txBox="1"/>
          <p:nvPr/>
        </p:nvSpPr>
        <p:spPr>
          <a:xfrm>
            <a:off x="6080760" y="4474042"/>
            <a:ext cx="402336" cy="253916"/>
          </a:xfrm>
          <a:prstGeom prst="rect">
            <a:avLst/>
          </a:prstGeom>
          <a:noFill/>
        </p:spPr>
        <p:txBody>
          <a:bodyPr wrap="square">
            <a:spAutoFit/>
          </a:bodyPr>
          <a:lstStyle/>
          <a:p>
            <a:pPr algn="ctr"/>
            <a:r>
              <a:rPr sz="1050" b="1">
                <a:latin typeface="Calibri"/>
              </a:rPr>
              <a:t>&gt;0</a:t>
            </a:r>
          </a:p>
        </p:txBody>
      </p:sp>
      <p:sp>
        <p:nvSpPr>
          <p:cNvPr id="203" name="Rectangle 198">
            <a:extLst>
              <a:ext uri="{FF2B5EF4-FFF2-40B4-BE49-F238E27FC236}">
                <a16:creationId xmlns:a16="http://schemas.microsoft.com/office/drawing/2014/main" id="{F5496A26-DAA1-4514-97E2-7A4FF616E52A}"/>
              </a:ext>
            </a:extLst>
          </p:cNvPr>
          <p:cNvSpPr/>
          <p:nvPr/>
        </p:nvSpPr>
        <p:spPr>
          <a:xfrm>
            <a:off x="6510528" y="445575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4" name="TextBox 199">
            <a:extLst>
              <a:ext uri="{FF2B5EF4-FFF2-40B4-BE49-F238E27FC236}">
                <a16:creationId xmlns:a16="http://schemas.microsoft.com/office/drawing/2014/main" id="{2BA058F5-1209-4F71-9634-1E44194876D7}"/>
              </a:ext>
            </a:extLst>
          </p:cNvPr>
          <p:cNvSpPr txBox="1"/>
          <p:nvPr/>
        </p:nvSpPr>
        <p:spPr>
          <a:xfrm>
            <a:off x="6537960" y="4474042"/>
            <a:ext cx="384048" cy="253916"/>
          </a:xfrm>
          <a:prstGeom prst="rect">
            <a:avLst/>
          </a:prstGeom>
          <a:noFill/>
        </p:spPr>
        <p:txBody>
          <a:bodyPr wrap="square">
            <a:spAutoFit/>
          </a:bodyPr>
          <a:lstStyle/>
          <a:p>
            <a:pPr algn="ctr"/>
            <a:r>
              <a:rPr sz="1050" b="1">
                <a:latin typeface="Calibri"/>
              </a:rPr>
              <a:t>2°</a:t>
            </a:r>
          </a:p>
        </p:txBody>
      </p:sp>
      <p:sp>
        <p:nvSpPr>
          <p:cNvPr id="205" name="Rectangle 200">
            <a:extLst>
              <a:ext uri="{FF2B5EF4-FFF2-40B4-BE49-F238E27FC236}">
                <a16:creationId xmlns:a16="http://schemas.microsoft.com/office/drawing/2014/main" id="{F8B28F96-9BF4-4B2D-BDE0-C09455D79B88}"/>
              </a:ext>
            </a:extLst>
          </p:cNvPr>
          <p:cNvSpPr/>
          <p:nvPr/>
        </p:nvSpPr>
        <p:spPr>
          <a:xfrm>
            <a:off x="6949440" y="445575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6" name="TextBox 201">
            <a:extLst>
              <a:ext uri="{FF2B5EF4-FFF2-40B4-BE49-F238E27FC236}">
                <a16:creationId xmlns:a16="http://schemas.microsoft.com/office/drawing/2014/main" id="{3E68842F-0A16-49DC-B7B8-6D64BA8A2256}"/>
              </a:ext>
            </a:extLst>
          </p:cNvPr>
          <p:cNvSpPr txBox="1"/>
          <p:nvPr/>
        </p:nvSpPr>
        <p:spPr>
          <a:xfrm>
            <a:off x="6976871" y="4474042"/>
            <a:ext cx="1938528" cy="253916"/>
          </a:xfrm>
          <a:prstGeom prst="rect">
            <a:avLst/>
          </a:prstGeom>
          <a:noFill/>
        </p:spPr>
        <p:txBody>
          <a:bodyPr wrap="square">
            <a:spAutoFit/>
          </a:bodyPr>
          <a:lstStyle/>
          <a:p>
            <a:pPr algn="ctr"/>
            <a:r>
              <a:rPr sz="1050" b="0">
                <a:latin typeface="Calibri"/>
              </a:rPr>
              <a:t>Fren. regen. inverso</a:t>
            </a:r>
          </a:p>
        </p:txBody>
      </p:sp>
      <p:sp>
        <p:nvSpPr>
          <p:cNvPr id="207" name="Rectangle 202">
            <a:extLst>
              <a:ext uri="{FF2B5EF4-FFF2-40B4-BE49-F238E27FC236}">
                <a16:creationId xmlns:a16="http://schemas.microsoft.com/office/drawing/2014/main" id="{0F8A9A11-1642-447D-A9D7-DC74EEE97188}"/>
              </a:ext>
            </a:extLst>
          </p:cNvPr>
          <p:cNvSpPr/>
          <p:nvPr/>
        </p:nvSpPr>
        <p:spPr>
          <a:xfrm>
            <a:off x="8942832" y="445575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8" name="TextBox 203">
            <a:extLst>
              <a:ext uri="{FF2B5EF4-FFF2-40B4-BE49-F238E27FC236}">
                <a16:creationId xmlns:a16="http://schemas.microsoft.com/office/drawing/2014/main" id="{D5074003-1579-4145-A4CC-33E953192DAC}"/>
              </a:ext>
            </a:extLst>
          </p:cNvPr>
          <p:cNvSpPr txBox="1"/>
          <p:nvPr/>
        </p:nvSpPr>
        <p:spPr>
          <a:xfrm>
            <a:off x="8970263" y="4474042"/>
            <a:ext cx="493776" cy="253916"/>
          </a:xfrm>
          <a:prstGeom prst="rect">
            <a:avLst/>
          </a:prstGeom>
          <a:noFill/>
        </p:spPr>
        <p:txBody>
          <a:bodyPr wrap="square">
            <a:spAutoFit/>
          </a:bodyPr>
          <a:lstStyle/>
          <a:p>
            <a:pPr algn="ctr"/>
            <a:r>
              <a:rPr sz="1050" b="0">
                <a:latin typeface="Calibri"/>
              </a:rPr>
              <a:t>−5</a:t>
            </a:r>
          </a:p>
        </p:txBody>
      </p:sp>
      <p:sp>
        <p:nvSpPr>
          <p:cNvPr id="209" name="Rectangle 204">
            <a:extLst>
              <a:ext uri="{FF2B5EF4-FFF2-40B4-BE49-F238E27FC236}">
                <a16:creationId xmlns:a16="http://schemas.microsoft.com/office/drawing/2014/main" id="{B4045F52-E879-4D38-B49C-928035F98F7B}"/>
              </a:ext>
            </a:extLst>
          </p:cNvPr>
          <p:cNvSpPr/>
          <p:nvPr/>
        </p:nvSpPr>
        <p:spPr>
          <a:xfrm>
            <a:off x="9491471" y="445575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0" name="TextBox 205">
            <a:extLst>
              <a:ext uri="{FF2B5EF4-FFF2-40B4-BE49-F238E27FC236}">
                <a16:creationId xmlns:a16="http://schemas.microsoft.com/office/drawing/2014/main" id="{E3C8E6EF-40A1-4E2B-9E41-C305E4318DDE}"/>
              </a:ext>
            </a:extLst>
          </p:cNvPr>
          <p:cNvSpPr txBox="1"/>
          <p:nvPr/>
        </p:nvSpPr>
        <p:spPr>
          <a:xfrm>
            <a:off x="9518903" y="4474042"/>
            <a:ext cx="566928" cy="253916"/>
          </a:xfrm>
          <a:prstGeom prst="rect">
            <a:avLst/>
          </a:prstGeom>
          <a:noFill/>
        </p:spPr>
        <p:txBody>
          <a:bodyPr wrap="square">
            <a:spAutoFit/>
          </a:bodyPr>
          <a:lstStyle/>
          <a:p>
            <a:pPr algn="ctr"/>
            <a:r>
              <a:rPr sz="1050" b="0">
                <a:latin typeface="Calibri"/>
              </a:rPr>
              <a:t>−19.56</a:t>
            </a:r>
          </a:p>
        </p:txBody>
      </p:sp>
      <p:sp>
        <p:nvSpPr>
          <p:cNvPr id="211" name="Rectangle 206">
            <a:extLst>
              <a:ext uri="{FF2B5EF4-FFF2-40B4-BE49-F238E27FC236}">
                <a16:creationId xmlns:a16="http://schemas.microsoft.com/office/drawing/2014/main" id="{63873987-3EA5-4910-B4F8-A22BAF7E335B}"/>
              </a:ext>
            </a:extLst>
          </p:cNvPr>
          <p:cNvSpPr/>
          <p:nvPr/>
        </p:nvSpPr>
        <p:spPr>
          <a:xfrm>
            <a:off x="10113263" y="445575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2" name="TextBox 207">
            <a:extLst>
              <a:ext uri="{FF2B5EF4-FFF2-40B4-BE49-F238E27FC236}">
                <a16:creationId xmlns:a16="http://schemas.microsoft.com/office/drawing/2014/main" id="{666A4DEA-4F55-4E17-BF0E-24DD17A34C1B}"/>
              </a:ext>
            </a:extLst>
          </p:cNvPr>
          <p:cNvSpPr txBox="1"/>
          <p:nvPr/>
        </p:nvSpPr>
        <p:spPr>
          <a:xfrm>
            <a:off x="10140695" y="4474042"/>
            <a:ext cx="630936" cy="253916"/>
          </a:xfrm>
          <a:prstGeom prst="rect">
            <a:avLst/>
          </a:prstGeom>
          <a:noFill/>
        </p:spPr>
        <p:txBody>
          <a:bodyPr wrap="square">
            <a:spAutoFit/>
          </a:bodyPr>
          <a:lstStyle/>
          <a:p>
            <a:pPr algn="ctr"/>
            <a:r>
              <a:rPr sz="1050" b="0">
                <a:latin typeface="Calibri"/>
              </a:rPr>
              <a:t>−425.5</a:t>
            </a:r>
          </a:p>
        </p:txBody>
      </p:sp>
      <p:sp>
        <p:nvSpPr>
          <p:cNvPr id="213" name="Rectangle 208">
            <a:extLst>
              <a:ext uri="{FF2B5EF4-FFF2-40B4-BE49-F238E27FC236}">
                <a16:creationId xmlns:a16="http://schemas.microsoft.com/office/drawing/2014/main" id="{57DB77F4-459A-45EB-BC4F-93018161DF8C}"/>
              </a:ext>
            </a:extLst>
          </p:cNvPr>
          <p:cNvSpPr/>
          <p:nvPr/>
        </p:nvSpPr>
        <p:spPr>
          <a:xfrm>
            <a:off x="10799063" y="445575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4" name="TextBox 209">
            <a:extLst>
              <a:ext uri="{FF2B5EF4-FFF2-40B4-BE49-F238E27FC236}">
                <a16:creationId xmlns:a16="http://schemas.microsoft.com/office/drawing/2014/main" id="{399FFB1B-F0BD-4182-BA10-A253895457B2}"/>
              </a:ext>
            </a:extLst>
          </p:cNvPr>
          <p:cNvSpPr txBox="1"/>
          <p:nvPr/>
        </p:nvSpPr>
        <p:spPr>
          <a:xfrm>
            <a:off x="10826495" y="4474042"/>
            <a:ext cx="585215" cy="253916"/>
          </a:xfrm>
          <a:prstGeom prst="rect">
            <a:avLst/>
          </a:prstGeom>
          <a:noFill/>
        </p:spPr>
        <p:txBody>
          <a:bodyPr wrap="square">
            <a:spAutoFit/>
          </a:bodyPr>
          <a:lstStyle/>
          <a:p>
            <a:pPr algn="ctr"/>
            <a:r>
              <a:rPr sz="1050" b="0">
                <a:latin typeface="Calibri"/>
              </a:rPr>
              <a:t>+0.055</a:t>
            </a:r>
          </a:p>
        </p:txBody>
      </p:sp>
      <p:sp>
        <p:nvSpPr>
          <p:cNvPr id="215" name="Rectangle 210">
            <a:extLst>
              <a:ext uri="{FF2B5EF4-FFF2-40B4-BE49-F238E27FC236}">
                <a16:creationId xmlns:a16="http://schemas.microsoft.com/office/drawing/2014/main" id="{E2126055-5D17-4960-8DCD-6FF651D704FD}"/>
              </a:ext>
            </a:extLst>
          </p:cNvPr>
          <p:cNvSpPr/>
          <p:nvPr/>
        </p:nvSpPr>
        <p:spPr>
          <a:xfrm>
            <a:off x="4645152" y="490152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6" name="TextBox 211">
            <a:extLst>
              <a:ext uri="{FF2B5EF4-FFF2-40B4-BE49-F238E27FC236}">
                <a16:creationId xmlns:a16="http://schemas.microsoft.com/office/drawing/2014/main" id="{F46FA330-A34F-4075-A1DB-154701A4C4B3}"/>
              </a:ext>
            </a:extLst>
          </p:cNvPr>
          <p:cNvSpPr txBox="1"/>
          <p:nvPr/>
        </p:nvSpPr>
        <p:spPr>
          <a:xfrm>
            <a:off x="4672584" y="4919812"/>
            <a:ext cx="329184" cy="253916"/>
          </a:xfrm>
          <a:prstGeom prst="rect">
            <a:avLst/>
          </a:prstGeom>
          <a:noFill/>
        </p:spPr>
        <p:txBody>
          <a:bodyPr wrap="square">
            <a:spAutoFit/>
          </a:bodyPr>
          <a:lstStyle/>
          <a:p>
            <a:pPr algn="ctr"/>
            <a:r>
              <a:rPr lang="es-MX" sz="1050" b="0" dirty="0">
                <a:latin typeface="Calibri"/>
              </a:rPr>
              <a:t>8</a:t>
            </a:r>
            <a:endParaRPr sz="1050" b="0" dirty="0">
              <a:latin typeface="Calibri"/>
            </a:endParaRPr>
          </a:p>
        </p:txBody>
      </p:sp>
      <p:sp>
        <p:nvSpPr>
          <p:cNvPr id="217" name="Rectangle 212">
            <a:extLst>
              <a:ext uri="{FF2B5EF4-FFF2-40B4-BE49-F238E27FC236}">
                <a16:creationId xmlns:a16="http://schemas.microsoft.com/office/drawing/2014/main" id="{99AC1FF2-52DF-4A6D-BE0E-C9A289CF69C5}"/>
              </a:ext>
            </a:extLst>
          </p:cNvPr>
          <p:cNvSpPr/>
          <p:nvPr/>
        </p:nvSpPr>
        <p:spPr>
          <a:xfrm>
            <a:off x="5029200" y="490152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8" name="TextBox 213">
            <a:extLst>
              <a:ext uri="{FF2B5EF4-FFF2-40B4-BE49-F238E27FC236}">
                <a16:creationId xmlns:a16="http://schemas.microsoft.com/office/drawing/2014/main" id="{A464FD12-9094-4839-981A-C64981E72ACA}"/>
              </a:ext>
            </a:extLst>
          </p:cNvPr>
          <p:cNvSpPr txBox="1"/>
          <p:nvPr/>
        </p:nvSpPr>
        <p:spPr>
          <a:xfrm>
            <a:off x="5056632" y="4919812"/>
            <a:ext cx="512064" cy="253916"/>
          </a:xfrm>
          <a:prstGeom prst="rect">
            <a:avLst/>
          </a:prstGeom>
          <a:noFill/>
        </p:spPr>
        <p:txBody>
          <a:bodyPr wrap="square">
            <a:spAutoFit/>
          </a:bodyPr>
          <a:lstStyle/>
          <a:p>
            <a:pPr algn="ctr"/>
            <a:r>
              <a:rPr sz="1050" b="0">
                <a:latin typeface="Calibri"/>
              </a:rPr>
              <a:t>t=1.7</a:t>
            </a:r>
          </a:p>
        </p:txBody>
      </p:sp>
      <p:sp>
        <p:nvSpPr>
          <p:cNvPr id="219" name="Rectangle 214">
            <a:extLst>
              <a:ext uri="{FF2B5EF4-FFF2-40B4-BE49-F238E27FC236}">
                <a16:creationId xmlns:a16="http://schemas.microsoft.com/office/drawing/2014/main" id="{BFB26A3F-F76B-404C-AAD3-77F0AE9544D2}"/>
              </a:ext>
            </a:extLst>
          </p:cNvPr>
          <p:cNvSpPr/>
          <p:nvPr/>
        </p:nvSpPr>
        <p:spPr>
          <a:xfrm>
            <a:off x="55961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0" name="TextBox 215">
            <a:extLst>
              <a:ext uri="{FF2B5EF4-FFF2-40B4-BE49-F238E27FC236}">
                <a16:creationId xmlns:a16="http://schemas.microsoft.com/office/drawing/2014/main" id="{73845F8D-9358-4CF3-BC0C-331A1092591B}"/>
              </a:ext>
            </a:extLst>
          </p:cNvPr>
          <p:cNvSpPr txBox="1"/>
          <p:nvPr/>
        </p:nvSpPr>
        <p:spPr>
          <a:xfrm>
            <a:off x="5623560" y="4919812"/>
            <a:ext cx="402336" cy="253916"/>
          </a:xfrm>
          <a:prstGeom prst="rect">
            <a:avLst/>
          </a:prstGeom>
          <a:noFill/>
        </p:spPr>
        <p:txBody>
          <a:bodyPr wrap="square">
            <a:spAutoFit/>
          </a:bodyPr>
          <a:lstStyle/>
          <a:p>
            <a:pPr algn="ctr"/>
            <a:r>
              <a:rPr sz="1050" b="1">
                <a:latin typeface="Calibri"/>
              </a:rPr>
              <a:t>&lt;0</a:t>
            </a:r>
          </a:p>
        </p:txBody>
      </p:sp>
      <p:sp>
        <p:nvSpPr>
          <p:cNvPr id="221" name="Rectangle 216">
            <a:extLst>
              <a:ext uri="{FF2B5EF4-FFF2-40B4-BE49-F238E27FC236}">
                <a16:creationId xmlns:a16="http://schemas.microsoft.com/office/drawing/2014/main" id="{0BE70357-E37A-4096-BFE9-3C631CC6C226}"/>
              </a:ext>
            </a:extLst>
          </p:cNvPr>
          <p:cNvSpPr/>
          <p:nvPr/>
        </p:nvSpPr>
        <p:spPr>
          <a:xfrm>
            <a:off x="60533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2" name="TextBox 217">
            <a:extLst>
              <a:ext uri="{FF2B5EF4-FFF2-40B4-BE49-F238E27FC236}">
                <a16:creationId xmlns:a16="http://schemas.microsoft.com/office/drawing/2014/main" id="{2E305601-3BED-4931-BFB3-DF4F23EBC5B1}"/>
              </a:ext>
            </a:extLst>
          </p:cNvPr>
          <p:cNvSpPr txBox="1"/>
          <p:nvPr/>
        </p:nvSpPr>
        <p:spPr>
          <a:xfrm>
            <a:off x="6080760" y="4919812"/>
            <a:ext cx="402336" cy="253916"/>
          </a:xfrm>
          <a:prstGeom prst="rect">
            <a:avLst/>
          </a:prstGeom>
          <a:noFill/>
        </p:spPr>
        <p:txBody>
          <a:bodyPr wrap="square">
            <a:spAutoFit/>
          </a:bodyPr>
          <a:lstStyle/>
          <a:p>
            <a:pPr algn="ctr"/>
            <a:r>
              <a:rPr sz="1050" b="1">
                <a:latin typeface="Calibri"/>
              </a:rPr>
              <a:t>&lt;0</a:t>
            </a:r>
          </a:p>
        </p:txBody>
      </p:sp>
      <p:sp>
        <p:nvSpPr>
          <p:cNvPr id="223" name="Rectangle 218">
            <a:extLst>
              <a:ext uri="{FF2B5EF4-FFF2-40B4-BE49-F238E27FC236}">
                <a16:creationId xmlns:a16="http://schemas.microsoft.com/office/drawing/2014/main" id="{F56F689B-6BE5-4246-9F36-6330D09C6653}"/>
              </a:ext>
            </a:extLst>
          </p:cNvPr>
          <p:cNvSpPr/>
          <p:nvPr/>
        </p:nvSpPr>
        <p:spPr>
          <a:xfrm>
            <a:off x="6510528" y="4901524"/>
            <a:ext cx="438912" cy="445770"/>
          </a:xfrm>
          <a:prstGeom prst="rect">
            <a:avLst/>
          </a:prstGeom>
          <a:solidFill>
            <a:srgbClr val="FAEEDA"/>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4" name="TextBox 219">
            <a:extLst>
              <a:ext uri="{FF2B5EF4-FFF2-40B4-BE49-F238E27FC236}">
                <a16:creationId xmlns:a16="http://schemas.microsoft.com/office/drawing/2014/main" id="{78325794-FC7B-45D2-9522-0A94E39B68A5}"/>
              </a:ext>
            </a:extLst>
          </p:cNvPr>
          <p:cNvSpPr txBox="1"/>
          <p:nvPr/>
        </p:nvSpPr>
        <p:spPr>
          <a:xfrm>
            <a:off x="6537960" y="4919812"/>
            <a:ext cx="384048" cy="253916"/>
          </a:xfrm>
          <a:prstGeom prst="rect">
            <a:avLst/>
          </a:prstGeom>
          <a:noFill/>
        </p:spPr>
        <p:txBody>
          <a:bodyPr wrap="square">
            <a:spAutoFit/>
          </a:bodyPr>
          <a:lstStyle/>
          <a:p>
            <a:pPr algn="ctr"/>
            <a:r>
              <a:rPr sz="1050" b="1">
                <a:latin typeface="Calibri"/>
              </a:rPr>
              <a:t>3°</a:t>
            </a:r>
          </a:p>
        </p:txBody>
      </p:sp>
      <p:sp>
        <p:nvSpPr>
          <p:cNvPr id="225" name="Rectangle 220">
            <a:extLst>
              <a:ext uri="{FF2B5EF4-FFF2-40B4-BE49-F238E27FC236}">
                <a16:creationId xmlns:a16="http://schemas.microsoft.com/office/drawing/2014/main" id="{B239A8BA-5E52-44CD-807E-8F48C36FC403}"/>
              </a:ext>
            </a:extLst>
          </p:cNvPr>
          <p:cNvSpPr/>
          <p:nvPr/>
        </p:nvSpPr>
        <p:spPr>
          <a:xfrm>
            <a:off x="6949440" y="490152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6" name="TextBox 221">
            <a:extLst>
              <a:ext uri="{FF2B5EF4-FFF2-40B4-BE49-F238E27FC236}">
                <a16:creationId xmlns:a16="http://schemas.microsoft.com/office/drawing/2014/main" id="{3AE87241-DCF0-4534-8B58-270A2516ED72}"/>
              </a:ext>
            </a:extLst>
          </p:cNvPr>
          <p:cNvSpPr txBox="1"/>
          <p:nvPr/>
        </p:nvSpPr>
        <p:spPr>
          <a:xfrm>
            <a:off x="6976871" y="4919812"/>
            <a:ext cx="1938528" cy="253916"/>
          </a:xfrm>
          <a:prstGeom prst="rect">
            <a:avLst/>
          </a:prstGeom>
          <a:noFill/>
        </p:spPr>
        <p:txBody>
          <a:bodyPr wrap="square">
            <a:spAutoFit/>
          </a:bodyPr>
          <a:lstStyle/>
          <a:p>
            <a:pPr algn="ctr"/>
            <a:r>
              <a:rPr sz="1050" b="0">
                <a:latin typeface="Calibri"/>
              </a:rPr>
              <a:t>Motorización inversa</a:t>
            </a:r>
          </a:p>
        </p:txBody>
      </p:sp>
      <p:sp>
        <p:nvSpPr>
          <p:cNvPr id="227" name="Rectangle 222">
            <a:extLst>
              <a:ext uri="{FF2B5EF4-FFF2-40B4-BE49-F238E27FC236}">
                <a16:creationId xmlns:a16="http://schemas.microsoft.com/office/drawing/2014/main" id="{9F7A1908-9EBB-4C70-8299-C168D64E4A3E}"/>
              </a:ext>
            </a:extLst>
          </p:cNvPr>
          <p:cNvSpPr/>
          <p:nvPr/>
        </p:nvSpPr>
        <p:spPr>
          <a:xfrm>
            <a:off x="8942832" y="490152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8" name="TextBox 223">
            <a:extLst>
              <a:ext uri="{FF2B5EF4-FFF2-40B4-BE49-F238E27FC236}">
                <a16:creationId xmlns:a16="http://schemas.microsoft.com/office/drawing/2014/main" id="{FE1905AF-8DD5-40BA-80AF-FCEAD7BBE767}"/>
              </a:ext>
            </a:extLst>
          </p:cNvPr>
          <p:cNvSpPr txBox="1"/>
          <p:nvPr/>
        </p:nvSpPr>
        <p:spPr>
          <a:xfrm>
            <a:off x="8970263" y="4919812"/>
            <a:ext cx="493776" cy="253916"/>
          </a:xfrm>
          <a:prstGeom prst="rect">
            <a:avLst/>
          </a:prstGeom>
          <a:noFill/>
        </p:spPr>
        <p:txBody>
          <a:bodyPr wrap="square">
            <a:spAutoFit/>
          </a:bodyPr>
          <a:lstStyle/>
          <a:p>
            <a:pPr algn="ctr"/>
            <a:r>
              <a:rPr sz="1050" b="0">
                <a:latin typeface="Calibri"/>
              </a:rPr>
              <a:t>−5</a:t>
            </a:r>
          </a:p>
        </p:txBody>
      </p:sp>
      <p:sp>
        <p:nvSpPr>
          <p:cNvPr id="229" name="Rectangle 224">
            <a:extLst>
              <a:ext uri="{FF2B5EF4-FFF2-40B4-BE49-F238E27FC236}">
                <a16:creationId xmlns:a16="http://schemas.microsoft.com/office/drawing/2014/main" id="{58E2987E-3F8E-4D16-B73B-8301C73F89C9}"/>
              </a:ext>
            </a:extLst>
          </p:cNvPr>
          <p:cNvSpPr/>
          <p:nvPr/>
        </p:nvSpPr>
        <p:spPr>
          <a:xfrm>
            <a:off x="9491471" y="490152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0" name="TextBox 225">
            <a:extLst>
              <a:ext uri="{FF2B5EF4-FFF2-40B4-BE49-F238E27FC236}">
                <a16:creationId xmlns:a16="http://schemas.microsoft.com/office/drawing/2014/main" id="{8BFA233D-65EA-4045-954F-EECEB68983B9}"/>
              </a:ext>
            </a:extLst>
          </p:cNvPr>
          <p:cNvSpPr txBox="1"/>
          <p:nvPr/>
        </p:nvSpPr>
        <p:spPr>
          <a:xfrm>
            <a:off x="9518903" y="4919812"/>
            <a:ext cx="566928" cy="253916"/>
          </a:xfrm>
          <a:prstGeom prst="rect">
            <a:avLst/>
          </a:prstGeom>
          <a:noFill/>
        </p:spPr>
        <p:txBody>
          <a:bodyPr wrap="square">
            <a:spAutoFit/>
          </a:bodyPr>
          <a:lstStyle/>
          <a:p>
            <a:pPr algn="ctr"/>
            <a:r>
              <a:rPr sz="1050" b="0">
                <a:latin typeface="Calibri"/>
              </a:rPr>
              <a:t>0</a:t>
            </a:r>
          </a:p>
        </p:txBody>
      </p:sp>
      <p:sp>
        <p:nvSpPr>
          <p:cNvPr id="231" name="Rectangle 226">
            <a:extLst>
              <a:ext uri="{FF2B5EF4-FFF2-40B4-BE49-F238E27FC236}">
                <a16:creationId xmlns:a16="http://schemas.microsoft.com/office/drawing/2014/main" id="{94A96FE8-51EA-42C2-8353-557D1A1284EF}"/>
              </a:ext>
            </a:extLst>
          </p:cNvPr>
          <p:cNvSpPr/>
          <p:nvPr/>
        </p:nvSpPr>
        <p:spPr>
          <a:xfrm>
            <a:off x="10113263" y="490152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2" name="TextBox 227">
            <a:extLst>
              <a:ext uri="{FF2B5EF4-FFF2-40B4-BE49-F238E27FC236}">
                <a16:creationId xmlns:a16="http://schemas.microsoft.com/office/drawing/2014/main" id="{DFB8B79B-B129-4CAA-864A-CE3BE6D46FF1}"/>
              </a:ext>
            </a:extLst>
          </p:cNvPr>
          <p:cNvSpPr txBox="1"/>
          <p:nvPr/>
        </p:nvSpPr>
        <p:spPr>
          <a:xfrm>
            <a:off x="10140695" y="4919812"/>
            <a:ext cx="630936" cy="253916"/>
          </a:xfrm>
          <a:prstGeom prst="rect">
            <a:avLst/>
          </a:prstGeom>
          <a:noFill/>
        </p:spPr>
        <p:txBody>
          <a:bodyPr wrap="square">
            <a:spAutoFit/>
          </a:bodyPr>
          <a:lstStyle/>
          <a:p>
            <a:pPr algn="ctr"/>
            <a:r>
              <a:rPr sz="1050" b="0">
                <a:latin typeface="Calibri"/>
              </a:rPr>
              <a:t>−388.3</a:t>
            </a:r>
          </a:p>
        </p:txBody>
      </p:sp>
      <p:sp>
        <p:nvSpPr>
          <p:cNvPr id="233" name="Rectangle 228">
            <a:extLst>
              <a:ext uri="{FF2B5EF4-FFF2-40B4-BE49-F238E27FC236}">
                <a16:creationId xmlns:a16="http://schemas.microsoft.com/office/drawing/2014/main" id="{3E001DDA-BBEC-4965-97E6-B42C5FDDA2AF}"/>
              </a:ext>
            </a:extLst>
          </p:cNvPr>
          <p:cNvSpPr/>
          <p:nvPr/>
        </p:nvSpPr>
        <p:spPr>
          <a:xfrm>
            <a:off x="10799063" y="490152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4" name="TextBox 229">
            <a:extLst>
              <a:ext uri="{FF2B5EF4-FFF2-40B4-BE49-F238E27FC236}">
                <a16:creationId xmlns:a16="http://schemas.microsoft.com/office/drawing/2014/main" id="{18D67CFD-24D5-4C09-9CE5-8A8716A1DE7C}"/>
              </a:ext>
            </a:extLst>
          </p:cNvPr>
          <p:cNvSpPr txBox="1"/>
          <p:nvPr/>
        </p:nvSpPr>
        <p:spPr>
          <a:xfrm>
            <a:off x="10826495" y="4919812"/>
            <a:ext cx="585215" cy="253916"/>
          </a:xfrm>
          <a:prstGeom prst="rect">
            <a:avLst/>
          </a:prstGeom>
          <a:noFill/>
        </p:spPr>
        <p:txBody>
          <a:bodyPr wrap="square">
            <a:spAutoFit/>
          </a:bodyPr>
          <a:lstStyle/>
          <a:p>
            <a:pPr algn="ctr"/>
            <a:r>
              <a:rPr sz="1050" b="0">
                <a:latin typeface="Calibri"/>
              </a:rPr>
              <a:t>−0.061</a:t>
            </a:r>
          </a:p>
        </p:txBody>
      </p:sp>
      <p:sp>
        <p:nvSpPr>
          <p:cNvPr id="235" name="Rectangle 230">
            <a:extLst>
              <a:ext uri="{FF2B5EF4-FFF2-40B4-BE49-F238E27FC236}">
                <a16:creationId xmlns:a16="http://schemas.microsoft.com/office/drawing/2014/main" id="{62D3CF9B-49FF-4FC7-B74A-333D21D6F6B3}"/>
              </a:ext>
            </a:extLst>
          </p:cNvPr>
          <p:cNvSpPr/>
          <p:nvPr/>
        </p:nvSpPr>
        <p:spPr>
          <a:xfrm>
            <a:off x="4645152" y="534729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6" name="TextBox 231">
            <a:extLst>
              <a:ext uri="{FF2B5EF4-FFF2-40B4-BE49-F238E27FC236}">
                <a16:creationId xmlns:a16="http://schemas.microsoft.com/office/drawing/2014/main" id="{D884BE3E-352A-414D-B5A7-0D8D297993BA}"/>
              </a:ext>
            </a:extLst>
          </p:cNvPr>
          <p:cNvSpPr txBox="1"/>
          <p:nvPr/>
        </p:nvSpPr>
        <p:spPr>
          <a:xfrm>
            <a:off x="4672584" y="5365582"/>
            <a:ext cx="329184" cy="253916"/>
          </a:xfrm>
          <a:prstGeom prst="rect">
            <a:avLst/>
          </a:prstGeom>
          <a:noFill/>
        </p:spPr>
        <p:txBody>
          <a:bodyPr wrap="square">
            <a:spAutoFit/>
          </a:bodyPr>
          <a:lstStyle/>
          <a:p>
            <a:pPr algn="ctr"/>
            <a:r>
              <a:rPr lang="es-MX" sz="1050" b="0" dirty="0">
                <a:latin typeface="Calibri"/>
              </a:rPr>
              <a:t>9</a:t>
            </a:r>
            <a:endParaRPr sz="1050" b="0" dirty="0">
              <a:latin typeface="Calibri"/>
            </a:endParaRPr>
          </a:p>
        </p:txBody>
      </p:sp>
      <p:sp>
        <p:nvSpPr>
          <p:cNvPr id="237" name="Rectangle 232">
            <a:extLst>
              <a:ext uri="{FF2B5EF4-FFF2-40B4-BE49-F238E27FC236}">
                <a16:creationId xmlns:a16="http://schemas.microsoft.com/office/drawing/2014/main" id="{08ECA282-92DA-4A50-A22E-6CE93050C584}"/>
              </a:ext>
            </a:extLst>
          </p:cNvPr>
          <p:cNvSpPr/>
          <p:nvPr/>
        </p:nvSpPr>
        <p:spPr>
          <a:xfrm>
            <a:off x="5029200" y="534729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8" name="TextBox 233">
            <a:extLst>
              <a:ext uri="{FF2B5EF4-FFF2-40B4-BE49-F238E27FC236}">
                <a16:creationId xmlns:a16="http://schemas.microsoft.com/office/drawing/2014/main" id="{BED4A669-83EB-41FF-B163-BD1FA2BFD6D5}"/>
              </a:ext>
            </a:extLst>
          </p:cNvPr>
          <p:cNvSpPr txBox="1"/>
          <p:nvPr/>
        </p:nvSpPr>
        <p:spPr>
          <a:xfrm>
            <a:off x="5056632" y="5365582"/>
            <a:ext cx="512064" cy="253916"/>
          </a:xfrm>
          <a:prstGeom prst="rect">
            <a:avLst/>
          </a:prstGeom>
          <a:noFill/>
        </p:spPr>
        <p:txBody>
          <a:bodyPr wrap="square">
            <a:spAutoFit/>
          </a:bodyPr>
          <a:lstStyle/>
          <a:p>
            <a:pPr algn="ctr"/>
            <a:r>
              <a:rPr sz="1050" b="0">
                <a:latin typeface="Calibri"/>
              </a:rPr>
              <a:t>t=1.9</a:t>
            </a:r>
          </a:p>
        </p:txBody>
      </p:sp>
      <p:sp>
        <p:nvSpPr>
          <p:cNvPr id="239" name="Rectangle 234">
            <a:extLst>
              <a:ext uri="{FF2B5EF4-FFF2-40B4-BE49-F238E27FC236}">
                <a16:creationId xmlns:a16="http://schemas.microsoft.com/office/drawing/2014/main" id="{530A9B8E-6F90-4E87-8BDC-83E6920AD477}"/>
              </a:ext>
            </a:extLst>
          </p:cNvPr>
          <p:cNvSpPr/>
          <p:nvPr/>
        </p:nvSpPr>
        <p:spPr>
          <a:xfrm>
            <a:off x="55961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0" name="TextBox 235">
            <a:extLst>
              <a:ext uri="{FF2B5EF4-FFF2-40B4-BE49-F238E27FC236}">
                <a16:creationId xmlns:a16="http://schemas.microsoft.com/office/drawing/2014/main" id="{F747BFFC-5135-45D9-A646-6567C3D1DC86}"/>
              </a:ext>
            </a:extLst>
          </p:cNvPr>
          <p:cNvSpPr txBox="1"/>
          <p:nvPr/>
        </p:nvSpPr>
        <p:spPr>
          <a:xfrm>
            <a:off x="5623560" y="5365582"/>
            <a:ext cx="402336" cy="253916"/>
          </a:xfrm>
          <a:prstGeom prst="rect">
            <a:avLst/>
          </a:prstGeom>
          <a:noFill/>
        </p:spPr>
        <p:txBody>
          <a:bodyPr wrap="square">
            <a:spAutoFit/>
          </a:bodyPr>
          <a:lstStyle/>
          <a:p>
            <a:pPr algn="ctr"/>
            <a:r>
              <a:rPr sz="1050" b="1">
                <a:latin typeface="Calibri"/>
              </a:rPr>
              <a:t>&gt;0</a:t>
            </a:r>
          </a:p>
        </p:txBody>
      </p:sp>
      <p:sp>
        <p:nvSpPr>
          <p:cNvPr id="241" name="Rectangle 236">
            <a:extLst>
              <a:ext uri="{FF2B5EF4-FFF2-40B4-BE49-F238E27FC236}">
                <a16:creationId xmlns:a16="http://schemas.microsoft.com/office/drawing/2014/main" id="{2CE4A852-8D9E-4C80-A6F7-6732BFF4167E}"/>
              </a:ext>
            </a:extLst>
          </p:cNvPr>
          <p:cNvSpPr/>
          <p:nvPr/>
        </p:nvSpPr>
        <p:spPr>
          <a:xfrm>
            <a:off x="60533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2" name="TextBox 237">
            <a:extLst>
              <a:ext uri="{FF2B5EF4-FFF2-40B4-BE49-F238E27FC236}">
                <a16:creationId xmlns:a16="http://schemas.microsoft.com/office/drawing/2014/main" id="{4974F67F-276D-4869-98C3-D51AB87C38EC}"/>
              </a:ext>
            </a:extLst>
          </p:cNvPr>
          <p:cNvSpPr txBox="1"/>
          <p:nvPr/>
        </p:nvSpPr>
        <p:spPr>
          <a:xfrm>
            <a:off x="6080760" y="5365582"/>
            <a:ext cx="402336" cy="253916"/>
          </a:xfrm>
          <a:prstGeom prst="rect">
            <a:avLst/>
          </a:prstGeom>
          <a:noFill/>
        </p:spPr>
        <p:txBody>
          <a:bodyPr wrap="square">
            <a:spAutoFit/>
          </a:bodyPr>
          <a:lstStyle/>
          <a:p>
            <a:pPr algn="ctr"/>
            <a:r>
              <a:rPr sz="1050" b="1">
                <a:latin typeface="Calibri"/>
              </a:rPr>
              <a:t>&lt;0</a:t>
            </a:r>
          </a:p>
        </p:txBody>
      </p:sp>
      <p:sp>
        <p:nvSpPr>
          <p:cNvPr id="243" name="Rectangle 238">
            <a:extLst>
              <a:ext uri="{FF2B5EF4-FFF2-40B4-BE49-F238E27FC236}">
                <a16:creationId xmlns:a16="http://schemas.microsoft.com/office/drawing/2014/main" id="{19F4F428-A93D-4308-8290-D41C192A24DD}"/>
              </a:ext>
            </a:extLst>
          </p:cNvPr>
          <p:cNvSpPr/>
          <p:nvPr/>
        </p:nvSpPr>
        <p:spPr>
          <a:xfrm>
            <a:off x="6510528" y="534729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4" name="TextBox 239">
            <a:extLst>
              <a:ext uri="{FF2B5EF4-FFF2-40B4-BE49-F238E27FC236}">
                <a16:creationId xmlns:a16="http://schemas.microsoft.com/office/drawing/2014/main" id="{6B6DADDB-F977-4398-8E80-2D2E6996C814}"/>
              </a:ext>
            </a:extLst>
          </p:cNvPr>
          <p:cNvSpPr txBox="1"/>
          <p:nvPr/>
        </p:nvSpPr>
        <p:spPr>
          <a:xfrm>
            <a:off x="6537960" y="5365582"/>
            <a:ext cx="384048" cy="253916"/>
          </a:xfrm>
          <a:prstGeom prst="rect">
            <a:avLst/>
          </a:prstGeom>
          <a:noFill/>
        </p:spPr>
        <p:txBody>
          <a:bodyPr wrap="square">
            <a:spAutoFit/>
          </a:bodyPr>
          <a:lstStyle/>
          <a:p>
            <a:pPr algn="ctr"/>
            <a:r>
              <a:rPr sz="1050" b="1">
                <a:latin typeface="Calibri"/>
              </a:rPr>
              <a:t>4°</a:t>
            </a:r>
          </a:p>
        </p:txBody>
      </p:sp>
      <p:sp>
        <p:nvSpPr>
          <p:cNvPr id="245" name="Rectangle 240">
            <a:extLst>
              <a:ext uri="{FF2B5EF4-FFF2-40B4-BE49-F238E27FC236}">
                <a16:creationId xmlns:a16="http://schemas.microsoft.com/office/drawing/2014/main" id="{F704699E-49D7-4963-AB3B-BC5D12DD1921}"/>
              </a:ext>
            </a:extLst>
          </p:cNvPr>
          <p:cNvSpPr/>
          <p:nvPr/>
        </p:nvSpPr>
        <p:spPr>
          <a:xfrm>
            <a:off x="6949440" y="534729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6" name="TextBox 241">
            <a:extLst>
              <a:ext uri="{FF2B5EF4-FFF2-40B4-BE49-F238E27FC236}">
                <a16:creationId xmlns:a16="http://schemas.microsoft.com/office/drawing/2014/main" id="{D1BE7344-08DB-4658-8813-9C375550B834}"/>
              </a:ext>
            </a:extLst>
          </p:cNvPr>
          <p:cNvSpPr txBox="1"/>
          <p:nvPr/>
        </p:nvSpPr>
        <p:spPr>
          <a:xfrm>
            <a:off x="6976871" y="5365582"/>
            <a:ext cx="1938528" cy="253916"/>
          </a:xfrm>
          <a:prstGeom prst="rect">
            <a:avLst/>
          </a:prstGeom>
          <a:noFill/>
        </p:spPr>
        <p:txBody>
          <a:bodyPr wrap="square">
            <a:spAutoFit/>
          </a:bodyPr>
          <a:lstStyle/>
          <a:p>
            <a:pPr algn="ctr"/>
            <a:r>
              <a:rPr sz="1050" b="0">
                <a:latin typeface="Calibri"/>
              </a:rPr>
              <a:t>Fren. regen. dir. (reposo)</a:t>
            </a:r>
          </a:p>
        </p:txBody>
      </p:sp>
      <p:sp>
        <p:nvSpPr>
          <p:cNvPr id="247" name="Rectangle 242">
            <a:extLst>
              <a:ext uri="{FF2B5EF4-FFF2-40B4-BE49-F238E27FC236}">
                <a16:creationId xmlns:a16="http://schemas.microsoft.com/office/drawing/2014/main" id="{DA0B2E3A-4121-4ADC-8A05-437F86706BE3}"/>
              </a:ext>
            </a:extLst>
          </p:cNvPr>
          <p:cNvSpPr/>
          <p:nvPr/>
        </p:nvSpPr>
        <p:spPr>
          <a:xfrm>
            <a:off x="8942832" y="534729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8" name="TextBox 243">
            <a:extLst>
              <a:ext uri="{FF2B5EF4-FFF2-40B4-BE49-F238E27FC236}">
                <a16:creationId xmlns:a16="http://schemas.microsoft.com/office/drawing/2014/main" id="{0C1114AE-1DBB-4128-B6B6-1CE412FB7695}"/>
              </a:ext>
            </a:extLst>
          </p:cNvPr>
          <p:cNvSpPr txBox="1"/>
          <p:nvPr/>
        </p:nvSpPr>
        <p:spPr>
          <a:xfrm>
            <a:off x="8970263" y="5365582"/>
            <a:ext cx="493776" cy="253916"/>
          </a:xfrm>
          <a:prstGeom prst="rect">
            <a:avLst/>
          </a:prstGeom>
          <a:noFill/>
        </p:spPr>
        <p:txBody>
          <a:bodyPr wrap="square">
            <a:spAutoFit/>
          </a:bodyPr>
          <a:lstStyle/>
          <a:p>
            <a:pPr algn="ctr"/>
            <a:r>
              <a:rPr sz="1050" b="0">
                <a:latin typeface="Calibri"/>
              </a:rPr>
              <a:t>0</a:t>
            </a:r>
          </a:p>
        </p:txBody>
      </p:sp>
      <p:sp>
        <p:nvSpPr>
          <p:cNvPr id="249" name="Rectangle 244">
            <a:extLst>
              <a:ext uri="{FF2B5EF4-FFF2-40B4-BE49-F238E27FC236}">
                <a16:creationId xmlns:a16="http://schemas.microsoft.com/office/drawing/2014/main" id="{C1E0022D-F0AF-4E6F-B057-74577A822325}"/>
              </a:ext>
            </a:extLst>
          </p:cNvPr>
          <p:cNvSpPr/>
          <p:nvPr/>
        </p:nvSpPr>
        <p:spPr>
          <a:xfrm>
            <a:off x="9491471" y="534729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0" name="TextBox 245">
            <a:extLst>
              <a:ext uri="{FF2B5EF4-FFF2-40B4-BE49-F238E27FC236}">
                <a16:creationId xmlns:a16="http://schemas.microsoft.com/office/drawing/2014/main" id="{79D5A5B4-8754-4371-94A2-11131FCA3C77}"/>
              </a:ext>
            </a:extLst>
          </p:cNvPr>
          <p:cNvSpPr txBox="1"/>
          <p:nvPr/>
        </p:nvSpPr>
        <p:spPr>
          <a:xfrm>
            <a:off x="9518903" y="5365582"/>
            <a:ext cx="566928" cy="253916"/>
          </a:xfrm>
          <a:prstGeom prst="rect">
            <a:avLst/>
          </a:prstGeom>
          <a:noFill/>
        </p:spPr>
        <p:txBody>
          <a:bodyPr wrap="square">
            <a:spAutoFit/>
          </a:bodyPr>
          <a:lstStyle/>
          <a:p>
            <a:pPr algn="ctr"/>
            <a:r>
              <a:rPr sz="1050" b="0">
                <a:latin typeface="Calibri"/>
              </a:rPr>
              <a:t>0</a:t>
            </a:r>
          </a:p>
        </p:txBody>
      </p:sp>
      <p:sp>
        <p:nvSpPr>
          <p:cNvPr id="251" name="Rectangle 246">
            <a:extLst>
              <a:ext uri="{FF2B5EF4-FFF2-40B4-BE49-F238E27FC236}">
                <a16:creationId xmlns:a16="http://schemas.microsoft.com/office/drawing/2014/main" id="{744A5686-E59B-496A-A1BF-D215951F54B8}"/>
              </a:ext>
            </a:extLst>
          </p:cNvPr>
          <p:cNvSpPr/>
          <p:nvPr/>
        </p:nvSpPr>
        <p:spPr>
          <a:xfrm>
            <a:off x="10113263" y="534729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2" name="TextBox 247">
            <a:extLst>
              <a:ext uri="{FF2B5EF4-FFF2-40B4-BE49-F238E27FC236}">
                <a16:creationId xmlns:a16="http://schemas.microsoft.com/office/drawing/2014/main" id="{26D62784-5D7A-4711-81E9-71867E633345}"/>
              </a:ext>
            </a:extLst>
          </p:cNvPr>
          <p:cNvSpPr txBox="1"/>
          <p:nvPr/>
        </p:nvSpPr>
        <p:spPr>
          <a:xfrm>
            <a:off x="10140695" y="5365582"/>
            <a:ext cx="630936" cy="253916"/>
          </a:xfrm>
          <a:prstGeom prst="rect">
            <a:avLst/>
          </a:prstGeom>
          <a:noFill/>
        </p:spPr>
        <p:txBody>
          <a:bodyPr wrap="square">
            <a:spAutoFit/>
          </a:bodyPr>
          <a:lstStyle/>
          <a:p>
            <a:pPr algn="ctr"/>
            <a:r>
              <a:rPr sz="1050" b="0">
                <a:latin typeface="Calibri"/>
              </a:rPr>
              <a:t>17.13</a:t>
            </a:r>
          </a:p>
        </p:txBody>
      </p:sp>
      <p:sp>
        <p:nvSpPr>
          <p:cNvPr id="253" name="Rectangle 248">
            <a:extLst>
              <a:ext uri="{FF2B5EF4-FFF2-40B4-BE49-F238E27FC236}">
                <a16:creationId xmlns:a16="http://schemas.microsoft.com/office/drawing/2014/main" id="{583C1C22-50A4-43E7-BAB7-F9A88C1DCB33}"/>
              </a:ext>
            </a:extLst>
          </p:cNvPr>
          <p:cNvSpPr/>
          <p:nvPr/>
        </p:nvSpPr>
        <p:spPr>
          <a:xfrm>
            <a:off x="10799063" y="534729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4" name="TextBox 249">
            <a:extLst>
              <a:ext uri="{FF2B5EF4-FFF2-40B4-BE49-F238E27FC236}">
                <a16:creationId xmlns:a16="http://schemas.microsoft.com/office/drawing/2014/main" id="{199CD488-0783-4316-B6C8-25A2EFC6C032}"/>
              </a:ext>
            </a:extLst>
          </p:cNvPr>
          <p:cNvSpPr txBox="1"/>
          <p:nvPr/>
        </p:nvSpPr>
        <p:spPr>
          <a:xfrm>
            <a:off x="10826495" y="5365582"/>
            <a:ext cx="585215" cy="253916"/>
          </a:xfrm>
          <a:prstGeom prst="rect">
            <a:avLst/>
          </a:prstGeom>
          <a:noFill/>
        </p:spPr>
        <p:txBody>
          <a:bodyPr wrap="square">
            <a:spAutoFit/>
          </a:bodyPr>
          <a:lstStyle/>
          <a:p>
            <a:pPr algn="ctr"/>
            <a:r>
              <a:rPr sz="1050" b="0" dirty="0">
                <a:latin typeface="Calibri"/>
              </a:rPr>
              <a:t>−0.052</a:t>
            </a:r>
          </a:p>
        </p:txBody>
      </p:sp>
      <p:sp>
        <p:nvSpPr>
          <p:cNvPr id="255" name="Shape 2">
            <a:extLst>
              <a:ext uri="{FF2B5EF4-FFF2-40B4-BE49-F238E27FC236}">
                <a16:creationId xmlns:a16="http://schemas.microsoft.com/office/drawing/2014/main" id="{7A162447-8E9E-431F-8149-D9F8735A808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56" name="Text 3">
            <a:extLst>
              <a:ext uri="{FF2B5EF4-FFF2-40B4-BE49-F238E27FC236}">
                <a16:creationId xmlns:a16="http://schemas.microsoft.com/office/drawing/2014/main" id="{2DF6ED85-A63B-4136-9C7B-CE8B790A5C5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457373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a:extLst>
              <a:ext uri="{FF2B5EF4-FFF2-40B4-BE49-F238E27FC236}">
                <a16:creationId xmlns:a16="http://schemas.microsoft.com/office/drawing/2014/main" id="{625E6559-98CE-4261-AE72-4DF644117803}"/>
              </a:ext>
            </a:extLst>
          </p:cNvPr>
          <p:cNvSpPr/>
          <p:nvPr/>
        </p:nvSpPr>
        <p:spPr>
          <a:xfrm>
            <a:off x="377302" y="2782026"/>
            <a:ext cx="7772400" cy="601640"/>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7302" y="1460863"/>
            <a:ext cx="7772400" cy="518668"/>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Ángulo de desfasaje electromagnético δ(t)</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44 / ~75</a:t>
            </a:r>
          </a:p>
        </p:txBody>
      </p:sp>
      <mc:AlternateContent xmlns:mc="http://schemas.openxmlformats.org/markup-compatibility/2006" xmlns:a14="http://schemas.microsoft.com/office/drawing/2010/main">
        <mc:Choice Requires="a14">
          <p:sp>
            <p:nvSpPr>
              <p:cNvPr id="7" name="TextBox 6"/>
              <p:cNvSpPr txBox="1"/>
              <p:nvPr/>
            </p:nvSpPr>
            <p:spPr>
              <a:xfrm>
                <a:off x="320040" y="774877"/>
                <a:ext cx="7772400" cy="523220"/>
              </a:xfrm>
              <a:prstGeom prst="rect">
                <a:avLst/>
              </a:prstGeom>
              <a:noFill/>
            </p:spPr>
            <p:txBody>
              <a:bodyPr wrap="square">
                <a:spAutoFit/>
              </a:bodyPr>
              <a:lstStyle/>
              <a:p>
                <a:r>
                  <a:rPr lang="es-AR" sz="1400" b="0" i="0" dirty="0">
                    <a:solidFill>
                      <a:srgbClr val="1A1A2E"/>
                    </a:solidFill>
                    <a:latin typeface="Calibri"/>
                  </a:rPr>
                  <a:t>El ángulo de desfasaje δ(t) se define como el desplazamiento angular entre la coordenada eléctrica de tensión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b="0" i="0" dirty="0">
                    <a:solidFill>
                      <a:srgbClr val="1A1A2E"/>
                    </a:solidFill>
                    <a:latin typeface="Calibri"/>
                  </a:rPr>
                  <a:t>y la coordenada eléctrica del rotor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𝑟</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b="0" i="0" dirty="0">
                    <a:solidFill>
                      <a:srgbClr val="1A1A2E"/>
                    </a:solidFill>
                    <a:latin typeface="Calibri"/>
                  </a:rPr>
                  <a:t>:</a:t>
                </a:r>
              </a:p>
            </p:txBody>
          </p:sp>
        </mc:Choice>
        <mc:Fallback xmlns="">
          <p:sp>
            <p:nvSpPr>
              <p:cNvPr id="7" name="TextBox 6"/>
              <p:cNvSpPr txBox="1">
                <a:spLocks noRot="1" noChangeAspect="1" noMove="1" noResize="1" noEditPoints="1" noAdjustHandles="1" noChangeArrowheads="1" noChangeShapeType="1" noTextEdit="1"/>
              </p:cNvSpPr>
              <p:nvPr/>
            </p:nvSpPr>
            <p:spPr>
              <a:xfrm>
                <a:off x="320040" y="774877"/>
                <a:ext cx="7772400" cy="523220"/>
              </a:xfrm>
              <a:prstGeom prst="rect">
                <a:avLst/>
              </a:prstGeom>
              <a:blipFill>
                <a:blip r:embed="rId2"/>
                <a:stretch>
                  <a:fillRect l="-235" t="-2326" b="-1162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33462" y="1440164"/>
                <a:ext cx="5987101" cy="49122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𝛿</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nary>
                        <m:naryPr>
                          <m:ctrlPr>
                            <a:rPr lang="es-AR" sz="1050" i="1">
                              <a:effectLst/>
                              <a:latin typeface="Cambria Math" panose="02040503050406030204" pitchFamily="18" charset="0"/>
                              <a:cs typeface="Calibri" panose="020F0502020204030204" pitchFamily="34" charset="0"/>
                            </a:rPr>
                          </m:ctrlPr>
                        </m:naryPr>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𝑡</m:t>
                          </m:r>
                        </m:sup>
                        <m:e>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e>
                          </m:d>
                        </m:e>
                      </m:nary>
                      <m:r>
                        <a:rPr lang="es-AR" sz="1600" i="1">
                          <a:effectLst/>
                          <a:latin typeface="Cambria Math" panose="02040503050406030204" pitchFamily="18" charset="0"/>
                          <a:ea typeface="Calibri" panose="020F0502020204030204" pitchFamily="34" charset="0"/>
                          <a:cs typeface="Calibri" panose="020F0502020204030204" pitchFamily="34"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𝑑</m:t>
                      </m:r>
                      <m:r>
                        <a:rPr lang="es-AR" sz="1600" i="1">
                          <a:effectLst/>
                          <a:latin typeface="Cambria Math" panose="02040503050406030204" pitchFamily="18" charset="0"/>
                          <a:ea typeface="Calibri" panose="020F0502020204030204" pitchFamily="34" charset="0"/>
                          <a:cs typeface="Calibri" panose="020F0502020204030204" pitchFamily="34" charset="0"/>
                        </a:rPr>
                        <m:t>𝜉</m:t>
                      </m:r>
                      <m:r>
                        <a:rPr lang="es-AR" sz="1600" i="1">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33462" y="1440164"/>
                <a:ext cx="5987101" cy="491225"/>
              </a:xfrm>
              <a:prstGeom prst="rect">
                <a:avLst/>
              </a:prstGeom>
              <a:blipFill>
                <a:blip r:embed="rId3"/>
                <a:stretch>
                  <a:fillRect t="-119753" b="-187654"/>
                </a:stretch>
              </a:blipFill>
            </p:spPr>
            <p:txBody>
              <a:bodyPr/>
              <a:lstStyle/>
              <a:p>
                <a:r>
                  <a:rPr lang="es-AR">
                    <a:noFill/>
                  </a:rPr>
                  <a:t> </a:t>
                </a:r>
              </a:p>
            </p:txBody>
          </p:sp>
        </mc:Fallback>
      </mc:AlternateContent>
      <p:sp>
        <p:nvSpPr>
          <p:cNvPr id="13" name="TextBox 12"/>
          <p:cNvSpPr txBox="1"/>
          <p:nvPr/>
        </p:nvSpPr>
        <p:spPr>
          <a:xfrm>
            <a:off x="8305495" y="777240"/>
            <a:ext cx="3566160" cy="307777"/>
          </a:xfrm>
          <a:prstGeom prst="rect">
            <a:avLst/>
          </a:prstGeom>
          <a:noFill/>
        </p:spPr>
        <p:txBody>
          <a:bodyPr wrap="square">
            <a:spAutoFit/>
          </a:bodyPr>
          <a:lstStyle/>
          <a:p>
            <a:pPr algn="l"/>
            <a:r>
              <a:rPr lang="es-AR" sz="1400" b="1" i="0" dirty="0">
                <a:solidFill>
                  <a:srgbClr val="1A3A6B"/>
                </a:solidFill>
                <a:latin typeface="Calibri"/>
              </a:rPr>
              <a:t>Consistencia con los cuadrantes de operación:</a:t>
            </a:r>
          </a:p>
        </p:txBody>
      </p:sp>
      <mc:AlternateContent xmlns:mc="http://schemas.openxmlformats.org/markup-compatibility/2006" xmlns:a14="http://schemas.microsoft.com/office/drawing/2010/main">
        <mc:Choice Requires="a14">
          <p:sp>
            <p:nvSpPr>
              <p:cNvPr id="14" name="TextBox 13"/>
              <p:cNvSpPr txBox="1"/>
              <p:nvPr/>
            </p:nvSpPr>
            <p:spPr>
              <a:xfrm>
                <a:off x="8412480" y="1261872"/>
                <a:ext cx="3566160" cy="2185214"/>
              </a:xfrm>
              <a:prstGeom prst="rect">
                <a:avLst/>
              </a:prstGeom>
              <a:noFill/>
            </p:spPr>
            <p:txBody>
              <a:bodyPr wrap="square">
                <a:spAutoFit/>
              </a:bodyPr>
              <a:lstStyle/>
              <a:p>
                <a:r>
                  <a:rPr lang="es-AR" sz="1400" dirty="0">
                    <a:solidFill>
                      <a:srgbClr val="1A1A2E"/>
                    </a:solidFill>
                    <a:latin typeface="Calibri"/>
                  </a:rPr>
                  <a:t>δ(t) &gt; 0: motorización directa y frenado </a:t>
                </a:r>
                <a:r>
                  <a:rPr lang="es-AR" sz="1400" dirty="0" err="1">
                    <a:solidFill>
                      <a:srgbClr val="1A1A2E"/>
                    </a:solidFill>
                    <a:latin typeface="Calibri"/>
                  </a:rPr>
                  <a:t>regen</a:t>
                </a:r>
                <a:r>
                  <a:rPr lang="es-AR" sz="1400" dirty="0">
                    <a:solidFill>
                      <a:srgbClr val="1A1A2E"/>
                    </a:solidFill>
                    <a:latin typeface="Calibri"/>
                  </a:rPr>
                  <a:t>. inverso  (1°  y 2°  cuadrante)</a:t>
                </a:r>
              </a:p>
              <a:p>
                <a:pPr>
                  <a:spcBef>
                    <a:spcPts val="400"/>
                  </a:spcBef>
                </a:pPr>
                <a:r>
                  <a:rPr lang="es-AR" sz="1400" dirty="0">
                    <a:solidFill>
                      <a:srgbClr val="1A1A2E"/>
                    </a:solidFill>
                    <a:latin typeface="Calibri"/>
                  </a:rPr>
                  <a:t>δ(t) &lt; 0: frenado </a:t>
                </a:r>
                <a:r>
                  <a:rPr lang="es-AR" sz="1400" dirty="0" err="1">
                    <a:solidFill>
                      <a:srgbClr val="1A1A2E"/>
                    </a:solidFill>
                    <a:latin typeface="Calibri"/>
                  </a:rPr>
                  <a:t>regen</a:t>
                </a:r>
                <a:r>
                  <a:rPr lang="es-AR" sz="1400" dirty="0">
                    <a:solidFill>
                      <a:srgbClr val="1A1A2E"/>
                    </a:solidFill>
                    <a:latin typeface="Calibri"/>
                  </a:rPr>
                  <a:t>. directo y motorización inversa  (4°  y 3°  cuadrante)</a:t>
                </a:r>
              </a:p>
              <a:p>
                <a:pPr>
                  <a:spcBef>
                    <a:spcPts val="400"/>
                  </a:spcBef>
                </a:pPr>
                <a:r>
                  <a:rPr lang="es-AR" sz="1400" dirty="0">
                    <a:solidFill>
                      <a:srgbClr val="1A1A2E"/>
                    </a:solidFill>
                    <a:latin typeface="Calibri"/>
                  </a:rPr>
                  <a:t>El signo de δ(t) es coherente con los signos de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sub>
                        <m:r>
                          <a:rPr lang="es-MX" sz="1400" b="0" i="1" smtClean="0">
                            <a:effectLst/>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y </a:t>
                </a:r>
                <a14:m>
                  <m:oMath xmlns:m="http://schemas.openxmlformats.org/officeDocument/2006/math">
                    <m:sSub>
                      <m:sSubPr>
                        <m:ctrlPr>
                          <a:rPr lang="es-AR" sz="1400" i="1">
                            <a:latin typeface="Cambria Math" panose="02040503050406030204" pitchFamily="18" charset="0"/>
                            <a:cs typeface="Calibri" panose="020F0502020204030204" pitchFamily="34" charset="0"/>
                          </a:rPr>
                        </m:ctrlPr>
                      </m:sSubPr>
                      <m:e>
                        <m:r>
                          <a:rPr lang="es-MX" sz="1400" b="0" i="1" smtClean="0">
                            <a:latin typeface="Cambria Math" panose="02040503050406030204" pitchFamily="18" charset="0"/>
                            <a:cs typeface="Calibri" panose="020F0502020204030204" pitchFamily="34" charset="0"/>
                          </a:rPr>
                          <m:t>𝑇</m:t>
                        </m:r>
                      </m:e>
                      <m:sub>
                        <m:r>
                          <a:rPr lang="es-MX" sz="1400" b="0" i="1" smtClean="0">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 confirma la consistencia del modelo</a:t>
                </a:r>
              </a:p>
              <a:p>
                <a:pPr>
                  <a:spcBef>
                    <a:spcPts val="400"/>
                  </a:spcBef>
                </a:pPr>
                <a:r>
                  <a:rPr lang="es-AR" sz="1400" dirty="0">
                    <a:solidFill>
                      <a:srgbClr val="1A1A2E"/>
                    </a:solidFill>
                    <a:latin typeface="Calibri"/>
                  </a:rPr>
                  <a:t>Los transitorios de δ coinciden temporalmente con los cambios de consigna y perturbaciones</a:t>
                </a:r>
              </a:p>
            </p:txBody>
          </p:sp>
        </mc:Choice>
        <mc:Fallback xmlns="">
          <p:sp>
            <p:nvSpPr>
              <p:cNvPr id="14" name="TextBox 13"/>
              <p:cNvSpPr txBox="1">
                <a:spLocks noRot="1" noChangeAspect="1" noMove="1" noResize="1" noEditPoints="1" noAdjustHandles="1" noChangeArrowheads="1" noChangeShapeType="1" noTextEdit="1"/>
              </p:cNvSpPr>
              <p:nvPr/>
            </p:nvSpPr>
            <p:spPr>
              <a:xfrm>
                <a:off x="8412480" y="1261872"/>
                <a:ext cx="3566160" cy="2185214"/>
              </a:xfrm>
              <a:prstGeom prst="rect">
                <a:avLst/>
              </a:prstGeom>
              <a:blipFill>
                <a:blip r:embed="rId4"/>
                <a:stretch>
                  <a:fillRect l="-513" t="-559" r="-1197" b="-195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17F8126B-971B-424E-8DA7-2277AD9ADA00}"/>
                  </a:ext>
                </a:extLst>
              </p:cNvPr>
              <p:cNvSpPr txBox="1"/>
              <p:nvPr/>
            </p:nvSpPr>
            <p:spPr>
              <a:xfrm>
                <a:off x="377302" y="2131267"/>
                <a:ext cx="7772400" cy="542584"/>
              </a:xfrm>
              <a:prstGeom prst="rect">
                <a:avLst/>
              </a:prstGeom>
              <a:noFill/>
            </p:spPr>
            <p:txBody>
              <a:bodyPr wrap="square">
                <a:spAutoFit/>
              </a:bodyPr>
              <a:lstStyle/>
              <a:p>
                <a:pPr algn="just">
                  <a:lnSpc>
                    <a:spcPct val="107000"/>
                  </a:lnSpc>
                  <a:spcBef>
                    <a:spcPts val="600"/>
                  </a:spcBef>
                  <a:spcAft>
                    <a:spcPts val="800"/>
                  </a:spcAft>
                </a:pPr>
                <a:r>
                  <a:rPr lang="es-AR" sz="1400" dirty="0">
                    <a:solidFill>
                      <a:srgbClr val="1A1A2E"/>
                    </a:solidFill>
                    <a:latin typeface="Calibri"/>
                  </a:rPr>
                  <a:t>Se aplica la transformación de Clarke a las tensiones </a:t>
                </a:r>
                <a14:m>
                  <m:oMath xmlns:m="http://schemas.openxmlformats.org/officeDocument/2006/math">
                    <m:r>
                      <a:rPr lang="es-AR" sz="1400">
                        <a:solidFill>
                          <a:srgbClr val="1A1A2E"/>
                        </a:solidFill>
                        <a:latin typeface="Cambria Math" panose="02040503050406030204" pitchFamily="18" charset="0"/>
                      </a:rPr>
                      <m:t>𝑎𝑏𝑐</m:t>
                    </m:r>
                  </m:oMath>
                </a14:m>
                <a:r>
                  <a:rPr lang="es-AR" sz="1400" dirty="0">
                    <a:solidFill>
                      <a:srgbClr val="1A1A2E"/>
                    </a:solidFill>
                    <a:latin typeface="Calibri"/>
                  </a:rPr>
                  <a:t> para obtener componentes </a:t>
                </a:r>
                <a14:m>
                  <m:oMath xmlns:m="http://schemas.openxmlformats.org/officeDocument/2006/math">
                    <m:r>
                      <a:rPr lang="es-AR" sz="1400">
                        <a:solidFill>
                          <a:srgbClr val="1A1A2E"/>
                        </a:solidFill>
                        <a:latin typeface="Cambria Math" panose="02040503050406030204" pitchFamily="18" charset="0"/>
                      </a:rPr>
                      <m:t>𝛼𝛽</m:t>
                    </m:r>
                  </m:oMath>
                </a14:m>
                <a:r>
                  <a:rPr lang="es-AR" sz="1400" dirty="0">
                    <a:solidFill>
                      <a:srgbClr val="1A1A2E"/>
                    </a:solidFill>
                    <a:latin typeface="Calibri"/>
                  </a:rPr>
                  <a:t>, para luego calcular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𝑒𝑣</m:t>
                        </m:r>
                      </m:sub>
                    </m:sSub>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a:t>
                </a:r>
              </a:p>
            </p:txBody>
          </p:sp>
        </mc:Choice>
        <mc:Fallback xmlns="">
          <p:sp>
            <p:nvSpPr>
              <p:cNvPr id="16" name="CuadroTexto 15">
                <a:extLst>
                  <a:ext uri="{FF2B5EF4-FFF2-40B4-BE49-F238E27FC236}">
                    <a16:creationId xmlns:a16="http://schemas.microsoft.com/office/drawing/2014/main" id="{17F8126B-971B-424E-8DA7-2277AD9ADA00}"/>
                  </a:ext>
                </a:extLst>
              </p:cNvPr>
              <p:cNvSpPr txBox="1">
                <a:spLocks noRot="1" noChangeAspect="1" noMove="1" noResize="1" noEditPoints="1" noAdjustHandles="1" noChangeArrowheads="1" noChangeShapeType="1" noTextEdit="1"/>
              </p:cNvSpPr>
              <p:nvPr/>
            </p:nvSpPr>
            <p:spPr>
              <a:xfrm>
                <a:off x="377302" y="2131267"/>
                <a:ext cx="7772400" cy="542584"/>
              </a:xfrm>
              <a:prstGeom prst="rect">
                <a:avLst/>
              </a:prstGeom>
              <a:blipFill>
                <a:blip r:embed="rId5"/>
                <a:stretch>
                  <a:fillRect l="-235" t="-1124" r="-235" b="-112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4CF5B00-C9CF-4CD5-B537-E04EDC1D436A}"/>
                  </a:ext>
                </a:extLst>
              </p:cNvPr>
              <p:cNvSpPr txBox="1"/>
              <p:nvPr/>
            </p:nvSpPr>
            <p:spPr>
              <a:xfrm>
                <a:off x="-159945" y="2776694"/>
                <a:ext cx="7878931" cy="601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α</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2</m:t>
                          </m:r>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β</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ad>
                            <m:radPr>
                              <m:degHide m:val="on"/>
                              <m:ctrlPr>
                                <a:rPr lang="es-AR" sz="1400" i="1">
                                  <a:solidFill>
                                    <a:schemeClr val="tx1"/>
                                  </a:solidFill>
                                  <a:latin typeface="Cambria Math" panose="02040503050406030204" pitchFamily="18" charset="0"/>
                                </a:rPr>
                              </m:ctrlPr>
                            </m:radPr>
                            <m:deg/>
                            <m:e>
                              <m:r>
                                <a:rPr lang="es-AR" sz="1400" i="0">
                                  <a:solidFill>
                                    <a:schemeClr val="tx1"/>
                                  </a:solidFill>
                                  <a:latin typeface="Cambria Math" panose="02040503050406030204" pitchFamily="18" charset="0"/>
                                </a:rPr>
                                <m:t>3</m:t>
                              </m:r>
                            </m:e>
                          </m:rad>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r>
                        <a:rPr lang="es-MX" sz="1400" b="0" i="1" smtClean="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𝑒𝑣</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𝑎𝑡𝑎𝑛</m:t>
                      </m:r>
                      <m:r>
                        <a:rPr lang="es-AR" sz="1400" i="1">
                          <a:solidFill>
                            <a:schemeClr val="tx1"/>
                          </a:solidFill>
                          <a:latin typeface="Cambria Math" panose="02040503050406030204" pitchFamily="18" charset="0"/>
                        </a:rPr>
                        <m:t>2</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𝛽</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𝛼</m:t>
                              </m:r>
                            </m:sub>
                          </m:sSub>
                        </m:e>
                      </m:d>
                    </m:oMath>
                  </m:oMathPara>
                </a14:m>
                <a:endParaRPr lang="es-AR" sz="1400" dirty="0">
                  <a:solidFill>
                    <a:schemeClr val="tx1"/>
                  </a:solidFill>
                </a:endParaRPr>
              </a:p>
            </p:txBody>
          </p:sp>
        </mc:Choice>
        <mc:Fallback xmlns="">
          <p:sp>
            <p:nvSpPr>
              <p:cNvPr id="18" name="CuadroTexto 17">
                <a:extLst>
                  <a:ext uri="{FF2B5EF4-FFF2-40B4-BE49-F238E27FC236}">
                    <a16:creationId xmlns:a16="http://schemas.microsoft.com/office/drawing/2014/main" id="{A4CF5B00-C9CF-4CD5-B537-E04EDC1D436A}"/>
                  </a:ext>
                </a:extLst>
              </p:cNvPr>
              <p:cNvSpPr txBox="1">
                <a:spLocks noRot="1" noChangeAspect="1" noMove="1" noResize="1" noEditPoints="1" noAdjustHandles="1" noChangeArrowheads="1" noChangeShapeType="1" noTextEdit="1"/>
              </p:cNvSpPr>
              <p:nvPr/>
            </p:nvSpPr>
            <p:spPr>
              <a:xfrm>
                <a:off x="-159945" y="2776694"/>
                <a:ext cx="7878931" cy="601640"/>
              </a:xfrm>
              <a:prstGeom prst="rect">
                <a:avLst/>
              </a:prstGeom>
              <a:blipFill>
                <a:blip r:embed="rId6"/>
                <a:stretch>
                  <a:fillRect/>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C92DD72-9256-4C6B-A5E8-DD345F69D29B}"/>
              </a:ext>
            </a:extLst>
          </p:cNvPr>
          <p:cNvPicPr/>
          <p:nvPr/>
        </p:nvPicPr>
        <p:blipFill>
          <a:blip r:embed="rId7"/>
          <a:stretch>
            <a:fillRect/>
          </a:stretch>
        </p:blipFill>
        <p:spPr>
          <a:xfrm>
            <a:off x="133462" y="3558766"/>
            <a:ext cx="4443273" cy="2579977"/>
          </a:xfrm>
          <a:prstGeom prst="rect">
            <a:avLst/>
          </a:prstGeom>
        </p:spPr>
      </p:pic>
      <p:sp>
        <p:nvSpPr>
          <p:cNvPr id="23" name="CuadroTexto 22">
            <a:extLst>
              <a:ext uri="{FF2B5EF4-FFF2-40B4-BE49-F238E27FC236}">
                <a16:creationId xmlns:a16="http://schemas.microsoft.com/office/drawing/2014/main" id="{F2607252-31E0-427A-88A9-1B6F9667DB38}"/>
              </a:ext>
            </a:extLst>
          </p:cNvPr>
          <p:cNvSpPr txBox="1"/>
          <p:nvPr/>
        </p:nvSpPr>
        <p:spPr>
          <a:xfrm>
            <a:off x="585927" y="6213565"/>
            <a:ext cx="3613212"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26— Evolución temporal del ángulo δ(t)</a:t>
            </a:r>
          </a:p>
          <a:p>
            <a:endParaRPr lang="es-AR" dirty="0"/>
          </a:p>
        </p:txBody>
      </p:sp>
      <p:sp>
        <p:nvSpPr>
          <p:cNvPr id="17" name="Shape 2">
            <a:extLst>
              <a:ext uri="{FF2B5EF4-FFF2-40B4-BE49-F238E27FC236}">
                <a16:creationId xmlns:a16="http://schemas.microsoft.com/office/drawing/2014/main" id="{1CE01814-9600-4AEF-BDF0-744B4D83E99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AC5BD68-9430-46F7-90AE-2D05E2EA6DF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71994" y="130174"/>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a:t>
            </a:r>
            <a:r>
              <a:rPr sz="2100" b="1" dirty="0" err="1">
                <a:solidFill>
                  <a:srgbClr val="FFFFFF"/>
                </a:solidFill>
                <a:latin typeface="Cambria"/>
              </a:rPr>
              <a:t>Valores</a:t>
            </a:r>
            <a:r>
              <a:rPr sz="2100" b="1" dirty="0">
                <a:solidFill>
                  <a:srgbClr val="FFFFFF"/>
                </a:solidFill>
                <a:latin typeface="Cambria"/>
              </a:rPr>
              <a:t> de </a:t>
            </a:r>
            <a:r>
              <a:rPr sz="2100" b="1" dirty="0" err="1">
                <a:solidFill>
                  <a:srgbClr val="FFFFFF"/>
                </a:solidFill>
                <a:latin typeface="Cambria"/>
              </a:rPr>
              <a:t>establecimiento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p:sp>
        <p:nvSpPr>
          <p:cNvPr id="7" name="TextBox 6"/>
          <p:cNvSpPr txBox="1"/>
          <p:nvPr/>
        </p:nvSpPr>
        <p:spPr>
          <a:xfrm>
            <a:off x="91439" y="735784"/>
            <a:ext cx="11430000" cy="411480"/>
          </a:xfrm>
          <a:prstGeom prst="rect">
            <a:avLst/>
          </a:prstGeom>
          <a:noFill/>
        </p:spPr>
        <p:txBody>
          <a:bodyPr wrap="square">
            <a:spAutoFit/>
          </a:bodyPr>
          <a:lstStyle/>
          <a:p>
            <a:pPr algn="l"/>
            <a:r>
              <a:rPr sz="1400" b="0" i="0">
                <a:solidFill>
                  <a:srgbClr val="1A1A2E"/>
                </a:solidFill>
                <a:latin typeface="Calibri"/>
              </a:rPr>
              <a:t>Resultados cuantitativos de la respuesta transitoria del sistema NL:</a:t>
            </a:r>
          </a:p>
        </p:txBody>
      </p:sp>
      <mc:AlternateContent xmlns:mc="http://schemas.openxmlformats.org/markup-compatibility/2006" xmlns:a14="http://schemas.microsoft.com/office/drawing/2010/main">
        <mc:Choice Requires="a14">
          <p:sp>
            <p:nvSpPr>
              <p:cNvPr id="8" name="TextBox 7"/>
              <p:cNvSpPr txBox="1"/>
              <p:nvPr/>
            </p:nvSpPr>
            <p:spPr>
              <a:xfrm>
                <a:off x="320040" y="1099834"/>
                <a:ext cx="5486400" cy="3077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
                      <m:sSubPr>
                        <m:ctrlPr>
                          <a:rPr lang="es-AR" sz="1400" b="1" i="1">
                            <a:solidFill>
                              <a:srgbClr val="1A3A6B"/>
                            </a:solidFill>
                            <a:latin typeface="Cambria Math" panose="02040503050406030204" pitchFamily="18" charset="0"/>
                          </a:rPr>
                        </m:ctrlPr>
                      </m:sSubPr>
                      <m:e>
                        <m:r>
                          <a:rPr lang="es-AR" sz="1400" b="1" i="1">
                            <a:solidFill>
                              <a:srgbClr val="1A3A6B"/>
                            </a:solidFill>
                            <a:latin typeface="Cambria Math" panose="02040503050406030204" pitchFamily="18" charset="0"/>
                          </a:rPr>
                          <m:t>𝝎</m:t>
                        </m:r>
                      </m:e>
                      <m:sub>
                        <m:r>
                          <a:rPr lang="es-AR" sz="1400" b="1" i="1">
                            <a:solidFill>
                              <a:srgbClr val="1A3A6B"/>
                            </a:solidFill>
                            <a:latin typeface="Cambria Math" panose="02040503050406030204" pitchFamily="18" charset="0"/>
                          </a:rPr>
                          <m:t>𝒎</m:t>
                        </m:r>
                      </m:sub>
                    </m:sSub>
                  </m:oMath>
                </a14:m>
                <a:r>
                  <a:rPr lang="es-AR" sz="1400" b="1" dirty="0">
                    <a:solidFill>
                      <a:srgbClr val="1A3A6B"/>
                    </a:solidFill>
                    <a:latin typeface="Calibri"/>
                  </a:rPr>
                  <a:t> (t</a:t>
                </a:r>
                <a:r>
                  <a:rPr lang="es-AR" sz="1400" b="1" i="0" dirty="0">
                    <a:solidFill>
                      <a:srgbClr val="1A3A6B"/>
                    </a:solidFill>
                    <a:latin typeface="Calibri"/>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320040" y="1099834"/>
                <a:ext cx="5486400" cy="307777"/>
              </a:xfrm>
              <a:prstGeom prst="rect">
                <a:avLst/>
              </a:prstGeom>
              <a:blipFill>
                <a:blip r:embed="rId2"/>
                <a:stretch>
                  <a:fillRect l="-333" t="-1961" b="-1960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65760" y="3669044"/>
                <a:ext cx="7772400" cy="3270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Sup>
                      <m:sSubSupPr>
                        <m:ctrlPr>
                          <a:rPr lang="es-AR" sz="1400" b="1" i="1">
                            <a:solidFill>
                              <a:srgbClr val="1A3A6B"/>
                            </a:solidFill>
                            <a:latin typeface="Cambria Math" panose="02040503050406030204" pitchFamily="18" charset="0"/>
                          </a:rPr>
                        </m:ctrlPr>
                      </m:sSubSupPr>
                      <m:e>
                        <m:r>
                          <a:rPr lang="es-AR" sz="1400" b="1" i="1">
                            <a:solidFill>
                              <a:srgbClr val="1A3A6B"/>
                            </a:solidFill>
                            <a:latin typeface="Cambria Math" panose="02040503050406030204" pitchFamily="18" charset="0"/>
                          </a:rPr>
                          <m:t>𝒊</m:t>
                        </m:r>
                      </m:e>
                      <m:sub>
                        <m:r>
                          <a:rPr lang="es-AR" sz="1400" b="1" i="1">
                            <a:solidFill>
                              <a:srgbClr val="1A3A6B"/>
                            </a:solidFill>
                            <a:latin typeface="Cambria Math" panose="02040503050406030204" pitchFamily="18" charset="0"/>
                          </a:rPr>
                          <m:t>𝒒𝒔</m:t>
                        </m:r>
                      </m:sub>
                      <m:sup>
                        <m:r>
                          <a:rPr lang="es-AR" sz="1400" b="1" i="1">
                            <a:solidFill>
                              <a:srgbClr val="1A3A6B"/>
                            </a:solidFill>
                            <a:latin typeface="Cambria Math" panose="02040503050406030204" pitchFamily="18" charset="0"/>
                          </a:rPr>
                          <m:t>𝒓</m:t>
                        </m:r>
                      </m:sup>
                    </m:sSubSup>
                    <m:d>
                      <m:dPr>
                        <m:ctrlPr>
                          <a:rPr lang="es-AR" sz="1400" b="1" i="1">
                            <a:solidFill>
                              <a:srgbClr val="1A3A6B"/>
                            </a:solidFill>
                            <a:latin typeface="Cambria Math" panose="02040503050406030204" pitchFamily="18" charset="0"/>
                          </a:rPr>
                        </m:ctrlPr>
                      </m:dPr>
                      <m:e>
                        <m:r>
                          <a:rPr lang="es-AR" sz="1400" b="1" i="1">
                            <a:solidFill>
                              <a:srgbClr val="1A3A6B"/>
                            </a:solidFill>
                            <a:latin typeface="Cambria Math" panose="02040503050406030204" pitchFamily="18" charset="0"/>
                          </a:rPr>
                          <m:t>𝒕</m:t>
                        </m:r>
                      </m:e>
                    </m:d>
                  </m:oMath>
                </a14:m>
                <a:r>
                  <a:rPr lang="es-AR" sz="1400" b="1" dirty="0">
                    <a:solidFill>
                      <a:srgbClr val="1A3A6B"/>
                    </a:solidFill>
                    <a:latin typeface="Calibri"/>
                  </a:rPr>
                  <a:t>:</a:t>
                </a:r>
              </a:p>
            </p:txBody>
          </p:sp>
        </mc:Choice>
        <mc:Fallback xmlns="">
          <p:sp>
            <p:nvSpPr>
              <p:cNvPr id="10" name="TextBox 9"/>
              <p:cNvSpPr txBox="1">
                <a:spLocks noRot="1" noChangeAspect="1" noMove="1" noResize="1" noEditPoints="1" noAdjustHandles="1" noChangeArrowheads="1" noChangeShapeType="1" noTextEdit="1"/>
              </p:cNvSpPr>
              <p:nvPr/>
            </p:nvSpPr>
            <p:spPr>
              <a:xfrm>
                <a:off x="365760" y="3669044"/>
                <a:ext cx="7772400" cy="327077"/>
              </a:xfrm>
              <a:prstGeom prst="rect">
                <a:avLst/>
              </a:prstGeom>
              <a:blipFill>
                <a:blip r:embed="rId3"/>
                <a:stretch>
                  <a:fillRect l="-235" t="-1852" b="-12963"/>
                </a:stretch>
              </a:blipFill>
            </p:spPr>
            <p:txBody>
              <a:bodyPr/>
              <a:lstStyle/>
              <a:p>
                <a:r>
                  <a:rPr lang="es-AR">
                    <a:noFill/>
                  </a:rPr>
                  <a:t> </a:t>
                </a:r>
              </a:p>
            </p:txBody>
          </p:sp>
        </mc:Fallback>
      </mc:AlternateContent>
      <p:graphicFrame>
        <p:nvGraphicFramePr>
          <p:cNvPr id="13" name="Tabla 12">
            <a:extLst>
              <a:ext uri="{FF2B5EF4-FFF2-40B4-BE49-F238E27FC236}">
                <a16:creationId xmlns:a16="http://schemas.microsoft.com/office/drawing/2014/main" id="{1F4B70D8-613F-4731-8293-30C4008554E1}"/>
              </a:ext>
            </a:extLst>
          </p:cNvPr>
          <p:cNvGraphicFramePr>
            <a:graphicFrameLocks noGrp="1"/>
          </p:cNvGraphicFramePr>
          <p:nvPr>
            <p:extLst>
              <p:ext uri="{D42A27DB-BD31-4B8C-83A1-F6EECF244321}">
                <p14:modId xmlns:p14="http://schemas.microsoft.com/office/powerpoint/2010/main" val="4082026142"/>
              </p:ext>
            </p:extLst>
          </p:nvPr>
        </p:nvGraphicFramePr>
        <p:xfrm>
          <a:off x="365760" y="1485027"/>
          <a:ext cx="5937885" cy="2065338"/>
        </p:xfrm>
        <a:graphic>
          <a:graphicData uri="http://schemas.openxmlformats.org/drawingml/2006/table">
            <a:tbl>
              <a:tblPr firstRow="1" firstCol="1" bandRow="1">
                <a:tableStyleId>{5C22544A-7EE6-4342-B048-85BDC9FD1C3A}</a:tableStyleId>
              </a:tblPr>
              <a:tblGrid>
                <a:gridCol w="896967">
                  <a:extLst>
                    <a:ext uri="{9D8B030D-6E8A-4147-A177-3AD203B41FA5}">
                      <a16:colId xmlns:a16="http://schemas.microsoft.com/office/drawing/2014/main" val="3106504092"/>
                    </a:ext>
                  </a:extLst>
                </a:gridCol>
                <a:gridCol w="1259436">
                  <a:extLst>
                    <a:ext uri="{9D8B030D-6E8A-4147-A177-3AD203B41FA5}">
                      <a16:colId xmlns:a16="http://schemas.microsoft.com/office/drawing/2014/main" val="1952677596"/>
                    </a:ext>
                  </a:extLst>
                </a:gridCol>
                <a:gridCol w="723668">
                  <a:extLst>
                    <a:ext uri="{9D8B030D-6E8A-4147-A177-3AD203B41FA5}">
                      <a16:colId xmlns:a16="http://schemas.microsoft.com/office/drawing/2014/main" val="812317229"/>
                    </a:ext>
                  </a:extLst>
                </a:gridCol>
                <a:gridCol w="1437814">
                  <a:extLst>
                    <a:ext uri="{9D8B030D-6E8A-4147-A177-3AD203B41FA5}">
                      <a16:colId xmlns:a16="http://schemas.microsoft.com/office/drawing/2014/main" val="2165237150"/>
                    </a:ext>
                  </a:extLst>
                </a:gridCol>
                <a:gridCol w="1620000">
                  <a:extLst>
                    <a:ext uri="{9D8B030D-6E8A-4147-A177-3AD203B41FA5}">
                      <a16:colId xmlns:a16="http://schemas.microsoft.com/office/drawing/2014/main" val="3890703757"/>
                    </a:ext>
                  </a:extLst>
                </a:gridCol>
              </a:tblGrid>
              <a:tr h="314325">
                <a:tc>
                  <a:txBody>
                    <a:bodyPr/>
                    <a:lstStyle/>
                    <a:p>
                      <a:pPr algn="ctr">
                        <a:lnSpc>
                          <a:spcPct val="107000"/>
                        </a:lnSpc>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dirty="0">
                          <a:effectLst/>
                        </a:rPr>
                        <a:t>Rise time / Fall time (ms)</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(rad/s)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52977077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9.5074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68.2970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22.9710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403.0008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409123112"/>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163.2970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27.1259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387.9859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03911481"/>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4.6359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143.5687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42.2414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414.4037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48523473"/>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8.6422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21.6670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8.6083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751484942"/>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41.7937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-4.6667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531559953"/>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8.7818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221.1544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17.8298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-422.6227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31379804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4.8188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174.4296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27.2786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-392.6159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54282196"/>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20.8746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13.5649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3490017"/>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40.0128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0.0333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703141773"/>
                  </a:ext>
                </a:extLst>
              </a:tr>
            </a:tbl>
          </a:graphicData>
        </a:graphic>
      </p:graphicFrame>
      <p:graphicFrame>
        <p:nvGraphicFramePr>
          <p:cNvPr id="14" name="Tabla 13">
            <a:extLst>
              <a:ext uri="{FF2B5EF4-FFF2-40B4-BE49-F238E27FC236}">
                <a16:creationId xmlns:a16="http://schemas.microsoft.com/office/drawing/2014/main" id="{CB7DB54C-DBB3-4373-B86C-B9E68FFC4667}"/>
              </a:ext>
            </a:extLst>
          </p:cNvPr>
          <p:cNvGraphicFramePr>
            <a:graphicFrameLocks noGrp="1"/>
          </p:cNvGraphicFramePr>
          <p:nvPr>
            <p:extLst>
              <p:ext uri="{D42A27DB-BD31-4B8C-83A1-F6EECF244321}">
                <p14:modId xmlns:p14="http://schemas.microsoft.com/office/powerpoint/2010/main" val="2202876231"/>
              </p:ext>
            </p:extLst>
          </p:nvPr>
        </p:nvGraphicFramePr>
        <p:xfrm>
          <a:off x="365760" y="4079466"/>
          <a:ext cx="5937886" cy="2065338"/>
        </p:xfrm>
        <a:graphic>
          <a:graphicData uri="http://schemas.openxmlformats.org/drawingml/2006/table">
            <a:tbl>
              <a:tblPr firstRow="1" firstCol="1" bandRow="1">
                <a:tableStyleId>{5C22544A-7EE6-4342-B048-85BDC9FD1C3A}</a:tableStyleId>
              </a:tblPr>
              <a:tblGrid>
                <a:gridCol w="838932">
                  <a:extLst>
                    <a:ext uri="{9D8B030D-6E8A-4147-A177-3AD203B41FA5}">
                      <a16:colId xmlns:a16="http://schemas.microsoft.com/office/drawing/2014/main" val="834482735"/>
                    </a:ext>
                  </a:extLst>
                </a:gridCol>
                <a:gridCol w="1316780">
                  <a:extLst>
                    <a:ext uri="{9D8B030D-6E8A-4147-A177-3AD203B41FA5}">
                      <a16:colId xmlns:a16="http://schemas.microsoft.com/office/drawing/2014/main" val="2017278083"/>
                    </a:ext>
                  </a:extLst>
                </a:gridCol>
                <a:gridCol w="723436">
                  <a:extLst>
                    <a:ext uri="{9D8B030D-6E8A-4147-A177-3AD203B41FA5}">
                      <a16:colId xmlns:a16="http://schemas.microsoft.com/office/drawing/2014/main" val="2706014966"/>
                    </a:ext>
                  </a:extLst>
                </a:gridCol>
                <a:gridCol w="1431007">
                  <a:extLst>
                    <a:ext uri="{9D8B030D-6E8A-4147-A177-3AD203B41FA5}">
                      <a16:colId xmlns:a16="http://schemas.microsoft.com/office/drawing/2014/main" val="1613901583"/>
                    </a:ext>
                  </a:extLst>
                </a:gridCol>
                <a:gridCol w="1627731">
                  <a:extLst>
                    <a:ext uri="{9D8B030D-6E8A-4147-A177-3AD203B41FA5}">
                      <a16:colId xmlns:a16="http://schemas.microsoft.com/office/drawing/2014/main" val="2576538303"/>
                    </a:ext>
                  </a:extLst>
                </a:gridCol>
              </a:tblGrid>
              <a:tr h="190500">
                <a:tc>
                  <a:txBody>
                    <a:bodyPr/>
                    <a:lstStyle/>
                    <a:p>
                      <a:pPr algn="ctr">
                        <a:lnSpc>
                          <a:spcPct val="107000"/>
                        </a:lnSpc>
                        <a:spcBef>
                          <a:spcPts val="600"/>
                        </a:spcBef>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a:effectLst/>
                        </a:rPr>
                        <a:t>Rise time / Fall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(A)</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11855065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3897.8249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0.2846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54195073"/>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164.2970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8.7578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1.1150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880361233"/>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138.5687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20.8922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-0.3366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36761076"/>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119.5923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8568.3973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-0.4693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21564180"/>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21.2329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0.2543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398590368"/>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328.0817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0.7804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35212612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173.4296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9.5889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-0.8365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644914324"/>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156.1454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9573.6190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-0.7250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502550"/>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20.6650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-0.0023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490370899"/>
                  </a:ext>
                </a:extLst>
              </a:tr>
            </a:tbl>
          </a:graphicData>
        </a:graphic>
      </p:graphicFrame>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22E726C7-604A-458C-887A-7B7BD01D6C78}"/>
                  </a:ext>
                </a:extLst>
              </p:cNvPr>
              <p:cNvSpPr txBox="1"/>
              <p:nvPr/>
            </p:nvSpPr>
            <p:spPr>
              <a:xfrm>
                <a:off x="6385562" y="1414847"/>
                <a:ext cx="5694128" cy="4357155"/>
              </a:xfrm>
              <a:prstGeom prst="rect">
                <a:avLst/>
              </a:prstGeom>
              <a:noFill/>
            </p:spPr>
            <p:txBody>
              <a:bodyPr wrap="square">
                <a:spAutoFit/>
              </a:bodyPr>
              <a:lstStyle/>
              <a:p>
                <a:r>
                  <a:rPr lang="es-MX" sz="1600" b="1" dirty="0">
                    <a:solidFill>
                      <a:schemeClr val="tx1"/>
                    </a:solidFill>
                  </a:rPr>
                  <a:t>Observaciones — Velocidad y corriente de establecimiento</a:t>
                </a:r>
              </a:p>
              <a:p>
                <a:endParaRPr lang="es-MX" sz="1600" dirty="0">
                  <a:solidFill>
                    <a:schemeClr val="tx1"/>
                  </a:solidFill>
                </a:endParaRPr>
              </a:p>
              <a:p>
                <a:pPr>
                  <a:buFont typeface="Arial" panose="020B0604020202020204" pitchFamily="34" charset="0"/>
                  <a:buChar char="•"/>
                </a:pPr>
                <a14:m>
                  <m:oMath xmlns:m="http://schemas.openxmlformats.org/officeDocument/2006/math">
                    <m:sSubSup>
                      <m:sSubSupPr>
                        <m:ctrlPr>
                          <a:rPr lang="es-AR" sz="1600" b="1" i="1" smtClean="0">
                            <a:solidFill>
                              <a:schemeClr val="tx1"/>
                            </a:solidFill>
                            <a:effectLst/>
                            <a:latin typeface="Cambria Math" panose="02040503050406030204" pitchFamily="18" charset="0"/>
                          </a:rPr>
                        </m:ctrlPr>
                      </m:sSubSup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𝒒𝒔</m:t>
                        </m:r>
                      </m:sub>
                      <m:sup>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dirty="0">
                    <a:solidFill>
                      <a:schemeClr val="tx1"/>
                    </a:solidFill>
                  </a:rPr>
                  <a:t> determina la velocidad en RP: los cambios de tensión generan variaciones drásticas en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 0 a ±400 rad/s), con transitorios rápidos y poca afectación de la corriente en régimen.</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14:m>
                  <m:oMath xmlns:m="http://schemas.openxmlformats.org/officeDocument/2006/math">
                    <m:sSub>
                      <m:sSubPr>
                        <m:ctrlPr>
                          <a:rPr lang="es-AR" sz="1600" b="1" i="1" smtClean="0">
                            <a:solidFill>
                              <a:schemeClr val="tx1"/>
                            </a:solidFill>
                            <a:latin typeface="Cambria Math" panose="02040503050406030204" pitchFamily="18" charset="0"/>
                            <a:ea typeface="Calibri" pitchFamily="34" charset="-122"/>
                            <a:cs typeface="Calibri" pitchFamily="34" charset="-120"/>
                          </a:rPr>
                        </m:ctrlPr>
                      </m:sSubPr>
                      <m:e>
                        <m:r>
                          <a:rPr lang="es-AR" sz="1600" b="1" i="1">
                            <a:solidFill>
                              <a:schemeClr val="tx1"/>
                            </a:solidFill>
                            <a:latin typeface="Cambria Math" panose="02040503050406030204" pitchFamily="18" charset="0"/>
                            <a:ea typeface="Calibri" pitchFamily="34" charset="-122"/>
                            <a:cs typeface="Calibri" pitchFamily="34" charset="-120"/>
                          </a:rPr>
                          <m:t>𝑻</m:t>
                        </m:r>
                      </m:e>
                      <m:sub>
                        <m:r>
                          <a:rPr lang="es-MX" sz="1600" b="1" i="1" smtClean="0">
                            <a:solidFill>
                              <a:schemeClr val="tx1"/>
                            </a:solidFill>
                            <a:latin typeface="Cambria Math" panose="02040503050406030204" pitchFamily="18" charset="0"/>
                            <a:ea typeface="Calibri" pitchFamily="34" charset="-122"/>
                            <a:cs typeface="Calibri" pitchFamily="34" charset="-120"/>
                          </a:rPr>
                          <m:t>𝒍</m:t>
                        </m:r>
                      </m:sub>
                    </m:sSub>
                  </m:oMath>
                </a14:m>
                <a:r>
                  <a:rPr lang="es-MX" sz="1600" b="1" dirty="0">
                    <a:solidFill>
                      <a:schemeClr val="tx1"/>
                    </a:solidFill>
                  </a:rPr>
                  <a:t> </a:t>
                </a:r>
                <a:r>
                  <a:rPr lang="es-MX" sz="1600" dirty="0">
                    <a:solidFill>
                      <a:schemeClr val="tx1"/>
                    </a:solidFill>
                  </a:rPr>
                  <a:t>determina la corriente en RP: las perturbaciones de carga generan sobre picos de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del 20–40% pero sin cambio drástico en el valor final; en cambio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varía de ±0.3 A </a:t>
                </a:r>
                <a:r>
                  <a:rPr lang="es-MX" sz="1600" dirty="0" err="1">
                    <a:solidFill>
                      <a:schemeClr val="tx1"/>
                    </a:solidFill>
                  </a:rPr>
                  <a:t>a</a:t>
                </a:r>
                <a:r>
                  <a:rPr lang="es-MX" sz="1600" dirty="0">
                    <a:solidFill>
                      <a:schemeClr val="tx1"/>
                    </a:solidFill>
                  </a:rPr>
                  <a:t> ±1 A para compensar el esfuerzo mecánico.</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Picos eléctricos ante cambios de tensión: </a:t>
                </a:r>
                <a14:m>
                  <m:oMath xmlns:m="http://schemas.openxmlformats.org/officeDocument/2006/math">
                    <m:sSubSup>
                      <m:sSubSupPr>
                        <m:ctrlPr>
                          <a:rPr lang="es-AR" sz="1600" i="1" smtClean="0">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presenta picos transitorios &gt;10 A asociados a la dinámica eléctrica.</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Coherencia con la teoría: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solidFill>
                      <a:schemeClr val="tx1"/>
                    </a:solidFill>
                  </a:rPr>
                  <a:t> fija la velocidad en régimen permanente; </a:t>
                </a:r>
                <a14:m>
                  <m:oMath xmlns:m="http://schemas.openxmlformats.org/officeDocument/2006/math">
                    <m:sSub>
                      <m:sSubPr>
                        <m:ctrlPr>
                          <a:rPr lang="es-AR" sz="1600" i="1" smtClean="0">
                            <a:solidFill>
                              <a:schemeClr val="tx1"/>
                            </a:solidFill>
                            <a:latin typeface="Cambria Math" panose="02040503050406030204" pitchFamily="18" charset="0"/>
                            <a:ea typeface="Calibri" pitchFamily="34" charset="-122"/>
                            <a:cs typeface="Calibri" pitchFamily="34" charset="-120"/>
                          </a:rPr>
                        </m:ctrlPr>
                      </m:sSubPr>
                      <m:e>
                        <m:r>
                          <a:rPr lang="es-AR" sz="1600" b="0" i="1">
                            <a:solidFill>
                              <a:schemeClr val="tx1"/>
                            </a:solidFill>
                            <a:latin typeface="Cambria Math" panose="02040503050406030204" pitchFamily="18" charset="0"/>
                            <a:ea typeface="Calibri" pitchFamily="34" charset="-122"/>
                            <a:cs typeface="Calibri" pitchFamily="34" charset="-120"/>
                          </a:rPr>
                          <m:t>𝑇</m:t>
                        </m:r>
                      </m:e>
                      <m:sub>
                        <m:r>
                          <a:rPr lang="es-MX" sz="1600" b="0" i="1" smtClean="0">
                            <a:solidFill>
                              <a:schemeClr val="tx1"/>
                            </a:solidFill>
                            <a:latin typeface="Cambria Math" panose="02040503050406030204" pitchFamily="18" charset="0"/>
                            <a:ea typeface="Calibri" pitchFamily="34" charset="-122"/>
                            <a:cs typeface="Calibri" pitchFamily="34" charset="-120"/>
                          </a:rPr>
                          <m:t>𝑙𝑑</m:t>
                        </m:r>
                      </m:sub>
                    </m:sSub>
                  </m:oMath>
                </a14:m>
                <a:r>
                  <a:rPr lang="es-MX" sz="1600" dirty="0">
                    <a:solidFill>
                      <a:schemeClr val="tx1"/>
                    </a:solidFill>
                  </a:rPr>
                  <a:t> modifica el torque requerido y, por ende, la corriente, manteniendo el equilibrio dinámico.</a:t>
                </a:r>
              </a:p>
            </p:txBody>
          </p:sp>
        </mc:Choice>
        <mc:Fallback>
          <p:sp>
            <p:nvSpPr>
              <p:cNvPr id="16" name="CuadroTexto 15">
                <a:extLst>
                  <a:ext uri="{FF2B5EF4-FFF2-40B4-BE49-F238E27FC236}">
                    <a16:creationId xmlns:a16="http://schemas.microsoft.com/office/drawing/2014/main" id="{22E726C7-604A-458C-887A-7B7BD01D6C78}"/>
                  </a:ext>
                </a:extLst>
              </p:cNvPr>
              <p:cNvSpPr txBox="1">
                <a:spLocks noRot="1" noChangeAspect="1" noMove="1" noResize="1" noEditPoints="1" noAdjustHandles="1" noChangeArrowheads="1" noChangeShapeType="1" noTextEdit="1"/>
              </p:cNvSpPr>
              <p:nvPr/>
            </p:nvSpPr>
            <p:spPr>
              <a:xfrm>
                <a:off x="6385562" y="1414847"/>
                <a:ext cx="5694128" cy="4357155"/>
              </a:xfrm>
              <a:prstGeom prst="rect">
                <a:avLst/>
              </a:prstGeom>
              <a:blipFill>
                <a:blip r:embed="rId4"/>
                <a:stretch>
                  <a:fillRect l="-642" t="-420" r="-1178" b="-839"/>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0C141F22-F7EB-4D51-9B98-6F1FC6853F8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ADD542E5-309A-4DD4-A463-49CEAD352D9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5091009" cy="415498"/>
          </a:xfrm>
          <a:prstGeom prst="rect">
            <a:avLst/>
          </a:prstGeom>
          <a:noFill/>
        </p:spPr>
        <p:txBody>
          <a:bodyPr wrap="none">
            <a:spAutoFit/>
          </a:bodyPr>
          <a:lstStyle/>
          <a:p>
            <a:pPr algn="l"/>
            <a:r>
              <a:rPr lang="es-MX" sz="2100" b="1" dirty="0">
                <a:solidFill>
                  <a:srgbClr val="FFFFFF"/>
                </a:solidFill>
                <a:latin typeface="Cambria"/>
              </a:rPr>
              <a:t>Comportamiento de la corriente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1106200"/>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En las siguientes figuras, se muestra la evolución de la corriente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cs typeface="Calibri" panose="020F0502020204030204" pitchFamily="34" charset="0"/>
                  </a:rPr>
                  <a:t>​ al imponer condiciones iniciales distintas de cero, específicamente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=±0.5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𝐴</m:t>
                    </m:r>
                  </m:oMath>
                </a14:m>
                <a:r>
                  <a:rPr lang="es-AR" sz="1400" dirty="0">
                    <a:effectLst/>
                    <a:latin typeface="Calibri" panose="020F0502020204030204" pitchFamily="34" charset="0"/>
                    <a:ea typeface="Calibri" panose="020F0502020204030204" pitchFamily="34" charset="0"/>
                    <a:cs typeface="Calibri" panose="020F0502020204030204" pitchFamily="34" charset="0"/>
                  </a:rPr>
                  <a:t>, manteniendo el resto de las variables del sistema sin modificación.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observa que, en ambos casos, la corriente converge rápidamente hacia cero, sin presentar oscilaciones significativas ni comportamiento inestable. La respuesta es monótona y de tipo exponencial decreciente, lo cual indica que la dinámica asociada al eje </a:t>
                </a:r>
                <a14:m>
                  <m:oMath xmlns:m="http://schemas.openxmlformats.org/officeDocument/2006/math">
                    <m:r>
                      <a:rPr lang="es-AR" sz="1400" i="1">
                        <a:effectLst/>
                        <a:latin typeface="Cambria Math" panose="02040503050406030204" pitchFamily="18" charset="0"/>
                        <a:ea typeface="Calibri" panose="020F0502020204030204" pitchFamily="34" charset="0"/>
                        <a:cs typeface="Calibri" panose="020F0502020204030204" pitchFamily="34" charset="0"/>
                      </a:rPr>
                      <m:t>𝑑</m:t>
                    </m:r>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a:t>
                </a:r>
                <a:r>
                  <a:rPr lang="es-AR" sz="1400" dirty="0">
                    <a:effectLst/>
                    <a:latin typeface="Calibri" panose="020F0502020204030204" pitchFamily="34" charset="0"/>
                    <a:ea typeface="Calibri" panose="020F0502020204030204" pitchFamily="34" charset="0"/>
                    <a:cs typeface="Calibri" panose="020F0502020204030204" pitchFamily="34" charset="0"/>
                  </a:rPr>
                  <a:t>se encuentra adecuadamente amortiguada.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1106200"/>
              </a:xfrm>
              <a:prstGeom prst="rect">
                <a:avLst/>
              </a:prstGeom>
              <a:blipFill>
                <a:blip r:embed="rId2"/>
                <a:stretch>
                  <a:fillRect l="-153" t="-552" r="-102" b="-497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892780" y="5545743"/>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27—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=+0.5 </m:t>
                    </m:r>
                    <m:r>
                      <a:rPr lang="es-AR">
                        <a:latin typeface="Cambria Math" panose="02040503050406030204" pitchFamily="18" charset="0"/>
                      </a:rPr>
                      <m:t>𝐴</m:t>
                    </m:r>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892780" y="5545743"/>
                <a:ext cx="3613212" cy="262059"/>
              </a:xfrm>
              <a:prstGeom prst="rect">
                <a:avLst/>
              </a:prstGeom>
              <a:blipFill>
                <a:blip r:embed="rId3"/>
                <a:stretch>
                  <a:fillRect b="-16279"/>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1D4225B-05D0-4C50-B734-A8243D701FD1}"/>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281699" y="1853393"/>
            <a:ext cx="4485610" cy="3615251"/>
          </a:xfrm>
          <a:prstGeom prst="rect">
            <a:avLst/>
          </a:prstGeom>
          <a:noFill/>
          <a:ln>
            <a:noFill/>
          </a:ln>
        </p:spPr>
      </p:pic>
      <p:pic>
        <p:nvPicPr>
          <p:cNvPr id="22" name="Imagen 21">
            <a:extLst>
              <a:ext uri="{FF2B5EF4-FFF2-40B4-BE49-F238E27FC236}">
                <a16:creationId xmlns:a16="http://schemas.microsoft.com/office/drawing/2014/main" id="{0218D3F0-DF36-4D45-9DD6-18EC58268BA7}"/>
              </a:ext>
            </a:extLst>
          </p:cNvPr>
          <p:cNvPicPr/>
          <p:nvPr/>
        </p:nvPicPr>
        <p:blipFill>
          <a:blip r:embed="rId5">
            <a:extLst>
              <a:ext uri="{28A0092B-C50C-407E-A947-70E740481C1C}">
                <a14:useLocalDpi xmlns:a14="http://schemas.microsoft.com/office/drawing/2010/main" val="0"/>
              </a:ext>
            </a:extLst>
          </a:blip>
          <a:stretch>
            <a:fillRect/>
          </a:stretch>
        </p:blipFill>
        <p:spPr bwMode="auto">
          <a:xfrm>
            <a:off x="4895127" y="1891942"/>
            <a:ext cx="4833681" cy="3615251"/>
          </a:xfrm>
          <a:prstGeom prst="rect">
            <a:avLst/>
          </a:prstGeom>
          <a:noFill/>
          <a:ln>
            <a:noFill/>
          </a:ln>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5879404" y="5546192"/>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28—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MX" b="0" i="1" smtClean="0">
                        <a:latin typeface="Cambria Math" panose="02040503050406030204" pitchFamily="18" charset="0"/>
                      </a:rPr>
                      <m:t>−</m:t>
                    </m:r>
                    <m:r>
                      <a:rPr lang="es-AR">
                        <a:latin typeface="Cambria Math" panose="02040503050406030204" pitchFamily="18" charset="0"/>
                      </a:rPr>
                      <m:t>0.5 </m:t>
                    </m:r>
                    <m:r>
                      <a:rPr lang="es-AR">
                        <a:latin typeface="Cambria Math" panose="02040503050406030204" pitchFamily="18" charset="0"/>
                      </a:rPr>
                      <m:t>𝐴</m:t>
                    </m:r>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5879404" y="5546192"/>
                <a:ext cx="3613212"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E4FF14AB-BB78-408D-95E3-BC8E15106A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7FBEB7B7-F20F-46A1-838A-B4A405BE833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0256994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739305"/>
              </a:xfrm>
              <a:prstGeom prst="rect">
                <a:avLst/>
              </a:prstGeom>
              <a:noFill/>
            </p:spPr>
            <p:txBody>
              <a:bodyPr wrap="square">
                <a:spAutoFit/>
              </a:bodyPr>
              <a:lstStyle/>
              <a:p>
                <a:r>
                  <a:rPr lang="es-AR" sz="1400" dirty="0"/>
                  <a:t>Como se observa en las ecuaciones del subsistema electromagnético, la aplicación de una consigna de tensión en el eje directo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oMath>
                </a14:m>
                <a:r>
                  <a:rPr lang="es-AR" sz="1400" dirty="0"/>
                  <a:t>​ modifica el flujo magnético del estator. Un incremento en esta tensión produce un reforzamiento del campo magnético, mientras que una disminución genera un debilitamiento del mismo. Debido al acoplamiento electromecánico del motor, estas variaciones impactan directamente en la velocidad angular y en el torque desarrollado.</a:t>
                </a: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739305"/>
              </a:xfrm>
              <a:prstGeom prst="rect">
                <a:avLst/>
              </a:prstGeom>
              <a:blipFill>
                <a:blip r:embed="rId3"/>
                <a:stretch>
                  <a:fillRect l="-153" t="-1653" r="-102" b="-743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4717866" y="6028092"/>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29—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4717866" y="6028092"/>
                <a:ext cx="3613212" cy="262059"/>
              </a:xfrm>
              <a:prstGeom prst="rect">
                <a:avLst/>
              </a:prstGeom>
              <a:blipFill>
                <a:blip r:embed="rId4"/>
                <a:stretch>
                  <a:fillRect b="-16279"/>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447B6626-323B-498D-9AA8-01F6EEBF3E6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3907" y="1906538"/>
            <a:ext cx="11218968" cy="4027537"/>
          </a:xfrm>
          <a:prstGeom prst="rect">
            <a:avLst/>
          </a:prstGeom>
          <a:noFill/>
          <a:ln>
            <a:noFill/>
          </a:ln>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069B695-941F-4C10-9C30-81414F32F5C7}"/>
                  </a:ext>
                </a:extLst>
              </p:cNvPr>
              <p:cNvSpPr txBox="1"/>
              <p:nvPr/>
            </p:nvSpPr>
            <p:spPr>
              <a:xfrm>
                <a:off x="153881" y="1486499"/>
                <a:ext cx="9380644" cy="307777"/>
              </a:xfrm>
              <a:prstGeom prst="rect">
                <a:avLst/>
              </a:prstGeom>
              <a:noFill/>
            </p:spPr>
            <p:txBody>
              <a:bodyPr wrap="square">
                <a:spAutoFit/>
              </a:bodyPr>
              <a:lstStyle/>
              <a:p>
                <a:r>
                  <a:rPr lang="es-AR" sz="1400" dirty="0">
                    <a:solidFill>
                      <a:schemeClr val="tx1"/>
                    </a:solidFill>
                    <a:effectLst/>
                    <a:latin typeface="Calibri" panose="020F0502020204030204" pitchFamily="34" charset="0"/>
                    <a:ea typeface="Calibri" panose="020F0502020204030204" pitchFamily="34" charset="0"/>
                  </a:rPr>
                  <a:t>Para analizar este efecto se aplicó una consigna escalón </a:t>
                </a:r>
                <a14:m>
                  <m:oMath xmlns:m="http://schemas.openxmlformats.org/officeDocument/2006/math">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9596</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𝑉𝑐𝑐</m:t>
                    </m:r>
                  </m:oMath>
                </a14:m>
                <a:r>
                  <a:rPr lang="es-AR" sz="1400" dirty="0">
                    <a:solidFill>
                      <a:schemeClr val="tx1"/>
                    </a:solidFill>
                    <a:effectLst/>
                    <a:latin typeface="Calibri" panose="020F0502020204030204" pitchFamily="34" charset="0"/>
                    <a:ea typeface="Calibri" panose="020F0502020204030204" pitchFamily="34" charset="0"/>
                  </a:rPr>
                  <a:t> ​en </a:t>
                </a:r>
                <a14:m>
                  <m:oMath xmlns:m="http://schemas.openxmlformats.org/officeDocument/2006/math">
                    <m:r>
                      <a:rPr lang="es-AR" sz="1400" i="1">
                        <a:solidFill>
                          <a:schemeClr val="tx1"/>
                        </a:solidFill>
                        <a:latin typeface="Cambria Math" panose="02040503050406030204" pitchFamily="18" charset="0"/>
                      </a:rPr>
                      <m:t>𝑡</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5</m:t>
                    </m:r>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𝑠</m:t>
                    </m:r>
                  </m:oMath>
                </a14:m>
                <a:endParaRPr lang="es-AR" sz="1400" dirty="0">
                  <a:solidFill>
                    <a:schemeClr val="tx1"/>
                  </a:solidFill>
                </a:endParaRPr>
              </a:p>
            </p:txBody>
          </p:sp>
        </mc:Choice>
        <mc:Fallback xmlns="">
          <p:sp>
            <p:nvSpPr>
              <p:cNvPr id="13" name="CuadroTexto 12">
                <a:extLst>
                  <a:ext uri="{FF2B5EF4-FFF2-40B4-BE49-F238E27FC236}">
                    <a16:creationId xmlns:a16="http://schemas.microsoft.com/office/drawing/2014/main" id="{E069B695-941F-4C10-9C30-81414F32F5C7}"/>
                  </a:ext>
                </a:extLst>
              </p:cNvPr>
              <p:cNvSpPr txBox="1">
                <a:spLocks noRot="1" noChangeAspect="1" noMove="1" noResize="1" noEditPoints="1" noAdjustHandles="1" noChangeArrowheads="1" noChangeShapeType="1" noTextEdit="1"/>
              </p:cNvSpPr>
              <p:nvPr/>
            </p:nvSpPr>
            <p:spPr>
              <a:xfrm>
                <a:off x="153881" y="1486499"/>
                <a:ext cx="9380644" cy="307777"/>
              </a:xfrm>
              <a:prstGeom prst="rect">
                <a:avLst/>
              </a:prstGeom>
              <a:blipFill>
                <a:blip r:embed="rId6"/>
                <a:stretch>
                  <a:fillRect l="-195" t="-4000" b="-20000"/>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BBE4DB17-AF0A-4661-B7DE-830302ECB74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0D9FE4DC-D15D-4403-BF49-65E139591E3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195824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4869709" y="5423125"/>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30—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4869709" y="5423125"/>
                <a:ext cx="3613212"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8F9EA927-07BE-4441-976A-0DA54EBF50E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6078" y="849029"/>
            <a:ext cx="10414847" cy="4456396"/>
          </a:xfrm>
          <a:prstGeom prst="rect">
            <a:avLst/>
          </a:prstGeom>
          <a:noFill/>
          <a:ln>
            <a:noFill/>
          </a:ln>
        </p:spPr>
      </p:pic>
      <p:sp>
        <p:nvSpPr>
          <p:cNvPr id="8" name="Shape 2">
            <a:extLst>
              <a:ext uri="{FF2B5EF4-FFF2-40B4-BE49-F238E27FC236}">
                <a16:creationId xmlns:a16="http://schemas.microsoft.com/office/drawing/2014/main" id="{063FFE7D-A6E3-4CC1-B323-C85423966D0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F90C6B3C-720B-46E6-B974-5CB64BAD75B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042340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399" y="2144845"/>
            <a:ext cx="10362895" cy="1138773"/>
          </a:xfrm>
          <a:prstGeom prst="rect">
            <a:avLst/>
          </a:prstGeom>
          <a:noFill/>
        </p:spPr>
        <p:txBody>
          <a:bodyPr wrap="square">
            <a:spAutoFit/>
          </a:bodyPr>
          <a:lstStyle/>
          <a:p>
            <a:pPr algn="ctr"/>
            <a:r>
              <a:rPr lang="es-AR" sz="3400" b="1" dirty="0">
                <a:solidFill>
                  <a:srgbClr val="FFFFFF"/>
                </a:solidFill>
                <a:latin typeface="Cambria"/>
              </a:rPr>
              <a:t>Controlador de movimiento en cascada con modulador de torque equivalente</a:t>
            </a:r>
          </a:p>
        </p:txBody>
      </p:sp>
      <p:sp>
        <p:nvSpPr>
          <p:cNvPr id="4" name="Shape 4">
            <a:extLst>
              <a:ext uri="{FF2B5EF4-FFF2-40B4-BE49-F238E27FC236}">
                <a16:creationId xmlns:a16="http://schemas.microsoft.com/office/drawing/2014/main" id="{48310B8E-CE7E-4936-AE50-D6846DB98121}"/>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7822"/>
            <a:ext cx="4483600" cy="415498"/>
          </a:xfrm>
          <a:prstGeom prst="rect">
            <a:avLst/>
          </a:prstGeom>
          <a:noFill/>
        </p:spPr>
        <p:txBody>
          <a:bodyPr wrap="none">
            <a:spAutoFit/>
          </a:bodyPr>
          <a:lstStyle/>
          <a:p>
            <a:pPr algn="l"/>
            <a:r>
              <a:rPr lang="es-AR" sz="2100" b="1" dirty="0">
                <a:solidFill>
                  <a:srgbClr val="FFFFFF"/>
                </a:solidFill>
                <a:latin typeface="Cambria"/>
              </a:rPr>
              <a:t>Arquitectura de control en cascada</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46 / ~75</a:t>
            </a:r>
          </a:p>
        </p:txBody>
      </p:sp>
      <p:sp>
        <p:nvSpPr>
          <p:cNvPr id="7" name="TextBox 6"/>
          <p:cNvSpPr txBox="1"/>
          <p:nvPr/>
        </p:nvSpPr>
        <p:spPr>
          <a:xfrm>
            <a:off x="320040" y="777240"/>
            <a:ext cx="11430000" cy="338554"/>
          </a:xfrm>
          <a:prstGeom prst="rect">
            <a:avLst/>
          </a:prstGeom>
          <a:noFill/>
        </p:spPr>
        <p:txBody>
          <a:bodyPr wrap="square">
            <a:spAutoFit/>
          </a:bodyPr>
          <a:lstStyle/>
          <a:p>
            <a:pPr algn="l"/>
            <a:r>
              <a:rPr lang="es-AR" sz="1600" b="0" i="0" u="sng" dirty="0">
                <a:solidFill>
                  <a:srgbClr val="1A1A2E"/>
                </a:solidFill>
                <a:latin typeface="Calibri"/>
              </a:rPr>
              <a:t>Se adopta una estructura de control en cascada con dos niveles jerárquicos:</a:t>
            </a:r>
          </a:p>
        </p:txBody>
      </p:sp>
      <p:sp>
        <p:nvSpPr>
          <p:cNvPr id="8" name="TextBox 7"/>
          <p:cNvSpPr txBox="1"/>
          <p:nvPr/>
        </p:nvSpPr>
        <p:spPr>
          <a:xfrm>
            <a:off x="487375" y="1290286"/>
            <a:ext cx="11430000" cy="1395254"/>
          </a:xfrm>
          <a:prstGeom prst="rect">
            <a:avLst/>
          </a:prstGeom>
          <a:noFill/>
        </p:spPr>
        <p:txBody>
          <a:bodyPr wrap="square">
            <a:spAutoFit/>
          </a:bodyPr>
          <a:lstStyle/>
          <a:p>
            <a:pPr marL="285750" indent="-285750">
              <a:buFont typeface="Arial" panose="020B0604020202020204" pitchFamily="34" charset="0"/>
              <a:buChar char="•"/>
            </a:pPr>
            <a:r>
              <a:rPr lang="es-AR" sz="1600" b="1" dirty="0">
                <a:latin typeface="Calibri"/>
              </a:rPr>
              <a:t>Lazo interno (modulador de torque):  </a:t>
            </a:r>
            <a:r>
              <a:rPr lang="es-AR" sz="1600" dirty="0">
                <a:latin typeface="Calibri"/>
              </a:rPr>
              <a:t>regula rápidamente las variables eléctricas (corrientes) para seguir una consigna de torque</a:t>
            </a:r>
          </a:p>
          <a:p>
            <a:pPr marL="285750" indent="-285750">
              <a:buFont typeface="Arial" panose="020B0604020202020204" pitchFamily="34" charset="0"/>
              <a:buChar char="•"/>
            </a:pPr>
            <a:endParaRPr lang="es-AR" sz="1600" b="1" dirty="0">
              <a:latin typeface="Calibri"/>
            </a:endParaRPr>
          </a:p>
          <a:p>
            <a:pPr marL="285750" indent="-285750">
              <a:spcBef>
                <a:spcPts val="400"/>
              </a:spcBef>
              <a:buFont typeface="Arial" panose="020B0604020202020204" pitchFamily="34" charset="0"/>
              <a:buChar char="•"/>
            </a:pPr>
            <a:r>
              <a:rPr lang="es-AR" sz="1600" b="1" dirty="0">
                <a:latin typeface="Calibri"/>
              </a:rPr>
              <a:t>Lazo externo (PID de movimiento):  </a:t>
            </a:r>
            <a:r>
              <a:rPr lang="es-AR" sz="1600" dirty="0">
                <a:latin typeface="Calibri"/>
              </a:rPr>
              <a:t>genera consignas de torque para seguir la referencia de posición/velocidad. Éstas son aplicadas al lazo interno.</a:t>
            </a:r>
          </a:p>
          <a:p>
            <a:pPr marL="285750" indent="-285750">
              <a:spcBef>
                <a:spcPts val="400"/>
              </a:spcBef>
              <a:buFont typeface="Arial" panose="020B0604020202020204" pitchFamily="34" charset="0"/>
              <a:buChar char="•"/>
            </a:pPr>
            <a:endParaRPr lang="es-AR" sz="1400" b="1" dirty="0">
              <a:latin typeface="Calibri"/>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E2D4AFC-E308-4676-A366-47E0821BF784}"/>
                  </a:ext>
                </a:extLst>
              </p:cNvPr>
              <p:cNvSpPr txBox="1"/>
              <p:nvPr/>
            </p:nvSpPr>
            <p:spPr>
              <a:xfrm>
                <a:off x="365760" y="2689165"/>
                <a:ext cx="11217250" cy="2496133"/>
              </a:xfrm>
              <a:prstGeom prst="rect">
                <a:avLst/>
              </a:prstGeom>
              <a:noFill/>
            </p:spPr>
            <p:txBody>
              <a:bodyPr wrap="square">
                <a:spAutoFit/>
              </a:bodyPr>
              <a:lstStyle/>
              <a:p>
                <a:pPr algn="just">
                  <a:lnSpc>
                    <a:spcPct val="107000"/>
                  </a:lnSpc>
                  <a:spcBef>
                    <a:spcPts val="400"/>
                  </a:spcBef>
                  <a:spcAft>
                    <a:spcPts val="400"/>
                  </a:spcAft>
                </a:pPr>
                <a:r>
                  <a:rPr lang="es-AR" sz="1600" u="sng" dirty="0">
                    <a:solidFill>
                      <a:srgbClr val="1A1A2E"/>
                    </a:solidFill>
                    <a:latin typeface="Calibri"/>
                  </a:rPr>
                  <a:t>El sistema de control propuesto se compone de los siguientes bloques principales:</a:t>
                </a:r>
              </a:p>
              <a:p>
                <a:pPr marL="34290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torque: </a:t>
                </a:r>
                <a:r>
                  <a:rPr lang="es-AR" sz="1600" dirty="0">
                    <a:latin typeface="Calibri"/>
                  </a:rPr>
                  <a:t>encargado de transformar las consignas de torque en señales de tensión equivalentes que actúan sobre la máquina.</a:t>
                </a:r>
                <a:r>
                  <a:rPr lang="es-AR" sz="1600" dirty="0">
                    <a:latin typeface="Calibri" panose="020F0502020204030204" pitchFamily="34" charset="0"/>
                    <a:ea typeface="Calibri" panose="020F0502020204030204" pitchFamily="34" charset="0"/>
                  </a:rPr>
                  <a:t> Se basa en el modelo dinámico linealizado del sistema expresado en el marco de referencia </a:t>
                </a:r>
                <a14:m>
                  <m:oMath xmlns:m="http://schemas.openxmlformats.org/officeDocument/2006/math">
                    <m:sSup>
                      <m:sSupPr>
                        <m:ctrlPr>
                          <a:rPr lang="es-AR" sz="1600" i="1">
                            <a:latin typeface="Cambria Math" panose="02040503050406030204" pitchFamily="18" charset="0"/>
                            <a:ea typeface="Calibri" panose="020F0502020204030204" pitchFamily="34" charset="0"/>
                          </a:rPr>
                        </m:ctrlPr>
                      </m:sSupPr>
                      <m:e>
                        <m:r>
                          <a:rPr lang="es-AR" sz="1600">
                            <a:latin typeface="Cambria Math" panose="02040503050406030204" pitchFamily="18" charset="0"/>
                            <a:ea typeface="Calibri" panose="020F0502020204030204" pitchFamily="34" charset="0"/>
                          </a:rPr>
                          <m:t>𝑞𝑑</m:t>
                        </m:r>
                        <m:r>
                          <a:rPr lang="es-AR" sz="1600">
                            <a:latin typeface="Cambria Math" panose="02040503050406030204" pitchFamily="18" charset="0"/>
                            <a:ea typeface="Calibri" panose="020F0502020204030204" pitchFamily="34" charset="0"/>
                          </a:rPr>
                          <m:t>0</m:t>
                        </m:r>
                      </m:e>
                      <m:sup>
                        <m:r>
                          <a:rPr lang="es-AR" sz="1600">
                            <a:latin typeface="Cambria Math" panose="02040503050406030204" pitchFamily="18" charset="0"/>
                            <a:ea typeface="Calibri" panose="020F0502020204030204" pitchFamily="34" charset="0"/>
                          </a:rPr>
                          <m:t>𝑟</m:t>
                        </m:r>
                      </m:sup>
                    </m:sSup>
                  </m:oMath>
                </a14:m>
                <a:r>
                  <a:rPr lang="es-AR" sz="1600" dirty="0">
                    <a:latin typeface="Calibri" panose="020F0502020204030204" pitchFamily="34" charset="0"/>
                    <a:ea typeface="Calibri" panose="020F0502020204030204" pitchFamily="34" charset="0"/>
                  </a:rPr>
                  <a:t>, lo que permite relacionar directamente las variables eléctricas con el torque electromagnético desarrollado por la máquina.</a:t>
                </a:r>
                <a:endParaRPr lang="es-AR" sz="1600" dirty="0">
                  <a:latin typeface="Calibri"/>
                </a:endParaRP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tensión: </a:t>
                </a:r>
                <a:r>
                  <a:rPr lang="es-AR" sz="1600" dirty="0">
                    <a:latin typeface="Calibri"/>
                  </a:rPr>
                  <a:t>convierte las consignas de tensión generadas por el controlador en valores efectivos aplicados a los terminales del motor mediante el inversor.</a:t>
                </a: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Controlador de movimiento PID: </a:t>
                </a:r>
                <a:r>
                  <a:rPr lang="es-AR" sz="1600" dirty="0">
                    <a:latin typeface="Calibri"/>
                  </a:rPr>
                  <a:t>genera las consignas de torque necesarias para que el sistema siga un perfil de posición o velocidad especificado.</a:t>
                </a:r>
              </a:p>
            </p:txBody>
          </p:sp>
        </mc:Choice>
        <mc:Fallback xmlns="">
          <p:sp>
            <p:nvSpPr>
              <p:cNvPr id="14" name="CuadroTexto 13">
                <a:extLst>
                  <a:ext uri="{FF2B5EF4-FFF2-40B4-BE49-F238E27FC236}">
                    <a16:creationId xmlns:a16="http://schemas.microsoft.com/office/drawing/2014/main" id="{6E2D4AFC-E308-4676-A366-47E0821BF784}"/>
                  </a:ext>
                </a:extLst>
              </p:cNvPr>
              <p:cNvSpPr txBox="1">
                <a:spLocks noRot="1" noChangeAspect="1" noMove="1" noResize="1" noEditPoints="1" noAdjustHandles="1" noChangeArrowheads="1" noChangeShapeType="1" noTextEdit="1"/>
              </p:cNvSpPr>
              <p:nvPr/>
            </p:nvSpPr>
            <p:spPr>
              <a:xfrm>
                <a:off x="365760" y="2689165"/>
                <a:ext cx="11217250" cy="2496133"/>
              </a:xfrm>
              <a:prstGeom prst="rect">
                <a:avLst/>
              </a:prstGeom>
              <a:blipFill>
                <a:blip r:embed="rId2"/>
                <a:stretch>
                  <a:fillRect l="-272" t="-488" r="-272" b="-2195"/>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2DD9985C-73BA-4B1C-8A2A-B735A3AD1D8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D490DB2B-E035-48A3-983E-EC38E31977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10">
            <a:extLst>
              <a:ext uri="{FF2B5EF4-FFF2-40B4-BE49-F238E27FC236}">
                <a16:creationId xmlns:a16="http://schemas.microsoft.com/office/drawing/2014/main" id="{23CC2208-8D8B-4AB5-B6F9-3F00C577901A}"/>
              </a:ext>
            </a:extLst>
          </p:cNvPr>
          <p:cNvSpPr/>
          <p:nvPr/>
        </p:nvSpPr>
        <p:spPr>
          <a:xfrm>
            <a:off x="201967" y="3178313"/>
            <a:ext cx="11285737" cy="169636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10">
            <a:extLst>
              <a:ext uri="{FF2B5EF4-FFF2-40B4-BE49-F238E27FC236}">
                <a16:creationId xmlns:a16="http://schemas.microsoft.com/office/drawing/2014/main" id="{74955DF3-0735-4AD8-9599-1E43B7894A07}"/>
              </a:ext>
            </a:extLst>
          </p:cNvPr>
          <p:cNvSpPr/>
          <p:nvPr/>
        </p:nvSpPr>
        <p:spPr>
          <a:xfrm>
            <a:off x="201967" y="1538154"/>
            <a:ext cx="11285737"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A25353C-B90E-45F5-BF24-F7F0E89C554B}"/>
                  </a:ext>
                </a:extLst>
              </p:cNvPr>
              <p:cNvSpPr txBox="1"/>
              <p:nvPr/>
            </p:nvSpPr>
            <p:spPr>
              <a:xfrm>
                <a:off x="114521" y="822695"/>
                <a:ext cx="11643055"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Se considera un modulador de tensión ideal (BW elevado y ganancia unitaria). Por lo tanto, la consigna de tensión trifásica </a:t>
                </a:r>
                <a14:m>
                  <m:oMath xmlns:m="http://schemas.openxmlformats.org/officeDocument/2006/math">
                    <m:sSubSup>
                      <m:sSubSupPr>
                        <m:ctrlPr>
                          <a:rPr lang="es-AR" sz="1400" i="1">
                            <a:latin typeface="Cambria Math" panose="02040503050406030204" pitchFamily="18" charset="0"/>
                            <a:ea typeface="Calibri" panose="020F0502020204030204" pitchFamily="34" charset="0"/>
                          </a:rPr>
                        </m:ctrlPr>
                      </m:sSubSup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up>
                        <m:r>
                          <a:rPr lang="es-AR" sz="1400">
                            <a:latin typeface="Cambria Math" panose="02040503050406030204" pitchFamily="18" charset="0"/>
                            <a:ea typeface="Calibri" panose="020F0502020204030204" pitchFamily="34" charset="0"/>
                          </a:rPr>
                          <m:t>∗</m:t>
                        </m:r>
                      </m:sup>
                    </m:sSubSup>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puede considerarse igual a la tensión efectivamente aplicada </a:t>
                </a:r>
                <a14:m>
                  <m:oMath xmlns:m="http://schemas.openxmlformats.org/officeDocument/2006/math">
                    <m:sSub>
                      <m:sSubPr>
                        <m:ctrlPr>
                          <a:rPr lang="es-AR" sz="1400" i="1">
                            <a:latin typeface="Cambria Math" panose="02040503050406030204" pitchFamily="18" charset="0"/>
                            <a:ea typeface="Calibri" panose="020F0502020204030204" pitchFamily="34" charset="0"/>
                          </a:rPr>
                        </m:ctrlPr>
                      </m:sSub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Sub>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Aplicando transformación de Park:</a:t>
                </a:r>
              </a:p>
            </p:txBody>
          </p:sp>
        </mc:Choice>
        <mc:Fallback xmlns="">
          <p:sp>
            <p:nvSpPr>
              <p:cNvPr id="22" name="CuadroTexto 21">
                <a:extLst>
                  <a:ext uri="{FF2B5EF4-FFF2-40B4-BE49-F238E27FC236}">
                    <a16:creationId xmlns:a16="http://schemas.microsoft.com/office/drawing/2014/main" id="{9A25353C-B90E-45F5-BF24-F7F0E89C554B}"/>
                  </a:ext>
                </a:extLst>
              </p:cNvPr>
              <p:cNvSpPr txBox="1">
                <a:spLocks noRot="1" noChangeAspect="1" noMove="1" noResize="1" noEditPoints="1" noAdjustHandles="1" noChangeArrowheads="1" noChangeShapeType="1" noTextEdit="1"/>
              </p:cNvSpPr>
              <p:nvPr/>
            </p:nvSpPr>
            <p:spPr>
              <a:xfrm>
                <a:off x="114521" y="822695"/>
                <a:ext cx="11643055" cy="523220"/>
              </a:xfrm>
              <a:prstGeom prst="rect">
                <a:avLst/>
              </a:prstGeom>
              <a:blipFill>
                <a:blip r:embed="rId2"/>
                <a:stretch>
                  <a:fillRect l="-157" t="-2326" b="-104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TextBox 16">
                <a:extLst>
                  <a:ext uri="{FF2B5EF4-FFF2-40B4-BE49-F238E27FC236}">
                    <a16:creationId xmlns:a16="http://schemas.microsoft.com/office/drawing/2014/main" id="{90D5BD06-E953-4B2D-9222-069FC768BFC6}"/>
                  </a:ext>
                </a:extLst>
              </p:cNvPr>
              <p:cNvSpPr txBox="1"/>
              <p:nvPr/>
            </p:nvSpPr>
            <p:spPr>
              <a:xfrm>
                <a:off x="-115857" y="1591489"/>
                <a:ext cx="4714490" cy="36881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600" i="1" smtClean="0">
                              <a:effectLst/>
                              <a:latin typeface="Cambria Math" panose="02040503050406030204" pitchFamily="18" charset="0"/>
                              <a:cs typeface="Calibri" panose="020F0502020204030204" pitchFamily="34" charset="0"/>
                            </a:rPr>
                          </m:ctrlPr>
                        </m:sSubSup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𝑎𝑏𝑐</m:t>
                              </m:r>
                            </m:sub>
                            <m:sup>
                              <m:r>
                                <a:rPr lang="es-AR" sz="1600" i="1">
                                  <a:latin typeface="Cambria Math" panose="02040503050406030204" pitchFamily="18" charset="0"/>
                                </a:rPr>
                                <m:t>∗</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𝑣</m:t>
                              </m:r>
                            </m:e>
                            <m:sub>
                              <m:r>
                                <a:rPr lang="es-AR" sz="1600" i="1">
                                  <a:latin typeface="Cambria Math" panose="02040503050406030204" pitchFamily="18" charset="0"/>
                                </a:rPr>
                                <m:t>𝑎𝑏𝑐</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MX" sz="1600" b="0" i="1" smtClean="0">
                              <a:latin typeface="Cambria Math" panose="02040503050406030204" pitchFamily="18"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r>
                            <a:rPr lang="es-AR" sz="16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600" i="1">
                          <a:effectLst/>
                          <a:latin typeface="Cambria Math" panose="02040503050406030204" pitchFamily="18" charset="0"/>
                          <a:ea typeface="Times New Roman" panose="02020603050405020304" pitchFamily="18" charset="0"/>
                          <a:cs typeface="Calibri" panose="020F0502020204030204" pitchFamily="34" charset="0"/>
                        </a:rPr>
                        <m:t>≈</m:t>
                      </m:r>
                      <m:sSubSup>
                        <m:sSubSupPr>
                          <m:ctrlPr>
                            <a:rPr lang="es-AR" sz="160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oMath>
                  </m:oMathPara>
                </a14:m>
                <a:endParaRPr sz="1600" b="1" dirty="0">
                  <a:solidFill>
                    <a:srgbClr val="C35A00"/>
                  </a:solidFill>
                  <a:latin typeface="Calibri"/>
                </a:endParaRPr>
              </a:p>
            </p:txBody>
          </p:sp>
        </mc:Choice>
        <mc:Fallback xmlns="">
          <p:sp>
            <p:nvSpPr>
              <p:cNvPr id="24" name="TextBox 16">
                <a:extLst>
                  <a:ext uri="{FF2B5EF4-FFF2-40B4-BE49-F238E27FC236}">
                    <a16:creationId xmlns:a16="http://schemas.microsoft.com/office/drawing/2014/main" id="{90D5BD06-E953-4B2D-9222-069FC768BFC6}"/>
                  </a:ext>
                </a:extLst>
              </p:cNvPr>
              <p:cNvSpPr txBox="1">
                <a:spLocks noRot="1" noChangeAspect="1" noMove="1" noResize="1" noEditPoints="1" noAdjustHandles="1" noChangeArrowheads="1" noChangeShapeType="1" noTextEdit="1"/>
              </p:cNvSpPr>
              <p:nvPr/>
            </p:nvSpPr>
            <p:spPr>
              <a:xfrm>
                <a:off x="-115857" y="1591489"/>
                <a:ext cx="4714490" cy="368819"/>
              </a:xfrm>
              <a:prstGeom prst="rect">
                <a:avLst/>
              </a:prstGeom>
              <a:blipFill>
                <a:blip r:embed="rId3"/>
                <a:stretch>
                  <a:fillRect b="-4918"/>
                </a:stretch>
              </a:blipFill>
            </p:spPr>
            <p:txBody>
              <a:bodyPr/>
              <a:lstStyle/>
              <a:p>
                <a:r>
                  <a:rPr lang="es-AR">
                    <a:noFill/>
                  </a:rPr>
                  <a:t> </a:t>
                </a:r>
              </a:p>
            </p:txBody>
          </p:sp>
        </mc:Fallback>
      </mc:AlternateContent>
      <p:sp>
        <p:nvSpPr>
          <p:cNvPr id="27" name="CuadroTexto 26">
            <a:extLst>
              <a:ext uri="{FF2B5EF4-FFF2-40B4-BE49-F238E27FC236}">
                <a16:creationId xmlns:a16="http://schemas.microsoft.com/office/drawing/2014/main" id="{0B9E471D-9E19-4890-A3F3-7A580A9A5BC8}"/>
              </a:ext>
            </a:extLst>
          </p:cNvPr>
          <p:cNvSpPr txBox="1"/>
          <p:nvPr/>
        </p:nvSpPr>
        <p:spPr>
          <a:xfrm>
            <a:off x="114521" y="2116644"/>
            <a:ext cx="11836152" cy="95410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rPr>
              <a:t>El objetivo de este procedimiento es lograr que la señal de control influya de manera directa sobre la variable de interés (las corrientes), compensando los efectos de dichos términos mediante señales de control adecuadas. Estas realimentaciones no se pueden eliminar completamente, ya que son inherentes al funcionamiento físico de la máquina, si no que, lo que se persigue es atenuar sus efectos mediante señales de control. Recordando el modelo del sistema electromagnético:</a:t>
            </a:r>
            <a:endParaRPr lang="es-AR" sz="1400" dirty="0"/>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559291" y="3222044"/>
                <a:ext cx="4714490" cy="160890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559291" y="3222044"/>
                <a:ext cx="4714490" cy="1608902"/>
              </a:xfrm>
              <a:prstGeom prst="rect">
                <a:avLst/>
              </a:prstGeom>
              <a:blipFill>
                <a:blip r:embed="rId4"/>
                <a:stretch>
                  <a:fillRect l="-2458" r="-142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2DE01B99-EDA0-4525-9FC7-E41D06B78EA1}"/>
                  </a:ext>
                </a:extLst>
              </p:cNvPr>
              <p:cNvSpPr txBox="1"/>
              <p:nvPr/>
            </p:nvSpPr>
            <p:spPr>
              <a:xfrm>
                <a:off x="201967" y="5107450"/>
                <a:ext cx="11383392" cy="755271"/>
              </a:xfrm>
              <a:prstGeom prst="rect">
                <a:avLst/>
              </a:prstGeom>
              <a:noFill/>
            </p:spPr>
            <p:txBody>
              <a:bodyPr wrap="square">
                <a:spAutoFit/>
              </a:bodyPr>
              <a:lstStyle/>
              <a:p>
                <a:pPr algn="just">
                  <a:spcBef>
                    <a:spcPts val="1200"/>
                  </a:spcBef>
                </a:pPr>
                <a:r>
                  <a:rPr lang="es-AR" sz="1400" dirty="0">
                    <a:latin typeface="Calibri" panose="020F0502020204030204" pitchFamily="34" charset="0"/>
                    <a:ea typeface="Calibri" panose="020F0502020204030204" pitchFamily="34" charset="0"/>
                  </a:rPr>
                  <a:t>P</a:t>
                </a:r>
                <a:r>
                  <a:rPr lang="es-AR" sz="1400" dirty="0">
                    <a:effectLst/>
                    <a:latin typeface="Calibri" panose="020F0502020204030204" pitchFamily="34" charset="0"/>
                    <a:ea typeface="Calibri" panose="020F0502020204030204" pitchFamily="34" charset="0"/>
                  </a:rPr>
                  <a:t>uede observarse que los términos presentes en el segundo miembro, excepto las tensiones virtuales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y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corresponden a realimentaciones físicas inherentes al comportamiento de la máquina. Dichos términos incluyen las caídas de tensión en la resistencia del estator y los acoplamientos electromagnéticos dependientes de la velocidad del rotor.</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31" name="CuadroTexto 30">
                <a:extLst>
                  <a:ext uri="{FF2B5EF4-FFF2-40B4-BE49-F238E27FC236}">
                    <a16:creationId xmlns:a16="http://schemas.microsoft.com/office/drawing/2014/main" id="{2DE01B99-EDA0-4525-9FC7-E41D06B78EA1}"/>
                  </a:ext>
                </a:extLst>
              </p:cNvPr>
              <p:cNvSpPr txBox="1">
                <a:spLocks noRot="1" noChangeAspect="1" noMove="1" noResize="1" noEditPoints="1" noAdjustHandles="1" noChangeArrowheads="1" noChangeShapeType="1" noTextEdit="1"/>
              </p:cNvSpPr>
              <p:nvPr/>
            </p:nvSpPr>
            <p:spPr>
              <a:xfrm>
                <a:off x="201967" y="5107450"/>
                <a:ext cx="11383392" cy="755271"/>
              </a:xfrm>
              <a:prstGeom prst="rect">
                <a:avLst/>
              </a:prstGeom>
              <a:blipFill>
                <a:blip r:embed="rId5"/>
                <a:stretch>
                  <a:fillRect l="-161" t="-806" r="-161" b="-7258"/>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DE230A35-33E7-4BA4-99FB-96707DE6BE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6CDBB0F7-993D-45C6-B754-6A64CA824A1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6658822A-4CBC-4C7D-8CBB-1F3C465B2591}"/>
              </a:ext>
            </a:extLst>
          </p:cNvPr>
          <p:cNvSpPr/>
          <p:nvPr/>
        </p:nvSpPr>
        <p:spPr>
          <a:xfrm>
            <a:off x="274320" y="3744687"/>
            <a:ext cx="11328794" cy="15508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0">
            <a:extLst>
              <a:ext uri="{FF2B5EF4-FFF2-40B4-BE49-F238E27FC236}">
                <a16:creationId xmlns:a16="http://schemas.microsoft.com/office/drawing/2014/main" id="{854B05C0-0CBB-4E43-9ED9-8CD22E02B89A}"/>
              </a:ext>
            </a:extLst>
          </p:cNvPr>
          <p:cNvSpPr/>
          <p:nvPr/>
        </p:nvSpPr>
        <p:spPr>
          <a:xfrm>
            <a:off x="274319" y="1075617"/>
            <a:ext cx="11328795" cy="123683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p:sp>
        <p:nvSpPr>
          <p:cNvPr id="22" name="CuadroTexto 21">
            <a:extLst>
              <a:ext uri="{FF2B5EF4-FFF2-40B4-BE49-F238E27FC236}">
                <a16:creationId xmlns:a16="http://schemas.microsoft.com/office/drawing/2014/main" id="{9A25353C-B90E-45F5-BF24-F7F0E89C554B}"/>
              </a:ext>
            </a:extLst>
          </p:cNvPr>
          <p:cNvSpPr txBox="1"/>
          <p:nvPr/>
        </p:nvSpPr>
        <p:spPr>
          <a:xfrm>
            <a:off x="114521" y="712740"/>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Por lo tanto, para compensar estas contribuciones:</a:t>
            </a:r>
          </a:p>
        </p:txBody>
      </p:sp>
      <p:sp>
        <p:nvSpPr>
          <p:cNvPr id="27" name="CuadroTexto 26">
            <a:extLst>
              <a:ext uri="{FF2B5EF4-FFF2-40B4-BE49-F238E27FC236}">
                <a16:creationId xmlns:a16="http://schemas.microsoft.com/office/drawing/2014/main" id="{0B9E471D-9E19-4890-A3F3-7A580A9A5BC8}"/>
              </a:ext>
            </a:extLst>
          </p:cNvPr>
          <p:cNvSpPr txBox="1"/>
          <p:nvPr/>
        </p:nvSpPr>
        <p:spPr>
          <a:xfrm>
            <a:off x="177771" y="2324842"/>
            <a:ext cx="11739604" cy="1004186"/>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identifican productos entre variables de estado, lo cual introduce no linealidades en el modelo. Al restar estos términos de las ecuaciones dinámicas e incorporarlos dentro de la señal de control, se está realizando un procedimiento conocido como linealización por realimentación. Esta aproximación resulta válida siempre que el modelo utilizado represente adecuadamente el comportamiento del sistema y que el controlador tenga una dinámica suficientemente rápida para compensar dichos efectos.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320040" y="1101280"/>
                <a:ext cx="4714490" cy="106336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320040" y="1101280"/>
                <a:ext cx="4714490" cy="1063368"/>
              </a:xfrm>
              <a:prstGeom prst="rect">
                <a:avLst/>
              </a:prstGeom>
              <a:blipFill>
                <a:blip r:embed="rId2"/>
                <a:stretch>
                  <a:fillRect/>
                </a:stretch>
              </a:blipFill>
            </p:spPr>
            <p:txBody>
              <a:bodyPr/>
              <a:lstStyle/>
              <a:p>
                <a:r>
                  <a:rPr lang="es-AR">
                    <a:noFill/>
                  </a:rPr>
                  <a:t> </a:t>
                </a:r>
              </a:p>
            </p:txBody>
          </p:sp>
        </mc:Fallback>
      </mc:AlternateContent>
      <p:sp>
        <p:nvSpPr>
          <p:cNvPr id="13" name="CuadroTexto 12">
            <a:extLst>
              <a:ext uri="{FF2B5EF4-FFF2-40B4-BE49-F238E27FC236}">
                <a16:creationId xmlns:a16="http://schemas.microsoft.com/office/drawing/2014/main" id="{4D3E762E-FECA-4402-8091-CEAD255D9682}"/>
              </a:ext>
            </a:extLst>
          </p:cNvPr>
          <p:cNvSpPr txBox="1"/>
          <p:nvPr/>
        </p:nvSpPr>
        <p:spPr>
          <a:xfrm>
            <a:off x="114520" y="3325222"/>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 Reemplazando en el modelo electromagnético:</a:t>
            </a:r>
          </a:p>
        </p:txBody>
      </p:sp>
      <mc:AlternateContent xmlns:mc="http://schemas.openxmlformats.org/markup-compatibility/2006" xmlns:a14="http://schemas.microsoft.com/office/drawing/2010/main">
        <mc:Choice Requires="a14">
          <p:sp>
            <p:nvSpPr>
              <p:cNvPr id="15" name="TextBox 16">
                <a:extLst>
                  <a:ext uri="{FF2B5EF4-FFF2-40B4-BE49-F238E27FC236}">
                    <a16:creationId xmlns:a16="http://schemas.microsoft.com/office/drawing/2014/main" id="{74A4E847-74CF-431E-9A8D-9916FC1E56B1}"/>
                  </a:ext>
                </a:extLst>
              </p:cNvPr>
              <p:cNvSpPr txBox="1"/>
              <p:nvPr/>
            </p:nvSpPr>
            <p:spPr>
              <a:xfrm>
                <a:off x="-160685" y="3778036"/>
                <a:ext cx="2922173" cy="146681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smtClean="0">
                                        <a:latin typeface="Cambria Math" panose="02040503050406030204" pitchFamily="18" charset="0"/>
                                      </a:rPr>
                                    </m:ctrlPr>
                                  </m:sSubPr>
                                  <m:e>
                                    <m:r>
                                      <a:rPr lang="es-AR" sz="1400" i="1">
                                        <a:latin typeface="Cambria Math" panose="02040503050406030204" pitchFamily="18" charset="0"/>
                                      </a:rPr>
                                      <m:t>𝐿</m:t>
                                    </m:r>
                                  </m:e>
                                  <m:sub>
                                    <m:r>
                                      <a:rPr lang="es-MX" sz="1400" b="0" i="1" smtClean="0">
                                        <a:latin typeface="Cambria Math" panose="02040503050406030204" pitchFamily="18" charset="0"/>
                                      </a:rPr>
                                      <m:t>𝑞</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MX" sz="1400" b="0" i="1" smtClean="0">
                                            <a:latin typeface="Cambria Math" panose="02040503050406030204" pitchFamily="18" charset="0"/>
                                          </a:rPr>
                                          <m:t>𝑞</m:t>
                                        </m:r>
                                        <m:r>
                                          <a:rPr lang="es-AR" sz="1400" i="1">
                                            <a:latin typeface="Cambria Math" panose="02040503050406030204" pitchFamily="18" charset="0"/>
                                          </a:rPr>
                                          <m:t>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
                        </m:e>
                      </m:d>
                    </m:oMath>
                  </m:oMathPara>
                </a14:m>
                <a:endParaRPr sz="1600" b="1" dirty="0">
                  <a:solidFill>
                    <a:srgbClr val="C35A00"/>
                  </a:solidFill>
                  <a:latin typeface="Calibri"/>
                </a:endParaRPr>
              </a:p>
            </p:txBody>
          </p:sp>
        </mc:Choice>
        <mc:Fallback xmlns="">
          <p:sp>
            <p:nvSpPr>
              <p:cNvPr id="15" name="TextBox 16">
                <a:extLst>
                  <a:ext uri="{FF2B5EF4-FFF2-40B4-BE49-F238E27FC236}">
                    <a16:creationId xmlns:a16="http://schemas.microsoft.com/office/drawing/2014/main" id="{74A4E847-74CF-431E-9A8D-9916FC1E56B1}"/>
                  </a:ext>
                </a:extLst>
              </p:cNvPr>
              <p:cNvSpPr txBox="1">
                <a:spLocks noRot="1" noChangeAspect="1" noMove="1" noResize="1" noEditPoints="1" noAdjustHandles="1" noChangeArrowheads="1" noChangeShapeType="1" noTextEdit="1"/>
              </p:cNvSpPr>
              <p:nvPr/>
            </p:nvSpPr>
            <p:spPr>
              <a:xfrm>
                <a:off x="-160685" y="3778036"/>
                <a:ext cx="2922173" cy="146681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5407247"/>
                <a:ext cx="11762469" cy="773673"/>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De esta forma, las nuevas tensiones de control virtuales permiten establecer una relación directa entre las señales de entrada del sistema y la dinámica de las corrientes en el marco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𝑞𝑑</m:t>
                        </m:r>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consecuencia, se obtiene un canal de control desacoplado, a través del cual es posible actuar directamente sobre las corrientes virtuales y, por lo tanto, sobre el torque electromagnético desarrollado por la máquina.</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5407247"/>
                <a:ext cx="11762469" cy="773673"/>
              </a:xfrm>
              <a:prstGeom prst="rect">
                <a:avLst/>
              </a:prstGeom>
              <a:blipFill>
                <a:blip r:embed="rId4"/>
                <a:stretch>
                  <a:fillRect l="-155" t="-787" r="-104" b="-7874"/>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49346F34-CB4D-4D3A-96BA-1413BBFB4AE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A0C04DAB-FCE4-4164-803D-01C982FDE5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497860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4730690"/>
                <a:ext cx="11762469" cy="1621021"/>
              </a:xfrm>
              <a:prstGeom prst="rect">
                <a:avLst/>
              </a:prstGeom>
              <a:noFill/>
            </p:spPr>
            <p:txBody>
              <a:bodyPr wrap="square">
                <a:spAutoFit/>
              </a:bodyPr>
              <a:lstStyle/>
              <a:p>
                <a:pPr marL="285750" indent="-285750">
                  <a:buFont typeface="Arial" panose="020B0604020202020204" pitchFamily="34" charset="0"/>
                  <a:buChar char="•"/>
                </a:pPr>
                <a:r>
                  <a:rPr lang="es-AR" sz="1400" dirty="0"/>
                  <a:t>Este enfoque puede compararse con el basado en la Ley de Control Complementaria mínima mediante una realimentación activa de las tensiones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el objetivo de compensar los acoplamientos entre ejes y forzar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0</m:t>
                    </m:r>
                  </m:oMath>
                </a14:m>
                <a:r>
                  <a:rPr lang="es-AR" sz="1400" dirty="0"/>
                  <a:t>, evitando así acoplamientos residuales. De esta manera, se obtiene un modelo completamente lineal y desacoplado.</a:t>
                </a:r>
              </a:p>
              <a:p>
                <a:pPr marL="285750" indent="-285750">
                  <a:buFont typeface="Arial" panose="020B0604020202020204" pitchFamily="34" charset="0"/>
                  <a:buChar char="•"/>
                </a:pPr>
                <a:r>
                  <a:rPr lang="es-AR" sz="1400" dirty="0"/>
                  <a:t>En cambio, ahora, las realimentaciones de estado se incorporan directamente para compensar las caídas de tensión y los términos de acoplamiento presentes en la dinámica de la máquina, permitiendo que la acción de control actúe más directamente sobre las corrientes. Además, esta formulación permite considerar la variación de la resistencia estatórica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oMath>
                </a14:m>
                <a:r>
                  <a:rPr lang="es-AR" sz="1400" dirty="0"/>
                  <a:t>​ con la temperatura, incorporando dentro del control los efectos térmicos del motor.</a:t>
                </a:r>
              </a:p>
              <a:p>
                <a:pPr marL="285750" indent="-285750">
                  <a:buFont typeface="Arial" panose="020B0604020202020204" pitchFamily="34" charset="0"/>
                  <a:buChar char="•"/>
                </a:pPr>
                <a:r>
                  <a:rPr lang="es-AR" sz="1400" dirty="0"/>
                  <a:t>Otra ventaja de este esquema es que no impone la condición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0</m:t>
                    </m:r>
                  </m:oMath>
                </a14:m>
                <a:r>
                  <a:rPr lang="es-AR" sz="1400" dirty="0"/>
                  <a:t>, lo que permite contemplar estrategias de operación más generales. </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4730690"/>
                <a:ext cx="11762469" cy="1621021"/>
              </a:xfrm>
              <a:prstGeom prst="rect">
                <a:avLst/>
              </a:prstGeom>
              <a:blipFill>
                <a:blip r:embed="rId2"/>
                <a:stretch>
                  <a:fillRect l="-52" t="-376" r="-363" b="-300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40345B2A-B837-4BF1-8343-1886AAAA25C0}"/>
              </a:ext>
            </a:extLst>
          </p:cNvPr>
          <p:cNvPicPr/>
          <p:nvPr/>
        </p:nvPicPr>
        <p:blipFill>
          <a:blip r:embed="rId3">
            <a:extLst>
              <a:ext uri="{28A0092B-C50C-407E-A947-70E740481C1C}">
                <a14:useLocalDpi xmlns:a14="http://schemas.microsoft.com/office/drawing/2010/main" val="0"/>
              </a:ext>
            </a:extLst>
          </a:blip>
          <a:stretch>
            <a:fillRect/>
          </a:stretch>
        </p:blipFill>
        <p:spPr>
          <a:xfrm>
            <a:off x="2108254" y="745235"/>
            <a:ext cx="8065555" cy="3771773"/>
          </a:xfrm>
          <a:prstGeom prst="rect">
            <a:avLst/>
          </a:prstGeom>
        </p:spPr>
      </p:pic>
      <p:sp>
        <p:nvSpPr>
          <p:cNvPr id="19" name="CuadroTexto 18">
            <a:extLst>
              <a:ext uri="{FF2B5EF4-FFF2-40B4-BE49-F238E27FC236}">
                <a16:creationId xmlns:a16="http://schemas.microsoft.com/office/drawing/2014/main" id="{23342D33-6C70-42D0-9CBE-7F3444A93237}"/>
              </a:ext>
            </a:extLst>
          </p:cNvPr>
          <p:cNvSpPr txBox="1"/>
          <p:nvPr/>
        </p:nvSpPr>
        <p:spPr>
          <a:xfrm>
            <a:off x="4796329" y="4376028"/>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31— Desacople electromagnético</a:t>
            </a:r>
          </a:p>
        </p:txBody>
      </p:sp>
      <p:sp>
        <p:nvSpPr>
          <p:cNvPr id="9" name="Shape 2">
            <a:extLst>
              <a:ext uri="{FF2B5EF4-FFF2-40B4-BE49-F238E27FC236}">
                <a16:creationId xmlns:a16="http://schemas.microsoft.com/office/drawing/2014/main" id="{6D441CE2-4E83-4CEA-A4BF-9C1453A3FF9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FA3C24C-57DB-4329-91EC-17BB2CB8815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937183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mc:Choice xmlns:a14="http://schemas.microsoft.com/office/drawing/2010/main" Requires="a14">
          <p:sp>
            <p:nvSpPr>
              <p:cNvPr id="7" name="TextBox 6"/>
              <p:cNvSpPr txBox="1"/>
              <p:nvPr/>
            </p:nvSpPr>
            <p:spPr>
              <a:xfrm>
                <a:off x="213360" y="724870"/>
                <a:ext cx="11765280" cy="203902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Calibri" panose="020F0502020204030204" pitchFamily="34" charset="0"/>
                  </a:rPr>
                  <a:t>El </a:t>
                </a:r>
                <a:r>
                  <a:rPr lang="es-AR" sz="1400" dirty="0">
                    <a:effectLst/>
                    <a:latin typeface="Calibri" panose="020F0502020204030204" pitchFamily="34" charset="0"/>
                    <a:ea typeface="Calibri" panose="020F0502020204030204" pitchFamily="34" charset="0"/>
                    <a:cs typeface="Calibri" panose="020F0502020204030204" pitchFamily="34" charset="0"/>
                  </a:rPr>
                  <a:t>siguiente paso consiste en diseñar lazos de control que permitan regular las corrientes del estator mediante consignas específicas. Permite manipular directamente el torque electromagnético a través de</a:t>
                </a:r>
                <a:r>
                  <a:rPr lang="es-AR" sz="1400" dirty="0">
                    <a:effectLst/>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 Y, además, posibilita estrategias avanzadas como el debilitamiento o refuerzo de campo mediante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a:t>
                </a: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rPr>
                  <a:t>Se implementa un controlador proporcional (P) para cada eje, donde la tensión de control es proporcional al error de corriente e igualando con las ecuaciones desacopladas.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son las ganancias proporcionales. Estas ganancias se expresan como resistencias virtuales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up>
                    </m:sSubSup>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con unidades de ohmios, ya que modelan el comportamiento de una resistencia equivalente que gobierna la dinámica del lazo. </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7" name="TextBox 6"/>
              <p:cNvSpPr txBox="1">
                <a:spLocks noRot="1" noChangeAspect="1" noMove="1" noResize="1" noEditPoints="1" noAdjustHandles="1" noChangeArrowheads="1" noChangeShapeType="1" noTextEdit="1"/>
              </p:cNvSpPr>
              <p:nvPr/>
            </p:nvSpPr>
            <p:spPr>
              <a:xfrm>
                <a:off x="213360" y="724870"/>
                <a:ext cx="11765280" cy="2039020"/>
              </a:xfrm>
              <a:prstGeom prst="rect">
                <a:avLst/>
              </a:prstGeom>
              <a:blipFill>
                <a:blip r:embed="rId2"/>
                <a:stretch>
                  <a:fillRect l="-155" t="-299" r="-155"/>
                </a:stretch>
              </a:blipFill>
            </p:spPr>
            <p:txBody>
              <a:bodyPr/>
              <a:lstStyle/>
              <a:p>
                <a:r>
                  <a:rPr lang="es-AR">
                    <a:noFill/>
                  </a:rPr>
                  <a:t> </a:t>
                </a:r>
              </a:p>
            </p:txBody>
          </p:sp>
        </mc:Fallback>
      </mc:AlternateContent>
      <p:sp>
        <p:nvSpPr>
          <p:cNvPr id="11" name="Rectangle 10"/>
          <p:cNvSpPr/>
          <p:nvPr/>
        </p:nvSpPr>
        <p:spPr>
          <a:xfrm>
            <a:off x="274320" y="2303463"/>
            <a:ext cx="11222677" cy="1381877"/>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2496242"/>
                <a:ext cx="2798083" cy="91717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smtClean="0">
                              <a:effectLst/>
                              <a:latin typeface="Cambria Math" panose="02040503050406030204" pitchFamily="18" charset="0"/>
                              <a:cs typeface="Calibri" panose="020F0502020204030204" pitchFamily="34" charset="0"/>
                            </a:rPr>
                          </m:ctrlPr>
                        </m:mP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2496242"/>
                <a:ext cx="2798083" cy="917174"/>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TextBox 11">
                <a:extLst>
                  <a:ext uri="{FF2B5EF4-FFF2-40B4-BE49-F238E27FC236}">
                    <a16:creationId xmlns:a16="http://schemas.microsoft.com/office/drawing/2014/main" id="{AF7295DA-8D18-4393-A82E-D627B9FC224A}"/>
                  </a:ext>
                </a:extLst>
              </p:cNvPr>
              <p:cNvSpPr txBox="1"/>
              <p:nvPr/>
            </p:nvSpPr>
            <p:spPr>
              <a:xfrm>
                <a:off x="3316243" y="2293183"/>
                <a:ext cx="2798083" cy="140243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e>
                            </m:d>
                          </m:e>
                        </m:mr>
                      </m:m>
                    </m:oMath>
                  </m:oMathPara>
                </a14:m>
                <a:endParaRPr sz="1400" b="1" dirty="0">
                  <a:solidFill>
                    <a:srgbClr val="1B6B2A"/>
                  </a:solidFill>
                  <a:latin typeface="Calibri"/>
                </a:endParaRPr>
              </a:p>
            </p:txBody>
          </p:sp>
        </mc:Choice>
        <mc:Fallback xmlns="">
          <p:sp>
            <p:nvSpPr>
              <p:cNvPr id="22" name="TextBox 11">
                <a:extLst>
                  <a:ext uri="{FF2B5EF4-FFF2-40B4-BE49-F238E27FC236}">
                    <a16:creationId xmlns:a16="http://schemas.microsoft.com/office/drawing/2014/main" id="{AF7295DA-8D18-4393-A82E-D627B9FC224A}"/>
                  </a:ext>
                </a:extLst>
              </p:cNvPr>
              <p:cNvSpPr txBox="1">
                <a:spLocks noRot="1" noChangeAspect="1" noMove="1" noResize="1" noEditPoints="1" noAdjustHandles="1" noChangeArrowheads="1" noChangeShapeType="1" noTextEdit="1"/>
              </p:cNvSpPr>
              <p:nvPr/>
            </p:nvSpPr>
            <p:spPr>
              <a:xfrm>
                <a:off x="3316243" y="2293183"/>
                <a:ext cx="2798083" cy="140243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TextBox 6">
                <a:extLst>
                  <a:ext uri="{FF2B5EF4-FFF2-40B4-BE49-F238E27FC236}">
                    <a16:creationId xmlns:a16="http://schemas.microsoft.com/office/drawing/2014/main" id="{42EC5B2C-1CAB-4F7A-B782-6A10E19B1257}"/>
                  </a:ext>
                </a:extLst>
              </p:cNvPr>
              <p:cNvSpPr txBox="1"/>
              <p:nvPr/>
            </p:nvSpPr>
            <p:spPr>
              <a:xfrm>
                <a:off x="182921" y="3731488"/>
                <a:ext cx="11765280" cy="958980"/>
              </a:xfrm>
              <a:prstGeom prst="rect">
                <a:avLst/>
              </a:prstGeom>
              <a:noFill/>
            </p:spPr>
            <p:txBody>
              <a:bodyPr wrap="square">
                <a:spAutoFit/>
              </a:bodyPr>
              <a:lstStyle/>
              <a:p>
                <a:r>
                  <a:rPr lang="es-AR" sz="1400" dirty="0"/>
                  <a:t>Aplicamos la transformada de Laplace con condiciones iniciales nulas a la ecuación del eje </a:t>
                </a:r>
                <a14:m>
                  <m:oMath xmlns:m="http://schemas.openxmlformats.org/officeDocument/2006/math">
                    <m:r>
                      <a:rPr lang="es-AR" sz="1400" i="1">
                        <a:latin typeface="Cambria Math" panose="02040503050406030204" pitchFamily="18" charset="0"/>
                      </a:rPr>
                      <m:t>𝑞</m:t>
                    </m:r>
                  </m:oMath>
                </a14:m>
                <a:r>
                  <a:rPr lang="es-AR" sz="1400" dirty="0"/>
                  <a:t>, y luego reagrupando términos se obtiene la función de transferencia del lazo de corriente de dicho eje. Las tres funciones de transferencia presentan la forma canónica de un sistema de primer orden:</a:t>
                </a:r>
              </a:p>
              <a:p>
                <a:endParaRPr lang="es-AR" sz="14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TextBox 6">
                <a:extLst>
                  <a:ext uri="{FF2B5EF4-FFF2-40B4-BE49-F238E27FC236}">
                    <a16:creationId xmlns:a16="http://schemas.microsoft.com/office/drawing/2014/main" id="{42EC5B2C-1CAB-4F7A-B782-6A10E19B1257}"/>
                  </a:ext>
                </a:extLst>
              </p:cNvPr>
              <p:cNvSpPr txBox="1">
                <a:spLocks noRot="1" noChangeAspect="1" noMove="1" noResize="1" noEditPoints="1" noAdjustHandles="1" noChangeArrowheads="1" noChangeShapeType="1" noTextEdit="1"/>
              </p:cNvSpPr>
              <p:nvPr/>
            </p:nvSpPr>
            <p:spPr>
              <a:xfrm>
                <a:off x="182921" y="3731488"/>
                <a:ext cx="11765280" cy="958980"/>
              </a:xfrm>
              <a:prstGeom prst="rect">
                <a:avLst/>
              </a:prstGeom>
              <a:blipFill>
                <a:blip r:embed="rId5"/>
                <a:stretch>
                  <a:fillRect l="-155" t="-1274"/>
                </a:stretch>
              </a:blipFill>
            </p:spPr>
            <p:txBody>
              <a:bodyPr/>
              <a:lstStyle/>
              <a:p>
                <a:r>
                  <a:rPr lang="es-AR">
                    <a:noFill/>
                  </a:rPr>
                  <a:t> </a:t>
                </a:r>
              </a:p>
            </p:txBody>
          </p:sp>
        </mc:Fallback>
      </mc:AlternateContent>
      <p:sp>
        <p:nvSpPr>
          <p:cNvPr id="24" name="Rectangle 10">
            <a:extLst>
              <a:ext uri="{FF2B5EF4-FFF2-40B4-BE49-F238E27FC236}">
                <a16:creationId xmlns:a16="http://schemas.microsoft.com/office/drawing/2014/main" id="{B0AAA783-A368-49CD-BB09-59D89DDF984F}"/>
              </a:ext>
            </a:extLst>
          </p:cNvPr>
          <p:cNvSpPr/>
          <p:nvPr/>
        </p:nvSpPr>
        <p:spPr>
          <a:xfrm>
            <a:off x="243799" y="4262335"/>
            <a:ext cx="11222677" cy="22463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11">
                <a:extLst>
                  <a:ext uri="{FF2B5EF4-FFF2-40B4-BE49-F238E27FC236}">
                    <a16:creationId xmlns:a16="http://schemas.microsoft.com/office/drawing/2014/main" id="{141B9FF8-75E9-4275-B50F-CD91F1CC8134}"/>
                  </a:ext>
                </a:extLst>
              </p:cNvPr>
              <p:cNvSpPr txBox="1"/>
              <p:nvPr/>
            </p:nvSpPr>
            <p:spPr>
              <a:xfrm>
                <a:off x="673878" y="4314934"/>
                <a:ext cx="2798083" cy="233076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eqArr>
                            <m:eqArrPr>
                              <m:ctrlPr>
                                <a:rPr lang="es-AR" sz="1400" i="1">
                                  <a:latin typeface="Cambria Math" panose="02040503050406030204" pitchFamily="18" charset="0"/>
                                </a:rPr>
                              </m:ctrlPr>
                            </m:eqArrPr>
                            <m:e>
                              <m:eqArr>
                                <m:eqArrPr>
                                  <m:ctrlPr>
                                    <a:rPr lang="es-AR" sz="1400" i="1">
                                      <a:latin typeface="Cambria Math" panose="02040503050406030204" pitchFamily="18" charset="0"/>
                                    </a:rPr>
                                  </m:ctrlPr>
                                </m:eqArrPr>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𝑞</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d>
                    </m:oMath>
                  </m:oMathPara>
                </a14:m>
                <a:endParaRPr sz="1400" b="1" dirty="0">
                  <a:solidFill>
                    <a:srgbClr val="1B6B2A"/>
                  </a:solidFill>
                  <a:latin typeface="Calibri"/>
                </a:endParaRPr>
              </a:p>
            </p:txBody>
          </p:sp>
        </mc:Choice>
        <mc:Fallback xmlns="">
          <p:sp>
            <p:nvSpPr>
              <p:cNvPr id="25" name="TextBox 11">
                <a:extLst>
                  <a:ext uri="{FF2B5EF4-FFF2-40B4-BE49-F238E27FC236}">
                    <a16:creationId xmlns:a16="http://schemas.microsoft.com/office/drawing/2014/main" id="{141B9FF8-75E9-4275-B50F-CD91F1CC8134}"/>
                  </a:ext>
                </a:extLst>
              </p:cNvPr>
              <p:cNvSpPr txBox="1">
                <a:spLocks noRot="1" noChangeAspect="1" noMove="1" noResize="1" noEditPoints="1" noAdjustHandles="1" noChangeArrowheads="1" noChangeShapeType="1" noTextEdit="1"/>
              </p:cNvSpPr>
              <p:nvPr/>
            </p:nvSpPr>
            <p:spPr>
              <a:xfrm>
                <a:off x="673878" y="4314934"/>
                <a:ext cx="2798083" cy="2330766"/>
              </a:xfrm>
              <a:prstGeom prst="rect">
                <a:avLst/>
              </a:prstGeom>
              <a:blipFill>
                <a:blip r:embed="rId6"/>
                <a:stretch>
                  <a:fillRect l="-8932" r="-784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TextBox 11">
                <a:extLst>
                  <a:ext uri="{FF2B5EF4-FFF2-40B4-BE49-F238E27FC236}">
                    <a16:creationId xmlns:a16="http://schemas.microsoft.com/office/drawing/2014/main" id="{CAAD56D6-2A3D-4686-BF04-7C24A0CB59A9}"/>
                  </a:ext>
                </a:extLst>
              </p:cNvPr>
              <p:cNvSpPr txBox="1"/>
              <p:nvPr/>
            </p:nvSpPr>
            <p:spPr>
              <a:xfrm>
                <a:off x="3902040" y="5043891"/>
                <a:ext cx="5900747" cy="538930"/>
              </a:xfrm>
              <a:prstGeom prst="rect">
                <a:avLst/>
              </a:prstGeom>
              <a:noFill/>
            </p:spPr>
            <p:txBody>
              <a:bodyPr wrap="square">
                <a:spAutoFit/>
              </a:bodyPr>
              <a:lstStyle/>
              <a:p>
                <a:pPr algn="ctr"/>
                <a14:m>
                  <m:oMath xmlns:m="http://schemas.openxmlformats.org/officeDocument/2006/math">
                    <m:r>
                      <a:rPr lang="ar-AE" sz="1600" i="1" smtClean="0">
                        <a:solidFill>
                          <a:schemeClr val="tx1"/>
                        </a:solidFill>
                        <a:latin typeface="Cambria Math" panose="02040503050406030204" pitchFamily="18" charset="0"/>
                      </a:rPr>
                      <m:t>𝐺</m:t>
                    </m:r>
                    <m:d>
                      <m:dPr>
                        <m:ctrlPr>
                          <a:rPr lang="ar-AE" sz="1600" i="1">
                            <a:solidFill>
                              <a:schemeClr val="tx1"/>
                            </a:solidFill>
                            <a:latin typeface="Cambria Math" panose="02040503050406030204" pitchFamily="18" charset="0"/>
                          </a:rPr>
                        </m:ctrlPr>
                      </m:dPr>
                      <m:e>
                        <m:r>
                          <a:rPr lang="ar-AE" sz="1600" i="1">
                            <a:solidFill>
                              <a:schemeClr val="tx1"/>
                            </a:solidFill>
                            <a:latin typeface="Cambria Math" panose="02040503050406030204" pitchFamily="18" charset="0"/>
                          </a:rPr>
                          <m:t>𝑠</m:t>
                        </m:r>
                      </m:e>
                    </m:d>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𝑠</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1</m:t>
                        </m:r>
                      </m:den>
                    </m:f>
                  </m:oMath>
                </a14:m>
                <a:r>
                  <a:rPr lang="ar-AE" sz="1600" b="1" dirty="0">
                    <a:solidFill>
                      <a:schemeClr val="tx1"/>
                    </a:solidFill>
                    <a:latin typeface="Calibri"/>
                  </a:rPr>
                  <a:t>,    	</a:t>
                </a:r>
                <a14:m>
                  <m:oMath xmlns:m="http://schemas.openxmlformats.org/officeDocument/2006/math">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num>
                      <m:den>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den>
                    </m:f>
                    <m:r>
                      <a:rPr lang="ar-AE" sz="1600" i="1">
                        <a:solidFill>
                          <a:schemeClr val="tx1"/>
                        </a:solidFill>
                        <a:latin typeface="Cambria Math" panose="02040503050406030204" pitchFamily="18" charset="0"/>
                      </a:rPr>
                      <m:t>       </m:t>
                    </m:r>
                    <m:r>
                      <a:rPr lang="ar-AE" sz="1600" i="1">
                        <a:solidFill>
                          <a:schemeClr val="tx1"/>
                        </a:solidFill>
                        <a:latin typeface="Cambria Math" panose="02040503050406030204" pitchFamily="18" charset="0"/>
                      </a:rPr>
                      <m:t>𝑝</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a:solidFill>
                              <a:schemeClr val="tx1"/>
                            </a:solidFill>
                            <a:latin typeface="Cambria Math" panose="02040503050406030204" pitchFamily="18" charset="0"/>
                          </a:rPr>
                          <m:t> </m:t>
                        </m:r>
                      </m:den>
                    </m:f>
                    <m:r>
                      <a:rPr lang="ar-AE" sz="1600" i="1">
                        <a:solidFill>
                          <a:schemeClr val="tx1"/>
                        </a:solidFill>
                        <a:latin typeface="Cambria Math" panose="02040503050406030204" pitchFamily="18" charset="0"/>
                      </a:rPr>
                      <m:t>=</m:t>
                    </m:r>
                    <m:r>
                      <a:rPr lang="es-MX" sz="1600" b="0" i="1" smtClean="0">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num>
                      <m:den>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den>
                    </m:f>
                    <m:r>
                      <a:rPr lang="ar-AE" sz="1600" i="1">
                        <a:solidFill>
                          <a:schemeClr val="tx1"/>
                        </a:solidFill>
                        <a:latin typeface="Cambria Math" panose="02040503050406030204" pitchFamily="18" charset="0"/>
                      </a:rPr>
                      <m:t> </m:t>
                    </m:r>
                  </m:oMath>
                </a14:m>
                <a:endParaRPr lang="ar-AE" sz="1600" b="1" dirty="0">
                  <a:solidFill>
                    <a:schemeClr val="tx1"/>
                  </a:solidFill>
                  <a:latin typeface="Calibri"/>
                </a:endParaRPr>
              </a:p>
            </p:txBody>
          </p:sp>
        </mc:Choice>
        <mc:Fallback xmlns="">
          <p:sp>
            <p:nvSpPr>
              <p:cNvPr id="26" name="TextBox 11">
                <a:extLst>
                  <a:ext uri="{FF2B5EF4-FFF2-40B4-BE49-F238E27FC236}">
                    <a16:creationId xmlns:a16="http://schemas.microsoft.com/office/drawing/2014/main" id="{CAAD56D6-2A3D-4686-BF04-7C24A0CB59A9}"/>
                  </a:ext>
                </a:extLst>
              </p:cNvPr>
              <p:cNvSpPr txBox="1">
                <a:spLocks noRot="1" noChangeAspect="1" noMove="1" noResize="1" noEditPoints="1" noAdjustHandles="1" noChangeArrowheads="1" noChangeShapeType="1" noTextEdit="1"/>
              </p:cNvSpPr>
              <p:nvPr/>
            </p:nvSpPr>
            <p:spPr>
              <a:xfrm>
                <a:off x="3902040" y="5043891"/>
                <a:ext cx="5900747" cy="538930"/>
              </a:xfrm>
              <a:prstGeom prst="rect">
                <a:avLst/>
              </a:prstGeom>
              <a:blipFill>
                <a:blip r:embed="rId7"/>
                <a:stretch>
                  <a:fillRect/>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239A412A-7335-4C00-9E35-B74EB37D557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877AE57F-C662-4235-A070-66572E399BD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1818318"/>
              </a:xfrm>
              <a:prstGeom prst="rect">
                <a:avLst/>
              </a:prstGeom>
              <a:noFill/>
            </p:spPr>
            <p:txBody>
              <a:bodyPr wrap="square">
                <a:spAutoFit/>
              </a:bodyPr>
              <a:lstStyle/>
              <a:p>
                <a:r>
                  <a:rPr lang="es-AR" sz="1600" b="1" dirty="0"/>
                  <a:t>Características</a:t>
                </a:r>
                <a:r>
                  <a:rPr lang="es-AR" b="1" dirty="0"/>
                  <a:t> </a:t>
                </a:r>
                <a:r>
                  <a:rPr lang="es-AR" sz="1600" b="1" dirty="0"/>
                  <a:t>principales</a:t>
                </a:r>
                <a:r>
                  <a:rPr lang="es-AR" b="1" dirty="0"/>
                  <a:t>:</a:t>
                </a:r>
              </a:p>
              <a:p>
                <a:endParaRPr lang="es-AR" sz="1400" dirty="0"/>
              </a:p>
              <a:p>
                <a:pPr marL="285750" lvl="0" indent="-285750">
                  <a:buFont typeface="Arial" panose="020B0604020202020204" pitchFamily="34" charset="0"/>
                  <a:buChar char="•"/>
                </a:pPr>
                <a:r>
                  <a:rPr lang="es-AR" sz="1400" dirty="0"/>
                  <a:t>Sistema de primer orden estable: Los polos tienen parte real negativa, garantizando estabilidad.</a:t>
                </a:r>
              </a:p>
              <a:p>
                <a:pPr marL="285750" lvl="0" indent="-285750">
                  <a:buFont typeface="Arial" panose="020B0604020202020204" pitchFamily="34" charset="0"/>
                  <a:buChar char="•"/>
                </a:pPr>
                <a:r>
                  <a:rPr lang="es-AR" sz="1400" dirty="0"/>
                  <a:t>Sin ceros: La respuesta es monotónica, sin sobre pico.</a:t>
                </a:r>
              </a:p>
              <a:p>
                <a:pPr marL="285750" lvl="0" indent="-285750">
                  <a:buFont typeface="Arial" panose="020B0604020202020204" pitchFamily="34" charset="0"/>
                  <a:buChar char="•"/>
                </a:pPr>
                <a:r>
                  <a:rPr lang="es-AR" sz="1400" dirty="0"/>
                  <a:t>Hay un seguimiento sin error de estado estacionario.</a:t>
                </a:r>
                <a:endParaRPr lang="es-AR" sz="1400" i="1" dirty="0"/>
              </a:p>
              <a:p>
                <a:pPr marL="285750" lvl="0" indent="-285750">
                  <a:buFont typeface="Arial" panose="020B0604020202020204" pitchFamily="34" charset="0"/>
                  <a:buChar char="•"/>
                </a:pPr>
                <a:r>
                  <a:rPr lang="es-AR" sz="1400" dirty="0"/>
                  <a:t>Atenúa señales de alta frecuencia con frecuencia de corte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𝑓</m:t>
                        </m:r>
                      </m:e>
                      <m:sub>
                        <m:r>
                          <a:rPr lang="es-AR" sz="1400" b="0" i="1" smtClean="0">
                            <a:latin typeface="Cambria Math" panose="02040503050406030204" pitchFamily="18" charset="0"/>
                          </a:rPr>
                          <m:t>𝑐</m:t>
                        </m:r>
                      </m:sub>
                    </m:sSub>
                    <m:r>
                      <a:rPr lang="es-AR"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b="0" i="1" smtClean="0">
                            <a:latin typeface="Cambria Math" panose="02040503050406030204" pitchFamily="18" charset="0"/>
                          </a:rPr>
                          <m:t>1</m:t>
                        </m:r>
                      </m:num>
                      <m:den>
                        <m:r>
                          <a:rPr lang="es-AR" sz="1400" b="0" i="1" smtClean="0">
                            <a:latin typeface="Cambria Math" panose="02040503050406030204" pitchFamily="18" charset="0"/>
                          </a:rPr>
                          <m:t>2</m:t>
                        </m:r>
                        <m:r>
                          <a:rPr lang="es-AR" sz="1400" b="0" i="1" smtClean="0">
                            <a:latin typeface="Cambria Math" panose="02040503050406030204" pitchFamily="18" charset="0"/>
                          </a:rPr>
                          <m:t>𝜋𝜏</m:t>
                        </m:r>
                        <m:r>
                          <a:rPr lang="es-AR" sz="1400" b="0" smtClean="0">
                            <a:latin typeface="Cambria Math" panose="02040503050406030204" pitchFamily="18" charset="0"/>
                          </a:rPr>
                          <m:t> </m:t>
                        </m:r>
                      </m:den>
                    </m:f>
                  </m:oMath>
                </a14:m>
                <a:endParaRPr lang="es-AR" sz="16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1818318"/>
              </a:xfrm>
              <a:prstGeom prst="rect">
                <a:avLst/>
              </a:prstGeom>
              <a:blipFill>
                <a:blip r:embed="rId2"/>
                <a:stretch>
                  <a:fillRect l="-259" t="-201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25299D7-4895-4BE2-8B54-1B952FA16C43}"/>
                  </a:ext>
                </a:extLst>
              </p:cNvPr>
              <p:cNvSpPr txBox="1"/>
              <p:nvPr/>
            </p:nvSpPr>
            <p:spPr>
              <a:xfrm>
                <a:off x="213360" y="2280114"/>
                <a:ext cx="3852614" cy="2809295"/>
              </a:xfrm>
              <a:prstGeom prst="rect">
                <a:avLst/>
              </a:prstGeom>
              <a:noFill/>
            </p:spPr>
            <p:txBody>
              <a:bodyPr wrap="square">
                <a:spAutoFit/>
              </a:bodyPr>
              <a:lstStyle/>
              <a:p>
                <a:pPr algn="just">
                  <a:lnSpc>
                    <a:spcPct val="107000"/>
                  </a:lnSpc>
                  <a:spcAft>
                    <a:spcPts val="800"/>
                  </a:spcAft>
                </a:pPr>
                <a:r>
                  <a:rPr lang="es-AR" sz="1400" b="1" dirty="0">
                    <a:effectLst/>
                    <a:latin typeface="Calibri" panose="020F0502020204030204" pitchFamily="34" charset="0"/>
                    <a:ea typeface="Calibri" panose="020F0502020204030204" pitchFamily="34" charset="0"/>
                    <a:cs typeface="Calibri" panose="020F0502020204030204" pitchFamily="34" charset="0"/>
                  </a:rPr>
                  <a:t>Diseño de las ganancias: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600"/>
                  </a:spcAft>
                </a:pPr>
                <a:r>
                  <a:rPr lang="es-AR" sz="1400" dirty="0">
                    <a:effectLst/>
                    <a:latin typeface="Calibri" panose="020F0502020204030204" pitchFamily="34" charset="0"/>
                    <a:ea typeface="Times New Roman" panose="02020603050405020304" pitchFamily="18" charset="0"/>
                  </a:rPr>
                  <a:t>Según las especificaciones de la guía, se requiere ubicar los polos de los tres lazos en:</a:t>
                </a: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6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𝑝</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r>
                            <a:rPr lang="es-AR" sz="1400" i="1">
                              <a:effectLst/>
                              <a:latin typeface="Cambria Math" panose="02040503050406030204" pitchFamily="18" charset="0"/>
                              <a:ea typeface="Calibri" panose="020F0502020204030204" pitchFamily="34" charset="0"/>
                              <a:cs typeface="Calibri" panose="020F0502020204030204" pitchFamily="34" charset="0"/>
                            </a:rPr>
                            <m:t>𝑟𝑎𝑑</m:t>
                          </m:r>
                        </m:num>
                        <m:den>
                          <m:r>
                            <a:rPr lang="es-AR" sz="1400" i="1">
                              <a:effectLst/>
                              <a:latin typeface="Cambria Math" panose="02040503050406030204" pitchFamily="18" charset="0"/>
                              <a:ea typeface="Calibri" panose="020F0502020204030204" pitchFamily="34" charset="0"/>
                              <a:cs typeface="Calibri" panose="020F0502020204030204" pitchFamily="34" charset="0"/>
                            </a:rPr>
                            <m:t>𝑠</m:t>
                          </m:r>
                        </m:den>
                      </m:f>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𝐵𝑊</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796</m:t>
                          </m:r>
                          <m:r>
                            <a:rPr lang="es-AR" sz="1400" i="1">
                              <a:effectLst/>
                              <a:latin typeface="Cambria Math" panose="02040503050406030204" pitchFamily="18" charset="0"/>
                              <a:ea typeface="Calibri" panose="020F0502020204030204" pitchFamily="34" charset="0"/>
                              <a:cs typeface="Calibri" panose="020F0502020204030204" pitchFamily="34" charset="0"/>
                            </a:rPr>
                            <m:t>𝐻𝑧</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Luego </a:t>
                </a:r>
                <a:r>
                  <a:rPr lang="es-AR" sz="1400" dirty="0">
                    <a:effectLst/>
                    <a:latin typeface="Calibri" panose="020F0502020204030204" pitchFamily="34" charset="0"/>
                    <a:ea typeface="Calibri" panose="020F0502020204030204" pitchFamily="34" charset="0"/>
                    <a:cs typeface="Calibri" panose="020F0502020204030204" pitchFamily="34" charset="0"/>
                  </a:rPr>
                  <a:t>sustituyendo los valores de las inductancias, las ganancias resultan: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s-AR" sz="1400" i="1">
                              <a:effectLst/>
                              <a:latin typeface="Cambria Math" panose="02040503050406030204" pitchFamily="18" charset="0"/>
                              <a:cs typeface="Calibri" panose="020F0502020204030204" pitchFamily="34" charset="0"/>
                            </a:rPr>
                          </m:ctrlPr>
                        </m:dPr>
                        <m:e>
                          <m:eqArr>
                            <m:eqArrPr>
                              <m:ctrlPr>
                                <a:rPr lang="es-AR" sz="1400" i="1">
                                  <a:effectLst/>
                                  <a:latin typeface="Cambria Math" panose="02040503050406030204" pitchFamily="18" charset="0"/>
                                  <a:cs typeface="Calibri" panose="020F0502020204030204" pitchFamily="34" charset="0"/>
                                </a:rPr>
                              </m:ctrlPr>
                            </m:eqArr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r>
                                <a:rPr lang="es-AR" sz="14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29</m:t>
                              </m:r>
                              <m:r>
                                <a:rPr lang="es-AR" sz="14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r>
                                <a:rPr lang="es-AR" sz="14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33</m:t>
                              </m:r>
                              <m:r>
                                <a:rPr lang="es-AR" sz="14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r>
                                <a:rPr lang="es-AR" sz="14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d>
                                    <m:dPr>
                                      <m:begChr m:val="{"/>
                                      <m:endChr m:val="}"/>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𝑙𝑠</m:t>
                                      </m:r>
                                    </m:e>
                                  </m:d>
                                </m:sub>
                              </m:sSub>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4</m:t>
                              </m:r>
                              <m:r>
                                <a:rPr lang="es-AR" sz="14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qArr>
                        </m:e>
                      </m:d>
                    </m:oMath>
                  </m:oMathPara>
                </a14:m>
                <a:endParaRPr lang="es-AR" sz="1400" dirty="0"/>
              </a:p>
            </p:txBody>
          </p:sp>
        </mc:Choice>
        <mc:Fallback xmlns="">
          <p:sp>
            <p:nvSpPr>
              <p:cNvPr id="12" name="CuadroTexto 11">
                <a:extLst>
                  <a:ext uri="{FF2B5EF4-FFF2-40B4-BE49-F238E27FC236}">
                    <a16:creationId xmlns:a16="http://schemas.microsoft.com/office/drawing/2014/main" id="{B25299D7-4895-4BE2-8B54-1B952FA16C43}"/>
                  </a:ext>
                </a:extLst>
              </p:cNvPr>
              <p:cNvSpPr txBox="1">
                <a:spLocks noRot="1" noChangeAspect="1" noMove="1" noResize="1" noEditPoints="1" noAdjustHandles="1" noChangeArrowheads="1" noChangeShapeType="1" noTextEdit="1"/>
              </p:cNvSpPr>
              <p:nvPr/>
            </p:nvSpPr>
            <p:spPr>
              <a:xfrm>
                <a:off x="213360" y="2280114"/>
                <a:ext cx="3852614" cy="2809295"/>
              </a:xfrm>
              <a:prstGeom prst="rect">
                <a:avLst/>
              </a:prstGeom>
              <a:blipFill>
                <a:blip r:embed="rId3"/>
                <a:stretch>
                  <a:fillRect l="-475" t="-217" r="-47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C2A41F86-A19A-4C06-BBB4-DDC5F3B6FDFF}"/>
              </a:ext>
            </a:extLst>
          </p:cNvPr>
          <p:cNvPicPr/>
          <p:nvPr/>
        </p:nvPicPr>
        <p:blipFill>
          <a:blip r:embed="rId4">
            <a:extLst>
              <a:ext uri="{28A0092B-C50C-407E-A947-70E740481C1C}">
                <a14:useLocalDpi xmlns:a14="http://schemas.microsoft.com/office/drawing/2010/main" val="0"/>
              </a:ext>
            </a:extLst>
          </a:blip>
          <a:srcRect t="1021" b="1021"/>
          <a:stretch>
            <a:fillRect/>
          </a:stretch>
        </p:blipFill>
        <p:spPr bwMode="auto">
          <a:xfrm>
            <a:off x="7371405" y="1816619"/>
            <a:ext cx="3852613" cy="378359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84ED3D5A-C175-45B1-A094-BCD25BDE7B6F}"/>
              </a:ext>
            </a:extLst>
          </p:cNvPr>
          <p:cNvSpPr txBox="1"/>
          <p:nvPr/>
        </p:nvSpPr>
        <p:spPr>
          <a:xfrm>
            <a:off x="7988117" y="5565341"/>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32— Modulador de corriente</a:t>
            </a:r>
          </a:p>
        </p:txBody>
      </p:sp>
      <p:sp>
        <p:nvSpPr>
          <p:cNvPr id="10" name="Shape 2">
            <a:extLst>
              <a:ext uri="{FF2B5EF4-FFF2-40B4-BE49-F238E27FC236}">
                <a16:creationId xmlns:a16="http://schemas.microsoft.com/office/drawing/2014/main" id="{F97CCC8C-46F5-4B6B-A362-3233E5198A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1DB57E92-4BC0-48DE-BF51-548C4E5ED4F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170945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7">
            <a:extLst>
              <a:ext uri="{FF2B5EF4-FFF2-40B4-BE49-F238E27FC236}">
                <a16:creationId xmlns:a16="http://schemas.microsoft.com/office/drawing/2014/main" id="{870270BB-A81C-44CB-B358-E06327BE36FB}"/>
              </a:ext>
            </a:extLst>
          </p:cNvPr>
          <p:cNvSpPr/>
          <p:nvPr/>
        </p:nvSpPr>
        <p:spPr>
          <a:xfrm>
            <a:off x="228752" y="4601237"/>
            <a:ext cx="4322977" cy="85516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49 / ~75</a:t>
            </a:r>
          </a:p>
        </p:txBody>
      </p:sp>
      <mc:AlternateContent xmlns:mc="http://schemas.openxmlformats.org/markup-compatibility/2006" xmlns:a14="http://schemas.microsoft.com/office/drawing/2010/main">
        <mc:Choice Requires="a14">
          <p:sp>
            <p:nvSpPr>
              <p:cNvPr id="7" name="TextBox 6"/>
              <p:cNvSpPr txBox="1"/>
              <p:nvPr/>
            </p:nvSpPr>
            <p:spPr>
              <a:xfrm>
                <a:off x="152705" y="717524"/>
                <a:ext cx="11430000" cy="738664"/>
              </a:xfrm>
              <a:prstGeom prst="rect">
                <a:avLst/>
              </a:prstGeom>
              <a:noFill/>
            </p:spPr>
            <p:txBody>
              <a:bodyPr wrap="square">
                <a:spAutoFit/>
              </a:bodyPr>
              <a:lstStyle/>
              <a:p>
                <a:r>
                  <a:rPr lang="es-AR" sz="1400" b="0" i="0" dirty="0">
                    <a:solidFill>
                      <a:srgbClr val="1A1A2E"/>
                    </a:solidFill>
                    <a:latin typeface="Calibri"/>
                  </a:rPr>
                  <a:t>La etapa final del modulador convierte la consigna de torque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en la referencia de corriente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b="0" i="0" dirty="0">
                    <a:solidFill>
                      <a:srgbClr val="1A1A2E"/>
                    </a:solidFill>
                    <a:latin typeface="Calibri"/>
                  </a:rPr>
                  <a:t>. Se incorpora compensación de fricción viscosa y del torque gravitatorio (feed-forward). </a:t>
                </a:r>
                <a:br>
                  <a:rPr lang="es-MX" sz="1400" dirty="0"/>
                </a:br>
                <a:r>
                  <a:rPr lang="es-MX" sz="1400" dirty="0"/>
                  <a:t>Se obtiene la relación entre las consignas de corriente y la consigna de torque deseada:</a:t>
                </a:r>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52705" y="717524"/>
                <a:ext cx="11430000" cy="738664"/>
              </a:xfrm>
              <a:prstGeom prst="rect">
                <a:avLst/>
              </a:prstGeom>
              <a:blipFill>
                <a:blip r:embed="rId2"/>
                <a:stretch>
                  <a:fillRect l="-160" t="-2479" b="-7438"/>
                </a:stretch>
              </a:blipFill>
            </p:spPr>
            <p:txBody>
              <a:bodyPr/>
              <a:lstStyle/>
              <a:p>
                <a:r>
                  <a:rPr lang="es-AR">
                    <a:noFill/>
                  </a:rPr>
                  <a:t> </a:t>
                </a:r>
              </a:p>
            </p:txBody>
          </p:sp>
        </mc:Fallback>
      </mc:AlternateContent>
      <p:sp>
        <p:nvSpPr>
          <p:cNvPr id="8" name="Rectangle 7"/>
          <p:cNvSpPr/>
          <p:nvPr/>
        </p:nvSpPr>
        <p:spPr>
          <a:xfrm>
            <a:off x="213512" y="1513749"/>
            <a:ext cx="11430000"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83010" y="1526981"/>
                <a:ext cx="3741050" cy="4341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0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sub>
                      </m:sSub>
                      <m:d>
                        <m:dPr>
                          <m:begChr m:val="["/>
                          <m:endChr m:val="]"/>
                          <m:ctrlPr>
                            <a:rPr lang="es-AR" sz="1000" i="1">
                              <a:effectLst/>
                              <a:latin typeface="Cambria Math" panose="02040503050406030204" pitchFamily="18" charset="0"/>
                            </a:rPr>
                          </m:ctrlPr>
                        </m:dPr>
                        <m:e>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000" i="1">
                                  <a:effectLst/>
                                  <a:latin typeface="Cambria Math" panose="02040503050406030204" pitchFamily="18" charset="0"/>
                                </a:rPr>
                              </m:ctrlPr>
                            </m:dPr>
                            <m:e>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sub>
                              </m:sSub>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3010" y="1526981"/>
                <a:ext cx="3741050" cy="434158"/>
              </a:xfrm>
              <a:prstGeom prst="rect">
                <a:avLst/>
              </a:prstGeom>
              <a:blipFill>
                <a:blip r:embed="rId3"/>
                <a:stretch>
                  <a:fillRect b="-2778"/>
                </a:stretch>
              </a:blipFill>
            </p:spPr>
            <p:txBody>
              <a:bodyPr/>
              <a:lstStyle/>
              <a:p>
                <a:r>
                  <a:rPr lang="es-AR">
                    <a:noFill/>
                  </a:rPr>
                  <a:t> </a:t>
                </a:r>
              </a:p>
            </p:txBody>
          </p:sp>
        </mc:Fallback>
      </mc:AlternateContent>
      <p:sp>
        <p:nvSpPr>
          <p:cNvPr id="17" name="CuadroTexto 16">
            <a:extLst>
              <a:ext uri="{FF2B5EF4-FFF2-40B4-BE49-F238E27FC236}">
                <a16:creationId xmlns:a16="http://schemas.microsoft.com/office/drawing/2014/main" id="{33222BAA-AA07-4976-AE64-952BD00F7B9F}"/>
              </a:ext>
            </a:extLst>
          </p:cNvPr>
          <p:cNvSpPr txBox="1"/>
          <p:nvPr/>
        </p:nvSpPr>
        <p:spPr>
          <a:xfrm>
            <a:off x="152705" y="2105544"/>
            <a:ext cx="11876538" cy="1169551"/>
          </a:xfrm>
          <a:prstGeom prst="rect">
            <a:avLst/>
          </a:prstGeom>
          <a:noFill/>
        </p:spPr>
        <p:txBody>
          <a:bodyPr wrap="square">
            <a:spAutoFit/>
          </a:bodyPr>
          <a:lstStyle/>
          <a:p>
            <a:r>
              <a:rPr lang="es-MX" sz="1400" dirty="0"/>
              <a:t>El sistema mecánico presenta pérdidas por fricción que introducen una realimentación natural sobre el torque efectivo. Para contrarrestarla, se incorpora dentro del controlador un término adicional, de forma análoga a los desacoples electromagnéticos.</a:t>
            </a:r>
          </a:p>
          <a:p>
            <a:r>
              <a:rPr lang="es-MX" sz="1400" dirty="0"/>
              <a:t>Adicionalmente, se introduce una compensación del torque gravitacional mediante </a:t>
            </a:r>
            <a:r>
              <a:rPr lang="es-MX" sz="1400" b="1" dirty="0"/>
              <a:t>feed-forward</a:t>
            </a:r>
            <a:r>
              <a:rPr lang="es-MX" sz="1400" dirty="0"/>
              <a:t>: a partir de la posición del sistema, se estima el torque requerido para equilibrar la gravedad y se lo aplica directamente en la señal de control, actuando de manera preventiva. La consigna total de torque resulta de tres contribuciones:</a:t>
            </a:r>
          </a:p>
        </p:txBody>
      </p:sp>
      <p:sp>
        <p:nvSpPr>
          <p:cNvPr id="18" name="Rectangle 7">
            <a:extLst>
              <a:ext uri="{FF2B5EF4-FFF2-40B4-BE49-F238E27FC236}">
                <a16:creationId xmlns:a16="http://schemas.microsoft.com/office/drawing/2014/main" id="{73A7B243-9316-4393-AFC4-E869A54EEF32}"/>
              </a:ext>
            </a:extLst>
          </p:cNvPr>
          <p:cNvSpPr/>
          <p:nvPr/>
        </p:nvSpPr>
        <p:spPr>
          <a:xfrm>
            <a:off x="213512" y="3268265"/>
            <a:ext cx="11430000" cy="5763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9" name="TextBox 8">
                <a:extLst>
                  <a:ext uri="{FF2B5EF4-FFF2-40B4-BE49-F238E27FC236}">
                    <a16:creationId xmlns:a16="http://schemas.microsoft.com/office/drawing/2014/main" id="{39DF1666-565F-43EE-BB39-721F00DE72D0}"/>
                  </a:ext>
                </a:extLst>
              </p:cNvPr>
              <p:cNvSpPr txBox="1"/>
              <p:nvPr/>
            </p:nvSpPr>
            <p:spPr>
              <a:xfrm>
                <a:off x="355108" y="3268265"/>
                <a:ext cx="10928410" cy="57637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r>
                            <a:rPr lang="es-MX" sz="1400" b="0" i="1" smtClean="0">
                              <a:latin typeface="Cambria Math" panose="02040503050406030204" pitchFamily="18" charset="0"/>
                            </a:rPr>
                            <m:t>         ⇨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e>
                          </m:func>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func>
                    </m:oMath>
                  </m:oMathPara>
                </a14:m>
                <a:endParaRPr sz="1400" b="1" dirty="0">
                  <a:solidFill>
                    <a:srgbClr val="1B6B2A"/>
                  </a:solidFill>
                  <a:latin typeface="Calibri"/>
                </a:endParaRPr>
              </a:p>
            </p:txBody>
          </p:sp>
        </mc:Choice>
        <mc:Fallback xmlns="">
          <p:sp>
            <p:nvSpPr>
              <p:cNvPr id="19" name="TextBox 8">
                <a:extLst>
                  <a:ext uri="{FF2B5EF4-FFF2-40B4-BE49-F238E27FC236}">
                    <a16:creationId xmlns:a16="http://schemas.microsoft.com/office/drawing/2014/main" id="{39DF1666-565F-43EE-BB39-721F00DE72D0}"/>
                  </a:ext>
                </a:extLst>
              </p:cNvPr>
              <p:cNvSpPr txBox="1">
                <a:spLocks noRot="1" noChangeAspect="1" noMove="1" noResize="1" noEditPoints="1" noAdjustHandles="1" noChangeArrowheads="1" noChangeShapeType="1" noTextEdit="1"/>
              </p:cNvSpPr>
              <p:nvPr/>
            </p:nvSpPr>
            <p:spPr>
              <a:xfrm>
                <a:off x="355108" y="3268265"/>
                <a:ext cx="10928410" cy="576376"/>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18977391-6D45-4DB2-8686-583A0F292D38}"/>
              </a:ext>
            </a:extLst>
          </p:cNvPr>
          <p:cNvSpPr txBox="1"/>
          <p:nvPr/>
        </p:nvSpPr>
        <p:spPr>
          <a:xfrm>
            <a:off x="213512" y="4099937"/>
            <a:ext cx="11430000" cy="307777"/>
          </a:xfrm>
          <a:prstGeom prst="rect">
            <a:avLst/>
          </a:prstGeom>
          <a:noFill/>
        </p:spPr>
        <p:txBody>
          <a:bodyPr wrap="square">
            <a:spAutoFit/>
          </a:bodyPr>
          <a:lstStyle/>
          <a:p>
            <a:r>
              <a:rPr lang="es-AR" sz="1400" b="0" i="0" dirty="0">
                <a:solidFill>
                  <a:srgbClr val="1A1A2E"/>
                </a:solidFill>
                <a:latin typeface="Calibri"/>
              </a:rPr>
              <a:t>Despejando la consigna de </a:t>
            </a:r>
            <a:r>
              <a:rPr lang="es-AR" sz="1400" b="0" i="0" dirty="0">
                <a:latin typeface="Calibri"/>
              </a:rPr>
              <a:t>corriente</a:t>
            </a:r>
            <a:r>
              <a:rPr lang="es-AR" sz="1400" b="0" i="0" dirty="0">
                <a:solidFill>
                  <a:srgbClr val="1A1A2E"/>
                </a:solidFill>
                <a:latin typeface="Calibri"/>
              </a:rPr>
              <a:t> en el eje q:</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1795CDC2-40A9-4131-BFB4-063596AC6873}"/>
                  </a:ext>
                </a:extLst>
              </p:cNvPr>
              <p:cNvSpPr txBox="1"/>
              <p:nvPr/>
            </p:nvSpPr>
            <p:spPr>
              <a:xfrm>
                <a:off x="274320" y="4578958"/>
                <a:ext cx="4003828" cy="8594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𝜔</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r>
                            <a:rPr lang="es-AR" sz="1400" i="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𝑔</m:t>
                          </m:r>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𝑙</m:t>
                              </m:r>
                            </m:sub>
                          </m:sSub>
                          <m:r>
                            <a:rPr lang="es-AR" sz="1400" i="0">
                              <a:solidFill>
                                <a:schemeClr val="tx1"/>
                              </a:solidFill>
                              <a:latin typeface="Cambria Math" panose="02040503050406030204" pitchFamily="18" charset="0"/>
                            </a:rPr>
                            <m:t> </m:t>
                          </m:r>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d>
                                <m:dPr>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𝑟</m:t>
                                      </m:r>
                                    </m:den>
                                  </m:f>
                                </m:e>
                              </m:d>
                            </m:e>
                          </m:func>
                        </m:num>
                        <m:den>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
                            <m:dPr>
                              <m:begChr m:val="["/>
                              <m:endChr m:val="]"/>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den>
                      </m:f>
                    </m:oMath>
                  </m:oMathPara>
                </a14:m>
                <a:endParaRPr lang="es-AR" dirty="0"/>
              </a:p>
            </p:txBody>
          </p:sp>
        </mc:Choice>
        <mc:Fallback xmlns="">
          <p:sp>
            <p:nvSpPr>
              <p:cNvPr id="22" name="CuadroTexto 21">
                <a:extLst>
                  <a:ext uri="{FF2B5EF4-FFF2-40B4-BE49-F238E27FC236}">
                    <a16:creationId xmlns:a16="http://schemas.microsoft.com/office/drawing/2014/main" id="{1795CDC2-40A9-4131-BFB4-063596AC6873}"/>
                  </a:ext>
                </a:extLst>
              </p:cNvPr>
              <p:cNvSpPr txBox="1">
                <a:spLocks noRot="1" noChangeAspect="1" noMove="1" noResize="1" noEditPoints="1" noAdjustHandles="1" noChangeArrowheads="1" noChangeShapeType="1" noTextEdit="1"/>
              </p:cNvSpPr>
              <p:nvPr/>
            </p:nvSpPr>
            <p:spPr>
              <a:xfrm>
                <a:off x="274320" y="4578958"/>
                <a:ext cx="4003828" cy="859466"/>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dirty="0"/>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117420">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MX" sz="1400" b="0" i="0" smtClean="0">
                                    <a:solidFill>
                                      <a:schemeClr val="tx1"/>
                                    </a:solidFill>
                                    <a:latin typeface="Cambria Math" panose="02040503050406030204" pitchFamily="18" charset="0"/>
                                  </a:rPr>
                                  <m:t>=</m:t>
                                </m:r>
                                <m:r>
                                  <a:rPr lang="es-MX" sz="1400" b="0" i="0" smtClean="0">
                                    <a:solidFill>
                                      <a:schemeClr val="tx1"/>
                                    </a:solidFill>
                                    <a:latin typeface="Cambria Math" panose="02040503050406030204" pitchFamily="18" charset="0"/>
                                  </a:rPr>
                                  <m:t>0</m:t>
                                </m:r>
                              </m:oMath>
                            </m:oMathPara>
                          </a14:m>
                          <a:endParaRPr lang="pt-BR"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Desacople total entre ejes — el torque depende únicamente del flujo de imanes permanentes </a:t>
                          </a:r>
                          <a14:m>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oMath>
                          </a14:m>
                          <a:r>
                            <a:rPr lang="es-MX"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658936"/>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&lt;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Choice>
        <mc:Fallback xmlns="">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96471" r="-217989" b="-212941"/>
                          </a:stretch>
                        </a:blipFill>
                      </a:tcPr>
                    </a:tc>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6107" t="-96471" r="-243" b="-212941"/>
                          </a:stretch>
                        </a:blipFill>
                      </a:tcPr>
                    </a:tc>
                    <a:extLst>
                      <a:ext uri="{0D108BD9-81ED-4DB2-BD59-A6C34878D82A}">
                        <a16:rowId xmlns:a16="http://schemas.microsoft.com/office/drawing/2014/main" val="230965893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194186" r="-217989" b="-110465"/>
                          </a:stretch>
                        </a:blipFill>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297647" r="-217989" b="-11765"/>
                          </a:stretch>
                        </a:blipFill>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Fallback>
      </mc:AlternateContent>
      <p:sp>
        <p:nvSpPr>
          <p:cNvPr id="16" name="Shape 2">
            <a:extLst>
              <a:ext uri="{FF2B5EF4-FFF2-40B4-BE49-F238E27FC236}">
                <a16:creationId xmlns:a16="http://schemas.microsoft.com/office/drawing/2014/main" id="{AF9F5F0B-188A-4A1A-9E81-8E6C6010F2D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0E200651-F0BE-4087-A7C5-087F729DDA0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49 / ~75</a:t>
            </a:r>
          </a:p>
        </p:txBody>
      </p:sp>
      <p:pic>
        <p:nvPicPr>
          <p:cNvPr id="16" name="Imagen 15">
            <a:extLst>
              <a:ext uri="{FF2B5EF4-FFF2-40B4-BE49-F238E27FC236}">
                <a16:creationId xmlns:a16="http://schemas.microsoft.com/office/drawing/2014/main" id="{39E605FB-17CA-4A87-AD9E-1C7B3EB443F4}"/>
              </a:ext>
            </a:extLst>
          </p:cNvPr>
          <p:cNvPicPr/>
          <p:nvPr/>
        </p:nvPicPr>
        <p:blipFill>
          <a:blip r:embed="rId3"/>
          <a:srcRect/>
          <a:stretch/>
        </p:blipFill>
        <p:spPr>
          <a:xfrm>
            <a:off x="80652" y="761883"/>
            <a:ext cx="6497701" cy="3312420"/>
          </a:xfrm>
          <a:prstGeom prst="rect">
            <a:avLst/>
          </a:prstGeom>
        </p:spPr>
      </p:pic>
      <p:sp>
        <p:nvSpPr>
          <p:cNvPr id="18" name="CuadroTexto 17">
            <a:extLst>
              <a:ext uri="{FF2B5EF4-FFF2-40B4-BE49-F238E27FC236}">
                <a16:creationId xmlns:a16="http://schemas.microsoft.com/office/drawing/2014/main" id="{7C864E37-C0E5-491B-9D9F-8F02E6FBE630}"/>
              </a:ext>
            </a:extLst>
          </p:cNvPr>
          <p:cNvSpPr txBox="1"/>
          <p:nvPr/>
        </p:nvSpPr>
        <p:spPr>
          <a:xfrm>
            <a:off x="1081290" y="417031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Lazo de torque</a:t>
            </a:r>
          </a:p>
        </p:txBody>
      </p:sp>
      <p:sp>
        <p:nvSpPr>
          <p:cNvPr id="19" name="CuadroTexto 18">
            <a:extLst>
              <a:ext uri="{FF2B5EF4-FFF2-40B4-BE49-F238E27FC236}">
                <a16:creationId xmlns:a16="http://schemas.microsoft.com/office/drawing/2014/main" id="{88F4EC22-75A5-4A46-B0A2-B4F1F3EE72C9}"/>
              </a:ext>
            </a:extLst>
          </p:cNvPr>
          <p:cNvSpPr txBox="1"/>
          <p:nvPr/>
        </p:nvSpPr>
        <p:spPr>
          <a:xfrm>
            <a:off x="7143916" y="606869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Modulador de torque</a:t>
            </a:r>
          </a:p>
        </p:txBody>
      </p:sp>
      <p:sp>
        <p:nvSpPr>
          <p:cNvPr id="10" name="Shape 2">
            <a:extLst>
              <a:ext uri="{FF2B5EF4-FFF2-40B4-BE49-F238E27FC236}">
                <a16:creationId xmlns:a16="http://schemas.microsoft.com/office/drawing/2014/main" id="{84CDED2B-BE29-4E13-BA83-1A3F399B5B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2D7F693-9753-4C2B-B4FD-1F65F356A1A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7" name="Imagen 6">
            <a:extLst>
              <a:ext uri="{FF2B5EF4-FFF2-40B4-BE49-F238E27FC236}">
                <a16:creationId xmlns:a16="http://schemas.microsoft.com/office/drawing/2014/main" id="{FF46F6BC-8810-4171-9482-9FC43F26766D}"/>
              </a:ext>
            </a:extLst>
          </p:cNvPr>
          <p:cNvPicPr>
            <a:picLocks noChangeAspect="1"/>
          </p:cNvPicPr>
          <p:nvPr/>
        </p:nvPicPr>
        <p:blipFill>
          <a:blip r:embed="rId4"/>
          <a:stretch>
            <a:fillRect/>
          </a:stretch>
        </p:blipFill>
        <p:spPr>
          <a:xfrm>
            <a:off x="4364576" y="3025517"/>
            <a:ext cx="7746772" cy="3096473"/>
          </a:xfrm>
          <a:prstGeom prst="rect">
            <a:avLst/>
          </a:prstGeom>
        </p:spPr>
      </p:pic>
    </p:spTree>
    <p:extLst>
      <p:ext uri="{BB962C8B-B14F-4D97-AF65-F5344CB8AC3E}">
        <p14:creationId xmlns:p14="http://schemas.microsoft.com/office/powerpoint/2010/main" val="14090305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Controlador externo de movimiento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PID de posición/velocidad · Set-point · Observador</a:t>
            </a:r>
          </a:p>
        </p:txBody>
      </p:sp>
      <p:sp>
        <p:nvSpPr>
          <p:cNvPr id="5" name="Shape 4">
            <a:extLst>
              <a:ext uri="{FF2B5EF4-FFF2-40B4-BE49-F238E27FC236}">
                <a16:creationId xmlns:a16="http://schemas.microsoft.com/office/drawing/2014/main" id="{030235C3-D523-400D-93E4-C8874C5EA4BB}"/>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1606" y="99835"/>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p:sp>
        <p:nvSpPr>
          <p:cNvPr id="23" name="CuadroTexto 22">
            <a:extLst>
              <a:ext uri="{FF2B5EF4-FFF2-40B4-BE49-F238E27FC236}">
                <a16:creationId xmlns:a16="http://schemas.microsoft.com/office/drawing/2014/main" id="{6D191634-6E46-41B1-9388-58204DE6D0B2}"/>
              </a:ext>
            </a:extLst>
          </p:cNvPr>
          <p:cNvSpPr txBox="1"/>
          <p:nvPr/>
        </p:nvSpPr>
        <p:spPr>
          <a:xfrm>
            <a:off x="156545" y="721413"/>
            <a:ext cx="11430000" cy="1569660"/>
          </a:xfrm>
          <a:prstGeom prst="rect">
            <a:avLst/>
          </a:prstGeom>
          <a:noFill/>
        </p:spPr>
        <p:txBody>
          <a:bodyPr vertOverflow="overflow" vert="horz" wrap="square" rtlCol="0" anchor="t">
            <a:spAutoFit/>
          </a:bodyPr>
          <a:lstStyle/>
          <a:p>
            <a:pPr algn="l"/>
            <a:r>
              <a:rPr lang="es-MX" sz="1600" b="1" dirty="0"/>
              <a:t>Lazo Externo:</a:t>
            </a:r>
          </a:p>
          <a:p>
            <a:pPr algn="l"/>
            <a:r>
              <a:rPr lang="es-MX" sz="1600" dirty="0"/>
              <a:t>• Estructura: Lazo externo de posición/velocidad que actúa sobre la consigna de torque del modulador interno</a:t>
            </a:r>
          </a:p>
          <a:p>
            <a:pPr algn="l"/>
            <a:r>
              <a:rPr lang="es-MX" sz="1600" dirty="0"/>
              <a:t>• Controlador: PID en serie con acción integral → mejora respuesta dinámica y elimina error en régimen permanente</a:t>
            </a:r>
          </a:p>
          <a:p>
            <a:pPr algn="l"/>
            <a:r>
              <a:rPr lang="es-MX" sz="1600" dirty="0"/>
              <a:t>• Problema del ruido: La derivación de posición amplifica ruido de alta frecuencia, afectando la estabilidad </a:t>
            </a:r>
          </a:p>
          <a:p>
            <a:pPr algn="l"/>
            <a:r>
              <a:rPr lang="es-MX" sz="1600" dirty="0"/>
              <a:t>• Solución adoptada: Se mide directamente la velocidad; la posición se obtiene por integración (actúa como filtro pasa-bajos natural)</a:t>
            </a:r>
          </a:p>
          <a:p>
            <a:pPr algn="l"/>
            <a:r>
              <a:rPr lang="es-MX" sz="1600" dirty="0"/>
              <a:t>• Salida del controlador: Consigna de torque electromagnético (suma de acciones P + I + D)</a:t>
            </a:r>
            <a:endParaRPr lang="es-AR" sz="1600" dirty="0"/>
          </a:p>
        </p:txBody>
      </p:sp>
      <p:sp>
        <p:nvSpPr>
          <p:cNvPr id="25" name="Rectangle 7">
            <a:extLst>
              <a:ext uri="{FF2B5EF4-FFF2-40B4-BE49-F238E27FC236}">
                <a16:creationId xmlns:a16="http://schemas.microsoft.com/office/drawing/2014/main" id="{F3C69443-26C2-4085-986B-46F2C7469E1E}"/>
              </a:ext>
            </a:extLst>
          </p:cNvPr>
          <p:cNvSpPr/>
          <p:nvPr/>
        </p:nvSpPr>
        <p:spPr>
          <a:xfrm>
            <a:off x="235819" y="2358192"/>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32A6E7A6-CC96-4B39-8B1E-B6EC55D93479}"/>
                  </a:ext>
                </a:extLst>
              </p:cNvPr>
              <p:cNvSpPr txBox="1"/>
              <p:nvPr/>
            </p:nvSpPr>
            <p:spPr>
              <a:xfrm>
                <a:off x="-802409" y="2351396"/>
                <a:ext cx="9336504" cy="413318"/>
              </a:xfrm>
              <a:prstGeom prst="rect">
                <a:avLst/>
              </a:prstGeom>
              <a:noFill/>
            </p:spPr>
            <p:txBody>
              <a:bodyPr wrap="square">
                <a:spAutoFit/>
              </a:bodyPr>
              <a:lstStyle/>
              <a:p>
                <a:pPr algn="ct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ω</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𝑏</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f>
                      <m:fPr>
                        <m:ctrlPr>
                          <a:rPr lang="es-AR" sz="1400" i="1">
                            <a:solidFill>
                              <a:schemeClr val="tx1"/>
                            </a:solidFill>
                            <a:effectLst/>
                            <a:latin typeface="Cambria Math" panose="02040503050406030204" pitchFamily="18" charset="0"/>
                            <a:cs typeface="Calibri" panose="020F0502020204030204" pitchFamily="34" charset="0"/>
                          </a:rPr>
                        </m:ctrlPr>
                      </m:fPr>
                      <m:num>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num>
                      <m:den>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m:t>
                        </m:r>
                      </m:den>
                    </m:f>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𝑠𝑖𝑎</m:t>
                        </m:r>
                      </m:sub>
                    </m:sSub>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ω</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𝑠</m:t>
                    </m:r>
                  </m:oMath>
                </a14:m>
                <a:endParaRPr sz="1400" b="1" dirty="0">
                  <a:solidFill>
                    <a:srgbClr val="1B6B2A"/>
                  </a:solidFill>
                  <a:latin typeface="Calibri"/>
                </a:endParaRPr>
              </a:p>
            </p:txBody>
          </p:sp>
        </mc:Choice>
        <mc:Fallback xmlns="">
          <p:sp>
            <p:nvSpPr>
              <p:cNvPr id="26" name="TextBox 8">
                <a:extLst>
                  <a:ext uri="{FF2B5EF4-FFF2-40B4-BE49-F238E27FC236}">
                    <a16:creationId xmlns:a16="http://schemas.microsoft.com/office/drawing/2014/main" id="{32A6E7A6-CC96-4B39-8B1E-B6EC55D93479}"/>
                  </a:ext>
                </a:extLst>
              </p:cNvPr>
              <p:cNvSpPr txBox="1">
                <a:spLocks noRot="1" noChangeAspect="1" noMove="1" noResize="1" noEditPoints="1" noAdjustHandles="1" noChangeArrowheads="1" noChangeShapeType="1" noTextEdit="1"/>
              </p:cNvSpPr>
              <p:nvPr/>
            </p:nvSpPr>
            <p:spPr>
              <a:xfrm>
                <a:off x="-802409" y="2351396"/>
                <a:ext cx="9336504" cy="413318"/>
              </a:xfrm>
              <a:prstGeom prst="rect">
                <a:avLst/>
              </a:prstGeom>
              <a:blipFill>
                <a:blip r:embed="rId2"/>
                <a:stretch>
                  <a:fillRect b="-2941"/>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804A45E-FB73-4177-9218-2DEECC7B6CF6}"/>
              </a:ext>
            </a:extLst>
          </p:cNvPr>
          <p:cNvSpPr txBox="1"/>
          <p:nvPr/>
        </p:nvSpPr>
        <p:spPr>
          <a:xfrm>
            <a:off x="156545" y="2965548"/>
            <a:ext cx="11715110" cy="307777"/>
          </a:xfrm>
          <a:prstGeom prst="rect">
            <a:avLst/>
          </a:prstGeom>
          <a:noFill/>
        </p:spPr>
        <p:txBody>
          <a:bodyPr wrap="square">
            <a:spAutoFit/>
          </a:bodyPr>
          <a:lstStyle/>
          <a:p>
            <a:r>
              <a:rPr lang="es-AR" sz="1400" dirty="0"/>
              <a:t>Tomando el modelo equivalente del subsistema mecánico, considerando el desacople de torque previamente implementado:</a:t>
            </a:r>
          </a:p>
        </p:txBody>
      </p:sp>
      <p:sp>
        <p:nvSpPr>
          <p:cNvPr id="33" name="Rectangle 7">
            <a:extLst>
              <a:ext uri="{FF2B5EF4-FFF2-40B4-BE49-F238E27FC236}">
                <a16:creationId xmlns:a16="http://schemas.microsoft.com/office/drawing/2014/main" id="{FE079E72-AAA2-4FCF-8227-5713C427C5D2}"/>
              </a:ext>
            </a:extLst>
          </p:cNvPr>
          <p:cNvSpPr/>
          <p:nvPr/>
        </p:nvSpPr>
        <p:spPr>
          <a:xfrm>
            <a:off x="274320" y="3429000"/>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4" name="TextBox 8">
                <a:extLst>
                  <a:ext uri="{FF2B5EF4-FFF2-40B4-BE49-F238E27FC236}">
                    <a16:creationId xmlns:a16="http://schemas.microsoft.com/office/drawing/2014/main" id="{C6E1855F-86C6-476F-A765-FABEDA9C908C}"/>
                  </a:ext>
                </a:extLst>
              </p:cNvPr>
              <p:cNvSpPr txBox="1"/>
              <p:nvPr/>
            </p:nvSpPr>
            <p:spPr>
              <a:xfrm>
                <a:off x="-161090" y="3434103"/>
                <a:ext cx="5790895" cy="413190"/>
              </a:xfrm>
              <a:prstGeom prst="rect">
                <a:avLst/>
              </a:prstGeom>
              <a:noFill/>
            </p:spPr>
            <p:txBody>
              <a:bodyPr wrap="square">
                <a:spAutoFit/>
              </a:bodyPr>
              <a:lstStyle/>
              <a:p>
                <a:pPr algn="ct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𝑑</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ω</m:t>
                            </m:r>
                          </m:e>
                          <m:sub>
                            <m:r>
                              <a:rPr lang="ar-AE" sz="1400" i="1">
                                <a:solidFill>
                                  <a:schemeClr val="tx1"/>
                                </a:solidFill>
                                <a:latin typeface="Cambria Math" panose="02040503050406030204" pitchFamily="18" charset="0"/>
                              </a:rPr>
                              <m:t>𝑚</m:t>
                            </m:r>
                          </m:sub>
                        </m:sSub>
                      </m:num>
                      <m:den>
                        <m:r>
                          <a:rPr lang="ar-AE" sz="1400" i="1">
                            <a:solidFill>
                              <a:schemeClr val="tx1"/>
                            </a:solidFill>
                            <a:latin typeface="Cambria Math" panose="02040503050406030204" pitchFamily="18" charset="0"/>
                          </a:rPr>
                          <m:t>𝑑𝑡</m:t>
                        </m:r>
                      </m:den>
                    </m:f>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num>
                      <m:den>
                        <m:r>
                          <a:rPr lang="ar-AE" sz="1400" i="1">
                            <a:solidFill>
                              <a:schemeClr val="tx1"/>
                            </a:solidFill>
                            <a:latin typeface="Cambria Math" panose="02040503050406030204" pitchFamily="18" charset="0"/>
                          </a:rPr>
                          <m:t>𝑟</m:t>
                        </m:r>
                      </m:den>
                    </m:f>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 </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Θ</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num>
                      <m:den>
                        <m:r>
                          <a:rPr lang="ar-AE" sz="1400" i="1">
                            <a:solidFill>
                              <a:schemeClr val="tx1"/>
                            </a:solidFill>
                            <a:latin typeface="Cambria Math" panose="02040503050406030204" pitchFamily="18" charset="0"/>
                          </a:rPr>
                          <m:t>𝑟</m:t>
                        </m:r>
                      </m:den>
                    </m:f>
                  </m:oMath>
                </a14:m>
                <a:endParaRPr lang="ar-AE" sz="1400" b="1" dirty="0">
                  <a:solidFill>
                    <a:schemeClr val="tx1"/>
                  </a:solidFill>
                  <a:latin typeface="Calibri"/>
                </a:endParaRPr>
              </a:p>
            </p:txBody>
          </p:sp>
        </mc:Choice>
        <mc:Fallback xmlns="">
          <p:sp>
            <p:nvSpPr>
              <p:cNvPr id="34" name="TextBox 8">
                <a:extLst>
                  <a:ext uri="{FF2B5EF4-FFF2-40B4-BE49-F238E27FC236}">
                    <a16:creationId xmlns:a16="http://schemas.microsoft.com/office/drawing/2014/main" id="{C6E1855F-86C6-476F-A765-FABEDA9C908C}"/>
                  </a:ext>
                </a:extLst>
              </p:cNvPr>
              <p:cNvSpPr txBox="1">
                <a:spLocks noRot="1" noChangeAspect="1" noMove="1" noResize="1" noEditPoints="1" noAdjustHandles="1" noChangeArrowheads="1" noChangeShapeType="1" noTextEdit="1"/>
              </p:cNvSpPr>
              <p:nvPr/>
            </p:nvSpPr>
            <p:spPr>
              <a:xfrm>
                <a:off x="-161090" y="3434103"/>
                <a:ext cx="5790895" cy="413190"/>
              </a:xfrm>
              <a:prstGeom prst="rect">
                <a:avLst/>
              </a:prstGeom>
              <a:blipFill>
                <a:blip r:embed="rId3"/>
                <a:stretch>
                  <a:fillRect b="-2941"/>
                </a:stretch>
              </a:blipFill>
            </p:spPr>
            <p:txBody>
              <a:bodyPr/>
              <a:lstStyle/>
              <a:p>
                <a:r>
                  <a:rPr lang="es-AR">
                    <a:noFill/>
                  </a:rPr>
                  <a:t> </a:t>
                </a:r>
              </a:p>
            </p:txBody>
          </p:sp>
        </mc:Fallback>
      </mc:AlternateContent>
      <p:sp>
        <p:nvSpPr>
          <p:cNvPr id="35" name="CuadroTexto 34">
            <a:extLst>
              <a:ext uri="{FF2B5EF4-FFF2-40B4-BE49-F238E27FC236}">
                <a16:creationId xmlns:a16="http://schemas.microsoft.com/office/drawing/2014/main" id="{D38C28DD-0430-4A46-B124-0C50B64ABA8B}"/>
              </a:ext>
            </a:extLst>
          </p:cNvPr>
          <p:cNvSpPr txBox="1"/>
          <p:nvPr/>
        </p:nvSpPr>
        <p:spPr>
          <a:xfrm>
            <a:off x="235819" y="4046962"/>
            <a:ext cx="11715110" cy="523220"/>
          </a:xfrm>
          <a:prstGeom prst="rect">
            <a:avLst/>
          </a:prstGeom>
          <a:noFill/>
        </p:spPr>
        <p:txBody>
          <a:bodyPr wrap="square">
            <a:spAutoFit/>
          </a:bodyPr>
          <a:lstStyle/>
          <a:p>
            <a:r>
              <a:rPr lang="es-AR" sz="1400" dirty="0"/>
              <a:t>Sustituyendo la expresión de torque dada por el controlador en el dominio de Laplace y despejando, es posible obtener las funciones de transferencia del sistema en lazo cerrado:</a:t>
            </a:r>
          </a:p>
        </p:txBody>
      </p:sp>
      <p:sp>
        <p:nvSpPr>
          <p:cNvPr id="36" name="Rectangle 7">
            <a:extLst>
              <a:ext uri="{FF2B5EF4-FFF2-40B4-BE49-F238E27FC236}">
                <a16:creationId xmlns:a16="http://schemas.microsoft.com/office/drawing/2014/main" id="{1FD02DE2-A7A6-49C3-B2A8-B4869A13E153}"/>
              </a:ext>
            </a:extLst>
          </p:cNvPr>
          <p:cNvSpPr/>
          <p:nvPr/>
        </p:nvSpPr>
        <p:spPr>
          <a:xfrm>
            <a:off x="320040" y="4664348"/>
            <a:ext cx="11389607" cy="13270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a:p>
        </p:txBody>
      </p:sp>
      <mc:AlternateContent xmlns:mc="http://schemas.openxmlformats.org/markup-compatibility/2006" xmlns:a14="http://schemas.microsoft.com/office/drawing/2010/main">
        <mc:Choice Requires="a14">
          <p:sp>
            <p:nvSpPr>
              <p:cNvPr id="37" name="TextBox 8">
                <a:extLst>
                  <a:ext uri="{FF2B5EF4-FFF2-40B4-BE49-F238E27FC236}">
                    <a16:creationId xmlns:a16="http://schemas.microsoft.com/office/drawing/2014/main" id="{7B5BB154-871C-4401-8555-EAAAD30CFF80}"/>
                  </a:ext>
                </a:extLst>
              </p:cNvPr>
              <p:cNvSpPr txBox="1"/>
              <p:nvPr/>
            </p:nvSpPr>
            <p:spPr>
              <a:xfrm>
                <a:off x="125912" y="4828890"/>
                <a:ext cx="6354787" cy="476221"/>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r>
                          <a:rPr lang="es-AR" sz="1400" i="1">
                            <a:latin typeface="Cambria Math" panose="02040503050406030204" pitchFamily="18" charset="0"/>
                          </a:rPr>
                          <m:t>𝑟</m:t>
                        </m:r>
                      </m:den>
                    </m:f>
                  </m:oMath>
                </a14:m>
                <a:r>
                  <a:rPr lang="es-MX" sz="1400" b="1" dirty="0">
                    <a:solidFill>
                      <a:schemeClr val="tx1"/>
                    </a:solidFill>
                    <a:latin typeface="Calibri"/>
                  </a:rPr>
                  <a:t>, </a:t>
                </a:r>
                <a:endParaRPr lang="ar-AE" sz="1400" b="1" dirty="0">
                  <a:solidFill>
                    <a:schemeClr val="tx1"/>
                  </a:solidFill>
                  <a:latin typeface="Calibri"/>
                </a:endParaRPr>
              </a:p>
            </p:txBody>
          </p:sp>
        </mc:Choice>
        <mc:Fallback xmlns="">
          <p:sp>
            <p:nvSpPr>
              <p:cNvPr id="37" name="TextBox 8">
                <a:extLst>
                  <a:ext uri="{FF2B5EF4-FFF2-40B4-BE49-F238E27FC236}">
                    <a16:creationId xmlns:a16="http://schemas.microsoft.com/office/drawing/2014/main" id="{7B5BB154-871C-4401-8555-EAAAD30CFF80}"/>
                  </a:ext>
                </a:extLst>
              </p:cNvPr>
              <p:cNvSpPr txBox="1">
                <a:spLocks noRot="1" noChangeAspect="1" noMove="1" noResize="1" noEditPoints="1" noAdjustHandles="1" noChangeArrowheads="1" noChangeShapeType="1" noTextEdit="1"/>
              </p:cNvSpPr>
              <p:nvPr/>
            </p:nvSpPr>
            <p:spPr>
              <a:xfrm>
                <a:off x="125912" y="4828890"/>
                <a:ext cx="6354787" cy="476221"/>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9" name="TextBox 8">
                <a:extLst>
                  <a:ext uri="{FF2B5EF4-FFF2-40B4-BE49-F238E27FC236}">
                    <a16:creationId xmlns:a16="http://schemas.microsoft.com/office/drawing/2014/main" id="{AF83D051-6113-4677-A48D-95877C043109}"/>
                  </a:ext>
                </a:extLst>
              </p:cNvPr>
              <p:cNvSpPr txBox="1"/>
              <p:nvPr/>
            </p:nvSpPr>
            <p:spPr>
              <a:xfrm>
                <a:off x="5638647" y="5354565"/>
                <a:ext cx="5790895" cy="58740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r>
                            <a:rPr lang="es-AR" sz="1400" i="1">
                              <a:latin typeface="Cambria Math" panose="02040503050406030204" pitchFamily="18" charset="0"/>
                            </a:rPr>
                            <m:t>𝑟</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e>
                          </m:d>
                        </m:den>
                      </m:f>
                    </m:oMath>
                  </m:oMathPara>
                </a14:m>
                <a:endParaRPr lang="ar-AE" sz="1100" b="1" dirty="0">
                  <a:solidFill>
                    <a:schemeClr val="tx1"/>
                  </a:solidFill>
                  <a:latin typeface="Calibri"/>
                </a:endParaRPr>
              </a:p>
            </p:txBody>
          </p:sp>
        </mc:Choice>
        <mc:Fallback xmlns="">
          <p:sp>
            <p:nvSpPr>
              <p:cNvPr id="39" name="TextBox 8">
                <a:extLst>
                  <a:ext uri="{FF2B5EF4-FFF2-40B4-BE49-F238E27FC236}">
                    <a16:creationId xmlns:a16="http://schemas.microsoft.com/office/drawing/2014/main" id="{AF83D051-6113-4677-A48D-95877C043109}"/>
                  </a:ext>
                </a:extLst>
              </p:cNvPr>
              <p:cNvSpPr txBox="1">
                <a:spLocks noRot="1" noChangeAspect="1" noMove="1" noResize="1" noEditPoints="1" noAdjustHandles="1" noChangeArrowheads="1" noChangeShapeType="1" noTextEdit="1"/>
              </p:cNvSpPr>
              <p:nvPr/>
            </p:nvSpPr>
            <p:spPr>
              <a:xfrm>
                <a:off x="5638647" y="5354565"/>
                <a:ext cx="5790895" cy="587405"/>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0" name="TextBox 8">
                <a:extLst>
                  <a:ext uri="{FF2B5EF4-FFF2-40B4-BE49-F238E27FC236}">
                    <a16:creationId xmlns:a16="http://schemas.microsoft.com/office/drawing/2014/main" id="{05700DBE-9ECF-48FC-94D0-08839343554C}"/>
                  </a:ext>
                </a:extLst>
              </p:cNvPr>
              <p:cNvSpPr txBox="1"/>
              <p:nvPr/>
            </p:nvSpPr>
            <p:spPr>
              <a:xfrm>
                <a:off x="5398950" y="4652741"/>
                <a:ext cx="5790895" cy="58458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oMath>
                  </m:oMathPara>
                </a14:m>
                <a:endParaRPr lang="ar-AE" sz="1000" b="1" dirty="0">
                  <a:solidFill>
                    <a:schemeClr val="tx1"/>
                  </a:solidFill>
                  <a:latin typeface="Calibri"/>
                </a:endParaRPr>
              </a:p>
            </p:txBody>
          </p:sp>
        </mc:Choice>
        <mc:Fallback xmlns="">
          <p:sp>
            <p:nvSpPr>
              <p:cNvPr id="40" name="TextBox 8">
                <a:extLst>
                  <a:ext uri="{FF2B5EF4-FFF2-40B4-BE49-F238E27FC236}">
                    <a16:creationId xmlns:a16="http://schemas.microsoft.com/office/drawing/2014/main" id="{05700DBE-9ECF-48FC-94D0-08839343554C}"/>
                  </a:ext>
                </a:extLst>
              </p:cNvPr>
              <p:cNvSpPr txBox="1">
                <a:spLocks noRot="1" noChangeAspect="1" noMove="1" noResize="1" noEditPoints="1" noAdjustHandles="1" noChangeArrowheads="1" noChangeShapeType="1" noTextEdit="1"/>
              </p:cNvSpPr>
              <p:nvPr/>
            </p:nvSpPr>
            <p:spPr>
              <a:xfrm>
                <a:off x="5398950" y="4652741"/>
                <a:ext cx="5790895" cy="584584"/>
              </a:xfrm>
              <a:prstGeom prst="rect">
                <a:avLst/>
              </a:prstGeom>
              <a:blipFill>
                <a:blip r:embed="rId6"/>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D97017DD-3277-4E25-9730-01F843BBB52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5D1A550-1B2F-4138-A9A2-3F53FE3B4EF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5146" y="113877"/>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mc:AlternateContent xmlns:mc="http://schemas.openxmlformats.org/markup-compatibility/2006" xmlns:a14="http://schemas.microsoft.com/office/drawing/2010/main">
        <mc:Choice Requires="a14">
          <p:sp>
            <p:nvSpPr>
              <p:cNvPr id="7" name="TextBox 6"/>
              <p:cNvSpPr txBox="1"/>
              <p:nvPr/>
            </p:nvSpPr>
            <p:spPr>
              <a:xfrm>
                <a:off x="126067" y="740338"/>
                <a:ext cx="11551615" cy="523220"/>
              </a:xfrm>
              <a:prstGeom prst="rect">
                <a:avLst/>
              </a:prstGeom>
              <a:noFill/>
            </p:spPr>
            <p:txBody>
              <a:bodyPr wrap="square">
                <a:spAutoFit/>
              </a:bodyPr>
              <a:lstStyle/>
              <a:p>
                <a:r>
                  <a:rPr lang="es-AR" sz="1400" b="0" i="0" dirty="0">
                    <a:solidFill>
                      <a:srgbClr val="1A1A2E"/>
                    </a:solidFill>
                    <a:latin typeface="Calibri"/>
                  </a:rPr>
                  <a:t>Lazo externo de posición y velocidad. Para evitar amplificar ruido con el derivador, se realimenta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directamente. La salida es la consigna de torque </a:t>
                </a: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MX" sz="1400" b="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oMath>
                </a14:m>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26067" y="740338"/>
                <a:ext cx="11551615" cy="523220"/>
              </a:xfrm>
              <a:prstGeom prst="rect">
                <a:avLst/>
              </a:prstGeom>
              <a:blipFill>
                <a:blip r:embed="rId2"/>
                <a:stretch>
                  <a:fillRect l="-158" t="-116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DE77671-EDE9-4845-B6CF-DD185C2E95F1}"/>
                  </a:ext>
                </a:extLst>
              </p:cNvPr>
              <p:cNvSpPr txBox="1"/>
              <p:nvPr/>
            </p:nvSpPr>
            <p:spPr>
              <a:xfrm>
                <a:off x="203299" y="1263558"/>
                <a:ext cx="11255110" cy="939744"/>
              </a:xfrm>
              <a:prstGeom prst="rect">
                <a:avLst/>
              </a:prstGeom>
              <a:noFill/>
            </p:spPr>
            <p:txBody>
              <a:bodyPr wrap="square">
                <a:spAutoFit/>
              </a:bodyPr>
              <a:lstStyle/>
              <a:p>
                <a:r>
                  <a:rPr lang="es-AR" sz="1400" dirty="0"/>
                  <a:t>Aplicando el teorema del valor final sobre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𝐺</m:t>
                        </m:r>
                      </m:e>
                      <m:sub>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𝑠</m:t>
                        </m:r>
                      </m:e>
                    </m:d>
                  </m:oMath>
                </a14:m>
                <a:r>
                  <a:rPr lang="es-AR" sz="1400" dirty="0"/>
                  <a:t>:</a:t>
                </a:r>
              </a:p>
              <a:p>
                <a:pPr marL="285750" indent="-285750">
                  <a:buFont typeface="Arial" panose="020B0604020202020204" pitchFamily="34" charset="0"/>
                  <a:buChar char="•"/>
                </a:pPr>
                <a:r>
                  <a:rPr lang="fi-FI"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fi-FI"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fi-FI" sz="1400">
                                <a:latin typeface="Cambria Math" panose="02040503050406030204" pitchFamily="18" charset="0"/>
                              </a:rPr>
                              <m:t>lim</m:t>
                            </m:r>
                          </m:e>
                          <m:lim>
                            <m:r>
                              <a:rPr lang="fi-FI" sz="1400" i="1">
                                <a:latin typeface="Cambria Math" panose="02040503050406030204" pitchFamily="18" charset="0"/>
                              </a:rPr>
                              <m:t>𝑡</m:t>
                            </m:r>
                            <m:r>
                              <a:rPr lang="fi-FI" sz="1400">
                                <a:latin typeface="Cambria Math" panose="02040503050406030204" pitchFamily="18" charset="0"/>
                              </a:rPr>
                              <m:t>→</m:t>
                            </m:r>
                            <m:r>
                              <a:rPr lang="fi-FI"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fi-FI" sz="1400" i="1">
                                <a:latin typeface="Cambria Math" panose="02040503050406030204" pitchFamily="18" charset="0"/>
                              </a:rPr>
                              <m:t>𝜃</m:t>
                            </m:r>
                          </m:e>
                          <m:sub>
                            <m:r>
                              <a:rPr lang="fi-FI" sz="1400" i="1">
                                <a:latin typeface="Cambria Math" panose="02040503050406030204" pitchFamily="18" charset="0"/>
                              </a:rPr>
                              <m:t>𝑚</m:t>
                            </m:r>
                          </m:sub>
                        </m:sSub>
                        <m:d>
                          <m:dPr>
                            <m:ctrlPr>
                              <a:rPr lang="es-AR" sz="1400" i="1">
                                <a:latin typeface="Cambria Math" panose="02040503050406030204" pitchFamily="18" charset="0"/>
                              </a:rPr>
                            </m:ctrlPr>
                          </m:dPr>
                          <m:e>
                            <m:r>
                              <a:rPr lang="fi-FI" sz="1400" i="1">
                                <a:latin typeface="Cambria Math" panose="02040503050406030204" pitchFamily="18" charset="0"/>
                              </a:rPr>
                              <m:t>𝑡</m:t>
                            </m:r>
                          </m:e>
                        </m:d>
                      </m:e>
                    </m:func>
                    <m:r>
                      <a:rPr lang="fi-FI" sz="1400" i="1">
                        <a:latin typeface="Cambria Math" panose="02040503050406030204" pitchFamily="18" charset="0"/>
                      </a:rPr>
                      <m:t>=</m:t>
                    </m:r>
                    <m:r>
                      <a:rPr lang="fi-FI" sz="1400" i="1">
                        <a:latin typeface="Cambria Math" panose="02040503050406030204" pitchFamily="18" charset="0"/>
                      </a:rPr>
                      <m:t>1</m:t>
                    </m:r>
                    <m:r>
                      <a:rPr lang="fi-FI" sz="1400" i="1">
                        <a:latin typeface="Cambria Math" panose="02040503050406030204" pitchFamily="18" charset="0"/>
                      </a:rPr>
                      <m:t>−</m:t>
                    </m:r>
                    <m:f>
                      <m:fPr>
                        <m:ctrlPr>
                          <a:rPr lang="es-AR" sz="1400" i="1">
                            <a:latin typeface="Cambria Math" panose="02040503050406030204" pitchFamily="18" charset="0"/>
                          </a:rPr>
                        </m:ctrlPr>
                      </m:fPr>
                      <m:num>
                        <m:r>
                          <a:rPr lang="fi-FI" sz="1400" i="1">
                            <a:latin typeface="Cambria Math" panose="02040503050406030204" pitchFamily="18" charset="0"/>
                          </a:rPr>
                          <m:t>1</m:t>
                        </m:r>
                      </m:num>
                      <m:den>
                        <m:r>
                          <a:rPr lang="fi-FI" sz="1400" i="1">
                            <a:latin typeface="Cambria Math" panose="02040503050406030204" pitchFamily="18" charset="0"/>
                          </a:rPr>
                          <m:t>𝑟</m:t>
                        </m:r>
                        <m:r>
                          <a:rPr lang="fi-FI" sz="1400" i="1">
                            <a:latin typeface="Cambria Math" panose="02040503050406030204" pitchFamily="18" charset="0"/>
                          </a:rPr>
                          <m:t> </m:t>
                        </m:r>
                        <m:sSub>
                          <m:sSubPr>
                            <m:ctrlPr>
                              <a:rPr lang="es-AR" sz="1400" i="1">
                                <a:latin typeface="Cambria Math" panose="02040503050406030204" pitchFamily="18" charset="0"/>
                              </a:rPr>
                            </m:ctrlPr>
                          </m:sSubPr>
                          <m:e>
                            <m:r>
                              <a:rPr lang="fi-FI" sz="1400" i="1">
                                <a:latin typeface="Cambria Math" panose="02040503050406030204" pitchFamily="18" charset="0"/>
                              </a:rPr>
                              <m:t>𝐾</m:t>
                            </m:r>
                          </m:e>
                          <m:sub>
                            <m:r>
                              <a:rPr lang="fi-FI" sz="1400" i="1">
                                <a:latin typeface="Cambria Math" panose="02040503050406030204" pitchFamily="18" charset="0"/>
                              </a:rPr>
                              <m:t>𝑠𝑎</m:t>
                            </m:r>
                          </m:sub>
                        </m:sSub>
                      </m:den>
                    </m:f>
                  </m:oMath>
                </a14:m>
                <a:r>
                  <a:rPr lang="fi-FI" sz="1400" dirty="0"/>
                  <a:t> </a:t>
                </a:r>
                <a:r>
                  <a:rPr lang="es-MX" sz="1400" dirty="0"/>
                  <a:t>— error residual dependiente de la ganancia</a:t>
                </a:r>
                <a:endParaRPr lang="fi-FI" sz="1400" dirty="0"/>
              </a:p>
              <a:p>
                <a:pPr marL="285750" indent="-285750">
                  <a:buFont typeface="Arial" panose="020B0604020202020204" pitchFamily="34" charset="0"/>
                  <a:buChar char="•"/>
                </a:pPr>
                <a:r>
                  <a:rPr lang="es-AR"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en-US" sz="1400">
                                <a:latin typeface="Cambria Math" panose="02040503050406030204" pitchFamily="18" charset="0"/>
                              </a:rPr>
                              <m:t>lim</m:t>
                            </m:r>
                          </m:e>
                          <m:lim>
                            <m:r>
                              <a:rPr lang="en-US" sz="1400" i="1">
                                <a:latin typeface="Cambria Math" panose="02040503050406030204" pitchFamily="18" charset="0"/>
                              </a:rPr>
                              <m:t>𝑡</m:t>
                            </m:r>
                            <m:r>
                              <a:rPr lang="en-US" sz="1400">
                                <a:latin typeface="Cambria Math" panose="02040503050406030204" pitchFamily="18" charset="0"/>
                              </a:rPr>
                              <m:t>→</m:t>
                            </m:r>
                            <m:r>
                              <a:rPr lang="en-US"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en-US" sz="1400" i="1">
                                <a:latin typeface="Cambria Math" panose="02040503050406030204" pitchFamily="18" charset="0"/>
                              </a:rPr>
                              <m:t>𝜃</m:t>
                            </m:r>
                          </m:e>
                          <m:sub>
                            <m:r>
                              <a:rPr lang="en-US" sz="1400" i="1">
                                <a:latin typeface="Cambria Math" panose="02040503050406030204" pitchFamily="18" charset="0"/>
                              </a:rPr>
                              <m:t>𝑚</m:t>
                            </m:r>
                          </m:sub>
                        </m:sSub>
                        <m:d>
                          <m:dPr>
                            <m:ctrlPr>
                              <a:rPr lang="es-AR" sz="1400" i="1">
                                <a:latin typeface="Cambria Math" panose="02040503050406030204" pitchFamily="18" charset="0"/>
                              </a:rPr>
                            </m:ctrlPr>
                          </m:dPr>
                          <m:e>
                            <m:r>
                              <a:rPr lang="en-US" sz="1400" i="1">
                                <a:latin typeface="Cambria Math" panose="02040503050406030204" pitchFamily="18" charset="0"/>
                              </a:rPr>
                              <m:t>𝑡</m:t>
                            </m:r>
                          </m:e>
                        </m:d>
                      </m:e>
                    </m:func>
                    <m:r>
                      <a:rPr lang="en-US" sz="1400" i="1">
                        <a:latin typeface="Cambria Math" panose="02040503050406030204" pitchFamily="18" charset="0"/>
                      </a:rPr>
                      <m:t>=</m:t>
                    </m:r>
                    <m:r>
                      <a:rPr lang="en-US" sz="1400" i="1">
                        <a:latin typeface="Cambria Math" panose="02040503050406030204" pitchFamily="18" charset="0"/>
                      </a:rPr>
                      <m:t>1</m:t>
                    </m:r>
                  </m:oMath>
                </a14:m>
                <a:r>
                  <a:rPr lang="fi-FI" sz="1400" dirty="0"/>
                  <a:t> </a:t>
                </a:r>
                <a:r>
                  <a:rPr lang="es-MX" sz="1400" dirty="0"/>
                  <a:t>— seguimiento exacto de la consigna</a:t>
                </a:r>
                <a:endParaRPr lang="fi-FI" sz="1400" dirty="0"/>
              </a:p>
            </p:txBody>
          </p:sp>
        </mc:Choice>
        <mc:Fallback xmlns="">
          <p:sp>
            <p:nvSpPr>
              <p:cNvPr id="24" name="CuadroTexto 23">
                <a:extLst>
                  <a:ext uri="{FF2B5EF4-FFF2-40B4-BE49-F238E27FC236}">
                    <a16:creationId xmlns:a16="http://schemas.microsoft.com/office/drawing/2014/main" id="{9DE77671-EDE9-4845-B6CF-DD185C2E95F1}"/>
                  </a:ext>
                </a:extLst>
              </p:cNvPr>
              <p:cNvSpPr txBox="1">
                <a:spLocks noRot="1" noChangeAspect="1" noMove="1" noResize="1" noEditPoints="1" noAdjustHandles="1" noChangeArrowheads="1" noChangeShapeType="1" noTextEdit="1"/>
              </p:cNvSpPr>
              <p:nvPr/>
            </p:nvSpPr>
            <p:spPr>
              <a:xfrm>
                <a:off x="203299" y="1263558"/>
                <a:ext cx="11255110" cy="939744"/>
              </a:xfrm>
              <a:prstGeom prst="rect">
                <a:avLst/>
              </a:prstGeom>
              <a:blipFill>
                <a:blip r:embed="rId3"/>
                <a:stretch>
                  <a:fillRect l="-16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2E7870C4-1ED3-4A9E-9DC4-937BADADDAAB}"/>
                  </a:ext>
                </a:extLst>
              </p:cNvPr>
              <p:cNvSpPr txBox="1"/>
              <p:nvPr/>
            </p:nvSpPr>
            <p:spPr>
              <a:xfrm>
                <a:off x="126066" y="2213905"/>
                <a:ext cx="11645723" cy="738664"/>
              </a:xfrm>
              <a:prstGeom prst="rect">
                <a:avLst/>
              </a:prstGeom>
              <a:noFill/>
            </p:spPr>
            <p:txBody>
              <a:bodyPr wrap="square">
                <a:spAutoFit/>
              </a:bodyPr>
              <a:lstStyle/>
              <a:p>
                <a:r>
                  <a:rPr lang="es-MX" sz="1400" b="1" dirty="0"/>
                  <a:t>Rechazo de perturbaciones de carga</a:t>
                </a:r>
              </a:p>
              <a:p>
                <a:pPr>
                  <a:buFont typeface="Arial" panose="020B0604020202020204" pitchFamily="34" charset="0"/>
                  <a:buChar char="•"/>
                </a:pPr>
                <a:r>
                  <a:rPr lang="es-MX" sz="1400" dirty="0"/>
                  <a:t>Sin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es-MX" sz="1400" dirty="0"/>
                  <a:t>): una perturbación constante produce error permanente en posición.</a:t>
                </a:r>
              </a:p>
              <a:p>
                <a:pPr>
                  <a:buFont typeface="Arial" panose="020B0604020202020204" pitchFamily="34" charset="0"/>
                  <a:buChar char="•"/>
                </a:pPr>
                <a:r>
                  <a:rPr lang="es-MX" sz="1400" dirty="0"/>
                  <a:t>Con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MX" sz="1400" dirty="0"/>
                  <a:t>): la integral elimina el error en régimen estacionario → rechazo completo de perturbaciones constantes de torque.</a:t>
                </a:r>
              </a:p>
            </p:txBody>
          </p:sp>
        </mc:Choice>
        <mc:Fallback xmlns="">
          <p:sp>
            <p:nvSpPr>
              <p:cNvPr id="26" name="CuadroTexto 25">
                <a:extLst>
                  <a:ext uri="{FF2B5EF4-FFF2-40B4-BE49-F238E27FC236}">
                    <a16:creationId xmlns:a16="http://schemas.microsoft.com/office/drawing/2014/main" id="{2E7870C4-1ED3-4A9E-9DC4-937BADADDAAB}"/>
                  </a:ext>
                </a:extLst>
              </p:cNvPr>
              <p:cNvSpPr txBox="1">
                <a:spLocks noRot="1" noChangeAspect="1" noMove="1" noResize="1" noEditPoints="1" noAdjustHandles="1" noChangeArrowheads="1" noChangeShapeType="1" noTextEdit="1"/>
              </p:cNvSpPr>
              <p:nvPr/>
            </p:nvSpPr>
            <p:spPr>
              <a:xfrm>
                <a:off x="126066" y="2213905"/>
                <a:ext cx="11645723" cy="738664"/>
              </a:xfrm>
              <a:prstGeom prst="rect">
                <a:avLst/>
              </a:prstGeom>
              <a:blipFill>
                <a:blip r:embed="rId4"/>
                <a:stretch>
                  <a:fillRect l="-157" t="-1653" b="-8264"/>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4F94958-533E-48F7-8EDE-8E91FBE2954C}"/>
              </a:ext>
            </a:extLst>
          </p:cNvPr>
          <p:cNvSpPr txBox="1"/>
          <p:nvPr/>
        </p:nvSpPr>
        <p:spPr>
          <a:xfrm>
            <a:off x="126066" y="3093978"/>
            <a:ext cx="11551615" cy="523220"/>
          </a:xfrm>
          <a:prstGeom prst="rect">
            <a:avLst/>
          </a:prstGeom>
          <a:noFill/>
        </p:spPr>
        <p:txBody>
          <a:bodyPr wrap="square">
            <a:spAutoFit/>
          </a:bodyPr>
          <a:lstStyle/>
          <a:p>
            <a:r>
              <a:rPr lang="es-MX" sz="1400" b="1" dirty="0"/>
              <a:t>Sintonización: método de asignación de polos</a:t>
            </a:r>
          </a:p>
          <a:p>
            <a:r>
              <a:rPr lang="es-MX" sz="1400" dirty="0"/>
              <a:t>Los parámetros del controlador se determinan por sintonización en serie, imponiendo igual frecuencia para los tres polos dominantes:</a:t>
            </a:r>
          </a:p>
        </p:txBody>
      </p:sp>
      <p:sp>
        <p:nvSpPr>
          <p:cNvPr id="31" name="CuadroTexto 30">
            <a:extLst>
              <a:ext uri="{FF2B5EF4-FFF2-40B4-BE49-F238E27FC236}">
                <a16:creationId xmlns:a16="http://schemas.microsoft.com/office/drawing/2014/main" id="{1163E0D1-4C7B-4E2D-B629-9C93F573CDE7}"/>
              </a:ext>
            </a:extLst>
          </p:cNvPr>
          <p:cNvSpPr txBox="1"/>
          <p:nvPr/>
        </p:nvSpPr>
        <p:spPr>
          <a:xfrm>
            <a:off x="5641759" y="2996213"/>
            <a:ext cx="65" cy="276999"/>
          </a:xfrm>
          <a:prstGeom prst="rect">
            <a:avLst/>
          </a:prstGeom>
          <a:noFill/>
        </p:spPr>
        <p:txBody>
          <a:bodyPr wrap="none" lIns="0" tIns="0" rIns="0" bIns="0" rtlCol="0">
            <a:spAutoFit/>
          </a:bodyPr>
          <a:lstStyle/>
          <a:p>
            <a:endParaRPr lang="es-AR" dirty="0"/>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D8D743C7-F2CA-4F08-9019-FC35CE9FDFE2}"/>
                  </a:ext>
                </a:extLst>
              </p:cNvPr>
              <p:cNvSpPr txBox="1"/>
              <p:nvPr/>
            </p:nvSpPr>
            <p:spPr>
              <a:xfrm>
                <a:off x="3376943" y="3682636"/>
                <a:ext cx="4092166" cy="327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latin typeface="Cambria Math" panose="02040503050406030204" pitchFamily="18" charset="0"/>
                        </a:rPr>
                        <m:t>ζ</m:t>
                      </m:r>
                      <m:r>
                        <a:rPr lang="es-AR" sz="1400" i="0">
                          <a:latin typeface="Cambria Math" panose="02040503050406030204" pitchFamily="18" charset="0"/>
                        </a:rPr>
                        <m:t>=</m:t>
                      </m:r>
                      <m:r>
                        <a:rPr lang="es-AR" sz="1400" i="0">
                          <a:latin typeface="Cambria Math" panose="02040503050406030204" pitchFamily="18" charset="0"/>
                        </a:rPr>
                        <m:t>0</m:t>
                      </m:r>
                      <m:r>
                        <a:rPr lang="es-AR" sz="1400" i="0">
                          <a:latin typeface="Cambria Math" panose="02040503050406030204" pitchFamily="18" charset="0"/>
                        </a:rPr>
                        <m:t>.</m:t>
                      </m:r>
                      <m:r>
                        <a:rPr lang="es-AR" sz="1400" i="0">
                          <a:latin typeface="Cambria Math" panose="02040503050406030204" pitchFamily="18" charset="0"/>
                        </a:rPr>
                        <m:t>75</m:t>
                      </m:r>
                      <m:r>
                        <a:rPr lang="es-MX" sz="1400" b="0" i="0" smtClean="0">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r>
                        <a:rPr lang="es-AR" sz="1400" i="1">
                          <a:latin typeface="Cambria Math" panose="02040503050406030204" pitchFamily="18" charset="0"/>
                        </a:rPr>
                        <m:t>=</m:t>
                      </m:r>
                      <m:r>
                        <a:rPr lang="es-AR" sz="1400" i="1">
                          <a:latin typeface="Cambria Math" panose="02040503050406030204" pitchFamily="18" charset="0"/>
                        </a:rPr>
                        <m:t>800 </m:t>
                      </m:r>
                      <m:r>
                        <m:rPr>
                          <m:nor/>
                        </m:rPr>
                        <a:rPr lang="es-AR" sz="1400"/>
                        <m:t>rad</m:t>
                      </m:r>
                      <m:r>
                        <m:rPr>
                          <m:lit/>
                          <m:nor/>
                        </m:rPr>
                        <a:rPr lang="es-AR" sz="1400"/>
                        <m:t>/</m:t>
                      </m:r>
                      <m:r>
                        <m:rPr>
                          <m:nor/>
                        </m:rPr>
                        <a:rPr lang="es-AR" sz="1400"/>
                        <m:t>s</m:t>
                      </m:r>
                    </m:oMath>
                  </m:oMathPara>
                </a14:m>
                <a:endParaRPr lang="es-AR" sz="1400" dirty="0"/>
              </a:p>
            </p:txBody>
          </p:sp>
        </mc:Choice>
        <mc:Fallback xmlns="">
          <p:sp>
            <p:nvSpPr>
              <p:cNvPr id="33" name="CuadroTexto 32">
                <a:extLst>
                  <a:ext uri="{FF2B5EF4-FFF2-40B4-BE49-F238E27FC236}">
                    <a16:creationId xmlns:a16="http://schemas.microsoft.com/office/drawing/2014/main" id="{D8D743C7-F2CA-4F08-9019-FC35CE9FDFE2}"/>
                  </a:ext>
                </a:extLst>
              </p:cNvPr>
              <p:cNvSpPr txBox="1">
                <a:spLocks noRot="1" noChangeAspect="1" noMove="1" noResize="1" noEditPoints="1" noAdjustHandles="1" noChangeArrowheads="1" noChangeShapeType="1" noTextEdit="1"/>
              </p:cNvSpPr>
              <p:nvPr/>
            </p:nvSpPr>
            <p:spPr>
              <a:xfrm>
                <a:off x="3376943" y="3682636"/>
                <a:ext cx="4092166" cy="327077"/>
              </a:xfrm>
              <a:prstGeom prst="rect">
                <a:avLst/>
              </a:prstGeom>
              <a:blipFill>
                <a:blip r:embed="rId5"/>
                <a:stretch>
                  <a:fillRect b="-1852"/>
                </a:stretch>
              </a:blipFill>
            </p:spPr>
            <p:txBody>
              <a:bodyPr/>
              <a:lstStyle/>
              <a:p>
                <a:r>
                  <a:rPr lang="es-AR">
                    <a:noFill/>
                  </a:rPr>
                  <a:t> </a:t>
                </a:r>
              </a:p>
            </p:txBody>
          </p:sp>
        </mc:Fallback>
      </mc:AlternateContent>
      <p:sp>
        <p:nvSpPr>
          <p:cNvPr id="39" name="CuadroTexto 38">
            <a:extLst>
              <a:ext uri="{FF2B5EF4-FFF2-40B4-BE49-F238E27FC236}">
                <a16:creationId xmlns:a16="http://schemas.microsoft.com/office/drawing/2014/main" id="{90FF0055-28B2-4C0F-AAA1-EE6B2FDD4DDC}"/>
              </a:ext>
            </a:extLst>
          </p:cNvPr>
          <p:cNvSpPr txBox="1"/>
          <p:nvPr/>
        </p:nvSpPr>
        <p:spPr>
          <a:xfrm>
            <a:off x="126066" y="3965001"/>
            <a:ext cx="11869776" cy="523220"/>
          </a:xfrm>
          <a:prstGeom prst="rect">
            <a:avLst/>
          </a:prstGeom>
          <a:noFill/>
        </p:spPr>
        <p:txBody>
          <a:bodyPr wrap="square">
            <a:spAutoFit/>
          </a:bodyPr>
          <a:lstStyle/>
          <a:p>
            <a:r>
              <a:rPr lang="es-MX" sz="1400" b="1" dirty="0"/>
              <a:t>Polinomio característico y ganancias del controlador</a:t>
            </a:r>
          </a:p>
          <a:p>
            <a:r>
              <a:rPr lang="es-MX" sz="1400" dirty="0"/>
              <a:t>El denominador de las funciones de transferencia define el polinomio característico del sistema controlado:</a:t>
            </a:r>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8BB44C7B-96F8-4FE1-B76A-F235E23C31D0}"/>
                  </a:ext>
                </a:extLst>
              </p:cNvPr>
              <p:cNvSpPr txBox="1"/>
              <p:nvPr/>
            </p:nvSpPr>
            <p:spPr>
              <a:xfrm>
                <a:off x="3250193" y="4538024"/>
                <a:ext cx="4051427" cy="3286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𝑃</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3</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𝑠</m:t>
                      </m:r>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oMath>
                  </m:oMathPara>
                </a14:m>
                <a:endParaRPr lang="es-AR" sz="1400" dirty="0">
                  <a:solidFill>
                    <a:schemeClr val="tx1"/>
                  </a:solidFill>
                </a:endParaRPr>
              </a:p>
            </p:txBody>
          </p:sp>
        </mc:Choice>
        <mc:Fallback xmlns="">
          <p:sp>
            <p:nvSpPr>
              <p:cNvPr id="41" name="CuadroTexto 40">
                <a:extLst>
                  <a:ext uri="{FF2B5EF4-FFF2-40B4-BE49-F238E27FC236}">
                    <a16:creationId xmlns:a16="http://schemas.microsoft.com/office/drawing/2014/main" id="{8BB44C7B-96F8-4FE1-B76A-F235E23C31D0}"/>
                  </a:ext>
                </a:extLst>
              </p:cNvPr>
              <p:cNvSpPr txBox="1">
                <a:spLocks noRot="1" noChangeAspect="1" noMove="1" noResize="1" noEditPoints="1" noAdjustHandles="1" noChangeArrowheads="1" noChangeShapeType="1" noTextEdit="1"/>
              </p:cNvSpPr>
              <p:nvPr/>
            </p:nvSpPr>
            <p:spPr>
              <a:xfrm>
                <a:off x="3250193" y="4538024"/>
                <a:ext cx="4051427" cy="328616"/>
              </a:xfrm>
              <a:prstGeom prst="rect">
                <a:avLst/>
              </a:prstGeom>
              <a:blipFill>
                <a:blip r:embed="rId6"/>
                <a:stretch>
                  <a:fillRect/>
                </a:stretch>
              </a:blipFill>
            </p:spPr>
            <p:txBody>
              <a:bodyPr/>
              <a:lstStyle/>
              <a:p>
                <a:r>
                  <a:rPr lang="es-AR">
                    <a:noFill/>
                  </a:rPr>
                  <a:t> </a:t>
                </a:r>
              </a:p>
            </p:txBody>
          </p:sp>
        </mc:Fallback>
      </mc:AlternateContent>
      <p:sp>
        <p:nvSpPr>
          <p:cNvPr id="43" name="CuadroTexto 42">
            <a:extLst>
              <a:ext uri="{FF2B5EF4-FFF2-40B4-BE49-F238E27FC236}">
                <a16:creationId xmlns:a16="http://schemas.microsoft.com/office/drawing/2014/main" id="{86CAA570-9504-4B1E-AB65-E96439E42E99}"/>
              </a:ext>
            </a:extLst>
          </p:cNvPr>
          <p:cNvSpPr txBox="1"/>
          <p:nvPr/>
        </p:nvSpPr>
        <p:spPr>
          <a:xfrm>
            <a:off x="126067" y="4843719"/>
            <a:ext cx="8782543" cy="307777"/>
          </a:xfrm>
          <a:prstGeom prst="rect">
            <a:avLst/>
          </a:prstGeom>
          <a:noFill/>
        </p:spPr>
        <p:txBody>
          <a:bodyPr wrap="square">
            <a:spAutoFit/>
          </a:bodyPr>
          <a:lstStyle/>
          <a:p>
            <a:r>
              <a:rPr lang="es-MX" sz="1400" dirty="0"/>
              <a:t>El polinomio característico deseado para el sistema de tercer orden, en función de los parámetros de diseño:</a:t>
            </a:r>
            <a:endParaRPr lang="es-AR" sz="1400" dirty="0"/>
          </a:p>
        </p:txBody>
      </p: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66C1F3AB-4AE6-46DD-8509-D7FEF56B7321}"/>
                  </a:ext>
                </a:extLst>
              </p:cNvPr>
              <p:cNvSpPr txBox="1"/>
              <p:nvPr/>
            </p:nvSpPr>
            <p:spPr>
              <a:xfrm>
                <a:off x="2568108" y="5140405"/>
                <a:ext cx="6147302" cy="3368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𝑃</m:t>
                      </m:r>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2</m:t>
                          </m:r>
                        </m:sup>
                      </m:sSubSup>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3</m:t>
                          </m:r>
                        </m:sup>
                      </m:sSubSup>
                    </m:oMath>
                  </m:oMathPara>
                </a14:m>
                <a:endParaRPr lang="es-AR" sz="1100" dirty="0">
                  <a:solidFill>
                    <a:schemeClr val="tx1"/>
                  </a:solidFill>
                </a:endParaRPr>
              </a:p>
            </p:txBody>
          </p:sp>
        </mc:Choice>
        <mc:Fallback xmlns="">
          <p:sp>
            <p:nvSpPr>
              <p:cNvPr id="45" name="CuadroTexto 44">
                <a:extLst>
                  <a:ext uri="{FF2B5EF4-FFF2-40B4-BE49-F238E27FC236}">
                    <a16:creationId xmlns:a16="http://schemas.microsoft.com/office/drawing/2014/main" id="{66C1F3AB-4AE6-46DD-8509-D7FEF56B7321}"/>
                  </a:ext>
                </a:extLst>
              </p:cNvPr>
              <p:cNvSpPr txBox="1">
                <a:spLocks noRot="1" noChangeAspect="1" noMove="1" noResize="1" noEditPoints="1" noAdjustHandles="1" noChangeArrowheads="1" noChangeShapeType="1" noTextEdit="1"/>
              </p:cNvSpPr>
              <p:nvPr/>
            </p:nvSpPr>
            <p:spPr>
              <a:xfrm>
                <a:off x="2568108" y="5140405"/>
                <a:ext cx="6147302" cy="336823"/>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84FD4B65-A966-414C-AEEB-3570E5F53275}"/>
                  </a:ext>
                </a:extLst>
              </p:cNvPr>
              <p:cNvSpPr txBox="1"/>
              <p:nvPr/>
            </p:nvSpPr>
            <p:spPr>
              <a:xfrm>
                <a:off x="203299" y="5498537"/>
                <a:ext cx="11474382" cy="324384"/>
              </a:xfrm>
              <a:prstGeom prst="rect">
                <a:avLst/>
              </a:prstGeom>
              <a:noFill/>
            </p:spPr>
            <p:txBody>
              <a:bodyPr wrap="square">
                <a:spAutoFit/>
              </a:bodyPr>
              <a:lstStyle/>
              <a:p>
                <a:r>
                  <a:rPr lang="es-MX" sz="1400" dirty="0"/>
                  <a:t>Igualando coeficiente a coeficiente y usando los valores nominales de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1">
                        <a:solidFill>
                          <a:schemeClr val="tx1"/>
                        </a:solidFill>
                        <a:latin typeface="Cambria Math" panose="02040503050406030204" pitchFamily="18" charset="0"/>
                      </a:rPr>
                      <m:t> </m:t>
                    </m:r>
                  </m:oMath>
                </a14:m>
                <a:r>
                  <a:rPr lang="es-MX" sz="1400" dirty="0"/>
                  <a:t>​, se obtienen las ganancias del controlador PID:</a:t>
                </a:r>
                <a:endParaRPr lang="es-AR" sz="1400" dirty="0"/>
              </a:p>
            </p:txBody>
          </p:sp>
        </mc:Choice>
        <mc:Fallback xmlns="">
          <p:sp>
            <p:nvSpPr>
              <p:cNvPr id="47" name="CuadroTexto 46">
                <a:extLst>
                  <a:ext uri="{FF2B5EF4-FFF2-40B4-BE49-F238E27FC236}">
                    <a16:creationId xmlns:a16="http://schemas.microsoft.com/office/drawing/2014/main" id="{84FD4B65-A966-414C-AEEB-3570E5F53275}"/>
                  </a:ext>
                </a:extLst>
              </p:cNvPr>
              <p:cNvSpPr txBox="1">
                <a:spLocks noRot="1" noChangeAspect="1" noMove="1" noResize="1" noEditPoints="1" noAdjustHandles="1" noChangeArrowheads="1" noChangeShapeType="1" noTextEdit="1"/>
              </p:cNvSpPr>
              <p:nvPr/>
            </p:nvSpPr>
            <p:spPr>
              <a:xfrm>
                <a:off x="203299" y="5498537"/>
                <a:ext cx="11474382" cy="324384"/>
              </a:xfrm>
              <a:prstGeom prst="rect">
                <a:avLst/>
              </a:prstGeom>
              <a:blipFill>
                <a:blip r:embed="rId8"/>
                <a:stretch>
                  <a:fillRect l="-159" t="-1887" b="-1509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3DC89323-D640-45D5-B138-FB3EEF5F4665}"/>
                  </a:ext>
                </a:extLst>
              </p:cNvPr>
              <p:cNvSpPr txBox="1"/>
              <p:nvPr/>
            </p:nvSpPr>
            <p:spPr>
              <a:xfrm>
                <a:off x="3096284" y="5869854"/>
                <a:ext cx="6147302" cy="336823"/>
              </a:xfrm>
              <a:prstGeom prst="rect">
                <a:avLst/>
              </a:prstGeom>
              <a:noFill/>
            </p:spPr>
            <p:txBody>
              <a:bodyPr wrap="square">
                <a:spAutoFit/>
              </a:bodyPr>
              <a:lstStyle/>
              <a:p>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0">
                            <a:solidFill>
                              <a:schemeClr val="tx1"/>
                            </a:solidFill>
                            <a:latin typeface="Cambria Math" panose="02040503050406030204" pitchFamily="18" charset="0"/>
                          </a:rPr>
                          <m:t>2</m:t>
                        </m:r>
                        <m:r>
                          <m:rPr>
                            <m:sty m:val="p"/>
                          </m:rPr>
                          <a:rPr lang="es-AR" sz="1400" i="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1</m:t>
                        </m:r>
                      </m:e>
                    </m:d>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Sub>
                  </m:oMath>
                </a14:m>
                <a:r>
                  <a:rPr lang="es-AR" sz="1400" dirty="0">
                    <a:solidFill>
                      <a:schemeClr val="tx1"/>
                    </a:solidFill>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2</m:t>
                        </m:r>
                        <m:r>
                          <m:rPr>
                            <m:sty m:val="p"/>
                          </m:rPr>
                          <a:rPr lang="es-AR" sz="1400">
                            <a:solidFill>
                              <a:schemeClr val="tx1"/>
                            </a:solidFill>
                            <a:latin typeface="Cambria Math" panose="02040503050406030204" pitchFamily="18" charset="0"/>
                          </a:rPr>
                          <m:t>ζ</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d>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2</m:t>
                        </m:r>
                      </m:sup>
                    </m:sSubSup>
                  </m:oMath>
                </a14:m>
                <a:r>
                  <a:rPr lang="es-AR" sz="1400" dirty="0">
                    <a:solidFill>
                      <a:schemeClr val="tx1"/>
                    </a:solidFill>
                  </a:rPr>
                  <a:t>, </a:t>
                </a:r>
                <a14:m>
                  <m:oMath xmlns:m="http://schemas.openxmlformats.org/officeDocument/2006/math">
                    <m:r>
                      <a:rPr lang="es-MX" sz="1400" b="0"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3</m:t>
                        </m:r>
                      </m:sup>
                    </m:sSubSup>
                  </m:oMath>
                </a14:m>
                <a:r>
                  <a:rPr lang="es-AR" sz="1400" dirty="0">
                    <a:solidFill>
                      <a:schemeClr val="tx1"/>
                    </a:solidFill>
                  </a:rPr>
                  <a:t>  </a:t>
                </a:r>
                <a:endParaRPr lang="es-AR" dirty="0">
                  <a:solidFill>
                    <a:schemeClr val="tx1"/>
                  </a:solidFill>
                </a:endParaRPr>
              </a:p>
            </p:txBody>
          </p:sp>
        </mc:Choice>
        <mc:Fallback xmlns="">
          <p:sp>
            <p:nvSpPr>
              <p:cNvPr id="49" name="CuadroTexto 48">
                <a:extLst>
                  <a:ext uri="{FF2B5EF4-FFF2-40B4-BE49-F238E27FC236}">
                    <a16:creationId xmlns:a16="http://schemas.microsoft.com/office/drawing/2014/main" id="{3DC89323-D640-45D5-B138-FB3EEF5F4665}"/>
                  </a:ext>
                </a:extLst>
              </p:cNvPr>
              <p:cNvSpPr txBox="1">
                <a:spLocks noRot="1" noChangeAspect="1" noMove="1" noResize="1" noEditPoints="1" noAdjustHandles="1" noChangeArrowheads="1" noChangeShapeType="1" noTextEdit="1"/>
              </p:cNvSpPr>
              <p:nvPr/>
            </p:nvSpPr>
            <p:spPr>
              <a:xfrm>
                <a:off x="3096284" y="5869854"/>
                <a:ext cx="6147302" cy="336823"/>
              </a:xfrm>
              <a:prstGeom prst="rect">
                <a:avLst/>
              </a:prstGeom>
              <a:blipFill>
                <a:blip r:embed="rId9"/>
                <a:stretch>
                  <a:fillRect t="-1818" b="-10909"/>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DA088553-DDC9-4DF5-824A-8089A3413CC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C0FF2FB2-94B1-4B7C-A589-304E902A5AB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496948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8940"/>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Polos y </a:t>
            </a:r>
            <a:r>
              <a:rPr sz="2100" b="1" dirty="0" err="1">
                <a:solidFill>
                  <a:srgbClr val="FFFFFF"/>
                </a:solidFill>
                <a:latin typeface="Cambria"/>
              </a:rPr>
              <a:t>estabilidad</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52 / ~75</a:t>
            </a:r>
          </a:p>
        </p:txBody>
      </p:sp>
      <mc:AlternateContent xmlns:mc="http://schemas.openxmlformats.org/markup-compatibility/2006" xmlns:a14="http://schemas.microsoft.com/office/drawing/2010/main">
        <mc:Choice Requires="a14">
          <p:sp>
            <p:nvSpPr>
              <p:cNvPr id="7" name="TextBox 6"/>
              <p:cNvSpPr txBox="1"/>
              <p:nvPr/>
            </p:nvSpPr>
            <p:spPr>
              <a:xfrm>
                <a:off x="134941" y="749476"/>
                <a:ext cx="7772400" cy="539828"/>
              </a:xfrm>
              <a:prstGeom prst="rect">
                <a:avLst/>
              </a:prstGeom>
              <a:noFill/>
            </p:spPr>
            <p:txBody>
              <a:bodyPr wrap="square">
                <a:spAutoFit/>
              </a:bodyPr>
              <a:lstStyle/>
              <a:p>
                <a:pPr algn="l"/>
                <a:r>
                  <a:rPr lang="es-AR" sz="1400" b="0" i="0" dirty="0">
                    <a:solidFill>
                      <a:srgbClr val="1A1A2E"/>
                    </a:solidFill>
                    <a:latin typeface="Calibri"/>
                  </a:rPr>
                  <a:t>El polinomio característico del sistema en lazo cerrado es de 3° orden. Se analiza el movimiento de los polos cuando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oMath>
                </a14:m>
                <a:r>
                  <a:rPr lang="es-AR" sz="1400" b="0" i="0" dirty="0">
                    <a:solidFill>
                      <a:srgbClr val="1A1A2E"/>
                    </a:solidFill>
                    <a:latin typeface="Calibri"/>
                  </a:rPr>
                  <a:t> varía con la carga:</a:t>
                </a:r>
              </a:p>
            </p:txBody>
          </p:sp>
        </mc:Choice>
        <mc:Fallback xmlns="">
          <p:sp>
            <p:nvSpPr>
              <p:cNvPr id="7" name="TextBox 6"/>
              <p:cNvSpPr txBox="1">
                <a:spLocks noRot="1" noChangeAspect="1" noMove="1" noResize="1" noEditPoints="1" noAdjustHandles="1" noChangeArrowheads="1" noChangeShapeType="1" noTextEdit="1"/>
              </p:cNvSpPr>
              <p:nvPr/>
            </p:nvSpPr>
            <p:spPr>
              <a:xfrm>
                <a:off x="134941" y="749476"/>
                <a:ext cx="7772400" cy="539828"/>
              </a:xfrm>
              <a:prstGeom prst="rect">
                <a:avLst/>
              </a:prstGeom>
              <a:blipFill>
                <a:blip r:embed="rId2"/>
                <a:stretch>
                  <a:fillRect l="-235" t="-2247" b="-78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r>
                            <a:rPr lang="es-AR" sz="1200" b="1" dirty="0">
                              <a:solidFill>
                                <a:schemeClr val="bg1"/>
                              </a:solidFill>
                              <a:latin typeface="Calibri"/>
                            </a:rPr>
                            <a:t>Condición </a:t>
                          </a:r>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endParaRPr lang="ar-AE" sz="1200" b="1" dirty="0">
                            <a:solidFill>
                              <a:schemeClr val="bg1"/>
                            </a:solidFill>
                            <a:latin typeface="Calibri"/>
                          </a:endParaRPr>
                        </a:p>
                      </a:txBody>
                      <a:tcPr>
                        <a:solidFill>
                          <a:srgbClr val="1A3A6B"/>
                        </a:solidFill>
                      </a:tcPr>
                    </a:tc>
                    <a:tc>
                      <a:txBody>
                        <a:bodyPr/>
                        <a:lstStyle/>
                        <a:p>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r>
                            <a:rPr lang="ar-AE" sz="1200" b="1" dirty="0">
                              <a:solidFill>
                                <a:schemeClr val="bg1"/>
                              </a:solidFill>
                              <a:latin typeface="Calibri"/>
                            </a:rPr>
                            <a:t> </a:t>
                          </a:r>
                          <a:r>
                            <a:rPr lang="en-US" sz="1200" b="1" dirty="0">
                              <a:solidFill>
                                <a:schemeClr val="bg1"/>
                              </a:solidFill>
                              <a:latin typeface="+mn-lt"/>
                            </a:rPr>
                            <a:t>[</a:t>
                          </a:r>
                          <a:r>
                            <a:rPr lang="es-AR" sz="1200" b="1" dirty="0">
                              <a:solidFill>
                                <a:schemeClr val="bg1"/>
                              </a:solidFill>
                              <a:latin typeface="+mn-lt"/>
                            </a:rPr>
                            <a:t>kg·m²</a:t>
                          </a:r>
                          <a:r>
                            <a:rPr lang="en-US" sz="1200" b="1" dirty="0">
                              <a:solidFill>
                                <a:schemeClr val="bg1"/>
                              </a:solidFill>
                              <a:latin typeface="+mn-lt"/>
                            </a:rPr>
                            <a:t>]</a:t>
                          </a:r>
                          <a:endParaRPr lang="es-AR" sz="1200" b="1" dirty="0">
                            <a:solidFill>
                              <a:schemeClr val="bg1"/>
                            </a:solidFill>
                            <a:latin typeface="Calibri"/>
                          </a:endParaRPr>
                        </a:p>
                      </a:txBody>
                      <a:tcPr>
                        <a:solidFill>
                          <a:srgbClr val="1A3A6B"/>
                        </a:solid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r>
                            <a:rPr lang="es-AR" sz="1200" dirty="0">
                              <a:latin typeface="Calibri"/>
                            </a:rPr>
                            <a:t>Mínimo / Nominal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Calibri"/>
                            </a:rPr>
                            <a:t> = 0)</a:t>
                          </a:r>
                          <a:endParaRPr sz="1200" dirty="0">
                            <a:latin typeface="Calibri"/>
                          </a:endParaRPr>
                        </a:p>
                      </a:txBody>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r>
                            <a:rPr sz="1200" dirty="0" err="1">
                              <a:latin typeface="Calibri"/>
                            </a:rPr>
                            <a:t>Máximo</a:t>
                          </a:r>
                          <a:r>
                            <a:rPr sz="1200" dirty="0">
                              <a:latin typeface="Calibri"/>
                            </a:rPr>
                            <a:t>  </a:t>
                          </a:r>
                          <a:r>
                            <a:rPr lang="es-AR" sz="1200" dirty="0">
                              <a:latin typeface="+mn-lt"/>
                            </a:rPr>
                            <a:t>(</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mn-lt"/>
                            </a:rPr>
                            <a:t> = 1.5 kg)</a:t>
                          </a:r>
                          <a:endParaRPr sz="1200" dirty="0">
                            <a:latin typeface="Calibri"/>
                          </a:endParaRPr>
                        </a:p>
                      </a:txBody>
                      <a:tcPr>
                        <a:solidFill>
                          <a:srgbClr val="F0F4F8"/>
                        </a:solid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endParaRPr lang="es-AR"/>
                        </a:p>
                      </a:txBody>
                      <a:tcPr>
                        <a:blipFill>
                          <a:blip r:embed="rId3"/>
                          <a:stretch>
                            <a:fillRect l="-222" t="-1250" r="-184444" b="-203750"/>
                          </a:stretch>
                        </a:blipFill>
                      </a:tcPr>
                    </a:tc>
                    <a:tc>
                      <a:txBody>
                        <a:bodyPr/>
                        <a:lstStyle/>
                        <a:p>
                          <a:endParaRPr lang="es-AR"/>
                        </a:p>
                      </a:txBody>
                      <a:tcPr>
                        <a:blipFill>
                          <a:blip r:embed="rId3"/>
                          <a:stretch>
                            <a:fillRect l="-166421" t="-1250" r="-206273" b="-203750"/>
                          </a:stretch>
                        </a:blip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endParaRPr lang="es-AR"/>
                        </a:p>
                      </a:txBody>
                      <a:tcPr>
                        <a:blipFill>
                          <a:blip r:embed="rId3"/>
                          <a:stretch>
                            <a:fillRect l="-222" t="-100000" r="-184444" b="-101235"/>
                          </a:stretch>
                        </a:blipFill>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endParaRPr lang="es-AR"/>
                        </a:p>
                      </a:txBody>
                      <a:tcPr>
                        <a:blipFill>
                          <a:blip r:embed="rId3"/>
                          <a:stretch>
                            <a:fillRect l="-222" t="-202500" r="-184444" b="-2500"/>
                          </a:stretch>
                        </a:blip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8320809" y="1019390"/>
                <a:ext cx="3764132" cy="1673471"/>
              </a:xfrm>
              <a:prstGeom prst="rect">
                <a:avLst/>
              </a:prstGeom>
              <a:noFill/>
            </p:spPr>
            <p:txBody>
              <a:bodyPr wrap="square">
                <a:spAutoFit/>
              </a:bodyPr>
              <a:lstStyle/>
              <a:p>
                <a:r>
                  <a:rPr lang="es-AR" sz="1350" dirty="0">
                    <a:solidFill>
                      <a:srgbClr val="1A1A2E"/>
                    </a:solidFill>
                    <a:latin typeface="Calibri"/>
                  </a:rPr>
                  <a:t>Todos los polos tienen parte real negativa → sistema estable en todo el rango de operación</a:t>
                </a:r>
              </a:p>
              <a:p>
                <a:pPr>
                  <a:spcBef>
                    <a:spcPts val="400"/>
                  </a:spcBef>
                </a:pPr>
                <a:r>
                  <a:rPr lang="es-AR" sz="1350" dirty="0">
                    <a:solidFill>
                      <a:srgbClr val="1A1A2E"/>
                    </a:solidFill>
                    <a:latin typeface="Calibri"/>
                  </a:rPr>
                  <a:t>Con mayor carga (mayor </a:t>
                </a: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oMath>
                </a14:m>
                <a:r>
                  <a:rPr lang="es-AR" sz="1350" dirty="0">
                    <a:solidFill>
                      <a:srgbClr val="1A1A2E"/>
                    </a:solidFill>
                    <a:latin typeface="Calibri"/>
                  </a:rPr>
                  <a:t>): los polos se acercan al eje imaginario → respuesta más lenta y con mayor amortiguamiento</a:t>
                </a:r>
              </a:p>
              <a:p>
                <a:pPr>
                  <a:spcBef>
                    <a:spcPts val="400"/>
                  </a:spcBef>
                </a:pPr>
                <a:r>
                  <a:rPr lang="es-AR" sz="1350" dirty="0">
                    <a:solidFill>
                      <a:srgbClr val="1A1A2E"/>
                    </a:solidFill>
                    <a:latin typeface="Calibri"/>
                  </a:rPr>
                  <a:t>El lazo de corriente (~5000 rad/s) es ~6× más rápido que el PID (~800 rad/s)</a:t>
                </a:r>
              </a:p>
            </p:txBody>
          </p:sp>
        </mc:Choice>
        <mc:Fallback xmlns="">
          <p:sp>
            <p:nvSpPr>
              <p:cNvPr id="12" name="TextBox 11"/>
              <p:cNvSpPr txBox="1">
                <a:spLocks noRot="1" noChangeAspect="1" noMove="1" noResize="1" noEditPoints="1" noAdjustHandles="1" noChangeArrowheads="1" noChangeShapeType="1" noTextEdit="1"/>
              </p:cNvSpPr>
              <p:nvPr/>
            </p:nvSpPr>
            <p:spPr>
              <a:xfrm>
                <a:off x="8320809" y="1019390"/>
                <a:ext cx="3764132" cy="1673471"/>
              </a:xfrm>
              <a:prstGeom prst="rect">
                <a:avLst/>
              </a:prstGeom>
              <a:blipFill>
                <a:blip r:embed="rId4"/>
                <a:stretch>
                  <a:fillRect l="-486" t="-364" b="-254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40251648-4944-4784-9215-2FEC23277A0B}"/>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205962" y="2750036"/>
            <a:ext cx="4179607" cy="3552488"/>
          </a:xfrm>
          <a:prstGeom prst="rect">
            <a:avLst/>
          </a:prstGeom>
          <a:noFill/>
          <a:ln>
            <a:noFill/>
          </a:ln>
        </p:spPr>
      </p:pic>
      <p:sp>
        <p:nvSpPr>
          <p:cNvPr id="14" name="CuadroTexto 13">
            <a:extLst>
              <a:ext uri="{FF2B5EF4-FFF2-40B4-BE49-F238E27FC236}">
                <a16:creationId xmlns:a16="http://schemas.microsoft.com/office/drawing/2014/main" id="{A7F13898-7A7B-4348-8846-8ACB6C965149}"/>
              </a:ext>
            </a:extLst>
          </p:cNvPr>
          <p:cNvSpPr txBox="1"/>
          <p:nvPr/>
        </p:nvSpPr>
        <p:spPr>
          <a:xfrm>
            <a:off x="508650" y="6302524"/>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35— Polos a lazo abierto vs PID vs lazo de corriente</a:t>
            </a:r>
          </a:p>
          <a:p>
            <a:endParaRPr lang="es-AR" dirty="0"/>
          </a:p>
        </p:txBody>
      </p:sp>
      <p:pic>
        <p:nvPicPr>
          <p:cNvPr id="15" name="Imagen 14">
            <a:extLst>
              <a:ext uri="{FF2B5EF4-FFF2-40B4-BE49-F238E27FC236}">
                <a16:creationId xmlns:a16="http://schemas.microsoft.com/office/drawing/2014/main" id="{D30B924B-6ADA-4163-B00E-9098F4C10E3D}"/>
              </a:ext>
            </a:extLst>
          </p:cNvPr>
          <p:cNvPicPr/>
          <p:nvPr/>
        </p:nvPicPr>
        <p:blipFill rotWithShape="1">
          <a:blip r:embed="rId6"/>
          <a:srcRect t="10309"/>
          <a:stretch/>
        </p:blipFill>
        <p:spPr bwMode="auto">
          <a:xfrm>
            <a:off x="4788898" y="3216760"/>
            <a:ext cx="6035070" cy="2091756"/>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17075CC-C362-42A3-A610-3883AFA2779A}"/>
              </a:ext>
            </a:extLst>
          </p:cNvPr>
          <p:cNvSpPr txBox="1"/>
          <p:nvPr/>
        </p:nvSpPr>
        <p:spPr>
          <a:xfrm>
            <a:off x="6827231" y="535556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36— Controlador PID</a:t>
            </a:r>
          </a:p>
          <a:p>
            <a:endParaRPr lang="es-AR" dirty="0"/>
          </a:p>
        </p:txBody>
      </p:sp>
      <p:sp>
        <p:nvSpPr>
          <p:cNvPr id="17" name="Shape 2">
            <a:extLst>
              <a:ext uri="{FF2B5EF4-FFF2-40B4-BE49-F238E27FC236}">
                <a16:creationId xmlns:a16="http://schemas.microsoft.com/office/drawing/2014/main" id="{F86B6778-6EED-4105-8746-98647D8B90A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B09C948-0EBD-41CA-AA58-1AA2998234F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024"/>
            <a:ext cx="11551615" cy="658368"/>
          </a:xfrm>
          <a:prstGeom prst="rect">
            <a:avLst/>
          </a:prstGeom>
          <a:noFill/>
        </p:spPr>
        <p:txBody>
          <a:bodyPr wrap="none">
            <a:spAutoFit/>
          </a:bodyPr>
          <a:lstStyle/>
          <a:p>
            <a:pPr algn="l"/>
            <a:r>
              <a:rPr sz="2100" b="1" dirty="0">
                <a:solidFill>
                  <a:srgbClr val="FFFFFF"/>
                </a:solidFill>
                <a:latin typeface="Cambria"/>
              </a:rPr>
              <a:t>Set-point de </a:t>
            </a:r>
            <a:r>
              <a:rPr sz="2100" b="1" dirty="0" err="1">
                <a:solidFill>
                  <a:srgbClr val="FFFFFF"/>
                </a:solidFill>
                <a:latin typeface="Cambria"/>
              </a:rPr>
              <a:t>posición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53 / ~75</a:t>
            </a:r>
          </a:p>
        </p:txBody>
      </p:sp>
      <p:sp>
        <p:nvSpPr>
          <p:cNvPr id="7" name="TextBox 6"/>
          <p:cNvSpPr txBox="1"/>
          <p:nvPr/>
        </p:nvSpPr>
        <p:spPr>
          <a:xfrm>
            <a:off x="126063" y="717250"/>
            <a:ext cx="7772400" cy="523220"/>
          </a:xfrm>
          <a:prstGeom prst="rect">
            <a:avLst/>
          </a:prstGeom>
          <a:noFill/>
        </p:spPr>
        <p:txBody>
          <a:bodyPr wrap="square">
            <a:spAutoFit/>
          </a:bodyPr>
          <a:lstStyle/>
          <a:p>
            <a:pPr algn="l"/>
            <a:r>
              <a:rPr lang="es-AR" sz="1400" b="0" i="0" dirty="0">
                <a:solidFill>
                  <a:srgbClr val="1A1A2E"/>
                </a:solidFill>
                <a:latin typeface="Calibri"/>
              </a:rPr>
              <a:t>El set-point transforma la consigna articular q*(t) del efector final en la referencia de posición θ*m(t) del eje motor a través de la relación de transmisión r, y genera la referencia de velocidad ω*m(t):</a:t>
            </a:r>
          </a:p>
        </p:txBody>
      </p:sp>
      <p:sp>
        <p:nvSpPr>
          <p:cNvPr id="8" name="Rectangle 7"/>
          <p:cNvSpPr/>
          <p:nvPr/>
        </p:nvSpPr>
        <p:spPr>
          <a:xfrm>
            <a:off x="190314" y="1306013"/>
            <a:ext cx="7757159"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mc:AlternateContent xmlns:mc="http://schemas.openxmlformats.org/markup-compatibility/2006" xmlns:a14="http://schemas.microsoft.com/office/drawing/2010/main">
        <mc:Choice Requires="a14">
          <p:sp>
            <p:nvSpPr>
              <p:cNvPr id="9" name="TextBox 8"/>
              <p:cNvSpPr txBox="1"/>
              <p:nvPr/>
            </p:nvSpPr>
            <p:spPr>
              <a:xfrm>
                <a:off x="-225683" y="1364648"/>
                <a:ext cx="4602019" cy="317844"/>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ar-AE" sz="1400" i="1">
                            <a:solidFill>
                              <a:schemeClr val="tx1"/>
                            </a:solidFill>
                            <a:effectLst/>
                            <a:latin typeface="Cambria Math" panose="02040503050406030204" pitchFamily="18" charset="0"/>
                            <a:cs typeface="Calibri" panose="020F0502020204030204" pitchFamily="34" charset="0"/>
                          </a:rPr>
                        </m:ctrlPr>
                      </m:d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𝑟</m:t>
                    </m:r>
                    <m:r>
                      <a:rPr lang="ar-AE" sz="1400" smtClean="0">
                        <a:solidFill>
                          <a:schemeClr val="tx1"/>
                        </a:solidFill>
                        <a:effectLst/>
                        <a:latin typeface="Cambria Math" panose="02040503050406030204" pitchFamily="18" charset="0"/>
                        <a:ea typeface="Calibri" panose="020F0502020204030204" pitchFamily="34" charset="0"/>
                        <a:cs typeface="Cambria Math" panose="02040503050406030204" pitchFamily="18" charset="0"/>
                      </a:rPr>
                      <m:t>⋅</m:t>
                    </m:r>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𝑞</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oMath>
                </a14:m>
                <a:r>
                  <a:rPr lang="es-AR" sz="1400" b="1" dirty="0">
                    <a:solidFill>
                      <a:schemeClr val="tx1"/>
                    </a:solidFill>
                    <a:latin typeface="Calibri"/>
                  </a:rPr>
                  <a:t>,        </a:t>
                </a:r>
                <a14:m>
                  <m:oMath xmlns:m="http://schemas.openxmlformats.org/officeDocument/2006/math">
                    <m:sSubSup>
                      <m:sSubSupPr>
                        <m:ctrlPr>
                          <a:rPr lang="ar-AE" sz="1400" i="1">
                            <a:latin typeface="Cambria Math" panose="02040503050406030204" pitchFamily="18" charset="0"/>
                          </a:rPr>
                        </m:ctrlPr>
                      </m:sSubSupPr>
                      <m:e>
                        <m:r>
                          <m:rPr>
                            <m:sty m:val="p"/>
                          </m:rPr>
                          <a:rPr lang="el-GR" sz="1400">
                            <a:latin typeface="Cambria Math" panose="02040503050406030204" pitchFamily="18" charset="0"/>
                          </a:rPr>
                          <m:t>ω</m:t>
                        </m:r>
                      </m:e>
                      <m:sub>
                        <m:r>
                          <a:rPr lang="ar-AE" sz="1400" i="1">
                            <a:latin typeface="Cambria Math" panose="02040503050406030204" pitchFamily="18" charset="0"/>
                          </a:rPr>
                          <m:t>𝑚</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𝜃</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r>
                      <a:rPr lang="ar-AE" sz="1400" i="1">
                        <a:latin typeface="Cambria Math" panose="02040503050406030204" pitchFamily="18" charset="0"/>
                      </a:rPr>
                      <m:t>𝑟</m:t>
                    </m:r>
                    <m:r>
                      <a:rPr lang="ar-AE" sz="1400">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𝑞</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25683" y="1364648"/>
                <a:ext cx="4602019" cy="317844"/>
              </a:xfrm>
              <a:prstGeom prst="rect">
                <a:avLst/>
              </a:prstGeom>
              <a:blipFill>
                <a:blip r:embed="rId2"/>
                <a:stretch>
                  <a:fillRect b="-19231"/>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35D0CD8D-93C7-495B-AB38-F30E6AD15357}"/>
              </a:ext>
            </a:extLst>
          </p:cNvPr>
          <p:cNvSpPr txBox="1"/>
          <p:nvPr/>
        </p:nvSpPr>
        <p:spPr>
          <a:xfrm>
            <a:off x="126063" y="1883525"/>
            <a:ext cx="8103536" cy="954107"/>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A diferencia de lo que ocurre con las variables medidas, esta derivación no introduce ruido en el sistema, dado que se opera sobre señales de referencia generadas internamente y no sobre señales físicas ruidosas. Por ello, es admisible calcular la consigna de velocidad directamente como la derivada de la consigna de posición sin necesidad de filtrado adicional.</a:t>
            </a:r>
            <a:endParaRPr lang="es-AR" sz="1600" dirty="0">
              <a:effectLst/>
              <a:latin typeface="Times New Roman" panose="02020603050405020304" pitchFamily="18" charset="0"/>
              <a:ea typeface="Times New Roman" panose="02020603050405020304" pitchFamily="18" charset="0"/>
            </a:endParaRPr>
          </a:p>
        </p:txBody>
      </p:sp>
      <p:pic>
        <p:nvPicPr>
          <p:cNvPr id="20" name="Imagen 19">
            <a:extLst>
              <a:ext uri="{FF2B5EF4-FFF2-40B4-BE49-F238E27FC236}">
                <a16:creationId xmlns:a16="http://schemas.microsoft.com/office/drawing/2014/main" id="{D832D383-2253-48FC-80B9-0A61A7187D45}"/>
              </a:ext>
            </a:extLst>
          </p:cNvPr>
          <p:cNvPicPr/>
          <p:nvPr/>
        </p:nvPicPr>
        <p:blipFill>
          <a:blip r:embed="rId3">
            <a:extLst>
              <a:ext uri="{28A0092B-C50C-407E-A947-70E740481C1C}">
                <a14:useLocalDpi xmlns:a14="http://schemas.microsoft.com/office/drawing/2010/main" val="0"/>
              </a:ext>
            </a:extLst>
          </a:blip>
          <a:stretch>
            <a:fillRect/>
          </a:stretch>
        </p:blipFill>
        <p:spPr>
          <a:xfrm>
            <a:off x="190314" y="2977063"/>
            <a:ext cx="5422900" cy="2818130"/>
          </a:xfrm>
          <a:prstGeom prst="rect">
            <a:avLst/>
          </a:prstGeom>
        </p:spPr>
      </p:pic>
      <p:sp>
        <p:nvSpPr>
          <p:cNvPr id="21" name="CuadroTexto 20">
            <a:extLst>
              <a:ext uri="{FF2B5EF4-FFF2-40B4-BE49-F238E27FC236}">
                <a16:creationId xmlns:a16="http://schemas.microsoft.com/office/drawing/2014/main" id="{7EADDBAE-F53F-4F87-B895-8E56EFF6EE68}"/>
              </a:ext>
            </a:extLst>
          </p:cNvPr>
          <p:cNvSpPr txBox="1"/>
          <p:nvPr/>
        </p:nvSpPr>
        <p:spPr>
          <a:xfrm>
            <a:off x="1446568" y="5749405"/>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37— Set-point de posición y velocidad</a:t>
            </a:r>
          </a:p>
          <a:p>
            <a:endParaRPr lang="es-AR" dirty="0"/>
          </a:p>
        </p:txBody>
      </p:sp>
      <p:sp>
        <p:nvSpPr>
          <p:cNvPr id="13" name="Shape 2">
            <a:extLst>
              <a:ext uri="{FF2B5EF4-FFF2-40B4-BE49-F238E27FC236}">
                <a16:creationId xmlns:a16="http://schemas.microsoft.com/office/drawing/2014/main" id="{C218C579-0388-44A7-B884-CE7413FDB5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0C8A6E9C-D87F-4224-904C-59C55FF67E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822507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Observador de estado de orden reducido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Estimación de velocidad desde posición medida</a:t>
            </a:r>
          </a:p>
        </p:txBody>
      </p:sp>
      <p:sp>
        <p:nvSpPr>
          <p:cNvPr id="5" name="Shape 4">
            <a:extLst>
              <a:ext uri="{FF2B5EF4-FFF2-40B4-BE49-F238E27FC236}">
                <a16:creationId xmlns:a16="http://schemas.microsoft.com/office/drawing/2014/main" id="{48BEC760-AC5E-4178-AEC8-5C091D4CAC7A}"/>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472" y="106511"/>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304800" y="734491"/>
                <a:ext cx="11430000" cy="523220"/>
              </a:xfrm>
              <a:prstGeom prst="rect">
                <a:avLst/>
              </a:prstGeom>
              <a:noFill/>
            </p:spPr>
            <p:txBody>
              <a:bodyPr wrap="square">
                <a:spAutoFit/>
              </a:bodyPr>
              <a:lstStyle/>
              <a:p>
                <a:r>
                  <a:rPr lang="es-AR" sz="1400" b="0" i="0" dirty="0">
                    <a:solidFill>
                      <a:srgbClr val="1A1A2E"/>
                    </a:solidFill>
                    <a:latin typeface="Calibri"/>
                  </a:rPr>
                  <a:t>Solo se dispone del encoder de posición </a:t>
                </a: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Se diseña un observador de orden reducido que permita estimar la velocidad angular del motor (las corrientes y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𝑇</m:t>
                        </m:r>
                      </m:e>
                      <m:sub>
                        <m:r>
                          <a:rPr lang="es-AR" sz="1400" b="0" i="1" smtClean="0">
                            <a:latin typeface="Cambria Math" panose="02040503050406030204" pitchFamily="18" charset="0"/>
                          </a:rPr>
                          <m:t>𝑠</m:t>
                        </m:r>
                      </m:sub>
                    </m:sSub>
                  </m:oMath>
                </a14:m>
                <a:r>
                  <a:rPr lang="es-AR" sz="1400" b="0" i="0" dirty="0">
                    <a:solidFill>
                      <a:srgbClr val="1A1A2E"/>
                    </a:solidFill>
                    <a:latin typeface="Calibri"/>
                  </a:rPr>
                  <a:t> se miden directamente). Tomando el modelo mecánico desacoplado, tenemos:</a:t>
                </a:r>
              </a:p>
            </p:txBody>
          </p:sp>
        </mc:Choice>
        <mc:Fallback xmlns="">
          <p:sp>
            <p:nvSpPr>
              <p:cNvPr id="7" name="TextBox 6"/>
              <p:cNvSpPr txBox="1">
                <a:spLocks noRot="1" noChangeAspect="1" noMove="1" noResize="1" noEditPoints="1" noAdjustHandles="1" noChangeArrowheads="1" noChangeShapeType="1" noTextEdit="1"/>
              </p:cNvSpPr>
              <p:nvPr/>
            </p:nvSpPr>
            <p:spPr>
              <a:xfrm>
                <a:off x="304800" y="734491"/>
                <a:ext cx="11430000" cy="523220"/>
              </a:xfrm>
              <a:prstGeom prst="rect">
                <a:avLst/>
              </a:prstGeom>
              <a:blipFill>
                <a:blip r:embed="rId3"/>
                <a:stretch>
                  <a:fillRect l="-160" t="-1163" b="-11628"/>
                </a:stretch>
              </a:blipFill>
            </p:spPr>
            <p:txBody>
              <a:bodyPr/>
              <a:lstStyle/>
              <a:p>
                <a:r>
                  <a:rPr lang="es-AR">
                    <a:noFill/>
                  </a:rPr>
                  <a:t> </a:t>
                </a:r>
              </a:p>
            </p:txBody>
          </p:sp>
        </mc:Fallback>
      </mc:AlternateContent>
      <p:sp>
        <p:nvSpPr>
          <p:cNvPr id="8" name="Rectangle 7"/>
          <p:cNvSpPr/>
          <p:nvPr/>
        </p:nvSpPr>
        <p:spPr>
          <a:xfrm>
            <a:off x="365760" y="1339907"/>
            <a:ext cx="11369040" cy="8903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15409" y="1332937"/>
                <a:ext cx="3421454" cy="89037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e>
                            </m:m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den>
                                </m:f>
                                <m:d>
                                  <m:dPr>
                                    <m:ctrlPr>
                                      <a:rPr lang="es-AR" sz="1400" i="1">
                                        <a:effectLst/>
                                        <a:latin typeface="Cambria Math" panose="02040503050406030204" pitchFamily="18" charset="0"/>
                                      </a:rPr>
                                    </m:ctrlPr>
                                  </m:dP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15409" y="1332937"/>
                <a:ext cx="3421454" cy="890372"/>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24C7676F-FD57-483D-A43C-66B6C70EA6F9}"/>
              </a:ext>
            </a:extLst>
          </p:cNvPr>
          <p:cNvSpPr txBox="1"/>
          <p:nvPr/>
        </p:nvSpPr>
        <p:spPr>
          <a:xfrm>
            <a:off x="304800" y="2284512"/>
            <a:ext cx="11430000" cy="307777"/>
          </a:xfrm>
          <a:prstGeom prst="rect">
            <a:avLst/>
          </a:prstGeom>
          <a:noFill/>
        </p:spPr>
        <p:txBody>
          <a:bodyPr wrap="square">
            <a:spAutoFit/>
          </a:bodyPr>
          <a:lstStyle/>
          <a:p>
            <a:r>
              <a:rPr lang="es-AR" sz="1400" b="0" i="0" dirty="0">
                <a:solidFill>
                  <a:srgbClr val="1A1A2E"/>
                </a:solidFill>
                <a:latin typeface="Calibri"/>
              </a:rPr>
              <a:t>En forma de estado:</a:t>
            </a:r>
          </a:p>
        </p:txBody>
      </p:sp>
      <p:sp>
        <p:nvSpPr>
          <p:cNvPr id="21" name="Rectangle 7">
            <a:extLst>
              <a:ext uri="{FF2B5EF4-FFF2-40B4-BE49-F238E27FC236}">
                <a16:creationId xmlns:a16="http://schemas.microsoft.com/office/drawing/2014/main" id="{90AE3172-3C04-4A3B-8141-44414D511C37}"/>
              </a:ext>
            </a:extLst>
          </p:cNvPr>
          <p:cNvSpPr/>
          <p:nvPr/>
        </p:nvSpPr>
        <p:spPr>
          <a:xfrm>
            <a:off x="365760" y="2684244"/>
            <a:ext cx="11369040" cy="6344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FB240BC1-25FB-4349-A9CE-A4E035BA01BD}"/>
                  </a:ext>
                </a:extLst>
              </p:cNvPr>
              <p:cNvSpPr txBox="1"/>
              <p:nvPr/>
            </p:nvSpPr>
            <p:spPr>
              <a:xfrm>
                <a:off x="0" y="2714997"/>
                <a:ext cx="11369039" cy="572914"/>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𝑥</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𝜃</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𝜔</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
                      </m:e>
                    </m:d>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𝑐</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𝑑</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m:t>
                              </m:r>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𝑟𝐽</m:t>
                                          </m:r>
                                        </m:e>
                                        <m:sub>
                                          <m:r>
                                            <a:rPr lang="ar-AE" sz="1400" i="1">
                                              <a:solidFill>
                                                <a:schemeClr val="tx1"/>
                                              </a:solidFill>
                                              <a:latin typeface="Cambria Math" panose="02040503050406030204" pitchFamily="18" charset="0"/>
                                            </a:rPr>
                                            <m:t>𝑒𝑞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𝑢</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m:t>
                            </m:r>
                          </m:e>
                          <m:sup>
                            <m:r>
                              <a:rPr lang="ar-AE" sz="1400" i="1">
                                <a:solidFill>
                                  <a:schemeClr val="tx1"/>
                                </a:solidFill>
                                <a:latin typeface="Cambria Math" panose="02040503050406030204" pitchFamily="18" charset="0"/>
                              </a:rPr>
                              <m:t>′</m:t>
                            </m:r>
                          </m:sup>
                        </m:sSup>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𝑑</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22" name="TextBox 8">
                <a:extLst>
                  <a:ext uri="{FF2B5EF4-FFF2-40B4-BE49-F238E27FC236}">
                    <a16:creationId xmlns:a16="http://schemas.microsoft.com/office/drawing/2014/main" id="{FB240BC1-25FB-4349-A9CE-A4E035BA01BD}"/>
                  </a:ext>
                </a:extLst>
              </p:cNvPr>
              <p:cNvSpPr txBox="1">
                <a:spLocks noRot="1" noChangeAspect="1" noMove="1" noResize="1" noEditPoints="1" noAdjustHandles="1" noChangeArrowheads="1" noChangeShapeType="1" noTextEdit="1"/>
              </p:cNvSpPr>
              <p:nvPr/>
            </p:nvSpPr>
            <p:spPr>
              <a:xfrm>
                <a:off x="0" y="2714997"/>
                <a:ext cx="11369039" cy="572914"/>
              </a:xfrm>
              <a:prstGeom prst="rect">
                <a:avLst/>
              </a:prstGeom>
              <a:blipFill>
                <a:blip r:embed="rId5"/>
                <a:stretch>
                  <a:fillRect l="-3592" t="-179787" b="-264894"/>
                </a:stretch>
              </a:blipFill>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49C91B21-49F2-407B-90B1-816D75E1FEAF}"/>
              </a:ext>
            </a:extLst>
          </p:cNvPr>
          <p:cNvSpPr txBox="1"/>
          <p:nvPr/>
        </p:nvSpPr>
        <p:spPr>
          <a:xfrm>
            <a:off x="274319" y="3400860"/>
            <a:ext cx="11597335"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observador de estado se plantea entonces como un modelo dinámico que utiliza la entrada conocida del sistema y la diferencia entre la salida medida y la salida estimada para corregir el estado calculado. Su expresión es:</a:t>
            </a:r>
          </a:p>
        </p:txBody>
      </p:sp>
      <p:sp>
        <p:nvSpPr>
          <p:cNvPr id="25" name="Rectangle 7">
            <a:extLst>
              <a:ext uri="{FF2B5EF4-FFF2-40B4-BE49-F238E27FC236}">
                <a16:creationId xmlns:a16="http://schemas.microsoft.com/office/drawing/2014/main" id="{875F94AB-4862-4190-A1F5-DC1937D20F9C}"/>
              </a:ext>
            </a:extLst>
          </p:cNvPr>
          <p:cNvSpPr/>
          <p:nvPr/>
        </p:nvSpPr>
        <p:spPr>
          <a:xfrm>
            <a:off x="365760" y="3954307"/>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C1A3CCA1-71AA-4D92-B255-E7566DBE7AD4}"/>
                  </a:ext>
                </a:extLst>
              </p:cNvPr>
              <p:cNvSpPr txBox="1"/>
              <p:nvPr/>
            </p:nvSpPr>
            <p:spPr>
              <a:xfrm>
                <a:off x="457200" y="3989635"/>
                <a:ext cx="4829453" cy="651910"/>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𝜃</m:t>
                                  </m:r>
                                </m:sub>
                              </m:sSub>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𝜔</m:t>
                                  </m:r>
                                </m:sub>
                              </m:sSub>
                            </m:e>
                          </m:mr>
                        </m:m>
                      </m:e>
                    </m:d>
                  </m:oMath>
                </a14:m>
                <a:endParaRPr lang="ar-AE" sz="1400" b="1" dirty="0">
                  <a:solidFill>
                    <a:schemeClr val="tx1"/>
                  </a:solidFill>
                  <a:latin typeface="Calibri"/>
                </a:endParaRPr>
              </a:p>
            </p:txBody>
          </p:sp>
        </mc:Choice>
        <mc:Fallback xmlns="">
          <p:sp>
            <p:nvSpPr>
              <p:cNvPr id="26" name="TextBox 8">
                <a:extLst>
                  <a:ext uri="{FF2B5EF4-FFF2-40B4-BE49-F238E27FC236}">
                    <a16:creationId xmlns:a16="http://schemas.microsoft.com/office/drawing/2014/main" id="{C1A3CCA1-71AA-4D92-B255-E7566DBE7AD4}"/>
                  </a:ext>
                </a:extLst>
              </p:cNvPr>
              <p:cNvSpPr txBox="1">
                <a:spLocks noRot="1" noChangeAspect="1" noMove="1" noResize="1" noEditPoints="1" noAdjustHandles="1" noChangeArrowheads="1" noChangeShapeType="1" noTextEdit="1"/>
              </p:cNvSpPr>
              <p:nvPr/>
            </p:nvSpPr>
            <p:spPr>
              <a:xfrm>
                <a:off x="457200" y="3989635"/>
                <a:ext cx="4829453" cy="651910"/>
              </a:xfrm>
              <a:prstGeom prst="rect">
                <a:avLst/>
              </a:prstGeom>
              <a:blipFill>
                <a:blip r:embed="rId6"/>
                <a:stretch>
                  <a:fillRect/>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2F33226D-8ABB-4F08-983B-543A71353E9E}"/>
              </a:ext>
            </a:extLst>
          </p:cNvPr>
          <p:cNvSpPr txBox="1"/>
          <p:nvPr/>
        </p:nvSpPr>
        <p:spPr>
          <a:xfrm>
            <a:off x="320040" y="4794288"/>
            <a:ext cx="11597335" cy="543162"/>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Asumiendo un comportamiento ideal del observador, es decir, coincidencia entre el modelo utilizado y la dinámica real de la planta, y considerando además condición inicial estimada nula, puede reescribirse el modelo del observador como:</a:t>
            </a:r>
          </a:p>
        </p:txBody>
      </p:sp>
      <p:sp>
        <p:nvSpPr>
          <p:cNvPr id="29" name="Rectangle 7">
            <a:extLst>
              <a:ext uri="{FF2B5EF4-FFF2-40B4-BE49-F238E27FC236}">
                <a16:creationId xmlns:a16="http://schemas.microsoft.com/office/drawing/2014/main" id="{279EED39-91AC-4061-B3DE-093F3EDDAB77}"/>
              </a:ext>
            </a:extLst>
          </p:cNvPr>
          <p:cNvSpPr/>
          <p:nvPr/>
        </p:nvSpPr>
        <p:spPr>
          <a:xfrm>
            <a:off x="365760" y="5431060"/>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8">
                <a:extLst>
                  <a:ext uri="{FF2B5EF4-FFF2-40B4-BE49-F238E27FC236}">
                    <a16:creationId xmlns:a16="http://schemas.microsoft.com/office/drawing/2014/main" id="{5E7E4A3F-D9F2-488D-9E24-1AC263145665}"/>
                  </a:ext>
                </a:extLst>
              </p:cNvPr>
              <p:cNvSpPr txBox="1"/>
              <p:nvPr/>
            </p:nvSpPr>
            <p:spPr>
              <a:xfrm>
                <a:off x="0" y="5458902"/>
                <a:ext cx="11163670" cy="651910"/>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smtClean="0">
                                <a:latin typeface="Cambria Math" panose="02040503050406030204" pitchFamily="18" charset="0"/>
                              </a:rPr>
                            </m:ctrlPr>
                          </m:mPr>
                          <m:m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m:t>
                                  </m:r>
                                </m:e>
                              </m:d>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𝑐</m:t>
                                  </m:r>
                                </m:sub>
                              </m:sSub>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acc>
                                <m:accPr>
                                  <m:chr m:val="̃"/>
                                  <m:ctrlPr>
                                    <a:rPr lang="es-AR" sz="1400" i="1">
                                      <a:latin typeface="Cambria Math" panose="02040503050406030204" pitchFamily="18" charset="0"/>
                                    </a:rPr>
                                  </m:ctrlPr>
                                </m:accPr>
                                <m:e>
                                  <m:r>
                                    <a:rPr lang="es-AR" sz="1400" i="1">
                                      <a:latin typeface="Cambria Math" panose="02040503050406030204" pitchFamily="18" charset="0"/>
                                    </a:rPr>
                                    <m:t>𝑦</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a14:m>
                <a:r>
                  <a:rPr lang="es-MX" sz="1400" b="1" dirty="0">
                    <a:solidFill>
                      <a:schemeClr val="tx1"/>
                    </a:solidFill>
                    <a:latin typeface="Calibri"/>
                  </a:rPr>
                  <a:t>,          </a:t>
                </a:r>
                <a14:m>
                  <m:oMath xmlns:m="http://schemas.openxmlformats.org/officeDocument/2006/math">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MX" sz="1400" b="1" dirty="0">
                    <a:solidFill>
                      <a:schemeClr val="tx1"/>
                    </a:solidFill>
                    <a:latin typeface="Calibri"/>
                  </a:rPr>
                  <a:t>           </a:t>
                </a:r>
                <a:r>
                  <a:rPr lang="es-MX"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acc>
                      <m:accPr>
                        <m:chr m:val="̇"/>
                        <m:ctrlPr>
                          <a:rPr lang="es-AR" sz="1400" i="1">
                            <a:latin typeface="Cambria Math" panose="02040503050406030204" pitchFamily="18" charset="0"/>
                          </a:rPr>
                        </m:ctrlPr>
                      </m:accPr>
                      <m:e>
                        <m:r>
                          <a:rPr lang="es-AR" sz="1400" i="1">
                            <a:latin typeface="Cambria Math" panose="02040503050406030204" pitchFamily="18" charset="0"/>
                          </a:rPr>
                          <m:t>𝑒</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 </m:t>
                        </m:r>
                        <m:r>
                          <a:rPr lang="es-AR" sz="1400" i="1">
                            <a:latin typeface="Cambria Math" panose="02040503050406030204" pitchFamily="18" charset="0"/>
                          </a:rPr>
                          <m:t>𝐶</m:t>
                        </m:r>
                      </m:e>
                    </m:d>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𝑑</m:t>
                        </m:r>
                      </m:sub>
                    </m:sSub>
                    <m:r>
                      <a:rPr lang="es-AR" sz="1400" i="1">
                        <a:latin typeface="Cambria Math" panose="02040503050406030204" pitchFamily="18" charset="0"/>
                      </a:rPr>
                      <m:t> </m:t>
                    </m:r>
                    <m:r>
                      <a:rPr lang="es-AR" sz="1400" i="1">
                        <a:latin typeface="Cambria Math" panose="02040503050406030204" pitchFamily="18" charset="0"/>
                      </a:rPr>
                      <m:t>𝑑</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oMath>
                </a14:m>
                <a:endParaRPr lang="ar-AE" sz="1400" b="1" dirty="0">
                  <a:solidFill>
                    <a:schemeClr val="tx1"/>
                  </a:solidFill>
                  <a:latin typeface="Calibri"/>
                </a:endParaRPr>
              </a:p>
            </p:txBody>
          </p:sp>
        </mc:Choice>
        <mc:Fallback xmlns="">
          <p:sp>
            <p:nvSpPr>
              <p:cNvPr id="30" name="TextBox 8">
                <a:extLst>
                  <a:ext uri="{FF2B5EF4-FFF2-40B4-BE49-F238E27FC236}">
                    <a16:creationId xmlns:a16="http://schemas.microsoft.com/office/drawing/2014/main" id="{5E7E4A3F-D9F2-488D-9E24-1AC263145665}"/>
                  </a:ext>
                </a:extLst>
              </p:cNvPr>
              <p:cNvSpPr txBox="1">
                <a:spLocks noRot="1" noChangeAspect="1" noMove="1" noResize="1" noEditPoints="1" noAdjustHandles="1" noChangeArrowheads="1" noChangeShapeType="1" noTextEdit="1"/>
              </p:cNvSpPr>
              <p:nvPr/>
            </p:nvSpPr>
            <p:spPr>
              <a:xfrm>
                <a:off x="0" y="5458902"/>
                <a:ext cx="11163670" cy="651910"/>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A7FAA145-2C6F-4207-96A5-CA196531109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3" name="Text 3">
            <a:extLst>
              <a:ext uri="{FF2B5EF4-FFF2-40B4-BE49-F238E27FC236}">
                <a16:creationId xmlns:a16="http://schemas.microsoft.com/office/drawing/2014/main" id="{F22E5FAB-DE83-49F7-BB93-2C8957C78F5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B43C3E9C-51E4-42F8-A725-3C8829DDEFDF}"/>
              </a:ext>
            </a:extLst>
          </p:cNvPr>
          <p:cNvPicPr/>
          <p:nvPr/>
        </p:nvPicPr>
        <p:blipFill>
          <a:blip r:embed="rId2"/>
          <a:srcRect/>
          <a:stretch/>
        </p:blipFill>
        <p:spPr>
          <a:xfrm>
            <a:off x="2210620" y="2847066"/>
            <a:ext cx="7272426" cy="3223654"/>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830" y="101084"/>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131833" y="735395"/>
                <a:ext cx="11430000" cy="523220"/>
              </a:xfrm>
              <a:prstGeom prst="rect">
                <a:avLst/>
              </a:prstGeom>
              <a:noFill/>
            </p:spPr>
            <p:txBody>
              <a:bodyPr wrap="square">
                <a:spAutoFit/>
              </a:bodyPr>
              <a:lstStyle/>
              <a:p>
                <a:r>
                  <a:rPr lang="es-AR" sz="1400" b="0" i="0" dirty="0">
                    <a:solidFill>
                      <a:srgbClr val="1A1A2E"/>
                    </a:solidFill>
                    <a:latin typeface="Calibri"/>
                  </a:rPr>
                  <a:t>Entonces debemos seleccionar </a:t>
                </a:r>
                <a14:m>
                  <m:oMath xmlns:m="http://schemas.openxmlformats.org/officeDocument/2006/math">
                    <m:sSub>
                      <m:sSubPr>
                        <m:ctrlPr>
                          <a:rPr lang="es-AR" sz="14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de modo de imponer una dinámica conveniente para el error de estimación. La matriz asociada resulta:</a:t>
                </a:r>
              </a:p>
              <a:p>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31833" y="735395"/>
                <a:ext cx="11430000" cy="523220"/>
              </a:xfrm>
              <a:prstGeom prst="rect">
                <a:avLst/>
              </a:prstGeom>
              <a:blipFill>
                <a:blip r:embed="rId3"/>
                <a:stretch>
                  <a:fillRect l="-160" t="-2353"/>
                </a:stretch>
              </a:blipFill>
            </p:spPr>
            <p:txBody>
              <a:bodyPr/>
              <a:lstStyle/>
              <a:p>
                <a:r>
                  <a:rPr lang="es-AR">
                    <a:noFill/>
                  </a:rPr>
                  <a:t> </a:t>
                </a:r>
              </a:p>
            </p:txBody>
          </p:sp>
        </mc:Fallback>
      </mc:AlternateContent>
      <p:sp>
        <p:nvSpPr>
          <p:cNvPr id="20" name="Rectangle 7">
            <a:extLst>
              <a:ext uri="{FF2B5EF4-FFF2-40B4-BE49-F238E27FC236}">
                <a16:creationId xmlns:a16="http://schemas.microsoft.com/office/drawing/2014/main" id="{5611EE8E-C1C3-47B1-BE3D-606C10A0A554}"/>
              </a:ext>
            </a:extLst>
          </p:cNvPr>
          <p:cNvSpPr/>
          <p:nvPr/>
        </p:nvSpPr>
        <p:spPr>
          <a:xfrm>
            <a:off x="320040" y="1093240"/>
            <a:ext cx="11369040" cy="5232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DFA47E20-2EC6-4BEE-BE51-0BACBB56C7C0}"/>
                  </a:ext>
                </a:extLst>
              </p:cNvPr>
              <p:cNvSpPr txBox="1"/>
              <p:nvPr/>
            </p:nvSpPr>
            <p:spPr>
              <a:xfrm>
                <a:off x="-119702" y="1105896"/>
                <a:ext cx="7335608" cy="493533"/>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𝜃</m:t>
                                  </m:r>
                                </m:sub>
                              </m:sSub>
                            </m:e>
                            <m:e>
                              <m:r>
                                <a:rPr lang="ar-AE" sz="1400" i="1">
                                  <a:solidFill>
                                    <a:schemeClr val="tx1"/>
                                  </a:solidFill>
                                  <a:latin typeface="Cambria Math" panose="02040503050406030204" pitchFamily="18" charset="0"/>
                                </a:rPr>
                                <m:t>1</m:t>
                              </m:r>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𝜔</m:t>
                                  </m:r>
                                </m:sub>
                              </m:sSub>
                            </m:e>
                            <m:e>
                              <m:r>
                                <a:rPr lang="ar-AE" sz="1400" i="1">
                                  <a:solidFill>
                                    <a:schemeClr val="tx1"/>
                                  </a:solidFill>
                                  <a:latin typeface="Cambria Math" panose="02040503050406030204" pitchFamily="18" charset="0"/>
                                </a:rPr>
                                <m:t>0</m:t>
                              </m:r>
                            </m:e>
                          </m:mr>
                        </m:m>
                      </m:e>
                    </m:d>
                  </m:oMath>
                </a14:m>
                <a:r>
                  <a:rPr lang="ar-AE" sz="1400" b="1" dirty="0">
                    <a:solidFill>
                      <a:schemeClr val="tx1"/>
                    </a:solidFill>
                    <a:latin typeface="Calibri"/>
                  </a:rPr>
                  <a:t>       </a:t>
                </a:r>
                <a:r>
                  <a:rPr lang="ar-AE" sz="1400" b="1" dirty="0">
                    <a:latin typeface="Cambria Math" panose="02040503050406030204" pitchFamily="18" charset="0"/>
                    <a:ea typeface="Cambria Math" panose="02040503050406030204" pitchFamily="18" charset="0"/>
                  </a:rPr>
                  <a:t>⇨</a:t>
                </a:r>
                <a:r>
                  <a:rPr lang="ar-AE" sz="1400" b="1" dirty="0">
                    <a:solidFill>
                      <a:schemeClr val="tx1"/>
                    </a:solidFill>
                    <a:latin typeface="Cambria Math" panose="02040503050406030204" pitchFamily="18" charset="0"/>
                    <a:ea typeface="Cambria Math" panose="02040503050406030204" pitchFamily="18" charset="0"/>
                  </a:rPr>
                  <a:t>    </a:t>
                </a:r>
                <a:r>
                  <a:rPr lang="es-MX" sz="1400" b="1" dirty="0">
                    <a:solidFill>
                      <a:schemeClr val="tx1"/>
                    </a:solidFill>
                    <a:latin typeface="Cambria Math" panose="02040503050406030204" pitchFamily="18" charset="0"/>
                    <a:ea typeface="Cambria Math" panose="02040503050406030204" pitchFamily="18" charset="0"/>
                  </a:rPr>
                  <a:t> </a:t>
                </a:r>
                <a:r>
                  <a:rPr lang="ar-AE"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𝑝</m:t>
                        </m:r>
                      </m:e>
                      <m:sub>
                        <m:r>
                          <a:rPr lang="ar-AE" sz="1400" i="1">
                            <a:solidFill>
                              <a:schemeClr val="tx1"/>
                            </a:solidFill>
                            <a:latin typeface="Cambria Math" panose="02040503050406030204" pitchFamily="18" charset="0"/>
                          </a:rPr>
                          <m:t>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3200</m:t>
                            </m:r>
                          </m:e>
                        </m:d>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6400</m:t>
                    </m:r>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3200</m:t>
                        </m:r>
                      </m:e>
                      <m:sup>
                        <m:r>
                          <a:rPr lang="ar-AE" sz="1400" i="1">
                            <a:solidFill>
                              <a:schemeClr val="tx1"/>
                            </a:solidFill>
                            <a:latin typeface="Cambria Math" panose="02040503050406030204" pitchFamily="18" charset="0"/>
                          </a:rPr>
                          <m:t>2</m:t>
                        </m:r>
                      </m:sup>
                    </m:sSup>
                  </m:oMath>
                </a14:m>
                <a:r>
                  <a:rPr lang="ar-AE" sz="1400" b="1" dirty="0">
                    <a:solidFill>
                      <a:schemeClr val="tx1"/>
                    </a:solidFill>
                    <a:latin typeface="Cambria Math" panose="02040503050406030204" pitchFamily="18" charset="0"/>
                    <a:ea typeface="Cambria Math" panose="02040503050406030204" pitchFamily="18" charset="0"/>
                  </a:rPr>
                  <a:t>   </a:t>
                </a:r>
                <a:endParaRPr lang="ar-AE" sz="1400" b="1" dirty="0">
                  <a:solidFill>
                    <a:schemeClr val="tx1"/>
                  </a:solidFill>
                  <a:latin typeface="Calibri"/>
                </a:endParaRPr>
              </a:p>
            </p:txBody>
          </p:sp>
        </mc:Choice>
        <mc:Fallback xmlns="">
          <p:sp>
            <p:nvSpPr>
              <p:cNvPr id="21" name="TextBox 8">
                <a:extLst>
                  <a:ext uri="{FF2B5EF4-FFF2-40B4-BE49-F238E27FC236}">
                    <a16:creationId xmlns:a16="http://schemas.microsoft.com/office/drawing/2014/main" id="{DFA47E20-2EC6-4BEE-BE51-0BACBB56C7C0}"/>
                  </a:ext>
                </a:extLst>
              </p:cNvPr>
              <p:cNvSpPr txBox="1">
                <a:spLocks noRot="1" noChangeAspect="1" noMove="1" noResize="1" noEditPoints="1" noAdjustHandles="1" noChangeArrowheads="1" noChangeShapeType="1" noTextEdit="1"/>
              </p:cNvSpPr>
              <p:nvPr/>
            </p:nvSpPr>
            <p:spPr>
              <a:xfrm>
                <a:off x="-119702" y="1105896"/>
                <a:ext cx="7335608" cy="493533"/>
              </a:xfrm>
              <a:prstGeom prst="rect">
                <a:avLst/>
              </a:prstGeom>
              <a:blipFill>
                <a:blip r:embed="rId4"/>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FAC5CE4D-CD54-4117-81A6-349B554E6427}"/>
              </a:ext>
            </a:extLst>
          </p:cNvPr>
          <p:cNvSpPr txBox="1"/>
          <p:nvPr/>
        </p:nvSpPr>
        <p:spPr>
          <a:xfrm>
            <a:off x="151208" y="1734307"/>
            <a:ext cx="11558282" cy="312650"/>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Igualando término a término entre el polinomio característico del observador y el polinomio deseado, se obtienen las ganancias buscadas:</a:t>
            </a:r>
          </a:p>
        </p:txBody>
      </p:sp>
      <p:sp>
        <p:nvSpPr>
          <p:cNvPr id="24" name="Rectangle 7">
            <a:extLst>
              <a:ext uri="{FF2B5EF4-FFF2-40B4-BE49-F238E27FC236}">
                <a16:creationId xmlns:a16="http://schemas.microsoft.com/office/drawing/2014/main" id="{7DC6A6E1-F8E3-4B27-900A-73C6F18A9F0E}"/>
              </a:ext>
            </a:extLst>
          </p:cNvPr>
          <p:cNvSpPr/>
          <p:nvPr/>
        </p:nvSpPr>
        <p:spPr>
          <a:xfrm>
            <a:off x="320040" y="2084933"/>
            <a:ext cx="11369040" cy="83265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8">
                <a:extLst>
                  <a:ext uri="{FF2B5EF4-FFF2-40B4-BE49-F238E27FC236}">
                    <a16:creationId xmlns:a16="http://schemas.microsoft.com/office/drawing/2014/main" id="{18B232AB-6313-4F1D-9651-FBB27FD8072F}"/>
                  </a:ext>
                </a:extLst>
              </p:cNvPr>
              <p:cNvSpPr txBox="1"/>
              <p:nvPr/>
            </p:nvSpPr>
            <p:spPr>
              <a:xfrm>
                <a:off x="-1055789" y="2027533"/>
                <a:ext cx="9207781" cy="890052"/>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θ</m:t>
                                  </m:r>
                                </m:sub>
                              </m:sSub>
                              <m:r>
                                <a:rPr lang="en-US" sz="1400" i="1">
                                  <a:latin typeface="Cambria Math" panose="02040503050406030204" pitchFamily="18" charset="0"/>
                                </a:rPr>
                                <m:t>=</m:t>
                              </m:r>
                              <m:r>
                                <a:rPr lang="en-US" sz="1400" i="1">
                                  <a:latin typeface="Cambria Math" panose="02040503050406030204" pitchFamily="18" charset="0"/>
                                </a:rPr>
                                <m:t>6</m:t>
                              </m:r>
                              <m:r>
                                <a:rPr lang="en-US" sz="1400" i="1">
                                  <a:latin typeface="Cambria Math" panose="02040503050406030204" pitchFamily="18" charset="0"/>
                                </a:rPr>
                                <m:t>.</m:t>
                              </m:r>
                              <m:r>
                                <a:rPr lang="en-US" sz="1400" i="1">
                                  <a:latin typeface="Cambria Math" panose="02040503050406030204" pitchFamily="18" charset="0"/>
                                </a:rPr>
                                <m:t>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3</m:t>
                                  </m:r>
                                </m:sup>
                              </m:sSup>
                              <m:r>
                                <a:rPr lang="en-US" sz="1400" i="1">
                                  <a:latin typeface="Cambria Math" panose="02040503050406030204" pitchFamily="18" charset="0"/>
                                </a:rPr>
                                <m:t> </m:t>
                              </m:r>
                              <m:r>
                                <m:rPr>
                                  <m:nor/>
                                </m:rPr>
                                <a:rPr lang="en-US" sz="1400"/>
                                <m:t>rad</m:t>
                              </m:r>
                              <m:r>
                                <m:rPr>
                                  <m:lit/>
                                  <m:nor/>
                                </m:rPr>
                                <a:rPr lang="en-US" sz="1400"/>
                                <m:t>/</m:t>
                              </m:r>
                              <m:r>
                                <m:rPr>
                                  <m:nor/>
                                </m:rPr>
                                <a:rPr lang="en-US" sz="1400"/>
                                <m:t>s</m:t>
                              </m:r>
                              <m:r>
                                <a:rPr lang="es-MX" sz="1400" b="0" i="1" smtClean="0">
                                  <a:latin typeface="Cambria Math" panose="02040503050406030204" pitchFamily="18" charset="0"/>
                                </a:rPr>
                                <m:t>           </m:t>
                              </m:r>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ω</m:t>
                                  </m:r>
                                </m:sub>
                              </m:sSub>
                              <m:r>
                                <a:rPr lang="en-US" sz="1400" i="1">
                                  <a:latin typeface="Cambria Math" panose="02040503050406030204" pitchFamily="18" charset="0"/>
                                </a:rPr>
                                <m:t>=</m:t>
                              </m:r>
                              <m:r>
                                <a:rPr lang="en-US" sz="1400" i="1">
                                  <a:latin typeface="Cambria Math" panose="02040503050406030204" pitchFamily="18" charset="0"/>
                                </a:rPr>
                                <m:t>1</m:t>
                              </m:r>
                              <m:r>
                                <a:rPr lang="en-US" sz="1400" i="1">
                                  <a:latin typeface="Cambria Math" panose="02040503050406030204" pitchFamily="18" charset="0"/>
                                </a:rPr>
                                <m:t>.</m:t>
                              </m:r>
                              <m:r>
                                <a:rPr lang="en-US" sz="1400" i="1">
                                  <a:latin typeface="Cambria Math" panose="02040503050406030204" pitchFamily="18" charset="0"/>
                                </a:rPr>
                                <m:t>024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7</m:t>
                                  </m:r>
                                </m:sup>
                              </m:sSup>
                              <m:r>
                                <a:rPr lang="en-US" sz="1400" i="1">
                                  <a:latin typeface="Cambria Math" panose="02040503050406030204" pitchFamily="18" charset="0"/>
                                </a:rPr>
                                <m:t> </m:t>
                              </m:r>
                              <m:sSup>
                                <m:sSupPr>
                                  <m:ctrlPr>
                                    <a:rPr lang="es-AR" sz="1400" i="1">
                                      <a:latin typeface="Cambria Math" panose="02040503050406030204" pitchFamily="18" charset="0"/>
                                    </a:rPr>
                                  </m:ctrlPr>
                                </m:sSupPr>
                                <m:e>
                                  <m:r>
                                    <m:rPr>
                                      <m:nor/>
                                    </m:rPr>
                                    <a:rPr lang="en-US" sz="1400"/>
                                    <m:t>rad</m:t>
                                  </m:r>
                                  <m:r>
                                    <m:rPr>
                                      <m:lit/>
                                      <m:nor/>
                                    </m:rPr>
                                    <a:rPr lang="en-US" sz="1400"/>
                                    <m:t>/</m:t>
                                  </m:r>
                                  <m:r>
                                    <m:rPr>
                                      <m:nor/>
                                    </m:rPr>
                                    <a:rPr lang="en-US" sz="1400"/>
                                    <m:t>s</m:t>
                                  </m:r>
                                </m:e>
                                <m:sup>
                                  <m:r>
                                    <a:rPr lang="en-US" sz="1400" i="1">
                                      <a:latin typeface="Cambria Math" panose="02040503050406030204" pitchFamily="18" charset="0"/>
                                    </a:rPr>
                                    <m:t>2</m:t>
                                  </m:r>
                                  <m:r>
                                    <a:rPr lang="es-MX" sz="1400" b="0" i="1" smtClean="0">
                                      <a:latin typeface="Cambria Math" panose="02040503050406030204" pitchFamily="18" charset="0"/>
                                    </a:rPr>
                                    <m:t>      </m:t>
                                  </m:r>
                                </m:sup>
                              </m:sSup>
                            </m:e>
                          </m:mr>
                        </m:m>
                      </m:e>
                    </m:d>
                  </m:oMath>
                </a14:m>
                <a:r>
                  <a:rPr lang="es-MX" sz="1400" b="1" dirty="0">
                    <a:solidFill>
                      <a:schemeClr val="tx1"/>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
                      </m:e>
                    </m:d>
                  </m:oMath>
                </a14:m>
                <a:endParaRPr lang="ar-AE" sz="1400" b="1" dirty="0">
                  <a:solidFill>
                    <a:schemeClr val="tx1"/>
                  </a:solidFill>
                  <a:latin typeface="Calibri"/>
                </a:endParaRPr>
              </a:p>
            </p:txBody>
          </p:sp>
        </mc:Choice>
        <mc:Fallback xmlns="">
          <p:sp>
            <p:nvSpPr>
              <p:cNvPr id="25" name="TextBox 8">
                <a:extLst>
                  <a:ext uri="{FF2B5EF4-FFF2-40B4-BE49-F238E27FC236}">
                    <a16:creationId xmlns:a16="http://schemas.microsoft.com/office/drawing/2014/main" id="{18B232AB-6313-4F1D-9651-FBB27FD8072F}"/>
                  </a:ext>
                </a:extLst>
              </p:cNvPr>
              <p:cNvSpPr txBox="1">
                <a:spLocks noRot="1" noChangeAspect="1" noMove="1" noResize="1" noEditPoints="1" noAdjustHandles="1" noChangeArrowheads="1" noChangeShapeType="1" noTextEdit="1"/>
              </p:cNvSpPr>
              <p:nvPr/>
            </p:nvSpPr>
            <p:spPr>
              <a:xfrm>
                <a:off x="-1055789" y="2027533"/>
                <a:ext cx="9207781" cy="890052"/>
              </a:xfrm>
              <a:prstGeom prst="rect">
                <a:avLst/>
              </a:prstGeom>
              <a:blipFill>
                <a:blip r:embed="rId5"/>
                <a:stretch>
                  <a:fillRect/>
                </a:stretch>
              </a:blipFill>
            </p:spPr>
            <p:txBody>
              <a:bodyPr/>
              <a:lstStyle/>
              <a:p>
                <a:r>
                  <a:rPr lang="es-AR">
                    <a:noFill/>
                  </a:rPr>
                  <a:t> </a:t>
                </a:r>
              </a:p>
            </p:txBody>
          </p:sp>
        </mc:Fallback>
      </mc:AlternateContent>
      <p:sp>
        <p:nvSpPr>
          <p:cNvPr id="27" name="CuadroTexto 26">
            <a:extLst>
              <a:ext uri="{FF2B5EF4-FFF2-40B4-BE49-F238E27FC236}">
                <a16:creationId xmlns:a16="http://schemas.microsoft.com/office/drawing/2014/main" id="{F554A308-3CE6-43AA-84C1-1C61C1DA4EBB}"/>
              </a:ext>
            </a:extLst>
          </p:cNvPr>
          <p:cNvSpPr txBox="1"/>
          <p:nvPr/>
        </p:nvSpPr>
        <p:spPr>
          <a:xfrm>
            <a:off x="4155255" y="6117863"/>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38— Observador de estado de orden reducido</a:t>
            </a:r>
          </a:p>
          <a:p>
            <a:endParaRPr lang="es-AR" dirty="0"/>
          </a:p>
        </p:txBody>
      </p:sp>
      <p:sp>
        <p:nvSpPr>
          <p:cNvPr id="15" name="Shape 2">
            <a:extLst>
              <a:ext uri="{FF2B5EF4-FFF2-40B4-BE49-F238E27FC236}">
                <a16:creationId xmlns:a16="http://schemas.microsoft.com/office/drawing/2014/main" id="{52BEB054-17D1-43A8-984D-91DB4C8A4E1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630444CC-1A9A-4EBD-9BC9-F18F8FE2C3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747458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Simulación en tiempo continuo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Seguimiento de consigna · Rechazo a perturbaciones</a:t>
            </a:r>
          </a:p>
        </p:txBody>
      </p:sp>
      <p:sp>
        <p:nvSpPr>
          <p:cNvPr id="5" name="Shape 4">
            <a:extLst>
              <a:ext uri="{FF2B5EF4-FFF2-40B4-BE49-F238E27FC236}">
                <a16:creationId xmlns:a16="http://schemas.microsoft.com/office/drawing/2014/main" id="{5480A3CE-E5A4-41F1-8EBB-50C4BFC2B1C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167"/>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7" name="TextBox 6"/>
              <p:cNvSpPr txBox="1"/>
              <p:nvPr/>
            </p:nvSpPr>
            <p:spPr>
              <a:xfrm>
                <a:off x="143817" y="713232"/>
                <a:ext cx="12047877" cy="611962"/>
              </a:xfrm>
              <a:prstGeom prst="rect">
                <a:avLst/>
              </a:prstGeom>
              <a:noFill/>
            </p:spPr>
            <p:txBody>
              <a:bodyPr wrap="square">
                <a:spAutoFit/>
              </a:bodyPr>
              <a:lstStyle/>
              <a:p>
                <a:r>
                  <a:rPr lang="es-AR" sz="1400" b="1" dirty="0">
                    <a:solidFill>
                      <a:srgbClr val="1A3A6B"/>
                    </a:solidFill>
                  </a:rPr>
                  <a:t>Consigna trapezoidal de posición: </a:t>
                </a:r>
                <a:r>
                  <a:rPr lang="es-AR" sz="1400" dirty="0">
                    <a:latin typeface="Calibri" panose="020F0502020204030204" pitchFamily="34" charset="0"/>
                    <a:ea typeface="Calibri" panose="020F0502020204030204" pitchFamily="34" charset="0"/>
                    <a:cs typeface="Times New Roman" panose="02020603050405020304" pitchFamily="18" charset="0"/>
                  </a:rPr>
                  <a:t>La referencia de entrada se define como una trayectoria articular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perfil trapezoidal de posición, de modo de imponer transiciones suaves de velocidad y evitar exigencias dinámicas excesivas sobre el accionamiento. Además, debido al set-point, sabemos que: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endParaRPr lang="es-AR" sz="1400" b="1" i="0" dirty="0">
                  <a:solidFill>
                    <a:srgbClr val="1A3A6B"/>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3817" y="713232"/>
                <a:ext cx="12047877" cy="611962"/>
              </a:xfrm>
              <a:prstGeom prst="rect">
                <a:avLst/>
              </a:prstGeom>
              <a:blipFill>
                <a:blip r:embed="rId3"/>
                <a:stretch>
                  <a:fillRect l="-152" t="-2000" b="-3000"/>
                </a:stretch>
              </a:blipFill>
            </p:spPr>
            <p:txBody>
              <a:bodyPr/>
              <a:lstStyle/>
              <a:p>
                <a:r>
                  <a:rPr lang="es-AR">
                    <a:noFill/>
                  </a:rPr>
                  <a:t> </a:t>
                </a:r>
              </a:p>
            </p:txBody>
          </p:sp>
        </mc:Fallback>
      </mc:AlternateContent>
      <p:pic>
        <p:nvPicPr>
          <p:cNvPr id="15" name="Imagen 14">
            <a:extLst>
              <a:ext uri="{FF2B5EF4-FFF2-40B4-BE49-F238E27FC236}">
                <a16:creationId xmlns:a16="http://schemas.microsoft.com/office/drawing/2014/main" id="{949FC557-A959-4D29-BF9F-42B6F758610D}"/>
              </a:ext>
            </a:extLst>
          </p:cNvPr>
          <p:cNvPicPr/>
          <p:nvPr/>
        </p:nvPicPr>
        <p:blipFill>
          <a:blip r:embed="rId4">
            <a:extLst>
              <a:ext uri="{28A0092B-C50C-407E-A947-70E740481C1C}">
                <a14:useLocalDpi xmlns:a14="http://schemas.microsoft.com/office/drawing/2010/main" val="0"/>
              </a:ext>
            </a:extLst>
          </a:blip>
          <a:srcRect t="17" b="17"/>
          <a:stretch>
            <a:fillRect/>
          </a:stretch>
        </p:blipFill>
        <p:spPr bwMode="auto">
          <a:xfrm>
            <a:off x="143818" y="1380057"/>
            <a:ext cx="3762357" cy="2678367"/>
          </a:xfrm>
          <a:prstGeom prst="rect">
            <a:avLst/>
          </a:prstGeom>
          <a:ln>
            <a:noFill/>
          </a:ln>
          <a:extLst>
            <a:ext uri="{53640926-AAD7-44D8-BBD7-CCE9431645EC}">
              <a14:shadowObscured xmlns:a14="http://schemas.microsoft.com/office/drawing/2010/main"/>
            </a:ext>
          </a:extLst>
        </p:spPr>
      </p:pic>
      <p:pic>
        <p:nvPicPr>
          <p:cNvPr id="16" name="Imagen 15">
            <a:extLst>
              <a:ext uri="{FF2B5EF4-FFF2-40B4-BE49-F238E27FC236}">
                <a16:creationId xmlns:a16="http://schemas.microsoft.com/office/drawing/2014/main" id="{E58707AE-2130-4D72-8B9E-A208DECAC78B}"/>
              </a:ext>
            </a:extLst>
          </p:cNvPr>
          <p:cNvPicPr/>
          <p:nvPr/>
        </p:nvPicPr>
        <p:blipFill rotWithShape="1">
          <a:blip r:embed="rId5"/>
          <a:srcRect l="-3567" r="-1122"/>
          <a:stretch/>
        </p:blipFill>
        <p:spPr bwMode="auto">
          <a:xfrm>
            <a:off x="3829680" y="1380057"/>
            <a:ext cx="3762357" cy="2695323"/>
          </a:xfrm>
          <a:prstGeom prst="rect">
            <a:avLst/>
          </a:prstGeom>
          <a:ln>
            <a:noFill/>
          </a:ln>
          <a:extLst>
            <a:ext uri="{53640926-AAD7-44D8-BBD7-CCE9431645EC}">
              <a14:shadowObscured xmlns:a14="http://schemas.microsoft.com/office/drawing/2010/main"/>
            </a:ext>
          </a:extLst>
        </p:spPr>
      </p:pic>
      <p:pic>
        <p:nvPicPr>
          <p:cNvPr id="17" name="Imagen 16">
            <a:extLst>
              <a:ext uri="{FF2B5EF4-FFF2-40B4-BE49-F238E27FC236}">
                <a16:creationId xmlns:a16="http://schemas.microsoft.com/office/drawing/2014/main" id="{9FCC5807-119D-440D-8444-0EE8540D7AB1}"/>
              </a:ext>
            </a:extLst>
          </p:cNvPr>
          <p:cNvPicPr/>
          <p:nvPr/>
        </p:nvPicPr>
        <p:blipFill rotWithShape="1">
          <a:blip r:embed="rId6"/>
          <a:srcRect l="-3191" r="-787"/>
          <a:stretch/>
        </p:blipFill>
        <p:spPr bwMode="auto">
          <a:xfrm>
            <a:off x="7592038" y="1380056"/>
            <a:ext cx="3996738" cy="2750187"/>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3C79198-1B73-426A-A70B-3BBAC4E602F7}"/>
                  </a:ext>
                </a:extLst>
              </p:cNvPr>
              <p:cNvSpPr txBox="1"/>
              <p:nvPr/>
            </p:nvSpPr>
            <p:spPr>
              <a:xfrm>
                <a:off x="918833"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40— Consigna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oMath>
                </a14:m>
                <a:endParaRPr lang="es-AR" dirty="0"/>
              </a:p>
            </p:txBody>
          </p:sp>
        </mc:Choice>
        <mc:Fallback xmlns="">
          <p:sp>
            <p:nvSpPr>
              <p:cNvPr id="18" name="CuadroTexto 17">
                <a:extLst>
                  <a:ext uri="{FF2B5EF4-FFF2-40B4-BE49-F238E27FC236}">
                    <a16:creationId xmlns:a16="http://schemas.microsoft.com/office/drawing/2014/main" id="{73C79198-1B73-426A-A70B-3BBAC4E602F7}"/>
                  </a:ext>
                </a:extLst>
              </p:cNvPr>
              <p:cNvSpPr txBox="1">
                <a:spLocks noRot="1" noChangeAspect="1" noMove="1" noResize="1" noEditPoints="1" noAdjustHandles="1" noChangeArrowheads="1" noChangeShapeType="1" noTextEdit="1"/>
              </p:cNvSpPr>
              <p:nvPr/>
            </p:nvSpPr>
            <p:spPr>
              <a:xfrm>
                <a:off x="918833" y="4058425"/>
                <a:ext cx="3996737"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4097478"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41—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4097478" y="4058425"/>
                <a:ext cx="3996737" cy="261610"/>
              </a:xfrm>
              <a:prstGeom prst="rect">
                <a:avLst/>
              </a:prstGeom>
              <a:blipFill>
                <a:blip r:embed="rId8"/>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8294770" y="407891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42— Figura 42: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8294770" y="4078914"/>
                <a:ext cx="3996737" cy="261610"/>
              </a:xfrm>
              <a:prstGeom prst="rect">
                <a:avLst/>
              </a:prstGeom>
              <a:blipFill>
                <a:blip r:embed="rId9"/>
                <a:stretch>
                  <a:fillRect b="-16279"/>
                </a:stretch>
              </a:blipFill>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216ED2FA-5880-4476-B53A-A5DB20FDE6CC}"/>
              </a:ext>
            </a:extLst>
          </p:cNvPr>
          <p:cNvSpPr txBox="1"/>
          <p:nvPr/>
        </p:nvSpPr>
        <p:spPr>
          <a:xfrm>
            <a:off x="143817" y="4640675"/>
            <a:ext cx="11210937" cy="953210"/>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Puede observarse que la salida real reproduce con muy buen ajuste el perfil trapezoidal de referencia, sin error apreciable en régimen y con diferencias mínimas respecto de la señal estimada.</a:t>
            </a:r>
          </a:p>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También se aprecia un sobre pico pequeño en la respuesta de posición, acompañado por una oscilación amortiguada de corta duración. </a:t>
            </a:r>
          </a:p>
        </p:txBody>
      </p:sp>
      <p:sp>
        <p:nvSpPr>
          <p:cNvPr id="14" name="Shape 2">
            <a:extLst>
              <a:ext uri="{FF2B5EF4-FFF2-40B4-BE49-F238E27FC236}">
                <a16:creationId xmlns:a16="http://schemas.microsoft.com/office/drawing/2014/main" id="{5EBBAB15-9550-4660-B8A5-CB43C9AEAD2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79343C35-30C7-451B-8C3B-BB9C08A197E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6104"/>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975867" y="429567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43—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975867" y="4295672"/>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7388072" y="4371486"/>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44—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7388072" y="4371486"/>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575946F9-8954-466B-8754-5668ED3C48CF}"/>
              </a:ext>
            </a:extLst>
          </p:cNvPr>
          <p:cNvPicPr/>
          <p:nvPr/>
        </p:nvPicPr>
        <p:blipFill rotWithShape="1">
          <a:blip r:embed="rId4"/>
          <a:srcRect l="-2388" r="-823"/>
          <a:stretch/>
        </p:blipFill>
        <p:spPr bwMode="auto">
          <a:xfrm>
            <a:off x="274320" y="1102407"/>
            <a:ext cx="5288992" cy="3247650"/>
          </a:xfrm>
          <a:prstGeom prst="rect">
            <a:avLst/>
          </a:prstGeom>
          <a:ln>
            <a:noFill/>
          </a:ln>
          <a:extLst>
            <a:ext uri="{53640926-AAD7-44D8-BBD7-CCE9431645EC}">
              <a14:shadowObscured xmlns:a14="http://schemas.microsoft.com/office/drawing/2010/main"/>
            </a:ext>
          </a:extLst>
        </p:spPr>
      </p:pic>
      <p:pic>
        <p:nvPicPr>
          <p:cNvPr id="23" name="Imagen 22">
            <a:extLst>
              <a:ext uri="{FF2B5EF4-FFF2-40B4-BE49-F238E27FC236}">
                <a16:creationId xmlns:a16="http://schemas.microsoft.com/office/drawing/2014/main" id="{7B5C3A0A-4A2C-4061-AB5A-A94427B951A9}"/>
              </a:ext>
            </a:extLst>
          </p:cNvPr>
          <p:cNvPicPr/>
          <p:nvPr/>
        </p:nvPicPr>
        <p:blipFill rotWithShape="1">
          <a:blip r:embed="rId5"/>
          <a:srcRect l="-3357" r="-6805"/>
          <a:stretch/>
        </p:blipFill>
        <p:spPr bwMode="auto">
          <a:xfrm>
            <a:off x="5947874" y="1102407"/>
            <a:ext cx="5580404" cy="331606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F93BD11-44E9-4745-85E7-ADE45FCD5F73}"/>
                  </a:ext>
                </a:extLst>
              </p:cNvPr>
              <p:cNvSpPr txBox="1"/>
              <p:nvPr/>
            </p:nvSpPr>
            <p:spPr>
              <a:xfrm>
                <a:off x="202170" y="4790894"/>
                <a:ext cx="11787353" cy="1491177"/>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la velocidad del eje motor sigue adecuadamente la referencia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reproduciendo los cambios escalonados impuestos por el perfil trapezoidal de posición. La señal estimada presenta una evolución prácticamente coincidente con la velocidad real, lo que confirma el buen desempeño del observador.</a:t>
                </a:r>
              </a:p>
              <a:p>
                <a:pPr algn="just">
                  <a:lnSpc>
                    <a:spcPct val="107000"/>
                  </a:lnSpc>
                  <a:spcBef>
                    <a:spcPts val="12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Además, en el detalle se evidencia la presencia de un transitorio más pronunciado que en el caso de la posición. En particular, se observa un sobre pico negativo significativo seguido de una rápida recuperación hacia el valor de referencia. Este comportamiento es esperable debido a la naturaleza derivativa de la velocidad respecto de la posición.</a:t>
                </a:r>
              </a:p>
            </p:txBody>
          </p:sp>
        </mc:Choice>
        <mc:Fallback xmlns="">
          <p:sp>
            <p:nvSpPr>
              <p:cNvPr id="24" name="CuadroTexto 23">
                <a:extLst>
                  <a:ext uri="{FF2B5EF4-FFF2-40B4-BE49-F238E27FC236}">
                    <a16:creationId xmlns:a16="http://schemas.microsoft.com/office/drawing/2014/main" id="{5F93BD11-44E9-4745-85E7-ADE45FCD5F73}"/>
                  </a:ext>
                </a:extLst>
              </p:cNvPr>
              <p:cNvSpPr txBox="1">
                <a:spLocks noRot="1" noChangeAspect="1" noMove="1" noResize="1" noEditPoints="1" noAdjustHandles="1" noChangeArrowheads="1" noChangeShapeType="1" noTextEdit="1"/>
              </p:cNvSpPr>
              <p:nvPr/>
            </p:nvSpPr>
            <p:spPr>
              <a:xfrm>
                <a:off x="202170" y="4790894"/>
                <a:ext cx="11787353" cy="1491177"/>
              </a:xfrm>
              <a:prstGeom prst="rect">
                <a:avLst/>
              </a:prstGeom>
              <a:blipFill>
                <a:blip r:embed="rId6"/>
                <a:stretch>
                  <a:fillRect l="-155" t="-408" r="-103" b="-3265"/>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D64C0AE-D2B1-47B1-A136-2460EA20372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E28F1685-7A62-41DF-BF47-4E95EE68416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477262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3818" y="82159"/>
            <a:ext cx="7143494" cy="415498"/>
          </a:xfrm>
          <a:prstGeom prst="rect">
            <a:avLst/>
          </a:prstGeom>
          <a:noFill/>
        </p:spPr>
        <p:txBody>
          <a:bodyPr wrap="none">
            <a:spAutoFit/>
          </a:bodyPr>
          <a:lstStyle/>
          <a:p>
            <a:pPr algn="l"/>
            <a:r>
              <a:rPr lang="es-AR" sz="2100" b="1" dirty="0">
                <a:solidFill>
                  <a:srgbClr val="FFFFFF"/>
                </a:solidFill>
                <a:latin typeface="Cambria"/>
              </a:rPr>
              <a:t>Seguimiento de consigna — Variables eléctricas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602792" y="365206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602792" y="3652065"/>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4959951" y="3644150"/>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4959951" y="3644150"/>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2487C17C-2069-4935-923F-155BD95AFBA8}"/>
              </a:ext>
            </a:extLst>
          </p:cNvPr>
          <p:cNvPicPr/>
          <p:nvPr/>
        </p:nvPicPr>
        <p:blipFill rotWithShape="1">
          <a:blip r:embed="rId4"/>
          <a:srcRect l="-1150" r="-945" b="-4093"/>
          <a:stretch/>
        </p:blipFill>
        <p:spPr bwMode="auto">
          <a:xfrm>
            <a:off x="-45879" y="759268"/>
            <a:ext cx="4074055" cy="2914420"/>
          </a:xfrm>
          <a:prstGeom prst="rect">
            <a:avLst/>
          </a:prstGeom>
          <a:ln>
            <a:noFill/>
          </a:ln>
          <a:extLst>
            <a:ext uri="{53640926-AAD7-44D8-BBD7-CCE9431645EC}">
              <a14:shadowObscured xmlns:a14="http://schemas.microsoft.com/office/drawing/2010/main"/>
            </a:ext>
          </a:extLst>
        </p:spPr>
      </p:pic>
      <p:pic>
        <p:nvPicPr>
          <p:cNvPr id="13" name="Imagen 12">
            <a:extLst>
              <a:ext uri="{FF2B5EF4-FFF2-40B4-BE49-F238E27FC236}">
                <a16:creationId xmlns:a16="http://schemas.microsoft.com/office/drawing/2014/main" id="{C7A76ADF-B9EE-4035-9BB4-08CE712C001B}"/>
              </a:ext>
            </a:extLst>
          </p:cNvPr>
          <p:cNvPicPr/>
          <p:nvPr/>
        </p:nvPicPr>
        <p:blipFill rotWithShape="1">
          <a:blip r:embed="rId5"/>
          <a:srcRect l="708" r="-1199"/>
          <a:stretch/>
        </p:blipFill>
        <p:spPr bwMode="auto">
          <a:xfrm>
            <a:off x="4028177" y="755967"/>
            <a:ext cx="4074054" cy="2862169"/>
          </a:xfrm>
          <a:prstGeom prst="rect">
            <a:avLst/>
          </a:prstGeom>
          <a:ln>
            <a:noFill/>
          </a:ln>
          <a:extLst>
            <a:ext uri="{53640926-AAD7-44D8-BBD7-CCE9431645EC}">
              <a14:shadowObscured xmlns:a14="http://schemas.microsoft.com/office/drawing/2010/main"/>
            </a:ext>
          </a:extLst>
        </p:spPr>
      </p:pic>
      <p:pic>
        <p:nvPicPr>
          <p:cNvPr id="14" name="Imagen 13">
            <a:extLst>
              <a:ext uri="{FF2B5EF4-FFF2-40B4-BE49-F238E27FC236}">
                <a16:creationId xmlns:a16="http://schemas.microsoft.com/office/drawing/2014/main" id="{72338769-A145-4748-9CAA-3CBFC42FDDD6}"/>
              </a:ext>
            </a:extLst>
          </p:cNvPr>
          <p:cNvPicPr/>
          <p:nvPr/>
        </p:nvPicPr>
        <p:blipFill rotWithShape="1">
          <a:blip r:embed="rId6"/>
          <a:srcRect l="-5998" t="-2455" r="-1" b="231"/>
          <a:stretch/>
        </p:blipFill>
        <p:spPr bwMode="auto">
          <a:xfrm>
            <a:off x="7955187" y="709524"/>
            <a:ext cx="4236507" cy="290235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E344D53-293C-4C7D-B06E-84DCF66BBE24}"/>
                  </a:ext>
                </a:extLst>
              </p:cNvPr>
              <p:cNvSpPr txBox="1"/>
              <p:nvPr/>
            </p:nvSpPr>
            <p:spPr>
              <a:xfrm>
                <a:off x="8681175" y="361382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5" name="CuadroTexto 14">
                <a:extLst>
                  <a:ext uri="{FF2B5EF4-FFF2-40B4-BE49-F238E27FC236}">
                    <a16:creationId xmlns:a16="http://schemas.microsoft.com/office/drawing/2014/main" id="{DE344D53-293C-4C7D-B06E-84DCF66BBE24}"/>
                  </a:ext>
                </a:extLst>
              </p:cNvPr>
              <p:cNvSpPr txBox="1">
                <a:spLocks noRot="1" noChangeAspect="1" noMove="1" noResize="1" noEditPoints="1" noAdjustHandles="1" noChangeArrowheads="1" noChangeShapeType="1" noTextEdit="1"/>
              </p:cNvSpPr>
              <p:nvPr/>
            </p:nvSpPr>
            <p:spPr>
              <a:xfrm>
                <a:off x="8681175" y="3613824"/>
                <a:ext cx="3996737" cy="261610"/>
              </a:xfrm>
              <a:prstGeom prst="rect">
                <a:avLst/>
              </a:prstGeom>
              <a:blipFill>
                <a:blip r:embed="rId7"/>
                <a:stretch>
                  <a:fillRect b="-16279"/>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0D39F508-08E7-4C4C-A136-E7C937E49432}"/>
              </a:ext>
            </a:extLst>
          </p:cNvPr>
          <p:cNvPicPr/>
          <p:nvPr/>
        </p:nvPicPr>
        <p:blipFill rotWithShape="1">
          <a:blip r:embed="rId8"/>
          <a:srcRect l="-4129" r="-3601"/>
          <a:stretch/>
        </p:blipFill>
        <p:spPr bwMode="auto">
          <a:xfrm>
            <a:off x="-45879" y="4007978"/>
            <a:ext cx="3634893" cy="2417912"/>
          </a:xfrm>
          <a:prstGeom prst="rect">
            <a:avLst/>
          </a:prstGeom>
          <a:ln>
            <a:noFill/>
          </a:ln>
          <a:extLst>
            <a:ext uri="{53640926-AAD7-44D8-BBD7-CCE9431645EC}">
              <a14:shadowObscured xmlns:a14="http://schemas.microsoft.com/office/drawing/2010/main"/>
            </a:ext>
          </a:extLst>
        </p:spPr>
      </p:pic>
      <p:sp>
        <p:nvSpPr>
          <p:cNvPr id="17" name="CuadroTexto 16">
            <a:extLst>
              <a:ext uri="{FF2B5EF4-FFF2-40B4-BE49-F238E27FC236}">
                <a16:creationId xmlns:a16="http://schemas.microsoft.com/office/drawing/2014/main" id="{2D93FD81-DF6D-4B50-AA41-D743CB010F55}"/>
              </a:ext>
            </a:extLst>
          </p:cNvPr>
          <p:cNvSpPr txBox="1"/>
          <p:nvPr/>
        </p:nvSpPr>
        <p:spPr>
          <a:xfrm>
            <a:off x="602791" y="635389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48— Temperatura del estator</a:t>
            </a:r>
          </a:p>
        </p:txBody>
      </p:sp>
      <p:sp>
        <p:nvSpPr>
          <p:cNvPr id="21" name="CuadroTexto 20">
            <a:extLst>
              <a:ext uri="{FF2B5EF4-FFF2-40B4-BE49-F238E27FC236}">
                <a16:creationId xmlns:a16="http://schemas.microsoft.com/office/drawing/2014/main" id="{3AFAFB9E-4D1E-41D9-B75B-784E9B29113E}"/>
              </a:ext>
            </a:extLst>
          </p:cNvPr>
          <p:cNvSpPr txBox="1"/>
          <p:nvPr/>
        </p:nvSpPr>
        <p:spPr>
          <a:xfrm>
            <a:off x="3446886" y="4260345"/>
            <a:ext cx="8744810" cy="1670394"/>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Al estar definida en posición con cambios bruscos en su pendiente, la referencia introduce exigencias dinámicas elevadas que el sistema intenta seguir en tiempos muy reducidos.</a:t>
            </a: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observan respuestas transitorias intensas en las variables eléctricas y mecánicas, particularmente en las corrientes, las tensiones y el par desarrollado. Estos picos alcanzan valores superiores a los niveles nominales.</a:t>
            </a:r>
          </a:p>
          <a:p>
            <a:pPr algn="just">
              <a:lnSpc>
                <a:spcPct val="107000"/>
              </a:lnSpc>
              <a:spcAft>
                <a:spcPts val="800"/>
              </a:spcAft>
            </a:pPr>
            <a:r>
              <a:rPr lang="es-MX" sz="1400" dirty="0"/>
              <a:t>El modelo no incorpora saturación de tensión ni corriente — en una implementación real, el convertidor limitaría estas magnitudes, modificando la respuesta observada.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Shape 2">
            <a:extLst>
              <a:ext uri="{FF2B5EF4-FFF2-40B4-BE49-F238E27FC236}">
                <a16:creationId xmlns:a16="http://schemas.microsoft.com/office/drawing/2014/main" id="{A3C6A6B6-B076-45DD-A2B4-000DEFD369D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2" name="Text 3">
            <a:extLst>
              <a:ext uri="{FF2B5EF4-FFF2-40B4-BE49-F238E27FC236}">
                <a16:creationId xmlns:a16="http://schemas.microsoft.com/office/drawing/2014/main" id="{D0763BF3-8321-43D6-ABC0-2EC0E2BDD38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0395551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613"/>
            <a:ext cx="11551615" cy="658368"/>
          </a:xfrm>
          <a:prstGeom prst="rect">
            <a:avLst/>
          </a:prstGeom>
          <a:noFill/>
        </p:spPr>
        <p:txBody>
          <a:bodyPr wrap="none">
            <a:spAutoFit/>
          </a:bodyPr>
          <a:lstStyle/>
          <a:p>
            <a:pPr algn="l"/>
            <a:r>
              <a:rPr sz="2100" b="1" dirty="0" err="1">
                <a:solidFill>
                  <a:srgbClr val="FFFFFF"/>
                </a:solidFill>
                <a:latin typeface="Cambria"/>
              </a:rPr>
              <a:t>Rechazo</a:t>
            </a:r>
            <a:r>
              <a:rPr sz="2100" b="1" dirty="0">
                <a:solidFill>
                  <a:srgbClr val="FFFFFF"/>
                </a:solidFill>
                <a:latin typeface="Cambria"/>
              </a:rPr>
              <a:t> a </a:t>
            </a:r>
            <a:r>
              <a:rPr sz="2100" b="1" dirty="0" err="1">
                <a:solidFill>
                  <a:srgbClr val="FFFFFF"/>
                </a:solidFill>
                <a:latin typeface="Cambria"/>
              </a:rPr>
              <a:t>perturbaciones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59 / ~75</a:t>
            </a:r>
          </a:p>
        </p:txBody>
      </p:sp>
      <mc:AlternateContent xmlns:mc="http://schemas.openxmlformats.org/markup-compatibility/2006" xmlns:a14="http://schemas.microsoft.com/office/drawing/2010/main">
        <mc:Choice Requires="a14">
          <p:sp>
            <p:nvSpPr>
              <p:cNvPr id="7" name="TextBox 6"/>
              <p:cNvSpPr txBox="1"/>
              <p:nvPr/>
            </p:nvSpPr>
            <p:spPr>
              <a:xfrm>
                <a:off x="126063" y="742871"/>
                <a:ext cx="11430000" cy="307777"/>
              </a:xfrm>
              <a:prstGeom prst="rect">
                <a:avLst/>
              </a:prstGeom>
              <a:noFill/>
            </p:spPr>
            <p:txBody>
              <a:bodyPr wrap="square">
                <a:spAutoFit/>
              </a:bodyPr>
              <a:lstStyle/>
              <a:p>
                <a:pPr algn="l"/>
                <a:r>
                  <a:rPr lang="es-AR" sz="1400" b="0" i="0" dirty="0">
                    <a:solidFill>
                      <a:srgbClr val="1A1A2E"/>
                    </a:solidFill>
                    <a:latin typeface="Calibri"/>
                  </a:rPr>
                  <a:t>Se aplica un escalón de par resistente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b="0" i="0" dirty="0">
                    <a:solidFill>
                      <a:srgbClr val="1A1A2E"/>
                    </a:solidFill>
                    <a:latin typeface="Calibri"/>
                  </a:rPr>
                  <a:t> = −5 N·m en t=5s y luego +5 N·m en t=10s (cambio de signo — condición más exigente).</a:t>
                </a:r>
              </a:p>
            </p:txBody>
          </p:sp>
        </mc:Choice>
        <mc:Fallback xmlns="">
          <p:sp>
            <p:nvSpPr>
              <p:cNvPr id="7" name="TextBox 6"/>
              <p:cNvSpPr txBox="1">
                <a:spLocks noRot="1" noChangeAspect="1" noMove="1" noResize="1" noEditPoints="1" noAdjustHandles="1" noChangeArrowheads="1" noChangeShapeType="1" noTextEdit="1"/>
              </p:cNvSpPr>
              <p:nvPr/>
            </p:nvSpPr>
            <p:spPr>
              <a:xfrm>
                <a:off x="126063" y="742871"/>
                <a:ext cx="11430000" cy="307777"/>
              </a:xfrm>
              <a:prstGeom prst="rect">
                <a:avLst/>
              </a:prstGeom>
              <a:blipFill>
                <a:blip r:embed="rId3"/>
                <a:stretch>
                  <a:fillRect l="-160" t="-4000" b="-20000"/>
                </a:stretch>
              </a:blipFill>
            </p:spPr>
            <p:txBody>
              <a:bodyPr/>
              <a:lstStyle/>
              <a:p>
                <a:r>
                  <a:rPr lang="es-AR">
                    <a:noFill/>
                  </a:rPr>
                  <a:t> </a:t>
                </a:r>
              </a:p>
            </p:txBody>
          </p:sp>
        </mc:Fallback>
      </mc:AlternateContent>
      <p:sp>
        <p:nvSpPr>
          <p:cNvPr id="14" name="TextBox 13"/>
          <p:cNvSpPr txBox="1"/>
          <p:nvPr/>
        </p:nvSpPr>
        <p:spPr>
          <a:xfrm>
            <a:off x="274320" y="4816525"/>
            <a:ext cx="11430000" cy="307777"/>
          </a:xfrm>
          <a:prstGeom prst="rect">
            <a:avLst/>
          </a:prstGeom>
          <a:noFill/>
        </p:spPr>
        <p:txBody>
          <a:bodyPr wrap="square">
            <a:spAutoFit/>
          </a:bodyPr>
          <a:lstStyle/>
          <a:p>
            <a:pPr algn="l"/>
            <a:r>
              <a:rPr lang="es-AR" sz="1400" b="1" i="0" dirty="0">
                <a:solidFill>
                  <a:srgbClr val="1A3A6B"/>
                </a:solidFill>
                <a:latin typeface="Calibri"/>
              </a:rPr>
              <a:t>Análisis de resultados:</a:t>
            </a:r>
          </a:p>
        </p:txBody>
      </p:sp>
      <mc:AlternateContent xmlns:mc="http://schemas.openxmlformats.org/markup-compatibility/2006" xmlns:a14="http://schemas.microsoft.com/office/drawing/2010/main">
        <mc:Choice Requires="a14">
          <p:sp>
            <p:nvSpPr>
              <p:cNvPr id="15" name="TextBox 14"/>
              <p:cNvSpPr txBox="1"/>
              <p:nvPr/>
            </p:nvSpPr>
            <p:spPr>
              <a:xfrm>
                <a:off x="274320" y="5167935"/>
                <a:ext cx="11430000" cy="1339021"/>
              </a:xfrm>
              <a:prstGeom prst="rect">
                <a:avLst/>
              </a:prstGeom>
              <a:noFill/>
            </p:spPr>
            <p:txBody>
              <a:bodyPr wrap="square">
                <a:spAutoFit/>
              </a:bodyPr>
              <a:lstStyle/>
              <a:p>
                <a:pPr marL="285750" indent="-285750">
                  <a:buFont typeface="Arial" panose="020B0604020202020204" pitchFamily="34" charset="0"/>
                  <a:buChar char="•"/>
                </a:pPr>
                <a:r>
                  <a:rPr lang="es-AR" sz="1350" dirty="0">
                    <a:solidFill>
                      <a:schemeClr val="tx1"/>
                    </a:solidFill>
                    <a:latin typeface="Calibri"/>
                  </a:rPr>
                  <a:t>El controlador compensa eficazmente la variación de carga — el error transitorio es acotado y rápidamente amortiguado</a:t>
                </a:r>
              </a:p>
              <a:p>
                <a:pPr marL="285750" indent="-285750">
                  <a:spcBef>
                    <a:spcPts val="400"/>
                  </a:spcBef>
                  <a:buFont typeface="Arial" panose="020B0604020202020204" pitchFamily="34" charset="0"/>
                  <a:buChar char="•"/>
                </a:pPr>
                <a:r>
                  <a:rPr lang="es-AR" sz="1350" dirty="0">
                    <a:solidFill>
                      <a:schemeClr val="tx1"/>
                    </a:solidFill>
                    <a:latin typeface="Calibri"/>
                  </a:rPr>
                  <a:t>Aparece un error de estado estacionario frente a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smtClean="0">
                            <a:solidFill>
                              <a:schemeClr val="tx1"/>
                            </a:solidFill>
                            <a:latin typeface="Cambria Math" panose="02040503050406030204" pitchFamily="18" charset="0"/>
                          </a:rPr>
                          <m:t>𝑇</m:t>
                        </m:r>
                      </m:e>
                      <m:sub>
                        <m:r>
                          <a:rPr lang="es-AR" sz="1400" smtClean="0">
                            <a:solidFill>
                              <a:schemeClr val="tx1"/>
                            </a:solidFill>
                            <a:latin typeface="Cambria Math" panose="02040503050406030204" pitchFamily="18" charset="0"/>
                          </a:rPr>
                          <m:t>𝑙𝑑</m:t>
                        </m:r>
                      </m:sub>
                    </m:sSub>
                  </m:oMath>
                </a14:m>
                <a:r>
                  <a:rPr lang="es-AR" sz="1350" dirty="0">
                    <a:solidFill>
                      <a:schemeClr val="tx1"/>
                    </a:solidFill>
                    <a:latin typeface="Calibri"/>
                  </a:rPr>
                  <a:t> constante — el observador básico no tiene acción integral</a:t>
                </a:r>
              </a:p>
              <a:p>
                <a:pPr marL="285750" indent="-285750">
                  <a:spcBef>
                    <a:spcPts val="400"/>
                  </a:spcBef>
                  <a:buFont typeface="Arial" panose="020B0604020202020204" pitchFamily="34" charset="0"/>
                  <a:buChar char="•"/>
                </a:pPr>
                <a:r>
                  <a:rPr lang="es-AR" sz="1350" dirty="0">
                    <a:solidFill>
                      <a:schemeClr val="tx1"/>
                    </a:solidFill>
                    <a:latin typeface="Calibri"/>
                  </a:rPr>
                  <a:t>La señal estimada sigue consistentemente la posición real sin discrepancias significativas</a:t>
                </a:r>
              </a:p>
              <a:p>
                <a:pPr marL="285750" indent="-285750">
                  <a:spcBef>
                    <a:spcPts val="400"/>
                  </a:spcBef>
                  <a:buFont typeface="Arial" panose="020B0604020202020204" pitchFamily="34" charset="0"/>
                  <a:buChar char="•"/>
                </a:pPr>
                <a:r>
                  <a:rPr lang="es-AR" sz="1350" dirty="0">
                    <a:solidFill>
                      <a:schemeClr val="tx1"/>
                    </a:solidFill>
                    <a:latin typeface="Calibri"/>
                  </a:rPr>
                  <a:t>El instante t=10s (cambio de signo de la carga) genera el transitorio más exigente</a:t>
                </a:r>
              </a:p>
              <a:p>
                <a:pPr marL="285750" indent="-285750">
                  <a:spcBef>
                    <a:spcPts val="400"/>
                  </a:spcBef>
                  <a:buFont typeface="Arial" panose="020B0604020202020204" pitchFamily="34" charset="0"/>
                  <a:buChar char="•"/>
                </a:pPr>
                <a:r>
                  <a:rPr lang="es-AR" sz="1350" b="0" dirty="0">
                    <a:solidFill>
                      <a:schemeClr val="tx1"/>
                    </a:solidFill>
                    <a:latin typeface="Calibri"/>
                  </a:rPr>
                  <a:t>Incorporar acción integral al observador para eliminar el error estacionario </a:t>
                </a:r>
              </a:p>
            </p:txBody>
          </p:sp>
        </mc:Choice>
        <mc:Fallback xmlns="">
          <p:sp>
            <p:nvSpPr>
              <p:cNvPr id="15" name="TextBox 14"/>
              <p:cNvSpPr txBox="1">
                <a:spLocks noRot="1" noChangeAspect="1" noMove="1" noResize="1" noEditPoints="1" noAdjustHandles="1" noChangeArrowheads="1" noChangeShapeType="1" noTextEdit="1"/>
              </p:cNvSpPr>
              <p:nvPr/>
            </p:nvSpPr>
            <p:spPr>
              <a:xfrm>
                <a:off x="274320" y="5167935"/>
                <a:ext cx="11430000" cy="1339021"/>
              </a:xfrm>
              <a:prstGeom prst="rect">
                <a:avLst/>
              </a:prstGeom>
              <a:blipFill>
                <a:blip r:embed="rId4"/>
                <a:stretch>
                  <a:fillRect l="-53" t="-913" b="-4110"/>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154EEA19-08E5-49BD-94A3-10471C0BBBB7}"/>
              </a:ext>
            </a:extLst>
          </p:cNvPr>
          <p:cNvPicPr/>
          <p:nvPr/>
        </p:nvPicPr>
        <p:blipFill>
          <a:blip r:embed="rId5"/>
          <a:stretch>
            <a:fillRect/>
          </a:stretch>
        </p:blipFill>
        <p:spPr>
          <a:xfrm>
            <a:off x="126063" y="1114655"/>
            <a:ext cx="4632368" cy="3483977"/>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1A6B88F-EF4C-459D-8786-FBCBAB127437}"/>
                  </a:ext>
                </a:extLst>
              </p:cNvPr>
              <p:cNvSpPr txBox="1"/>
              <p:nvPr/>
            </p:nvSpPr>
            <p:spPr>
              <a:xfrm>
                <a:off x="1131493" y="454460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49— Perturbación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𝑙𝑑</m:t>
                        </m:r>
                      </m:sub>
                    </m:sSub>
                  </m:oMath>
                </a14:m>
                <a:endParaRPr lang="es-AR" dirty="0"/>
              </a:p>
            </p:txBody>
          </p:sp>
        </mc:Choice>
        <mc:Fallback xmlns="">
          <p:sp>
            <p:nvSpPr>
              <p:cNvPr id="17" name="CuadroTexto 16">
                <a:extLst>
                  <a:ext uri="{FF2B5EF4-FFF2-40B4-BE49-F238E27FC236}">
                    <a16:creationId xmlns:a16="http://schemas.microsoft.com/office/drawing/2014/main" id="{D1A6B88F-EF4C-459D-8786-FBCBAB127437}"/>
                  </a:ext>
                </a:extLst>
              </p:cNvPr>
              <p:cNvSpPr txBox="1">
                <a:spLocks noRot="1" noChangeAspect="1" noMove="1" noResize="1" noEditPoints="1" noAdjustHandles="1" noChangeArrowheads="1" noChangeShapeType="1" noTextEdit="1"/>
              </p:cNvSpPr>
              <p:nvPr/>
            </p:nvSpPr>
            <p:spPr>
              <a:xfrm>
                <a:off x="1131493" y="4544605"/>
                <a:ext cx="3996737" cy="261610"/>
              </a:xfrm>
              <a:prstGeom prst="rect">
                <a:avLst/>
              </a:prstGeom>
              <a:blipFill>
                <a:blip r:embed="rId6"/>
                <a:stretch>
                  <a:fillRect b="-1904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375C99EC-A932-44A5-AD98-366F3963F965}"/>
              </a:ext>
            </a:extLst>
          </p:cNvPr>
          <p:cNvPicPr/>
          <p:nvPr/>
        </p:nvPicPr>
        <p:blipFill>
          <a:blip r:embed="rId7">
            <a:extLst>
              <a:ext uri="{28A0092B-C50C-407E-A947-70E740481C1C}">
                <a14:useLocalDpi xmlns:a14="http://schemas.microsoft.com/office/drawing/2010/main" val="0"/>
              </a:ext>
            </a:extLst>
          </a:blip>
          <a:stretch>
            <a:fillRect/>
          </a:stretch>
        </p:blipFill>
        <p:spPr>
          <a:xfrm>
            <a:off x="6133660" y="1038110"/>
            <a:ext cx="4632368" cy="3637065"/>
          </a:xfrm>
          <a:prstGeom prst="rect">
            <a:avLst/>
          </a:prstGeom>
        </p:spPr>
      </p:pic>
      <p:sp>
        <p:nvSpPr>
          <p:cNvPr id="21" name="CuadroTexto 20">
            <a:extLst>
              <a:ext uri="{FF2B5EF4-FFF2-40B4-BE49-F238E27FC236}">
                <a16:creationId xmlns:a16="http://schemas.microsoft.com/office/drawing/2014/main" id="{C5D91A85-CA8F-46BB-A2A2-12ADA260788B}"/>
              </a:ext>
            </a:extLst>
          </p:cNvPr>
          <p:cNvSpPr txBox="1"/>
          <p:nvPr/>
        </p:nvSpPr>
        <p:spPr>
          <a:xfrm>
            <a:off x="6983356" y="46272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50— Respuesta con error de estado estacionario</a:t>
            </a:r>
          </a:p>
        </p:txBody>
      </p:sp>
      <p:sp>
        <p:nvSpPr>
          <p:cNvPr id="19" name="Shape 2">
            <a:extLst>
              <a:ext uri="{FF2B5EF4-FFF2-40B4-BE49-F238E27FC236}">
                <a16:creationId xmlns:a16="http://schemas.microsoft.com/office/drawing/2014/main" id="{BABB2CB2-FEC1-4A08-9FCE-5033699B1A0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45EAF211-E266-4BF9-B7F9-FDEE7E303BB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Verificación de desempeño y mejoras</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Consigna suavizada · Observador integral · Análisis térmico · Sensores no ideales · Modulador no ideal</a:t>
            </a:r>
          </a:p>
        </p:txBody>
      </p:sp>
      <p:sp>
        <p:nvSpPr>
          <p:cNvPr id="5" name="Shape 4">
            <a:extLst>
              <a:ext uri="{FF2B5EF4-FFF2-40B4-BE49-F238E27FC236}">
                <a16:creationId xmlns:a16="http://schemas.microsoft.com/office/drawing/2014/main" id="{F1DC7B78-74F9-482B-ADCD-F312C9F6E530}"/>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2417"/>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18" name="CuadroTexto 17">
            <a:extLst>
              <a:ext uri="{FF2B5EF4-FFF2-40B4-BE49-F238E27FC236}">
                <a16:creationId xmlns:a16="http://schemas.microsoft.com/office/drawing/2014/main" id="{75118225-8C9E-42F3-A20B-C14328F0BEB6}"/>
              </a:ext>
            </a:extLst>
          </p:cNvPr>
          <p:cNvSpPr txBox="1"/>
          <p:nvPr/>
        </p:nvSpPr>
        <p:spPr>
          <a:xfrm>
            <a:off x="96766" y="715151"/>
            <a:ext cx="11643055" cy="523220"/>
          </a:xfrm>
          <a:prstGeom prst="rect">
            <a:avLst/>
          </a:prstGeom>
          <a:noFill/>
        </p:spPr>
        <p:txBody>
          <a:bodyPr wrap="square">
            <a:spAutoFit/>
          </a:bodyPr>
          <a:lstStyle/>
          <a:p>
            <a:pPr algn="just"/>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as exigencias dinámicas asociadas a dicha referencia resultan excesivas. En particular, los cambios bruscos en la pendiente de la trayectoria generan transitorios severos en las variables eléctricas y mecánicas del accionamiento.</a:t>
            </a:r>
            <a:endParaRPr lang="es-AR" sz="16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17</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smtClean="0">
                                    <a:effectLst/>
                                    <a:latin typeface="Cambria Math" panose="02040503050406030204" pitchFamily="18" charset="0"/>
                                  </a:rPr>
                                  <m:t>45</m:t>
                                </m:r>
                                <m:r>
                                  <a:rPr lang="es-AR" sz="1100" smtClean="0">
                                    <a:effectLst/>
                                    <a:latin typeface="Cambria Math" panose="02040503050406030204" pitchFamily="18" charset="0"/>
                                  </a:rPr>
                                  <m:t>.</m:t>
                                </m:r>
                                <m:r>
                                  <a:rPr lang="es-AR" sz="1100" smtClean="0">
                                    <a:effectLst/>
                                    <a:latin typeface="Cambria Math" panose="02040503050406030204" pitchFamily="18" charset="0"/>
                                  </a:rPr>
                                  <m:t>0</m:t>
                                </m:r>
                                <m:r>
                                  <a:rPr lang="es-AR" sz="1100" smtClean="0">
                                    <a:effectLst/>
                                    <a:latin typeface="Cambria Math" panose="02040503050406030204" pitchFamily="18" charset="0"/>
                                  </a:rPr>
                                  <m:t>  </m:t>
                                </m:r>
                                <m:r>
                                  <a:rPr lang="es-AR" sz="1100" smtClean="0">
                                    <a:effectLst/>
                                    <a:latin typeface="Cambria Math" panose="02040503050406030204" pitchFamily="18" charset="0"/>
                                  </a:rPr>
                                  <m:t>𝑁</m:t>
                                </m:r>
                                <m:r>
                                  <a:rPr lang="es-AR" sz="1100" smtClean="0">
                                    <a:effectLst/>
                                    <a:latin typeface="Cambria Math" panose="02040503050406030204" pitchFamily="18" charset="0"/>
                                  </a:rPr>
                                  <m:t>.</m:t>
                                </m:r>
                                <m:r>
                                  <a:rPr lang="es-AR" sz="1100" smtClean="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0390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0115</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5951</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120</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191</m:t>
                                </m:r>
                                <m:r>
                                  <a:rPr lang="es-AR" sz="1100">
                                    <a:effectLst/>
                                    <a:latin typeface="Cambria Math" panose="02040503050406030204" pitchFamily="18" charset="0"/>
                                  </a:rPr>
                                  <m:t>.</m:t>
                                </m:r>
                                <m:r>
                                  <a:rPr lang="es-AR" sz="1100">
                                    <a:effectLst/>
                                    <a:latin typeface="Cambria Math" panose="02040503050406030204" pitchFamily="18" charset="0"/>
                                  </a:rPr>
                                  <m:t>4139</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4</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2</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5412</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72</m:t>
                                </m:r>
                                <m:r>
                                  <a:rPr lang="es-AR" sz="1100">
                                    <a:effectLst/>
                                    <a:latin typeface="Cambria Math" panose="02040503050406030204" pitchFamily="18" charset="0"/>
                                  </a:rPr>
                                  <m:t>.</m:t>
                                </m:r>
                                <m:r>
                                  <a:rPr lang="es-AR" sz="1100">
                                    <a:effectLst/>
                                    <a:latin typeface="Cambria Math" panose="02040503050406030204" pitchFamily="18" charset="0"/>
                                  </a:rPr>
                                  <m:t>4853</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30</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48</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0662</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1972</m:t>
                                </m:r>
                                <m:r>
                                  <a:rPr lang="es-AR" sz="1100">
                                    <a:effectLst/>
                                    <a:latin typeface="Cambria Math" panose="02040503050406030204" pitchFamily="18" charset="0"/>
                                  </a:rPr>
                                  <m:t>.</m:t>
                                </m:r>
                                <m:r>
                                  <a:rPr lang="es-AR" sz="1100">
                                    <a:effectLst/>
                                    <a:latin typeface="Cambria Math" panose="02040503050406030204" pitchFamily="18" charset="0"/>
                                  </a:rPr>
                                  <m:t>1495</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27880040"/>
                      </a:ext>
                    </a:extLst>
                  </a:tr>
                </a:tbl>
              </a:graphicData>
            </a:graphic>
          </p:graphicFrame>
        </mc:Choice>
        <mc:Fallback xmlns="">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217021" r="-293502" b="-380851"/>
                          </a:stretch>
                        </a:blipFill>
                      </a:tcPr>
                    </a:tc>
                    <a:tc>
                      <a:txBody>
                        <a:bodyPr/>
                        <a:lstStyle/>
                        <a:p>
                          <a:endParaRPr lang="es-AR"/>
                        </a:p>
                      </a:txBody>
                      <a:tcPr marL="68580" marR="68580" marT="0" marB="0">
                        <a:blipFill>
                          <a:blip r:embed="rId2"/>
                          <a:stretch>
                            <a:fillRect l="-236232" t="-217021" r="-194565" b="-380851"/>
                          </a:stretch>
                        </a:blipFill>
                      </a:tcPr>
                    </a:tc>
                    <a:tc>
                      <a:txBody>
                        <a:bodyPr/>
                        <a:lstStyle/>
                        <a:p>
                          <a:endParaRPr lang="es-AR"/>
                        </a:p>
                      </a:txBody>
                      <a:tcPr marL="68580" marR="68580" marT="0" marB="0">
                        <a:blipFill>
                          <a:blip r:embed="rId2"/>
                          <a:stretch>
                            <a:fillRect l="-336232" t="-217021" r="-94565" b="-380851"/>
                          </a:stretch>
                        </a:blipFill>
                      </a:tcPr>
                    </a:tc>
                    <a:tc>
                      <a:txBody>
                        <a:bodyPr/>
                        <a:lstStyle/>
                        <a:p>
                          <a:endParaRPr lang="es-AR"/>
                        </a:p>
                      </a:txBody>
                      <a:tcPr marL="68580" marR="68580" marT="0" marB="0">
                        <a:blipFill>
                          <a:blip r:embed="rId2"/>
                          <a:stretch>
                            <a:fillRect l="-468482" t="-217021" r="-1556" b="-380851"/>
                          </a:stretch>
                        </a:blipFill>
                      </a:tcPr>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317021" r="-293502" b="-280851"/>
                          </a:stretch>
                        </a:blipFill>
                      </a:tcPr>
                    </a:tc>
                    <a:tc>
                      <a:txBody>
                        <a:bodyPr/>
                        <a:lstStyle/>
                        <a:p>
                          <a:endParaRPr lang="es-AR"/>
                        </a:p>
                      </a:txBody>
                      <a:tcPr marL="68580" marR="68580" marT="0" marB="0">
                        <a:blipFill>
                          <a:blip r:embed="rId2"/>
                          <a:stretch>
                            <a:fillRect l="-236232" t="-317021" r="-194565" b="-280851"/>
                          </a:stretch>
                        </a:blipFill>
                      </a:tcPr>
                    </a:tc>
                    <a:tc>
                      <a:txBody>
                        <a:bodyPr/>
                        <a:lstStyle/>
                        <a:p>
                          <a:endParaRPr lang="es-AR"/>
                        </a:p>
                      </a:txBody>
                      <a:tcPr marL="68580" marR="68580" marT="0" marB="0">
                        <a:blipFill>
                          <a:blip r:embed="rId2"/>
                          <a:stretch>
                            <a:fillRect l="-336232" t="-317021" r="-94565" b="-280851"/>
                          </a:stretch>
                        </a:blipFill>
                      </a:tcPr>
                    </a:tc>
                    <a:tc>
                      <a:txBody>
                        <a:bodyPr/>
                        <a:lstStyle/>
                        <a:p>
                          <a:endParaRPr lang="es-AR"/>
                        </a:p>
                      </a:txBody>
                      <a:tcPr marL="68580" marR="68580" marT="0" marB="0">
                        <a:blipFill>
                          <a:blip r:embed="rId2"/>
                          <a:stretch>
                            <a:fillRect l="-468482" t="-317021" r="-1556" b="-280851"/>
                          </a:stretch>
                        </a:blipFill>
                      </a:tcPr>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445455" r="-293502" b="-200000"/>
                          </a:stretch>
                        </a:blipFill>
                      </a:tcPr>
                    </a:tc>
                    <a:tc>
                      <a:txBody>
                        <a:bodyPr/>
                        <a:lstStyle/>
                        <a:p>
                          <a:endParaRPr lang="es-AR"/>
                        </a:p>
                      </a:txBody>
                      <a:tcPr marL="68580" marR="68580" marT="0" marB="0">
                        <a:blipFill>
                          <a:blip r:embed="rId2"/>
                          <a:stretch>
                            <a:fillRect l="-236232" t="-445455" r="-194565" b="-200000"/>
                          </a:stretch>
                        </a:blipFill>
                      </a:tcPr>
                    </a:tc>
                    <a:tc>
                      <a:txBody>
                        <a:bodyPr/>
                        <a:lstStyle/>
                        <a:p>
                          <a:endParaRPr lang="es-AR"/>
                        </a:p>
                      </a:txBody>
                      <a:tcPr marL="68580" marR="68580" marT="0" marB="0">
                        <a:blipFill>
                          <a:blip r:embed="rId2"/>
                          <a:stretch>
                            <a:fillRect l="-336232" t="-445455" r="-94565" b="-200000"/>
                          </a:stretch>
                        </a:blipFill>
                      </a:tcPr>
                    </a:tc>
                    <a:tc>
                      <a:txBody>
                        <a:bodyPr/>
                        <a:lstStyle/>
                        <a:p>
                          <a:endParaRPr lang="es-AR"/>
                        </a:p>
                      </a:txBody>
                      <a:tcPr marL="68580" marR="68580" marT="0" marB="0">
                        <a:blipFill>
                          <a:blip r:embed="rId2"/>
                          <a:stretch>
                            <a:fillRect l="-468482" t="-445455" r="-1556" b="-200000"/>
                          </a:stretch>
                        </a:blipFill>
                      </a:tcPr>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510638" r="-293502" b="-87234"/>
                          </a:stretch>
                        </a:blipFill>
                      </a:tcPr>
                    </a:tc>
                    <a:tc>
                      <a:txBody>
                        <a:bodyPr/>
                        <a:lstStyle/>
                        <a:p>
                          <a:endParaRPr lang="es-AR"/>
                        </a:p>
                      </a:txBody>
                      <a:tcPr marL="68580" marR="68580" marT="0" marB="0">
                        <a:blipFill>
                          <a:blip r:embed="rId2"/>
                          <a:stretch>
                            <a:fillRect l="-236232" t="-510638" r="-194565" b="-87234"/>
                          </a:stretch>
                        </a:blipFill>
                      </a:tcPr>
                    </a:tc>
                    <a:tc>
                      <a:txBody>
                        <a:bodyPr/>
                        <a:lstStyle/>
                        <a:p>
                          <a:endParaRPr lang="es-AR"/>
                        </a:p>
                      </a:txBody>
                      <a:tcPr marL="68580" marR="68580" marT="0" marB="0">
                        <a:blipFill>
                          <a:blip r:embed="rId2"/>
                          <a:stretch>
                            <a:fillRect l="-336232" t="-510638" r="-94565" b="-87234"/>
                          </a:stretch>
                        </a:blipFill>
                      </a:tcPr>
                    </a:tc>
                    <a:tc>
                      <a:txBody>
                        <a:bodyPr/>
                        <a:lstStyle/>
                        <a:p>
                          <a:endParaRPr lang="es-AR"/>
                        </a:p>
                      </a:txBody>
                      <a:tcPr marL="68580" marR="68580" marT="0" marB="0">
                        <a:blipFill>
                          <a:blip r:embed="rId2"/>
                          <a:stretch>
                            <a:fillRect l="-468482" t="-510638" r="-1556" b="-87234"/>
                          </a:stretch>
                        </a:blipFill>
                      </a:tcPr>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869697" r="-293502" b="-24242"/>
                          </a:stretch>
                        </a:blipFill>
                      </a:tcPr>
                    </a:tc>
                    <a:tc>
                      <a:txBody>
                        <a:bodyPr/>
                        <a:lstStyle/>
                        <a:p>
                          <a:endParaRPr lang="es-AR"/>
                        </a:p>
                      </a:txBody>
                      <a:tcPr marL="68580" marR="68580" marT="0" marB="0">
                        <a:blipFill>
                          <a:blip r:embed="rId2"/>
                          <a:stretch>
                            <a:fillRect l="-236232" t="-869697" r="-194565" b="-24242"/>
                          </a:stretch>
                        </a:blipFill>
                      </a:tcPr>
                    </a:tc>
                    <a:tc>
                      <a:txBody>
                        <a:bodyPr/>
                        <a:lstStyle/>
                        <a:p>
                          <a:endParaRPr lang="es-AR"/>
                        </a:p>
                      </a:txBody>
                      <a:tcPr marL="68580" marR="68580" marT="0" marB="0">
                        <a:blipFill>
                          <a:blip r:embed="rId2"/>
                          <a:stretch>
                            <a:fillRect l="-336232" t="-869697" r="-94565" b="-24242"/>
                          </a:stretch>
                        </a:blipFill>
                      </a:tcPr>
                    </a:tc>
                    <a:tc>
                      <a:txBody>
                        <a:bodyPr/>
                        <a:lstStyle/>
                        <a:p>
                          <a:endParaRPr lang="es-AR"/>
                        </a:p>
                      </a:txBody>
                      <a:tcPr marL="68580" marR="68580" marT="0" marB="0">
                        <a:blipFill>
                          <a:blip r:embed="rId2"/>
                          <a:stretch>
                            <a:fillRect l="-468482" t="-869697" r="-1556" b="-24242"/>
                          </a:stretch>
                        </a:blipFill>
                      </a:tcPr>
                    </a:tc>
                    <a:extLst>
                      <a:ext uri="{0D108BD9-81ED-4DB2-BD59-A6C34878D82A}">
                        <a16:rowId xmlns:a16="http://schemas.microsoft.com/office/drawing/2014/main" val="2027880040"/>
                      </a:ext>
                    </a:extLst>
                  </a:tr>
                </a:tbl>
              </a:graphicData>
            </a:graphic>
          </p:graphicFrame>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2DE4317B-02B3-4E13-80CB-916D5A3A55FD}"/>
                  </a:ext>
                </a:extLst>
              </p:cNvPr>
              <p:cNvSpPr txBox="1"/>
              <p:nvPr/>
            </p:nvSpPr>
            <p:spPr>
              <a:xfrm>
                <a:off x="185542" y="3242548"/>
                <a:ext cx="11465501" cy="738664"/>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 partir de este análisis, se concluye que resulta necesario reemplazar la referencia de posición articular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una consigna de velocidad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 perfil trapezoidal. De este modo, se busca suavizar la evolución temporal de la referencia, reducir las discontinuidades que excitan al sistema y obtener valores de corriente y tensión más compatibles con las restricciones de operación establecidas. </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1" name="CuadroTexto 20">
                <a:extLst>
                  <a:ext uri="{FF2B5EF4-FFF2-40B4-BE49-F238E27FC236}">
                    <a16:creationId xmlns:a16="http://schemas.microsoft.com/office/drawing/2014/main" id="{2DE4317B-02B3-4E13-80CB-916D5A3A55FD}"/>
                  </a:ext>
                </a:extLst>
              </p:cNvPr>
              <p:cNvSpPr txBox="1">
                <a:spLocks noRot="1" noChangeAspect="1" noMove="1" noResize="1" noEditPoints="1" noAdjustHandles="1" noChangeArrowheads="1" noChangeShapeType="1" noTextEdit="1"/>
              </p:cNvSpPr>
              <p:nvPr/>
            </p:nvSpPr>
            <p:spPr>
              <a:xfrm>
                <a:off x="185542" y="3242548"/>
                <a:ext cx="11465501" cy="738664"/>
              </a:xfrm>
              <a:prstGeom prst="rect">
                <a:avLst/>
              </a:prstGeom>
              <a:blipFill>
                <a:blip r:embed="rId3"/>
                <a:stretch>
                  <a:fillRect l="-159" t="-1653" r="-159" b="-7438"/>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732F362-515B-4A93-AF8E-70AD6975FE2E}"/>
              </a:ext>
            </a:extLst>
          </p:cNvPr>
          <p:cNvPicPr/>
          <p:nvPr/>
        </p:nvPicPr>
        <p:blipFill>
          <a:blip r:embed="rId4">
            <a:extLst>
              <a:ext uri="{28A0092B-C50C-407E-A947-70E740481C1C}">
                <a14:useLocalDpi xmlns:a14="http://schemas.microsoft.com/office/drawing/2010/main" val="0"/>
              </a:ext>
            </a:extLst>
          </a:blip>
          <a:stretch>
            <a:fillRect/>
          </a:stretch>
        </p:blipFill>
        <p:spPr>
          <a:xfrm>
            <a:off x="4036914" y="3981212"/>
            <a:ext cx="3571250" cy="2540871"/>
          </a:xfrm>
          <a:prstGeom prst="rect">
            <a:avLst/>
          </a:prstGeom>
        </p:spPr>
      </p:pic>
      <p:sp>
        <p:nvSpPr>
          <p:cNvPr id="23" name="CuadroTexto 22">
            <a:extLst>
              <a:ext uri="{FF2B5EF4-FFF2-40B4-BE49-F238E27FC236}">
                <a16:creationId xmlns:a16="http://schemas.microsoft.com/office/drawing/2014/main" id="{70B890C0-E4D5-4C7D-B13C-E3255DA09346}"/>
              </a:ext>
            </a:extLst>
          </p:cNvPr>
          <p:cNvSpPr txBox="1"/>
          <p:nvPr/>
        </p:nvSpPr>
        <p:spPr>
          <a:xfrm>
            <a:off x="7654306" y="48763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51— Perfil de velocidad </a:t>
            </a:r>
          </a:p>
        </p:txBody>
      </p:sp>
      <p:sp>
        <p:nvSpPr>
          <p:cNvPr id="11" name="Shape 2">
            <a:extLst>
              <a:ext uri="{FF2B5EF4-FFF2-40B4-BE49-F238E27FC236}">
                <a16:creationId xmlns:a16="http://schemas.microsoft.com/office/drawing/2014/main" id="{8AA5AC5B-3D5E-4FE3-9E45-B2F0132CE5D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9FD6D717-42EF-4AFA-957E-07CEEDFB8E1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8173"/>
            <a:ext cx="11551615" cy="658368"/>
          </a:xfrm>
          <a:prstGeom prst="rect">
            <a:avLst/>
          </a:prstGeom>
          <a:noFill/>
        </p:spPr>
        <p:txBody>
          <a:bodyPr wrap="none">
            <a:spAutoFit/>
          </a:bodyPr>
          <a:lstStyle/>
          <a:p>
            <a:pPr algn="l"/>
            <a:r>
              <a:rPr sz="2100" b="1">
                <a:solidFill>
                  <a:srgbClr val="FFFFFF"/>
                </a:solidFill>
                <a:latin typeface="Cambria"/>
              </a:rPr>
              <a:t>Modificación de consigna — Perfil de velocidad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pic>
        <p:nvPicPr>
          <p:cNvPr id="17" name="Imagen 16">
            <a:extLst>
              <a:ext uri="{FF2B5EF4-FFF2-40B4-BE49-F238E27FC236}">
                <a16:creationId xmlns:a16="http://schemas.microsoft.com/office/drawing/2014/main" id="{21676D9C-D9F7-4AE3-B1DC-A470105E7A2B}"/>
              </a:ext>
            </a:extLst>
          </p:cNvPr>
          <p:cNvPicPr/>
          <p:nvPr/>
        </p:nvPicPr>
        <p:blipFill rotWithShape="1">
          <a:blip r:embed="rId2"/>
          <a:srcRect l="-2360" r="-7860"/>
          <a:stretch/>
        </p:blipFill>
        <p:spPr bwMode="auto">
          <a:xfrm>
            <a:off x="1946246" y="871433"/>
            <a:ext cx="8548381" cy="4570579"/>
          </a:xfrm>
          <a:prstGeom prst="rect">
            <a:avLst/>
          </a:prstGeom>
          <a:ln>
            <a:noFill/>
          </a:ln>
          <a:extLst>
            <a:ext uri="{53640926-AAD7-44D8-BBD7-CCE9431645EC}">
              <a14:shadowObscured xmlns:a14="http://schemas.microsoft.com/office/drawing/2010/main"/>
            </a:ext>
          </a:extLst>
        </p:spPr>
      </p:pic>
      <p:sp>
        <p:nvSpPr>
          <p:cNvPr id="21" name="CuadroTexto 20">
            <a:extLst>
              <a:ext uri="{FF2B5EF4-FFF2-40B4-BE49-F238E27FC236}">
                <a16:creationId xmlns:a16="http://schemas.microsoft.com/office/drawing/2014/main" id="{4F2178E3-4F5F-4A71-86D2-BDAC3049FFE2}"/>
              </a:ext>
            </a:extLst>
          </p:cNvPr>
          <p:cNvSpPr txBox="1"/>
          <p:nvPr/>
        </p:nvSpPr>
        <p:spPr>
          <a:xfrm>
            <a:off x="4306539" y="5449068"/>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52— Velocidad angular real vs observada vs consigna</a:t>
            </a:r>
          </a:p>
        </p:txBody>
      </p:sp>
      <p:sp>
        <p:nvSpPr>
          <p:cNvPr id="8" name="Shape 2">
            <a:extLst>
              <a:ext uri="{FF2B5EF4-FFF2-40B4-BE49-F238E27FC236}">
                <a16:creationId xmlns:a16="http://schemas.microsoft.com/office/drawing/2014/main" id="{240E8FA4-96E7-4138-B987-ED8F154384E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BA817797-FAC4-4B8A-9BFE-85CCBB90805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394107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590"/>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21" name="CuadroTexto 20">
            <a:extLst>
              <a:ext uri="{FF2B5EF4-FFF2-40B4-BE49-F238E27FC236}">
                <a16:creationId xmlns:a16="http://schemas.microsoft.com/office/drawing/2014/main" id="{4F2178E3-4F5F-4A71-86D2-BDAC3049FFE2}"/>
              </a:ext>
            </a:extLst>
          </p:cNvPr>
          <p:cNvSpPr txBox="1"/>
          <p:nvPr/>
        </p:nvSpPr>
        <p:spPr>
          <a:xfrm>
            <a:off x="711082"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53— Posición angular real vs observada vs consigna</a:t>
            </a:r>
          </a:p>
        </p:txBody>
      </p:sp>
      <p:pic>
        <p:nvPicPr>
          <p:cNvPr id="9" name="Imagen 8">
            <a:extLst>
              <a:ext uri="{FF2B5EF4-FFF2-40B4-BE49-F238E27FC236}">
                <a16:creationId xmlns:a16="http://schemas.microsoft.com/office/drawing/2014/main" id="{F64FC887-3420-43BE-AB1D-C40737D95B1F}"/>
              </a:ext>
            </a:extLst>
          </p:cNvPr>
          <p:cNvPicPr/>
          <p:nvPr/>
        </p:nvPicPr>
        <p:blipFill>
          <a:blip r:embed="rId2">
            <a:extLst>
              <a:ext uri="{28A0092B-C50C-407E-A947-70E740481C1C}">
                <a14:useLocalDpi xmlns:a14="http://schemas.microsoft.com/office/drawing/2010/main" val="0"/>
              </a:ext>
            </a:extLst>
          </a:blip>
          <a:stretch>
            <a:fillRect/>
          </a:stretch>
        </p:blipFill>
        <p:spPr>
          <a:xfrm>
            <a:off x="189239" y="835385"/>
            <a:ext cx="4728990" cy="4011823"/>
          </a:xfrm>
          <a:prstGeom prst="rect">
            <a:avLst/>
          </a:prstGeom>
        </p:spPr>
      </p:pic>
      <p:pic>
        <p:nvPicPr>
          <p:cNvPr id="10" name="Imagen 9">
            <a:extLst>
              <a:ext uri="{FF2B5EF4-FFF2-40B4-BE49-F238E27FC236}">
                <a16:creationId xmlns:a16="http://schemas.microsoft.com/office/drawing/2014/main" id="{16EB9179-3ECE-4EFE-9385-AB178CDBDD14}"/>
              </a:ext>
            </a:extLst>
          </p:cNvPr>
          <p:cNvPicPr/>
          <p:nvPr/>
        </p:nvPicPr>
        <p:blipFill rotWithShape="1">
          <a:blip r:embed="rId3">
            <a:extLst>
              <a:ext uri="{28A0092B-C50C-407E-A947-70E740481C1C}">
                <a14:useLocalDpi xmlns:a14="http://schemas.microsoft.com/office/drawing/2010/main" val="0"/>
              </a:ext>
            </a:extLst>
          </a:blip>
          <a:srcRect t="582" b="-2"/>
          <a:stretch/>
        </p:blipFill>
        <p:spPr bwMode="auto">
          <a:xfrm>
            <a:off x="5469909" y="835384"/>
            <a:ext cx="5201050" cy="4011823"/>
          </a:xfrm>
          <a:prstGeom prst="rect">
            <a:avLst/>
          </a:prstGeom>
          <a:ln>
            <a:noFill/>
          </a:ln>
          <a:extLst>
            <a:ext uri="{53640926-AAD7-44D8-BBD7-CCE9431645EC}">
              <a14:shadowObscured xmlns:a14="http://schemas.microsoft.com/office/drawing/2010/main"/>
            </a:ext>
          </a:extLst>
        </p:spPr>
      </p:pic>
      <p:sp>
        <p:nvSpPr>
          <p:cNvPr id="11" name="CuadroTexto 10">
            <a:extLst>
              <a:ext uri="{FF2B5EF4-FFF2-40B4-BE49-F238E27FC236}">
                <a16:creationId xmlns:a16="http://schemas.microsoft.com/office/drawing/2014/main" id="{6ED071F9-0634-472C-AE3E-5A24A523A6C4}"/>
              </a:ext>
            </a:extLst>
          </p:cNvPr>
          <p:cNvSpPr txBox="1"/>
          <p:nvPr/>
        </p:nvSpPr>
        <p:spPr>
          <a:xfrm>
            <a:off x="6891419"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54— Detalle de posición angular</a:t>
            </a:r>
          </a:p>
        </p:txBody>
      </p:sp>
      <p:sp>
        <p:nvSpPr>
          <p:cNvPr id="12" name="Shape 2">
            <a:extLst>
              <a:ext uri="{FF2B5EF4-FFF2-40B4-BE49-F238E27FC236}">
                <a16:creationId xmlns:a16="http://schemas.microsoft.com/office/drawing/2014/main" id="{F84031A5-D1AC-49B4-8D96-CB8A1D5D61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F3174D3-BFEF-4F57-9409-79F07D8D7C1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94678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A8BE010C-9E72-40EC-AB4B-412DDC01C099}"/>
              </a:ext>
            </a:extLst>
          </p:cNvPr>
          <p:cNvPicPr/>
          <p:nvPr/>
        </p:nvPicPr>
        <p:blipFill rotWithShape="1">
          <a:blip r:embed="rId2"/>
          <a:srcRect t="-1216" b="-5395"/>
          <a:stretch/>
        </p:blipFill>
        <p:spPr bwMode="auto">
          <a:xfrm>
            <a:off x="5797157" y="773077"/>
            <a:ext cx="5413525" cy="4283010"/>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809"/>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683182" y="4787473"/>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683182" y="4787473"/>
                <a:ext cx="4366945" cy="261610"/>
              </a:xfrm>
              <a:prstGeom prst="rect">
                <a:avLst/>
              </a:prstGeom>
              <a:blipFill>
                <a:blip r:embed="rId3"/>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ED071F9-0634-472C-AE3E-5A24A523A6C4}"/>
                  </a:ext>
                </a:extLst>
              </p:cNvPr>
              <p:cNvSpPr txBox="1"/>
              <p:nvPr/>
            </p:nvSpPr>
            <p:spPr>
              <a:xfrm>
                <a:off x="7504710" y="4918278"/>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xmlns="">
          <p:sp>
            <p:nvSpPr>
              <p:cNvPr id="11" name="CuadroTexto 10">
                <a:extLst>
                  <a:ext uri="{FF2B5EF4-FFF2-40B4-BE49-F238E27FC236}">
                    <a16:creationId xmlns:a16="http://schemas.microsoft.com/office/drawing/2014/main" id="{6ED071F9-0634-472C-AE3E-5A24A523A6C4}"/>
                  </a:ext>
                </a:extLst>
              </p:cNvPr>
              <p:cNvSpPr txBox="1">
                <a:spLocks noRot="1" noChangeAspect="1" noMove="1" noResize="1" noEditPoints="1" noAdjustHandles="1" noChangeArrowheads="1" noChangeShapeType="1" noTextEdit="1"/>
              </p:cNvSpPr>
              <p:nvPr/>
            </p:nvSpPr>
            <p:spPr>
              <a:xfrm>
                <a:off x="7504710" y="4918278"/>
                <a:ext cx="4366945" cy="261610"/>
              </a:xfrm>
              <a:prstGeom prst="rect">
                <a:avLst/>
              </a:prstGeom>
              <a:blipFill>
                <a:blip r:embed="rId4"/>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73128FC7-C5F0-47F0-8A3E-620F84E4EAF8}"/>
              </a:ext>
            </a:extLst>
          </p:cNvPr>
          <p:cNvPicPr/>
          <p:nvPr/>
        </p:nvPicPr>
        <p:blipFill>
          <a:blip r:embed="rId5"/>
          <a:srcRect/>
          <a:stretch/>
        </p:blipFill>
        <p:spPr>
          <a:xfrm>
            <a:off x="274319" y="796179"/>
            <a:ext cx="5157078" cy="3984290"/>
          </a:xfrm>
          <a:prstGeom prst="rect">
            <a:avLst/>
          </a:prstGeom>
        </p:spPr>
      </p:pic>
      <p:sp>
        <p:nvSpPr>
          <p:cNvPr id="10" name="Shape 2">
            <a:extLst>
              <a:ext uri="{FF2B5EF4-FFF2-40B4-BE49-F238E27FC236}">
                <a16:creationId xmlns:a16="http://schemas.microsoft.com/office/drawing/2014/main" id="{DB89B4B5-5098-427E-985B-DEE4C704E3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212FA254-4F88-44E2-B4DD-AF3DA373DF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638340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8771"/>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938838" y="4701589"/>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57— Tensiones </a:t>
                </a:r>
                <a14:m>
                  <m:oMath xmlns:m="http://schemas.openxmlformats.org/officeDocument/2006/math">
                    <m:sSub>
                      <m:sSubPr>
                        <m:ctrlPr>
                          <a:rPr lang="es-AR" i="1">
                            <a:latin typeface="Cambria Math" panose="02040503050406030204" pitchFamily="18" charset="0"/>
                          </a:rPr>
                        </m:ctrlPr>
                      </m:sSubPr>
                      <m:e>
                        <m:r>
                          <a:rPr lang="es-MX" b="0" i="1" smtClean="0">
                            <a:latin typeface="Cambria Math" panose="02040503050406030204" pitchFamily="18" charset="0"/>
                          </a:rPr>
                          <m:t>𝑣</m:t>
                        </m:r>
                      </m:e>
                      <m:sub>
                        <m:r>
                          <a:rPr lang="es-AR">
                            <a:latin typeface="Cambria Math" panose="02040503050406030204" pitchFamily="18" charset="0"/>
                          </a:rPr>
                          <m:t>𝑎𝑏𝑐</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938838" y="4701589"/>
                <a:ext cx="4366945" cy="261610"/>
              </a:xfrm>
              <a:prstGeom prst="rect">
                <a:avLst/>
              </a:prstGeom>
              <a:blipFill>
                <a:blip r:embed="rId2"/>
                <a:stretch>
                  <a:fillRect b="-16279"/>
                </a:stretch>
              </a:blipFill>
            </p:spPr>
            <p:txBody>
              <a:bodyPr/>
              <a:lstStyle/>
              <a:p>
                <a:r>
                  <a:rPr lang="es-AR">
                    <a:noFill/>
                  </a:rPr>
                  <a:t> </a:t>
                </a:r>
              </a:p>
            </p:txBody>
          </p:sp>
        </mc:Fallback>
      </mc:AlternateContent>
      <p:sp>
        <p:nvSpPr>
          <p:cNvPr id="11" name="CuadroTexto 10">
            <a:extLst>
              <a:ext uri="{FF2B5EF4-FFF2-40B4-BE49-F238E27FC236}">
                <a16:creationId xmlns:a16="http://schemas.microsoft.com/office/drawing/2014/main" id="{6ED071F9-0634-472C-AE3E-5A24A523A6C4}"/>
              </a:ext>
            </a:extLst>
          </p:cNvPr>
          <p:cNvSpPr txBox="1"/>
          <p:nvPr/>
        </p:nvSpPr>
        <p:spPr>
          <a:xfrm>
            <a:off x="7504710" y="466259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58— Temperatura del estator</a:t>
            </a:r>
          </a:p>
        </p:txBody>
      </p:sp>
      <p:pic>
        <p:nvPicPr>
          <p:cNvPr id="14" name="Imagen 13">
            <a:extLst>
              <a:ext uri="{FF2B5EF4-FFF2-40B4-BE49-F238E27FC236}">
                <a16:creationId xmlns:a16="http://schemas.microsoft.com/office/drawing/2014/main" id="{B1B551A1-F426-4489-BB28-50A832B1A377}"/>
              </a:ext>
            </a:extLst>
          </p:cNvPr>
          <p:cNvPicPr/>
          <p:nvPr/>
        </p:nvPicPr>
        <p:blipFill>
          <a:blip r:embed="rId3"/>
          <a:srcRect/>
          <a:stretch/>
        </p:blipFill>
        <p:spPr>
          <a:xfrm>
            <a:off x="320038" y="906457"/>
            <a:ext cx="5256025" cy="3716285"/>
          </a:xfrm>
          <a:prstGeom prst="rect">
            <a:avLst/>
          </a:prstGeom>
        </p:spPr>
      </p:pic>
      <p:pic>
        <p:nvPicPr>
          <p:cNvPr id="15" name="Imagen 14">
            <a:extLst>
              <a:ext uri="{FF2B5EF4-FFF2-40B4-BE49-F238E27FC236}">
                <a16:creationId xmlns:a16="http://schemas.microsoft.com/office/drawing/2014/main" id="{80F27CEF-4915-4233-B0B4-7A8424DE380C}"/>
              </a:ext>
            </a:extLst>
          </p:cNvPr>
          <p:cNvPicPr/>
          <p:nvPr/>
        </p:nvPicPr>
        <p:blipFill>
          <a:blip r:embed="rId4"/>
          <a:srcRect t="5203" b="5203"/>
          <a:stretch/>
        </p:blipFill>
        <p:spPr bwMode="auto">
          <a:xfrm>
            <a:off x="5738071" y="866610"/>
            <a:ext cx="5971576" cy="3789705"/>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FAE28A3-C905-4EF3-B303-74157A73EA8A}"/>
              </a:ext>
            </a:extLst>
          </p:cNvPr>
          <p:cNvSpPr txBox="1"/>
          <p:nvPr/>
        </p:nvSpPr>
        <p:spPr>
          <a:xfrm>
            <a:off x="320040" y="5351684"/>
            <a:ext cx="11389607" cy="773673"/>
          </a:xfrm>
          <a:prstGeom prst="rect">
            <a:avLst/>
          </a:prstGeom>
          <a:noFill/>
        </p:spPr>
        <p:txBody>
          <a:bodyPr wrap="square">
            <a:spAutoFit/>
          </a:bodyPr>
          <a:lstStyle/>
          <a:p>
            <a:pPr algn="just">
              <a:lnSpc>
                <a:spcPct val="107000"/>
              </a:lnSpc>
              <a:spcBef>
                <a:spcPts val="18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Esta modificación permite reducir significativamente las amplitudes de las variables, manteniéndolas dentro de los límites operativos del sistema. Asimismo, se observa que la temperatura, que previamente superaba los 56 °C, ahora se mantiene por debajo de los 41 °C, lo cual se explica por la disminución en los niveles de corriente.</a:t>
            </a:r>
          </a:p>
        </p:txBody>
      </p:sp>
      <p:sp>
        <p:nvSpPr>
          <p:cNvPr id="12" name="Shape 2">
            <a:extLst>
              <a:ext uri="{FF2B5EF4-FFF2-40B4-BE49-F238E27FC236}">
                <a16:creationId xmlns:a16="http://schemas.microsoft.com/office/drawing/2014/main" id="{68A1AD0B-77C9-4BEB-BBB2-F3D9AEF273C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3CDFEB8B-7AB2-4624-B516-3765B6A118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086996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8" y="113388"/>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mc:AlternateContent xmlns:mc="http://schemas.openxmlformats.org/markup-compatibility/2006" xmlns:a14="http://schemas.microsoft.com/office/drawing/2010/main">
        <mc:Choice Requires="a14">
          <p:sp>
            <p:nvSpPr>
              <p:cNvPr id="7" name="TextBox 6"/>
              <p:cNvSpPr txBox="1"/>
              <p:nvPr/>
            </p:nvSpPr>
            <p:spPr>
              <a:xfrm>
                <a:off x="148942" y="709517"/>
                <a:ext cx="11907939" cy="738664"/>
              </a:xfrm>
              <a:prstGeom prst="rect">
                <a:avLst/>
              </a:prstGeom>
              <a:noFill/>
            </p:spPr>
            <p:txBody>
              <a:bodyPr wrap="square">
                <a:spAutoFit/>
              </a:bodyPr>
              <a:lstStyle/>
              <a:p>
                <a:r>
                  <a:rPr lang="es-AR" sz="1400" dirty="0"/>
                  <a:t>Tenemos un error en régimen permanente frente a perturbaciones de torque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oMath>
                </a14:m>
                <a:r>
                  <a:rPr lang="es-AR" sz="1400" dirty="0"/>
                  <a:t>​. El observador tiene un comportamiento equivalente a un controlador tipo PD, ya que su acción depende del estado estimado y de su derivada. Se incorpora una acción integral en el diseño del observador. se define una nueva variable de estado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asociada a la integración del error de estimación:</a:t>
                </a:r>
              </a:p>
            </p:txBody>
          </p:sp>
        </mc:Choice>
        <mc:Fallback xmlns="">
          <p:sp>
            <p:nvSpPr>
              <p:cNvPr id="7" name="TextBox 6"/>
              <p:cNvSpPr txBox="1">
                <a:spLocks noRot="1" noChangeAspect="1" noMove="1" noResize="1" noEditPoints="1" noAdjustHandles="1" noChangeArrowheads="1" noChangeShapeType="1" noTextEdit="1"/>
              </p:cNvSpPr>
              <p:nvPr/>
            </p:nvSpPr>
            <p:spPr>
              <a:xfrm>
                <a:off x="148942" y="709517"/>
                <a:ext cx="11907939" cy="738664"/>
              </a:xfrm>
              <a:prstGeom prst="rect">
                <a:avLst/>
              </a:prstGeom>
              <a:blipFill>
                <a:blip r:embed="rId2"/>
                <a:stretch>
                  <a:fillRect l="-154" t="-820" b="-7377"/>
                </a:stretch>
              </a:blipFill>
            </p:spPr>
            <p:txBody>
              <a:bodyPr/>
              <a:lstStyle/>
              <a:p>
                <a:r>
                  <a:rPr lang="es-AR">
                    <a:noFill/>
                  </a:rPr>
                  <a:t> </a:t>
                </a:r>
              </a:p>
            </p:txBody>
          </p:sp>
        </mc:Fallback>
      </mc:AlternateContent>
      <p:sp>
        <p:nvSpPr>
          <p:cNvPr id="10" name="Rectangle 9"/>
          <p:cNvSpPr/>
          <p:nvPr/>
        </p:nvSpPr>
        <p:spPr>
          <a:xfrm>
            <a:off x="320039" y="1504188"/>
            <a:ext cx="11551615" cy="38290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320040" y="1504188"/>
                <a:ext cx="2850193" cy="3149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smtClean="0">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400" b="1" dirty="0">
                  <a:solidFill>
                    <a:srgbClr val="1B6B2A"/>
                  </a:solidFill>
                  <a:latin typeface="Calibri"/>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20040" y="1504188"/>
                <a:ext cx="2850193" cy="314958"/>
              </a:xfrm>
              <a:prstGeom prst="rect">
                <a:avLst/>
              </a:prstGeom>
              <a:blipFill>
                <a:blip r:embed="rId3"/>
                <a:stretch>
                  <a:fillRect t="-5882" b="-3922"/>
                </a:stretch>
              </a:blipFill>
            </p:spPr>
            <p:txBody>
              <a:bodyPr/>
              <a:lstStyle/>
              <a:p>
                <a:r>
                  <a:rPr lang="es-AR">
                    <a:noFill/>
                  </a:rPr>
                  <a:t> </a:t>
                </a:r>
              </a:p>
            </p:txBody>
          </p:sp>
        </mc:Fallback>
      </mc:AlternateContent>
      <p:sp>
        <p:nvSpPr>
          <p:cNvPr id="12" name="Rectangle 11"/>
          <p:cNvSpPr/>
          <p:nvPr/>
        </p:nvSpPr>
        <p:spPr>
          <a:xfrm>
            <a:off x="320039" y="2281428"/>
            <a:ext cx="1155161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25452" y="2243124"/>
                <a:ext cx="4231692" cy="513282"/>
              </a:xfrm>
              <a:prstGeom prst="rect">
                <a:avLst/>
              </a:prstGeom>
              <a:noFill/>
            </p:spPr>
            <p:txBody>
              <a:bodyPr wrap="square">
                <a:spAutoFit/>
              </a:bodyPr>
              <a:lstStyle/>
              <a:p>
                <a:pPr algn="ctr"/>
                <a14:m>
                  <m:oMath xmlns:m="http://schemas.openxmlformats.org/officeDocument/2006/math">
                    <m:sSub>
                      <m:sSubPr>
                        <m:ctrlPr>
                          <a:rPr lang="es-AR" sz="10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𝑢</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MX" sz="11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𝑎𝑢𝑔</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a14:m>
                <a:endParaRPr sz="1100" b="1" dirty="0">
                  <a:solidFill>
                    <a:srgbClr val="1B6B2A"/>
                  </a:solidFill>
                  <a:latin typeface="Calibri"/>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25452" y="2243124"/>
                <a:ext cx="4231692" cy="513282"/>
              </a:xfrm>
              <a:prstGeom prst="rect">
                <a:avLst/>
              </a:prstGeom>
              <a:blipFill>
                <a:blip r:embed="rId4"/>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01BEB013-87EB-4F91-96A1-FF7E2D0C8ACA}"/>
              </a:ext>
            </a:extLst>
          </p:cNvPr>
          <p:cNvSpPr txBox="1"/>
          <p:nvPr/>
        </p:nvSpPr>
        <p:spPr>
          <a:xfrm>
            <a:off x="148942" y="1938047"/>
            <a:ext cx="6146276" cy="312650"/>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acción integral se introduce a través de una nueva entrada:</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D71F3394-CC79-4C28-AE86-51AB62D512E6}"/>
                  </a:ext>
                </a:extLst>
              </p:cNvPr>
              <p:cNvSpPr txBox="1"/>
              <p:nvPr/>
            </p:nvSpPr>
            <p:spPr>
              <a:xfrm>
                <a:off x="203615" y="2771713"/>
                <a:ext cx="11853265" cy="312073"/>
              </a:xfrm>
              <a:prstGeom prst="rect">
                <a:avLst/>
              </a:prstGeom>
              <a:noFill/>
            </p:spPr>
            <p:txBody>
              <a:bodyPr wrap="square">
                <a:spAutoFit/>
              </a:bodyPr>
              <a:lstStyle/>
              <a:p>
                <a:pPr algn="just">
                  <a:lnSpc>
                    <a:spcPct val="107000"/>
                  </a:lnSpc>
                  <a:spcBef>
                    <a:spcPts val="12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 entrada del sistema está compuesta por dos términos: la consigna de torque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la contribución de la acción integral</a:t>
                </a:r>
              </a:p>
            </p:txBody>
          </p:sp>
        </mc:Choice>
        <mc:Fallback xmlns="">
          <p:sp>
            <p:nvSpPr>
              <p:cNvPr id="24" name="CuadroTexto 23">
                <a:extLst>
                  <a:ext uri="{FF2B5EF4-FFF2-40B4-BE49-F238E27FC236}">
                    <a16:creationId xmlns:a16="http://schemas.microsoft.com/office/drawing/2014/main" id="{D71F3394-CC79-4C28-AE86-51AB62D512E6}"/>
                  </a:ext>
                </a:extLst>
              </p:cNvPr>
              <p:cNvSpPr txBox="1">
                <a:spLocks noRot="1" noChangeAspect="1" noMove="1" noResize="1" noEditPoints="1" noAdjustHandles="1" noChangeArrowheads="1" noChangeShapeType="1" noTextEdit="1"/>
              </p:cNvSpPr>
              <p:nvPr/>
            </p:nvSpPr>
            <p:spPr>
              <a:xfrm>
                <a:off x="203615" y="2771713"/>
                <a:ext cx="11853265" cy="312073"/>
              </a:xfrm>
              <a:prstGeom prst="rect">
                <a:avLst/>
              </a:prstGeom>
              <a:blipFill>
                <a:blip r:embed="rId5"/>
                <a:stretch>
                  <a:fillRect l="-154" t="-1961" b="-19608"/>
                </a:stretch>
              </a:blipFill>
            </p:spPr>
            <p:txBody>
              <a:bodyPr/>
              <a:lstStyle/>
              <a:p>
                <a:r>
                  <a:rPr lang="es-AR">
                    <a:noFill/>
                  </a:rPr>
                  <a:t> </a:t>
                </a:r>
              </a:p>
            </p:txBody>
          </p:sp>
        </mc:Fallback>
      </mc:AlternateContent>
      <p:sp>
        <p:nvSpPr>
          <p:cNvPr id="25" name="Rectangle 11">
            <a:extLst>
              <a:ext uri="{FF2B5EF4-FFF2-40B4-BE49-F238E27FC236}">
                <a16:creationId xmlns:a16="http://schemas.microsoft.com/office/drawing/2014/main" id="{5ECBE2F0-7E23-47F7-96D4-E09B9453D19E}"/>
              </a:ext>
            </a:extLst>
          </p:cNvPr>
          <p:cNvSpPr/>
          <p:nvPr/>
        </p:nvSpPr>
        <p:spPr>
          <a:xfrm>
            <a:off x="320039" y="3098583"/>
            <a:ext cx="11597336" cy="118244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12">
                <a:extLst>
                  <a:ext uri="{FF2B5EF4-FFF2-40B4-BE49-F238E27FC236}">
                    <a16:creationId xmlns:a16="http://schemas.microsoft.com/office/drawing/2014/main" id="{FAF94A62-78D3-47A8-A7D4-9D0647C6CA52}"/>
                  </a:ext>
                </a:extLst>
              </p:cNvPr>
              <p:cNvSpPr txBox="1"/>
              <p:nvPr/>
            </p:nvSpPr>
            <p:spPr>
              <a:xfrm>
                <a:off x="-229535" y="3077843"/>
                <a:ext cx="11988068" cy="1182440"/>
              </a:xfrm>
              <a:prstGeom prst="rect">
                <a:avLst/>
              </a:prstGeom>
              <a:noFill/>
            </p:spPr>
            <p:txBody>
              <a:bodyPr wrap="square">
                <a:spAutoFit/>
              </a:bodyPr>
              <a:lstStyle/>
              <a:p>
                <a:pPr algn="ctr"/>
                <a14:m>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𝐴</m:t>
                                  </m:r>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e>
                              </m:d>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𝐵</m:t>
                                  </m:r>
                                </m:e>
                                <m:sub>
                                  <m:r>
                                    <a:rPr lang="es-AR" sz="1400" i="1">
                                      <a:solidFill>
                                        <a:schemeClr val="tx1"/>
                                      </a:solidFill>
                                      <a:latin typeface="Cambria Math" panose="02040503050406030204" pitchFamily="18" charset="0"/>
                                    </a:rPr>
                                    <m:t>𝑐</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r>
                                    <a:rPr lang="es-AR" sz="1400" i="1">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acc>
                                <m:accPr>
                                  <m:chr m:val="̇"/>
                                  <m:ctrlPr>
                                    <a:rPr lang="es-AR" sz="1400" i="1">
                                      <a:solidFill>
                                        <a:schemeClr val="tx1"/>
                                      </a:solidFill>
                                      <a:latin typeface="Cambria Math" panose="02040503050406030204" pitchFamily="18" charset="0"/>
                                    </a:rPr>
                                  </m:ctrlPr>
                                </m:acc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                                                                        </m:t>
                              </m:r>
                            </m:e>
                          </m:mr>
                          <m:m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𝑦</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r>
                  <a:rPr lang="es-MX" sz="1100" b="1" dirty="0">
                    <a:solidFill>
                      <a:schemeClr val="tx1"/>
                    </a:solidFill>
                    <a:latin typeface="Calibri"/>
                  </a:rPr>
                  <a:t>,                     </a:t>
                </a:r>
                <a14:m>
                  <m:oMath xmlns:m="http://schemas.openxmlformats.org/officeDocument/2006/math">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3"/>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e>
                                    </m:mr>
                                    <m:mr>
                                      <m:e>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0</m:t>
                                        </m:r>
                                      </m:e>
                                    </m:mr>
                                    <m:mr>
                                      <m:e>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en>
                                            </m:f>
                                          </m:e>
                                        </m:box>
                                      </m:e>
                                    </m:mr>
                                    <m:mr>
                                      <m:e>
                                        <m:r>
                                          <a:rPr lang="es-AR" sz="1400" i="1">
                                            <a:solidFill>
                                              <a:schemeClr val="tx1"/>
                                            </a:solidFill>
                                            <a:latin typeface="Cambria Math" panose="02040503050406030204" pitchFamily="18" charset="0"/>
                                          </a:rPr>
                                          <m:t>0</m:t>
                                        </m:r>
                                      </m:e>
                                    </m:mr>
                                  </m:m>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2"/>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0</m:t>
                                        </m:r>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e>
                          </m:mr>
                          <m:mr>
                            <m:e>
                              <m:r>
                                <a:rPr lang="es-AR" sz="1400" i="1">
                                  <a:solidFill>
                                    <a:schemeClr val="tx1"/>
                                  </a:solidFill>
                                  <a:latin typeface="Cambria Math" panose="02040503050406030204" pitchFamily="18" charset="0"/>
                                </a:rPr>
                                <m:t>𝑦</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endParaRPr sz="1100" b="1" dirty="0">
                  <a:solidFill>
                    <a:srgbClr val="1B6B2A"/>
                  </a:solidFill>
                  <a:latin typeface="Calibri"/>
                </a:endParaRPr>
              </a:p>
            </p:txBody>
          </p:sp>
        </mc:Choice>
        <mc:Fallback xmlns="">
          <p:sp>
            <p:nvSpPr>
              <p:cNvPr id="26" name="TextBox 12">
                <a:extLst>
                  <a:ext uri="{FF2B5EF4-FFF2-40B4-BE49-F238E27FC236}">
                    <a16:creationId xmlns:a16="http://schemas.microsoft.com/office/drawing/2014/main" id="{FAF94A62-78D3-47A8-A7D4-9D0647C6CA52}"/>
                  </a:ext>
                </a:extLst>
              </p:cNvPr>
              <p:cNvSpPr txBox="1">
                <a:spLocks noRot="1" noChangeAspect="1" noMove="1" noResize="1" noEditPoints="1" noAdjustHandles="1" noChangeArrowheads="1" noChangeShapeType="1" noTextEdit="1"/>
              </p:cNvSpPr>
              <p:nvPr/>
            </p:nvSpPr>
            <p:spPr>
              <a:xfrm>
                <a:off x="-229535" y="3077843"/>
                <a:ext cx="11988068" cy="1182440"/>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7A37DA7-A3A0-442E-9058-3BB9C9F9B23E}"/>
                  </a:ext>
                </a:extLst>
              </p:cNvPr>
              <p:cNvSpPr txBox="1"/>
              <p:nvPr/>
            </p:nvSpPr>
            <p:spPr>
              <a:xfrm>
                <a:off x="274320" y="4341162"/>
                <a:ext cx="10670200" cy="31207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El polinomio ahora de tercer orden, y con sus polos en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3200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E7A37DA7-A3A0-442E-9058-3BB9C9F9B23E}"/>
                  </a:ext>
                </a:extLst>
              </p:cNvPr>
              <p:cNvSpPr txBox="1">
                <a:spLocks noRot="1" noChangeAspect="1" noMove="1" noResize="1" noEditPoints="1" noAdjustHandles="1" noChangeArrowheads="1" noChangeShapeType="1" noTextEdit="1"/>
              </p:cNvSpPr>
              <p:nvPr/>
            </p:nvSpPr>
            <p:spPr>
              <a:xfrm>
                <a:off x="274320" y="4341162"/>
                <a:ext cx="10670200" cy="312073"/>
              </a:xfrm>
              <a:prstGeom prst="rect">
                <a:avLst/>
              </a:prstGeom>
              <a:blipFill>
                <a:blip r:embed="rId7"/>
                <a:stretch>
                  <a:fillRect l="-171" t="-92157" b="-152941"/>
                </a:stretch>
              </a:blipFill>
            </p:spPr>
            <p:txBody>
              <a:bodyPr/>
              <a:lstStyle/>
              <a:p>
                <a:r>
                  <a:rPr lang="es-AR">
                    <a:noFill/>
                  </a:rPr>
                  <a:t> </a:t>
                </a:r>
              </a:p>
            </p:txBody>
          </p:sp>
        </mc:Fallback>
      </mc:AlternateContent>
      <p:sp>
        <p:nvSpPr>
          <p:cNvPr id="29" name="Rectangle 9">
            <a:extLst>
              <a:ext uri="{FF2B5EF4-FFF2-40B4-BE49-F238E27FC236}">
                <a16:creationId xmlns:a16="http://schemas.microsoft.com/office/drawing/2014/main" id="{A34C021A-A7F0-4906-8DB2-E8500A5C7BF2}"/>
              </a:ext>
            </a:extLst>
          </p:cNvPr>
          <p:cNvSpPr/>
          <p:nvPr/>
        </p:nvSpPr>
        <p:spPr>
          <a:xfrm>
            <a:off x="320192" y="4673821"/>
            <a:ext cx="11597183" cy="980933"/>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10">
                <a:extLst>
                  <a:ext uri="{FF2B5EF4-FFF2-40B4-BE49-F238E27FC236}">
                    <a16:creationId xmlns:a16="http://schemas.microsoft.com/office/drawing/2014/main" id="{8DE8743D-7C43-4A92-8A25-B756CF5035C8}"/>
                  </a:ext>
                </a:extLst>
              </p:cNvPr>
              <p:cNvSpPr txBox="1"/>
              <p:nvPr/>
            </p:nvSpPr>
            <p:spPr>
              <a:xfrm>
                <a:off x="148942" y="4693001"/>
                <a:ext cx="7088956" cy="890052"/>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3200</m:t>
                            </m:r>
                          </m:e>
                        </m:d>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r>
                      <a:rPr lang="es-AR" sz="1400" i="1">
                        <a:latin typeface="Cambria Math" panose="02040503050406030204" pitchFamily="18" charset="0"/>
                      </a:rPr>
                      <m:t>9600</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r>
                      <a:rPr lang="es-AR" sz="1400" i="1">
                        <a:latin typeface="Cambria Math" panose="02040503050406030204" pitchFamily="18" charset="0"/>
                      </a:rPr>
                      <m:t>3</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2</m:t>
                        </m:r>
                      </m:sup>
                    </m:sSup>
                    <m:r>
                      <a:rPr lang="es-AR" sz="1400" i="1">
                        <a:latin typeface="Cambria Math" panose="02040503050406030204" pitchFamily="18" charset="0"/>
                      </a:rPr>
                      <m:t> </m:t>
                    </m:r>
                    <m:r>
                      <a:rPr lang="es-AR" sz="1400" i="1">
                        <a:latin typeface="Cambria Math" panose="02040503050406030204" pitchFamily="18" charset="0"/>
                      </a:rPr>
                      <m:t>𝑠</m:t>
                    </m:r>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3</m:t>
                        </m:r>
                      </m:sup>
                    </m:sSup>
                  </m:oMath>
                </a14:m>
                <a:r>
                  <a:rPr lang="es-MX" sz="1100" b="1" dirty="0">
                    <a:solidFill>
                      <a:srgbClr val="1B6B2A"/>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r>
                                <a:rPr lang="es-AR" sz="1400" i="1">
                                  <a:latin typeface="Cambria Math" panose="02040503050406030204" pitchFamily="18" charset="0"/>
                                </a:rPr>
                                <m:t>=</m:t>
                              </m:r>
                              <m:r>
                                <a:rPr lang="es-AR" sz="1400" i="1">
                                  <a:latin typeface="Cambria Math" panose="02040503050406030204" pitchFamily="18" charset="0"/>
                                </a:rPr>
                                <m:t>9</m:t>
                              </m:r>
                              <m:r>
                                <a:rPr lang="es-AR" sz="1400" i="1">
                                  <a:latin typeface="Cambria Math" panose="02040503050406030204" pitchFamily="18" charset="0"/>
                                </a:rPr>
                                <m:t>.</m:t>
                              </m:r>
                              <m:r>
                                <a:rPr lang="es-AR" sz="1400" i="1">
                                  <a:latin typeface="Cambria Math" panose="02040503050406030204" pitchFamily="18" charset="0"/>
                                </a:rPr>
                                <m:t>6</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3</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072</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7</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𝑖</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2768</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10</m:t>
                                  </m:r>
                                </m:sup>
                              </m:sSup>
                            </m:e>
                          </m:mr>
                        </m:m>
                      </m:e>
                    </m:d>
                  </m:oMath>
                </a14:m>
                <a:endParaRPr sz="1100" b="1" dirty="0">
                  <a:solidFill>
                    <a:srgbClr val="1B6B2A"/>
                  </a:solidFill>
                  <a:latin typeface="Calibri"/>
                </a:endParaRPr>
              </a:p>
            </p:txBody>
          </p:sp>
        </mc:Choice>
        <mc:Fallback xmlns="">
          <p:sp>
            <p:nvSpPr>
              <p:cNvPr id="30" name="TextBox 10">
                <a:extLst>
                  <a:ext uri="{FF2B5EF4-FFF2-40B4-BE49-F238E27FC236}">
                    <a16:creationId xmlns:a16="http://schemas.microsoft.com/office/drawing/2014/main" id="{8DE8743D-7C43-4A92-8A25-B756CF5035C8}"/>
                  </a:ext>
                </a:extLst>
              </p:cNvPr>
              <p:cNvSpPr txBox="1">
                <a:spLocks noRot="1" noChangeAspect="1" noMove="1" noResize="1" noEditPoints="1" noAdjustHandles="1" noChangeArrowheads="1" noChangeShapeType="1" noTextEdit="1"/>
              </p:cNvSpPr>
              <p:nvPr/>
            </p:nvSpPr>
            <p:spPr>
              <a:xfrm>
                <a:off x="148942" y="4693001"/>
                <a:ext cx="7088956" cy="890052"/>
              </a:xfrm>
              <a:prstGeom prst="rect">
                <a:avLst/>
              </a:prstGeom>
              <a:blipFill>
                <a:blip r:embed="rId8"/>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3D968CEA-AC52-4252-B94C-60CC9FF2492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3558FD33-D855-40C9-9CD3-5783452C377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0660"/>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p:pic>
        <p:nvPicPr>
          <p:cNvPr id="19" name="Imagen 18">
            <a:extLst>
              <a:ext uri="{FF2B5EF4-FFF2-40B4-BE49-F238E27FC236}">
                <a16:creationId xmlns:a16="http://schemas.microsoft.com/office/drawing/2014/main" id="{1DEEB9F5-AB01-4BB4-892C-6F815C530B01}"/>
              </a:ext>
            </a:extLst>
          </p:cNvPr>
          <p:cNvPicPr/>
          <p:nvPr/>
        </p:nvPicPr>
        <p:blipFill>
          <a:blip r:embed="rId2">
            <a:extLst>
              <a:ext uri="{28A0092B-C50C-407E-A947-70E740481C1C}">
                <a14:useLocalDpi xmlns:a14="http://schemas.microsoft.com/office/drawing/2010/main" val="0"/>
              </a:ext>
            </a:extLst>
          </a:blip>
          <a:stretch>
            <a:fillRect/>
          </a:stretch>
        </p:blipFill>
        <p:spPr>
          <a:xfrm>
            <a:off x="74942" y="765424"/>
            <a:ext cx="6376192" cy="3656438"/>
          </a:xfrm>
          <a:prstGeom prst="rect">
            <a:avLst/>
          </a:prstGeom>
        </p:spPr>
      </p:pic>
      <p:sp>
        <p:nvSpPr>
          <p:cNvPr id="20" name="CuadroTexto 19">
            <a:extLst>
              <a:ext uri="{FF2B5EF4-FFF2-40B4-BE49-F238E27FC236}">
                <a16:creationId xmlns:a16="http://schemas.microsoft.com/office/drawing/2014/main" id="{D85BC094-E14E-4B85-9280-900710732102}"/>
              </a:ext>
            </a:extLst>
          </p:cNvPr>
          <p:cNvSpPr txBox="1"/>
          <p:nvPr/>
        </p:nvSpPr>
        <p:spPr>
          <a:xfrm>
            <a:off x="986047" y="4552667"/>
            <a:ext cx="3789576"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59— Observador de estados con acción integral</a:t>
            </a:r>
          </a:p>
        </p:txBody>
      </p:sp>
      <p:pic>
        <p:nvPicPr>
          <p:cNvPr id="21" name="Imagen 20">
            <a:extLst>
              <a:ext uri="{FF2B5EF4-FFF2-40B4-BE49-F238E27FC236}">
                <a16:creationId xmlns:a16="http://schemas.microsoft.com/office/drawing/2014/main" id="{3DA007E0-AE03-4B06-A665-36040885FA69}"/>
              </a:ext>
            </a:extLst>
          </p:cNvPr>
          <p:cNvPicPr/>
          <p:nvPr/>
        </p:nvPicPr>
        <p:blipFill>
          <a:blip r:embed="rId3"/>
          <a:srcRect/>
          <a:stretch/>
        </p:blipFill>
        <p:spPr>
          <a:xfrm>
            <a:off x="7072430" y="853776"/>
            <a:ext cx="5044626" cy="3406661"/>
          </a:xfrm>
          <a:prstGeom prst="rect">
            <a:avLst/>
          </a:prstGeom>
        </p:spPr>
      </p:pic>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6EA28D6-465C-479F-A106-639EAA066E22}"/>
                  </a:ext>
                </a:extLst>
              </p:cNvPr>
              <p:cNvSpPr txBox="1"/>
              <p:nvPr/>
            </p:nvSpPr>
            <p:spPr>
              <a:xfrm>
                <a:off x="7519104" y="4383390"/>
                <a:ext cx="4864230"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60—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observador de estados con acción integral.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10</m:t>
                    </m:r>
                    <m:r>
                      <a:rPr lang="es-AR">
                        <a:latin typeface="Cambria Math" panose="02040503050406030204" pitchFamily="18" charset="0"/>
                      </a:rPr>
                      <m:t>𝑠</m:t>
                    </m:r>
                  </m:oMath>
                </a14:m>
                <a:r>
                  <a:rPr lang="es-AR" dirty="0"/>
                  <a:t>.</a:t>
                </a:r>
              </a:p>
              <a:p>
                <a:endParaRPr lang="es-AR" dirty="0"/>
              </a:p>
            </p:txBody>
          </p:sp>
        </mc:Choice>
        <mc:Fallback xmlns="">
          <p:sp>
            <p:nvSpPr>
              <p:cNvPr id="22" name="CuadroTexto 21">
                <a:extLst>
                  <a:ext uri="{FF2B5EF4-FFF2-40B4-BE49-F238E27FC236}">
                    <a16:creationId xmlns:a16="http://schemas.microsoft.com/office/drawing/2014/main" id="{36EA28D6-465C-479F-A106-639EAA066E22}"/>
                  </a:ext>
                </a:extLst>
              </p:cNvPr>
              <p:cNvSpPr txBox="1">
                <a:spLocks noRot="1" noChangeAspect="1" noMove="1" noResize="1" noEditPoints="1" noAdjustHandles="1" noChangeArrowheads="1" noChangeShapeType="1" noTextEdit="1"/>
              </p:cNvSpPr>
              <p:nvPr/>
            </p:nvSpPr>
            <p:spPr>
              <a:xfrm>
                <a:off x="7519104" y="4383390"/>
                <a:ext cx="4864230" cy="600164"/>
              </a:xfrm>
              <a:prstGeom prst="rect">
                <a:avLst/>
              </a:prstGeom>
              <a:blipFill>
                <a:blip r:embed="rId4"/>
                <a:stretch>
                  <a:fillRect/>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D7A4C12E-D7AF-4908-88F9-92DDB9C0BDE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3C5A4B8-0450-45AC-BBC1-C3A7C75F244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225949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5839"/>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mc:AlternateContent xmlns:mc="http://schemas.openxmlformats.org/markup-compatibility/2006" xmlns:a14="http://schemas.microsoft.com/office/drawing/2010/main">
        <mc:Choice Requires="a14">
          <p:sp>
            <p:nvSpPr>
              <p:cNvPr id="7" name="TextBox 6"/>
              <p:cNvSpPr txBox="1"/>
              <p:nvPr/>
            </p:nvSpPr>
            <p:spPr>
              <a:xfrm>
                <a:off x="167797" y="754898"/>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Se analiza la e</a:t>
                </a:r>
                <a:r>
                  <a:rPr lang="es-AR" sz="1400" dirty="0">
                    <a:effectLst/>
                    <a:latin typeface="Calibri" panose="020F0502020204030204" pitchFamily="34" charset="0"/>
                    <a:ea typeface="Calibri" panose="020F0502020204030204" pitchFamily="34" charset="0"/>
                    <a:cs typeface="Times New Roman" panose="02020603050405020304" pitchFamily="18" charset="0"/>
                  </a:rPr>
                  <a:t>volución de la temperatura del estator en un intervalo de 300 s, considerando la aplicación cíclica de la consigna de velocidad trapezoidal previamente definida, y sin incluir perturbaciones de carga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7797" y="754898"/>
                <a:ext cx="11430000" cy="523220"/>
              </a:xfrm>
              <a:prstGeom prst="rect">
                <a:avLst/>
              </a:prstGeom>
              <a:blipFill>
                <a:blip r:embed="rId2"/>
                <a:stretch>
                  <a:fillRect l="-160" t="-2326" b="-10465"/>
                </a:stretch>
              </a:blipFill>
            </p:spPr>
            <p:txBody>
              <a:bodyPr/>
              <a:lstStyle/>
              <a:p>
                <a:r>
                  <a:rPr lang="es-AR">
                    <a:noFill/>
                  </a:rPr>
                  <a:t> </a:t>
                </a:r>
              </a:p>
            </p:txBody>
          </p:sp>
        </mc:Fallback>
      </mc:AlternateContent>
      <p:pic>
        <p:nvPicPr>
          <p:cNvPr id="19" name="Imagen 18">
            <a:extLst>
              <a:ext uri="{FF2B5EF4-FFF2-40B4-BE49-F238E27FC236}">
                <a16:creationId xmlns:a16="http://schemas.microsoft.com/office/drawing/2014/main" id="{6905EF37-B7F5-4A97-9796-E5E2C9DFCC70}"/>
              </a:ext>
            </a:extLst>
          </p:cNvPr>
          <p:cNvPicPr/>
          <p:nvPr/>
        </p:nvPicPr>
        <p:blipFill rotWithShape="1">
          <a:blip r:embed="rId3"/>
          <a:srcRect l="-295" r="407"/>
          <a:stretch/>
        </p:blipFill>
        <p:spPr>
          <a:xfrm>
            <a:off x="92279" y="1362865"/>
            <a:ext cx="5872293" cy="4132269"/>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4A773F5F-0B19-4AAB-9B75-3C2E99385B0E}"/>
                  </a:ext>
                </a:extLst>
              </p:cNvPr>
              <p:cNvSpPr txBox="1"/>
              <p:nvPr/>
            </p:nvSpPr>
            <p:spPr>
              <a:xfrm>
                <a:off x="897651" y="5514755"/>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61— Evolución de temperatura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duración de </a:t>
                </a:r>
                <a14:m>
                  <m:oMath xmlns:m="http://schemas.openxmlformats.org/officeDocument/2006/math">
                    <m:r>
                      <a:rPr lang="es-AR">
                        <a:latin typeface="Cambria Math" panose="02040503050406030204" pitchFamily="18" charset="0"/>
                      </a:rPr>
                      <m:t>300</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4A773F5F-0B19-4AAB-9B75-3C2E99385B0E}"/>
                  </a:ext>
                </a:extLst>
              </p:cNvPr>
              <p:cNvSpPr txBox="1">
                <a:spLocks noRot="1" noChangeAspect="1" noMove="1" noResize="1" noEditPoints="1" noAdjustHandles="1" noChangeArrowheads="1" noChangeShapeType="1" noTextEdit="1"/>
              </p:cNvSpPr>
              <p:nvPr/>
            </p:nvSpPr>
            <p:spPr>
              <a:xfrm>
                <a:off x="897651" y="5514755"/>
                <a:ext cx="4547015" cy="430887"/>
              </a:xfrm>
              <a:prstGeom prst="rect">
                <a:avLst/>
              </a:prstGeom>
              <a:blipFill>
                <a:blip r:embed="rId4"/>
                <a:stretch>
                  <a:fillRect/>
                </a:stretch>
              </a:blipFill>
            </p:spPr>
            <p:txBody>
              <a:bodyPr/>
              <a:lstStyle/>
              <a:p>
                <a:r>
                  <a:rPr lang="es-AR">
                    <a:noFill/>
                  </a:rPr>
                  <a:t> </a:t>
                </a:r>
              </a:p>
            </p:txBody>
          </p:sp>
        </mc:Fallback>
      </mc:AlternateContent>
      <p:pic>
        <p:nvPicPr>
          <p:cNvPr id="9" name="Imagen 8">
            <a:extLst>
              <a:ext uri="{FF2B5EF4-FFF2-40B4-BE49-F238E27FC236}">
                <a16:creationId xmlns:a16="http://schemas.microsoft.com/office/drawing/2014/main" id="{48F949A2-41F8-4679-A9FD-2D3252616ECB}"/>
              </a:ext>
            </a:extLst>
          </p:cNvPr>
          <p:cNvPicPr/>
          <p:nvPr/>
        </p:nvPicPr>
        <p:blipFill rotWithShape="1">
          <a:blip r:embed="rId5"/>
          <a:srcRect l="-11064" t="-331" r="1080" b="331"/>
          <a:stretch/>
        </p:blipFill>
        <p:spPr bwMode="auto">
          <a:xfrm>
            <a:off x="5444666" y="1374648"/>
            <a:ext cx="6472709" cy="413226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3AA3D83-1C35-4420-B8B8-8D779F7F2DB6}"/>
                  </a:ext>
                </a:extLst>
              </p:cNvPr>
              <p:cNvSpPr txBox="1"/>
              <p:nvPr/>
            </p:nvSpPr>
            <p:spPr>
              <a:xfrm>
                <a:off x="6698341" y="5514754"/>
                <a:ext cx="517331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62— Temperatura del estator con carga cíclica con duración de </a:t>
                </a:r>
                <a14:m>
                  <m:oMath xmlns:m="http://schemas.openxmlformats.org/officeDocument/2006/math">
                    <m:r>
                      <a:rPr lang="es-MX" b="0" i="1" smtClean="0">
                        <a:latin typeface="Cambria Math" panose="02040503050406030204" pitchFamily="18" charset="0"/>
                      </a:rPr>
                      <m:t>6</m:t>
                    </m:r>
                    <m:r>
                      <a:rPr lang="es-AR">
                        <a:latin typeface="Cambria Math" panose="02040503050406030204" pitchFamily="18" charset="0"/>
                      </a:rPr>
                      <m:t>00</m:t>
                    </m:r>
                    <m:r>
                      <a:rPr lang="es-AR">
                        <a:latin typeface="Cambria Math" panose="02040503050406030204" pitchFamily="18" charset="0"/>
                      </a:rPr>
                      <m:t>𝑠</m:t>
                    </m:r>
                  </m:oMath>
                </a14:m>
                <a:endParaRPr lang="es-AR" dirty="0"/>
              </a:p>
              <a:p>
                <a:endParaRPr lang="es-AR" dirty="0"/>
              </a:p>
            </p:txBody>
          </p:sp>
        </mc:Choice>
        <mc:Fallback xmlns="">
          <p:sp>
            <p:nvSpPr>
              <p:cNvPr id="10" name="CuadroTexto 9">
                <a:extLst>
                  <a:ext uri="{FF2B5EF4-FFF2-40B4-BE49-F238E27FC236}">
                    <a16:creationId xmlns:a16="http://schemas.microsoft.com/office/drawing/2014/main" id="{63AA3D83-1C35-4420-B8B8-8D779F7F2DB6}"/>
                  </a:ext>
                </a:extLst>
              </p:cNvPr>
              <p:cNvSpPr txBox="1">
                <a:spLocks noRot="1" noChangeAspect="1" noMove="1" noResize="1" noEditPoints="1" noAdjustHandles="1" noChangeArrowheads="1" noChangeShapeType="1" noTextEdit="1"/>
              </p:cNvSpPr>
              <p:nvPr/>
            </p:nvSpPr>
            <p:spPr>
              <a:xfrm>
                <a:off x="6698341" y="5514754"/>
                <a:ext cx="5173314" cy="430887"/>
              </a:xfrm>
              <a:prstGeom prst="rect">
                <a:avLst/>
              </a:prstGeom>
              <a:blipFill>
                <a:blip r:embed="rId6"/>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BCA25307-751D-4CAF-8E3A-DC1060D8189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C818F10-FEB3-48AC-9B29-B7687051DD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17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pic>
        <p:nvPicPr>
          <p:cNvPr id="22" name="Imagen 21">
            <a:extLst>
              <a:ext uri="{FF2B5EF4-FFF2-40B4-BE49-F238E27FC236}">
                <a16:creationId xmlns:a16="http://schemas.microsoft.com/office/drawing/2014/main" id="{493D2690-153C-456B-A197-5FCDB225506A}"/>
              </a:ext>
            </a:extLst>
          </p:cNvPr>
          <p:cNvPicPr/>
          <p:nvPr/>
        </p:nvPicPr>
        <p:blipFill>
          <a:blip r:embed="rId3"/>
          <a:srcRect/>
          <a:stretch/>
        </p:blipFill>
        <p:spPr>
          <a:xfrm>
            <a:off x="71630" y="935476"/>
            <a:ext cx="5599328" cy="4100151"/>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AFA0C8A-8D03-46E3-A57D-895A61B04ADF}"/>
                  </a:ext>
                </a:extLst>
              </p:cNvPr>
              <p:cNvSpPr txBox="1"/>
              <p:nvPr/>
            </p:nvSpPr>
            <p:spPr>
              <a:xfrm>
                <a:off x="274320"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sin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4" name="CuadroTexto 13">
                <a:extLst>
                  <a:ext uri="{FF2B5EF4-FFF2-40B4-BE49-F238E27FC236}">
                    <a16:creationId xmlns:a16="http://schemas.microsoft.com/office/drawing/2014/main" id="{2AFA0C8A-8D03-46E3-A57D-895A61B04ADF}"/>
                  </a:ext>
                </a:extLst>
              </p:cNvPr>
              <p:cNvSpPr txBox="1">
                <a:spLocks noRot="1" noChangeAspect="1" noMove="1" noResize="1" noEditPoints="1" noAdjustHandles="1" noChangeArrowheads="1" noChangeShapeType="1" noTextEdit="1"/>
              </p:cNvSpPr>
              <p:nvPr/>
            </p:nvSpPr>
            <p:spPr>
              <a:xfrm>
                <a:off x="274320" y="5175682"/>
                <a:ext cx="5334870" cy="430887"/>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B771B73-7F0F-413B-ABF6-968A103C3765}"/>
                  </a:ext>
                </a:extLst>
              </p:cNvPr>
              <p:cNvSpPr txBox="1"/>
              <p:nvPr/>
            </p:nvSpPr>
            <p:spPr>
              <a:xfrm>
                <a:off x="6536785"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con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2" name="CuadroTexto 11">
                <a:extLst>
                  <a:ext uri="{FF2B5EF4-FFF2-40B4-BE49-F238E27FC236}">
                    <a16:creationId xmlns:a16="http://schemas.microsoft.com/office/drawing/2014/main" id="{DB771B73-7F0F-413B-ABF6-968A103C3765}"/>
                  </a:ext>
                </a:extLst>
              </p:cNvPr>
              <p:cNvSpPr txBox="1">
                <a:spLocks noRot="1" noChangeAspect="1" noMove="1" noResize="1" noEditPoints="1" noAdjustHandles="1" noChangeArrowheads="1" noChangeShapeType="1" noTextEdit="1"/>
              </p:cNvSpPr>
              <p:nvPr/>
            </p:nvSpPr>
            <p:spPr>
              <a:xfrm>
                <a:off x="6536785" y="5175682"/>
                <a:ext cx="5334870" cy="430887"/>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10D747D1-F355-4EC8-8ACF-3E48A215738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5014411-3702-4184-A058-B6FC4A5458B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8" name="Imagen 7">
            <a:extLst>
              <a:ext uri="{FF2B5EF4-FFF2-40B4-BE49-F238E27FC236}">
                <a16:creationId xmlns:a16="http://schemas.microsoft.com/office/drawing/2014/main" id="{2BA1FFD9-EB70-4AC2-9864-72F2877AC049}"/>
              </a:ext>
            </a:extLst>
          </p:cNvPr>
          <p:cNvPicPr>
            <a:picLocks noChangeAspect="1"/>
          </p:cNvPicPr>
          <p:nvPr/>
        </p:nvPicPr>
        <p:blipFill>
          <a:blip r:embed="rId7"/>
          <a:stretch>
            <a:fillRect/>
          </a:stretch>
        </p:blipFill>
        <p:spPr>
          <a:xfrm>
            <a:off x="6004972" y="1032384"/>
            <a:ext cx="5785682" cy="4032127"/>
          </a:xfrm>
          <a:prstGeom prst="rect">
            <a:avLst/>
          </a:prstGeom>
        </p:spPr>
      </p:pic>
    </p:spTree>
    <p:extLst>
      <p:ext uri="{BB962C8B-B14F-4D97-AF65-F5344CB8AC3E}">
        <p14:creationId xmlns:p14="http://schemas.microsoft.com/office/powerpoint/2010/main" val="2409847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952" y="9772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83575"/>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7" name="TextBox 6"/>
          <p:cNvSpPr txBox="1"/>
          <p:nvPr/>
        </p:nvSpPr>
        <p:spPr>
          <a:xfrm>
            <a:off x="148943" y="712179"/>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reemplaza el modelo ideal de medición por modelos equivalentes aproximados con comportamiento de filtro pasa bajos y ganancia unitaria, formulados en el espacio de estados.</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r>
                            <a:rPr lang="es-AR" sz="1400" noProof="0">
                              <a:latin typeface="Calibri"/>
                            </a:rPr>
                            <a:t>Posición </a:t>
                          </a:r>
                          <a14:m>
                            <m:oMath xmlns:m="http://schemas.openxmlformats.org/officeDocument/2006/math">
                              <m:sSub>
                                <m:sSubPr>
                                  <m:ctrlPr>
                                    <a:rPr lang="es-AR" sz="1400" i="1" noProof="0" smtClean="0">
                                      <a:latin typeface="Cambria Math" panose="02040503050406030204" pitchFamily="18" charset="0"/>
                                    </a:rPr>
                                  </m:ctrlPr>
                                </m:sSubPr>
                                <m:e>
                                  <m:r>
                                    <a:rPr lang="es-AR" sz="1400" i="1" noProof="0" smtClean="0">
                                      <a:latin typeface="Cambria Math" panose="02040503050406030204" pitchFamily="18" charset="0"/>
                                      <a:ea typeface="Cambria Math" panose="02040503050406030204" pitchFamily="18" charset="0"/>
                                    </a:rPr>
                                    <m:t>𝜃</m:t>
                                  </m:r>
                                </m:e>
                                <m:sub>
                                  <m:r>
                                    <a:rPr lang="es-AR" sz="1400" noProof="0">
                                      <a:latin typeface="Cambria Math" panose="02040503050406030204" pitchFamily="18" charset="0"/>
                                    </a:rPr>
                                    <m:t>𝑚</m:t>
                                  </m:r>
                                </m:sub>
                              </m:sSub>
                            </m:oMath>
                          </a14:m>
                          <a:endParaRPr lang="es-AR" sz="1400" noProof="0">
                            <a:latin typeface="Calibri"/>
                          </a:endParaRPr>
                        </a:p>
                      </a:txBody>
                      <a:tcPr/>
                    </a:tc>
                    <a:tc>
                      <a:txBody>
                        <a:bodyPr/>
                        <a:lstStyle/>
                        <a:p>
                          <a:r>
                            <a:rPr lang="es-AR" sz="1400" noProof="0">
                              <a:latin typeface="Calibri"/>
                            </a:rPr>
                            <a:t>PB 2° orden, ζ=1</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dirty="0">
                              <a:latin typeface="Calibri"/>
                            </a:rPr>
                            <a:t> = 2000 rad/s</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a:latin typeface="Calibri"/>
                            </a:rPr>
                            <a:t> = 6000 rad/s</a:t>
                          </a:r>
                        </a:p>
                      </a:txBody>
                      <a:tcPr/>
                    </a:tc>
                    <a:extLst>
                      <a:ext uri="{0D108BD9-81ED-4DB2-BD59-A6C34878D82A}">
                        <a16:rowId xmlns:a16="http://schemas.microsoft.com/office/drawing/2014/main" val="10001"/>
                      </a:ext>
                    </a:extLst>
                  </a:tr>
                  <a:tr h="434340">
                    <a:tc>
                      <a:txBody>
                        <a:bodyPr/>
                        <a:lstStyle/>
                        <a:p>
                          <a:r>
                            <a:rPr lang="es-AR" sz="1400" noProof="0" dirty="0">
                              <a:latin typeface="Calibri"/>
                            </a:rPr>
                            <a:t>Corrientes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𝑖</m:t>
                                  </m:r>
                                </m:e>
                                <m:sub>
                                  <m:r>
                                    <a:rPr lang="es-AR" sz="1400">
                                      <a:latin typeface="Cambria Math" panose="02040503050406030204" pitchFamily="18" charset="0"/>
                                    </a:rPr>
                                    <m:t>𝑎𝑏𝑐</m:t>
                                  </m:r>
                                </m:sub>
                              </m:sSub>
                            </m:oMath>
                          </a14:m>
                          <a:endParaRPr lang="es-AR" sz="1400" noProof="0" dirty="0">
                            <a:latin typeface="Calibri"/>
                          </a:endParaRPr>
                        </a:p>
                      </a:txBody>
                      <a:tcPr>
                        <a:solidFill>
                          <a:srgbClr val="F0F4F8"/>
                        </a:solidFill>
                      </a:tcPr>
                    </a:tc>
                    <a:tc>
                      <a:txBody>
                        <a:bodyPr/>
                        <a:lstStyle/>
                        <a:p>
                          <a:r>
                            <a:rPr lang="es-AR" sz="1400" noProof="0">
                              <a:latin typeface="Calibri"/>
                            </a:rPr>
                            <a:t>PB 2° orden, ζ=1</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a:latin typeface="Calibri"/>
                            </a:rPr>
                            <a:t> = 6000 rad/s</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dirty="0">
                              <a:latin typeface="Calibri"/>
                            </a:rPr>
                            <a:t> = 18000 rad/s</a:t>
                          </a:r>
                        </a:p>
                      </a:txBody>
                      <a:tcPr>
                        <a:solidFill>
                          <a:srgbClr val="F0F4F8"/>
                        </a:solid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endParaRPr lang="es-AR"/>
                        </a:p>
                      </a:txBody>
                      <a:tcPr>
                        <a:blipFill>
                          <a:blip r:embed="rId3"/>
                          <a:stretch>
                            <a:fillRect l="-606" t="-101389" r="-469697" b="-201389"/>
                          </a:stretch>
                        </a:blipFill>
                      </a:tcPr>
                    </a:tc>
                    <a:tc>
                      <a:txBody>
                        <a:bodyPr/>
                        <a:lstStyle/>
                        <a:p>
                          <a:r>
                            <a:rPr lang="es-AR" sz="1400" noProof="0">
                              <a:latin typeface="Calibri"/>
                            </a:rPr>
                            <a:t>PB 2° orden, ζ=1</a:t>
                          </a:r>
                        </a:p>
                      </a:txBody>
                      <a:tcPr/>
                    </a:tc>
                    <a:tc>
                      <a:txBody>
                        <a:bodyPr/>
                        <a:lstStyle/>
                        <a:p>
                          <a:endParaRPr lang="es-AR"/>
                        </a:p>
                      </a:txBody>
                      <a:tcPr>
                        <a:blipFill>
                          <a:blip r:embed="rId3"/>
                          <a:stretch>
                            <a:fillRect l="-176533" t="-101389" r="-225333" b="-201389"/>
                          </a:stretch>
                        </a:blipFill>
                      </a:tcPr>
                    </a:tc>
                    <a:tc>
                      <a:txBody>
                        <a:bodyPr/>
                        <a:lstStyle/>
                        <a:p>
                          <a:endParaRPr lang="es-AR"/>
                        </a:p>
                      </a:txBody>
                      <a:tcPr>
                        <a:blipFill>
                          <a:blip r:embed="rId3"/>
                          <a:stretch>
                            <a:fillRect l="-123452" t="-101389" r="-595" b="-201389"/>
                          </a:stretch>
                        </a:blipFill>
                      </a:tcPr>
                    </a:tc>
                    <a:extLst>
                      <a:ext uri="{0D108BD9-81ED-4DB2-BD59-A6C34878D82A}">
                        <a16:rowId xmlns:a16="http://schemas.microsoft.com/office/drawing/2014/main" val="10001"/>
                      </a:ext>
                    </a:extLst>
                  </a:tr>
                  <a:tr h="434340">
                    <a:tc>
                      <a:txBody>
                        <a:bodyPr/>
                        <a:lstStyle/>
                        <a:p>
                          <a:endParaRPr lang="es-AR"/>
                        </a:p>
                      </a:txBody>
                      <a:tcPr>
                        <a:blipFill>
                          <a:blip r:embed="rId3"/>
                          <a:stretch>
                            <a:fillRect l="-606" t="-204225" r="-469697" b="-104225"/>
                          </a:stretch>
                        </a:blipFill>
                      </a:tcPr>
                    </a:tc>
                    <a:tc>
                      <a:txBody>
                        <a:bodyPr/>
                        <a:lstStyle/>
                        <a:p>
                          <a:r>
                            <a:rPr lang="es-AR" sz="1400" noProof="0">
                              <a:latin typeface="Calibri"/>
                            </a:rPr>
                            <a:t>PB 2° orden, ζ=1</a:t>
                          </a:r>
                        </a:p>
                      </a:txBody>
                      <a:tcPr>
                        <a:solidFill>
                          <a:srgbClr val="F0F4F8"/>
                        </a:solidFill>
                      </a:tcPr>
                    </a:tc>
                    <a:tc>
                      <a:txBody>
                        <a:bodyPr/>
                        <a:lstStyle/>
                        <a:p>
                          <a:endParaRPr lang="es-AR"/>
                        </a:p>
                      </a:txBody>
                      <a:tcPr>
                        <a:blipFill>
                          <a:blip r:embed="rId3"/>
                          <a:stretch>
                            <a:fillRect l="-176533" t="-204225" r="-225333" b="-104225"/>
                          </a:stretch>
                        </a:blipFill>
                      </a:tcPr>
                    </a:tc>
                    <a:tc>
                      <a:txBody>
                        <a:bodyPr/>
                        <a:lstStyle/>
                        <a:p>
                          <a:endParaRPr lang="es-AR"/>
                        </a:p>
                      </a:txBody>
                      <a:tcPr>
                        <a:blipFill>
                          <a:blip r:embed="rId3"/>
                          <a:stretch>
                            <a:fillRect l="-123452" t="-204225" r="-595" b="-104225"/>
                          </a:stretch>
                        </a:blip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Fallback>
      </mc:AlternateContent>
      <p:sp>
        <p:nvSpPr>
          <p:cNvPr id="9" name="Rectangle 8"/>
          <p:cNvSpPr/>
          <p:nvPr/>
        </p:nvSpPr>
        <p:spPr>
          <a:xfrm>
            <a:off x="224838" y="3411191"/>
            <a:ext cx="11479482"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0" name="TextBox 9"/>
              <p:cNvSpPr txBox="1"/>
              <p:nvPr/>
            </p:nvSpPr>
            <p:spPr>
              <a:xfrm>
                <a:off x="274320" y="3383759"/>
                <a:ext cx="2167222" cy="56861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ξ</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oMath>
                  </m:oMathPara>
                </a14:m>
                <a:endParaRPr sz="1400" b="1" dirty="0">
                  <a:solidFill>
                    <a:srgbClr val="1B6B2A"/>
                  </a:solidFill>
                  <a:latin typeface="Calibri"/>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74320" y="3383759"/>
                <a:ext cx="2167222" cy="568617"/>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65760" y="5532120"/>
                <a:ext cx="11430000" cy="818173"/>
              </a:xfrm>
              <a:prstGeom prst="rect">
                <a:avLst/>
              </a:prstGeom>
              <a:noFill/>
            </p:spPr>
            <p:txBody>
              <a:bodyPr wrap="square">
                <a:spAutoFit/>
              </a:bodyPr>
              <a:lstStyle/>
              <a:p>
                <a:r>
                  <a:rPr lang="es-AR" sz="1350" dirty="0">
                    <a:solidFill>
                      <a:srgbClr val="1A1A2E"/>
                    </a:solidFill>
                    <a:latin typeface="Calibri"/>
                  </a:rPr>
                  <a:t>Posición: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6000 rad/s no muestra diferencias apreciables → no se requiere mayor resolución</a:t>
                </a:r>
              </a:p>
              <a:p>
                <a:pPr>
                  <a:spcBef>
                    <a:spcPts val="400"/>
                  </a:spcBef>
                </a:pPr>
                <a:r>
                  <a:rPr lang="es-AR" sz="1350" dirty="0">
                    <a:solidFill>
                      <a:srgbClr val="1A1A2E"/>
                    </a:solidFill>
                    <a:latin typeface="Calibri"/>
                  </a:rPr>
                  <a:t>Corriente: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18000 rad/s ofrece buena respuesta sin necesidad de valores más altos</a:t>
                </a:r>
              </a:p>
              <a:p>
                <a:pPr>
                  <a:spcBef>
                    <a:spcPts val="400"/>
                  </a:spcBef>
                </a:pPr>
                <a:r>
                  <a:rPr lang="es-AR" sz="1350" dirty="0">
                    <a:solidFill>
                      <a:srgbClr val="1A1A2E"/>
                    </a:solidFill>
                    <a:latin typeface="Calibri"/>
                  </a:rPr>
                  <a:t>Temperatura: variable más afectada; τ = 0.05 s necesario para rastrear señal; para detectar máximos τ puede ser mayor</a:t>
                </a:r>
              </a:p>
            </p:txBody>
          </p:sp>
        </mc:Choice>
        <mc:Fallback xmlns="">
          <p:sp>
            <p:nvSpPr>
              <p:cNvPr id="14" name="TextBox 13"/>
              <p:cNvSpPr txBox="1">
                <a:spLocks noRot="1" noChangeAspect="1" noMove="1" noResize="1" noEditPoints="1" noAdjustHandles="1" noChangeArrowheads="1" noChangeShapeType="1" noTextEdit="1"/>
              </p:cNvSpPr>
              <p:nvPr/>
            </p:nvSpPr>
            <p:spPr>
              <a:xfrm>
                <a:off x="365760" y="5532120"/>
                <a:ext cx="11430000" cy="818173"/>
              </a:xfrm>
              <a:prstGeom prst="rect">
                <a:avLst/>
              </a:prstGeom>
              <a:blipFill>
                <a:blip r:embed="rId5"/>
                <a:stretch>
                  <a:fillRect l="-107" t="-1493" b="-5970"/>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219F5C72-FDFE-4F04-B710-BFD5FC38B321}"/>
              </a:ext>
            </a:extLst>
          </p:cNvPr>
          <p:cNvSpPr txBox="1"/>
          <p:nvPr/>
        </p:nvSpPr>
        <p:spPr>
          <a:xfrm>
            <a:off x="165911" y="3071109"/>
            <a:ext cx="11646817" cy="312650"/>
          </a:xfrm>
          <a:prstGeom prst="rect">
            <a:avLst/>
          </a:prstGeom>
          <a:noFill/>
        </p:spPr>
        <p:txBody>
          <a:bodyPr wrap="square">
            <a:spAutoFit/>
          </a:bodyPr>
          <a:lstStyle/>
          <a:p>
            <a:pPr algn="just">
              <a:lnSpc>
                <a:spcPct val="107000"/>
              </a:lnSpc>
              <a:spcBef>
                <a:spcPts val="4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Un filtro pasa bajo de segundo orden con ganancia unitaria puede describirse mediante la función de transferencia:</a:t>
            </a:r>
          </a:p>
        </p:txBody>
      </p:sp>
      <p:sp>
        <p:nvSpPr>
          <p:cNvPr id="18" name="CuadroTexto 17">
            <a:extLst>
              <a:ext uri="{FF2B5EF4-FFF2-40B4-BE49-F238E27FC236}">
                <a16:creationId xmlns:a16="http://schemas.microsoft.com/office/drawing/2014/main" id="{49B2CB70-C495-4516-A847-EAD8AE0204B2}"/>
              </a:ext>
            </a:extLst>
          </p:cNvPr>
          <p:cNvSpPr txBox="1"/>
          <p:nvPr/>
        </p:nvSpPr>
        <p:spPr>
          <a:xfrm>
            <a:off x="209751" y="4069492"/>
            <a:ext cx="11646816" cy="31265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E</a:t>
            </a:r>
            <a:r>
              <a:rPr lang="es-AR" sz="1400" dirty="0">
                <a:effectLst/>
                <a:latin typeface="Calibri" panose="020F0502020204030204" pitchFamily="34" charset="0"/>
                <a:ea typeface="Calibri" panose="020F0502020204030204" pitchFamily="34" charset="0"/>
                <a:cs typeface="Times New Roman" panose="02020603050405020304" pitchFamily="18" charset="0"/>
              </a:rPr>
              <a:t>l modelo en variables de estado queda expresado como:</a:t>
            </a:r>
          </a:p>
        </p:txBody>
      </p:sp>
      <p:sp>
        <p:nvSpPr>
          <p:cNvPr id="19" name="Rectangle 8">
            <a:extLst>
              <a:ext uri="{FF2B5EF4-FFF2-40B4-BE49-F238E27FC236}">
                <a16:creationId xmlns:a16="http://schemas.microsoft.com/office/drawing/2014/main" id="{FCB513D3-31CD-4B07-8F01-4A364FBDBBE5}"/>
              </a:ext>
            </a:extLst>
          </p:cNvPr>
          <p:cNvSpPr/>
          <p:nvPr/>
        </p:nvSpPr>
        <p:spPr>
          <a:xfrm>
            <a:off x="224838" y="4382142"/>
            <a:ext cx="11479482" cy="737437"/>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0" name="TextBox 9">
                <a:extLst>
                  <a:ext uri="{FF2B5EF4-FFF2-40B4-BE49-F238E27FC236}">
                    <a16:creationId xmlns:a16="http://schemas.microsoft.com/office/drawing/2014/main" id="{AABF1CCB-2941-4612-AF66-AE8F9E40FB3B}"/>
                  </a:ext>
                </a:extLst>
              </p:cNvPr>
              <p:cNvSpPr txBox="1"/>
              <p:nvPr/>
            </p:nvSpPr>
            <p:spPr>
              <a:xfrm>
                <a:off x="-215874" y="4396546"/>
                <a:ext cx="4627618" cy="6519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2</m:t>
                                </m:r>
                                <m:r>
                                  <a:rPr lang="es-AR" sz="1400" i="1">
                                    <a:latin typeface="Cambria Math" panose="02040503050406030204" pitchFamily="18" charset="0"/>
                                  </a:rPr>
                                  <m:t> </m:t>
                                </m:r>
                                <m:r>
                                  <m:rPr>
                                    <m:sty m:val="p"/>
                                  </m:rPr>
                                  <a:rPr lang="es-AR" sz="1400">
                                    <a:latin typeface="Cambria Math" panose="02040503050406030204" pitchFamily="18" charset="0"/>
                                  </a:rPr>
                                  <m:t>ξ</m:t>
                                </m:r>
                                <m:r>
                                  <a:rPr lang="es-AR" sz="1400" i="1">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m:oMathPara>
                </a14:m>
                <a:endParaRPr sz="1100" b="1" dirty="0">
                  <a:solidFill>
                    <a:srgbClr val="1B6B2A"/>
                  </a:solidFill>
                  <a:latin typeface="Calibri"/>
                </a:endParaRPr>
              </a:p>
            </p:txBody>
          </p:sp>
        </mc:Choice>
        <mc:Fallback xmlns="">
          <p:sp>
            <p:nvSpPr>
              <p:cNvPr id="20" name="TextBox 9">
                <a:extLst>
                  <a:ext uri="{FF2B5EF4-FFF2-40B4-BE49-F238E27FC236}">
                    <a16:creationId xmlns:a16="http://schemas.microsoft.com/office/drawing/2014/main" id="{AABF1CCB-2941-4612-AF66-AE8F9E40FB3B}"/>
                  </a:ext>
                </a:extLst>
              </p:cNvPr>
              <p:cNvSpPr txBox="1">
                <a:spLocks noRot="1" noChangeAspect="1" noMove="1" noResize="1" noEditPoints="1" noAdjustHandles="1" noChangeArrowheads="1" noChangeShapeType="1" noTextEdit="1"/>
              </p:cNvSpPr>
              <p:nvPr/>
            </p:nvSpPr>
            <p:spPr>
              <a:xfrm>
                <a:off x="-215874" y="4396546"/>
                <a:ext cx="4627618" cy="651910"/>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A13DA14F-329A-4BAE-9092-E3E33EFA7F8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7" name="Text 3">
            <a:extLst>
              <a:ext uri="{FF2B5EF4-FFF2-40B4-BE49-F238E27FC236}">
                <a16:creationId xmlns:a16="http://schemas.microsoft.com/office/drawing/2014/main" id="{01DC0182-6FE6-425C-A178-6591D2A845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pic>
        <p:nvPicPr>
          <p:cNvPr id="23" name="Imagen 22">
            <a:extLst>
              <a:ext uri="{FF2B5EF4-FFF2-40B4-BE49-F238E27FC236}">
                <a16:creationId xmlns:a16="http://schemas.microsoft.com/office/drawing/2014/main" id="{D06B7EBC-F8B2-4886-98A5-19EC4A30951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995015" y="1000904"/>
            <a:ext cx="6781078" cy="3406807"/>
          </a:xfrm>
          <a:prstGeom prst="rect">
            <a:avLst/>
          </a:prstGeom>
        </p:spPr>
      </p:pic>
      <p:sp>
        <p:nvSpPr>
          <p:cNvPr id="24" name="CuadroTexto 23">
            <a:extLst>
              <a:ext uri="{FF2B5EF4-FFF2-40B4-BE49-F238E27FC236}">
                <a16:creationId xmlns:a16="http://schemas.microsoft.com/office/drawing/2014/main" id="{370C1F28-5AE7-4AB8-ACA3-4295C70EF545}"/>
              </a:ext>
            </a:extLst>
          </p:cNvPr>
          <p:cNvSpPr txBox="1"/>
          <p:nvPr/>
        </p:nvSpPr>
        <p:spPr>
          <a:xfrm>
            <a:off x="4904861" y="4407711"/>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Sensor no ideal genérico</a:t>
            </a:r>
          </a:p>
          <a:p>
            <a:endParaRPr lang="es-AR" dirty="0"/>
          </a:p>
        </p:txBody>
      </p:sp>
      <p:sp>
        <p:nvSpPr>
          <p:cNvPr id="9" name="Shape 2">
            <a:extLst>
              <a:ext uri="{FF2B5EF4-FFF2-40B4-BE49-F238E27FC236}">
                <a16:creationId xmlns:a16="http://schemas.microsoft.com/office/drawing/2014/main" id="{3B1129F7-0672-4BA0-9D9F-9C7BC2EAD1E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7DF94D9-6FB6-458F-A15F-3B82DCC9734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697714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0" name="CuadroTexto 9">
            <a:extLst>
              <a:ext uri="{FF2B5EF4-FFF2-40B4-BE49-F238E27FC236}">
                <a16:creationId xmlns:a16="http://schemas.microsoft.com/office/drawing/2014/main" id="{AB7E7514-4C42-40A5-AFB9-F56693077EAF}"/>
              </a:ext>
            </a:extLst>
          </p:cNvPr>
          <p:cNvSpPr txBox="1"/>
          <p:nvPr/>
        </p:nvSpPr>
        <p:spPr>
          <a:xfrm>
            <a:off x="114067" y="719820"/>
            <a:ext cx="11757119" cy="543162"/>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Por otro lado, el sensor de temperatura se modela mediante un sistema de primer orden, que permite representar su dinámica térmica con una única constante de tiempo. La ecuación diferencial adoptada es:</a:t>
            </a:r>
          </a:p>
        </p:txBody>
      </p:sp>
      <p:sp>
        <p:nvSpPr>
          <p:cNvPr id="11" name="Rectangle 8">
            <a:extLst>
              <a:ext uri="{FF2B5EF4-FFF2-40B4-BE49-F238E27FC236}">
                <a16:creationId xmlns:a16="http://schemas.microsoft.com/office/drawing/2014/main" id="{516C9081-549D-4288-809A-F0DAC88D231E}"/>
              </a:ext>
            </a:extLst>
          </p:cNvPr>
          <p:cNvSpPr/>
          <p:nvPr/>
        </p:nvSpPr>
        <p:spPr>
          <a:xfrm>
            <a:off x="160255" y="1274588"/>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9">
                <a:extLst>
                  <a:ext uri="{FF2B5EF4-FFF2-40B4-BE49-F238E27FC236}">
                    <a16:creationId xmlns:a16="http://schemas.microsoft.com/office/drawing/2014/main" id="{A6840038-83C3-49B0-864C-376768B8098A}"/>
                  </a:ext>
                </a:extLst>
              </p:cNvPr>
              <p:cNvSpPr txBox="1"/>
              <p:nvPr/>
            </p:nvSpPr>
            <p:spPr>
              <a:xfrm>
                <a:off x="-292231" y="1287668"/>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𝜏</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100" b="1" dirty="0">
                  <a:solidFill>
                    <a:srgbClr val="1B6B2A"/>
                  </a:solidFill>
                  <a:latin typeface="Calibri"/>
                </a:endParaRPr>
              </a:p>
            </p:txBody>
          </p:sp>
        </mc:Choice>
        <mc:Fallback xmlns="">
          <p:sp>
            <p:nvSpPr>
              <p:cNvPr id="12" name="TextBox 9">
                <a:extLst>
                  <a:ext uri="{FF2B5EF4-FFF2-40B4-BE49-F238E27FC236}">
                    <a16:creationId xmlns:a16="http://schemas.microsoft.com/office/drawing/2014/main" id="{A6840038-83C3-49B0-864C-376768B8098A}"/>
                  </a:ext>
                </a:extLst>
              </p:cNvPr>
              <p:cNvSpPr txBox="1">
                <a:spLocks noRot="1" noChangeAspect="1" noMove="1" noResize="1" noEditPoints="1" noAdjustHandles="1" noChangeArrowheads="1" noChangeShapeType="1" noTextEdit="1"/>
              </p:cNvSpPr>
              <p:nvPr/>
            </p:nvSpPr>
            <p:spPr>
              <a:xfrm>
                <a:off x="-292231" y="1287668"/>
                <a:ext cx="3516198" cy="53008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0C257C2-42F3-4591-9B1A-4B959A44FEA8}"/>
                  </a:ext>
                </a:extLst>
              </p:cNvPr>
              <p:cNvSpPr txBox="1"/>
              <p:nvPr/>
            </p:nvSpPr>
            <p:spPr>
              <a:xfrm>
                <a:off x="155542" y="1910386"/>
                <a:ext cx="11849493" cy="322974"/>
              </a:xfrm>
              <a:prstGeom prst="rect">
                <a:avLst/>
              </a:prstGeom>
              <a:noFill/>
            </p:spPr>
            <p:txBody>
              <a:bodyPr wrap="square">
                <a:spAutoFit/>
              </a:bodyPr>
              <a:lstStyle/>
              <a:p>
                <a:pPr algn="just">
                  <a:lnSpc>
                    <a:spcPct val="107000"/>
                  </a:lnSpc>
                  <a:spcBef>
                    <a:spcPts val="6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D</a:t>
                </a:r>
                <a:r>
                  <a:rPr lang="es-AR" sz="1400" dirty="0">
                    <a:effectLst/>
                    <a:latin typeface="Calibri" panose="020F0502020204030204" pitchFamily="34" charset="0"/>
                    <a:ea typeface="Calibri" panose="020F0502020204030204" pitchFamily="34" charset="0"/>
                    <a:cs typeface="Times New Roman" panose="02020603050405020304" pitchFamily="18" charset="0"/>
                  </a:rPr>
                  <a:t>onde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medida por el sensor,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𝑒𝑛𝑡𝑟𝑎𝑑𝑎</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real aplicada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constante de tiempo del sensor.</a:t>
                </a:r>
              </a:p>
            </p:txBody>
          </p:sp>
        </mc:Choice>
        <mc:Fallback xmlns="">
          <p:sp>
            <p:nvSpPr>
              <p:cNvPr id="14" name="CuadroTexto 13">
                <a:extLst>
                  <a:ext uri="{FF2B5EF4-FFF2-40B4-BE49-F238E27FC236}">
                    <a16:creationId xmlns:a16="http://schemas.microsoft.com/office/drawing/2014/main" id="{80C257C2-42F3-4591-9B1A-4B959A44FEA8}"/>
                  </a:ext>
                </a:extLst>
              </p:cNvPr>
              <p:cNvSpPr txBox="1">
                <a:spLocks noRot="1" noChangeAspect="1" noMove="1" noResize="1" noEditPoints="1" noAdjustHandles="1" noChangeArrowheads="1" noChangeShapeType="1" noTextEdit="1"/>
              </p:cNvSpPr>
              <p:nvPr/>
            </p:nvSpPr>
            <p:spPr>
              <a:xfrm>
                <a:off x="155542" y="1910386"/>
                <a:ext cx="11849493" cy="322974"/>
              </a:xfrm>
              <a:prstGeom prst="rect">
                <a:avLst/>
              </a:prstGeom>
              <a:blipFill>
                <a:blip r:embed="rId4"/>
                <a:stretch>
                  <a:fillRect l="-154" b="-20755"/>
                </a:stretch>
              </a:blipFill>
            </p:spPr>
            <p:txBody>
              <a:bodyPr/>
              <a:lstStyle/>
              <a:p>
                <a:r>
                  <a:rPr lang="es-AR">
                    <a:noFill/>
                  </a:rPr>
                  <a:t> </a:t>
                </a:r>
              </a:p>
            </p:txBody>
          </p:sp>
        </mc:Fallback>
      </mc:AlternateContent>
      <p:sp>
        <p:nvSpPr>
          <p:cNvPr id="15" name="Rectangle 8">
            <a:extLst>
              <a:ext uri="{FF2B5EF4-FFF2-40B4-BE49-F238E27FC236}">
                <a16:creationId xmlns:a16="http://schemas.microsoft.com/office/drawing/2014/main" id="{4B504761-5413-425A-A90B-BE1D7ADDB43E}"/>
              </a:ext>
            </a:extLst>
          </p:cNvPr>
          <p:cNvSpPr/>
          <p:nvPr/>
        </p:nvSpPr>
        <p:spPr>
          <a:xfrm>
            <a:off x="155542" y="2274943"/>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6" name="TextBox 9">
                <a:extLst>
                  <a:ext uri="{FF2B5EF4-FFF2-40B4-BE49-F238E27FC236}">
                    <a16:creationId xmlns:a16="http://schemas.microsoft.com/office/drawing/2014/main" id="{98529C54-C0AE-4E7B-813F-28F9139CE5E7}"/>
                  </a:ext>
                </a:extLst>
              </p:cNvPr>
              <p:cNvSpPr txBox="1"/>
              <p:nvPr/>
            </p:nvSpPr>
            <p:spPr>
              <a:xfrm>
                <a:off x="0" y="2306367"/>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000" b="1" dirty="0">
                  <a:solidFill>
                    <a:srgbClr val="1B6B2A"/>
                  </a:solidFill>
                  <a:latin typeface="Calibri"/>
                </a:endParaRPr>
              </a:p>
            </p:txBody>
          </p:sp>
        </mc:Choice>
        <mc:Fallback xmlns="">
          <p:sp>
            <p:nvSpPr>
              <p:cNvPr id="16" name="TextBox 9">
                <a:extLst>
                  <a:ext uri="{FF2B5EF4-FFF2-40B4-BE49-F238E27FC236}">
                    <a16:creationId xmlns:a16="http://schemas.microsoft.com/office/drawing/2014/main" id="{98529C54-C0AE-4E7B-813F-28F9139CE5E7}"/>
                  </a:ext>
                </a:extLst>
              </p:cNvPr>
              <p:cNvSpPr txBox="1">
                <a:spLocks noRot="1" noChangeAspect="1" noMove="1" noResize="1" noEditPoints="1" noAdjustHandles="1" noChangeArrowheads="1" noChangeShapeType="1" noTextEdit="1"/>
              </p:cNvSpPr>
              <p:nvPr/>
            </p:nvSpPr>
            <p:spPr>
              <a:xfrm>
                <a:off x="0" y="2306367"/>
                <a:ext cx="3516198" cy="530082"/>
              </a:xfrm>
              <a:prstGeom prst="rect">
                <a:avLst/>
              </a:prstGeom>
              <a:blipFill>
                <a:blip r:embed="rId5"/>
                <a:stretch>
                  <a:fillRect/>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28C6A5E9-7B96-48DA-B82C-E48E5E2C326E}"/>
              </a:ext>
            </a:extLst>
          </p:cNvPr>
          <p:cNvPicPr/>
          <p:nvPr/>
        </p:nvPicPr>
        <p:blipFill>
          <a:blip r:embed="rId6">
            <a:extLst>
              <a:ext uri="{28A0092B-C50C-407E-A947-70E740481C1C}">
                <a14:useLocalDpi xmlns:a14="http://schemas.microsoft.com/office/drawing/2010/main" val="0"/>
              </a:ext>
            </a:extLst>
          </a:blip>
          <a:stretch>
            <a:fillRect/>
          </a:stretch>
        </p:blipFill>
        <p:spPr>
          <a:xfrm>
            <a:off x="2700846" y="3136774"/>
            <a:ext cx="6341816" cy="2023686"/>
          </a:xfrm>
          <a:prstGeom prst="rect">
            <a:avLst/>
          </a:prstGeom>
        </p:spPr>
      </p:pic>
      <p:sp>
        <p:nvSpPr>
          <p:cNvPr id="19" name="CuadroTexto 18">
            <a:extLst>
              <a:ext uri="{FF2B5EF4-FFF2-40B4-BE49-F238E27FC236}">
                <a16:creationId xmlns:a16="http://schemas.microsoft.com/office/drawing/2014/main" id="{0E3283E1-195A-411E-B01D-4C59F7B7931E}"/>
              </a:ext>
            </a:extLst>
          </p:cNvPr>
          <p:cNvSpPr txBox="1"/>
          <p:nvPr/>
        </p:nvSpPr>
        <p:spPr>
          <a:xfrm>
            <a:off x="4613093" y="5266716"/>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65— Sensor de temperatura</a:t>
            </a:r>
          </a:p>
          <a:p>
            <a:endParaRPr lang="es-AR" dirty="0"/>
          </a:p>
        </p:txBody>
      </p:sp>
      <p:sp>
        <p:nvSpPr>
          <p:cNvPr id="18" name="Shape 2">
            <a:extLst>
              <a:ext uri="{FF2B5EF4-FFF2-40B4-BE49-F238E27FC236}">
                <a16:creationId xmlns:a16="http://schemas.microsoft.com/office/drawing/2014/main" id="{FBA580B0-2C99-4F47-8075-B9ADB5C2243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946DC70-B070-4E6C-B1D9-0A1D5EA371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05347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9" name="CuadroTexto 18">
            <a:extLst>
              <a:ext uri="{FF2B5EF4-FFF2-40B4-BE49-F238E27FC236}">
                <a16:creationId xmlns:a16="http://schemas.microsoft.com/office/drawing/2014/main" id="{0E3283E1-195A-411E-B01D-4C59F7B7931E}"/>
              </a:ext>
            </a:extLst>
          </p:cNvPr>
          <p:cNvSpPr txBox="1"/>
          <p:nvPr/>
        </p:nvSpPr>
        <p:spPr>
          <a:xfrm>
            <a:off x="0" y="6009001"/>
            <a:ext cx="454701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66— Bloques de sensores no ideales</a:t>
            </a:r>
          </a:p>
        </p:txBody>
      </p:sp>
      <p:pic>
        <p:nvPicPr>
          <p:cNvPr id="18" name="Imagen 17">
            <a:extLst>
              <a:ext uri="{FF2B5EF4-FFF2-40B4-BE49-F238E27FC236}">
                <a16:creationId xmlns:a16="http://schemas.microsoft.com/office/drawing/2014/main" id="{BFF90303-F127-45F4-8940-6A5C1C95692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779803"/>
            <a:ext cx="2906054" cy="5107763"/>
          </a:xfrm>
          <a:prstGeom prst="rect">
            <a:avLst/>
          </a:prstGeom>
        </p:spPr>
      </p:pic>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A471200D-02B9-475D-9F27-6DEF9B504CA0}"/>
                  </a:ext>
                </a:extLst>
              </p:cNvPr>
              <p:cNvSpPr txBox="1"/>
              <p:nvPr/>
            </p:nvSpPr>
            <p:spPr>
              <a:xfrm>
                <a:off x="2906054" y="769861"/>
                <a:ext cx="8357730" cy="366575"/>
              </a:xfrm>
              <a:prstGeom prst="rect">
                <a:avLst/>
              </a:prstGeom>
              <a:noFill/>
            </p:spPr>
            <p:txBody>
              <a:bodyPr wrap="square">
                <a:spAutoFit/>
              </a:bodyPr>
              <a:lstStyle/>
              <a:p>
                <a:pPr algn="just">
                  <a:lnSpc>
                    <a:spcPct val="107000"/>
                  </a:lnSpc>
                  <a:spcBef>
                    <a:spcPts val="1800"/>
                  </a:spcBef>
                  <a:spcAft>
                    <a:spcPts val="1800"/>
                  </a:spcAft>
                </a:pPr>
                <a:r>
                  <a:rPr lang="es-MX" sz="1400" b="0" dirty="0">
                    <a:effectLst/>
                    <a:ea typeface="Calibri" panose="020F0502020204030204" pitchFamily="34" charset="0"/>
                    <a:cs typeface="Times New Roman" panose="02020603050405020304" pitchFamily="18" charset="0"/>
                  </a:rPr>
                  <a:t>Para</a:t>
                </a:r>
                <a14:m>
                  <m:oMath xmlns:m="http://schemas.openxmlformats.org/officeDocument/2006/math">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𝑜𝑠</m:t>
                            </m:r>
                          </m:sub>
                        </m:sSub>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𝑜𝑟𝑟𝑖𝑒𝑛𝑡𝑒</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r>
                  <a:rPr lang="es-AR" sz="1400" dirty="0">
                    <a:effectLst/>
                    <a:latin typeface="Calibri" panose="020F0502020204030204" pitchFamily="34" charset="0"/>
                    <a:ea typeface="Calibri" panose="020F0502020204030204" pitchFamily="34" charset="0"/>
                    <a:cs typeface="Times New Roman" panose="02020603050405020304" pitchFamily="18" charset="0"/>
                  </a:rPr>
                  <a:t> se obtienen las siguientes gráficas:</a:t>
                </a:r>
              </a:p>
            </p:txBody>
          </p:sp>
        </mc:Choice>
        <mc:Fallback xmlns="">
          <p:sp>
            <p:nvSpPr>
              <p:cNvPr id="20" name="CuadroTexto 19">
                <a:extLst>
                  <a:ext uri="{FF2B5EF4-FFF2-40B4-BE49-F238E27FC236}">
                    <a16:creationId xmlns:a16="http://schemas.microsoft.com/office/drawing/2014/main" id="{A471200D-02B9-475D-9F27-6DEF9B504CA0}"/>
                  </a:ext>
                </a:extLst>
              </p:cNvPr>
              <p:cNvSpPr txBox="1">
                <a:spLocks noRot="1" noChangeAspect="1" noMove="1" noResize="1" noEditPoints="1" noAdjustHandles="1" noChangeArrowheads="1" noChangeShapeType="1" noTextEdit="1"/>
              </p:cNvSpPr>
              <p:nvPr/>
            </p:nvSpPr>
            <p:spPr>
              <a:xfrm>
                <a:off x="2906054" y="769861"/>
                <a:ext cx="8357730" cy="366575"/>
              </a:xfrm>
              <a:prstGeom prst="rect">
                <a:avLst/>
              </a:prstGeom>
              <a:blipFill>
                <a:blip r:embed="rId4"/>
                <a:stretch>
                  <a:fillRect l="-219" b="-8333"/>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52F62D5-6C5C-4F56-9D00-ABD9926F4C74}"/>
              </a:ext>
            </a:extLst>
          </p:cNvPr>
          <p:cNvPicPr/>
          <p:nvPr/>
        </p:nvPicPr>
        <p:blipFill>
          <a:blip r:embed="rId5"/>
          <a:srcRect/>
          <a:stretch/>
        </p:blipFill>
        <p:spPr>
          <a:xfrm>
            <a:off x="2793890" y="1324706"/>
            <a:ext cx="4721971" cy="3323808"/>
          </a:xfrm>
          <a:prstGeom prst="rect">
            <a:avLst/>
          </a:prstGeom>
        </p:spPr>
      </p:pic>
      <p:pic>
        <p:nvPicPr>
          <p:cNvPr id="22" name="Imagen 21">
            <a:extLst>
              <a:ext uri="{FF2B5EF4-FFF2-40B4-BE49-F238E27FC236}">
                <a16:creationId xmlns:a16="http://schemas.microsoft.com/office/drawing/2014/main" id="{5DC30182-38C3-4B95-B281-6E0BBF6E9898}"/>
              </a:ext>
            </a:extLst>
          </p:cNvPr>
          <p:cNvPicPr/>
          <p:nvPr/>
        </p:nvPicPr>
        <p:blipFill>
          <a:blip r:embed="rId6"/>
          <a:srcRect/>
          <a:stretch/>
        </p:blipFill>
        <p:spPr>
          <a:xfrm>
            <a:off x="7465285" y="1324706"/>
            <a:ext cx="4721971" cy="3323807"/>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311734" y="4836784"/>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67—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311734" y="4836784"/>
                <a:ext cx="4040254" cy="276742"/>
              </a:xfrm>
              <a:prstGeom prst="rect">
                <a:avLst/>
              </a:prstGeom>
              <a:blipFill>
                <a:blip r:embed="rId7"/>
                <a:stretch>
                  <a:fillRect b="-869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C65AA96-C107-4A9B-8C3B-6F430F0CE1DC}"/>
                  </a:ext>
                </a:extLst>
              </p:cNvPr>
              <p:cNvSpPr txBox="1"/>
              <p:nvPr/>
            </p:nvSpPr>
            <p:spPr>
              <a:xfrm>
                <a:off x="8147002" y="4854799"/>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68—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8147002" y="4854799"/>
                <a:ext cx="4040254" cy="276742"/>
              </a:xfrm>
              <a:prstGeom prst="rect">
                <a:avLst/>
              </a:prstGeom>
              <a:blipFill>
                <a:blip r:embed="rId8"/>
                <a:stretch>
                  <a:fillRect b="-8696"/>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973F290B-C0C6-467C-8EB9-CE00A9CDE38C}"/>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B0AA8044-5B87-40F3-955D-E7E28828787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000813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CFF3FB85-0778-42B7-B56F-EEF1354A91C2}"/>
                  </a:ext>
                </a:extLst>
              </p:cNvPr>
              <p:cNvSpPr txBox="1"/>
              <p:nvPr/>
            </p:nvSpPr>
            <p:spPr>
              <a:xfrm>
                <a:off x="274320" y="5128388"/>
                <a:ext cx="12041171" cy="1477328"/>
              </a:xfrm>
              <a:prstGeom prst="rect">
                <a:avLst/>
              </a:prstGeom>
              <a:noFill/>
            </p:spPr>
            <p:txBody>
              <a:bodyPr wrap="square">
                <a:spAutoFit/>
              </a:bodyPr>
              <a:lstStyle/>
              <a:p>
                <a:r>
                  <a:rPr lang="es-AR" sz="1400" dirty="0"/>
                  <a:t>Se observa que el tiempo de simulación alcanzado es del orden de </a:t>
                </a:r>
                <a14:m>
                  <m:oMath xmlns:m="http://schemas.openxmlformats.org/officeDocument/2006/math">
                    <m:r>
                      <a:rPr lang="es-AR" sz="1400">
                        <a:latin typeface="Cambria Math" panose="02040503050406030204" pitchFamily="18" charset="0"/>
                      </a:rPr>
                      <m:t>𝑡</m:t>
                    </m:r>
                    <m:r>
                      <a:rPr lang="es-AR" sz="1400">
                        <a:latin typeface="Cambria Math" panose="02040503050406030204" pitchFamily="18" charset="0"/>
                      </a:rPr>
                      <m:t>=</m:t>
                    </m:r>
                    <m:r>
                      <a:rPr lang="es-AR" sz="1400">
                        <a:latin typeface="Cambria Math" panose="02040503050406030204" pitchFamily="18" charset="0"/>
                      </a:rPr>
                      <m:t>0</m:t>
                    </m:r>
                    <m:r>
                      <a:rPr lang="es-AR" sz="1400">
                        <a:latin typeface="Cambria Math" panose="02040503050406030204" pitchFamily="18" charset="0"/>
                      </a:rPr>
                      <m:t>.</m:t>
                    </m:r>
                    <m:r>
                      <a:rPr lang="es-AR" sz="1400">
                        <a:latin typeface="Cambria Math" panose="02040503050406030204" pitchFamily="18" charset="0"/>
                      </a:rPr>
                      <m:t>03</m:t>
                    </m:r>
                    <m:r>
                      <a:rPr lang="es-AR" sz="1400">
                        <a:latin typeface="Cambria Math" panose="02040503050406030204" pitchFamily="18" charset="0"/>
                      </a:rPr>
                      <m:t>𝑠</m:t>
                    </m:r>
                  </m:oMath>
                </a14:m>
                <a:r>
                  <a:rPr lang="es-MX" sz="1400" dirty="0"/>
                  <a:t>, debido a inestabilidades numéricas causadas por la rigidez del modelo: coexistencia de dinámicas muy rápidas y muy lentas que obligan al solver a usar pasos de integración extremadamente pequeños. Los filtros de sensores con parámetros iniciales no logran capturar adecuadamente las dinámicas rápidas, agravando el problema.</a:t>
                </a:r>
              </a:p>
              <a:p>
                <a:r>
                  <a:rPr lang="es-MX" sz="1400" b="1" dirty="0"/>
                  <a:t>Solución propuesta: </a:t>
                </a:r>
                <a:r>
                  <a:rPr lang="es-MX" sz="1400" dirty="0"/>
                  <a:t>incrementar las frecuencias de corte de los sensores, duplicando y triplicando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m:t>
                        </m:r>
                      </m:e>
                      <m:sub>
                        <m:r>
                          <a:rPr lang="es-AR" sz="1400">
                            <a:latin typeface="Cambria Math" panose="02040503050406030204" pitchFamily="18" charset="0"/>
                          </a:rPr>
                          <m:t>𝑛</m:t>
                        </m:r>
                      </m:sub>
                    </m:sSub>
                    <m:r>
                      <a:rPr lang="es-AR" sz="1400" i="1">
                        <a:latin typeface="Cambria Math" panose="02040503050406030204" pitchFamily="18" charset="0"/>
                      </a:rPr>
                      <m:t> </m:t>
                    </m:r>
                  </m:oMath>
                </a14:m>
                <a:r>
                  <a:rPr lang="es-MX" sz="1400" dirty="0"/>
                  <a:t>​en posición y corriente, y reduciendo la constante de tiempo </a:t>
                </a:r>
                <a:r>
                  <a:rPr lang="es-AR" sz="1400" noProof="0" dirty="0">
                    <a:latin typeface="Calibri"/>
                  </a:rPr>
                  <a:t>τ </a:t>
                </a:r>
                <a:r>
                  <a:rPr lang="es-MX" sz="1400" dirty="0"/>
                  <a:t>del sensor de temperatura  para mitigar la rigidez y extender el tiempo de simulación estable.</a:t>
                </a:r>
              </a:p>
              <a:p>
                <a:pPr algn="just"/>
                <a:endParaRPr lang="es-AR" sz="2000" dirty="0">
                  <a:effectLst/>
                  <a:latin typeface="Times New Roman" panose="02020603050405020304" pitchFamily="18" charset="0"/>
                  <a:ea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CFF3FB85-0778-42B7-B56F-EEF1354A91C2}"/>
                  </a:ext>
                </a:extLst>
              </p:cNvPr>
              <p:cNvSpPr txBox="1">
                <a:spLocks noRot="1" noChangeAspect="1" noMove="1" noResize="1" noEditPoints="1" noAdjustHandles="1" noChangeArrowheads="1" noChangeShapeType="1" noTextEdit="1"/>
              </p:cNvSpPr>
              <p:nvPr/>
            </p:nvSpPr>
            <p:spPr>
              <a:xfrm>
                <a:off x="274320" y="5128388"/>
                <a:ext cx="12041171" cy="1477328"/>
              </a:xfrm>
              <a:prstGeom prst="rect">
                <a:avLst/>
              </a:prstGeom>
              <a:blipFill>
                <a:blip r:embed="rId2"/>
                <a:stretch>
                  <a:fillRect l="-152" t="-412"/>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CF669D34-8448-41D8-AD09-3D028D326B05}"/>
              </a:ext>
            </a:extLst>
          </p:cNvPr>
          <p:cNvPicPr/>
          <p:nvPr/>
        </p:nvPicPr>
        <p:blipFill>
          <a:blip r:embed="rId3"/>
          <a:srcRect/>
          <a:stretch/>
        </p:blipFill>
        <p:spPr>
          <a:xfrm>
            <a:off x="274320" y="781765"/>
            <a:ext cx="5346304" cy="3853453"/>
          </a:xfrm>
          <a:prstGeom prst="rect">
            <a:avLst/>
          </a:prstGeom>
        </p:spPr>
      </p:pic>
      <p:pic>
        <p:nvPicPr>
          <p:cNvPr id="15" name="Imagen 14">
            <a:extLst>
              <a:ext uri="{FF2B5EF4-FFF2-40B4-BE49-F238E27FC236}">
                <a16:creationId xmlns:a16="http://schemas.microsoft.com/office/drawing/2014/main" id="{4C9E71E1-51C5-4EAD-8AA2-534D5FF9DBED}"/>
              </a:ext>
            </a:extLst>
          </p:cNvPr>
          <p:cNvPicPr/>
          <p:nvPr/>
        </p:nvPicPr>
        <p:blipFill>
          <a:blip r:embed="rId4"/>
          <a:srcRect/>
          <a:stretch/>
        </p:blipFill>
        <p:spPr>
          <a:xfrm>
            <a:off x="6096000" y="765842"/>
            <a:ext cx="5478636" cy="3853453"/>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4042BF6-315E-4BCB-9041-00FBBAAFC850}"/>
                  </a:ext>
                </a:extLst>
              </p:cNvPr>
              <p:cNvSpPr txBox="1"/>
              <p:nvPr/>
            </p:nvSpPr>
            <p:spPr>
              <a:xfrm>
                <a:off x="853837" y="4619295"/>
                <a:ext cx="4464767"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69—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6" name="CuadroTexto 15">
                <a:extLst>
                  <a:ext uri="{FF2B5EF4-FFF2-40B4-BE49-F238E27FC236}">
                    <a16:creationId xmlns:a16="http://schemas.microsoft.com/office/drawing/2014/main" id="{94042BF6-315E-4BCB-9041-00FBBAAFC850}"/>
                  </a:ext>
                </a:extLst>
              </p:cNvPr>
              <p:cNvSpPr txBox="1">
                <a:spLocks noRot="1" noChangeAspect="1" noMove="1" noResize="1" noEditPoints="1" noAdjustHandles="1" noChangeArrowheads="1" noChangeShapeType="1" noTextEdit="1"/>
              </p:cNvSpPr>
              <p:nvPr/>
            </p:nvSpPr>
            <p:spPr>
              <a:xfrm>
                <a:off x="853837" y="4619295"/>
                <a:ext cx="4464767" cy="267253"/>
              </a:xfrm>
              <a:prstGeom prst="rect">
                <a:avLst/>
              </a:prstGeom>
              <a:blipFill>
                <a:blip r:embed="rId5"/>
                <a:stretch>
                  <a:fillRect b="-136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20ED1C2-BA7D-4666-98A6-17E5784DF0EA}"/>
                  </a:ext>
                </a:extLst>
              </p:cNvPr>
              <p:cNvSpPr txBox="1"/>
              <p:nvPr/>
            </p:nvSpPr>
            <p:spPr>
              <a:xfrm>
                <a:off x="6927803" y="4635218"/>
                <a:ext cx="404025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70—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20</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7" name="CuadroTexto 16">
                <a:extLst>
                  <a:ext uri="{FF2B5EF4-FFF2-40B4-BE49-F238E27FC236}">
                    <a16:creationId xmlns:a16="http://schemas.microsoft.com/office/drawing/2014/main" id="{B20ED1C2-BA7D-4666-98A6-17E5784DF0EA}"/>
                  </a:ext>
                </a:extLst>
              </p:cNvPr>
              <p:cNvSpPr txBox="1">
                <a:spLocks noRot="1" noChangeAspect="1" noMove="1" noResize="1" noEditPoints="1" noAdjustHandles="1" noChangeArrowheads="1" noChangeShapeType="1" noTextEdit="1"/>
              </p:cNvSpPr>
              <p:nvPr/>
            </p:nvSpPr>
            <p:spPr>
              <a:xfrm>
                <a:off x="6927803" y="4635218"/>
                <a:ext cx="4040254"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60A39584-7769-4FBA-9E21-F0365D4083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D37AEF7-A22D-40F4-BB5C-7304EBB9794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784484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943523" y="5296495"/>
                <a:ext cx="4232239" cy="44390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4000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943523" y="5296495"/>
                <a:ext cx="4232239" cy="443904"/>
              </a:xfrm>
              <a:prstGeom prst="rect">
                <a:avLst/>
              </a:prstGeom>
              <a:blipFill>
                <a:blip r:embed="rId2"/>
                <a:stretch>
                  <a:fillRect/>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26BD677C-BE44-49FA-82D5-6BD93CD6D046}"/>
              </a:ext>
            </a:extLst>
          </p:cNvPr>
          <p:cNvPicPr/>
          <p:nvPr/>
        </p:nvPicPr>
        <p:blipFill>
          <a:blip r:embed="rId3">
            <a:extLst>
              <a:ext uri="{28A0092B-C50C-407E-A947-70E740481C1C}">
                <a14:useLocalDpi xmlns:a14="http://schemas.microsoft.com/office/drawing/2010/main" val="0"/>
              </a:ext>
            </a:extLst>
          </a:blip>
          <a:stretch>
            <a:fillRect/>
          </a:stretch>
        </p:blipFill>
        <p:spPr>
          <a:xfrm>
            <a:off x="2786435" y="795392"/>
            <a:ext cx="5876797" cy="4501103"/>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448589" y="5731678"/>
                <a:ext cx="12022317" cy="379271"/>
              </a:xfrm>
              <a:prstGeom prst="rect">
                <a:avLst/>
              </a:prstGeom>
              <a:noFill/>
            </p:spPr>
            <p:txBody>
              <a:bodyPr wrap="square">
                <a:spAutoFit/>
              </a:bodyPr>
              <a:lstStyle/>
              <a:p>
                <a:pPr>
                  <a:lnSpc>
                    <a:spcPct val="107000"/>
                  </a:lnSpc>
                  <a:spcAft>
                    <a:spcPts val="800"/>
                  </a:spcAft>
                </a:pPr>
                <a:r>
                  <a:rPr lang="es-AR" sz="1600" dirty="0">
                    <a:effectLst/>
                    <a:latin typeface="Calibri" panose="020F0502020204030204" pitchFamily="34" charset="0"/>
                    <a:ea typeface="Calibri" panose="020F0502020204030204" pitchFamily="34" charset="0"/>
                    <a:cs typeface="Times New Roman" panose="02020603050405020304" pitchFamily="18" charset="0"/>
                  </a:rPr>
                  <a:t>Al comparar con la frecuencia </a:t>
                </a:r>
                <a14:m>
                  <m:oMath xmlns:m="http://schemas.openxmlformats.org/officeDocument/2006/math">
                    <m:sSub>
                      <m:sSubPr>
                        <m:ctrlPr>
                          <a:rPr lang="es-AR"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n</m:t>
                        </m:r>
                        <m:r>
                          <a:rPr lang="es-AR" sz="1600">
                            <a:effectLst/>
                            <a:latin typeface="Cambria Math" panose="02040503050406030204" pitchFamily="18" charset="0"/>
                            <a:ea typeface="Calibri" panose="020F0502020204030204" pitchFamily="34" charset="0"/>
                            <a:cs typeface="Times New Roman" panose="02020603050405020304" pitchFamily="18" charset="0"/>
                          </a:rPr>
                          <m:t>_</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pos</m:t>
                        </m:r>
                      </m:sub>
                    </m:sSub>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a:effectLst/>
                        <a:latin typeface="Cambria Math" panose="02040503050406030204" pitchFamily="18" charset="0"/>
                        <a:ea typeface="Calibri" panose="020F0502020204030204" pitchFamily="34" charset="0"/>
                        <a:cs typeface="Times New Roman" panose="02020603050405020304" pitchFamily="18" charset="0"/>
                      </a:rPr>
                      <m:t>6</m:t>
                    </m:r>
                    <m:r>
                      <a:rPr lang="es-AR" sz="1600" i="1">
                        <a:effectLst/>
                        <a:latin typeface="Cambria Math" panose="02040503050406030204" pitchFamily="18" charset="0"/>
                        <a:ea typeface="Calibri" panose="020F0502020204030204" pitchFamily="34" charset="0"/>
                        <a:cs typeface="Times New Roman" panose="02020603050405020304" pitchFamily="18" charset="0"/>
                      </a:rPr>
                      <m:t>000</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no notamos diferencias apreciables, por lo que no exige mayor resolución.</a:t>
                </a:r>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448589" y="5731678"/>
                <a:ext cx="12022317" cy="379271"/>
              </a:xfrm>
              <a:prstGeom prst="rect">
                <a:avLst/>
              </a:prstGeom>
              <a:blipFill>
                <a:blip r:embed="rId4"/>
                <a:stretch>
                  <a:fillRect l="-304" b="-16129"/>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325C8D78-021C-487A-99CA-523FDE6349B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EF997396-FF3F-415B-BA53-32C7ACB9895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9220450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924222" y="4569739"/>
                <a:ext cx="4232239" cy="27462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=4000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924222" y="4569739"/>
                <a:ext cx="4232239" cy="274627"/>
              </a:xfrm>
              <a:prstGeom prst="rect">
                <a:avLst/>
              </a:prstGeom>
              <a:blipFill>
                <a:blip r:embed="rId2"/>
                <a:stretch>
                  <a:fillRect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C65AA96-C107-4A9B-8C3B-6F430F0CE1DC}"/>
                  </a:ext>
                </a:extLst>
              </p:cNvPr>
              <p:cNvSpPr txBox="1"/>
              <p:nvPr/>
            </p:nvSpPr>
            <p:spPr>
              <a:xfrm>
                <a:off x="6960040" y="4554092"/>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6960040" y="4554092"/>
                <a:ext cx="4040254" cy="276742"/>
              </a:xfrm>
              <a:prstGeom prst="rect">
                <a:avLst/>
              </a:prstGeom>
              <a:blipFill>
                <a:blip r:embed="rId3"/>
                <a:stretch>
                  <a:fillRect b="-11111"/>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269480" y="5364017"/>
            <a:ext cx="12022317" cy="338554"/>
          </a:xfrm>
          <a:prstGeom prst="rect">
            <a:avLst/>
          </a:prstGeom>
          <a:noFill/>
        </p:spPr>
        <p:txBody>
          <a:bodyPr wrap="square">
            <a:spAutoFit/>
          </a:bodyPr>
          <a:lstStyle/>
          <a:p>
            <a:r>
              <a:rPr lang="es-AR" sz="1600" dirty="0"/>
              <a:t>Para el caso de la velocidad, se nota una leve mejora en la estabilidad al triplicar la frecuencia.</a:t>
            </a:r>
          </a:p>
        </p:txBody>
      </p:sp>
      <p:pic>
        <p:nvPicPr>
          <p:cNvPr id="17" name="Imagen 16">
            <a:extLst>
              <a:ext uri="{FF2B5EF4-FFF2-40B4-BE49-F238E27FC236}">
                <a16:creationId xmlns:a16="http://schemas.microsoft.com/office/drawing/2014/main" id="{B00F16F4-E8F7-4A3D-AE3E-48E99990D636}"/>
              </a:ext>
            </a:extLst>
          </p:cNvPr>
          <p:cNvPicPr/>
          <p:nvPr/>
        </p:nvPicPr>
        <p:blipFill>
          <a:blip r:embed="rId4"/>
          <a:srcRect/>
          <a:stretch/>
        </p:blipFill>
        <p:spPr>
          <a:xfrm>
            <a:off x="261043" y="849634"/>
            <a:ext cx="5259420" cy="3704458"/>
          </a:xfrm>
          <a:prstGeom prst="rect">
            <a:avLst/>
          </a:prstGeom>
        </p:spPr>
      </p:pic>
      <p:pic>
        <p:nvPicPr>
          <p:cNvPr id="26" name="Imagen 25">
            <a:extLst>
              <a:ext uri="{FF2B5EF4-FFF2-40B4-BE49-F238E27FC236}">
                <a16:creationId xmlns:a16="http://schemas.microsoft.com/office/drawing/2014/main" id="{28678D3F-A963-4A96-A807-9F74A0FBE801}"/>
              </a:ext>
            </a:extLst>
          </p:cNvPr>
          <p:cNvPicPr/>
          <p:nvPr/>
        </p:nvPicPr>
        <p:blipFill>
          <a:blip r:embed="rId5"/>
          <a:srcRect/>
          <a:stretch/>
        </p:blipFill>
        <p:spPr>
          <a:xfrm>
            <a:off x="6095847" y="849634"/>
            <a:ext cx="5371903" cy="3704458"/>
          </a:xfrm>
          <a:prstGeom prst="rect">
            <a:avLst/>
          </a:prstGeom>
        </p:spPr>
      </p:pic>
      <p:sp>
        <p:nvSpPr>
          <p:cNvPr id="11" name="Shape 2">
            <a:extLst>
              <a:ext uri="{FF2B5EF4-FFF2-40B4-BE49-F238E27FC236}">
                <a16:creationId xmlns:a16="http://schemas.microsoft.com/office/drawing/2014/main" id="{A85E4BF2-DEB9-47DA-9AC5-03C2089386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4AEE53A0-3336-41F5-8A04-6DD03ED73B6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724733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141797" y="4012147"/>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74—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141797" y="4012147"/>
                <a:ext cx="4232239"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84688" y="4643596"/>
                <a:ext cx="12022317" cy="188718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temperatura resulta ser la variable más afectada por la dinámica del sensor, lo cual se evidencia claramente en los resultados de simulación. Para lograr un seguimiento adecuado de la señal, sería necesario adoptar valores de constante de tiempo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considerablemente pequeños, lo que implica un sensor con respuesta muy rápida. </a:t>
                </a:r>
              </a:p>
              <a:p>
                <a:pPr algn="just">
                  <a:lnSpc>
                    <a:spcPct val="107000"/>
                  </a:lnSpc>
                  <a:spcBef>
                    <a:spcPts val="600"/>
                  </a:spcBef>
                  <a:spcAft>
                    <a:spcPts val="800"/>
                  </a:spcAft>
                </a:pPr>
                <a:r>
                  <a:rPr lang="es-AR" sz="1400" dirty="0"/>
                  <a:t>El aspecto más relevante es el correcto seguimiento de los valores máximos de temperatura. Para este objetivo, no resulta imprescindible una constante de tiempo tan reducida, lo que permite emplear sensores más simples y de menor costo.</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84688" y="4643596"/>
                <a:ext cx="12022317" cy="1887183"/>
              </a:xfrm>
              <a:prstGeom prst="rect">
                <a:avLst/>
              </a:prstGeom>
              <a:blipFill>
                <a:blip r:embed="rId3"/>
                <a:stretch>
                  <a:fillRect l="-152" t="-324" r="-152"/>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71868927-1F05-46A9-9532-B62231355191}"/>
              </a:ext>
            </a:extLst>
          </p:cNvPr>
          <p:cNvPicPr/>
          <p:nvPr/>
        </p:nvPicPr>
        <p:blipFill>
          <a:blip r:embed="rId4"/>
          <a:srcRect/>
          <a:stretch/>
        </p:blipFill>
        <p:spPr>
          <a:xfrm>
            <a:off x="0" y="813001"/>
            <a:ext cx="3989498" cy="3165997"/>
          </a:xfrm>
          <a:prstGeom prst="rect">
            <a:avLst/>
          </a:prstGeom>
        </p:spPr>
      </p:pic>
      <p:pic>
        <p:nvPicPr>
          <p:cNvPr id="12" name="Imagen 11">
            <a:extLst>
              <a:ext uri="{FF2B5EF4-FFF2-40B4-BE49-F238E27FC236}">
                <a16:creationId xmlns:a16="http://schemas.microsoft.com/office/drawing/2014/main" id="{F55DBAE9-F7CE-4D5E-ABCC-16AE32B3A60F}"/>
              </a:ext>
            </a:extLst>
          </p:cNvPr>
          <p:cNvPicPr/>
          <p:nvPr/>
        </p:nvPicPr>
        <p:blipFill>
          <a:blip r:embed="rId5"/>
          <a:srcRect/>
          <a:stretch/>
        </p:blipFill>
        <p:spPr>
          <a:xfrm>
            <a:off x="3989498" y="792870"/>
            <a:ext cx="4014876" cy="3186128"/>
          </a:xfrm>
          <a:prstGeom prst="rect">
            <a:avLst/>
          </a:prstGeom>
        </p:spPr>
      </p:pic>
      <p:pic>
        <p:nvPicPr>
          <p:cNvPr id="13" name="Imagen 12">
            <a:extLst>
              <a:ext uri="{FF2B5EF4-FFF2-40B4-BE49-F238E27FC236}">
                <a16:creationId xmlns:a16="http://schemas.microsoft.com/office/drawing/2014/main" id="{553E7F1D-45D5-418F-88F2-224B98F55B0F}"/>
              </a:ext>
            </a:extLst>
          </p:cNvPr>
          <p:cNvPicPr/>
          <p:nvPr/>
        </p:nvPicPr>
        <p:blipFill>
          <a:blip r:embed="rId6"/>
          <a:srcRect/>
          <a:stretch/>
        </p:blipFill>
        <p:spPr>
          <a:xfrm>
            <a:off x="8004374" y="792870"/>
            <a:ext cx="4161943" cy="3186128"/>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4131295" y="4025165"/>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75—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4131295" y="4025165"/>
                <a:ext cx="4232239"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F5AE9F1-AD73-49A7-9B24-1304D4F554F0}"/>
                  </a:ext>
                </a:extLst>
              </p:cNvPr>
              <p:cNvSpPr txBox="1"/>
              <p:nvPr/>
            </p:nvSpPr>
            <p:spPr>
              <a:xfrm>
                <a:off x="8479953" y="4046760"/>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76—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MX" b="0" i="1" smtClean="0">
                        <a:latin typeface="Cambria Math" panose="02040503050406030204" pitchFamily="18" charset="0"/>
                      </a:rPr>
                      <m:t>0</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F5AE9F1-AD73-49A7-9B24-1304D4F554F0}"/>
                  </a:ext>
                </a:extLst>
              </p:cNvPr>
              <p:cNvSpPr txBox="1">
                <a:spLocks noRot="1" noChangeAspect="1" noMove="1" noResize="1" noEditPoints="1" noAdjustHandles="1" noChangeArrowheads="1" noChangeShapeType="1" noTextEdit="1"/>
              </p:cNvSpPr>
              <p:nvPr/>
            </p:nvSpPr>
            <p:spPr>
              <a:xfrm>
                <a:off x="8479953" y="4046760"/>
                <a:ext cx="4232239" cy="261610"/>
              </a:xfrm>
              <a:prstGeom prst="rect">
                <a:avLst/>
              </a:prstGeom>
              <a:blipFill>
                <a:blip r:embed="rId8"/>
                <a:stretch>
                  <a:fillRect b="-16279"/>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C8509D-1A86-43E7-8D86-976EBF31EC5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46C00EB-FCA4-4A07-9F4E-966D6A24650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8440913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724682" y="4480186"/>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77—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724682" y="4480186"/>
                <a:ext cx="4554874" cy="267253"/>
              </a:xfrm>
              <a:prstGeom prst="rect">
                <a:avLst/>
              </a:prstGeom>
              <a:blipFill>
                <a:blip r:embed="rId2"/>
                <a:stretch>
                  <a:fillRect b="-13636"/>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84688" y="5019256"/>
            <a:ext cx="12022317" cy="1314271"/>
          </a:xfrm>
          <a:prstGeom prst="rect">
            <a:avLst/>
          </a:prstGeom>
          <a:noFill/>
        </p:spPr>
        <p:txBody>
          <a:bodyPr wrap="square">
            <a:spAutoFit/>
          </a:bodyPr>
          <a:lstStyle/>
          <a:p>
            <a:r>
              <a:rPr lang="es-AR" sz="1400" dirty="0"/>
              <a:t>Para el caso de frecuencia duplicada, la señal presenta valores pico a pico ligeramente más pronunciados respecto al caso en que la frecuencia se triplica. No obstante, las diferencias entre ambos escenarios no resultan significativas.</a:t>
            </a:r>
          </a:p>
          <a:p>
            <a:r>
              <a:rPr lang="es-AR" sz="1400" dirty="0"/>
              <a:t>En consecuencia, puede concluirse que no es estrictamente necesario incrementar excesivamente la frecuencia de corte de los sensores de corriente y posición, siendo posible optar por dispositivos de menor precisión sin comprometer de forma relevante el desempeño global.</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6406683" y="4480187"/>
                <a:ext cx="4609312"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78—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6406683" y="4480187"/>
                <a:ext cx="4609312" cy="267253"/>
              </a:xfrm>
              <a:prstGeom prst="rect">
                <a:avLst/>
              </a:prstGeom>
              <a:blipFill>
                <a:blip r:embed="rId3"/>
                <a:stretch>
                  <a:fillRect b="-13636"/>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4672065E-279F-41D9-85D1-61D7E4FABA3C}"/>
              </a:ext>
            </a:extLst>
          </p:cNvPr>
          <p:cNvPicPr/>
          <p:nvPr/>
        </p:nvPicPr>
        <p:blipFill>
          <a:blip r:embed="rId4"/>
          <a:srcRect/>
          <a:stretch/>
        </p:blipFill>
        <p:spPr>
          <a:xfrm>
            <a:off x="274320" y="820554"/>
            <a:ext cx="5005236" cy="3574107"/>
          </a:xfrm>
          <a:prstGeom prst="rect">
            <a:avLst/>
          </a:prstGeom>
        </p:spPr>
      </p:pic>
      <p:pic>
        <p:nvPicPr>
          <p:cNvPr id="18" name="Imagen 17">
            <a:extLst>
              <a:ext uri="{FF2B5EF4-FFF2-40B4-BE49-F238E27FC236}">
                <a16:creationId xmlns:a16="http://schemas.microsoft.com/office/drawing/2014/main" id="{BB8444B4-B86C-4052-B46A-E8D6917C2D9A}"/>
              </a:ext>
            </a:extLst>
          </p:cNvPr>
          <p:cNvPicPr/>
          <p:nvPr/>
        </p:nvPicPr>
        <p:blipFill>
          <a:blip r:embed="rId5"/>
          <a:srcRect/>
          <a:stretch/>
        </p:blipFill>
        <p:spPr>
          <a:xfrm>
            <a:off x="5907764" y="849332"/>
            <a:ext cx="5192312" cy="3574106"/>
          </a:xfrm>
          <a:prstGeom prst="rect">
            <a:avLst/>
          </a:prstGeom>
        </p:spPr>
      </p:pic>
      <p:sp>
        <p:nvSpPr>
          <p:cNvPr id="11" name="Shape 2">
            <a:extLst>
              <a:ext uri="{FF2B5EF4-FFF2-40B4-BE49-F238E27FC236}">
                <a16:creationId xmlns:a16="http://schemas.microsoft.com/office/drawing/2014/main" id="{50E7B2D0-E5D1-4833-AB58-377488E1066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6F3B043-FEC4-434B-8EA4-1E7E66A1F51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869925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0722" y="116036"/>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65 / ~75</a:t>
            </a:r>
          </a:p>
        </p:txBody>
      </p:sp>
      <mc:AlternateContent xmlns:mc="http://schemas.openxmlformats.org/markup-compatibility/2006" xmlns:a14="http://schemas.microsoft.com/office/drawing/2010/main">
        <mc:Choice Requires="a14">
          <p:sp>
            <p:nvSpPr>
              <p:cNvPr id="7" name="TextBox 6"/>
              <p:cNvSpPr txBox="1"/>
              <p:nvPr/>
            </p:nvSpPr>
            <p:spPr>
              <a:xfrm>
                <a:off x="0" y="736452"/>
                <a:ext cx="12003150"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adopta un modelo aproximado que incluye dos efectos principales: la saturación de tensión y la dinámica asociada al proceso de modulación, la cual se modela mediante un filtro pasa bajos. Las tensiones trifásicas de salida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𝑎𝑠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𝑏𝑠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𝑐𝑠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se encuentran limitadas por la siguiente condición de saturación: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0" y="736452"/>
                <a:ext cx="12003150" cy="523220"/>
              </a:xfrm>
              <a:prstGeom prst="rect">
                <a:avLst/>
              </a:prstGeom>
              <a:blipFill>
                <a:blip r:embed="rId3"/>
                <a:stretch>
                  <a:fillRect l="-152" t="-2326" b="-10465"/>
                </a:stretch>
              </a:blipFill>
            </p:spPr>
            <p:txBody>
              <a:bodyPr/>
              <a:lstStyle/>
              <a:p>
                <a:r>
                  <a:rPr lang="es-AR">
                    <a:noFill/>
                  </a:rPr>
                  <a:t> </a:t>
                </a:r>
              </a:p>
            </p:txBody>
          </p:sp>
        </mc:Fallback>
      </mc:AlternateContent>
      <p:sp>
        <p:nvSpPr>
          <p:cNvPr id="8" name="Rectangle 7"/>
          <p:cNvSpPr/>
          <p:nvPr/>
        </p:nvSpPr>
        <p:spPr>
          <a:xfrm>
            <a:off x="130090" y="1307839"/>
            <a:ext cx="11482790" cy="50267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0" y="1301595"/>
                <a:ext cx="5247586" cy="449226"/>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𝑏𝑠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ar-AE" sz="1400" i="1">
                            <a:solidFill>
                              <a:schemeClr val="tx1"/>
                            </a:solidFill>
                            <a:effectLst/>
                            <a:latin typeface="Cambria Math" panose="02040503050406030204" pitchFamily="18" charset="0"/>
                          </a:rPr>
                        </m:ctrlPr>
                      </m:fPr>
                      <m:num>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e>
                        </m:rad>
                      </m:num>
                      <m:den>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e>
                        </m:rad>
                      </m:den>
                    </m:f>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𝑠𝑙</m:t>
                        </m:r>
                        <m:r>
                          <m:rPr>
                            <m:lit/>
                          </m:rP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_</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chemeClr val="tx1"/>
                    </a:solidFill>
                    <a:latin typeface="Calibri"/>
                  </a:rPr>
                  <a:t> ,</a:t>
                </a:r>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𝑉</m:t>
                        </m:r>
                      </m:e>
                      <m:sub>
                        <m:r>
                          <a:rPr lang="ar-AE" sz="1400" i="1">
                            <a:solidFill>
                              <a:schemeClr val="tx1"/>
                            </a:solidFill>
                            <a:latin typeface="Cambria Math" panose="02040503050406030204" pitchFamily="18" charset="0"/>
                          </a:rPr>
                          <m:t>𝑠𝑙</m:t>
                        </m:r>
                        <m:r>
                          <m:rPr>
                            <m:lit/>
                          </m:rPr>
                          <a:rPr lang="ar-AE" sz="1400" i="1">
                            <a:solidFill>
                              <a:schemeClr val="tx1"/>
                            </a:solidFill>
                            <a:latin typeface="Cambria Math" panose="02040503050406030204" pitchFamily="18" charset="0"/>
                          </a:rPr>
                          <m:t>_</m:t>
                        </m:r>
                        <m:r>
                          <a:rPr lang="ar-AE" sz="1400" i="1">
                            <a:solidFill>
                              <a:schemeClr val="tx1"/>
                            </a:solidFill>
                            <a:latin typeface="Cambria Math" panose="02040503050406030204" pitchFamily="18" charset="0"/>
                          </a:rPr>
                          <m:t>𝑚𝑎𝑥</m:t>
                        </m:r>
                      </m:sub>
                    </m:sSub>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48</m:t>
                    </m:r>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nor/>
                          </m:rPr>
                          <a:rPr lang="es-AR" sz="1400">
                            <a:solidFill>
                              <a:schemeClr val="tx1"/>
                            </a:solidFill>
                          </a:rPr>
                          <m:t>V</m:t>
                        </m:r>
                      </m:e>
                      <m:sub>
                        <m:r>
                          <m:rPr>
                            <m:nor/>
                          </m:rPr>
                          <a:rPr lang="es-AR" sz="1400">
                            <a:solidFill>
                              <a:schemeClr val="tx1"/>
                            </a:solidFill>
                          </a:rPr>
                          <m:t>rms</m:t>
                        </m:r>
                      </m:sub>
                    </m:sSub>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0" y="1301595"/>
                <a:ext cx="5247586" cy="449226"/>
              </a:xfrm>
              <a:prstGeom prst="rect">
                <a:avLst/>
              </a:prstGeom>
              <a:blipFill>
                <a:blip r:embed="rId4"/>
                <a:stretch>
                  <a:fillRect b="-13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62F2501C-F83B-45C0-A72A-B4CA9374833A}"/>
                  </a:ext>
                </a:extLst>
              </p:cNvPr>
              <p:cNvSpPr txBox="1"/>
              <p:nvPr/>
            </p:nvSpPr>
            <p:spPr>
              <a:xfrm>
                <a:off x="0" y="1885599"/>
                <a:ext cx="11873060" cy="1891352"/>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Esta restricción asegura que las tensiones de salida permanezcan dentro de los límites físicos impuestos por la modulación trifásica.</a:t>
                </a:r>
                <a:endParaRPr lang="es-AR" sz="1600" dirty="0">
                  <a:effectLst/>
                  <a:latin typeface="Times New Roman" panose="02020603050405020304" pitchFamily="18" charset="0"/>
                  <a:ea typeface="Times New Roman" panose="02020603050405020304" pitchFamily="18" charset="0"/>
                </a:endParaRPr>
              </a:p>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Adicionalmente, cada una de las tensiones de fase se modela mediante un filtro pasa bajos de segundo orden con ganancia unitaria, de forma análoga a lo realizado para los sensores no ideales. Este filtro permite representar la dinámica del modulador, introduciendo un retardo y limitando el ancho de banda de las tensiones aplicadas.</a:t>
                </a:r>
                <a:endParaRPr lang="es-AR" sz="1600" dirty="0">
                  <a:effectLst/>
                  <a:latin typeface="Times New Roman" panose="02020603050405020304" pitchFamily="18" charset="0"/>
                  <a:ea typeface="Times New Roman" panose="02020603050405020304" pitchFamily="18" charset="0"/>
                </a:endParaRPr>
              </a:p>
              <a:p>
                <a:pPr>
                  <a:lnSpc>
                    <a:spcPct val="107000"/>
                  </a:lnSpc>
                  <a:spcBef>
                    <a:spcPts val="400"/>
                  </a:spcBef>
                  <a:spcAft>
                    <a:spcPts val="4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Para dicho modelo se adoptan los siguientes parámetros:</a:t>
                </a: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Frecuencia natural: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f>
                      <m:fPr>
                        <m:type m:val="lin"/>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den>
                    </m:f>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Factor de amortiguamiento: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𝜁</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62F2501C-F83B-45C0-A72A-B4CA9374833A}"/>
                  </a:ext>
                </a:extLst>
              </p:cNvPr>
              <p:cNvSpPr txBox="1">
                <a:spLocks noRot="1" noChangeAspect="1" noMove="1" noResize="1" noEditPoints="1" noAdjustHandles="1" noChangeArrowheads="1" noChangeShapeType="1" noTextEdit="1"/>
              </p:cNvSpPr>
              <p:nvPr/>
            </p:nvSpPr>
            <p:spPr>
              <a:xfrm>
                <a:off x="0" y="1885599"/>
                <a:ext cx="11873060" cy="1891352"/>
              </a:xfrm>
              <a:prstGeom prst="rect">
                <a:avLst/>
              </a:prstGeom>
              <a:blipFill>
                <a:blip r:embed="rId5"/>
                <a:stretch>
                  <a:fillRect l="-154" t="-322" r="-103" b="-6752"/>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12EAC9BE-EE69-47D9-B205-66C80EEAC87C}"/>
              </a:ext>
            </a:extLst>
          </p:cNvPr>
          <p:cNvPicPr/>
          <p:nvPr/>
        </p:nvPicPr>
        <p:blipFill>
          <a:blip r:embed="rId6"/>
          <a:srcRect/>
          <a:stretch/>
        </p:blipFill>
        <p:spPr>
          <a:xfrm>
            <a:off x="5247586" y="2775020"/>
            <a:ext cx="3785084" cy="3772834"/>
          </a:xfrm>
          <a:prstGeom prst="rect">
            <a:avLst/>
          </a:prstGeom>
        </p:spPr>
      </p:pic>
      <p:sp>
        <p:nvSpPr>
          <p:cNvPr id="25" name="CuadroTexto 24">
            <a:extLst>
              <a:ext uri="{FF2B5EF4-FFF2-40B4-BE49-F238E27FC236}">
                <a16:creationId xmlns:a16="http://schemas.microsoft.com/office/drawing/2014/main" id="{E10430F9-FD11-4D6D-9AA9-8EDC2362C113}"/>
              </a:ext>
            </a:extLst>
          </p:cNvPr>
          <p:cNvSpPr txBox="1"/>
          <p:nvPr/>
        </p:nvSpPr>
        <p:spPr>
          <a:xfrm>
            <a:off x="9003707" y="4290460"/>
            <a:ext cx="3187988"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79— Modulador de tensión no ideal</a:t>
            </a:r>
          </a:p>
        </p:txBody>
      </p:sp>
      <p:sp>
        <p:nvSpPr>
          <p:cNvPr id="12" name="Shape 2">
            <a:extLst>
              <a:ext uri="{FF2B5EF4-FFF2-40B4-BE49-F238E27FC236}">
                <a16:creationId xmlns:a16="http://schemas.microsoft.com/office/drawing/2014/main" id="{9CD9A43E-425E-44CA-9898-70312589551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599C1D2D-E224-4B6A-ACA2-9565EA94229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0805"/>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pic>
        <p:nvPicPr>
          <p:cNvPr id="12" name="Imagen 11">
            <a:extLst>
              <a:ext uri="{FF2B5EF4-FFF2-40B4-BE49-F238E27FC236}">
                <a16:creationId xmlns:a16="http://schemas.microsoft.com/office/drawing/2014/main" id="{8CE8B700-A663-4796-86D1-FCCEA2EF0637}"/>
              </a:ext>
            </a:extLst>
          </p:cNvPr>
          <p:cNvPicPr/>
          <p:nvPr/>
        </p:nvPicPr>
        <p:blipFill>
          <a:blip r:embed="rId2"/>
          <a:srcRect/>
          <a:stretch/>
        </p:blipFill>
        <p:spPr>
          <a:xfrm>
            <a:off x="183177" y="919978"/>
            <a:ext cx="5554744" cy="4075242"/>
          </a:xfrm>
          <a:prstGeom prst="rect">
            <a:avLst/>
          </a:prstGeom>
        </p:spPr>
      </p:pic>
      <p:pic>
        <p:nvPicPr>
          <p:cNvPr id="13" name="Imagen 12">
            <a:extLst>
              <a:ext uri="{FF2B5EF4-FFF2-40B4-BE49-F238E27FC236}">
                <a16:creationId xmlns:a16="http://schemas.microsoft.com/office/drawing/2014/main" id="{33568A11-FE22-4A87-8D15-5347606B3DE8}"/>
              </a:ext>
            </a:extLst>
          </p:cNvPr>
          <p:cNvPicPr/>
          <p:nvPr/>
        </p:nvPicPr>
        <p:blipFill>
          <a:blip r:embed="rId3"/>
          <a:srcRect/>
          <a:stretch/>
        </p:blipFill>
        <p:spPr>
          <a:xfrm>
            <a:off x="6249798" y="919978"/>
            <a:ext cx="5621856" cy="4075242"/>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95220"/>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80—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95220"/>
                <a:ext cx="4554874" cy="267253"/>
              </a:xfrm>
              <a:prstGeom prst="rect">
                <a:avLst/>
              </a:prstGeom>
              <a:blipFill>
                <a:blip r:embed="rId4"/>
                <a:stretch>
                  <a:fillRect b="-136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5057944"/>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=18000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5057944"/>
                <a:ext cx="4554874" cy="267253"/>
              </a:xfrm>
              <a:prstGeom prst="rect">
                <a:avLst/>
              </a:prstGeom>
              <a:blipFill>
                <a:blip r:embed="rId5"/>
                <a:stretch>
                  <a:fillRect b="-13636"/>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CC3B270-7FB9-41C0-8F26-B6E27D8CF48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70F81246-E218-43E2-B959-73110BCD28A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41387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25188"/>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989418"/>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989418"/>
                <a:ext cx="4554874" cy="267253"/>
              </a:xfrm>
              <a:prstGeom prst="rect">
                <a:avLst/>
              </a:prstGeom>
              <a:blipFill>
                <a:blip r:embed="rId3"/>
                <a:stretch>
                  <a:fillRect b="-13636"/>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E4973BD4-0249-42A8-8055-F0CAB6C18447}"/>
              </a:ext>
            </a:extLst>
          </p:cNvPr>
          <p:cNvPicPr/>
          <p:nvPr/>
        </p:nvPicPr>
        <p:blipFill>
          <a:blip r:embed="rId4"/>
          <a:srcRect/>
          <a:stretch/>
        </p:blipFill>
        <p:spPr>
          <a:xfrm>
            <a:off x="391840" y="908744"/>
            <a:ext cx="5391776" cy="3971102"/>
          </a:xfrm>
          <a:prstGeom prst="rect">
            <a:avLst/>
          </a:prstGeom>
        </p:spPr>
      </p:pic>
      <p:pic>
        <p:nvPicPr>
          <p:cNvPr id="16" name="Imagen 15">
            <a:extLst>
              <a:ext uri="{FF2B5EF4-FFF2-40B4-BE49-F238E27FC236}">
                <a16:creationId xmlns:a16="http://schemas.microsoft.com/office/drawing/2014/main" id="{7A7F9AFC-9FF5-4F48-9E06-595323B49044}"/>
              </a:ext>
            </a:extLst>
          </p:cNvPr>
          <p:cNvPicPr/>
          <p:nvPr/>
        </p:nvPicPr>
        <p:blipFill>
          <a:blip r:embed="rId5"/>
          <a:srcRect/>
          <a:stretch/>
        </p:blipFill>
        <p:spPr>
          <a:xfrm>
            <a:off x="6408385" y="893128"/>
            <a:ext cx="5391776" cy="3971102"/>
          </a:xfrm>
          <a:prstGeom prst="rect">
            <a:avLst/>
          </a:prstGeom>
        </p:spPr>
      </p:pic>
      <p:sp>
        <p:nvSpPr>
          <p:cNvPr id="12" name="Shape 2">
            <a:extLst>
              <a:ext uri="{FF2B5EF4-FFF2-40B4-BE49-F238E27FC236}">
                <a16:creationId xmlns:a16="http://schemas.microsoft.com/office/drawing/2014/main" id="{03F873A4-2695-4F27-9435-8C89E6399DC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04B0837-F3DD-4019-A95E-07E441F9485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372119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54687"/>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84—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85—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478297AB-B676-4C5D-B6DB-B38DCA301408}"/>
              </a:ext>
            </a:extLst>
          </p:cNvPr>
          <p:cNvPicPr/>
          <p:nvPr/>
        </p:nvPicPr>
        <p:blipFill>
          <a:blip r:embed="rId4"/>
          <a:srcRect/>
          <a:stretch/>
        </p:blipFill>
        <p:spPr>
          <a:xfrm>
            <a:off x="274320" y="880844"/>
            <a:ext cx="5170135" cy="3736487"/>
          </a:xfrm>
          <a:prstGeom prst="rect">
            <a:avLst/>
          </a:prstGeom>
        </p:spPr>
      </p:pic>
      <p:pic>
        <p:nvPicPr>
          <p:cNvPr id="13" name="Imagen 12">
            <a:extLst>
              <a:ext uri="{FF2B5EF4-FFF2-40B4-BE49-F238E27FC236}">
                <a16:creationId xmlns:a16="http://schemas.microsoft.com/office/drawing/2014/main" id="{ACE9E3A0-B74A-4F2B-B7E1-8009B6134884}"/>
              </a:ext>
            </a:extLst>
          </p:cNvPr>
          <p:cNvPicPr/>
          <p:nvPr/>
        </p:nvPicPr>
        <p:blipFill>
          <a:blip r:embed="rId5"/>
          <a:srcRect/>
          <a:stretch/>
        </p:blipFill>
        <p:spPr>
          <a:xfrm>
            <a:off x="6607450" y="995143"/>
            <a:ext cx="5028534" cy="3622188"/>
          </a:xfrm>
          <a:prstGeom prst="rect">
            <a:avLst/>
          </a:prstGeom>
        </p:spPr>
      </p:pic>
      <p:sp>
        <p:nvSpPr>
          <p:cNvPr id="11" name="Shape 2">
            <a:extLst>
              <a:ext uri="{FF2B5EF4-FFF2-40B4-BE49-F238E27FC236}">
                <a16:creationId xmlns:a16="http://schemas.microsoft.com/office/drawing/2014/main" id="{1DDBC64F-DC1B-4F09-BB50-4286848ECAF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7ACFD22-4DCB-49C8-9CB9-18B18129296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8376162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6641"/>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86—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87—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ACE9E3A0-B74A-4F2B-B7E1-8009B6134884}"/>
              </a:ext>
            </a:extLst>
          </p:cNvPr>
          <p:cNvPicPr/>
          <p:nvPr/>
        </p:nvPicPr>
        <p:blipFill>
          <a:blip r:embed="rId4"/>
          <a:srcRect/>
          <a:stretch/>
        </p:blipFill>
        <p:spPr>
          <a:xfrm>
            <a:off x="6607450" y="1043032"/>
            <a:ext cx="5028534" cy="3556544"/>
          </a:xfrm>
          <a:prstGeom prst="rect">
            <a:avLst/>
          </a:prstGeom>
        </p:spPr>
      </p:pic>
      <p:pic>
        <p:nvPicPr>
          <p:cNvPr id="11" name="Imagen 10">
            <a:extLst>
              <a:ext uri="{FF2B5EF4-FFF2-40B4-BE49-F238E27FC236}">
                <a16:creationId xmlns:a16="http://schemas.microsoft.com/office/drawing/2014/main" id="{B4BB8278-956E-4087-AEE8-6D5AE12D0785}"/>
              </a:ext>
            </a:extLst>
          </p:cNvPr>
          <p:cNvPicPr/>
          <p:nvPr/>
        </p:nvPicPr>
        <p:blipFill>
          <a:blip r:embed="rId5"/>
          <a:srcRect/>
          <a:stretch/>
        </p:blipFill>
        <p:spPr>
          <a:xfrm>
            <a:off x="320040" y="1053233"/>
            <a:ext cx="5028534" cy="3546343"/>
          </a:xfrm>
          <a:prstGeom prst="rect">
            <a:avLst/>
          </a:prstGeom>
        </p:spPr>
      </p:pic>
      <p:sp>
        <p:nvSpPr>
          <p:cNvPr id="12" name="Shape 2">
            <a:extLst>
              <a:ext uri="{FF2B5EF4-FFF2-40B4-BE49-F238E27FC236}">
                <a16:creationId xmlns:a16="http://schemas.microsoft.com/office/drawing/2014/main" id="{F3A8D687-6101-4B62-B00D-5E521EAFA2E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802A1B3-E2DE-48B5-BCFA-A72B89EF8A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079178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7178" y="91479"/>
            <a:ext cx="4901150" cy="415498"/>
          </a:xfrm>
          <a:prstGeom prst="rect">
            <a:avLst/>
          </a:prstGeom>
          <a:noFill/>
        </p:spPr>
        <p:txBody>
          <a:bodyPr wrap="none">
            <a:spAutoFit/>
          </a:bodyPr>
          <a:lstStyle/>
          <a:p>
            <a:pPr algn="l"/>
            <a:r>
              <a:rPr lang="es-AR" sz="2100" b="1" dirty="0">
                <a:solidFill>
                  <a:srgbClr val="FFFFFF"/>
                </a:solidFill>
                <a:latin typeface="Cambria"/>
              </a:rPr>
              <a:t>Sistema completo en tiempo continuo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sp>
        <p:nvSpPr>
          <p:cNvPr id="8" name="Shape 2">
            <a:extLst>
              <a:ext uri="{FF2B5EF4-FFF2-40B4-BE49-F238E27FC236}">
                <a16:creationId xmlns:a16="http://schemas.microsoft.com/office/drawing/2014/main" id="{B20DBDDD-CAF2-4802-AD89-F2BF028F931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01D5CA00-3EB7-4B9F-A894-03874397A09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7" name="Imagen 6">
            <a:extLst>
              <a:ext uri="{FF2B5EF4-FFF2-40B4-BE49-F238E27FC236}">
                <a16:creationId xmlns:a16="http://schemas.microsoft.com/office/drawing/2014/main" id="{AFFDE968-0806-47A4-8194-2B1824A938C1}"/>
              </a:ext>
            </a:extLst>
          </p:cNvPr>
          <p:cNvPicPr>
            <a:picLocks noChangeAspect="1"/>
          </p:cNvPicPr>
          <p:nvPr/>
        </p:nvPicPr>
        <p:blipFill>
          <a:blip r:embed="rId2"/>
          <a:stretch>
            <a:fillRect/>
          </a:stretch>
        </p:blipFill>
        <p:spPr>
          <a:xfrm>
            <a:off x="0" y="1267721"/>
            <a:ext cx="12192000" cy="3002274"/>
          </a:xfrm>
          <a:prstGeom prst="rect">
            <a:avLst/>
          </a:prstGeom>
        </p:spPr>
      </p:pic>
      <p:sp>
        <p:nvSpPr>
          <p:cNvPr id="13" name="CuadroTexto 12">
            <a:extLst>
              <a:ext uri="{FF2B5EF4-FFF2-40B4-BE49-F238E27FC236}">
                <a16:creationId xmlns:a16="http://schemas.microsoft.com/office/drawing/2014/main" id="{7C61CE62-4B26-47F9-8BB0-E82E9732DCE3}"/>
              </a:ext>
            </a:extLst>
          </p:cNvPr>
          <p:cNvSpPr txBox="1"/>
          <p:nvPr/>
        </p:nvSpPr>
        <p:spPr>
          <a:xfrm>
            <a:off x="4254626" y="4269995"/>
            <a:ext cx="4554874"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88— Sistema completo continuo</a:t>
            </a:r>
          </a:p>
          <a:p>
            <a:endParaRPr lang="es-AR" dirty="0"/>
          </a:p>
          <a:p>
            <a:endParaRPr lang="es-AR" dirty="0"/>
          </a:p>
        </p:txBody>
      </p:sp>
    </p:spTree>
    <p:extLst>
      <p:ext uri="{BB962C8B-B14F-4D97-AF65-F5344CB8AC3E}">
        <p14:creationId xmlns:p14="http://schemas.microsoft.com/office/powerpoint/2010/main" val="27392846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Diseño final y discretización</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Sistema continuo completo · Tustin · Validación del controlador discreto</a:t>
            </a:r>
          </a:p>
        </p:txBody>
      </p:sp>
      <p:sp>
        <p:nvSpPr>
          <p:cNvPr id="5" name="Shape 4">
            <a:extLst>
              <a:ext uri="{FF2B5EF4-FFF2-40B4-BE49-F238E27FC236}">
                <a16:creationId xmlns:a16="http://schemas.microsoft.com/office/drawing/2014/main" id="{1F9414B9-10F4-4036-B821-DE35287CE68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218"/>
            <a:ext cx="8232125" cy="415498"/>
          </a:xfrm>
          <a:prstGeom prst="rect">
            <a:avLst/>
          </a:prstGeom>
          <a:noFill/>
        </p:spPr>
        <p:txBody>
          <a:bodyPr wrap="none">
            <a:spAutoFit/>
          </a:bodyPr>
          <a:lstStyle/>
          <a:p>
            <a:pPr algn="l"/>
            <a:r>
              <a:rPr lang="es-AR" sz="2100" b="1" dirty="0">
                <a:solidFill>
                  <a:srgbClr val="FFFFFF"/>
                </a:solidFill>
                <a:latin typeface="Cambria"/>
              </a:rPr>
              <a:t>Sistema continuo completo — Parámetros finales del controlador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67 / ~75</a:t>
            </a:r>
          </a:p>
        </p:txBody>
      </p:sp>
      <p:sp>
        <p:nvSpPr>
          <p:cNvPr id="13" name="CuadroTexto 12">
            <a:extLst>
              <a:ext uri="{FF2B5EF4-FFF2-40B4-BE49-F238E27FC236}">
                <a16:creationId xmlns:a16="http://schemas.microsoft.com/office/drawing/2014/main" id="{80E6232C-4CE1-44D3-81B4-072AE205783C}"/>
              </a:ext>
            </a:extLst>
          </p:cNvPr>
          <p:cNvSpPr txBox="1"/>
          <p:nvPr/>
        </p:nvSpPr>
        <p:spPr>
          <a:xfrm>
            <a:off x="274320" y="878799"/>
            <a:ext cx="11795759" cy="830997"/>
          </a:xfrm>
          <a:prstGeom prst="rect">
            <a:avLst/>
          </a:prstGeom>
          <a:noFill/>
        </p:spPr>
        <p:txBody>
          <a:bodyPr wrap="square">
            <a:spAutoFit/>
          </a:bodyPr>
          <a:lstStyle/>
          <a:p>
            <a:pPr algn="just"/>
            <a:r>
              <a:rPr lang="es-AR" sz="1600" dirty="0">
                <a:effectLst/>
                <a:latin typeface="Calibri" panose="020F0502020204030204" pitchFamily="34" charset="0"/>
                <a:ea typeface="Times New Roman" panose="02020603050405020304" pitchFamily="18" charset="0"/>
              </a:rPr>
              <a:t>El controlador completo integra, en orden, los bloques desarrollados a lo largo del trabajo: set-point, observador aumentado con acción integral, PID externo, modulador de torque y lazos de corriente. Todos los parámetros se conservan sin modificación al pasar a tiempo discreto. Resumen de parámetros:</a:t>
            </a:r>
            <a:endParaRPr lang="es-AR"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𝑏</m:t>
                                    </m:r>
                                  </m:e>
                                  <m:sub>
                                    <m:r>
                                      <a:rPr lang="es-AR" sz="1400">
                                        <a:effectLst/>
                                        <a:latin typeface="Cambria Math" panose="02040503050406030204" pitchFamily="18" charset="0"/>
                                      </a:rPr>
                                      <m:t>𝑎</m:t>
                                    </m:r>
                                  </m:sub>
                                </m:sSub>
                                <m:r>
                                  <a:rPr lang="es-AR" sz="1400">
                                    <a:effectLst/>
                                    <a:latin typeface="Cambria Math" panose="02040503050406030204" pitchFamily="18" charset="0"/>
                                  </a:rPr>
                                  <m:t>=0.03957</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𝑠𝑎</m:t>
                                    </m:r>
                                  </m:sub>
                                </m:sSub>
                                <m:r>
                                  <a:rPr lang="es-AR" sz="1400">
                                    <a:effectLst/>
                                    <a:latin typeface="Cambria Math" panose="02040503050406030204" pitchFamily="18" charset="0"/>
                                  </a:rPr>
                                  <m:t>=31.6556</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𝑠𝑖𝑎</m:t>
                                    </m:r>
                                  </m:sub>
                                </m:sSub>
                                <m:r>
                                  <a:rPr lang="es-AR" sz="1400">
                                    <a:effectLst/>
                                    <a:latin typeface="Cambria Math" panose="02040503050406030204" pitchFamily="18" charset="0"/>
                                  </a:rPr>
                                  <m:t>=10129.78</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𝑘</m:t>
                                    </m:r>
                                  </m:e>
                                  <m:sub>
                                    <m:r>
                                      <a:rPr lang="es-AR" sz="1400">
                                        <a:effectLst/>
                                        <a:latin typeface="Cambria Math" panose="02040503050406030204" pitchFamily="18" charset="0"/>
                                      </a:rPr>
                                      <m:t>𝜃</m:t>
                                    </m:r>
                                    <m:r>
                                      <a:rPr lang="es-AR" sz="1400">
                                        <a:effectLst/>
                                        <a:latin typeface="Cambria Math" panose="02040503050406030204" pitchFamily="18" charset="0"/>
                                      </a:rPr>
                                      <m:t>​</m:t>
                                    </m:r>
                                  </m:sub>
                                </m:sSub>
                                <m:r>
                                  <a:rPr lang="es-AR" sz="1400">
                                    <a:effectLst/>
                                    <a:latin typeface="Cambria Math" panose="02040503050406030204" pitchFamily="18" charset="0"/>
                                  </a:rPr>
                                  <m:t>=9.6×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3</m:t>
                                    </m:r>
                                  </m:sup>
                                </m:sSup>
                                <m:r>
                                  <a:rPr lang="es-AR" sz="1400">
                                    <a:effectLst/>
                                    <a:latin typeface="Cambria Math" panose="02040503050406030204" pitchFamily="18" charset="0"/>
                                  </a:rPr>
                                  <m:t>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𝜔</m:t>
                                    </m:r>
                                    <m:r>
                                      <a:rPr lang="es-AR" sz="1400">
                                        <a:effectLst/>
                                        <a:latin typeface="Cambria Math" panose="02040503050406030204" pitchFamily="18" charset="0"/>
                                      </a:rPr>
                                      <m:t>​</m:t>
                                    </m:r>
                                  </m:sub>
                                </m:sSub>
                                <m:r>
                                  <a:rPr lang="es-AR" sz="1400">
                                    <a:effectLst/>
                                    <a:latin typeface="Cambria Math" panose="02040503050406030204" pitchFamily="18" charset="0"/>
                                  </a:rPr>
                                  <m:t>=3.072×</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7</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2</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𝑖</m:t>
                                    </m:r>
                                  </m:sub>
                                </m:sSub>
                                <m:r>
                                  <a:rPr lang="es-AR" sz="1400">
                                    <a:effectLst/>
                                    <a:latin typeface="Cambria Math" panose="02040503050406030204" pitchFamily="18" charset="0"/>
                                  </a:rPr>
                                  <m:t>=3.2768×</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10</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3</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𝑅</m:t>
                                    </m:r>
                                  </m:e>
                                  <m:sub>
                                    <m:r>
                                      <a:rPr lang="es-AR" sz="1400">
                                        <a:effectLst/>
                                        <a:latin typeface="Cambria Math" panose="02040503050406030204" pitchFamily="18" charset="0"/>
                                      </a:rPr>
                                      <m:t>𝑞</m:t>
                                    </m:r>
                                  </m:sub>
                                  <m:sup>
                                    <m:r>
                                      <a:rPr lang="es-AR" sz="1400">
                                        <a:effectLst/>
                                        <a:latin typeface="Cambria Math" panose="02040503050406030204" pitchFamily="18" charset="0"/>
                                      </a:rPr>
                                      <m:t>′</m:t>
                                    </m:r>
                                  </m:sup>
                                </m:sSubSup>
                                <m:r>
                                  <a:rPr lang="es-AR" sz="1400">
                                    <a:effectLst/>
                                    <a:latin typeface="Cambria Math" panose="02040503050406030204" pitchFamily="18" charset="0"/>
                                  </a:rPr>
                                  <m:t>=29 </m:t>
                                </m:r>
                                <m:r>
                                  <a:rPr lang="es-AR" sz="1400">
                                    <a:effectLst/>
                                    <a:latin typeface="Cambria Math" panose="02040503050406030204" pitchFamily="18" charset="0"/>
                                  </a:rPr>
                                  <m:t>𝛺</m:t>
                                </m:r>
                                <m:r>
                                  <a:rPr lang="es-AR" sz="1400">
                                    <a:effectLst/>
                                    <a:latin typeface="Cambria Math" panose="02040503050406030204" pitchFamily="18" charset="0"/>
                                  </a:rPr>
                                  <m:t>,</m:t>
                                </m:r>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 </m:t>
                                    </m:r>
                                    <m:r>
                                      <a:rPr lang="es-AR" sz="1400">
                                        <a:effectLst/>
                                        <a:latin typeface="Cambria Math" panose="02040503050406030204" pitchFamily="18" charset="0"/>
                                      </a:rPr>
                                      <m:t>𝑅</m:t>
                                    </m:r>
                                  </m:e>
                                  <m:sub>
                                    <m:r>
                                      <a:rPr lang="es-AR" sz="1400">
                                        <a:effectLst/>
                                        <a:latin typeface="Cambria Math" panose="02040503050406030204" pitchFamily="18" charset="0"/>
                                      </a:rPr>
                                      <m:t>𝑑</m:t>
                                    </m:r>
                                  </m:sub>
                                  <m:sup>
                                    <m:r>
                                      <a:rPr lang="es-AR" sz="1400">
                                        <a:effectLst/>
                                        <a:latin typeface="Cambria Math" panose="02040503050406030204" pitchFamily="18" charset="0"/>
                                      </a:rPr>
                                      <m:t>′</m:t>
                                    </m:r>
                                  </m:sup>
                                </m:sSubSup>
                                <m:r>
                                  <a:rPr lang="es-AR" sz="1400">
                                    <a:effectLst/>
                                    <a:latin typeface="Cambria Math" panose="02040503050406030204" pitchFamily="18" charset="0"/>
                                  </a:rPr>
                                  <m:t>=33 </m:t>
                                </m:r>
                                <m:r>
                                  <a:rPr lang="es-AR" sz="1400">
                                    <a:effectLst/>
                                    <a:latin typeface="Cambria Math" panose="02040503050406030204" pitchFamily="18" charset="0"/>
                                  </a:rPr>
                                  <m:t>𝛺</m:t>
                                </m:r>
                                <m:r>
                                  <a:rPr lang="es-AR" sz="1400">
                                    <a:effectLst/>
                                    <a:latin typeface="Cambria Math" panose="02040503050406030204" pitchFamily="18" charset="0"/>
                                  </a:rPr>
                                  <m:t>, </m:t>
                                </m:r>
                                <m:r>
                                  <a:rPr lang="es-AR" sz="1400">
                                    <a:effectLst/>
                                    <a:latin typeface="Cambria Math" panose="02040503050406030204" pitchFamily="18" charset="0"/>
                                  </a:rPr>
                                  <m:t>𝑐𝑜𝑛</m:t>
                                </m:r>
                                <m:r>
                                  <a:rPr lang="es-AR" sz="1400">
                                    <a:effectLst/>
                                    <a:latin typeface="Cambria Math" panose="02040503050406030204" pitchFamily="18" charset="0"/>
                                  </a:rPr>
                                  <m:t> </m:t>
                                </m:r>
                                <m:r>
                                  <a:rPr lang="es-AR" sz="1400">
                                    <a:effectLst/>
                                    <a:latin typeface="Cambria Math" panose="02040503050406030204" pitchFamily="18" charset="0"/>
                                  </a:rPr>
                                  <m:t>𝑝𝑜𝑙𝑜</m:t>
                                </m:r>
                                <m:r>
                                  <a:rPr lang="es-AR" sz="1400">
                                    <a:effectLst/>
                                    <a:latin typeface="Cambria Math" panose="02040503050406030204" pitchFamily="18" charset="0"/>
                                  </a:rPr>
                                  <m:t> </m:t>
                                </m:r>
                                <m:r>
                                  <a:rPr lang="es-AR" sz="1400">
                                    <a:effectLst/>
                                    <a:latin typeface="Cambria Math" panose="02040503050406030204" pitchFamily="18" charset="0"/>
                                  </a:rPr>
                                  <m:t>𝑒𝑛</m:t>
                                </m:r>
                                <m:r>
                                  <a:rPr lang="es-AR" sz="1400">
                                    <a:effectLst/>
                                    <a:latin typeface="Cambria Math" panose="02040503050406030204" pitchFamily="18" charset="0"/>
                                  </a:rPr>
                                  <m:t> </m:t>
                                </m:r>
                                <m:r>
                                  <a:rPr lang="es-AR" sz="1400">
                                    <a:effectLst/>
                                    <a:latin typeface="Cambria Math" panose="02040503050406030204" pitchFamily="18" charset="0"/>
                                  </a:rPr>
                                  <m:t>𝑝</m:t>
                                </m:r>
                                <m:r>
                                  <a:rPr lang="es-AR" sz="1400">
                                    <a:effectLst/>
                                    <a:latin typeface="Cambria Math" panose="02040503050406030204" pitchFamily="18" charset="0"/>
                                  </a:rPr>
                                  <m:t>=−5000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1°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36480092"/>
                      </a:ext>
                    </a:extLst>
                  </a:tr>
                </a:tbl>
              </a:graphicData>
            </a:graphic>
          </p:graphicFrame>
        </mc:Choice>
        <mc:Fallback xmlns="">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7009" r="-300" b="-520561"/>
                          </a:stretch>
                        </a:blipFill>
                      </a:tcPr>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157009" r="-300" b="-420561"/>
                          </a:stretch>
                        </a:blipFill>
                      </a:tcPr>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335366" r="-300" b="-448780"/>
                          </a:stretch>
                        </a:blipFill>
                      </a:tcPr>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446250" r="-300" b="-360000"/>
                          </a:stretch>
                        </a:blipFill>
                      </a:tcPr>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20238" r="-300" b="-242857"/>
                          </a:stretch>
                        </a:blipFill>
                      </a:tcPr>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627711" r="-300" b="-145783"/>
                          </a:stretch>
                        </a:blipFill>
                      </a:tcPr>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745679" r="-300" b="-49383"/>
                          </a:stretch>
                        </a:blipFill>
                      </a:tcPr>
                    </a:tc>
                    <a:extLst>
                      <a:ext uri="{0D108BD9-81ED-4DB2-BD59-A6C34878D82A}">
                        <a16:rowId xmlns:a16="http://schemas.microsoft.com/office/drawing/2014/main" val="1736480092"/>
                      </a:ext>
                    </a:extLst>
                  </a:tr>
                </a:tbl>
              </a:graphicData>
            </a:graphic>
          </p:graphicFrame>
        </mc:Fallback>
      </mc:AlternateContent>
      <p:sp>
        <p:nvSpPr>
          <p:cNvPr id="9" name="Shape 2">
            <a:extLst>
              <a:ext uri="{FF2B5EF4-FFF2-40B4-BE49-F238E27FC236}">
                <a16:creationId xmlns:a16="http://schemas.microsoft.com/office/drawing/2014/main" id="{F1A018D6-6668-4EB9-851C-AB2AB998A90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A29213D-9EFF-4B15-A8B4-277241B7DB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193"/>
            <a:ext cx="11551615" cy="658368"/>
          </a:xfrm>
          <a:prstGeom prst="rect">
            <a:avLst/>
          </a:prstGeom>
          <a:noFill/>
        </p:spPr>
        <p:txBody>
          <a:bodyPr wrap="none">
            <a:spAutoFit/>
          </a:bodyPr>
          <a:lstStyle/>
          <a:p>
            <a:pPr algn="l"/>
            <a:r>
              <a:rPr sz="2100" b="1">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7" name="TextBox 6"/>
          <p:cNvSpPr txBox="1"/>
          <p:nvPr/>
        </p:nvSpPr>
        <p:spPr>
          <a:xfrm>
            <a:off x="71172" y="722376"/>
            <a:ext cx="11551614" cy="307777"/>
          </a:xfrm>
          <a:prstGeom prst="rect">
            <a:avLst/>
          </a:prstGeom>
          <a:noFill/>
        </p:spPr>
        <p:txBody>
          <a:bodyPr wrap="square">
            <a:spAutoFit/>
          </a:bodyPr>
          <a:lstStyle/>
          <a:p>
            <a:pPr algn="l"/>
            <a:r>
              <a:rPr lang="es-MX" sz="1400" b="0" i="0" dirty="0">
                <a:solidFill>
                  <a:srgbClr val="1A1A2E"/>
                </a:solidFill>
                <a:latin typeface="Calibri"/>
              </a:rPr>
              <a:t>Se toma el siguiente periodo de muestreo </a:t>
            </a:r>
            <a:r>
              <a:rPr lang="es-AR" sz="1400" dirty="0">
                <a:effectLst/>
                <a:latin typeface="Calibri" panose="020F0502020204030204" pitchFamily="34" charset="0"/>
                <a:ea typeface="Calibri" panose="020F0502020204030204" pitchFamily="34" charset="0"/>
              </a:rPr>
              <a:t>para minimizar errores de reconstrucción y estimación en el observador</a:t>
            </a:r>
            <a:r>
              <a:rPr lang="es-MX" sz="1400" b="0" i="0" dirty="0">
                <a:solidFill>
                  <a:srgbClr val="1A1A2E"/>
                </a:solidFill>
                <a:latin typeface="Calibri"/>
              </a:rPr>
              <a:t>: </a:t>
            </a:r>
            <a:endParaRPr sz="1400" b="0" i="0" dirty="0">
              <a:solidFill>
                <a:srgbClr val="1A1A2E"/>
              </a:solidFill>
              <a:latin typeface="Calibri"/>
            </a:endParaRPr>
          </a:p>
        </p:txBody>
      </p:sp>
      <p:sp>
        <p:nvSpPr>
          <p:cNvPr id="8" name="Rectangle 7"/>
          <p:cNvSpPr/>
          <p:nvPr/>
        </p:nvSpPr>
        <p:spPr>
          <a:xfrm>
            <a:off x="157427" y="1103305"/>
            <a:ext cx="1168877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63084" y="1121593"/>
                <a:ext cx="11465359" cy="406778"/>
              </a:xfrm>
              <a:prstGeom prst="rect">
                <a:avLst/>
              </a:prstGeom>
              <a:noFill/>
            </p:spPr>
            <p:txBody>
              <a:bodyPr wrap="square">
                <a:spAutoFit/>
              </a:bodyPr>
              <a:lstStyle/>
              <a:p>
                <a:pPr algn="ct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r>
                      <a:rPr lang="es-AR" sz="1400" i="1">
                        <a:effectLst/>
                        <a:latin typeface="Cambria Math" panose="02040503050406030204" pitchFamily="18" charset="0"/>
                        <a:ea typeface="Calibri" panose="020F0502020204030204" pitchFamily="34" charset="0"/>
                        <a:cs typeface="Cambria Math" panose="020405030504060302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𝑐𝑜𝑟𝑟𝑖𝑒𝑛𝑡𝑒</m:t>
                        </m:r>
                      </m:sub>
                    </m:sSub>
                    <m:r>
                      <a:rPr lang="es-AR" sz="1400" i="1">
                        <a:latin typeface="Cambria Math" panose="02040503050406030204" pitchFamily="18" charset="0"/>
                      </a:rPr>
                      <m:t>​=−5000</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r>
                      <a:rPr lang="es-AR" sz="1400" i="1">
                        <a:latin typeface="Cambria Math" panose="02040503050406030204" pitchFamily="18" charset="0"/>
                      </a:rPr>
                      <m:t>​      ⟹     </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𝑚𝑎𝑥</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m:t>
                        </m:r>
                        <m:r>
                          <a:rPr lang="es-AR" sz="1400" i="1">
                            <a:latin typeface="Cambria Math" panose="02040503050406030204" pitchFamily="18" charset="0"/>
                          </a:rPr>
                          <m:t>𝑝</m:t>
                        </m:r>
                        <m:r>
                          <a:rPr lang="es-AR" sz="1400" i="1">
                            <a:latin typeface="Cambria Math" panose="02040503050406030204" pitchFamily="18" charset="0"/>
                          </a:rPr>
                          <m:t>∣</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5000</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​≈796</m:t>
                    </m:r>
                    <m:r>
                      <a:rPr lang="es-AR" sz="1400" i="1">
                        <a:latin typeface="Cambria Math" panose="02040503050406030204" pitchFamily="18" charset="0"/>
                      </a:rPr>
                      <m:t>𝐻𝑧</m:t>
                    </m:r>
                    <m:r>
                      <a:rPr lang="es-MX" sz="1400" b="0" i="1" smtClean="0">
                        <a:latin typeface="Cambria Math" panose="02040503050406030204" pitchFamily="18" charset="0"/>
                      </a:rPr>
                      <m:t>      </m:t>
                    </m:r>
                    <m:r>
                      <a:rPr lang="es-AR" sz="1400" i="1">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m:rPr>
                            <m:sty m:val="p"/>
                          </m:rPr>
                          <a:rPr lang="es-AR" sz="1400">
                            <a:latin typeface="Cambria Math" panose="02040503050406030204" pitchFamily="18" charset="0"/>
                          </a:rPr>
                          <m:t>π</m:t>
                        </m:r>
                      </m:num>
                      <m:den>
                        <m:r>
                          <a:rPr lang="es-AR" sz="1400" i="1">
                            <a:latin typeface="Cambria Math" panose="02040503050406030204" pitchFamily="18" charset="0"/>
                          </a:rPr>
                          <m:t>10⋅5000</m:t>
                        </m:r>
                      </m:den>
                    </m:f>
                    <m:r>
                      <a:rPr lang="es-AR" sz="1400">
                        <a:latin typeface="Cambria Math" panose="02040503050406030204" pitchFamily="18" charset="0"/>
                      </a:rPr>
                      <m:t>≈1.2566×</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−4</m:t>
                        </m:r>
                      </m:sup>
                    </m:sSup>
                    <m:r>
                      <m:rPr>
                        <m:sty m:val="p"/>
                      </m:rPr>
                      <a:rPr lang="es-AR" sz="1400">
                        <a:latin typeface="Cambria Math" panose="02040503050406030204" pitchFamily="18" charset="0"/>
                      </a:rPr>
                      <m:t>s</m:t>
                    </m:r>
                    <m:r>
                      <a:rPr lang="es-MX" sz="1400" b="0" i="1" smtClean="0">
                        <a:latin typeface="Cambria Math" panose="02040503050406030204" pitchFamily="18" charset="0"/>
                      </a:rPr>
                      <m:t>    </m:t>
                    </m:r>
                    <m:r>
                      <a:rPr lang="es-AR" sz="1400" i="1">
                        <a:latin typeface="Cambria Math" panose="02040503050406030204" pitchFamily="18" charset="0"/>
                      </a:rPr>
                      <m:t>⟹</m:t>
                    </m:r>
                    <m:r>
                      <a:rPr lang="es-AR" sz="1400" i="1">
                        <a:latin typeface="Cambria Math" panose="02040503050406030204" pitchFamily="18" charset="0"/>
                      </a:rPr>
                      <m:t>𝑓</m:t>
                    </m:r>
                    <m:r>
                      <a:rPr lang="es-AR" sz="1400" i="1">
                        <a:latin typeface="Cambria Math" panose="02040503050406030204" pitchFamily="18" charset="0"/>
                      </a:rPr>
                      <m:t>≈7958</m:t>
                    </m:r>
                    <m:r>
                      <a:rPr lang="es-AR" sz="1400">
                        <a:latin typeface="Cambria Math" panose="02040503050406030204" pitchFamily="18" charset="0"/>
                      </a:rPr>
                      <m:t> </m:t>
                    </m:r>
                    <m:r>
                      <m:rPr>
                        <m:sty m:val="p"/>
                      </m:rPr>
                      <a:rPr lang="es-AR" sz="1400">
                        <a:latin typeface="Cambria Math" panose="02040503050406030204" pitchFamily="18" charset="0"/>
                      </a:rPr>
                      <m:t>Hz</m:t>
                    </m:r>
                  </m:oMath>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63084" y="1121593"/>
                <a:ext cx="11465359" cy="406778"/>
              </a:xfrm>
              <a:prstGeom prst="rect">
                <a:avLst/>
              </a:prstGeom>
              <a:blipFill>
                <a:blip r:embed="rId2"/>
                <a:stretch>
                  <a:fillRect b="-2985"/>
                </a:stretch>
              </a:blipFill>
            </p:spPr>
            <p:txBody>
              <a:bodyPr/>
              <a:lstStyle/>
              <a:p>
                <a:r>
                  <a:rPr lang="es-AR">
                    <a:noFill/>
                  </a:rPr>
                  <a:t> </a:t>
                </a:r>
              </a:p>
            </p:txBody>
          </p:sp>
        </mc:Fallback>
      </mc:AlternateContent>
      <p:sp>
        <p:nvSpPr>
          <p:cNvPr id="10" name="TextBox 9"/>
          <p:cNvSpPr txBox="1"/>
          <p:nvPr/>
        </p:nvSpPr>
        <p:spPr>
          <a:xfrm>
            <a:off x="0" y="2693250"/>
            <a:ext cx="7772400" cy="338554"/>
          </a:xfrm>
          <a:prstGeom prst="rect">
            <a:avLst/>
          </a:prstGeom>
          <a:noFill/>
        </p:spPr>
        <p:txBody>
          <a:bodyPr wrap="square">
            <a:spAutoFit/>
          </a:bodyPr>
          <a:lstStyle/>
          <a:p>
            <a:pPr algn="l"/>
            <a:r>
              <a:rPr lang="es-MX" sz="1600" b="1" i="0" dirty="0">
                <a:solidFill>
                  <a:srgbClr val="1A3A6B"/>
                </a:solidFill>
                <a:latin typeface="Calibri"/>
              </a:rPr>
              <a:t>Método de Tustin:</a:t>
            </a:r>
            <a:endParaRPr sz="1600" b="1" i="0" dirty="0">
              <a:solidFill>
                <a:srgbClr val="1A3A6B"/>
              </a:solidFill>
              <a:latin typeface="Calibri"/>
            </a:endParaRPr>
          </a:p>
        </p:txBody>
      </p:sp>
      <p:sp>
        <p:nvSpPr>
          <p:cNvPr id="11" name="Rectangle 10"/>
          <p:cNvSpPr/>
          <p:nvPr/>
        </p:nvSpPr>
        <p:spPr>
          <a:xfrm>
            <a:off x="71172" y="3463175"/>
            <a:ext cx="11775028" cy="5029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63951" y="3425632"/>
                <a:ext cx="4056825" cy="49423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s-AR" sz="1400" i="1">
                              <a:effectLst/>
                              <a:latin typeface="Cambria Math" panose="02040503050406030204" pitchFamily="18" charset="0"/>
                            </a:rPr>
                          </m:ctrlPr>
                        </m:fPr>
                        <m:num>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63951" y="3425632"/>
                <a:ext cx="4056825" cy="494238"/>
              </a:xfrm>
              <a:prstGeom prst="rect">
                <a:avLst/>
              </a:prstGeom>
              <a:blipFill>
                <a:blip r:embed="rId3"/>
                <a:stretch>
                  <a:fillRect b="-1235"/>
                </a:stretch>
              </a:blipFill>
            </p:spPr>
            <p:txBody>
              <a:bodyPr/>
              <a:lstStyle/>
              <a:p>
                <a:r>
                  <a:rPr lang="es-AR">
                    <a:noFill/>
                  </a:rPr>
                  <a:t> </a:t>
                </a:r>
              </a:p>
            </p:txBody>
          </p:sp>
        </mc:Fallback>
      </mc:AlternateContent>
      <p:sp>
        <p:nvSpPr>
          <p:cNvPr id="13" name="TextBox 12"/>
          <p:cNvSpPr txBox="1"/>
          <p:nvPr/>
        </p:nvSpPr>
        <p:spPr>
          <a:xfrm>
            <a:off x="101571" y="4070170"/>
            <a:ext cx="11714228"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 diferencia del método de Euler hacia adelante o hacia atrás, Tustin preserva la estabilidad del sistema continuo en el discreto y mantiene la frecuencia natural sin distorsión.</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D25D1D9-9289-400B-A436-B0A1D9670563}"/>
                  </a:ext>
                </a:extLst>
              </p:cNvPr>
              <p:cNvSpPr txBox="1"/>
              <p:nvPr/>
            </p:nvSpPr>
            <p:spPr>
              <a:xfrm>
                <a:off x="71172" y="1724154"/>
                <a:ext cx="11775030" cy="910442"/>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Este valor garantiza que todos los modos dinámicos relevantes del sistema queden representados fielmente en tiempo discreto. </a:t>
                </a:r>
                <a:endParaRPr lang="es-AR" sz="1600" dirty="0">
                  <a:effectLst/>
                  <a:latin typeface="Times New Roman" panose="02020603050405020304" pitchFamily="18" charset="0"/>
                  <a:ea typeface="Times New Roman" panose="02020603050405020304" pitchFamily="18" charset="0"/>
                </a:endParaRPr>
              </a:p>
              <a:p>
                <a:pPr algn="just">
                  <a:spcBef>
                    <a:spcPts val="600"/>
                  </a:spcBef>
                </a:pPr>
                <a:r>
                  <a:rPr lang="es-AR" sz="1400" dirty="0">
                    <a:effectLst/>
                    <a:latin typeface="Calibri" panose="020F0502020204030204" pitchFamily="34" charset="0"/>
                    <a:ea typeface="Times New Roman" panose="02020603050405020304" pitchFamily="18" charset="0"/>
                  </a:rPr>
                  <a:t>Cabe destacar que los polos del observador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𝑜𝑏𝑠</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3200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 y del PID externo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𝑃𝐼𝐷</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800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son considerablemente más lentos que el lazo de corriente, por lo que la elección de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oMath>
                </a14:m>
                <a:r>
                  <a:rPr lang="es-AR" sz="1400" dirty="0">
                    <a:effectLst/>
                    <a:latin typeface="Calibri" panose="020F0502020204030204" pitchFamily="34" charset="0"/>
                    <a:ea typeface="Times New Roman" panose="02020603050405020304" pitchFamily="18" charset="0"/>
                  </a:rPr>
                  <a:t>​ basada en este último resulta suficientemente conservadora para todo 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0" name="CuadroTexto 19">
                <a:extLst>
                  <a:ext uri="{FF2B5EF4-FFF2-40B4-BE49-F238E27FC236}">
                    <a16:creationId xmlns:a16="http://schemas.microsoft.com/office/drawing/2014/main" id="{1D25D1D9-9289-400B-A436-B0A1D9670563}"/>
                  </a:ext>
                </a:extLst>
              </p:cNvPr>
              <p:cNvSpPr txBox="1">
                <a:spLocks noRot="1" noChangeAspect="1" noMove="1" noResize="1" noEditPoints="1" noAdjustHandles="1" noChangeArrowheads="1" noChangeShapeType="1" noTextEdit="1"/>
              </p:cNvSpPr>
              <p:nvPr/>
            </p:nvSpPr>
            <p:spPr>
              <a:xfrm>
                <a:off x="71172" y="1724154"/>
                <a:ext cx="11775030" cy="910442"/>
              </a:xfrm>
              <a:prstGeom prst="rect">
                <a:avLst/>
              </a:prstGeom>
              <a:blipFill>
                <a:blip r:embed="rId4"/>
                <a:stretch>
                  <a:fillRect l="-155" t="-1342" r="-207" b="-604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F982078-5C78-451D-B56C-4C7EE6BEBF04}"/>
                  </a:ext>
                </a:extLst>
              </p:cNvPr>
              <p:cNvSpPr txBox="1"/>
              <p:nvPr/>
            </p:nvSpPr>
            <p:spPr>
              <a:xfrm>
                <a:off x="71171" y="2979692"/>
                <a:ext cx="11775029" cy="424347"/>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método de Tustin reemplaza cada integración continua </a:t>
                </a:r>
                <a14:m>
                  <m:oMath xmlns:m="http://schemas.openxmlformats.org/officeDocument/2006/math">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𝑑𝑥</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la regla trapezoidal:</a:t>
                </a:r>
              </a:p>
            </p:txBody>
          </p:sp>
        </mc:Choice>
        <mc:Fallback xmlns="">
          <p:sp>
            <p:nvSpPr>
              <p:cNvPr id="22" name="CuadroTexto 21">
                <a:extLst>
                  <a:ext uri="{FF2B5EF4-FFF2-40B4-BE49-F238E27FC236}">
                    <a16:creationId xmlns:a16="http://schemas.microsoft.com/office/drawing/2014/main" id="{0F982078-5C78-451D-B56C-4C7EE6BEBF04}"/>
                  </a:ext>
                </a:extLst>
              </p:cNvPr>
              <p:cNvSpPr txBox="1">
                <a:spLocks noRot="1" noChangeAspect="1" noMove="1" noResize="1" noEditPoints="1" noAdjustHandles="1" noChangeArrowheads="1" noChangeShapeType="1" noTextEdit="1"/>
              </p:cNvSpPr>
              <p:nvPr/>
            </p:nvSpPr>
            <p:spPr>
              <a:xfrm>
                <a:off x="71171" y="2979692"/>
                <a:ext cx="11775029" cy="424347"/>
              </a:xfrm>
              <a:prstGeom prst="rect">
                <a:avLst/>
              </a:prstGeom>
              <a:blipFill>
                <a:blip r:embed="rId5"/>
                <a:stretch>
                  <a:fillRect l="-155" b="-4348"/>
                </a:stretch>
              </a:blipFill>
            </p:spPr>
            <p:txBody>
              <a:bodyPr/>
              <a:lstStyle/>
              <a:p>
                <a:r>
                  <a:rPr lang="es-AR">
                    <a:noFill/>
                  </a:rPr>
                  <a:t> </a:t>
                </a:r>
              </a:p>
            </p:txBody>
          </p:sp>
        </mc:Fallback>
      </mc:AlternateContent>
      <p:pic>
        <p:nvPicPr>
          <p:cNvPr id="23" name="Imagen 22">
            <a:extLst>
              <a:ext uri="{FF2B5EF4-FFF2-40B4-BE49-F238E27FC236}">
                <a16:creationId xmlns:a16="http://schemas.microsoft.com/office/drawing/2014/main" id="{AA1A926F-CE10-4BFD-A532-F8A8B1F8F134}"/>
              </a:ext>
            </a:extLst>
          </p:cNvPr>
          <p:cNvPicPr/>
          <p:nvPr/>
        </p:nvPicPr>
        <p:blipFill>
          <a:blip r:embed="rId6"/>
          <a:stretch>
            <a:fillRect/>
          </a:stretch>
        </p:blipFill>
        <p:spPr>
          <a:xfrm>
            <a:off x="3194479" y="4702468"/>
            <a:ext cx="5614670" cy="1221105"/>
          </a:xfrm>
          <a:prstGeom prst="rect">
            <a:avLst/>
          </a:prstGeom>
        </p:spPr>
      </p:pic>
      <p:sp>
        <p:nvSpPr>
          <p:cNvPr id="24" name="CuadroTexto 23">
            <a:extLst>
              <a:ext uri="{FF2B5EF4-FFF2-40B4-BE49-F238E27FC236}">
                <a16:creationId xmlns:a16="http://schemas.microsoft.com/office/drawing/2014/main" id="{42C1B375-B2A8-491B-BFDF-160134613C1A}"/>
              </a:ext>
            </a:extLst>
          </p:cNvPr>
          <p:cNvSpPr txBox="1"/>
          <p:nvPr/>
        </p:nvSpPr>
        <p:spPr>
          <a:xfrm>
            <a:off x="3979221" y="593187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89— Integrador por trapecios</a:t>
            </a:r>
          </a:p>
        </p:txBody>
      </p:sp>
      <p:sp>
        <p:nvSpPr>
          <p:cNvPr id="18" name="Shape 2">
            <a:extLst>
              <a:ext uri="{FF2B5EF4-FFF2-40B4-BE49-F238E27FC236}">
                <a16:creationId xmlns:a16="http://schemas.microsoft.com/office/drawing/2014/main" id="{0088565B-890C-47A8-A875-90A6D3DA455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44A63500-EE49-4377-AAE3-2B1BBA674E7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38B620A1-4024-498B-A692-8C5CEEEC50EC}"/>
              </a:ext>
            </a:extLst>
          </p:cNvPr>
          <p:cNvPicPr/>
          <p:nvPr/>
        </p:nvPicPr>
        <p:blipFill rotWithShape="1">
          <a:blip r:embed="rId2"/>
          <a:srcRect l="242" r="1227"/>
          <a:stretch/>
        </p:blipFill>
        <p:spPr bwMode="auto">
          <a:xfrm>
            <a:off x="5273148" y="4004476"/>
            <a:ext cx="6793905" cy="1975490"/>
          </a:xfrm>
          <a:prstGeom prst="rect">
            <a:avLst/>
          </a:prstGeom>
          <a:ln>
            <a:noFill/>
          </a:ln>
          <a:extLst>
            <a:ext uri="{53640926-AAD7-44D8-BBD7-CCE9431645EC}">
              <a14:shadowObscured xmlns:a14="http://schemas.microsoft.com/office/drawing/2010/main"/>
            </a:ext>
          </a:extLst>
        </p:spPr>
      </p:pic>
      <p:sp>
        <p:nvSpPr>
          <p:cNvPr id="27" name="Rectangle 10">
            <a:extLst>
              <a:ext uri="{FF2B5EF4-FFF2-40B4-BE49-F238E27FC236}">
                <a16:creationId xmlns:a16="http://schemas.microsoft.com/office/drawing/2014/main" id="{731945F5-DBAB-4273-8C1E-F2D6D618DA0A}"/>
              </a:ext>
            </a:extLst>
          </p:cNvPr>
          <p:cNvSpPr/>
          <p:nvPr/>
        </p:nvSpPr>
        <p:spPr>
          <a:xfrm>
            <a:off x="142347" y="3000154"/>
            <a:ext cx="3581241" cy="134672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97883"/>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0" name="TextBox 9"/>
          <p:cNvSpPr txBox="1"/>
          <p:nvPr/>
        </p:nvSpPr>
        <p:spPr>
          <a:xfrm>
            <a:off x="71171" y="691193"/>
            <a:ext cx="7772400" cy="338554"/>
          </a:xfrm>
          <a:prstGeom prst="rect">
            <a:avLst/>
          </a:prstGeom>
          <a:noFill/>
        </p:spPr>
        <p:txBody>
          <a:bodyPr wrap="square">
            <a:spAutoFit/>
          </a:bodyPr>
          <a:lstStyle/>
          <a:p>
            <a:pPr algn="l"/>
            <a:r>
              <a:rPr lang="es-MX" sz="1600" b="1" i="0" dirty="0">
                <a:solidFill>
                  <a:srgbClr val="1A3A6B"/>
                </a:solidFill>
                <a:latin typeface="Calibri"/>
              </a:rPr>
              <a:t>Ecuaciones en diferencias:</a:t>
            </a:r>
            <a:endParaRPr sz="1600" b="1" i="0" dirty="0">
              <a:solidFill>
                <a:srgbClr val="1A3A6B"/>
              </a:solidFill>
              <a:latin typeface="Calibri"/>
            </a:endParaRPr>
          </a:p>
        </p:txBody>
      </p:sp>
      <p:sp>
        <p:nvSpPr>
          <p:cNvPr id="11" name="Rectangle 10"/>
          <p:cNvSpPr/>
          <p:nvPr/>
        </p:nvSpPr>
        <p:spPr>
          <a:xfrm>
            <a:off x="142347" y="1537578"/>
            <a:ext cx="2877299" cy="54713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723746" y="1573808"/>
                <a:ext cx="4056825" cy="54713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den>
                      </m:f>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23746" y="1573808"/>
                <a:ext cx="4056825" cy="547137"/>
              </a:xfrm>
              <a:prstGeom prst="rect">
                <a:avLst/>
              </a:prstGeom>
              <a:blipFill>
                <a:blip r:embed="rId3"/>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958586"/>
            <a:ext cx="5441391" cy="543162"/>
          </a:xfrm>
          <a:prstGeom prst="rect">
            <a:avLst/>
          </a:prstGeom>
          <a:noFill/>
        </p:spPr>
        <p:txBody>
          <a:bodyPr wrap="square">
            <a:spAutoFit/>
          </a:bodyPr>
          <a:lstStyle/>
          <a:p>
            <a:pPr algn="just">
              <a:lnSpc>
                <a:spcPct val="107000"/>
              </a:lnSpc>
              <a:spcAft>
                <a:spcPts val="12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En el bloque </a:t>
            </a:r>
            <a:r>
              <a:rPr lang="es-AR" sz="1400" b="1" dirty="0">
                <a:effectLst/>
                <a:latin typeface="Calibri" panose="020F0502020204030204" pitchFamily="34" charset="0"/>
                <a:ea typeface="Times New Roman" panose="02020603050405020304" pitchFamily="18" charset="0"/>
                <a:cs typeface="Calibri" panose="020F0502020204030204" pitchFamily="34" charset="0"/>
              </a:rPr>
              <a:t>Set-point</a:t>
            </a:r>
            <a:r>
              <a:rPr lang="es-AR" sz="1400" dirty="0">
                <a:effectLst/>
                <a:latin typeface="Calibri" panose="020F0502020204030204" pitchFamily="34" charset="0"/>
                <a:ea typeface="Times New Roman" panose="02020603050405020304" pitchFamily="18" charset="0"/>
                <a:cs typeface="Calibri" panose="020F0502020204030204" pitchFamily="34" charset="0"/>
              </a:rPr>
              <a:t>, la consigna de velocidad se obtiene por diferencias finitas sobre la referencia (no requiere filtrado):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1" name="Imagen 20">
            <a:extLst>
              <a:ext uri="{FF2B5EF4-FFF2-40B4-BE49-F238E27FC236}">
                <a16:creationId xmlns:a16="http://schemas.microsoft.com/office/drawing/2014/main" id="{D07B43FA-F348-427F-89D5-C7F01C6B97F0}"/>
              </a:ext>
            </a:extLst>
          </p:cNvPr>
          <p:cNvPicPr/>
          <p:nvPr/>
        </p:nvPicPr>
        <p:blipFill>
          <a:blip r:embed="rId4"/>
          <a:srcRect/>
          <a:stretch/>
        </p:blipFill>
        <p:spPr>
          <a:xfrm>
            <a:off x="5784616" y="1009937"/>
            <a:ext cx="5998890" cy="2342423"/>
          </a:xfrm>
          <a:prstGeom prst="rect">
            <a:avLst/>
          </a:prstGeom>
        </p:spPr>
      </p:pic>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EF9EF40-F923-470C-9780-35E43069CD00}"/>
                  </a:ext>
                </a:extLst>
              </p:cNvPr>
              <p:cNvSpPr txBox="1"/>
              <p:nvPr/>
            </p:nvSpPr>
            <p:spPr>
              <a:xfrm>
                <a:off x="142347" y="2349144"/>
                <a:ext cx="5130801" cy="542584"/>
              </a:xfrm>
              <a:prstGeom prst="rect">
                <a:avLst/>
              </a:prstGeom>
              <a:noFill/>
            </p:spPr>
            <p:txBody>
              <a:bodyPr wrap="square">
                <a:spAutoFit/>
              </a:bodyPr>
              <a:lstStyle/>
              <a:p>
                <a:pPr algn="just">
                  <a:lnSpc>
                    <a:spcPct val="107000"/>
                  </a:lnSpc>
                  <a:spcBef>
                    <a:spcPts val="600"/>
                  </a:spcBef>
                  <a:spcAft>
                    <a:spcPts val="8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a:t>
                </a:r>
                <a:r>
                  <a:rPr lang="es-AR" sz="1400" b="1" dirty="0">
                    <a:effectLst/>
                    <a:latin typeface="Calibri" panose="020F0502020204030204" pitchFamily="34" charset="0"/>
                    <a:ea typeface="Calibri" panose="020F0502020204030204" pitchFamily="34" charset="0"/>
                    <a:cs typeface="Times New Roman" panose="02020603050405020304" pitchFamily="18" charset="0"/>
                  </a:rPr>
                  <a:t>PID externo</a:t>
                </a:r>
                <a:r>
                  <a:rPr lang="es-AR" sz="1400" dirty="0">
                    <a:effectLst/>
                    <a:latin typeface="Calibri" panose="020F0502020204030204" pitchFamily="34" charset="0"/>
                    <a:ea typeface="Calibri" panose="020F0502020204030204" pitchFamily="34" charset="0"/>
                    <a:cs typeface="Times New Roman" panose="02020603050405020304" pitchFamily="18" charset="0"/>
                  </a:rPr>
                  <a:t>, definiendo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como la integración del error de velocidad 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su segunda integración:</a:t>
                </a:r>
              </a:p>
            </p:txBody>
          </p:sp>
        </mc:Choice>
        <mc:Fallback xmlns="">
          <p:sp>
            <p:nvSpPr>
              <p:cNvPr id="25" name="CuadroTexto 24">
                <a:extLst>
                  <a:ext uri="{FF2B5EF4-FFF2-40B4-BE49-F238E27FC236}">
                    <a16:creationId xmlns:a16="http://schemas.microsoft.com/office/drawing/2014/main" id="{9EF9EF40-F923-470C-9780-35E43069CD00}"/>
                  </a:ext>
                </a:extLst>
              </p:cNvPr>
              <p:cNvSpPr txBox="1">
                <a:spLocks noRot="1" noChangeAspect="1" noMove="1" noResize="1" noEditPoints="1" noAdjustHandles="1" noChangeArrowheads="1" noChangeShapeType="1" noTextEdit="1"/>
              </p:cNvSpPr>
              <p:nvPr/>
            </p:nvSpPr>
            <p:spPr>
              <a:xfrm>
                <a:off x="142347" y="2349144"/>
                <a:ext cx="5130801" cy="542584"/>
              </a:xfrm>
              <a:prstGeom prst="rect">
                <a:avLst/>
              </a:prstGeom>
              <a:blipFill>
                <a:blip r:embed="rId5"/>
                <a:stretch>
                  <a:fillRect l="-356" r="-238" b="-123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BD54E6B-DAC7-43CD-BE7E-389DAABE9C0C}"/>
                  </a:ext>
                </a:extLst>
              </p:cNvPr>
              <p:cNvSpPr txBox="1"/>
              <p:nvPr/>
            </p:nvSpPr>
            <p:spPr>
              <a:xfrm>
                <a:off x="0" y="2948611"/>
                <a:ext cx="3855562" cy="1490729"/>
              </a:xfrm>
              <a:prstGeom prst="rect">
                <a:avLst/>
              </a:prstGeom>
              <a:noFill/>
            </p:spPr>
            <p:txBody>
              <a:bodyPr wrap="square">
                <a:spAutoFit/>
              </a:bodyPr>
              <a:lstStyle/>
              <a:p>
                <a:pPr algn="just">
                  <a:lnSpc>
                    <a:spcPct val="107000"/>
                  </a:lnSpc>
                  <a:spcAft>
                    <a:spcPts val="600"/>
                  </a:spcAft>
                </a:pP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1200"/>
                  </a:spcAft>
                </a:pP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𝑠𝑖𝑎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6" name="CuadroTexto 25">
                <a:extLst>
                  <a:ext uri="{FF2B5EF4-FFF2-40B4-BE49-F238E27FC236}">
                    <a16:creationId xmlns:a16="http://schemas.microsoft.com/office/drawing/2014/main" id="{CBD54E6B-DAC7-43CD-BE7E-389DAABE9C0C}"/>
                  </a:ext>
                </a:extLst>
              </p:cNvPr>
              <p:cNvSpPr txBox="1">
                <a:spLocks noRot="1" noChangeAspect="1" noMove="1" noResize="1" noEditPoints="1" noAdjustHandles="1" noChangeArrowheads="1" noChangeShapeType="1" noTextEdit="1"/>
              </p:cNvSpPr>
              <p:nvPr/>
            </p:nvSpPr>
            <p:spPr>
              <a:xfrm>
                <a:off x="0" y="2948611"/>
                <a:ext cx="3855562" cy="1490729"/>
              </a:xfrm>
              <a:prstGeom prst="rect">
                <a:avLst/>
              </a:prstGeom>
              <a:blipFill>
                <a:blip r:embed="rId6"/>
                <a:stretch>
                  <a:fillRect/>
                </a:stretch>
              </a:blipFill>
            </p:spPr>
            <p:txBody>
              <a:bodyPr/>
              <a:lstStyle/>
              <a:p>
                <a:r>
                  <a:rPr lang="es-AR">
                    <a:noFill/>
                  </a:rPr>
                  <a:t> </a:t>
                </a:r>
              </a:p>
            </p:txBody>
          </p:sp>
        </mc:Fallback>
      </mc:AlternateContent>
      <p:sp>
        <p:nvSpPr>
          <p:cNvPr id="30" name="CuadroTexto 29">
            <a:extLst>
              <a:ext uri="{FF2B5EF4-FFF2-40B4-BE49-F238E27FC236}">
                <a16:creationId xmlns:a16="http://schemas.microsoft.com/office/drawing/2014/main" id="{AFF04977-62DC-4B0F-8833-52859944481E}"/>
              </a:ext>
            </a:extLst>
          </p:cNvPr>
          <p:cNvSpPr txBox="1"/>
          <p:nvPr/>
        </p:nvSpPr>
        <p:spPr>
          <a:xfrm>
            <a:off x="7889823" y="3583870"/>
            <a:ext cx="385556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90— Set-point Discretizado</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7811281" y="6138962"/>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91— PID externo discretizado</a:t>
            </a:r>
          </a:p>
        </p:txBody>
      </p:sp>
      <p:sp>
        <p:nvSpPr>
          <p:cNvPr id="18" name="Shape 2">
            <a:extLst>
              <a:ext uri="{FF2B5EF4-FFF2-40B4-BE49-F238E27FC236}">
                <a16:creationId xmlns:a16="http://schemas.microsoft.com/office/drawing/2014/main" id="{85ED1E0F-A9C6-4E87-BDAF-DC82C07BB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0739E89-9090-4B51-943B-8C8CF4B6F0D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963757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4998"/>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1" name="Rectangle 10"/>
          <p:cNvSpPr/>
          <p:nvPr/>
        </p:nvSpPr>
        <p:spPr>
          <a:xfrm>
            <a:off x="153891" y="1113194"/>
            <a:ext cx="10856615" cy="147104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1222539"/>
                <a:ext cx="4056825" cy="1471044"/>
              </a:xfrm>
              <a:prstGeom prst="rect">
                <a:avLst/>
              </a:prstGeom>
              <a:noFill/>
            </p:spPr>
            <p:txBody>
              <a:bodyPr wrap="square">
                <a:spAutoFit/>
              </a:bodyPr>
              <a:lstStyle/>
              <a:p>
                <a14:m>
                  <m:oMath xmlns:m="http://schemas.openxmlformats.org/officeDocument/2006/math">
                    <m:r>
                      <a:rPr lang="es-AR" sz="1400" i="1">
                        <a:latin typeface="Cambria Math" panose="02040503050406030204" pitchFamily="18" charset="0"/>
                      </a:rPr>
                      <m:t>𝜀</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pPr algn="ctr"/>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1222539"/>
                <a:ext cx="4056825" cy="1471044"/>
              </a:xfrm>
              <a:prstGeom prst="rect">
                <a:avLst/>
              </a:prstGeom>
              <a:blipFill>
                <a:blip r:embed="rId2"/>
                <a:stretch>
                  <a:fillRect t="-1245"/>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745069"/>
            <a:ext cx="11700789" cy="312650"/>
          </a:xfrm>
          <a:prstGeom prst="rect">
            <a:avLst/>
          </a:prstGeom>
          <a:noFill/>
        </p:spPr>
        <p:txBody>
          <a:bodyPr wrap="square">
            <a:spAutoFit/>
          </a:bodyPr>
          <a:lstStyle/>
          <a:p>
            <a:pPr algn="just">
              <a:lnSpc>
                <a:spcPct val="107000"/>
              </a:lnSpc>
              <a:spcBef>
                <a:spcPts val="600"/>
              </a:spcBef>
              <a:spcAft>
                <a:spcPts val="6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del </a:t>
            </a:r>
            <a:r>
              <a:rPr lang="es-AR" sz="1400" dirty="0">
                <a:effectLst/>
                <a:latin typeface="Calibri" panose="020F0502020204030204" pitchFamily="34" charset="0"/>
                <a:ea typeface="Calibri" panose="020F0502020204030204" pitchFamily="34" charset="0"/>
                <a:cs typeface="Times New Roman" panose="02020603050405020304" pitchFamily="18" charset="0"/>
              </a:rPr>
              <a:t>Observador, aplicando Tustin a la forma expandida, con:</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4173071" y="5735154"/>
            <a:ext cx="455487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92— Observador aumentado discretizado</a:t>
            </a:r>
          </a:p>
          <a:p>
            <a:endParaRPr lang="es-AR" dirty="0"/>
          </a:p>
        </p:txBody>
      </p:sp>
      <p:pic>
        <p:nvPicPr>
          <p:cNvPr id="18" name="Imagen 17">
            <a:extLst>
              <a:ext uri="{FF2B5EF4-FFF2-40B4-BE49-F238E27FC236}">
                <a16:creationId xmlns:a16="http://schemas.microsoft.com/office/drawing/2014/main" id="{FDA11935-5BDB-4D49-9C60-2DC9BF2F88B1}"/>
              </a:ext>
            </a:extLst>
          </p:cNvPr>
          <p:cNvPicPr/>
          <p:nvPr/>
        </p:nvPicPr>
        <p:blipFill>
          <a:blip r:embed="rId3"/>
          <a:srcRect/>
          <a:stretch/>
        </p:blipFill>
        <p:spPr>
          <a:xfrm>
            <a:off x="1785769" y="2802928"/>
            <a:ext cx="8079683" cy="2822881"/>
          </a:xfrm>
          <a:prstGeom prst="rect">
            <a:avLst/>
          </a:prstGeom>
        </p:spPr>
      </p:pic>
      <p:sp>
        <p:nvSpPr>
          <p:cNvPr id="13" name="Shape 2">
            <a:extLst>
              <a:ext uri="{FF2B5EF4-FFF2-40B4-BE49-F238E27FC236}">
                <a16:creationId xmlns:a16="http://schemas.microsoft.com/office/drawing/2014/main" id="{42B3901B-0064-48A3-A656-95C27C5ABF0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106A1CFA-ED65-4F74-AD27-F01362250D65}"/>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28105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7321"/>
            <a:ext cx="7336688" cy="415498"/>
          </a:xfrm>
          <a:prstGeom prst="rect">
            <a:avLst/>
          </a:prstGeom>
          <a:noFill/>
        </p:spPr>
        <p:txBody>
          <a:bodyPr wrap="none">
            <a:spAutoFit/>
          </a:bodyPr>
          <a:lstStyle/>
          <a:p>
            <a:pPr algn="l"/>
            <a:r>
              <a:rPr lang="es-AR" sz="2100" b="1" dirty="0">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20" name="CuadroTexto 19">
            <a:extLst>
              <a:ext uri="{FF2B5EF4-FFF2-40B4-BE49-F238E27FC236}">
                <a16:creationId xmlns:a16="http://schemas.microsoft.com/office/drawing/2014/main" id="{2A133480-A24F-4AA2-974C-3329BBBDCAEC}"/>
              </a:ext>
            </a:extLst>
          </p:cNvPr>
          <p:cNvSpPr txBox="1"/>
          <p:nvPr/>
        </p:nvSpPr>
        <p:spPr>
          <a:xfrm>
            <a:off x="191374" y="893009"/>
            <a:ext cx="8342721" cy="344069"/>
          </a:xfrm>
          <a:prstGeom prst="rect">
            <a:avLst/>
          </a:prstGeom>
          <a:noFill/>
        </p:spPr>
        <p:txBody>
          <a:bodyPr wrap="square">
            <a:spAutoFit/>
          </a:bodyPr>
          <a:lstStyle/>
          <a:p>
            <a:pPr algn="just">
              <a:lnSpc>
                <a:spcPct val="107000"/>
              </a:lnSpc>
              <a:spcBef>
                <a:spcPts val="1800"/>
              </a:spcBef>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a:t>
            </a:r>
            <a:r>
              <a:rPr lang="es-AR" sz="1600" dirty="0">
                <a:effectLst/>
                <a:latin typeface="Calibri" panose="020F0502020204030204" pitchFamily="34" charset="0"/>
                <a:ea typeface="Calibri" panose="020F0502020204030204" pitchFamily="34" charset="0"/>
                <a:cs typeface="Times New Roman" panose="02020603050405020304" pitchFamily="18" charset="0"/>
              </a:rPr>
              <a:t>as especificaciones finales del sistema discreto quedan resumidas en la siguiente tabla:</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𝑇</m:t>
                                    </m:r>
                                  </m:e>
                                  <m:sub>
                                    <m:r>
                                      <a:rPr lang="es-AR" sz="1400">
                                        <a:effectLst/>
                                        <a:latin typeface="Cambria Math" panose="02040503050406030204" pitchFamily="18" charset="0"/>
                                      </a:rPr>
                                      <m:t>𝑠</m:t>
                                    </m:r>
                                  </m:sub>
                                </m:sSub>
                                <m:r>
                                  <a:rPr lang="es-AR" sz="1400">
                                    <a:effectLst/>
                                    <a:latin typeface="Cambria Math" panose="02040503050406030204" pitchFamily="18" charset="0"/>
                                  </a:rPr>
                                  <m:t>=1.2566×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−4</m:t>
                                    </m:r>
                                  </m:sup>
                                </m:sSup>
                                <m:r>
                                  <a:rPr lang="es-AR" sz="1400">
                                    <a:effectLst/>
                                    <a:latin typeface="Cambria Math" panose="02040503050406030204" pitchFamily="18" charset="0"/>
                                  </a:rPr>
                                  <m:t>𝑠</m:t>
                                </m:r>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8431513"/>
                      </a:ext>
                    </a:extLst>
                  </a:tr>
                </a:tbl>
              </a:graphicData>
            </a:graphic>
          </p:graphicFrame>
        </mc:Choice>
        <mc:Fallback xmlns="">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71250" r="-667" b="-406250"/>
                          </a:stretch>
                        </a:blipFill>
                      </a:tcPr>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169136" r="-667" b="-301235"/>
                          </a:stretch>
                        </a:blipFill>
                      </a:tcPr>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272500" r="-667" b="-205000"/>
                          </a:stretch>
                        </a:blipFill>
                      </a:tcPr>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367901" r="-667" b="-102469"/>
                          </a:stretch>
                        </a:blipFill>
                      </a:tcPr>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467901" r="-667" b="-2469"/>
                          </a:stretch>
                        </a:blipFill>
                      </a:tcPr>
                    </a:tc>
                    <a:extLst>
                      <a:ext uri="{0D108BD9-81ED-4DB2-BD59-A6C34878D82A}">
                        <a16:rowId xmlns:a16="http://schemas.microsoft.com/office/drawing/2014/main" val="2138431513"/>
                      </a:ext>
                    </a:extLst>
                  </a:tr>
                </a:tbl>
              </a:graphicData>
            </a:graphic>
          </p:graphicFrame>
        </mc:Fallback>
      </mc:AlternateContent>
      <p:sp>
        <p:nvSpPr>
          <p:cNvPr id="9" name="Shape 2">
            <a:extLst>
              <a:ext uri="{FF2B5EF4-FFF2-40B4-BE49-F238E27FC236}">
                <a16:creationId xmlns:a16="http://schemas.microsoft.com/office/drawing/2014/main" id="{E48B6EC8-A82B-4093-AAAA-64BCD54E5F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52D28B1D-53B3-4502-8332-33196D41246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50040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65899"/>
            <a:ext cx="7246279" cy="415498"/>
          </a:xfrm>
          <a:prstGeom prst="rect">
            <a:avLst/>
          </a:prstGeom>
          <a:noFill/>
        </p:spPr>
        <p:txBody>
          <a:bodyPr wrap="none">
            <a:spAutoFit/>
          </a:bodyPr>
          <a:lstStyle/>
          <a:p>
            <a:pPr algn="l"/>
            <a:r>
              <a:rPr lang="en-US" sz="2100" b="1" dirty="0">
                <a:solidFill>
                  <a:srgbClr val="FFFFFF"/>
                </a:solidFill>
                <a:latin typeface="Cambria"/>
              </a:rPr>
              <a:t>Sistema </a:t>
            </a:r>
            <a:r>
              <a:rPr lang="en-US" sz="2100" b="1" dirty="0" err="1">
                <a:solidFill>
                  <a:srgbClr val="FFFFFF"/>
                </a:solidFill>
                <a:latin typeface="Cambria"/>
              </a:rPr>
              <a:t>completo</a:t>
            </a:r>
            <a:r>
              <a:rPr lang="en-US" sz="2100" b="1" dirty="0">
                <a:solidFill>
                  <a:srgbClr val="FFFFFF"/>
                </a:solidFill>
                <a:latin typeface="Cambria"/>
              </a:rPr>
              <a:t> </a:t>
            </a:r>
            <a:r>
              <a:rPr lang="en-US" sz="2100" b="1" dirty="0" err="1">
                <a:solidFill>
                  <a:srgbClr val="FFFFFF"/>
                </a:solidFill>
                <a:latin typeface="Cambria"/>
              </a:rPr>
              <a:t>discretizado</a:t>
            </a:r>
            <a:r>
              <a:rPr lang="en-US" sz="2100" b="1" dirty="0">
                <a:solidFill>
                  <a:srgbClr val="FFFFFF"/>
                </a:solidFill>
                <a:latin typeface="Cambria"/>
              </a:rPr>
              <a:t> </a:t>
            </a:r>
            <a:r>
              <a:rPr lang="es-AR" sz="2100" b="1" dirty="0">
                <a:solidFill>
                  <a:srgbClr val="FFFFFF"/>
                </a:solidFill>
                <a:latin typeface="Cambria"/>
              </a:rPr>
              <a:t>— Resultados y validación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22" name="Imagen 21">
            <a:extLst>
              <a:ext uri="{FF2B5EF4-FFF2-40B4-BE49-F238E27FC236}">
                <a16:creationId xmlns:a16="http://schemas.microsoft.com/office/drawing/2014/main" id="{1E9BBB49-A005-436E-B79D-BF2D938F4842}"/>
              </a:ext>
            </a:extLst>
          </p:cNvPr>
          <p:cNvPicPr/>
          <p:nvPr/>
        </p:nvPicPr>
        <p:blipFill>
          <a:blip r:embed="rId2"/>
          <a:srcRect/>
          <a:stretch/>
        </p:blipFill>
        <p:spPr>
          <a:xfrm>
            <a:off x="0" y="1409350"/>
            <a:ext cx="12191695" cy="3110292"/>
          </a:xfrm>
          <a:prstGeom prst="rect">
            <a:avLst/>
          </a:prstGeom>
        </p:spPr>
      </p:pic>
      <p:sp>
        <p:nvSpPr>
          <p:cNvPr id="10" name="CuadroTexto 9">
            <a:extLst>
              <a:ext uri="{FF2B5EF4-FFF2-40B4-BE49-F238E27FC236}">
                <a16:creationId xmlns:a16="http://schemas.microsoft.com/office/drawing/2014/main" id="{A3C746FA-B106-48E1-AEDE-5FA4AECA4688}"/>
              </a:ext>
            </a:extLst>
          </p:cNvPr>
          <p:cNvSpPr txBox="1"/>
          <p:nvPr/>
        </p:nvSpPr>
        <p:spPr>
          <a:xfrm>
            <a:off x="4380461" y="4591703"/>
            <a:ext cx="4554874"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93— Sistema completo discreto</a:t>
            </a:r>
          </a:p>
          <a:p>
            <a:endParaRPr lang="es-AR" dirty="0"/>
          </a:p>
          <a:p>
            <a:endParaRPr lang="es-AR" dirty="0"/>
          </a:p>
        </p:txBody>
      </p:sp>
      <p:sp>
        <p:nvSpPr>
          <p:cNvPr id="9" name="Shape 2">
            <a:extLst>
              <a:ext uri="{FF2B5EF4-FFF2-40B4-BE49-F238E27FC236}">
                <a16:creationId xmlns:a16="http://schemas.microsoft.com/office/drawing/2014/main" id="{3FF759CE-C7C8-49A1-9280-9BCA1000D24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A001E546-08C0-4B59-B0D7-BF89E62E174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73018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7021"/>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8" name="Imagen 17">
            <a:extLst>
              <a:ext uri="{FF2B5EF4-FFF2-40B4-BE49-F238E27FC236}">
                <a16:creationId xmlns:a16="http://schemas.microsoft.com/office/drawing/2014/main" id="{FB60BD7D-FC67-448D-B74C-45E1461D146F}"/>
              </a:ext>
            </a:extLst>
          </p:cNvPr>
          <p:cNvPicPr/>
          <p:nvPr/>
        </p:nvPicPr>
        <p:blipFill>
          <a:blip r:embed="rId2">
            <a:extLst>
              <a:ext uri="{28A0092B-C50C-407E-A947-70E740481C1C}">
                <a14:useLocalDpi xmlns:a14="http://schemas.microsoft.com/office/drawing/2010/main" val="0"/>
              </a:ext>
            </a:extLst>
          </a:blip>
          <a:stretch>
            <a:fillRect/>
          </a:stretch>
        </p:blipFill>
        <p:spPr>
          <a:xfrm>
            <a:off x="588645" y="734568"/>
            <a:ext cx="4270229" cy="3014553"/>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E5E99950-A618-4C48-8259-DE1906E23C2B}"/>
              </a:ext>
            </a:extLst>
          </p:cNvPr>
          <p:cNvPicPr/>
          <p:nvPr/>
        </p:nvPicPr>
        <p:blipFill>
          <a:blip r:embed="rId3">
            <a:extLst>
              <a:ext uri="{28A0092B-C50C-407E-A947-70E740481C1C}">
                <a14:useLocalDpi xmlns:a14="http://schemas.microsoft.com/office/drawing/2010/main" val="0"/>
              </a:ext>
            </a:extLst>
          </a:blip>
          <a:stretch>
            <a:fillRect/>
          </a:stretch>
        </p:blipFill>
        <p:spPr>
          <a:xfrm>
            <a:off x="7647453" y="734568"/>
            <a:ext cx="4125448" cy="3014553"/>
          </a:xfrm>
          <a:prstGeom prst="rect">
            <a:avLst/>
          </a:prstGeom>
        </p:spPr>
        <p:style>
          <a:lnRef idx="2">
            <a:schemeClr val="accent1"/>
          </a:lnRef>
          <a:fillRef idx="1">
            <a:schemeClr val="lt1"/>
          </a:fillRef>
          <a:effectRef idx="0">
            <a:schemeClr val="accent1"/>
          </a:effectRef>
          <a:fontRef idx="minor">
            <a:schemeClr val="dk1"/>
          </a:fontRef>
        </p:style>
      </p:pic>
      <p:pic>
        <p:nvPicPr>
          <p:cNvPr id="20" name="Imagen 19">
            <a:extLst>
              <a:ext uri="{FF2B5EF4-FFF2-40B4-BE49-F238E27FC236}">
                <a16:creationId xmlns:a16="http://schemas.microsoft.com/office/drawing/2014/main" id="{8DE2DBAD-71F1-446C-9773-2C04DD80EF66}"/>
              </a:ext>
            </a:extLst>
          </p:cNvPr>
          <p:cNvPicPr/>
          <p:nvPr/>
        </p:nvPicPr>
        <p:blipFill>
          <a:blip r:embed="rId4">
            <a:extLst>
              <a:ext uri="{28A0092B-C50C-407E-A947-70E740481C1C}">
                <a14:useLocalDpi xmlns:a14="http://schemas.microsoft.com/office/drawing/2010/main" val="0"/>
              </a:ext>
            </a:extLst>
          </a:blip>
          <a:stretch>
            <a:fillRect/>
          </a:stretch>
        </p:blipFill>
        <p:spPr>
          <a:xfrm>
            <a:off x="178117" y="3991991"/>
            <a:ext cx="3453765" cy="2429510"/>
          </a:xfrm>
          <a:prstGeom prst="rect">
            <a:avLst/>
          </a:prstGeom>
        </p:spPr>
      </p:pic>
      <p:graphicFrame>
        <p:nvGraphicFramePr>
          <p:cNvPr id="21" name="Tabla 21">
            <a:extLst>
              <a:ext uri="{FF2B5EF4-FFF2-40B4-BE49-F238E27FC236}">
                <a16:creationId xmlns:a16="http://schemas.microsoft.com/office/drawing/2014/main" id="{4DC96354-B257-434B-9F4A-63357F75F47D}"/>
              </a:ext>
            </a:extLst>
          </p:cNvPr>
          <p:cNvGraphicFramePr>
            <a:graphicFrameLocks noGrp="1"/>
          </p:cNvGraphicFramePr>
          <p:nvPr/>
        </p:nvGraphicFramePr>
        <p:xfrm>
          <a:off x="0" y="668782"/>
          <a:ext cx="12191694" cy="5896610"/>
        </p:xfrm>
        <a:graphic>
          <a:graphicData uri="http://schemas.openxmlformats.org/drawingml/2006/table">
            <a:tbl>
              <a:tblPr firstRow="1" bandRow="1">
                <a:tableStyleId>{5C22544A-7EE6-4342-B048-85BDC9FD1C3A}</a:tableStyleId>
              </a:tblPr>
              <a:tblGrid>
                <a:gridCol w="6095847">
                  <a:extLst>
                    <a:ext uri="{9D8B030D-6E8A-4147-A177-3AD203B41FA5}">
                      <a16:colId xmlns:a16="http://schemas.microsoft.com/office/drawing/2014/main" val="500867234"/>
                    </a:ext>
                  </a:extLst>
                </a:gridCol>
                <a:gridCol w="6095847">
                  <a:extLst>
                    <a:ext uri="{9D8B030D-6E8A-4147-A177-3AD203B41FA5}">
                      <a16:colId xmlns:a16="http://schemas.microsoft.com/office/drawing/2014/main" val="4033675718"/>
                    </a:ext>
                  </a:extLst>
                </a:gridCol>
              </a:tblGrid>
              <a:tr h="2948305">
                <a:tc>
                  <a:txBody>
                    <a:bodyPr/>
                    <a:lstStyle/>
                    <a:p>
                      <a:endParaRPr lang="es-AR" dirty="0"/>
                    </a:p>
                  </a:txBody>
                  <a:tcPr/>
                </a:tc>
                <a:tc>
                  <a:txBody>
                    <a:bodyPr/>
                    <a:lstStyle/>
                    <a:p>
                      <a:endParaRPr lang="es-AR"/>
                    </a:p>
                  </a:txBody>
                  <a:tcPr/>
                </a:tc>
                <a:extLst>
                  <a:ext uri="{0D108BD9-81ED-4DB2-BD59-A6C34878D82A}">
                    <a16:rowId xmlns:a16="http://schemas.microsoft.com/office/drawing/2014/main" val="3219475773"/>
                  </a:ext>
                </a:extLst>
              </a:tr>
              <a:tr h="2948305">
                <a:tc>
                  <a:txBody>
                    <a:bodyPr/>
                    <a:lstStyle/>
                    <a:p>
                      <a:endParaRPr lang="es-AR" dirty="0"/>
                    </a:p>
                  </a:txBody>
                  <a:tcPr/>
                </a:tc>
                <a:tc>
                  <a:txBody>
                    <a:bodyPr/>
                    <a:lstStyle/>
                    <a:p>
                      <a:endParaRPr lang="es-AR" dirty="0"/>
                    </a:p>
                  </a:txBody>
                  <a:tcPr/>
                </a:tc>
                <a:extLst>
                  <a:ext uri="{0D108BD9-81ED-4DB2-BD59-A6C34878D82A}">
                    <a16:rowId xmlns:a16="http://schemas.microsoft.com/office/drawing/2014/main" val="1060784161"/>
                  </a:ext>
                </a:extLst>
              </a:tr>
            </a:tbl>
          </a:graphicData>
        </a:graphic>
      </p:graphicFrame>
      <p:pic>
        <p:nvPicPr>
          <p:cNvPr id="22" name="Imagen 21">
            <a:extLst>
              <a:ext uri="{FF2B5EF4-FFF2-40B4-BE49-F238E27FC236}">
                <a16:creationId xmlns:a16="http://schemas.microsoft.com/office/drawing/2014/main" id="{04051067-6736-473D-A748-A2E70EB97C8F}"/>
              </a:ext>
            </a:extLst>
          </p:cNvPr>
          <p:cNvPicPr/>
          <p:nvPr/>
        </p:nvPicPr>
        <p:blipFill>
          <a:blip r:embed="rId5"/>
          <a:srcRect/>
          <a:stretch/>
        </p:blipFill>
        <p:spPr>
          <a:xfrm>
            <a:off x="35951" y="720296"/>
            <a:ext cx="6033621" cy="2704846"/>
          </a:xfrm>
          <a:prstGeom prst="rect">
            <a:avLst/>
          </a:prstGeom>
        </p:spPr>
      </p:pic>
      <p:pic>
        <p:nvPicPr>
          <p:cNvPr id="23" name="Imagen 22">
            <a:extLst>
              <a:ext uri="{FF2B5EF4-FFF2-40B4-BE49-F238E27FC236}">
                <a16:creationId xmlns:a16="http://schemas.microsoft.com/office/drawing/2014/main" id="{16F7F114-FFF5-40D2-8935-BBC426472874}"/>
              </a:ext>
            </a:extLst>
          </p:cNvPr>
          <p:cNvPicPr/>
          <p:nvPr/>
        </p:nvPicPr>
        <p:blipFill>
          <a:blip r:embed="rId6"/>
          <a:srcRect/>
          <a:stretch/>
        </p:blipFill>
        <p:spPr>
          <a:xfrm>
            <a:off x="6095999" y="724154"/>
            <a:ext cx="6060049" cy="2704846"/>
          </a:xfrm>
          <a:prstGeom prst="rect">
            <a:avLst/>
          </a:prstGeom>
        </p:spPr>
      </p:pic>
      <p:pic>
        <p:nvPicPr>
          <p:cNvPr id="24" name="Imagen 23">
            <a:extLst>
              <a:ext uri="{FF2B5EF4-FFF2-40B4-BE49-F238E27FC236}">
                <a16:creationId xmlns:a16="http://schemas.microsoft.com/office/drawing/2014/main" id="{BD1F2E0C-314D-4C57-8459-8687E73CCBBB}"/>
              </a:ext>
            </a:extLst>
          </p:cNvPr>
          <p:cNvPicPr/>
          <p:nvPr/>
        </p:nvPicPr>
        <p:blipFill rotWithShape="1">
          <a:blip r:embed="rId7"/>
          <a:srcRect b="-914"/>
          <a:stretch/>
        </p:blipFill>
        <p:spPr>
          <a:xfrm>
            <a:off x="35952" y="3651000"/>
            <a:ext cx="5993372" cy="2729583"/>
          </a:xfrm>
          <a:prstGeom prst="rect">
            <a:avLst/>
          </a:prstGeom>
        </p:spPr>
      </p:pic>
      <p:pic>
        <p:nvPicPr>
          <p:cNvPr id="25" name="Imagen 24">
            <a:extLst>
              <a:ext uri="{FF2B5EF4-FFF2-40B4-BE49-F238E27FC236}">
                <a16:creationId xmlns:a16="http://schemas.microsoft.com/office/drawing/2014/main" id="{CB6E6B92-8F7C-40E7-9673-4BB2824CAC23}"/>
              </a:ext>
            </a:extLst>
          </p:cNvPr>
          <p:cNvPicPr/>
          <p:nvPr/>
        </p:nvPicPr>
        <p:blipFill>
          <a:blip r:embed="rId8"/>
          <a:srcRect/>
          <a:stretch/>
        </p:blipFill>
        <p:spPr>
          <a:xfrm>
            <a:off x="6095999" y="3693921"/>
            <a:ext cx="6060049" cy="2704845"/>
          </a:xfrm>
          <a:prstGeom prst="rect">
            <a:avLst/>
          </a:prstGeom>
        </p:spPr>
      </p:pic>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9"/>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10"/>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0D5052E-C84A-4D0D-8F0B-6741E82D8547}"/>
                  </a:ext>
                </a:extLst>
              </p:cNvPr>
              <p:cNvSpPr txBox="1"/>
              <p:nvPr/>
            </p:nvSpPr>
            <p:spPr>
              <a:xfrm>
                <a:off x="274319" y="6339534"/>
                <a:ext cx="6098796" cy="600164"/>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solidFill>
                      <a:schemeClr val="tx1"/>
                    </a:solidFill>
                  </a:rPr>
                  <a:t>Figura 96: Curvas de corrientes </a:t>
                </a:r>
                <a14:m>
                  <m:oMath xmlns:m="http://schemas.openxmlformats.org/officeDocument/2006/math">
                    <m:sSub>
                      <m:sSubPr>
                        <m:ctrlPr>
                          <a:rPr lang="es-AR" sz="1100" i="1">
                            <a:solidFill>
                              <a:schemeClr val="tx1"/>
                            </a:solidFill>
                            <a:latin typeface="Cambria Math" panose="02040503050406030204" pitchFamily="18" charset="0"/>
                          </a:rPr>
                        </m:ctrlPr>
                      </m:sSubPr>
                      <m:e>
                        <m:r>
                          <a:rPr lang="es-AR" sz="1100" i="1">
                            <a:solidFill>
                              <a:schemeClr val="tx1"/>
                            </a:solidFill>
                            <a:latin typeface="Cambria Math" panose="02040503050406030204" pitchFamily="18" charset="0"/>
                          </a:rPr>
                          <m:t>𝑖</m:t>
                        </m:r>
                      </m:e>
                      <m:sub>
                        <m:r>
                          <a:rPr lang="es-AR" sz="1100" i="1">
                            <a:solidFill>
                              <a:schemeClr val="tx1"/>
                            </a:solidFill>
                            <a:latin typeface="Cambria Math" panose="02040503050406030204" pitchFamily="18" charset="0"/>
                          </a:rPr>
                          <m:t>𝑎𝑏𝑐</m:t>
                        </m:r>
                      </m:sub>
                    </m:sSub>
                  </m:oMath>
                </a14:m>
                <a:r>
                  <a:rPr lang="es-AR" sz="1100" i="1" dirty="0">
                    <a:solidFill>
                      <a:schemeClr val="tx1"/>
                    </a:solidFill>
                  </a:rPr>
                  <a:t> con controlador discreto</a:t>
                </a: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8" name="CuadroTexto 27">
                <a:extLst>
                  <a:ext uri="{FF2B5EF4-FFF2-40B4-BE49-F238E27FC236}">
                    <a16:creationId xmlns:a16="http://schemas.microsoft.com/office/drawing/2014/main" id="{10D5052E-C84A-4D0D-8F0B-6741E82D8547}"/>
                  </a:ext>
                </a:extLst>
              </p:cNvPr>
              <p:cNvSpPr txBox="1">
                <a:spLocks noRot="1" noChangeAspect="1" noMove="1" noResize="1" noEditPoints="1" noAdjustHandles="1" noChangeArrowheads="1" noChangeShapeType="1" noTextEdit="1"/>
              </p:cNvSpPr>
              <p:nvPr/>
            </p:nvSpPr>
            <p:spPr>
              <a:xfrm>
                <a:off x="274319" y="6339534"/>
                <a:ext cx="6098796" cy="600164"/>
              </a:xfrm>
              <a:prstGeom prst="rect">
                <a:avLst/>
              </a:prstGeom>
              <a:blipFill>
                <a:blip r:embed="rId11"/>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284A114E-CCDD-4A32-B157-6EE1A24480AA}"/>
                  </a:ext>
                </a:extLst>
              </p:cNvPr>
              <p:cNvSpPr txBox="1"/>
              <p:nvPr/>
            </p:nvSpPr>
            <p:spPr>
              <a:xfrm>
                <a:off x="6303644" y="6357338"/>
                <a:ext cx="6098796" cy="769441"/>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t>Figura 97: Curvas de tensiones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𝑣</m:t>
                        </m:r>
                      </m:e>
                      <m:sub>
                        <m:r>
                          <a:rPr lang="es-AR" sz="1100" i="1">
                            <a:latin typeface="Cambria Math" panose="02040503050406030204" pitchFamily="18" charset="0"/>
                          </a:rPr>
                          <m:t>𝑎𝑏𝑐</m:t>
                        </m:r>
                      </m:sub>
                    </m:sSub>
                  </m:oMath>
                </a14:m>
                <a:r>
                  <a:rPr lang="es-AR" sz="1100" i="1" dirty="0"/>
                  <a:t>  con controlador discreto </a:t>
                </a:r>
              </a:p>
              <a:p>
                <a:pPr algn="ctr"/>
                <a:endParaRPr lang="es-AR" sz="1100" i="1" dirty="0">
                  <a:solidFill>
                    <a:schemeClr val="tx1"/>
                  </a:solidFill>
                </a:endParaRP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9" name="CuadroTexto 28">
                <a:extLst>
                  <a:ext uri="{FF2B5EF4-FFF2-40B4-BE49-F238E27FC236}">
                    <a16:creationId xmlns:a16="http://schemas.microsoft.com/office/drawing/2014/main" id="{284A114E-CCDD-4A32-B157-6EE1A24480AA}"/>
                  </a:ext>
                </a:extLst>
              </p:cNvPr>
              <p:cNvSpPr txBox="1">
                <a:spLocks noRot="1" noChangeAspect="1" noMove="1" noResize="1" noEditPoints="1" noAdjustHandles="1" noChangeArrowheads="1" noChangeShapeType="1" noTextEdit="1"/>
              </p:cNvSpPr>
              <p:nvPr/>
            </p:nvSpPr>
            <p:spPr>
              <a:xfrm>
                <a:off x="6303644" y="6357338"/>
                <a:ext cx="6098796" cy="769441"/>
              </a:xfrm>
              <a:prstGeom prst="rect">
                <a:avLst/>
              </a:prstGeom>
              <a:blipFill>
                <a:blip r:embed="rId12"/>
                <a:stretch>
                  <a:fillRect/>
                </a:stretch>
              </a:blipFill>
            </p:spPr>
            <p:txBody>
              <a:bodyPr/>
              <a:lstStyle/>
              <a:p>
                <a:r>
                  <a:rPr lang="es-AR">
                    <a:noFill/>
                  </a:rPr>
                  <a:t> </a:t>
                </a:r>
              </a:p>
            </p:txBody>
          </p:sp>
        </mc:Fallback>
      </mc:AlternateContent>
      <p:sp>
        <p:nvSpPr>
          <p:cNvPr id="30" name="Shape 2">
            <a:extLst>
              <a:ext uri="{FF2B5EF4-FFF2-40B4-BE49-F238E27FC236}">
                <a16:creationId xmlns:a16="http://schemas.microsoft.com/office/drawing/2014/main" id="{DF209EEB-6677-4C00-8073-05612CF599E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31" name="Text 3">
            <a:extLst>
              <a:ext uri="{FF2B5EF4-FFF2-40B4-BE49-F238E27FC236}">
                <a16:creationId xmlns:a16="http://schemas.microsoft.com/office/drawing/2014/main" id="{6701EE98-416F-4147-BA2D-1E709D39E77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59968152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568"/>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3"/>
                <a:stretch>
                  <a:fillRect/>
                </a:stretch>
              </a:blipFill>
            </p:spPr>
            <p:txBody>
              <a:bodyPr/>
              <a:lstStyle/>
              <a:p>
                <a:r>
                  <a:rPr lang="es-AR">
                    <a:noFill/>
                  </a:rPr>
                  <a:t> </a:t>
                </a:r>
              </a:p>
            </p:txBody>
          </p:sp>
        </mc:Fallback>
      </mc:AlternateContent>
      <p:pic>
        <p:nvPicPr>
          <p:cNvPr id="30" name="Imagen 29">
            <a:extLst>
              <a:ext uri="{FF2B5EF4-FFF2-40B4-BE49-F238E27FC236}">
                <a16:creationId xmlns:a16="http://schemas.microsoft.com/office/drawing/2014/main" id="{2822B486-B39E-43A4-8D0E-84E74715BA04}"/>
              </a:ext>
            </a:extLst>
          </p:cNvPr>
          <p:cNvPicPr/>
          <p:nvPr/>
        </p:nvPicPr>
        <p:blipFill>
          <a:blip r:embed="rId4"/>
          <a:srcRect/>
          <a:stretch/>
        </p:blipFill>
        <p:spPr>
          <a:xfrm>
            <a:off x="2737016" y="847586"/>
            <a:ext cx="6471956" cy="4169117"/>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3BAD8A74-ED17-4DE0-BB26-DD9B139160BE}"/>
                  </a:ext>
                </a:extLst>
              </p:cNvPr>
              <p:cNvSpPr txBox="1"/>
              <p:nvPr/>
            </p:nvSpPr>
            <p:spPr>
              <a:xfrm>
                <a:off x="4447246" y="5098577"/>
                <a:ext cx="3297201" cy="430887"/>
              </a:xfrm>
              <a:prstGeom prst="rect">
                <a:avLst/>
              </a:prstGeom>
              <a:noFill/>
            </p:spPr>
            <p:txBody>
              <a:bodyPr wrap="square">
                <a:spAutoFit/>
              </a:bodyPr>
              <a:lstStyle/>
              <a:p>
                <a:r>
                  <a:rPr lang="es-AR" sz="1100" i="1" dirty="0">
                    <a:solidFill>
                      <a:schemeClr val="tx1"/>
                    </a:solidFill>
                    <a:latin typeface="Calibri" pitchFamily="34" charset="0"/>
                    <a:ea typeface="Calibri" pitchFamily="34" charset="-122"/>
                    <a:cs typeface="Calibri" pitchFamily="34" charset="-120"/>
                  </a:rPr>
                  <a:t>FIGURA: </a:t>
                </a:r>
                <a:r>
                  <a:rPr lang="es-AR" sz="1100" i="1" dirty="0"/>
                  <a:t>Figura 98: Torque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𝑇</m:t>
                        </m:r>
                      </m:e>
                      <m:sub>
                        <m:r>
                          <a:rPr lang="es-AR" sz="1100" i="1">
                            <a:latin typeface="Cambria Math" panose="02040503050406030204" pitchFamily="18" charset="0"/>
                          </a:rPr>
                          <m:t>𝑚</m:t>
                        </m:r>
                      </m:sub>
                    </m:sSub>
                  </m:oMath>
                </a14:m>
                <a:r>
                  <a:rPr lang="es-AR" sz="1100" i="1" dirty="0"/>
                  <a:t>con controlador discreto</a:t>
                </a:r>
              </a:p>
              <a:p>
                <a:pPr marL="0" indent="0" algn="ctr">
                  <a:buNone/>
                </a:pPr>
                <a:endParaRPr lang="es-AR" sz="1100" i="1" dirty="0">
                  <a:solidFill>
                    <a:schemeClr val="tx2"/>
                  </a:solidFill>
                </a:endParaRPr>
              </a:p>
            </p:txBody>
          </p:sp>
        </mc:Choice>
        <mc:Fallback xmlns="">
          <p:sp>
            <p:nvSpPr>
              <p:cNvPr id="31" name="CuadroTexto 30">
                <a:extLst>
                  <a:ext uri="{FF2B5EF4-FFF2-40B4-BE49-F238E27FC236}">
                    <a16:creationId xmlns:a16="http://schemas.microsoft.com/office/drawing/2014/main" id="{3BAD8A74-ED17-4DE0-BB26-DD9B139160BE}"/>
                  </a:ext>
                </a:extLst>
              </p:cNvPr>
              <p:cNvSpPr txBox="1">
                <a:spLocks noRot="1" noChangeAspect="1" noMove="1" noResize="1" noEditPoints="1" noAdjustHandles="1" noChangeArrowheads="1" noChangeShapeType="1" noTextEdit="1"/>
              </p:cNvSpPr>
              <p:nvPr/>
            </p:nvSpPr>
            <p:spPr>
              <a:xfrm>
                <a:off x="4447246" y="5098577"/>
                <a:ext cx="3297201" cy="430887"/>
              </a:xfrm>
              <a:prstGeom prst="rect">
                <a:avLst/>
              </a:prstGeom>
              <a:blipFill>
                <a:blip r:embed="rId5"/>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D3311189-B744-4EFD-BA00-1A74FEE392C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81E208C3-6D93-4665-9F14-981A6731BF0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17351032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45930"/>
            <a:ext cx="3069943" cy="415498"/>
          </a:xfrm>
          <a:prstGeom prst="rect">
            <a:avLst/>
          </a:prstGeom>
          <a:noFill/>
        </p:spPr>
        <p:txBody>
          <a:bodyPr wrap="none">
            <a:spAutoFit/>
          </a:bodyPr>
          <a:lstStyle/>
          <a:p>
            <a:pPr algn="l"/>
            <a:r>
              <a:rPr lang="es-AR" sz="2100" b="1" dirty="0">
                <a:solidFill>
                  <a:srgbClr val="FFFFFF"/>
                </a:solidFill>
                <a:latin typeface="Cambria"/>
              </a:rPr>
              <a:t>Modelo final codificado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9" name="Imagen 18">
            <a:extLst>
              <a:ext uri="{FF2B5EF4-FFF2-40B4-BE49-F238E27FC236}">
                <a16:creationId xmlns:a16="http://schemas.microsoft.com/office/drawing/2014/main" id="{5B21EE59-DCD7-4AE8-94A0-54322EAD4511}"/>
              </a:ext>
            </a:extLst>
          </p:cNvPr>
          <p:cNvPicPr>
            <a:picLocks noChangeAspect="1"/>
          </p:cNvPicPr>
          <p:nvPr/>
        </p:nvPicPr>
        <p:blipFill>
          <a:blip r:embed="rId2"/>
          <a:srcRect/>
          <a:stretch/>
        </p:blipFill>
        <p:spPr>
          <a:xfrm>
            <a:off x="-610" y="2604265"/>
            <a:ext cx="12192000" cy="3356554"/>
          </a:xfrm>
          <a:prstGeom prst="rect">
            <a:avLst/>
          </a:prstGeom>
        </p:spPr>
      </p:pic>
      <p:sp>
        <p:nvSpPr>
          <p:cNvPr id="22" name="Rectangle 15">
            <a:extLst>
              <a:ext uri="{FF2B5EF4-FFF2-40B4-BE49-F238E27FC236}">
                <a16:creationId xmlns:a16="http://schemas.microsoft.com/office/drawing/2014/main" id="{198FF9F3-3AF4-4354-81FD-EC0CDA5B529F}"/>
              </a:ext>
            </a:extLst>
          </p:cNvPr>
          <p:cNvSpPr/>
          <p:nvPr/>
        </p:nvSpPr>
        <p:spPr>
          <a:xfrm>
            <a:off x="137159" y="898398"/>
            <a:ext cx="11359515" cy="138226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3" name="TextBox 16">
                <a:extLst>
                  <a:ext uri="{FF2B5EF4-FFF2-40B4-BE49-F238E27FC236}">
                    <a16:creationId xmlns:a16="http://schemas.microsoft.com/office/drawing/2014/main" id="{53767F22-EC6A-45E9-99D5-AE28AEB2AF5A}"/>
                  </a:ext>
                </a:extLst>
              </p:cNvPr>
              <p:cNvSpPr txBox="1"/>
              <p:nvPr/>
            </p:nvSpPr>
            <p:spPr>
              <a:xfrm>
                <a:off x="274319" y="944118"/>
                <a:ext cx="11222355" cy="1277273"/>
              </a:xfrm>
              <a:prstGeom prst="rect">
                <a:avLst/>
              </a:prstGeom>
              <a:noFill/>
            </p:spPr>
            <p:txBody>
              <a:bodyPr wrap="square">
                <a:spAutoFit/>
              </a:bodyPr>
              <a:lstStyle/>
              <a:p>
                <a:pPr algn="just"/>
                <a:r>
                  <a:rPr lang="es-AR" sz="1600" dirty="0">
                    <a:latin typeface="+mj-lt"/>
                  </a:rPr>
                  <a:t>Diagrama de bloques final con la implementación codificada del controlador externo. </a:t>
                </a:r>
                <a:r>
                  <a:rPr lang="es-AR" sz="1600" dirty="0">
                    <a:effectLst/>
                    <a:latin typeface="+mj-lt"/>
                    <a:ea typeface="Calibri" panose="020F0502020204030204" pitchFamily="34" charset="0"/>
                    <a:cs typeface="Times New Roman" panose="02020603050405020304" pitchFamily="18" charset="0"/>
                  </a:rPr>
                  <a:t>Esta implementación reemplaza la estructura gráfica del controlador por un algoritmo secuencial ejecutado en cada período de muestreo </a:t>
                </a:r>
                <a14:m>
                  <m:oMath xmlns:m="http://schemas.openxmlformats.org/officeDocument/2006/math">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rPr>
                          <m:t>𝑠</m:t>
                        </m:r>
                      </m:sub>
                    </m:sSub>
                  </m:oMath>
                </a14:m>
                <a:r>
                  <a:rPr lang="es-AR" sz="1600" dirty="0">
                    <a:effectLst/>
                    <a:latin typeface="+mj-lt"/>
                    <a:ea typeface="Calibri" panose="020F0502020204030204" pitchFamily="34" charset="0"/>
                    <a:cs typeface="Times New Roman" panose="02020603050405020304" pitchFamily="18" charset="0"/>
                  </a:rPr>
                  <a:t>, utilizando variables persistentes para almacenar los estados internos del sistema. De esta forma, se emula el comportamiento de un controlador digital implementado en un microcontrolador o DSP.</a:t>
                </a:r>
                <a:endParaRPr lang="es-AR" sz="1600" dirty="0">
                  <a:effectLst/>
                  <a:latin typeface="+mj-lt"/>
                  <a:ea typeface="Times New Roman" panose="02020603050405020304" pitchFamily="18" charset="0"/>
                </a:endParaRPr>
              </a:p>
              <a:p>
                <a:pPr algn="l"/>
                <a:endParaRPr sz="1300" dirty="0">
                  <a:solidFill>
                    <a:srgbClr val="1A3A6B"/>
                  </a:solidFill>
                  <a:latin typeface="Calibri"/>
                </a:endParaRPr>
              </a:p>
            </p:txBody>
          </p:sp>
        </mc:Choice>
        <mc:Fallback xmlns="">
          <p:sp>
            <p:nvSpPr>
              <p:cNvPr id="23" name="TextBox 16">
                <a:extLst>
                  <a:ext uri="{FF2B5EF4-FFF2-40B4-BE49-F238E27FC236}">
                    <a16:creationId xmlns:a16="http://schemas.microsoft.com/office/drawing/2014/main" id="{53767F22-EC6A-45E9-99D5-AE28AEB2AF5A}"/>
                  </a:ext>
                </a:extLst>
              </p:cNvPr>
              <p:cNvSpPr txBox="1">
                <a:spLocks noRot="1" noChangeAspect="1" noMove="1" noResize="1" noEditPoints="1" noAdjustHandles="1" noChangeArrowheads="1" noChangeShapeType="1" noTextEdit="1"/>
              </p:cNvSpPr>
              <p:nvPr/>
            </p:nvSpPr>
            <p:spPr>
              <a:xfrm>
                <a:off x="274319" y="944118"/>
                <a:ext cx="11222355" cy="1277273"/>
              </a:xfrm>
              <a:prstGeom prst="rect">
                <a:avLst/>
              </a:prstGeom>
              <a:blipFill>
                <a:blip r:embed="rId3"/>
                <a:stretch>
                  <a:fillRect l="-272" t="-1435" r="-272"/>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2DA11B25-2160-468C-9C12-C5728FF05D1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61CC0F0E-27FA-482A-AE85-DC199926C92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22469880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2628117" y="5972117"/>
            <a:ext cx="6756389" cy="50007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5">
            <a:extLst>
              <a:ext uri="{FF2B5EF4-FFF2-40B4-BE49-F238E27FC236}">
                <a16:creationId xmlns:a16="http://schemas.microsoft.com/office/drawing/2014/main" id="{5256F758-419A-4566-B4B5-CD4CAECF7228}"/>
              </a:ext>
            </a:extLst>
          </p:cNvPr>
          <p:cNvSpPr/>
          <p:nvPr/>
        </p:nvSpPr>
        <p:spPr>
          <a:xfrm>
            <a:off x="118110" y="1139672"/>
            <a:ext cx="3539490" cy="3054020"/>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4348"/>
            <a:ext cx="4542526" cy="415498"/>
          </a:xfrm>
          <a:prstGeom prst="rect">
            <a:avLst/>
          </a:prstGeom>
          <a:noFill/>
        </p:spPr>
        <p:txBody>
          <a:bodyPr wrap="none">
            <a:spAutoFit/>
          </a:bodyPr>
          <a:lstStyle/>
          <a:p>
            <a:pPr algn="l"/>
            <a:r>
              <a:rPr lang="en-US" sz="2100" b="1" dirty="0" err="1">
                <a:solidFill>
                  <a:srgbClr val="FFFFFF"/>
                </a:solidFill>
                <a:latin typeface="Cambria"/>
              </a:rPr>
              <a:t>Estructura</a:t>
            </a:r>
            <a:r>
              <a:rPr lang="en-US" sz="2100" b="1" dirty="0">
                <a:solidFill>
                  <a:srgbClr val="FFFFFF"/>
                </a:solidFill>
                <a:latin typeface="Cambria"/>
              </a:rPr>
              <a:t> del </a:t>
            </a:r>
            <a:r>
              <a:rPr lang="en-US" sz="2100" b="1" dirty="0" err="1">
                <a:solidFill>
                  <a:srgbClr val="FFFFFF"/>
                </a:solidFill>
                <a:latin typeface="Cambria"/>
              </a:rPr>
              <a:t>algoritmo</a:t>
            </a:r>
            <a:r>
              <a:rPr lang="en-US" sz="2100" b="1" dirty="0">
                <a:solidFill>
                  <a:srgbClr val="FFFFFF"/>
                </a:solidFill>
                <a:latin typeface="Cambria"/>
              </a:rPr>
              <a:t> de control</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22" name="Rectangle 15">
            <a:extLst>
              <a:ext uri="{FF2B5EF4-FFF2-40B4-BE49-F238E27FC236}">
                <a16:creationId xmlns:a16="http://schemas.microsoft.com/office/drawing/2014/main" id="{198FF9F3-3AF4-4354-81FD-EC0CDA5B529F}"/>
              </a:ext>
            </a:extLst>
          </p:cNvPr>
          <p:cNvSpPr/>
          <p:nvPr/>
        </p:nvSpPr>
        <p:spPr>
          <a:xfrm>
            <a:off x="8473134" y="1112871"/>
            <a:ext cx="3539490" cy="3031194"/>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Imagen 9">
            <a:extLst>
              <a:ext uri="{FF2B5EF4-FFF2-40B4-BE49-F238E27FC236}">
                <a16:creationId xmlns:a16="http://schemas.microsoft.com/office/drawing/2014/main" id="{85996C9B-5BFC-4A11-AF3D-45BEA1A2EACF}"/>
              </a:ext>
            </a:extLst>
          </p:cNvPr>
          <p:cNvPicPr/>
          <p:nvPr/>
        </p:nvPicPr>
        <p:blipFill rotWithShape="1">
          <a:blip r:embed="rId2"/>
          <a:srcRect t="1132" b="-47"/>
          <a:stretch/>
        </p:blipFill>
        <p:spPr bwMode="auto">
          <a:xfrm>
            <a:off x="3718867" y="1750102"/>
            <a:ext cx="4651704" cy="4170303"/>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1" name="Rectangle 4">
                <a:extLst>
                  <a:ext uri="{FF2B5EF4-FFF2-40B4-BE49-F238E27FC236}">
                    <a16:creationId xmlns:a16="http://schemas.microsoft.com/office/drawing/2014/main" id="{80288983-C1E7-48F7-84E7-670D673A33F3}"/>
                  </a:ext>
                </a:extLst>
              </p:cNvPr>
              <p:cNvSpPr>
                <a:spLocks noChangeArrowheads="1"/>
              </p:cNvSpPr>
              <p:nvPr/>
            </p:nvSpPr>
            <p:spPr bwMode="auto">
              <a:xfrm>
                <a:off x="118110" y="1080426"/>
                <a:ext cx="3470910" cy="335809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kumimoji="0" lang="es-AR" altLang="es-AR" sz="1400" b="1" i="0" u="none" strike="noStrike" cap="none" normalizeH="0" baseline="0" dirty="0">
                    <a:ln>
                      <a:noFill/>
                    </a:ln>
                    <a:solidFill>
                      <a:schemeClr val="tx1"/>
                    </a:solidFill>
                    <a:effectLst/>
                  </a:rPr>
                  <a:t>Observador de estado aumentado</a:t>
                </a:r>
                <a:r>
                  <a:rPr lang="es-AR" altLang="es-AR" sz="1400" dirty="0"/>
                  <a:t>: E</a:t>
                </a:r>
                <a:r>
                  <a:rPr kumimoji="0" lang="es-AR" altLang="es-AR" sz="1400" b="0" i="0" u="none" strike="noStrike" cap="none" normalizeH="0" baseline="0" dirty="0">
                    <a:ln>
                      <a:noFill/>
                    </a:ln>
                    <a:solidFill>
                      <a:schemeClr val="tx1"/>
                    </a:solidFill>
                    <a:effectLst/>
                  </a:rPr>
                  <a:t>stima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kumimoji="0" lang="es-AR" altLang="es-AR" sz="1400" b="0" i="0" u="none" strike="noStrike" cap="none" normalizeH="0" baseline="0" dirty="0">
                    <a:ln>
                      <a:noFill/>
                    </a:ln>
                    <a:solidFill>
                      <a:schemeClr val="tx1"/>
                    </a:solidFill>
                    <a:effectLst/>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m:t>
                        </m:r>
                      </m:e>
                      <m:sub>
                        <m:r>
                          <a:rPr lang="es-AR" sz="1400" i="1">
                            <a:latin typeface="Cambria Math" panose="02040503050406030204" pitchFamily="18" charset="0"/>
                          </a:rPr>
                          <m:t>𝑚</m:t>
                        </m:r>
                      </m:sub>
                    </m:sSub>
                    <m:r>
                      <a:rPr lang="es-AR" sz="1400" i="1">
                        <a:latin typeface="Cambria Math" panose="02040503050406030204" pitchFamily="18" charset="0"/>
                      </a:rPr>
                      <m:t>(</m:t>
                    </m:r>
                    <m:r>
                      <a:rPr lang="es-AR" sz="1400" i="1">
                        <a:latin typeface="Cambria Math" panose="02040503050406030204" pitchFamily="18" charset="0"/>
                      </a:rPr>
                      <m:t>𝑡</m:t>
                    </m:r>
                    <m:r>
                      <a:rPr lang="es-AR" sz="1400" i="1">
                        <a:latin typeface="Cambria Math" panose="02040503050406030204" pitchFamily="18" charset="0"/>
                      </a:rPr>
                      <m:t>)</m:t>
                    </m:r>
                  </m:oMath>
                </a14:m>
                <a:r>
                  <a:rPr kumimoji="0" lang="es-AR" altLang="es-AR" sz="1400" b="0" i="0" u="none" strike="noStrike" cap="none" normalizeH="0" baseline="0" dirty="0">
                    <a:ln>
                      <a:noFill/>
                    </a:ln>
                    <a:solidFill>
                      <a:schemeClr val="tx1"/>
                    </a:solidFill>
                    <a:effectLst/>
                  </a:rPr>
                  <a:t> y realiza la acción integral a partir de la medición de posición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Generación de referencias</a:t>
                </a:r>
                <a:r>
                  <a:rPr kumimoji="0" lang="es-AR" altLang="es-AR" sz="1400" b="0" i="0" u="none" strike="noStrike" cap="none" normalizeH="0" baseline="0" dirty="0">
                    <a:ln>
                      <a:noFill/>
                    </a:ln>
                    <a:solidFill>
                      <a:schemeClr val="tx1"/>
                    </a:solidFill>
                    <a:effectLst/>
                  </a:rPr>
                  <a:t>: Selecciona modo de velocidad / modo posición, con integración o derivación discreta según corresponda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Controlador externo PID</a:t>
                </a:r>
                <a:r>
                  <a:rPr lang="es-AR" altLang="es-AR" sz="1400" dirty="0"/>
                  <a:t>: O</a:t>
                </a:r>
                <a:r>
                  <a:rPr kumimoji="0" lang="es-AR" altLang="es-AR" sz="1400" b="0" i="0" u="none" strike="noStrike" cap="none" normalizeH="0" baseline="0" dirty="0">
                    <a:ln>
                      <a:noFill/>
                    </a:ln>
                    <a:solidFill>
                      <a:schemeClr val="tx1"/>
                    </a:solidFill>
                    <a:effectLst/>
                  </a:rPr>
                  <a:t>pera sobre el error de velocidad y genera la referencia de torque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𝑟𝑒𝑓</m:t>
                        </m:r>
                      </m:sub>
                    </m:sSub>
                  </m:oMath>
                </a14:m>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2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1" name="Rectangle 4">
                <a:extLst>
                  <a:ext uri="{FF2B5EF4-FFF2-40B4-BE49-F238E27FC236}">
                    <a16:creationId xmlns:a16="http://schemas.microsoft.com/office/drawing/2014/main" id="{80288983-C1E7-48F7-84E7-670D673A33F3}"/>
                  </a:ext>
                </a:extLst>
              </p:cNvPr>
              <p:cNvSpPr>
                <a:spLocks noRot="1" noChangeAspect="1" noMove="1" noResize="1" noEditPoints="1" noAdjustHandles="1" noChangeArrowheads="1" noChangeShapeType="1" noTextEdit="1"/>
              </p:cNvSpPr>
              <p:nvPr/>
            </p:nvSpPr>
            <p:spPr bwMode="auto">
              <a:xfrm>
                <a:off x="118110" y="1080426"/>
                <a:ext cx="3470910" cy="3358099"/>
              </a:xfrm>
              <a:prstGeom prst="rect">
                <a:avLst/>
              </a:prstGeom>
              <a:blipFill>
                <a:blip r:embed="rId3"/>
                <a:stretch>
                  <a:fillRect l="-526" r="-35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Rectangle 7">
                <a:extLst>
                  <a:ext uri="{FF2B5EF4-FFF2-40B4-BE49-F238E27FC236}">
                    <a16:creationId xmlns:a16="http://schemas.microsoft.com/office/drawing/2014/main" id="{98F1B1D7-B89B-410B-8128-15D5DDA1E472}"/>
                  </a:ext>
                </a:extLst>
              </p:cNvPr>
              <p:cNvSpPr>
                <a:spLocks noChangeArrowheads="1"/>
              </p:cNvSpPr>
              <p:nvPr/>
            </p:nvSpPr>
            <p:spPr bwMode="auto">
              <a:xfrm>
                <a:off x="8473133" y="1235981"/>
                <a:ext cx="3539491" cy="26776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lang="es-AR" altLang="es-AR" sz="1400" b="1" dirty="0"/>
                  <a:t>Actualización del observador: </a:t>
                </a:r>
                <a:r>
                  <a:rPr lang="es-AR" altLang="es-AR" sz="1400" dirty="0"/>
                  <a:t>Corrige</a:t>
                </a:r>
                <a:r>
                  <a:rPr lang="es-AR" altLang="es-AR" sz="1400" b="1" dirty="0"/>
                  <a:t> </a:t>
                </a:r>
                <a:r>
                  <a:rPr lang="es-AR" altLang="es-AR" sz="1400" dirty="0"/>
                  <a:t>los estados estimados con el error de observación.</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r>
                  <a:rPr lang="es-AR" altLang="es-AR" sz="1400" b="1" dirty="0"/>
                  <a:t>Modulador de torque: </a:t>
                </a:r>
                <a:r>
                  <a:rPr lang="es-AR" altLang="es-AR" sz="1400" dirty="0"/>
                  <a:t>Calcula </a:t>
                </a:r>
                <a14:m>
                  <m:oMath xmlns:m="http://schemas.openxmlformats.org/officeDocument/2006/math">
                    <m:sSub>
                      <m:sSubPr>
                        <m:ctrlPr>
                          <a:rPr lang="es-AR" sz="11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𝑟𝑒𝑓</m:t>
                        </m:r>
                      </m:sub>
                    </m:sSub>
                  </m:oMath>
                </a14:m>
                <a:r>
                  <a:rPr lang="es-AR" altLang="es-AR" sz="1400" dirty="0"/>
                  <a:t> a partir del modelo mecánico y electromagnético</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pPr>
                <a:endParaRPr lang="es-AR" altLang="es-AR" sz="1400" dirty="0"/>
              </a:p>
              <a:p>
                <a:pPr lvl="0" algn="just" defTabSz="914400" eaLnBrk="0" fontAlgn="base" hangingPunct="0">
                  <a:spcBef>
                    <a:spcPct val="0"/>
                  </a:spcBef>
                  <a:spcAft>
                    <a:spcPct val="0"/>
                  </a:spcAft>
                  <a:buFontTx/>
                  <a:buChar char="•"/>
                </a:pPr>
                <a:r>
                  <a:rPr lang="es-AR" altLang="es-AR" sz="1400" b="1" dirty="0"/>
                  <a:t>Modulador de corriente + desacople: </a:t>
                </a:r>
                <a:r>
                  <a:rPr lang="es-AR" altLang="es-AR" sz="1400" dirty="0"/>
                  <a:t>Reguladores proporcionales por eje y compensación de términos cruzados </a:t>
                </a:r>
              </a:p>
            </p:txBody>
          </p:sp>
        </mc:Choice>
        <mc:Fallback xmlns="">
          <p:sp>
            <p:nvSpPr>
              <p:cNvPr id="14" name="Rectangle 7">
                <a:extLst>
                  <a:ext uri="{FF2B5EF4-FFF2-40B4-BE49-F238E27FC236}">
                    <a16:creationId xmlns:a16="http://schemas.microsoft.com/office/drawing/2014/main" id="{98F1B1D7-B89B-410B-8128-15D5DDA1E472}"/>
                  </a:ext>
                </a:extLst>
              </p:cNvPr>
              <p:cNvSpPr>
                <a:spLocks noRot="1" noChangeAspect="1" noMove="1" noResize="1" noEditPoints="1" noAdjustHandles="1" noChangeArrowheads="1" noChangeShapeType="1" noTextEdit="1"/>
              </p:cNvSpPr>
              <p:nvPr/>
            </p:nvSpPr>
            <p:spPr bwMode="auto">
              <a:xfrm>
                <a:off x="8473133" y="1235981"/>
                <a:ext cx="3539491" cy="2677656"/>
              </a:xfrm>
              <a:prstGeom prst="rect">
                <a:avLst/>
              </a:prstGeom>
              <a:blipFill>
                <a:blip r:embed="rId4"/>
                <a:stretch>
                  <a:fillRect l="-688" t="-228" r="-516" b="-18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p:sp>
        <p:nvSpPr>
          <p:cNvPr id="20" name="CuadroTexto 19">
            <a:extLst>
              <a:ext uri="{FF2B5EF4-FFF2-40B4-BE49-F238E27FC236}">
                <a16:creationId xmlns:a16="http://schemas.microsoft.com/office/drawing/2014/main" id="{B5F975F1-6706-45AB-B2EA-1907C28ABBC5}"/>
              </a:ext>
            </a:extLst>
          </p:cNvPr>
          <p:cNvSpPr txBox="1"/>
          <p:nvPr/>
        </p:nvSpPr>
        <p:spPr>
          <a:xfrm>
            <a:off x="2735274" y="6094238"/>
            <a:ext cx="11193780" cy="253916"/>
          </a:xfrm>
          <a:prstGeom prst="rect">
            <a:avLst/>
          </a:prstGeom>
          <a:noFill/>
        </p:spPr>
        <p:txBody>
          <a:bodyPr wrap="square">
            <a:spAutoFit/>
          </a:bodyPr>
          <a:lstStyle/>
          <a:p>
            <a:pPr algn="just"/>
            <a:r>
              <a:rPr lang="es-AR" sz="1050" dirty="0"/>
              <a:t>Todas las integraciones discretizadas con método de </a:t>
            </a:r>
            <a:r>
              <a:rPr lang="es-AR" sz="1050" dirty="0" err="1"/>
              <a:t>Tustin</a:t>
            </a:r>
            <a:r>
              <a:rPr lang="es-AR" sz="1050" dirty="0"/>
              <a:t>. Estados internos almacenados en variables persistentes.</a:t>
            </a:r>
          </a:p>
        </p:txBody>
      </p:sp>
      <p:sp>
        <p:nvSpPr>
          <p:cNvPr id="15" name="Shape 2">
            <a:extLst>
              <a:ext uri="{FF2B5EF4-FFF2-40B4-BE49-F238E27FC236}">
                <a16:creationId xmlns:a16="http://schemas.microsoft.com/office/drawing/2014/main" id="{699C05DC-E197-46D4-9BC0-57D72EFDD4B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3DD8B458-E2F3-40D8-A839-9BD9531390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469907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681037" y="658368"/>
            <a:ext cx="10853738" cy="54316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dirty="0"/>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2016"/>
            <a:ext cx="4470904" cy="415498"/>
          </a:xfrm>
          <a:prstGeom prst="rect">
            <a:avLst/>
          </a:prstGeom>
          <a:noFill/>
        </p:spPr>
        <p:txBody>
          <a:bodyPr wrap="none">
            <a:spAutoFit/>
          </a:bodyPr>
          <a:lstStyle/>
          <a:p>
            <a:pPr algn="l"/>
            <a:r>
              <a:rPr lang="en-US" sz="2100" b="1" dirty="0" err="1">
                <a:solidFill>
                  <a:srgbClr val="FFFFFF"/>
                </a:solidFill>
                <a:latin typeface="Cambria"/>
              </a:rPr>
              <a:t>Resultados</a:t>
            </a:r>
            <a:r>
              <a:rPr lang="en-US" sz="2100" b="1" dirty="0">
                <a:solidFill>
                  <a:srgbClr val="FFFFFF"/>
                </a:solidFill>
                <a:latin typeface="Cambria"/>
              </a:rPr>
              <a:t>  del </a:t>
            </a:r>
            <a:r>
              <a:rPr lang="en-US" sz="2100" b="1" dirty="0" err="1">
                <a:solidFill>
                  <a:srgbClr val="FFFFFF"/>
                </a:solidFill>
                <a:latin typeface="Cambria"/>
              </a:rPr>
              <a:t>modelo</a:t>
            </a:r>
            <a:r>
              <a:rPr lang="en-US" sz="2100" b="1" dirty="0">
                <a:solidFill>
                  <a:srgbClr val="FFFFFF"/>
                </a:solidFill>
                <a:latin typeface="Cambria"/>
              </a:rPr>
              <a:t> </a:t>
            </a:r>
            <a:r>
              <a:rPr lang="en-US" sz="2100" b="1" dirty="0" err="1">
                <a:solidFill>
                  <a:srgbClr val="FFFFFF"/>
                </a:solidFill>
                <a:latin typeface="Cambria"/>
              </a:rPr>
              <a:t>codificado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15" name="CuadroTexto 14">
            <a:extLst>
              <a:ext uri="{FF2B5EF4-FFF2-40B4-BE49-F238E27FC236}">
                <a16:creationId xmlns:a16="http://schemas.microsoft.com/office/drawing/2014/main" id="{FB446ED9-17A6-4898-9F49-B17E11795EB9}"/>
              </a:ext>
            </a:extLst>
          </p:cNvPr>
          <p:cNvSpPr txBox="1"/>
          <p:nvPr/>
        </p:nvSpPr>
        <p:spPr>
          <a:xfrm>
            <a:off x="668978" y="694367"/>
            <a:ext cx="10853738" cy="543162"/>
          </a:xfrm>
          <a:prstGeom prst="rect">
            <a:avLst/>
          </a:prstGeom>
          <a:noFill/>
        </p:spPr>
        <p:txBody>
          <a:bodyPr wrap="square">
            <a:spAutoFit/>
          </a:bodyPr>
          <a:lstStyle/>
          <a:p>
            <a:pPr marL="0" marR="0" algn="ctr">
              <a:lnSpc>
                <a:spcPct val="107000"/>
              </a:lnSpc>
              <a:spcBef>
                <a:spcPts val="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comportamiento del controlador implementado en texto estructurado fue validado comparando sus resultados con los obtenidos previamente mediante el modelo en bloques de </a:t>
            </a:r>
            <a:r>
              <a:rPr lang="es-AR" sz="1400" dirty="0" err="1">
                <a:effectLst/>
                <a:latin typeface="Calibri" panose="020F0502020204030204" pitchFamily="34" charset="0"/>
                <a:ea typeface="Calibri" panose="020F0502020204030204" pitchFamily="34" charset="0"/>
                <a:cs typeface="Times New Roman" panose="02020603050405020304" pitchFamily="18" charset="0"/>
              </a:rPr>
              <a:t>Simulink</a:t>
            </a:r>
            <a:r>
              <a:rPr lang="es-AR" sz="14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16" name="Imagen 15">
            <a:extLst>
              <a:ext uri="{FF2B5EF4-FFF2-40B4-BE49-F238E27FC236}">
                <a16:creationId xmlns:a16="http://schemas.microsoft.com/office/drawing/2014/main" id="{47E2607F-59BD-4FFC-A7EE-97A01964828E}"/>
              </a:ext>
            </a:extLst>
          </p:cNvPr>
          <p:cNvPicPr/>
          <p:nvPr/>
        </p:nvPicPr>
        <p:blipFill>
          <a:blip r:embed="rId2"/>
          <a:srcRect/>
          <a:stretch/>
        </p:blipFill>
        <p:spPr>
          <a:xfrm>
            <a:off x="320040" y="1245180"/>
            <a:ext cx="4621411" cy="2422822"/>
          </a:xfrm>
          <a:prstGeom prst="rect">
            <a:avLst/>
          </a:prstGeom>
        </p:spPr>
        <p:style>
          <a:lnRef idx="2">
            <a:schemeClr val="accent1"/>
          </a:lnRef>
          <a:fillRef idx="1">
            <a:schemeClr val="lt1"/>
          </a:fillRef>
          <a:effectRef idx="0">
            <a:schemeClr val="accent1"/>
          </a:effectRef>
          <a:fontRef idx="minor">
            <a:schemeClr val="dk1"/>
          </a:fontRef>
        </p:style>
      </p:pic>
      <p:pic>
        <p:nvPicPr>
          <p:cNvPr id="17" name="Imagen 16">
            <a:extLst>
              <a:ext uri="{FF2B5EF4-FFF2-40B4-BE49-F238E27FC236}">
                <a16:creationId xmlns:a16="http://schemas.microsoft.com/office/drawing/2014/main" id="{CFA72D58-4B0F-4BEC-A06D-738ADB9D35F8}"/>
              </a:ext>
            </a:extLst>
          </p:cNvPr>
          <p:cNvPicPr/>
          <p:nvPr/>
        </p:nvPicPr>
        <p:blipFill>
          <a:blip r:embed="rId3"/>
          <a:srcRect/>
          <a:stretch/>
        </p:blipFill>
        <p:spPr>
          <a:xfrm>
            <a:off x="6901986" y="1245180"/>
            <a:ext cx="4721734" cy="2422822"/>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DCFB1DF7-D86E-4A07-8DB2-3638233B0AA9}"/>
              </a:ext>
            </a:extLst>
          </p:cNvPr>
          <p:cNvPicPr/>
          <p:nvPr/>
        </p:nvPicPr>
        <p:blipFill>
          <a:blip r:embed="rId4"/>
          <a:srcRect/>
          <a:stretch/>
        </p:blipFill>
        <p:spPr>
          <a:xfrm>
            <a:off x="3592814" y="3935575"/>
            <a:ext cx="4725369" cy="2422822"/>
          </a:xfrm>
          <a:prstGeom prst="rect">
            <a:avLst/>
          </a:prstGeom>
        </p:spPr>
        <p:style>
          <a:lnRef idx="2">
            <a:schemeClr val="accent1"/>
          </a:lnRef>
          <a:fillRef idx="1">
            <a:schemeClr val="lt1"/>
          </a:fillRef>
          <a:effectRef idx="0">
            <a:schemeClr val="accent1"/>
          </a:effectRef>
          <a:fontRef idx="minor">
            <a:schemeClr val="dk1"/>
          </a:fontRef>
        </p:style>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3DF57B-F855-4801-82A9-11E435668C63}"/>
                  </a:ext>
                </a:extLst>
              </p:cNvPr>
              <p:cNvSpPr txBox="1"/>
              <p:nvPr/>
            </p:nvSpPr>
            <p:spPr>
              <a:xfrm>
                <a:off x="-265741" y="3650925"/>
                <a:ext cx="6148386" cy="276999"/>
              </a:xfrm>
              <a:prstGeom prst="rect">
                <a:avLst/>
              </a:prstGeom>
              <a:noFill/>
            </p:spPr>
            <p:txBody>
              <a:bodyPr wrap="square">
                <a:spAutoFit/>
              </a:bodyPr>
              <a:lstStyle/>
              <a:p>
                <a:pPr marL="0" indent="0" algn="ctr">
                  <a:buNone/>
                </a:pPr>
                <a:r>
                  <a:rPr lang="es-AR" sz="1200" i="1" dirty="0">
                    <a:solidFill>
                      <a:schemeClr val="tx2"/>
                    </a:solidFill>
                    <a:latin typeface="Calibri" pitchFamily="34" charset="0"/>
                    <a:ea typeface="Calibri" pitchFamily="34" charset="-122"/>
                    <a:cs typeface="Calibri" pitchFamily="34" charset="-120"/>
                  </a:rPr>
                  <a:t>FIGURA: </a:t>
                </a:r>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100: Figura 96: Curvas de posición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controlador discreto codificado</a:t>
                </a:r>
                <a:endParaRPr lang="es-AR" sz="1200" i="1" dirty="0">
                  <a:solidFill>
                    <a:schemeClr val="tx2"/>
                  </a:solidFill>
                </a:endParaRPr>
              </a:p>
            </p:txBody>
          </p:sp>
        </mc:Choice>
        <mc:Fallback xmlns="">
          <p:sp>
            <p:nvSpPr>
              <p:cNvPr id="23" name="CuadroTexto 22">
                <a:extLst>
                  <a:ext uri="{FF2B5EF4-FFF2-40B4-BE49-F238E27FC236}">
                    <a16:creationId xmlns:a16="http://schemas.microsoft.com/office/drawing/2014/main" id="{973DF57B-F855-4801-82A9-11E435668C63}"/>
                  </a:ext>
                </a:extLst>
              </p:cNvPr>
              <p:cNvSpPr txBox="1">
                <a:spLocks noRot="1" noChangeAspect="1" noMove="1" noResize="1" noEditPoints="1" noAdjustHandles="1" noChangeArrowheads="1" noChangeShapeType="1" noTextEdit="1"/>
              </p:cNvSpPr>
              <p:nvPr/>
            </p:nvSpPr>
            <p:spPr>
              <a:xfrm>
                <a:off x="-265741" y="3650925"/>
                <a:ext cx="6148386" cy="276999"/>
              </a:xfrm>
              <a:prstGeom prst="rect">
                <a:avLst/>
              </a:prstGeom>
              <a:blipFill>
                <a:blip r:embed="rId5"/>
                <a:stretch>
                  <a:fillRect t="-2222"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02F3835-C550-4082-8AA7-EDF6FA1C8FFF}"/>
                  </a:ext>
                </a:extLst>
              </p:cNvPr>
              <p:cNvSpPr txBox="1"/>
              <p:nvPr/>
            </p:nvSpPr>
            <p:spPr>
              <a:xfrm>
                <a:off x="3021653" y="6341320"/>
                <a:ext cx="6148386" cy="553998"/>
              </a:xfrm>
              <a:prstGeom prst="rect">
                <a:avLst/>
              </a:prstGeom>
              <a:noFill/>
            </p:spPr>
            <p:txBody>
              <a:bodyPr wrap="square">
                <a:spAutoFit/>
              </a:bodyPr>
              <a:lstStyle/>
              <a:p>
                <a:pPr algn="ctr"/>
                <a:r>
                  <a:rPr lang="es-AR" sz="1100" i="1" dirty="0">
                    <a:solidFill>
                      <a:schemeClr val="tx2"/>
                    </a:solidFill>
                    <a:latin typeface="Calibri" pitchFamily="34" charset="0"/>
                    <a:ea typeface="Calibri" pitchFamily="34" charset="-122"/>
                    <a:cs typeface="Calibri" pitchFamily="34" charset="-120"/>
                  </a:rPr>
                  <a:t>FIGURA: </a:t>
                </a:r>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102: Torque </a:t>
                </a:r>
                <a14:m>
                  <m:oMath xmlns:m="http://schemas.openxmlformats.org/officeDocument/2006/math">
                    <m:sSub>
                      <m:sSubPr>
                        <m:ctrlP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 controlador discreto codificado</a:t>
                </a:r>
              </a:p>
              <a:p>
                <a:pPr marL="0" indent="0" algn="ctr">
                  <a:buNone/>
                </a:pPr>
                <a:endParaRPr lang="es-AR" sz="1800" i="1" dirty="0">
                  <a:solidFill>
                    <a:schemeClr val="tx2"/>
                  </a:solidFill>
                </a:endParaRPr>
              </a:p>
            </p:txBody>
          </p:sp>
        </mc:Choice>
        <mc:Fallback xmlns="">
          <p:sp>
            <p:nvSpPr>
              <p:cNvPr id="25" name="CuadroTexto 24">
                <a:extLst>
                  <a:ext uri="{FF2B5EF4-FFF2-40B4-BE49-F238E27FC236}">
                    <a16:creationId xmlns:a16="http://schemas.microsoft.com/office/drawing/2014/main" id="{302F3835-C550-4082-8AA7-EDF6FA1C8FFF}"/>
                  </a:ext>
                </a:extLst>
              </p:cNvPr>
              <p:cNvSpPr txBox="1">
                <a:spLocks noRot="1" noChangeAspect="1" noMove="1" noResize="1" noEditPoints="1" noAdjustHandles="1" noChangeArrowheads="1" noChangeShapeType="1" noTextEdit="1"/>
              </p:cNvSpPr>
              <p:nvPr/>
            </p:nvSpPr>
            <p:spPr>
              <a:xfrm>
                <a:off x="3021653" y="6341320"/>
                <a:ext cx="6148386" cy="553998"/>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E5F5C51E-5D36-4BB9-843D-0CFE06C61DA2}"/>
                  </a:ext>
                </a:extLst>
              </p:cNvPr>
              <p:cNvSpPr txBox="1"/>
              <p:nvPr/>
            </p:nvSpPr>
            <p:spPr>
              <a:xfrm>
                <a:off x="6250006" y="3641464"/>
                <a:ext cx="6148386" cy="276999"/>
              </a:xfrm>
              <a:prstGeom prst="rect">
                <a:avLst/>
              </a:prstGeom>
              <a:noFill/>
            </p:spPr>
            <p:txBody>
              <a:bodyPr wrap="square">
                <a:spAutoFit/>
              </a:bodyPr>
              <a:lstStyle/>
              <a:p>
                <a:pPr marL="0" indent="0" algn="ctr">
                  <a:buNone/>
                </a:pPr>
                <a:r>
                  <a:rPr lang="es-AR" sz="1200" i="1" dirty="0">
                    <a:solidFill>
                      <a:schemeClr val="tx2"/>
                    </a:solidFill>
                    <a:latin typeface="+mj-lt"/>
                    <a:ea typeface="Calibri" pitchFamily="34" charset="-122"/>
                    <a:cs typeface="Calibri" pitchFamily="34" charset="-120"/>
                  </a:rPr>
                  <a:t>FIGURA: </a:t>
                </a:r>
                <a:r>
                  <a:rPr lang="es-AR" sz="1200" i="1" dirty="0">
                    <a:solidFill>
                      <a:schemeClr val="tx2"/>
                    </a:solidFill>
                    <a:effectLst/>
                    <a:latin typeface="+mj-lt"/>
                    <a:ea typeface="Calibri" panose="020F0502020204030204" pitchFamily="34" charset="0"/>
                    <a:cs typeface="Times New Roman" panose="02020603050405020304" pitchFamily="18" charset="0"/>
                  </a:rPr>
                  <a:t>Figura 101: Curvas de velocidad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mj-lt"/>
                    <a:ea typeface="Calibri" panose="020F0502020204030204" pitchFamily="34" charset="0"/>
                    <a:cs typeface="Times New Roman" panose="02020603050405020304" pitchFamily="18" charset="0"/>
                  </a:rPr>
                  <a:t> con controlador discreto codificado</a:t>
                </a:r>
                <a:endParaRPr lang="es-AR" sz="1200" i="1" dirty="0">
                  <a:solidFill>
                    <a:schemeClr val="tx2"/>
                  </a:solidFill>
                  <a:latin typeface="+mj-lt"/>
                </a:endParaRPr>
              </a:p>
            </p:txBody>
          </p:sp>
        </mc:Choice>
        <mc:Fallback xmlns="">
          <p:sp>
            <p:nvSpPr>
              <p:cNvPr id="27" name="CuadroTexto 26">
                <a:extLst>
                  <a:ext uri="{FF2B5EF4-FFF2-40B4-BE49-F238E27FC236}">
                    <a16:creationId xmlns:a16="http://schemas.microsoft.com/office/drawing/2014/main" id="{E5F5C51E-5D36-4BB9-843D-0CFE06C61DA2}"/>
                  </a:ext>
                </a:extLst>
              </p:cNvPr>
              <p:cNvSpPr txBox="1">
                <a:spLocks noRot="1" noChangeAspect="1" noMove="1" noResize="1" noEditPoints="1" noAdjustHandles="1" noChangeArrowheads="1" noChangeShapeType="1" noTextEdit="1"/>
              </p:cNvSpPr>
              <p:nvPr/>
            </p:nvSpPr>
            <p:spPr>
              <a:xfrm>
                <a:off x="6250006" y="3641464"/>
                <a:ext cx="6148386" cy="276999"/>
              </a:xfrm>
              <a:prstGeom prst="rect">
                <a:avLst/>
              </a:prstGeom>
              <a:blipFill>
                <a:blip r:embed="rId7"/>
                <a:stretch>
                  <a:fillRect b="-15217"/>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841F5B3E-D2AC-42F7-990D-5ABFDFC9D1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36D5DDB2-3C29-455E-85B7-C5FB179F250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4318010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4106334" y="1342850"/>
            <a:ext cx="4116059" cy="707886"/>
          </a:xfrm>
          <a:prstGeom prst="rect">
            <a:avLst/>
          </a:prstGeom>
          <a:noFill/>
        </p:spPr>
        <p:txBody>
          <a:bodyPr wrap="square">
            <a:spAutoFit/>
          </a:bodyPr>
          <a:lstStyle/>
          <a:p>
            <a:pPr algn="ctr"/>
            <a:r>
              <a:rPr lang="es-MX" sz="4000" b="1" dirty="0">
                <a:solidFill>
                  <a:srgbClr val="FFFFFF"/>
                </a:solidFill>
                <a:latin typeface="Cambria"/>
              </a:rPr>
              <a:t>¡Muchas gracias! </a:t>
            </a:r>
            <a:endParaRPr sz="4000" b="1" dirty="0">
              <a:solidFill>
                <a:srgbClr val="FFFFFF"/>
              </a:solidFill>
              <a:latin typeface="Cambria"/>
            </a:endParaRPr>
          </a:p>
        </p:txBody>
      </p:sp>
      <p:sp>
        <p:nvSpPr>
          <p:cNvPr id="5" name="Shape 4">
            <a:extLst>
              <a:ext uri="{FF2B5EF4-FFF2-40B4-BE49-F238E27FC236}">
                <a16:creationId xmlns:a16="http://schemas.microsoft.com/office/drawing/2014/main" id="{1F9414B9-10F4-4036-B821-DE35287CE689}"/>
              </a:ext>
            </a:extLst>
          </p:cNvPr>
          <p:cNvSpPr/>
          <p:nvPr/>
        </p:nvSpPr>
        <p:spPr>
          <a:xfrm>
            <a:off x="0" y="6565392"/>
            <a:ext cx="12192000" cy="292608"/>
          </a:xfrm>
          <a:prstGeom prst="rect">
            <a:avLst/>
          </a:prstGeom>
          <a:solidFill>
            <a:srgbClr val="14213D"/>
          </a:solidFill>
          <a:ln w="12700">
            <a:solidFill>
              <a:srgbClr val="14213D"/>
            </a:solidFill>
            <a:prstDash val="solid"/>
          </a:ln>
        </p:spPr>
      </p:sp>
      <p:sp>
        <p:nvSpPr>
          <p:cNvPr id="7" name="CuadroTexto 6">
            <a:extLst>
              <a:ext uri="{FF2B5EF4-FFF2-40B4-BE49-F238E27FC236}">
                <a16:creationId xmlns:a16="http://schemas.microsoft.com/office/drawing/2014/main" id="{EB1FF342-1C3A-46D8-B35F-E64E4D5393ED}"/>
              </a:ext>
            </a:extLst>
          </p:cNvPr>
          <p:cNvSpPr txBox="1"/>
          <p:nvPr/>
        </p:nvSpPr>
        <p:spPr>
          <a:xfrm>
            <a:off x="4496428" y="2942603"/>
            <a:ext cx="3657599" cy="461665"/>
          </a:xfrm>
          <a:prstGeom prst="rect">
            <a:avLst/>
          </a:prstGeom>
          <a:noFill/>
        </p:spPr>
        <p:txBody>
          <a:bodyPr wrap="square">
            <a:spAutoFit/>
          </a:bodyPr>
          <a:lstStyle/>
          <a:p>
            <a:r>
              <a:rPr lang="es-AR" sz="2400" b="1" dirty="0"/>
              <a:t>¿Preguntas o comentarios?</a:t>
            </a:r>
          </a:p>
        </p:txBody>
      </p:sp>
      <p:sp>
        <p:nvSpPr>
          <p:cNvPr id="8" name="Text 8">
            <a:extLst>
              <a:ext uri="{FF2B5EF4-FFF2-40B4-BE49-F238E27FC236}">
                <a16:creationId xmlns:a16="http://schemas.microsoft.com/office/drawing/2014/main" id="{7E439D0E-6122-48CA-93A6-46BA06E0D1AB}"/>
              </a:ext>
            </a:extLst>
          </p:cNvPr>
          <p:cNvSpPr/>
          <p:nvPr/>
        </p:nvSpPr>
        <p:spPr>
          <a:xfrm>
            <a:off x="5030611" y="5971915"/>
            <a:ext cx="7326608" cy="502920"/>
          </a:xfrm>
          <a:prstGeom prst="rect">
            <a:avLst/>
          </a:prstGeom>
          <a:noFill/>
          <a:ln/>
        </p:spPr>
        <p:txBody>
          <a:bodyPr wrap="square" rtlCol="0" anchor="ctr"/>
          <a:lstStyle/>
          <a:p>
            <a:pPr marL="0" indent="0" algn="ctr">
              <a:buNone/>
            </a:pPr>
            <a:r>
              <a:rPr lang="en-US" sz="1600" dirty="0">
                <a:solidFill>
                  <a:schemeClr val="bg1"/>
                </a:solidFill>
                <a:latin typeface="Calibri" pitchFamily="34" charset="0"/>
                <a:ea typeface="Calibri" pitchFamily="34" charset="-122"/>
                <a:cs typeface="Calibri" pitchFamily="34" charset="-120"/>
              </a:rPr>
              <a:t>Juan Stella  —  </a:t>
            </a:r>
            <a:r>
              <a:rPr lang="en-US" sz="1600" dirty="0" err="1">
                <a:solidFill>
                  <a:schemeClr val="bg1"/>
                </a:solidFill>
                <a:latin typeface="Calibri" pitchFamily="34" charset="0"/>
                <a:ea typeface="Calibri" pitchFamily="34" charset="-122"/>
                <a:cs typeface="Calibri" pitchFamily="34" charset="-120"/>
              </a:rPr>
              <a:t>Legajo</a:t>
            </a:r>
            <a:r>
              <a:rPr lang="en-US" sz="1600" dirty="0">
                <a:solidFill>
                  <a:schemeClr val="bg1"/>
                </a:solidFill>
                <a:latin typeface="Calibri" pitchFamily="34" charset="0"/>
                <a:ea typeface="Calibri" pitchFamily="34" charset="-122"/>
                <a:cs typeface="Calibri" pitchFamily="34" charset="-120"/>
              </a:rPr>
              <a:t>: 12552        Juan Francisco Huertas  —  </a:t>
            </a:r>
            <a:r>
              <a:rPr lang="en-US" sz="1600" dirty="0" err="1">
                <a:solidFill>
                  <a:schemeClr val="bg1"/>
                </a:solidFill>
                <a:latin typeface="Calibri" pitchFamily="34" charset="0"/>
                <a:ea typeface="Calibri" pitchFamily="34" charset="-122"/>
                <a:cs typeface="Calibri" pitchFamily="34" charset="-120"/>
              </a:rPr>
              <a:t>Legajo</a:t>
            </a:r>
            <a:r>
              <a:rPr lang="en-US" sz="1600" dirty="0">
                <a:solidFill>
                  <a:schemeClr val="bg1"/>
                </a:solidFill>
                <a:latin typeface="Calibri" pitchFamily="34" charset="0"/>
                <a:ea typeface="Calibri" pitchFamily="34" charset="-122"/>
                <a:cs typeface="Calibri" pitchFamily="34" charset="-120"/>
              </a:rPr>
              <a:t>: 12620</a:t>
            </a:r>
            <a:endParaRPr lang="en-US" sz="1600" dirty="0">
              <a:solidFill>
                <a:schemeClr val="bg1"/>
              </a:solidFill>
            </a:endParaRPr>
          </a:p>
        </p:txBody>
      </p:sp>
    </p:spTree>
    <p:extLst>
      <p:ext uri="{BB962C8B-B14F-4D97-AF65-F5344CB8AC3E}">
        <p14:creationId xmlns:p14="http://schemas.microsoft.com/office/powerpoint/2010/main" val="3585373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06B7BD3-24EE-4E37-BB7E-BDAF6D8AE93C}">
  <we:reference id="wa200010001" version="1.0.0.1" store="en-US" storeType="OMEX"/>
  <we:alternateReferences>
    <we:reference id="wa200010001" version="1.0.0.1" store="en-US" storeType="OMEX"/>
  </we:alternateReferences>
  <we:properties>
    <we:property name="claude.fileId" value="&quot;4f4e5174-8d27-4df9-b004-8766beb56b9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9083</TotalTime>
  <Words>12747</Words>
  <Application>Microsoft Office PowerPoint</Application>
  <PresentationFormat>Panorámica</PresentationFormat>
  <Paragraphs>1278</Paragraphs>
  <Slides>112</Slides>
  <Notes>14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112</vt:i4>
      </vt:variant>
    </vt:vector>
  </HeadingPairs>
  <TitlesOfParts>
    <vt:vector size="119" baseType="lpstr">
      <vt:lpstr>Arial</vt:lpstr>
      <vt:lpstr>Calibri</vt:lpstr>
      <vt:lpstr>Cambria</vt:lpstr>
      <vt:lpstr>Cambria Math</vt:lpstr>
      <vt:lpstr>Symbol</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Juan</dc:creator>
  <cp:keywords/>
  <dc:description>generated using python-pptx</dc:description>
  <cp:lastModifiedBy>juan stella</cp:lastModifiedBy>
  <cp:revision>308</cp:revision>
  <dcterms:created xsi:type="dcterms:W3CDTF">2013-01-27T09:14:16Z</dcterms:created>
  <dcterms:modified xsi:type="dcterms:W3CDTF">2026-05-15T21:17:14Z</dcterms:modified>
  <cp:category/>
</cp:coreProperties>
</file>