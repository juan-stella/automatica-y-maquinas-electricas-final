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4"/>
  </p:notesMasterIdLst>
  <p:sldIdLst>
    <p:sldId id="256" r:id="rId2"/>
    <p:sldId id="257" r:id="rId3"/>
    <p:sldId id="258" r:id="rId4"/>
    <p:sldId id="384" r:id="rId5"/>
    <p:sldId id="261" r:id="rId6"/>
    <p:sldId id="262" r:id="rId7"/>
    <p:sldId id="263" r:id="rId8"/>
    <p:sldId id="382" r:id="rId9"/>
    <p:sldId id="264" r:id="rId10"/>
    <p:sldId id="265" r:id="rId11"/>
    <p:sldId id="266" r:id="rId12"/>
    <p:sldId id="267" r:id="rId13"/>
    <p:sldId id="268" r:id="rId14"/>
    <p:sldId id="269" r:id="rId15"/>
    <p:sldId id="270" r:id="rId16"/>
    <p:sldId id="271" r:id="rId17"/>
    <p:sldId id="272" r:id="rId18"/>
    <p:sldId id="273" r:id="rId19"/>
    <p:sldId id="274" r:id="rId20"/>
    <p:sldId id="386"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295" r:id="rId44"/>
    <p:sldId id="297" r:id="rId45"/>
    <p:sldId id="337" r:id="rId46"/>
    <p:sldId id="296" r:id="rId47"/>
    <p:sldId id="338" r:id="rId48"/>
    <p:sldId id="299" r:id="rId49"/>
    <p:sldId id="298" r:id="rId50"/>
    <p:sldId id="339" r:id="rId51"/>
    <p:sldId id="340" r:id="rId52"/>
    <p:sldId id="385" r:id="rId53"/>
    <p:sldId id="300" r:id="rId54"/>
    <p:sldId id="301" r:id="rId55"/>
    <p:sldId id="302" r:id="rId56"/>
    <p:sldId id="343" r:id="rId57"/>
    <p:sldId id="344" r:id="rId58"/>
    <p:sldId id="303" r:id="rId59"/>
    <p:sldId id="345" r:id="rId60"/>
    <p:sldId id="304" r:id="rId61"/>
    <p:sldId id="346" r:id="rId62"/>
    <p:sldId id="305" r:id="rId63"/>
    <p:sldId id="306" r:id="rId64"/>
    <p:sldId id="347" r:id="rId65"/>
    <p:sldId id="307" r:id="rId66"/>
    <p:sldId id="348" r:id="rId67"/>
    <p:sldId id="309" r:id="rId68"/>
    <p:sldId id="310" r:id="rId69"/>
    <p:sldId id="349" r:id="rId70"/>
    <p:sldId id="311" r:id="rId71"/>
    <p:sldId id="312" r:id="rId72"/>
    <p:sldId id="350" r:id="rId73"/>
    <p:sldId id="351" r:id="rId74"/>
    <p:sldId id="314" r:id="rId75"/>
    <p:sldId id="315" r:id="rId76"/>
    <p:sldId id="316" r:id="rId77"/>
    <p:sldId id="352" r:id="rId78"/>
    <p:sldId id="353" r:id="rId79"/>
    <p:sldId id="354" r:id="rId80"/>
    <p:sldId id="355" r:id="rId81"/>
    <p:sldId id="317" r:id="rId82"/>
    <p:sldId id="356" r:id="rId83"/>
    <p:sldId id="318" r:id="rId84"/>
    <p:sldId id="357" r:id="rId85"/>
    <p:sldId id="319" r:id="rId86"/>
    <p:sldId id="359" r:id="rId87"/>
    <p:sldId id="360" r:id="rId88"/>
    <p:sldId id="361" r:id="rId89"/>
    <p:sldId id="363" r:id="rId90"/>
    <p:sldId id="364" r:id="rId91"/>
    <p:sldId id="362" r:id="rId92"/>
    <p:sldId id="365" r:id="rId93"/>
    <p:sldId id="366" r:id="rId94"/>
    <p:sldId id="320" r:id="rId95"/>
    <p:sldId id="367" r:id="rId96"/>
    <p:sldId id="368" r:id="rId97"/>
    <p:sldId id="369" r:id="rId98"/>
    <p:sldId id="370" r:id="rId99"/>
    <p:sldId id="387" r:id="rId100"/>
    <p:sldId id="321" r:id="rId101"/>
    <p:sldId id="322" r:id="rId102"/>
    <p:sldId id="323" r:id="rId103"/>
    <p:sldId id="372" r:id="rId104"/>
    <p:sldId id="373" r:id="rId105"/>
    <p:sldId id="374" r:id="rId106"/>
    <p:sldId id="375" r:id="rId107"/>
    <p:sldId id="377" r:id="rId108"/>
    <p:sldId id="378" r:id="rId109"/>
    <p:sldId id="379" r:id="rId110"/>
    <p:sldId id="380" r:id="rId111"/>
    <p:sldId id="381" r:id="rId112"/>
    <p:sldId id="388" r:id="rId1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67" autoAdjust="0"/>
    <p:restoredTop sz="96357" autoAdjust="0"/>
  </p:normalViewPr>
  <p:slideViewPr>
    <p:cSldViewPr snapToGrid="0" snapToObjects="1">
      <p:cViewPr varScale="1">
        <p:scale>
          <a:sx n="114" d="100"/>
          <a:sy n="114" d="100"/>
        </p:scale>
        <p:origin x="41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20/5/2026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27</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40</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51</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52</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61</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68</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71</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84</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85</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87</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88</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7" Type="http://schemas.openxmlformats.org/officeDocument/2006/relationships/image" Target="../media/image7.png"/><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100.png"/></Relationships>
</file>

<file path=ppt/slides/_rels/slide7.xml.rels><?xml version="1.0" encoding="UTF-8" standalone="yes"?>
<Relationships xmlns="http://schemas.openxmlformats.org/package/2006/relationships"><Relationship Id="rId8" Type="http://schemas.openxmlformats.org/officeDocument/2006/relationships/image" Target="../media/image610.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110.png"/><Relationship Id="rId2" Type="http://schemas.openxmlformats.org/officeDocument/2006/relationships/image" Target="../media/image2010.png"/><Relationship Id="rId1" Type="http://schemas.openxmlformats.org/officeDocument/2006/relationships/slideLayout" Target="../slideLayouts/slideLayout7.xml"/><Relationship Id="rId6" Type="http://schemas.openxmlformats.org/officeDocument/2006/relationships/image" Target="../media/image25.png"/><Relationship Id="rId4" Type="http://schemas.openxmlformats.org/officeDocument/2006/relationships/image" Target="../media/image22.png"/><Relationship Id="rId9" Type="http://schemas.openxmlformats.org/officeDocument/2006/relationships/image" Target="../media/image910.png"/></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11.png"/><Relationship Id="rId7" Type="http://schemas.openxmlformats.org/officeDocument/2006/relationships/image" Target="../media/image31.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6.xml.rels><?xml version="1.0" encoding="UTF-8" standalone="yes"?>
<Relationships xmlns="http://schemas.openxmlformats.org/package/2006/relationships"><Relationship Id="rId3" Type="http://schemas.openxmlformats.org/officeDocument/2006/relationships/image" Target="../media/image325.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1.png"/><Relationship Id="rId4" Type="http://schemas.openxmlformats.org/officeDocument/2006/relationships/image" Target="../media/image35.png"/></Relationships>
</file>

<file path=ppt/slides/_rels/slide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8" Type="http://schemas.openxmlformats.org/officeDocument/2006/relationships/image" Target="../media/image39.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10" Type="http://schemas.openxmlformats.org/officeDocument/2006/relationships/image" Target="../media/image380.png"/><Relationship Id="rId9"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_rels/slide26.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1.png"/></Relationships>
</file>

<file path=ppt/slides/_rels/slide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4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48.xml.rels><?xml version="1.0" encoding="UTF-8" standalone="yes"?>
<Relationships xmlns="http://schemas.openxmlformats.org/package/2006/relationships"><Relationship Id="rId3" Type="http://schemas.openxmlformats.org/officeDocument/2006/relationships/image" Target="../media/image1110.png"/><Relationship Id="rId7" Type="http://schemas.openxmlformats.org/officeDocument/2006/relationships/image" Target="../media/image103.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4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50.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15.png"/><Relationship Id="rId4" Type="http://schemas.openxmlformats.org/officeDocument/2006/relationships/image" Target="../media/image105.png"/></Relationships>
</file>

<file path=ppt/slides/_rels/slide51.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16.png"/><Relationship Id="rId4" Type="http://schemas.openxmlformats.org/officeDocument/2006/relationships/image" Target="../media/image126.png"/></Relationships>
</file>

<file path=ppt/slides/_rels/slide52.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56.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5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22.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59.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23.png"/></Relationships>
</file>

<file path=ppt/slides/_rels/slide6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1.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4.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6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38.png"/><Relationship Id="rId5" Type="http://schemas.openxmlformats.org/officeDocument/2006/relationships/image" Target="../media/image136.png"/><Relationship Id="rId4" Type="http://schemas.openxmlformats.org/officeDocument/2006/relationships/image" Target="../media/image173.png"/></Relationships>
</file>

<file path=ppt/slides/_rels/slide66.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6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54.png"/><Relationship Id="rId1" Type="http://schemas.openxmlformats.org/officeDocument/2006/relationships/slideLayout" Target="../slideLayouts/slideLayout7.xml"/><Relationship Id="rId5" Type="http://schemas.openxmlformats.org/officeDocument/2006/relationships/image" Target="../media/image185.png"/><Relationship Id="rId4" Type="http://schemas.openxmlformats.org/officeDocument/2006/relationships/image" Target="../media/image18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 Id="rId9" Type="http://schemas.openxmlformats.org/officeDocument/2006/relationships/image" Target="../media/image191.png"/></Relationships>
</file>

<file path=ppt/slides/_rels/slide72.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3.png"/><Relationship Id="rId5" Type="http://schemas.openxmlformats.org/officeDocument/2006/relationships/image" Target="../media/image175.png"/><Relationship Id="rId4" Type="http://schemas.openxmlformats.org/officeDocument/2006/relationships/image" Target="../media/image174.png"/></Relationships>
</file>

<file path=ppt/slides/_rels/slide73.xml.rels><?xml version="1.0" encoding="UTF-8" standalone="yes"?>
<Relationships xmlns="http://schemas.openxmlformats.org/package/2006/relationships"><Relationship Id="rId8" Type="http://schemas.openxmlformats.org/officeDocument/2006/relationships/image" Target="../media/image19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s>
</file>

<file path=ppt/slides/_rels/slide74.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197.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194.png"/><Relationship Id="rId4" Type="http://schemas.openxmlformats.org/officeDocument/2006/relationships/image" Target="../media/image20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198.png"/></Relationships>
</file>

<file path=ppt/slides/_rels/slide77.xml.rels><?xml version="1.0" encoding="UTF-8" standalone="yes"?>
<Relationships xmlns="http://schemas.openxmlformats.org/package/2006/relationships"><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03.png"/><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140.png"/><Relationship Id="rId2" Type="http://schemas.openxmlformats.org/officeDocument/2006/relationships/image" Target="../media/image204.png"/><Relationship Id="rId1" Type="http://schemas.openxmlformats.org/officeDocument/2006/relationships/slideLayout" Target="../slideLayouts/slideLayout7.xml"/><Relationship Id="rId5" Type="http://schemas.openxmlformats.org/officeDocument/2006/relationships/image" Target="../media/image209.png"/><Relationship Id="rId4" Type="http://schemas.openxmlformats.org/officeDocument/2006/relationships/image" Target="../media/image215.png"/></Relationships>
</file>

<file path=ppt/slides/_rels/slide80.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7.png"/><Relationship Id="rId1" Type="http://schemas.openxmlformats.org/officeDocument/2006/relationships/slideLayout" Target="../slideLayouts/slideLayout7.xml"/><Relationship Id="rId4" Type="http://schemas.openxmlformats.org/officeDocument/2006/relationships/image" Target="../media/image212.png"/></Relationships>
</file>

<file path=ppt/slides/_rels/slide81.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2.xml.rels><?xml version="1.0" encoding="UTF-8" standalone="yes"?>
<Relationships xmlns="http://schemas.openxmlformats.org/package/2006/relationships"><Relationship Id="rId3" Type="http://schemas.openxmlformats.org/officeDocument/2006/relationships/image" Target="../media/image216.png"/><Relationship Id="rId2" Type="http://schemas.openxmlformats.org/officeDocument/2006/relationships/image" Target="../media/image21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3.xml.rels><?xml version="1.0" encoding="UTF-8" standalone="yes"?>
<Relationships xmlns="http://schemas.openxmlformats.org/package/2006/relationships"><Relationship Id="rId3" Type="http://schemas.openxmlformats.org/officeDocument/2006/relationships/image" Target="../media/image218.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29.png"/><Relationship Id="rId5" Type="http://schemas.openxmlformats.org/officeDocument/2006/relationships/image" Target="../media/image219.png"/><Relationship Id="rId4" Type="http://schemas.openxmlformats.org/officeDocument/2006/relationships/image" Target="../media/image233.png"/></Relationships>
</file>

<file path=ppt/slides/_rels/slide84.xml.rels><?xml version="1.0" encoding="UTF-8" standalone="yes"?>
<Relationships xmlns="http://schemas.openxmlformats.org/package/2006/relationships"><Relationship Id="rId3" Type="http://schemas.openxmlformats.org/officeDocument/2006/relationships/image" Target="../media/image220.png"/><Relationship Id="rId7" Type="http://schemas.openxmlformats.org/officeDocument/2006/relationships/image" Target="../media/image22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40.png"/><Relationship Id="rId4" Type="http://schemas.openxmlformats.org/officeDocument/2006/relationships/image" Target="../media/image238.png"/></Relationships>
</file>

<file path=ppt/slides/_rels/slide85.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37.png"/><Relationship Id="rId5" Type="http://schemas.openxmlformats.org/officeDocument/2006/relationships/image" Target="../media/image243.png"/><Relationship Id="rId4" Type="http://schemas.openxmlformats.org/officeDocument/2006/relationships/image" Target="../media/image242.png"/></Relationships>
</file>

<file path=ppt/slides/_rels/slide86.xml.rels><?xml version="1.0" encoding="UTF-8" standalone="yes"?>
<Relationships xmlns="http://schemas.openxmlformats.org/package/2006/relationships"><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24.png"/><Relationship Id="rId5" Type="http://schemas.openxmlformats.org/officeDocument/2006/relationships/image" Target="../media/image247.png"/><Relationship Id="rId4" Type="http://schemas.openxmlformats.org/officeDocument/2006/relationships/image" Target="../media/image246.png"/></Relationships>
</file>

<file path=ppt/slides/_rels/slide88.xml.rels><?xml version="1.0" encoding="UTF-8" standalone="yes"?>
<Relationships xmlns="http://schemas.openxmlformats.org/package/2006/relationships"><Relationship Id="rId8" Type="http://schemas.openxmlformats.org/officeDocument/2006/relationships/image" Target="../media/image253.png"/><Relationship Id="rId3" Type="http://schemas.openxmlformats.org/officeDocument/2006/relationships/image" Target="../media/image235.png"/><Relationship Id="rId7" Type="http://schemas.openxmlformats.org/officeDocument/2006/relationships/image" Target="../media/image252.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39.png"/><Relationship Id="rId5" Type="http://schemas.openxmlformats.org/officeDocument/2006/relationships/image" Target="../media/image236.png"/><Relationship Id="rId4" Type="http://schemas.openxmlformats.org/officeDocument/2006/relationships/image" Target="../media/image250.png"/></Relationships>
</file>

<file path=ppt/slides/_rels/slide89.xml.rels><?xml version="1.0" encoding="UTF-8" standalone="yes"?>
<Relationships xmlns="http://schemas.openxmlformats.org/package/2006/relationships"><Relationship Id="rId3" Type="http://schemas.openxmlformats.org/officeDocument/2006/relationships/image" Target="../media/image244.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48.png"/></Relationships>
</file>

<file path=ppt/slides/_rels/slide90.xml.rels><?xml version="1.0" encoding="UTF-8" standalone="yes"?>
<Relationships xmlns="http://schemas.openxmlformats.org/package/2006/relationships"><Relationship Id="rId3" Type="http://schemas.openxmlformats.org/officeDocument/2006/relationships/image" Target="../media/image249.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1.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54.png"/><Relationship Id="rId4" Type="http://schemas.openxmlformats.org/officeDocument/2006/relationships/image" Target="../media/image251.png"/></Relationships>
</file>

<file path=ppt/slides/_rels/slide92.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6.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64.png"/><Relationship Id="rId5" Type="http://schemas.openxmlformats.org/officeDocument/2006/relationships/image" Target="../media/image257.png"/><Relationship Id="rId4" Type="http://schemas.openxmlformats.org/officeDocument/2006/relationships/image" Target="../media/image256.png"/></Relationships>
</file>

<file path=ppt/slides/_rels/slide93.xml.rels><?xml version="1.0" encoding="UTF-8" standalone="yes"?>
<Relationships xmlns="http://schemas.openxmlformats.org/package/2006/relationships"><Relationship Id="rId3" Type="http://schemas.openxmlformats.org/officeDocument/2006/relationships/image" Target="../media/image274.png"/><Relationship Id="rId2" Type="http://schemas.openxmlformats.org/officeDocument/2006/relationships/image" Target="../media/image271.png"/><Relationship Id="rId1" Type="http://schemas.openxmlformats.org/officeDocument/2006/relationships/slideLayout" Target="../slideLayouts/slideLayout7.xml"/><Relationship Id="rId5" Type="http://schemas.openxmlformats.org/officeDocument/2006/relationships/image" Target="../media/image268.png"/><Relationship Id="rId4" Type="http://schemas.openxmlformats.org/officeDocument/2006/relationships/image" Target="../media/image265.png"/></Relationships>
</file>

<file path=ppt/slides/_rels/slide94.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69.png"/><Relationship Id="rId5" Type="http://schemas.openxmlformats.org/officeDocument/2006/relationships/image" Target="../media/image280.png"/><Relationship Id="rId4" Type="http://schemas.openxmlformats.org/officeDocument/2006/relationships/image" Target="../media/image279.png"/></Relationships>
</file>

<file path=ppt/slides/_rels/slide9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270.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2.png"/></Relationships>
</file>

<file path=ppt/slides/_rels/slide96.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5.png"/></Relationships>
</file>

<file path=ppt/slides/_rels/slide97.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81.png"/><Relationship Id="rId4" Type="http://schemas.openxmlformats.org/officeDocument/2006/relationships/image" Target="../media/image277.png"/></Relationships>
</file>

<file path=ppt/slides/_rels/slide98.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84.png"/><Relationship Id="rId4" Type="http://schemas.openxmlformats.org/officeDocument/2006/relationships/image" Target="../media/image283.png"/></Relationships>
</file>

<file path=ppt/slides/_rels/slide99.xml.rels><?xml version="1.0" encoding="UTF-8" standalone="yes"?>
<Relationships xmlns="http://schemas.openxmlformats.org/package/2006/relationships"><Relationship Id="rId2" Type="http://schemas.openxmlformats.org/officeDocument/2006/relationships/image" Target="../media/image288.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89.png"/><Relationship Id="rId1" Type="http://schemas.openxmlformats.org/officeDocument/2006/relationships/slideLayout" Target="../slideLayouts/slideLayout7.xml"/><Relationship Id="rId6" Type="http://schemas.openxmlformats.org/officeDocument/2006/relationships/image" Target="../media/image292.png"/><Relationship Id="rId5" Type="http://schemas.openxmlformats.org/officeDocument/2006/relationships/image" Target="../media/image301.png"/><Relationship Id="rId4" Type="http://schemas.openxmlformats.org/officeDocument/2006/relationships/image" Target="../media/image300.png"/></Relationships>
</file>

<file path=ppt/slides/_rels/slide103.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29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296.png"/></Relationships>
</file>

<file path=ppt/slides/_rels/slide104.xml.rels><?xml version="1.0" encoding="UTF-8" standalone="yes"?>
<Relationships xmlns="http://schemas.openxmlformats.org/package/2006/relationships"><Relationship Id="rId3" Type="http://schemas.openxmlformats.org/officeDocument/2006/relationships/image" Target="../media/image297.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298.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8" Type="http://schemas.openxmlformats.org/officeDocument/2006/relationships/image" Target="../media/image313.png"/><Relationship Id="rId3" Type="http://schemas.openxmlformats.org/officeDocument/2006/relationships/image" Target="../media/image303.png"/><Relationship Id="rId7" Type="http://schemas.openxmlformats.org/officeDocument/2006/relationships/image" Target="../media/image312.png"/><Relationship Id="rId12" Type="http://schemas.openxmlformats.org/officeDocument/2006/relationships/image" Target="../media/image1620.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11.png"/><Relationship Id="rId11" Type="http://schemas.openxmlformats.org/officeDocument/2006/relationships/image" Target="../media/image1610.png"/><Relationship Id="rId5" Type="http://schemas.openxmlformats.org/officeDocument/2006/relationships/image" Target="../media/image309.png"/><Relationship Id="rId10" Type="http://schemas.openxmlformats.org/officeDocument/2006/relationships/image" Target="../media/image1600.png"/><Relationship Id="rId4" Type="http://schemas.openxmlformats.org/officeDocument/2006/relationships/image" Target="../media/image305.png"/><Relationship Id="rId9" Type="http://schemas.openxmlformats.org/officeDocument/2006/relationships/image" Target="../media/image1590.png"/></Relationships>
</file>

<file path=ppt/slides/_rels/slide108.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0.png"/><Relationship Id="rId4" Type="http://schemas.openxmlformats.org/officeDocument/2006/relationships/image" Target="../media/image314.png"/></Relationships>
</file>

<file path=ppt/slides/_rels/slide109.xml.rels><?xml version="1.0" encoding="UTF-8" standalone="yes"?>
<Relationships xmlns="http://schemas.openxmlformats.org/package/2006/relationships"><Relationship Id="rId3" Type="http://schemas.openxmlformats.org/officeDocument/2006/relationships/image" Target="../media/image3190.png"/><Relationship Id="rId2" Type="http://schemas.openxmlformats.org/officeDocument/2006/relationships/image" Target="../media/image315.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6.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1.xml.rels><?xml version="1.0" encoding="UTF-8" standalone="yes"?>
<Relationships xmlns="http://schemas.openxmlformats.org/package/2006/relationships"><Relationship Id="rId3" Type="http://schemas.openxmlformats.org/officeDocument/2006/relationships/image" Target="../media/image318.png"/><Relationship Id="rId7" Type="http://schemas.openxmlformats.org/officeDocument/2006/relationships/image" Target="../media/image1730.png"/><Relationship Id="rId2" Type="http://schemas.openxmlformats.org/officeDocument/2006/relationships/image" Target="../media/image317.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1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5027523" y="87871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479946" y="1548186"/>
            <a:ext cx="1905761" cy="1905761"/>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31280" y="82000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485674"/>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834575"/>
                <a:ext cx="5394960" cy="964883"/>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834575"/>
                <a:ext cx="5394960" cy="964883"/>
              </a:xfrm>
              <a:prstGeom prst="rect">
                <a:avLst/>
              </a:prstGeom>
              <a:blipFill>
                <a:blip r:embed="rId5"/>
                <a:stretch>
                  <a:fillRect l="-226" t="-1266"/>
                </a:stretch>
              </a:blipFill>
              <a:ln/>
            </p:spPr>
            <p:txBody>
              <a:bodyPr/>
              <a:lstStyle/>
              <a:p>
                <a:r>
                  <a:rPr lang="es-AR">
                    <a:noFill/>
                  </a:rPr>
                  <a:t> </a:t>
                </a:r>
              </a:p>
            </p:txBody>
          </p:sp>
        </mc:Fallback>
      </mc:AlternateContent>
      <p:pic>
        <p:nvPicPr>
          <p:cNvPr id="16" name="Picture 2" descr="The four-quadrant operation of a DC motor can be described as follows">
            <a:extLst>
              <a:ext uri="{FF2B5EF4-FFF2-40B4-BE49-F238E27FC236}">
                <a16:creationId xmlns:a16="http://schemas.microsoft.com/office/drawing/2014/main" id="{8D9D9F26-C412-4508-9C72-2443C2C53F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88521" y="4799457"/>
            <a:ext cx="2140577" cy="16840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09728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710198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7101980" cy="1828800"/>
              </a:xfrm>
              <a:prstGeom prst="rect">
                <a:avLst/>
              </a:prstGeom>
              <a:blipFill>
                <a:blip r:embed="rId6"/>
                <a:stretch>
                  <a:fillRect l="-258"/>
                </a:stretch>
              </a:blipFill>
              <a:ln/>
            </p:spPr>
            <p:txBody>
              <a:bodyPr/>
              <a:lstStyle/>
              <a:p>
                <a:r>
                  <a:rPr lang="es-AR">
                    <a:noFill/>
                  </a:rPr>
                  <a:t> </a:t>
                </a:r>
              </a:p>
            </p:txBody>
          </p:sp>
        </mc:Fallback>
      </mc:AlternateContent>
      <p:sp>
        <p:nvSpPr>
          <p:cNvPr id="16" name="Text 12">
            <a:extLst>
              <a:ext uri="{FF2B5EF4-FFF2-40B4-BE49-F238E27FC236}">
                <a16:creationId xmlns:a16="http://schemas.microsoft.com/office/drawing/2014/main" id="{92D774F2-3317-4DE1-86D6-48222FE79DCB}"/>
              </a:ext>
            </a:extLst>
          </p:cNvPr>
          <p:cNvSpPr/>
          <p:nvPr/>
        </p:nvSpPr>
        <p:spPr>
          <a:xfrm>
            <a:off x="7917249" y="3547872"/>
            <a:ext cx="1402919" cy="347472"/>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Perturbaciones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689AEFFE-CB0B-4A91-8B50-4F910362E9B2}"/>
                  </a:ext>
                </a:extLst>
              </p:cNvPr>
              <p:cNvSpPr txBox="1"/>
              <p:nvPr/>
            </p:nvSpPr>
            <p:spPr>
              <a:xfrm>
                <a:off x="8120543" y="3942835"/>
                <a:ext cx="3837964" cy="596061"/>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s-AR" sz="1400" i="1" smtClean="0">
                        <a:latin typeface="Cambria Math" panose="02040503050406030204" pitchFamily="18" charset="0"/>
                      </a:rPr>
                      <m:t>𝑔</m:t>
                    </m:r>
                    <m:r>
                      <a:rPr lang="es-AR" sz="1400" i="1" smtClean="0">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s-MX" sz="140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es-AR" sz="1400" i="1" smtClean="0">
                            <a:latin typeface="Cambria Math" panose="02040503050406030204" pitchFamily="18" charset="0"/>
                            <a:ea typeface="Times New Roman" panose="02020603050405020304" pitchFamily="18" charset="0"/>
                            <a:cs typeface="Calibri" panose="020F0502020204030204" pitchFamily="34" charset="0"/>
                          </a:rPr>
                        </m:ctrlPr>
                      </m:sSubPr>
                      <m:e>
                        <m:r>
                          <a:rPr lang="es-AR" sz="1400" i="1">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latin typeface="Cambria Math" panose="02040503050406030204" pitchFamily="18" charset="0"/>
                            <a:ea typeface="Times New Roman" panose="02020603050405020304" pitchFamily="18" charset="0"/>
                            <a:cs typeface="Calibri" panose="020F0502020204030204" pitchFamily="34" charset="0"/>
                          </a:rPr>
                        </m:ctrlPr>
                      </m:dPr>
                      <m:e>
                        <m:r>
                          <a:rPr lang="es-AR" sz="1400" i="1">
                            <a:latin typeface="Cambria Math" panose="02040503050406030204" pitchFamily="18" charset="0"/>
                            <a:ea typeface="Times New Roman" panose="02020603050405020304" pitchFamily="18" charset="0"/>
                            <a:cs typeface="Calibri" panose="020F0502020204030204" pitchFamily="34" charset="0"/>
                          </a:rPr>
                          <m:t>𝑡</m:t>
                        </m:r>
                      </m:e>
                    </m:d>
                    <m:r>
                      <a:rPr lang="es-AR" sz="1400" i="1">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latin typeface="Cambria Math" panose="02040503050406030204" pitchFamily="18" charset="0"/>
                            <a:ea typeface="Times New Roman" panose="02020603050405020304" pitchFamily="18" charset="0"/>
                            <a:cs typeface="Calibri" panose="020F0502020204030204" pitchFamily="34" charset="0"/>
                          </a:rPr>
                        </m:ctrlPr>
                      </m:dPr>
                      <m:e>
                        <m:r>
                          <a:rPr lang="es-AR" sz="1400" i="1">
                            <a:latin typeface="Cambria Math" panose="02040503050406030204" pitchFamily="18" charset="0"/>
                            <a:ea typeface="Times New Roman" panose="02020603050405020304" pitchFamily="18" charset="0"/>
                            <a:cs typeface="Calibri" panose="020F0502020204030204" pitchFamily="34" charset="0"/>
                          </a:rPr>
                          <m:t>0±5.0</m:t>
                        </m:r>
                      </m:e>
                    </m:d>
                    <m:r>
                      <a:rPr lang="es-AR" sz="1400" i="1">
                        <a:latin typeface="Cambria Math" panose="02040503050406030204" pitchFamily="18" charset="0"/>
                        <a:ea typeface="Times New Roman" panose="02020603050405020304" pitchFamily="18" charset="0"/>
                        <a:cs typeface="Calibri" panose="020F0502020204030204" pitchFamily="34" charset="0"/>
                      </a:rPr>
                      <m:t> </m:t>
                    </m:r>
                    <m:r>
                      <a:rPr lang="es-AR" sz="1400" i="1">
                        <a:latin typeface="Cambria Math" panose="02040503050406030204" pitchFamily="18" charset="0"/>
                        <a:ea typeface="Times New Roman" panose="02020603050405020304" pitchFamily="18" charset="0"/>
                        <a:cs typeface="Calibri" panose="020F0502020204030204" pitchFamily="34" charset="0"/>
                      </a:rPr>
                      <m:t>𝑁</m:t>
                    </m:r>
                    <m:r>
                      <a:rPr lang="es-AR" sz="1400" i="1">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ea typeface="Times New Roman" panose="02020603050405020304" pitchFamily="18" charset="0"/>
                        <a:cs typeface="Calibri" panose="020F0502020204030204" pitchFamily="34" charset="0"/>
                      </a:rPr>
                      <m:t>𝑚</m:t>
                    </m:r>
                  </m:oMath>
                </a14:m>
                <a:endParaRPr lang="es-AR" sz="1400" dirty="0"/>
              </a:p>
            </p:txBody>
          </p:sp>
        </mc:Choice>
        <mc:Fallback xmlns="">
          <p:sp>
            <p:nvSpPr>
              <p:cNvPr id="17" name="CuadroTexto 16">
                <a:extLst>
                  <a:ext uri="{FF2B5EF4-FFF2-40B4-BE49-F238E27FC236}">
                    <a16:creationId xmlns:a16="http://schemas.microsoft.com/office/drawing/2014/main" id="{689AEFFE-CB0B-4A91-8B50-4F910362E9B2}"/>
                  </a:ext>
                </a:extLst>
              </p:cNvPr>
              <p:cNvSpPr txBox="1">
                <a:spLocks noRot="1" noChangeAspect="1" noMove="1" noResize="1" noEditPoints="1" noAdjustHandles="1" noChangeArrowheads="1" noChangeShapeType="1" noTextEdit="1"/>
              </p:cNvSpPr>
              <p:nvPr/>
            </p:nvSpPr>
            <p:spPr>
              <a:xfrm>
                <a:off x="8120543" y="3942835"/>
                <a:ext cx="3837964" cy="596061"/>
              </a:xfrm>
              <a:prstGeom prst="rect">
                <a:avLst/>
              </a:prstGeom>
              <a:blipFill>
                <a:blip r:embed="rId7"/>
                <a:stretch>
                  <a:fillRect l="-159" b="-6122"/>
                </a:stretch>
              </a:blipFill>
            </p:spPr>
            <p:txBody>
              <a:bodyPr/>
              <a:lstStyle/>
              <a:p>
                <a:r>
                  <a:rPr lang="es-AR">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0" y="1103514"/>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0" y="1103514"/>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629425"/>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10371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08236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08236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732212"/>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732212"/>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782921"/>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782921"/>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776788"/>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776788"/>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316084"/>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319191"/>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059050"/>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059050"/>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pic>
        <p:nvPicPr>
          <p:cNvPr id="16" name="Imagen 15">
            <a:extLst>
              <a:ext uri="{FF2B5EF4-FFF2-40B4-BE49-F238E27FC236}">
                <a16:creationId xmlns:a16="http://schemas.microsoft.com/office/drawing/2014/main" id="{B742D08B-8B80-4687-BFC9-2E8529ABFF12}"/>
              </a:ext>
            </a:extLst>
          </p:cNvPr>
          <p:cNvPicPr>
            <a:picLocks noChangeAspect="1"/>
          </p:cNvPicPr>
          <p:nvPr/>
        </p:nvPicPr>
        <p:blipFill>
          <a:blip r:embed="rId7"/>
          <a:stretch>
            <a:fillRect/>
          </a:stretch>
        </p:blipFill>
        <p:spPr>
          <a:xfrm>
            <a:off x="302626" y="4391745"/>
            <a:ext cx="4316699" cy="2092945"/>
          </a:xfrm>
          <a:prstGeom prst="rect">
            <a:avLst/>
          </a:prstGeom>
        </p:spPr>
      </p:pic>
      <p:sp>
        <p:nvSpPr>
          <p:cNvPr id="17" name="Text 10">
            <a:extLst>
              <a:ext uri="{FF2B5EF4-FFF2-40B4-BE49-F238E27FC236}">
                <a16:creationId xmlns:a16="http://schemas.microsoft.com/office/drawing/2014/main" id="{E59DCB59-1367-4BCF-B1D3-ED7C1C0104E2}"/>
              </a:ext>
            </a:extLst>
          </p:cNvPr>
          <p:cNvSpPr/>
          <p:nvPr/>
        </p:nvSpPr>
        <p:spPr>
          <a:xfrm>
            <a:off x="4693351" y="4871272"/>
            <a:ext cx="5282281"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573947" y="1582514"/>
                <a:ext cx="5007984"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573947" y="1582514"/>
                <a:ext cx="5007984" cy="548640"/>
              </a:xfrm>
              <a:prstGeom prst="rect">
                <a:avLst/>
              </a:prstGeom>
              <a:blipFill>
                <a:blip r:embed="rId2"/>
                <a:stretch>
                  <a:fillRect l="-1946" t="-70000" r="-1217" b="-75556"/>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74320" y="4070657"/>
                <a:ext cx="6155557"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500" dirty="0"/>
              </a:p>
            </p:txBody>
          </p:sp>
        </mc:Choice>
        <mc:Fallback xmlns="">
          <p:sp>
            <p:nvSpPr>
              <p:cNvPr id="17" name="Text 15"/>
              <p:cNvSpPr>
                <a:spLocks noRot="1" noChangeAspect="1" noMove="1" noResize="1" noEditPoints="1" noAdjustHandles="1" noChangeArrowheads="1" noChangeShapeType="1" noTextEdit="1"/>
              </p:cNvSpPr>
              <p:nvPr/>
            </p:nvSpPr>
            <p:spPr>
              <a:xfrm>
                <a:off x="274320" y="4070657"/>
                <a:ext cx="6155557" cy="548640"/>
              </a:xfrm>
              <a:prstGeom prst="rect">
                <a:avLst/>
              </a:prstGeom>
              <a:blipFill>
                <a:blip r:embed="rId3"/>
                <a:stretch>
                  <a:fillRect t="-82222" b="-8666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smtClean="0">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a:t>
            </a:r>
            <a:r>
              <a:rPr lang="en-US" sz="1400" dirty="0" err="1">
                <a:solidFill>
                  <a:srgbClr val="111111"/>
                </a:solidFill>
                <a:latin typeface="Calibri" pitchFamily="34" charset="0"/>
                <a:ea typeface="Calibri" pitchFamily="34" charset="-122"/>
                <a:cs typeface="Calibri" pitchFamily="34" charset="-120"/>
              </a:rPr>
              <a:t>corrientes</a:t>
            </a: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213360" y="1883513"/>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a:t>
            </a:r>
            <a:r>
              <a:rPr lang="en-US" sz="1300" dirty="0" err="1">
                <a:solidFill>
                  <a:srgbClr val="111111"/>
                </a:solidFill>
                <a:latin typeface="Calibri" pitchFamily="34" charset="0"/>
                <a:ea typeface="Calibri" pitchFamily="34" charset="-122"/>
                <a:cs typeface="Calibri" pitchFamily="34" charset="-120"/>
              </a:rPr>
              <a:t>bobinado</a:t>
            </a:r>
            <a:r>
              <a:rPr lang="en-US" sz="1300" dirty="0">
                <a:solidFill>
                  <a:srgbClr val="111111"/>
                </a:solidFill>
                <a:latin typeface="Calibri" pitchFamily="34" charset="0"/>
                <a:ea typeface="Calibri" pitchFamily="34" charset="-122"/>
                <a:cs typeface="Calibri" pitchFamily="34" charset="-120"/>
              </a:rPr>
              <a:t> —</a:t>
            </a:r>
            <a:r>
              <a:rPr lang="en-US" sz="1300" dirty="0" err="1">
                <a:solidFill>
                  <a:srgbClr val="111111"/>
                </a:solidFill>
                <a:latin typeface="Calibri" pitchFamily="34" charset="0"/>
                <a:ea typeface="Calibri" pitchFamily="34" charset="-122"/>
                <a:cs typeface="Calibri" pitchFamily="34" charset="-120"/>
              </a:rPr>
              <a:t>potencia</a:t>
            </a:r>
            <a:r>
              <a:rPr lang="en-US" sz="1300" dirty="0">
                <a:solidFill>
                  <a:srgbClr val="111111"/>
                </a:solidFill>
                <a:latin typeface="Calibri" pitchFamily="34" charset="0"/>
                <a:ea typeface="Calibri" pitchFamily="34" charset="-122"/>
                <a:cs typeface="Calibri" pitchFamily="34" charset="-120"/>
              </a:rPr>
              <a:t> de pérdidas = energía almacenada + energía disipada al ambiente:</a:t>
            </a:r>
            <a:endParaRPr lang="en-US" sz="1300" dirty="0"/>
          </a:p>
        </p:txBody>
      </p:sp>
      <p:sp>
        <p:nvSpPr>
          <p:cNvPr id="12" name="Shape 10"/>
          <p:cNvSpPr/>
          <p:nvPr/>
        </p:nvSpPr>
        <p:spPr>
          <a:xfrm>
            <a:off x="213360" y="406834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2596952"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a:t>
            </a:r>
            <a:r>
              <a:rPr lang="en-US" sz="1300" b="1" dirty="0" err="1">
                <a:solidFill>
                  <a:srgbClr val="1A386B"/>
                </a:solidFill>
                <a:latin typeface="Calibri" pitchFamily="34" charset="0"/>
                <a:ea typeface="Calibri" pitchFamily="34" charset="-122"/>
                <a:cs typeface="Calibri" pitchFamily="34" charset="-120"/>
              </a:rPr>
              <a:t>modelo</a:t>
            </a:r>
            <a:r>
              <a:rPr lang="en-US" sz="1300" b="1" dirty="0">
                <a:solidFill>
                  <a:srgbClr val="1A386B"/>
                </a:solidFill>
                <a:latin typeface="Calibri" pitchFamily="34" charset="0"/>
                <a:ea typeface="Calibri" pitchFamily="34" charset="-122"/>
                <a:cs typeface="Calibri" pitchFamily="34" charset="-120"/>
              </a:rPr>
              <a:t> </a:t>
            </a:r>
            <a:r>
              <a:rPr lang="en-US" sz="1300" b="1" dirty="0" err="1">
                <a:solidFill>
                  <a:srgbClr val="1A386B"/>
                </a:solidFill>
                <a:latin typeface="Calibri" pitchFamily="34" charset="0"/>
                <a:ea typeface="Calibri" pitchFamily="34" charset="-122"/>
                <a:cs typeface="Calibri" pitchFamily="34" charset="-120"/>
              </a:rPr>
              <a:t>térmico</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5348541"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5348541" cy="1179576"/>
              </a:xfrm>
              <a:prstGeom prst="rect">
                <a:avLst/>
              </a:prstGeom>
              <a:blipFill>
                <a:blip r:embed="rId4"/>
                <a:stretch>
                  <a:fillRect l="-342" t="-24742" r="-1368"/>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213360" y="2967933"/>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smtClean="0">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C3A5784-700E-40A3-8636-AF4BA4EF4E20}"/>
                  </a:ext>
                </a:extLst>
              </p:cNvPr>
              <p:cNvSpPr txBox="1"/>
              <p:nvPr/>
            </p:nvSpPr>
            <p:spPr>
              <a:xfrm>
                <a:off x="6479100" y="5381567"/>
                <a:ext cx="2677206" cy="307777"/>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s-AR" sz="1400" i="1" smtClean="0">
                        <a:latin typeface="Cambria Math" panose="02040503050406030204" pitchFamily="18" charset="0"/>
                      </a:rPr>
                      <m:t>−15 °</m:t>
                    </m:r>
                    <m:r>
                      <a:rPr lang="es-AR" sz="1400" i="1" smtClean="0">
                        <a:latin typeface="Cambria Math" panose="02040503050406030204" pitchFamily="18" charset="0"/>
                      </a:rPr>
                      <m:t>𝐶</m:t>
                    </m:r>
                    <m:r>
                      <a:rPr lang="es-AR" sz="1400" i="1" smtClean="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s-AR" sz="1400" dirty="0"/>
              </a:p>
            </p:txBody>
          </p:sp>
        </mc:Choice>
        <mc:Fallback xmlns="">
          <p:sp>
            <p:nvSpPr>
              <p:cNvPr id="19" name="CuadroTexto 18">
                <a:extLst>
                  <a:ext uri="{FF2B5EF4-FFF2-40B4-BE49-F238E27FC236}">
                    <a16:creationId xmlns:a16="http://schemas.microsoft.com/office/drawing/2014/main" id="{8C3A5784-700E-40A3-8636-AF4BA4EF4E20}"/>
                  </a:ext>
                </a:extLst>
              </p:cNvPr>
              <p:cNvSpPr txBox="1">
                <a:spLocks noRot="1" noChangeAspect="1" noMove="1" noResize="1" noEditPoints="1" noAdjustHandles="1" noChangeArrowheads="1" noChangeShapeType="1" noTextEdit="1"/>
              </p:cNvSpPr>
              <p:nvPr/>
            </p:nvSpPr>
            <p:spPr>
              <a:xfrm>
                <a:off x="6479100" y="5381567"/>
                <a:ext cx="2677206" cy="307777"/>
              </a:xfrm>
              <a:prstGeom prst="rect">
                <a:avLst/>
              </a:prstGeom>
              <a:blipFill>
                <a:blip r:embed="rId6"/>
                <a:stretch>
                  <a:fillRect l="-456" b="-14000"/>
                </a:stretch>
              </a:blipFill>
            </p:spPr>
            <p:txBody>
              <a:bodyPr/>
              <a:lstStyle/>
              <a:p>
                <a:r>
                  <a:rPr lang="es-AR">
                    <a:noFill/>
                  </a:rPr>
                  <a:t> </a:t>
                </a:r>
              </a:p>
            </p:txBody>
          </p:sp>
        </mc:Fallback>
      </mc:AlternateContent>
      <p:sp>
        <p:nvSpPr>
          <p:cNvPr id="20" name="Text 12">
            <a:extLst>
              <a:ext uri="{FF2B5EF4-FFF2-40B4-BE49-F238E27FC236}">
                <a16:creationId xmlns:a16="http://schemas.microsoft.com/office/drawing/2014/main" id="{385CF5C3-DAC8-46F5-BB44-14BE420707A7}"/>
              </a:ext>
            </a:extLst>
          </p:cNvPr>
          <p:cNvSpPr/>
          <p:nvPr/>
        </p:nvSpPr>
        <p:spPr>
          <a:xfrm>
            <a:off x="6321943" y="5020139"/>
            <a:ext cx="2596952" cy="384048"/>
          </a:xfrm>
          <a:prstGeom prst="rect">
            <a:avLst/>
          </a:prstGeom>
          <a:noFill/>
          <a:ln/>
        </p:spPr>
        <p:txBody>
          <a:bodyPr wrap="square" rtlCol="0" anchor="t"/>
          <a:lstStyle/>
          <a:p>
            <a:pPr marL="0" indent="0" algn="l">
              <a:buNone/>
            </a:pPr>
            <a:r>
              <a:rPr lang="en-US" sz="1300" b="1" dirty="0" err="1">
                <a:solidFill>
                  <a:srgbClr val="1A386B"/>
                </a:solidFill>
                <a:latin typeface="Calibri" pitchFamily="34" charset="0"/>
                <a:ea typeface="Calibri" pitchFamily="34" charset="-122"/>
                <a:cs typeface="Calibri" pitchFamily="34" charset="-120"/>
              </a:rPr>
              <a:t>Perturbaciones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pic>
        <p:nvPicPr>
          <p:cNvPr id="15" name="Imagen 14">
            <a:extLst>
              <a:ext uri="{FF2B5EF4-FFF2-40B4-BE49-F238E27FC236}">
                <a16:creationId xmlns:a16="http://schemas.microsoft.com/office/drawing/2014/main" id="{EDD9B0C2-A4AE-470B-BD78-B2B38C17C5D3}"/>
              </a:ext>
            </a:extLst>
          </p:cNvPr>
          <p:cNvPicPr>
            <a:picLocks noChangeAspect="1"/>
          </p:cNvPicPr>
          <p:nvPr/>
        </p:nvPicPr>
        <p:blipFill>
          <a:blip r:embed="rId7"/>
          <a:stretch>
            <a:fillRect/>
          </a:stretch>
        </p:blipFill>
        <p:spPr>
          <a:xfrm>
            <a:off x="6905150" y="4047593"/>
            <a:ext cx="4220235" cy="842345"/>
          </a:xfrm>
          <a:prstGeom prst="rect">
            <a:avLst/>
          </a:prstGeom>
        </p:spPr>
      </p:pic>
      <p:sp>
        <p:nvSpPr>
          <p:cNvPr id="17" name="CuadroTexto 16">
            <a:extLst>
              <a:ext uri="{FF2B5EF4-FFF2-40B4-BE49-F238E27FC236}">
                <a16:creationId xmlns:a16="http://schemas.microsoft.com/office/drawing/2014/main" id="{2B47554C-3CFC-4A0C-915A-AF3092AC39BD}"/>
              </a:ext>
            </a:extLst>
          </p:cNvPr>
          <p:cNvSpPr txBox="1"/>
          <p:nvPr/>
        </p:nvSpPr>
        <p:spPr>
          <a:xfrm>
            <a:off x="5539740" y="4917370"/>
            <a:ext cx="6438900" cy="430887"/>
          </a:xfrm>
          <a:prstGeom prst="rect">
            <a:avLst/>
          </a:prstGeom>
          <a:noFill/>
        </p:spPr>
        <p:txBody>
          <a:bodyPr wrap="square">
            <a:spAutoFit/>
          </a:bodyPr>
          <a:lstStyle/>
          <a:p>
            <a:r>
              <a:rPr lang="es-AR" sz="1100" dirty="0"/>
              <a:t>La alta frecuencia del PWM (5kHz) es filtrada naturalmente por la inductancia del motor, permitiéndonos trabajar solo con la componente fundamental que efectivamente controla el movimiento del brazo.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176653"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left"/>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smtClean="0">
                                            <a:latin typeface="Cambria Math" panose="02040503050406030204" pitchFamily="18" charset="0"/>
                                          </a:rPr>
                                        </m:ctrlPr>
                                      </m:dPr>
                                      <m:e>
                                        <m:sSub>
                                          <m:sSubPr>
                                            <m:ctrlPr>
                                              <a:rPr lang="es-AR" sz="1500" i="1" smtClean="0">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176653"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7595111-B765-4817-96C6-473C4B8ED581}"/>
                  </a:ext>
                </a:extLst>
              </p:cNvPr>
              <p:cNvSpPr txBox="1"/>
              <p:nvPr/>
            </p:nvSpPr>
            <p:spPr>
              <a:xfrm>
                <a:off x="6241684" y="3938944"/>
                <a:ext cx="6102990" cy="414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sz="1400" dirty="0"/>
              </a:p>
            </p:txBody>
          </p:sp>
        </mc:Choice>
        <mc:Fallback xmlns="">
          <p:sp>
            <p:nvSpPr>
              <p:cNvPr id="10" name="CuadroTexto 9">
                <a:extLst>
                  <a:ext uri="{FF2B5EF4-FFF2-40B4-BE49-F238E27FC236}">
                    <a16:creationId xmlns:a16="http://schemas.microsoft.com/office/drawing/2014/main" id="{A7595111-B765-4817-96C6-473C4B8ED581}"/>
                  </a:ext>
                </a:extLst>
              </p:cNvPr>
              <p:cNvSpPr txBox="1">
                <a:spLocks noRot="1" noChangeAspect="1" noMove="1" noResize="1" noEditPoints="1" noAdjustHandles="1" noChangeArrowheads="1" noChangeShapeType="1" noTextEdit="1"/>
              </p:cNvSpPr>
              <p:nvPr/>
            </p:nvSpPr>
            <p:spPr>
              <a:xfrm>
                <a:off x="6241684" y="3938944"/>
                <a:ext cx="6102990" cy="414729"/>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69105"/>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69105"/>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b="0" i="1">
                                        <a:latin typeface="Cambria Math" panose="02040503050406030204" pitchFamily="18" charset="0"/>
                                      </a:rPr>
                                      <m:t>𝑥</m:t>
                                    </m:r>
                                  </m:e>
                                </m:acc>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b="0" i="1">
                                            <a:latin typeface="Cambria Math" panose="02040503050406030204" pitchFamily="18" charset="0"/>
                                          </a:rPr>
                                          <m:t>𝑋</m:t>
                                        </m:r>
                                      </m:e>
                                    </m:acc>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acc>
                                  <m:accPr>
                                    <m:chr m:val="̇"/>
                                    <m:ctrlPr>
                                      <a:rPr lang="es-AR" sz="1600" i="1">
                                        <a:latin typeface="Cambria Math" panose="02040503050406030204" pitchFamily="18" charset="0"/>
                                      </a:rPr>
                                    </m:ctrlPr>
                                  </m:accPr>
                                  <m:e>
                                    <m:r>
                                      <a:rPr lang="es-AR" sz="1600" b="0" i="1">
                                        <a:latin typeface="Cambria Math" panose="02040503050406030204" pitchFamily="18" charset="0"/>
                                      </a:rPr>
                                      <m:t>𝑥</m:t>
                                    </m:r>
                                  </m:e>
                                </m:acc>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 </m:t>
                                        </m:r>
                                        <m:r>
                                          <a:rPr lang="es-AR" sz="1600" b="0" i="1">
                                            <a:latin typeface="Cambria Math" panose="02040503050406030204" pitchFamily="18" charset="0"/>
                                          </a:rPr>
                                          <m:t>𝑈</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𝑢</m:t>
                                    </m:r>
                                    <m:d>
                                      <m:dPr>
                                        <m:ctrlPr>
                                          <a:rPr lang="es-AR" sz="1600" i="1">
                                            <a:latin typeface="Cambria Math" panose="02040503050406030204" pitchFamily="18" charset="0"/>
                                          </a:rPr>
                                        </m:ctrlPr>
                                      </m:dPr>
                                      <m:e>
                                        <m:r>
                                          <a:rPr lang="es-AR" sz="1600" b="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𝑥</m:t>
                                    </m:r>
                                  </m:e>
                                  <m:sub>
                                    <m:r>
                                      <a:rPr lang="es-AR" sz="1600" b="0" i="1">
                                        <a:latin typeface="Cambria Math" panose="02040503050406030204" pitchFamily="18" charset="0"/>
                                      </a:rPr>
                                      <m:t>0</m:t>
                                    </m:r>
                                  </m:sub>
                                </m:sSub>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𝑥</m:t>
                                    </m:r>
                                  </m:e>
                                  <m:sub>
                                    <m:r>
                                      <a:rPr lang="es-AR" sz="1600" b="0" i="1">
                                        <a:latin typeface="Cambria Math" panose="02040503050406030204" pitchFamily="18" charset="0"/>
                                      </a:rPr>
                                      <m:t>0</m:t>
                                    </m:r>
                                  </m:sub>
                                </m:sSub>
                                <m:r>
                                  <a:rPr lang="es-AR" sz="1600" b="0" i="1">
                                    <a:latin typeface="Cambria Math" panose="02040503050406030204" pitchFamily="18" charset="0"/>
                                  </a:rPr>
                                  <m:t>,      </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b="0" i="1">
                                        <a:latin typeface="Cambria Math" panose="02040503050406030204" pitchFamily="18" charset="0"/>
                                      </a:rPr>
                                      <m:t>𝑌</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𝑦</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𝐶</m:t>
                                </m:r>
                                <m:r>
                                  <a:rPr lang="es-AR" sz="1600" b="0" i="1">
                                    <a:latin typeface="Cambria Math" panose="02040503050406030204" pitchFamily="18" charset="0"/>
                                  </a:rPr>
                                  <m:t> </m:t>
                                </m:r>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𝐶</m:t>
                                </m:r>
                                <m:r>
                                  <a:rPr lang="es-AR" sz="1600" b="0" i="1">
                                    <a:latin typeface="Cambria Math" panose="02040503050406030204" pitchFamily="18" charset="0"/>
                                  </a:rPr>
                                  <m:t> </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smtClean="0">
                                    <a:latin typeface="Cambria Math" panose="02040503050406030204" pitchFamily="18" charset="0"/>
                                  </a:rPr>
                                  <m:t>       </m:t>
                                </m:r>
                                <m:r>
                                  <a:rPr lang="es-AR" sz="1600" b="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2" y="1463156"/>
            <a:ext cx="9159535" cy="56582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57701"/>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57701"/>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88FB12-F75E-4A29-9959-2F834F8F880C}"/>
              </a:ext>
            </a:extLst>
          </p:cNvPr>
          <p:cNvSpPr>
            <a:spLocks noGrp="1"/>
          </p:cNvSpPr>
          <p:nvPr>
            <p:ph type="ctrTitle"/>
          </p:nvPr>
        </p:nvSpPr>
        <p:spPr/>
        <p:txBody>
          <a:bodyPr/>
          <a:lstStyle/>
          <a:p>
            <a:endParaRPr lang="es-AR"/>
          </a:p>
        </p:txBody>
      </p:sp>
      <p:sp>
        <p:nvSpPr>
          <p:cNvPr id="3" name="Subtítulo 2">
            <a:extLst>
              <a:ext uri="{FF2B5EF4-FFF2-40B4-BE49-F238E27FC236}">
                <a16:creationId xmlns:a16="http://schemas.microsoft.com/office/drawing/2014/main" id="{652584DA-C060-4B7A-938A-0531151C7C52}"/>
              </a:ext>
            </a:extLst>
          </p:cNvPr>
          <p:cNvSpPr>
            <a:spLocks noGrp="1"/>
          </p:cNvSpPr>
          <p:nvPr>
            <p:ph type="subTitle" idx="1"/>
          </p:nvPr>
        </p:nvSpPr>
        <p:spPr/>
        <p:txBody>
          <a:bodyPr/>
          <a:lstStyle/>
          <a:p>
            <a:endParaRPr lang="es-AR"/>
          </a:p>
        </p:txBody>
      </p:sp>
      <p:pic>
        <p:nvPicPr>
          <p:cNvPr id="5" name="Imagen 4">
            <a:extLst>
              <a:ext uri="{FF2B5EF4-FFF2-40B4-BE49-F238E27FC236}">
                <a16:creationId xmlns:a16="http://schemas.microsoft.com/office/drawing/2014/main" id="{3C5F1C77-3B26-4AFF-82A0-865EF7D219C2}"/>
              </a:ext>
            </a:extLst>
          </p:cNvPr>
          <p:cNvPicPr>
            <a:picLocks noChangeAspect="1"/>
          </p:cNvPicPr>
          <p:nvPr/>
        </p:nvPicPr>
        <p:blipFill>
          <a:blip r:embed="rId2"/>
          <a:srcRect/>
          <a:stretch/>
        </p:blipFill>
        <p:spPr>
          <a:xfrm>
            <a:off x="0" y="1866"/>
            <a:ext cx="12286695" cy="6895788"/>
          </a:xfrm>
          <a:prstGeom prst="rect">
            <a:avLst/>
          </a:prstGeom>
        </p:spPr>
      </p:pic>
      <p:sp>
        <p:nvSpPr>
          <p:cNvPr id="7" name="Shape 2">
            <a:extLst>
              <a:ext uri="{FF2B5EF4-FFF2-40B4-BE49-F238E27FC236}">
                <a16:creationId xmlns:a16="http://schemas.microsoft.com/office/drawing/2014/main" id="{07F4DF46-6727-4D7A-9974-4CC2899DCB60}"/>
              </a:ext>
            </a:extLst>
          </p:cNvPr>
          <p:cNvSpPr/>
          <p:nvPr/>
        </p:nvSpPr>
        <p:spPr>
          <a:xfrm>
            <a:off x="-1" y="6565392"/>
            <a:ext cx="12286695"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9BB34DC3-921B-4EFB-A538-4333B0B4DD2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b="1" i="1" smtClean="0">
                            <a:solidFill>
                              <a:schemeClr val="bg1"/>
                            </a:solidFill>
                            <a:effectLst/>
                            <a:latin typeface="Cambria Math" panose="02040503050406030204" pitchFamily="18" charset="0"/>
                            <a:cs typeface="Calibri" panose="020F0502020204030204" pitchFamily="34" charset="0"/>
                          </a:rPr>
                        </m:ctrlPr>
                      </m:sSubPr>
                      <m:e>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𝒊</m:t>
                        </m:r>
                      </m:e>
                      <m:sub>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𝟎</m:t>
                        </m:r>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𝒔</m:t>
                        </m:r>
                      </m:sub>
                    </m:sSub>
                    <m:d>
                      <m:dPr>
                        <m:ctrlPr>
                          <a:rPr lang="es-AR" sz="1000" b="1" i="1">
                            <a:solidFill>
                              <a:schemeClr val="bg1"/>
                            </a:solidFill>
                            <a:effectLst/>
                            <a:latin typeface="Cambria Math" panose="02040503050406030204" pitchFamily="18" charset="0"/>
                            <a:cs typeface="Calibri" panose="020F0502020204030204" pitchFamily="34" charset="0"/>
                          </a:rPr>
                        </m:ctrlPr>
                      </m:dPr>
                      <m:e>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𝒕</m:t>
                        </m:r>
                      </m:e>
                    </m:d>
                  </m:oMath>
                </a14:m>
                <a:r>
                  <a:rPr lang="en-US" sz="1200" b="1"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9"/>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sSubSup>
                                <m:sSubSupPr>
                                  <m:ctrlPr>
                                    <a:rPr lang="es-AR" sz="1400" i="1">
                                      <a:latin typeface="Cambria Math" panose="02040503050406030204" pitchFamily="18" charset="0"/>
                                    </a:rPr>
                                  </m:ctrlPr>
                                </m:sSubSupPr>
                                <m:e>
                                  <m:r>
                                    <a:rPr lang="es-AR" sz="1400" i="1">
                                      <a:latin typeface="Cambria Math" panose="02040503050406030204" pitchFamily="18" charset="0"/>
                                    </a:rPr>
                                    <m:t>−</m:t>
                                  </m:r>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10"/>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570760" y="658368"/>
            <a:ext cx="10545932" cy="558475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5" name="CuadroTexto 14">
            <a:extLst>
              <a:ext uri="{FF2B5EF4-FFF2-40B4-BE49-F238E27FC236}">
                <a16:creationId xmlns:a16="http://schemas.microsoft.com/office/drawing/2014/main" id="{9A639F6C-1BED-47BA-BB04-A7534BAF33FF}"/>
              </a:ext>
            </a:extLst>
          </p:cNvPr>
          <p:cNvSpPr txBox="1"/>
          <p:nvPr/>
        </p:nvSpPr>
        <p:spPr>
          <a:xfrm>
            <a:off x="2915174" y="6214256"/>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2"/>
          <a:stretch>
            <a:fillRect/>
          </a:stretch>
        </p:blipFill>
        <p:spPr>
          <a:xfrm>
            <a:off x="1097489" y="2027830"/>
            <a:ext cx="9252731" cy="4537562"/>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3"/>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4"/>
                <a:stretch>
                  <a:fillRect/>
                </a:stretch>
              </a:blipFill>
              <a:ln/>
            </p:spPr>
            <p:txBody>
              <a:bodyPr/>
              <a:lstStyle/>
              <a:p>
                <a:r>
                  <a:rPr lang="es-AR">
                    <a:noFill/>
                  </a:rPr>
                  <a:t> </a:t>
                </a:r>
              </a:p>
            </p:txBody>
          </p:sp>
        </mc:Fallback>
      </mc:AlternateContent>
      <p:sp>
        <p:nvSpPr>
          <p:cNvPr id="20" name="Text 18"/>
          <p:cNvSpPr/>
          <p:nvPr/>
        </p:nvSpPr>
        <p:spPr>
          <a:xfrm>
            <a:off x="2405237" y="5573047"/>
            <a:ext cx="5177457" cy="364951"/>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5"/>
                <a:stretch>
                  <a:fillRect l="-66" b="-18750"/>
                </a:stretch>
              </a:blipFill>
            </p:spPr>
            <p:txBody>
              <a:bodyPr/>
              <a:lstStyle/>
              <a:p>
                <a:r>
                  <a:rPr lang="es-AR">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772111"/>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smtClean="0">
                                                        <a:solidFill>
                                                          <a:schemeClr val="tx1"/>
                                                        </a:solidFill>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r="-378"/>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rotWithShape="1">
          <a:blip r:embed="rId2"/>
          <a:srcRect r="-4037"/>
          <a:stretch/>
        </p:blipFill>
        <p:spPr>
          <a:xfrm>
            <a:off x="1834064" y="739997"/>
            <a:ext cx="8283059"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11— Sistema LTI equivalente aumentado</a:t>
            </a:r>
            <a:endParaRPr lang="es-AR"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100668" y="1159318"/>
                <a:ext cx="8455189" cy="107965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1</m:t>
                                    </m:r>
                                  </m:sub>
                                </m:sSub>
                                <m:r>
                                  <a:rPr lang="es-AR" sz="1400" i="1">
                                    <a:latin typeface="Cambria Math" panose="02040503050406030204" pitchFamily="18" charset="0"/>
                                  </a:rPr>
                                  <m:t>=0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2,3</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r>
                                      <a:rPr lang="es-AR" sz="1400">
                                        <a:latin typeface="Cambria Math" panose="02040503050406030204" pitchFamily="18" charset="0"/>
                                      </a:rPr>
                                      <m:t>±</m:t>
                                    </m:r>
                                    <m:rad>
                                      <m:radPr>
                                        <m:degHide m:val="on"/>
                                        <m:ctrlPr>
                                          <a:rPr lang="es-AR" sz="1400" i="1">
                                            <a:latin typeface="Cambria Math" panose="02040503050406030204" pitchFamily="18" charset="0"/>
                                          </a:rPr>
                                        </m:ctrlPr>
                                      </m:radPr>
                                      <m:deg/>
                                      <m:e>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e>
                                          <m:sup>
                                            <m:r>
                                              <a:rPr lang="es-AR" sz="1400" i="1">
                                                <a:latin typeface="Cambria Math" panose="02040503050406030204" pitchFamily="18" charset="0"/>
                                              </a:rPr>
                                              <m:t>2</m:t>
                                            </m:r>
                                          </m:sup>
                                        </m:sSup>
                                        <m:r>
                                          <a:rPr lang="es-AR" sz="1400" i="1">
                                            <a:latin typeface="Cambria Math" panose="02040503050406030204" pitchFamily="18" charset="0"/>
                                          </a:rPr>
                                          <m:t>−4</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e>
                                    </m:rad>
                                  </m:num>
                                  <m:den>
                                    <m:r>
                                      <a:rPr lang="es-AR" sz="1400" i="1">
                                        <a:latin typeface="Cambria Math" panose="02040503050406030204" pitchFamily="18" charset="0"/>
                                      </a:rPr>
                                      <m:t>2</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en>
                                </m:f>
                              </m:e>
                            </m:mr>
                          </m:m>
                        </m:e>
                      </m:d>
                    </m:oMath>
                  </m:oMathPara>
                </a14:m>
                <a:endParaRPr lang="es-AR" sz="105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00668" y="1159318"/>
                <a:ext cx="8455189" cy="1079655"/>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𝑠</m:t>
                          </m:r>
                        </m:e>
                        <m:sub>
                          <m:r>
                            <a:rPr lang="es-AR" sz="1600" i="1">
                              <a:solidFill>
                                <a:schemeClr val="tx1"/>
                              </a:solidFill>
                              <a:latin typeface="Cambria Math" panose="02040503050406030204" pitchFamily="18" charset="0"/>
                            </a:rPr>
                            <m:t>𝑧</m:t>
                          </m:r>
                        </m:sub>
                      </m:sSub>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357155"/>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357155"/>
              </a:xfrm>
              <a:prstGeom prst="rect">
                <a:avLst/>
              </a:prstGeom>
              <a:blipFill>
                <a:blip r:embed="rId4"/>
                <a:stretch>
                  <a:fillRect l="-642" t="-420" r="-1178" b="-83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dirty="0"/>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090FE8DB-55B6-43FF-BE9E-9E2A0AB591E5}"/>
              </a:ext>
            </a:extLst>
          </p:cNvPr>
          <p:cNvPicPr>
            <a:picLocks noChangeAspect="1"/>
          </p:cNvPicPr>
          <p:nvPr/>
        </p:nvPicPr>
        <p:blipFill>
          <a:blip r:embed="rId2"/>
          <a:stretch>
            <a:fillRect/>
          </a:stretch>
        </p:blipFill>
        <p:spPr>
          <a:xfrm>
            <a:off x="2679760" y="2917585"/>
            <a:ext cx="7111474" cy="3066618"/>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3"/>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5"/>
                <a:stretch>
                  <a:fillRect/>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F554A308-3CE6-43AA-84C1-1C61C1DA4EBB}"/>
              </a:ext>
            </a:extLst>
          </p:cNvPr>
          <p:cNvSpPr txBox="1"/>
          <p:nvPr/>
        </p:nvSpPr>
        <p:spPr>
          <a:xfrm>
            <a:off x="4155255" y="6117863"/>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7"/>
            <a:ext cx="3762357" cy="2678367"/>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rotWithShape="1">
          <a:blip r:embed="rId5"/>
          <a:srcRect l="-3567" r="-1122"/>
          <a:stretch/>
        </p:blipFill>
        <p:spPr bwMode="auto">
          <a:xfrm>
            <a:off x="3829680" y="1380057"/>
            <a:ext cx="3762357" cy="2695323"/>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rotWithShape="1">
          <a:blip r:embed="rId6"/>
          <a:srcRect l="-3191" r="-787"/>
          <a:stretch/>
        </p:blipFill>
        <p:spPr bwMode="auto">
          <a:xfrm>
            <a:off x="7592038" y="1380056"/>
            <a:ext cx="3996738" cy="2750187"/>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rotWithShape="1">
          <a:blip r:embed="rId4"/>
          <a:srcRect l="-2388" r="-823"/>
          <a:stretch/>
        </p:blipFill>
        <p:spPr bwMode="auto">
          <a:xfrm>
            <a:off x="274320" y="1102407"/>
            <a:ext cx="5288992" cy="3247650"/>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rotWithShape="1">
          <a:blip r:embed="rId5"/>
          <a:srcRect l="-3357" r="-6805"/>
          <a:stretch/>
        </p:blipFill>
        <p:spPr bwMode="auto">
          <a:xfrm>
            <a:off x="5947874" y="1102407"/>
            <a:ext cx="5580404" cy="33160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90894"/>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90894"/>
                <a:ext cx="11787353" cy="1491177"/>
              </a:xfrm>
              <a:prstGeom prst="rect">
                <a:avLst/>
              </a:prstGeom>
              <a:blipFill>
                <a:blip r:embed="rId6"/>
                <a:stretch>
                  <a:fillRect l="-155" t="-408" r="-103" b="-326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rotWithShape="1">
          <a:blip r:embed="rId4"/>
          <a:srcRect l="-1150" r="-945" b="-4093"/>
          <a:stretch/>
        </p:blipFill>
        <p:spPr bwMode="auto">
          <a:xfrm>
            <a:off x="-45879" y="759268"/>
            <a:ext cx="4074055" cy="2914420"/>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rotWithShape="1">
          <a:blip r:embed="rId5"/>
          <a:srcRect l="708" r="-1199"/>
          <a:stretch/>
        </p:blipFill>
        <p:spPr bwMode="auto">
          <a:xfrm>
            <a:off x="4028177" y="755967"/>
            <a:ext cx="4074054"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rotWithShape="1">
          <a:blip r:embed="rId6"/>
          <a:srcRect l="-5998" t="-2455" r="-1" b="231"/>
          <a:stretch/>
        </p:blipFill>
        <p:spPr bwMode="auto">
          <a:xfrm>
            <a:off x="7955187" y="709524"/>
            <a:ext cx="423650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rotWithShape="1">
          <a:blip r:embed="rId8"/>
          <a:srcRect l="-4129" r="-3601"/>
          <a:stretch/>
        </p:blipFill>
        <p:spPr bwMode="auto">
          <a:xfrm>
            <a:off x="-45879" y="4007978"/>
            <a:ext cx="3634893" cy="2417912"/>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srcRect l="-2360" r="-7860"/>
          <a:stretch/>
        </p:blipFill>
        <p:spPr bwMode="auto">
          <a:xfrm>
            <a:off x="1946246" y="871433"/>
            <a:ext cx="8548381"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A8BE010C-9E72-40EC-AB4B-412DDC01C099}"/>
              </a:ext>
            </a:extLst>
          </p:cNvPr>
          <p:cNvPicPr/>
          <p:nvPr/>
        </p:nvPicPr>
        <p:blipFill rotWithShape="1">
          <a:blip r:embed="rId2"/>
          <a:srcRect t="-1216" b="-5395"/>
          <a:stretch/>
        </p:blipFill>
        <p:spPr bwMode="auto">
          <a:xfrm>
            <a:off x="5797157" y="773077"/>
            <a:ext cx="5413525" cy="4283010"/>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683182" y="4787473"/>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683182" y="4787473"/>
                <a:ext cx="4366945"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91827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918278"/>
                <a:ext cx="4366945" cy="261610"/>
              </a:xfrm>
              <a:prstGeom prst="rect">
                <a:avLst/>
              </a:prstGeom>
              <a:blipFill>
                <a:blip r:embed="rId4"/>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5"/>
          <a:srcRect/>
          <a:stretch/>
        </p:blipFill>
        <p:spPr>
          <a:xfrm>
            <a:off x="274319" y="796179"/>
            <a:ext cx="5157078" cy="3984290"/>
          </a:xfrm>
          <a:prstGeom prst="rect">
            <a:avLst/>
          </a:prstGeom>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938838" y="470158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MX" b="0" i="1" smtClean="0">
                            <a:latin typeface="Cambria Math" panose="02040503050406030204" pitchFamily="18" charset="0"/>
                          </a:rPr>
                          <m:t>𝑣</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938838" y="4701589"/>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srcRect/>
          <a:stretch/>
        </p:blipFill>
        <p:spPr>
          <a:xfrm>
            <a:off x="320038" y="906457"/>
            <a:ext cx="5256025" cy="3716285"/>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a:blip r:embed="rId4"/>
          <a:srcRect t="5203" b="5203"/>
          <a:stretch/>
        </p:blipFill>
        <p:spPr bwMode="auto">
          <a:xfrm>
            <a:off x="5738071" y="866610"/>
            <a:ext cx="5971576"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376192" cy="3656438"/>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986047" y="4552667"/>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srcRect/>
          <a:stretch/>
        </p:blipFill>
        <p:spPr>
          <a:xfrm>
            <a:off x="7072430" y="853776"/>
            <a:ext cx="5044626" cy="3406661"/>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srcRect l="-295" r="407"/>
          <a:stretch/>
        </p:blipFill>
        <p:spPr>
          <a:xfrm>
            <a:off x="92279" y="1362865"/>
            <a:ext cx="5872293"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srcRect l="-11064" t="-331" r="1080" b="331"/>
          <a:stretch/>
        </p:blipFill>
        <p:spPr bwMode="auto">
          <a:xfrm>
            <a:off x="5444666" y="1374648"/>
            <a:ext cx="6472709"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698341" y="5514754"/>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698341" y="5514754"/>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srcRect/>
          <a:stretch/>
        </p:blipFill>
        <p:spPr>
          <a:xfrm>
            <a:off x="71630" y="935476"/>
            <a:ext cx="5599328" cy="4100151"/>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8" name="Imagen 7">
            <a:extLst>
              <a:ext uri="{FF2B5EF4-FFF2-40B4-BE49-F238E27FC236}">
                <a16:creationId xmlns:a16="http://schemas.microsoft.com/office/drawing/2014/main" id="{2BA1FFD9-EB70-4AC2-9864-72F2877AC049}"/>
              </a:ext>
            </a:extLst>
          </p:cNvPr>
          <p:cNvPicPr>
            <a:picLocks noChangeAspect="1"/>
          </p:cNvPicPr>
          <p:nvPr/>
        </p:nvPicPr>
        <p:blipFill>
          <a:blip r:embed="rId7"/>
          <a:stretch>
            <a:fillRect/>
          </a:stretch>
        </p:blipFill>
        <p:spPr>
          <a:xfrm>
            <a:off x="6004972" y="1032384"/>
            <a:ext cx="5785682" cy="4032127"/>
          </a:xfrm>
          <a:prstGeom prst="rect">
            <a:avLst/>
          </a:prstGeom>
        </p:spPr>
      </p:pic>
    </p:spTree>
    <p:extLst>
      <p:ext uri="{BB962C8B-B14F-4D97-AF65-F5344CB8AC3E}">
        <p14:creationId xmlns:p14="http://schemas.microsoft.com/office/powerpoint/2010/main" val="24098471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24838" y="3411191"/>
            <a:ext cx="11479482"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09751" y="4069492"/>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24838" y="4382142"/>
            <a:ext cx="11479482" cy="73743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96546"/>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96546"/>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1000904"/>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904861" y="4407711"/>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700846" y="3136774"/>
            <a:ext cx="6341816" cy="2023686"/>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613093"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srcRect/>
          <a:stretch/>
        </p:blipFill>
        <p:spPr>
          <a:xfrm>
            <a:off x="2793890" y="1324706"/>
            <a:ext cx="4721971" cy="3323808"/>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srcRect/>
          <a:stretch/>
        </p:blipFill>
        <p:spPr>
          <a:xfrm>
            <a:off x="7465285" y="1324706"/>
            <a:ext cx="4721971" cy="3323807"/>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311734" y="4836784"/>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311734" y="4836784"/>
                <a:ext cx="4040254" cy="276742"/>
              </a:xfrm>
              <a:prstGeom prst="rect">
                <a:avLst/>
              </a:prstGeom>
              <a:blipFill>
                <a:blip r:embed="rId7"/>
                <a:stretch>
                  <a:fillRect b="-869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147002" y="4854799"/>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147002" y="4854799"/>
                <a:ext cx="4040254" cy="276742"/>
              </a:xfrm>
              <a:prstGeom prst="rect">
                <a:avLst/>
              </a:prstGeom>
              <a:blipFill>
                <a:blip r:embed="rId8"/>
                <a:stretch>
                  <a:fillRect b="-8696"/>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srcRect/>
          <a:stretch/>
        </p:blipFill>
        <p:spPr>
          <a:xfrm>
            <a:off x="274320" y="781765"/>
            <a:ext cx="5346304" cy="3853453"/>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srcRect/>
          <a:stretch/>
        </p:blipFill>
        <p:spPr>
          <a:xfrm>
            <a:off x="6096000" y="765842"/>
            <a:ext cx="5478636" cy="385345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6960040" y="4554092"/>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6960040" y="4554092"/>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srcRect/>
          <a:stretch/>
        </p:blipFill>
        <p:spPr>
          <a:xfrm>
            <a:off x="261043" y="849634"/>
            <a:ext cx="5259420" cy="3704458"/>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srcRect/>
          <a:stretch/>
        </p:blipFill>
        <p:spPr>
          <a:xfrm>
            <a:off x="6095847" y="849634"/>
            <a:ext cx="5371903"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43596"/>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43596"/>
                <a:ext cx="12022317" cy="1887183"/>
              </a:xfrm>
              <a:prstGeom prst="rect">
                <a:avLst/>
              </a:prstGeom>
              <a:blipFill>
                <a:blip r:embed="rId3"/>
                <a:stretch>
                  <a:fillRect l="-152" t="-324"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srcRect/>
          <a:stretch/>
        </p:blipFill>
        <p:spPr>
          <a:xfrm>
            <a:off x="0" y="813001"/>
            <a:ext cx="3989498" cy="3165997"/>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srcRect/>
          <a:stretch/>
        </p:blipFill>
        <p:spPr>
          <a:xfrm>
            <a:off x="3989498" y="792870"/>
            <a:ext cx="4014876" cy="318612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srcRect/>
          <a:stretch/>
        </p:blipFill>
        <p:spPr>
          <a:xfrm>
            <a:off x="8004374" y="792870"/>
            <a:ext cx="4161943" cy="3186128"/>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480186"/>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480186"/>
                <a:ext cx="4554874" cy="267253"/>
              </a:xfrm>
              <a:prstGeom prst="rect">
                <a:avLst/>
              </a:prstGeom>
              <a:blipFill>
                <a:blip r:embed="rId2"/>
                <a:stretch>
                  <a:fillRect b="-1363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019256"/>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406683" y="4480187"/>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406683" y="4480187"/>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srcRect/>
          <a:stretch/>
        </p:blipFill>
        <p:spPr>
          <a:xfrm>
            <a:off x="274320" y="820554"/>
            <a:ext cx="5005236" cy="3574107"/>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srcRect/>
          <a:stretch/>
        </p:blipFill>
        <p:spPr>
          <a:xfrm>
            <a:off x="5907764" y="849332"/>
            <a:ext cx="5192312" cy="3574106"/>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srcRect/>
          <a:stretch/>
        </p:blipFill>
        <p:spPr>
          <a:xfrm>
            <a:off x="183177" y="919978"/>
            <a:ext cx="5554744" cy="407524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srcRect/>
          <a:stretch/>
        </p:blipFill>
        <p:spPr>
          <a:xfrm>
            <a:off x="6249798" y="919978"/>
            <a:ext cx="5621856" cy="407524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95220"/>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95220"/>
                <a:ext cx="4554874" cy="267253"/>
              </a:xfrm>
              <a:prstGeom prst="rect">
                <a:avLst/>
              </a:prstGeom>
              <a:blipFill>
                <a:blip r:embed="rId4"/>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srcRect/>
          <a:stretch/>
        </p:blipFill>
        <p:spPr>
          <a:xfrm>
            <a:off x="391840" y="908744"/>
            <a:ext cx="5391776" cy="3971102"/>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srcRect/>
          <a:stretch/>
        </p:blipFill>
        <p:spPr>
          <a:xfrm>
            <a:off x="6408385" y="893128"/>
            <a:ext cx="5391776" cy="3971102"/>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srcRect/>
          <a:stretch/>
        </p:blipFill>
        <p:spPr>
          <a:xfrm>
            <a:off x="274320" y="880844"/>
            <a:ext cx="5170135" cy="3736487"/>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srcRect/>
          <a:stretch/>
        </p:blipFill>
        <p:spPr>
          <a:xfrm>
            <a:off x="6607450" y="995143"/>
            <a:ext cx="5028534" cy="3622188"/>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43032"/>
            <a:ext cx="5028534" cy="3556544"/>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srcRect/>
          <a:stretch/>
        </p:blipFill>
        <p:spPr>
          <a:xfrm>
            <a:off x="320040" y="1053233"/>
            <a:ext cx="5028534" cy="3546343"/>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4901150" cy="415498"/>
          </a:xfrm>
          <a:prstGeom prst="rect">
            <a:avLst/>
          </a:prstGeom>
          <a:noFill/>
        </p:spPr>
        <p:txBody>
          <a:bodyPr wrap="none">
            <a:spAutoFit/>
          </a:bodyPr>
          <a:lstStyle/>
          <a:p>
            <a:pPr algn="l"/>
            <a:r>
              <a:rPr lang="es-AR" sz="2100" b="1" dirty="0">
                <a:solidFill>
                  <a:srgbClr val="FFFFFF"/>
                </a:solidFill>
                <a:latin typeface="Cambria"/>
              </a:rPr>
              <a:t>Sistema completo en tiempo continuo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AFFDE968-0806-47A4-8194-2B1824A938C1}"/>
              </a:ext>
            </a:extLst>
          </p:cNvPr>
          <p:cNvPicPr>
            <a:picLocks noChangeAspect="1"/>
          </p:cNvPicPr>
          <p:nvPr/>
        </p:nvPicPr>
        <p:blipFill>
          <a:blip r:embed="rId2"/>
          <a:stretch>
            <a:fillRect/>
          </a:stretch>
        </p:blipFill>
        <p:spPr>
          <a:xfrm>
            <a:off x="0" y="1267721"/>
            <a:ext cx="12192000" cy="3002274"/>
          </a:xfrm>
          <a:prstGeom prst="rect">
            <a:avLst/>
          </a:prstGeom>
        </p:spPr>
      </p:pic>
      <p:sp>
        <p:nvSpPr>
          <p:cNvPr id="13" name="CuadroTexto 12">
            <a:extLst>
              <a:ext uri="{FF2B5EF4-FFF2-40B4-BE49-F238E27FC236}">
                <a16:creationId xmlns:a16="http://schemas.microsoft.com/office/drawing/2014/main" id="{7C61CE62-4B26-47F9-8BB0-E82E9732DCE3}"/>
              </a:ext>
            </a:extLst>
          </p:cNvPr>
          <p:cNvSpPr txBox="1"/>
          <p:nvPr/>
        </p:nvSpPr>
        <p:spPr>
          <a:xfrm>
            <a:off x="4254626" y="4269995"/>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88— Sistema completo continuo</a:t>
            </a:r>
          </a:p>
          <a:p>
            <a:endParaRPr lang="es-AR" dirty="0"/>
          </a:p>
          <a:p>
            <a:endParaRPr lang="es-AR" dirty="0"/>
          </a:p>
        </p:txBody>
      </p:sp>
    </p:spTree>
    <p:extLst>
      <p:ext uri="{BB962C8B-B14F-4D97-AF65-F5344CB8AC3E}">
        <p14:creationId xmlns:p14="http://schemas.microsoft.com/office/powerpoint/2010/main" val="273928461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8232125" cy="415498"/>
          </a:xfrm>
          <a:prstGeom prst="rect">
            <a:avLst/>
          </a:prstGeom>
          <a:noFill/>
        </p:spPr>
        <p:txBody>
          <a:bodyPr wrap="none">
            <a:spAutoFit/>
          </a:bodyPr>
          <a:lstStyle/>
          <a:p>
            <a:pPr algn="l"/>
            <a:r>
              <a:rPr lang="es-AR" sz="2100" b="1" dirty="0">
                <a:solidFill>
                  <a:srgbClr val="FFFFFF"/>
                </a:solidFill>
                <a:latin typeface="Cambria"/>
              </a:rPr>
              <a:t>Sistema continuo completo — Parámetros finales del controlador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y lazos de corriente.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9" name="TextBox 8"/>
              <p:cNvSpPr txBox="1"/>
              <p:nvPr/>
            </p:nvSpPr>
            <p:spPr>
              <a:xfrm>
                <a:off x="0" y="1121593"/>
                <a:ext cx="11465359" cy="402803"/>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MX" sz="1400" b="0" i="1" smtClean="0">
                            <a:latin typeface="Cambria Math" panose="02040503050406030204" pitchFamily="18" charset="0"/>
                          </a:rPr>
                          <m:t>2</m:t>
                        </m:r>
                        <m:r>
                          <a:rPr lang="es-AR" sz="1400" i="1">
                            <a:latin typeface="Cambria Math" panose="02040503050406030204" pitchFamily="18" charset="0"/>
                          </a:rPr>
                          <m:t>0⋅5000</m:t>
                        </m:r>
                      </m:den>
                    </m:f>
                    <m:r>
                      <a:rPr lang="es-AR" sz="1400">
                        <a:latin typeface="Cambria Math" panose="02040503050406030204" pitchFamily="18" charset="0"/>
                      </a:rPr>
                      <m:t>≈</m:t>
                    </m:r>
                    <m:r>
                      <a:rPr lang="es-AR" sz="1400"/>
                      <m:t>6.283×</m:t>
                    </m:r>
                    <m:sSup>
                      <m:sSupPr>
                        <m:ctrlPr>
                          <a:rPr lang="es-AR" sz="1400" i="1"/>
                        </m:ctrlPr>
                      </m:sSupPr>
                      <m:e>
                        <m:r>
                          <a:rPr lang="es-AR" sz="1400" i="1"/>
                          <m:t>10</m:t>
                        </m:r>
                      </m:e>
                      <m:sup>
                        <m:r>
                          <a:rPr lang="es-AR" sz="1400" i="1"/>
                          <m:t>−5</m:t>
                        </m:r>
                      </m:sup>
                    </m:sSup>
                    <m:r>
                      <m:rPr>
                        <m:sty m:val="p"/>
                      </m:rPr>
                      <a:rPr lang="es-AR" sz="1400"/>
                      <m:t>s</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r>
                      <a:rPr lang="es-AR" sz="1400" i="1">
                        <a:latin typeface="Cambria Math" panose="02040503050406030204" pitchFamily="18" charset="0"/>
                      </a:rPr>
                      <m:t>𝑓</m:t>
                    </m:r>
                    <m:r>
                      <a:rPr lang="es-AR" sz="1400" i="1">
                        <a:latin typeface="Cambria Math" panose="02040503050406030204" pitchFamily="18" charset="0"/>
                      </a:rPr>
                      <m:t>≈</m:t>
                    </m:r>
                    <m:r>
                      <a:rPr lang="es-AR" sz="1400" i="1"/>
                      <m:t>16000</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0" y="1121593"/>
                <a:ext cx="11465359" cy="402803"/>
              </a:xfrm>
              <a:prstGeom prst="rect">
                <a:avLst/>
              </a:prstGeom>
              <a:blipFill>
                <a:blip r:embed="rId2"/>
                <a:stretch>
                  <a:fillRect b="-454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srcRect l="242" r="1227"/>
          <a:stretch/>
        </p:blipFill>
        <p:spPr bwMode="auto">
          <a:xfrm>
            <a:off x="5273148" y="4004476"/>
            <a:ext cx="6793905" cy="1975490"/>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srcRect/>
          <a:stretch/>
        </p:blipFill>
        <p:spPr>
          <a:xfrm>
            <a:off x="5784616" y="1009937"/>
            <a:ext cx="5998890" cy="2342423"/>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385556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dirty="0">
                <a:effectLst/>
                <a:latin typeface="Calibri" panose="020F0502020204030204" pitchFamily="34" charset="0"/>
                <a:ea typeface="Calibri" panose="020F0502020204030204" pitchFamily="34" charset="0"/>
                <a:cs typeface="Times New Roman" panose="02020603050405020304" pitchFamily="18" charset="0"/>
              </a:rPr>
              <a:t>Observador,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srcRect/>
          <a:stretch/>
        </p:blipFill>
        <p:spPr>
          <a:xfrm>
            <a:off x="1785769" y="2802928"/>
            <a:ext cx="8079683" cy="2822881"/>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a:srcRect/>
          <a:stretch/>
        </p:blipFill>
        <p:spPr>
          <a:xfrm>
            <a:off x="0" y="1409350"/>
            <a:ext cx="12191695" cy="3110292"/>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5"/>
          <a:srcRect/>
          <a:stretch/>
        </p:blipFill>
        <p:spPr>
          <a:xfrm>
            <a:off x="35951" y="720296"/>
            <a:ext cx="6033621"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6"/>
          <a:srcRect/>
          <a:stretch/>
        </p:blipFill>
        <p:spPr>
          <a:xfrm>
            <a:off x="6095999" y="724154"/>
            <a:ext cx="6060049"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rotWithShape="1">
          <a:blip r:embed="rId7"/>
          <a:srcRect b="-914"/>
          <a:stretch/>
        </p:blipFill>
        <p:spPr>
          <a:xfrm>
            <a:off x="35952" y="3651000"/>
            <a:ext cx="5993372" cy="2729583"/>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8"/>
          <a:srcRect/>
          <a:stretch/>
        </p:blipFill>
        <p:spPr>
          <a:xfrm>
            <a:off x="6095999" y="3693921"/>
            <a:ext cx="6060049"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9"/>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10"/>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11"/>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12"/>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srcRect/>
          <a:stretch/>
        </p:blipFill>
        <p:spPr>
          <a:xfrm>
            <a:off x="2737016" y="847586"/>
            <a:ext cx="647195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s-AR" sz="2100" b="1" dirty="0">
                <a:solidFill>
                  <a:srgbClr val="FFFFFF"/>
                </a:solidFill>
                <a:latin typeface="Cambria"/>
              </a:rPr>
              <a:t>Modelo final codificado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604265"/>
            <a:ext cx="12192000" cy="3356554"/>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srcRect/>
          <a:stretch/>
        </p:blipFill>
        <p:spPr>
          <a:xfrm>
            <a:off x="320040" y="1245180"/>
            <a:ext cx="4621411"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srcRect/>
          <a:stretch/>
        </p:blipFill>
        <p:spPr>
          <a:xfrm>
            <a:off x="6901986" y="1245180"/>
            <a:ext cx="4721734"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srcRect/>
          <a:stretch/>
        </p:blipFill>
        <p:spPr>
          <a:xfrm>
            <a:off x="3592814" y="3935575"/>
            <a:ext cx="4725369"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4106334" y="1342850"/>
            <a:ext cx="4116059" cy="707886"/>
          </a:xfrm>
          <a:prstGeom prst="rect">
            <a:avLst/>
          </a:prstGeom>
          <a:noFill/>
        </p:spPr>
        <p:txBody>
          <a:bodyPr wrap="square">
            <a:spAutoFit/>
          </a:bodyPr>
          <a:lstStyle/>
          <a:p>
            <a:pPr algn="ctr"/>
            <a:r>
              <a:rPr lang="es-MX" sz="4000" b="1" dirty="0">
                <a:solidFill>
                  <a:srgbClr val="FFFFFF"/>
                </a:solidFill>
                <a:latin typeface="Cambria"/>
              </a:rPr>
              <a:t>¡Muchas gracias! </a:t>
            </a:r>
            <a:endParaRPr sz="4000" b="1" dirty="0">
              <a:solidFill>
                <a:srgbClr val="FFFFFF"/>
              </a:solidFill>
              <a:latin typeface="Cambria"/>
            </a:endParaRP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
        <p:nvSpPr>
          <p:cNvPr id="7" name="CuadroTexto 6">
            <a:extLst>
              <a:ext uri="{FF2B5EF4-FFF2-40B4-BE49-F238E27FC236}">
                <a16:creationId xmlns:a16="http://schemas.microsoft.com/office/drawing/2014/main" id="{EB1FF342-1C3A-46D8-B35F-E64E4D5393ED}"/>
              </a:ext>
            </a:extLst>
          </p:cNvPr>
          <p:cNvSpPr txBox="1"/>
          <p:nvPr/>
        </p:nvSpPr>
        <p:spPr>
          <a:xfrm>
            <a:off x="4496428" y="2942603"/>
            <a:ext cx="3657599" cy="461665"/>
          </a:xfrm>
          <a:prstGeom prst="rect">
            <a:avLst/>
          </a:prstGeom>
          <a:noFill/>
        </p:spPr>
        <p:txBody>
          <a:bodyPr wrap="square">
            <a:spAutoFit/>
          </a:bodyPr>
          <a:lstStyle/>
          <a:p>
            <a:r>
              <a:rPr lang="es-AR" sz="2400" b="1" dirty="0"/>
              <a:t>¿Preguntas o comentarios?</a:t>
            </a:r>
          </a:p>
        </p:txBody>
      </p:sp>
      <p:sp>
        <p:nvSpPr>
          <p:cNvPr id="8" name="Text 8">
            <a:extLst>
              <a:ext uri="{FF2B5EF4-FFF2-40B4-BE49-F238E27FC236}">
                <a16:creationId xmlns:a16="http://schemas.microsoft.com/office/drawing/2014/main" id="{7E439D0E-6122-48CA-93A6-46BA06E0D1AB}"/>
              </a:ext>
            </a:extLst>
          </p:cNvPr>
          <p:cNvSpPr/>
          <p:nvPr/>
        </p:nvSpPr>
        <p:spPr>
          <a:xfrm>
            <a:off x="5030611" y="5971915"/>
            <a:ext cx="7326608" cy="502920"/>
          </a:xfrm>
          <a:prstGeom prst="rect">
            <a:avLst/>
          </a:prstGeom>
          <a:noFill/>
          <a:ln/>
        </p:spPr>
        <p:txBody>
          <a:bodyPr wrap="square" rtlCol="0" anchor="ctr"/>
          <a:lstStyle/>
          <a:p>
            <a:pPr marL="0" indent="0" algn="ctr">
              <a:buNone/>
            </a:pPr>
            <a:r>
              <a:rPr lang="en-US" sz="1600" dirty="0">
                <a:solidFill>
                  <a:schemeClr val="bg1"/>
                </a:solidFill>
                <a:latin typeface="Calibri" pitchFamily="34" charset="0"/>
                <a:ea typeface="Calibri" pitchFamily="34" charset="-122"/>
                <a:cs typeface="Calibri" pitchFamily="34" charset="-120"/>
              </a:rPr>
              <a:t>Juan Stella  —  </a:t>
            </a:r>
            <a:r>
              <a:rPr lang="en-US" sz="1600" dirty="0" err="1">
                <a:solidFill>
                  <a:schemeClr val="bg1"/>
                </a:solidFill>
                <a:latin typeface="Calibri" pitchFamily="34" charset="0"/>
                <a:ea typeface="Calibri" pitchFamily="34" charset="-122"/>
                <a:cs typeface="Calibri" pitchFamily="34" charset="-120"/>
              </a:rPr>
              <a:t>Legajo</a:t>
            </a:r>
            <a:r>
              <a:rPr lang="en-US" sz="1600" dirty="0">
                <a:solidFill>
                  <a:schemeClr val="bg1"/>
                </a:solidFill>
                <a:latin typeface="Calibri" pitchFamily="34" charset="0"/>
                <a:ea typeface="Calibri" pitchFamily="34" charset="-122"/>
                <a:cs typeface="Calibri" pitchFamily="34" charset="-120"/>
              </a:rPr>
              <a:t>: 12552        Juan Francisco Huertas  —  </a:t>
            </a:r>
            <a:r>
              <a:rPr lang="en-US" sz="1600" dirty="0" err="1">
                <a:solidFill>
                  <a:schemeClr val="bg1"/>
                </a:solidFill>
                <a:latin typeface="Calibri" pitchFamily="34" charset="0"/>
                <a:ea typeface="Calibri" pitchFamily="34" charset="-122"/>
                <a:cs typeface="Calibri" pitchFamily="34" charset="-120"/>
              </a:rPr>
              <a:t>Legajo</a:t>
            </a:r>
            <a:r>
              <a:rPr lang="en-US" sz="1600" dirty="0">
                <a:solidFill>
                  <a:schemeClr val="bg1"/>
                </a:solidFill>
                <a:latin typeface="Calibri" pitchFamily="34" charset="0"/>
                <a:ea typeface="Calibri" pitchFamily="34" charset="-122"/>
                <a:cs typeface="Calibri" pitchFamily="34" charset="-120"/>
              </a:rPr>
              <a:t>: 12620</a:t>
            </a:r>
            <a:endParaRPr lang="en-US" sz="1600" dirty="0">
              <a:solidFill>
                <a:schemeClr val="bg1"/>
              </a:solidFill>
            </a:endParaRPr>
          </a:p>
        </p:txBody>
      </p:sp>
    </p:spTree>
    <p:extLst>
      <p:ext uri="{BB962C8B-B14F-4D97-AF65-F5344CB8AC3E}">
        <p14:creationId xmlns:p14="http://schemas.microsoft.com/office/powerpoint/2010/main" val="35853734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9543</TotalTime>
  <Words>12750</Words>
  <Application>Microsoft Office PowerPoint</Application>
  <PresentationFormat>Panorámica</PresentationFormat>
  <Paragraphs>1282</Paragraphs>
  <Slides>112</Slides>
  <Notes>14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112</vt:i4>
      </vt:variant>
    </vt:vector>
  </HeadingPairs>
  <TitlesOfParts>
    <vt:vector size="119"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Juan</dc:creator>
  <cp:keywords/>
  <dc:description>generated using python-pptx</dc:description>
  <cp:lastModifiedBy>juan stella</cp:lastModifiedBy>
  <cp:revision>325</cp:revision>
  <dcterms:created xsi:type="dcterms:W3CDTF">2013-01-27T09:14:16Z</dcterms:created>
  <dcterms:modified xsi:type="dcterms:W3CDTF">2026-05-20T23:40:12Z</dcterms:modified>
  <cp:category/>
</cp:coreProperties>
</file>