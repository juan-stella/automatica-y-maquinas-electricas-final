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330" r:id="rId35"/>
    <p:sldId id="288" r:id="rId36"/>
    <p:sldId id="290" r:id="rId37"/>
    <p:sldId id="331" r:id="rId38"/>
    <p:sldId id="291" r:id="rId39"/>
    <p:sldId id="332"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678" y="6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presProps" Target="presProps.xml"/><Relationship Id="rId8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13/4/2026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0.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76.png"/><Relationship Id="rId4" Type="http://schemas.openxmlformats.org/officeDocument/2006/relationships/image" Target="../media/image75.png"/></Relationships>
</file>

<file path=ppt/slides/_rels/slide36.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38.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4" Type="http://schemas.openxmlformats.org/officeDocument/2006/relationships/image" Target="../media/image86.png"/></Relationships>
</file>

<file path=ppt/slides/_rels/slide39.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7.png"/><Relationship Id="rId1" Type="http://schemas.openxmlformats.org/officeDocument/2006/relationships/slideLayout" Target="../slideLayouts/slideLayout7.xml"/><Relationship Id="rId4" Type="http://schemas.openxmlformats.org/officeDocument/2006/relationships/image" Target="../media/image8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mc:Choice xmlns:a14="http://schemas.microsoft.com/office/drawing/2010/main"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818</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7</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15</m:t>
                    </m:r>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m:t>
                    </m:r>
                    <m:r>
                      <a:rPr lang="es-AR" sz="1400" i="1">
                        <a:latin typeface="Cambria Math" panose="02040503050406030204" pitchFamily="18" charset="0"/>
                      </a:rPr>
                      <m:t>40</m:t>
                    </m:r>
                    <m:r>
                      <a:rPr lang="es-AR" sz="1400" i="1">
                        <a:latin typeface="Cambria Math" panose="02040503050406030204" pitchFamily="18" charset="0"/>
                      </a:rPr>
                      <m:t>°</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m:t>
                    </m:r>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𝑉</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𝐺</m:t>
                        </m:r>
                      </m:e>
                      <m: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𝛩</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e>
                        </m:d>
                      </m:den>
                    </m:f>
                    <m:r>
                      <a:rPr lang="es-AR" sz="1600" i="1">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e>
                        </m:box>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𝑠</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3</m:t>
                            </m:r>
                          </m:sup>
                        </m:sSup>
                        <m:r>
                          <a:rPr lang="es-AR" sz="1600" i="1">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sSup>
                          <m:sSupPr>
                            <m:ctrlPr>
                              <a:rPr lang="es-AR" sz="1600" i="1">
                                <a:solidFill>
                                  <a:schemeClr val="tx1"/>
                                </a:solidFill>
                                <a:latin typeface="Cambria Math" panose="02040503050406030204" pitchFamily="18" charset="0"/>
                              </a:rPr>
                            </m:ctrlPr>
                          </m:sSupPr>
                          <m:e>
                            <m:r>
                              <a:rPr lang="es-AR" sz="1600" i="1">
                                <a:solidFill>
                                  <a:schemeClr val="tx1"/>
                                </a:solidFill>
                                <a:latin typeface="Cambria Math" panose="02040503050406030204" pitchFamily="18" charset="0"/>
                              </a:rPr>
                              <m:t>𝑠</m:t>
                            </m:r>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r>
                          <a:rPr lang="es-AR" sz="1600" i="1">
                            <a:solidFill>
                              <a:schemeClr val="tx1"/>
                            </a:solidFill>
                            <a:latin typeface="Cambria Math" panose="02040503050406030204" pitchFamily="18" charset="0"/>
                          </a:rPr>
                          <m:t>+</m:t>
                        </m:r>
                        <m:box>
                          <m:boxPr>
                            <m:ctrlPr>
                              <a:rPr lang="es-AR" sz="1600" i="1">
                                <a:solidFill>
                                  <a:schemeClr val="tx1"/>
                                </a:solidFill>
                                <a:latin typeface="Cambria Math" panose="02040503050406030204" pitchFamily="18" charset="0"/>
                              </a:rPr>
                            </m:ctrlPr>
                          </m:boxPr>
                          <m:e>
                            <m:argPr>
                              <m:argSz m:val="-1"/>
                            </m:argPr>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3</m:t>
                                </m:r>
                              </m:num>
                              <m:den>
                                <m:r>
                                  <a:rPr lang="es-AR" sz="1600" i="1">
                                    <a:solidFill>
                                      <a:schemeClr val="tx1"/>
                                    </a:solidFill>
                                    <a:latin typeface="Cambria Math" panose="02040503050406030204" pitchFamily="18" charset="0"/>
                                  </a:rPr>
                                  <m:t>2</m:t>
                                </m:r>
                              </m:den>
                            </m:f>
                          </m:e>
                        </m:box>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up>
                            <m:r>
                              <a:rPr lang="es-AR" sz="1600" i="1">
                                <a:solidFill>
                                  <a:schemeClr val="tx1"/>
                                </a:solidFill>
                                <a:latin typeface="Cambria Math" panose="02040503050406030204" pitchFamily="18" charset="0"/>
                              </a:rPr>
                              <m:t>2</m:t>
                            </m:r>
                          </m:sup>
                        </m:sSubSup>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1">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e>
                            </m:d>
                          </m:e>
                          <m:sup>
                            <m:r>
                              <a:rPr lang="es-AR" sz="1600" i="1">
                                <a:solidFill>
                                  <a:schemeClr val="tx1"/>
                                </a:solidFill>
                                <a:latin typeface="Cambria Math" panose="02040503050406030204" pitchFamily="18" charset="0"/>
                              </a:rPr>
                              <m:t>2</m:t>
                            </m:r>
                          </m:sup>
                        </m:sSup>
                        <m:r>
                          <a:rPr lang="es-AR" sz="1600" i="1">
                            <a:solidFill>
                              <a:schemeClr val="tx1"/>
                            </a:solidFill>
                            <a:latin typeface="Cambria Math" panose="02040503050406030204" pitchFamily="18" charset="0"/>
                          </a:rPr>
                          <m:t>𝑠</m:t>
                        </m:r>
                      </m:den>
                    </m:f>
                  </m:oMath>
                </a14:m>
                <a:endParaRPr lang="es-AR" sz="16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𝑹</m:t>
                                    </m:r>
                                  </m:e>
                                  <m:sub>
                                    <m:r>
                                      <a:rPr lang="es-AR" sz="1100">
                                        <a:effectLst/>
                                        <a:latin typeface="Cambria Math" panose="02040503050406030204" pitchFamily="18" charset="0"/>
                                      </a:rPr>
                                      <m:t>𝒔</m:t>
                                    </m:r>
                                  </m:sub>
                                </m:sSub>
                                <m:d>
                                  <m:dPr>
                                    <m:begChr m:val="["/>
                                    <m:endChr m:val="]"/>
                                    <m:ctrlPr>
                                      <a:rPr lang="es-AR" sz="1100" i="1">
                                        <a:effectLst/>
                                        <a:latin typeface="Cambria Math" panose="02040503050406030204" pitchFamily="18" charset="0"/>
                                      </a:rPr>
                                    </m:ctrlPr>
                                  </m:dPr>
                                  <m:e>
                                    <m:r>
                                      <a:rPr lang="es-AR" sz="1100">
                                        <a:effectLst/>
                                        <a:latin typeface="Cambria Math" panose="02040503050406030204" pitchFamily="18" charset="0"/>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i="1">
                                        <a:effectLst/>
                                        <a:latin typeface="Cambria Math" panose="02040503050406030204" pitchFamily="18" charset="0"/>
                                      </a:rPr>
                                    </m:ctrlPr>
                                  </m:sSubPr>
                                  <m:e>
                                    <m:r>
                                      <a:rPr lang="es-AR" sz="1100">
                                        <a:effectLst/>
                                        <a:latin typeface="Cambria Math" panose="02040503050406030204" pitchFamily="18" charset="0"/>
                                      </a:rPr>
                                      <m:t>⍵</m:t>
                                    </m:r>
                                  </m:e>
                                  <m:sub>
                                    <m:r>
                                      <a:rPr lang="es-AR" sz="1100">
                                        <a:effectLst/>
                                        <a:latin typeface="Cambria Math" panose="02040503050406030204" pitchFamily="18" charset="0"/>
                                      </a:rPr>
                                      <m:t>𝒏</m:t>
                                    </m:r>
                                  </m:sub>
                                </m:sSub>
                                <m:d>
                                  <m:dPr>
                                    <m:begChr m:val="["/>
                                    <m:endChr m:val="]"/>
                                    <m:ctrlPr>
                                      <a:rPr lang="es-AR" sz="1100" i="1">
                                        <a:effectLst/>
                                        <a:latin typeface="Cambria Math" panose="02040503050406030204" pitchFamily="18" charset="0"/>
                                      </a:rPr>
                                    </m:ctrlPr>
                                  </m:dPr>
                                  <m:e>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𝒓𝒂𝒅</m:t>
                                        </m:r>
                                      </m:num>
                                      <m:den>
                                        <m:r>
                                          <a:rPr lang="es-AR" sz="1100">
                                            <a:effectLst/>
                                            <a:latin typeface="Cambria Math" panose="02040503050406030204" pitchFamily="18" charset="0"/>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A0563E09-CD90-43F3-BEE4-4FEC9CEFD601}"/>
                  </a:ext>
                </a:extLst>
              </p:cNvPr>
              <p:cNvSpPr txBox="1"/>
              <p:nvPr/>
            </p:nvSpPr>
            <p:spPr>
              <a:xfrm>
                <a:off x="-953580" y="5217152"/>
                <a:ext cx="7705288" cy="446020"/>
              </a:xfrm>
              <a:prstGeom prst="rect">
                <a:avLst/>
              </a:prstGeom>
              <a:noFill/>
            </p:spPr>
            <p:txBody>
              <a:bodyPr wrap="square">
                <a:spAutoFit/>
              </a:bodyPr>
              <a:lstStyle/>
              <a:p>
                <a:pPr algn="ct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𝑏</m:t>
                        </m:r>
                      </m:e>
                      <m:sub>
                        <m:r>
                          <a:rPr lang="es-AR" sz="1100" i="1">
                            <a:solidFill>
                              <a:srgbClr val="224488"/>
                            </a:solidFill>
                            <a:latin typeface="Calibri" pitchFamily="34"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libri" pitchFamily="34" charset="0"/>
                            <a:ea typeface="Calibri" pitchFamily="34" charset="-122"/>
                            <a:cs typeface="Calibri" pitchFamily="34" charset="-120"/>
                          </a:rPr>
                        </m:ctrlPr>
                      </m:sSubPr>
                      <m:e>
                        <m:r>
                          <a:rPr lang="es-AR" sz="1100" i="1">
                            <a:solidFill>
                              <a:srgbClr val="224488"/>
                            </a:solidFill>
                            <a:latin typeface="Calibri" pitchFamily="34" charset="0"/>
                            <a:ea typeface="Calibri" pitchFamily="34" charset="-122"/>
                            <a:cs typeface="Calibri" pitchFamily="34" charset="-120"/>
                          </a:rPr>
                          <m:t>𝐽</m:t>
                        </m:r>
                      </m:e>
                      <m:sub>
                        <m:r>
                          <a:rPr lang="es-AR" sz="1100" i="1">
                            <a:solidFill>
                              <a:srgbClr val="224488"/>
                            </a:solidFill>
                            <a:latin typeface="Calibri" pitchFamily="34"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953580" y="5217152"/>
                <a:ext cx="7705288" cy="446020"/>
              </a:xfrm>
              <a:prstGeom prst="rect">
                <a:avLst/>
              </a:prstGeom>
              <a:blipFill>
                <a:blip r:embed="rId2"/>
                <a:stretch>
                  <a:fillRect/>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3"/>
          <a:srcRect/>
          <a:stretch/>
        </p:blipFill>
        <p:spPr>
          <a:xfrm>
            <a:off x="114700" y="835467"/>
            <a:ext cx="5568729" cy="4350255"/>
          </a:xfrm>
          <a:prstGeom prst="rect">
            <a:avLst/>
          </a:prstGeom>
        </p:spPr>
      </p:pic>
      <mc:AlternateContent xmlns:mc="http://schemas.openxmlformats.org/markup-compatibility/2006">
        <mc:Choice xmlns:a14="http://schemas.microsoft.com/office/drawing/2010/main"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a:latin typeface="Calibri" panose="020F0502020204030204" pitchFamily="34" charset="0"/>
                            <a:ea typeface="Calibri" panose="020F0502020204030204" pitchFamily="34" charset="0"/>
                            <a:cs typeface="Times New Roman" panose="02020603050405020304" pitchFamily="18" charset="0"/>
                          </a:rPr>
                        </m:ctrlPr>
                      </m:sSubPr>
                      <m:e>
                        <m:r>
                          <a:rPr lang="es-AR" sz="1600">
                            <a:latin typeface="Calibri" panose="020F0502020204030204" pitchFamily="34" charset="0"/>
                            <a:ea typeface="Calibri" panose="020F0502020204030204" pitchFamily="34" charset="0"/>
                            <a:cs typeface="Times New Roman" panose="02020603050405020304" pitchFamily="18" charset="0"/>
                          </a:rPr>
                          <m:t>𝑏</m:t>
                        </m:r>
                      </m:e>
                      <m:sub>
                        <m:r>
                          <a:rPr lang="es-AR" sz="1600">
                            <a:latin typeface="Calibri" panose="020F0502020204030204" pitchFamily="34"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a:latin typeface="Calibri" panose="020F0502020204030204" pitchFamily="34" charset="0"/>
                            <a:ea typeface="Calibri" panose="020F0502020204030204" pitchFamily="34" charset="0"/>
                            <a:cs typeface="Times New Roman" panose="02020603050405020304" pitchFamily="18" charset="0"/>
                          </a:rPr>
                        </m:ctrlPr>
                      </m:sSubPr>
                      <m:e>
                        <m:r>
                          <a:rPr lang="es-AR" sz="1600">
                            <a:latin typeface="Calibri" panose="020F0502020204030204" pitchFamily="34" charset="0"/>
                            <a:ea typeface="Calibri" panose="020F0502020204030204" pitchFamily="34" charset="0"/>
                            <a:cs typeface="Times New Roman" panose="02020603050405020304" pitchFamily="18" charset="0"/>
                          </a:rPr>
                          <m:t>𝐽</m:t>
                        </m:r>
                      </m:e>
                      <m:sub>
                        <m:r>
                          <a:rPr lang="es-AR" sz="1600">
                            <a:latin typeface="Calibri" panose="020F0502020204030204" pitchFamily="34"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libri" panose="020F0502020204030204" pitchFamily="34"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29260">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a:effectLst/>
                                      </a:rPr>
                                    </m:ctrlPr>
                                  </m:sSubPr>
                                  <m:e>
                                    <m:r>
                                      <a:rPr lang="es-AR" sz="1200">
                                        <a:effectLst/>
                                      </a:rPr>
                                      <m:t>𝑱</m:t>
                                    </m:r>
                                  </m:e>
                                  <m:sub>
                                    <m:r>
                                      <a:rPr lang="es-AR" sz="1200">
                                        <a:effectLst/>
                                      </a:rPr>
                                      <m:t>𝒆𝒒</m:t>
                                    </m:r>
                                  </m:sub>
                                </m:sSub>
                                <m:d>
                                  <m:dPr>
                                    <m:begChr m:val="["/>
                                    <m:endChr m:val="]"/>
                                    <m:ctrlPr>
                                      <a:rPr lang="es-AR" sz="1200">
                                        <a:effectLst/>
                                      </a:rPr>
                                    </m:ctrlPr>
                                  </m:dPr>
                                  <m:e>
                                    <m:r>
                                      <m:rPr>
                                        <m:nor/>
                                      </m:rPr>
                                      <a:rPr lang="es-AR" sz="1200">
                                        <a:effectLst/>
                                      </a:rPr>
                                      <m:t>kg</m:t>
                                    </m:r>
                                    <m:r>
                                      <m:rPr>
                                        <m:nor/>
                                      </m:rPr>
                                      <a:rPr lang="es-AR" sz="1200">
                                        <a:effectLst/>
                                      </a:rPr>
                                      <m:t>⋅</m:t>
                                    </m:r>
                                    <m:sSup>
                                      <m:sSupPr>
                                        <m:ctrlPr>
                                          <a:rPr lang="es-AR" sz="1200">
                                            <a:effectLst/>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a:effectLst/>
                                      </a:rPr>
                                    </m:ctrlPr>
                                  </m:sSubPr>
                                  <m:e>
                                    <m:r>
                                      <a:rPr lang="es-AR" sz="1200">
                                        <a:effectLst/>
                                      </a:rPr>
                                      <m:t>𝒃</m:t>
                                    </m:r>
                                  </m:e>
                                  <m:sub>
                                    <m:r>
                                      <a:rPr lang="es-AR" sz="1200">
                                        <a:effectLst/>
                                      </a:rPr>
                                      <m:t>𝒆𝒒</m:t>
                                    </m:r>
                                  </m:sub>
                                </m:sSub>
                                <m:d>
                                  <m:dPr>
                                    <m:begChr m:val="["/>
                                    <m:endChr m:val="]"/>
                                    <m:ctrlPr>
                                      <a:rPr lang="es-AR" sz="1200">
                                        <a:effectLst/>
                                      </a:rPr>
                                    </m:ctrlPr>
                                  </m:dPr>
                                  <m:e>
                                    <m:f>
                                      <m:fPr>
                                        <m:type m:val="lin"/>
                                        <m:ctrlPr>
                                          <a:rPr lang="es-AR" sz="1200">
                                            <a:effectLst/>
                                          </a:rPr>
                                        </m:ctrlPr>
                                      </m:fPr>
                                      <m:num>
                                        <m:r>
                                          <a:rPr lang="es-AR" sz="1200">
                                            <a:effectLst/>
                                          </a:rPr>
                                          <m:t>𝑵</m:t>
                                        </m:r>
                                        <m:r>
                                          <a:rPr lang="es-AR" sz="1200">
                                            <a:effectLst/>
                                          </a:rPr>
                                          <m:t>∙</m:t>
                                        </m:r>
                                        <m:r>
                                          <a:rPr lang="es-AR" sz="1200">
                                            <a:effectLst/>
                                          </a:rPr>
                                          <m:t>𝒎</m:t>
                                        </m:r>
                                      </m:num>
                                      <m:den>
                                        <m:r>
                                          <a:rPr lang="es-AR" sz="1200">
                                            <a:effectLst/>
                                          </a:rPr>
                                          <m:t>𝒓𝒂𝒅</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a:effectLst/>
                                      </a:rPr>
                                    </m:ctrlPr>
                                  </m:sSubPr>
                                  <m:e>
                                    <m:r>
                                      <a:rPr lang="es-AR" sz="1200">
                                        <a:effectLst/>
                                      </a:rPr>
                                      <m:t>⍵</m:t>
                                    </m:r>
                                  </m:e>
                                  <m:sub>
                                    <m:r>
                                      <a:rPr lang="es-AR" sz="1200">
                                        <a:effectLst/>
                                      </a:rPr>
                                      <m:t>𝒏</m:t>
                                    </m:r>
                                  </m:sub>
                                </m:sSub>
                                <m:d>
                                  <m:dPr>
                                    <m:begChr m:val="["/>
                                    <m:endChr m:val="]"/>
                                    <m:ctrlPr>
                                      <a:rPr lang="es-AR" sz="1200">
                                        <a:effectLst/>
                                      </a:rPr>
                                    </m:ctrlPr>
                                  </m:dPr>
                                  <m:e>
                                    <m:f>
                                      <m:fPr>
                                        <m:type m:val="lin"/>
                                        <m:ctrlPr>
                                          <a:rPr lang="es-AR" sz="1200">
                                            <a:effectLst/>
                                          </a:rPr>
                                        </m:ctrlPr>
                                      </m:fPr>
                                      <m:num>
                                        <m:r>
                                          <a:rPr lang="es-AR" sz="1200">
                                            <a:effectLst/>
                                          </a:rPr>
                                          <m:t>𝒓𝒂𝒅</m:t>
                                        </m:r>
                                      </m:num>
                                      <m:den>
                                        <m:r>
                                          <a:rPr lang="es-AR" sz="1200">
                                            <a:effectLst/>
                                          </a:rPr>
                                          <m:t>𝒔</m:t>
                                        </m:r>
                                      </m:den>
                                    </m:f>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rPr>
                                  <m:t>𝛇</m:t>
                                </m:r>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1864140864"/>
                  </p:ext>
                </p:extLst>
              </p:nvPr>
            </p:nvGraphicFramePr>
            <p:xfrm>
              <a:off x="4789283" y="4855253"/>
              <a:ext cx="7402412" cy="1707246"/>
            </p:xfrm>
            <a:graphic>
              <a:graphicData uri="http://schemas.openxmlformats.org/drawingml/2006/table">
                <a:tbl>
                  <a:tblPr firstRow="1" firstCol="1" bandRow="1">
                    <a:tableStyleId>{5C22544A-7EE6-4342-B048-85BDC9FD1C3A}</a:tableStyleId>
                  </a:tblPr>
                  <a:tblGrid>
                    <a:gridCol w="814884">
                      <a:extLst>
                        <a:ext uri="{9D8B030D-6E8A-4147-A177-3AD203B41FA5}">
                          <a16:colId xmlns:a16="http://schemas.microsoft.com/office/drawing/2014/main" val="2802378481"/>
                        </a:ext>
                      </a:extLst>
                    </a:gridCol>
                    <a:gridCol w="798165">
                      <a:extLst>
                        <a:ext uri="{9D8B030D-6E8A-4147-A177-3AD203B41FA5}">
                          <a16:colId xmlns:a16="http://schemas.microsoft.com/office/drawing/2014/main" val="2036341126"/>
                        </a:ext>
                      </a:extLst>
                    </a:gridCol>
                    <a:gridCol w="1151516">
                      <a:extLst>
                        <a:ext uri="{9D8B030D-6E8A-4147-A177-3AD203B41FA5}">
                          <a16:colId xmlns:a16="http://schemas.microsoft.com/office/drawing/2014/main" val="2330340701"/>
                        </a:ext>
                      </a:extLst>
                    </a:gridCol>
                    <a:gridCol w="294667">
                      <a:extLst>
                        <a:ext uri="{9D8B030D-6E8A-4147-A177-3AD203B41FA5}">
                          <a16:colId xmlns:a16="http://schemas.microsoft.com/office/drawing/2014/main" val="2013461180"/>
                        </a:ext>
                      </a:extLst>
                    </a:gridCol>
                    <a:gridCol w="1056256">
                      <a:extLst>
                        <a:ext uri="{9D8B030D-6E8A-4147-A177-3AD203B41FA5}">
                          <a16:colId xmlns:a16="http://schemas.microsoft.com/office/drawing/2014/main" val="33408804"/>
                        </a:ext>
                      </a:extLst>
                    </a:gridCol>
                    <a:gridCol w="1044154">
                      <a:extLst>
                        <a:ext uri="{9D8B030D-6E8A-4147-A177-3AD203B41FA5}">
                          <a16:colId xmlns:a16="http://schemas.microsoft.com/office/drawing/2014/main" val="4158169869"/>
                        </a:ext>
                      </a:extLst>
                    </a:gridCol>
                    <a:gridCol w="844267">
                      <a:extLst>
                        <a:ext uri="{9D8B030D-6E8A-4147-A177-3AD203B41FA5}">
                          <a16:colId xmlns:a16="http://schemas.microsoft.com/office/drawing/2014/main" val="4111785009"/>
                        </a:ext>
                      </a:extLst>
                    </a:gridCol>
                    <a:gridCol w="815780">
                      <a:extLst>
                        <a:ext uri="{9D8B030D-6E8A-4147-A177-3AD203B41FA5}">
                          <a16:colId xmlns:a16="http://schemas.microsoft.com/office/drawing/2014/main" val="2146592862"/>
                        </a:ext>
                      </a:extLst>
                    </a:gridCol>
                    <a:gridCol w="582723">
                      <a:extLst>
                        <a:ext uri="{9D8B030D-6E8A-4147-A177-3AD203B41FA5}">
                          <a16:colId xmlns:a16="http://schemas.microsoft.com/office/drawing/2014/main" val="457280126"/>
                        </a:ext>
                      </a:extLst>
                    </a:gridCol>
                  </a:tblGrid>
                  <a:tr h="382778">
                    <a:tc>
                      <a:txBody>
                        <a:bodyPr/>
                        <a:lstStyle/>
                        <a:p>
                          <a:pPr algn="ctr">
                            <a:lnSpc>
                              <a:spcPct val="107000"/>
                            </a:lnSpc>
                            <a:spcAft>
                              <a:spcPts val="800"/>
                            </a:spcAft>
                          </a:pPr>
                          <a:r>
                            <a:rPr lang="es-AR" sz="1200">
                              <a:effectLst/>
                            </a:rPr>
                            <a:t>Condición</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03053" t="-77778" r="-729008" b="-369841"/>
                          </a:stretch>
                        </a:blipFill>
                      </a:tcPr>
                    </a:tc>
                    <a:tc>
                      <a:txBody>
                        <a:bodyPr/>
                        <a:lstStyle/>
                        <a:p>
                          <a:endParaRPr lang="es-AR"/>
                        </a:p>
                      </a:txBody>
                      <a:tcPr marL="68580" marR="68580" marT="0" marB="0">
                        <a:blipFill>
                          <a:blip r:embed="rId5"/>
                          <a:stretch>
                            <a:fillRect l="-140741" t="-77778" r="-405291" b="-369841"/>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Cero</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735821" t="-77778" r="-75373" b="-369841"/>
                          </a:stretch>
                        </a:blipFill>
                      </a:tcPr>
                    </a:tc>
                    <a:tc>
                      <a:txBody>
                        <a:bodyPr/>
                        <a:lstStyle/>
                        <a:p>
                          <a:endParaRPr lang="es-AR"/>
                        </a:p>
                      </a:txBody>
                      <a:tcPr marL="68580" marR="68580" marT="0" marB="0">
                        <a:blipFill>
                          <a:blip r:embed="rId5"/>
                          <a:stretch>
                            <a:fillRect l="-1166667" t="-77778" r="-5208" b="-369841"/>
                          </a:stretch>
                        </a:blipFill>
                      </a:tcPr>
                    </a:tc>
                    <a:extLst>
                      <a:ext uri="{0D108BD9-81ED-4DB2-BD59-A6C34878D82A}">
                        <a16:rowId xmlns:a16="http://schemas.microsoft.com/office/drawing/2014/main" val="3338585090"/>
                      </a:ext>
                    </a:extLst>
                  </a:tr>
                  <a:tr h="497604">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497604">
                    <a:tc>
                      <a:txBody>
                        <a:bodyPr/>
                        <a:lstStyle/>
                        <a:p>
                          <a:pPr algn="ctr">
                            <a:lnSpc>
                              <a:spcPct val="107000"/>
                            </a:lnSpc>
                            <a:spcAft>
                              <a:spcPts val="800"/>
                            </a:spcAft>
                          </a:pPr>
                          <a:r>
                            <a:rPr lang="es-AR" sz="1200">
                              <a:effectLst/>
                            </a:rPr>
                            <a:t>Mínimos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174,0908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29260">
                    <a:tc>
                      <a:txBody>
                        <a:bodyPr/>
                        <a:lstStyle/>
                        <a:p>
                          <a:pPr algn="ctr">
                            <a:lnSpc>
                              <a:spcPct val="107000"/>
                            </a:lnSpc>
                            <a:spcAft>
                              <a:spcPts val="800"/>
                            </a:spcAft>
                          </a:pPr>
                          <a:r>
                            <a:rPr lang="es-AR" sz="1200">
                              <a:effectLst/>
                            </a:rPr>
                            <a:t>Máximos</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-95.05+63.77i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mc:Choice xmlns:a14="http://schemas.microsoft.com/office/drawing/2010/main"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a:latin typeface="Calibri" panose="020F0502020204030204" pitchFamily="34" charset="0"/>
                            <a:ea typeface="Calibri" panose="020F0502020204030204" pitchFamily="34" charset="0"/>
                            <a:cs typeface="Times New Roman" panose="02020603050405020304" pitchFamily="18" charset="0"/>
                          </a:rPr>
                        </m:ctrlPr>
                      </m:sSubPr>
                      <m:e>
                        <m:r>
                          <a:rPr lang="es-AR" sz="1600">
                            <a:latin typeface="Calibri" panose="020F0502020204030204" pitchFamily="34" charset="0"/>
                            <a:ea typeface="Calibri" panose="020F0502020204030204" pitchFamily="34" charset="0"/>
                            <a:cs typeface="Times New Roman" panose="02020603050405020304" pitchFamily="18" charset="0"/>
                          </a:rPr>
                          <m:t>𝐽</m:t>
                        </m:r>
                      </m:e>
                      <m:sub>
                        <m:r>
                          <a:rPr lang="es-AR" sz="1600">
                            <a:latin typeface="Calibri" panose="020F0502020204030204" pitchFamily="34"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a:latin typeface="Calibri" panose="020F0502020204030204" pitchFamily="34" charset="0"/>
                            <a:ea typeface="Calibri" panose="020F0502020204030204" pitchFamily="34" charset="0"/>
                            <a:cs typeface="Times New Roman" panose="02020603050405020304" pitchFamily="18" charset="0"/>
                          </a:rPr>
                        </m:ctrlPr>
                      </m:sSubPr>
                      <m:e>
                        <m:r>
                          <a:rPr lang="es-AR" sz="1600">
                            <a:latin typeface="Calibri" panose="020F0502020204030204" pitchFamily="34" charset="0"/>
                            <a:ea typeface="Calibri" panose="020F0502020204030204" pitchFamily="34" charset="0"/>
                            <a:cs typeface="Times New Roman" panose="02020603050405020304" pitchFamily="18" charset="0"/>
                          </a:rPr>
                          <m:t>𝑏</m:t>
                        </m:r>
                      </m:e>
                      <m:sub>
                        <m:r>
                          <a:rPr lang="es-AR" sz="1600">
                            <a:latin typeface="Calibri" panose="020F0502020204030204" pitchFamily="34"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a:latin typeface="Calibri" panose="020F0502020204030204" pitchFamily="34" charset="0"/>
                            <a:ea typeface="Calibri" panose="020F0502020204030204" pitchFamily="34" charset="0"/>
                            <a:cs typeface="Times New Roman" panose="02020603050405020304" pitchFamily="18" charset="0"/>
                          </a:rPr>
                        </m:ctrlPr>
                      </m:sSubPr>
                      <m:e>
                        <m:r>
                          <a:rPr lang="es-AR" sz="1600">
                            <a:latin typeface="Calibri" panose="020F0502020204030204" pitchFamily="34" charset="0"/>
                            <a:ea typeface="Calibri" panose="020F0502020204030204" pitchFamily="34" charset="0"/>
                            <a:cs typeface="Times New Roman" panose="02020603050405020304" pitchFamily="18" charset="0"/>
                          </a:rPr>
                          <m:t>⍵</m:t>
                        </m:r>
                      </m:e>
                      <m:sub>
                        <m:r>
                          <a:rPr lang="es-AR" sz="1600">
                            <a:latin typeface="Calibri" panose="020F0502020204030204" pitchFamily="34"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65760" y="1352223"/>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523220"/>
          </a:xfrm>
          <a:prstGeom prst="rect">
            <a:avLst/>
          </a:prstGeom>
          <a:noFill/>
        </p:spPr>
        <p:txBody>
          <a:bodyPr wrap="square">
            <a:spAutoFit/>
          </a:bodyPr>
          <a:lstStyle/>
          <a:p>
            <a:pPr algn="l"/>
            <a:r>
              <a:rPr lang="es-AR" sz="1400" b="0" i="0" dirty="0">
                <a:solidFill>
                  <a:srgbClr val="1A1A2E"/>
                </a:solidFill>
                <a:latin typeface="Calibri"/>
              </a:rPr>
              <a:t>Comparando el polinomio característico de s₂,₃ con la forma canónica de segundo orden s²+2ζωn·s+ωn²=0, se obtienen </a:t>
            </a:r>
            <a:r>
              <a:rPr lang="es-AR" sz="1400" b="0" i="0" dirty="0" err="1">
                <a:solidFill>
                  <a:srgbClr val="1A1A2E"/>
                </a:solidFill>
                <a:latin typeface="Calibri"/>
              </a:rPr>
              <a:t>ωn</a:t>
            </a:r>
            <a:r>
              <a:rPr lang="es-AR" sz="1400" b="0" i="0" dirty="0">
                <a:solidFill>
                  <a:srgbClr val="1A1A2E"/>
                </a:solidFill>
                <a:latin typeface="Calibri"/>
              </a:rPr>
              <a:t> y ζ en función de los parámetros del sistema:</a:t>
            </a:r>
          </a:p>
        </p:txBody>
      </p:sp>
      <mc:AlternateContent xmlns:mc="http://schemas.openxmlformats.org/markup-compatibility/2006">
        <mc:Choice xmlns:a14="http://schemas.microsoft.com/office/drawing/2010/main" Requires="a14">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ml=1.5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p:graphicFrame>
            <p:nvGraphicFramePr>
              <p:cNvPr id="12" name="Table 11"/>
              <p:cNvGraphicFramePr>
                <a:graphicFrameLocks noGrp="1"/>
              </p:cNvGraphicFramePr>
              <p:nvPr>
                <p:extLst>
                  <p:ext uri="{D42A27DB-BD31-4B8C-83A1-F6EECF244321}">
                    <p14:modId xmlns:p14="http://schemas.microsoft.com/office/powerpoint/2010/main" val="4019102968"/>
                  </p:ext>
                </p:extLst>
              </p:nvPr>
            </p:nvGraphicFramePr>
            <p:xfrm>
              <a:off x="365760" y="2473653"/>
              <a:ext cx="11429999" cy="2651760"/>
            </p:xfrm>
            <a:graphic>
              <a:graphicData uri="http://schemas.openxmlformats.org/drawingml/2006/table">
                <a:tbl>
                  <a:tblPr firstRow="1" bandRow="1">
                    <a:tableStyleId>{5C22544A-7EE6-4342-B048-85BDC9FD1C3A}</a:tableStyleId>
                  </a:tblPr>
                  <a:tblGrid>
                    <a:gridCol w="4996353">
                      <a:extLst>
                        <a:ext uri="{9D8B030D-6E8A-4147-A177-3AD203B41FA5}">
                          <a16:colId xmlns:a16="http://schemas.microsoft.com/office/drawing/2014/main" val="20000"/>
                        </a:ext>
                      </a:extLst>
                    </a:gridCol>
                    <a:gridCol w="2956264">
                      <a:extLst>
                        <a:ext uri="{9D8B030D-6E8A-4147-A177-3AD203B41FA5}">
                          <a16:colId xmlns:a16="http://schemas.microsoft.com/office/drawing/2014/main" val="20001"/>
                        </a:ext>
                      </a:extLst>
                    </a:gridCol>
                    <a:gridCol w="3477382">
                      <a:extLst>
                        <a:ext uri="{9D8B030D-6E8A-4147-A177-3AD203B41FA5}">
                          <a16:colId xmlns:a16="http://schemas.microsoft.com/office/drawing/2014/main" val="20002"/>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endParaRPr lang="es-AR"/>
                        </a:p>
                      </a:txBody>
                      <a:tcPr>
                        <a:blipFill>
                          <a:blip r:embed="rId2"/>
                          <a:stretch>
                            <a:fillRect l="-169485" t="-1370" r="-118557" b="-500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441960">
                    <a:tc>
                      <a:txBody>
                        <a:bodyPr/>
                        <a:lstStyle/>
                        <a:p>
                          <a:r>
                            <a:rPr lang="es-AR" sz="1200" noProof="0">
                              <a:latin typeface="Calibri"/>
                            </a:rPr>
                            <a:t>Rs = 1.10 Ω (40°C), </a:t>
                          </a:r>
                          <a:r>
                            <a:rPr lang="es-AR" sz="1200" noProof="0">
                              <a:latin typeface="+mn-lt"/>
                            </a:rPr>
                            <a:t>parámetros</a:t>
                          </a:r>
                          <a:r>
                            <a:rPr lang="es-AR" sz="1200" noProof="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441960">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441960">
                    <a:tc>
                      <a:txBody>
                        <a:bodyPr/>
                        <a:lstStyle/>
                        <a:p>
                          <a:endParaRPr lang="es-AR"/>
                        </a:p>
                      </a:txBody>
                      <a:tcPr>
                        <a:blipFill>
                          <a:blip r:embed="rId2"/>
                          <a:stretch>
                            <a:fillRect l="-244" t="-300000" r="-129268" b="-201370"/>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441960">
                    <a:tc>
                      <a:txBody>
                        <a:bodyPr/>
                        <a:lstStyle/>
                        <a:p>
                          <a:endParaRPr lang="es-AR"/>
                        </a:p>
                      </a:txBody>
                      <a:tcPr>
                        <a:blipFill>
                          <a:blip r:embed="rId2"/>
                          <a:stretch>
                            <a:fillRect l="-244" t="-405556" r="-129268" b="-104167"/>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441960">
                    <a:tc>
                      <a:txBody>
                        <a:bodyPr/>
                        <a:lstStyle/>
                        <a:p>
                          <a:endParaRPr lang="es-AR"/>
                        </a:p>
                      </a:txBody>
                      <a:tcPr>
                        <a:blipFill>
                          <a:blip r:embed="rId2"/>
                          <a:stretch>
                            <a:fillRect l="-244" t="-498630" r="-129268" b="-2740"/>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mc:Choice xmlns:a14="http://schemas.microsoft.com/office/drawing/2010/main" Requires="a14">
          <p:sp>
            <p:nvSpPr>
              <p:cNvPr id="13" name="TextBox 12"/>
              <p:cNvSpPr txBox="1"/>
              <p:nvPr/>
            </p:nvSpPr>
            <p:spPr>
              <a:xfrm>
                <a:off x="441655" y="5310157"/>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a:t>
                </a:r>
                <a:r>
                  <a:rPr lang="es-AR" sz="1300" dirty="0" err="1">
                    <a:solidFill>
                      <a:srgbClr val="1A1A2E"/>
                    </a:solidFill>
                    <a:latin typeface="Calibri"/>
                  </a:rPr>
                  <a:t>sobreamortiguado</a:t>
                </a:r>
                <a:r>
                  <a:rPr lang="es-AR" sz="1300" dirty="0">
                    <a:solidFill>
                      <a:srgbClr val="1A1A2E"/>
                    </a:solidFill>
                    <a:latin typeface="Calibri"/>
                  </a:rPr>
                  <a:t>)</a:t>
                </a:r>
              </a:p>
            </p:txBody>
          </p:sp>
        </mc:Choice>
        <mc:Fallback>
          <p:sp>
            <p:nvSpPr>
              <p:cNvPr id="13" name="TextBox 12"/>
              <p:cNvSpPr txBox="1">
                <a:spLocks noRot="1" noChangeAspect="1" noMove="1" noResize="1" noEditPoints="1" noAdjustHandles="1" noChangeArrowheads="1" noChangeShapeType="1" noTextEdit="1"/>
              </p:cNvSpPr>
              <p:nvPr/>
            </p:nvSpPr>
            <p:spPr>
              <a:xfrm>
                <a:off x="441655" y="5310157"/>
                <a:ext cx="11430000" cy="812915"/>
              </a:xfrm>
              <a:prstGeom prst="rect">
                <a:avLst/>
              </a:prstGeom>
              <a:blipFill>
                <a:blip r:embed="rId3"/>
                <a:stretch>
                  <a:fillRect l="-53" t="-752" b="-6015"/>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5" name="CuadroTexto 14">
                <a:extLst>
                  <a:ext uri="{FF2B5EF4-FFF2-40B4-BE49-F238E27FC236}">
                    <a16:creationId xmlns:a16="http://schemas.microsoft.com/office/drawing/2014/main" id="{C3DF8E19-10B4-4C82-B49F-788B31D4C8E8}"/>
                  </a:ext>
                </a:extLst>
              </p:cNvPr>
              <p:cNvSpPr txBox="1"/>
              <p:nvPr/>
            </p:nvSpPr>
            <p:spPr>
              <a:xfrm>
                <a:off x="-1358283" y="1338975"/>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58283" y="1338975"/>
                <a:ext cx="6143346" cy="93051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0D47FAB2-910A-4CC2-9CFC-9DA082C28652}"/>
                  </a:ext>
                </a:extLst>
              </p:cNvPr>
              <p:cNvSpPr txBox="1"/>
              <p:nvPr/>
            </p:nvSpPr>
            <p:spPr>
              <a:xfrm>
                <a:off x="1263593" y="1557479"/>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f>
                        <m:fPr>
                          <m:ctrlPr>
                            <a:rPr lang="es-AR" sz="1400" i="1">
                              <a:solidFill>
                                <a:srgbClr val="836967"/>
                              </a:solidFill>
                              <a:latin typeface="Cambria Math" panose="02040503050406030204" pitchFamily="18" charset="0"/>
                            </a:rPr>
                          </m:ctrlPr>
                        </m:fPr>
                        <m:num>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b</m:t>
                              </m:r>
                            </m:e>
                            <m:sub>
                              <m:r>
                                <m:rPr>
                                  <m:sty m:val="p"/>
                                </m:rPr>
                                <a:rPr lang="es-AR" sz="1400" i="0">
                                  <a:latin typeface="Cambria Math" panose="02040503050406030204" pitchFamily="18" charset="0"/>
                                </a:rPr>
                                <m:t>eq</m:t>
                              </m:r>
                            </m:sub>
                          </m:sSub>
                          <m:r>
                            <a:rPr lang="es-AR" sz="1400" i="0">
                              <a:latin typeface="Cambria Math" panose="02040503050406030204" pitchFamily="18" charset="0"/>
                            </a:rPr>
                            <m:t>+</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R</m:t>
                              </m:r>
                            </m:e>
                            <m:sub>
                              <m:r>
                                <m:rPr>
                                  <m:sty m:val="p"/>
                                </m:rPr>
                                <a:rPr lang="es-AR" sz="1400" i="0">
                                  <a:latin typeface="Cambria Math" panose="02040503050406030204" pitchFamily="18" charset="0"/>
                                </a:rPr>
                                <m:t>s</m:t>
                              </m:r>
                            </m:sub>
                          </m:sSub>
                          <m:d>
                            <m:dPr>
                              <m:ctrlPr>
                                <a:rPr lang="es-AR" sz="1400" i="1">
                                  <a:solidFill>
                                    <a:srgbClr val="836967"/>
                                  </a:solidFill>
                                  <a:latin typeface="Cambria Math" panose="02040503050406030204" pitchFamily="18" charset="0"/>
                                </a:rPr>
                              </m:ctrlPr>
                            </m:dPr>
                            <m:e>
                              <m:sSubSup>
                                <m:sSubSupPr>
                                  <m:ctrlPr>
                                    <a:rPr lang="es-AR" sz="1400" i="1">
                                      <a:solidFill>
                                        <a:srgbClr val="836967"/>
                                      </a:solidFill>
                                      <a:latin typeface="Cambria Math" panose="02040503050406030204" pitchFamily="18" charset="0"/>
                                    </a:rPr>
                                  </m:ctrlPr>
                                </m:sSubSupPr>
                                <m:e>
                                  <m:r>
                                    <m:rPr>
                                      <m:sty m:val="p"/>
                                    </m:rPr>
                                    <a:rPr lang="es-AR" sz="1400" i="0">
                                      <a:latin typeface="Cambria Math" panose="02040503050406030204" pitchFamily="18" charset="0"/>
                                    </a:rPr>
                                    <m:t>T</m:t>
                                  </m:r>
                                </m:e>
                                <m:sub>
                                  <m:r>
                                    <m:rPr>
                                      <m:sty m:val="p"/>
                                    </m:rPr>
                                    <a:rPr lang="es-AR" sz="1400" i="0">
                                      <a:latin typeface="Cambria Math" panose="02040503050406030204" pitchFamily="18" charset="0"/>
                                    </a:rPr>
                                    <m:t>s</m:t>
                                  </m:r>
                                </m:sub>
                                <m:sup>
                                  <m:r>
                                    <a:rPr lang="es-AR" sz="1400" i="0">
                                      <a:latin typeface="Cambria Math" panose="02040503050406030204" pitchFamily="18" charset="0"/>
                                    </a:rPr>
                                    <m:t>∘</m:t>
                                  </m:r>
                                </m:sup>
                              </m:sSubSup>
                            </m:e>
                          </m:d>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num>
                        <m:den>
                          <m:r>
                            <a:rPr lang="es-AR" sz="1400" i="0">
                              <a:latin typeface="Cambria Math" panose="02040503050406030204" pitchFamily="18" charset="0"/>
                            </a:rPr>
                            <m:t>2 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J</m:t>
                              </m:r>
                            </m:e>
                            <m:sub>
                              <m:r>
                                <m:rPr>
                                  <m:sty m:val="p"/>
                                </m:rPr>
                                <a:rPr lang="es-AR" sz="1400" i="0">
                                  <a:latin typeface="Cambria Math" panose="02040503050406030204" pitchFamily="18" charset="0"/>
                                </a:rPr>
                                <m:t>eq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L</m:t>
                              </m:r>
                            </m:e>
                            <m:sub>
                              <m:r>
                                <m:rPr>
                                  <m:sty m:val="p"/>
                                </m:rPr>
                                <a:rPr lang="es-AR" sz="1400" i="0">
                                  <a:latin typeface="Cambria Math" panose="02040503050406030204" pitchFamily="18" charset="0"/>
                                </a:rPr>
                                <m:t>q</m:t>
                              </m:r>
                            </m:sub>
                          </m:sSub>
                          <m:r>
                            <a:rPr lang="es-AR" sz="1400" i="0">
                              <a:latin typeface="Cambria Math" panose="02040503050406030204" pitchFamily="18" charset="0"/>
                            </a:rPr>
                            <m:t> </m:t>
                          </m:r>
                          <m:sSub>
                            <m:sSubPr>
                              <m:ctrlPr>
                                <a:rPr lang="es-AR" sz="1400" i="1">
                                  <a:solidFill>
                                    <a:srgbClr val="836967"/>
                                  </a:solidFill>
                                  <a:latin typeface="Cambria Math" panose="02040503050406030204" pitchFamily="18" charset="0"/>
                                </a:rPr>
                              </m:ctrlPr>
                            </m:sSubPr>
                            <m:e>
                              <m:r>
                                <m:rPr>
                                  <m:sty m:val="p"/>
                                </m:rPr>
                                <a:rPr lang="es-AR" sz="1400" i="0">
                                  <a:latin typeface="Cambria Math" panose="02040503050406030204" pitchFamily="18" charset="0"/>
                                </a:rPr>
                                <m:t>ω</m:t>
                              </m:r>
                            </m:e>
                            <m:sub>
                              <m:r>
                                <m:rPr>
                                  <m:sty m:val="p"/>
                                </m:rPr>
                                <a:rPr lang="es-AR" sz="1400" i="0">
                                  <a:latin typeface="Cambria Math" panose="02040503050406030204" pitchFamily="18" charset="0"/>
                                </a:rPr>
                                <m:t>n</m:t>
                              </m:r>
                            </m:sub>
                          </m:sSub>
                        </m:den>
                      </m:f>
                    </m:oMath>
                  </m:oMathPara>
                </a14:m>
                <a:endParaRPr lang="es-AR" sz="1400" dirty="0"/>
              </a:p>
            </p:txBody>
          </p:sp>
        </mc:Choice>
        <mc:Fallback>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63593" y="1557479"/>
                <a:ext cx="6143346" cy="581057"/>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2"/>
            <a:ext cx="11672360" cy="175525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mc:Choice xmlns:a14="http://schemas.microsoft.com/office/drawing/2010/main" Requires="a14">
          <p:sp>
            <p:nvSpPr>
              <p:cNvPr id="9" name="TextBox 8"/>
              <p:cNvSpPr txBox="1"/>
              <p:nvPr/>
            </p:nvSpPr>
            <p:spPr>
              <a:xfrm>
                <a:off x="335126" y="1347892"/>
                <a:ext cx="6829153"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m:t>𝐴</m:t>
                      </m:r>
                      <m:r>
                        <a:rPr lang="es-AR" sz="1400" i="1"/>
                        <m:t>=</m:t>
                      </m:r>
                      <m:d>
                        <m:dPr>
                          <m:begChr m:val="["/>
                          <m:endChr m:val="]"/>
                          <m:ctrlPr>
                            <a:rPr lang="es-AR" sz="1400" i="1"/>
                          </m:ctrlPr>
                        </m:dPr>
                        <m:e>
                          <m:m>
                            <m:mPr>
                              <m:mcs>
                                <m:mc>
                                  <m:mcPr>
                                    <m:count m:val="5"/>
                                    <m:mcJc m:val="center"/>
                                  </m:mcPr>
                                </m:mc>
                              </m:mcs>
                              <m:ctrlPr>
                                <a:rPr lang="es-AR" sz="1400" i="1"/>
                              </m:ctrlPr>
                            </m:mPr>
                            <m:mr>
                              <m:e>
                                <m:r>
                                  <a:rPr lang="es-AR" sz="1400" i="1"/>
                                  <m:t>0</m:t>
                                </m:r>
                              </m:e>
                              <m:e>
                                <m:r>
                                  <a:rPr lang="es-AR" sz="1400" i="1"/>
                                  <m:t>1</m:t>
                                </m:r>
                              </m:e>
                              <m:e>
                                <m:r>
                                  <a:rPr lang="es-AR" sz="1400" i="1"/>
                                  <m:t>0</m:t>
                                </m:r>
                              </m:e>
                              <m:e>
                                <m:r>
                                  <a:rPr lang="es-AR" sz="1400" i="1"/>
                                  <m:t>0</m:t>
                                </m:r>
                              </m:e>
                              <m:e>
                                <m:r>
                                  <a:rPr lang="es-AR" sz="1400" i="1"/>
                                  <m:t>0</m:t>
                                </m:r>
                              </m:e>
                            </m:mr>
                            <m:mr>
                              <m:e>
                                <m:r>
                                  <a:rPr lang="es-AR" sz="1400" i="1"/>
                                  <m:t>0</m:t>
                                </m:r>
                              </m:e>
                              <m:e>
                                <m:box>
                                  <m:boxPr>
                                    <m:ctrlPr>
                                      <a:rPr lang="es-AR" sz="1400" i="1"/>
                                    </m:ctrlPr>
                                  </m:boxPr>
                                  <m:e>
                                    <m:argPr>
                                      <m:argSz m:val="-1"/>
                                    </m:argPr>
                                    <m:f>
                                      <m:fPr>
                                        <m:ctrlPr>
                                          <a:rPr lang="es-AR" sz="1400" i="1"/>
                                        </m:ctrlPr>
                                      </m:fPr>
                                      <m:num>
                                        <m:sSub>
                                          <m:sSubPr>
                                            <m:ctrlPr>
                                              <a:rPr lang="es-AR" sz="1400" i="1"/>
                                            </m:ctrlPr>
                                          </m:sSubPr>
                                          <m:e>
                                            <m:r>
                                              <a:rPr lang="es-AR" sz="1400" i="1"/>
                                              <m:t>𝑏</m:t>
                                            </m:r>
                                          </m:e>
                                          <m:sub>
                                            <m:r>
                                              <a:rPr lang="es-AR" sz="1400" i="1"/>
                                              <m:t>𝑒𝑞</m:t>
                                            </m:r>
                                          </m:sub>
                                        </m:sSub>
                                      </m:num>
                                      <m:den>
                                        <m:sSub>
                                          <m:sSubPr>
                                            <m:ctrlPr>
                                              <a:rPr lang="es-AR" sz="1400" i="1"/>
                                            </m:ctrlPr>
                                          </m:sSubPr>
                                          <m:e>
                                            <m:r>
                                              <a:rPr lang="es-AR" sz="1400" i="1"/>
                                              <m:t>𝐽</m:t>
                                            </m:r>
                                          </m:e>
                                          <m:sub>
                                            <m:r>
                                              <a:rPr lang="es-AR" sz="1400" i="1"/>
                                              <m:t>𝑒𝑞</m:t>
                                            </m:r>
                                          </m:sub>
                                        </m:sSub>
                                      </m:den>
                                    </m:f>
                                  </m:e>
                                </m:box>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den>
                                    </m:f>
                                  </m:e>
                                </m:box>
                              </m:e>
                              <m:e>
                                <m:box>
                                  <m:boxPr>
                                    <m:ctrlPr>
                                      <a:rPr lang="es-AR" sz="1400" i="1"/>
                                    </m:ctrlPr>
                                  </m:boxPr>
                                  <m:e>
                                    <m:argPr>
                                      <m:argSz m:val="-1"/>
                                    </m:argPr>
                                    <m:r>
                                      <a:rPr lang="es-AR" sz="1400" i="1"/>
                                      <m:t>−</m:t>
                                    </m:r>
                                    <m:f>
                                      <m:fPr>
                                        <m:ctrlPr>
                                          <a:rPr lang="es-AR" sz="1400" i="1"/>
                                        </m:ctrlPr>
                                      </m:fPr>
                                      <m:num>
                                        <m:r>
                                          <a:rPr lang="es-AR" sz="1400" i="1"/>
                                          <m:t>𝑔</m:t>
                                        </m:r>
                                        <m:r>
                                          <a:rPr lang="es-AR" sz="1400" i="1"/>
                                          <m:t> </m:t>
                                        </m:r>
                                        <m:sSub>
                                          <m:sSubPr>
                                            <m:ctrlPr>
                                              <a:rPr lang="es-AR" sz="1400" i="1"/>
                                            </m:ctrlPr>
                                          </m:sSubPr>
                                          <m:e>
                                            <m:r>
                                              <a:rPr lang="es-AR" sz="1400" i="1"/>
                                              <m:t>𝑘</m:t>
                                            </m:r>
                                          </m:e>
                                          <m:sub>
                                            <m:r>
                                              <a:rPr lang="es-AR" sz="1400" i="1"/>
                                              <m:t>𝑙</m:t>
                                            </m:r>
                                          </m:sub>
                                        </m:sSub>
                                      </m:num>
                                      <m:den>
                                        <m:r>
                                          <a:rPr lang="es-AR" sz="1400" i="1"/>
                                          <m:t>𝑟</m:t>
                                        </m:r>
                                        <m:r>
                                          <a:rPr lang="es-AR" sz="1400" i="1"/>
                                          <m:t> </m:t>
                                        </m:r>
                                        <m:sSub>
                                          <m:sSubPr>
                                            <m:ctrlPr>
                                              <a:rPr lang="es-AR" sz="1400" i="1"/>
                                            </m:ctrlPr>
                                          </m:sSubPr>
                                          <m:e>
                                            <m:r>
                                              <a:rPr lang="es-AR" sz="1400" i="1"/>
                                              <m:t>𝐽</m:t>
                                            </m:r>
                                          </m:e>
                                          <m:sub>
                                            <m:r>
                                              <a:rPr lang="es-AR" sz="1400" i="1"/>
                                              <m:t>𝑒𝑞</m:t>
                                            </m:r>
                                          </m:sub>
                                        </m:sSub>
                                      </m:den>
                                    </m:f>
                                  </m:e>
                                </m:box>
                              </m:e>
                              <m:e>
                                <m:box>
                                  <m:boxPr>
                                    <m:ctrlPr>
                                      <a:rPr lang="es-AR" sz="1400" i="1"/>
                                    </m:ctrlPr>
                                  </m:boxPr>
                                  <m:e>
                                    <m:argPr>
                                      <m:argSz m:val="-1"/>
                                    </m:argPr>
                                    <m:f>
                                      <m:fPr>
                                        <m:ctrlPr>
                                          <a:rPr lang="es-AR" sz="1400" i="1"/>
                                        </m:ctrlPr>
                                      </m:fPr>
                                      <m:num>
                                        <m:r>
                                          <a:rPr lang="es-AR" sz="1400" i="1"/>
                                          <m:t>1</m:t>
                                        </m:r>
                                      </m:num>
                                      <m:den>
                                        <m:sSub>
                                          <m:sSubPr>
                                            <m:ctrlPr>
                                              <a:rPr lang="es-AR" sz="1400" i="1"/>
                                            </m:ctrlPr>
                                          </m:sSubPr>
                                          <m:e>
                                            <m:r>
                                              <a:rPr lang="es-AR" sz="1400" i="1"/>
                                              <m:t>𝐽</m:t>
                                            </m:r>
                                          </m:e>
                                          <m:sub>
                                            <m:r>
                                              <a:rPr lang="es-AR" sz="1400" i="1"/>
                                              <m:t>𝑒𝑞</m:t>
                                            </m:r>
                                          </m:sub>
                                        </m:sSub>
                                      </m:den>
                                    </m:f>
                                  </m:e>
                                </m:box>
                              </m:e>
                            </m:mr>
                            <m:mr>
                              <m:e>
                                <m:r>
                                  <a:rPr lang="es-AR" sz="1400" i="1"/>
                                  <m:t>0</m:t>
                                </m:r>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sSub>
                                          <m:sSubPr>
                                            <m:ctrlPr>
                                              <a:rPr lang="es-AR" sz="1400" i="1"/>
                                            </m:ctrlPr>
                                          </m:sSubPr>
                                          <m:e>
                                            <m:r>
                                              <a:rPr lang="es-AR" sz="1400" i="1"/>
                                              <m:t>𝐿</m:t>
                                            </m:r>
                                          </m:e>
                                          <m:sub>
                                            <m:r>
                                              <a:rPr lang="es-AR" sz="1400" i="1"/>
                                              <m:t>𝑞</m:t>
                                            </m:r>
                                          </m:sub>
                                        </m:sSub>
                                      </m:den>
                                    </m:f>
                                  </m:e>
                                </m:box>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𝑅</m:t>
                                            </m:r>
                                          </m:e>
                                          <m:sub>
                                            <m:r>
                                              <a:rPr lang="es-AR" sz="1400" i="1"/>
                                              <m:t>𝑠</m:t>
                                            </m:r>
                                          </m:sub>
                                        </m:sSub>
                                      </m:num>
                                      <m:den>
                                        <m:sSub>
                                          <m:sSubPr>
                                            <m:ctrlPr>
                                              <a:rPr lang="es-AR" sz="1400" i="1"/>
                                            </m:ctrlPr>
                                          </m:sSubPr>
                                          <m:e>
                                            <m:r>
                                              <a:rPr lang="es-AR" sz="1400" i="1"/>
                                              <m:t>𝐿</m:t>
                                            </m:r>
                                          </m:e>
                                          <m:sub>
                                            <m:r>
                                              <a:rPr lang="es-AR" sz="1400" i="1"/>
                                              <m:t>𝑞</m:t>
                                            </m:r>
                                          </m:sub>
                                        </m:sSub>
                                      </m:den>
                                    </m:f>
                                  </m:e>
                                </m:box>
                              </m:e>
                              <m:e>
                                <m:r>
                                  <a:rPr lang="es-AR" sz="1400" i="1"/>
                                  <m:t>0</m:t>
                                </m:r>
                              </m:e>
                              <m:e>
                                <m:r>
                                  <a:rPr lang="es-AR" sz="1400" i="1"/>
                                  <m:t>0</m:t>
                                </m:r>
                              </m:e>
                            </m:mr>
                            <m:mr>
                              <m:e>
                                <m:r>
                                  <a:rPr lang="es-AR" sz="1400" i="1"/>
                                  <m:t>0</m:t>
                                </m:r>
                              </m:e>
                              <m:e>
                                <m:r>
                                  <a:rPr lang="es-AR" sz="1400" i="1"/>
                                  <m:t>0</m:t>
                                </m:r>
                              </m:e>
                              <m:e>
                                <m:r>
                                  <a:rPr lang="es-AR" sz="1400" i="1"/>
                                  <m:t>0</m:t>
                                </m:r>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𝑅</m:t>
                                            </m:r>
                                          </m:e>
                                          <m:sub>
                                            <m:r>
                                              <a:rPr lang="es-AR" sz="1400" i="1"/>
                                              <m:t>𝑠</m:t>
                                            </m:r>
                                          </m:sub>
                                        </m:sSub>
                                      </m:num>
                                      <m:den>
                                        <m:sSub>
                                          <m:sSubPr>
                                            <m:ctrlPr>
                                              <a:rPr lang="es-AR" sz="1400" i="1"/>
                                            </m:ctrlPr>
                                          </m:sSubPr>
                                          <m:e>
                                            <m:r>
                                              <a:rPr lang="es-AR" sz="1400" i="1"/>
                                              <m:t>𝐿</m:t>
                                            </m:r>
                                          </m:e>
                                          <m:sub>
                                            <m:r>
                                              <a:rPr lang="es-AR" sz="1400" i="1"/>
                                              <m:t>𝑑</m:t>
                                            </m:r>
                                          </m:sub>
                                        </m:sSub>
                                      </m:den>
                                    </m:f>
                                  </m:e>
                                </m:box>
                              </m:e>
                              <m:e>
                                <m:r>
                                  <a:rPr lang="es-AR" sz="1400" i="1"/>
                                  <m:t>0</m:t>
                                </m:r>
                              </m:e>
                            </m:mr>
                            <m:mr>
                              <m:e>
                                <m:r>
                                  <a:rPr lang="es-AR" sz="1400" i="1"/>
                                  <m:t>0</m:t>
                                </m:r>
                              </m:e>
                              <m:e>
                                <m:r>
                                  <a:rPr lang="es-AR" sz="1400" i="1"/>
                                  <m:t>0</m:t>
                                </m:r>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𝑅</m:t>
                                            </m:r>
                                          </m:e>
                                          <m:sub>
                                            <m:r>
                                              <a:rPr lang="es-AR" sz="1400" i="1"/>
                                              <m:t>𝑠</m:t>
                                            </m:r>
                                          </m:sub>
                                        </m:sSub>
                                      </m:num>
                                      <m:den>
                                        <m:r>
                                          <a:rPr lang="es-AR" sz="1400" i="1"/>
                                          <m:t>2</m:t>
                                        </m:r>
                                      </m:den>
                                    </m:f>
                                  </m:e>
                                </m:box>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𝑅</m:t>
                                            </m:r>
                                          </m:e>
                                          <m:sub>
                                            <m:r>
                                              <a:rPr lang="es-AR" sz="1400" i="1"/>
                                              <m:t>𝑠</m:t>
                                            </m:r>
                                          </m:sub>
                                        </m:sSub>
                                      </m:num>
                                      <m:den>
                                        <m:r>
                                          <a:rPr lang="es-AR" sz="1400" i="1"/>
                                          <m:t>2</m:t>
                                        </m:r>
                                      </m:den>
                                    </m:f>
                                  </m:e>
                                </m:box>
                              </m:e>
                              <m:e>
                                <m:box>
                                  <m:boxPr>
                                    <m:ctrlPr>
                                      <a:rPr lang="es-AR" sz="1400" i="1"/>
                                    </m:ctrlPr>
                                  </m:boxPr>
                                  <m:e>
                                    <m:argPr>
                                      <m:argSz m:val="-1"/>
                                    </m:argPr>
                                    <m:r>
                                      <a:rPr lang="es-AR" sz="1400" i="1"/>
                                      <m:t>−</m:t>
                                    </m:r>
                                    <m:f>
                                      <m:fPr>
                                        <m:ctrlPr>
                                          <a:rPr lang="es-AR" sz="1400" i="1"/>
                                        </m:ctrlPr>
                                      </m:fPr>
                                      <m:num>
                                        <m:r>
                                          <a:rPr lang="es-AR" sz="1400" i="1"/>
                                          <m:t>1</m:t>
                                        </m:r>
                                      </m:num>
                                      <m:den>
                                        <m:sSub>
                                          <m:sSubPr>
                                            <m:ctrlPr>
                                              <a:rPr lang="es-AR" sz="1400" i="1"/>
                                            </m:ctrlPr>
                                          </m:sSubPr>
                                          <m:e>
                                            <m:r>
                                              <a:rPr lang="es-AR" sz="1400" i="1"/>
                                              <m:t>𝑅</m:t>
                                            </m:r>
                                          </m:e>
                                          <m:sub>
                                            <m:r>
                                              <a:rPr lang="es-AR" sz="1400" i="1"/>
                                              <m:t>𝑡𝑠</m:t>
                                            </m:r>
                                            <m:r>
                                              <a:rPr lang="es-AR" sz="1400" i="1"/>
                                              <m:t>−</m:t>
                                            </m:r>
                                            <m:r>
                                              <a:rPr lang="es-AR" sz="1400" i="1"/>
                                              <m:t>𝑎𝑚𝑏</m:t>
                                            </m:r>
                                          </m:sub>
                                        </m:sSub>
                                        <m:sSub>
                                          <m:sSubPr>
                                            <m:ctrlPr>
                                              <a:rPr lang="es-AR" sz="1400" i="1"/>
                                            </m:ctrlPr>
                                          </m:sSubPr>
                                          <m:e>
                                            <m:r>
                                              <a:rPr lang="es-AR" sz="1400" i="1"/>
                                              <m:t>𝐶</m:t>
                                            </m:r>
                                          </m:e>
                                          <m:sub>
                                            <m:r>
                                              <a:rPr lang="es-AR" sz="1400" i="1"/>
                                              <m:t>𝑡</m:t>
                                            </m:r>
                                          </m:sub>
                                        </m:sSub>
                                      </m:den>
                                    </m:f>
                                  </m:e>
                                </m:box>
                              </m:e>
                            </m:mr>
                          </m:m>
                        </m:e>
                      </m:d>
                      <m:r>
                        <a:rPr lang="es-AR" sz="1400" i="1"/>
                        <m:t>,  </m:t>
                      </m:r>
                      <m:r>
                        <a:rPr lang="es-AR" sz="1400" i="1"/>
                        <m:t>𝐶</m:t>
                      </m:r>
                      <m:r>
                        <a:rPr lang="es-AR" sz="1400" i="1"/>
                        <m:t>=</m:t>
                      </m:r>
                      <m:d>
                        <m:dPr>
                          <m:begChr m:val="["/>
                          <m:endChr m:val="]"/>
                          <m:ctrlPr>
                            <a:rPr lang="es-AR" sz="1400" i="1"/>
                          </m:ctrlPr>
                        </m:dPr>
                        <m:e>
                          <m:m>
                            <m:mPr>
                              <m:mcs>
                                <m:mc>
                                  <m:mcPr>
                                    <m:count m:val="3"/>
                                    <m:mcJc m:val="center"/>
                                  </m:mcPr>
                                </m:mc>
                              </m:mcs>
                              <m:ctrlPr>
                                <a:rPr lang="es-AR" sz="1400" i="1"/>
                              </m:ctrlPr>
                            </m:mPr>
                            <m:mr>
                              <m:e>
                                <m:m>
                                  <m:mPr>
                                    <m:mcs>
                                      <m:mc>
                                        <m:mcPr>
                                          <m:count m:val="3"/>
                                          <m:mcJc m:val="center"/>
                                        </m:mcPr>
                                      </m:mc>
                                    </m:mcs>
                                    <m:ctrlPr>
                                      <a:rPr lang="es-AR" sz="1400" i="1"/>
                                    </m:ctrlPr>
                                  </m:mPr>
                                  <m:mr>
                                    <m:e>
                                      <m:r>
                                        <a:rPr lang="es-AR" sz="1400" i="1"/>
                                        <m:t>1</m:t>
                                      </m:r>
                                    </m:e>
                                    <m:e>
                                      <m:r>
                                        <a:rPr lang="es-AR" sz="1400" i="1"/>
                                        <m:t>0</m:t>
                                      </m:r>
                                    </m:e>
                                    <m:e>
                                      <m:r>
                                        <a:rPr lang="es-AR" sz="1400" i="1"/>
                                        <m:t>0</m:t>
                                      </m:r>
                                    </m:e>
                                  </m:mr>
                                </m:m>
                              </m:e>
                              <m:e>
                                <m:r>
                                  <a:rPr lang="es-AR" sz="1400" i="1"/>
                                  <m:t>0</m:t>
                                </m:r>
                              </m:e>
                              <m:e>
                                <m:r>
                                  <a:rPr lang="es-AR" sz="1400" i="1"/>
                                  <m:t>0</m:t>
                                </m:r>
                              </m:e>
                            </m:mr>
                          </m:m>
                        </m:e>
                      </m:d>
                    </m:oMath>
                  </m:oMathPara>
                </a14:m>
                <a:endParaRPr sz="14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335126" y="1347892"/>
                <a:ext cx="6829153"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4942883"/>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3" name="TextBox 12"/>
              <p:cNvSpPr txBox="1"/>
              <p:nvPr/>
            </p:nvSpPr>
            <p:spPr>
              <a:xfrm>
                <a:off x="411481" y="5017554"/>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libri"/>
                      </a:rPr>
                      <m:t>𝑑𝑒𝑡</m:t>
                    </m:r>
                    <m:d>
                      <m:dPr>
                        <m:ctrlPr>
                          <a:rPr lang="es-AR" sz="1300">
                            <a:solidFill>
                              <a:srgbClr val="1A3A6B"/>
                            </a:solidFill>
                            <a:latin typeface="Calibri"/>
                          </a:rPr>
                        </m:ctrlPr>
                      </m:dPr>
                      <m:e>
                        <m:r>
                          <a:rPr lang="es-AR" sz="1300">
                            <a:solidFill>
                              <a:srgbClr val="1A3A6B"/>
                            </a:solidFill>
                            <a:latin typeface="Calibri"/>
                          </a:rPr>
                          <m:t>𝒪</m:t>
                        </m:r>
                      </m:e>
                    </m:d>
                    <m:r>
                      <a:rPr lang="es-AR" sz="1300">
                        <a:solidFill>
                          <a:srgbClr val="1A3A6B"/>
                        </a:solidFill>
                        <a:latin typeface="Calibri"/>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a:solidFill>
                              <a:srgbClr val="1A3A6B"/>
                            </a:solidFill>
                            <a:latin typeface="Calibri"/>
                          </a:rPr>
                        </m:ctrlPr>
                      </m:sSubPr>
                      <m:e>
                        <m:r>
                          <a:rPr lang="es-AR" sz="1300">
                            <a:solidFill>
                              <a:srgbClr val="1A3A6B"/>
                            </a:solidFill>
                            <a:latin typeface="Calibri"/>
                          </a:rPr>
                          <m:t>𝜃</m:t>
                        </m:r>
                      </m:e>
                      <m:sub>
                        <m:r>
                          <a:rPr lang="es-AR" sz="1300">
                            <a:solidFill>
                              <a:srgbClr val="1A3A6B"/>
                            </a:solidFill>
                            <a:latin typeface="Calibri"/>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p:sp>
            <p:nvSpPr>
              <p:cNvPr id="13" name="TextBox 12"/>
              <p:cNvSpPr txBox="1">
                <a:spLocks noRot="1" noChangeAspect="1" noMove="1" noResize="1" noEditPoints="1" noAdjustHandles="1" noChangeArrowheads="1" noChangeShapeType="1" noTextEdit="1"/>
              </p:cNvSpPr>
              <p:nvPr/>
            </p:nvSpPr>
            <p:spPr>
              <a:xfrm>
                <a:off x="411481" y="5017554"/>
                <a:ext cx="11155680" cy="492443"/>
              </a:xfrm>
              <a:prstGeom prst="rect">
                <a:avLst/>
              </a:prstGeom>
              <a:blipFill>
                <a:blip r:embed="rId3"/>
                <a:stretch>
                  <a:fillRect l="-109" t="-1235" b="-9877"/>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Box 6">
                <a:extLst>
                  <a:ext uri="{FF2B5EF4-FFF2-40B4-BE49-F238E27FC236}">
                    <a16:creationId xmlns:a16="http://schemas.microsoft.com/office/drawing/2014/main" id="{7101C5DD-C9F7-43B5-A986-B43987CC275F}"/>
                  </a:ext>
                </a:extLst>
              </p:cNvPr>
              <p:cNvSpPr txBox="1"/>
              <p:nvPr/>
            </p:nvSpPr>
            <p:spPr>
              <a:xfrm>
                <a:off x="274321" y="3145364"/>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a:solidFill>
                              <a:srgbClr val="1A1A2E"/>
                            </a:solidFill>
                            <a:latin typeface="Calibri"/>
                          </a:rPr>
                        </m:ctrlPr>
                      </m:sSubSupPr>
                      <m:e>
                        <m:r>
                          <a:rPr lang="es-AR" sz="1400">
                            <a:solidFill>
                              <a:srgbClr val="1A1A2E"/>
                            </a:solidFill>
                            <a:latin typeface="Calibri"/>
                          </a:rPr>
                          <m:t>𝑖</m:t>
                        </m:r>
                      </m:e>
                      <m:sub>
                        <m:r>
                          <a:rPr lang="es-AR" sz="1400">
                            <a:solidFill>
                              <a:srgbClr val="1A1A2E"/>
                            </a:solidFill>
                            <a:latin typeface="Calibri"/>
                          </a:rPr>
                          <m:t>𝑑𝑠</m:t>
                        </m:r>
                      </m:sub>
                      <m:sup>
                        <m:r>
                          <a:rPr lang="es-AR" sz="1400">
                            <a:solidFill>
                              <a:srgbClr val="1A1A2E"/>
                            </a:solidFill>
                            <a:latin typeface="Calibri"/>
                          </a:rPr>
                          <m:t>𝑟</m:t>
                        </m:r>
                      </m:sup>
                    </m:sSubSup>
                    <m:d>
                      <m:dPr>
                        <m:ctrlPr>
                          <a:rPr lang="es-AR" sz="1400">
                            <a:solidFill>
                              <a:srgbClr val="1A1A2E"/>
                            </a:solidFill>
                            <a:latin typeface="Calibri"/>
                          </a:rPr>
                        </m:ctrlPr>
                      </m:dPr>
                      <m:e>
                        <m:r>
                          <a:rPr lang="es-AR" sz="1400">
                            <a:solidFill>
                              <a:srgbClr val="1A1A2E"/>
                            </a:solidFill>
                            <a:latin typeface="Calibri"/>
                          </a:rPr>
                          <m:t>𝑡</m:t>
                        </m:r>
                      </m:e>
                    </m:d>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a:solidFill>
                              <a:srgbClr val="1A1A2E"/>
                            </a:solidFill>
                            <a:latin typeface="Calibri"/>
                          </a:rPr>
                        </m:ctrlPr>
                      </m:sSubSupPr>
                      <m:e>
                        <m:r>
                          <a:rPr lang="es-AR" sz="1400">
                            <a:solidFill>
                              <a:srgbClr val="1A1A2E"/>
                            </a:solidFill>
                            <a:latin typeface="Calibri"/>
                          </a:rPr>
                          <m:t>𝑇</m:t>
                        </m:r>
                      </m:e>
                      <m:sub>
                        <m:r>
                          <a:rPr lang="es-AR" sz="1400">
                            <a:solidFill>
                              <a:srgbClr val="1A1A2E"/>
                            </a:solidFill>
                            <a:latin typeface="Calibri"/>
                          </a:rPr>
                          <m:t>𝑠</m:t>
                        </m:r>
                      </m:sub>
                      <m:sup>
                        <m:r>
                          <a:rPr lang="es-AR" sz="1400">
                            <a:solidFill>
                              <a:srgbClr val="1A1A2E"/>
                            </a:solidFill>
                            <a:latin typeface="Calibri"/>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145364"/>
                <a:ext cx="11430000" cy="523861"/>
              </a:xfrm>
              <a:prstGeom prst="rect">
                <a:avLst/>
              </a:prstGeom>
              <a:blipFill>
                <a:blip r:embed="rId4"/>
                <a:stretch>
                  <a:fillRect l="-160" t="-2326" b="-10465"/>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691194"/>
            <a:ext cx="11718081" cy="1051560"/>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8" name="TextBox 8">
                <a:extLst>
                  <a:ext uri="{FF2B5EF4-FFF2-40B4-BE49-F238E27FC236}">
                    <a16:creationId xmlns:a16="http://schemas.microsoft.com/office/drawing/2014/main" id="{44CCBDD6-DCD9-4C2E-A925-08CD526E890B}"/>
                  </a:ext>
                </a:extLst>
              </p:cNvPr>
              <p:cNvSpPr txBox="1"/>
              <p:nvPr/>
            </p:nvSpPr>
            <p:spPr>
              <a:xfrm>
                <a:off x="-320484" y="3698220"/>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rPr>
                      <m:t>𝒪</m:t>
                    </m:r>
                    <m:r>
                      <a:rPr lang="ar-AE" sz="1400" i="1" smtClean="0">
                        <a:solidFill>
                          <a:schemeClr val="tx1"/>
                        </a:solidFill>
                      </a:rPr>
                      <m:t>=</m:t>
                    </m:r>
                    <m:d>
                      <m:dPr>
                        <m:begChr m:val="["/>
                        <m:endChr m:val="]"/>
                        <m:ctrlPr>
                          <a:rPr lang="ar-AE" sz="1400" i="1">
                            <a:solidFill>
                              <a:schemeClr val="tx1"/>
                            </a:solidFill>
                          </a:rPr>
                        </m:ctrlPr>
                      </m:dPr>
                      <m:e>
                        <m:m>
                          <m:mPr>
                            <m:mcs>
                              <m:mc>
                                <m:mcPr>
                                  <m:count m:val="3"/>
                                  <m:mcJc m:val="center"/>
                                </m:mcPr>
                              </m:mc>
                            </m:mcs>
                            <m:ctrlPr>
                              <a:rPr lang="ar-AE" sz="1400" i="1">
                                <a:solidFill>
                                  <a:schemeClr val="tx1"/>
                                </a:solidFill>
                              </a:rPr>
                            </m:ctrlPr>
                          </m:mPr>
                          <m:mr>
                            <m:e>
                              <m:r>
                                <a:rPr lang="ar-AE" sz="1400" i="1">
                                  <a:solidFill>
                                    <a:schemeClr val="tx1"/>
                                  </a:solidFill>
                                </a:rPr>
                                <m:t>1</m:t>
                              </m:r>
                            </m:e>
                            <m:e>
                              <m:r>
                                <a:rPr lang="ar-AE" sz="1400" i="1">
                                  <a:solidFill>
                                    <a:schemeClr val="tx1"/>
                                  </a:solidFill>
                                </a:rPr>
                                <m:t>0</m:t>
                              </m:r>
                            </m:e>
                            <m:e>
                              <m:r>
                                <a:rPr lang="ar-AE" sz="1400" i="1">
                                  <a:solidFill>
                                    <a:schemeClr val="tx1"/>
                                  </a:solidFill>
                                </a:rPr>
                                <m:t>0</m:t>
                              </m:r>
                            </m:e>
                          </m:mr>
                          <m:mr>
                            <m:e>
                              <m:r>
                                <a:rPr lang="ar-AE" sz="1400" i="1">
                                  <a:solidFill>
                                    <a:schemeClr val="tx1"/>
                                  </a:solidFill>
                                </a:rPr>
                                <m:t>0</m:t>
                              </m:r>
                            </m:e>
                            <m:e>
                              <m:r>
                                <a:rPr lang="ar-AE" sz="1400" i="1">
                                  <a:solidFill>
                                    <a:schemeClr val="tx1"/>
                                  </a:solidFill>
                                </a:rPr>
                                <m:t>1</m:t>
                              </m:r>
                            </m:e>
                            <m:e>
                              <m:r>
                                <a:rPr lang="ar-AE" sz="1400" i="1">
                                  <a:solidFill>
                                    <a:schemeClr val="tx1"/>
                                  </a:solidFill>
                                </a:rPr>
                                <m:t>0</m:t>
                              </m:r>
                            </m:e>
                          </m:mr>
                          <m:mr>
                            <m:e>
                              <m:r>
                                <a:rPr lang="ar-AE" sz="1400" i="1">
                                  <a:solidFill>
                                    <a:schemeClr val="tx1"/>
                                  </a:solidFill>
                                </a:rPr>
                                <m:t>0</m:t>
                              </m:r>
                            </m:e>
                            <m:e>
                              <m:box>
                                <m:boxPr>
                                  <m:ctrlPr>
                                    <a:rPr lang="ar-AE" sz="1400" i="1">
                                      <a:solidFill>
                                        <a:schemeClr val="tx1"/>
                                      </a:solidFill>
                                    </a:rPr>
                                  </m:ctrlPr>
                                </m:boxPr>
                                <m:e>
                                  <m:argPr>
                                    <m:argSz m:val="-1"/>
                                  </m:argPr>
                                  <m:f>
                                    <m:fPr>
                                      <m:ctrlPr>
                                        <a:rPr lang="ar-AE" sz="1400" i="1">
                                          <a:solidFill>
                                            <a:schemeClr val="tx1"/>
                                          </a:solidFill>
                                        </a:rPr>
                                      </m:ctrlPr>
                                    </m:fPr>
                                    <m:num>
                                      <m:sSub>
                                        <m:sSubPr>
                                          <m:ctrlPr>
                                            <a:rPr lang="ar-AE" sz="1400" i="1">
                                              <a:solidFill>
                                                <a:schemeClr val="tx1"/>
                                              </a:solidFill>
                                            </a:rPr>
                                          </m:ctrlPr>
                                        </m:sSubPr>
                                        <m:e>
                                          <m:r>
                                            <a:rPr lang="ar-AE" sz="1400" i="1">
                                              <a:solidFill>
                                                <a:schemeClr val="tx1"/>
                                              </a:solidFill>
                                            </a:rPr>
                                            <m:t>−</m:t>
                                          </m:r>
                                          <m:r>
                                            <a:rPr lang="ar-AE" sz="1400" i="1">
                                              <a:solidFill>
                                                <a:schemeClr val="tx1"/>
                                              </a:solidFill>
                                            </a:rPr>
                                            <m:t>𝑏</m:t>
                                          </m:r>
                                        </m:e>
                                        <m:sub>
                                          <m:r>
                                            <a:rPr lang="ar-AE" sz="1400" i="1">
                                              <a:solidFill>
                                                <a:schemeClr val="tx1"/>
                                              </a:solidFill>
                                            </a:rPr>
                                            <m:t>𝑒𝑞</m:t>
                                          </m:r>
                                        </m:sub>
                                      </m:sSub>
                                    </m:num>
                                    <m:den>
                                      <m:sSub>
                                        <m:sSubPr>
                                          <m:ctrlPr>
                                            <a:rPr lang="ar-AE" sz="1400" i="1">
                                              <a:solidFill>
                                                <a:schemeClr val="tx1"/>
                                              </a:solidFill>
                                            </a:rPr>
                                          </m:ctrlPr>
                                        </m:sSubPr>
                                        <m:e>
                                          <m:r>
                                            <a:rPr lang="ar-AE" sz="1400" i="1">
                                              <a:solidFill>
                                                <a:schemeClr val="tx1"/>
                                              </a:solidFill>
                                            </a:rPr>
                                            <m:t>𝐽</m:t>
                                          </m:r>
                                        </m:e>
                                        <m:sub>
                                          <m:r>
                                            <a:rPr lang="ar-AE" sz="1400" i="1">
                                              <a:solidFill>
                                                <a:schemeClr val="tx1"/>
                                              </a:solidFill>
                                            </a:rPr>
                                            <m:t>𝑒𝑞</m:t>
                                          </m:r>
                                        </m:sub>
                                      </m:sSub>
                                    </m:den>
                                  </m:f>
                                </m:e>
                              </m:box>
                            </m:e>
                            <m:e>
                              <m:box>
                                <m:boxPr>
                                  <m:ctrlPr>
                                    <a:rPr lang="ar-AE" sz="1400" i="1">
                                      <a:solidFill>
                                        <a:schemeClr val="tx1"/>
                                      </a:solidFill>
                                    </a:rPr>
                                  </m:ctrlPr>
                                </m:boxPr>
                                <m:e>
                                  <m:argPr>
                                    <m:argSz m:val="-1"/>
                                  </m:argPr>
                                  <m:f>
                                    <m:fPr>
                                      <m:ctrlPr>
                                        <a:rPr lang="ar-AE" sz="1400" i="1">
                                          <a:solidFill>
                                            <a:schemeClr val="tx1"/>
                                          </a:solidFill>
                                        </a:rPr>
                                      </m:ctrlPr>
                                    </m:fPr>
                                    <m:num>
                                      <m:r>
                                        <a:rPr lang="ar-AE" sz="1400" i="1">
                                          <a:solidFill>
                                            <a:schemeClr val="tx1"/>
                                          </a:solidFill>
                                        </a:rPr>
                                        <m:t>3</m:t>
                                      </m:r>
                                      <m:sSub>
                                        <m:sSubPr>
                                          <m:ctrlPr>
                                            <a:rPr lang="ar-AE" sz="1400" i="1">
                                              <a:solidFill>
                                                <a:schemeClr val="tx1"/>
                                              </a:solidFill>
                                            </a:rPr>
                                          </m:ctrlPr>
                                        </m:sSubPr>
                                        <m:e>
                                          <m:r>
                                            <a:rPr lang="ar-AE" sz="1400" i="1">
                                              <a:solidFill>
                                                <a:schemeClr val="tx1"/>
                                              </a:solidFill>
                                            </a:rPr>
                                            <m:t>𝑃</m:t>
                                          </m:r>
                                        </m:e>
                                        <m:sub>
                                          <m:r>
                                            <a:rPr lang="ar-AE" sz="1400" i="1">
                                              <a:solidFill>
                                                <a:schemeClr val="tx1"/>
                                              </a:solidFill>
                                            </a:rPr>
                                            <m:t>𝑝</m:t>
                                          </m:r>
                                        </m:sub>
                                      </m:sSub>
                                      <m:sSubSup>
                                        <m:sSubSupPr>
                                          <m:ctrlPr>
                                            <a:rPr lang="ar-AE" sz="1400" i="1">
                                              <a:solidFill>
                                                <a:schemeClr val="tx1"/>
                                              </a:solidFill>
                                            </a:rPr>
                                          </m:ctrlPr>
                                        </m:sSubSupPr>
                                        <m:e>
                                          <m:r>
                                            <a:rPr lang="ar-AE" sz="1400" i="1">
                                              <a:solidFill>
                                                <a:schemeClr val="tx1"/>
                                              </a:solidFill>
                                            </a:rPr>
                                            <m:t>𝜆</m:t>
                                          </m:r>
                                        </m:e>
                                        <m:sub>
                                          <m:r>
                                            <a:rPr lang="ar-AE" sz="1400" i="1">
                                              <a:solidFill>
                                                <a:schemeClr val="tx1"/>
                                              </a:solidFill>
                                            </a:rPr>
                                            <m:t>𝑚</m:t>
                                          </m:r>
                                        </m:sub>
                                        <m:sup>
                                          <m:r>
                                            <a:rPr lang="ar-AE" sz="1400" i="1">
                                              <a:solidFill>
                                                <a:schemeClr val="tx1"/>
                                              </a:solidFill>
                                            </a:rPr>
                                            <m:t>′</m:t>
                                          </m:r>
                                          <m:r>
                                            <a:rPr lang="ar-AE" sz="1400" i="1">
                                              <a:solidFill>
                                                <a:schemeClr val="tx1"/>
                                              </a:solidFill>
                                            </a:rPr>
                                            <m:t>𝑟</m:t>
                                          </m:r>
                                        </m:sup>
                                      </m:sSubSup>
                                    </m:num>
                                    <m:den>
                                      <m:r>
                                        <a:rPr lang="ar-AE" sz="1400" i="1">
                                          <a:solidFill>
                                            <a:schemeClr val="tx1"/>
                                          </a:solidFill>
                                        </a:rPr>
                                        <m:t>2</m:t>
                                      </m:r>
                                      <m:sSub>
                                        <m:sSubPr>
                                          <m:ctrlPr>
                                            <a:rPr lang="ar-AE" sz="1400" i="1">
                                              <a:solidFill>
                                                <a:schemeClr val="tx1"/>
                                              </a:solidFill>
                                            </a:rPr>
                                          </m:ctrlPr>
                                        </m:sSubPr>
                                        <m:e>
                                          <m:r>
                                            <a:rPr lang="ar-AE" sz="1400" i="1">
                                              <a:solidFill>
                                                <a:schemeClr val="tx1"/>
                                              </a:solidFill>
                                            </a:rPr>
                                            <m:t>𝐽</m:t>
                                          </m:r>
                                        </m:e>
                                        <m:sub>
                                          <m:r>
                                            <a:rPr lang="ar-AE" sz="1400" i="1">
                                              <a:solidFill>
                                                <a:schemeClr val="tx1"/>
                                              </a:solidFill>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rPr>
                      <m:t>𝐴</m:t>
                    </m:r>
                    <m:r>
                      <a:rPr lang="ar-AE" sz="1400" i="1">
                        <a:solidFill>
                          <a:schemeClr val="tx1"/>
                        </a:solidFill>
                      </a:rPr>
                      <m:t>=</m:t>
                    </m:r>
                    <m:d>
                      <m:dPr>
                        <m:begChr m:val="["/>
                        <m:endChr m:val="]"/>
                        <m:ctrlPr>
                          <a:rPr lang="ar-AE" sz="1400" i="1">
                            <a:solidFill>
                              <a:schemeClr val="tx1"/>
                            </a:solidFill>
                          </a:rPr>
                        </m:ctrlPr>
                      </m:dPr>
                      <m:e>
                        <m:m>
                          <m:mPr>
                            <m:mcs>
                              <m:mc>
                                <m:mcPr>
                                  <m:count m:val="3"/>
                                  <m:mcJc m:val="center"/>
                                </m:mcPr>
                              </m:mc>
                            </m:mcs>
                            <m:ctrlPr>
                              <a:rPr lang="ar-AE" sz="1400" i="1">
                                <a:solidFill>
                                  <a:schemeClr val="tx1"/>
                                </a:solidFill>
                              </a:rPr>
                            </m:ctrlPr>
                          </m:mPr>
                          <m:mr>
                            <m:e>
                              <m:r>
                                <a:rPr lang="ar-AE" sz="1400" i="1">
                                  <a:solidFill>
                                    <a:schemeClr val="tx1"/>
                                  </a:solidFill>
                                </a:rPr>
                                <m:t>0</m:t>
                              </m:r>
                            </m:e>
                            <m:e>
                              <m:r>
                                <a:rPr lang="ar-AE" sz="1400" i="1">
                                  <a:solidFill>
                                    <a:schemeClr val="tx1"/>
                                  </a:solidFill>
                                </a:rPr>
                                <m:t>1</m:t>
                              </m:r>
                            </m:e>
                            <m:e>
                              <m:r>
                                <a:rPr lang="ar-AE" sz="1400" i="1">
                                  <a:solidFill>
                                    <a:schemeClr val="tx1"/>
                                  </a:solidFill>
                                </a:rPr>
                                <m:t>0</m:t>
                              </m:r>
                            </m:e>
                          </m:mr>
                          <m:mr>
                            <m:e>
                              <m:r>
                                <a:rPr lang="ar-AE" sz="1400" i="1">
                                  <a:solidFill>
                                    <a:schemeClr val="tx1"/>
                                  </a:solidFill>
                                </a:rPr>
                                <m:t>0</m:t>
                              </m:r>
                            </m:e>
                            <m:e>
                              <m:box>
                                <m:boxPr>
                                  <m:ctrlPr>
                                    <a:rPr lang="ar-AE" sz="1400" i="1">
                                      <a:solidFill>
                                        <a:schemeClr val="tx1"/>
                                      </a:solidFill>
                                    </a:rPr>
                                  </m:ctrlPr>
                                </m:boxPr>
                                <m:e>
                                  <m:argPr>
                                    <m:argSz m:val="-1"/>
                                  </m:argPr>
                                  <m:f>
                                    <m:fPr>
                                      <m:ctrlPr>
                                        <a:rPr lang="ar-AE" sz="1400" i="1">
                                          <a:solidFill>
                                            <a:schemeClr val="tx1"/>
                                          </a:solidFill>
                                        </a:rPr>
                                      </m:ctrlPr>
                                    </m:fPr>
                                    <m:num>
                                      <m:sSub>
                                        <m:sSubPr>
                                          <m:ctrlPr>
                                            <a:rPr lang="ar-AE" sz="1400" i="1">
                                              <a:solidFill>
                                                <a:schemeClr val="tx1"/>
                                              </a:solidFill>
                                            </a:rPr>
                                          </m:ctrlPr>
                                        </m:sSubPr>
                                        <m:e>
                                          <m:r>
                                            <a:rPr lang="ar-AE" sz="1400" i="1">
                                              <a:solidFill>
                                                <a:schemeClr val="tx1"/>
                                              </a:solidFill>
                                            </a:rPr>
                                            <m:t>−</m:t>
                                          </m:r>
                                          <m:r>
                                            <a:rPr lang="ar-AE" sz="1400" i="1">
                                              <a:solidFill>
                                                <a:schemeClr val="tx1"/>
                                              </a:solidFill>
                                            </a:rPr>
                                            <m:t>𝑏</m:t>
                                          </m:r>
                                        </m:e>
                                        <m:sub>
                                          <m:r>
                                            <a:rPr lang="ar-AE" sz="1400" i="1">
                                              <a:solidFill>
                                                <a:schemeClr val="tx1"/>
                                              </a:solidFill>
                                            </a:rPr>
                                            <m:t>𝑒𝑞</m:t>
                                          </m:r>
                                        </m:sub>
                                      </m:sSub>
                                    </m:num>
                                    <m:den>
                                      <m:sSub>
                                        <m:sSubPr>
                                          <m:ctrlPr>
                                            <a:rPr lang="ar-AE" sz="1400" i="1">
                                              <a:solidFill>
                                                <a:schemeClr val="tx1"/>
                                              </a:solidFill>
                                            </a:rPr>
                                          </m:ctrlPr>
                                        </m:sSubPr>
                                        <m:e>
                                          <m:r>
                                            <a:rPr lang="ar-AE" sz="1400" i="1">
                                              <a:solidFill>
                                                <a:schemeClr val="tx1"/>
                                              </a:solidFill>
                                            </a:rPr>
                                            <m:t>𝐽</m:t>
                                          </m:r>
                                        </m:e>
                                        <m:sub>
                                          <m:r>
                                            <a:rPr lang="ar-AE" sz="1400" i="1">
                                              <a:solidFill>
                                                <a:schemeClr val="tx1"/>
                                              </a:solidFill>
                                            </a:rPr>
                                            <m:t>𝑒𝑞</m:t>
                                          </m:r>
                                        </m:sub>
                                      </m:sSub>
                                    </m:den>
                                  </m:f>
                                </m:e>
                              </m:box>
                            </m:e>
                            <m:e>
                              <m:box>
                                <m:boxPr>
                                  <m:ctrlPr>
                                    <a:rPr lang="ar-AE" sz="1400" i="1">
                                      <a:solidFill>
                                        <a:schemeClr val="tx1"/>
                                      </a:solidFill>
                                    </a:rPr>
                                  </m:ctrlPr>
                                </m:boxPr>
                                <m:e>
                                  <m:argPr>
                                    <m:argSz m:val="-1"/>
                                  </m:argPr>
                                  <m:f>
                                    <m:fPr>
                                      <m:ctrlPr>
                                        <a:rPr lang="ar-AE" sz="1400" i="1">
                                          <a:solidFill>
                                            <a:schemeClr val="tx1"/>
                                          </a:solidFill>
                                        </a:rPr>
                                      </m:ctrlPr>
                                    </m:fPr>
                                    <m:num>
                                      <m:r>
                                        <a:rPr lang="ar-AE" sz="1400" i="1">
                                          <a:solidFill>
                                            <a:schemeClr val="tx1"/>
                                          </a:solidFill>
                                        </a:rPr>
                                        <m:t>3</m:t>
                                      </m:r>
                                      <m:sSub>
                                        <m:sSubPr>
                                          <m:ctrlPr>
                                            <a:rPr lang="ar-AE" sz="1400" i="1">
                                              <a:solidFill>
                                                <a:schemeClr val="tx1"/>
                                              </a:solidFill>
                                            </a:rPr>
                                          </m:ctrlPr>
                                        </m:sSubPr>
                                        <m:e>
                                          <m:r>
                                            <a:rPr lang="ar-AE" sz="1400" i="1">
                                              <a:solidFill>
                                                <a:schemeClr val="tx1"/>
                                              </a:solidFill>
                                            </a:rPr>
                                            <m:t>𝑃</m:t>
                                          </m:r>
                                        </m:e>
                                        <m:sub>
                                          <m:r>
                                            <a:rPr lang="ar-AE" sz="1400" i="1">
                                              <a:solidFill>
                                                <a:schemeClr val="tx1"/>
                                              </a:solidFill>
                                            </a:rPr>
                                            <m:t>𝑝</m:t>
                                          </m:r>
                                        </m:sub>
                                      </m:sSub>
                                      <m:sSubSup>
                                        <m:sSubSupPr>
                                          <m:ctrlPr>
                                            <a:rPr lang="ar-AE" sz="1400" i="1">
                                              <a:solidFill>
                                                <a:schemeClr val="tx1"/>
                                              </a:solidFill>
                                            </a:rPr>
                                          </m:ctrlPr>
                                        </m:sSubSupPr>
                                        <m:e>
                                          <m:r>
                                            <a:rPr lang="ar-AE" sz="1400" i="1">
                                              <a:solidFill>
                                                <a:schemeClr val="tx1"/>
                                              </a:solidFill>
                                            </a:rPr>
                                            <m:t>𝜆</m:t>
                                          </m:r>
                                        </m:e>
                                        <m:sub>
                                          <m:r>
                                            <a:rPr lang="ar-AE" sz="1400" i="1">
                                              <a:solidFill>
                                                <a:schemeClr val="tx1"/>
                                              </a:solidFill>
                                            </a:rPr>
                                            <m:t>𝑚</m:t>
                                          </m:r>
                                        </m:sub>
                                        <m:sup>
                                          <m:r>
                                            <a:rPr lang="ar-AE" sz="1400" i="1">
                                              <a:solidFill>
                                                <a:schemeClr val="tx1"/>
                                              </a:solidFill>
                                            </a:rPr>
                                            <m:t>′</m:t>
                                          </m:r>
                                          <m:r>
                                            <a:rPr lang="ar-AE" sz="1400" i="1">
                                              <a:solidFill>
                                                <a:schemeClr val="tx1"/>
                                              </a:solidFill>
                                            </a:rPr>
                                            <m:t>𝑟</m:t>
                                          </m:r>
                                        </m:sup>
                                      </m:sSubSup>
                                    </m:num>
                                    <m:den>
                                      <m:r>
                                        <a:rPr lang="ar-AE" sz="1400" i="1">
                                          <a:solidFill>
                                            <a:schemeClr val="tx1"/>
                                          </a:solidFill>
                                        </a:rPr>
                                        <m:t>2</m:t>
                                      </m:r>
                                      <m:sSub>
                                        <m:sSubPr>
                                          <m:ctrlPr>
                                            <a:rPr lang="ar-AE" sz="1400" i="1">
                                              <a:solidFill>
                                                <a:schemeClr val="tx1"/>
                                              </a:solidFill>
                                            </a:rPr>
                                          </m:ctrlPr>
                                        </m:sSubPr>
                                        <m:e>
                                          <m:r>
                                            <a:rPr lang="ar-AE" sz="1400" i="1">
                                              <a:solidFill>
                                                <a:schemeClr val="tx1"/>
                                              </a:solidFill>
                                            </a:rPr>
                                            <m:t>𝐽</m:t>
                                          </m:r>
                                        </m:e>
                                        <m:sub>
                                          <m:r>
                                            <a:rPr lang="ar-AE" sz="1400" i="1">
                                              <a:solidFill>
                                                <a:schemeClr val="tx1"/>
                                              </a:solidFill>
                                            </a:rPr>
                                            <m:t>𝑒𝑞</m:t>
                                          </m:r>
                                        </m:sub>
                                      </m:sSub>
                                    </m:den>
                                  </m:f>
                                </m:e>
                              </m:box>
                            </m:e>
                          </m:mr>
                          <m:mr>
                            <m:e>
                              <m:r>
                                <a:rPr lang="ar-AE" sz="1400" i="1">
                                  <a:solidFill>
                                    <a:schemeClr val="tx1"/>
                                  </a:solidFill>
                                </a:rPr>
                                <m:t>0</m:t>
                              </m:r>
                            </m:e>
                            <m:e>
                              <m:box>
                                <m:boxPr>
                                  <m:ctrlPr>
                                    <a:rPr lang="ar-AE" sz="1400" i="1">
                                      <a:solidFill>
                                        <a:schemeClr val="tx1"/>
                                      </a:solidFill>
                                    </a:rPr>
                                  </m:ctrlPr>
                                </m:boxPr>
                                <m:e>
                                  <m:argPr>
                                    <m:argSz m:val="-1"/>
                                  </m:argPr>
                                  <m:r>
                                    <a:rPr lang="ar-AE" sz="1400" i="1">
                                      <a:solidFill>
                                        <a:schemeClr val="tx1"/>
                                      </a:solidFill>
                                    </a:rPr>
                                    <m:t>−</m:t>
                                  </m:r>
                                  <m:f>
                                    <m:fPr>
                                      <m:ctrlPr>
                                        <a:rPr lang="ar-AE" sz="1400" i="1">
                                          <a:solidFill>
                                            <a:schemeClr val="tx1"/>
                                          </a:solidFill>
                                        </a:rPr>
                                      </m:ctrlPr>
                                    </m:fPr>
                                    <m:num>
                                      <m:sSub>
                                        <m:sSubPr>
                                          <m:ctrlPr>
                                            <a:rPr lang="ar-AE" sz="1400" i="1">
                                              <a:solidFill>
                                                <a:schemeClr val="tx1"/>
                                              </a:solidFill>
                                            </a:rPr>
                                          </m:ctrlPr>
                                        </m:sSubPr>
                                        <m:e>
                                          <m:r>
                                            <a:rPr lang="ar-AE" sz="1400" i="1">
                                              <a:solidFill>
                                                <a:schemeClr val="tx1"/>
                                              </a:solidFill>
                                            </a:rPr>
                                            <m:t>𝑃</m:t>
                                          </m:r>
                                        </m:e>
                                        <m:sub>
                                          <m:r>
                                            <a:rPr lang="ar-AE" sz="1400" i="1">
                                              <a:solidFill>
                                                <a:schemeClr val="tx1"/>
                                              </a:solidFill>
                                            </a:rPr>
                                            <m:t>𝑝</m:t>
                                          </m:r>
                                        </m:sub>
                                      </m:sSub>
                                      <m:sSubSup>
                                        <m:sSubSupPr>
                                          <m:ctrlPr>
                                            <a:rPr lang="ar-AE" sz="1400" i="1">
                                              <a:solidFill>
                                                <a:schemeClr val="tx1"/>
                                              </a:solidFill>
                                            </a:rPr>
                                          </m:ctrlPr>
                                        </m:sSubSupPr>
                                        <m:e>
                                          <m:r>
                                            <a:rPr lang="ar-AE" sz="1400" i="1">
                                              <a:solidFill>
                                                <a:schemeClr val="tx1"/>
                                              </a:solidFill>
                                            </a:rPr>
                                            <m:t>𝜆</m:t>
                                          </m:r>
                                        </m:e>
                                        <m:sub>
                                          <m:r>
                                            <a:rPr lang="ar-AE" sz="1400" i="1">
                                              <a:solidFill>
                                                <a:schemeClr val="tx1"/>
                                              </a:solidFill>
                                            </a:rPr>
                                            <m:t>𝑚</m:t>
                                          </m:r>
                                        </m:sub>
                                        <m:sup>
                                          <m:r>
                                            <a:rPr lang="ar-AE" sz="1400" i="1">
                                              <a:solidFill>
                                                <a:schemeClr val="tx1"/>
                                              </a:solidFill>
                                            </a:rPr>
                                            <m:t>′</m:t>
                                          </m:r>
                                          <m:r>
                                            <a:rPr lang="ar-AE" sz="1400" i="1">
                                              <a:solidFill>
                                                <a:schemeClr val="tx1"/>
                                              </a:solidFill>
                                            </a:rPr>
                                            <m:t>𝑟</m:t>
                                          </m:r>
                                        </m:sup>
                                      </m:sSubSup>
                                    </m:num>
                                    <m:den>
                                      <m:sSub>
                                        <m:sSubPr>
                                          <m:ctrlPr>
                                            <a:rPr lang="ar-AE" sz="1400" i="1">
                                              <a:solidFill>
                                                <a:schemeClr val="tx1"/>
                                              </a:solidFill>
                                            </a:rPr>
                                          </m:ctrlPr>
                                        </m:sSubPr>
                                        <m:e>
                                          <m:r>
                                            <a:rPr lang="ar-AE" sz="1400" i="1">
                                              <a:solidFill>
                                                <a:schemeClr val="tx1"/>
                                              </a:solidFill>
                                            </a:rPr>
                                            <m:t>𝐿</m:t>
                                          </m:r>
                                        </m:e>
                                        <m:sub>
                                          <m:r>
                                            <a:rPr lang="ar-AE" sz="1400" i="1">
                                              <a:solidFill>
                                                <a:schemeClr val="tx1"/>
                                              </a:solidFill>
                                            </a:rPr>
                                            <m:t>𝑞</m:t>
                                          </m:r>
                                        </m:sub>
                                      </m:sSub>
                                    </m:den>
                                  </m:f>
                                </m:e>
                              </m:box>
                            </m:e>
                            <m:e>
                              <m:box>
                                <m:boxPr>
                                  <m:ctrlPr>
                                    <a:rPr lang="ar-AE" sz="1400" i="1">
                                      <a:solidFill>
                                        <a:schemeClr val="tx1"/>
                                      </a:solidFill>
                                    </a:rPr>
                                  </m:ctrlPr>
                                </m:boxPr>
                                <m:e>
                                  <m:argPr>
                                    <m:argSz m:val="-1"/>
                                  </m:argPr>
                                  <m:r>
                                    <a:rPr lang="ar-AE" sz="1400" i="1">
                                      <a:solidFill>
                                        <a:schemeClr val="tx1"/>
                                      </a:solidFill>
                                    </a:rPr>
                                    <m:t>−</m:t>
                                  </m:r>
                                  <m:f>
                                    <m:fPr>
                                      <m:ctrlPr>
                                        <a:rPr lang="ar-AE" sz="1400" i="1">
                                          <a:solidFill>
                                            <a:schemeClr val="tx1"/>
                                          </a:solidFill>
                                        </a:rPr>
                                      </m:ctrlPr>
                                    </m:fPr>
                                    <m:num>
                                      <m:sSub>
                                        <m:sSubPr>
                                          <m:ctrlPr>
                                            <a:rPr lang="ar-AE" sz="1400" i="1">
                                              <a:solidFill>
                                                <a:schemeClr val="tx1"/>
                                              </a:solidFill>
                                            </a:rPr>
                                          </m:ctrlPr>
                                        </m:sSubPr>
                                        <m:e>
                                          <m:r>
                                            <a:rPr lang="ar-AE" sz="1400" i="1">
                                              <a:solidFill>
                                                <a:schemeClr val="tx1"/>
                                              </a:solidFill>
                                            </a:rPr>
                                            <m:t>𝑅</m:t>
                                          </m:r>
                                        </m:e>
                                        <m:sub>
                                          <m:r>
                                            <a:rPr lang="ar-AE" sz="1400" i="1">
                                              <a:solidFill>
                                                <a:schemeClr val="tx1"/>
                                              </a:solidFill>
                                            </a:rPr>
                                            <m:t>𝑠</m:t>
                                          </m:r>
                                        </m:sub>
                                      </m:sSub>
                                    </m:num>
                                    <m:den>
                                      <m:sSub>
                                        <m:sSubPr>
                                          <m:ctrlPr>
                                            <a:rPr lang="ar-AE" sz="1400" i="1">
                                              <a:solidFill>
                                                <a:schemeClr val="tx1"/>
                                              </a:solidFill>
                                            </a:rPr>
                                          </m:ctrlPr>
                                        </m:sSubPr>
                                        <m:e>
                                          <m:r>
                                            <a:rPr lang="ar-AE" sz="1400" i="1">
                                              <a:solidFill>
                                                <a:schemeClr val="tx1"/>
                                              </a:solidFill>
                                            </a:rPr>
                                            <m:t>𝐿</m:t>
                                          </m:r>
                                        </m:e>
                                        <m:sub>
                                          <m:r>
                                            <a:rPr lang="ar-AE" sz="1400" i="1">
                                              <a:solidFill>
                                                <a:schemeClr val="tx1"/>
                                              </a:solidFill>
                                            </a:rPr>
                                            <m:t>𝑞</m:t>
                                          </m:r>
                                        </m:sub>
                                      </m:sSub>
                                    </m:den>
                                  </m:f>
                                </m:e>
                              </m:box>
                            </m:e>
                          </m:mr>
                        </m:m>
                      </m:e>
                    </m:d>
                    <m:r>
                      <a:rPr lang="ar-AE" sz="1400" i="1">
                        <a:solidFill>
                          <a:schemeClr val="tx1"/>
                        </a:solidFill>
                      </a:rPr>
                      <m:t>,  </m:t>
                    </m:r>
                    <m:r>
                      <a:rPr lang="ar-AE" sz="1400" i="1">
                        <a:solidFill>
                          <a:schemeClr val="tx1"/>
                        </a:solidFill>
                      </a:rPr>
                      <m:t>𝐶</m:t>
                    </m:r>
                    <m:r>
                      <a:rPr lang="ar-AE" sz="1400" i="1">
                        <a:solidFill>
                          <a:schemeClr val="tx1"/>
                        </a:solidFill>
                      </a:rPr>
                      <m:t>=</m:t>
                    </m:r>
                    <m:d>
                      <m:dPr>
                        <m:begChr m:val="["/>
                        <m:endChr m:val="]"/>
                        <m:ctrlPr>
                          <a:rPr lang="ar-AE" sz="1400" i="1">
                            <a:solidFill>
                              <a:schemeClr val="tx1"/>
                            </a:solidFill>
                          </a:rPr>
                        </m:ctrlPr>
                      </m:dPr>
                      <m:e>
                        <m:m>
                          <m:mPr>
                            <m:mcs>
                              <m:mc>
                                <m:mcPr>
                                  <m:count m:val="3"/>
                                  <m:mcJc m:val="center"/>
                                </m:mcPr>
                              </m:mc>
                            </m:mcs>
                            <m:ctrlPr>
                              <a:rPr lang="ar-AE" sz="1400" i="1">
                                <a:solidFill>
                                  <a:schemeClr val="tx1"/>
                                </a:solidFill>
                              </a:rPr>
                            </m:ctrlPr>
                          </m:mPr>
                          <m:mr>
                            <m:e>
                              <m:r>
                                <a:rPr lang="ar-AE" sz="1400" i="1">
                                  <a:solidFill>
                                    <a:schemeClr val="tx1"/>
                                  </a:solidFill>
                                </a:rPr>
                                <m:t>1</m:t>
                              </m:r>
                            </m:e>
                            <m:e>
                              <m:r>
                                <a:rPr lang="ar-AE" sz="1400" i="1">
                                  <a:solidFill>
                                    <a:schemeClr val="tx1"/>
                                  </a:solidFill>
                                </a:rPr>
                                <m:t>0</m:t>
                              </m:r>
                            </m:e>
                            <m:e>
                              <m:r>
                                <a:rPr lang="ar-AE" sz="1400" i="1">
                                  <a:solidFill>
                                    <a:schemeClr val="tx1"/>
                                  </a:solidFill>
                                </a:rPr>
                                <m:t>0</m:t>
                              </m:r>
                            </m:e>
                          </m:mr>
                        </m:m>
                      </m:e>
                    </m:d>
                  </m:oMath>
                </a14:m>
                <a:endParaRPr lang="ar-AE" sz="1400" b="1" dirty="0">
                  <a:solidFill>
                    <a:schemeClr val="tx1"/>
                  </a:solidFill>
                  <a:latin typeface="Calibri"/>
                </a:endParaRPr>
              </a:p>
            </p:txBody>
          </p:sp>
        </mc:Choice>
        <mc:Fallback>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320484" y="3698220"/>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mc:Choice xmlns:a14="http://schemas.microsoft.com/office/drawing/2010/main"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𝜃</m:t>
                        </m:r>
                      </m:e>
                      <m:sub>
                        <m:r>
                          <a:rPr lang="es-AR" sz="1400">
                            <a:solidFill>
                              <a:srgbClr val="1A1A2E"/>
                            </a:solidFill>
                            <a:latin typeface="Calibri"/>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𝜔</m:t>
                        </m:r>
                      </m:e>
                      <m:sub>
                        <m:r>
                          <a:rPr lang="es-AR" sz="1400">
                            <a:solidFill>
                              <a:srgbClr val="1A1A2E"/>
                            </a:solidFill>
                            <a:latin typeface="Calibri"/>
                          </a:rPr>
                          <m:t>𝑚</m:t>
                        </m:r>
                      </m:sub>
                    </m:sSub>
                  </m:oMath>
                </a14:m>
                <a:r>
                  <a:rPr lang="es-AR" sz="1400" dirty="0">
                    <a:solidFill>
                      <a:srgbClr val="1A1A2E"/>
                    </a:solidFill>
                    <a:latin typeface="Calibri"/>
                  </a:rPr>
                  <a:t>​, se repite el análisis aplicando la misma simplificación y tomando una matriz de salida del tipo </a:t>
                </a:r>
                <a14:m>
                  <m:oMath xmlns:m="http://schemas.openxmlformats.org/officeDocument/2006/math">
                    <m:r>
                      <a:rPr lang="es-AR" sz="1400">
                        <a:solidFill>
                          <a:srgbClr val="1A1A2E"/>
                        </a:solidFill>
                        <a:latin typeface="Calibri"/>
                      </a:rPr>
                      <m:t>  </m:t>
                    </m:r>
                    <m:r>
                      <a:rPr lang="es-AR" sz="1400">
                        <a:solidFill>
                          <a:srgbClr val="1A1A2E"/>
                        </a:solidFill>
                        <a:latin typeface="Calibri"/>
                      </a:rPr>
                      <m:t>𝐶</m:t>
                    </m:r>
                    <m:r>
                      <a:rPr lang="es-AR" sz="1400">
                        <a:solidFill>
                          <a:srgbClr val="1A1A2E"/>
                        </a:solidFill>
                        <a:latin typeface="Calibri"/>
                      </a:rPr>
                      <m:t>=</m:t>
                    </m:r>
                    <m:d>
                      <m:dPr>
                        <m:begChr m:val="["/>
                        <m:endChr m:val="]"/>
                        <m:ctrlPr>
                          <a:rPr lang="es-AR" sz="1400">
                            <a:solidFill>
                              <a:srgbClr val="1A1A2E"/>
                            </a:solidFill>
                            <a:latin typeface="Calibri"/>
                          </a:rPr>
                        </m:ctrlPr>
                      </m:dPr>
                      <m:e>
                        <m:m>
                          <m:mPr>
                            <m:mcs>
                              <m:mc>
                                <m:mcPr>
                                  <m:count m:val="3"/>
                                  <m:mcJc m:val="center"/>
                                </m:mcPr>
                              </m:mc>
                            </m:mcs>
                            <m:ctrlPr>
                              <a:rPr lang="es-AR" sz="1400">
                                <a:solidFill>
                                  <a:srgbClr val="1A1A2E"/>
                                </a:solidFill>
                                <a:latin typeface="Calibri"/>
                              </a:rPr>
                            </m:ctrlPr>
                          </m:mPr>
                          <m:mr>
                            <m:e>
                              <m:r>
                                <a:rPr lang="es-AR" sz="1400">
                                  <a:solidFill>
                                    <a:srgbClr val="1A1A2E"/>
                                  </a:solidFill>
                                  <a:latin typeface="Calibri"/>
                                </a:rPr>
                                <m:t>0</m:t>
                              </m:r>
                            </m:e>
                            <m:e>
                              <m:r>
                                <a:rPr lang="es-AR" sz="1400">
                                  <a:solidFill>
                                    <a:srgbClr val="1A1A2E"/>
                                  </a:solidFill>
                                  <a:latin typeface="Calibri"/>
                                </a:rPr>
                                <m:t>1</m:t>
                              </m:r>
                            </m:e>
                            <m:e>
                              <m:r>
                                <a:rPr lang="es-AR" sz="1400">
                                  <a:solidFill>
                                    <a:srgbClr val="1A1A2E"/>
                                  </a:solidFill>
                                  <a:latin typeface="Calibri"/>
                                </a:rPr>
                                <m:t>0</m:t>
                              </m:r>
                            </m:e>
                          </m:mr>
                        </m:m>
                      </m:e>
                    </m:d>
                  </m:oMath>
                </a14:m>
                <a:r>
                  <a:rPr lang="es-AR" sz="1400" dirty="0">
                    <a:solidFill>
                      <a:srgbClr val="1A1A2E"/>
                    </a:solidFill>
                    <a:latin typeface="Calibri"/>
                  </a:rPr>
                  <a:t>. </a:t>
                </a:r>
              </a:p>
              <a:p>
                <a:pPr algn="just">
                  <a:lnSpc>
                    <a:spcPct val="107000"/>
                  </a:lnSpc>
                  <a:spcAft>
                    <a:spcPts val="800"/>
                  </a:spcAft>
                </a:pPr>
                <a:endParaRPr lang="es-AR" sz="1400" dirty="0">
                  <a:solidFill>
                    <a:srgbClr val="1A1A2E"/>
                  </a:solidFill>
                  <a:latin typeface="Calibri"/>
                </a:endParaRPr>
              </a:p>
            </p:txBody>
          </p:sp>
        </mc:Choice>
        <mc:Fallback>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9" name="TextBox 8"/>
              <p:cNvSpPr txBox="1"/>
              <p:nvPr/>
            </p:nvSpPr>
            <p:spPr>
              <a:xfrm>
                <a:off x="-97654" y="2122853"/>
                <a:ext cx="4655745" cy="12427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m:t>𝒪</m:t>
                      </m:r>
                      <m:r>
                        <a:rPr lang="es-AR" sz="1400" i="1"/>
                        <m:t>=</m:t>
                      </m:r>
                      <m:d>
                        <m:dPr>
                          <m:begChr m:val="["/>
                          <m:endChr m:val="]"/>
                          <m:ctrlPr>
                            <a:rPr lang="es-AR" sz="1400" i="1"/>
                          </m:ctrlPr>
                        </m:dPr>
                        <m:e>
                          <m:m>
                            <m:mPr>
                              <m:mcs>
                                <m:mc>
                                  <m:mcPr>
                                    <m:count m:val="3"/>
                                    <m:mcJc m:val="center"/>
                                  </m:mcPr>
                                </m:mc>
                              </m:mcs>
                              <m:ctrlPr>
                                <a:rPr lang="es-AR" sz="1400" i="1"/>
                              </m:ctrlPr>
                            </m:mPr>
                            <m:mr>
                              <m:e>
                                <m:r>
                                  <a:rPr lang="es-AR" sz="1400" i="1"/>
                                  <m:t>0</m:t>
                                </m:r>
                              </m:e>
                              <m:e>
                                <m:r>
                                  <a:rPr lang="es-AR" sz="1400" i="1"/>
                                  <m:t>1</m:t>
                                </m:r>
                              </m:e>
                              <m:e>
                                <m:r>
                                  <a:rPr lang="es-AR" sz="1400" i="1"/>
                                  <m:t>0</m:t>
                                </m:r>
                              </m:e>
                            </m:mr>
                            <m:mr>
                              <m:e>
                                <m:r>
                                  <a:rPr lang="es-AR" sz="1400" i="1"/>
                                  <m:t>0</m:t>
                                </m:r>
                              </m:e>
                              <m:e>
                                <m:box>
                                  <m:boxPr>
                                    <m:ctrlPr>
                                      <a:rPr lang="es-AR" sz="1400" i="1"/>
                                    </m:ctrlPr>
                                  </m:boxPr>
                                  <m:e>
                                    <m:argPr>
                                      <m:argSz m:val="-1"/>
                                    </m:argPr>
                                    <m:f>
                                      <m:fPr>
                                        <m:ctrlPr>
                                          <a:rPr lang="es-AR" sz="1400" i="1"/>
                                        </m:ctrlPr>
                                      </m:fPr>
                                      <m:num>
                                        <m:sSub>
                                          <m:sSubPr>
                                            <m:ctrlPr>
                                              <a:rPr lang="es-AR" sz="1400" i="1"/>
                                            </m:ctrlPr>
                                          </m:sSubPr>
                                          <m:e>
                                            <m:r>
                                              <a:rPr lang="es-AR" sz="1400" i="1"/>
                                              <m:t>−</m:t>
                                            </m:r>
                                            <m:r>
                                              <a:rPr lang="es-AR" sz="1400" i="1"/>
                                              <m:t>𝑏</m:t>
                                            </m:r>
                                          </m:e>
                                          <m:sub>
                                            <m:r>
                                              <a:rPr lang="es-AR" sz="1400" i="1"/>
                                              <m:t>𝑒𝑞</m:t>
                                            </m:r>
                                          </m:sub>
                                        </m:sSub>
                                      </m:num>
                                      <m:den>
                                        <m:sSub>
                                          <m:sSubPr>
                                            <m:ctrlPr>
                                              <a:rPr lang="es-AR" sz="1400" i="1"/>
                                            </m:ctrlPr>
                                          </m:sSubPr>
                                          <m:e>
                                            <m:r>
                                              <a:rPr lang="es-AR" sz="1400" i="1"/>
                                              <m:t>𝐽</m:t>
                                            </m:r>
                                          </m:e>
                                          <m:sub>
                                            <m:r>
                                              <a:rPr lang="es-AR" sz="1400" i="1"/>
                                              <m:t>𝑒𝑞</m:t>
                                            </m:r>
                                          </m:sub>
                                        </m:sSub>
                                      </m:den>
                                    </m:f>
                                  </m:e>
                                </m:box>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sSub>
                                          <m:sSubPr>
                                            <m:ctrlPr>
                                              <a:rPr lang="es-AR" sz="1400" i="1"/>
                                            </m:ctrlPr>
                                          </m:sSubPr>
                                          <m:e>
                                            <m:r>
                                              <a:rPr lang="es-AR" sz="1400" i="1"/>
                                              <m:t>𝐿</m:t>
                                            </m:r>
                                          </m:e>
                                          <m:sub>
                                            <m:r>
                                              <a:rPr lang="es-AR" sz="1400" i="1"/>
                                              <m:t>𝑞</m:t>
                                            </m:r>
                                          </m:sub>
                                        </m:sSub>
                                      </m:den>
                                    </m:f>
                                  </m:e>
                                </m:box>
                              </m:e>
                            </m:mr>
                            <m:mr>
                              <m:e>
                                <m:r>
                                  <a:rPr lang="es-AR" sz="1400" i="1"/>
                                  <m:t>0</m:t>
                                </m:r>
                              </m:e>
                              <m:e>
                                <m:box>
                                  <m:boxPr>
                                    <m:ctrlPr>
                                      <a:rPr lang="es-AR" sz="1400" i="1"/>
                                    </m:ctrlPr>
                                  </m:boxPr>
                                  <m:e>
                                    <m:argPr>
                                      <m:argSz m:val="-1"/>
                                    </m:argPr>
                                    <m:f>
                                      <m:fPr>
                                        <m:ctrlPr>
                                          <a:rPr lang="es-AR" sz="1400" i="1"/>
                                        </m:ctrlPr>
                                      </m:fPr>
                                      <m:num>
                                        <m:sSup>
                                          <m:sSupPr>
                                            <m:ctrlPr>
                                              <a:rPr lang="es-AR" sz="1400" i="1"/>
                                            </m:ctrlPr>
                                          </m:sSupPr>
                                          <m:e>
                                            <m:sSub>
                                              <m:sSubPr>
                                                <m:ctrlPr>
                                                  <a:rPr lang="es-AR" sz="1400" i="1"/>
                                                </m:ctrlPr>
                                              </m:sSubPr>
                                              <m:e>
                                                <m:r>
                                                  <a:rPr lang="es-AR" sz="1400" i="1"/>
                                                  <m:t>𝑏</m:t>
                                                </m:r>
                                              </m:e>
                                              <m:sub>
                                                <m:r>
                                                  <a:rPr lang="es-AR" sz="1400" i="1"/>
                                                  <m:t>𝑒𝑞</m:t>
                                                </m:r>
                                              </m:sub>
                                            </m:sSub>
                                          </m:e>
                                          <m:sup>
                                            <m:r>
                                              <a:rPr lang="es-AR" sz="1400" i="1"/>
                                              <m:t>2</m:t>
                                            </m:r>
                                          </m:sup>
                                        </m:sSup>
                                      </m:num>
                                      <m:den>
                                        <m:sSup>
                                          <m:sSupPr>
                                            <m:ctrlPr>
                                              <a:rPr lang="es-AR" sz="1400" i="1"/>
                                            </m:ctrlPr>
                                          </m:sSupPr>
                                          <m:e>
                                            <m:sSub>
                                              <m:sSubPr>
                                                <m:ctrlPr>
                                                  <a:rPr lang="es-AR" sz="1400" i="1"/>
                                                </m:ctrlPr>
                                              </m:sSubPr>
                                              <m:e>
                                                <m:r>
                                                  <a:rPr lang="es-AR" sz="1400" i="1"/>
                                                  <m:t>𝐽</m:t>
                                                </m:r>
                                              </m:e>
                                              <m:sub>
                                                <m:r>
                                                  <a:rPr lang="es-AR" sz="1400" i="1"/>
                                                  <m:t>𝑒𝑞</m:t>
                                                </m:r>
                                              </m:sub>
                                            </m:sSub>
                                          </m:e>
                                          <m:sup>
                                            <m:r>
                                              <a:rPr lang="es-AR" sz="1400" i="1"/>
                                              <m:t>2</m:t>
                                            </m:r>
                                          </m:sup>
                                        </m:sSup>
                                      </m:den>
                                    </m:f>
                                  </m:e>
                                </m:box>
                                <m:r>
                                  <a:rPr lang="es-AR" sz="1400" i="1"/>
                                  <m:t>−</m:t>
                                </m:r>
                                <m:f>
                                  <m:fPr>
                                    <m:ctrlPr>
                                      <a:rPr lang="es-AR" sz="1400" i="1"/>
                                    </m:ctrlPr>
                                  </m:fPr>
                                  <m:num>
                                    <m:r>
                                      <a:rPr lang="es-AR" sz="1400" i="1"/>
                                      <m:t>3</m:t>
                                    </m:r>
                                    <m:sSub>
                                      <m:sSubPr>
                                        <m:ctrlPr>
                                          <a:rPr lang="es-AR" sz="1400" i="1"/>
                                        </m:ctrlPr>
                                      </m:sSubPr>
                                      <m:e>
                                        <m:r>
                                          <a:rPr lang="es-AR" sz="1400" i="1"/>
                                          <m:t>𝑃</m:t>
                                        </m:r>
                                      </m:e>
                                      <m:sub>
                                        <m:r>
                                          <a:rPr lang="es-AR" sz="1400" i="1"/>
                                          <m:t>𝑝</m:t>
                                        </m:r>
                                      </m:sub>
                                    </m:sSub>
                                    <m:sSup>
                                      <m:sSupPr>
                                        <m:ctrlPr>
                                          <a:rPr lang="es-AR" sz="1400" i="1"/>
                                        </m:ctrlPr>
                                      </m:sSupPr>
                                      <m:e>
                                        <m:sSubSup>
                                          <m:sSubSupPr>
                                            <m:ctrlPr>
                                              <a:rPr lang="es-AR" sz="1400" i="1"/>
                                            </m:ctrlPr>
                                          </m:sSubSupPr>
                                          <m:e>
                                            <m:r>
                                              <a:rPr lang="es-AR" sz="1400" i="1"/>
                                              <m:t>𝜆</m:t>
                                            </m:r>
                                          </m:e>
                                          <m:sub>
                                            <m:r>
                                              <a:rPr lang="es-AR" sz="1400" i="1"/>
                                              <m:t>𝑚</m:t>
                                            </m:r>
                                          </m:sub>
                                          <m:sup>
                                            <m:r>
                                              <a:rPr lang="es-AR" sz="1400" i="1"/>
                                              <m:t>′</m:t>
                                            </m:r>
                                            <m:r>
                                              <a:rPr lang="es-AR" sz="1400" i="1"/>
                                              <m:t>𝑟</m:t>
                                            </m:r>
                                          </m:sup>
                                        </m:sSubSup>
                                      </m:e>
                                      <m:sup>
                                        <m:r>
                                          <a:rPr lang="es-AR" sz="1400" i="1"/>
                                          <m:t>2</m:t>
                                        </m:r>
                                      </m:sup>
                                    </m:sSup>
                                  </m:num>
                                  <m:den>
                                    <m:r>
                                      <a:rPr lang="es-AR" sz="1400" i="1"/>
                                      <m:t>2</m:t>
                                    </m:r>
                                    <m:sSub>
                                      <m:sSubPr>
                                        <m:ctrlPr>
                                          <a:rPr lang="es-AR" sz="1400" i="1"/>
                                        </m:ctrlPr>
                                      </m:sSubPr>
                                      <m:e>
                                        <m:r>
                                          <a:rPr lang="es-AR" sz="1400" i="1"/>
                                          <m:t>𝐽</m:t>
                                        </m:r>
                                      </m:e>
                                      <m:sub>
                                        <m:r>
                                          <a:rPr lang="es-AR" sz="1400" i="1"/>
                                          <m:t>𝑒𝑞</m:t>
                                        </m:r>
                                      </m:sub>
                                    </m:sSub>
                                    <m:sSub>
                                      <m:sSubPr>
                                        <m:ctrlPr>
                                          <a:rPr lang="es-AR" sz="1400" i="1"/>
                                        </m:ctrlPr>
                                      </m:sSubPr>
                                      <m:e>
                                        <m:r>
                                          <a:rPr lang="es-AR" sz="1400" i="1"/>
                                          <m:t>𝐿</m:t>
                                        </m:r>
                                      </m:e>
                                      <m:sub>
                                        <m:r>
                                          <a:rPr lang="es-AR" sz="1400" i="1"/>
                                          <m:t>𝑞</m:t>
                                        </m:r>
                                      </m:sub>
                                    </m:sSub>
                                  </m:den>
                                </m:f>
                              </m:e>
                              <m:e>
                                <m:box>
                                  <m:boxPr>
                                    <m:ctrlPr>
                                      <a:rPr lang="es-AR" sz="1400" i="1"/>
                                    </m:ctrlPr>
                                  </m:boxPr>
                                  <m:e>
                                    <m:argPr>
                                      <m:argSz m:val="-1"/>
                                    </m:argPr>
                                    <m:r>
                                      <a:rPr lang="es-AR" sz="1400" i="1"/>
                                      <m:t>−</m:t>
                                    </m:r>
                                    <m:f>
                                      <m:fPr>
                                        <m:ctrlPr>
                                          <a:rPr lang="es-AR" sz="1400" i="1"/>
                                        </m:ctrlPr>
                                      </m:fPr>
                                      <m:num>
                                        <m:r>
                                          <a:rPr lang="es-AR" sz="1400" i="1"/>
                                          <m:t>3</m:t>
                                        </m:r>
                                        <m:sSub>
                                          <m:sSubPr>
                                            <m:ctrlPr>
                                              <a:rPr lang="es-AR" sz="1400" i="1"/>
                                            </m:ctrlPr>
                                          </m:sSubPr>
                                          <m:e>
                                            <m:sSub>
                                              <m:sSubPr>
                                                <m:ctrlPr>
                                                  <a:rPr lang="es-AR" sz="1400" i="1"/>
                                                </m:ctrlPr>
                                              </m:sSubPr>
                                              <m:e>
                                                <m:r>
                                                  <a:rPr lang="es-AR" sz="1400" i="1"/>
                                                  <m:t>𝑏</m:t>
                                                </m:r>
                                              </m:e>
                                              <m:sub>
                                                <m:r>
                                                  <a:rPr lang="es-AR" sz="1400" i="1"/>
                                                  <m:t>𝑒𝑞</m:t>
                                                </m:r>
                                              </m:sub>
                                            </m:sSub>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r>
                                          <a:rPr lang="es-AR" sz="1400" i="1"/>
                                          <m:t>2</m:t>
                                        </m:r>
                                        <m:sSup>
                                          <m:sSupPr>
                                            <m:ctrlPr>
                                              <a:rPr lang="es-AR" sz="1400" i="1"/>
                                            </m:ctrlPr>
                                          </m:sSupPr>
                                          <m:e>
                                            <m:sSub>
                                              <m:sSubPr>
                                                <m:ctrlPr>
                                                  <a:rPr lang="es-AR" sz="1400" i="1"/>
                                                </m:ctrlPr>
                                              </m:sSubPr>
                                              <m:e>
                                                <m:r>
                                                  <a:rPr lang="es-AR" sz="1400" i="1"/>
                                                  <m:t>𝐽</m:t>
                                                </m:r>
                                              </m:e>
                                              <m:sub>
                                                <m:r>
                                                  <a:rPr lang="es-AR" sz="1400" i="1"/>
                                                  <m:t>𝑒𝑞</m:t>
                                                </m:r>
                                              </m:sub>
                                            </m:sSub>
                                          </m:e>
                                          <m:sup>
                                            <m:r>
                                              <a:rPr lang="es-AR" sz="1400" i="1"/>
                                              <m:t>2</m:t>
                                            </m:r>
                                          </m:sup>
                                        </m:sSup>
                                      </m:den>
                                    </m:f>
                                    <m:r>
                                      <a:rPr lang="es-AR" sz="1400" i="1"/>
                                      <m:t>−</m:t>
                                    </m:r>
                                    <m:f>
                                      <m:fPr>
                                        <m:ctrlPr>
                                          <a:rPr lang="es-AR" sz="1400" i="1"/>
                                        </m:ctrlPr>
                                      </m:fPr>
                                      <m:num>
                                        <m:r>
                                          <a:rPr lang="es-AR" sz="1400" i="1"/>
                                          <m:t>3</m:t>
                                        </m:r>
                                        <m:sSub>
                                          <m:sSubPr>
                                            <m:ctrlPr>
                                              <a:rPr lang="es-AR" sz="1400" i="1"/>
                                            </m:ctrlPr>
                                          </m:sSubPr>
                                          <m:e>
                                            <m:sSub>
                                              <m:sSubPr>
                                                <m:ctrlPr>
                                                  <a:rPr lang="es-AR" sz="1400" i="1"/>
                                                </m:ctrlPr>
                                              </m:sSubPr>
                                              <m:e>
                                                <m:r>
                                                  <a:rPr lang="es-AR" sz="1400" i="1"/>
                                                  <m:t>𝑅</m:t>
                                                </m:r>
                                              </m:e>
                                              <m:sub>
                                                <m:r>
                                                  <a:rPr lang="es-AR" sz="1400" i="1"/>
                                                  <m:t>𝑠</m:t>
                                                </m:r>
                                              </m:sub>
                                            </m:sSub>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sSub>
                                          <m:sSubPr>
                                            <m:ctrlPr>
                                              <a:rPr lang="es-AR" sz="1400" i="1"/>
                                            </m:ctrlPr>
                                          </m:sSubPr>
                                          <m:e>
                                            <m:r>
                                              <a:rPr lang="es-AR" sz="1400" i="1"/>
                                              <m:t>𝐿</m:t>
                                            </m:r>
                                          </m:e>
                                          <m:sub>
                                            <m:r>
                                              <a:rPr lang="es-AR" sz="1400" i="1"/>
                                              <m:t>𝑞</m:t>
                                            </m:r>
                                          </m:sub>
                                        </m:sSub>
                                      </m:den>
                                    </m:f>
                                  </m:e>
                                </m:box>
                              </m:e>
                            </m:mr>
                          </m:m>
                        </m:e>
                      </m:d>
                    </m:oMath>
                  </m:oMathPara>
                </a14:m>
                <a:endParaRPr sz="14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97654" y="2122853"/>
                <a:ext cx="4655745" cy="1242776"/>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a:solidFill>
                              <a:srgbClr val="1A1A2E"/>
                            </a:solidFill>
                            <a:latin typeface="Calibri"/>
                          </a:rPr>
                        </m:ctrlPr>
                      </m:sSubPr>
                      <m:e>
                        <m:r>
                          <a:rPr lang="es-AR" sz="1400">
                            <a:solidFill>
                              <a:srgbClr val="1A1A2E"/>
                            </a:solidFill>
                            <a:latin typeface="Calibri"/>
                          </a:rPr>
                          <m:t>𝜔</m:t>
                        </m:r>
                      </m:e>
                      <m:sub>
                        <m:r>
                          <a:rPr lang="es-AR" sz="1400">
                            <a:solidFill>
                              <a:srgbClr val="1A1A2E"/>
                            </a:solidFill>
                            <a:latin typeface="Calibri"/>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42381" y="3751661"/>
            <a:ext cx="11672360" cy="803870"/>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65760" y="777240"/>
            <a:ext cx="11430000" cy="621792"/>
          </a:xfrm>
          <a:prstGeom prst="rect">
            <a:avLst/>
          </a:prstGeom>
          <a:noFill/>
        </p:spPr>
        <p:txBody>
          <a:bodyPr wrap="square">
            <a:spAutoFit/>
          </a:bodyPr>
          <a:lstStyle/>
          <a:p>
            <a:pPr algn="l"/>
            <a:r>
              <a:rPr sz="1400" b="0" i="0">
                <a:solidFill>
                  <a:srgbClr val="1A1A2E"/>
                </a:solidFill>
                <a:latin typeface="Calibri"/>
              </a:rPr>
              <a:t>Criterio de Kalman: un sistema LTI de orden n con p entradas es completamente controlable si el rango de la matriz de controlabilidad C es n.</a:t>
            </a:r>
          </a:p>
        </p:txBody>
      </p:sp>
      <p:sp>
        <p:nvSpPr>
          <p:cNvPr id="11" name="TextBox 10"/>
          <p:cNvSpPr txBox="1"/>
          <p:nvPr/>
        </p:nvSpPr>
        <p:spPr>
          <a:xfrm>
            <a:off x="365759" y="4153596"/>
            <a:ext cx="11430000" cy="2560320"/>
          </a:xfrm>
          <a:prstGeom prst="rect">
            <a:avLst/>
          </a:prstGeom>
          <a:noFill/>
        </p:spPr>
        <p:txBody>
          <a:bodyPr wrap="square">
            <a:spAutoFit/>
          </a:bodyPr>
          <a:lstStyle/>
          <a:p>
            <a:r>
              <a:rPr sz="1350" dirty="0">
                <a:solidFill>
                  <a:srgbClr val="1A1A2E"/>
                </a:solidFill>
                <a:latin typeface="Calibri"/>
              </a:rPr>
              <a:t>Con dos entradas </a:t>
            </a:r>
            <a:r>
              <a:rPr sz="1350" dirty="0" err="1">
                <a:solidFill>
                  <a:srgbClr val="1A1A2E"/>
                </a:solidFill>
                <a:latin typeface="Calibri"/>
              </a:rPr>
              <a:t>independientes</a:t>
            </a:r>
            <a:r>
              <a:rPr sz="1350" dirty="0">
                <a:solidFill>
                  <a:srgbClr val="1A1A2E"/>
                </a:solidFill>
                <a:latin typeface="Calibri"/>
              </a:rPr>
              <a:t> (</a:t>
            </a:r>
            <a:r>
              <a:rPr sz="1350" dirty="0" err="1">
                <a:solidFill>
                  <a:srgbClr val="1A1A2E"/>
                </a:solidFill>
                <a:latin typeface="Calibri"/>
              </a:rPr>
              <a:t>vqs^r</a:t>
            </a:r>
            <a:r>
              <a:rPr sz="1350" dirty="0">
                <a:solidFill>
                  <a:srgbClr val="1A1A2E"/>
                </a:solidFill>
                <a:latin typeface="Calibri"/>
              </a:rPr>
              <a:t> y </a:t>
            </a:r>
            <a:r>
              <a:rPr sz="1350" dirty="0" err="1">
                <a:solidFill>
                  <a:srgbClr val="1A1A2E"/>
                </a:solidFill>
                <a:latin typeface="Calibri"/>
              </a:rPr>
              <a:t>vds^r</a:t>
            </a:r>
            <a:r>
              <a:rPr sz="1350" dirty="0">
                <a:solidFill>
                  <a:srgbClr val="1A1A2E"/>
                </a:solidFill>
                <a:latin typeface="Calibri"/>
              </a:rPr>
              <a:t>) es </a:t>
            </a:r>
            <a:r>
              <a:rPr sz="1350" dirty="0" err="1">
                <a:solidFill>
                  <a:srgbClr val="1A1A2E"/>
                </a:solidFill>
                <a:latin typeface="Calibri"/>
              </a:rPr>
              <a:t>posible</a:t>
            </a:r>
            <a:r>
              <a:rPr sz="1350" dirty="0">
                <a:solidFill>
                  <a:srgbClr val="1A1A2E"/>
                </a:solidFill>
                <a:latin typeface="Calibri"/>
              </a:rPr>
              <a:t> </a:t>
            </a:r>
            <a:r>
              <a:rPr sz="1350" dirty="0" err="1">
                <a:solidFill>
                  <a:srgbClr val="1A1A2E"/>
                </a:solidFill>
                <a:latin typeface="Calibri"/>
              </a:rPr>
              <a:t>controlar</a:t>
            </a:r>
            <a:r>
              <a:rPr sz="1350" dirty="0">
                <a:solidFill>
                  <a:srgbClr val="1A1A2E"/>
                </a:solidFill>
                <a:latin typeface="Calibri"/>
              </a:rPr>
              <a:t> </a:t>
            </a:r>
            <a:r>
              <a:rPr sz="1350" dirty="0" err="1">
                <a:solidFill>
                  <a:srgbClr val="1A1A2E"/>
                </a:solidFill>
                <a:latin typeface="Calibri"/>
              </a:rPr>
              <a:t>independientemente</a:t>
            </a:r>
            <a:r>
              <a:rPr sz="1350" dirty="0">
                <a:solidFill>
                  <a:srgbClr val="1A1A2E"/>
                </a:solidFill>
                <a:latin typeface="Calibri"/>
              </a:rPr>
              <a:t> los </a:t>
            </a:r>
            <a:r>
              <a:rPr sz="1350" dirty="0" err="1">
                <a:solidFill>
                  <a:srgbClr val="1A1A2E"/>
                </a:solidFill>
                <a:latin typeface="Calibri"/>
              </a:rPr>
              <a:t>ejes</a:t>
            </a:r>
            <a:r>
              <a:rPr sz="1350" dirty="0">
                <a:solidFill>
                  <a:srgbClr val="1A1A2E"/>
                </a:solidFill>
                <a:latin typeface="Calibri"/>
              </a:rPr>
              <a:t> q y d</a:t>
            </a:r>
          </a:p>
          <a:p>
            <a:pPr>
              <a:spcBef>
                <a:spcPts val="400"/>
              </a:spcBef>
            </a:pPr>
            <a:r>
              <a:rPr sz="1350" dirty="0">
                <a:solidFill>
                  <a:srgbClr val="1A1A2E"/>
                </a:solidFill>
                <a:latin typeface="Calibri"/>
              </a:rPr>
              <a:t>El </a:t>
            </a:r>
            <a:r>
              <a:rPr sz="1350" dirty="0" err="1">
                <a:solidFill>
                  <a:srgbClr val="1A1A2E"/>
                </a:solidFill>
                <a:latin typeface="Calibri"/>
              </a:rPr>
              <a:t>resultado</a:t>
            </a:r>
            <a:r>
              <a:rPr sz="1350" dirty="0">
                <a:solidFill>
                  <a:srgbClr val="1A1A2E"/>
                </a:solidFill>
                <a:latin typeface="Calibri"/>
              </a:rPr>
              <a:t> de </a:t>
            </a:r>
            <a:r>
              <a:rPr sz="1350" dirty="0" err="1">
                <a:solidFill>
                  <a:srgbClr val="1A1A2E"/>
                </a:solidFill>
                <a:latin typeface="Calibri"/>
              </a:rPr>
              <a:t>controlabilidad</a:t>
            </a:r>
            <a:r>
              <a:rPr sz="1350" dirty="0">
                <a:solidFill>
                  <a:srgbClr val="1A1A2E"/>
                </a:solidFill>
                <a:latin typeface="Calibri"/>
              </a:rPr>
              <a:t> </a:t>
            </a:r>
            <a:r>
              <a:rPr sz="1350" dirty="0" err="1">
                <a:solidFill>
                  <a:srgbClr val="1A1A2E"/>
                </a:solidFill>
                <a:latin typeface="Calibri"/>
              </a:rPr>
              <a:t>garantiza</a:t>
            </a:r>
            <a:r>
              <a:rPr sz="1350" dirty="0">
                <a:solidFill>
                  <a:srgbClr val="1A1A2E"/>
                </a:solidFill>
                <a:latin typeface="Calibri"/>
              </a:rPr>
              <a:t> que </a:t>
            </a:r>
            <a:r>
              <a:rPr sz="1350" dirty="0" err="1">
                <a:solidFill>
                  <a:srgbClr val="1A1A2E"/>
                </a:solidFill>
                <a:latin typeface="Calibri"/>
              </a:rPr>
              <a:t>todos</a:t>
            </a:r>
            <a:r>
              <a:rPr sz="1350" dirty="0">
                <a:solidFill>
                  <a:srgbClr val="1A1A2E"/>
                </a:solidFill>
                <a:latin typeface="Calibri"/>
              </a:rPr>
              <a:t> los </a:t>
            </a:r>
            <a:r>
              <a:rPr sz="1350" dirty="0" err="1">
                <a:solidFill>
                  <a:srgbClr val="1A1A2E"/>
                </a:solidFill>
                <a:latin typeface="Calibri"/>
              </a:rPr>
              <a:t>estados</a:t>
            </a:r>
            <a:r>
              <a:rPr sz="1350" dirty="0">
                <a:solidFill>
                  <a:srgbClr val="1A1A2E"/>
                </a:solidFill>
                <a:latin typeface="Calibri"/>
              </a:rPr>
              <a:t> </a:t>
            </a:r>
            <a:r>
              <a:rPr sz="1350" dirty="0" err="1">
                <a:solidFill>
                  <a:srgbClr val="1A1A2E"/>
                </a:solidFill>
                <a:latin typeface="Calibri"/>
              </a:rPr>
              <a:t>pueden</a:t>
            </a:r>
            <a:r>
              <a:rPr sz="1350" dirty="0">
                <a:solidFill>
                  <a:srgbClr val="1A1A2E"/>
                </a:solidFill>
                <a:latin typeface="Calibri"/>
              </a:rPr>
              <a:t> ser </a:t>
            </a:r>
            <a:r>
              <a:rPr sz="1350" dirty="0" err="1">
                <a:solidFill>
                  <a:srgbClr val="1A1A2E"/>
                </a:solidFill>
                <a:latin typeface="Calibri"/>
              </a:rPr>
              <a:t>llevados</a:t>
            </a:r>
            <a:r>
              <a:rPr sz="1350" dirty="0">
                <a:solidFill>
                  <a:srgbClr val="1A1A2E"/>
                </a:solidFill>
                <a:latin typeface="Calibri"/>
              </a:rPr>
              <a:t> a cero (</a:t>
            </a:r>
            <a:r>
              <a:rPr sz="1350" dirty="0" err="1">
                <a:solidFill>
                  <a:srgbClr val="1A1A2E"/>
                </a:solidFill>
                <a:latin typeface="Calibri"/>
              </a:rPr>
              <a:t>origen</a:t>
            </a:r>
            <a:r>
              <a:rPr sz="1350" dirty="0">
                <a:solidFill>
                  <a:srgbClr val="1A1A2E"/>
                </a:solidFill>
                <a:latin typeface="Calibri"/>
              </a:rPr>
              <a:t>) </a:t>
            </a:r>
            <a:r>
              <a:rPr sz="1350" dirty="0" err="1">
                <a:solidFill>
                  <a:srgbClr val="1A1A2E"/>
                </a:solidFill>
                <a:latin typeface="Calibri"/>
              </a:rPr>
              <a:t>en</a:t>
            </a:r>
            <a:r>
              <a:rPr sz="1350" dirty="0">
                <a:solidFill>
                  <a:srgbClr val="1A1A2E"/>
                </a:solidFill>
                <a:latin typeface="Calibri"/>
              </a:rPr>
              <a:t> </a:t>
            </a:r>
            <a:r>
              <a:rPr sz="1350" dirty="0" err="1">
                <a:solidFill>
                  <a:srgbClr val="1A1A2E"/>
                </a:solidFill>
                <a:latin typeface="Calibri"/>
              </a:rPr>
              <a:t>tiempo</a:t>
            </a:r>
            <a:r>
              <a:rPr sz="1350" dirty="0">
                <a:solidFill>
                  <a:srgbClr val="1A1A2E"/>
                </a:solidFill>
                <a:latin typeface="Calibri"/>
              </a:rPr>
              <a:t> </a:t>
            </a:r>
            <a:r>
              <a:rPr sz="1350" dirty="0" err="1">
                <a:solidFill>
                  <a:srgbClr val="1A1A2E"/>
                </a:solidFill>
                <a:latin typeface="Calibri"/>
              </a:rPr>
              <a:t>finito</a:t>
            </a:r>
            <a:endParaRPr sz="1350" dirty="0">
              <a:solidFill>
                <a:srgbClr val="1A1A2E"/>
              </a:solidFill>
              <a:latin typeface="Calibri"/>
            </a:endParaRPr>
          </a:p>
          <a:p>
            <a:pPr>
              <a:spcBef>
                <a:spcPts val="400"/>
              </a:spcBef>
            </a:pPr>
            <a:r>
              <a:rPr sz="1350" dirty="0" err="1">
                <a:solidFill>
                  <a:srgbClr val="1A1A2E"/>
                </a:solidFill>
                <a:latin typeface="Calibri"/>
              </a:rPr>
              <a:t>Permite</a:t>
            </a:r>
            <a:r>
              <a:rPr sz="1350" dirty="0">
                <a:solidFill>
                  <a:srgbClr val="1A1A2E"/>
                </a:solidFill>
                <a:latin typeface="Calibri"/>
              </a:rPr>
              <a:t> la </a:t>
            </a:r>
            <a:r>
              <a:rPr sz="1350" dirty="0" err="1">
                <a:solidFill>
                  <a:srgbClr val="1A1A2E"/>
                </a:solidFill>
                <a:latin typeface="Calibri"/>
              </a:rPr>
              <a:t>asignación</a:t>
            </a:r>
            <a:r>
              <a:rPr sz="1350" dirty="0">
                <a:solidFill>
                  <a:srgbClr val="1A1A2E"/>
                </a:solidFill>
                <a:latin typeface="Calibri"/>
              </a:rPr>
              <a:t> </a:t>
            </a:r>
            <a:r>
              <a:rPr sz="1350" dirty="0" err="1">
                <a:solidFill>
                  <a:srgbClr val="1A1A2E"/>
                </a:solidFill>
                <a:latin typeface="Calibri"/>
              </a:rPr>
              <a:t>arbitraria</a:t>
            </a:r>
            <a:r>
              <a:rPr sz="1350" dirty="0">
                <a:solidFill>
                  <a:srgbClr val="1A1A2E"/>
                </a:solidFill>
                <a:latin typeface="Calibri"/>
              </a:rPr>
              <a:t> de </a:t>
            </a:r>
            <a:r>
              <a:rPr sz="1350" dirty="0" err="1">
                <a:solidFill>
                  <a:srgbClr val="1A1A2E"/>
                </a:solidFill>
                <a:latin typeface="Calibri"/>
              </a:rPr>
              <a:t>todos</a:t>
            </a:r>
            <a:r>
              <a:rPr sz="1350" dirty="0">
                <a:solidFill>
                  <a:srgbClr val="1A1A2E"/>
                </a:solidFill>
                <a:latin typeface="Calibri"/>
              </a:rPr>
              <a:t> los polos del </a:t>
            </a:r>
            <a:r>
              <a:rPr sz="1350" dirty="0" err="1">
                <a:solidFill>
                  <a:srgbClr val="1A1A2E"/>
                </a:solidFill>
                <a:latin typeface="Calibri"/>
              </a:rPr>
              <a:t>sistema</a:t>
            </a:r>
            <a:r>
              <a:rPr sz="1350" dirty="0">
                <a:solidFill>
                  <a:srgbClr val="1A1A2E"/>
                </a:solidFill>
                <a:latin typeface="Calibri"/>
              </a:rPr>
              <a:t> </a:t>
            </a:r>
            <a:r>
              <a:rPr sz="1350" dirty="0" err="1">
                <a:solidFill>
                  <a:srgbClr val="1A1A2E"/>
                </a:solidFill>
                <a:latin typeface="Calibri"/>
              </a:rPr>
              <a:t>en</a:t>
            </a:r>
            <a:r>
              <a:rPr sz="1350" dirty="0">
                <a:solidFill>
                  <a:srgbClr val="1A1A2E"/>
                </a:solidFill>
                <a:latin typeface="Calibri"/>
              </a:rPr>
              <a:t> </a:t>
            </a:r>
            <a:r>
              <a:rPr sz="1350" dirty="0" err="1">
                <a:solidFill>
                  <a:srgbClr val="1A1A2E"/>
                </a:solidFill>
                <a:latin typeface="Calibri"/>
              </a:rPr>
              <a:t>lazo</a:t>
            </a:r>
            <a:r>
              <a:rPr sz="1350" dirty="0">
                <a:solidFill>
                  <a:srgbClr val="1A1A2E"/>
                </a:solidFill>
                <a:latin typeface="Calibri"/>
              </a:rPr>
              <a:t> </a:t>
            </a:r>
            <a:r>
              <a:rPr sz="1350" dirty="0" err="1">
                <a:solidFill>
                  <a:srgbClr val="1A1A2E"/>
                </a:solidFill>
                <a:latin typeface="Calibri"/>
              </a:rPr>
              <a:t>cerrado</a:t>
            </a:r>
            <a:r>
              <a:rPr sz="1350" dirty="0">
                <a:solidFill>
                  <a:srgbClr val="1A1A2E"/>
                </a:solidFill>
                <a:latin typeface="Calibri"/>
              </a:rPr>
              <a:t> </a:t>
            </a:r>
            <a:r>
              <a:rPr sz="1350" dirty="0" err="1">
                <a:solidFill>
                  <a:srgbClr val="1A1A2E"/>
                </a:solidFill>
                <a:latin typeface="Calibri"/>
              </a:rPr>
              <a:t>mediante</a:t>
            </a:r>
            <a:r>
              <a:rPr sz="1350" dirty="0">
                <a:solidFill>
                  <a:srgbClr val="1A1A2E"/>
                </a:solidFill>
                <a:latin typeface="Calibri"/>
              </a:rPr>
              <a:t> </a:t>
            </a:r>
            <a:r>
              <a:rPr sz="1350" dirty="0" err="1">
                <a:solidFill>
                  <a:srgbClr val="1A1A2E"/>
                </a:solidFill>
                <a:latin typeface="Calibri"/>
              </a:rPr>
              <a:t>realimentación</a:t>
            </a:r>
            <a:r>
              <a:rPr sz="1350" dirty="0">
                <a:solidFill>
                  <a:srgbClr val="1A1A2E"/>
                </a:solidFill>
                <a:latin typeface="Calibri"/>
              </a:rPr>
              <a:t> de </a:t>
            </a:r>
            <a:r>
              <a:rPr sz="1350" dirty="0" err="1">
                <a:solidFill>
                  <a:srgbClr val="1A1A2E"/>
                </a:solidFill>
                <a:latin typeface="Calibri"/>
              </a:rPr>
              <a:t>estado</a:t>
            </a:r>
            <a:endParaRPr sz="1350" dirty="0">
              <a:solidFill>
                <a:srgbClr val="1A1A2E"/>
              </a:solidFill>
              <a:latin typeface="Calibri"/>
            </a:endParaRPr>
          </a:p>
          <a:p>
            <a:pPr>
              <a:spcBef>
                <a:spcPts val="400"/>
              </a:spcBef>
            </a:pPr>
            <a:r>
              <a:rPr sz="1350" dirty="0" err="1">
                <a:solidFill>
                  <a:srgbClr val="1A1A2E"/>
                </a:solidFill>
                <a:latin typeface="Calibri"/>
              </a:rPr>
              <a:t>En</a:t>
            </a:r>
            <a:r>
              <a:rPr sz="1350" dirty="0">
                <a:solidFill>
                  <a:srgbClr val="1A1A2E"/>
                </a:solidFill>
                <a:latin typeface="Calibri"/>
              </a:rPr>
              <a:t> la </a:t>
            </a:r>
            <a:r>
              <a:rPr sz="1350" dirty="0" err="1">
                <a:solidFill>
                  <a:srgbClr val="1A1A2E"/>
                </a:solidFill>
                <a:latin typeface="Calibri"/>
              </a:rPr>
              <a:t>práctica</a:t>
            </a:r>
            <a:r>
              <a:rPr sz="1350" dirty="0">
                <a:solidFill>
                  <a:srgbClr val="1A1A2E"/>
                </a:solidFill>
                <a:latin typeface="Calibri"/>
              </a:rPr>
              <a:t>, la </a:t>
            </a:r>
            <a:r>
              <a:rPr sz="1350" dirty="0" err="1">
                <a:solidFill>
                  <a:srgbClr val="1A1A2E"/>
                </a:solidFill>
                <a:latin typeface="Calibri"/>
              </a:rPr>
              <a:t>controlabilidad</a:t>
            </a:r>
            <a:r>
              <a:rPr sz="1350" dirty="0">
                <a:solidFill>
                  <a:srgbClr val="1A1A2E"/>
                </a:solidFill>
                <a:latin typeface="Calibri"/>
              </a:rPr>
              <a:t> se </a:t>
            </a:r>
            <a:r>
              <a:rPr sz="1350" dirty="0" err="1">
                <a:solidFill>
                  <a:srgbClr val="1A1A2E"/>
                </a:solidFill>
                <a:latin typeface="Calibri"/>
              </a:rPr>
              <a:t>verifica</a:t>
            </a:r>
            <a:r>
              <a:rPr sz="1350" dirty="0">
                <a:solidFill>
                  <a:srgbClr val="1A1A2E"/>
                </a:solidFill>
                <a:latin typeface="Calibri"/>
              </a:rPr>
              <a:t> </a:t>
            </a:r>
            <a:r>
              <a:rPr sz="1350" dirty="0" err="1">
                <a:solidFill>
                  <a:srgbClr val="1A1A2E"/>
                </a:solidFill>
                <a:latin typeface="Calibri"/>
              </a:rPr>
              <a:t>numéricamente</a:t>
            </a:r>
            <a:r>
              <a:rPr sz="1350" dirty="0">
                <a:solidFill>
                  <a:srgbClr val="1A1A2E"/>
                </a:solidFill>
                <a:latin typeface="Calibri"/>
              </a:rPr>
              <a:t> </a:t>
            </a:r>
            <a:r>
              <a:rPr sz="1350" dirty="0" err="1">
                <a:solidFill>
                  <a:srgbClr val="1A1A2E"/>
                </a:solidFill>
                <a:latin typeface="Calibri"/>
              </a:rPr>
              <a:t>evaluando</a:t>
            </a:r>
            <a:r>
              <a:rPr sz="1350" dirty="0">
                <a:solidFill>
                  <a:srgbClr val="1A1A2E"/>
                </a:solidFill>
                <a:latin typeface="Calibri"/>
              </a:rPr>
              <a:t> </a:t>
            </a:r>
            <a:r>
              <a:rPr sz="1350" dirty="0" err="1">
                <a:solidFill>
                  <a:srgbClr val="1A1A2E"/>
                </a:solidFill>
                <a:latin typeface="Calibri"/>
              </a:rPr>
              <a:t>el</a:t>
            </a:r>
            <a:r>
              <a:rPr sz="1350" dirty="0">
                <a:solidFill>
                  <a:srgbClr val="1A1A2E"/>
                </a:solidFill>
                <a:latin typeface="Calibri"/>
              </a:rPr>
              <a:t> </a:t>
            </a:r>
            <a:r>
              <a:rPr sz="1350" dirty="0" err="1">
                <a:solidFill>
                  <a:srgbClr val="1A1A2E"/>
                </a:solidFill>
                <a:latin typeface="Calibri"/>
              </a:rPr>
              <a:t>rango</a:t>
            </a:r>
            <a:r>
              <a:rPr sz="1350" dirty="0">
                <a:solidFill>
                  <a:srgbClr val="1A1A2E"/>
                </a:solidFill>
                <a:latin typeface="Calibri"/>
              </a:rPr>
              <a:t> de C con los </a:t>
            </a:r>
            <a:r>
              <a:rPr sz="1350" dirty="0" err="1">
                <a:solidFill>
                  <a:srgbClr val="1A1A2E"/>
                </a:solidFill>
                <a:latin typeface="Calibri"/>
              </a:rPr>
              <a:t>parámetros</a:t>
            </a:r>
            <a:r>
              <a:rPr sz="1350" dirty="0">
                <a:solidFill>
                  <a:srgbClr val="1A1A2E"/>
                </a:solidFill>
                <a:latin typeface="Calibri"/>
              </a:rPr>
              <a:t> </a:t>
            </a:r>
            <a:r>
              <a:rPr sz="1350" dirty="0" err="1">
                <a:solidFill>
                  <a:srgbClr val="1A1A2E"/>
                </a:solidFill>
                <a:latin typeface="Calibri"/>
              </a:rPr>
              <a:t>nominales</a:t>
            </a:r>
            <a:endParaRPr sz="1350" dirty="0">
              <a:solidFill>
                <a:srgbClr val="1A1A2E"/>
              </a:solidFill>
              <a:latin typeface="Calibri"/>
            </a:endParaRPr>
          </a:p>
        </p:txBody>
      </p:sp>
      <p:sp>
        <p:nvSpPr>
          <p:cNvPr id="12" name="Rectangle 11"/>
          <p:cNvSpPr/>
          <p:nvPr/>
        </p:nvSpPr>
        <p:spPr>
          <a:xfrm>
            <a:off x="365760" y="5257800"/>
            <a:ext cx="11430000" cy="9144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303520"/>
            <a:ext cx="11155680" cy="822960"/>
          </a:xfrm>
          <a:prstGeom prst="rect">
            <a:avLst/>
          </a:prstGeom>
          <a:noFill/>
        </p:spPr>
        <p:txBody>
          <a:bodyPr wrap="square">
            <a:spAutoFit/>
          </a:bodyPr>
          <a:lstStyle/>
          <a:p>
            <a:pPr algn="l"/>
            <a:r>
              <a:rPr sz="1300">
                <a:solidFill>
                  <a:srgbClr val="1A3A6B"/>
                </a:solidFill>
                <a:latin typeface="Calibri"/>
              </a:rPr>
              <a:t>Conclusión: el sistema LTI equivalente es completamente observable (desde θm) y completamente controlable (desde vqs^r, vds^r). Esto garantiza que es teóricamente posible diseñar un observador de estado y un controlador por realimentación de estado con desempeño arbitrario, dentro de los límites físicos del sistema.</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77870"/>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m:t>ℂ</m:t>
                      </m:r>
                      <m:r>
                        <a:rPr lang="es-AR" sz="1400" i="1" smtClean="0"/>
                        <m:t>=</m:t>
                      </m:r>
                      <m:d>
                        <m:dPr>
                          <m:begChr m:val="["/>
                          <m:endChr m:val="]"/>
                          <m:ctrlPr>
                            <a:rPr lang="es-AR" sz="1400" i="1"/>
                          </m:ctrlPr>
                        </m:dPr>
                        <m:e>
                          <m:r>
                            <a:rPr lang="es-AR" sz="1400" i="1"/>
                            <m:t>𝐵</m:t>
                          </m:r>
                          <m:r>
                            <a:rPr lang="es-AR" sz="1400" i="1"/>
                            <m:t> </m:t>
                          </m:r>
                          <m:r>
                            <a:rPr lang="es-AR" sz="1400" i="1"/>
                            <m:t>𝐴𝐵</m:t>
                          </m:r>
                          <m:r>
                            <a:rPr lang="es-AR" sz="1400" i="1"/>
                            <m:t> </m:t>
                          </m:r>
                          <m:sSup>
                            <m:sSupPr>
                              <m:ctrlPr>
                                <a:rPr lang="es-AR" sz="1400" i="1"/>
                              </m:ctrlPr>
                            </m:sSupPr>
                            <m:e>
                              <m:r>
                                <a:rPr lang="es-AR" sz="1400" i="1"/>
                                <m:t>𝐴</m:t>
                              </m:r>
                            </m:e>
                            <m:sup>
                              <m:r>
                                <a:rPr lang="es-AR" sz="1400" i="1"/>
                                <m:t>2</m:t>
                              </m:r>
                            </m:sup>
                          </m:sSup>
                          <m:r>
                            <a:rPr lang="es-AR" sz="1400" i="1"/>
                            <m:t>𝐵</m:t>
                          </m:r>
                          <m:r>
                            <a:rPr lang="es-AR" sz="1400" i="1"/>
                            <m:t>  . . .  </m:t>
                          </m:r>
                          <m:sSup>
                            <m:sSupPr>
                              <m:ctrlPr>
                                <a:rPr lang="es-AR" sz="1400" i="1"/>
                              </m:ctrlPr>
                            </m:sSupPr>
                            <m:e>
                              <m:r>
                                <a:rPr lang="es-AR" sz="1400" i="1"/>
                                <m:t>𝐴</m:t>
                              </m:r>
                            </m:e>
                            <m:sup>
                              <m:r>
                                <a:rPr lang="es-AR" sz="1400" i="1"/>
                                <m:t>𝑛</m:t>
                              </m:r>
                              <m:r>
                                <a:rPr lang="es-AR" sz="1400" i="1"/>
                                <m:t>−1</m:t>
                              </m:r>
                            </m:sup>
                          </m:sSup>
                          <m:r>
                            <a:rPr lang="es-AR" sz="1400" i="1"/>
                            <m:t>𝐵</m:t>
                          </m:r>
                          <m:r>
                            <a:rPr lang="es-AR" sz="1400"/>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m:t>𝐴</m:t>
                      </m:r>
                      <m:r>
                        <a:rPr lang="es-AR" sz="1400" i="1"/>
                        <m:t>=</m:t>
                      </m:r>
                      <m:d>
                        <m:dPr>
                          <m:begChr m:val="["/>
                          <m:endChr m:val="]"/>
                          <m:ctrlPr>
                            <a:rPr lang="es-AR" sz="1400" i="1"/>
                          </m:ctrlPr>
                        </m:dPr>
                        <m:e>
                          <m:m>
                            <m:mPr>
                              <m:mcs>
                                <m:mc>
                                  <m:mcPr>
                                    <m:count m:val="5"/>
                                    <m:mcJc m:val="center"/>
                                  </m:mcPr>
                                </m:mc>
                              </m:mcs>
                              <m:ctrlPr>
                                <a:rPr lang="es-AR" sz="1400" i="1"/>
                              </m:ctrlPr>
                            </m:mPr>
                            <m:mr>
                              <m:e>
                                <m:r>
                                  <a:rPr lang="es-AR" sz="1400" i="1"/>
                                  <m:t>0</m:t>
                                </m:r>
                              </m:e>
                              <m:e>
                                <m:r>
                                  <a:rPr lang="es-AR" sz="1400" i="1"/>
                                  <m:t>1</m:t>
                                </m:r>
                              </m:e>
                              <m:e>
                                <m:r>
                                  <a:rPr lang="es-AR" sz="1400" i="1"/>
                                  <m:t>0</m:t>
                                </m:r>
                              </m:e>
                              <m:e>
                                <m:r>
                                  <a:rPr lang="es-AR" sz="1400" i="1"/>
                                  <m:t>0</m:t>
                                </m:r>
                              </m:e>
                              <m:e>
                                <m:r>
                                  <a:rPr lang="es-AR" sz="1400" i="1"/>
                                  <m:t>0</m:t>
                                </m:r>
                              </m:e>
                            </m:mr>
                            <m:mr>
                              <m:e>
                                <m:r>
                                  <a:rPr lang="es-AR" sz="1400" i="1"/>
                                  <m:t>0</m:t>
                                </m:r>
                              </m:e>
                              <m:e>
                                <m:box>
                                  <m:boxPr>
                                    <m:ctrlPr>
                                      <a:rPr lang="es-AR" sz="1400" i="1"/>
                                    </m:ctrlPr>
                                  </m:boxPr>
                                  <m:e>
                                    <m:argPr>
                                      <m:argSz m:val="-1"/>
                                    </m:argPr>
                                    <m:f>
                                      <m:fPr>
                                        <m:ctrlPr>
                                          <a:rPr lang="es-AR" sz="1400" i="1"/>
                                        </m:ctrlPr>
                                      </m:fPr>
                                      <m:num>
                                        <m:sSub>
                                          <m:sSubPr>
                                            <m:ctrlPr>
                                              <a:rPr lang="es-AR" sz="1400" i="1"/>
                                            </m:ctrlPr>
                                          </m:sSubPr>
                                          <m:e>
                                            <m:r>
                                              <a:rPr lang="es-AR" sz="1400" i="1"/>
                                              <m:t>𝑏</m:t>
                                            </m:r>
                                          </m:e>
                                          <m:sub>
                                            <m:r>
                                              <a:rPr lang="es-AR" sz="1400" i="1"/>
                                              <m:t>𝑒𝑞</m:t>
                                            </m:r>
                                          </m:sub>
                                        </m:sSub>
                                      </m:num>
                                      <m:den>
                                        <m:sSub>
                                          <m:sSubPr>
                                            <m:ctrlPr>
                                              <a:rPr lang="es-AR" sz="1400" i="1"/>
                                            </m:ctrlPr>
                                          </m:sSubPr>
                                          <m:e>
                                            <m:r>
                                              <a:rPr lang="es-AR" sz="1400" i="1"/>
                                              <m:t>𝐽</m:t>
                                            </m:r>
                                          </m:e>
                                          <m:sub>
                                            <m:r>
                                              <a:rPr lang="es-AR" sz="1400" i="1"/>
                                              <m:t>𝑒𝑞</m:t>
                                            </m:r>
                                          </m:sub>
                                        </m:sSub>
                                      </m:den>
                                    </m:f>
                                  </m:e>
                                </m:box>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r>
                                          <a:rPr lang="es-AR" sz="1400" i="1"/>
                                          <m:t>2</m:t>
                                        </m:r>
                                        <m:sSub>
                                          <m:sSubPr>
                                            <m:ctrlPr>
                                              <a:rPr lang="es-AR" sz="1400" i="1"/>
                                            </m:ctrlPr>
                                          </m:sSubPr>
                                          <m:e>
                                            <m:r>
                                              <a:rPr lang="es-AR" sz="1400" i="1"/>
                                              <m:t>𝐽</m:t>
                                            </m:r>
                                          </m:e>
                                          <m:sub>
                                            <m:r>
                                              <a:rPr lang="es-AR" sz="1400" i="1"/>
                                              <m:t>𝑒𝑞</m:t>
                                            </m:r>
                                          </m:sub>
                                        </m:sSub>
                                      </m:den>
                                    </m:f>
                                  </m:e>
                                </m:box>
                              </m:e>
                              <m:e>
                                <m:box>
                                  <m:boxPr>
                                    <m:ctrlPr>
                                      <a:rPr lang="es-AR" sz="1400" i="1"/>
                                    </m:ctrlPr>
                                  </m:boxPr>
                                  <m:e>
                                    <m:argPr>
                                      <m:argSz m:val="-1"/>
                                    </m:argPr>
                                    <m:r>
                                      <a:rPr lang="es-AR" sz="1400" i="1"/>
                                      <m:t>−</m:t>
                                    </m:r>
                                    <m:f>
                                      <m:fPr>
                                        <m:ctrlPr>
                                          <a:rPr lang="es-AR" sz="1400" i="1"/>
                                        </m:ctrlPr>
                                      </m:fPr>
                                      <m:num>
                                        <m:r>
                                          <a:rPr lang="es-AR" sz="1400" i="1"/>
                                          <m:t>𝑔</m:t>
                                        </m:r>
                                        <m:r>
                                          <a:rPr lang="es-AR" sz="1400" i="1"/>
                                          <m:t> </m:t>
                                        </m:r>
                                        <m:sSub>
                                          <m:sSubPr>
                                            <m:ctrlPr>
                                              <a:rPr lang="es-AR" sz="1400" i="1"/>
                                            </m:ctrlPr>
                                          </m:sSubPr>
                                          <m:e>
                                            <m:r>
                                              <a:rPr lang="es-AR" sz="1400" i="1"/>
                                              <m:t>𝑘</m:t>
                                            </m:r>
                                          </m:e>
                                          <m:sub>
                                            <m:r>
                                              <a:rPr lang="es-AR" sz="1400" i="1"/>
                                              <m:t>𝑙</m:t>
                                            </m:r>
                                          </m:sub>
                                        </m:sSub>
                                      </m:num>
                                      <m:den>
                                        <m:r>
                                          <a:rPr lang="es-AR" sz="1400" i="1"/>
                                          <m:t>𝑟</m:t>
                                        </m:r>
                                        <m:r>
                                          <a:rPr lang="es-AR" sz="1400" i="1"/>
                                          <m:t> </m:t>
                                        </m:r>
                                        <m:sSub>
                                          <m:sSubPr>
                                            <m:ctrlPr>
                                              <a:rPr lang="es-AR" sz="1400" i="1"/>
                                            </m:ctrlPr>
                                          </m:sSubPr>
                                          <m:e>
                                            <m:r>
                                              <a:rPr lang="es-AR" sz="1400" i="1"/>
                                              <m:t>𝐽</m:t>
                                            </m:r>
                                          </m:e>
                                          <m:sub>
                                            <m:r>
                                              <a:rPr lang="es-AR" sz="1400" i="1"/>
                                              <m:t>𝑒𝑞</m:t>
                                            </m:r>
                                          </m:sub>
                                        </m:sSub>
                                      </m:den>
                                    </m:f>
                                  </m:e>
                                </m:box>
                              </m:e>
                              <m:e>
                                <m:box>
                                  <m:boxPr>
                                    <m:ctrlPr>
                                      <a:rPr lang="es-AR" sz="1400" i="1"/>
                                    </m:ctrlPr>
                                  </m:boxPr>
                                  <m:e>
                                    <m:argPr>
                                      <m:argSz m:val="-1"/>
                                    </m:argPr>
                                    <m:f>
                                      <m:fPr>
                                        <m:ctrlPr>
                                          <a:rPr lang="es-AR" sz="1400" i="1"/>
                                        </m:ctrlPr>
                                      </m:fPr>
                                      <m:num>
                                        <m:r>
                                          <a:rPr lang="es-AR" sz="1400" i="1"/>
                                          <m:t>1</m:t>
                                        </m:r>
                                      </m:num>
                                      <m:den>
                                        <m:sSub>
                                          <m:sSubPr>
                                            <m:ctrlPr>
                                              <a:rPr lang="es-AR" sz="1400" i="1"/>
                                            </m:ctrlPr>
                                          </m:sSubPr>
                                          <m:e>
                                            <m:r>
                                              <a:rPr lang="es-AR" sz="1400" i="1"/>
                                              <m:t>𝐽</m:t>
                                            </m:r>
                                          </m:e>
                                          <m:sub>
                                            <m:r>
                                              <a:rPr lang="es-AR" sz="1400" i="1"/>
                                              <m:t>𝑒𝑞</m:t>
                                            </m:r>
                                          </m:sub>
                                        </m:sSub>
                                      </m:den>
                                    </m:f>
                                  </m:e>
                                </m:box>
                              </m:e>
                            </m:mr>
                            <m:mr>
                              <m:e>
                                <m:r>
                                  <a:rPr lang="es-AR" sz="1400" i="1"/>
                                  <m:t>0</m:t>
                                </m:r>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𝑃</m:t>
                                            </m:r>
                                          </m:e>
                                          <m:sub>
                                            <m:r>
                                              <a:rPr lang="es-AR" sz="1400" i="1"/>
                                              <m:t>𝑝</m:t>
                                            </m:r>
                                          </m:sub>
                                        </m:sSub>
                                        <m:sSubSup>
                                          <m:sSubSupPr>
                                            <m:ctrlPr>
                                              <a:rPr lang="es-AR" sz="1400" i="1"/>
                                            </m:ctrlPr>
                                          </m:sSubSupPr>
                                          <m:e>
                                            <m:r>
                                              <a:rPr lang="es-AR" sz="1400" i="1"/>
                                              <m:t>𝜆</m:t>
                                            </m:r>
                                          </m:e>
                                          <m:sub>
                                            <m:r>
                                              <a:rPr lang="es-AR" sz="1400" i="1"/>
                                              <m:t>𝑚</m:t>
                                            </m:r>
                                          </m:sub>
                                          <m:sup>
                                            <m:r>
                                              <a:rPr lang="es-AR" sz="1400" i="1"/>
                                              <m:t>′</m:t>
                                            </m:r>
                                            <m:r>
                                              <a:rPr lang="es-AR" sz="1400" i="1"/>
                                              <m:t>𝑟</m:t>
                                            </m:r>
                                          </m:sup>
                                        </m:sSubSup>
                                      </m:num>
                                      <m:den>
                                        <m:sSub>
                                          <m:sSubPr>
                                            <m:ctrlPr>
                                              <a:rPr lang="es-AR" sz="1400" i="1"/>
                                            </m:ctrlPr>
                                          </m:sSubPr>
                                          <m:e>
                                            <m:r>
                                              <a:rPr lang="es-AR" sz="1400" i="1"/>
                                              <m:t>𝐿</m:t>
                                            </m:r>
                                          </m:e>
                                          <m:sub>
                                            <m:r>
                                              <a:rPr lang="es-AR" sz="1400" i="1"/>
                                              <m:t>𝑞</m:t>
                                            </m:r>
                                          </m:sub>
                                        </m:sSub>
                                      </m:den>
                                    </m:f>
                                  </m:e>
                                </m:box>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𝑅</m:t>
                                            </m:r>
                                          </m:e>
                                          <m:sub>
                                            <m:r>
                                              <a:rPr lang="es-AR" sz="1400" i="1"/>
                                              <m:t>𝑠</m:t>
                                            </m:r>
                                          </m:sub>
                                        </m:sSub>
                                      </m:num>
                                      <m:den>
                                        <m:sSub>
                                          <m:sSubPr>
                                            <m:ctrlPr>
                                              <a:rPr lang="es-AR" sz="1400" i="1"/>
                                            </m:ctrlPr>
                                          </m:sSubPr>
                                          <m:e>
                                            <m:r>
                                              <a:rPr lang="es-AR" sz="1400" i="1"/>
                                              <m:t>𝐿</m:t>
                                            </m:r>
                                          </m:e>
                                          <m:sub>
                                            <m:r>
                                              <a:rPr lang="es-AR" sz="1400" i="1"/>
                                              <m:t>𝑞</m:t>
                                            </m:r>
                                          </m:sub>
                                        </m:sSub>
                                      </m:den>
                                    </m:f>
                                  </m:e>
                                </m:box>
                              </m:e>
                              <m:e>
                                <m:r>
                                  <a:rPr lang="es-AR" sz="1400" i="1"/>
                                  <m:t>0</m:t>
                                </m:r>
                              </m:e>
                              <m:e>
                                <m:r>
                                  <a:rPr lang="es-AR" sz="1400" i="1"/>
                                  <m:t>0</m:t>
                                </m:r>
                              </m:e>
                            </m:mr>
                            <m:mr>
                              <m:e>
                                <m:r>
                                  <a:rPr lang="es-AR" sz="1400" i="1"/>
                                  <m:t>0</m:t>
                                </m:r>
                              </m:e>
                              <m:e>
                                <m:r>
                                  <a:rPr lang="es-AR" sz="1400" i="1"/>
                                  <m:t>0</m:t>
                                </m:r>
                              </m:e>
                              <m:e>
                                <m:r>
                                  <a:rPr lang="es-AR" sz="1400" i="1"/>
                                  <m:t>0</m:t>
                                </m:r>
                              </m:e>
                              <m:e>
                                <m:box>
                                  <m:boxPr>
                                    <m:ctrlPr>
                                      <a:rPr lang="es-AR" sz="1400" i="1"/>
                                    </m:ctrlPr>
                                  </m:boxPr>
                                  <m:e>
                                    <m:argPr>
                                      <m:argSz m:val="-1"/>
                                    </m:argPr>
                                    <m:r>
                                      <a:rPr lang="es-AR" sz="1400" i="1"/>
                                      <m:t>−</m:t>
                                    </m:r>
                                    <m:f>
                                      <m:fPr>
                                        <m:ctrlPr>
                                          <a:rPr lang="es-AR" sz="1400" i="1"/>
                                        </m:ctrlPr>
                                      </m:fPr>
                                      <m:num>
                                        <m:sSub>
                                          <m:sSubPr>
                                            <m:ctrlPr>
                                              <a:rPr lang="es-AR" sz="1400" i="1"/>
                                            </m:ctrlPr>
                                          </m:sSubPr>
                                          <m:e>
                                            <m:r>
                                              <a:rPr lang="es-AR" sz="1400" i="1"/>
                                              <m:t>𝑅</m:t>
                                            </m:r>
                                          </m:e>
                                          <m:sub>
                                            <m:r>
                                              <a:rPr lang="es-AR" sz="1400" i="1"/>
                                              <m:t>𝑠</m:t>
                                            </m:r>
                                          </m:sub>
                                        </m:sSub>
                                      </m:num>
                                      <m:den>
                                        <m:sSub>
                                          <m:sSubPr>
                                            <m:ctrlPr>
                                              <a:rPr lang="es-AR" sz="1400" i="1"/>
                                            </m:ctrlPr>
                                          </m:sSubPr>
                                          <m:e>
                                            <m:r>
                                              <a:rPr lang="es-AR" sz="1400" i="1"/>
                                              <m:t>𝐿</m:t>
                                            </m:r>
                                          </m:e>
                                          <m:sub>
                                            <m:r>
                                              <a:rPr lang="es-AR" sz="1400" i="1"/>
                                              <m:t>𝑑</m:t>
                                            </m:r>
                                          </m:sub>
                                        </m:sSub>
                                      </m:den>
                                    </m:f>
                                  </m:e>
                                </m:box>
                              </m:e>
                              <m:e>
                                <m:r>
                                  <a:rPr lang="es-AR" sz="1400" i="1"/>
                                  <m:t>0</m:t>
                                </m:r>
                              </m:e>
                            </m:mr>
                            <m:mr>
                              <m:e>
                                <m:r>
                                  <a:rPr lang="es-AR" sz="1400" i="1"/>
                                  <m:t>0</m:t>
                                </m:r>
                              </m:e>
                              <m:e>
                                <m:r>
                                  <a:rPr lang="es-AR" sz="1400" i="1"/>
                                  <m:t>0</m:t>
                                </m:r>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𝑅</m:t>
                                            </m:r>
                                          </m:e>
                                          <m:sub>
                                            <m:r>
                                              <a:rPr lang="es-AR" sz="1400" i="1"/>
                                              <m:t>𝑠</m:t>
                                            </m:r>
                                          </m:sub>
                                        </m:sSub>
                                      </m:num>
                                      <m:den>
                                        <m:r>
                                          <a:rPr lang="es-AR" sz="1400" i="1"/>
                                          <m:t>2</m:t>
                                        </m:r>
                                      </m:den>
                                    </m:f>
                                  </m:e>
                                </m:box>
                              </m:e>
                              <m:e>
                                <m:box>
                                  <m:boxPr>
                                    <m:ctrlPr>
                                      <a:rPr lang="es-AR" sz="1400" i="1"/>
                                    </m:ctrlPr>
                                  </m:boxPr>
                                  <m:e>
                                    <m:argPr>
                                      <m:argSz m:val="-1"/>
                                    </m:argPr>
                                    <m:f>
                                      <m:fPr>
                                        <m:ctrlPr>
                                          <a:rPr lang="es-AR" sz="1400" i="1"/>
                                        </m:ctrlPr>
                                      </m:fPr>
                                      <m:num>
                                        <m:r>
                                          <a:rPr lang="es-AR" sz="1400" i="1"/>
                                          <m:t>3</m:t>
                                        </m:r>
                                        <m:sSub>
                                          <m:sSubPr>
                                            <m:ctrlPr>
                                              <a:rPr lang="es-AR" sz="1400" i="1"/>
                                            </m:ctrlPr>
                                          </m:sSubPr>
                                          <m:e>
                                            <m:r>
                                              <a:rPr lang="es-AR" sz="1400" i="1"/>
                                              <m:t>𝑅</m:t>
                                            </m:r>
                                          </m:e>
                                          <m:sub>
                                            <m:r>
                                              <a:rPr lang="es-AR" sz="1400" i="1"/>
                                              <m:t>𝑠</m:t>
                                            </m:r>
                                          </m:sub>
                                        </m:sSub>
                                      </m:num>
                                      <m:den>
                                        <m:r>
                                          <a:rPr lang="es-AR" sz="1400" i="1"/>
                                          <m:t>2</m:t>
                                        </m:r>
                                      </m:den>
                                    </m:f>
                                  </m:e>
                                </m:box>
                              </m:e>
                              <m:e>
                                <m:box>
                                  <m:boxPr>
                                    <m:ctrlPr>
                                      <a:rPr lang="es-AR" sz="1400" i="1"/>
                                    </m:ctrlPr>
                                  </m:boxPr>
                                  <m:e>
                                    <m:argPr>
                                      <m:argSz m:val="-1"/>
                                    </m:argPr>
                                    <m:r>
                                      <a:rPr lang="es-AR" sz="1400" i="1"/>
                                      <m:t>−</m:t>
                                    </m:r>
                                    <m:f>
                                      <m:fPr>
                                        <m:ctrlPr>
                                          <a:rPr lang="es-AR" sz="1400" i="1"/>
                                        </m:ctrlPr>
                                      </m:fPr>
                                      <m:num>
                                        <m:r>
                                          <a:rPr lang="es-AR" sz="1400" i="1"/>
                                          <m:t>1</m:t>
                                        </m:r>
                                      </m:num>
                                      <m:den>
                                        <m:sSub>
                                          <m:sSubPr>
                                            <m:ctrlPr>
                                              <a:rPr lang="es-AR" sz="1400" i="1"/>
                                            </m:ctrlPr>
                                          </m:sSubPr>
                                          <m:e>
                                            <m:r>
                                              <a:rPr lang="es-AR" sz="1400" i="1"/>
                                              <m:t>𝑅</m:t>
                                            </m:r>
                                          </m:e>
                                          <m:sub>
                                            <m:r>
                                              <a:rPr lang="es-AR" sz="1400" i="1"/>
                                              <m:t>𝑡𝑠</m:t>
                                            </m:r>
                                            <m:r>
                                              <a:rPr lang="es-AR" sz="1400" i="1"/>
                                              <m:t>−</m:t>
                                            </m:r>
                                            <m:r>
                                              <a:rPr lang="es-AR" sz="1400" i="1"/>
                                              <m:t>𝑎𝑚𝑏</m:t>
                                            </m:r>
                                          </m:sub>
                                        </m:sSub>
                                        <m:sSub>
                                          <m:sSubPr>
                                            <m:ctrlPr>
                                              <a:rPr lang="es-AR" sz="1400" i="1"/>
                                            </m:ctrlPr>
                                          </m:sSubPr>
                                          <m:e>
                                            <m:r>
                                              <a:rPr lang="es-AR" sz="1400" i="1"/>
                                              <m:t>𝐶</m:t>
                                            </m:r>
                                          </m:e>
                                          <m:sub>
                                            <m:r>
                                              <a:rPr lang="es-AR" sz="1400" i="1"/>
                                              <m:t>𝑡</m:t>
                                            </m:r>
                                          </m:sub>
                                        </m:sSub>
                                      </m:den>
                                    </m:f>
                                  </m:e>
                                </m:box>
                              </m:e>
                            </m:mr>
                          </m:m>
                        </m:e>
                      </m:d>
                      <m:r>
                        <a:rPr lang="es-AR" sz="1400" i="1"/>
                        <m:t>,  </m:t>
                      </m:r>
                      <m:r>
                        <a:rPr lang="es-AR" sz="1400" i="1"/>
                        <m:t>𝐵</m:t>
                      </m:r>
                      <m:r>
                        <a:rPr lang="es-AR" sz="1400" i="1"/>
                        <m:t>=</m:t>
                      </m:r>
                      <m:d>
                        <m:dPr>
                          <m:begChr m:val="["/>
                          <m:endChr m:val="]"/>
                          <m:ctrlPr>
                            <a:rPr lang="es-AR" sz="1400" i="1"/>
                          </m:ctrlPr>
                        </m:dPr>
                        <m:e>
                          <m:m>
                            <m:mPr>
                              <m:mcs>
                                <m:mc>
                                  <m:mcPr>
                                    <m:count m:val="1"/>
                                    <m:mcJc m:val="center"/>
                                  </m:mcPr>
                                </m:mc>
                              </m:mcs>
                              <m:ctrlPr>
                                <a:rPr lang="es-AR" sz="1400" i="1"/>
                              </m:ctrlPr>
                            </m:mPr>
                            <m:mr>
                              <m:e>
                                <m:r>
                                  <a:rPr lang="es-AR" sz="1400" i="1"/>
                                  <m:t>0</m:t>
                                </m:r>
                              </m:e>
                            </m:mr>
                            <m:mr>
                              <m:e>
                                <m:r>
                                  <a:rPr lang="es-AR" sz="1400" i="1"/>
                                  <m:t>0</m:t>
                                </m:r>
                              </m:e>
                            </m:mr>
                            <m:mr>
                              <m:e>
                                <m:m>
                                  <m:mPr>
                                    <m:mcs>
                                      <m:mc>
                                        <m:mcPr>
                                          <m:count m:val="1"/>
                                          <m:mcJc m:val="center"/>
                                        </m:mcPr>
                                      </m:mc>
                                    </m:mcs>
                                    <m:ctrlPr>
                                      <a:rPr lang="es-AR" sz="1400" i="1"/>
                                    </m:ctrlPr>
                                  </m:mPr>
                                  <m:mr>
                                    <m:e>
                                      <m:f>
                                        <m:fPr>
                                          <m:ctrlPr>
                                            <a:rPr lang="es-AR" sz="1400" i="1"/>
                                          </m:ctrlPr>
                                        </m:fPr>
                                        <m:num>
                                          <m:r>
                                            <a:rPr lang="es-AR" sz="1400" i="1"/>
                                            <m:t>1</m:t>
                                          </m:r>
                                        </m:num>
                                        <m:den>
                                          <m:sSub>
                                            <m:sSubPr>
                                              <m:ctrlPr>
                                                <a:rPr lang="es-AR" sz="1400" i="1"/>
                                              </m:ctrlPr>
                                            </m:sSubPr>
                                            <m:e>
                                              <m:r>
                                                <a:rPr lang="es-AR" sz="1400" i="1"/>
                                                <m:t>𝐿</m:t>
                                              </m:r>
                                            </m:e>
                                            <m:sub>
                                              <m:r>
                                                <a:rPr lang="es-AR" sz="1400" i="1"/>
                                                <m:t>𝑞</m:t>
                                              </m:r>
                                            </m:sub>
                                          </m:sSub>
                                        </m:den>
                                      </m:f>
                                    </m:e>
                                  </m:mr>
                                  <m:mr>
                                    <m:e>
                                      <m:r>
                                        <a:rPr lang="es-AR" sz="1400" i="1"/>
                                        <m:t>0</m:t>
                                      </m:r>
                                    </m:e>
                                  </m:mr>
                                  <m:mr>
                                    <m:e>
                                      <m:r>
                                        <a:rPr lang="es-AR" sz="1400" i="1"/>
                                        <m:t>0</m:t>
                                      </m:r>
                                    </m:e>
                                  </m:mr>
                                </m:m>
                              </m:e>
                            </m:mr>
                          </m:m>
                        </m:e>
                      </m:d>
                    </m:oMath>
                  </m:oMathPara>
                </a14:m>
                <a:endParaRPr sz="1400" b="1" dirty="0">
                  <a:solidFill>
                    <a:srgbClr val="1B6B2A"/>
                  </a:solidFill>
                  <a:latin typeface="Calibri"/>
                </a:endParaRPr>
              </a:p>
            </p:txBody>
          </p:sp>
        </mc:Choice>
        <mc:Fallback>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77870"/>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88D997F0-F44F-4854-97B1-8F21234D83DE}"/>
                  </a:ext>
                </a:extLst>
              </p:cNvPr>
              <p:cNvSpPr txBox="1"/>
              <p:nvPr/>
            </p:nvSpPr>
            <p:spPr>
              <a:xfrm>
                <a:off x="365759" y="3106223"/>
                <a:ext cx="11672359" cy="493597"/>
              </a:xfrm>
              <a:prstGeom prst="rect">
                <a:avLst/>
              </a:prstGeom>
              <a:noFill/>
            </p:spPr>
            <p:txBody>
              <a:bodyPr wrap="square">
                <a:spAutoFit/>
              </a:bodyPr>
              <a:lstStyle/>
              <a:p>
                <a:pPr algn="just">
                  <a:lnSpc>
                    <a:spcPct val="107000"/>
                  </a:lnSpc>
                  <a:spcBef>
                    <a:spcPts val="600"/>
                  </a:spcBef>
                  <a:spcAft>
                    <a:spcPts val="800"/>
                  </a:spcAft>
                </a:pPr>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 </m:t>
                    </m:r>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65759" y="3106223"/>
                <a:ext cx="11672359" cy="493597"/>
              </a:xfrm>
              <a:prstGeom prst="rect">
                <a:avLst/>
              </a:prstGeom>
              <a:blipFill>
                <a:blip r:embed="rId3"/>
                <a:stretch>
                  <a:fillRect b="-9877"/>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D6F130A-FBC4-4904-BB45-D397134FCF1C}"/>
                  </a:ext>
                </a:extLst>
              </p:cNvPr>
              <p:cNvSpPr txBox="1"/>
              <p:nvPr/>
            </p:nvSpPr>
            <p:spPr>
              <a:xfrm>
                <a:off x="3497803" y="3447974"/>
                <a:ext cx="6143346" cy="947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oMath>
                  </m:oMathPara>
                </a14:m>
                <a:endParaRPr lang="es-AR" dirty="0">
                  <a:solidFill>
                    <a:schemeClr val="tx1"/>
                  </a:solidFill>
                </a:endParaRPr>
              </a:p>
            </p:txBody>
          </p:sp>
        </mc:Choice>
        <mc:Fallback>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497803" y="3447974"/>
                <a:ext cx="6143346" cy="947311"/>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42381" y="3751661"/>
            <a:ext cx="11672360" cy="803870"/>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65760" y="777240"/>
            <a:ext cx="11430000" cy="621792"/>
          </a:xfrm>
          <a:prstGeom prst="rect">
            <a:avLst/>
          </a:prstGeom>
          <a:noFill/>
        </p:spPr>
        <p:txBody>
          <a:bodyPr wrap="square">
            <a:spAutoFit/>
          </a:bodyPr>
          <a:lstStyle/>
          <a:p>
            <a:pPr algn="l"/>
            <a:r>
              <a:rPr sz="1400" b="0" i="0">
                <a:solidFill>
                  <a:srgbClr val="1A1A2E"/>
                </a:solidFill>
                <a:latin typeface="Calibri"/>
              </a:rPr>
              <a:t>Criterio de Kalman: un sistema LTI de orden n con p entradas es completamente controlable si el rango de la matriz de controlabilidad C es n.</a:t>
            </a:r>
          </a:p>
        </p:txBody>
      </p:sp>
      <p:sp>
        <p:nvSpPr>
          <p:cNvPr id="11" name="TextBox 10"/>
          <p:cNvSpPr txBox="1"/>
          <p:nvPr/>
        </p:nvSpPr>
        <p:spPr>
          <a:xfrm>
            <a:off x="365759" y="4153596"/>
            <a:ext cx="11430000" cy="2560320"/>
          </a:xfrm>
          <a:prstGeom prst="rect">
            <a:avLst/>
          </a:prstGeom>
          <a:noFill/>
        </p:spPr>
        <p:txBody>
          <a:bodyPr wrap="square">
            <a:spAutoFit/>
          </a:bodyPr>
          <a:lstStyle/>
          <a:p>
            <a:r>
              <a:rPr sz="1350" dirty="0">
                <a:solidFill>
                  <a:srgbClr val="1A1A2E"/>
                </a:solidFill>
                <a:latin typeface="Calibri"/>
              </a:rPr>
              <a:t>Con dos entradas </a:t>
            </a:r>
            <a:r>
              <a:rPr sz="1350" dirty="0" err="1">
                <a:solidFill>
                  <a:srgbClr val="1A1A2E"/>
                </a:solidFill>
                <a:latin typeface="Calibri"/>
              </a:rPr>
              <a:t>independientes</a:t>
            </a:r>
            <a:r>
              <a:rPr sz="1350" dirty="0">
                <a:solidFill>
                  <a:srgbClr val="1A1A2E"/>
                </a:solidFill>
                <a:latin typeface="Calibri"/>
              </a:rPr>
              <a:t> (</a:t>
            </a:r>
            <a:r>
              <a:rPr sz="1350" dirty="0" err="1">
                <a:solidFill>
                  <a:srgbClr val="1A1A2E"/>
                </a:solidFill>
                <a:latin typeface="Calibri"/>
              </a:rPr>
              <a:t>vqs^r</a:t>
            </a:r>
            <a:r>
              <a:rPr sz="1350" dirty="0">
                <a:solidFill>
                  <a:srgbClr val="1A1A2E"/>
                </a:solidFill>
                <a:latin typeface="Calibri"/>
              </a:rPr>
              <a:t> y </a:t>
            </a:r>
            <a:r>
              <a:rPr sz="1350" dirty="0" err="1">
                <a:solidFill>
                  <a:srgbClr val="1A1A2E"/>
                </a:solidFill>
                <a:latin typeface="Calibri"/>
              </a:rPr>
              <a:t>vds^r</a:t>
            </a:r>
            <a:r>
              <a:rPr sz="1350" dirty="0">
                <a:solidFill>
                  <a:srgbClr val="1A1A2E"/>
                </a:solidFill>
                <a:latin typeface="Calibri"/>
              </a:rPr>
              <a:t>) es </a:t>
            </a:r>
            <a:r>
              <a:rPr sz="1350" dirty="0" err="1">
                <a:solidFill>
                  <a:srgbClr val="1A1A2E"/>
                </a:solidFill>
                <a:latin typeface="Calibri"/>
              </a:rPr>
              <a:t>posible</a:t>
            </a:r>
            <a:r>
              <a:rPr sz="1350" dirty="0">
                <a:solidFill>
                  <a:srgbClr val="1A1A2E"/>
                </a:solidFill>
                <a:latin typeface="Calibri"/>
              </a:rPr>
              <a:t> </a:t>
            </a:r>
            <a:r>
              <a:rPr sz="1350" dirty="0" err="1">
                <a:solidFill>
                  <a:srgbClr val="1A1A2E"/>
                </a:solidFill>
                <a:latin typeface="Calibri"/>
              </a:rPr>
              <a:t>controlar</a:t>
            </a:r>
            <a:r>
              <a:rPr sz="1350" dirty="0">
                <a:solidFill>
                  <a:srgbClr val="1A1A2E"/>
                </a:solidFill>
                <a:latin typeface="Calibri"/>
              </a:rPr>
              <a:t> </a:t>
            </a:r>
            <a:r>
              <a:rPr sz="1350" dirty="0" err="1">
                <a:solidFill>
                  <a:srgbClr val="1A1A2E"/>
                </a:solidFill>
                <a:latin typeface="Calibri"/>
              </a:rPr>
              <a:t>independientemente</a:t>
            </a:r>
            <a:r>
              <a:rPr sz="1350" dirty="0">
                <a:solidFill>
                  <a:srgbClr val="1A1A2E"/>
                </a:solidFill>
                <a:latin typeface="Calibri"/>
              </a:rPr>
              <a:t> los </a:t>
            </a:r>
            <a:r>
              <a:rPr sz="1350" dirty="0" err="1">
                <a:solidFill>
                  <a:srgbClr val="1A1A2E"/>
                </a:solidFill>
                <a:latin typeface="Calibri"/>
              </a:rPr>
              <a:t>ejes</a:t>
            </a:r>
            <a:r>
              <a:rPr sz="1350" dirty="0">
                <a:solidFill>
                  <a:srgbClr val="1A1A2E"/>
                </a:solidFill>
                <a:latin typeface="Calibri"/>
              </a:rPr>
              <a:t> q y d</a:t>
            </a:r>
          </a:p>
          <a:p>
            <a:pPr>
              <a:spcBef>
                <a:spcPts val="400"/>
              </a:spcBef>
            </a:pPr>
            <a:r>
              <a:rPr sz="1350" dirty="0">
                <a:solidFill>
                  <a:srgbClr val="1A1A2E"/>
                </a:solidFill>
                <a:latin typeface="Calibri"/>
              </a:rPr>
              <a:t>El </a:t>
            </a:r>
            <a:r>
              <a:rPr sz="1350" dirty="0" err="1">
                <a:solidFill>
                  <a:srgbClr val="1A1A2E"/>
                </a:solidFill>
                <a:latin typeface="Calibri"/>
              </a:rPr>
              <a:t>resultado</a:t>
            </a:r>
            <a:r>
              <a:rPr sz="1350" dirty="0">
                <a:solidFill>
                  <a:srgbClr val="1A1A2E"/>
                </a:solidFill>
                <a:latin typeface="Calibri"/>
              </a:rPr>
              <a:t> de </a:t>
            </a:r>
            <a:r>
              <a:rPr sz="1350" dirty="0" err="1">
                <a:solidFill>
                  <a:srgbClr val="1A1A2E"/>
                </a:solidFill>
                <a:latin typeface="Calibri"/>
              </a:rPr>
              <a:t>controlabilidad</a:t>
            </a:r>
            <a:r>
              <a:rPr sz="1350" dirty="0">
                <a:solidFill>
                  <a:srgbClr val="1A1A2E"/>
                </a:solidFill>
                <a:latin typeface="Calibri"/>
              </a:rPr>
              <a:t> </a:t>
            </a:r>
            <a:r>
              <a:rPr sz="1350" dirty="0" err="1">
                <a:solidFill>
                  <a:srgbClr val="1A1A2E"/>
                </a:solidFill>
                <a:latin typeface="Calibri"/>
              </a:rPr>
              <a:t>garantiza</a:t>
            </a:r>
            <a:r>
              <a:rPr sz="1350" dirty="0">
                <a:solidFill>
                  <a:srgbClr val="1A1A2E"/>
                </a:solidFill>
                <a:latin typeface="Calibri"/>
              </a:rPr>
              <a:t> que </a:t>
            </a:r>
            <a:r>
              <a:rPr sz="1350" dirty="0" err="1">
                <a:solidFill>
                  <a:srgbClr val="1A1A2E"/>
                </a:solidFill>
                <a:latin typeface="Calibri"/>
              </a:rPr>
              <a:t>todos</a:t>
            </a:r>
            <a:r>
              <a:rPr sz="1350" dirty="0">
                <a:solidFill>
                  <a:srgbClr val="1A1A2E"/>
                </a:solidFill>
                <a:latin typeface="Calibri"/>
              </a:rPr>
              <a:t> los </a:t>
            </a:r>
            <a:r>
              <a:rPr sz="1350" dirty="0" err="1">
                <a:solidFill>
                  <a:srgbClr val="1A1A2E"/>
                </a:solidFill>
                <a:latin typeface="Calibri"/>
              </a:rPr>
              <a:t>estados</a:t>
            </a:r>
            <a:r>
              <a:rPr sz="1350" dirty="0">
                <a:solidFill>
                  <a:srgbClr val="1A1A2E"/>
                </a:solidFill>
                <a:latin typeface="Calibri"/>
              </a:rPr>
              <a:t> </a:t>
            </a:r>
            <a:r>
              <a:rPr sz="1350" dirty="0" err="1">
                <a:solidFill>
                  <a:srgbClr val="1A1A2E"/>
                </a:solidFill>
                <a:latin typeface="Calibri"/>
              </a:rPr>
              <a:t>pueden</a:t>
            </a:r>
            <a:r>
              <a:rPr sz="1350" dirty="0">
                <a:solidFill>
                  <a:srgbClr val="1A1A2E"/>
                </a:solidFill>
                <a:latin typeface="Calibri"/>
              </a:rPr>
              <a:t> ser </a:t>
            </a:r>
            <a:r>
              <a:rPr sz="1350" dirty="0" err="1">
                <a:solidFill>
                  <a:srgbClr val="1A1A2E"/>
                </a:solidFill>
                <a:latin typeface="Calibri"/>
              </a:rPr>
              <a:t>llevados</a:t>
            </a:r>
            <a:r>
              <a:rPr sz="1350" dirty="0">
                <a:solidFill>
                  <a:srgbClr val="1A1A2E"/>
                </a:solidFill>
                <a:latin typeface="Calibri"/>
              </a:rPr>
              <a:t> a cero (</a:t>
            </a:r>
            <a:r>
              <a:rPr sz="1350" dirty="0" err="1">
                <a:solidFill>
                  <a:srgbClr val="1A1A2E"/>
                </a:solidFill>
                <a:latin typeface="Calibri"/>
              </a:rPr>
              <a:t>origen</a:t>
            </a:r>
            <a:r>
              <a:rPr sz="1350" dirty="0">
                <a:solidFill>
                  <a:srgbClr val="1A1A2E"/>
                </a:solidFill>
                <a:latin typeface="Calibri"/>
              </a:rPr>
              <a:t>) </a:t>
            </a:r>
            <a:r>
              <a:rPr sz="1350" dirty="0" err="1">
                <a:solidFill>
                  <a:srgbClr val="1A1A2E"/>
                </a:solidFill>
                <a:latin typeface="Calibri"/>
              </a:rPr>
              <a:t>en</a:t>
            </a:r>
            <a:r>
              <a:rPr sz="1350" dirty="0">
                <a:solidFill>
                  <a:srgbClr val="1A1A2E"/>
                </a:solidFill>
                <a:latin typeface="Calibri"/>
              </a:rPr>
              <a:t> </a:t>
            </a:r>
            <a:r>
              <a:rPr sz="1350" dirty="0" err="1">
                <a:solidFill>
                  <a:srgbClr val="1A1A2E"/>
                </a:solidFill>
                <a:latin typeface="Calibri"/>
              </a:rPr>
              <a:t>tiempo</a:t>
            </a:r>
            <a:r>
              <a:rPr sz="1350" dirty="0">
                <a:solidFill>
                  <a:srgbClr val="1A1A2E"/>
                </a:solidFill>
                <a:latin typeface="Calibri"/>
              </a:rPr>
              <a:t> </a:t>
            </a:r>
            <a:r>
              <a:rPr sz="1350" dirty="0" err="1">
                <a:solidFill>
                  <a:srgbClr val="1A1A2E"/>
                </a:solidFill>
                <a:latin typeface="Calibri"/>
              </a:rPr>
              <a:t>finito</a:t>
            </a:r>
            <a:endParaRPr sz="1350" dirty="0">
              <a:solidFill>
                <a:srgbClr val="1A1A2E"/>
              </a:solidFill>
              <a:latin typeface="Calibri"/>
            </a:endParaRPr>
          </a:p>
          <a:p>
            <a:pPr>
              <a:spcBef>
                <a:spcPts val="400"/>
              </a:spcBef>
            </a:pPr>
            <a:r>
              <a:rPr sz="1350" dirty="0" err="1">
                <a:solidFill>
                  <a:srgbClr val="1A1A2E"/>
                </a:solidFill>
                <a:latin typeface="Calibri"/>
              </a:rPr>
              <a:t>Permite</a:t>
            </a:r>
            <a:r>
              <a:rPr sz="1350" dirty="0">
                <a:solidFill>
                  <a:srgbClr val="1A1A2E"/>
                </a:solidFill>
                <a:latin typeface="Calibri"/>
              </a:rPr>
              <a:t> la </a:t>
            </a:r>
            <a:r>
              <a:rPr sz="1350" dirty="0" err="1">
                <a:solidFill>
                  <a:srgbClr val="1A1A2E"/>
                </a:solidFill>
                <a:latin typeface="Calibri"/>
              </a:rPr>
              <a:t>asignación</a:t>
            </a:r>
            <a:r>
              <a:rPr sz="1350" dirty="0">
                <a:solidFill>
                  <a:srgbClr val="1A1A2E"/>
                </a:solidFill>
                <a:latin typeface="Calibri"/>
              </a:rPr>
              <a:t> </a:t>
            </a:r>
            <a:r>
              <a:rPr sz="1350" dirty="0" err="1">
                <a:solidFill>
                  <a:srgbClr val="1A1A2E"/>
                </a:solidFill>
                <a:latin typeface="Calibri"/>
              </a:rPr>
              <a:t>arbitraria</a:t>
            </a:r>
            <a:r>
              <a:rPr sz="1350" dirty="0">
                <a:solidFill>
                  <a:srgbClr val="1A1A2E"/>
                </a:solidFill>
                <a:latin typeface="Calibri"/>
              </a:rPr>
              <a:t> de </a:t>
            </a:r>
            <a:r>
              <a:rPr sz="1350" dirty="0" err="1">
                <a:solidFill>
                  <a:srgbClr val="1A1A2E"/>
                </a:solidFill>
                <a:latin typeface="Calibri"/>
              </a:rPr>
              <a:t>todos</a:t>
            </a:r>
            <a:r>
              <a:rPr sz="1350" dirty="0">
                <a:solidFill>
                  <a:srgbClr val="1A1A2E"/>
                </a:solidFill>
                <a:latin typeface="Calibri"/>
              </a:rPr>
              <a:t> los polos del </a:t>
            </a:r>
            <a:r>
              <a:rPr sz="1350" dirty="0" err="1">
                <a:solidFill>
                  <a:srgbClr val="1A1A2E"/>
                </a:solidFill>
                <a:latin typeface="Calibri"/>
              </a:rPr>
              <a:t>sistema</a:t>
            </a:r>
            <a:r>
              <a:rPr sz="1350" dirty="0">
                <a:solidFill>
                  <a:srgbClr val="1A1A2E"/>
                </a:solidFill>
                <a:latin typeface="Calibri"/>
              </a:rPr>
              <a:t> </a:t>
            </a:r>
            <a:r>
              <a:rPr sz="1350" dirty="0" err="1">
                <a:solidFill>
                  <a:srgbClr val="1A1A2E"/>
                </a:solidFill>
                <a:latin typeface="Calibri"/>
              </a:rPr>
              <a:t>en</a:t>
            </a:r>
            <a:r>
              <a:rPr sz="1350" dirty="0">
                <a:solidFill>
                  <a:srgbClr val="1A1A2E"/>
                </a:solidFill>
                <a:latin typeface="Calibri"/>
              </a:rPr>
              <a:t> </a:t>
            </a:r>
            <a:r>
              <a:rPr sz="1350" dirty="0" err="1">
                <a:solidFill>
                  <a:srgbClr val="1A1A2E"/>
                </a:solidFill>
                <a:latin typeface="Calibri"/>
              </a:rPr>
              <a:t>lazo</a:t>
            </a:r>
            <a:r>
              <a:rPr sz="1350" dirty="0">
                <a:solidFill>
                  <a:srgbClr val="1A1A2E"/>
                </a:solidFill>
                <a:latin typeface="Calibri"/>
              </a:rPr>
              <a:t> </a:t>
            </a:r>
            <a:r>
              <a:rPr sz="1350" dirty="0" err="1">
                <a:solidFill>
                  <a:srgbClr val="1A1A2E"/>
                </a:solidFill>
                <a:latin typeface="Calibri"/>
              </a:rPr>
              <a:t>cerrado</a:t>
            </a:r>
            <a:r>
              <a:rPr sz="1350" dirty="0">
                <a:solidFill>
                  <a:srgbClr val="1A1A2E"/>
                </a:solidFill>
                <a:latin typeface="Calibri"/>
              </a:rPr>
              <a:t> </a:t>
            </a:r>
            <a:r>
              <a:rPr sz="1350" dirty="0" err="1">
                <a:solidFill>
                  <a:srgbClr val="1A1A2E"/>
                </a:solidFill>
                <a:latin typeface="Calibri"/>
              </a:rPr>
              <a:t>mediante</a:t>
            </a:r>
            <a:r>
              <a:rPr sz="1350" dirty="0">
                <a:solidFill>
                  <a:srgbClr val="1A1A2E"/>
                </a:solidFill>
                <a:latin typeface="Calibri"/>
              </a:rPr>
              <a:t> </a:t>
            </a:r>
            <a:r>
              <a:rPr sz="1350" dirty="0" err="1">
                <a:solidFill>
                  <a:srgbClr val="1A1A2E"/>
                </a:solidFill>
                <a:latin typeface="Calibri"/>
              </a:rPr>
              <a:t>realimentación</a:t>
            </a:r>
            <a:r>
              <a:rPr sz="1350" dirty="0">
                <a:solidFill>
                  <a:srgbClr val="1A1A2E"/>
                </a:solidFill>
                <a:latin typeface="Calibri"/>
              </a:rPr>
              <a:t> de </a:t>
            </a:r>
            <a:r>
              <a:rPr sz="1350" dirty="0" err="1">
                <a:solidFill>
                  <a:srgbClr val="1A1A2E"/>
                </a:solidFill>
                <a:latin typeface="Calibri"/>
              </a:rPr>
              <a:t>estado</a:t>
            </a:r>
            <a:endParaRPr sz="1350" dirty="0">
              <a:solidFill>
                <a:srgbClr val="1A1A2E"/>
              </a:solidFill>
              <a:latin typeface="Calibri"/>
            </a:endParaRPr>
          </a:p>
          <a:p>
            <a:pPr>
              <a:spcBef>
                <a:spcPts val="400"/>
              </a:spcBef>
            </a:pPr>
            <a:r>
              <a:rPr sz="1350" dirty="0" err="1">
                <a:solidFill>
                  <a:srgbClr val="1A1A2E"/>
                </a:solidFill>
                <a:latin typeface="Calibri"/>
              </a:rPr>
              <a:t>En</a:t>
            </a:r>
            <a:r>
              <a:rPr sz="1350" dirty="0">
                <a:solidFill>
                  <a:srgbClr val="1A1A2E"/>
                </a:solidFill>
                <a:latin typeface="Calibri"/>
              </a:rPr>
              <a:t> la </a:t>
            </a:r>
            <a:r>
              <a:rPr sz="1350" dirty="0" err="1">
                <a:solidFill>
                  <a:srgbClr val="1A1A2E"/>
                </a:solidFill>
                <a:latin typeface="Calibri"/>
              </a:rPr>
              <a:t>práctica</a:t>
            </a:r>
            <a:r>
              <a:rPr sz="1350" dirty="0">
                <a:solidFill>
                  <a:srgbClr val="1A1A2E"/>
                </a:solidFill>
                <a:latin typeface="Calibri"/>
              </a:rPr>
              <a:t>, la </a:t>
            </a:r>
            <a:r>
              <a:rPr sz="1350" dirty="0" err="1">
                <a:solidFill>
                  <a:srgbClr val="1A1A2E"/>
                </a:solidFill>
                <a:latin typeface="Calibri"/>
              </a:rPr>
              <a:t>controlabilidad</a:t>
            </a:r>
            <a:r>
              <a:rPr sz="1350" dirty="0">
                <a:solidFill>
                  <a:srgbClr val="1A1A2E"/>
                </a:solidFill>
                <a:latin typeface="Calibri"/>
              </a:rPr>
              <a:t> se </a:t>
            </a:r>
            <a:r>
              <a:rPr sz="1350" dirty="0" err="1">
                <a:solidFill>
                  <a:srgbClr val="1A1A2E"/>
                </a:solidFill>
                <a:latin typeface="Calibri"/>
              </a:rPr>
              <a:t>verifica</a:t>
            </a:r>
            <a:r>
              <a:rPr sz="1350" dirty="0">
                <a:solidFill>
                  <a:srgbClr val="1A1A2E"/>
                </a:solidFill>
                <a:latin typeface="Calibri"/>
              </a:rPr>
              <a:t> </a:t>
            </a:r>
            <a:r>
              <a:rPr sz="1350" dirty="0" err="1">
                <a:solidFill>
                  <a:srgbClr val="1A1A2E"/>
                </a:solidFill>
                <a:latin typeface="Calibri"/>
              </a:rPr>
              <a:t>numéricamente</a:t>
            </a:r>
            <a:r>
              <a:rPr sz="1350" dirty="0">
                <a:solidFill>
                  <a:srgbClr val="1A1A2E"/>
                </a:solidFill>
                <a:latin typeface="Calibri"/>
              </a:rPr>
              <a:t> </a:t>
            </a:r>
            <a:r>
              <a:rPr sz="1350" dirty="0" err="1">
                <a:solidFill>
                  <a:srgbClr val="1A1A2E"/>
                </a:solidFill>
                <a:latin typeface="Calibri"/>
              </a:rPr>
              <a:t>evaluando</a:t>
            </a:r>
            <a:r>
              <a:rPr sz="1350" dirty="0">
                <a:solidFill>
                  <a:srgbClr val="1A1A2E"/>
                </a:solidFill>
                <a:latin typeface="Calibri"/>
              </a:rPr>
              <a:t> </a:t>
            </a:r>
            <a:r>
              <a:rPr sz="1350" dirty="0" err="1">
                <a:solidFill>
                  <a:srgbClr val="1A1A2E"/>
                </a:solidFill>
                <a:latin typeface="Calibri"/>
              </a:rPr>
              <a:t>el</a:t>
            </a:r>
            <a:r>
              <a:rPr sz="1350" dirty="0">
                <a:solidFill>
                  <a:srgbClr val="1A1A2E"/>
                </a:solidFill>
                <a:latin typeface="Calibri"/>
              </a:rPr>
              <a:t> </a:t>
            </a:r>
            <a:r>
              <a:rPr sz="1350" dirty="0" err="1">
                <a:solidFill>
                  <a:srgbClr val="1A1A2E"/>
                </a:solidFill>
                <a:latin typeface="Calibri"/>
              </a:rPr>
              <a:t>rango</a:t>
            </a:r>
            <a:r>
              <a:rPr sz="1350" dirty="0">
                <a:solidFill>
                  <a:srgbClr val="1A1A2E"/>
                </a:solidFill>
                <a:latin typeface="Calibri"/>
              </a:rPr>
              <a:t> de C con los </a:t>
            </a:r>
            <a:r>
              <a:rPr sz="1350" dirty="0" err="1">
                <a:solidFill>
                  <a:srgbClr val="1A1A2E"/>
                </a:solidFill>
                <a:latin typeface="Calibri"/>
              </a:rPr>
              <a:t>parámetros</a:t>
            </a:r>
            <a:r>
              <a:rPr sz="1350" dirty="0">
                <a:solidFill>
                  <a:srgbClr val="1A1A2E"/>
                </a:solidFill>
                <a:latin typeface="Calibri"/>
              </a:rPr>
              <a:t> </a:t>
            </a:r>
            <a:r>
              <a:rPr sz="1350" dirty="0" err="1">
                <a:solidFill>
                  <a:srgbClr val="1A1A2E"/>
                </a:solidFill>
                <a:latin typeface="Calibri"/>
              </a:rPr>
              <a:t>nominales</a:t>
            </a:r>
            <a:endParaRPr sz="1350" dirty="0">
              <a:solidFill>
                <a:srgbClr val="1A1A2E"/>
              </a:solidFill>
              <a:latin typeface="Calibri"/>
            </a:endParaRPr>
          </a:p>
        </p:txBody>
      </p:sp>
      <p:sp>
        <p:nvSpPr>
          <p:cNvPr id="12" name="Rectangle 11"/>
          <p:cNvSpPr/>
          <p:nvPr/>
        </p:nvSpPr>
        <p:spPr>
          <a:xfrm>
            <a:off x="365760" y="5257800"/>
            <a:ext cx="11430000" cy="9144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303520"/>
            <a:ext cx="11155680" cy="822960"/>
          </a:xfrm>
          <a:prstGeom prst="rect">
            <a:avLst/>
          </a:prstGeom>
          <a:noFill/>
        </p:spPr>
        <p:txBody>
          <a:bodyPr wrap="square">
            <a:spAutoFit/>
          </a:bodyPr>
          <a:lstStyle/>
          <a:p>
            <a:pPr algn="l"/>
            <a:r>
              <a:rPr sz="1300" dirty="0" err="1">
                <a:solidFill>
                  <a:srgbClr val="1A3A6B"/>
                </a:solidFill>
                <a:latin typeface="Calibri"/>
              </a:rPr>
              <a:t>Conclusión</a:t>
            </a:r>
            <a:r>
              <a:rPr sz="1300" dirty="0">
                <a:solidFill>
                  <a:srgbClr val="1A3A6B"/>
                </a:solidFill>
                <a:latin typeface="Calibri"/>
              </a:rPr>
              <a:t>: </a:t>
            </a:r>
            <a:r>
              <a:rPr sz="1300" dirty="0" err="1">
                <a:solidFill>
                  <a:srgbClr val="1A3A6B"/>
                </a:solidFill>
                <a:latin typeface="Calibri"/>
              </a:rPr>
              <a:t>el</a:t>
            </a:r>
            <a:r>
              <a:rPr sz="1300" dirty="0">
                <a:solidFill>
                  <a:srgbClr val="1A3A6B"/>
                </a:solidFill>
                <a:latin typeface="Calibri"/>
              </a:rPr>
              <a:t> </a:t>
            </a:r>
            <a:r>
              <a:rPr sz="1300" dirty="0" err="1">
                <a:solidFill>
                  <a:srgbClr val="1A3A6B"/>
                </a:solidFill>
                <a:latin typeface="Calibri"/>
              </a:rPr>
              <a:t>sistema</a:t>
            </a:r>
            <a:r>
              <a:rPr sz="1300" dirty="0">
                <a:solidFill>
                  <a:srgbClr val="1A3A6B"/>
                </a:solidFill>
                <a:latin typeface="Calibri"/>
              </a:rPr>
              <a:t> LTI </a:t>
            </a:r>
            <a:r>
              <a:rPr sz="1300" dirty="0" err="1">
                <a:solidFill>
                  <a:srgbClr val="1A3A6B"/>
                </a:solidFill>
                <a:latin typeface="Calibri"/>
              </a:rPr>
              <a:t>equivalente</a:t>
            </a:r>
            <a:r>
              <a:rPr sz="1300" dirty="0">
                <a:solidFill>
                  <a:srgbClr val="1A3A6B"/>
                </a:solidFill>
                <a:latin typeface="Calibri"/>
              </a:rPr>
              <a:t> es </a:t>
            </a:r>
            <a:r>
              <a:rPr sz="1300" dirty="0" err="1">
                <a:solidFill>
                  <a:srgbClr val="1A3A6B"/>
                </a:solidFill>
                <a:latin typeface="Calibri"/>
              </a:rPr>
              <a:t>completamente</a:t>
            </a:r>
            <a:r>
              <a:rPr sz="1300" dirty="0">
                <a:solidFill>
                  <a:srgbClr val="1A3A6B"/>
                </a:solidFill>
                <a:latin typeface="Calibri"/>
              </a:rPr>
              <a:t> observable (</a:t>
            </a:r>
            <a:r>
              <a:rPr sz="1300" dirty="0" err="1">
                <a:solidFill>
                  <a:srgbClr val="1A3A6B"/>
                </a:solidFill>
                <a:latin typeface="Calibri"/>
              </a:rPr>
              <a:t>desde</a:t>
            </a:r>
            <a:r>
              <a:rPr sz="1300" dirty="0">
                <a:solidFill>
                  <a:srgbClr val="1A3A6B"/>
                </a:solidFill>
                <a:latin typeface="Calibri"/>
              </a:rPr>
              <a:t> </a:t>
            </a:r>
            <a:r>
              <a:rPr sz="1300" dirty="0" err="1">
                <a:solidFill>
                  <a:srgbClr val="1A3A6B"/>
                </a:solidFill>
                <a:latin typeface="Calibri"/>
              </a:rPr>
              <a:t>θm</a:t>
            </a:r>
            <a:r>
              <a:rPr sz="1300" dirty="0">
                <a:solidFill>
                  <a:srgbClr val="1A3A6B"/>
                </a:solidFill>
                <a:latin typeface="Calibri"/>
              </a:rPr>
              <a:t>) y </a:t>
            </a:r>
            <a:r>
              <a:rPr sz="1300" dirty="0" err="1">
                <a:solidFill>
                  <a:srgbClr val="1A3A6B"/>
                </a:solidFill>
                <a:latin typeface="Calibri"/>
              </a:rPr>
              <a:t>completamente</a:t>
            </a:r>
            <a:r>
              <a:rPr sz="1300" dirty="0">
                <a:solidFill>
                  <a:srgbClr val="1A3A6B"/>
                </a:solidFill>
                <a:latin typeface="Calibri"/>
              </a:rPr>
              <a:t> </a:t>
            </a:r>
            <a:r>
              <a:rPr sz="1300" dirty="0" err="1">
                <a:solidFill>
                  <a:srgbClr val="1A3A6B"/>
                </a:solidFill>
                <a:latin typeface="Calibri"/>
              </a:rPr>
              <a:t>controlable</a:t>
            </a:r>
            <a:r>
              <a:rPr sz="1300" dirty="0">
                <a:solidFill>
                  <a:srgbClr val="1A3A6B"/>
                </a:solidFill>
                <a:latin typeface="Calibri"/>
              </a:rPr>
              <a:t> (</a:t>
            </a:r>
            <a:r>
              <a:rPr sz="1300" dirty="0" err="1">
                <a:solidFill>
                  <a:srgbClr val="1A3A6B"/>
                </a:solidFill>
                <a:latin typeface="Calibri"/>
              </a:rPr>
              <a:t>desde</a:t>
            </a:r>
            <a:r>
              <a:rPr sz="1300" dirty="0">
                <a:solidFill>
                  <a:srgbClr val="1A3A6B"/>
                </a:solidFill>
                <a:latin typeface="Calibri"/>
              </a:rPr>
              <a:t> </a:t>
            </a:r>
            <a:r>
              <a:rPr sz="1300" dirty="0" err="1">
                <a:solidFill>
                  <a:srgbClr val="1A3A6B"/>
                </a:solidFill>
                <a:latin typeface="Calibri"/>
              </a:rPr>
              <a:t>vqs^r</a:t>
            </a:r>
            <a:r>
              <a:rPr sz="1300" dirty="0">
                <a:solidFill>
                  <a:srgbClr val="1A3A6B"/>
                </a:solidFill>
                <a:latin typeface="Calibri"/>
              </a:rPr>
              <a:t>, </a:t>
            </a:r>
            <a:r>
              <a:rPr sz="1300" dirty="0" err="1">
                <a:solidFill>
                  <a:srgbClr val="1A3A6B"/>
                </a:solidFill>
                <a:latin typeface="Calibri"/>
              </a:rPr>
              <a:t>vds^r</a:t>
            </a:r>
            <a:r>
              <a:rPr sz="1300" dirty="0">
                <a:solidFill>
                  <a:srgbClr val="1A3A6B"/>
                </a:solidFill>
                <a:latin typeface="Calibri"/>
              </a:rPr>
              <a:t>). </a:t>
            </a:r>
            <a:r>
              <a:rPr sz="1300" dirty="0" err="1">
                <a:solidFill>
                  <a:srgbClr val="1A3A6B"/>
                </a:solidFill>
                <a:latin typeface="Calibri"/>
              </a:rPr>
              <a:t>Esto</a:t>
            </a:r>
            <a:r>
              <a:rPr sz="1300" dirty="0">
                <a:solidFill>
                  <a:srgbClr val="1A3A6B"/>
                </a:solidFill>
                <a:latin typeface="Calibri"/>
              </a:rPr>
              <a:t> </a:t>
            </a:r>
            <a:r>
              <a:rPr sz="1300" dirty="0" err="1">
                <a:solidFill>
                  <a:srgbClr val="1A3A6B"/>
                </a:solidFill>
                <a:latin typeface="Calibri"/>
              </a:rPr>
              <a:t>garantiza</a:t>
            </a:r>
            <a:r>
              <a:rPr sz="1300" dirty="0">
                <a:solidFill>
                  <a:srgbClr val="1A3A6B"/>
                </a:solidFill>
                <a:latin typeface="Calibri"/>
              </a:rPr>
              <a:t> que es </a:t>
            </a:r>
            <a:r>
              <a:rPr sz="1300" dirty="0" err="1">
                <a:solidFill>
                  <a:srgbClr val="1A3A6B"/>
                </a:solidFill>
                <a:latin typeface="Calibri"/>
              </a:rPr>
              <a:t>teóricamente</a:t>
            </a:r>
            <a:r>
              <a:rPr sz="1300" dirty="0">
                <a:solidFill>
                  <a:srgbClr val="1A3A6B"/>
                </a:solidFill>
                <a:latin typeface="Calibri"/>
              </a:rPr>
              <a:t> </a:t>
            </a:r>
            <a:r>
              <a:rPr sz="1300" dirty="0" err="1">
                <a:solidFill>
                  <a:srgbClr val="1A3A6B"/>
                </a:solidFill>
                <a:latin typeface="Calibri"/>
              </a:rPr>
              <a:t>posible</a:t>
            </a:r>
            <a:r>
              <a:rPr sz="1300" dirty="0">
                <a:solidFill>
                  <a:srgbClr val="1A3A6B"/>
                </a:solidFill>
                <a:latin typeface="Calibri"/>
              </a:rPr>
              <a:t> </a:t>
            </a:r>
            <a:r>
              <a:rPr sz="1300" dirty="0" err="1">
                <a:solidFill>
                  <a:srgbClr val="1A3A6B"/>
                </a:solidFill>
                <a:latin typeface="Calibri"/>
              </a:rPr>
              <a:t>diseñar</a:t>
            </a:r>
            <a:r>
              <a:rPr sz="1300" dirty="0">
                <a:solidFill>
                  <a:srgbClr val="1A3A6B"/>
                </a:solidFill>
                <a:latin typeface="Calibri"/>
              </a:rPr>
              <a:t> un </a:t>
            </a:r>
            <a:r>
              <a:rPr sz="1300" dirty="0" err="1">
                <a:solidFill>
                  <a:srgbClr val="1A3A6B"/>
                </a:solidFill>
                <a:latin typeface="Calibri"/>
              </a:rPr>
              <a:t>observador</a:t>
            </a:r>
            <a:r>
              <a:rPr sz="1300" dirty="0">
                <a:solidFill>
                  <a:srgbClr val="1A3A6B"/>
                </a:solidFill>
                <a:latin typeface="Calibri"/>
              </a:rPr>
              <a:t> de </a:t>
            </a:r>
            <a:r>
              <a:rPr sz="1300" dirty="0" err="1">
                <a:solidFill>
                  <a:srgbClr val="1A3A6B"/>
                </a:solidFill>
                <a:latin typeface="Calibri"/>
              </a:rPr>
              <a:t>estado</a:t>
            </a:r>
            <a:r>
              <a:rPr sz="1300" dirty="0">
                <a:solidFill>
                  <a:srgbClr val="1A3A6B"/>
                </a:solidFill>
                <a:latin typeface="Calibri"/>
              </a:rPr>
              <a:t> y un </a:t>
            </a:r>
            <a:r>
              <a:rPr sz="1300" dirty="0" err="1">
                <a:solidFill>
                  <a:srgbClr val="1A3A6B"/>
                </a:solidFill>
                <a:latin typeface="Calibri"/>
              </a:rPr>
              <a:t>controlador</a:t>
            </a:r>
            <a:r>
              <a:rPr sz="1300" dirty="0">
                <a:solidFill>
                  <a:srgbClr val="1A3A6B"/>
                </a:solidFill>
                <a:latin typeface="Calibri"/>
              </a:rPr>
              <a:t> por </a:t>
            </a:r>
            <a:r>
              <a:rPr sz="1300" dirty="0" err="1">
                <a:solidFill>
                  <a:srgbClr val="1A3A6B"/>
                </a:solidFill>
                <a:latin typeface="Calibri"/>
              </a:rPr>
              <a:t>realimentación</a:t>
            </a:r>
            <a:r>
              <a:rPr sz="1300" dirty="0">
                <a:solidFill>
                  <a:srgbClr val="1A3A6B"/>
                </a:solidFill>
                <a:latin typeface="Calibri"/>
              </a:rPr>
              <a:t> de </a:t>
            </a:r>
            <a:r>
              <a:rPr sz="1300" dirty="0" err="1">
                <a:solidFill>
                  <a:srgbClr val="1A3A6B"/>
                </a:solidFill>
                <a:latin typeface="Calibri"/>
              </a:rPr>
              <a:t>estado</a:t>
            </a:r>
            <a:r>
              <a:rPr sz="1300" dirty="0">
                <a:solidFill>
                  <a:srgbClr val="1A3A6B"/>
                </a:solidFill>
                <a:latin typeface="Calibri"/>
              </a:rPr>
              <a:t> con </a:t>
            </a:r>
            <a:r>
              <a:rPr sz="1300" dirty="0" err="1">
                <a:solidFill>
                  <a:srgbClr val="1A3A6B"/>
                </a:solidFill>
                <a:latin typeface="Calibri"/>
              </a:rPr>
              <a:t>desempeño</a:t>
            </a:r>
            <a:r>
              <a:rPr sz="1300" dirty="0">
                <a:solidFill>
                  <a:srgbClr val="1A3A6B"/>
                </a:solidFill>
                <a:latin typeface="Calibri"/>
              </a:rPr>
              <a:t> </a:t>
            </a:r>
            <a:r>
              <a:rPr sz="1300" dirty="0" err="1">
                <a:solidFill>
                  <a:srgbClr val="1A3A6B"/>
                </a:solidFill>
                <a:latin typeface="Calibri"/>
              </a:rPr>
              <a:t>arbitrario</a:t>
            </a:r>
            <a:r>
              <a:rPr sz="1300" dirty="0">
                <a:solidFill>
                  <a:srgbClr val="1A3A6B"/>
                </a:solidFill>
                <a:latin typeface="Calibri"/>
              </a:rPr>
              <a:t>, dentro de los </a:t>
            </a:r>
            <a:r>
              <a:rPr sz="1300" dirty="0" err="1">
                <a:solidFill>
                  <a:srgbClr val="1A3A6B"/>
                </a:solidFill>
                <a:latin typeface="Calibri"/>
              </a:rPr>
              <a:t>límites</a:t>
            </a:r>
            <a:r>
              <a:rPr sz="1300" dirty="0">
                <a:solidFill>
                  <a:srgbClr val="1A3A6B"/>
                </a:solidFill>
                <a:latin typeface="Calibri"/>
              </a:rPr>
              <a:t> </a:t>
            </a:r>
            <a:r>
              <a:rPr sz="1300" dirty="0" err="1">
                <a:solidFill>
                  <a:srgbClr val="1A3A6B"/>
                </a:solidFill>
                <a:latin typeface="Calibri"/>
              </a:rPr>
              <a:t>físicos</a:t>
            </a:r>
            <a:r>
              <a:rPr sz="1300" dirty="0">
                <a:solidFill>
                  <a:srgbClr val="1A3A6B"/>
                </a:solidFill>
                <a:latin typeface="Calibri"/>
              </a:rPr>
              <a:t> del </a:t>
            </a:r>
            <a:r>
              <a:rPr sz="1300" dirty="0" err="1">
                <a:solidFill>
                  <a:srgbClr val="1A3A6B"/>
                </a:solidFill>
                <a:latin typeface="Calibri"/>
              </a:rPr>
              <a:t>sistema</a:t>
            </a:r>
            <a:r>
              <a:rPr sz="1300" dirty="0">
                <a:solidFill>
                  <a:srgbClr val="1A3A6B"/>
                </a:solidFill>
                <a:latin typeface="Calibri"/>
              </a:rPr>
              <a:t>.</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5" name="TextBox 8">
                <a:extLst>
                  <a:ext uri="{FF2B5EF4-FFF2-40B4-BE49-F238E27FC236}">
                    <a16:creationId xmlns:a16="http://schemas.microsoft.com/office/drawing/2014/main" id="{EEF5C91D-4DA2-495A-9E10-C1C80ADE5322}"/>
                  </a:ext>
                </a:extLst>
              </p:cNvPr>
              <p:cNvSpPr txBox="1"/>
              <p:nvPr/>
            </p:nvSpPr>
            <p:spPr>
              <a:xfrm>
                <a:off x="320040" y="1177870"/>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num>
                                      <m:den>
                                        <m:r>
                                          <a:rPr lang="es-AR" sz="1400" i="1">
                                            <a:latin typeface="Cambria Math" panose="02040503050406030204" pitchFamily="18" charset="0"/>
                                          </a:rPr>
                                          <m:t>𝑟</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320040" y="1177870"/>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7" name="CuadroTexto 16">
                <a:extLst>
                  <a:ext uri="{FF2B5EF4-FFF2-40B4-BE49-F238E27FC236}">
                    <a16:creationId xmlns:a16="http://schemas.microsoft.com/office/drawing/2014/main" id="{88D997F0-F44F-4854-97B1-8F21234D83DE}"/>
                  </a:ext>
                </a:extLst>
              </p:cNvPr>
              <p:cNvSpPr txBox="1"/>
              <p:nvPr/>
            </p:nvSpPr>
            <p:spPr>
              <a:xfrm>
                <a:off x="365759" y="3106223"/>
                <a:ext cx="11672359" cy="493597"/>
              </a:xfrm>
              <a:prstGeom prst="rect">
                <a:avLst/>
              </a:prstGeom>
              <a:noFill/>
            </p:spPr>
            <p:txBody>
              <a:bodyPr wrap="square">
                <a:spAutoFit/>
              </a:bodyPr>
              <a:lstStyle/>
              <a:p>
                <a:pPr algn="just">
                  <a:lnSpc>
                    <a:spcPct val="107000"/>
                  </a:lnSpc>
                  <a:spcBef>
                    <a:spcPts val="600"/>
                  </a:spcBef>
                  <a:spcAft>
                    <a:spcPts val="800"/>
                  </a:spcAft>
                </a:pPr>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 </m:t>
                    </m:r>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2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2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65759" y="3106223"/>
                <a:ext cx="11672359" cy="493597"/>
              </a:xfrm>
              <a:prstGeom prst="rect">
                <a:avLst/>
              </a:prstGeom>
              <a:blipFill>
                <a:blip r:embed="rId3"/>
                <a:stretch>
                  <a:fillRect b="-9877"/>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9" name="CuadroTexto 18">
                <a:extLst>
                  <a:ext uri="{FF2B5EF4-FFF2-40B4-BE49-F238E27FC236}">
                    <a16:creationId xmlns:a16="http://schemas.microsoft.com/office/drawing/2014/main" id="{DD6F130A-FBC4-4904-BB45-D397134FCF1C}"/>
                  </a:ext>
                </a:extLst>
              </p:cNvPr>
              <p:cNvSpPr txBox="1"/>
              <p:nvPr/>
            </p:nvSpPr>
            <p:spPr>
              <a:xfrm>
                <a:off x="3497803" y="3447974"/>
                <a:ext cx="6143346" cy="9473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oMath>
                  </m:oMathPara>
                </a14:m>
                <a:endParaRPr lang="es-AR" dirty="0">
                  <a:solidFill>
                    <a:schemeClr val="tx1"/>
                  </a:solidFill>
                </a:endParaRPr>
              </a:p>
            </p:txBody>
          </p:sp>
        </mc:Choice>
        <mc:Fallback>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497803" y="3447974"/>
                <a:ext cx="6143346" cy="947311"/>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p:sp>
        <p:nvSpPr>
          <p:cNvPr id="8" name="TextBox 7"/>
          <p:cNvSpPr txBox="1"/>
          <p:nvPr/>
        </p:nvSpPr>
        <p:spPr>
          <a:xfrm>
            <a:off x="365760" y="1261872"/>
            <a:ext cx="7772400" cy="1554480"/>
          </a:xfrm>
          <a:prstGeom prst="rect">
            <a:avLst/>
          </a:prstGeom>
          <a:noFill/>
        </p:spPr>
        <p:txBody>
          <a:bodyPr wrap="square">
            <a:spAutoFit/>
          </a:bodyPr>
          <a:lstStyle/>
          <a:p>
            <a:r>
              <a:rPr sz="1350">
                <a:solidFill>
                  <a:srgbClr val="1A1A2E"/>
                </a:solidFill>
                <a:latin typeface="Calibri"/>
              </a:rPr>
              <a:t>Consigna de tensión vqs^r: escalones de ±19.56 V en t = 0.1 s, t = 0.7 s y t = 1.1 s</a:t>
            </a:r>
          </a:p>
          <a:p>
            <a:pPr>
              <a:spcBef>
                <a:spcPts val="400"/>
              </a:spcBef>
            </a:pPr>
            <a:r>
              <a:rPr sz="1350">
                <a:solidFill>
                  <a:srgbClr val="1A1A2E"/>
                </a:solidFill>
                <a:latin typeface="Calibri"/>
              </a:rPr>
              <a:t>Perturbaciones de torque de carga Tld: doble pulso ±5 N·m entre t = 0.3–0.9 s y t = 1.3–1.9 s</a:t>
            </a:r>
          </a:p>
          <a:p>
            <a:pPr>
              <a:spcBef>
                <a:spcPts val="400"/>
              </a:spcBef>
            </a:pPr>
            <a:r>
              <a:rPr sz="1350">
                <a:solidFill>
                  <a:srgbClr val="1A1A2E"/>
                </a:solidFill>
                <a:latin typeface="Calibri"/>
              </a:rPr>
              <a:t>Condiciones iniciales nulas: θm = ωm = iqs^r = ids^r = 0,  Ts° = Tamb = 25°C</a:t>
            </a:r>
          </a:p>
        </p:txBody>
      </p:sp>
      <p:sp>
        <p:nvSpPr>
          <p:cNvPr id="9" name="Rectangle 8"/>
          <p:cNvSpPr/>
          <p:nvPr/>
        </p:nvSpPr>
        <p:spPr>
          <a:xfrm>
            <a:off x="365760" y="2907792"/>
            <a:ext cx="5486400" cy="18288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547872"/>
            <a:ext cx="5303520" cy="548640"/>
          </a:xfrm>
          <a:prstGeom prst="rect">
            <a:avLst/>
          </a:prstGeom>
          <a:noFill/>
        </p:spPr>
        <p:txBody>
          <a:bodyPr wrap="square">
            <a:spAutoFit/>
          </a:bodyPr>
          <a:lstStyle/>
          <a:p>
            <a:pPr algn="ctr"/>
            <a:r>
              <a:rPr sz="1100" b="1">
                <a:solidFill>
                  <a:srgbClr val="C35A00"/>
                </a:solidFill>
                <a:latin typeface="Calibri"/>
              </a:rPr>
              <a:t>🖼  FIGURA: Figura 14a — Consigna vqs^r(t)  (escalones ±19.56 V)</a:t>
            </a:r>
          </a:p>
        </p:txBody>
      </p:sp>
      <p:sp>
        <p:nvSpPr>
          <p:cNvPr id="11" name="TextBox 10"/>
          <p:cNvSpPr txBox="1"/>
          <p:nvPr/>
        </p:nvSpPr>
        <p:spPr>
          <a:xfrm>
            <a:off x="457200" y="393192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Rectangle 11"/>
          <p:cNvSpPr/>
          <p:nvPr/>
        </p:nvSpPr>
        <p:spPr>
          <a:xfrm>
            <a:off x="6126480" y="2907792"/>
            <a:ext cx="5486400" cy="18288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3547872"/>
            <a:ext cx="5303520" cy="548640"/>
          </a:xfrm>
          <a:prstGeom prst="rect">
            <a:avLst/>
          </a:prstGeom>
          <a:noFill/>
        </p:spPr>
        <p:txBody>
          <a:bodyPr wrap="square">
            <a:spAutoFit/>
          </a:bodyPr>
          <a:lstStyle/>
          <a:p>
            <a:pPr algn="ctr"/>
            <a:r>
              <a:rPr sz="1100" b="1">
                <a:solidFill>
                  <a:srgbClr val="C35A00"/>
                </a:solidFill>
                <a:latin typeface="Calibri"/>
              </a:rPr>
              <a:t>🖼  FIGURA: Figura 14b — Perturbación Tld(t)  (pulsos dobles ±5 N·m)</a:t>
            </a:r>
          </a:p>
        </p:txBody>
      </p:sp>
      <p:sp>
        <p:nvSpPr>
          <p:cNvPr id="14" name="TextBox 13"/>
          <p:cNvSpPr txBox="1"/>
          <p:nvPr/>
        </p:nvSpPr>
        <p:spPr>
          <a:xfrm>
            <a:off x="6217920" y="393192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4864608"/>
            <a:ext cx="11430000" cy="347472"/>
          </a:xfrm>
          <a:prstGeom prst="rect">
            <a:avLst/>
          </a:prstGeom>
          <a:noFill/>
        </p:spPr>
        <p:txBody>
          <a:bodyPr wrap="square">
            <a:spAutoFit/>
          </a:bodyPr>
          <a:lstStyle/>
          <a:p>
            <a:pPr algn="l"/>
            <a:r>
              <a:rPr sz="1400" b="1" i="0">
                <a:solidFill>
                  <a:srgbClr val="1A3A6B"/>
                </a:solidFill>
                <a:latin typeface="Calibri"/>
              </a:rPr>
              <a:t>Objetivos de la simulación a lazo abierto:</a:t>
            </a:r>
          </a:p>
        </p:txBody>
      </p:sp>
      <p:sp>
        <p:nvSpPr>
          <p:cNvPr id="16" name="TextBox 15"/>
          <p:cNvSpPr txBox="1"/>
          <p:nvPr/>
        </p:nvSpPr>
        <p:spPr>
          <a:xfrm>
            <a:off x="365760" y="5257800"/>
            <a:ext cx="11430000" cy="1325880"/>
          </a:xfrm>
          <a:prstGeom prst="rect">
            <a:avLst/>
          </a:prstGeom>
          <a:noFill/>
        </p:spPr>
        <p:txBody>
          <a:bodyPr wrap="square">
            <a:spAutoFit/>
          </a:bodyPr>
          <a:lstStyle/>
          <a:p>
            <a:r>
              <a:rPr sz="1350">
                <a:solidFill>
                  <a:srgbClr val="1A1A2E"/>
                </a:solidFill>
                <a:latin typeface="Calibri"/>
              </a:rPr>
              <a:t>Verificar el funcionamiento en los 4 cuadrantes de operación del accionamiento</a:t>
            </a:r>
          </a:p>
          <a:p>
            <a:pPr>
              <a:spcBef>
                <a:spcPts val="400"/>
              </a:spcBef>
            </a:pPr>
            <a:r>
              <a:rPr sz="1350">
                <a:solidFill>
                  <a:srgbClr val="1A1A2E"/>
                </a:solidFill>
                <a:latin typeface="Calibri"/>
              </a:rPr>
              <a:t>Analizar la respuesta de θm, ωm, Tm, iqs, ids, vabc, iabc y Ts° ante las entradas aplicadas</a:t>
            </a:r>
          </a:p>
          <a:p>
            <a:pPr>
              <a:spcBef>
                <a:spcPts val="400"/>
              </a:spcBef>
            </a:pPr>
            <a:r>
              <a:rPr sz="1350">
                <a:solidFill>
                  <a:srgbClr val="1A1A2E"/>
                </a:solidFill>
                <a:latin typeface="Calibri"/>
              </a:rPr>
              <a:t>Comparar la respuesta del modelo NL con la del modelo LTI equivalente aumentado</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7" name="Rectangle 6"/>
          <p:cNvSpPr/>
          <p:nvPr/>
        </p:nvSpPr>
        <p:spPr>
          <a:xfrm>
            <a:off x="365760" y="777240"/>
            <a:ext cx="6858000" cy="33832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6675120" cy="548640"/>
          </a:xfrm>
          <a:prstGeom prst="rect">
            <a:avLst/>
          </a:prstGeom>
          <a:noFill/>
        </p:spPr>
        <p:txBody>
          <a:bodyPr wrap="square">
            <a:spAutoFit/>
          </a:bodyPr>
          <a:lstStyle/>
          <a:p>
            <a:pPr algn="ctr"/>
            <a:r>
              <a:rPr sz="1100" b="1">
                <a:solidFill>
                  <a:srgbClr val="C35A00"/>
                </a:solidFill>
                <a:latin typeface="Calibri"/>
              </a:rPr>
              <a:t>🖼  FIGURA: Figura 15 — Respuesta del sistema NL:
θm(t), ωm(t) y Tm(t) ante escalones de tensión y perturbaciones de carga</a:t>
            </a:r>
          </a:p>
        </p:txBody>
      </p:sp>
      <p:sp>
        <p:nvSpPr>
          <p:cNvPr id="9" name="TextBox 8"/>
          <p:cNvSpPr txBox="1"/>
          <p:nvPr/>
        </p:nvSpPr>
        <p:spPr>
          <a:xfrm>
            <a:off x="457200" y="2578608"/>
            <a:ext cx="6675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TextBox 9"/>
          <p:cNvSpPr txBox="1"/>
          <p:nvPr/>
        </p:nvSpPr>
        <p:spPr>
          <a:xfrm>
            <a:off x="7498079" y="777240"/>
            <a:ext cx="4480560" cy="365760"/>
          </a:xfrm>
          <a:prstGeom prst="rect">
            <a:avLst/>
          </a:prstGeom>
          <a:noFill/>
        </p:spPr>
        <p:txBody>
          <a:bodyPr wrap="square">
            <a:spAutoFit/>
          </a:bodyPr>
          <a:lstStyle/>
          <a:p>
            <a:pPr algn="l"/>
            <a:r>
              <a:rPr sz="1400" b="1" i="0">
                <a:solidFill>
                  <a:srgbClr val="1A3A6B"/>
                </a:solidFill>
                <a:latin typeface="Calibri"/>
              </a:rPr>
              <a:t>Valores de establecimiento de ωm:</a:t>
            </a:r>
          </a:p>
        </p:txBody>
      </p:sp>
      <p:graphicFrame>
        <p:nvGraphicFramePr>
          <p:cNvPr id="11" name="Table 10"/>
          <p:cNvGraphicFramePr>
            <a:graphicFrameLocks noGrp="1"/>
          </p:cNvGraphicFramePr>
          <p:nvPr/>
        </p:nvGraphicFramePr>
        <p:xfrm>
          <a:off x="7498079" y="1188720"/>
          <a:ext cx="4480560" cy="315468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502920">
                <a:tc>
                  <a:txBody>
                    <a:bodyPr/>
                    <a:lstStyle/>
                    <a:p>
                      <a:r>
                        <a:rPr sz="1200" b="1">
                          <a:solidFill>
                            <a:srgbClr val="FFFFFF"/>
                          </a:solidFill>
                          <a:latin typeface="Calibri"/>
                        </a:rPr>
                        <a:t>t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502920">
                <a:tc>
                  <a:txBody>
                    <a:bodyPr/>
                    <a:lstStyle/>
                    <a:p>
                      <a:r>
                        <a:rPr sz="1200">
                          <a:latin typeface="Calibri"/>
                        </a:rPr>
                        <a:t>0.1</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403.0  (1° cuadrante)</a:t>
                      </a:r>
                    </a:p>
                  </a:txBody>
                  <a:tcPr/>
                </a:tc>
                <a:extLst>
                  <a:ext uri="{0D108BD9-81ED-4DB2-BD59-A6C34878D82A}">
                    <a16:rowId xmlns:a16="http://schemas.microsoft.com/office/drawing/2014/main" val="10001"/>
                  </a:ext>
                </a:extLst>
              </a:tr>
              <a:tr h="502920">
                <a:tc>
                  <a:txBody>
                    <a:bodyPr/>
                    <a:lstStyle/>
                    <a:p>
                      <a:r>
                        <a:rPr sz="1200">
                          <a:latin typeface="Calibri"/>
                        </a:rPr>
                        <a:t>0.3</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388.0  (con carga +)</a:t>
                      </a:r>
                    </a:p>
                  </a:txBody>
                  <a:tcPr>
                    <a:solidFill>
                      <a:srgbClr val="F0F4F8"/>
                    </a:solidFill>
                  </a:tcPr>
                </a:tc>
                <a:extLst>
                  <a:ext uri="{0D108BD9-81ED-4DB2-BD59-A6C34878D82A}">
                    <a16:rowId xmlns:a16="http://schemas.microsoft.com/office/drawing/2014/main" val="10002"/>
                  </a:ext>
                </a:extLst>
              </a:tr>
              <a:tr h="502920">
                <a:tc>
                  <a:txBody>
                    <a:bodyPr/>
                    <a:lstStyle/>
                    <a:p>
                      <a:r>
                        <a:rPr sz="1200">
                          <a:latin typeface="Calibri"/>
                        </a:rPr>
                        <a:t>0.5</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414.4  (carga −)</a:t>
                      </a:r>
                    </a:p>
                  </a:txBody>
                  <a:tcPr/>
                </a:tc>
                <a:extLst>
                  <a:ext uri="{0D108BD9-81ED-4DB2-BD59-A6C34878D82A}">
                    <a16:rowId xmlns:a16="http://schemas.microsoft.com/office/drawing/2014/main" val="10003"/>
                  </a:ext>
                </a:extLst>
              </a:tr>
              <a:tr h="502920">
                <a:tc>
                  <a:txBody>
                    <a:bodyPr/>
                    <a:lstStyle/>
                    <a:p>
                      <a:r>
                        <a:rPr sz="1200">
                          <a:latin typeface="Calibri"/>
                        </a:rPr>
                        <a:t>0.7</a:t>
                      </a:r>
                    </a:p>
                  </a:txBody>
                  <a:tcPr>
                    <a:solidFill>
                      <a:srgbClr val="F0F4F8"/>
                    </a:solidFill>
                  </a:tcPr>
                </a:tc>
                <a:tc>
                  <a:txBody>
                    <a:bodyPr/>
                    <a:lstStyle/>
                    <a:p>
                      <a:r>
                        <a:rPr sz="1200">
                          <a:latin typeface="Calibri"/>
                        </a:rPr>
                        <a:t>—</a:t>
                      </a:r>
                    </a:p>
                  </a:txBody>
                  <a:tcPr>
                    <a:solidFill>
                      <a:srgbClr val="F0F4F8"/>
                    </a:solidFill>
                  </a:tcPr>
                </a:tc>
                <a:tc>
                  <a:txBody>
                    <a:bodyPr/>
                    <a:lstStyle/>
                    <a:p>
                      <a:r>
                        <a:rPr sz="1200">
                          <a:latin typeface="Calibri"/>
                        </a:rPr>
                        <a:t>—</a:t>
                      </a:r>
                    </a:p>
                  </a:txBody>
                  <a:tcPr>
                    <a:solidFill>
                      <a:srgbClr val="F0F4F8"/>
                    </a:solidFill>
                  </a:tcPr>
                </a:tc>
                <a:tc>
                  <a:txBody>
                    <a:bodyPr/>
                    <a:lstStyle/>
                    <a:p>
                      <a:r>
                        <a:rPr sz="1200">
                          <a:latin typeface="Calibri"/>
                        </a:rPr>
                        <a:t>↓ por carga</a:t>
                      </a:r>
                    </a:p>
                  </a:txBody>
                  <a:tcPr>
                    <a:solidFill>
                      <a:srgbClr val="F0F4F8"/>
                    </a:solidFill>
                  </a:tcPr>
                </a:tc>
                <a:extLst>
                  <a:ext uri="{0D108BD9-81ED-4DB2-BD59-A6C34878D82A}">
                    <a16:rowId xmlns:a16="http://schemas.microsoft.com/office/drawing/2014/main" val="10004"/>
                  </a:ext>
                </a:extLst>
              </a:tr>
              <a:tr h="502920">
                <a:tc>
                  <a:txBody>
                    <a:bodyPr/>
                    <a:lstStyle/>
                    <a:p>
                      <a:r>
                        <a:rPr sz="1200">
                          <a:latin typeface="Calibri"/>
                        </a:rPr>
                        <a:t>1.1</a:t>
                      </a:r>
                    </a:p>
                  </a:txBody>
                  <a:tcPr/>
                </a:tc>
                <a:tc>
                  <a:txBody>
                    <a:bodyPr/>
                    <a:lstStyle/>
                    <a:p>
                      <a:r>
                        <a:rPr sz="1200">
                          <a:latin typeface="Calibri"/>
                        </a:rPr>
                        <a:t>—</a:t>
                      </a:r>
                    </a:p>
                  </a:txBody>
                  <a:tcPr/>
                </a:tc>
                <a:tc>
                  <a:txBody>
                    <a:bodyPr/>
                    <a:lstStyle/>
                    <a:p>
                      <a:r>
                        <a:rPr sz="1200">
                          <a:latin typeface="Calibri"/>
                        </a:rPr>
                        <a:t>—</a:t>
                      </a:r>
                    </a:p>
                  </a:txBody>
                  <a:tcPr/>
                </a:tc>
                <a:tc>
                  <a:txBody>
                    <a:bodyPr/>
                    <a:lstStyle/>
                    <a:p>
                      <a:r>
                        <a:rPr sz="1200">
                          <a:latin typeface="Calibri"/>
                        </a:rPr>
                        <a:t>−423  (motoriz. inversa)</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365760" y="4297680"/>
            <a:ext cx="11430000" cy="365760"/>
          </a:xfrm>
          <a:prstGeom prst="rect">
            <a:avLst/>
          </a:prstGeom>
          <a:noFill/>
        </p:spPr>
        <p:txBody>
          <a:bodyPr wrap="square">
            <a:spAutoFit/>
          </a:bodyPr>
          <a:lstStyle/>
          <a:p>
            <a:pPr algn="l"/>
            <a:r>
              <a:rPr sz="1400" b="1" i="0">
                <a:solidFill>
                  <a:srgbClr val="1A3A6B"/>
                </a:solidFill>
                <a:latin typeface="Calibri"/>
              </a:rPr>
              <a:t>Análisis del movimiento:</a:t>
            </a:r>
          </a:p>
        </p:txBody>
      </p:sp>
      <p:sp>
        <p:nvSpPr>
          <p:cNvPr id="13" name="TextBox 12"/>
          <p:cNvSpPr txBox="1"/>
          <p:nvPr/>
        </p:nvSpPr>
        <p:spPr>
          <a:xfrm>
            <a:off x="365760" y="4709160"/>
            <a:ext cx="11430000" cy="1783080"/>
          </a:xfrm>
          <a:prstGeom prst="rect">
            <a:avLst/>
          </a:prstGeom>
          <a:noFill/>
        </p:spPr>
        <p:txBody>
          <a:bodyPr wrap="square">
            <a:spAutoFit/>
          </a:bodyPr>
          <a:lstStyle/>
          <a:p>
            <a:r>
              <a:rPr sz="1350">
                <a:solidFill>
                  <a:srgbClr val="1A1A2E"/>
                </a:solidFill>
                <a:latin typeface="Calibri"/>
              </a:rPr>
              <a:t>t=0.1s: tensión positiva → rotor acelera rápidamente hasta régimen cuasi-estacionario (1° cuadrante)</a:t>
            </a:r>
          </a:p>
          <a:p>
            <a:pPr>
              <a:spcBef>
                <a:spcPts val="400"/>
              </a:spcBef>
            </a:pPr>
            <a:r>
              <a:rPr sz="1350">
                <a:solidFill>
                  <a:srgbClr val="1A1A2E"/>
                </a:solidFill>
                <a:latin typeface="Calibri"/>
              </a:rPr>
              <a:t>t=0.3–0.9s: perturbaciones Tld generan transitorios en Tm para mantener la velocidad</a:t>
            </a:r>
          </a:p>
          <a:p>
            <a:pPr>
              <a:spcBef>
                <a:spcPts val="400"/>
              </a:spcBef>
            </a:pPr>
            <a:r>
              <a:rPr sz="1350">
                <a:solidFill>
                  <a:srgbClr val="1A1A2E"/>
                </a:solidFill>
                <a:latin typeface="Calibri"/>
              </a:rPr>
              <a:t>t=0.7s: tensión nula → velocidad decrece por carga aún presente; inversión de Tm (4° cuadrante)</a:t>
            </a:r>
          </a:p>
          <a:p>
            <a:pPr>
              <a:spcBef>
                <a:spcPts val="400"/>
              </a:spcBef>
            </a:pPr>
            <a:r>
              <a:rPr sz="1350">
                <a:solidFill>
                  <a:srgbClr val="1A1A2E"/>
                </a:solidFill>
                <a:latin typeface="Calibri"/>
              </a:rPr>
              <a:t>t=1.1s: tensión negativa → inversión del sentido de giro (transita por 3° y 2° cuadrante)</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Corrientes y temperatura del estator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a:solidFill>
                  <a:srgbClr val="C35A00"/>
                </a:solidFill>
                <a:latin typeface="Calibri"/>
              </a:rPr>
              <a:t>🖼  FIGURA: Figuras 18-19 — Corrientes iqd0^r e iabc(t)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TextBox 15"/>
          <p:cNvSpPr txBox="1"/>
          <p:nvPr/>
        </p:nvSpPr>
        <p:spPr>
          <a:xfrm>
            <a:off x="365760" y="3474720"/>
            <a:ext cx="11430000" cy="365760"/>
          </a:xfrm>
          <a:prstGeom prst="rect">
            <a:avLst/>
          </a:prstGeom>
          <a:noFill/>
        </p:spPr>
        <p:txBody>
          <a:bodyPr wrap="square">
            <a:spAutoFit/>
          </a:bodyPr>
          <a:lstStyle/>
          <a:p>
            <a:pPr algn="l"/>
            <a:r>
              <a:rPr sz="1400" b="1" i="0">
                <a:solidFill>
                  <a:srgbClr val="1A3A6B"/>
                </a:solidFill>
                <a:latin typeface="Calibri"/>
              </a:rPr>
              <a:t>Observaciones sobre corrientes y temperatura:</a:t>
            </a:r>
          </a:p>
        </p:txBody>
      </p:sp>
      <p:sp>
        <p:nvSpPr>
          <p:cNvPr id="17" name="TextBox 16"/>
          <p:cNvSpPr txBox="1"/>
          <p:nvPr/>
        </p:nvSpPr>
        <p:spPr>
          <a:xfrm>
            <a:off x="365760" y="3886200"/>
            <a:ext cx="11430000" cy="2194560"/>
          </a:xfrm>
          <a:prstGeom prst="rect">
            <a:avLst/>
          </a:prstGeom>
          <a:noFill/>
        </p:spPr>
        <p:txBody>
          <a:bodyPr wrap="square">
            <a:spAutoFit/>
          </a:bodyPr>
          <a:lstStyle/>
          <a:p>
            <a:r>
              <a:rPr sz="1350">
                <a:solidFill>
                  <a:srgbClr val="1A1A2E"/>
                </a:solidFill>
                <a:latin typeface="Calibri"/>
              </a:rPr>
              <a:t>Picos de corriente en los instantes de cambio de vqs^r (t≈0.1, 0.7, 1.1 s) → incremento escalonado de Ts°</a:t>
            </a:r>
          </a:p>
          <a:p>
            <a:pPr>
              <a:spcBef>
                <a:spcPts val="400"/>
              </a:spcBef>
            </a:pPr>
            <a:r>
              <a:rPr sz="1350">
                <a:solidFill>
                  <a:srgbClr val="1A1A2E"/>
                </a:solidFill>
                <a:latin typeface="Calibri"/>
              </a:rPr>
              <a:t>Durante la perturbación Tld: la corriente aumenta para compensar el par externo → mayor calentamiento</a:t>
            </a:r>
          </a:p>
          <a:p>
            <a:pPr>
              <a:spcBef>
                <a:spcPts val="400"/>
              </a:spcBef>
            </a:pPr>
            <a:r>
              <a:rPr sz="1350">
                <a:solidFill>
                  <a:srgbClr val="1A1A2E"/>
                </a:solidFill>
                <a:latin typeface="Calibri"/>
              </a:rPr>
              <a:t>Cuando Tld cambia de signo: variación en la pendiente de Ts° (casi constante a esa escala temporal)</a:t>
            </a:r>
          </a:p>
          <a:p>
            <a:pPr>
              <a:spcBef>
                <a:spcPts val="400"/>
              </a:spcBef>
            </a:pPr>
            <a:r>
              <a:rPr sz="1350">
                <a:solidFill>
                  <a:srgbClr val="1A1A2E"/>
                </a:solidFill>
                <a:latin typeface="Calibri"/>
              </a:rPr>
              <a:t>Al cesar excitación y perturbación: corrientes decaen progresivamente; Ts° sigue creciendo lentamente (τ≈120 s)</a:t>
            </a:r>
          </a:p>
          <a:p>
            <a:pPr>
              <a:spcBef>
                <a:spcPts val="400"/>
              </a:spcBef>
            </a:pPr>
            <a:r>
              <a:rPr sz="1350">
                <a:solidFill>
                  <a:srgbClr val="1A1A2E"/>
                </a:solidFill>
                <a:latin typeface="Calibri"/>
              </a:rPr>
              <a:t>Ts° no supera 56°C en este ensayo — muy lejos de Ts,max = 115°C</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7" name="Rectangle 6"/>
          <p:cNvSpPr/>
          <p:nvPr/>
        </p:nvSpPr>
        <p:spPr>
          <a:xfrm>
            <a:off x="36576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03120"/>
            <a:ext cx="5303520" cy="548640"/>
          </a:xfrm>
          <a:prstGeom prst="rect">
            <a:avLst/>
          </a:prstGeom>
          <a:noFill/>
        </p:spPr>
        <p:txBody>
          <a:bodyPr wrap="square">
            <a:spAutoFit/>
          </a:bodyPr>
          <a:lstStyle/>
          <a:p>
            <a:pPr algn="ctr"/>
            <a:r>
              <a:rPr sz="1100" b="1">
                <a:solidFill>
                  <a:srgbClr val="C35A00"/>
                </a:solidFill>
                <a:latin typeface="Calibri"/>
              </a:rPr>
              <a:t>🖼  FIGURA: Figura 25 — Curva Tm vs ωm
(plano de fases: los 4 cuadrantes de operación del accionamiento)</a:t>
            </a:r>
          </a:p>
        </p:txBody>
      </p:sp>
      <p:sp>
        <p:nvSpPr>
          <p:cNvPr id="9" name="TextBox 8"/>
          <p:cNvSpPr txBox="1"/>
          <p:nvPr/>
        </p:nvSpPr>
        <p:spPr>
          <a:xfrm>
            <a:off x="45720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03120"/>
            <a:ext cx="5303520" cy="548640"/>
          </a:xfrm>
          <a:prstGeom prst="rect">
            <a:avLst/>
          </a:prstGeom>
          <a:noFill/>
        </p:spPr>
        <p:txBody>
          <a:bodyPr wrap="square">
            <a:spAutoFit/>
          </a:bodyPr>
          <a:lstStyle/>
          <a:p>
            <a:pPr algn="ctr"/>
            <a:r>
              <a:rPr sz="1100" b="1">
                <a:solidFill>
                  <a:srgbClr val="C35A00"/>
                </a:solidFill>
                <a:latin typeface="Calibri"/>
              </a:rPr>
              <a:t>🖼  FIGURA: Figura 26 — Evolución temporal del ángulo de desfasaje electromagnético δ(t)</a:t>
            </a:r>
          </a:p>
        </p:txBody>
      </p:sp>
      <p:sp>
        <p:nvSpPr>
          <p:cNvPr id="12" name="TextBox 11"/>
          <p:cNvSpPr txBox="1"/>
          <p:nvPr/>
        </p:nvSpPr>
        <p:spPr>
          <a:xfrm>
            <a:off x="621792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365760" y="4096512"/>
            <a:ext cx="11430000" cy="365760"/>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graphicFrame>
        <p:nvGraphicFramePr>
          <p:cNvPr id="14" name="Table 13"/>
          <p:cNvGraphicFramePr>
            <a:graphicFrameLocks noGrp="1"/>
          </p:cNvGraphicFramePr>
          <p:nvPr/>
        </p:nvGraphicFramePr>
        <p:xfrm>
          <a:off x="365760" y="4526280"/>
          <a:ext cx="11430000" cy="20116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6309360">
                  <a:extLst>
                    <a:ext uri="{9D8B030D-6E8A-4147-A177-3AD203B41FA5}">
                      <a16:colId xmlns:a16="http://schemas.microsoft.com/office/drawing/2014/main" val="20004"/>
                    </a:ext>
                  </a:extLst>
                </a:gridCol>
              </a:tblGrid>
              <a:tr h="335280">
                <a:tc>
                  <a:txBody>
                    <a:bodyPr/>
                    <a:lstStyle/>
                    <a:p>
                      <a:r>
                        <a:rPr sz="1200" b="1">
                          <a:solidFill>
                            <a:srgbClr val="FFFFFF"/>
                          </a:solidFill>
                          <a:latin typeface="Calibri"/>
                        </a:rPr>
                        <a:t>Instant.</a:t>
                      </a:r>
                    </a:p>
                  </a:txBody>
                  <a:tcPr>
                    <a:solidFill>
                      <a:srgbClr val="1A3A6B"/>
                    </a:solidFill>
                  </a:tcPr>
                </a:tc>
                <a:tc>
                  <a:txBody>
                    <a:bodyPr/>
                    <a:lstStyle/>
                    <a:p>
                      <a:r>
                        <a:rPr sz="1200" b="1">
                          <a:solidFill>
                            <a:srgbClr val="FFFFFF"/>
                          </a:solidFill>
                          <a:latin typeface="Calibri"/>
                        </a:rPr>
                        <a:t>ωm</a:t>
                      </a:r>
                    </a:p>
                  </a:txBody>
                  <a:tcPr>
                    <a:solidFill>
                      <a:srgbClr val="1A3A6B"/>
                    </a:solidFill>
                  </a:tcPr>
                </a:tc>
                <a:tc>
                  <a:txBody>
                    <a:bodyPr/>
                    <a:lstStyle/>
                    <a:p>
                      <a:r>
                        <a:rPr sz="1200" b="1">
                          <a:solidFill>
                            <a:srgbClr val="FFFFFF"/>
                          </a:solidFill>
                          <a:latin typeface="Calibri"/>
                        </a:rPr>
                        <a:t>Tm</a:t>
                      </a:r>
                    </a:p>
                  </a:txBody>
                  <a:tcPr>
                    <a:solidFill>
                      <a:srgbClr val="1A3A6B"/>
                    </a:solidFill>
                  </a:tcPr>
                </a:tc>
                <a:tc>
                  <a:txBody>
                    <a:bodyPr/>
                    <a:lstStyle/>
                    <a:p>
                      <a:r>
                        <a:rPr sz="1200" b="1">
                          <a:solidFill>
                            <a:srgbClr val="FFFFFF"/>
                          </a:solidFill>
                          <a:latin typeface="Calibri"/>
                        </a:rPr>
                        <a:t>Cuadrante</a:t>
                      </a:r>
                    </a:p>
                  </a:txBody>
                  <a:tcPr>
                    <a:solidFill>
                      <a:srgbClr val="1A3A6B"/>
                    </a:solidFill>
                  </a:tcPr>
                </a:tc>
                <a:tc>
                  <a:txBody>
                    <a:bodyPr/>
                    <a:lstStyle/>
                    <a:p>
                      <a:r>
                        <a:rPr sz="1200" b="1">
                          <a:solidFill>
                            <a:srgbClr val="FFFFFF"/>
                          </a:solidFill>
                          <a:latin typeface="Calibri"/>
                        </a:rPr>
                        <a:t>Régimen</a:t>
                      </a:r>
                    </a:p>
                  </a:txBody>
                  <a:tcPr>
                    <a:solidFill>
                      <a:srgbClr val="1A3A6B"/>
                    </a:solidFill>
                  </a:tcPr>
                </a:tc>
                <a:extLst>
                  <a:ext uri="{0D108BD9-81ED-4DB2-BD59-A6C34878D82A}">
                    <a16:rowId xmlns:a16="http://schemas.microsoft.com/office/drawing/2014/main" val="10000"/>
                  </a:ext>
                </a:extLst>
              </a:tr>
              <a:tr h="335280">
                <a:tc>
                  <a:txBody>
                    <a:bodyPr/>
                    <a:lstStyle/>
                    <a:p>
                      <a:r>
                        <a:rPr sz="1200">
                          <a:latin typeface="Calibri"/>
                        </a:rPr>
                        <a:t>t=0.1s</a:t>
                      </a:r>
                    </a:p>
                  </a:txBody>
                  <a:tcPr/>
                </a:tc>
                <a:tc>
                  <a:txBody>
                    <a:bodyPr/>
                    <a:lstStyle/>
                    <a:p>
                      <a:r>
                        <a:rPr sz="1200">
                          <a:latin typeface="Calibri"/>
                        </a:rPr>
                        <a:t>&gt; 0</a:t>
                      </a:r>
                    </a:p>
                  </a:txBody>
                  <a:tcPr/>
                </a:tc>
                <a:tc>
                  <a:txBody>
                    <a:bodyPr/>
                    <a:lstStyle/>
                    <a:p>
                      <a:r>
                        <a:rPr sz="1200">
                          <a:latin typeface="Calibri"/>
                        </a:rPr>
                        <a:t>&gt; 0</a:t>
                      </a:r>
                    </a:p>
                  </a:txBody>
                  <a:tcPr/>
                </a:tc>
                <a:tc>
                  <a:txBody>
                    <a:bodyPr/>
                    <a:lstStyle/>
                    <a:p>
                      <a:r>
                        <a:rPr sz="1200">
                          <a:latin typeface="Calibri"/>
                        </a:rPr>
                        <a:t>1°</a:t>
                      </a:r>
                    </a:p>
                  </a:txBody>
                  <a:tcPr/>
                </a:tc>
                <a:tc>
                  <a:txBody>
                    <a:bodyPr/>
                    <a:lstStyle/>
                    <a:p>
                      <a:r>
                        <a:rPr sz="1200">
                          <a:latin typeface="Calibri"/>
                        </a:rPr>
                        <a:t>Motorización directa</a:t>
                      </a:r>
                    </a:p>
                  </a:txBody>
                  <a:tcPr/>
                </a:tc>
                <a:extLst>
                  <a:ext uri="{0D108BD9-81ED-4DB2-BD59-A6C34878D82A}">
                    <a16:rowId xmlns:a16="http://schemas.microsoft.com/office/drawing/2014/main" val="10001"/>
                  </a:ext>
                </a:extLst>
              </a:tr>
              <a:tr h="335280">
                <a:tc>
                  <a:txBody>
                    <a:bodyPr/>
                    <a:lstStyle/>
                    <a:p>
                      <a:r>
                        <a:rPr sz="1200">
                          <a:latin typeface="Calibri"/>
                        </a:rPr>
                        <a:t>t=0.3s</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1°</a:t>
                      </a:r>
                    </a:p>
                  </a:txBody>
                  <a:tcPr>
                    <a:solidFill>
                      <a:srgbClr val="F0F4F8"/>
                    </a:solidFill>
                  </a:tcPr>
                </a:tc>
                <a:tc>
                  <a:txBody>
                    <a:bodyPr/>
                    <a:lstStyle/>
                    <a:p>
                      <a:r>
                        <a:rPr sz="1200">
                          <a:latin typeface="Calibri"/>
                        </a:rPr>
                        <a:t>Motorización directa + carga</a:t>
                      </a:r>
                    </a:p>
                  </a:txBody>
                  <a:tcPr>
                    <a:solidFill>
                      <a:srgbClr val="F0F4F8"/>
                    </a:solidFill>
                  </a:tcPr>
                </a:tc>
                <a:extLst>
                  <a:ext uri="{0D108BD9-81ED-4DB2-BD59-A6C34878D82A}">
                    <a16:rowId xmlns:a16="http://schemas.microsoft.com/office/drawing/2014/main" val="10002"/>
                  </a:ext>
                </a:extLst>
              </a:tr>
              <a:tr h="335280">
                <a:tc>
                  <a:txBody>
                    <a:bodyPr/>
                    <a:lstStyle/>
                    <a:p>
                      <a:r>
                        <a:rPr sz="1200">
                          <a:latin typeface="Calibri"/>
                        </a:rPr>
                        <a:t>t=0.7s → 1.0s</a:t>
                      </a:r>
                    </a:p>
                  </a:txBody>
                  <a:tcPr/>
                </a:tc>
                <a:tc>
                  <a:txBody>
                    <a:bodyPr/>
                    <a:lstStyle/>
                    <a:p>
                      <a:r>
                        <a:rPr sz="1200">
                          <a:latin typeface="Calibri"/>
                        </a:rPr>
                        <a:t>&gt; 0</a:t>
                      </a:r>
                    </a:p>
                  </a:txBody>
                  <a:tcPr/>
                </a:tc>
                <a:tc>
                  <a:txBody>
                    <a:bodyPr/>
                    <a:lstStyle/>
                    <a:p>
                      <a:r>
                        <a:rPr sz="1200">
                          <a:latin typeface="Calibri"/>
                        </a:rPr>
                        <a:t>&lt; 0</a:t>
                      </a:r>
                    </a:p>
                  </a:txBody>
                  <a:tcPr/>
                </a:tc>
                <a:tc>
                  <a:txBody>
                    <a:bodyPr/>
                    <a:lstStyle/>
                    <a:p>
                      <a:r>
                        <a:rPr sz="1200">
                          <a:latin typeface="Calibri"/>
                        </a:rPr>
                        <a:t>4°</a:t>
                      </a:r>
                    </a:p>
                  </a:txBody>
                  <a:tcPr/>
                </a:tc>
                <a:tc>
                  <a:txBody>
                    <a:bodyPr/>
                    <a:lstStyle/>
                    <a:p>
                      <a:r>
                        <a:rPr sz="1200">
                          <a:latin typeface="Calibri"/>
                        </a:rPr>
                        <a:t>Frenado regenerativo directo</a:t>
                      </a:r>
                    </a:p>
                  </a:txBody>
                  <a:tcPr/>
                </a:tc>
                <a:extLst>
                  <a:ext uri="{0D108BD9-81ED-4DB2-BD59-A6C34878D82A}">
                    <a16:rowId xmlns:a16="http://schemas.microsoft.com/office/drawing/2014/main" val="10003"/>
                  </a:ext>
                </a:extLst>
              </a:tr>
              <a:tr h="335280">
                <a:tc>
                  <a:txBody>
                    <a:bodyPr/>
                    <a:lstStyle/>
                    <a:p>
                      <a:r>
                        <a:rPr sz="1200">
                          <a:latin typeface="Calibri"/>
                        </a:rPr>
                        <a:t>t=1.1s → 1.7s</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3°</a:t>
                      </a:r>
                    </a:p>
                  </a:txBody>
                  <a:tcPr>
                    <a:solidFill>
                      <a:srgbClr val="F0F4F8"/>
                    </a:solidFill>
                  </a:tcPr>
                </a:tc>
                <a:tc>
                  <a:txBody>
                    <a:bodyPr/>
                    <a:lstStyle/>
                    <a:p>
                      <a:r>
                        <a:rPr sz="1200">
                          <a:latin typeface="Calibri"/>
                        </a:rPr>
                        <a:t>Motorización inversa</a:t>
                      </a:r>
                    </a:p>
                  </a:txBody>
                  <a:tcPr>
                    <a:solidFill>
                      <a:srgbClr val="F0F4F8"/>
                    </a:solidFill>
                  </a:tcPr>
                </a:tc>
                <a:extLst>
                  <a:ext uri="{0D108BD9-81ED-4DB2-BD59-A6C34878D82A}">
                    <a16:rowId xmlns:a16="http://schemas.microsoft.com/office/drawing/2014/main" val="10004"/>
                  </a:ext>
                </a:extLst>
              </a:tr>
              <a:tr h="335280">
                <a:tc>
                  <a:txBody>
                    <a:bodyPr/>
                    <a:lstStyle/>
                    <a:p>
                      <a:r>
                        <a:rPr sz="1200">
                          <a:latin typeface="Calibri"/>
                        </a:rPr>
                        <a:t>t=1.7s → 1.9s</a:t>
                      </a:r>
                    </a:p>
                  </a:txBody>
                  <a:tcPr/>
                </a:tc>
                <a:tc>
                  <a:txBody>
                    <a:bodyPr/>
                    <a:lstStyle/>
                    <a:p>
                      <a:r>
                        <a:rPr sz="1200">
                          <a:latin typeface="Calibri"/>
                        </a:rPr>
                        <a:t>&lt; 0</a:t>
                      </a:r>
                    </a:p>
                  </a:txBody>
                  <a:tcPr/>
                </a:tc>
                <a:tc>
                  <a:txBody>
                    <a:bodyPr/>
                    <a:lstStyle/>
                    <a:p>
                      <a:r>
                        <a:rPr sz="1200">
                          <a:latin typeface="Calibri"/>
                        </a:rPr>
                        <a:t>&gt; 0</a:t>
                      </a:r>
                    </a:p>
                  </a:txBody>
                  <a:tcPr/>
                </a:tc>
                <a:tc>
                  <a:txBody>
                    <a:bodyPr/>
                    <a:lstStyle/>
                    <a:p>
                      <a:r>
                        <a:rPr sz="1200">
                          <a:latin typeface="Calibri"/>
                        </a:rPr>
                        <a:t>2°</a:t>
                      </a:r>
                    </a:p>
                  </a:txBody>
                  <a:tcPr/>
                </a:tc>
                <a:tc>
                  <a:txBody>
                    <a:bodyPr/>
                    <a:lstStyle/>
                    <a:p>
                      <a:r>
                        <a:rPr sz="1200">
                          <a:latin typeface="Calibri"/>
                        </a:rPr>
                        <a:t>Frenado regenerativo inverso</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7" name="Rectangle 6"/>
          <p:cNvSpPr/>
          <p:nvPr/>
        </p:nvSpPr>
        <p:spPr>
          <a:xfrm>
            <a:off x="365760" y="777240"/>
            <a:ext cx="5943600" cy="38404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423160"/>
            <a:ext cx="5760720" cy="548640"/>
          </a:xfrm>
          <a:prstGeom prst="rect">
            <a:avLst/>
          </a:prstGeom>
          <a:noFill/>
        </p:spPr>
        <p:txBody>
          <a:bodyPr wrap="square">
            <a:spAutoFit/>
          </a:bodyPr>
          <a:lstStyle/>
          <a:p>
            <a:pPr algn="ctr"/>
            <a:r>
              <a:rPr sz="1100" b="1">
                <a:solidFill>
                  <a:srgbClr val="C35A00"/>
                </a:solidFill>
                <a:latin typeface="Calibri"/>
              </a:rPr>
              <a:t>🖼  FIGURA: Figuras 21-24 — Comparación LTI vs NL:
θm(t), ωm(t), Tm(t), Ts°(t)
(curvas en negro = diferencia entre modelos)</a:t>
            </a:r>
          </a:p>
        </p:txBody>
      </p:sp>
      <p:sp>
        <p:nvSpPr>
          <p:cNvPr id="9" name="TextBox 8"/>
          <p:cNvSpPr txBox="1"/>
          <p:nvPr/>
        </p:nvSpPr>
        <p:spPr>
          <a:xfrm>
            <a:off x="457200" y="280720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TextBox 9"/>
          <p:cNvSpPr txBox="1"/>
          <p:nvPr/>
        </p:nvSpPr>
        <p:spPr>
          <a:xfrm>
            <a:off x="6583680" y="777240"/>
            <a:ext cx="5486400" cy="365760"/>
          </a:xfrm>
          <a:prstGeom prst="rect">
            <a:avLst/>
          </a:prstGeom>
          <a:noFill/>
        </p:spPr>
        <p:txBody>
          <a:bodyPr wrap="square">
            <a:spAutoFit/>
          </a:bodyPr>
          <a:lstStyle/>
          <a:p>
            <a:pPr algn="l"/>
            <a:r>
              <a:rPr sz="1400" b="1" i="0">
                <a:solidFill>
                  <a:srgbClr val="1A3A6B"/>
                </a:solidFill>
                <a:latin typeface="Calibri"/>
              </a:rPr>
              <a:t>Conclusiones de la comparación:</a:t>
            </a:r>
          </a:p>
        </p:txBody>
      </p:sp>
      <p:sp>
        <p:nvSpPr>
          <p:cNvPr id="11" name="TextBox 10"/>
          <p:cNvSpPr txBox="1"/>
          <p:nvPr/>
        </p:nvSpPr>
        <p:spPr>
          <a:xfrm>
            <a:off x="6583680" y="1207008"/>
            <a:ext cx="5486400" cy="3090672"/>
          </a:xfrm>
          <a:prstGeom prst="rect">
            <a:avLst/>
          </a:prstGeom>
          <a:noFill/>
        </p:spPr>
        <p:txBody>
          <a:bodyPr wrap="square">
            <a:spAutoFit/>
          </a:bodyPr>
          <a:lstStyle/>
          <a:p>
            <a:r>
              <a:rPr sz="1350">
                <a:solidFill>
                  <a:srgbClr val="1A1A2E"/>
                </a:solidFill>
                <a:latin typeface="Calibri"/>
              </a:rPr>
              <a:t>El modelo LTI reproduce adecuadamente la dinámica del NL — las discrepancias son pequeñas y acotadas</a:t>
            </a:r>
          </a:p>
          <a:p>
            <a:pPr>
              <a:spcBef>
                <a:spcPts val="400"/>
              </a:spcBef>
            </a:pPr>
            <a:r>
              <a:rPr sz="1350">
                <a:solidFill>
                  <a:srgbClr val="1A1A2E"/>
                </a:solidFill>
                <a:latin typeface="Calibri"/>
              </a:rPr>
              <a:t>Las diferencias se concentran en los transitorios (cambios de consigna y perturbaciones)</a:t>
            </a:r>
          </a:p>
          <a:p>
            <a:pPr>
              <a:spcBef>
                <a:spcPts val="400"/>
              </a:spcBef>
            </a:pPr>
            <a:r>
              <a:rPr sz="1350">
                <a:solidFill>
                  <a:srgbClr val="1A1A2E"/>
                </a:solidFill>
                <a:latin typeface="Calibri"/>
              </a:rPr>
              <a:t>En régimen permanente el modelo LTI es una buena aproximación</a:t>
            </a:r>
          </a:p>
          <a:p>
            <a:pPr>
              <a:spcBef>
                <a:spcPts val="400"/>
              </a:spcBef>
            </a:pPr>
            <a:r>
              <a:rPr sz="1350">
                <a:solidFill>
                  <a:srgbClr val="1A1A2E"/>
                </a:solidFill>
                <a:latin typeface="Calibri"/>
              </a:rPr>
              <a:t>A mayor tiempo de simulación: la temperatura afecta Rs, lo que separa progresivamente ambas respuestas</a:t>
            </a:r>
          </a:p>
          <a:p>
            <a:pPr>
              <a:spcBef>
                <a:spcPts val="400"/>
              </a:spcBef>
            </a:pPr>
            <a:r>
              <a:rPr sz="1350">
                <a:solidFill>
                  <a:srgbClr val="1A1A2E"/>
                </a:solidFill>
                <a:latin typeface="Calibri"/>
              </a:rPr>
              <a:t>La linealización es válida para el rango ωm &lt; 100 rad/s analizado</a:t>
            </a:r>
          </a:p>
        </p:txBody>
      </p:sp>
      <p:sp>
        <p:nvSpPr>
          <p:cNvPr id="12" name="Rectangle 11"/>
          <p:cNvSpPr/>
          <p:nvPr/>
        </p:nvSpPr>
        <p:spPr>
          <a:xfrm>
            <a:off x="365760" y="4736592"/>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4782312"/>
            <a:ext cx="11155680" cy="713232"/>
          </a:xfrm>
          <a:prstGeom prst="rect">
            <a:avLst/>
          </a:prstGeom>
          <a:noFill/>
        </p:spPr>
        <p:txBody>
          <a:bodyPr wrap="square">
            <a:spAutoFit/>
          </a:bodyPr>
          <a:lstStyle/>
          <a:p>
            <a:pPr algn="l"/>
            <a:r>
              <a:rPr sz="1300">
                <a:solidFill>
                  <a:srgbClr val="1A3A6B"/>
                </a:solidFill>
                <a:latin typeface="Calibri"/>
              </a:rPr>
              <a:t>Conclusión: el modelo LTI equivalente aumentado es suficientemente preciso para el diseño del sistema de control en el rango de operación normal del accionamiento.</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p:sp>
        <p:nvSpPr>
          <p:cNvPr id="8" name="TextBox 7"/>
          <p:cNvSpPr txBox="1"/>
          <p:nvPr/>
        </p:nvSpPr>
        <p:spPr>
          <a:xfrm>
            <a:off x="365760" y="1261872"/>
            <a:ext cx="5486400" cy="347472"/>
          </a:xfrm>
          <a:prstGeom prst="rect">
            <a:avLst/>
          </a:prstGeom>
          <a:noFill/>
        </p:spPr>
        <p:txBody>
          <a:bodyPr wrap="square">
            <a:spAutoFit/>
          </a:bodyPr>
          <a:lstStyle/>
          <a:p>
            <a:pPr algn="l"/>
            <a:r>
              <a:rPr sz="1400" b="1" i="0">
                <a:solidFill>
                  <a:srgbClr val="1A3A6B"/>
                </a:solidFill>
                <a:latin typeface="Calibri"/>
              </a:rPr>
              <a:t>Tabla para ωm(t):</a:t>
            </a:r>
          </a:p>
        </p:txBody>
      </p:sp>
      <p:graphicFrame>
        <p:nvGraphicFramePr>
          <p:cNvPr id="9" name="Table 8"/>
          <p:cNvGraphicFramePr>
            <a:graphicFrameLocks noGrp="1"/>
          </p:cNvGraphicFramePr>
          <p:nvPr/>
        </p:nvGraphicFramePr>
        <p:xfrm>
          <a:off x="365760" y="1664208"/>
          <a:ext cx="7772400" cy="1828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5720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457200">
                <a:tc>
                  <a:txBody>
                    <a:bodyPr/>
                    <a:lstStyle/>
                    <a:p>
                      <a:r>
                        <a:rPr sz="1200">
                          <a:latin typeface="Calibri"/>
                        </a:rPr>
                        <a:t>0.1000</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22.97</a:t>
                      </a:r>
                    </a:p>
                  </a:txBody>
                  <a:tcPr/>
                </a:tc>
                <a:tc>
                  <a:txBody>
                    <a:bodyPr/>
                    <a:lstStyle/>
                    <a:p>
                      <a:r>
                        <a:rPr sz="1200">
                          <a:latin typeface="Calibri"/>
                        </a:rPr>
                        <a:t>403.0</a:t>
                      </a:r>
                    </a:p>
                  </a:txBody>
                  <a:tcPr/>
                </a:tc>
                <a:extLst>
                  <a:ext uri="{0D108BD9-81ED-4DB2-BD59-A6C34878D82A}">
                    <a16:rowId xmlns:a16="http://schemas.microsoft.com/office/drawing/2014/main" val="10001"/>
                  </a:ext>
                </a:extLst>
              </a:tr>
              <a:tr h="457200">
                <a:tc>
                  <a:txBody>
                    <a:bodyPr/>
                    <a:lstStyle/>
                    <a:p>
                      <a:r>
                        <a:rPr sz="1200">
                          <a:latin typeface="Calibri"/>
                        </a:rPr>
                        <a:t>0.3000</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27.13</a:t>
                      </a:r>
                    </a:p>
                  </a:txBody>
                  <a:tcPr>
                    <a:solidFill>
                      <a:srgbClr val="F0F4F8"/>
                    </a:solidFill>
                  </a:tcPr>
                </a:tc>
                <a:tc>
                  <a:txBody>
                    <a:bodyPr/>
                    <a:lstStyle/>
                    <a:p>
                      <a:r>
                        <a:rPr sz="1200">
                          <a:latin typeface="Calibri"/>
                        </a:rPr>
                        <a:t>388.0</a:t>
                      </a:r>
                    </a:p>
                  </a:txBody>
                  <a:tcPr>
                    <a:solidFill>
                      <a:srgbClr val="F0F4F8"/>
                    </a:solidFill>
                  </a:tcPr>
                </a:tc>
                <a:extLst>
                  <a:ext uri="{0D108BD9-81ED-4DB2-BD59-A6C34878D82A}">
                    <a16:rowId xmlns:a16="http://schemas.microsoft.com/office/drawing/2014/main" val="10002"/>
                  </a:ext>
                </a:extLst>
              </a:tr>
              <a:tr h="457200">
                <a:tc>
                  <a:txBody>
                    <a:bodyPr/>
                    <a:lstStyle/>
                    <a:p>
                      <a:r>
                        <a:rPr sz="1200">
                          <a:latin typeface="Calibri"/>
                        </a:rPr>
                        <a:t>0.5000</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42.24</a:t>
                      </a:r>
                    </a:p>
                  </a:txBody>
                  <a:tcPr/>
                </a:tc>
                <a:tc>
                  <a:txBody>
                    <a:bodyPr/>
                    <a:lstStyle/>
                    <a:p>
                      <a:r>
                        <a:rPr sz="1200">
                          <a:latin typeface="Calibri"/>
                        </a:rPr>
                        <a:t>414.4</a:t>
                      </a:r>
                    </a:p>
                  </a:txBody>
                  <a:tcPr/>
                </a:tc>
                <a:extLst>
                  <a:ext uri="{0D108BD9-81ED-4DB2-BD59-A6C34878D82A}">
                    <a16:rowId xmlns:a16="http://schemas.microsoft.com/office/drawing/2014/main" val="10003"/>
                  </a:ext>
                </a:extLst>
              </a:tr>
            </a:tbl>
          </a:graphicData>
        </a:graphic>
      </p:graphicFrame>
      <p:sp>
        <p:nvSpPr>
          <p:cNvPr id="10" name="TextBox 9"/>
          <p:cNvSpPr txBox="1"/>
          <p:nvPr/>
        </p:nvSpPr>
        <p:spPr>
          <a:xfrm>
            <a:off x="365760" y="3703320"/>
            <a:ext cx="7772400" cy="347472"/>
          </a:xfrm>
          <a:prstGeom prst="rect">
            <a:avLst/>
          </a:prstGeom>
          <a:noFill/>
        </p:spPr>
        <p:txBody>
          <a:bodyPr wrap="square">
            <a:spAutoFit/>
          </a:bodyPr>
          <a:lstStyle/>
          <a:p>
            <a:pPr algn="l"/>
            <a:r>
              <a:rPr sz="1400" b="1" i="0">
                <a:solidFill>
                  <a:srgbClr val="1A3A6B"/>
                </a:solidFill>
                <a:latin typeface="Calibri"/>
              </a:rPr>
              <a:t>Tabla para iqs^r(t):</a:t>
            </a:r>
          </a:p>
        </p:txBody>
      </p:sp>
      <p:graphicFrame>
        <p:nvGraphicFramePr>
          <p:cNvPr id="11" name="Table 10"/>
          <p:cNvGraphicFramePr>
            <a:graphicFrameLocks noGrp="1"/>
          </p:cNvGraphicFramePr>
          <p:nvPr/>
        </p:nvGraphicFramePr>
        <p:xfrm>
          <a:off x="365760" y="4114800"/>
          <a:ext cx="7772400" cy="242316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0386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iqs RP [A]</a:t>
                      </a:r>
                    </a:p>
                  </a:txBody>
                  <a:tcPr>
                    <a:solidFill>
                      <a:srgbClr val="1A3A6B"/>
                    </a:solidFill>
                  </a:tcPr>
                </a:tc>
                <a:extLst>
                  <a:ext uri="{0D108BD9-81ED-4DB2-BD59-A6C34878D82A}">
                    <a16:rowId xmlns:a16="http://schemas.microsoft.com/office/drawing/2014/main" val="10000"/>
                  </a:ext>
                </a:extLst>
              </a:tr>
              <a:tr h="403860">
                <a:tc>
                  <a:txBody>
                    <a:bodyPr/>
                    <a:lstStyle/>
                    <a:p>
                      <a:r>
                        <a:rPr sz="1200">
                          <a:latin typeface="Calibri"/>
                        </a:rPr>
                        <a:t>0.1000</a:t>
                      </a:r>
                    </a:p>
                  </a:txBody>
                  <a:tcPr/>
                </a:tc>
                <a:tc>
                  <a:txBody>
                    <a:bodyPr/>
                    <a:lstStyle/>
                    <a:p>
                      <a:r>
                        <a:rPr sz="1200">
                          <a:latin typeface="Calibri"/>
                        </a:rPr>
                        <a:t>200.0</a:t>
                      </a:r>
                    </a:p>
                  </a:txBody>
                  <a:tcPr/>
                </a:tc>
                <a:tc>
                  <a:txBody>
                    <a:bodyPr/>
                    <a:lstStyle/>
                    <a:p>
                      <a:r>
                        <a:rPr sz="1200">
                          <a:latin typeface="Calibri"/>
                        </a:rPr>
                        <a:t>200.0</a:t>
                      </a:r>
                    </a:p>
                  </a:txBody>
                  <a:tcPr/>
                </a:tc>
                <a:tc>
                  <a:txBody>
                    <a:bodyPr/>
                    <a:lstStyle/>
                    <a:p>
                      <a:r>
                        <a:rPr sz="1200">
                          <a:latin typeface="Calibri"/>
                        </a:rPr>
                        <a:t>3897.8</a:t>
                      </a:r>
                    </a:p>
                  </a:txBody>
                  <a:tcPr/>
                </a:tc>
                <a:tc>
                  <a:txBody>
                    <a:bodyPr/>
                    <a:lstStyle/>
                    <a:p>
                      <a:r>
                        <a:rPr sz="1200">
                          <a:latin typeface="Calibri"/>
                        </a:rPr>
                        <a:t>0.285</a:t>
                      </a:r>
                    </a:p>
                  </a:txBody>
                  <a:tcPr/>
                </a:tc>
                <a:extLst>
                  <a:ext uri="{0D108BD9-81ED-4DB2-BD59-A6C34878D82A}">
                    <a16:rowId xmlns:a16="http://schemas.microsoft.com/office/drawing/2014/main" val="10001"/>
                  </a:ext>
                </a:extLst>
              </a:tr>
              <a:tr h="403860">
                <a:tc>
                  <a:txBody>
                    <a:bodyPr/>
                    <a:lstStyle/>
                    <a:p>
                      <a:r>
                        <a:rPr sz="1200">
                          <a:latin typeface="Calibri"/>
                        </a:rPr>
                        <a:t>0.3000</a:t>
                      </a:r>
                    </a:p>
                  </a:txBody>
                  <a:tcPr>
                    <a:solidFill>
                      <a:srgbClr val="F0F4F8"/>
                    </a:solidFill>
                  </a:tcPr>
                </a:tc>
                <a:tc>
                  <a:txBody>
                    <a:bodyPr/>
                    <a:lstStyle/>
                    <a:p>
                      <a:r>
                        <a:rPr sz="1200">
                          <a:latin typeface="Calibri"/>
                        </a:rPr>
                        <a:t>10.0</a:t>
                      </a:r>
                    </a:p>
                  </a:txBody>
                  <a:tcPr>
                    <a:solidFill>
                      <a:srgbClr val="F0F4F8"/>
                    </a:solidFill>
                  </a:tcPr>
                </a:tc>
                <a:tc>
                  <a:txBody>
                    <a:bodyPr/>
                    <a:lstStyle/>
                    <a:p>
                      <a:r>
                        <a:rPr sz="1200">
                          <a:latin typeface="Calibri"/>
                        </a:rPr>
                        <a:t>164.3</a:t>
                      </a:r>
                    </a:p>
                  </a:txBody>
                  <a:tcPr>
                    <a:solidFill>
                      <a:srgbClr val="F0F4F8"/>
                    </a:solidFill>
                  </a:tcPr>
                </a:tc>
                <a:tc>
                  <a:txBody>
                    <a:bodyPr/>
                    <a:lstStyle/>
                    <a:p>
                      <a:r>
                        <a:rPr sz="1200">
                          <a:latin typeface="Calibri"/>
                        </a:rPr>
                        <a:t>8.76</a:t>
                      </a:r>
                    </a:p>
                  </a:txBody>
                  <a:tcPr>
                    <a:solidFill>
                      <a:srgbClr val="F0F4F8"/>
                    </a:solidFill>
                  </a:tcPr>
                </a:tc>
                <a:tc>
                  <a:txBody>
                    <a:bodyPr/>
                    <a:lstStyle/>
                    <a:p>
                      <a:r>
                        <a:rPr sz="1200">
                          <a:latin typeface="Calibri"/>
                        </a:rPr>
                        <a:t>1.115</a:t>
                      </a:r>
                    </a:p>
                  </a:txBody>
                  <a:tcPr>
                    <a:solidFill>
                      <a:srgbClr val="F0F4F8"/>
                    </a:solidFill>
                  </a:tcPr>
                </a:tc>
                <a:extLst>
                  <a:ext uri="{0D108BD9-81ED-4DB2-BD59-A6C34878D82A}">
                    <a16:rowId xmlns:a16="http://schemas.microsoft.com/office/drawing/2014/main" val="10002"/>
                  </a:ext>
                </a:extLst>
              </a:tr>
              <a:tr h="403860">
                <a:tc>
                  <a:txBody>
                    <a:bodyPr/>
                    <a:lstStyle/>
                    <a:p>
                      <a:r>
                        <a:rPr sz="1200">
                          <a:latin typeface="Calibri"/>
                        </a:rPr>
                        <a:t>0.5000</a:t>
                      </a:r>
                    </a:p>
                  </a:txBody>
                  <a:tcPr/>
                </a:tc>
                <a:tc>
                  <a:txBody>
                    <a:bodyPr/>
                    <a:lstStyle/>
                    <a:p>
                      <a:r>
                        <a:rPr sz="1200">
                          <a:latin typeface="Calibri"/>
                        </a:rPr>
                        <a:t>9.0</a:t>
                      </a:r>
                    </a:p>
                  </a:txBody>
                  <a:tcPr/>
                </a:tc>
                <a:tc>
                  <a:txBody>
                    <a:bodyPr/>
                    <a:lstStyle/>
                    <a:p>
                      <a:r>
                        <a:rPr sz="1200">
                          <a:latin typeface="Calibri"/>
                        </a:rPr>
                        <a:t>138.6</a:t>
                      </a:r>
                    </a:p>
                  </a:txBody>
                  <a:tcPr/>
                </a:tc>
                <a:tc>
                  <a:txBody>
                    <a:bodyPr/>
                    <a:lstStyle/>
                    <a:p>
                      <a:r>
                        <a:rPr sz="1200">
                          <a:latin typeface="Calibri"/>
                        </a:rPr>
                        <a:t>20.89</a:t>
                      </a:r>
                    </a:p>
                  </a:txBody>
                  <a:tcPr/>
                </a:tc>
                <a:tc>
                  <a:txBody>
                    <a:bodyPr/>
                    <a:lstStyle/>
                    <a:p>
                      <a:r>
                        <a:rPr sz="1200">
                          <a:latin typeface="Calibri"/>
                        </a:rPr>
                        <a:t>−0.337</a:t>
                      </a:r>
                    </a:p>
                  </a:txBody>
                  <a:tcPr/>
                </a:tc>
                <a:extLst>
                  <a:ext uri="{0D108BD9-81ED-4DB2-BD59-A6C34878D82A}">
                    <a16:rowId xmlns:a16="http://schemas.microsoft.com/office/drawing/2014/main" val="10003"/>
                  </a:ext>
                </a:extLst>
              </a:tr>
              <a:tr h="403860">
                <a:tc>
                  <a:txBody>
                    <a:bodyPr/>
                    <a:lstStyle/>
                    <a:p>
                      <a:r>
                        <a:rPr sz="1200">
                          <a:latin typeface="Calibri"/>
                        </a:rPr>
                        <a:t>0.7000</a:t>
                      </a:r>
                    </a:p>
                  </a:txBody>
                  <a:tcPr>
                    <a:solidFill>
                      <a:srgbClr val="F0F4F8"/>
                    </a:solidFill>
                  </a:tcPr>
                </a:tc>
                <a:tc>
                  <a:txBody>
                    <a:bodyPr/>
                    <a:lstStyle/>
                    <a:p>
                      <a:r>
                        <a:rPr sz="1200">
                          <a:latin typeface="Calibri"/>
                        </a:rPr>
                        <a:t>200.0</a:t>
                      </a:r>
                    </a:p>
                  </a:txBody>
                  <a:tcPr>
                    <a:solidFill>
                      <a:srgbClr val="F0F4F8"/>
                    </a:solidFill>
                  </a:tcPr>
                </a:tc>
                <a:tc>
                  <a:txBody>
                    <a:bodyPr/>
                    <a:lstStyle/>
                    <a:p>
                      <a:r>
                        <a:rPr sz="1200">
                          <a:latin typeface="Calibri"/>
                        </a:rPr>
                        <a:t>119.6</a:t>
                      </a:r>
                    </a:p>
                  </a:txBody>
                  <a:tcPr>
                    <a:solidFill>
                      <a:srgbClr val="F0F4F8"/>
                    </a:solidFill>
                  </a:tcPr>
                </a:tc>
                <a:tc>
                  <a:txBody>
                    <a:bodyPr/>
                    <a:lstStyle/>
                    <a:p>
                      <a:r>
                        <a:rPr sz="1200">
                          <a:latin typeface="Calibri"/>
                        </a:rPr>
                        <a:t>8568.4</a:t>
                      </a:r>
                    </a:p>
                  </a:txBody>
                  <a:tcPr>
                    <a:solidFill>
                      <a:srgbClr val="F0F4F8"/>
                    </a:solidFill>
                  </a:tcPr>
                </a:tc>
                <a:tc>
                  <a:txBody>
                    <a:bodyPr/>
                    <a:lstStyle/>
                    <a:p>
                      <a:r>
                        <a:rPr sz="1200">
                          <a:latin typeface="Calibri"/>
                        </a:rPr>
                        <a:t>−0.469</a:t>
                      </a:r>
                    </a:p>
                  </a:txBody>
                  <a:tcPr>
                    <a:solidFill>
                      <a:srgbClr val="F0F4F8"/>
                    </a:solidFill>
                  </a:tcPr>
                </a:tc>
                <a:extLst>
                  <a:ext uri="{0D108BD9-81ED-4DB2-BD59-A6C34878D82A}">
                    <a16:rowId xmlns:a16="http://schemas.microsoft.com/office/drawing/2014/main" val="10004"/>
                  </a:ext>
                </a:extLst>
              </a:tr>
              <a:tr h="403860">
                <a:tc>
                  <a:txBody>
                    <a:bodyPr/>
                    <a:lstStyle/>
                    <a:p>
                      <a:r>
                        <a:rPr sz="1200">
                          <a:latin typeface="Calibri"/>
                        </a:rPr>
                        <a:t>0.9000</a:t>
                      </a:r>
                    </a:p>
                  </a:txBody>
                  <a:tcPr/>
                </a:tc>
                <a:tc>
                  <a:txBody>
                    <a:bodyPr/>
                    <a:lstStyle/>
                    <a:p>
                      <a:r>
                        <a:rPr sz="1200">
                          <a:latin typeface="Calibri"/>
                        </a:rPr>
                        <a:t>9.0</a:t>
                      </a:r>
                    </a:p>
                  </a:txBody>
                  <a:tcPr/>
                </a:tc>
                <a:tc>
                  <a:txBody>
                    <a:bodyPr/>
                    <a:lstStyle/>
                    <a:p>
                      <a:r>
                        <a:rPr sz="1200">
                          <a:latin typeface="Calibri"/>
                        </a:rPr>
                        <a:t>51.6</a:t>
                      </a:r>
                    </a:p>
                  </a:txBody>
                  <a:tcPr/>
                </a:tc>
                <a:tc>
                  <a:txBody>
                    <a:bodyPr/>
                    <a:lstStyle/>
                    <a:p>
                      <a:r>
                        <a:rPr sz="1200">
                          <a:latin typeface="Calibri"/>
                        </a:rPr>
                        <a:t>21.23</a:t>
                      </a:r>
                    </a:p>
                  </a:txBody>
                  <a:tcPr/>
                </a:tc>
                <a:tc>
                  <a:txBody>
                    <a:bodyPr/>
                    <a:lstStyle/>
                    <a:p>
                      <a:r>
                        <a:rPr sz="1200">
                          <a:latin typeface="Calibri"/>
                        </a:rPr>
                        <a:t>0.254</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8366760" y="3703320"/>
            <a:ext cx="3520440" cy="1371600"/>
          </a:xfrm>
          <a:prstGeom prst="rect">
            <a:avLst/>
          </a:prstGeom>
          <a:noFill/>
        </p:spPr>
        <p:txBody>
          <a:bodyPr wrap="square">
            <a:spAutoFit/>
          </a:bodyPr>
          <a:lstStyle/>
          <a:p>
            <a:pPr algn="l"/>
            <a:r>
              <a:rPr sz="1300" b="0" i="0">
                <a:solidFill>
                  <a:srgbClr val="1A1A2E"/>
                </a:solidFill>
                <a:latin typeface="Calibri"/>
              </a:rPr>
              <a:t>Los cambios de tensión vqs^r afectan principalmente ωm; las perturbaciones de carga Tld impactan principalmente en iqs^r.</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El ángulo de desfasaje δ(t) se define como el desplazamiento angular entre la coordenada eléctrica de tensión θev(t) y la coordenada eléctrica del rotor θr(t):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δ(t) = θev(t) − θr(t)     →     indica el desfasaje entre el campo girador de tensión y el rotor</a:t>
            </a:r>
          </a:p>
        </p:txBody>
      </p:sp>
      <p:sp>
        <p:nvSpPr>
          <p:cNvPr id="10" name="Rectangle 9"/>
          <p:cNvSpPr/>
          <p:nvPr/>
        </p:nvSpPr>
        <p:spPr>
          <a:xfrm>
            <a:off x="365760" y="2011680"/>
            <a:ext cx="7772400" cy="36576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566160"/>
            <a:ext cx="7589520" cy="548640"/>
          </a:xfrm>
          <a:prstGeom prst="rect">
            <a:avLst/>
          </a:prstGeom>
          <a:noFill/>
        </p:spPr>
        <p:txBody>
          <a:bodyPr wrap="square">
            <a:spAutoFit/>
          </a:bodyPr>
          <a:lstStyle/>
          <a:p>
            <a:pPr algn="ctr"/>
            <a:r>
              <a:rPr sz="1100" b="1">
                <a:solidFill>
                  <a:srgbClr val="C35A00"/>
                </a:solidFill>
                <a:latin typeface="Calibri"/>
              </a:rPr>
              <a:t>🖼  FIGURA: Figura 26 — Evolución temporal de δ(t) durante la simulación
(compárese con los cuadrantes de operación identificados en la curva Tm–ωm)</a:t>
            </a:r>
          </a:p>
        </p:txBody>
      </p:sp>
      <p:sp>
        <p:nvSpPr>
          <p:cNvPr id="12" name="TextBox 11"/>
          <p:cNvSpPr txBox="1"/>
          <p:nvPr/>
        </p:nvSpPr>
        <p:spPr>
          <a:xfrm>
            <a:off x="457200" y="3950208"/>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8412480" y="777240"/>
            <a:ext cx="3566160" cy="365760"/>
          </a:xfrm>
          <a:prstGeom prst="rect">
            <a:avLst/>
          </a:prstGeom>
          <a:noFill/>
        </p:spPr>
        <p:txBody>
          <a:bodyPr wrap="square">
            <a:spAutoFit/>
          </a:bodyPr>
          <a:lstStyle/>
          <a:p>
            <a:pPr algn="l"/>
            <a:r>
              <a:rPr sz="1400" b="1" i="0">
                <a:solidFill>
                  <a:srgbClr val="1A3A6B"/>
                </a:solidFill>
                <a:latin typeface="Calibri"/>
              </a:rPr>
              <a:t>Consistencia con los cuadrantes de operación:</a:t>
            </a:r>
          </a:p>
        </p:txBody>
      </p:sp>
      <p:sp>
        <p:nvSpPr>
          <p:cNvPr id="14" name="TextBox 13"/>
          <p:cNvSpPr txBox="1"/>
          <p:nvPr/>
        </p:nvSpPr>
        <p:spPr>
          <a:xfrm>
            <a:off x="8412480" y="1261872"/>
            <a:ext cx="3566160" cy="4114800"/>
          </a:xfrm>
          <a:prstGeom prst="rect">
            <a:avLst/>
          </a:prstGeom>
          <a:noFill/>
        </p:spPr>
        <p:txBody>
          <a:bodyPr wrap="square">
            <a:spAutoFit/>
          </a:bodyPr>
          <a:lstStyle/>
          <a:p>
            <a:r>
              <a:rPr sz="1350">
                <a:solidFill>
                  <a:srgbClr val="1A1A2E"/>
                </a:solidFill>
                <a:latin typeface="Calibri"/>
              </a:rPr>
              <a:t>δ(t) &gt; 0: motorización directa y frenado regen. inverso  (1°  y 2°  cuadrante)</a:t>
            </a:r>
          </a:p>
          <a:p>
            <a:pPr>
              <a:spcBef>
                <a:spcPts val="400"/>
              </a:spcBef>
            </a:pPr>
            <a:r>
              <a:rPr sz="1350">
                <a:solidFill>
                  <a:srgbClr val="1A1A2E"/>
                </a:solidFill>
                <a:latin typeface="Calibri"/>
              </a:rPr>
              <a:t>δ(t) &lt; 0: frenado regen. directo y motorización inversa  (4°  y 3°  cuadrante)</a:t>
            </a:r>
          </a:p>
          <a:p>
            <a:pPr>
              <a:spcBef>
                <a:spcPts val="400"/>
              </a:spcBef>
            </a:pPr>
            <a:r>
              <a:rPr sz="1350">
                <a:solidFill>
                  <a:srgbClr val="1A1A2E"/>
                </a:solidFill>
                <a:latin typeface="Calibri"/>
              </a:rPr>
              <a:t>El signo de δ(t) es coherente con los signos de ωm y Tm — confirma la consistencia del modelo</a:t>
            </a:r>
          </a:p>
          <a:p>
            <a:pPr>
              <a:spcBef>
                <a:spcPts val="400"/>
              </a:spcBef>
            </a:pPr>
            <a:r>
              <a:rPr sz="1350">
                <a:solidFill>
                  <a:srgbClr val="1A1A2E"/>
                </a:solidFill>
                <a:latin typeface="Calibri"/>
              </a:rPr>
              <a:t>Los transitorios de δ coinciden temporalmente con los cambios de consigna y perturbaciones</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Modulador de Torque Equivalente</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Control vectorial de corriente · Lazo interno del esquema en cascada</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Arquitectura de control en cascada</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457200"/>
          </a:xfrm>
          <a:prstGeom prst="rect">
            <a:avLst/>
          </a:prstGeom>
          <a:noFill/>
        </p:spPr>
        <p:txBody>
          <a:bodyPr wrap="square">
            <a:spAutoFit/>
          </a:bodyPr>
          <a:lstStyle/>
          <a:p>
            <a:pPr algn="l"/>
            <a:r>
              <a:rPr sz="1400" b="0" i="0">
                <a:solidFill>
                  <a:srgbClr val="1A1A2E"/>
                </a:solidFill>
                <a:latin typeface="Calibri"/>
              </a:rPr>
              <a:t>Se adopta una estructura de control en cascada con dos niveles jerárquicos:</a:t>
            </a:r>
          </a:p>
        </p:txBody>
      </p:sp>
      <p:sp>
        <p:nvSpPr>
          <p:cNvPr id="8" name="TextBox 7"/>
          <p:cNvSpPr txBox="1"/>
          <p:nvPr/>
        </p:nvSpPr>
        <p:spPr>
          <a:xfrm>
            <a:off x="365760" y="1298448"/>
            <a:ext cx="11430000" cy="1188720"/>
          </a:xfrm>
          <a:prstGeom prst="rect">
            <a:avLst/>
          </a:prstGeom>
          <a:noFill/>
        </p:spPr>
        <p:txBody>
          <a:bodyPr wrap="square">
            <a:spAutoFit/>
          </a:bodyPr>
          <a:lstStyle/>
          <a:p>
            <a:r>
              <a:rPr sz="1350" b="1">
                <a:solidFill>
                  <a:srgbClr val="1A3A6B"/>
                </a:solidFill>
                <a:latin typeface="Calibri"/>
              </a:rPr>
              <a:t>Lazo interno (modulador de torque):  regula rápidamente las variables eléctricas (corrientes) para seguir una consigna de torque</a:t>
            </a:r>
          </a:p>
          <a:p>
            <a:pPr>
              <a:spcBef>
                <a:spcPts val="400"/>
              </a:spcBef>
            </a:pPr>
            <a:r>
              <a:rPr sz="1350" b="1">
                <a:solidFill>
                  <a:srgbClr val="1A3A6B"/>
                </a:solidFill>
                <a:latin typeface="Calibri"/>
              </a:rPr>
              <a:t>Lazo externo (PID de movimiento):  genera consignas de torque para seguir la referencia de posición/velocidad</a:t>
            </a:r>
          </a:p>
        </p:txBody>
      </p:sp>
      <p:sp>
        <p:nvSpPr>
          <p:cNvPr id="9" name="TextBox 8"/>
          <p:cNvSpPr txBox="1"/>
          <p:nvPr/>
        </p:nvSpPr>
        <p:spPr>
          <a:xfrm>
            <a:off x="365760" y="2633472"/>
            <a:ext cx="11430000" cy="365760"/>
          </a:xfrm>
          <a:prstGeom prst="rect">
            <a:avLst/>
          </a:prstGeom>
          <a:noFill/>
        </p:spPr>
        <p:txBody>
          <a:bodyPr wrap="square">
            <a:spAutoFit/>
          </a:bodyPr>
          <a:lstStyle/>
          <a:p>
            <a:pPr algn="l"/>
            <a:r>
              <a:rPr sz="1400" b="1" i="0">
                <a:solidFill>
                  <a:srgbClr val="1A3A6B"/>
                </a:solidFill>
                <a:latin typeface="Calibri"/>
              </a:rPr>
              <a:t>Bloques principales del sistema de control:</a:t>
            </a:r>
          </a:p>
        </p:txBody>
      </p:sp>
      <p:graphicFrame>
        <p:nvGraphicFramePr>
          <p:cNvPr id="10" name="Table 9"/>
          <p:cNvGraphicFramePr>
            <a:graphicFrameLocks noGrp="1"/>
          </p:cNvGraphicFramePr>
          <p:nvPr/>
        </p:nvGraphicFramePr>
        <p:xfrm>
          <a:off x="365760" y="3063240"/>
          <a:ext cx="11430000" cy="31089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44137">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Función</a:t>
                      </a:r>
                    </a:p>
                  </a:txBody>
                  <a:tcPr>
                    <a:solidFill>
                      <a:srgbClr val="1A3A6B"/>
                    </a:solidFill>
                  </a:tcPr>
                </a:tc>
                <a:tc>
                  <a:txBody>
                    <a:bodyPr/>
                    <a:lstStyle/>
                    <a:p>
                      <a:r>
                        <a:rPr sz="1200" b="1">
                          <a:solidFill>
                            <a:srgbClr val="FFFFFF"/>
                          </a:solidFill>
                          <a:latin typeface="Calibri"/>
                        </a:rPr>
                        <a:t>Velocidad de respuesta</a:t>
                      </a:r>
                    </a:p>
                  </a:txBody>
                  <a:tcPr>
                    <a:solidFill>
                      <a:srgbClr val="1A3A6B"/>
                    </a:solidFill>
                  </a:tcPr>
                </a:tc>
                <a:extLst>
                  <a:ext uri="{0D108BD9-81ED-4DB2-BD59-A6C34878D82A}">
                    <a16:rowId xmlns:a16="http://schemas.microsoft.com/office/drawing/2014/main" val="10000"/>
                  </a:ext>
                </a:extLst>
              </a:tr>
              <a:tr h="444137">
                <a:tc>
                  <a:txBody>
                    <a:bodyPr/>
                    <a:lstStyle/>
                    <a:p>
                      <a:r>
                        <a:rPr sz="1200">
                          <a:latin typeface="Calibri"/>
                        </a:rPr>
                        <a:t>Modulador de tensión</a:t>
                      </a:r>
                    </a:p>
                  </a:txBody>
                  <a:tcPr/>
                </a:tc>
                <a:tc>
                  <a:txBody>
                    <a:bodyPr/>
                    <a:lstStyle/>
                    <a:p>
                      <a:r>
                        <a:rPr sz="1200">
                          <a:latin typeface="Calibri"/>
                        </a:rPr>
                        <a:t>vqs^r → vabc aplicadas al motor (inversor PWM)</a:t>
                      </a:r>
                    </a:p>
                  </a:txBody>
                  <a:tcPr/>
                </a:tc>
                <a:tc>
                  <a:txBody>
                    <a:bodyPr/>
                    <a:lstStyle/>
                    <a:p>
                      <a:r>
                        <a:rPr sz="1200">
                          <a:latin typeface="Calibri"/>
                        </a:rPr>
                        <a:t>Más rápido del sistema</a:t>
                      </a:r>
                    </a:p>
                  </a:txBody>
                  <a:tcPr/>
                </a:tc>
                <a:extLst>
                  <a:ext uri="{0D108BD9-81ED-4DB2-BD59-A6C34878D82A}">
                    <a16:rowId xmlns:a16="http://schemas.microsoft.com/office/drawing/2014/main" val="10001"/>
                  </a:ext>
                </a:extLst>
              </a:tr>
              <a:tr h="444137">
                <a:tc>
                  <a:txBody>
                    <a:bodyPr/>
                    <a:lstStyle/>
                    <a:p>
                      <a:r>
                        <a:rPr sz="1200">
                          <a:latin typeface="Calibri"/>
                        </a:rPr>
                        <a:t>Modulador de corriente</a:t>
                      </a:r>
                    </a:p>
                  </a:txBody>
                  <a:tcPr>
                    <a:solidFill>
                      <a:srgbClr val="F0F4F8"/>
                    </a:solidFill>
                  </a:tcPr>
                </a:tc>
                <a:tc>
                  <a:txBody>
                    <a:bodyPr/>
                    <a:lstStyle/>
                    <a:p>
                      <a:r>
                        <a:rPr sz="1200">
                          <a:latin typeface="Calibri"/>
                        </a:rPr>
                        <a:t>Compensa acoplamientos e impone iqs^r, ids^r</a:t>
                      </a:r>
                    </a:p>
                  </a:txBody>
                  <a:tcPr>
                    <a:solidFill>
                      <a:srgbClr val="F0F4F8"/>
                    </a:solidFill>
                  </a:tcPr>
                </a:tc>
                <a:tc>
                  <a:txBody>
                    <a:bodyPr/>
                    <a:lstStyle/>
                    <a:p>
                      <a:r>
                        <a:rPr sz="1200">
                          <a:latin typeface="Calibri"/>
                        </a:rPr>
                        <a:t>~5000 rad/s (τcc ≈ 0.2 ms)</a:t>
                      </a:r>
                    </a:p>
                  </a:txBody>
                  <a:tcPr>
                    <a:solidFill>
                      <a:srgbClr val="F0F4F8"/>
                    </a:solidFill>
                  </a:tcPr>
                </a:tc>
                <a:extLst>
                  <a:ext uri="{0D108BD9-81ED-4DB2-BD59-A6C34878D82A}">
                    <a16:rowId xmlns:a16="http://schemas.microsoft.com/office/drawing/2014/main" val="10002"/>
                  </a:ext>
                </a:extLst>
              </a:tr>
              <a:tr h="444137">
                <a:tc>
                  <a:txBody>
                    <a:bodyPr/>
                    <a:lstStyle/>
                    <a:p>
                      <a:r>
                        <a:rPr sz="1200">
                          <a:latin typeface="Calibri"/>
                        </a:rPr>
                        <a:t>Modulador de torque</a:t>
                      </a:r>
                    </a:p>
                  </a:txBody>
                  <a:tcPr/>
                </a:tc>
                <a:tc>
                  <a:txBody>
                    <a:bodyPr/>
                    <a:lstStyle/>
                    <a:p>
                      <a:r>
                        <a:rPr sz="1200">
                          <a:latin typeface="Calibri"/>
                        </a:rPr>
                        <a:t>T*m → i*qs^r (ley de control mínima + feedforward)</a:t>
                      </a:r>
                    </a:p>
                  </a:txBody>
                  <a:tcPr/>
                </a:tc>
                <a:tc>
                  <a:txBody>
                    <a:bodyPr/>
                    <a:lstStyle/>
                    <a:p>
                      <a:r>
                        <a:rPr sz="1200">
                          <a:latin typeface="Calibri"/>
                        </a:rPr>
                        <a:t>~5000 rad/s</a:t>
                      </a:r>
                    </a:p>
                  </a:txBody>
                  <a:tcPr/>
                </a:tc>
                <a:extLst>
                  <a:ext uri="{0D108BD9-81ED-4DB2-BD59-A6C34878D82A}">
                    <a16:rowId xmlns:a16="http://schemas.microsoft.com/office/drawing/2014/main" val="10003"/>
                  </a:ext>
                </a:extLst>
              </a:tr>
              <a:tr h="444137">
                <a:tc>
                  <a:txBody>
                    <a:bodyPr/>
                    <a:lstStyle/>
                    <a:p>
                      <a:r>
                        <a:rPr sz="1200">
                          <a:latin typeface="Calibri"/>
                        </a:rPr>
                        <a:t>Observador de estado</a:t>
                      </a:r>
                    </a:p>
                  </a:txBody>
                  <a:tcPr>
                    <a:solidFill>
                      <a:srgbClr val="F0F4F8"/>
                    </a:solidFill>
                  </a:tcPr>
                </a:tc>
                <a:tc>
                  <a:txBody>
                    <a:bodyPr/>
                    <a:lstStyle/>
                    <a:p>
                      <a:r>
                        <a:rPr sz="1200">
                          <a:latin typeface="Calibri"/>
                        </a:rPr>
                        <a:t>Estima ωm a partir de θm medido</a:t>
                      </a:r>
                    </a:p>
                  </a:txBody>
                  <a:tcPr>
                    <a:solidFill>
                      <a:srgbClr val="F0F4F8"/>
                    </a:solidFill>
                  </a:tcPr>
                </a:tc>
                <a:tc>
                  <a:txBody>
                    <a:bodyPr/>
                    <a:lstStyle/>
                    <a:p>
                      <a:r>
                        <a:rPr sz="1200">
                          <a:latin typeface="Calibri"/>
                        </a:rPr>
                        <a:t>~3200 rad/s</a:t>
                      </a:r>
                    </a:p>
                  </a:txBody>
                  <a:tcPr>
                    <a:solidFill>
                      <a:srgbClr val="F0F4F8"/>
                    </a:solidFill>
                  </a:tcPr>
                </a:tc>
                <a:extLst>
                  <a:ext uri="{0D108BD9-81ED-4DB2-BD59-A6C34878D82A}">
                    <a16:rowId xmlns:a16="http://schemas.microsoft.com/office/drawing/2014/main" val="10004"/>
                  </a:ext>
                </a:extLst>
              </a:tr>
              <a:tr h="444137">
                <a:tc>
                  <a:txBody>
                    <a:bodyPr/>
                    <a:lstStyle/>
                    <a:p>
                      <a:r>
                        <a:rPr sz="1200">
                          <a:latin typeface="Calibri"/>
                        </a:rPr>
                        <a:t>PID externo</a:t>
                      </a:r>
                    </a:p>
                  </a:txBody>
                  <a:tcPr/>
                </a:tc>
                <a:tc>
                  <a:txBody>
                    <a:bodyPr/>
                    <a:lstStyle/>
                    <a:p>
                      <a:r>
                        <a:rPr sz="1200">
                          <a:latin typeface="Calibri"/>
                        </a:rPr>
                        <a:t>θ*m, ω*m → T*m (control de movimiento)</a:t>
                      </a:r>
                    </a:p>
                  </a:txBody>
                  <a:tcPr/>
                </a:tc>
                <a:tc>
                  <a:txBody>
                    <a:bodyPr/>
                    <a:lstStyle/>
                    <a:p>
                      <a:r>
                        <a:rPr sz="1200">
                          <a:latin typeface="Calibri"/>
                        </a:rPr>
                        <a:t>~800 rad/s</a:t>
                      </a:r>
                    </a:p>
                  </a:txBody>
                  <a:tcPr/>
                </a:tc>
                <a:extLst>
                  <a:ext uri="{0D108BD9-81ED-4DB2-BD59-A6C34878D82A}">
                    <a16:rowId xmlns:a16="http://schemas.microsoft.com/office/drawing/2014/main" val="10005"/>
                  </a:ext>
                </a:extLst>
              </a:tr>
              <a:tr h="444138">
                <a:tc>
                  <a:txBody>
                    <a:bodyPr/>
                    <a:lstStyle/>
                    <a:p>
                      <a:r>
                        <a:rPr sz="1200">
                          <a:latin typeface="Calibri"/>
                        </a:rPr>
                        <a:t>Set-point</a:t>
                      </a:r>
                    </a:p>
                  </a:txBody>
                  <a:tcPr>
                    <a:solidFill>
                      <a:srgbClr val="F0F4F8"/>
                    </a:solidFill>
                  </a:tcPr>
                </a:tc>
                <a:tc>
                  <a:txBody>
                    <a:bodyPr/>
                    <a:lstStyle/>
                    <a:p>
                      <a:r>
                        <a:rPr sz="1200">
                          <a:latin typeface="Calibri"/>
                        </a:rPr>
                        <a:t>q*(t) articular → θ*m(t), ω*m(t) del eje motor</a:t>
                      </a:r>
                    </a:p>
                  </a:txBody>
                  <a:tcPr>
                    <a:solidFill>
                      <a:srgbClr val="F0F4F8"/>
                    </a:solidFill>
                  </a:tcPr>
                </a:tc>
                <a:tc>
                  <a:txBody>
                    <a:bodyPr/>
                    <a:lstStyle/>
                    <a:p>
                      <a:r>
                        <a:rPr sz="1200">
                          <a:latin typeface="Calibri"/>
                        </a:rPr>
                        <a:t>Generación de referencia</a:t>
                      </a:r>
                    </a:p>
                  </a:txBody>
                  <a:tcPr>
                    <a:solidFill>
                      <a:srgbClr val="F0F4F8"/>
                    </a:solidFill>
                  </a:tcPr>
                </a:tc>
                <a:extLst>
                  <a:ext uri="{0D108BD9-81ED-4DB2-BD59-A6C34878D82A}">
                    <a16:rowId xmlns:a16="http://schemas.microsoft.com/office/drawing/2014/main" val="10006"/>
                  </a:ext>
                </a:extLst>
              </a:tr>
            </a:tbl>
          </a:graphicData>
        </a:graphic>
      </p:graphicFrame>
      <p:sp>
        <p:nvSpPr>
          <p:cNvPr id="11" name="Rectangle 10"/>
          <p:cNvSpPr/>
          <p:nvPr/>
        </p:nvSpPr>
        <p:spPr>
          <a:xfrm>
            <a:off x="365760" y="6263640"/>
            <a:ext cx="11430000" cy="6858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6309359"/>
            <a:ext cx="11155680" cy="594360"/>
          </a:xfrm>
          <a:prstGeom prst="rect">
            <a:avLst/>
          </a:prstGeom>
          <a:noFill/>
        </p:spPr>
        <p:txBody>
          <a:bodyPr wrap="square">
            <a:spAutoFit/>
          </a:bodyPr>
          <a:lstStyle/>
          <a:p>
            <a:pPr algn="l"/>
            <a:r>
              <a:rPr sz="1300">
                <a:solidFill>
                  <a:srgbClr val="1A3A6B"/>
                </a:solidFill>
                <a:latin typeface="Calibri"/>
              </a:rPr>
              <a:t>La separación de escalas de tiempo (~6:1 entre lazo interno y externo) valida la hipótesis de cascada: el lazo de corriente está prácticamente en régimen permanente cuando el PID externo actúa.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Desacople electromagnético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7" name="TextBox 6"/>
          <p:cNvSpPr txBox="1"/>
          <p:nvPr/>
        </p:nvSpPr>
        <p:spPr>
          <a:xfrm>
            <a:off x="365760" y="777240"/>
            <a:ext cx="11430000" cy="713232"/>
          </a:xfrm>
          <a:prstGeom prst="rect">
            <a:avLst/>
          </a:prstGeom>
          <a:noFill/>
        </p:spPr>
        <p:txBody>
          <a:bodyPr wrap="square">
            <a:spAutoFit/>
          </a:bodyPr>
          <a:lstStyle/>
          <a:p>
            <a:pPr algn="l"/>
            <a:r>
              <a:rPr sz="1400" b="0" i="0">
                <a:solidFill>
                  <a:srgbClr val="1A1A2E"/>
                </a:solidFill>
                <a:latin typeface="Calibri"/>
              </a:rPr>
              <a:t>El modelo del subsistema electromagnético presenta retroalimentaciones físicas naturales: caídas resistivas y acoplamientos cruzados entre ejes q y d a través de ωm. Se compensan sumando feedforward a las consignas de tensión:</a:t>
            </a:r>
          </a:p>
        </p:txBody>
      </p:sp>
      <p:sp>
        <p:nvSpPr>
          <p:cNvPr id="8" name="Rectangle 7"/>
          <p:cNvSpPr/>
          <p:nvPr/>
        </p:nvSpPr>
        <p:spPr>
          <a:xfrm>
            <a:off x="365760" y="155448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54480"/>
            <a:ext cx="11247120" cy="475488"/>
          </a:xfrm>
          <a:prstGeom prst="rect">
            <a:avLst/>
          </a:prstGeom>
          <a:noFill/>
        </p:spPr>
        <p:txBody>
          <a:bodyPr wrap="square">
            <a:spAutoFit/>
          </a:bodyPr>
          <a:lstStyle/>
          <a:p>
            <a:pPr algn="ctr"/>
            <a:r>
              <a:rPr sz="1100" b="1">
                <a:solidFill>
                  <a:srgbClr val="1B6B2A"/>
                </a:solidFill>
                <a:latin typeface="Calibri"/>
              </a:rPr>
              <a:t>📐  ECUACIÓN: vqs^r(t) = v*qs^r(t) + Rs(Ts)·iqs^r + [λ'm + Ld·ids^r]·Pp·ωm(t)     [compensación eje q]</a:t>
            </a:r>
          </a:p>
        </p:txBody>
      </p:sp>
      <p:sp>
        <p:nvSpPr>
          <p:cNvPr id="10" name="Rectangle 9"/>
          <p:cNvSpPr/>
          <p:nvPr/>
        </p:nvSpPr>
        <p:spPr>
          <a:xfrm>
            <a:off x="365760" y="209397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93976"/>
            <a:ext cx="11247120" cy="475488"/>
          </a:xfrm>
          <a:prstGeom prst="rect">
            <a:avLst/>
          </a:prstGeom>
          <a:noFill/>
        </p:spPr>
        <p:txBody>
          <a:bodyPr wrap="square">
            <a:spAutoFit/>
          </a:bodyPr>
          <a:lstStyle/>
          <a:p>
            <a:pPr algn="ctr"/>
            <a:r>
              <a:rPr sz="1100" b="1">
                <a:solidFill>
                  <a:srgbClr val="1B6B2A"/>
                </a:solidFill>
                <a:latin typeface="Calibri"/>
              </a:rPr>
              <a:t>📐  ECUACIÓN: vds^r(t) = v*ds^r(t) + Rs(Ts)·ids^r − Lq·iqs^r·Pp·ωm(t)                    [compensación eje d]</a:t>
            </a:r>
          </a:p>
        </p:txBody>
      </p:sp>
      <p:sp>
        <p:nvSpPr>
          <p:cNvPr id="12" name="TextBox 11"/>
          <p:cNvSpPr txBox="1"/>
          <p:nvPr/>
        </p:nvSpPr>
        <p:spPr>
          <a:xfrm>
            <a:off x="365760" y="2697480"/>
            <a:ext cx="11430000" cy="365760"/>
          </a:xfrm>
          <a:prstGeom prst="rect">
            <a:avLst/>
          </a:prstGeom>
          <a:noFill/>
        </p:spPr>
        <p:txBody>
          <a:bodyPr wrap="square">
            <a:spAutoFit/>
          </a:bodyPr>
          <a:lstStyle/>
          <a:p>
            <a:pPr algn="l"/>
            <a:r>
              <a:rPr sz="1400" b="1" i="0">
                <a:solidFill>
                  <a:srgbClr val="1A3A6B"/>
                </a:solidFill>
                <a:latin typeface="Calibri"/>
              </a:rPr>
              <a:t>Resultado del desacople:</a:t>
            </a:r>
          </a:p>
        </p:txBody>
      </p:sp>
      <p:sp>
        <p:nvSpPr>
          <p:cNvPr id="13" name="Rectangle 12"/>
          <p:cNvSpPr/>
          <p:nvPr/>
        </p:nvSpPr>
        <p:spPr>
          <a:xfrm>
            <a:off x="365760" y="3127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27248"/>
            <a:ext cx="7589520" cy="475488"/>
          </a:xfrm>
          <a:prstGeom prst="rect">
            <a:avLst/>
          </a:prstGeom>
          <a:noFill/>
        </p:spPr>
        <p:txBody>
          <a:bodyPr wrap="square">
            <a:spAutoFit/>
          </a:bodyPr>
          <a:lstStyle/>
          <a:p>
            <a:pPr algn="ctr"/>
            <a:r>
              <a:rPr sz="1100" b="1">
                <a:solidFill>
                  <a:srgbClr val="1B6B2A"/>
                </a:solidFill>
                <a:latin typeface="Calibri"/>
              </a:rPr>
              <a:t>📐  ECUACIÓN: diqs^r/dt = (1/Lq)·v*qs^r(t)     |     dids^r/dt = (1/Ld)·v*ds^r(t)     [Ec. 57]</a:t>
            </a:r>
          </a:p>
        </p:txBody>
      </p:sp>
      <p:sp>
        <p:nvSpPr>
          <p:cNvPr id="15" name="TextBox 14"/>
          <p:cNvSpPr txBox="1"/>
          <p:nvPr/>
        </p:nvSpPr>
        <p:spPr>
          <a:xfrm>
            <a:off x="365760" y="3703320"/>
            <a:ext cx="7772400" cy="621792"/>
          </a:xfrm>
          <a:prstGeom prst="rect">
            <a:avLst/>
          </a:prstGeom>
          <a:noFill/>
        </p:spPr>
        <p:txBody>
          <a:bodyPr wrap="square">
            <a:spAutoFit/>
          </a:bodyPr>
          <a:lstStyle/>
          <a:p>
            <a:pPr algn="l"/>
            <a:r>
              <a:rPr sz="1300" b="0" i="0">
                <a:solidFill>
                  <a:srgbClr val="1A1A2E"/>
                </a:solidFill>
                <a:latin typeface="Calibri"/>
              </a:rPr>
              <a:t>Cada tensión virtual v* actúa directamente sobre la derivada de su corriente correspondiente. El sistema queda desacoplado: se pueden diseñar controladores independientes para cada eje.</a:t>
            </a:r>
          </a:p>
        </p:txBody>
      </p:sp>
      <p:sp>
        <p:nvSpPr>
          <p:cNvPr id="16" name="Rectangle 15"/>
          <p:cNvSpPr/>
          <p:nvPr/>
        </p:nvSpPr>
        <p:spPr>
          <a:xfrm>
            <a:off x="8412480" y="2697480"/>
            <a:ext cx="356616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3931920"/>
            <a:ext cx="3383279" cy="548640"/>
          </a:xfrm>
          <a:prstGeom prst="rect">
            <a:avLst/>
          </a:prstGeom>
          <a:noFill/>
        </p:spPr>
        <p:txBody>
          <a:bodyPr wrap="square">
            <a:spAutoFit/>
          </a:bodyPr>
          <a:lstStyle/>
          <a:p>
            <a:pPr algn="ctr"/>
            <a:r>
              <a:rPr sz="1100" b="1">
                <a:solidFill>
                  <a:srgbClr val="C35A00"/>
                </a:solidFill>
                <a:latin typeface="Calibri"/>
              </a:rPr>
              <a:t>🖼  FIGURA: Figura 34 — Diagrama de bloques Simulink del modulador de corriente
(feedforward + controlador P por eje)</a:t>
            </a:r>
          </a:p>
        </p:txBody>
      </p:sp>
      <p:sp>
        <p:nvSpPr>
          <p:cNvPr id="18" name="TextBox 17"/>
          <p:cNvSpPr txBox="1"/>
          <p:nvPr/>
        </p:nvSpPr>
        <p:spPr>
          <a:xfrm>
            <a:off x="8503919" y="4315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4434840"/>
            <a:ext cx="7772400" cy="68580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434840"/>
            <a:ext cx="7589520" cy="685800"/>
          </a:xfrm>
          <a:prstGeom prst="rect">
            <a:avLst/>
          </a:prstGeom>
          <a:noFill/>
        </p:spPr>
        <p:txBody>
          <a:bodyPr wrap="square">
            <a:spAutoFit/>
          </a:bodyPr>
          <a:lstStyle/>
          <a:p>
            <a:pPr algn="ctr"/>
            <a:r>
              <a:rPr sz="1100" b="1">
                <a:solidFill>
                  <a:srgbClr val="1B6B2A"/>
                </a:solidFill>
                <a:latin typeface="Calibri"/>
              </a:rPr>
              <a:t>📐  ECUACIÓN: R'q = 5000·Lq = 29 Ω   |   R'd = 5000·Ld = 33 Ω   |   R'0 = 5000·Lls = 4 Ω
Polo en p = −5000 rad/s   →   τcc ≈ 0.2 ms   (≈20× más rápido que la dinámica mecánica)</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Diseño de lazos de control de corriente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Con el desacople implementado, se diseña un controlador proporcional para cada eje. La consigna de tensión es proporcional al error de corriente:</a:t>
            </a:r>
          </a:p>
        </p:txBody>
      </p:sp>
      <p:sp>
        <p:nvSpPr>
          <p:cNvPr id="8" name="Rectangle 7"/>
          <p:cNvSpPr/>
          <p:nvPr/>
        </p:nvSpPr>
        <p:spPr>
          <a:xfrm>
            <a:off x="365760" y="1444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11247120" cy="475488"/>
          </a:xfrm>
          <a:prstGeom prst="rect">
            <a:avLst/>
          </a:prstGeom>
          <a:noFill/>
        </p:spPr>
        <p:txBody>
          <a:bodyPr wrap="square">
            <a:spAutoFit/>
          </a:bodyPr>
          <a:lstStyle/>
          <a:p>
            <a:pPr algn="ctr"/>
            <a:r>
              <a:rPr sz="1100" b="1">
                <a:solidFill>
                  <a:srgbClr val="1B6B2A"/>
                </a:solidFill>
                <a:latin typeface="Calibri"/>
              </a:rPr>
              <a:t>📐  ECUACIÓN: v*qs^r(t) = R'q · [i*qs^r(t) − iqs^r(t)]     |     v*ds^r(t) = R'd · [i*ds^r(t) − ids^r(t)]</a:t>
            </a:r>
          </a:p>
        </p:txBody>
      </p:sp>
      <p:sp>
        <p:nvSpPr>
          <p:cNvPr id="10" name="TextBox 9"/>
          <p:cNvSpPr txBox="1"/>
          <p:nvPr/>
        </p:nvSpPr>
        <p:spPr>
          <a:xfrm>
            <a:off x="365760" y="2029968"/>
            <a:ext cx="7772400" cy="365760"/>
          </a:xfrm>
          <a:prstGeom prst="rect">
            <a:avLst/>
          </a:prstGeom>
          <a:noFill/>
        </p:spPr>
        <p:txBody>
          <a:bodyPr wrap="square">
            <a:spAutoFit/>
          </a:bodyPr>
          <a:lstStyle/>
          <a:p>
            <a:pPr algn="l"/>
            <a:r>
              <a:rPr sz="1400" b="1" i="0">
                <a:solidFill>
                  <a:srgbClr val="1A3A6B"/>
                </a:solidFill>
                <a:latin typeface="Calibri"/>
              </a:rPr>
              <a:t>Función de transferencia de lazo cerrado (sistema de 1° orden):</a:t>
            </a:r>
          </a:p>
        </p:txBody>
      </p:sp>
      <p:sp>
        <p:nvSpPr>
          <p:cNvPr id="11" name="Rectangle 10"/>
          <p:cNvSpPr/>
          <p:nvPr/>
        </p:nvSpPr>
        <p:spPr>
          <a:xfrm>
            <a:off x="365760" y="24505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50592"/>
            <a:ext cx="7589520" cy="475488"/>
          </a:xfrm>
          <a:prstGeom prst="rect">
            <a:avLst/>
          </a:prstGeom>
          <a:noFill/>
        </p:spPr>
        <p:txBody>
          <a:bodyPr wrap="square">
            <a:spAutoFit/>
          </a:bodyPr>
          <a:lstStyle/>
          <a:p>
            <a:pPr algn="ctr"/>
            <a:r>
              <a:rPr sz="1100" b="1">
                <a:solidFill>
                  <a:srgbClr val="1B6B2A"/>
                </a:solidFill>
                <a:latin typeface="Calibri"/>
              </a:rPr>
              <a:t>📐  ECUACIÓN: G_iqs(s) = Iqs^r(s)/I*qs^r(s) = 1/(s·Lq/R'q + 1)     →     polo en p = −R'q/Lq   [Ec. 58]</a:t>
            </a:r>
          </a:p>
        </p:txBody>
      </p:sp>
      <p:sp>
        <p:nvSpPr>
          <p:cNvPr id="13" name="TextBox 12"/>
          <p:cNvSpPr txBox="1"/>
          <p:nvPr/>
        </p:nvSpPr>
        <p:spPr>
          <a:xfrm>
            <a:off x="365760" y="3017520"/>
            <a:ext cx="7772400" cy="2103120"/>
          </a:xfrm>
          <a:prstGeom prst="rect">
            <a:avLst/>
          </a:prstGeom>
          <a:noFill/>
        </p:spPr>
        <p:txBody>
          <a:bodyPr wrap="square">
            <a:spAutoFit/>
          </a:bodyPr>
          <a:lstStyle/>
          <a:p>
            <a:r>
              <a:rPr sz="1350">
                <a:solidFill>
                  <a:srgbClr val="1A1A2E"/>
                </a:solidFill>
                <a:latin typeface="Calibri"/>
              </a:rPr>
              <a:t>Sistema de 1° orden estable: polo con parte real negativa → estabilidad garantizada</a:t>
            </a:r>
          </a:p>
          <a:p>
            <a:pPr>
              <a:spcBef>
                <a:spcPts val="400"/>
              </a:spcBef>
            </a:pPr>
            <a:r>
              <a:rPr sz="1350">
                <a:solidFill>
                  <a:srgbClr val="1A1A2E"/>
                </a:solidFill>
                <a:latin typeface="Calibri"/>
              </a:rPr>
              <a:t>Sin ceros → respuesta monotónica, sin sobrepaso en la corriente</a:t>
            </a:r>
          </a:p>
          <a:p>
            <a:pPr>
              <a:spcBef>
                <a:spcPts val="400"/>
              </a:spcBef>
            </a:pPr>
            <a:r>
              <a:rPr sz="1350">
                <a:solidFill>
                  <a:srgbClr val="1A1A2E"/>
                </a:solidFill>
                <a:latin typeface="Calibri"/>
              </a:rPr>
              <a:t>Seguimiento sin error de estado estacionario ante escalón (ganancia estática = 1)</a:t>
            </a:r>
          </a:p>
          <a:p>
            <a:pPr>
              <a:spcBef>
                <a:spcPts val="400"/>
              </a:spcBef>
            </a:pPr>
            <a:r>
              <a:rPr sz="1350">
                <a:solidFill>
                  <a:srgbClr val="1A1A2E"/>
                </a:solidFill>
                <a:latin typeface="Calibri"/>
              </a:rPr>
              <a:t>Frecuencia de corte: fc = R'q/(2π·Lq) = 5000/(2π) ≈ 796 Hz</a:t>
            </a:r>
          </a:p>
        </p:txBody>
      </p:sp>
      <p:sp>
        <p:nvSpPr>
          <p:cNvPr id="14" name="Rectangle 13"/>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35 — Diagrama Simulink del lazo de torque
(conversión T*m → i*qs^r)</a:t>
            </a:r>
          </a:p>
        </p:txBody>
      </p:sp>
      <p:sp>
        <p:nvSpPr>
          <p:cNvPr id="16" name="TextBox 15"/>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8412480" y="342900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19" y="4434840"/>
            <a:ext cx="3383279" cy="548640"/>
          </a:xfrm>
          <a:prstGeom prst="rect">
            <a:avLst/>
          </a:prstGeom>
          <a:noFill/>
        </p:spPr>
        <p:txBody>
          <a:bodyPr wrap="square">
            <a:spAutoFit/>
          </a:bodyPr>
          <a:lstStyle/>
          <a:p>
            <a:pPr algn="ctr"/>
            <a:r>
              <a:rPr sz="1100" b="1">
                <a:solidFill>
                  <a:srgbClr val="C35A00"/>
                </a:solidFill>
                <a:latin typeface="Calibri"/>
              </a:rPr>
              <a:t>🖼  FIGURA: Figura 36 — Modulador de torque completo
(lazo corriente + feedforward + compensación gravitacional)</a:t>
            </a:r>
          </a:p>
        </p:txBody>
      </p:sp>
      <p:sp>
        <p:nvSpPr>
          <p:cNvPr id="19" name="TextBox 18"/>
          <p:cNvSpPr txBox="1"/>
          <p:nvPr/>
        </p:nvSpPr>
        <p:spPr>
          <a:xfrm>
            <a:off x="8503919" y="481888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0" name="Rectangle 19"/>
          <p:cNvSpPr/>
          <p:nvPr/>
        </p:nvSpPr>
        <p:spPr>
          <a:xfrm>
            <a:off x="365760" y="5230368"/>
            <a:ext cx="7772400" cy="8046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230368"/>
            <a:ext cx="7589520" cy="804672"/>
          </a:xfrm>
          <a:prstGeom prst="rect">
            <a:avLst/>
          </a:prstGeom>
          <a:noFill/>
        </p:spPr>
        <p:txBody>
          <a:bodyPr wrap="square">
            <a:spAutoFit/>
          </a:bodyPr>
          <a:lstStyle/>
          <a:p>
            <a:pPr algn="ctr"/>
            <a:r>
              <a:rPr sz="1100" b="1">
                <a:solidFill>
                  <a:srgbClr val="1B6B2A"/>
                </a:solidFill>
                <a:latin typeface="Calibri"/>
              </a:rPr>
              <a:t>📐  ECUACIÓN: Separación de escalas de tiempo:  τcc ≈ 0.2 ms  &lt;&lt;  τmec ≈ Jeq/beq ≈ 1.3 s
El lazo de corriente converge ~6500 veces más rápido que la dinámica mecánica → hipótesis de cascada válida</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La etapa final del modulador convierte la consigna de torque T*m(t) en la referencia de corriente i*qs^r. Se incorpora compensación de fricción viscosa y del torque gravitatorio (feedforward):</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T*m(t) = T*'m(t) + beq·ωm(t) + (kl·g/r)·sin(θm(t)/r)     [Ec. 6]</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i*qs^r(t) = T*m(t) / [(3/2)·Pp·(λ'm + (Ld−Lq)·ids^r(t))]     [Ec. torque electromagnético invertido]</a:t>
            </a:r>
          </a:p>
        </p:txBody>
      </p:sp>
      <p:sp>
        <p:nvSpPr>
          <p:cNvPr id="12" name="TextBox 11"/>
          <p:cNvSpPr txBox="1"/>
          <p:nvPr/>
        </p:nvSpPr>
        <p:spPr>
          <a:xfrm>
            <a:off x="365760" y="2651760"/>
            <a:ext cx="5943600" cy="365760"/>
          </a:xfrm>
          <a:prstGeom prst="rect">
            <a:avLst/>
          </a:prstGeom>
          <a:noFill/>
        </p:spPr>
        <p:txBody>
          <a:bodyPr wrap="square">
            <a:spAutoFit/>
          </a:bodyPr>
          <a:lstStyle/>
          <a:p>
            <a:pPr algn="l"/>
            <a:r>
              <a:rPr sz="1400" b="1" i="0">
                <a:solidFill>
                  <a:srgbClr val="1A3A6B"/>
                </a:solidFill>
                <a:latin typeface="Calibri"/>
              </a:rPr>
              <a:t>Ley de control mínima  i*ds^r = 0:</a:t>
            </a:r>
          </a:p>
        </p:txBody>
      </p:sp>
      <p:sp>
        <p:nvSpPr>
          <p:cNvPr id="13" name="TextBox 12"/>
          <p:cNvSpPr txBox="1"/>
          <p:nvPr/>
        </p:nvSpPr>
        <p:spPr>
          <a:xfrm>
            <a:off x="365760" y="3090672"/>
            <a:ext cx="5943600" cy="2194560"/>
          </a:xfrm>
          <a:prstGeom prst="rect">
            <a:avLst/>
          </a:prstGeom>
          <a:noFill/>
        </p:spPr>
        <p:txBody>
          <a:bodyPr wrap="square">
            <a:spAutoFit/>
          </a:bodyPr>
          <a:lstStyle/>
          <a:p>
            <a:r>
              <a:rPr sz="1350">
                <a:solidFill>
                  <a:srgbClr val="1A1A2E"/>
                </a:solidFill>
                <a:latin typeface="Calibri"/>
              </a:rPr>
              <a:t>Con ids^r = 0: Tm = (3/2)·Pp·λ'm·iqs^r  →  torque proporcional solo a iqs^r</a:t>
            </a:r>
          </a:p>
          <a:p>
            <a:pPr>
              <a:spcBef>
                <a:spcPts val="400"/>
              </a:spcBef>
            </a:pPr>
            <a:r>
              <a:rPr sz="1350">
                <a:solidFill>
                  <a:srgbClr val="1A1A2E"/>
                </a:solidFill>
                <a:latin typeface="Calibri"/>
              </a:rPr>
              <a:t>Máximo torque por unidad de corriente (eficiencia óptima en motores con Ld ≈ Lq)</a:t>
            </a:r>
          </a:p>
          <a:p>
            <a:pPr>
              <a:spcBef>
                <a:spcPts val="400"/>
              </a:spcBef>
            </a:pPr>
            <a:r>
              <a:rPr sz="1350">
                <a:solidFill>
                  <a:srgbClr val="1A1A2E"/>
                </a:solidFill>
                <a:latin typeface="Calibri"/>
              </a:rPr>
              <a:t>El torque reluctante (Ld−Lq)·ids·iqs es despreciable para este motor (Ld ≈ Lq)</a:t>
            </a:r>
          </a:p>
        </p:txBody>
      </p:sp>
      <p:sp>
        <p:nvSpPr>
          <p:cNvPr id="14" name="TextBox 13"/>
          <p:cNvSpPr txBox="1"/>
          <p:nvPr/>
        </p:nvSpPr>
        <p:spPr>
          <a:xfrm>
            <a:off x="6583680" y="2651760"/>
            <a:ext cx="5029200" cy="365760"/>
          </a:xfrm>
          <a:prstGeom prst="rect">
            <a:avLst/>
          </a:prstGeom>
          <a:noFill/>
        </p:spPr>
        <p:txBody>
          <a:bodyPr wrap="square">
            <a:spAutoFit/>
          </a:bodyPr>
          <a:lstStyle/>
          <a:p>
            <a:pPr algn="l"/>
            <a:r>
              <a:rPr sz="1400" b="1" i="0">
                <a:solidFill>
                  <a:srgbClr val="1A3A6B"/>
                </a:solidFill>
                <a:latin typeface="Calibri"/>
              </a:rPr>
              <a:t>Feedforward gravitacional:</a:t>
            </a:r>
          </a:p>
        </p:txBody>
      </p:sp>
      <p:sp>
        <p:nvSpPr>
          <p:cNvPr id="15" name="TextBox 14"/>
          <p:cNvSpPr txBox="1"/>
          <p:nvPr/>
        </p:nvSpPr>
        <p:spPr>
          <a:xfrm>
            <a:off x="6583680" y="3090672"/>
            <a:ext cx="5029200" cy="2194560"/>
          </a:xfrm>
          <a:prstGeom prst="rect">
            <a:avLst/>
          </a:prstGeom>
          <a:noFill/>
        </p:spPr>
        <p:txBody>
          <a:bodyPr wrap="square">
            <a:spAutoFit/>
          </a:bodyPr>
          <a:lstStyle/>
          <a:p>
            <a:r>
              <a:rPr sz="1350">
                <a:solidFill>
                  <a:srgbClr val="1A1A2E"/>
                </a:solidFill>
                <a:latin typeface="Calibri"/>
              </a:rPr>
              <a:t>El término (kl·g/r)·sin(θm/r) estima el torque de gravedad y lo compensa directamente</a:t>
            </a:r>
          </a:p>
          <a:p>
            <a:pPr>
              <a:spcBef>
                <a:spcPts val="400"/>
              </a:spcBef>
            </a:pPr>
            <a:r>
              <a:rPr sz="1350">
                <a:solidFill>
                  <a:srgbClr val="1A1A2E"/>
                </a:solidFill>
                <a:latin typeface="Calibri"/>
              </a:rPr>
              <a:t>El controlador no necesita generar este torque como respuesta al error → mejora la respuesta dinámica</a:t>
            </a:r>
          </a:p>
          <a:p>
            <a:pPr>
              <a:spcBef>
                <a:spcPts val="400"/>
              </a:spcBef>
            </a:pPr>
            <a:r>
              <a:rPr sz="1350">
                <a:solidFill>
                  <a:srgbClr val="1A1A2E"/>
                </a:solidFill>
                <a:latin typeface="Calibri"/>
              </a:rPr>
              <a:t>Reduce el esfuerzo del lazo externo PID ante variaciones de posición articular</a:t>
            </a:r>
          </a:p>
          <a:p>
            <a:pPr>
              <a:spcBef>
                <a:spcPts val="400"/>
              </a:spcBef>
            </a:pPr>
            <a:r>
              <a:rPr sz="1350">
                <a:solidFill>
                  <a:srgbClr val="1A1A2E"/>
                </a:solidFill>
                <a:latin typeface="Calibri"/>
              </a:rPr>
              <a:t>kl = m·lcm + ml·ll varía con la carga útil ml</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Lazo externo de posición y velocidad. Para evitar amplificar ruido con el derivador, se realimenta ωm(t) directamente. La salida es la consigna de torque T*'m(t):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T*'m(t) = eω(t)·ba + eθ(t)·Ksa + Ksia·∫eθ(t)dt     [Ec. 60]</a:t>
            </a:r>
          </a:p>
        </p:txBody>
      </p:sp>
      <p:sp>
        <p:nvSpPr>
          <p:cNvPr id="10" name="Rectangle 9"/>
          <p:cNvSpPr/>
          <p:nvPr/>
        </p:nvSpPr>
        <p:spPr>
          <a:xfrm>
            <a:off x="365760" y="2002536"/>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7589520" cy="475488"/>
          </a:xfrm>
          <a:prstGeom prst="rect">
            <a:avLst/>
          </a:prstGeom>
          <a:noFill/>
        </p:spPr>
        <p:txBody>
          <a:bodyPr wrap="square">
            <a:spAutoFit/>
          </a:bodyPr>
          <a:lstStyle/>
          <a:p>
            <a:pPr algn="ctr"/>
            <a:r>
              <a:rPr sz="1100" b="1">
                <a:solidFill>
                  <a:srgbClr val="1B6B2A"/>
                </a:solidFill>
                <a:latin typeface="Calibri"/>
              </a:rPr>
              <a:t>📐  ECUACIÓN: eθ(s) = Θ*m(s) − Θm(s)     |     eω(s) = s·Eθ(s)     [Ecs. 61, 62]</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38 — Diagrama de bloques del controlador PID externo (Simulink)</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2606040"/>
            <a:ext cx="7772400" cy="365760"/>
          </a:xfrm>
          <a:prstGeom prst="rect">
            <a:avLst/>
          </a:prstGeom>
          <a:noFill/>
        </p:spPr>
        <p:txBody>
          <a:bodyPr wrap="square">
            <a:spAutoFit/>
          </a:bodyPr>
          <a:lstStyle/>
          <a:p>
            <a:pPr algn="l"/>
            <a:r>
              <a:rPr sz="1400" b="1" i="0">
                <a:solidFill>
                  <a:srgbClr val="1A3A6B"/>
                </a:solidFill>
                <a:latin typeface="Calibri"/>
              </a:rPr>
              <a:t>Funciones de transferencia de lazo cerrado:</a:t>
            </a:r>
          </a:p>
        </p:txBody>
      </p:sp>
      <p:sp>
        <p:nvSpPr>
          <p:cNvPr id="16" name="Rectangle 15"/>
          <p:cNvSpPr/>
          <p:nvPr/>
        </p:nvSpPr>
        <p:spPr>
          <a:xfrm>
            <a:off x="365760" y="303580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035808"/>
            <a:ext cx="7589520" cy="475488"/>
          </a:xfrm>
          <a:prstGeom prst="rect">
            <a:avLst/>
          </a:prstGeom>
          <a:noFill/>
        </p:spPr>
        <p:txBody>
          <a:bodyPr wrap="square">
            <a:spAutoFit/>
          </a:bodyPr>
          <a:lstStyle/>
          <a:p>
            <a:pPr algn="ctr"/>
            <a:r>
              <a:rPr sz="1100" b="1">
                <a:solidFill>
                  <a:srgbClr val="1B6B2A"/>
                </a:solidFill>
                <a:latin typeface="Calibri"/>
              </a:rPr>
              <a:t>📐  ECUACIÓN: Gθm(s) = (s²·ba + s·Ksa + Ksia) / (Jeq·s³ + s²·ba + s·Ksa + Ksia)     [Ec. 65]</a:t>
            </a:r>
          </a:p>
        </p:txBody>
      </p:sp>
      <p:sp>
        <p:nvSpPr>
          <p:cNvPr id="18" name="Rectangle 17"/>
          <p:cNvSpPr/>
          <p:nvPr/>
        </p:nvSpPr>
        <p:spPr>
          <a:xfrm>
            <a:off x="365760" y="357530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75304"/>
            <a:ext cx="7589520" cy="475488"/>
          </a:xfrm>
          <a:prstGeom prst="rect">
            <a:avLst/>
          </a:prstGeom>
          <a:noFill/>
        </p:spPr>
        <p:txBody>
          <a:bodyPr wrap="square">
            <a:spAutoFit/>
          </a:bodyPr>
          <a:lstStyle/>
          <a:p>
            <a:pPr algn="ctr"/>
            <a:r>
              <a:rPr sz="1100" b="1">
                <a:solidFill>
                  <a:srgbClr val="1B6B2A"/>
                </a:solidFill>
                <a:latin typeface="Calibri"/>
              </a:rPr>
              <a:t>📐  ECUACIÓN: GTld(s) = −s / r·(Jeq·s³ + s²·ba + s·Ksa + Ksia)     [Ec. 66]</a:t>
            </a:r>
          </a:p>
        </p:txBody>
      </p:sp>
      <p:sp>
        <p:nvSpPr>
          <p:cNvPr id="20" name="TextBox 19"/>
          <p:cNvSpPr txBox="1"/>
          <p:nvPr/>
        </p:nvSpPr>
        <p:spPr>
          <a:xfrm>
            <a:off x="365760" y="4169663"/>
            <a:ext cx="7772400" cy="365760"/>
          </a:xfrm>
          <a:prstGeom prst="rect">
            <a:avLst/>
          </a:prstGeom>
          <a:noFill/>
        </p:spPr>
        <p:txBody>
          <a:bodyPr wrap="square">
            <a:spAutoFit/>
          </a:bodyPr>
          <a:lstStyle/>
          <a:p>
            <a:pPr algn="l"/>
            <a:r>
              <a:rPr sz="1400" b="1" i="0">
                <a:solidFill>
                  <a:srgbClr val="1A3A6B"/>
                </a:solidFill>
                <a:latin typeface="Calibri"/>
              </a:rPr>
              <a:t>Diseño por sintonía serie  (ζ=0.75, n=2.5, ωpos=800 rad/s):</a:t>
            </a:r>
          </a:p>
        </p:txBody>
      </p:sp>
      <p:sp>
        <p:nvSpPr>
          <p:cNvPr id="21" name="Rectangle 20"/>
          <p:cNvSpPr/>
          <p:nvPr/>
        </p:nvSpPr>
        <p:spPr>
          <a:xfrm>
            <a:off x="365760" y="45902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590288"/>
            <a:ext cx="7589520" cy="502920"/>
          </a:xfrm>
          <a:prstGeom prst="rect">
            <a:avLst/>
          </a:prstGeom>
          <a:noFill/>
        </p:spPr>
        <p:txBody>
          <a:bodyPr wrap="square">
            <a:spAutoFit/>
          </a:bodyPr>
          <a:lstStyle/>
          <a:p>
            <a:pPr algn="ctr"/>
            <a:r>
              <a:rPr sz="1100" b="1">
                <a:solidFill>
                  <a:srgbClr val="1B6B2A"/>
                </a:solidFill>
                <a:latin typeface="Calibri"/>
              </a:rPr>
              <a:t>📐  ECUACIÓN: ba = Jeq·n·ωpos = 0.03957 N·m/(rad/s)   |   Ksa = Jeq·n·ω²pos = 31.656 N·m/rad   |   Ksia = Jeq·ω³pos = 10129.78 N·m/(rad·s)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El polinomio característico del sistema en lazo cerrado es de 3° orden. Se analiza el movimiento de los polos cuando Jeq varía con la carga:</a:t>
            </a:r>
          </a:p>
        </p:txBody>
      </p:sp>
      <p:graphicFrame>
        <p:nvGraphicFramePr>
          <p:cNvPr id="8" name="Table 7"/>
          <p:cNvGraphicFramePr>
            <a:graphicFrameLocks noGrp="1"/>
          </p:cNvGraphicFramePr>
          <p:nvPr/>
        </p:nvGraphicFramePr>
        <p:xfrm>
          <a:off x="365760" y="1444752"/>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sz="1200" b="1">
                          <a:solidFill>
                            <a:srgbClr val="FFFFFF"/>
                          </a:solidFill>
                          <a:latin typeface="Calibri"/>
                        </a:rPr>
                        <a:t>Condición Jeq</a:t>
                      </a:r>
                    </a:p>
                  </a:txBody>
                  <a:tcPr>
                    <a:solidFill>
                      <a:srgbClr val="1A3A6B"/>
                    </a:solidFill>
                  </a:tcPr>
                </a:tc>
                <a:tc>
                  <a:txBody>
                    <a:bodyPr/>
                    <a:lstStyle/>
                    <a:p>
                      <a:r>
                        <a:rPr sz="1200" b="1">
                          <a:solidFill>
                            <a:srgbClr val="FFFFFF"/>
                          </a:solidFill>
                          <a:latin typeface="Calibri"/>
                        </a:rPr>
                        <a:t>Jeq [kg·m²]</a:t>
                      </a:r>
                    </a:p>
                  </a:txBody>
                  <a:tcPr>
                    <a:solidFill>
                      <a:srgbClr val="1A3A6B"/>
                    </a:solidFill>
                  </a:tcPr>
                </a:tc>
                <a:tc>
                  <a:txBody>
                    <a:bodyPr/>
                    <a:lstStyle/>
                    <a:p>
                      <a:r>
                        <a:rPr sz="1200" b="1">
                          <a:solidFill>
                            <a:srgbClr val="FFFFFF"/>
                          </a:solidFill>
                          <a:latin typeface="Calibri"/>
                        </a:rPr>
                        <a:t>Polo 1 [rad/s]</a:t>
                      </a:r>
                    </a:p>
                  </a:txBody>
                  <a:tcPr>
                    <a:solidFill>
                      <a:srgbClr val="1A3A6B"/>
                    </a:solidFill>
                  </a:tcPr>
                </a:tc>
                <a:tc>
                  <a:txBody>
                    <a:bodyPr/>
                    <a:lstStyle/>
                    <a:p>
                      <a:r>
                        <a:rPr sz="1200" b="1">
                          <a:solidFill>
                            <a:srgbClr val="FFFFFF"/>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sz="1200">
                          <a:latin typeface="Calibri"/>
                        </a:rPr>
                        <a:t>Mínimo / Nominal  (ml=0)</a:t>
                      </a:r>
                    </a:p>
                  </a:txBody>
                  <a:tcPr/>
                </a:tc>
                <a:tc>
                  <a:txBody>
                    <a:bodyPr/>
                    <a:lstStyle/>
                    <a:p>
                      <a:r>
                        <a:rPr sz="120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a:latin typeface="Calibri"/>
                        </a:rPr>
                        <a:t>Máximo  (ml=1.5 kg)</a:t>
                      </a:r>
                    </a:p>
                  </a:txBody>
                  <a:tcPr>
                    <a:solidFill>
                      <a:srgbClr val="F0F4F8"/>
                    </a:solidFill>
                  </a:tcPr>
                </a:tc>
                <a:tc>
                  <a:txBody>
                    <a:bodyPr/>
                    <a:lstStyle/>
                    <a:p>
                      <a:r>
                        <a:rPr sz="120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p:sp>
        <p:nvSpPr>
          <p:cNvPr id="9" name="Rectangle 8"/>
          <p:cNvSpPr/>
          <p:nvPr/>
        </p:nvSpPr>
        <p:spPr>
          <a:xfrm>
            <a:off x="365760" y="3035808"/>
            <a:ext cx="777240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4270248"/>
            <a:ext cx="7589520" cy="548640"/>
          </a:xfrm>
          <a:prstGeom prst="rect">
            <a:avLst/>
          </a:prstGeom>
          <a:noFill/>
        </p:spPr>
        <p:txBody>
          <a:bodyPr wrap="square">
            <a:spAutoFit/>
          </a:bodyPr>
          <a:lstStyle/>
          <a:p>
            <a:pPr algn="ctr"/>
            <a:r>
              <a:rPr sz="1100" b="1">
                <a:solidFill>
                  <a:srgbClr val="C35A00"/>
                </a:solidFill>
                <a:latin typeface="Calibri"/>
              </a:rPr>
              <a:t>🖼  FIGURA: Figura 37 — Diagrama de polos: lazo abierto (planta) vs. lazo de corriente vs. controlador PID externo
(obsérvese la separación de escalas de tiempo entre los tres lazos)</a:t>
            </a:r>
          </a:p>
        </p:txBody>
      </p:sp>
      <p:sp>
        <p:nvSpPr>
          <p:cNvPr id="11" name="TextBox 10"/>
          <p:cNvSpPr txBox="1"/>
          <p:nvPr/>
        </p:nvSpPr>
        <p:spPr>
          <a:xfrm>
            <a:off x="457200" y="4654296"/>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TextBox 11"/>
          <p:cNvSpPr txBox="1"/>
          <p:nvPr/>
        </p:nvSpPr>
        <p:spPr>
          <a:xfrm>
            <a:off x="8412480" y="1444752"/>
            <a:ext cx="3566160" cy="4114800"/>
          </a:xfrm>
          <a:prstGeom prst="rect">
            <a:avLst/>
          </a:prstGeom>
          <a:noFill/>
        </p:spPr>
        <p:txBody>
          <a:bodyPr wrap="square">
            <a:spAutoFit/>
          </a:bodyPr>
          <a:lstStyle/>
          <a:p>
            <a:r>
              <a:rPr sz="1350">
                <a:solidFill>
                  <a:srgbClr val="1A1A2E"/>
                </a:solidFill>
                <a:latin typeface="Calibri"/>
              </a:rPr>
              <a:t>Todos los polos tienen parte real negativa → sistema estable en todo el rango de operación</a:t>
            </a:r>
          </a:p>
          <a:p>
            <a:pPr>
              <a:spcBef>
                <a:spcPts val="400"/>
              </a:spcBef>
            </a:pPr>
            <a:r>
              <a:rPr sz="1350">
                <a:solidFill>
                  <a:srgbClr val="1A1A2E"/>
                </a:solidFill>
                <a:latin typeface="Calibri"/>
              </a:rPr>
              <a:t>Con mayor carga (mayor Jeq): los polos se acercan al eje imaginario → respuesta más lenta y con mayor amortiguamiento</a:t>
            </a:r>
          </a:p>
          <a:p>
            <a:pPr>
              <a:spcBef>
                <a:spcPts val="400"/>
              </a:spcBef>
            </a:pPr>
            <a:r>
              <a:rPr sz="1350">
                <a:solidFill>
                  <a:srgbClr val="1A1A2E"/>
                </a:solidFill>
                <a:latin typeface="Calibri"/>
              </a:rPr>
              <a:t>El lazo de corriente (~5000 rad/s) es ~6× más rápido que el PID (~800 rad/s) → hipótesis de cascada verificada</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365760" y="777240"/>
            <a:ext cx="7772400" cy="685800"/>
          </a:xfrm>
          <a:prstGeom prst="rect">
            <a:avLst/>
          </a:prstGeom>
          <a:noFill/>
        </p:spPr>
        <p:txBody>
          <a:bodyPr wrap="square">
            <a:spAutoFit/>
          </a:bodyPr>
          <a:lstStyle/>
          <a:p>
            <a:pPr algn="l"/>
            <a:r>
              <a:rPr sz="1400" b="0" i="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365760" y="15361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7589520" cy="475488"/>
          </a:xfrm>
          <a:prstGeom prst="rect">
            <a:avLst/>
          </a:prstGeom>
          <a:noFill/>
        </p:spPr>
        <p:txBody>
          <a:bodyPr wrap="square">
            <a:spAutoFit/>
          </a:bodyPr>
          <a:lstStyle/>
          <a:p>
            <a:pPr algn="ctr"/>
            <a:r>
              <a:rPr sz="1100" b="1">
                <a:solidFill>
                  <a:srgbClr val="1B6B2A"/>
                </a:solidFill>
                <a:latin typeface="Calibri"/>
              </a:rPr>
              <a:t>📐  ECUACIÓN: θ*m(t) = r·q*(t)     |     ω*m(t) = r·q̇*(t)     [Ec. 71]</a:t>
            </a:r>
          </a:p>
        </p:txBody>
      </p:sp>
      <p:sp>
        <p:nvSpPr>
          <p:cNvPr id="10" name="TextBox 9"/>
          <p:cNvSpPr txBox="1"/>
          <p:nvPr/>
        </p:nvSpPr>
        <p:spPr>
          <a:xfrm>
            <a:off x="365760" y="2121408"/>
            <a:ext cx="7772400" cy="365760"/>
          </a:xfrm>
          <a:prstGeom prst="rect">
            <a:avLst/>
          </a:prstGeom>
          <a:noFill/>
        </p:spPr>
        <p:txBody>
          <a:bodyPr wrap="square">
            <a:spAutoFit/>
          </a:bodyPr>
          <a:lstStyle/>
          <a:p>
            <a:pPr algn="l"/>
            <a:r>
              <a:rPr sz="1400" b="1" i="0">
                <a:solidFill>
                  <a:srgbClr val="1A3A6B"/>
                </a:solidFill>
                <a:latin typeface="Calibri"/>
              </a:rPr>
              <a:t>Perfil trapezoidal de velocidad (consigna suavizada):</a:t>
            </a:r>
          </a:p>
        </p:txBody>
      </p:sp>
      <p:sp>
        <p:nvSpPr>
          <p:cNvPr id="11" name="TextBox 10"/>
          <p:cNvSpPr txBox="1"/>
          <p:nvPr/>
        </p:nvSpPr>
        <p:spPr>
          <a:xfrm>
            <a:off x="365760" y="2560320"/>
            <a:ext cx="7772400" cy="2560320"/>
          </a:xfrm>
          <a:prstGeom prst="rect">
            <a:avLst/>
          </a:prstGeom>
          <a:noFill/>
        </p:spPr>
        <p:txBody>
          <a:bodyPr wrap="square">
            <a:spAutoFit/>
          </a:bodyPr>
          <a:lstStyle/>
          <a:p>
            <a:r>
              <a:rPr sz="1350">
                <a:solidFill>
                  <a:srgbClr val="1A1A2E"/>
                </a:solidFill>
                <a:latin typeface="Calibri"/>
              </a:rPr>
              <a:t>La derivada de la consigna es interna al bloque de set-point → no amplifica ruido externo</a:t>
            </a:r>
          </a:p>
          <a:p>
            <a:pPr>
              <a:spcBef>
                <a:spcPts val="400"/>
              </a:spcBef>
            </a:pPr>
            <a:r>
              <a:rPr sz="1350">
                <a:solidFill>
                  <a:srgbClr val="1A1A2E"/>
                </a:solidFill>
                <a:latin typeface="Calibri"/>
              </a:rPr>
              <a:t>El perfil trapezoidal impone transiciones suaves de velocidad y aceleración</a:t>
            </a:r>
          </a:p>
          <a:p>
            <a:pPr>
              <a:spcBef>
                <a:spcPts val="400"/>
              </a:spcBef>
            </a:pPr>
            <a:r>
              <a:rPr sz="1350">
                <a:solidFill>
                  <a:srgbClr val="1A1A2E"/>
                </a:solidFill>
                <a:latin typeface="Calibri"/>
              </a:rPr>
              <a:t>Evita las exigencias dinámicas excesivas generadas por la consigna de posición trapezoidal directa</a:t>
            </a:r>
          </a:p>
          <a:p>
            <a:pPr>
              <a:spcBef>
                <a:spcPts val="400"/>
              </a:spcBef>
            </a:pPr>
            <a:r>
              <a:rPr sz="1350">
                <a:solidFill>
                  <a:srgbClr val="1A1A2E"/>
                </a:solidFill>
                <a:latin typeface="Calibri"/>
              </a:rPr>
              <a:t>Permite evaluar el desempeño en condiciones representativas de operación (1 revolución, rampas de 5 s)</a:t>
            </a:r>
          </a:p>
        </p:txBody>
      </p:sp>
      <p:sp>
        <p:nvSpPr>
          <p:cNvPr id="12" name="Rectangle 11"/>
          <p:cNvSpPr/>
          <p:nvPr/>
        </p:nvSpPr>
        <p:spPr>
          <a:xfrm>
            <a:off x="8412480" y="777240"/>
            <a:ext cx="356616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645920"/>
            <a:ext cx="3383279" cy="548640"/>
          </a:xfrm>
          <a:prstGeom prst="rect">
            <a:avLst/>
          </a:prstGeom>
          <a:noFill/>
        </p:spPr>
        <p:txBody>
          <a:bodyPr wrap="square">
            <a:spAutoFit/>
          </a:bodyPr>
          <a:lstStyle/>
          <a:p>
            <a:pPr algn="ctr"/>
            <a:r>
              <a:rPr sz="1100" b="1">
                <a:solidFill>
                  <a:srgbClr val="C35A00"/>
                </a:solidFill>
                <a:latin typeface="Calibri"/>
              </a:rPr>
              <a:t>🖼  FIGURA: Figura 39 — Diagrama de bloques Simulink del set-point de posición/velocidad</a:t>
            </a:r>
          </a:p>
        </p:txBody>
      </p:sp>
      <p:sp>
        <p:nvSpPr>
          <p:cNvPr id="14" name="TextBox 13"/>
          <p:cNvSpPr txBox="1"/>
          <p:nvPr/>
        </p:nvSpPr>
        <p:spPr>
          <a:xfrm>
            <a:off x="8503919" y="2029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8412480" y="3154680"/>
            <a:ext cx="3566160" cy="20116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19" y="3886200"/>
            <a:ext cx="3383279" cy="548640"/>
          </a:xfrm>
          <a:prstGeom prst="rect">
            <a:avLst/>
          </a:prstGeom>
          <a:noFill/>
        </p:spPr>
        <p:txBody>
          <a:bodyPr wrap="square">
            <a:spAutoFit/>
          </a:bodyPr>
          <a:lstStyle/>
          <a:p>
            <a:pPr algn="ctr"/>
            <a:r>
              <a:rPr sz="1100" b="1">
                <a:solidFill>
                  <a:srgbClr val="C35A00"/>
                </a:solidFill>
                <a:latin typeface="Calibri"/>
              </a:rPr>
              <a:t>🖼  FIGURA: Figuras 41-42 — Consignas q*(t) articular y θ*m(t) del eje motor con perfil trapezoidal</a:t>
            </a:r>
          </a:p>
        </p:txBody>
      </p:sp>
      <p:sp>
        <p:nvSpPr>
          <p:cNvPr id="17" name="TextBox 16"/>
          <p:cNvSpPr txBox="1"/>
          <p:nvPr/>
        </p:nvSpPr>
        <p:spPr>
          <a:xfrm>
            <a:off x="8503919" y="427024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Solo se dispone del encoder de posición θm. Se diseña un observador asintótico de Luenberger sobre el subsistema mecánico de orden 2 (las corrientes y Ts se miden directamente):</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θ̃̇m = ω̃m + kθ·(θm − θ̃m)     [corrección de posición]     [Ec. 73a]</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ω̃̇m = T*'m/Jeq + kω·(θm − θ̃m)     [corrección de velocidad]     [Ec. 73b]</a:t>
            </a:r>
          </a:p>
        </p:txBody>
      </p:sp>
      <p:sp>
        <p:nvSpPr>
          <p:cNvPr id="12" name="Rectangle 11"/>
          <p:cNvSpPr/>
          <p:nvPr/>
        </p:nvSpPr>
        <p:spPr>
          <a:xfrm>
            <a:off x="365760" y="2587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87752"/>
            <a:ext cx="11247120" cy="475488"/>
          </a:xfrm>
          <a:prstGeom prst="rect">
            <a:avLst/>
          </a:prstGeom>
          <a:noFill/>
        </p:spPr>
        <p:txBody>
          <a:bodyPr wrap="square">
            <a:spAutoFit/>
          </a:bodyPr>
          <a:lstStyle/>
          <a:p>
            <a:pPr algn="ctr"/>
            <a:r>
              <a:rPr sz="1100" b="1">
                <a:solidFill>
                  <a:srgbClr val="1B6B2A"/>
                </a:solidFill>
                <a:latin typeface="Calibri"/>
              </a:rPr>
              <a:t>📐  ECUACIÓN: Dinámica del error:  ė(t) = (A − Ke·C)·e(t)     →     A' = [−kθ  1 ; −kω  0]</a:t>
            </a:r>
          </a:p>
        </p:txBody>
      </p:sp>
      <p:sp>
        <p:nvSpPr>
          <p:cNvPr id="14" name="Rectangle 13"/>
          <p:cNvSpPr/>
          <p:nvPr/>
        </p:nvSpPr>
        <p:spPr>
          <a:xfrm>
            <a:off x="365760" y="3127248"/>
            <a:ext cx="114300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27248"/>
            <a:ext cx="11247120" cy="502920"/>
          </a:xfrm>
          <a:prstGeom prst="rect">
            <a:avLst/>
          </a:prstGeom>
          <a:noFill/>
        </p:spPr>
        <p:txBody>
          <a:bodyPr wrap="square">
            <a:spAutoFit/>
          </a:bodyPr>
          <a:lstStyle/>
          <a:p>
            <a:pPr algn="ctr"/>
            <a:r>
              <a:rPr sz="1100" b="1">
                <a:solidFill>
                  <a:srgbClr val="1B6B2A"/>
                </a:solidFill>
                <a:latin typeface="Calibri"/>
              </a:rPr>
              <a:t>📐  ECUACIÓN: p(s) = s² + kθ·s + kω     →     polos deseados p₁,₂ = −3200 rad/s     →     kθ = 6400 rad/s,  kω = 1.024×10⁷ rad²/s²</a:t>
            </a:r>
          </a:p>
        </p:txBody>
      </p:sp>
      <p:sp>
        <p:nvSpPr>
          <p:cNvPr id="16" name="Rectangle 15"/>
          <p:cNvSpPr/>
          <p:nvPr/>
        </p:nvSpPr>
        <p:spPr>
          <a:xfrm>
            <a:off x="365760" y="3749039"/>
            <a:ext cx="5943600" cy="23317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40580"/>
            <a:ext cx="5760720" cy="548640"/>
          </a:xfrm>
          <a:prstGeom prst="rect">
            <a:avLst/>
          </a:prstGeom>
          <a:noFill/>
        </p:spPr>
        <p:txBody>
          <a:bodyPr wrap="square">
            <a:spAutoFit/>
          </a:bodyPr>
          <a:lstStyle/>
          <a:p>
            <a:pPr algn="ctr"/>
            <a:r>
              <a:rPr sz="1100" b="1">
                <a:solidFill>
                  <a:srgbClr val="C35A00"/>
                </a:solidFill>
                <a:latin typeface="Calibri"/>
              </a:rPr>
              <a:t>🖼  FIGURA: Figura 40 — Diagrama de bloques Simulink del observador de estado reducido</a:t>
            </a:r>
          </a:p>
        </p:txBody>
      </p:sp>
      <p:sp>
        <p:nvSpPr>
          <p:cNvPr id="18" name="TextBox 17"/>
          <p:cNvSpPr txBox="1"/>
          <p:nvPr/>
        </p:nvSpPr>
        <p:spPr>
          <a:xfrm>
            <a:off x="457200" y="502462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TextBox 18"/>
          <p:cNvSpPr txBox="1"/>
          <p:nvPr/>
        </p:nvSpPr>
        <p:spPr>
          <a:xfrm>
            <a:off x="6492240" y="3749039"/>
            <a:ext cx="5212080" cy="2331720"/>
          </a:xfrm>
          <a:prstGeom prst="rect">
            <a:avLst/>
          </a:prstGeom>
          <a:noFill/>
        </p:spPr>
        <p:txBody>
          <a:bodyPr wrap="square">
            <a:spAutoFit/>
          </a:bodyPr>
          <a:lstStyle/>
          <a:p>
            <a:r>
              <a:rPr sz="1350">
                <a:solidFill>
                  <a:srgbClr val="1A1A2E"/>
                </a:solidFill>
                <a:latin typeface="Calibri"/>
              </a:rPr>
              <a:t>Los polos del observador (−3200 rad/s) son 4× más rápidos que el PID (−800 rad/s) → converge antes de que el controlador actúe</a:t>
            </a:r>
          </a:p>
          <a:p>
            <a:pPr>
              <a:spcBef>
                <a:spcPts val="400"/>
              </a:spcBef>
            </a:pPr>
            <a:r>
              <a:rPr sz="1350" b="0">
                <a:solidFill>
                  <a:srgbClr val="C35A00"/>
                </a:solidFill>
                <a:latin typeface="Calibri"/>
              </a:rPr>
              <a:t>Limitación: sin acción integral → error estacionario frente a Tld constante → se corrige con observador aumentado</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Posición y velocidad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p:sp>
        <p:nvSpPr>
          <p:cNvPr id="7" name="TextBox 6"/>
          <p:cNvSpPr txBox="1"/>
          <p:nvPr/>
        </p:nvSpPr>
        <p:spPr>
          <a:xfrm>
            <a:off x="365760" y="777240"/>
            <a:ext cx="11430000" cy="384048"/>
          </a:xfrm>
          <a:prstGeom prst="rect">
            <a:avLst/>
          </a:prstGeom>
          <a:noFill/>
        </p:spPr>
        <p:txBody>
          <a:bodyPr wrap="square">
            <a:spAutoFit/>
          </a:bodyPr>
          <a:lstStyle/>
          <a:p>
            <a:pPr algn="l"/>
            <a:r>
              <a:rPr sz="1400" b="1" i="0">
                <a:solidFill>
                  <a:srgbClr val="1A3A6B"/>
                </a:solidFill>
                <a:latin typeface="Calibri"/>
              </a:rPr>
              <a:t>Consigna trapezoidal de posición (1 revolución, rampas de 5 s):</a:t>
            </a:r>
          </a:p>
        </p:txBody>
      </p:sp>
      <p:sp>
        <p:nvSpPr>
          <p:cNvPr id="8" name="Rectangle 7"/>
          <p:cNvSpPr/>
          <p:nvPr/>
        </p:nvSpPr>
        <p:spPr>
          <a:xfrm>
            <a:off x="36576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240280"/>
            <a:ext cx="5303520" cy="548640"/>
          </a:xfrm>
          <a:prstGeom prst="rect">
            <a:avLst/>
          </a:prstGeom>
          <a:noFill/>
        </p:spPr>
        <p:txBody>
          <a:bodyPr wrap="square">
            <a:spAutoFit/>
          </a:bodyPr>
          <a:lstStyle/>
          <a:p>
            <a:pPr algn="ctr"/>
            <a:r>
              <a:rPr sz="1100" b="1">
                <a:solidFill>
                  <a:srgbClr val="C35A00"/>
                </a:solidFill>
                <a:latin typeface="Calibri"/>
              </a:rPr>
              <a:t>🖼  FIGURA: Figuras 43-44 — θm(t): posición real vs. estimada vs. consigna
+ detalle del transitorio en t=5s (sobrepaso + oscilación amortiguada)</a:t>
            </a:r>
          </a:p>
        </p:txBody>
      </p:sp>
      <p:sp>
        <p:nvSpPr>
          <p:cNvPr id="10" name="TextBox 9"/>
          <p:cNvSpPr txBox="1"/>
          <p:nvPr/>
        </p:nvSpPr>
        <p:spPr>
          <a:xfrm>
            <a:off x="45720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240280"/>
            <a:ext cx="5303520" cy="548640"/>
          </a:xfrm>
          <a:prstGeom prst="rect">
            <a:avLst/>
          </a:prstGeom>
          <a:noFill/>
        </p:spPr>
        <p:txBody>
          <a:bodyPr wrap="square">
            <a:spAutoFit/>
          </a:bodyPr>
          <a:lstStyle/>
          <a:p>
            <a:pPr algn="ctr"/>
            <a:r>
              <a:rPr sz="1100" b="1">
                <a:solidFill>
                  <a:srgbClr val="C35A00"/>
                </a:solidFill>
                <a:latin typeface="Calibri"/>
              </a:rPr>
              <a:t>🖼  FIGURA: Figuras 45-46 — ωm(t): velocidad real vs. estimada vs. consigna
+ detalle transitorio en t=5s (sobrepico negativo + recuperación rápida)</a:t>
            </a:r>
          </a:p>
        </p:txBody>
      </p:sp>
      <p:sp>
        <p:nvSpPr>
          <p:cNvPr id="13" name="TextBox 12"/>
          <p:cNvSpPr txBox="1"/>
          <p:nvPr/>
        </p:nvSpPr>
        <p:spPr>
          <a:xfrm>
            <a:off x="621792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931920"/>
            <a:ext cx="11430000" cy="2286000"/>
          </a:xfrm>
          <a:prstGeom prst="rect">
            <a:avLst/>
          </a:prstGeom>
          <a:noFill/>
        </p:spPr>
        <p:txBody>
          <a:bodyPr wrap="square">
            <a:spAutoFit/>
          </a:bodyPr>
          <a:lstStyle/>
          <a:p>
            <a:r>
              <a:rPr sz="1350">
                <a:solidFill>
                  <a:srgbClr val="1A1A2E"/>
                </a:solidFill>
                <a:latin typeface="Calibri"/>
              </a:rPr>
              <a:t>Seguimiento de posición muy bueno: error mínimo en régimen permanente</a:t>
            </a:r>
          </a:p>
          <a:p>
            <a:pPr>
              <a:spcBef>
                <a:spcPts val="400"/>
              </a:spcBef>
            </a:pPr>
            <a:r>
              <a:rPr sz="1350">
                <a:solidFill>
                  <a:srgbClr val="1A1A2E"/>
                </a:solidFill>
                <a:latin typeface="Calibri"/>
              </a:rPr>
              <a:t>Velocidad: sobrepico transitorio más pronunciado (derivativa de la posición)</a:t>
            </a:r>
          </a:p>
          <a:p>
            <a:pPr>
              <a:spcBef>
                <a:spcPts val="400"/>
              </a:spcBef>
            </a:pPr>
            <a:r>
              <a:rPr sz="1350">
                <a:solidFill>
                  <a:srgbClr val="1A1A2E"/>
                </a:solidFill>
                <a:latin typeface="Calibri"/>
              </a:rPr>
              <a:t>El observador estima correctamente θm y ωm en ausencia de perturbaciones externas</a:t>
            </a:r>
          </a:p>
          <a:p>
            <a:pPr>
              <a:spcBef>
                <a:spcPts val="400"/>
              </a:spcBef>
            </a:pPr>
            <a:r>
              <a:rPr sz="1350">
                <a:solidFill>
                  <a:srgbClr val="1A1A2E"/>
                </a:solidFill>
                <a:latin typeface="Calibri"/>
              </a:rPr>
              <a:t>La señal estimada es prácticamente coincidente con la real</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Variables eléctricas y limitaciones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58 / ~75</a:t>
            </a:r>
          </a:p>
        </p:txBody>
      </p:sp>
      <p:sp>
        <p:nvSpPr>
          <p:cNvPr id="7" name="Rectangle 6"/>
          <p:cNvSpPr/>
          <p:nvPr/>
        </p:nvSpPr>
        <p:spPr>
          <a:xfrm>
            <a:off x="365760" y="777240"/>
            <a:ext cx="114300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45920"/>
            <a:ext cx="11247120" cy="548640"/>
          </a:xfrm>
          <a:prstGeom prst="rect">
            <a:avLst/>
          </a:prstGeom>
          <a:noFill/>
        </p:spPr>
        <p:txBody>
          <a:bodyPr wrap="square">
            <a:spAutoFit/>
          </a:bodyPr>
          <a:lstStyle/>
          <a:p>
            <a:pPr algn="ctr"/>
            <a:r>
              <a:rPr sz="1100" b="1">
                <a:solidFill>
                  <a:srgbClr val="C35A00"/>
                </a:solidFill>
                <a:latin typeface="Calibri"/>
              </a:rPr>
              <a:t>🖼  FIGURA: Figuras 47-50 — Torque Tm(t), corrientes iabc(t), tensiones vabc(t), temperatura Ts°(t)
durante seguimiento de consigna trapezoidal de posición</a:t>
            </a:r>
          </a:p>
        </p:txBody>
      </p:sp>
      <p:sp>
        <p:nvSpPr>
          <p:cNvPr id="9" name="TextBox 8"/>
          <p:cNvSpPr txBox="1"/>
          <p:nvPr/>
        </p:nvSpPr>
        <p:spPr>
          <a:xfrm>
            <a:off x="457200" y="20299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200400"/>
          <a:ext cx="11430000" cy="26060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434340">
                <a:tc>
                  <a:txBody>
                    <a:bodyPr/>
                    <a:lstStyle/>
                    <a:p>
                      <a:r>
                        <a:rPr sz="1200" b="1">
                          <a:solidFill>
                            <a:srgbClr val="FFFFFF"/>
                          </a:solidFill>
                          <a:latin typeface="Calibri"/>
                        </a:rPr>
                        <a:t>Variable</a:t>
                      </a:r>
                    </a:p>
                  </a:txBody>
                  <a:tcPr>
                    <a:solidFill>
                      <a:srgbClr val="1A3A6B"/>
                    </a:solidFill>
                  </a:tcPr>
                </a:tc>
                <a:tc>
                  <a:txBody>
                    <a:bodyPr/>
                    <a:lstStyle/>
                    <a:p>
                      <a:r>
                        <a:rPr sz="1200" b="1">
                          <a:solidFill>
                            <a:srgbClr val="FFFFFF"/>
                          </a:solidFill>
                          <a:latin typeface="Calibri"/>
                        </a:rPr>
                        <a:t>Espec. continuo</a:t>
                      </a:r>
                    </a:p>
                  </a:txBody>
                  <a:tcPr>
                    <a:solidFill>
                      <a:srgbClr val="1A3A6B"/>
                    </a:solidFill>
                  </a:tcPr>
                </a:tc>
                <a:tc>
                  <a:txBody>
                    <a:bodyPr/>
                    <a:lstStyle/>
                    <a:p>
                      <a:r>
                        <a:rPr sz="1200" b="1">
                          <a:solidFill>
                            <a:srgbClr val="FFFFFF"/>
                          </a:solidFill>
                          <a:latin typeface="Calibri"/>
                        </a:rPr>
                        <a:t>Espec. pico</a:t>
                      </a:r>
                    </a:p>
                  </a:txBody>
                  <a:tcPr>
                    <a:solidFill>
                      <a:srgbClr val="1A3A6B"/>
                    </a:solidFill>
                  </a:tcPr>
                </a:tc>
                <a:tc>
                  <a:txBody>
                    <a:bodyPr/>
                    <a:lstStyle/>
                    <a:p>
                      <a:r>
                        <a:rPr sz="1200" b="1">
                          <a:solidFill>
                            <a:srgbClr val="FFFFFF"/>
                          </a:solidFill>
                          <a:latin typeface="Calibri"/>
                        </a:rPr>
                        <a:t>Sim. continuo</a:t>
                      </a:r>
                    </a:p>
                  </a:txBody>
                  <a:tcPr>
                    <a:solidFill>
                      <a:srgbClr val="1A3A6B"/>
                    </a:solidFill>
                  </a:tcPr>
                </a:tc>
                <a:tc>
                  <a:txBody>
                    <a:bodyPr/>
                    <a:lstStyle/>
                    <a:p>
                      <a:r>
                        <a:rPr sz="1200" b="1">
                          <a:solidFill>
                            <a:srgbClr val="FFFFFF"/>
                          </a:solidFill>
                          <a:latin typeface="Calibri"/>
                        </a:rPr>
                        <a:t>Sim. pico</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Torque (caja)</a:t>
                      </a:r>
                    </a:p>
                  </a:txBody>
                  <a:tcPr/>
                </a:tc>
                <a:tc>
                  <a:txBody>
                    <a:bodyPr/>
                    <a:lstStyle/>
                    <a:p>
                      <a:r>
                        <a:rPr sz="1200">
                          <a:latin typeface="Calibri"/>
                        </a:rPr>
                        <a:t>17.0 N·m</a:t>
                      </a:r>
                    </a:p>
                  </a:txBody>
                  <a:tcPr/>
                </a:tc>
                <a:tc>
                  <a:txBody>
                    <a:bodyPr/>
                    <a:lstStyle/>
                    <a:p>
                      <a:r>
                        <a:rPr sz="1200">
                          <a:latin typeface="Calibri"/>
                        </a:rPr>
                        <a:t>45.0 N·m</a:t>
                      </a:r>
                    </a:p>
                  </a:txBody>
                  <a:tcPr/>
                </a:tc>
                <a:tc>
                  <a:txBody>
                    <a:bodyPr/>
                    <a:lstStyle/>
                    <a:p>
                      <a:r>
                        <a:rPr sz="1200">
                          <a:latin typeface="Calibri"/>
                        </a:rPr>
                        <a:t>0.039 N·m</a:t>
                      </a:r>
                    </a:p>
                  </a:txBody>
                  <a:tcPr/>
                </a:tc>
                <a:tc>
                  <a:txBody>
                    <a:bodyPr/>
                    <a:lstStyle/>
                    <a:p>
                      <a:r>
                        <a:rPr sz="1200">
                          <a:latin typeface="Calibri"/>
                        </a:rPr>
                        <a:t>5.011 N·m ✓</a:t>
                      </a:r>
                    </a:p>
                  </a:txBody>
                  <a:tcPr/>
                </a:tc>
                <a:extLst>
                  <a:ext uri="{0D108BD9-81ED-4DB2-BD59-A6C34878D82A}">
                    <a16:rowId xmlns:a16="http://schemas.microsoft.com/office/drawing/2014/main" val="10001"/>
                  </a:ext>
                </a:extLst>
              </a:tr>
              <a:tr h="434340">
                <a:tc>
                  <a:txBody>
                    <a:bodyPr/>
                    <a:lstStyle/>
                    <a:p>
                      <a:r>
                        <a:rPr sz="1200">
                          <a:latin typeface="Calibri"/>
                        </a:rPr>
                        <a:t>Vel. angular (caja)</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1.00 rad/s</a:t>
                      </a:r>
                    </a:p>
                  </a:txBody>
                  <a:tcPr>
                    <a:solidFill>
                      <a:srgbClr val="F0F4F8"/>
                    </a:solidFill>
                  </a:tcPr>
                </a:tc>
                <a:tc>
                  <a:txBody>
                    <a:bodyPr/>
                    <a:lstStyle/>
                    <a:p>
                      <a:r>
                        <a:rPr sz="1200">
                          <a:latin typeface="Calibri"/>
                        </a:rPr>
                        <a:t>1.595 rad/s ✓</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Vel. angular (motor)</a:t>
                      </a:r>
                    </a:p>
                  </a:txBody>
                  <a:tcPr/>
                </a:tc>
                <a:tc>
                  <a:txBody>
                    <a:bodyPr/>
                    <a:lstStyle/>
                    <a:p>
                      <a:r>
                        <a:rPr sz="1200">
                          <a:latin typeface="Calibri"/>
                        </a:rPr>
                        <a:t>691 rad/s</a:t>
                      </a:r>
                    </a:p>
                  </a:txBody>
                  <a:tcPr/>
                </a:tc>
                <a:tc>
                  <a:txBody>
                    <a:bodyPr/>
                    <a:lstStyle/>
                    <a:p>
                      <a:r>
                        <a:rPr sz="1200">
                          <a:latin typeface="Calibri"/>
                        </a:rPr>
                        <a:t>691 rad/s</a:t>
                      </a:r>
                    </a:p>
                  </a:txBody>
                  <a:tcPr/>
                </a:tc>
                <a:tc>
                  <a:txBody>
                    <a:bodyPr/>
                    <a:lstStyle/>
                    <a:p>
                      <a:r>
                        <a:rPr sz="1200">
                          <a:latin typeface="Calibri"/>
                        </a:rPr>
                        <a:t>120 rad/s</a:t>
                      </a:r>
                    </a:p>
                  </a:txBody>
                  <a:tcPr/>
                </a:tc>
                <a:tc>
                  <a:txBody>
                    <a:bodyPr/>
                    <a:lstStyle/>
                    <a:p>
                      <a:r>
                        <a:rPr sz="1200">
                          <a:latin typeface="Calibri"/>
                        </a:rPr>
                        <a:t>191.4 rad/s ✓</a:t>
                      </a:r>
                    </a:p>
                  </a:txBody>
                  <a:tcPr/>
                </a:tc>
                <a:extLst>
                  <a:ext uri="{0D108BD9-81ED-4DB2-BD59-A6C34878D82A}">
                    <a16:rowId xmlns:a16="http://schemas.microsoft.com/office/drawing/2014/main" val="10003"/>
                  </a:ext>
                </a:extLst>
              </a:tr>
              <a:tr h="434340">
                <a:tc>
                  <a:txBody>
                    <a:bodyPr/>
                    <a:lstStyle/>
                    <a:p>
                      <a:r>
                        <a:rPr sz="1200">
                          <a:latin typeface="Calibri"/>
                        </a:rPr>
                        <a:t>Corriente (estator)</a:t>
                      </a:r>
                    </a:p>
                  </a:txBody>
                  <a:tcPr>
                    <a:solidFill>
                      <a:srgbClr val="F0F4F8"/>
                    </a:solidFill>
                  </a:tcPr>
                </a:tc>
                <a:tc>
                  <a:txBody>
                    <a:bodyPr/>
                    <a:lstStyle/>
                    <a:p>
                      <a:r>
                        <a:rPr sz="1200">
                          <a:latin typeface="Calibri"/>
                        </a:rPr>
                        <a:t>0.4 A</a:t>
                      </a:r>
                    </a:p>
                  </a:txBody>
                  <a:tcPr>
                    <a:solidFill>
                      <a:srgbClr val="F0F4F8"/>
                    </a:solidFill>
                  </a:tcPr>
                </a:tc>
                <a:tc>
                  <a:txBody>
                    <a:bodyPr/>
                    <a:lstStyle/>
                    <a:p>
                      <a:r>
                        <a:rPr sz="1200">
                          <a:latin typeface="Calibri"/>
                        </a:rPr>
                        <a:t>2.0 A</a:t>
                      </a:r>
                    </a:p>
                  </a:txBody>
                  <a:tcPr>
                    <a:solidFill>
                      <a:srgbClr val="F0F4F8"/>
                    </a:solidFill>
                  </a:tcPr>
                </a:tc>
                <a:tc>
                  <a:txBody>
                    <a:bodyPr/>
                    <a:lstStyle/>
                    <a:p>
                      <a:r>
                        <a:rPr sz="1200">
                          <a:latin typeface="Calibri"/>
                        </a:rPr>
                        <a:t>0.541 A</a:t>
                      </a:r>
                    </a:p>
                  </a:txBody>
                  <a:tcPr>
                    <a:solidFill>
                      <a:srgbClr val="F0F4F8"/>
                    </a:solidFill>
                  </a:tcPr>
                </a:tc>
                <a:tc>
                  <a:txBody>
                    <a:bodyPr/>
                    <a:lstStyle/>
                    <a:p>
                      <a:r>
                        <a:rPr sz="1200">
                          <a:latin typeface="Calibri"/>
                        </a:rPr>
                        <a:t>72.5 A  ✗</a:t>
                      </a:r>
                    </a:p>
                  </a:txBody>
                  <a:tcPr>
                    <a:solidFill>
                      <a:srgbClr val="F0F4F8"/>
                    </a:solidFill>
                  </a:tcPr>
                </a:tc>
                <a:extLst>
                  <a:ext uri="{0D108BD9-81ED-4DB2-BD59-A6C34878D82A}">
                    <a16:rowId xmlns:a16="http://schemas.microsoft.com/office/drawing/2014/main" val="10004"/>
                  </a:ext>
                </a:extLst>
              </a:tr>
              <a:tr h="434340">
                <a:tc>
                  <a:txBody>
                    <a:bodyPr/>
                    <a:lstStyle/>
                    <a:p>
                      <a:r>
                        <a:rPr sz="1200">
                          <a:latin typeface="Calibri"/>
                        </a:rPr>
                        <a:t>Tensión de fase</a:t>
                      </a:r>
                    </a:p>
                  </a:txBody>
                  <a:tcPr/>
                </a:tc>
                <a:tc>
                  <a:txBody>
                    <a:bodyPr/>
                    <a:lstStyle/>
                    <a:p>
                      <a:r>
                        <a:rPr sz="1200">
                          <a:latin typeface="Calibri"/>
                        </a:rPr>
                        <a:t>30 V</a:t>
                      </a:r>
                    </a:p>
                  </a:txBody>
                  <a:tcPr/>
                </a:tc>
                <a:tc>
                  <a:txBody>
                    <a:bodyPr/>
                    <a:lstStyle/>
                    <a:p>
                      <a:r>
                        <a:rPr sz="1200">
                          <a:latin typeface="Calibri"/>
                        </a:rPr>
                        <a:t>48 V</a:t>
                      </a:r>
                    </a:p>
                  </a:txBody>
                  <a:tcPr/>
                </a:tc>
                <a:tc>
                  <a:txBody>
                    <a:bodyPr/>
                    <a:lstStyle/>
                    <a:p>
                      <a:r>
                        <a:rPr sz="1200">
                          <a:latin typeface="Calibri"/>
                        </a:rPr>
                        <a:t>5.07 V</a:t>
                      </a:r>
                    </a:p>
                  </a:txBody>
                  <a:tcPr/>
                </a:tc>
                <a:tc>
                  <a:txBody>
                    <a:bodyPr/>
                    <a:lstStyle/>
                    <a:p>
                      <a:r>
                        <a:rPr sz="1200">
                          <a:latin typeface="Calibri"/>
                        </a:rPr>
                        <a:t>1972 V  ✗</a:t>
                      </a:r>
                    </a:p>
                  </a:txBody>
                  <a:tcPr/>
                </a:tc>
                <a:extLst>
                  <a:ext uri="{0D108BD9-81ED-4DB2-BD59-A6C34878D82A}">
                    <a16:rowId xmlns:a16="http://schemas.microsoft.com/office/drawing/2014/main" val="10005"/>
                  </a:ext>
                </a:extLst>
              </a:tr>
            </a:tbl>
          </a:graphicData>
        </a:graphic>
      </p:graphicFrame>
      <p:sp>
        <p:nvSpPr>
          <p:cNvPr id="11" name="Rectangle 10"/>
          <p:cNvSpPr/>
          <p:nvPr/>
        </p:nvSpPr>
        <p:spPr>
          <a:xfrm>
            <a:off x="365760" y="5925312"/>
            <a:ext cx="11430000" cy="658368"/>
          </a:xfrm>
          <a:prstGeom prst="rect">
            <a:avLst/>
          </a:prstGeom>
          <a:solidFill>
            <a:srgbClr val="FFF3E0"/>
          </a:solidFill>
          <a:ln w="1270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5971032"/>
            <a:ext cx="11155680" cy="566928"/>
          </a:xfrm>
          <a:prstGeom prst="rect">
            <a:avLst/>
          </a:prstGeom>
          <a:noFill/>
        </p:spPr>
        <p:txBody>
          <a:bodyPr wrap="square">
            <a:spAutoFit/>
          </a:bodyPr>
          <a:lstStyle/>
          <a:p>
            <a:pPr algn="l"/>
            <a:r>
              <a:rPr sz="1300">
                <a:solidFill>
                  <a:srgbClr val="1A3A6B"/>
                </a:solidFill>
                <a:latin typeface="Calibri"/>
              </a:rPr>
              <a:t>⚠  Los valores pico de corriente (72.5 A &gt;&gt; 2.0 A) y tensión (1972 V &gt;&gt; 48 V) superan ampliamente los límites. La consigna trapezoidal de posición brusca no es apta para el sistema real. Solución: usar consigna de velocidad trapezoidal suavizada.</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aplica un escalón de par resistente Tld = −5 N·m en t=5s y luego +5 N·m en t=10s (cambio de signo — condición más exigente que involucra frenado activo del sistema).</a:t>
            </a:r>
          </a:p>
        </p:txBody>
      </p:sp>
      <p:sp>
        <p:nvSpPr>
          <p:cNvPr id="8" name="Rectangle 7"/>
          <p:cNvSpPr/>
          <p:nvPr/>
        </p:nvSpPr>
        <p:spPr>
          <a:xfrm>
            <a:off x="365760" y="1444752"/>
            <a:ext cx="41148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3931920" cy="548640"/>
          </a:xfrm>
          <a:prstGeom prst="rect">
            <a:avLst/>
          </a:prstGeom>
          <a:noFill/>
        </p:spPr>
        <p:txBody>
          <a:bodyPr wrap="square">
            <a:spAutoFit/>
          </a:bodyPr>
          <a:lstStyle/>
          <a:p>
            <a:pPr algn="ctr"/>
            <a:r>
              <a:rPr sz="1100" b="1">
                <a:solidFill>
                  <a:srgbClr val="C35A00"/>
                </a:solidFill>
                <a:latin typeface="Calibri"/>
              </a:rPr>
              <a:t>🖼  FIGURA: Figura 51 — Perfil de perturbación Tld(t)</a:t>
            </a:r>
          </a:p>
        </p:txBody>
      </p:sp>
      <p:sp>
        <p:nvSpPr>
          <p:cNvPr id="10" name="TextBox 9"/>
          <p:cNvSpPr txBox="1"/>
          <p:nvPr/>
        </p:nvSpPr>
        <p:spPr>
          <a:xfrm>
            <a:off x="457200" y="2697480"/>
            <a:ext cx="39319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754880" y="1444752"/>
            <a:ext cx="713232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46320" y="2313432"/>
            <a:ext cx="6949440" cy="548640"/>
          </a:xfrm>
          <a:prstGeom prst="rect">
            <a:avLst/>
          </a:prstGeom>
          <a:noFill/>
        </p:spPr>
        <p:txBody>
          <a:bodyPr wrap="square">
            <a:spAutoFit/>
          </a:bodyPr>
          <a:lstStyle/>
          <a:p>
            <a:pPr algn="ctr"/>
            <a:r>
              <a:rPr sz="1100" b="1">
                <a:solidFill>
                  <a:srgbClr val="C35A00"/>
                </a:solidFill>
                <a:latin typeface="Calibri"/>
              </a:rPr>
              <a:t>🖼  FIGURA: Figura 52 — Respuesta de θm(t) con error de estado estacionario frente a Tld</a:t>
            </a:r>
          </a:p>
        </p:txBody>
      </p:sp>
      <p:sp>
        <p:nvSpPr>
          <p:cNvPr id="13" name="TextBox 12"/>
          <p:cNvSpPr txBox="1"/>
          <p:nvPr/>
        </p:nvSpPr>
        <p:spPr>
          <a:xfrm>
            <a:off x="4846320" y="2697480"/>
            <a:ext cx="694944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858768"/>
            <a:ext cx="11430000" cy="347472"/>
          </a:xfrm>
          <a:prstGeom prst="rect">
            <a:avLst/>
          </a:prstGeom>
          <a:noFill/>
        </p:spPr>
        <p:txBody>
          <a:bodyPr wrap="square">
            <a:spAutoFit/>
          </a:bodyPr>
          <a:lstStyle/>
          <a:p>
            <a:pPr algn="l"/>
            <a:r>
              <a:rPr sz="1400" b="1" i="0">
                <a:solidFill>
                  <a:srgbClr val="1A3A6B"/>
                </a:solidFill>
                <a:latin typeface="Calibri"/>
              </a:rPr>
              <a:t>Análisis de resultados:</a:t>
            </a:r>
          </a:p>
        </p:txBody>
      </p:sp>
      <p:sp>
        <p:nvSpPr>
          <p:cNvPr id="15" name="TextBox 14"/>
          <p:cNvSpPr txBox="1"/>
          <p:nvPr/>
        </p:nvSpPr>
        <p:spPr>
          <a:xfrm>
            <a:off x="365760" y="4270248"/>
            <a:ext cx="11430000" cy="2331720"/>
          </a:xfrm>
          <a:prstGeom prst="rect">
            <a:avLst/>
          </a:prstGeom>
          <a:noFill/>
        </p:spPr>
        <p:txBody>
          <a:bodyPr wrap="square">
            <a:spAutoFit/>
          </a:bodyPr>
          <a:lstStyle/>
          <a:p>
            <a:r>
              <a:rPr sz="1350">
                <a:solidFill>
                  <a:srgbClr val="1A1A2E"/>
                </a:solidFill>
                <a:latin typeface="Calibri"/>
              </a:rPr>
              <a:t>El controlador compensa eficazmente la variación de carga — el error transitorio es acotado y rápidamente amortiguado</a:t>
            </a:r>
          </a:p>
          <a:p>
            <a:pPr>
              <a:spcBef>
                <a:spcPts val="400"/>
              </a:spcBef>
            </a:pPr>
            <a:r>
              <a:rPr sz="1350">
                <a:solidFill>
                  <a:srgbClr val="1A1A2E"/>
                </a:solidFill>
                <a:latin typeface="Calibri"/>
              </a:rPr>
              <a:t>Aparece un error de estado estacionario frente a Tld constante — el observador básico no tiene acción integral</a:t>
            </a:r>
          </a:p>
          <a:p>
            <a:pPr>
              <a:spcBef>
                <a:spcPts val="400"/>
              </a:spcBef>
            </a:pPr>
            <a:r>
              <a:rPr sz="1350">
                <a:solidFill>
                  <a:srgbClr val="1A1A2E"/>
                </a:solidFill>
                <a:latin typeface="Calibri"/>
              </a:rPr>
              <a:t>La señal estimada sigue consistentemente la posición real sin discrepancias significativas</a:t>
            </a:r>
          </a:p>
          <a:p>
            <a:pPr>
              <a:spcBef>
                <a:spcPts val="400"/>
              </a:spcBef>
            </a:pPr>
            <a:r>
              <a:rPr sz="1350">
                <a:solidFill>
                  <a:srgbClr val="1A1A2E"/>
                </a:solidFill>
                <a:latin typeface="Calibri"/>
              </a:rPr>
              <a:t>El instante t=10s (cambio de signo de la carga) genera el transitorio más exigente</a:t>
            </a:r>
          </a:p>
          <a:p>
            <a:pPr>
              <a:spcBef>
                <a:spcPts val="400"/>
              </a:spcBef>
            </a:pPr>
            <a:r>
              <a:rPr sz="1350" b="0">
                <a:solidFill>
                  <a:srgbClr val="C35A00"/>
                </a:solidFill>
                <a:latin typeface="Calibri"/>
              </a:rPr>
              <a:t>→  Solución: incorporar acción integral al observador para eliminar el error estacionario (Sección 4.5.2)</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Reemplazando la consigna de posición trapezoidal brusca por un perfil de velocidad trapezoidal suavizado, se obtienen transitorios compatibles con los límites físicos del sistema:</a:t>
            </a:r>
          </a:p>
        </p:txBody>
      </p:sp>
      <p:sp>
        <p:nvSpPr>
          <p:cNvPr id="8" name="Rectangle 7"/>
          <p:cNvSpPr/>
          <p:nvPr/>
        </p:nvSpPr>
        <p:spPr>
          <a:xfrm>
            <a:off x="36576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5303520" cy="548640"/>
          </a:xfrm>
          <a:prstGeom prst="rect">
            <a:avLst/>
          </a:prstGeom>
          <a:noFill/>
        </p:spPr>
        <p:txBody>
          <a:bodyPr wrap="square">
            <a:spAutoFit/>
          </a:bodyPr>
          <a:lstStyle/>
          <a:p>
            <a:pPr algn="ctr"/>
            <a:r>
              <a:rPr sz="1100" b="1">
                <a:solidFill>
                  <a:srgbClr val="C35A00"/>
                </a:solidFill>
                <a:latin typeface="Calibri"/>
              </a:rPr>
              <a:t>🖼  FIGURA: Figuras 53-54 — Perfil de velocidad ωm*(t) y seguimiento de velocidad angular</a:t>
            </a:r>
          </a:p>
        </p:txBody>
      </p:sp>
      <p:sp>
        <p:nvSpPr>
          <p:cNvPr id="10" name="TextBox 9"/>
          <p:cNvSpPr txBox="1"/>
          <p:nvPr/>
        </p:nvSpPr>
        <p:spPr>
          <a:xfrm>
            <a:off x="45720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313432"/>
            <a:ext cx="5303520" cy="548640"/>
          </a:xfrm>
          <a:prstGeom prst="rect">
            <a:avLst/>
          </a:prstGeom>
          <a:noFill/>
        </p:spPr>
        <p:txBody>
          <a:bodyPr wrap="square">
            <a:spAutoFit/>
          </a:bodyPr>
          <a:lstStyle/>
          <a:p>
            <a:pPr algn="ctr"/>
            <a:r>
              <a:rPr sz="1100" b="1">
                <a:solidFill>
                  <a:srgbClr val="C35A00"/>
                </a:solidFill>
                <a:latin typeface="Calibri"/>
              </a:rPr>
              <a:t>🖼  FIGURA: Figuras 55-58 — θm(t), detalle posición, Tm(t), iabc(t)</a:t>
            </a:r>
          </a:p>
        </p:txBody>
      </p:sp>
      <p:sp>
        <p:nvSpPr>
          <p:cNvPr id="13" name="TextBox 12"/>
          <p:cNvSpPr txBox="1"/>
          <p:nvPr/>
        </p:nvSpPr>
        <p:spPr>
          <a:xfrm>
            <a:off x="621792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365760" y="3840480"/>
            <a:ext cx="11430000" cy="21945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663440"/>
            <a:ext cx="11247120" cy="548640"/>
          </a:xfrm>
          <a:prstGeom prst="rect">
            <a:avLst/>
          </a:prstGeom>
          <a:noFill/>
        </p:spPr>
        <p:txBody>
          <a:bodyPr wrap="square">
            <a:spAutoFit/>
          </a:bodyPr>
          <a:lstStyle/>
          <a:p>
            <a:pPr algn="ctr"/>
            <a:r>
              <a:rPr sz="1100" b="1">
                <a:solidFill>
                  <a:srgbClr val="C35A00"/>
                </a:solidFill>
                <a:latin typeface="Calibri"/>
              </a:rPr>
              <a:t>🖼  FIGURA: Figuras 59-60 — Tensiones vabc(t) y temperatura Ts°(t)
Ts &lt; 41°C (fue 56°C con consigna trapezoidal de posición)</a:t>
            </a:r>
          </a:p>
        </p:txBody>
      </p:sp>
      <p:sp>
        <p:nvSpPr>
          <p:cNvPr id="16" name="TextBox 15"/>
          <p:cNvSpPr txBox="1"/>
          <p:nvPr/>
        </p:nvSpPr>
        <p:spPr>
          <a:xfrm>
            <a:off x="457200" y="504748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306</TotalTime>
  <Words>10850</Words>
  <Application>Microsoft Office PowerPoint</Application>
  <PresentationFormat>Panorámica</PresentationFormat>
  <Paragraphs>1052</Paragraphs>
  <Slides>75</Slides>
  <Notes>1</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75</vt:i4>
      </vt:variant>
    </vt:vector>
  </HeadingPairs>
  <TitlesOfParts>
    <vt:vector size="80" baseType="lpstr">
      <vt:lpstr>Arial</vt:lpstr>
      <vt:lpstr>Calibri</vt:lpstr>
      <vt:lpstr>Cambria</vt:lpstr>
      <vt:lpstr>Cambria Math</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15</cp:revision>
  <dcterms:created xsi:type="dcterms:W3CDTF">2013-01-27T09:14:16Z</dcterms:created>
  <dcterms:modified xsi:type="dcterms:W3CDTF">2026-04-13T22:48:26Z</dcterms:modified>
  <cp:category/>
</cp:coreProperties>
</file>