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2"/>
  </p:notesMasterIdLst>
  <p:sldIdLst>
    <p:sldId id="256" r:id="rId2"/>
    <p:sldId id="257" r:id="rId3"/>
    <p:sldId id="258" r:id="rId4"/>
    <p:sldId id="384" r:id="rId5"/>
    <p:sldId id="260" r:id="rId6"/>
    <p:sldId id="261" r:id="rId7"/>
    <p:sldId id="262" r:id="rId8"/>
    <p:sldId id="263" r:id="rId9"/>
    <p:sldId id="382" r:id="rId10"/>
    <p:sldId id="264" r:id="rId11"/>
    <p:sldId id="265" r:id="rId12"/>
    <p:sldId id="383" r:id="rId13"/>
    <p:sldId id="266" r:id="rId14"/>
    <p:sldId id="267" r:id="rId15"/>
    <p:sldId id="268" r:id="rId16"/>
    <p:sldId id="269" r:id="rId17"/>
    <p:sldId id="270" r:id="rId18"/>
    <p:sldId id="271" r:id="rId19"/>
    <p:sldId id="272" r:id="rId20"/>
    <p:sldId id="273" r:id="rId21"/>
    <p:sldId id="274" r:id="rId22"/>
    <p:sldId id="386" r:id="rId23"/>
    <p:sldId id="276" r:id="rId24"/>
    <p:sldId id="277" r:id="rId25"/>
    <p:sldId id="278" r:id="rId26"/>
    <p:sldId id="279" r:id="rId27"/>
    <p:sldId id="280" r:id="rId28"/>
    <p:sldId id="281" r:id="rId29"/>
    <p:sldId id="282" r:id="rId30"/>
    <p:sldId id="284" r:id="rId31"/>
    <p:sldId id="285" r:id="rId32"/>
    <p:sldId id="286" r:id="rId33"/>
    <p:sldId id="287" r:id="rId34"/>
    <p:sldId id="328" r:id="rId35"/>
    <p:sldId id="329" r:id="rId36"/>
    <p:sldId id="330" r:id="rId37"/>
    <p:sldId id="288" r:id="rId38"/>
    <p:sldId id="290" r:id="rId39"/>
    <p:sldId id="331" r:id="rId40"/>
    <p:sldId id="291" r:id="rId41"/>
    <p:sldId id="332" r:id="rId42"/>
    <p:sldId id="292" r:id="rId43"/>
    <p:sldId id="293" r:id="rId44"/>
    <p:sldId id="294" r:id="rId45"/>
    <p:sldId id="333" r:id="rId46"/>
    <p:sldId id="295" r:id="rId47"/>
    <p:sldId id="334" r:id="rId48"/>
    <p:sldId id="297" r:id="rId49"/>
    <p:sldId id="337" r:id="rId50"/>
    <p:sldId id="336" r:id="rId51"/>
    <p:sldId id="296" r:id="rId52"/>
    <p:sldId id="338" r:id="rId53"/>
    <p:sldId id="299" r:id="rId54"/>
    <p:sldId id="298" r:id="rId55"/>
    <p:sldId id="339" r:id="rId56"/>
    <p:sldId id="340" r:id="rId57"/>
    <p:sldId id="385" r:id="rId58"/>
    <p:sldId id="341" r:id="rId59"/>
    <p:sldId id="300" r:id="rId60"/>
    <p:sldId id="301" r:id="rId61"/>
    <p:sldId id="302" r:id="rId62"/>
    <p:sldId id="343" r:id="rId63"/>
    <p:sldId id="344" r:id="rId64"/>
    <p:sldId id="303" r:id="rId65"/>
    <p:sldId id="345" r:id="rId66"/>
    <p:sldId id="304" r:id="rId67"/>
    <p:sldId id="346" r:id="rId68"/>
    <p:sldId id="305" r:id="rId69"/>
    <p:sldId id="306" r:id="rId70"/>
    <p:sldId id="347" r:id="rId71"/>
    <p:sldId id="307" r:id="rId72"/>
    <p:sldId id="348" r:id="rId73"/>
    <p:sldId id="309" r:id="rId74"/>
    <p:sldId id="310" r:id="rId75"/>
    <p:sldId id="349" r:id="rId76"/>
    <p:sldId id="311" r:id="rId77"/>
    <p:sldId id="312" r:id="rId78"/>
    <p:sldId id="350" r:id="rId79"/>
    <p:sldId id="351" r:id="rId80"/>
    <p:sldId id="314" r:id="rId81"/>
    <p:sldId id="315" r:id="rId82"/>
    <p:sldId id="316" r:id="rId83"/>
    <p:sldId id="352" r:id="rId84"/>
    <p:sldId id="353" r:id="rId85"/>
    <p:sldId id="354" r:id="rId86"/>
    <p:sldId id="355" r:id="rId87"/>
    <p:sldId id="317" r:id="rId88"/>
    <p:sldId id="356" r:id="rId89"/>
    <p:sldId id="318" r:id="rId90"/>
    <p:sldId id="357" r:id="rId91"/>
    <p:sldId id="358" r:id="rId92"/>
    <p:sldId id="319" r:id="rId93"/>
    <p:sldId id="359" r:id="rId94"/>
    <p:sldId id="360" r:id="rId95"/>
    <p:sldId id="361" r:id="rId96"/>
    <p:sldId id="363" r:id="rId97"/>
    <p:sldId id="364" r:id="rId98"/>
    <p:sldId id="362" r:id="rId99"/>
    <p:sldId id="365" r:id="rId100"/>
    <p:sldId id="366" r:id="rId101"/>
    <p:sldId id="320" r:id="rId102"/>
    <p:sldId id="367" r:id="rId103"/>
    <p:sldId id="368" r:id="rId104"/>
    <p:sldId id="369" r:id="rId105"/>
    <p:sldId id="370" r:id="rId106"/>
    <p:sldId id="371" r:id="rId107"/>
    <p:sldId id="387" r:id="rId108"/>
    <p:sldId id="321" r:id="rId109"/>
    <p:sldId id="322" r:id="rId110"/>
    <p:sldId id="323" r:id="rId111"/>
    <p:sldId id="372" r:id="rId112"/>
    <p:sldId id="373" r:id="rId113"/>
    <p:sldId id="374" r:id="rId114"/>
    <p:sldId id="375" r:id="rId115"/>
    <p:sldId id="377" r:id="rId116"/>
    <p:sldId id="378" r:id="rId117"/>
    <p:sldId id="379" r:id="rId118"/>
    <p:sldId id="380" r:id="rId119"/>
    <p:sldId id="381" r:id="rId120"/>
    <p:sldId id="326" r:id="rId1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7" autoAdjust="0"/>
    <p:restoredTop sz="96357" autoAdjust="0"/>
  </p:normalViewPr>
  <p:slideViewPr>
    <p:cSldViewPr snapToGrid="0" snapToObjects="1">
      <p:cViewPr varScale="1">
        <p:scale>
          <a:sx n="114" d="100"/>
          <a:sy n="114" d="100"/>
        </p:scale>
        <p:origin x="4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15/5/2026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29</a:t>
            </a:fld>
            <a:endParaRPr lang="es-AR"/>
          </a:p>
        </p:txBody>
      </p:sp>
    </p:spTree>
    <p:extLst>
      <p:ext uri="{BB962C8B-B14F-4D97-AF65-F5344CB8AC3E}">
        <p14:creationId xmlns:p14="http://schemas.microsoft.com/office/powerpoint/2010/main" val="168790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42</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56</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57</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58</a:t>
            </a:fld>
            <a:endParaRPr lang="es-AR"/>
          </a:p>
        </p:txBody>
      </p:sp>
    </p:spTree>
    <p:extLst>
      <p:ext uri="{BB962C8B-B14F-4D97-AF65-F5344CB8AC3E}">
        <p14:creationId xmlns:p14="http://schemas.microsoft.com/office/powerpoint/2010/main" val="164273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67</a:t>
            </a:fld>
            <a:endParaRPr lang="es-AR"/>
          </a:p>
        </p:txBody>
      </p:sp>
    </p:spTree>
    <p:extLst>
      <p:ext uri="{BB962C8B-B14F-4D97-AF65-F5344CB8AC3E}">
        <p14:creationId xmlns:p14="http://schemas.microsoft.com/office/powerpoint/2010/main" val="131822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77</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80</a:t>
            </a:fld>
            <a:endParaRPr lang="es-AR"/>
          </a:p>
        </p:txBody>
      </p:sp>
    </p:spTree>
    <p:extLst>
      <p:ext uri="{BB962C8B-B14F-4D97-AF65-F5344CB8AC3E}">
        <p14:creationId xmlns:p14="http://schemas.microsoft.com/office/powerpoint/2010/main" val="114381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90</a:t>
            </a:fld>
            <a:endParaRPr lang="es-AR"/>
          </a:p>
        </p:txBody>
      </p:sp>
    </p:spTree>
    <p:extLst>
      <p:ext uri="{BB962C8B-B14F-4D97-AF65-F5344CB8AC3E}">
        <p14:creationId xmlns:p14="http://schemas.microsoft.com/office/powerpoint/2010/main" val="28470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92</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94</a:t>
            </a:fld>
            <a:endParaRPr lang="es-AR"/>
          </a:p>
        </p:txBody>
      </p:sp>
    </p:spTree>
    <p:extLst>
      <p:ext uri="{BB962C8B-B14F-4D97-AF65-F5344CB8AC3E}">
        <p14:creationId xmlns:p14="http://schemas.microsoft.com/office/powerpoint/2010/main" val="3932018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95</a:t>
            </a:fld>
            <a:endParaRPr lang="es-AR"/>
          </a:p>
        </p:txBody>
      </p:sp>
    </p:spTree>
    <p:extLst>
      <p:ext uri="{BB962C8B-B14F-4D97-AF65-F5344CB8AC3E}">
        <p14:creationId xmlns:p14="http://schemas.microsoft.com/office/powerpoint/2010/main" val="789508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101</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210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0.png"/><Relationship Id="rId1" Type="http://schemas.openxmlformats.org/officeDocument/2006/relationships/slideLayout" Target="../slideLayouts/slideLayout7.xml"/><Relationship Id="rId6" Type="http://schemas.openxmlformats.org/officeDocument/2006/relationships/image" Target="../media/image1611.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910.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1.png"/><Relationship Id="rId4" Type="http://schemas.openxmlformats.org/officeDocument/2006/relationships/image" Target="../media/image350.png"/></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10.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 Id="rId9"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531.png"/><Relationship Id="rId10" Type="http://schemas.openxmlformats.org/officeDocument/2006/relationships/image" Target="../media/image501.png"/><Relationship Id="rId9" Type="http://schemas.openxmlformats.org/officeDocument/2006/relationships/image" Target="../media/image491.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7.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73.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1.png"/></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0.png"/><Relationship Id="rId7" Type="http://schemas.openxmlformats.org/officeDocument/2006/relationships/image" Target="../media/image105.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0.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0.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2.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36.png"/></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5.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74.png"/><Relationship Id="rId1" Type="http://schemas.openxmlformats.org/officeDocument/2006/relationships/slideLayout" Target="../slideLayouts/slideLayout7.xml"/><Relationship Id="rId5" Type="http://schemas.openxmlformats.org/officeDocument/2006/relationships/image" Target="../media/image185.png"/><Relationship Id="rId4" Type="http://schemas.openxmlformats.org/officeDocument/2006/relationships/image" Target="../media/image18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6.png"/><Relationship Id="rId5" Type="http://schemas.openxmlformats.org/officeDocument/2006/relationships/image" Target="../media/image177.png"/><Relationship Id="rId4" Type="http://schemas.openxmlformats.org/officeDocument/2006/relationships/image" Target="../media/image175.png"/><Relationship Id="rId9" Type="http://schemas.openxmlformats.org/officeDocument/2006/relationships/image" Target="../media/image191.png"/></Relationships>
</file>

<file path=ppt/slides/_rels/slide7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88.png"/></Relationships>
</file>

<file path=ppt/slides/_rels/slide79.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4.png"/></Relationships>
</file>

<file path=ppt/slides/_rels/slide80.xml.rels><?xml version="1.0" encoding="UTF-8" standalone="yes"?>
<Relationships xmlns="http://schemas.openxmlformats.org/package/2006/relationships"><Relationship Id="rId3" Type="http://schemas.openxmlformats.org/officeDocument/2006/relationships/image" Target="../media/image207.png"/><Relationship Id="rId7" Type="http://schemas.openxmlformats.org/officeDocument/2006/relationships/image" Target="../media/image20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202.png"/><Relationship Id="rId4" Type="http://schemas.openxmlformats.org/officeDocument/2006/relationships/image" Target="../media/image2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06.png"/><Relationship Id="rId1" Type="http://schemas.openxmlformats.org/officeDocument/2006/relationships/slideLayout" Target="../slideLayouts/slideLayout7.xml"/><Relationship Id="rId4" Type="http://schemas.openxmlformats.org/officeDocument/2006/relationships/image" Target="../media/image204.png"/></Relationships>
</file>

<file path=ppt/slides/_rels/slide83.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140.png"/><Relationship Id="rId2" Type="http://schemas.openxmlformats.org/officeDocument/2006/relationships/image" Target="../media/image214.png"/><Relationship Id="rId1" Type="http://schemas.openxmlformats.org/officeDocument/2006/relationships/slideLayout" Target="../slideLayouts/slideLayout7.xml"/><Relationship Id="rId5" Type="http://schemas.openxmlformats.org/officeDocument/2006/relationships/image" Target="../media/image216.png"/><Relationship Id="rId4" Type="http://schemas.openxmlformats.org/officeDocument/2006/relationships/image" Target="../media/image215.png"/></Relationships>
</file>

<file path=ppt/slides/_rels/slide86.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7.xml"/><Relationship Id="rId4" Type="http://schemas.openxmlformats.org/officeDocument/2006/relationships/image" Target="../media/image219.png"/></Relationships>
</file>

<file path=ppt/slides/_rels/slide87.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9.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29.png"/><Relationship Id="rId5" Type="http://schemas.openxmlformats.org/officeDocument/2006/relationships/image" Target="../media/image224.png"/><Relationship Id="rId4" Type="http://schemas.openxmlformats.org/officeDocument/2006/relationships/image" Target="../media/image233.png"/></Relationships>
</file>

<file path=ppt/slides/_rels/slide90.xml.rels><?xml version="1.0" encoding="UTF-8" standalone="yes"?>
<Relationships xmlns="http://schemas.openxmlformats.org/package/2006/relationships"><Relationship Id="rId3" Type="http://schemas.openxmlformats.org/officeDocument/2006/relationships/image" Target="../media/image235.png"/><Relationship Id="rId7" Type="http://schemas.openxmlformats.org/officeDocument/2006/relationships/image" Target="../media/image23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0.png"/><Relationship Id="rId4" Type="http://schemas.openxmlformats.org/officeDocument/2006/relationships/image" Target="../media/image2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37.png"/><Relationship Id="rId5" Type="http://schemas.openxmlformats.org/officeDocument/2006/relationships/image" Target="../media/image243.png"/><Relationship Id="rId4" Type="http://schemas.openxmlformats.org/officeDocument/2006/relationships/image" Target="../media/image242.png"/></Relationships>
</file>

<file path=ppt/slides/_rels/slide93.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4.png"/><Relationship Id="rId5" Type="http://schemas.openxmlformats.org/officeDocument/2006/relationships/image" Target="../media/image247.png"/><Relationship Id="rId4" Type="http://schemas.openxmlformats.org/officeDocument/2006/relationships/image" Target="../media/image246.png"/></Relationships>
</file>

<file path=ppt/slides/_rels/slide95.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248.png"/><Relationship Id="rId7" Type="http://schemas.openxmlformats.org/officeDocument/2006/relationships/image" Target="../media/image25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1.png"/><Relationship Id="rId5" Type="http://schemas.openxmlformats.org/officeDocument/2006/relationships/image" Target="../media/image249.png"/><Relationship Id="rId4" Type="http://schemas.openxmlformats.org/officeDocument/2006/relationships/image" Target="../media/image250.png"/></Relationships>
</file>

<file path=ppt/slides/_rels/slide96.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6.png"/></Relationships>
</file>

<file path=ppt/slides/_rels/slide97.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5.png"/><Relationship Id="rId4" Type="http://schemas.openxmlformats.org/officeDocument/2006/relationships/image" Target="../media/image264.png"/></Relationships>
</file>

<file path=ppt/slides/_rels/slide99.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6.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8.png"/></Relationships>
</file>

<file path=ppt/slides/_rels/slide100.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1.png"/><Relationship Id="rId1" Type="http://schemas.openxmlformats.org/officeDocument/2006/relationships/slideLayout" Target="../slideLayouts/slideLayout7.xml"/><Relationship Id="rId5" Type="http://schemas.openxmlformats.org/officeDocument/2006/relationships/image" Target="../media/image276.png"/><Relationship Id="rId4" Type="http://schemas.openxmlformats.org/officeDocument/2006/relationships/image" Target="../media/image275.png"/></Relationships>
</file>

<file path=ppt/slides/_rels/slide101.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7.png"/><Relationship Id="rId5" Type="http://schemas.openxmlformats.org/officeDocument/2006/relationships/image" Target="../media/image280.png"/><Relationship Id="rId4" Type="http://schemas.openxmlformats.org/officeDocument/2006/relationships/image" Target="../media/image279.png"/></Relationships>
</file>

<file path=ppt/slides/_rels/slide10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281.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2.png"/></Relationships>
</file>

<file path=ppt/slides/_rels/slide10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84.png"/><Relationship Id="rId4" Type="http://schemas.openxmlformats.org/officeDocument/2006/relationships/image" Target="../media/image283.png"/></Relationships>
</file>

<file path=ppt/slides/_rels/slide10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89.png"/><Relationship Id="rId4" Type="http://schemas.openxmlformats.org/officeDocument/2006/relationships/image" Target="../media/image288.png"/></Relationships>
</file>

<file path=ppt/slides/_rels/slide10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93.png"/><Relationship Id="rId4" Type="http://schemas.openxmlformats.org/officeDocument/2006/relationships/image" Target="../media/image29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296.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297.png"/><Relationship Id="rId5" Type="http://schemas.openxmlformats.org/officeDocument/2006/relationships/image" Target="../media/image301.png"/><Relationship Id="rId4" Type="http://schemas.openxmlformats.org/officeDocument/2006/relationships/image" Target="../media/image300.png"/></Relationships>
</file>

<file path=ppt/slides/_rels/slide111.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2.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3.png"/></Relationships>
</file>

<file path=ppt/slides/_rels/slide112.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8" Type="http://schemas.openxmlformats.org/officeDocument/2006/relationships/image" Target="../media/image317.png"/><Relationship Id="rId3" Type="http://schemas.openxmlformats.org/officeDocument/2006/relationships/image" Target="../media/image312.png"/><Relationship Id="rId7" Type="http://schemas.openxmlformats.org/officeDocument/2006/relationships/image" Target="../media/image316.png"/><Relationship Id="rId12" Type="http://schemas.openxmlformats.org/officeDocument/2006/relationships/image" Target="../media/image162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315.png"/><Relationship Id="rId11" Type="http://schemas.openxmlformats.org/officeDocument/2006/relationships/image" Target="../media/image1610.png"/><Relationship Id="rId5" Type="http://schemas.openxmlformats.org/officeDocument/2006/relationships/image" Target="../media/image314.png"/><Relationship Id="rId10" Type="http://schemas.openxmlformats.org/officeDocument/2006/relationships/image" Target="../media/image1600.png"/><Relationship Id="rId4" Type="http://schemas.openxmlformats.org/officeDocument/2006/relationships/image" Target="../media/image313.png"/><Relationship Id="rId9" Type="http://schemas.openxmlformats.org/officeDocument/2006/relationships/image" Target="../media/image1590.png"/></Relationships>
</file>

<file path=ppt/slides/_rels/slide116.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0.png"/><Relationship Id="rId4" Type="http://schemas.openxmlformats.org/officeDocument/2006/relationships/image" Target="../media/image318.png"/></Relationships>
</file>

<file path=ppt/slides/_rels/slide117.xml.rels><?xml version="1.0" encoding="UTF-8" standalone="yes"?>
<Relationships xmlns="http://schemas.openxmlformats.org/package/2006/relationships"><Relationship Id="rId3" Type="http://schemas.openxmlformats.org/officeDocument/2006/relationships/image" Target="../media/image3190.png"/><Relationship Id="rId2" Type="http://schemas.openxmlformats.org/officeDocument/2006/relationships/image" Target="../media/image319.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20.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9.xml.rels><?xml version="1.0" encoding="UTF-8" standalone="yes"?>
<Relationships xmlns="http://schemas.openxmlformats.org/package/2006/relationships"><Relationship Id="rId3" Type="http://schemas.openxmlformats.org/officeDocument/2006/relationships/image" Target="../media/image324.png"/><Relationship Id="rId7" Type="http://schemas.openxmlformats.org/officeDocument/2006/relationships/image" Target="../media/image1730.png"/><Relationship Id="rId2" Type="http://schemas.openxmlformats.org/officeDocument/2006/relationships/image" Target="../media/image323.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2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45821" y="923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45821" y="16322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45821" y="235000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5821" y="306781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45821" y="3747215"/>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45821" y="446913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45821" y="51755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7871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85687"/>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349211"/>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301889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747215"/>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Diseño final y discretización </a:t>
            </a:r>
            <a:endParaRPr lang="es-AR"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455241"/>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Codificación</a:t>
            </a:r>
            <a:r>
              <a:rPr lang="en-US" sz="1200" b="1" dirty="0">
                <a:solidFill>
                  <a:srgbClr val="1A386B"/>
                </a:solidFill>
                <a:latin typeface="Calibri" pitchFamily="34" charset="0"/>
                <a:ea typeface="Calibri" pitchFamily="34" charset="-122"/>
                <a:cs typeface="Calibri" pitchFamily="34" charset="-120"/>
              </a:rPr>
              <a:t> </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pic>
        <p:nvPicPr>
          <p:cNvPr id="16" name="Picture 2" descr="The four-quadrant operation of a DC motor can be described as follows">
            <a:extLst>
              <a:ext uri="{FF2B5EF4-FFF2-40B4-BE49-F238E27FC236}">
                <a16:creationId xmlns:a16="http://schemas.microsoft.com/office/drawing/2014/main" id="{8D9D9F26-C412-4508-9C72-2443C2C53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668" y="4688507"/>
            <a:ext cx="2252707" cy="177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300" i="1" smtClean="0">
                                        <a:effectLst/>
                                        <a:latin typeface="Cambria Math" panose="02040503050406030204" pitchFamily="18" charset="0"/>
                                        <a:ea typeface="Times New Roman" panose="02020603050405020304" pitchFamily="18" charset="0"/>
                                      </a:rPr>
                                    </m:ctrlPr>
                                  </m:sSubSup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𝑞</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𝑑</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𝑙𝑠</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𝑅</m:t>
                                    </m:r>
                                  </m:e>
                                  <m:sub>
                                    <m:r>
                                      <a:rPr lang="es-MX" sz="1300" b="0" i="1" smtClean="0">
                                        <a:effectLst/>
                                        <a:latin typeface="Cambria Math" panose="02040503050406030204" pitchFamily="18" charset="0"/>
                                      </a:rPr>
                                      <m:t>𝑆</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m:rPr>
                                        <m:nor/>
                                      </m:rPr>
                                      <a:rPr lang="en-US" sz="1300" dirty="0" smtClean="0">
                                        <a:solidFill>
                                          <a:srgbClr val="000000"/>
                                        </a:solidFill>
                                        <a:latin typeface="Calibri" pitchFamily="34" charset="0"/>
                                        <a:ea typeface="Calibri" pitchFamily="34" charset="-122"/>
                                        <a:cs typeface="Calibri" pitchFamily="34" charset="-120"/>
                                      </a:rPr>
                                      <m:t>α</m:t>
                                    </m:r>
                                  </m:e>
                                  <m:sub>
                                    <m:r>
                                      <a:rPr lang="es-MX" sz="1300" b="0" i="1" smtClean="0">
                                        <a:effectLst/>
                                        <a:latin typeface="Cambria Math" panose="02040503050406030204" pitchFamily="18" charset="0"/>
                                      </a:rPr>
                                      <m:t>𝑐𝑢</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𝐽</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𝑏</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𝑛</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𝑚𝑎𝑥</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𝑉</m:t>
                                    </m:r>
                                  </m:e>
                                  <m:sub>
                                    <m:r>
                                      <a:rPr lang="es-MX" sz="1300" b="0" i="1" smtClean="0">
                                        <a:effectLst/>
                                        <a:latin typeface="Cambria Math" panose="02040503050406030204" pitchFamily="18" charset="0"/>
                                      </a:rPr>
                                      <m:t>𝑠𝑙</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201667" r="-205152" b="-1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301667" r="-205152" b="-10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401667" r="-205152" b="-9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501667" r="-205152" b="-8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601667" r="-205152" b="-7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701667" r="-205152" b="-6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801667" r="-205152" b="-5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901667" r="-205152" b="-4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001667" r="-205152" b="-3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101667" r="-205152" b="-2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201667" r="-205152" b="-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301667" r="-205152" b="-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0.1±0.03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=1.0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=9.80665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=0.25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=0.0208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=0.50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0⋯1.5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=0.0833+</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0⋯0.</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0.25+</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0⋯0.75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0±5.0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0</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m:t>
                    </m:r>
                    <m:r>
                      <a:rPr lang="es-AR" sz="1400" i="1">
                        <a:latin typeface="Cambria Math" panose="02040503050406030204" pitchFamily="18" charset="0"/>
                      </a:rPr>
                      <m:t>45</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122493"/>
            <a:ext cx="5486400" cy="411480"/>
          </a:xfrm>
          <a:prstGeom prst="rect">
            <a:avLst/>
          </a:prstGeom>
          <a:noFill/>
          <a:ln/>
        </p:spPr>
        <p:txBody>
          <a:bodyPr wrap="square" rtlCol="0" anchor="t"/>
          <a:lstStyle/>
          <a:p>
            <a:pPr marL="0" indent="0" algn="l">
              <a:buNone/>
            </a:pPr>
            <a:r>
              <a:rPr lang="es-MX" sz="1400" dirty="0"/>
              <a:t>El subsistema mecánico del motor corresponde al rotor referido al estator estacionario</a:t>
            </a:r>
            <a:r>
              <a:rPr lang="en-US" sz="1400" dirty="0">
                <a:solidFill>
                  <a:srgbClr val="111111"/>
                </a:solidFill>
                <a:latin typeface="Calibri" pitchFamily="34" charset="0"/>
                <a:ea typeface="Calibri" pitchFamily="34" charset="-122"/>
                <a:cs typeface="Calibri" pitchFamily="34" charset="-120"/>
              </a:rPr>
              <a:t>— parámetros concentrados:</a:t>
            </a:r>
            <a:endParaRPr lang="en-US" sz="14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m:t>
                        </m:r>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m:t>
                    </m:r>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91440" y="1109831"/>
                <a:ext cx="5387571" cy="594360"/>
              </a:xfrm>
              <a:prstGeom prst="rect">
                <a:avLst/>
              </a:prstGeom>
              <a:noFill/>
              <a:ln/>
            </p:spPr>
            <p:txBody>
              <a:bodyPr wrap="square" rtlCol="0" anchor="ctr"/>
              <a:lstStyle/>
              <a:p>
                <a:pPr algn="ctr"/>
                <a14:m>
                  <m:oMath xmlns:m="http://schemas.openxmlformats.org/officeDocument/2006/math">
                    <m:r>
                      <a:rPr lang="es-AR" sz="1600" i="1" smtClean="0">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MX" sz="1600" b="0" i="1" smtClean="0">
                        <a:latin typeface="Cambria Math" panose="02040503050406030204" pitchFamily="18" charset="0"/>
                      </a:rPr>
                      <m:t>    </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91440" y="1109831"/>
                <a:ext cx="538757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796264"/>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161573" y="1977390"/>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m:t>
                    </m:r>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161573" y="1977390"/>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949760"/>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xmlns="">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949760"/>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943627"/>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xmlns="">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943627"/>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486410"/>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511415"/>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xmlns:a14="http://schemas.microsoft.com/office/drawing/2010/main">
        <mc:Choice Requires="a14">
          <p:sp>
            <p:nvSpPr>
              <p:cNvPr id="27" name="Text 8">
                <a:extLst>
                  <a:ext uri="{FF2B5EF4-FFF2-40B4-BE49-F238E27FC236}">
                    <a16:creationId xmlns:a16="http://schemas.microsoft.com/office/drawing/2014/main" id="{1D34D745-8CFD-4B34-851B-3B6060ED7E8C}"/>
                  </a:ext>
                </a:extLst>
              </p:cNvPr>
              <p:cNvSpPr/>
              <p:nvPr/>
            </p:nvSpPr>
            <p:spPr>
              <a:xfrm>
                <a:off x="228600" y="4535158"/>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xmlns="">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535158"/>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extLst>
      <p:ext uri="{BB962C8B-B14F-4D97-AF65-F5344CB8AC3E}">
        <p14:creationId xmlns:p14="http://schemas.microsoft.com/office/powerpoint/2010/main" val="222957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a:t>
            </a:r>
            <a:r>
              <a:rPr lang="en-US" sz="1900" b="1" dirty="0" err="1">
                <a:solidFill>
                  <a:srgbClr val="FFFFFF"/>
                </a:solidFill>
                <a:latin typeface="Calibri" pitchFamily="34" charset="0"/>
                <a:ea typeface="Calibri" pitchFamily="34" charset="-122"/>
                <a:cs typeface="Calibri" pitchFamily="34" charset="-120"/>
              </a:rPr>
              <a:t>Transformación</a:t>
            </a:r>
            <a:r>
              <a:rPr lang="en-US" sz="1900" b="1" dirty="0">
                <a:solidFill>
                  <a:srgbClr val="FFFFFF"/>
                </a:solidFill>
                <a:latin typeface="Calibri" pitchFamily="34" charset="0"/>
                <a:ea typeface="Calibri" pitchFamily="34" charset="-122"/>
                <a:cs typeface="Calibri" pitchFamily="34" charset="-120"/>
              </a:rPr>
              <a:t> de Park</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457200" y="4991559"/>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2"/>
          <a:stretch>
            <a:fillRect/>
          </a:stretch>
        </p:blipFill>
        <p:spPr>
          <a:xfrm>
            <a:off x="2266852" y="1025880"/>
            <a:ext cx="7702771" cy="3734677"/>
          </a:xfrm>
          <a:prstGeom prst="rect">
            <a:avLst/>
          </a:prstGeom>
        </p:spPr>
      </p:pic>
    </p:spTree>
    <p:extLst>
      <p:ext uri="{BB962C8B-B14F-4D97-AF65-F5344CB8AC3E}">
        <p14:creationId xmlns:p14="http://schemas.microsoft.com/office/powerpoint/2010/main" val="9111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 13"/>
              <p:cNvSpPr/>
              <p:nvPr/>
            </p:nvSpPr>
            <p:spPr>
              <a:xfrm>
                <a:off x="573947" y="1582514"/>
                <a:ext cx="500798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573947" y="1582514"/>
                <a:ext cx="5007984" cy="548640"/>
              </a:xfrm>
              <a:prstGeom prst="rect">
                <a:avLst/>
              </a:prstGeom>
              <a:blipFill>
                <a:blip r:embed="rId2"/>
                <a:stretch>
                  <a:fillRect l="-1946" t="-70000" r="-1217" b="-75556"/>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274320" y="4070657"/>
                <a:ext cx="6155557"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500" dirty="0"/>
              </a:p>
            </p:txBody>
          </p:sp>
        </mc:Choice>
        <mc:Fallback xmlns="">
          <p:sp>
            <p:nvSpPr>
              <p:cNvPr id="17" name="Text 15"/>
              <p:cNvSpPr>
                <a:spLocks noRot="1" noChangeAspect="1" noMove="1" noResize="1" noEditPoints="1" noAdjustHandles="1" noChangeArrowheads="1" noChangeShapeType="1" noTextEdit="1"/>
              </p:cNvSpPr>
              <p:nvPr/>
            </p:nvSpPr>
            <p:spPr>
              <a:xfrm>
                <a:off x="274320" y="4070657"/>
                <a:ext cx="6155557" cy="548640"/>
              </a:xfrm>
              <a:prstGeom prst="rect">
                <a:avLst/>
              </a:prstGeom>
              <a:blipFill>
                <a:blip r:embed="rId3"/>
                <a:stretch>
                  <a:fillRect t="-82222" b="-86667"/>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smtClean="0">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a:t>
            </a:r>
            <a:r>
              <a:rPr lang="en-US" sz="1400" dirty="0" err="1">
                <a:solidFill>
                  <a:srgbClr val="111111"/>
                </a:solidFill>
                <a:latin typeface="Calibri" pitchFamily="34" charset="0"/>
                <a:ea typeface="Calibri" pitchFamily="34" charset="-122"/>
                <a:cs typeface="Calibri" pitchFamily="34" charset="-120"/>
              </a:rPr>
              <a:t>corrientes</a:t>
            </a: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213360" y="1883513"/>
            <a:ext cx="1144524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1478280" y="1851851"/>
                <a:ext cx="8961120"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213360" y="4068346"/>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213360" y="4076755"/>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f>
                        <m:fPr>
                          <m:ctrlPr>
                            <a:rPr lang="es-AR" sz="1400" i="1" smtClean="0">
                              <a:solidFill>
                                <a:schemeClr val="tx1"/>
                              </a:solidFill>
                              <a:effectLst/>
                              <a:latin typeface="Cambria Math" panose="02040503050406030204" pitchFamily="18" charset="0"/>
                              <a:ea typeface="Times New Roman" panose="02020603050405020304" pitchFamily="18" charset="0"/>
                            </a:rPr>
                          </m:ctrlPr>
                        </m:fPr>
                        <m:num>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rPr>
                              </m:ctrlPr>
                            </m:sSub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400" i="1">
                              <a:solidFill>
                                <a:schemeClr val="tx1"/>
                              </a:solidFill>
                              <a:effectLst/>
                              <a:latin typeface="Cambria Math" panose="02040503050406030204" pitchFamily="18" charset="0"/>
                            </a:rPr>
                          </m:ctrlPr>
                        </m:dPr>
                        <m:e>
                          <m:sSub>
                            <m:sSubPr>
                              <m:ctrlPr>
                                <a:rPr lang="es-AR" sz="1400" i="1">
                                  <a:solidFill>
                                    <a:schemeClr val="tx1"/>
                                  </a:solidFill>
                                  <a:effectLst/>
                                  <a:latin typeface="Cambria Math" panose="02040503050406030204" pitchFamily="18" charset="0"/>
                                </a:rPr>
                              </m:ctrlPr>
                            </m:sSubPr>
                            <m:e>
                              <m:f>
                                <m:fPr>
                                  <m:ctrlPr>
                                    <a:rPr lang="es-AR" sz="1400" i="1">
                                      <a:solidFill>
                                        <a:schemeClr val="tx1"/>
                                      </a:solidFill>
                                      <a:effectLst/>
                                      <a:latin typeface="Cambria Math" panose="02040503050406030204" pitchFamily="18" charset="0"/>
                                    </a:rPr>
                                  </m:ctrlPr>
                                </m:fPr>
                                <m:num>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400" i="1">
                                  <a:solidFill>
                                    <a:schemeClr val="tx1"/>
                                  </a:solidFill>
                                  <a:effectLst/>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ea typeface="Times New Roman" panose="02020603050405020304" pitchFamily="18"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r>
                        <a:rPr lang="es-MX" sz="14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n-US" sz="1400" dirty="0">
                  <a:solidFill>
                    <a:schemeClr val="tx1"/>
                  </a:solidFill>
                </a:endParaRPr>
              </a:p>
            </p:txBody>
          </p:sp>
        </mc:Choice>
        <mc:Fallback xmlns="">
          <p:sp>
            <p:nvSpPr>
              <p:cNvPr id="13" name="Text 11"/>
              <p:cNvSpPr>
                <a:spLocks noRot="1" noChangeAspect="1" noMove="1" noResize="1" noEditPoints="1" noAdjustHandles="1" noChangeArrowheads="1" noChangeShapeType="1" noTextEdit="1"/>
              </p:cNvSpPr>
              <p:nvPr/>
            </p:nvSpPr>
            <p:spPr>
              <a:xfrm>
                <a:off x="213360" y="4076755"/>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818</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7</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m:t>
                    </m:r>
                    <m:r>
                      <a:rPr lang="es-AR" sz="1400" i="1">
                        <a:latin typeface="Cambria Math" panose="02040503050406030204" pitchFamily="18" charset="0"/>
                      </a:rPr>
                      <m:t>40</m:t>
                    </m:r>
                    <m:r>
                      <a:rPr lang="es-AR" sz="1400" i="1">
                        <a:latin typeface="Cambria Math" panose="02040503050406030204" pitchFamily="18" charset="0"/>
                      </a:rPr>
                      <m:t>°</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213360" y="2967933"/>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smtClean="0">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pic>
        <p:nvPicPr>
          <p:cNvPr id="15" name="Imagen 14">
            <a:extLst>
              <a:ext uri="{FF2B5EF4-FFF2-40B4-BE49-F238E27FC236}">
                <a16:creationId xmlns:a16="http://schemas.microsoft.com/office/drawing/2014/main" id="{EDD9B0C2-A4AE-470B-BD78-B2B38C17C5D3}"/>
              </a:ext>
            </a:extLst>
          </p:cNvPr>
          <p:cNvPicPr>
            <a:picLocks noChangeAspect="1"/>
          </p:cNvPicPr>
          <p:nvPr/>
        </p:nvPicPr>
        <p:blipFill>
          <a:blip r:embed="rId7"/>
          <a:stretch>
            <a:fillRect/>
          </a:stretch>
        </p:blipFill>
        <p:spPr>
          <a:xfrm>
            <a:off x="6905150" y="4047593"/>
            <a:ext cx="4220235" cy="842345"/>
          </a:xfrm>
          <a:prstGeom prst="rect">
            <a:avLst/>
          </a:prstGeom>
        </p:spPr>
      </p:pic>
      <p:sp>
        <p:nvSpPr>
          <p:cNvPr id="17" name="CuadroTexto 16">
            <a:extLst>
              <a:ext uri="{FF2B5EF4-FFF2-40B4-BE49-F238E27FC236}">
                <a16:creationId xmlns:a16="http://schemas.microsoft.com/office/drawing/2014/main" id="{2B47554C-3CFC-4A0C-915A-AF3092AC39BD}"/>
              </a:ext>
            </a:extLst>
          </p:cNvPr>
          <p:cNvSpPr txBox="1"/>
          <p:nvPr/>
        </p:nvSpPr>
        <p:spPr>
          <a:xfrm>
            <a:off x="5539740" y="4855660"/>
            <a:ext cx="6438900" cy="430887"/>
          </a:xfrm>
          <a:prstGeom prst="rect">
            <a:avLst/>
          </a:prstGeom>
          <a:noFill/>
        </p:spPr>
        <p:txBody>
          <a:bodyPr wrap="square">
            <a:spAutoFit/>
          </a:bodyPr>
          <a:lstStyle/>
          <a:p>
            <a:r>
              <a:rPr lang="es-AR" sz="1100" dirty="0"/>
              <a:t>La alta frecuencia del PWM (5kHz) es filtrada naturalmente por la inductancia del motor, permitiéndonos trabajar solo con la componente fundamental que efectivamente controla el movimiento del brazo.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global no lineal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8" name="Text 6">
            <a:extLst>
              <a:ext uri="{FF2B5EF4-FFF2-40B4-BE49-F238E27FC236}">
                <a16:creationId xmlns:a16="http://schemas.microsoft.com/office/drawing/2014/main" id="{DB86A14F-2892-4C19-832C-72B4C18FF5BD}"/>
              </a:ext>
            </a:extLst>
          </p:cNvPr>
          <p:cNvSpPr/>
          <p:nvPr/>
        </p:nvSpPr>
        <p:spPr>
          <a:xfrm>
            <a:off x="116606" y="831861"/>
            <a:ext cx="11018101" cy="777240"/>
          </a:xfrm>
          <a:prstGeom prst="rect">
            <a:avLst/>
          </a:prstGeom>
          <a:noFill/>
          <a:ln/>
        </p:spPr>
        <p:txBody>
          <a:bodyPr wrap="square" rtlCol="0" anchor="t"/>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combinan las ecuaciones correspondientes a los subsistemas mecánico, electromagnético y térmico ya desarrollados, obteniéndose el siguiente modelo dinámico no lineal para el sistema físico completo:</a:t>
            </a:r>
          </a:p>
          <a:p>
            <a:endParaRPr lang="en-US" sz="1200" dirty="0"/>
          </a:p>
        </p:txBody>
      </p:sp>
      <mc:AlternateContent xmlns:mc="http://schemas.openxmlformats.org/markup-compatibility/2006" xmlns:a14="http://schemas.microsoft.com/office/drawing/2010/main">
        <mc:Choice Requires="a14">
          <p:sp>
            <p:nvSpPr>
              <p:cNvPr id="19" name="Shape 7">
                <a:extLst>
                  <a:ext uri="{FF2B5EF4-FFF2-40B4-BE49-F238E27FC236}">
                    <a16:creationId xmlns:a16="http://schemas.microsoft.com/office/drawing/2014/main" id="{1E27AC72-650E-4CCC-B475-1352A198EA0A}"/>
                  </a:ext>
                </a:extLst>
              </p:cNvPr>
              <p:cNvSpPr/>
              <p:nvPr/>
            </p:nvSpPr>
            <p:spPr>
              <a:xfrm>
                <a:off x="215597" y="1406320"/>
                <a:ext cx="11176653" cy="3085781"/>
              </a:xfrm>
              <a:prstGeom prst="rect">
                <a:avLst/>
              </a:prstGeom>
              <a:solidFill>
                <a:srgbClr val="FFF8E8"/>
              </a:solidFill>
              <a:ln w="19050">
                <a:solidFill>
                  <a:srgbClr val="DDAA00"/>
                </a:solidFill>
                <a:prstDash val="solid"/>
              </a:ln>
            </p:spPr>
            <p:txBody>
              <a:bodyPr/>
              <a:lstStyle/>
              <a:p>
                <a:pPr/>
                <a14:m>
                  <m:oMathPara xmlns:m="http://schemas.openxmlformats.org/officeDocument/2006/math">
                    <m:oMathParaPr>
                      <m:jc m:val="left"/>
                    </m:oMathParaPr>
                    <m:oMath xmlns:m="http://schemas.openxmlformats.org/officeDocument/2006/math">
                      <m:d>
                        <m:dPr>
                          <m:begChr m:val="{"/>
                          <m:endChr m:val=""/>
                          <m:ctrlPr>
                            <a:rPr lang="es-AR" sz="1500" i="1" smtClean="0">
                              <a:latin typeface="Cambria Math" panose="02040503050406030204" pitchFamily="18" charset="0"/>
                            </a:rPr>
                          </m:ctrlPr>
                        </m:dPr>
                        <m:e>
                          <m:m>
                            <m:mPr>
                              <m:mcs>
                                <m:mc>
                                  <m:mcPr>
                                    <m:count m:val="1"/>
                                    <m:mcJc m:val="center"/>
                                  </m:mcPr>
                                </m:mc>
                              </m:mcs>
                              <m:ctrlPr>
                                <a:rPr lang="es-AR" sz="1500" i="1">
                                  <a:latin typeface="Cambria Math" panose="02040503050406030204" pitchFamily="18" charset="0"/>
                                </a:rPr>
                              </m:ctrlPr>
                            </m:mP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𝜃</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𝐽</m:t>
                                        </m:r>
                                      </m:e>
                                      <m:sub>
                                        <m:r>
                                          <a:rPr lang="es-AR" sz="1500" i="1">
                                            <a:latin typeface="Cambria Math" panose="02040503050406030204" pitchFamily="18" charset="0"/>
                                          </a:rPr>
                                          <m:t>𝑒𝑞</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d>
                                          <m:dPr>
                                            <m:ctrlPr>
                                              <a:rPr lang="es-AR" sz="1500" i="1">
                                                <a:latin typeface="Cambria Math" panose="02040503050406030204" pitchFamily="18" charset="0"/>
                                              </a:rPr>
                                            </m:ctrlPr>
                                          </m:dPr>
                                          <m:e>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𝑏</m:t>
                                        </m:r>
                                      </m:e>
                                      <m:sub>
                                        <m:r>
                                          <a:rPr lang="es-AR" sz="1500" i="1">
                                            <a:latin typeface="Cambria Math" panose="02040503050406030204" pitchFamily="18" charset="0"/>
                                          </a:rPr>
                                          <m:t>𝑒𝑞</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r>
                                          <a:rPr lang="es-AR" sz="1500" i="1">
                                            <a:latin typeface="Cambria Math" panose="02040503050406030204" pitchFamily="18" charset="0"/>
                                          </a:rPr>
                                          <m:t>𝑟</m:t>
                                        </m:r>
                                      </m:den>
                                    </m:f>
                                    <m:d>
                                      <m:dPr>
                                        <m:ctrlPr>
                                          <a:rPr lang="es-AR" sz="1500" i="1" smtClean="0">
                                            <a:latin typeface="Cambria Math" panose="02040503050406030204" pitchFamily="18" charset="0"/>
                                          </a:rPr>
                                        </m:ctrlPr>
                                      </m:dPr>
                                      <m:e>
                                        <m:sSub>
                                          <m:sSubPr>
                                            <m:ctrlPr>
                                              <a:rPr lang="es-AR" sz="1500" i="1" smtClean="0">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𝑙𝑑</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r>
                                          <a:rPr lang="es-AR" sz="1500" i="1">
                                            <a:latin typeface="Cambria Math" panose="02040503050406030204" pitchFamily="18" charset="0"/>
                                          </a:rPr>
                                          <m:t>𝑔</m:t>
                                        </m:r>
                                        <m:r>
                                          <a:rPr lang="es-AR" sz="1500" i="1">
                                            <a:latin typeface="Cambria Math" panose="02040503050406030204" pitchFamily="18" charset="0"/>
                                          </a:rPr>
                                          <m:t> </m:t>
                                        </m:r>
                                        <m:sSub>
                                          <m:sSubPr>
                                            <m:ctrlPr>
                                              <a:rPr lang="es-AR" sz="1500" i="1">
                                                <a:latin typeface="Cambria Math" panose="02040503050406030204" pitchFamily="18" charset="0"/>
                                              </a:rPr>
                                            </m:ctrlPr>
                                          </m:sSubPr>
                                          <m:e>
                                            <m:r>
                                              <a:rPr lang="es-AR" sz="1500" i="1">
                                                <a:latin typeface="Cambria Math" panose="02040503050406030204" pitchFamily="18" charset="0"/>
                                              </a:rPr>
                                              <m:t>𝑘</m:t>
                                            </m:r>
                                          </m:e>
                                          <m:sub>
                                            <m:r>
                                              <a:rPr lang="es-AR" sz="1500" i="1">
                                                <a:latin typeface="Cambria Math" panose="02040503050406030204" pitchFamily="18" charset="0"/>
                                              </a:rPr>
                                              <m:t>𝑙</m:t>
                                            </m:r>
                                          </m:sub>
                                        </m:sSub>
                                        <m:func>
                                          <m:funcPr>
                                            <m:ctrlPr>
                                              <a:rPr lang="es-AR" sz="1500" i="1">
                                                <a:latin typeface="Cambria Math" panose="02040503050406030204" pitchFamily="18" charset="0"/>
                                              </a:rPr>
                                            </m:ctrlPr>
                                          </m:funcPr>
                                          <m:fName>
                                            <m:r>
                                              <a:rPr lang="es-AR" sz="1500" i="1">
                                                <a:latin typeface="Cambria Math" panose="02040503050406030204" pitchFamily="18" charset="0"/>
                                              </a:rPr>
                                              <m:t>𝑠𝑖𝑛</m:t>
                                            </m:r>
                                          </m:fName>
                                          <m:e>
                                            <m:d>
                                              <m:dPr>
                                                <m:ctrlPr>
                                                  <a:rPr lang="es-AR" sz="1500" i="1">
                                                    <a:latin typeface="Cambria Math" panose="02040503050406030204" pitchFamily="18" charset="0"/>
                                                  </a:rPr>
                                                </m:ctrlPr>
                                              </m:dPr>
                                              <m:e>
                                                <m:f>
                                                  <m:fPr>
                                                    <m:ctrlPr>
                                                      <a:rPr lang="es-AR" sz="1500" i="1">
                                                        <a:latin typeface="Cambria Math" panose="02040503050406030204" pitchFamily="18" charset="0"/>
                                                      </a:rPr>
                                                    </m:ctrlPr>
                                                  </m:fPr>
                                                  <m:num>
                                                    <m:sSub>
                                                      <m:sSubPr>
                                                        <m:ctrlPr>
                                                          <a:rPr lang="es-AR" sz="1500" i="1">
                                                            <a:latin typeface="Cambria Math" panose="02040503050406030204" pitchFamily="18" charset="0"/>
                                                          </a:rPr>
                                                        </m:ctrlPr>
                                                      </m:sSubPr>
                                                      <m:e>
                                                        <m:r>
                                                          <a:rPr lang="es-AR" sz="1500" i="1">
                                                            <a:latin typeface="Cambria Math" panose="02040503050406030204" pitchFamily="18" charset="0"/>
                                                          </a:rPr>
                                                          <m:t>𝜃</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𝑟</m:t>
                                                    </m:r>
                                                  </m:den>
                                                </m:f>
                                              </m:e>
                                            </m:d>
                                          </m:e>
                                        </m:func>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𝑙𝑠</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
                                                  <m:sSubPr>
                                                    <m:ctrlPr>
                                                      <a:rPr lang="es-AR" sz="1500" i="1">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𝐶</m:t>
                                                    </m:r>
                                                  </m:e>
                                                  <m:sub>
                                                    <m:r>
                                                      <a:rPr lang="es-AR" sz="1500" i="1">
                                                        <a:latin typeface="Cambria Math" panose="02040503050406030204" pitchFamily="18" charset="0"/>
                                                      </a:rPr>
                                                      <m:t>𝑡𝑠</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d>
                                                  <m:dPr>
                                                    <m:ctrlPr>
                                                      <a:rPr lang="es-AR" sz="1500" i="1">
                                                        <a:latin typeface="Cambria Math" panose="02040503050406030204" pitchFamily="18" charset="0"/>
                                                      </a:rPr>
                                                    </m:ctrlPr>
                                                  </m:dPr>
                                                  <m:e>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r>
                                                      <a:rPr lang="es-AR" sz="1500" i="1">
                                                        <a:latin typeface="Cambria Math" panose="02040503050406030204" pitchFamily="18" charset="0"/>
                                                      </a:rPr>
                                                      <m:t>2</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𝑡𝑠</m:t>
                                                        </m:r>
                                                        <m:r>
                                                          <a:rPr lang="es-AR" sz="1500" i="1">
                                                            <a:latin typeface="Cambria Math" panose="02040503050406030204" pitchFamily="18" charset="0"/>
                                                          </a:rPr>
                                                          <m:t>−</m:t>
                                                        </m:r>
                                                        <m:r>
                                                          <a:rPr lang="es-AR" sz="1500" i="1">
                                                            <a:latin typeface="Cambria Math" panose="02040503050406030204" pitchFamily="18" charset="0"/>
                                                          </a:rPr>
                                                          <m:t>𝑎𝑚𝑏</m:t>
                                                        </m:r>
                                                      </m:sub>
                                                    </m:sSub>
                                                  </m:den>
                                                </m:f>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Sup>
                                                      <m:sSubSupPr>
                                                        <m:ctrlPr>
                                                          <a:rPr lang="es-AR" sz="1500" i="1">
                                                            <a:latin typeface="Cambria Math" panose="02040503050406030204" pitchFamily="18" charset="0"/>
                                                          </a:rPr>
                                                        </m:ctrlPr>
                                                      </m:sSubSupPr>
                                                      <m:e>
                                                        <m:r>
                                                          <a:rPr lang="es-AR" sz="1500" i="1">
                                                            <a:latin typeface="Cambria Math" panose="02040503050406030204" pitchFamily="18" charset="0"/>
                                                          </a:rPr>
                                                          <m:t>−</m:t>
                                                        </m:r>
                                                        <m:r>
                                                          <a:rPr lang="es-AR" sz="1500" i="1">
                                                            <a:latin typeface="Cambria Math" panose="02040503050406030204" pitchFamily="18" charset="0"/>
                                                          </a:rPr>
                                                          <m:t>𝑇</m:t>
                                                        </m:r>
                                                      </m:e>
                                                      <m:sub>
                                                        <m:r>
                                                          <a:rPr lang="es-AR" sz="1500" i="1">
                                                            <a:latin typeface="Cambria Math" panose="02040503050406030204" pitchFamily="18" charset="0"/>
                                                          </a:rPr>
                                                          <m:t>𝑎𝑚𝑏</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
                                    </m:e>
                                  </m:mr>
                                </m:m>
                              </m:e>
                            </m:mr>
                          </m:m>
                        </m:e>
                      </m:d>
                    </m:oMath>
                  </m:oMathPara>
                </a14:m>
                <a:endParaRPr lang="es-AR" sz="1500" dirty="0"/>
              </a:p>
            </p:txBody>
          </p:sp>
        </mc:Choice>
        <mc:Fallback xmlns="">
          <p:sp>
            <p:nvSpPr>
              <p:cNvPr id="19" name="Shape 7">
                <a:extLst>
                  <a:ext uri="{FF2B5EF4-FFF2-40B4-BE49-F238E27FC236}">
                    <a16:creationId xmlns:a16="http://schemas.microsoft.com/office/drawing/2014/main" id="{1E27AC72-650E-4CCC-B475-1352A198EA0A}"/>
                  </a:ext>
                </a:extLst>
              </p:cNvPr>
              <p:cNvSpPr>
                <a:spLocks noRot="1" noChangeAspect="1" noMove="1" noResize="1" noEditPoints="1" noAdjustHandles="1" noChangeArrowheads="1" noChangeShapeType="1" noTextEdit="1"/>
              </p:cNvSpPr>
              <p:nvPr/>
            </p:nvSpPr>
            <p:spPr>
              <a:xfrm>
                <a:off x="215597" y="1406320"/>
                <a:ext cx="11176653" cy="3085781"/>
              </a:xfrm>
              <a:prstGeom prst="rect">
                <a:avLst/>
              </a:prstGeom>
              <a:blipFill>
                <a:blip r:embed="rId2"/>
                <a:stretch>
                  <a:fillRect/>
                </a:stretch>
              </a:blipFill>
              <a:ln w="19050">
                <a:solidFill>
                  <a:srgbClr val="DDAA00"/>
                </a:solidFill>
                <a:prstDash val="solid"/>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 10">
                <a:extLst>
                  <a:ext uri="{FF2B5EF4-FFF2-40B4-BE49-F238E27FC236}">
                    <a16:creationId xmlns:a16="http://schemas.microsoft.com/office/drawing/2014/main" id="{8487B241-9AC0-49F2-B841-AFF136F1385B}"/>
                  </a:ext>
                </a:extLst>
              </p:cNvPr>
              <p:cNvSpPr/>
              <p:nvPr/>
            </p:nvSpPr>
            <p:spPr>
              <a:xfrm>
                <a:off x="274320" y="4596542"/>
                <a:ext cx="5486400" cy="1307592"/>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Estado: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2"/>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Control: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Perturbación: </a:t>
                </a:r>
                <a14:m>
                  <m:oMath xmlns:m="http://schemas.openxmlformats.org/officeDocument/2006/math">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𝑑</m:t>
                    </m:r>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Salida: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p>
            </p:txBody>
          </p:sp>
        </mc:Choice>
        <mc:Fallback xmlns="">
          <p:sp>
            <p:nvSpPr>
              <p:cNvPr id="9" name="Text 10">
                <a:extLst>
                  <a:ext uri="{FF2B5EF4-FFF2-40B4-BE49-F238E27FC236}">
                    <a16:creationId xmlns:a16="http://schemas.microsoft.com/office/drawing/2014/main" id="{8487B241-9AC0-49F2-B841-AFF136F1385B}"/>
                  </a:ext>
                </a:extLst>
              </p:cNvPr>
              <p:cNvSpPr>
                <a:spLocks noRot="1" noChangeAspect="1" noMove="1" noResize="1" noEditPoints="1" noAdjustHandles="1" noChangeArrowheads="1" noChangeShapeType="1" noTextEdit="1"/>
              </p:cNvSpPr>
              <p:nvPr/>
            </p:nvSpPr>
            <p:spPr>
              <a:xfrm>
                <a:off x="274320" y="4596542"/>
                <a:ext cx="5486400" cy="1307592"/>
              </a:xfrm>
              <a:prstGeom prst="rect">
                <a:avLst/>
              </a:prstGeom>
              <a:blipFill>
                <a:blip r:embed="rId3"/>
                <a:stretch>
                  <a:fillRect l="-333" b="-45116"/>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7595111-B765-4817-96C6-473C4B8ED581}"/>
                  </a:ext>
                </a:extLst>
              </p:cNvPr>
              <p:cNvSpPr txBox="1"/>
              <p:nvPr/>
            </p:nvSpPr>
            <p:spPr>
              <a:xfrm>
                <a:off x="6241684" y="3938944"/>
                <a:ext cx="6102990" cy="414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sz="1400" dirty="0"/>
              </a:p>
            </p:txBody>
          </p:sp>
        </mc:Choice>
        <mc:Fallback xmlns="">
          <p:sp>
            <p:nvSpPr>
              <p:cNvPr id="10" name="CuadroTexto 9">
                <a:extLst>
                  <a:ext uri="{FF2B5EF4-FFF2-40B4-BE49-F238E27FC236}">
                    <a16:creationId xmlns:a16="http://schemas.microsoft.com/office/drawing/2014/main" id="{A7595111-B765-4817-96C6-473C4B8ED581}"/>
                  </a:ext>
                </a:extLst>
              </p:cNvPr>
              <p:cNvSpPr txBox="1">
                <a:spLocks noRot="1" noChangeAspect="1" noMove="1" noResize="1" noEditPoints="1" noAdjustHandles="1" noChangeArrowheads="1" noChangeShapeType="1" noTextEdit="1"/>
              </p:cNvSpPr>
              <p:nvPr/>
            </p:nvSpPr>
            <p:spPr>
              <a:xfrm>
                <a:off x="6241684" y="3938944"/>
                <a:ext cx="6102990" cy="414729"/>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35662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82774"/>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19597" y="2469105"/>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19597" y="2469105"/>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0</m:t>
                                </m:r>
                                <m:r>
                                  <a:rPr lang="es-AR" sz="1600" i="1">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234518" y="504975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234518" y="504975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8FB12-F75E-4A29-9959-2F834F8F880C}"/>
              </a:ext>
            </a:extLst>
          </p:cNvPr>
          <p:cNvSpPr>
            <a:spLocks noGrp="1"/>
          </p:cNvSpPr>
          <p:nvPr>
            <p:ph type="ctrTitle"/>
          </p:nvPr>
        </p:nvSpPr>
        <p:spPr/>
        <p:txBody>
          <a:bodyPr/>
          <a:lstStyle/>
          <a:p>
            <a:endParaRPr lang="es-AR"/>
          </a:p>
        </p:txBody>
      </p:sp>
      <p:sp>
        <p:nvSpPr>
          <p:cNvPr id="3" name="Subtítulo 2">
            <a:extLst>
              <a:ext uri="{FF2B5EF4-FFF2-40B4-BE49-F238E27FC236}">
                <a16:creationId xmlns:a16="http://schemas.microsoft.com/office/drawing/2014/main" id="{652584DA-C060-4B7A-938A-0531151C7C52}"/>
              </a:ext>
            </a:extLst>
          </p:cNvPr>
          <p:cNvSpPr>
            <a:spLocks noGrp="1"/>
          </p:cNvSpPr>
          <p:nvPr>
            <p:ph type="subTitle" idx="1"/>
          </p:nvPr>
        </p:nvSpPr>
        <p:spPr/>
        <p:txBody>
          <a:bodyPr/>
          <a:lstStyle/>
          <a:p>
            <a:endParaRPr lang="es-AR"/>
          </a:p>
        </p:txBody>
      </p:sp>
      <p:pic>
        <p:nvPicPr>
          <p:cNvPr id="5" name="Imagen 4">
            <a:extLst>
              <a:ext uri="{FF2B5EF4-FFF2-40B4-BE49-F238E27FC236}">
                <a16:creationId xmlns:a16="http://schemas.microsoft.com/office/drawing/2014/main" id="{3C5F1C77-3B26-4AFF-82A0-865EF7D219C2}"/>
              </a:ext>
            </a:extLst>
          </p:cNvPr>
          <p:cNvPicPr>
            <a:picLocks noChangeAspect="1"/>
          </p:cNvPicPr>
          <p:nvPr/>
        </p:nvPicPr>
        <p:blipFill>
          <a:blip r:embed="rId2"/>
          <a:stretch>
            <a:fillRect/>
          </a:stretch>
        </p:blipFill>
        <p:spPr>
          <a:xfrm>
            <a:off x="0" y="0"/>
            <a:ext cx="12286695" cy="6899520"/>
          </a:xfrm>
          <a:prstGeom prst="rect">
            <a:avLst/>
          </a:prstGeom>
        </p:spPr>
      </p:pic>
      <p:sp>
        <p:nvSpPr>
          <p:cNvPr id="7" name="Shape 2">
            <a:extLst>
              <a:ext uri="{FF2B5EF4-FFF2-40B4-BE49-F238E27FC236}">
                <a16:creationId xmlns:a16="http://schemas.microsoft.com/office/drawing/2014/main" id="{07F4DF46-6727-4D7A-9974-4CC2899DCB60}"/>
              </a:ext>
            </a:extLst>
          </p:cNvPr>
          <p:cNvSpPr/>
          <p:nvPr/>
        </p:nvSpPr>
        <p:spPr>
          <a:xfrm>
            <a:off x="-1" y="6565392"/>
            <a:ext cx="12286695"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9BB34DC3-921B-4EFB-A538-4333B0B4DD2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9564"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336920"/>
            <a:ext cx="10343626"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852274"/>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852274"/>
                <a:ext cx="8961120" cy="530352"/>
              </a:xfrm>
              <a:prstGeom prst="rect">
                <a:avLst/>
              </a:prstGeom>
              <a:blipFill>
                <a:blip r:embed="rId3"/>
                <a:stretch>
                  <a:fillRect t="-73563" b="-7816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20" y="3943989"/>
                <a:ext cx="11397563"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20" y="3943989"/>
                <a:ext cx="11397563" cy="296363"/>
              </a:xfrm>
              <a:prstGeom prst="rect">
                <a:avLst/>
              </a:prstGeom>
              <a:blipFill>
                <a:blip r:embed="rId4"/>
                <a:stretch>
                  <a:fillRect l="-53" b="-16327"/>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1816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18160" y="4773168"/>
                <a:ext cx="11155680" cy="1005840"/>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614036"/>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sSubSup>
                                <m:sSubSupPr>
                                  <m:ctrlPr>
                                    <a:rPr lang="es-AR" sz="1400" i="1">
                                      <a:latin typeface="Cambria Math" panose="02040503050406030204" pitchFamily="18" charset="0"/>
                                    </a:rPr>
                                  </m:ctrlPr>
                                </m:sSubSupPr>
                                <m:e>
                                  <m:r>
                                    <a:rPr lang="es-AR" sz="1400" i="1">
                                      <a:latin typeface="Cambria Math" panose="02040503050406030204" pitchFamily="18" charset="0"/>
                                    </a:rPr>
                                    <m:t>−</m:t>
                                  </m:r>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i="1">
                                      <a:latin typeface="Cambria Math" panose="020405030504060302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614036"/>
                <a:ext cx="6098796" cy="571760"/>
              </a:xfrm>
              <a:prstGeom prst="rect">
                <a:avLst/>
              </a:prstGeom>
              <a:blipFill>
                <a:blip r:embed="rId9"/>
                <a:stretch>
                  <a:fillRect/>
                </a:stretch>
              </a:blipFill>
            </p:spPr>
            <p:txBody>
              <a:bodyPr/>
              <a:lstStyle/>
              <a:p>
                <a:r>
                  <a:rPr lang="es-AR">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163483" y="796620"/>
                <a:ext cx="11843789"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163483" y="796620"/>
                <a:ext cx="11843789" cy="1005840"/>
              </a:xfrm>
              <a:prstGeom prst="rect">
                <a:avLst/>
              </a:prstGeom>
              <a:blipFill>
                <a:blip r:embed="rId2"/>
                <a:stretch>
                  <a:fillRect l="-154" t="-1212" r="-154"/>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rcRect/>
          <a:stretch/>
        </p:blipFill>
        <p:spPr>
          <a:xfrm>
            <a:off x="570760" y="658368"/>
            <a:ext cx="10545932" cy="558475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sp>
        <p:nvSpPr>
          <p:cNvPr id="15" name="CuadroTexto 14">
            <a:extLst>
              <a:ext uri="{FF2B5EF4-FFF2-40B4-BE49-F238E27FC236}">
                <a16:creationId xmlns:a16="http://schemas.microsoft.com/office/drawing/2014/main" id="{9A639F6C-1BED-47BA-BB04-A7534BAF33FF}"/>
              </a:ext>
            </a:extLst>
          </p:cNvPr>
          <p:cNvSpPr txBox="1"/>
          <p:nvPr/>
        </p:nvSpPr>
        <p:spPr>
          <a:xfrm>
            <a:off x="2915174" y="6214256"/>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2"/>
          <a:stretch>
            <a:fillRect/>
          </a:stretch>
        </p:blipFill>
        <p:spPr>
          <a:xfrm>
            <a:off x="1097489" y="2027830"/>
            <a:ext cx="9252731" cy="4537562"/>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3"/>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4"/>
                <a:stretch>
                  <a:fillRect/>
                </a:stretch>
              </a:blipFill>
              <a:ln/>
            </p:spPr>
            <p:txBody>
              <a:bodyPr/>
              <a:lstStyle/>
              <a:p>
                <a:r>
                  <a:rPr lang="es-AR">
                    <a:noFill/>
                  </a:rPr>
                  <a:t> </a:t>
                </a:r>
              </a:p>
            </p:txBody>
          </p:sp>
        </mc:Fallback>
      </mc:AlternateContent>
      <p:sp>
        <p:nvSpPr>
          <p:cNvPr id="20" name="Text 18"/>
          <p:cNvSpPr/>
          <p:nvPr/>
        </p:nvSpPr>
        <p:spPr>
          <a:xfrm>
            <a:off x="2405237" y="5573047"/>
            <a:ext cx="5177457" cy="364951"/>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5"/>
                <a:stretch>
                  <a:fillRect l="-66" b="-18750"/>
                </a:stretch>
              </a:blipFill>
            </p:spPr>
            <p:txBody>
              <a:bodyPr/>
              <a:lstStyle/>
              <a:p>
                <a:r>
                  <a:rPr lang="es-AR">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68453"/>
              </a:xfrm>
              <a:prstGeom prst="rect">
                <a:avLst/>
              </a:prstGeom>
              <a:noFill/>
            </p:spPr>
            <p:txBody>
              <a:bodyPr wrap="square">
                <a:spAutoFit/>
              </a:bodyPr>
              <a:lstStyle/>
              <a:p>
                <a:pPr algn="just">
                  <a:lnSpc>
                    <a:spcPct val="107000"/>
                  </a:lnSpc>
                  <a:spcBef>
                    <a:spcPts val="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Calibri" panose="020F0502020204030204" pitchFamily="34"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68453"/>
              </a:xfrm>
              <a:prstGeom prst="rect">
                <a:avLst/>
              </a:prstGeom>
              <a:blipFill>
                <a:blip r:embed="rId8"/>
                <a:stretch>
                  <a:fillRect l="-157" r="-157" b="-917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9"/>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10"/>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1"/>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3"/>
          <a:srcRect/>
          <a:stretch/>
        </p:blipFill>
        <p:spPr>
          <a:xfrm>
            <a:off x="493611" y="864951"/>
            <a:ext cx="11174298"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10 — Modelo global NL con ley de control mínima en eje d y q</a:t>
            </a:r>
            <a:endParaRPr lang="es-AR" sz="1100" dirty="0"/>
          </a:p>
        </p:txBody>
      </p:sp>
    </p:spTree>
    <p:extLst>
      <p:ext uri="{BB962C8B-B14F-4D97-AF65-F5344CB8AC3E}">
        <p14:creationId xmlns:p14="http://schemas.microsoft.com/office/powerpoint/2010/main" val="330684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772111"/>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smtClean="0">
                                                        <a:solidFill>
                                                          <a:schemeClr val="tx1"/>
                                                        </a:solidFill>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r="-378"/>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rotWithShape="1">
          <a:blip r:embed="rId2"/>
          <a:srcRect r="-4037"/>
          <a:stretch/>
        </p:blipFill>
        <p:spPr>
          <a:xfrm>
            <a:off x="1834064" y="739997"/>
            <a:ext cx="8283059"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100668" y="1159318"/>
                <a:ext cx="8455189" cy="107965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𝑠</m:t>
                                    </m:r>
                                  </m:e>
                                  <m:sub>
                                    <m:r>
                                      <a:rPr lang="es-AR" sz="1400" i="1">
                                        <a:latin typeface="Cambria Math" panose="02040503050406030204" pitchFamily="18" charset="0"/>
                                      </a:rPr>
                                      <m:t>1</m:t>
                                    </m:r>
                                  </m:sub>
                                </m:sSub>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𝑠</m:t>
                                    </m:r>
                                  </m:e>
                                  <m:sub>
                                    <m:r>
                                      <a:rPr lang="es-AR" sz="1400" i="1">
                                        <a:latin typeface="Cambria Math" panose="02040503050406030204" pitchFamily="18" charset="0"/>
                                      </a:rPr>
                                      <m:t>2</m:t>
                                    </m:r>
                                    <m:r>
                                      <a:rPr lang="es-AR" sz="1400" i="1">
                                        <a:latin typeface="Cambria Math" panose="02040503050406030204" pitchFamily="18" charset="0"/>
                                      </a:rPr>
                                      <m:t>,</m:t>
                                    </m:r>
                                    <m:r>
                                      <a:rPr lang="es-AR" sz="1400" i="1">
                                        <a:latin typeface="Cambria Math" panose="02040503050406030204" pitchFamily="18" charset="0"/>
                                      </a:rPr>
                                      <m:t>3</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e>
                                    </m:d>
                                    <m:r>
                                      <a:rPr lang="es-AR" sz="1400">
                                        <a:latin typeface="Cambria Math" panose="02040503050406030204" pitchFamily="18" charset="0"/>
                                      </a:rPr>
                                      <m:t>±</m:t>
                                    </m:r>
                                    <m:rad>
                                      <m:radPr>
                                        <m:degHide m:val="on"/>
                                        <m:ctrlPr>
                                          <a:rPr lang="es-AR" sz="1400" i="1">
                                            <a:latin typeface="Cambria Math" panose="02040503050406030204" pitchFamily="18" charset="0"/>
                                          </a:rPr>
                                        </m:ctrlPr>
                                      </m:radPr>
                                      <m:deg/>
                                      <m:e>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e>
                                            </m:d>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4</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e>
                                    </m:rad>
                                  </m:num>
                                  <m:den>
                                    <m:r>
                                      <a:rPr lang="es-AR" sz="1400" i="1">
                                        <a:latin typeface="Cambria Math" panose="02040503050406030204" pitchFamily="18" charset="0"/>
                                      </a:rPr>
                                      <m:t>2</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en>
                                </m:f>
                              </m:e>
                            </m:mr>
                          </m:m>
                        </m:e>
                      </m:d>
                    </m:oMath>
                  </m:oMathPara>
                </a14:m>
                <a:endParaRPr lang="es-AR" sz="105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0668" y="1159318"/>
                <a:ext cx="8455189" cy="1079655"/>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𝑠</m:t>
                          </m:r>
                        </m:e>
                        <m:sub>
                          <m:r>
                            <a:rPr lang="es-AR" sz="1600" i="1">
                              <a:solidFill>
                                <a:schemeClr val="tx1"/>
                              </a:solidFill>
                              <a:latin typeface="Cambria Math" panose="02040503050406030204" pitchFamily="18" charset="0"/>
                            </a:rPr>
                            <m:t>𝑧</m:t>
                          </m:r>
                        </m:sub>
                      </m:sSub>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125" b="-313793"/>
                          </a:stretch>
                        </a:blipFill>
                      </a:tcPr>
                    </a:tc>
                    <a:tc>
                      <a:txBody>
                        <a:bodyPr/>
                        <a:lstStyle/>
                        <a:p>
                          <a:endParaRPr lang="es-AR"/>
                        </a:p>
                      </a:txBody>
                      <a:tcPr marL="68580" marR="68580" marT="0" marB="0">
                        <a:blipFill>
                          <a:blip r:embed="rId5"/>
                          <a:stretch>
                            <a:fillRect l="-220856" t="-84483" r="-433155"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5573" b="-313793"/>
                          </a:stretch>
                        </a:blipFill>
                      </a:tcPr>
                    </a:tc>
                    <a:tc>
                      <a:txBody>
                        <a:bodyPr/>
                        <a:lstStyle/>
                        <a:p>
                          <a:endParaRPr lang="es-AR"/>
                        </a:p>
                      </a:txBody>
                      <a:tcPr marL="68580" marR="68580" marT="0" marB="0">
                        <a:blipFill>
                          <a:blip r:embed="rId5"/>
                          <a:stretch>
                            <a:fillRect l="-1380000" t="-84483" r="-4211"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AR" sz="1200" b="0" i="1" smtClean="0">
                                      <a:latin typeface="Cambria Math" panose="02040503050406030204" pitchFamily="18" charset="0"/>
                                    </a:rPr>
                                    <m:t>𝑚</m:t>
                                  </m:r>
                                </m:e>
                                <m:sub>
                                  <m:r>
                                    <a:rPr lang="es-AR"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569940"/>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569940"/>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3961982" cy="415498"/>
          </a:xfrm>
          <a:prstGeom prst="rect">
            <a:avLst/>
          </a:prstGeom>
          <a:noFill/>
        </p:spPr>
        <p:txBody>
          <a:bodyPr wrap="none">
            <a:spAutoFit/>
          </a:bodyPr>
          <a:lstStyle/>
          <a:p>
            <a:pPr algn="l"/>
            <a:r>
              <a:rPr lang="es-AR" sz="2100" b="1" dirty="0">
                <a:solidFill>
                  <a:srgbClr val="FFFFFF"/>
                </a:solidFill>
                <a:latin typeface="Cambria"/>
              </a:rPr>
              <a:t>Observabilidad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232" y="73210"/>
            <a:ext cx="11551615" cy="658368"/>
          </a:xfrm>
          <a:prstGeom prst="rect">
            <a:avLst/>
          </a:prstGeom>
          <a:noFill/>
        </p:spPr>
        <p:txBody>
          <a:bodyPr wrap="none">
            <a:spAutoFit/>
          </a:bodyPr>
          <a:lstStyle/>
          <a:p>
            <a:pPr algn="l"/>
            <a:r>
              <a:rPr sz="2100" b="1" dirty="0" err="1">
                <a:solidFill>
                  <a:srgbClr val="FFFFFF"/>
                </a:solidFill>
                <a:latin typeface="Cambria"/>
              </a:rPr>
              <a:t>Controlabilidad</a:t>
            </a:r>
            <a:r>
              <a:rPr sz="2100" b="1" dirty="0">
                <a:solidFill>
                  <a:srgbClr val="FFFFFF"/>
                </a:solidFill>
                <a:latin typeface="Cambria"/>
              </a:rPr>
              <a:t>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428342" y="1188720"/>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428342" y="1188720"/>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6500882" cy="415498"/>
          </a:xfrm>
          <a:prstGeom prst="rect">
            <a:avLst/>
          </a:prstGeom>
          <a:noFill/>
        </p:spPr>
        <p:txBody>
          <a:bodyPr wrap="none">
            <a:spAutoFit/>
          </a:bodyPr>
          <a:lstStyle/>
          <a:p>
            <a:pPr algn="l"/>
            <a:r>
              <a:rPr lang="es-AR" sz="2100" b="1" dirty="0">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sp>
        <p:nvSpPr>
          <p:cNvPr id="12" name="TextBox 11"/>
          <p:cNvSpPr txBox="1"/>
          <p:nvPr/>
        </p:nvSpPr>
        <p:spPr>
          <a:xfrm>
            <a:off x="179329" y="901393"/>
            <a:ext cx="11430000" cy="338554"/>
          </a:xfrm>
          <a:prstGeom prst="rect">
            <a:avLst/>
          </a:prstGeom>
          <a:noFill/>
        </p:spPr>
        <p:txBody>
          <a:bodyPr wrap="square">
            <a:spAutoFit/>
          </a:bodyPr>
          <a:lstStyle/>
          <a:p>
            <a:pPr algn="l"/>
            <a:r>
              <a:rPr lang="es-AR" sz="1600" b="1" i="0" dirty="0">
                <a:solidFill>
                  <a:srgbClr val="1A3A6B"/>
                </a:solidFill>
                <a:latin typeface="Calibri"/>
              </a:rPr>
              <a:t>Análisis del movimiento:</a:t>
            </a:r>
          </a:p>
        </p:txBody>
      </p:sp>
      <mc:AlternateContent xmlns:mc="http://schemas.openxmlformats.org/markup-compatibility/2006" xmlns:a14="http://schemas.microsoft.com/office/drawing/2010/main">
        <mc:Choice Requires="a14">
          <p:sp>
            <p:nvSpPr>
              <p:cNvPr id="13" name="TextBox 12"/>
              <p:cNvSpPr txBox="1"/>
              <p:nvPr/>
            </p:nvSpPr>
            <p:spPr>
              <a:xfrm>
                <a:off x="179329" y="1267153"/>
                <a:ext cx="11430000" cy="2539157"/>
              </a:xfrm>
              <a:prstGeom prst="rect">
                <a:avLst/>
              </a:prstGeom>
              <a:noFill/>
            </p:spPr>
            <p:txBody>
              <a:bodyPr wrap="square">
                <a:spAutoFit/>
              </a:bodyPr>
              <a:lstStyle/>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al aplicar una tensión positiva de aproximadamente </a:t>
                </a:r>
                <a14:m>
                  <m:oMath xmlns:m="http://schemas.openxmlformats.org/officeDocument/2006/math">
                    <m:r>
                      <a:rPr lang="es-AR" sz="1400">
                        <a:effectLst/>
                        <a:latin typeface="Cambria Math" panose="02040503050406030204" pitchFamily="18" charset="0"/>
                        <a:ea typeface="Calibri" panose="020F0502020204030204" pitchFamily="34" charset="0"/>
                        <a:cs typeface="Times New Roman" panose="02020603050405020304" pitchFamily="18" charset="0"/>
                      </a:rPr>
                      <m:t>19</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56</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en 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alrededor de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del rotor aumenta rápidamente hasta alcanzar un régimen cuasi estacionario. En este intervalo, la posición crece de forma aproximadamente lineal, coherente con una velocidad positiva sostenida.</a:t>
                </a:r>
                <a:endParaRPr lang="es-AR" sz="1400" dirty="0">
                  <a:effectLst/>
                  <a:latin typeface="Times New Roman" panose="02020603050405020304" pitchFamily="18" charset="0"/>
                  <a:ea typeface="Times New Roman" panose="02020603050405020304" pitchFamily="18" charset="0"/>
                </a:endParaRPr>
              </a:p>
              <a:p>
                <a:pPr marL="285750" indent="-285750" algn="just">
                  <a:spcBef>
                    <a:spcPts val="600"/>
                  </a:spcBef>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Entre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3</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9</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introducen perturbaciones de torque de carga mediante un doble pulso de amplitud positiva y negativa. Estas perturbaciones generan variaciones en la velocidad, generando transitorios en el torque electromagnético. Cuando el torque de carga cambia de signo, el torque motor también modifica su sentido para mantener el equilibrio dinámico.</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Posteriormente, al anular la tensión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7</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disminuye progresivamente debido a la acción de la perturbación aún presente. Más adelante, al aplicar una tensión negativa de aproximadamente 19.56 V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produce una inversión del sentido de giro del rotor, lo que se refleja en una pendiente negativa de la posición y en el cambio de signo de la velocidad.</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Finalmente, al retirarse tanto la tensión como las perturbaciones de torque hacia el final del intervalo de simulación, el sistema tiende nuevamente a condiciones cercanas al reposo, observándose transitorios breves asociados a cada cambio de excitación.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79329" y="1267153"/>
                <a:ext cx="11430000" cy="2539157"/>
              </a:xfrm>
              <a:prstGeom prst="rect">
                <a:avLst/>
              </a:prstGeom>
              <a:blipFill>
                <a:blip r:embed="rId2"/>
                <a:stretch>
                  <a:fillRect l="-53" t="-481" r="-160" b="-1683"/>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BC3361F0-1365-4F4C-94B6-A9CDF91AD3A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7C597987-757D-4200-942F-5B725AF77E6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04572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3432"/>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Corrientes y </a:t>
            </a:r>
            <a:r>
              <a:rPr sz="2100" b="1" dirty="0" err="1">
                <a:solidFill>
                  <a:srgbClr val="FFFFFF"/>
                </a:solidFill>
                <a:latin typeface="Cambria"/>
              </a:rPr>
              <a:t>temperatura</a:t>
            </a:r>
            <a:r>
              <a:rPr sz="2100" b="1" dirty="0">
                <a:solidFill>
                  <a:srgbClr val="FFFFFF"/>
                </a:solidFill>
                <a:latin typeface="Cambria"/>
              </a:rPr>
              <a:t> del </a:t>
            </a:r>
            <a:r>
              <a:rPr sz="2100" b="1" dirty="0" err="1">
                <a:solidFill>
                  <a:srgbClr val="FFFFFF"/>
                </a:solidFill>
                <a:latin typeface="Cambria"/>
              </a:rPr>
              <a:t>estator</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6" name="TextBox 15"/>
          <p:cNvSpPr txBox="1"/>
          <p:nvPr/>
        </p:nvSpPr>
        <p:spPr>
          <a:xfrm>
            <a:off x="143818" y="780791"/>
            <a:ext cx="11430000" cy="307777"/>
          </a:xfrm>
          <a:prstGeom prst="rect">
            <a:avLst/>
          </a:prstGeom>
          <a:noFill/>
        </p:spPr>
        <p:txBody>
          <a:bodyPr wrap="square">
            <a:spAutoFit/>
          </a:bodyPr>
          <a:lstStyle/>
          <a:p>
            <a:pPr algn="l"/>
            <a:r>
              <a:rPr lang="es-AR" sz="1400" b="1" i="0" dirty="0">
                <a:solidFill>
                  <a:srgbClr val="1A3A6B"/>
                </a:solidFill>
                <a:latin typeface="Calibri"/>
              </a:rPr>
              <a:t>Observaciones sobre corrientes y temperatura:</a:t>
            </a:r>
          </a:p>
        </p:txBody>
      </p:sp>
      <mc:AlternateContent xmlns:mc="http://schemas.openxmlformats.org/markup-compatibility/2006" xmlns:a14="http://schemas.microsoft.com/office/drawing/2010/main">
        <mc:Choice Requires="a14">
          <p:sp>
            <p:nvSpPr>
              <p:cNvPr id="17" name="TextBox 16"/>
              <p:cNvSpPr txBox="1"/>
              <p:nvPr/>
            </p:nvSpPr>
            <p:spPr>
              <a:xfrm>
                <a:off x="143818" y="1146551"/>
                <a:ext cx="11430000" cy="2458302"/>
              </a:xfrm>
              <a:prstGeom prst="rect">
                <a:avLst/>
              </a:prstGeom>
              <a:noFill/>
            </p:spPr>
            <p:txBody>
              <a:bodyPr wrap="square">
                <a:spAutoFit/>
              </a:bodyPr>
              <a:lstStyle/>
              <a:p>
                <a:pPr algn="just">
                  <a:spcAft>
                    <a:spcPts val="4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Analizando las gráficas de tensiones, corrientes y temperatura del estator, pueden identificarse los siguientes comportamientos:</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observan picos en las corrientes en los instantes en los que la consigna de tensión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rPr>
                        </m:ctrlPr>
                      </m:sSubSupPr>
                      <m:e>
                        <m:r>
                          <a:rPr lang="es-AR" sz="1400" i="1">
                            <a:solidFill>
                              <a:schemeClr val="tx1"/>
                            </a:solidFill>
                            <a:effectLst/>
                            <a:latin typeface="Cambria Math" panose="02040503050406030204" pitchFamily="18" charset="0"/>
                            <a:ea typeface="Times New Roman" panose="02020603050405020304" pitchFamily="18" charset="0"/>
                          </a:rPr>
                          <m:t>𝑣</m:t>
                        </m:r>
                      </m:e>
                      <m:sub>
                        <m:r>
                          <a:rPr lang="es-AR" sz="1400" i="1">
                            <a:solidFill>
                              <a:schemeClr val="tx1"/>
                            </a:solidFill>
                            <a:effectLst/>
                            <a:latin typeface="Cambria Math" panose="02040503050406030204" pitchFamily="18" charset="0"/>
                            <a:ea typeface="Times New Roman" panose="02020603050405020304" pitchFamily="18" charset="0"/>
                          </a:rPr>
                          <m:t>𝑞𝑠</m:t>
                        </m:r>
                      </m:sub>
                      <m:sup>
                        <m:r>
                          <a:rPr lang="es-AR" sz="1400" i="1">
                            <a:solidFill>
                              <a:schemeClr val="tx1"/>
                            </a:solidFill>
                            <a:effectLst/>
                            <a:latin typeface="Cambria Math" panose="02040503050406030204" pitchFamily="18" charset="0"/>
                            <a:ea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cambia, particularmente alrededor de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=0.7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Esto provoca un incremento escalonado en la temperatura del estator.</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Durante los intervalos en los que se aplica la perturbación de torque (aproximadamente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luego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 corriente aumenta para compensar el torque externo. Esto se traduce en un mayor crecimiento de la temperatura.</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Cuando el torque de carga cambia de signo dentro de cada bloque de perturbación, se produce una modificación en la corriente del eje correspondiente, reflejándose en una variación en la pendiente de la temperatura, manteniéndose casi constante.</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Finalmente, cuando cesan tanto la excitación como la perturbación, las corrientes tienden a reducirse progresivamente, mientras que la temperatura evoluciona de manera más lenta, tendiendo a estabilizarse.</a:t>
                </a:r>
                <a:endParaRPr lang="es-AR" sz="1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43818" y="1146551"/>
                <a:ext cx="11430000" cy="2458302"/>
              </a:xfrm>
              <a:prstGeom prst="rect">
                <a:avLst/>
              </a:prstGeom>
              <a:blipFill>
                <a:blip r:embed="rId2"/>
                <a:stretch>
                  <a:fillRect l="-160" t="-496" r="-160" b="-1985"/>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39B605E8-EC05-4DAA-B938-3B532F8FBA6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97432940-C47E-4E1F-81D8-56AD14D45D8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67824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rcRect/>
          <a:stretch/>
        </p:blipFill>
        <p:spPr>
          <a:xfrm>
            <a:off x="-1" y="681156"/>
            <a:ext cx="5871937" cy="4711475"/>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rcRect/>
          <a:stretch/>
        </p:blipFill>
        <p:spPr>
          <a:xfrm>
            <a:off x="5929473" y="662163"/>
            <a:ext cx="6204990"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5863015" cy="415498"/>
          </a:xfrm>
          <a:prstGeom prst="rect">
            <a:avLst/>
          </a:prstGeom>
          <a:noFill/>
        </p:spPr>
        <p:txBody>
          <a:bodyPr wrap="none">
            <a:spAutoFit/>
          </a:bodyPr>
          <a:lstStyle/>
          <a:p>
            <a:pPr algn="l"/>
            <a:r>
              <a:rPr lang="es-AR" sz="2100" b="1" dirty="0">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rcRect/>
          <a:stretch/>
        </p:blipFill>
        <p:spPr>
          <a:xfrm>
            <a:off x="6114116" y="658367"/>
            <a:ext cx="605961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rcRect/>
          <a:stretch/>
        </p:blipFill>
        <p:spPr>
          <a:xfrm>
            <a:off x="105324" y="658368"/>
            <a:ext cx="5884894"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0" name="TextBox 9"/>
          <p:cNvSpPr txBox="1"/>
          <p:nvPr/>
        </p:nvSpPr>
        <p:spPr>
          <a:xfrm>
            <a:off x="191758" y="749808"/>
            <a:ext cx="5486400" cy="307777"/>
          </a:xfrm>
          <a:prstGeom prst="rect">
            <a:avLst/>
          </a:prstGeom>
          <a:noFill/>
        </p:spPr>
        <p:txBody>
          <a:bodyPr wrap="square">
            <a:spAutoFit/>
          </a:bodyPr>
          <a:lstStyle/>
          <a:p>
            <a:pPr algn="l"/>
            <a:r>
              <a:rPr lang="es-AR" sz="1400" b="1" i="0" dirty="0">
                <a:solidFill>
                  <a:srgbClr val="1A3A6B"/>
                </a:solidFill>
                <a:latin typeface="Calibri"/>
              </a:rPr>
              <a:t>Conclusiones de la comparación:</a:t>
            </a:r>
          </a:p>
        </p:txBody>
      </p:sp>
      <p:sp>
        <p:nvSpPr>
          <p:cNvPr id="11" name="TextBox 10"/>
          <p:cNvSpPr txBox="1"/>
          <p:nvPr/>
        </p:nvSpPr>
        <p:spPr>
          <a:xfrm>
            <a:off x="191757" y="1207008"/>
            <a:ext cx="11551615" cy="841256"/>
          </a:xfrm>
          <a:prstGeom prst="rect">
            <a:avLst/>
          </a:prstGeom>
          <a:noFill/>
        </p:spPr>
        <p:txBody>
          <a:bodyPr wrap="square">
            <a:spAutoFit/>
          </a:bodyPr>
          <a:lstStyle/>
          <a:p>
            <a:pPr marL="285750" indent="-285750">
              <a:buFont typeface="Arial" panose="020B0604020202020204" pitchFamily="34" charset="0"/>
              <a:buChar char="•"/>
            </a:pPr>
            <a:r>
              <a:rPr lang="es-AR" sz="1400" dirty="0">
                <a:solidFill>
                  <a:schemeClr val="tx1"/>
                </a:solidFill>
                <a:latin typeface="Calibri"/>
              </a:rPr>
              <a:t>El modelo LTI reproduce adecuadamente la dinámica del NL — las discrepancias son pequeñas y acotadas</a:t>
            </a:r>
          </a:p>
          <a:p>
            <a:pPr marL="285750" indent="-285750">
              <a:spcBef>
                <a:spcPts val="400"/>
              </a:spcBef>
              <a:buFont typeface="Arial" panose="020B0604020202020204" pitchFamily="34" charset="0"/>
              <a:buChar char="•"/>
            </a:pPr>
            <a:r>
              <a:rPr lang="es-AR" sz="1400" dirty="0">
                <a:solidFill>
                  <a:schemeClr val="tx1"/>
                </a:solidFill>
                <a:latin typeface="Calibri"/>
              </a:rPr>
              <a:t>Las diferencias se concentran en los transitorios (cambios de consigna y perturbaciones)</a:t>
            </a:r>
          </a:p>
          <a:p>
            <a:pPr marL="285750" indent="-285750">
              <a:spcBef>
                <a:spcPts val="400"/>
              </a:spcBef>
              <a:buFont typeface="Arial" panose="020B0604020202020204" pitchFamily="34" charset="0"/>
              <a:buChar char="•"/>
            </a:pPr>
            <a:r>
              <a:rPr lang="es-AR" sz="1400" dirty="0">
                <a:solidFill>
                  <a:schemeClr val="tx1"/>
                </a:solidFill>
                <a:latin typeface="Calibri"/>
              </a:rPr>
              <a:t>A mayor tiempo de simulación: la temperatura afecta Rs, lo que separa progresivamente ambas respuestas</a:t>
            </a:r>
          </a:p>
        </p:txBody>
      </p:sp>
      <p:sp>
        <p:nvSpPr>
          <p:cNvPr id="12" name="Rectangle 11"/>
          <p:cNvSpPr/>
          <p:nvPr/>
        </p:nvSpPr>
        <p:spPr>
          <a:xfrm>
            <a:off x="191757" y="2907791"/>
            <a:ext cx="11430000" cy="80467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917" y="2953511"/>
            <a:ext cx="11155680" cy="523220"/>
          </a:xfrm>
          <a:prstGeom prst="rect">
            <a:avLst/>
          </a:prstGeom>
          <a:noFill/>
        </p:spPr>
        <p:txBody>
          <a:bodyPr wrap="square">
            <a:spAutoFit/>
          </a:bodyPr>
          <a:lstStyle/>
          <a:p>
            <a:pPr algn="l"/>
            <a:r>
              <a:rPr lang="es-AR" sz="1400" dirty="0">
                <a:solidFill>
                  <a:srgbClr val="1A3A6B"/>
                </a:solidFill>
                <a:latin typeface="Calibri"/>
              </a:rPr>
              <a:t>Conclusión: el modelo LTI equivalente aumentado es suficientemente preciso para el diseño del sistema de control en el rango de operación normal del accionamiento.</a:t>
            </a:r>
          </a:p>
        </p:txBody>
      </p:sp>
      <p:sp>
        <p:nvSpPr>
          <p:cNvPr id="14" name="Shape 2">
            <a:extLst>
              <a:ext uri="{FF2B5EF4-FFF2-40B4-BE49-F238E27FC236}">
                <a16:creationId xmlns:a16="http://schemas.microsoft.com/office/drawing/2014/main" id="{A8E89DB0-F321-4B3B-8F66-7E178CBCAA9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61B8B311-9197-4F07-B0BB-52679E7E55E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30008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8" name="TextBox 23">
                <a:extLst>
                  <a:ext uri="{FF2B5EF4-FFF2-40B4-BE49-F238E27FC236}">
                    <a16:creationId xmlns:a16="http://schemas.microsoft.com/office/drawing/2014/main" id="{05947E8B-63DE-46BB-9C21-E783C1807622}"/>
                  </a:ext>
                </a:extLst>
              </p:cNvPr>
              <p:cNvSpPr txBox="1"/>
              <p:nvPr/>
            </p:nvSpPr>
            <p:spPr>
              <a:xfrm>
                <a:off x="8906257" y="879903"/>
                <a:ext cx="594359" cy="464423"/>
              </a:xfrm>
              <a:prstGeom prst="rect">
                <a:avLst/>
              </a:prstGeom>
              <a:noFill/>
            </p:spPr>
            <p:txBody>
              <a:bodyPr wrap="square">
                <a:spAutoFit/>
              </a:bodyPr>
              <a:lstStyle/>
              <a:p>
                <a:pPr algn="ctr"/>
                <a14:m>
                  <m:oMath xmlns:m="http://schemas.openxmlformats.org/officeDocument/2006/math">
                    <m:sSub>
                      <m:sSubPr>
                        <m:ctrlPr>
                          <a:rPr lang="ar-AE" sz="1400" i="1" smtClean="0">
                            <a:solidFill>
                              <a:schemeClr val="bg1"/>
                            </a:solidFill>
                            <a:latin typeface="Cambria Math" panose="02040503050406030204" pitchFamily="18" charset="0"/>
                            <a:ea typeface="Calibri" pitchFamily="34" charset="-122"/>
                            <a:cs typeface="Calibri" pitchFamily="34" charset="-120"/>
                          </a:rPr>
                        </m:ctrlPr>
                      </m:sSubPr>
                      <m:e>
                        <m:r>
                          <a:rPr lang="ar-AE" sz="1400" i="1">
                            <a:solidFill>
                              <a:schemeClr val="bg1"/>
                            </a:solidFill>
                            <a:latin typeface="Cambria Math" panose="02040503050406030204" pitchFamily="18" charset="0"/>
                            <a:ea typeface="Calibri" pitchFamily="34" charset="-122"/>
                            <a:cs typeface="Calibri" pitchFamily="34" charset="-120"/>
                          </a:rPr>
                          <m:t>𝑇</m:t>
                        </m:r>
                      </m:e>
                      <m:sub>
                        <m:r>
                          <a:rPr lang="ar-AE" sz="1400" b="0" i="1" smtClean="0">
                            <a:solidFill>
                              <a:schemeClr val="bg1"/>
                            </a:solidFill>
                            <a:latin typeface="Cambria Math" panose="02040503050406030204" pitchFamily="18" charset="0"/>
                            <a:ea typeface="Calibri" pitchFamily="34" charset="-122"/>
                            <a:cs typeface="Calibri" pitchFamily="34" charset="-120"/>
                          </a:rPr>
                          <m:t>𝑙</m:t>
                        </m:r>
                        <m:r>
                          <a:rPr lang="es-MX" sz="1400" b="0" i="1" smtClean="0">
                            <a:solidFill>
                              <a:schemeClr val="bg1"/>
                            </a:solidFill>
                            <a:latin typeface="Cambria Math" panose="02040503050406030204" pitchFamily="18" charset="0"/>
                            <a:ea typeface="Calibri" pitchFamily="34" charset="-122"/>
                            <a:cs typeface="Calibri" pitchFamily="34" charset="-120"/>
                          </a:rPr>
                          <m:t>𝑑</m:t>
                        </m:r>
                      </m:sub>
                    </m:sSub>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N·m]</a:t>
                </a:r>
                <a:endParaRPr sz="1050" b="1" dirty="0">
                  <a:solidFill>
                    <a:schemeClr val="bg1"/>
                  </a:solidFill>
                  <a:latin typeface="Calibri"/>
                </a:endParaRPr>
              </a:p>
            </p:txBody>
          </p:sp>
        </mc:Choice>
        <mc:Fallback xmlns="">
          <p:sp>
            <p:nvSpPr>
              <p:cNvPr id="28" name="TextBox 23">
                <a:extLst>
                  <a:ext uri="{FF2B5EF4-FFF2-40B4-BE49-F238E27FC236}">
                    <a16:creationId xmlns:a16="http://schemas.microsoft.com/office/drawing/2014/main" id="{05947E8B-63DE-46BB-9C21-E783C1807622}"/>
                  </a:ext>
                </a:extLst>
              </p:cNvPr>
              <p:cNvSpPr txBox="1">
                <a:spLocks noRot="1" noChangeAspect="1" noMove="1" noResize="1" noEditPoints="1" noAdjustHandles="1" noChangeArrowheads="1" noChangeShapeType="1" noTextEdit="1"/>
              </p:cNvSpPr>
              <p:nvPr/>
            </p:nvSpPr>
            <p:spPr>
              <a:xfrm>
                <a:off x="8906257" y="879903"/>
                <a:ext cx="594359" cy="464423"/>
              </a:xfrm>
              <a:prstGeom prst="rect">
                <a:avLst/>
              </a:prstGeom>
              <a:blipFill>
                <a:blip r:embed="rId4"/>
                <a:stretch>
                  <a:fillRect b="-6494"/>
                </a:stretch>
              </a:blipFill>
            </p:spPr>
            <p:txBody>
              <a:bodyPr/>
              <a:lstStyle/>
              <a:p>
                <a:r>
                  <a:rPr lang="es-AR">
                    <a:noFill/>
                  </a:rPr>
                  <a:t> </a:t>
                </a:r>
              </a:p>
            </p:txBody>
          </p:sp>
        </mc:Fallback>
      </mc:AlternateContent>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0" name="TextBox 25">
                <a:extLst>
                  <a:ext uri="{FF2B5EF4-FFF2-40B4-BE49-F238E27FC236}">
                    <a16:creationId xmlns:a16="http://schemas.microsoft.com/office/drawing/2014/main" id="{F4A45EC6-BB19-4D3F-877D-ACEC3109C603}"/>
                  </a:ext>
                </a:extLst>
              </p:cNvPr>
              <p:cNvSpPr txBox="1"/>
              <p:nvPr/>
            </p:nvSpPr>
            <p:spPr>
              <a:xfrm>
                <a:off x="9546335" y="859764"/>
                <a:ext cx="548641" cy="485967"/>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bg1"/>
                            </a:solidFill>
                            <a:latin typeface="Cambria Math" panose="02040503050406030204" pitchFamily="18" charset="0"/>
                          </a:rPr>
                        </m:ctrlPr>
                      </m:sSubSupPr>
                      <m:e>
                        <m:r>
                          <a:rPr lang="ar-AE" sz="1400">
                            <a:solidFill>
                              <a:schemeClr val="bg1"/>
                            </a:solidFill>
                            <a:latin typeface="Cambria Math" panose="02040503050406030204" pitchFamily="18" charset="0"/>
                          </a:rPr>
                          <m:t>𝑣</m:t>
                        </m:r>
                      </m:e>
                      <m:sub>
                        <m:r>
                          <a:rPr lang="ar-AE" sz="1400">
                            <a:solidFill>
                              <a:schemeClr val="bg1"/>
                            </a:solidFill>
                            <a:latin typeface="Cambria Math" panose="02040503050406030204" pitchFamily="18" charset="0"/>
                          </a:rPr>
                          <m:t>𝑞𝑠</m:t>
                        </m:r>
                      </m:sub>
                      <m:sup>
                        <m:r>
                          <a:rPr lang="ar-AE" sz="1400">
                            <a:solidFill>
                              <a:schemeClr val="bg1"/>
                            </a:solidFill>
                            <a:latin typeface="Cambria Math" panose="02040503050406030204" pitchFamily="18" charset="0"/>
                          </a:rPr>
                          <m:t>𝑟</m:t>
                        </m:r>
                      </m:sup>
                    </m:sSubSup>
                    <m:r>
                      <a:rPr lang="ar-AE" sz="1400" i="1">
                        <a:solidFill>
                          <a:schemeClr val="bg1"/>
                        </a:solidFill>
                        <a:latin typeface="Cambria Math" panose="02040503050406030204" pitchFamily="18" charset="0"/>
                      </a:rPr>
                      <m:t> </m:t>
                    </m:r>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V]</a:t>
                </a:r>
              </a:p>
            </p:txBody>
          </p:sp>
        </mc:Choice>
        <mc:Fallback xmlns="">
          <p:sp>
            <p:nvSpPr>
              <p:cNvPr id="30" name="TextBox 25">
                <a:extLst>
                  <a:ext uri="{FF2B5EF4-FFF2-40B4-BE49-F238E27FC236}">
                    <a16:creationId xmlns:a16="http://schemas.microsoft.com/office/drawing/2014/main" id="{F4A45EC6-BB19-4D3F-877D-ACEC3109C603}"/>
                  </a:ext>
                </a:extLst>
              </p:cNvPr>
              <p:cNvSpPr txBox="1">
                <a:spLocks noRot="1" noChangeAspect="1" noMove="1" noResize="1" noEditPoints="1" noAdjustHandles="1" noChangeArrowheads="1" noChangeShapeType="1" noTextEdit="1"/>
              </p:cNvSpPr>
              <p:nvPr/>
            </p:nvSpPr>
            <p:spPr>
              <a:xfrm>
                <a:off x="9546335" y="859764"/>
                <a:ext cx="548641" cy="485967"/>
              </a:xfrm>
              <a:prstGeom prst="rect">
                <a:avLst/>
              </a:prstGeom>
              <a:blipFill>
                <a:blip r:embed="rId5"/>
                <a:stretch>
                  <a:fillRect b="-6250"/>
                </a:stretch>
              </a:blipFill>
            </p:spPr>
            <p:txBody>
              <a:bodyPr/>
              <a:lstStyle/>
              <a:p>
                <a:r>
                  <a:rPr lang="es-AR">
                    <a:noFill/>
                  </a:rPr>
                  <a:t> </a:t>
                </a:r>
              </a:p>
            </p:txBody>
          </p:sp>
        </mc:Fallback>
      </mc:AlternateContent>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9840" y="859942"/>
                <a:ext cx="630936"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𝜔</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9840" y="859942"/>
                <a:ext cx="630936" cy="464423"/>
              </a:xfrm>
              <a:prstGeom prst="rect">
                <a:avLst/>
              </a:prstGeom>
              <a:blipFill>
                <a:blip r:embed="rId6"/>
                <a:stretch>
                  <a:fillRect b="-7895"/>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888981"/>
                <a:ext cx="585215"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𝑇</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888981"/>
                <a:ext cx="585215" cy="464423"/>
              </a:xfrm>
              <a:prstGeom prst="rect">
                <a:avLst/>
              </a:prstGeom>
              <a:blipFill>
                <a:blip r:embed="rId7"/>
                <a:stretch>
                  <a:fillRect b="-7895"/>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518903" y="1323380"/>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5C75207-FF13-4C24-B81D-1EC36030ED43}"/>
                  </a:ext>
                </a:extLst>
              </p:cNvPr>
              <p:cNvSpPr txBox="1"/>
              <p:nvPr/>
            </p:nvSpPr>
            <p:spPr>
              <a:xfrm>
                <a:off x="4872805" y="4384421"/>
                <a:ext cx="6190696" cy="1169551"/>
              </a:xfrm>
              <a:prstGeom prst="rect">
                <a:avLst/>
              </a:prstGeom>
              <a:noFill/>
            </p:spPr>
            <p:txBody>
              <a:bodyPr wrap="square">
                <a:spAutoFit/>
              </a:bodyPr>
              <a:lstStyle/>
              <a:p>
                <a:pPr algn="just"/>
                <a:r>
                  <a:rPr lang="es-AR" sz="1400" dirty="0">
                    <a:latin typeface="Calibri" panose="020F0502020204030204" pitchFamily="34" charset="0"/>
                    <a:ea typeface="Times New Roman" panose="02020603050405020304" pitchFamily="18" charset="0"/>
                  </a:rPr>
                  <a:t>S</a:t>
                </a:r>
                <a:r>
                  <a:rPr lang="es-AR" sz="1400" dirty="0">
                    <a:effectLst/>
                    <a:latin typeface="Calibri" panose="020F0502020204030204" pitchFamily="34" charset="0"/>
                    <a:ea typeface="Times New Roman" panose="02020603050405020304" pitchFamily="18" charset="0"/>
                  </a:rPr>
                  <a:t>e observa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)&gt;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durante los intervalos correspondientes a motorización directa y frenado regenerativo en sentido inverso, mientras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)&lt;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en los casos de frenado regenerativo en sentido directo y motorización en inverso. Esta correspondencia confirma la consistencia entre la evolución del desfasaje electromagnético y el cuadrante de operación del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4" name="CuadroTexto 23">
                <a:extLst>
                  <a:ext uri="{FF2B5EF4-FFF2-40B4-BE49-F238E27FC236}">
                    <a16:creationId xmlns:a16="http://schemas.microsoft.com/office/drawing/2014/main" id="{55C75207-FF13-4C24-B81D-1EC36030ED43}"/>
                  </a:ext>
                </a:extLst>
              </p:cNvPr>
              <p:cNvSpPr txBox="1">
                <a:spLocks noRot="1" noChangeAspect="1" noMove="1" noResize="1" noEditPoints="1" noAdjustHandles="1" noChangeArrowheads="1" noChangeShapeType="1" noTextEdit="1"/>
              </p:cNvSpPr>
              <p:nvPr/>
            </p:nvSpPr>
            <p:spPr>
              <a:xfrm>
                <a:off x="4872805" y="4384421"/>
                <a:ext cx="6190696" cy="1169551"/>
              </a:xfrm>
              <a:prstGeom prst="rect">
                <a:avLst/>
              </a:prstGeom>
              <a:blipFill>
                <a:blip r:embed="rId8"/>
                <a:stretch>
                  <a:fillRect l="-295" t="-1042" r="-197" b="-4688"/>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1994" y="130174"/>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a:t>
            </a:r>
            <a:r>
              <a:rPr sz="2100" b="1" dirty="0" err="1">
                <a:solidFill>
                  <a:srgbClr val="FFFFFF"/>
                </a:solidFill>
                <a:latin typeface="Cambria"/>
              </a:rPr>
              <a:t>Valores</a:t>
            </a:r>
            <a:r>
              <a:rPr sz="2100" b="1" dirty="0">
                <a:solidFill>
                  <a:srgbClr val="FFFFFF"/>
                </a:solidFill>
                <a:latin typeface="Cambria"/>
              </a:rPr>
              <a:t> de </a:t>
            </a:r>
            <a:r>
              <a:rPr sz="2100" b="1" dirty="0" err="1">
                <a:solidFill>
                  <a:srgbClr val="FFFFFF"/>
                </a:solidFill>
                <a:latin typeface="Cambria"/>
              </a:rPr>
              <a:t>establecimiento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lang="es-A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603376"/>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 pero su valor de establecimiento no varía proporcionalmente como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xmlns="">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603376"/>
              </a:xfrm>
              <a:prstGeom prst="rect">
                <a:avLst/>
              </a:prstGeom>
              <a:blipFill>
                <a:blip r:embed="rId4"/>
                <a:stretch>
                  <a:fillRect l="-642" t="-397" r="-1178" b="-795"/>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9596</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5</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913FF57-83AB-4AAD-9D93-5FED7EBB3644}"/>
                  </a:ext>
                </a:extLst>
              </p:cNvPr>
              <p:cNvSpPr txBox="1"/>
              <p:nvPr/>
            </p:nvSpPr>
            <p:spPr>
              <a:xfrm>
                <a:off x="441215" y="954251"/>
                <a:ext cx="11144143" cy="2309094"/>
              </a:xfrm>
              <a:prstGeom prst="rect">
                <a:avLst/>
              </a:prstGeom>
              <a:noFill/>
            </p:spPr>
            <p:txBody>
              <a:bodyPr wrap="square">
                <a:spAutoFit/>
              </a:bodyPr>
              <a:lstStyle/>
              <a:p>
                <a:r>
                  <a:rPr lang="es-MX" sz="1600" b="1" dirty="0">
                    <a:solidFill>
                      <a:schemeClr val="tx1"/>
                    </a:solidFill>
                  </a:rPr>
                  <a:t>Field forcing y field weakening — Efecto de </a:t>
                </a:r>
                <a14:m>
                  <m:oMath xmlns:m="http://schemas.openxmlformats.org/officeDocument/2006/math">
                    <m:sSubSup>
                      <m:sSubSupPr>
                        <m:ctrlP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𝒅𝒔</m:t>
                        </m:r>
                      </m:sub>
                      <m:sup>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b="1" dirty="0">
                    <a:solidFill>
                      <a:schemeClr val="tx1"/>
                    </a:solidFill>
                  </a:rPr>
                  <a:t> sobre </a:t>
                </a:r>
                <a14:m>
                  <m:oMath xmlns:m="http://schemas.openxmlformats.org/officeDocument/2006/math">
                    <m:sSub>
                      <m:sSubPr>
                        <m:ctrlPr>
                          <a:rPr lang="es-AR"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MX"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MX" sz="1600" b="1" dirty="0">
                  <a:solidFill>
                    <a:schemeClr val="tx1"/>
                  </a:solidFill>
                </a:endParaRPr>
              </a:p>
              <a:p>
                <a:endParaRPr lang="es-MX" sz="1600" b="1" dirty="0">
                  <a:solidFill>
                    <a:schemeClr val="tx1"/>
                  </a:solidFill>
                </a:endParaRPr>
              </a:p>
              <a:p>
                <a:pPr marL="285750" indent="-285750">
                  <a:buFont typeface="Arial" panose="020B0604020202020204" pitchFamily="34" charset="0"/>
                  <a:buChar char="•"/>
                </a:pPr>
                <a:r>
                  <a:rPr lang="es-MX" sz="1600" dirty="0"/>
                  <a:t>Field forcing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&gt; 0): refuerza el flujo → ligera reducción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latin typeface="Calibri" panose="020F0502020204030204" pitchFamily="34" charset="0"/>
                    <a:ea typeface="Calibri" panose="020F0502020204030204" pitchFamily="34" charset="0"/>
                    <a:cs typeface="Times New Roman" panose="02020603050405020304" pitchFamily="18" charset="0"/>
                  </a:rPr>
                  <a:t> </a:t>
                </a:r>
                <a:r>
                  <a:rPr lang="es-MX" sz="1600" dirty="0"/>
                  <a:t>en régimen; picos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MX" sz="1600" dirty="0"/>
                  <a:t> más pronunciados en el transitorio.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Field weakening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&lt; 0): debilita el flujo → velocidades ligeramente superiores; diferencias visibles principalmente en el transitorio antes de retornar al régimen estacionario.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Modelo LTI: permanece prácticamente inalterado ante variaciones de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 el desacople entre ejes d y q elimina este efecto. Cualquier valor inicial de </a:t>
                </a:r>
                <a14:m>
                  <m:oMath xmlns:m="http://schemas.openxmlformats.org/officeDocument/2006/math">
                    <m:sSubSup>
                      <m:sSubSupPr>
                        <m:ctrlPr>
                          <a:rPr lang="es-AR" sz="1600" i="1">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es anulado rápidamente por el controlador.</a:t>
                </a:r>
              </a:p>
            </p:txBody>
          </p:sp>
        </mc:Choice>
        <mc:Fallback xmlns="">
          <p:sp>
            <p:nvSpPr>
              <p:cNvPr id="17" name="CuadroTexto 16">
                <a:extLst>
                  <a:ext uri="{FF2B5EF4-FFF2-40B4-BE49-F238E27FC236}">
                    <a16:creationId xmlns:a16="http://schemas.microsoft.com/office/drawing/2014/main" id="{F913FF57-83AB-4AAD-9D93-5FED7EBB3644}"/>
                  </a:ext>
                </a:extLst>
              </p:cNvPr>
              <p:cNvSpPr txBox="1">
                <a:spLocks noRot="1" noChangeAspect="1" noMove="1" noResize="1" noEditPoints="1" noAdjustHandles="1" noChangeArrowheads="1" noChangeShapeType="1" noTextEdit="1"/>
              </p:cNvSpPr>
              <p:nvPr/>
            </p:nvSpPr>
            <p:spPr>
              <a:xfrm>
                <a:off x="441215" y="954251"/>
                <a:ext cx="11144143" cy="2309094"/>
              </a:xfrm>
              <a:prstGeom prst="rect">
                <a:avLst/>
              </a:prstGeom>
              <a:blipFill>
                <a:blip r:embed="rId4"/>
                <a:stretch>
                  <a:fillRect l="-274" t="-794" b="-2646"/>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519043A7-E6C6-45A2-97DF-D7430E0542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85E39923-92A6-4B6A-946A-44FE6F12D0A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2236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xmlns="">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22695"/>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xmlns="">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22695"/>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xmlns="">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16644"/>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a:t>
                </a:r>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29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33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4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2875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xmlns:a14="http://schemas.microsoft.com/office/drawing/2010/main">
        <mc:Choice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xmlns="">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xmlns="">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xmlns="">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3"/>
          <a:srcRect/>
          <a:stretch/>
        </p:blipFill>
        <p:spPr>
          <a:xfrm>
            <a:off x="80652" y="761883"/>
            <a:ext cx="6497701" cy="3312420"/>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143916" y="606869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FF46F6BC-8810-4171-9482-9FC43F26766D}"/>
              </a:ext>
            </a:extLst>
          </p:cNvPr>
          <p:cNvPicPr>
            <a:picLocks noChangeAspect="1"/>
          </p:cNvPicPr>
          <p:nvPr/>
        </p:nvPicPr>
        <p:blipFill>
          <a:blip r:embed="rId4"/>
          <a:stretch>
            <a:fillRect/>
          </a:stretch>
        </p:blipFill>
        <p:spPr>
          <a:xfrm>
            <a:off x="4364576" y="3025517"/>
            <a:ext cx="7746772" cy="3096473"/>
          </a:xfrm>
          <a:prstGeom prst="rect">
            <a:avLst/>
          </a:prstGeom>
        </p:spPr>
      </p:pic>
    </p:spTree>
    <p:extLst>
      <p:ext uri="{BB962C8B-B14F-4D97-AF65-F5344CB8AC3E}">
        <p14:creationId xmlns:p14="http://schemas.microsoft.com/office/powerpoint/2010/main" val="1409030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B43C3E9C-51E4-42F8-A725-3C8829DDEFDF}"/>
              </a:ext>
            </a:extLst>
          </p:cNvPr>
          <p:cNvPicPr/>
          <p:nvPr/>
        </p:nvPicPr>
        <p:blipFill>
          <a:blip r:embed="rId2"/>
          <a:srcRect/>
          <a:stretch/>
        </p:blipFill>
        <p:spPr>
          <a:xfrm>
            <a:off x="2210620" y="2847066"/>
            <a:ext cx="7272426" cy="3223654"/>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3"/>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5"/>
                <a:stretch>
                  <a:fillRect/>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F554A308-3CE6-43AA-84C1-1C61C1DA4EBB}"/>
              </a:ext>
            </a:extLst>
          </p:cNvPr>
          <p:cNvSpPr txBox="1"/>
          <p:nvPr/>
        </p:nvSpPr>
        <p:spPr>
          <a:xfrm>
            <a:off x="4155255" y="6117863"/>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7"/>
            <a:ext cx="3762357" cy="2678367"/>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rotWithShape="1">
          <a:blip r:embed="rId5"/>
          <a:srcRect l="-3567" r="-1122"/>
          <a:stretch/>
        </p:blipFill>
        <p:spPr bwMode="auto">
          <a:xfrm>
            <a:off x="3829680" y="1380057"/>
            <a:ext cx="3762357" cy="2695323"/>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rotWithShape="1">
          <a:blip r:embed="rId6"/>
          <a:srcRect l="-3191" r="-787"/>
          <a:stretch/>
        </p:blipFill>
        <p:spPr bwMode="auto">
          <a:xfrm>
            <a:off x="7592038" y="1380056"/>
            <a:ext cx="3996738" cy="275018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xmlns="">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rotWithShape="1">
          <a:blip r:embed="rId4"/>
          <a:srcRect l="-2388" r="-823"/>
          <a:stretch/>
        </p:blipFill>
        <p:spPr bwMode="auto">
          <a:xfrm>
            <a:off x="274320" y="1102407"/>
            <a:ext cx="5288992" cy="3247650"/>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rotWithShape="1">
          <a:blip r:embed="rId5"/>
          <a:srcRect l="-3357" r="-6805"/>
          <a:stretch/>
        </p:blipFill>
        <p:spPr bwMode="auto">
          <a:xfrm>
            <a:off x="5947874" y="1102407"/>
            <a:ext cx="5580404" cy="33160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90894"/>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90894"/>
                <a:ext cx="11787353" cy="1491177"/>
              </a:xfrm>
              <a:prstGeom prst="rect">
                <a:avLst/>
              </a:prstGeom>
              <a:blipFill>
                <a:blip r:embed="rId6"/>
                <a:stretch>
                  <a:fillRect l="-155" t="-408" r="-103" b="-326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rotWithShape="1">
          <a:blip r:embed="rId4"/>
          <a:srcRect l="-1150" r="-945" b="-4093"/>
          <a:stretch/>
        </p:blipFill>
        <p:spPr bwMode="auto">
          <a:xfrm>
            <a:off x="-45879" y="759268"/>
            <a:ext cx="4074055" cy="2914420"/>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rotWithShape="1">
          <a:blip r:embed="rId5"/>
          <a:srcRect l="708" r="-1199"/>
          <a:stretch/>
        </p:blipFill>
        <p:spPr bwMode="auto">
          <a:xfrm>
            <a:off x="4028177" y="755967"/>
            <a:ext cx="4074054"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rotWithShape="1">
          <a:blip r:embed="rId6"/>
          <a:srcRect l="-5998" t="-2455" r="-1" b="231"/>
          <a:stretch/>
        </p:blipFill>
        <p:spPr bwMode="auto">
          <a:xfrm>
            <a:off x="7955187" y="709524"/>
            <a:ext cx="423650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rotWithShape="1">
          <a:blip r:embed="rId8"/>
          <a:srcRect l="-4129" r="-3601"/>
          <a:stretch/>
        </p:blipFill>
        <p:spPr bwMode="auto">
          <a:xfrm>
            <a:off x="-45879" y="4007978"/>
            <a:ext cx="3634893" cy="2417912"/>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3"/>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4"/>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5"/>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6"/>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7">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smtClean="0">
                                    <a:effectLst/>
                                    <a:latin typeface="Cambria Math" panose="02040503050406030204" pitchFamily="18" charset="0"/>
                                  </a:rPr>
                                  <m:t>45</m:t>
                                </m:r>
                                <m:r>
                                  <a:rPr lang="es-AR" sz="1100" smtClean="0">
                                    <a:effectLst/>
                                    <a:latin typeface="Cambria Math" panose="02040503050406030204" pitchFamily="18" charset="0"/>
                                  </a:rPr>
                                  <m:t>.</m:t>
                                </m:r>
                                <m:r>
                                  <a:rPr lang="es-AR" sz="1100" smtClean="0">
                                    <a:effectLst/>
                                    <a:latin typeface="Cambria Math" panose="02040503050406030204" pitchFamily="18" charset="0"/>
                                  </a:rPr>
                                  <m:t>0</m:t>
                                </m:r>
                                <m:r>
                                  <a:rPr lang="es-AR" sz="1100" smtClean="0">
                                    <a:effectLst/>
                                    <a:latin typeface="Cambria Math" panose="02040503050406030204" pitchFamily="18" charset="0"/>
                                  </a:rPr>
                                  <m:t>  </m:t>
                                </m:r>
                                <m:r>
                                  <a:rPr lang="es-AR" sz="1100" smtClean="0">
                                    <a:effectLst/>
                                    <a:latin typeface="Cambria Math" panose="02040503050406030204" pitchFamily="18" charset="0"/>
                                  </a:rPr>
                                  <m:t>𝑁</m:t>
                                </m:r>
                                <m:r>
                                  <a:rPr lang="es-AR" sz="1100" smtClean="0">
                                    <a:effectLst/>
                                    <a:latin typeface="Cambria Math" panose="02040503050406030204" pitchFamily="18" charset="0"/>
                                  </a:rPr>
                                  <m:t>.</m:t>
                                </m:r>
                                <m:r>
                                  <a:rPr lang="es-AR" sz="1100" smtClean="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srcRect l="-2360" r="-7860"/>
          <a:stretch/>
        </p:blipFill>
        <p:spPr bwMode="auto">
          <a:xfrm>
            <a:off x="1946246" y="871433"/>
            <a:ext cx="8548381"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A8BE010C-9E72-40EC-AB4B-412DDC01C099}"/>
              </a:ext>
            </a:extLst>
          </p:cNvPr>
          <p:cNvPicPr/>
          <p:nvPr/>
        </p:nvPicPr>
        <p:blipFill rotWithShape="1">
          <a:blip r:embed="rId2"/>
          <a:srcRect t="-1216" b="-5395"/>
          <a:stretch/>
        </p:blipFill>
        <p:spPr bwMode="auto">
          <a:xfrm>
            <a:off x="5797157" y="773077"/>
            <a:ext cx="5413525" cy="4283010"/>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683182" y="4787473"/>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683182" y="4787473"/>
                <a:ext cx="4366945" cy="261610"/>
              </a:xfrm>
              <a:prstGeom prst="rect">
                <a:avLst/>
              </a:prstGeom>
              <a:blipFill>
                <a:blip r:embed="rId3"/>
                <a:stretch>
                  <a:fillRect b="-1627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91827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918278"/>
                <a:ext cx="4366945" cy="261610"/>
              </a:xfrm>
              <a:prstGeom prst="rect">
                <a:avLst/>
              </a:prstGeom>
              <a:blipFill>
                <a:blip r:embed="rId4"/>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5"/>
          <a:srcRect/>
          <a:stretch/>
        </p:blipFill>
        <p:spPr>
          <a:xfrm>
            <a:off x="274319" y="796179"/>
            <a:ext cx="5157078" cy="3984290"/>
          </a:xfrm>
          <a:prstGeom prst="rect">
            <a:avLst/>
          </a:prstGeom>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4F2178E3-4F5F-4A71-86D2-BDAC3049FFE2}"/>
                  </a:ext>
                </a:extLst>
              </p:cNvPr>
              <p:cNvSpPr txBox="1"/>
              <p:nvPr/>
            </p:nvSpPr>
            <p:spPr>
              <a:xfrm>
                <a:off x="1938838" y="470158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MX" b="0" i="1" smtClean="0">
                            <a:latin typeface="Cambria Math" panose="02040503050406030204" pitchFamily="18" charset="0"/>
                          </a:rPr>
                          <m:t>𝑣</m:t>
                        </m:r>
                      </m:e>
                      <m:sub>
                        <m:r>
                          <a:rPr lang="es-AR">
                            <a:latin typeface="Cambria Math" panose="02040503050406030204" pitchFamily="18" charset="0"/>
                          </a:rPr>
                          <m:t>𝑎𝑏𝑐</m:t>
                        </m:r>
                      </m:sub>
                    </m:sSub>
                  </m:oMath>
                </a14:m>
                <a:endParaRPr lang="es-AR" dirty="0"/>
              </a:p>
            </p:txBody>
          </p:sp>
        </mc:Choice>
        <mc:Fallback>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938838" y="4701589"/>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srcRect/>
          <a:stretch/>
        </p:blipFill>
        <p:spPr>
          <a:xfrm>
            <a:off x="320038" y="906457"/>
            <a:ext cx="5256025" cy="3716285"/>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a:blip r:embed="rId4"/>
          <a:srcRect t="5203" b="5203"/>
          <a:stretch/>
        </p:blipFill>
        <p:spPr bwMode="auto">
          <a:xfrm>
            <a:off x="5738071" y="866610"/>
            <a:ext cx="5971576"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376192" cy="3656438"/>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986047" y="4552667"/>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srcRect/>
          <a:stretch/>
        </p:blipFill>
        <p:spPr>
          <a:xfrm>
            <a:off x="7072430" y="853776"/>
            <a:ext cx="5044626" cy="3406661"/>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srcRect l="-295" r="407"/>
          <a:stretch/>
        </p:blipFill>
        <p:spPr>
          <a:xfrm>
            <a:off x="92279" y="1362865"/>
            <a:ext cx="5872293" cy="4132269"/>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srcRect l="-11064" t="-331" r="1080" b="331"/>
          <a:stretch/>
        </p:blipFill>
        <p:spPr bwMode="auto">
          <a:xfrm>
            <a:off x="5444666" y="1374648"/>
            <a:ext cx="6472709"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63AA3D83-1C35-4420-B8B8-8D779F7F2DB6}"/>
                  </a:ext>
                </a:extLst>
              </p:cNvPr>
              <p:cNvSpPr txBox="1"/>
              <p:nvPr/>
            </p:nvSpPr>
            <p:spPr>
              <a:xfrm>
                <a:off x="6698341" y="5514754"/>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698341" y="5514754"/>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3"/>
          <a:srcRect/>
          <a:stretch/>
        </p:blipFill>
        <p:spPr>
          <a:xfrm>
            <a:off x="71630" y="935476"/>
            <a:ext cx="5599328" cy="4100151"/>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8" name="Imagen 7">
            <a:extLst>
              <a:ext uri="{FF2B5EF4-FFF2-40B4-BE49-F238E27FC236}">
                <a16:creationId xmlns:a16="http://schemas.microsoft.com/office/drawing/2014/main" id="{2BA1FFD9-EB70-4AC2-9864-72F2877AC049}"/>
              </a:ext>
            </a:extLst>
          </p:cNvPr>
          <p:cNvPicPr>
            <a:picLocks noChangeAspect="1"/>
          </p:cNvPicPr>
          <p:nvPr/>
        </p:nvPicPr>
        <p:blipFill>
          <a:blip r:embed="rId7"/>
          <a:stretch>
            <a:fillRect/>
          </a:stretch>
        </p:blipFill>
        <p:spPr>
          <a:xfrm>
            <a:off x="6004972" y="1032384"/>
            <a:ext cx="5785682" cy="4032127"/>
          </a:xfrm>
          <a:prstGeom prst="rect">
            <a:avLst/>
          </a:prstGeom>
        </p:spPr>
      </p:pic>
    </p:spTree>
    <p:extLst>
      <p:ext uri="{BB962C8B-B14F-4D97-AF65-F5344CB8AC3E}">
        <p14:creationId xmlns:p14="http://schemas.microsoft.com/office/powerpoint/2010/main" val="2409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9015" y="12878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sp>
        <p:nvSpPr>
          <p:cNvPr id="17" name="TextBox 16"/>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 y acciones correctivas:</a:t>
            </a:r>
          </a:p>
        </p:txBody>
      </p:sp>
      <p:sp>
        <p:nvSpPr>
          <p:cNvPr id="18" name="TextBox 17"/>
          <p:cNvSpPr txBox="1"/>
          <p:nvPr/>
        </p:nvSpPr>
        <p:spPr>
          <a:xfrm>
            <a:off x="289015" y="1419713"/>
            <a:ext cx="11902680" cy="2923877"/>
          </a:xfrm>
          <a:prstGeom prst="rect">
            <a:avLst/>
          </a:prstGeom>
          <a:noFill/>
        </p:spPr>
        <p:txBody>
          <a:bodyPr wrap="square">
            <a:spAutoFit/>
          </a:bodyPr>
          <a:lstStyle/>
          <a:p>
            <a:pPr marL="285750" indent="-285750">
              <a:buFont typeface="Arial" panose="020B0604020202020204" pitchFamily="34" charset="0"/>
              <a:buChar char="•"/>
            </a:pPr>
            <a:r>
              <a:rPr lang="es-MX" sz="1600" dirty="0"/>
              <a:t>Sin perturbación de carga, la temperatura crece progresivamente pero se estabiliza por debajo de los 48 °C en 20 ciclos, manteniéndose dentro de condiciones térmicas aceptables.</a:t>
            </a:r>
          </a:p>
          <a:p>
            <a:pPr marL="285750" indent="-285750">
              <a:buFont typeface="Arial" panose="020B0604020202020204" pitchFamily="34" charset="0"/>
              <a:buChar char="•"/>
            </a:pPr>
            <a:r>
              <a:rPr lang="es-MX" sz="1600" dirty="0"/>
              <a:t>Al introducir una perturbación de carga cíclica, la temperatura continúa incrementándose hasta estabilizarse cerca del límite máximo admisible (~30 ciclos).</a:t>
            </a:r>
          </a:p>
          <a:p>
            <a:pPr marL="285750" indent="-285750">
              <a:buFont typeface="Arial" panose="020B0604020202020204" pitchFamily="34" charset="0"/>
              <a:buChar char="•"/>
            </a:pPr>
            <a:r>
              <a:rPr lang="es-MX" sz="1600" dirty="0"/>
              <a:t>Con carga máxima en el extremo del brazo, la temperatura </a:t>
            </a:r>
            <a:r>
              <a:rPr lang="es-MX" sz="1600" b="1" dirty="0"/>
              <a:t>supera el límite admisible</a:t>
            </a:r>
            <a:r>
              <a:rPr lang="es-MX" sz="1600" dirty="0"/>
              <a:t>, lo que representa una condición de operación insegura.</a:t>
            </a:r>
          </a:p>
          <a:p>
            <a:endParaRPr lang="es-MX" sz="1600" b="1" dirty="0"/>
          </a:p>
          <a:p>
            <a:r>
              <a:rPr lang="es-MX" sz="1600" b="1" dirty="0">
                <a:solidFill>
                  <a:srgbClr val="1A3A6B"/>
                </a:solidFill>
                <a:latin typeface="Calibri"/>
              </a:rPr>
              <a:t>Medidas para garantizar operación segura:</a:t>
            </a:r>
          </a:p>
          <a:p>
            <a:endParaRPr lang="es-MX" sz="1400" dirty="0"/>
          </a:p>
          <a:p>
            <a:pPr marL="285750" indent="-285750">
              <a:buFont typeface="Arial" panose="020B0604020202020204" pitchFamily="34" charset="0"/>
              <a:buChar char="•"/>
            </a:pPr>
            <a:r>
              <a:rPr lang="es-MX" sz="1400" dirty="0"/>
              <a:t>Limitar o evitar perturbaciones de carga sostenidas</a:t>
            </a:r>
          </a:p>
          <a:p>
            <a:pPr marL="285750" indent="-285750">
              <a:buFont typeface="Arial" panose="020B0604020202020204" pitchFamily="34" charset="0"/>
              <a:buChar char="•"/>
            </a:pPr>
            <a:r>
              <a:rPr lang="es-AR" sz="1400" dirty="0">
                <a:latin typeface="Calibri" panose="020F0502020204030204" pitchFamily="34" charset="0"/>
                <a:ea typeface="Calibri" panose="020F0502020204030204" pitchFamily="34" charset="0"/>
                <a:cs typeface="Times New Roman" panose="02020603050405020304" pitchFamily="18" charset="0"/>
              </a:rPr>
              <a:t>M</a:t>
            </a:r>
            <a:r>
              <a:rPr lang="es-AR" sz="1400" dirty="0">
                <a:effectLst/>
                <a:latin typeface="Calibri" panose="020F0502020204030204" pitchFamily="34" charset="0"/>
                <a:ea typeface="Calibri" panose="020F0502020204030204" pitchFamily="34" charset="0"/>
                <a:cs typeface="Times New Roman" panose="02020603050405020304" pitchFamily="18" charset="0"/>
              </a:rPr>
              <a:t>odificación en la consigna de velocidad </a:t>
            </a:r>
          </a:p>
          <a:p>
            <a:pPr marL="285750" indent="-285750">
              <a:buFont typeface="Arial" panose="020B0604020202020204" pitchFamily="34" charset="0"/>
              <a:buChar char="•"/>
            </a:pPr>
            <a:r>
              <a:rPr lang="es-MX" sz="1400" dirty="0"/>
              <a:t>Incorporar un mecanismo de refrigeración</a:t>
            </a:r>
          </a:p>
        </p:txBody>
      </p:sp>
      <p:sp>
        <p:nvSpPr>
          <p:cNvPr id="8" name="Shape 2">
            <a:extLst>
              <a:ext uri="{FF2B5EF4-FFF2-40B4-BE49-F238E27FC236}">
                <a16:creationId xmlns:a16="http://schemas.microsoft.com/office/drawing/2014/main" id="{98BB5D27-3F5B-46DC-9A6F-FD2444BCF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AB115AD5-C0F7-49EF-AAC0-43AFCEDF78C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41071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24838" y="3411191"/>
            <a:ext cx="11479482"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xmlns="">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09751" y="4069492"/>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24838" y="4382142"/>
            <a:ext cx="11479482" cy="73743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96546"/>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96546"/>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5015" y="1000904"/>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4904861" y="4407711"/>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4"/>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5"/>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6">
            <a:extLst>
              <a:ext uri="{28A0092B-C50C-407E-A947-70E740481C1C}">
                <a14:useLocalDpi xmlns:a14="http://schemas.microsoft.com/office/drawing/2010/main" val="0"/>
              </a:ext>
            </a:extLst>
          </a:blip>
          <a:stretch>
            <a:fillRect/>
          </a:stretch>
        </p:blipFill>
        <p:spPr>
          <a:xfrm>
            <a:off x="2700846" y="3136774"/>
            <a:ext cx="6341816" cy="2023686"/>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613093"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xmlns="">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4"/>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5"/>
          <a:srcRect/>
          <a:stretch/>
        </p:blipFill>
        <p:spPr>
          <a:xfrm>
            <a:off x="2793890" y="1324706"/>
            <a:ext cx="4721971" cy="3323808"/>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6"/>
          <a:srcRect/>
          <a:stretch/>
        </p:blipFill>
        <p:spPr>
          <a:xfrm>
            <a:off x="7465285" y="1324706"/>
            <a:ext cx="4721971" cy="3323807"/>
          </a:xfrm>
          <a:prstGeom prst="rect">
            <a:avLst/>
          </a:prstGeom>
        </p:spPr>
      </p:pic>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0800DD31-2406-49CF-A9E0-30D7DC982DC5}"/>
                  </a:ext>
                </a:extLst>
              </p:cNvPr>
              <p:cNvSpPr txBox="1"/>
              <p:nvPr/>
            </p:nvSpPr>
            <p:spPr>
              <a:xfrm>
                <a:off x="3311734" y="4836784"/>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311734" y="4836784"/>
                <a:ext cx="4040254" cy="276742"/>
              </a:xfrm>
              <a:prstGeom prst="rect">
                <a:avLst/>
              </a:prstGeom>
              <a:blipFill>
                <a:blip r:embed="rId7"/>
                <a:stretch>
                  <a:fillRect b="-8696"/>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BC65AA96-C107-4A9B-8C3B-6F430F0CE1DC}"/>
                  </a:ext>
                </a:extLst>
              </p:cNvPr>
              <p:cNvSpPr txBox="1"/>
              <p:nvPr/>
            </p:nvSpPr>
            <p:spPr>
              <a:xfrm>
                <a:off x="8147002" y="4854799"/>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147002" y="4854799"/>
                <a:ext cx="4040254" cy="276742"/>
              </a:xfrm>
              <a:prstGeom prst="rect">
                <a:avLst/>
              </a:prstGeom>
              <a:blipFill>
                <a:blip r:embed="rId8"/>
                <a:stretch>
                  <a:fillRect b="-8696"/>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srcRect/>
          <a:stretch/>
        </p:blipFill>
        <p:spPr>
          <a:xfrm>
            <a:off x="274320" y="781765"/>
            <a:ext cx="5346304" cy="3853453"/>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srcRect/>
          <a:stretch/>
        </p:blipFill>
        <p:spPr>
          <a:xfrm>
            <a:off x="6096000" y="765842"/>
            <a:ext cx="5478636" cy="385345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BC65AA96-C107-4A9B-8C3B-6F430F0CE1DC}"/>
                  </a:ext>
                </a:extLst>
              </p:cNvPr>
              <p:cNvSpPr txBox="1"/>
              <p:nvPr/>
            </p:nvSpPr>
            <p:spPr>
              <a:xfrm>
                <a:off x="6960040" y="4554092"/>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6960040" y="4554092"/>
                <a:ext cx="4040254" cy="276742"/>
              </a:xfrm>
              <a:prstGeom prst="rect">
                <a:avLst/>
              </a:prstGeom>
              <a:blipFill>
                <a:blip r:embed="rId3"/>
                <a:stretch>
                  <a:fillRect b="-11111"/>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srcRect/>
          <a:stretch/>
        </p:blipFill>
        <p:spPr>
          <a:xfrm>
            <a:off x="261043" y="849634"/>
            <a:ext cx="5259420" cy="3704458"/>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srcRect/>
          <a:stretch/>
        </p:blipFill>
        <p:spPr>
          <a:xfrm>
            <a:off x="6095847" y="849634"/>
            <a:ext cx="5371903"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43596"/>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43596"/>
                <a:ext cx="12022317" cy="1887183"/>
              </a:xfrm>
              <a:prstGeom prst="rect">
                <a:avLst/>
              </a:prstGeom>
              <a:blipFill>
                <a:blip r:embed="rId3"/>
                <a:stretch>
                  <a:fillRect l="-152" t="-324"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srcRect/>
          <a:stretch/>
        </p:blipFill>
        <p:spPr>
          <a:xfrm>
            <a:off x="0" y="813001"/>
            <a:ext cx="3989498" cy="3165997"/>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srcRect/>
          <a:stretch/>
        </p:blipFill>
        <p:spPr>
          <a:xfrm>
            <a:off x="3989498" y="792870"/>
            <a:ext cx="4014876" cy="318612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srcRect/>
          <a:stretch/>
        </p:blipFill>
        <p:spPr>
          <a:xfrm>
            <a:off x="8004374" y="792870"/>
            <a:ext cx="4161943" cy="3186128"/>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480186"/>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480186"/>
                <a:ext cx="4554874" cy="267253"/>
              </a:xfrm>
              <a:prstGeom prst="rect">
                <a:avLst/>
              </a:prstGeom>
              <a:blipFill>
                <a:blip r:embed="rId2"/>
                <a:stretch>
                  <a:fillRect b="-1363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019256"/>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810086F5-FA72-4AB2-99DE-E67F21D4CDBA}"/>
                  </a:ext>
                </a:extLst>
              </p:cNvPr>
              <p:cNvSpPr txBox="1"/>
              <p:nvPr/>
            </p:nvSpPr>
            <p:spPr>
              <a:xfrm>
                <a:off x="6406683" y="4480187"/>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406683" y="4480187"/>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srcRect/>
          <a:stretch/>
        </p:blipFill>
        <p:spPr>
          <a:xfrm>
            <a:off x="274320" y="820554"/>
            <a:ext cx="5005236" cy="3574107"/>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srcRect/>
          <a:stretch/>
        </p:blipFill>
        <p:spPr>
          <a:xfrm>
            <a:off x="5907764" y="849332"/>
            <a:ext cx="5192312" cy="3574106"/>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722" y="116036"/>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srcRect/>
          <a:stretch/>
        </p:blipFill>
        <p:spPr>
          <a:xfrm>
            <a:off x="183177" y="919978"/>
            <a:ext cx="5554744" cy="407524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srcRect/>
          <a:stretch/>
        </p:blipFill>
        <p:spPr>
          <a:xfrm>
            <a:off x="6249798" y="919978"/>
            <a:ext cx="5621856" cy="4075242"/>
          </a:xfrm>
          <a:prstGeom prst="rect">
            <a:avLst/>
          </a:prstGeom>
        </p:spPr>
      </p:pic>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95220"/>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95220"/>
                <a:ext cx="4554874" cy="267253"/>
              </a:xfrm>
              <a:prstGeom prst="rect">
                <a:avLst/>
              </a:prstGeom>
              <a:blipFill>
                <a:blip r:embed="rId4"/>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srcRect/>
          <a:stretch/>
        </p:blipFill>
        <p:spPr>
          <a:xfrm>
            <a:off x="391840" y="908744"/>
            <a:ext cx="5391776" cy="3971102"/>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srcRect/>
          <a:stretch/>
        </p:blipFill>
        <p:spPr>
          <a:xfrm>
            <a:off x="6408385" y="893128"/>
            <a:ext cx="5391776" cy="3971102"/>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srcRect/>
          <a:stretch/>
        </p:blipFill>
        <p:spPr>
          <a:xfrm>
            <a:off x="274320" y="880844"/>
            <a:ext cx="5170135" cy="3736487"/>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srcRect/>
          <a:stretch/>
        </p:blipFill>
        <p:spPr>
          <a:xfrm>
            <a:off x="6607450" y="995143"/>
            <a:ext cx="5028534" cy="3622188"/>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43032"/>
            <a:ext cx="5028534" cy="3556544"/>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srcRect/>
          <a:stretch/>
        </p:blipFill>
        <p:spPr>
          <a:xfrm>
            <a:off x="320040" y="1053233"/>
            <a:ext cx="5028534" cy="3546343"/>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12" name="TextBox 16">
            <a:extLst>
              <a:ext uri="{FF2B5EF4-FFF2-40B4-BE49-F238E27FC236}">
                <a16:creationId xmlns:a16="http://schemas.microsoft.com/office/drawing/2014/main" id="{7B305629-F234-40F9-AA87-AA6BFB073DFB}"/>
              </a:ext>
            </a:extLst>
          </p:cNvPr>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a:t>
            </a:r>
          </a:p>
        </p:txBody>
      </p:sp>
      <p:sp>
        <p:nvSpPr>
          <p:cNvPr id="16" name="CuadroTexto 15">
            <a:extLst>
              <a:ext uri="{FF2B5EF4-FFF2-40B4-BE49-F238E27FC236}">
                <a16:creationId xmlns:a16="http://schemas.microsoft.com/office/drawing/2014/main" id="{13AA8040-65B7-4B73-B893-E8810EA99AA6}"/>
              </a:ext>
            </a:extLst>
          </p:cNvPr>
          <p:cNvSpPr txBox="1"/>
          <p:nvPr/>
        </p:nvSpPr>
        <p:spPr>
          <a:xfrm>
            <a:off x="274319" y="1406663"/>
            <a:ext cx="11597335" cy="3742307"/>
          </a:xfrm>
          <a:prstGeom prst="rect">
            <a:avLst/>
          </a:prstGeom>
          <a:noFill/>
        </p:spPr>
        <p:txBody>
          <a:bodyPr wrap="square">
            <a:spAutoFit/>
          </a:bodyPr>
          <a:lstStyle/>
          <a:p>
            <a:r>
              <a:rPr lang="es-MX" sz="1600" dirty="0"/>
              <a:t>Con la frecuencia inicial del modulador, el sistema presenta comportamiento inestable. El modulador no logra seguir las variaciones de las tensiones de referencia, por lo que la planta recibe valores incorrectos en sus entradas.</a:t>
            </a:r>
          </a:p>
          <a:p>
            <a:endParaRPr lang="es-MX" sz="1600" dirty="0"/>
          </a:p>
          <a:p>
            <a:r>
              <a:rPr lang="es-MX" sz="1600" dirty="0"/>
              <a:t>Al incrementar la frecuencia natural del modulador se obtiene una mejora significativa: el modulador sigue con mayor fidelidad las tensiones de referencia, logrando una representación más precisa de la dinámica real.</a:t>
            </a:r>
          </a:p>
          <a:p>
            <a:endParaRPr lang="es-MX" sz="1600" dirty="0"/>
          </a:p>
          <a:p>
            <a:r>
              <a:rPr lang="es-MX" sz="1600" dirty="0"/>
              <a:t>Condición necesaria para el correcto funcionamiento: el modulador debe poseer una dinámica considerablemente más rápida que la del resto del sistema. Se obtiene un desempeño adecuado para valores de frecuencia del orden del triple de la inicial.</a:t>
            </a:r>
          </a:p>
          <a:p>
            <a:endParaRPr lang="es-MX" sz="1600" dirty="0"/>
          </a:p>
          <a:p>
            <a:pPr algn="just">
              <a:lnSpc>
                <a:spcPct val="107000"/>
              </a:lnSpc>
              <a:spcAft>
                <a:spcPts val="800"/>
              </a:spcAft>
            </a:pPr>
            <a:r>
              <a:rPr lang="es-AR" sz="1600" dirty="0">
                <a:effectLst/>
                <a:ea typeface="Calibri" panose="020F0502020204030204" pitchFamily="34" charset="0"/>
                <a:cs typeface="Times New Roman" panose="02020603050405020304" pitchFamily="18" charset="0"/>
              </a:rPr>
              <a:t>En caso de contar con sensores no ideales, es necesario que el modulador presente una frecuencia aún mayor para compensar las limitaciones introducidas por estos.</a:t>
            </a:r>
          </a:p>
          <a:p>
            <a:pPr marL="285750" indent="-285750">
              <a:buFont typeface="Arial" panose="020B0604020202020204" pitchFamily="34" charset="0"/>
              <a:buChar char="•"/>
            </a:pPr>
            <a:r>
              <a:rPr lang="es-MX" sz="1600" dirty="0"/>
              <a:t>Con sensores ideales, basta con que el modulador sea suficientemente más rápido que la planta.</a:t>
            </a:r>
          </a:p>
          <a:p>
            <a:pPr marL="285750" indent="-285750">
              <a:buFont typeface="Arial" panose="020B0604020202020204" pitchFamily="34" charset="0"/>
              <a:buChar char="•"/>
            </a:pPr>
            <a:r>
              <a:rPr lang="es-MX" sz="1600" dirty="0"/>
              <a:t>Con sensores no ideales (dinámica más lenta), el modulador debe operar a una frecuencia aún mayor para compensar las limitaciones introducidas por estos y garantizar estabilidad.</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1955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4901150" cy="415498"/>
          </a:xfrm>
          <a:prstGeom prst="rect">
            <a:avLst/>
          </a:prstGeom>
          <a:noFill/>
        </p:spPr>
        <p:txBody>
          <a:bodyPr wrap="none">
            <a:spAutoFit/>
          </a:bodyPr>
          <a:lstStyle/>
          <a:p>
            <a:pPr algn="l"/>
            <a:r>
              <a:rPr lang="es-AR" sz="2100" b="1" dirty="0">
                <a:solidFill>
                  <a:srgbClr val="FFFFFF"/>
                </a:solidFill>
                <a:latin typeface="Cambria"/>
              </a:rPr>
              <a:t>Sistema completo en tiempo continuo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AFFDE968-0806-47A4-8194-2B1824A938C1}"/>
              </a:ext>
            </a:extLst>
          </p:cNvPr>
          <p:cNvPicPr>
            <a:picLocks noChangeAspect="1"/>
          </p:cNvPicPr>
          <p:nvPr/>
        </p:nvPicPr>
        <p:blipFill>
          <a:blip r:embed="rId2"/>
          <a:stretch>
            <a:fillRect/>
          </a:stretch>
        </p:blipFill>
        <p:spPr>
          <a:xfrm>
            <a:off x="0" y="1267721"/>
            <a:ext cx="12192000" cy="3002274"/>
          </a:xfrm>
          <a:prstGeom prst="rect">
            <a:avLst/>
          </a:prstGeom>
        </p:spPr>
      </p:pic>
      <p:sp>
        <p:nvSpPr>
          <p:cNvPr id="13" name="CuadroTexto 12">
            <a:extLst>
              <a:ext uri="{FF2B5EF4-FFF2-40B4-BE49-F238E27FC236}">
                <a16:creationId xmlns:a16="http://schemas.microsoft.com/office/drawing/2014/main" id="{7C61CE62-4B26-47F9-8BB0-E82E9732DCE3}"/>
              </a:ext>
            </a:extLst>
          </p:cNvPr>
          <p:cNvSpPr txBox="1"/>
          <p:nvPr/>
        </p:nvSpPr>
        <p:spPr>
          <a:xfrm>
            <a:off x="4254626" y="4269995"/>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88— Sistema completo continuo</a:t>
            </a:r>
          </a:p>
          <a:p>
            <a:endParaRPr lang="es-AR" dirty="0"/>
          </a:p>
          <a:p>
            <a:endParaRPr lang="es-AR" dirty="0"/>
          </a:p>
        </p:txBody>
      </p:sp>
    </p:spTree>
    <p:extLst>
      <p:ext uri="{BB962C8B-B14F-4D97-AF65-F5344CB8AC3E}">
        <p14:creationId xmlns:p14="http://schemas.microsoft.com/office/powerpoint/2010/main" val="27392846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8232125" cy="415498"/>
          </a:xfrm>
          <a:prstGeom prst="rect">
            <a:avLst/>
          </a:prstGeom>
          <a:noFill/>
        </p:spPr>
        <p:txBody>
          <a:bodyPr wrap="none">
            <a:spAutoFit/>
          </a:bodyPr>
          <a:lstStyle/>
          <a:p>
            <a:pPr algn="l"/>
            <a:r>
              <a:rPr lang="es-AR" sz="2100" b="1" dirty="0">
                <a:solidFill>
                  <a:srgbClr val="FFFFFF"/>
                </a:solidFill>
                <a:latin typeface="Cambria"/>
              </a:rPr>
              <a:t>Sistema continuo completo — Parámetros finales del controlador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y lazos de corriente.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srcRect l="242" r="1227"/>
          <a:stretch/>
        </p:blipFill>
        <p:spPr bwMode="auto">
          <a:xfrm>
            <a:off x="5273148" y="4004476"/>
            <a:ext cx="6793905" cy="1975490"/>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srcRect/>
          <a:stretch/>
        </p:blipFill>
        <p:spPr>
          <a:xfrm>
            <a:off x="5784616" y="1009937"/>
            <a:ext cx="5998890" cy="2342423"/>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385556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dirty="0">
                <a:effectLst/>
                <a:latin typeface="Calibri" panose="020F0502020204030204" pitchFamily="34" charset="0"/>
                <a:ea typeface="Calibri" panose="020F0502020204030204" pitchFamily="34" charset="0"/>
                <a:cs typeface="Times New Roman" panose="02020603050405020304" pitchFamily="18" charset="0"/>
              </a:rPr>
              <a:t>Observador,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srcRect/>
          <a:stretch/>
        </p:blipFill>
        <p:spPr>
          <a:xfrm>
            <a:off x="1785769" y="2802928"/>
            <a:ext cx="8079683" cy="2822881"/>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7336688" cy="415498"/>
          </a:xfrm>
          <a:prstGeom prst="rect">
            <a:avLst/>
          </a:prstGeom>
          <a:noFill/>
        </p:spPr>
        <p:txBody>
          <a:bodyPr wrap="none">
            <a:spAutoFit/>
          </a:bodyPr>
          <a:lstStyle/>
          <a:p>
            <a:pPr algn="l"/>
            <a:r>
              <a:rPr lang="es-AR" sz="2100" b="1" dirty="0">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a:srcRect/>
          <a:stretch/>
        </p:blipFill>
        <p:spPr>
          <a:xfrm>
            <a:off x="0" y="1409350"/>
            <a:ext cx="12191695" cy="3110292"/>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5"/>
          <a:srcRect/>
          <a:stretch/>
        </p:blipFill>
        <p:spPr>
          <a:xfrm>
            <a:off x="35951" y="720296"/>
            <a:ext cx="6033621"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6"/>
          <a:srcRect/>
          <a:stretch/>
        </p:blipFill>
        <p:spPr>
          <a:xfrm>
            <a:off x="6095999" y="724154"/>
            <a:ext cx="6060049"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rotWithShape="1">
          <a:blip r:embed="rId7"/>
          <a:srcRect b="-914"/>
          <a:stretch/>
        </p:blipFill>
        <p:spPr>
          <a:xfrm>
            <a:off x="35952" y="3651000"/>
            <a:ext cx="5993372" cy="2729583"/>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8"/>
          <a:srcRect/>
          <a:stretch/>
        </p:blipFill>
        <p:spPr>
          <a:xfrm>
            <a:off x="6095999" y="3693921"/>
            <a:ext cx="6060049"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10"/>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11"/>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12"/>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srcRect/>
          <a:stretch/>
        </p:blipFill>
        <p:spPr>
          <a:xfrm>
            <a:off x="2737016" y="847586"/>
            <a:ext cx="647195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s-AR" sz="2100" b="1" dirty="0">
                <a:solidFill>
                  <a:srgbClr val="FFFFFF"/>
                </a:solidFill>
                <a:latin typeface="Cambria"/>
              </a:rPr>
              <a:t>Modelo final codificado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604265"/>
            <a:ext cx="12192000" cy="3356554"/>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srcRect/>
          <a:stretch/>
        </p:blipFill>
        <p:spPr>
          <a:xfrm>
            <a:off x="320040" y="1245180"/>
            <a:ext cx="4621411"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srcRect/>
          <a:stretch/>
        </p:blipFill>
        <p:spPr>
          <a:xfrm>
            <a:off x="6901986" y="1245180"/>
            <a:ext cx="4721734"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srcRect/>
          <a:stretch/>
        </p:blipFill>
        <p:spPr>
          <a:xfrm>
            <a:off x="3592814" y="3935575"/>
            <a:ext cx="4725369"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8291"/>
            <a:ext cx="11551615" cy="658368"/>
          </a:xfrm>
          <a:prstGeom prst="rect">
            <a:avLst/>
          </a:prstGeom>
          <a:noFill/>
        </p:spPr>
        <p:txBody>
          <a:bodyPr wrap="none">
            <a:spAutoFit/>
          </a:bodyPr>
          <a:lstStyle/>
          <a:p>
            <a:pPr algn="l"/>
            <a:r>
              <a:rPr sz="2100" b="1" dirty="0" err="1">
                <a:solidFill>
                  <a:srgbClr val="FFFFFF"/>
                </a:solidFill>
                <a:latin typeface="Cambria"/>
              </a:rPr>
              <a:t>Referencias</a:t>
            </a:r>
            <a:endParaRPr sz="2100" b="1" dirty="0">
              <a:solidFill>
                <a:srgbClr val="FFFFFF"/>
              </a:solidFill>
              <a:latin typeface="Cambria"/>
            </a:endParaRPr>
          </a:p>
        </p:txBody>
      </p:sp>
      <p:sp>
        <p:nvSpPr>
          <p:cNvPr id="4" name="Rectangle 3"/>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71 / ~75</a:t>
            </a:r>
          </a:p>
        </p:txBody>
      </p:sp>
      <p:sp>
        <p:nvSpPr>
          <p:cNvPr id="6" name="TextBox 5"/>
          <p:cNvSpPr txBox="1"/>
          <p:nvPr/>
        </p:nvSpPr>
        <p:spPr>
          <a:xfrm>
            <a:off x="365760" y="822960"/>
            <a:ext cx="11430000" cy="3862596"/>
          </a:xfrm>
          <a:prstGeom prst="rect">
            <a:avLst/>
          </a:prstGeom>
          <a:noFill/>
        </p:spPr>
        <p:txBody>
          <a:bodyPr wrap="square">
            <a:spAutoFit/>
          </a:bodyPr>
          <a:lstStyle/>
          <a:p>
            <a:r>
              <a:rPr sz="2000" dirty="0">
                <a:solidFill>
                  <a:srgbClr val="1A1A2E"/>
                </a:solidFill>
                <a:latin typeface="Calibri"/>
              </a:rPr>
              <a:t>[1] G. Julián. Proyecto Global </a:t>
            </a:r>
            <a:r>
              <a:rPr sz="2000" dirty="0" err="1">
                <a:solidFill>
                  <a:srgbClr val="1A1A2E"/>
                </a:solidFill>
                <a:latin typeface="Calibri"/>
              </a:rPr>
              <a:t>Integrador</a:t>
            </a:r>
            <a:r>
              <a:rPr sz="2000" dirty="0">
                <a:solidFill>
                  <a:srgbClr val="1A1A2E"/>
                </a:solidFill>
                <a:latin typeface="Calibri"/>
              </a:rPr>
              <a:t>: Control de </a:t>
            </a:r>
            <a:r>
              <a:rPr sz="2000" dirty="0" err="1">
                <a:solidFill>
                  <a:srgbClr val="1A1A2E"/>
                </a:solidFill>
                <a:latin typeface="Calibri"/>
              </a:rPr>
              <a:t>Accionamiento</a:t>
            </a:r>
            <a:r>
              <a:rPr sz="2000" dirty="0">
                <a:solidFill>
                  <a:srgbClr val="1A1A2E"/>
                </a:solidFill>
                <a:latin typeface="Calibri"/>
              </a:rPr>
              <a:t> de CA con Motor </a:t>
            </a:r>
            <a:r>
              <a:rPr sz="2000" dirty="0" err="1">
                <a:solidFill>
                  <a:srgbClr val="1A1A2E"/>
                </a:solidFill>
                <a:latin typeface="Calibri"/>
              </a:rPr>
              <a:t>Síncrono</a:t>
            </a:r>
            <a:r>
              <a:rPr sz="2000" dirty="0">
                <a:solidFill>
                  <a:srgbClr val="1A1A2E"/>
                </a:solidFill>
                <a:latin typeface="Calibri"/>
              </a:rPr>
              <a:t> de </a:t>
            </a:r>
            <a:r>
              <a:rPr sz="2000" dirty="0" err="1">
                <a:solidFill>
                  <a:srgbClr val="1A1A2E"/>
                </a:solidFill>
                <a:latin typeface="Calibri"/>
              </a:rPr>
              <a:t>Imanes</a:t>
            </a:r>
            <a:r>
              <a:rPr sz="2000" dirty="0">
                <a:solidFill>
                  <a:srgbClr val="1A1A2E"/>
                </a:solidFill>
                <a:latin typeface="Calibri"/>
              </a:rPr>
              <a:t> </a:t>
            </a:r>
            <a:r>
              <a:rPr sz="2000" dirty="0" err="1">
                <a:solidFill>
                  <a:srgbClr val="1A1A2E"/>
                </a:solidFill>
                <a:latin typeface="Calibri"/>
              </a:rPr>
              <a:t>Permanentes</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Ing. </a:t>
            </a:r>
            <a:r>
              <a:rPr sz="2000" dirty="0" err="1">
                <a:solidFill>
                  <a:srgbClr val="1A1A2E"/>
                </a:solidFill>
                <a:latin typeface="Calibri"/>
              </a:rPr>
              <a:t>en</a:t>
            </a:r>
            <a:r>
              <a:rPr sz="2000" dirty="0">
                <a:solidFill>
                  <a:srgbClr val="1A1A2E"/>
                </a:solidFill>
                <a:latin typeface="Calibri"/>
              </a:rPr>
              <a:t> </a:t>
            </a:r>
            <a:r>
              <a:rPr sz="2000" dirty="0" err="1">
                <a:solidFill>
                  <a:srgbClr val="1A1A2E"/>
                </a:solidFill>
                <a:latin typeface="Calibri"/>
              </a:rPr>
              <a:t>Mecatrónica</a:t>
            </a:r>
            <a:r>
              <a:rPr sz="2000" dirty="0">
                <a:solidFill>
                  <a:srgbClr val="1A1A2E"/>
                </a:solidFill>
                <a:latin typeface="Calibri"/>
              </a:rPr>
              <a:t>, 2024.</a:t>
            </a:r>
          </a:p>
          <a:p>
            <a:pPr>
              <a:spcBef>
                <a:spcPts val="900"/>
              </a:spcBef>
            </a:pPr>
            <a:r>
              <a:rPr sz="2000" dirty="0">
                <a:solidFill>
                  <a:srgbClr val="1A1A2E"/>
                </a:solidFill>
                <a:latin typeface="Calibri"/>
              </a:rPr>
              <a:t>[2] G. Julián. </a:t>
            </a:r>
            <a:r>
              <a:rPr sz="2000" dirty="0" err="1">
                <a:solidFill>
                  <a:srgbClr val="1A1A2E"/>
                </a:solidFill>
                <a:latin typeface="Calibri"/>
              </a:rPr>
              <a:t>Guía</a:t>
            </a:r>
            <a:r>
              <a:rPr sz="2000" dirty="0">
                <a:solidFill>
                  <a:srgbClr val="1A1A2E"/>
                </a:solidFill>
                <a:latin typeface="Calibri"/>
              </a:rPr>
              <a:t> de </a:t>
            </a:r>
            <a:r>
              <a:rPr sz="2000" dirty="0" err="1">
                <a:solidFill>
                  <a:srgbClr val="1A1A2E"/>
                </a:solidFill>
                <a:latin typeface="Calibri"/>
              </a:rPr>
              <a:t>trabajo</a:t>
            </a:r>
            <a:r>
              <a:rPr sz="2000" dirty="0">
                <a:solidFill>
                  <a:srgbClr val="1A1A2E"/>
                </a:solidFill>
                <a:latin typeface="Calibri"/>
              </a:rPr>
              <a:t> — Proyecto Global </a:t>
            </a:r>
            <a:r>
              <a:rPr sz="2000" dirty="0" err="1">
                <a:solidFill>
                  <a:srgbClr val="1A1A2E"/>
                </a:solidFill>
                <a:latin typeface="Calibri"/>
              </a:rPr>
              <a:t>Integrador</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2024.</a:t>
            </a:r>
          </a:p>
          <a:p>
            <a:pPr>
              <a:spcBef>
                <a:spcPts val="900"/>
              </a:spcBef>
            </a:pPr>
            <a:r>
              <a:rPr sz="2000" dirty="0">
                <a:solidFill>
                  <a:srgbClr val="1A1A2E"/>
                </a:solidFill>
                <a:latin typeface="Calibri"/>
              </a:rPr>
              <a:t>[3] P. Krause, O. </a:t>
            </a:r>
            <a:r>
              <a:rPr sz="2000" dirty="0" err="1">
                <a:solidFill>
                  <a:srgbClr val="1A1A2E"/>
                </a:solidFill>
                <a:latin typeface="Calibri"/>
              </a:rPr>
              <a:t>Wasynczuk</a:t>
            </a:r>
            <a:r>
              <a:rPr sz="2000" dirty="0">
                <a:solidFill>
                  <a:srgbClr val="1A1A2E"/>
                </a:solidFill>
                <a:latin typeface="Calibri"/>
              </a:rPr>
              <a:t>, S. D. </a:t>
            </a:r>
            <a:r>
              <a:rPr sz="2000" dirty="0" err="1">
                <a:solidFill>
                  <a:srgbClr val="1A1A2E"/>
                </a:solidFill>
                <a:latin typeface="Calibri"/>
              </a:rPr>
              <a:t>Sudhoff</a:t>
            </a:r>
            <a:r>
              <a:rPr sz="2000" dirty="0">
                <a:solidFill>
                  <a:srgbClr val="1A1A2E"/>
                </a:solidFill>
                <a:latin typeface="Calibri"/>
              </a:rPr>
              <a:t>, S. </a:t>
            </a:r>
            <a:r>
              <a:rPr sz="2000" dirty="0" err="1">
                <a:solidFill>
                  <a:srgbClr val="1A1A2E"/>
                </a:solidFill>
                <a:latin typeface="Calibri"/>
              </a:rPr>
              <a:t>Pekarek</a:t>
            </a:r>
            <a:r>
              <a:rPr sz="2000" dirty="0">
                <a:solidFill>
                  <a:srgbClr val="1A1A2E"/>
                </a:solidFill>
                <a:latin typeface="Calibri"/>
              </a:rPr>
              <a:t>. Analysis of Electric Machinery and Drive Systems. 3ª ed. Wiley-IEEE Press, 2013.</a:t>
            </a:r>
          </a:p>
          <a:p>
            <a:pPr>
              <a:spcBef>
                <a:spcPts val="900"/>
              </a:spcBef>
            </a:pPr>
            <a:r>
              <a:rPr sz="2000" dirty="0">
                <a:solidFill>
                  <a:srgbClr val="1A1A2E"/>
                </a:solidFill>
                <a:latin typeface="Calibri"/>
              </a:rPr>
              <a:t>[4] G. F. Franklin, J. D. Powell, A. </a:t>
            </a:r>
            <a:r>
              <a:rPr sz="2000" dirty="0" err="1">
                <a:solidFill>
                  <a:srgbClr val="1A1A2E"/>
                </a:solidFill>
                <a:latin typeface="Calibri"/>
              </a:rPr>
              <a:t>Emami-Naeni</a:t>
            </a:r>
            <a:r>
              <a:rPr sz="2000" dirty="0">
                <a:solidFill>
                  <a:srgbClr val="1A1A2E"/>
                </a:solidFill>
                <a:latin typeface="Calibri"/>
              </a:rPr>
              <a:t>. Feedback Control of Dynamic Systems. 7ª ed. Pearson, 2015.</a:t>
            </a:r>
          </a:p>
          <a:p>
            <a:pPr>
              <a:spcBef>
                <a:spcPts val="900"/>
              </a:spcBef>
            </a:pPr>
            <a:r>
              <a:rPr sz="2000" dirty="0">
                <a:solidFill>
                  <a:srgbClr val="1A1A2E"/>
                </a:solidFill>
                <a:latin typeface="Calibri"/>
              </a:rPr>
              <a:t>[5] K. Ogata. </a:t>
            </a:r>
            <a:r>
              <a:rPr sz="2000" dirty="0" err="1">
                <a:solidFill>
                  <a:srgbClr val="1A1A2E"/>
                </a:solidFill>
                <a:latin typeface="Calibri"/>
              </a:rPr>
              <a:t>Ingeniería</a:t>
            </a:r>
            <a:r>
              <a:rPr sz="2000" dirty="0">
                <a:solidFill>
                  <a:srgbClr val="1A1A2E"/>
                </a:solidFill>
                <a:latin typeface="Calibri"/>
              </a:rPr>
              <a:t> de Control Moderna. 5ª ed. Prentice Hall, 2010.</a:t>
            </a:r>
          </a:p>
          <a:p>
            <a:pPr>
              <a:spcBef>
                <a:spcPts val="900"/>
              </a:spcBef>
            </a:pPr>
            <a:r>
              <a:rPr sz="2000" dirty="0">
                <a:solidFill>
                  <a:srgbClr val="1A1A2E"/>
                </a:solidFill>
                <a:latin typeface="Calibri"/>
              </a:rPr>
              <a:t>[6] K. M. Lynch, F. C. Park. Modern Robotics: Mechanics, Planning, and Control. Cambridge University Press, 2017.</a:t>
            </a:r>
          </a:p>
          <a:p>
            <a:pPr>
              <a:spcBef>
                <a:spcPts val="900"/>
              </a:spcBef>
            </a:pPr>
            <a:r>
              <a:rPr sz="2000" dirty="0">
                <a:solidFill>
                  <a:srgbClr val="1A1A2E"/>
                </a:solidFill>
                <a:latin typeface="Calibri"/>
              </a:rPr>
              <a:t>[7] MathWorks. MATLAB/Simulink R2024b Documentation. www.mathworks.com</a:t>
            </a:r>
          </a:p>
        </p:txBody>
      </p:sp>
      <p:sp>
        <p:nvSpPr>
          <p:cNvPr id="7" name="Shape 2">
            <a:extLst>
              <a:ext uri="{FF2B5EF4-FFF2-40B4-BE49-F238E27FC236}">
                <a16:creationId xmlns:a16="http://schemas.microsoft.com/office/drawing/2014/main" id="{9D9668B5-8702-41AB-A269-7116182D662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2952A8C6-EC75-4352-911C-8F166453E33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8958</TotalTime>
  <Words>14271</Words>
  <Application>Microsoft Office PowerPoint</Application>
  <PresentationFormat>Panorámica</PresentationFormat>
  <Paragraphs>1394</Paragraphs>
  <Slides>120</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120</vt:i4>
      </vt:variant>
    </vt:vector>
  </HeadingPairs>
  <TitlesOfParts>
    <vt:vector size="127"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Juan</dc:creator>
  <cp:keywords/>
  <dc:description>generated using python-pptx</dc:description>
  <cp:lastModifiedBy>juan stella</cp:lastModifiedBy>
  <cp:revision>304</cp:revision>
  <dcterms:created xsi:type="dcterms:W3CDTF">2013-01-27T09:14:16Z</dcterms:created>
  <dcterms:modified xsi:type="dcterms:W3CDTF">2026-05-15T16:13:48Z</dcterms:modified>
  <cp:category/>
</cp:coreProperties>
</file>