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4" r:id="rId29"/>
    <p:sldId id="285" r:id="rId30"/>
    <p:sldId id="286" r:id="rId31"/>
    <p:sldId id="287" r:id="rId32"/>
    <p:sldId id="328" r:id="rId33"/>
    <p:sldId id="329" r:id="rId34"/>
    <p:sldId id="288" r:id="rId35"/>
    <p:sldId id="289" r:id="rId36"/>
    <p:sldId id="290" r:id="rId37"/>
    <p:sldId id="291" r:id="rId38"/>
    <p:sldId id="292" r:id="rId39"/>
    <p:sldId id="293" r:id="rId40"/>
    <p:sldId id="294" r:id="rId41"/>
    <p:sldId id="295" r:id="rId42"/>
    <p:sldId id="296" r:id="rId43"/>
    <p:sldId id="297" r:id="rId44"/>
    <p:sldId id="298" r:id="rId45"/>
    <p:sldId id="299" r:id="rId46"/>
    <p:sldId id="300" r:id="rId47"/>
    <p:sldId id="301" r:id="rId48"/>
    <p:sldId id="302" r:id="rId49"/>
    <p:sldId id="303" r:id="rId50"/>
    <p:sldId id="304" r:id="rId51"/>
    <p:sldId id="305" r:id="rId52"/>
    <p:sldId id="306" r:id="rId53"/>
    <p:sldId id="307" r:id="rId54"/>
    <p:sldId id="308" r:id="rId55"/>
    <p:sldId id="309" r:id="rId56"/>
    <p:sldId id="310" r:id="rId57"/>
    <p:sldId id="311" r:id="rId58"/>
    <p:sldId id="312" r:id="rId59"/>
    <p:sldId id="313" r:id="rId60"/>
    <p:sldId id="314" r:id="rId61"/>
    <p:sldId id="315" r:id="rId62"/>
    <p:sldId id="316" r:id="rId63"/>
    <p:sldId id="317" r:id="rId64"/>
    <p:sldId id="318" r:id="rId65"/>
    <p:sldId id="319" r:id="rId66"/>
    <p:sldId id="320" r:id="rId67"/>
    <p:sldId id="321" r:id="rId68"/>
    <p:sldId id="322" r:id="rId69"/>
    <p:sldId id="323" r:id="rId70"/>
    <p:sldId id="324" r:id="rId71"/>
    <p:sldId id="325" r:id="rId72"/>
    <p:sldId id="326" r:id="rId73"/>
    <p:sldId id="327" r:id="rId7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08" d="100"/>
          <a:sy n="108" d="100"/>
        </p:scale>
        <p:origin x="678" y="9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viewProps" Target="view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4/10/2026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4/10/2026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4/10/2026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4/10/2026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4/10/2026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4/10/2026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2.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5.png"/><Relationship Id="rId7" Type="http://schemas.openxmlformats.org/officeDocument/2006/relationships/image" Target="../media/image12.png"/><Relationship Id="rId2" Type="http://schemas.openxmlformats.org/officeDocument/2006/relationships/image" Target="../media/image10.png"/><Relationship Id="rId1" Type="http://schemas.openxmlformats.org/officeDocument/2006/relationships/slideLayout" Target="../slideLayouts/slideLayout7.xml"/><Relationship Id="rId6" Type="http://schemas.openxmlformats.org/officeDocument/2006/relationships/image" Target="../media/image7.png"/><Relationship Id="rId9" Type="http://schemas.openxmlformats.org/officeDocument/2006/relationships/image" Target="../media/image11.png"/></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6.png"/><Relationship Id="rId1" Type="http://schemas.openxmlformats.org/officeDocument/2006/relationships/slideLayout" Target="../slideLayouts/slideLayout7.xml"/><Relationship Id="rId6" Type="http://schemas.openxmlformats.org/officeDocument/2006/relationships/image" Target="../media/image17.png"/><Relationship Id="rId5"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2.png"/><Relationship Id="rId1" Type="http://schemas.openxmlformats.org/officeDocument/2006/relationships/slideLayout" Target="../slideLayouts/slideLayout7.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6.png"/><Relationship Id="rId1" Type="http://schemas.openxmlformats.org/officeDocument/2006/relationships/slideLayout" Target="../slideLayouts/slideLayout7.xml"/><Relationship Id="rId5"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2.png"/><Relationship Id="rId1" Type="http://schemas.openxmlformats.org/officeDocument/2006/relationships/slideLayout" Target="../slideLayouts/slideLayout7.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5.png"/><Relationship Id="rId1" Type="http://schemas.openxmlformats.org/officeDocument/2006/relationships/slideLayout" Target="../slideLayouts/slideLayout7.xml"/><Relationship Id="rId5" Type="http://schemas.openxmlformats.org/officeDocument/2006/relationships/image" Target="../media/image36.png"/></Relationships>
</file>

<file path=ppt/slides/_rels/slide2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image" Target="../media/image39.png"/><Relationship Id="rId1" Type="http://schemas.openxmlformats.org/officeDocument/2006/relationships/slideLayout" Target="../slideLayouts/slideLayout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 Id="rId5" Type="http://schemas.openxmlformats.org/officeDocument/2006/relationships/image" Target="../media/image19.png"/><Relationship Id="rId4" Type="http://schemas.openxmlformats.org/officeDocument/2006/relationships/image" Target="../media/image48.png"/></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52.png"/></Relationships>
</file>

<file path=ppt/slides/_rels/slide26.xml.rels><?xml version="1.0" encoding="UTF-8" standalone="yes"?>
<Relationships xmlns="http://schemas.openxmlformats.org/package/2006/relationships"><Relationship Id="rId8" Type="http://schemas.openxmlformats.org/officeDocument/2006/relationships/image" Target="../media/image61.png"/><Relationship Id="rId3" Type="http://schemas.openxmlformats.org/officeDocument/2006/relationships/image" Target="../media/image55.png"/><Relationship Id="rId7" Type="http://schemas.openxmlformats.org/officeDocument/2006/relationships/image" Target="../media/image56.png"/><Relationship Id="rId2" Type="http://schemas.openxmlformats.org/officeDocument/2006/relationships/image" Target="../media/image60.png"/><Relationship Id="rId1" Type="http://schemas.openxmlformats.org/officeDocument/2006/relationships/slideLayout" Target="../slideLayouts/slideLayout7.xml"/><Relationship Id="rId6" Type="http://schemas.openxmlformats.org/officeDocument/2006/relationships/image" Target="../media/image57.png"/></Relationships>
</file>

<file path=ppt/slides/_rels/slide27.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image" Target="../media/image37.png"/><Relationship Id="rId1" Type="http://schemas.openxmlformats.org/officeDocument/2006/relationships/slideLayout" Target="../slideLayouts/slideLayout7.xml"/><Relationship Id="rId5" Type="http://schemas.openxmlformats.org/officeDocument/2006/relationships/image" Target="../media/image50.png"/><Relationship Id="rId4" Type="http://schemas.openxmlformats.org/officeDocument/2006/relationships/image" Target="../media/image49.png"/></Relationships>
</file>

<file path=ppt/slides/_rels/slide31.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 Id="rId4" Type="http://schemas.openxmlformats.org/officeDocument/2006/relationships/image" Target="../media/image58.png"/></Relationships>
</file>

<file path=ppt/slides/_rels/slide32.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png"/><Relationship Id="rId1" Type="http://schemas.openxmlformats.org/officeDocument/2006/relationships/slideLayout" Target="../slideLayouts/slideLayout7.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3.png"/></Relationships>
</file>

<file path=ppt/slides/_rels/slide3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61520" cy="1737360"/>
          </a:xfrm>
          <a:prstGeom prst="rect">
            <a:avLst/>
          </a:prstGeom>
          <a:solidFill>
            <a:srgbClr val="1A386B"/>
          </a:solidFill>
          <a:ln w="12700">
            <a:solidFill>
              <a:srgbClr val="1A386B"/>
            </a:solidFill>
            <a:prstDash val="solid"/>
          </a:ln>
        </p:spPr>
      </p:sp>
      <p:sp>
        <p:nvSpPr>
          <p:cNvPr id="3" name="Shape 1"/>
          <p:cNvSpPr/>
          <p:nvPr/>
        </p:nvSpPr>
        <p:spPr>
          <a:xfrm>
            <a:off x="0" y="1737360"/>
            <a:ext cx="12161520" cy="73152"/>
          </a:xfrm>
          <a:prstGeom prst="rect">
            <a:avLst/>
          </a:prstGeom>
          <a:solidFill>
            <a:srgbClr val="C0392B"/>
          </a:solidFill>
          <a:ln w="12700">
            <a:solidFill>
              <a:srgbClr val="C0392B"/>
            </a:solidFill>
            <a:prstDash val="solid"/>
          </a:ln>
        </p:spPr>
      </p:sp>
      <p:sp>
        <p:nvSpPr>
          <p:cNvPr id="4" name="Shape 2"/>
          <p:cNvSpPr/>
          <p:nvPr/>
        </p:nvSpPr>
        <p:spPr>
          <a:xfrm>
            <a:off x="0" y="5852160"/>
            <a:ext cx="1216152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9" name="Text 7"/>
          <p:cNvSpPr/>
          <p:nvPr/>
        </p:nvSpPr>
        <p:spPr>
          <a:xfrm>
            <a:off x="914400" y="3931920"/>
            <a:ext cx="10332720" cy="548640"/>
          </a:xfrm>
          <a:prstGeom prst="rect">
            <a:avLst/>
          </a:prstGeom>
          <a:noFill/>
          <a:ln/>
        </p:spPr>
        <p:txBody>
          <a:bodyPr wrap="square" rtlCol="0" anchor="ctr"/>
          <a:lstStyle/>
          <a:p>
            <a:pPr marL="0" indent="0" algn="ctr">
              <a:buNone/>
            </a:pPr>
            <a:r>
              <a:rPr lang="en-US" sz="1500" i="1" dirty="0">
                <a:solidFill>
                  <a:srgbClr val="555555"/>
                </a:solidFill>
                <a:latin typeface="Calibri" pitchFamily="34" charset="0"/>
                <a:ea typeface="Calibri" pitchFamily="34" charset="-122"/>
                <a:cs typeface="Calibri" pitchFamily="34" charset="-120"/>
              </a:rPr>
              <a:t>Control vectorial de movimiento — Manipulador robótico de 1 GDL</a:t>
            </a:r>
            <a:endParaRPr lang="en-US" sz="1500" dirty="0"/>
          </a:p>
        </p:txBody>
      </p:sp>
      <p:sp>
        <p:nvSpPr>
          <p:cNvPr id="10" name="Text 8"/>
          <p:cNvSpPr/>
          <p:nvPr/>
        </p:nvSpPr>
        <p:spPr>
          <a:xfrm>
            <a:off x="1371600" y="461772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Leg. 12552        Juan Francisco Huertas  —  Leg.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r>
              <a:rPr lang="en-US" sz="1300" dirty="0">
                <a:solidFill>
                  <a:srgbClr val="B0CBEE"/>
                </a:solidFill>
                <a:latin typeface="Calibri" pitchFamily="34" charset="0"/>
                <a:ea typeface="Calibri" pitchFamily="34" charset="-122"/>
                <a:cs typeface="Calibri" pitchFamily="34" charset="-120"/>
              </a:rPr>
              <a:t>9 de Abril de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0" name="Text 8"/>
          <p:cNvSpPr/>
          <p:nvPr/>
        </p:nvSpPr>
        <p:spPr>
          <a:xfrm>
            <a:off x="86868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PMSM, caja reductora, carga mecánica, inversor, sensores</a:t>
            </a:r>
            <a:endParaRPr lang="en-US" sz="95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4" name="Text 12"/>
          <p:cNvSpPr/>
          <p:nvPr/>
        </p:nvSpPr>
        <p:spPr>
          <a:xfrm>
            <a:off x="86868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Carga + transmisión + motor → modelo equivalente referido al eje motor</a:t>
            </a:r>
            <a:endParaRPr lang="en-US" sz="95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8" name="Text 16"/>
          <p:cNvSpPr/>
          <p:nvPr/>
        </p:nvSpPr>
        <p:spPr>
          <a:xfrm>
            <a:off x="86868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Transformada de Park, ecuaciones en coordenadas qd0r</a:t>
            </a:r>
            <a:endParaRPr lang="en-US" sz="95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2" name="Text 20"/>
          <p:cNvSpPr/>
          <p:nvPr/>
        </p:nvSpPr>
        <p:spPr>
          <a:xfrm>
            <a:off x="86868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Pérdidas Joule, balance energético, ecuación diferencial de Ts</a:t>
            </a:r>
            <a:endParaRPr lang="en-US" sz="95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6" name="Text 24"/>
          <p:cNvSpPr/>
          <p:nvPr/>
        </p:nvSpPr>
        <p:spPr>
          <a:xfrm>
            <a:off x="86868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Linealización, restricciones, ley de control mínima</a:t>
            </a:r>
            <a:endParaRPr lang="en-US" sz="95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0" name="Text 28"/>
          <p:cNvSpPr/>
          <p:nvPr/>
        </p:nvSpPr>
        <p:spPr>
          <a:xfrm>
            <a:off x="868680" y="470001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Estabilidad, observabilidad, controlabilidad, FdT</a:t>
            </a:r>
            <a:endParaRPr lang="en-US" sz="95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4" name="Text 32"/>
          <p:cNvSpPr/>
          <p:nvPr/>
        </p:nvSpPr>
        <p:spPr>
          <a:xfrm>
            <a:off x="868680" y="540410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Simulación temporal, torque-velocidad, 4 cuadrantes</a:t>
            </a:r>
            <a:endParaRPr lang="en-US" sz="95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8" name="Text 36"/>
          <p:cNvSpPr/>
          <p:nvPr/>
        </p:nvSpPr>
        <p:spPr>
          <a:xfrm>
            <a:off x="6858000" y="1179576"/>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Desacople, lazos PI de corriente, consigna de torque</a:t>
            </a:r>
            <a:endParaRPr lang="en-US" sz="95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2" name="Text 40"/>
          <p:cNvSpPr/>
          <p:nvPr/>
        </p:nvSpPr>
        <p:spPr>
          <a:xfrm>
            <a:off x="6858000" y="1883664"/>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Diseño por asignación de polos, set-point trapezoidal</a:t>
            </a:r>
            <a:endParaRPr lang="en-US" sz="95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6" name="Text 44"/>
          <p:cNvSpPr/>
          <p:nvPr/>
        </p:nvSpPr>
        <p:spPr>
          <a:xfrm>
            <a:off x="6858000" y="2587752"/>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Seguimiento de consigna, rechazo a perturbaciones</a:t>
            </a:r>
            <a:endParaRPr lang="en-US" sz="95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0" name="Text 48"/>
          <p:cNvSpPr/>
          <p:nvPr/>
        </p:nvSpPr>
        <p:spPr>
          <a:xfrm>
            <a:off x="6858000" y="3291840"/>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Obs. integral, análisis térmico, sensores y modulador no ideales</a:t>
            </a:r>
            <a:endParaRPr lang="en-US" sz="95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4" name="Text 52"/>
          <p:cNvSpPr/>
          <p:nvPr/>
        </p:nvSpPr>
        <p:spPr>
          <a:xfrm>
            <a:off x="6858000" y="3995928"/>
            <a:ext cx="5394960" cy="274320"/>
          </a:xfrm>
          <a:prstGeom prst="rect">
            <a:avLst/>
          </a:prstGeom>
          <a:noFill/>
          <a:ln/>
        </p:spPr>
        <p:txBody>
          <a:bodyPr wrap="square" rtlCol="0" anchor="ctr"/>
          <a:lstStyle/>
          <a:p>
            <a:pPr marL="0" indent="0">
              <a:buNone/>
            </a:pPr>
            <a:r>
              <a:rPr lang="en-US" sz="950" dirty="0">
                <a:solidFill>
                  <a:srgbClr val="555555"/>
                </a:solidFill>
                <a:latin typeface="Calibri" pitchFamily="34" charset="0"/>
                <a:ea typeface="Calibri" pitchFamily="34" charset="-122"/>
                <a:cs typeface="Calibri" pitchFamily="34" charset="-120"/>
              </a:rPr>
              <a:t>Período de muestreo, ecuaciones en diferencias, validación</a:t>
            </a:r>
            <a:endParaRPr lang="en-US" sz="95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PMSM · Caja reductora · Carga mecánica · Inversor · Sensores</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365760" y="242316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p:sp>
        <p:nvSpPr>
          <p:cNvPr id="10" name="Text 8"/>
          <p:cNvSpPr/>
          <p:nvPr/>
        </p:nvSpPr>
        <p:spPr>
          <a:xfrm>
            <a:off x="365760" y="2816352"/>
            <a:ext cx="5303520"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ml ∈ [0, 1.5] kg</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Posición q(t) ≡ θl(t) medida desde vertical, positivo en sentido horario</a:t>
            </a:r>
            <a:endParaRPr lang="en-US" sz="1300" dirty="0"/>
          </a:p>
        </p:txBody>
      </p:sp>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242316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p:sp>
        <p:nvSpPr>
          <p:cNvPr id="14" name="Text 12"/>
          <p:cNvSpPr/>
          <p:nvPr/>
        </p:nvSpPr>
        <p:spPr>
          <a:xfrm>
            <a:off x="6400800" y="2816352"/>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Modelo promediado: modulador ideal de tensión trifásica vectorial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Parámetros ajustables: módulo Vsl(t) y frecuencia ωe(t)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Vsl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fe ∈ [-330, +330] Hz (determina sentido de giro)</a:t>
            </a:r>
            <a:endParaRPr lang="en-US" sz="1300" dirty="0"/>
          </a:p>
        </p:txBody>
      </p:sp>
      <p:sp>
        <p:nvSpPr>
          <p:cNvPr id="15" name="Text 13"/>
          <p:cNvSpPr/>
          <p:nvPr/>
        </p:nvSpPr>
        <p:spPr>
          <a:xfrm>
            <a:off x="6400800" y="4800600"/>
            <a:ext cx="5394960" cy="4572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Sensores (inicialmente ideales): posición θm, corrientes iabc, temperatura Ts</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Pp</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λ'm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Lq</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Ld</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Lls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Rs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αcu</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Jm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bm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nm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Is,max</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Vsl,nom</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383280"/>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749040"/>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749040"/>
                <a:ext cx="11430000" cy="1828800"/>
              </a:xfrm>
              <a:prstGeom prst="rect">
                <a:avLst/>
              </a:prstGeom>
              <a:blipFill>
                <a:blip r:embed="rId3"/>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6"/>
                <a:stretch>
                  <a:fillRect l="-222" t="-1563"/>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583680" y="1691640"/>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583680" y="1691640"/>
                <a:ext cx="5120640" cy="530352"/>
              </a:xfrm>
              <a:prstGeom prst="rect">
                <a:avLst/>
              </a:prstGeom>
              <a:blipFill>
                <a:blip r:embed="rId6"/>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p:sp>
        <p:nvSpPr>
          <p:cNvPr id="21" name="Text 19"/>
          <p:cNvSpPr/>
          <p:nvPr/>
        </p:nvSpPr>
        <p:spPr>
          <a:xfrm>
            <a:off x="365760" y="3794760"/>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Modelo mecánico equivalente completo (referido al eje del motor):</a:t>
            </a:r>
            <a:endParaRPr lang="en-US" sz="1400" dirty="0"/>
          </a:p>
        </p:txBody>
      </p:sp>
      <p:sp>
        <p:nvSpPr>
          <p:cNvPr id="22" name="Shape 20"/>
          <p:cNvSpPr/>
          <p:nvPr/>
        </p:nvSpPr>
        <p:spPr>
          <a:xfrm>
            <a:off x="457200" y="4279392"/>
            <a:ext cx="11247120" cy="14356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239086" y="4679295"/>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239086" y="4679295"/>
                <a:ext cx="5178523" cy="594360"/>
              </a:xfrm>
              <a:prstGeom prst="rect">
                <a:avLst/>
              </a:prstGeom>
              <a:blipFill>
                <a:blip r:embed="rId9"/>
                <a:stretch>
                  <a:fillRect t="-37113" b="-443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 21">
                <a:extLst>
                  <a:ext uri="{FF2B5EF4-FFF2-40B4-BE49-F238E27FC236}">
                    <a16:creationId xmlns:a16="http://schemas.microsoft.com/office/drawing/2014/main" id="{3E8A8B98-568D-4FF1-9C7B-B91B6DBA189B}"/>
                  </a:ext>
                </a:extLst>
              </p:cNvPr>
              <p:cNvSpPr/>
              <p:nvPr/>
            </p:nvSpPr>
            <p:spPr>
              <a:xfrm>
                <a:off x="5417609" y="4658868"/>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26" name="Text 21">
                <a:extLst>
                  <a:ext uri="{FF2B5EF4-FFF2-40B4-BE49-F238E27FC236}">
                    <a16:creationId xmlns:a16="http://schemas.microsoft.com/office/drawing/2014/main" id="{3E8A8B98-568D-4FF1-9C7B-B91B6DBA189B}"/>
                  </a:ext>
                </a:extLst>
              </p:cNvPr>
              <p:cNvSpPr>
                <a:spLocks noRot="1" noChangeAspect="1" noMove="1" noResize="1" noEditPoints="1" noAdjustHandles="1" noChangeArrowheads="1" noChangeShapeType="1" noTextEdit="1"/>
              </p:cNvSpPr>
              <p:nvPr/>
            </p:nvSpPr>
            <p:spPr>
              <a:xfrm>
                <a:off x="5417609" y="4658868"/>
                <a:ext cx="5178523" cy="594360"/>
              </a:xfrm>
              <a:prstGeom prst="rect">
                <a:avLst/>
              </a:prstGeom>
              <a:blipFill>
                <a:blip r:embed="rId7"/>
                <a:stretch>
                  <a:fillRect t="-30612" b="-33673"/>
                </a:stretch>
              </a:blipFill>
              <a:ln/>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36" name="Imagen 35">
            <a:extLst>
              <a:ext uri="{FF2B5EF4-FFF2-40B4-BE49-F238E27FC236}">
                <a16:creationId xmlns:a16="http://schemas.microsoft.com/office/drawing/2014/main" id="{0310985F-59F1-408A-8ED6-D492666590C2}"/>
              </a:ext>
            </a:extLst>
          </p:cNvPr>
          <p:cNvPicPr>
            <a:picLocks noChangeAspect="1"/>
          </p:cNvPicPr>
          <p:nvPr/>
        </p:nvPicPr>
        <p:blipFill>
          <a:blip r:embed="rId2"/>
          <a:stretch>
            <a:fillRect/>
          </a:stretch>
        </p:blipFill>
        <p:spPr>
          <a:xfrm>
            <a:off x="883425" y="1557547"/>
            <a:ext cx="10184450" cy="358909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000334"/>
            <a:ext cx="11430000" cy="7315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La Transformada de Park convierte el sistema trifásico estacionario abc a un sistema rotante qd0r. Las señales sinusoidales en abc se transforman en variables aproximadamente constantes en régimen permanente, facilitando el diseño del control.</a:t>
            </a:r>
            <a:endParaRPr lang="en-US" sz="1300" dirty="0"/>
          </a:p>
        </p:txBody>
      </p:sp>
      <p:sp>
        <p:nvSpPr>
          <p:cNvPr id="12" name="Text 10"/>
          <p:cNvSpPr/>
          <p:nvPr/>
        </p:nvSpPr>
        <p:spPr>
          <a:xfrm>
            <a:off x="472440" y="5216652"/>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3"/>
          <a:stretch>
            <a:fillRect/>
          </a:stretch>
        </p:blipFill>
        <p:spPr>
          <a:xfrm>
            <a:off x="3410992" y="2641945"/>
            <a:ext cx="5065215" cy="2455862"/>
          </a:xfrm>
          <a:prstGeom prst="rect">
            <a:avLst/>
          </a:prstGeom>
        </p:spPr>
      </p:pic>
    </p:spTree>
    <p:extLst>
      <p:ext uri="{BB962C8B-B14F-4D97-AF65-F5344CB8AC3E}">
        <p14:creationId xmlns:p14="http://schemas.microsoft.com/office/powerpoint/2010/main" val="22295780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365760" y="774467"/>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79465"/>
            <a:ext cx="11430000" cy="1607901"/>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151002" y="1704134"/>
                <a:ext cx="744942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151002" y="1704134"/>
                <a:ext cx="7449424" cy="548640"/>
              </a:xfrm>
              <a:prstGeom prst="rect">
                <a:avLst/>
              </a:prstGeom>
              <a:blipFill>
                <a:blip r:embed="rId2"/>
                <a:stretch>
                  <a:fillRect t="-67778" b="-68889"/>
                </a:stretch>
              </a:blipFill>
              <a:ln/>
            </p:spPr>
            <p:txBody>
              <a:bodyPr/>
              <a:lstStyle/>
              <a:p>
                <a:r>
                  <a:rPr lang="es-AR">
                    <a:noFill/>
                  </a:rPr>
                  <a:t> </a:t>
                </a:r>
              </a:p>
            </p:txBody>
          </p:sp>
        </mc:Fallback>
      </mc:AlternateContent>
      <p:sp>
        <p:nvSpPr>
          <p:cNvPr id="16" name="Shape 14"/>
          <p:cNvSpPr/>
          <p:nvPr/>
        </p:nvSpPr>
        <p:spPr>
          <a:xfrm>
            <a:off x="381000" y="3545033"/>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234891" y="4178697"/>
                <a:ext cx="814822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234891" y="4178697"/>
                <a:ext cx="8148227" cy="548640"/>
              </a:xfrm>
              <a:prstGeom prst="rect">
                <a:avLst/>
              </a:prstGeom>
              <a:blipFill>
                <a:blip r:embed="rId6"/>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879952"/>
                <a:ext cx="11430000" cy="457200"/>
              </a:xfrm>
              <a:prstGeom prst="rect">
                <a:avLst/>
              </a:prstGeom>
              <a:noFill/>
              <a:ln/>
            </p:spPr>
            <p:txBody>
              <a:bodyPr wrap="square" rtlCol="0" anchor="t"/>
              <a:lstStyle/>
              <a:p>
                <a:pPr marL="0" indent="0" algn="l">
                  <a:buNone/>
                </a:pPr>
                <a:r>
                  <a:rPr lang="en-US" sz="1200" i="1" dirty="0">
                    <a:latin typeface="Calibri" pitchFamily="34" charset="0"/>
                    <a:ea typeface="Calibri" pitchFamily="34" charset="-122"/>
                    <a:cs typeface="Calibri" pitchFamily="34" charset="-120"/>
                  </a:rPr>
                  <a:t>Nótese el acoplamiento cruzado entre ejes q y d a través de ωm(t). La resistencia Rs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879952"/>
                <a:ext cx="11430000" cy="457200"/>
              </a:xfrm>
              <a:prstGeom prst="rect">
                <a:avLst/>
              </a:prstGeom>
              <a:blipFill>
                <a:blip r:embed="rId5"/>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200400"/>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200400"/>
                <a:ext cx="11430000" cy="457200"/>
              </a:xfrm>
              <a:prstGeom prst="rect">
                <a:avLst/>
              </a:prstGeom>
              <a:blipFill>
                <a:blip r:embed="rId6"/>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365760" y="5377783"/>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p:sp>
        <p:nvSpPr>
          <p:cNvPr id="26" name="Text 13">
            <a:extLst>
              <a:ext uri="{FF2B5EF4-FFF2-40B4-BE49-F238E27FC236}">
                <a16:creationId xmlns:a16="http://schemas.microsoft.com/office/drawing/2014/main" id="{12E79842-49C7-463E-B87B-0AD84247764F}"/>
              </a:ext>
            </a:extLst>
          </p:cNvPr>
          <p:cNvSpPr/>
          <p:nvPr/>
        </p:nvSpPr>
        <p:spPr>
          <a:xfrm>
            <a:off x="365760" y="5652534"/>
            <a:ext cx="11430000" cy="594360"/>
          </a:xfrm>
          <a:prstGeom prst="rect">
            <a:avLst/>
          </a:prstGeom>
          <a:noFill/>
          <a:ln/>
        </p:spPr>
        <p:txBody>
          <a:bodyPr wrap="square" rtlCol="0" anchor="t"/>
          <a:lstStyle/>
          <a:p>
            <a:pPr marL="0" indent="0" algn="l">
              <a:buNone/>
            </a:pPr>
            <a:r>
              <a:rPr lang="en-US" sz="1400" dirty="0">
                <a:solidFill>
                  <a:srgbClr val="111111"/>
                </a:solidFill>
                <a:latin typeface="Calibri" pitchFamily="34" charset="0"/>
                <a:cs typeface="Calibri" pitchFamily="34" charset="-120"/>
              </a:rPr>
              <a:t>Para el PMSM con Ld ≈ Lq, el torque depende principalmente de iqs^r (torque de imanes). El término (Ld−Lq)·ids^r es el torque de </a:t>
            </a:r>
            <a:r>
              <a:rPr lang="en-US" sz="1400" dirty="0" err="1">
                <a:solidFill>
                  <a:srgbClr val="111111"/>
                </a:solidFill>
                <a:latin typeface="Calibri" pitchFamily="34" charset="0"/>
                <a:cs typeface="Calibri" pitchFamily="34" charset="-120"/>
              </a:rPr>
              <a:t>reluctancia</a:t>
            </a:r>
            <a:r>
              <a:rPr lang="en-US" sz="1400" dirty="0">
                <a:solidFill>
                  <a:srgbClr val="111111"/>
                </a:solidFill>
                <a:latin typeface="Calibri" pitchFamily="34" charset="0"/>
                <a:cs typeface="Calibri" pitchFamily="34" charset="-120"/>
              </a:rPr>
              <a:t>.</a:t>
            </a:r>
          </a:p>
        </p:txBody>
      </p:sp>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solidFill>
                                <a:srgbClr val="836967"/>
                              </a:solidFill>
                              <a:latin typeface="Cambria Math" panose="02040503050406030204" pitchFamily="18" charset="0"/>
                            </a:rPr>
                          </m:ctrlPr>
                        </m:dPr>
                        <m:e>
                          <m:r>
                            <a:rPr lang="es-AR" sz="1600" i="1">
                              <a:latin typeface="Cambria Math" panose="02040503050406030204" pitchFamily="18" charset="0"/>
                            </a:rPr>
                            <m:t>𝑡</m:t>
                          </m:r>
                        </m:e>
                      </m:d>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r>
                            <a:rPr lang="es-AR" sz="1600" i="0">
                              <a:latin typeface="Cambria Math" panose="02040503050406030204" pitchFamily="18" charset="0"/>
                            </a:rPr>
                            <m:t>3</m:t>
                          </m:r>
                        </m:num>
                        <m:den>
                          <m:r>
                            <a:rPr lang="es-AR" sz="1600" i="0">
                              <a:latin typeface="Cambria Math" panose="02040503050406030204" pitchFamily="18" charset="0"/>
                            </a:rPr>
                            <m:t>2</m:t>
                          </m:r>
                        </m:den>
                      </m:f>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begChr m:val="["/>
                          <m:endChr m:val="]"/>
                          <m:ctrlPr>
                            <a:rPr lang="es-AR" sz="1600" i="1">
                              <a:solidFill>
                                <a:srgbClr val="836967"/>
                              </a:solidFill>
                              <a:latin typeface="Cambria Math" panose="02040503050406030204" pitchFamily="18" charset="0"/>
                            </a:rPr>
                          </m:ctrlPr>
                        </m:dPr>
                        <m:e>
                          <m:sSubSup>
                            <m:sSubSupPr>
                              <m:ctrlPr>
                                <a:rPr lang="es-AR" sz="1600" i="1">
                                  <a:solidFill>
                                    <a:srgbClr val="836967"/>
                                  </a:solidFill>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0">
                                  <a:latin typeface="Cambria Math" panose="02040503050406030204" pitchFamily="18" charset="0"/>
                                </a:rPr>
                                <m:t>ˊ</m:t>
                              </m:r>
                              <m:r>
                                <a:rPr lang="es-AR" sz="1600" i="1">
                                  <a:latin typeface="Cambria Math" panose="02040503050406030204" pitchFamily="18" charset="0"/>
                                </a:rPr>
                                <m:t>𝑟</m:t>
                              </m:r>
                            </m:sup>
                          </m:sSubSup>
                          <m:r>
                            <a:rPr lang="es-AR" sz="1600" i="0">
                              <a:latin typeface="Cambria Math" panose="02040503050406030204" pitchFamily="18" charset="0"/>
                            </a:rPr>
                            <m:t>+</m:t>
                          </m:r>
                          <m:d>
                            <m:dPr>
                              <m:ctrlPr>
                                <a:rPr lang="es-AR" sz="1600" i="1">
                                  <a:solidFill>
                                    <a:srgbClr val="836967"/>
                                  </a:solidFill>
                                  <a:latin typeface="Cambria Math" panose="02040503050406030204" pitchFamily="18" charset="0"/>
                                </a:rPr>
                              </m:ctrlPr>
                            </m:dPr>
                            <m:e>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0">
                                  <a:latin typeface="Cambria Math" panose="02040503050406030204" pitchFamily="18" charset="0"/>
                                </a:rPr>
                                <m:t>−</m:t>
                              </m:r>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r>
                            <a:rPr lang="es-AR" sz="1600" i="0">
                              <a:latin typeface="Cambria Math" panose="02040503050406030204" pitchFamily="18" charset="0"/>
                            </a:rPr>
                            <m:t> </m:t>
                          </m:r>
                          <m:sSubSup>
                            <m:sSubSupPr>
                              <m:ctrlPr>
                                <a:rPr lang="es-AR" sz="1600" i="1">
                                  <a:solidFill>
                                    <a:srgbClr val="836967"/>
                                  </a:solidFill>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solidFill>
                                    <a:srgbClr val="836967"/>
                                  </a:solidFill>
                                  <a:latin typeface="Cambria Math" panose="02040503050406030204" pitchFamily="18" charset="0"/>
                                </a:rPr>
                              </m:ctrlPr>
                            </m:dPr>
                            <m:e>
                              <m:r>
                                <a:rPr lang="es-AR" sz="1600" i="1">
                                  <a:latin typeface="Cambria Math" panose="02040503050406030204" pitchFamily="18" charset="0"/>
                                </a:rPr>
                                <m:t>𝑡</m:t>
                              </m:r>
                            </m:e>
                          </m:d>
                        </m:e>
                      </m:d>
                      <m:r>
                        <a:rPr lang="es-AR" sz="1600" i="0">
                          <a:latin typeface="Cambria Math" panose="02040503050406030204" pitchFamily="18" charset="0"/>
                        </a:rPr>
                        <m:t>∙</m:t>
                      </m:r>
                      <m:sSubSup>
                        <m:sSubSupPr>
                          <m:ctrlPr>
                            <a:rPr lang="es-AR" sz="1600" i="1">
                              <a:solidFill>
                                <a:srgbClr val="836967"/>
                              </a:solidFill>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solidFill>
                                <a:srgbClr val="836967"/>
                              </a:solidFill>
                              <a:latin typeface="Cambria Math" panose="02040503050406030204" pitchFamily="18" charset="0"/>
                            </a:rPr>
                          </m:ctrlPr>
                        </m:dPr>
                        <m:e>
                          <m:r>
                            <a:rPr lang="es-AR" sz="1600" i="1">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4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electromagnético</a:t>
            </a:r>
            <a:endParaRPr lang="en-US" sz="1100" dirty="0"/>
          </a:p>
        </p:txBody>
      </p:sp>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77824"/>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365760" y="163677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2121408"/>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63040" y="2121408"/>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1463040" y="2121408"/>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365760" y="2788920"/>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81000" y="3264408"/>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57200" y="3329171"/>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57200" y="3329171"/>
                <a:ext cx="11247120" cy="621792"/>
              </a:xfrm>
              <a:prstGeom prst="rect">
                <a:avLst/>
              </a:prstGeom>
              <a:blipFill>
                <a:blip r:embed="rId4"/>
                <a:stretch>
                  <a:fillRect/>
                </a:stretch>
              </a:blipFill>
              <a:ln/>
            </p:spPr>
            <p:txBody>
              <a:bodyPr/>
              <a:lstStyle/>
              <a:p>
                <a:r>
                  <a:rPr lang="es-AR">
                    <a:noFill/>
                  </a:rPr>
                  <a:t> </a:t>
                </a:r>
              </a:p>
            </p:txBody>
          </p:sp>
        </mc:Fallback>
      </mc:AlternateContent>
      <p:sp>
        <p:nvSpPr>
          <p:cNvPr id="14" name="Text 12"/>
          <p:cNvSpPr/>
          <p:nvPr/>
        </p:nvSpPr>
        <p:spPr>
          <a:xfrm>
            <a:off x="365760" y="420103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65760" y="4585087"/>
                <a:ext cx="11430000" cy="141732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65760" y="4585087"/>
                <a:ext cx="11430000" cy="1417320"/>
              </a:xfrm>
              <a:prstGeom prst="rect">
                <a:avLst/>
              </a:prstGeom>
              <a:blipFill>
                <a:blip r:embed="rId3"/>
                <a:stretch>
                  <a:fillRect l="-160" t="-20601"/>
                </a:stretch>
              </a:blipFill>
              <a:ln/>
            </p:spPr>
            <p:txBody>
              <a:bodyPr/>
              <a:lstStyle/>
              <a:p>
                <a:r>
                  <a:rPr lang="es-AR">
                    <a:noFill/>
                  </a:rPr>
                  <a:t> </a:t>
                </a:r>
              </a:p>
            </p:txBody>
          </p:sp>
        </mc:Fallback>
      </mc:AlternateContent>
    </p:spTree>
    <p:extLst>
      <p:ext uri="{BB962C8B-B14F-4D97-AF65-F5344CB8AC3E}">
        <p14:creationId xmlns:p14="http://schemas.microsoft.com/office/powerpoint/2010/main" val="30583475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36576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Inversor trifásico (modelo promediado):</a:t>
            </a:r>
            <a:endParaRPr lang="en-US" sz="1300" dirty="0"/>
          </a:p>
        </p:txBody>
      </p:sp>
      <mc:AlternateContent xmlns:mc="http://schemas.openxmlformats.org/markup-compatibility/2006" xmlns:a14="http://schemas.microsoft.com/office/drawing/2010/main">
        <mc:Choice Requires="a14">
          <p:sp>
            <p:nvSpPr>
              <p:cNvPr id="8" name="Text 6"/>
              <p:cNvSpPr/>
              <p:nvPr/>
            </p:nvSpPr>
            <p:spPr>
              <a:xfrm>
                <a:off x="365760" y="1207008"/>
                <a:ext cx="548640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365760" y="1207008"/>
                <a:ext cx="5486400" cy="777240"/>
              </a:xfrm>
              <a:prstGeom prst="rect">
                <a:avLst/>
              </a:prstGeom>
              <a:blipFill>
                <a:blip r:embed="rId2"/>
                <a:stretch>
                  <a:fillRect/>
                </a:stretch>
              </a:blipFill>
              <a:ln/>
            </p:spPr>
            <p:txBody>
              <a:bodyPr/>
              <a:lstStyle/>
              <a:p>
                <a:r>
                  <a:rPr lang="es-AR">
                    <a:noFill/>
                  </a:rPr>
                  <a:t> </a:t>
                </a:r>
              </a:p>
            </p:txBody>
          </p:sp>
        </mc:Fallback>
      </mc:AlternateContent>
      <p:sp>
        <p:nvSpPr>
          <p:cNvPr id="9" name="Text 7"/>
          <p:cNvSpPr/>
          <p:nvPr/>
        </p:nvSpPr>
        <p:spPr>
          <a:xfrm>
            <a:off x="365760" y="2057400"/>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Sensores (inicialmente ideales):</a:t>
            </a:r>
            <a:endParaRPr lang="en-US" sz="1300" dirty="0"/>
          </a:p>
        </p:txBody>
      </p:sp>
      <mc:AlternateContent xmlns:mc="http://schemas.openxmlformats.org/markup-compatibility/2006" xmlns:a14="http://schemas.microsoft.com/office/drawing/2010/main">
        <mc:Choice Requires="a14">
          <p:sp>
            <p:nvSpPr>
              <p:cNvPr id="10" name="Text 8"/>
              <p:cNvSpPr/>
              <p:nvPr/>
            </p:nvSpPr>
            <p:spPr>
              <a:xfrm>
                <a:off x="365760" y="2468880"/>
                <a:ext cx="5486400" cy="1554480"/>
              </a:xfrm>
              <a:prstGeom prst="rect">
                <a:avLst/>
              </a:prstGeom>
              <a:noFill/>
              <a:ln/>
            </p:spPr>
            <p:txBody>
              <a:bodyPr wrap="square" rtlCol="0" anchor="t"/>
              <a:lstStyle/>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absoluta, multi-vuelta</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200" i="1" smtClean="0">
                            <a:effectLst/>
                            <a:latin typeface="Cambria Math" panose="02040503050406030204" pitchFamily="18" charset="0"/>
                            <a:cs typeface="Calibri" panose="020F0502020204030204" pitchFamily="34" charset="0"/>
                          </a:rPr>
                        </m:ctrlPr>
                      </m:sSubPr>
                      <m:e>
                        <m:r>
                          <a:rPr lang="es-AR" sz="12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200" i="1">
                            <a:effectLst/>
                            <a:latin typeface="Cambria Math" panose="02040503050406030204" pitchFamily="18" charset="0"/>
                            <a:cs typeface="Calibri" panose="020F0502020204030204" pitchFamily="34" charset="0"/>
                          </a:rPr>
                        </m:ctrlPr>
                      </m:dPr>
                      <m:e>
                        <m:r>
                          <a:rPr lang="es-AR" sz="12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 en salida del inversor</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2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2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200" dirty="0">
                    <a:solidFill>
                      <a:srgbClr val="111111"/>
                    </a:solidFill>
                    <a:latin typeface="Calibri" pitchFamily="34" charset="0"/>
                    <a:ea typeface="Calibri" pitchFamily="34" charset="-122"/>
                    <a:cs typeface="Calibri" pitchFamily="34" charset="-120"/>
                  </a:rPr>
                  <a:t>— embebido en bobinado</a:t>
                </a:r>
                <a:endParaRPr lang="en-US" sz="1200" dirty="0"/>
              </a:p>
              <a:p>
                <a:pPr marL="342900" indent="-342900">
                  <a:buSzPct val="100000"/>
                  <a:buChar char="•"/>
                </a:pPr>
                <a:r>
                  <a:rPr lang="en-US" sz="12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200" dirty="0">
                    <a:solidFill>
                      <a:srgbClr val="111111"/>
                    </a:solidFill>
                    <a:latin typeface="Calibri" pitchFamily="34" charset="0"/>
                    <a:ea typeface="Calibri" pitchFamily="34" charset="-122"/>
                    <a:cs typeface="Calibri" pitchFamily="34" charset="-120"/>
                  </a:rPr>
                  <a:t>(ganancia unitaria, BW infinito)</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365760" y="2468880"/>
                <a:ext cx="5486400" cy="1554480"/>
              </a:xfrm>
              <a:prstGeom prst="rect">
                <a:avLst/>
              </a:prstGeom>
              <a:blipFill>
                <a:blip r:embed="rId5"/>
                <a:stretch>
                  <a:fillRect l="-111" t="-784"/>
                </a:stretch>
              </a:blipFill>
              <a:ln/>
            </p:spPr>
            <p:txBody>
              <a:bodyPr/>
              <a:lstStyle/>
              <a:p>
                <a:r>
                  <a:rPr lang="es-AR">
                    <a:noFill/>
                  </a:rPr>
                  <a:t> </a:t>
                </a:r>
              </a:p>
            </p:txBody>
          </p:sp>
        </mc:Fallback>
      </mc:AlternateContent>
      <p:sp>
        <p:nvSpPr>
          <p:cNvPr id="11" name="Text 9"/>
          <p:cNvSpPr/>
          <p:nvPr/>
        </p:nvSpPr>
        <p:spPr>
          <a:xfrm>
            <a:off x="6400800" y="804672"/>
            <a:ext cx="54864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Modelo global no lineal — orden 5+1:</a:t>
            </a:r>
            <a:endParaRPr lang="en-US" sz="1300" dirty="0"/>
          </a:p>
        </p:txBody>
      </p:sp>
      <mc:AlternateContent xmlns:mc="http://schemas.openxmlformats.org/markup-compatibility/2006" xmlns:a14="http://schemas.microsoft.com/office/drawing/2010/main">
        <mc:Choice Requires="a14">
          <p:sp>
            <p:nvSpPr>
              <p:cNvPr id="12" name="Text 10"/>
              <p:cNvSpPr/>
              <p:nvPr/>
            </p:nvSpPr>
            <p:spPr>
              <a:xfrm>
                <a:off x="6400800" y="1207008"/>
                <a:ext cx="5486400" cy="1307592"/>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2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2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200" i="1">
                                <a:effectLst/>
                                <a:latin typeface="Cambria Math" panose="02040503050406030204" pitchFamily="18" charset="0"/>
                                <a:ea typeface="Times New Roman" panose="020206030504050203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200" dirty="0">
                  <a:solidFill>
                    <a:srgbClr val="111111"/>
                  </a:solidFill>
                  <a:latin typeface="Calibri" pitchFamily="34" charset="0"/>
                  <a:ea typeface="Calibri" pitchFamily="34" charset="-122"/>
                  <a:cs typeface="Calibri" pitchFamily="34" charset="-120"/>
                </a:endParaRPr>
              </a:p>
              <a:p>
                <a:pPr marL="0" indent="0" algn="l">
                  <a:buNone/>
                </a:pPr>
                <a:endParaRPr lang="en-US" sz="1200" dirty="0">
                  <a:solidFill>
                    <a:srgbClr val="111111"/>
                  </a:solidFill>
                  <a:latin typeface="Calibri" pitchFamily="34" charset="0"/>
                  <a:ea typeface="Calibri" pitchFamily="34" charset="-122"/>
                  <a:cs typeface="Calibri" pitchFamily="34" charset="-120"/>
                </a:endParaRPr>
              </a:p>
              <a:p>
                <a:pPr marL="0" indent="0" algn="l">
                  <a:buNone/>
                </a:pPr>
                <a:r>
                  <a:rPr lang="en-US" sz="12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2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200" i="1">
                            <a:effectLst/>
                            <a:latin typeface="Cambria Math" panose="02040503050406030204" pitchFamily="18" charset="0"/>
                          </a:rPr>
                        </m:ctrlPr>
                      </m:sSupPr>
                      <m:e>
                        <m:d>
                          <m:dPr>
                            <m:begChr m:val="["/>
                            <m:endChr m:val="]"/>
                            <m:ctrlPr>
                              <a:rPr lang="es-AR" sz="1200" i="1">
                                <a:effectLst/>
                                <a:latin typeface="Cambria Math" panose="02040503050406030204" pitchFamily="18" charset="0"/>
                              </a:rPr>
                            </m:ctrlPr>
                          </m:dPr>
                          <m:e>
                            <m:m>
                              <m:mPr>
                                <m:mcs>
                                  <m:mc>
                                    <m:mcPr>
                                      <m:count m:val="3"/>
                                      <m:mcJc m:val="center"/>
                                    </m:mcPr>
                                  </m:mc>
                                </m:mcs>
                                <m:ctrlPr>
                                  <a:rPr lang="es-AR" sz="1200" i="1">
                                    <a:effectLst/>
                                    <a:latin typeface="Cambria Math" panose="02040503050406030204" pitchFamily="18" charset="0"/>
                                  </a:rPr>
                                </m:ctrlPr>
                              </m:mPr>
                              <m:mr>
                                <m:e>
                                  <m:sSub>
                                    <m:sSubPr>
                                      <m:ctrlPr>
                                        <a:rPr lang="es-AR" sz="12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200" i="1">
                                          <a:effectLst/>
                                          <a:latin typeface="Cambria Math" panose="02040503050406030204" pitchFamily="18" charset="0"/>
                                          <a:ea typeface="Times New Roman" panose="02020603050405020304" pitchFamily="18" charset="0"/>
                                        </a:rPr>
                                      </m:ctrlPr>
                                    </m:mPr>
                                    <m:mr>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ea typeface="Times New Roman" panose="02020603050405020304" pitchFamily="18" charset="0"/>
                                              </a:rPr>
                                            </m:ctrlPr>
                                          </m:sSubSup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2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200" i="1">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200" dirty="0"/>
              </a:p>
            </p:txBody>
          </p:sp>
        </mc:Choice>
        <mc:Fallback xmlns="">
          <p:sp>
            <p:nvSpPr>
              <p:cNvPr id="12" name="Text 10"/>
              <p:cNvSpPr>
                <a:spLocks noRot="1" noChangeAspect="1" noMove="1" noResize="1" noEditPoints="1" noAdjustHandles="1" noChangeArrowheads="1" noChangeShapeType="1" noTextEdit="1"/>
              </p:cNvSpPr>
              <p:nvPr/>
            </p:nvSpPr>
            <p:spPr>
              <a:xfrm>
                <a:off x="6400800" y="1207008"/>
                <a:ext cx="5486400" cy="1307592"/>
              </a:xfrm>
              <a:prstGeom prst="rect">
                <a:avLst/>
              </a:prstGeom>
              <a:blipFill>
                <a:blip r:embed="rId5"/>
                <a:stretch>
                  <a:fillRect b="-25116"/>
                </a:stretch>
              </a:blipFill>
              <a:ln/>
            </p:spPr>
            <p:txBody>
              <a:bodyPr/>
              <a:lstStyle/>
              <a:p>
                <a:r>
                  <a:rPr lang="es-AR">
                    <a:noFill/>
                  </a:rPr>
                  <a:t> </a:t>
                </a:r>
              </a:p>
            </p:txBody>
          </p:sp>
        </mc:Fallback>
      </mc:AlternateContent>
      <p:sp>
        <p:nvSpPr>
          <p:cNvPr id="13" name="Text 11"/>
          <p:cNvSpPr/>
          <p:nvPr/>
        </p:nvSpPr>
        <p:spPr>
          <a:xfrm>
            <a:off x="6400800" y="2848356"/>
            <a:ext cx="54864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El modelo es no lineal por: (1) productos entre variables en el torque electromagnético, (2) acoplamiento ωm en las ecuaciones eléctricas, (3) sin(θl) en la carga gravitatoria.</a:t>
            </a:r>
            <a:endParaRPr lang="en-US" sz="1200" dirty="0"/>
          </a:p>
        </p:txBody>
      </p:sp>
      <p:sp>
        <p:nvSpPr>
          <p:cNvPr id="17" name="Text 6">
            <a:extLst>
              <a:ext uri="{FF2B5EF4-FFF2-40B4-BE49-F238E27FC236}">
                <a16:creationId xmlns:a16="http://schemas.microsoft.com/office/drawing/2014/main" id="{6CA994F5-5B76-4FE5-ADD8-755E0BDF1F61}"/>
              </a:ext>
            </a:extLst>
          </p:cNvPr>
          <p:cNvSpPr/>
          <p:nvPr/>
        </p:nvSpPr>
        <p:spPr>
          <a:xfrm>
            <a:off x="343109" y="3835572"/>
            <a:ext cx="11018101" cy="777240"/>
          </a:xfrm>
          <a:prstGeom prst="rect">
            <a:avLst/>
          </a:prstGeom>
          <a:noFill/>
          <a:ln/>
        </p:spPr>
        <p:txBody>
          <a:bodyPr wrap="square" rtlCol="0" anchor="t"/>
          <a:lstStyle/>
          <a:p>
            <a:r>
              <a:rPr lang="es-MX" sz="1200" dirty="0">
                <a:solidFill>
                  <a:srgbClr val="111111"/>
                </a:solidFill>
                <a:latin typeface="Calibri" pitchFamily="34" charset="0"/>
                <a:ea typeface="Calibri" pitchFamily="34" charset="-122"/>
                <a:cs typeface="Calibri" pitchFamily="34" charset="-120"/>
              </a:rPr>
              <a:t>Reemplazando la expresión del torque electromagnético en las ecuaciones del sistema mecánico:</a:t>
            </a:r>
          </a:p>
          <a:p>
            <a:endParaRPr lang="en-US" sz="1200" dirty="0"/>
          </a:p>
        </p:txBody>
      </p:sp>
      <mc:AlternateContent xmlns:mc="http://schemas.openxmlformats.org/markup-compatibility/2006" xmlns:a14="http://schemas.microsoft.com/office/drawing/2010/main">
        <mc:Choice Requires="a14">
          <p:sp>
            <p:nvSpPr>
              <p:cNvPr id="18" name="Shape 7">
                <a:extLst>
                  <a:ext uri="{FF2B5EF4-FFF2-40B4-BE49-F238E27FC236}">
                    <a16:creationId xmlns:a16="http://schemas.microsoft.com/office/drawing/2014/main" id="{52FCF1F0-8786-4B71-9288-844B59F154A1}"/>
                  </a:ext>
                </a:extLst>
              </p:cNvPr>
              <p:cNvSpPr/>
              <p:nvPr/>
            </p:nvSpPr>
            <p:spPr>
              <a:xfrm>
                <a:off x="381000" y="4288200"/>
                <a:ext cx="11430000" cy="685800"/>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acc>
                            <m:accPr>
                              <m:chr m:val="̇"/>
                              <m:ctrlPr>
                                <a:rPr lang="es-AR" sz="160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acc>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d>
                        <m:dPr>
                          <m:begChr m:val="["/>
                          <m:endChr m:val="]"/>
                          <m:ctrlPr>
                            <a:rPr lang="es-AR" sz="1600" i="1">
                              <a:effectLst/>
                              <a:latin typeface="Cambria Math" panose="02040503050406030204" pitchFamily="18" charset="0"/>
                              <a:ea typeface="Times New Roman" panose="02020603050405020304" pitchFamily="18" charset="0"/>
                            </a:rPr>
                          </m:ctrlPr>
                        </m:dPr>
                        <m:e>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3</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2</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d>
                            <m:dPr>
                              <m:ctrlPr>
                                <a:rPr lang="es-AR" sz="1600" i="1">
                                  <a:effectLst/>
                                  <a:latin typeface="Cambria Math" panose="02040503050406030204" pitchFamily="18" charset="0"/>
                                  <a:ea typeface="Times New Roman" panose="02020603050405020304" pitchFamily="18" charset="0"/>
                                </a:rPr>
                              </m:ctrlPr>
                            </m:dPr>
                            <m:e>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600" i="1">
                                      <a:effectLst/>
                                      <a:latin typeface="Cambria Math" panose="02040503050406030204" pitchFamily="18" charset="0"/>
                                      <a:ea typeface="Times New Roman" panose="02020603050405020304" pitchFamily="18" charset="0"/>
                                    </a:rPr>
                                  </m:ctrlPr>
                                </m:dPr>
                                <m:e>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sSubSup>
                            <m:sSubSupPr>
                              <m:ctrlPr>
                                <a:rPr lang="es-AR" sz="160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rPr>
                              </m:ctrlPr>
                            </m:sSubPr>
                            <m:e>
                              <m:r>
                                <m:rPr>
                                  <m:sty m:val="p"/>
                                </m:rPr>
                                <a:rPr lang="es-AR" sz="1600">
                                  <a:effectLst/>
                                  <a:latin typeface="Cambria Math" panose="02040503050406030204" pitchFamily="18" charset="0"/>
                                  <a:ea typeface="Times New Roman" panose="02020603050405020304" pitchFamily="18" charset="0"/>
                                  <a:cs typeface="Times New Roman" panose="02020603050405020304" pitchFamily="18" charset="0"/>
                                </a:rPr>
                                <m:t>ω</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60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m:t>
                              </m:r>
                            </m:sub>
                          </m:sSub>
                          <m:d>
                            <m:dPr>
                              <m:ctrlPr>
                                <a:rPr lang="es-AR" sz="160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oMath>
                  </m:oMathPara>
                </a14:m>
                <a:endParaRPr lang="es-AR" dirty="0"/>
              </a:p>
            </p:txBody>
          </p:sp>
        </mc:Choice>
        <mc:Fallback xmlns="">
          <p:sp>
            <p:nvSpPr>
              <p:cNvPr id="18" name="Shape 7">
                <a:extLst>
                  <a:ext uri="{FF2B5EF4-FFF2-40B4-BE49-F238E27FC236}">
                    <a16:creationId xmlns:a16="http://schemas.microsoft.com/office/drawing/2014/main" id="{52FCF1F0-8786-4B71-9288-844B59F154A1}"/>
                  </a:ext>
                </a:extLst>
              </p:cNvPr>
              <p:cNvSpPr>
                <a:spLocks noRot="1" noChangeAspect="1" noMove="1" noResize="1" noEditPoints="1" noAdjustHandles="1" noChangeArrowheads="1" noChangeShapeType="1" noTextEdit="1"/>
              </p:cNvSpPr>
              <p:nvPr/>
            </p:nvSpPr>
            <p:spPr>
              <a:xfrm>
                <a:off x="381000" y="4288200"/>
                <a:ext cx="11430000" cy="685800"/>
              </a:xfrm>
              <a:prstGeom prst="rect">
                <a:avLst/>
              </a:prstGeom>
              <a:blipFill>
                <a:blip r:embed="rId3"/>
                <a:stretch>
                  <a:fillRect/>
                </a:stretch>
              </a:blipFill>
              <a:ln w="19050">
                <a:solidFill>
                  <a:srgbClr val="DDAA00"/>
                </a:solidFill>
                <a:prstDash val="solid"/>
              </a:ln>
            </p:spPr>
            <p:txBody>
              <a:bodyPr/>
              <a:lstStyle/>
              <a:p>
                <a:r>
                  <a:rPr lang="es-AR">
                    <a:noFill/>
                  </a:rPr>
                  <a:t> </a:t>
                </a:r>
              </a:p>
            </p:txBody>
          </p:sp>
        </mc:Fallback>
      </mc:AlternateContent>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1075594"/>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782595"/>
                <a:ext cx="11018101" cy="3421242"/>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𝑔</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𝑘</m:t>
                                            </m:r>
                                          </m:e>
                                          <m:sub>
                                            <m:r>
                                              <a:rPr lang="es-AR" sz="1600" i="1">
                                                <a:latin typeface="Cambria Math" panose="02040503050406030204" pitchFamily="18" charset="0"/>
                                              </a:rPr>
                                              <m:t>𝑙</m:t>
                                            </m:r>
                                          </m:sub>
                                        </m:sSub>
                                        <m:func>
                                          <m:funcPr>
                                            <m:ctrlPr>
                                              <a:rPr lang="es-AR" sz="1600" i="1">
                                                <a:latin typeface="Cambria Math" panose="02040503050406030204" pitchFamily="18" charset="0"/>
                                              </a:rPr>
                                            </m:ctrlPr>
                                          </m:funcPr>
                                          <m:fName>
                                            <m:r>
                                              <a:rPr lang="es-AR" sz="1600" i="1">
                                                <a:latin typeface="Cambria Math" panose="02040503050406030204" pitchFamily="18" charset="0"/>
                                              </a:rPr>
                                              <m:t>𝑠𝑖𝑛</m:t>
                                            </m:r>
                                          </m:fName>
                                          <m:e>
                                            <m:d>
                                              <m:dPr>
                                                <m:ctrlPr>
                                                  <a:rPr lang="es-AR" sz="1600" i="1">
                                                    <a:latin typeface="Cambria Math" panose="02040503050406030204" pitchFamily="18" charset="0"/>
                                                  </a:rPr>
                                                </m:ctrlPr>
                                              </m:dPr>
                                              <m:e>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𝑟</m:t>
                                                    </m:r>
                                                  </m:den>
                                                </m:f>
                                              </m:e>
                                            </m:d>
                                          </m:e>
                                        </m:func>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m>
                                        <m:mPr>
                                          <m:mcs>
                                            <m:mc>
                                              <m:mcPr>
                                                <m:count m:val="1"/>
                                                <m:mcJc m:val="center"/>
                                              </m:mcPr>
                                            </m:mc>
                                          </m:mcs>
                                          <m:ctrlPr>
                                            <a:rPr lang="es-AR" sz="1600" i="1">
                                              <a:latin typeface="Cambria Math" panose="02040503050406030204" pitchFamily="18" charset="0"/>
                                            </a:rPr>
                                          </m:ctrlPr>
                                        </m:mP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𝑙𝑠</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d>
                                                  <m:dPr>
                                                    <m:ctrlPr>
                                                      <a:rPr lang="es-AR" sz="1600" i="1">
                                                        <a:latin typeface="Cambria Math" panose="02040503050406030204" pitchFamily="18" charset="0"/>
                                                      </a:rPr>
                                                    </m:ctrlPr>
                                                  </m:dPr>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r>
                                                      <a:rPr lang="es-AR" sz="1600" i="1">
                                                        <a:latin typeface="Cambria Math" panose="02040503050406030204" pitchFamily="18" charset="0"/>
                                                      </a:rPr>
                                                      <m:t>+2</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0</m:t>
                                                                </m:r>
                                                                <m:r>
                                                                  <a:rPr lang="es-AR" sz="1600" i="1">
                                                                    <a:latin typeface="Cambria Math" panose="02040503050406030204" pitchFamily="18" charset="0"/>
                                                                  </a:rPr>
                                                                  <m:t>𝑠</m:t>
                                                                </m:r>
                                                              </m:sub>
                                                              <m:sup>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e>
                                            </m:d>
                                            <m:r>
                                              <a:rPr lang="es-AR" sz="1600" i="1">
                                                <a:latin typeface="Cambria Math" panose="02040503050406030204" pitchFamily="18" charset="0"/>
                                              </a:rPr>
                                              <m:t>                               </m:t>
                                            </m:r>
                                          </m:e>
                                        </m:mr>
                                      </m:m>
                                    </m:e>
                                  </m:mr>
                                </m:m>
                              </m:e>
                            </m:mr>
                          </m:m>
                        </m:e>
                      </m:d>
                    </m:oMath>
                  </m:oMathPara>
                </a14:m>
                <a:endParaRPr lang="es-AR"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782595"/>
                <a:ext cx="11018101" cy="3421242"/>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Inversor trifásico y sensores — Modelo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961185"/>
            <a:ext cx="10007065" cy="4651050"/>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6152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7" name="Text 5"/>
          <p:cNvSpPr/>
          <p:nvPr/>
        </p:nvSpPr>
        <p:spPr>
          <a:xfrm>
            <a:off x="365760" y="777240"/>
            <a:ext cx="11430000" cy="6858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El sistema es no lineal por acoplamientos entre variables de estado y entre ejes d-q. Para usar herramientas de control lineal, se descompone cada variable en un punto de operación cuasi-estacionario y una perturbación de pequeña magnitud:</a:t>
            </a:r>
            <a:endParaRPr lang="en-US" sz="1300" dirty="0"/>
          </a:p>
        </p:txBody>
      </p:sp>
      <p:sp>
        <p:nvSpPr>
          <p:cNvPr id="8" name="Shape 6"/>
          <p:cNvSpPr/>
          <p:nvPr/>
        </p:nvSpPr>
        <p:spPr>
          <a:xfrm>
            <a:off x="1371600" y="1401968"/>
            <a:ext cx="914400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401968"/>
                <a:ext cx="896112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401968"/>
                <a:ext cx="8961120" cy="530352"/>
              </a:xfrm>
              <a:prstGeom prst="rect">
                <a:avLst/>
              </a:prstGeom>
              <a:blipFill>
                <a:blip r:embed="rId2"/>
                <a:stretch>
                  <a:fillRect/>
                </a:stretch>
              </a:blipFill>
              <a:ln/>
            </p:spPr>
            <p:txBody>
              <a:bodyPr/>
              <a:lstStyle/>
              <a:p>
                <a:r>
                  <a:rPr lang="es-AR">
                    <a:noFill/>
                  </a:rPr>
                  <a:t> </a:t>
                </a:r>
              </a:p>
            </p:txBody>
          </p:sp>
        </mc:Fallback>
      </mc:AlternateContent>
      <p:sp>
        <p:nvSpPr>
          <p:cNvPr id="10" name="Text 8"/>
          <p:cNvSpPr/>
          <p:nvPr/>
        </p:nvSpPr>
        <p:spPr>
          <a:xfrm>
            <a:off x="365760" y="2148840"/>
            <a:ext cx="11430000" cy="38404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Entonces, el sistema no lineal queda expresado como: </a:t>
            </a:r>
            <a:endParaRPr lang="es-AR" sz="1300" dirty="0"/>
          </a:p>
        </p:txBody>
      </p:sp>
      <p:sp>
        <p:nvSpPr>
          <p:cNvPr id="18" name="Shape 6">
            <a:extLst>
              <a:ext uri="{FF2B5EF4-FFF2-40B4-BE49-F238E27FC236}">
                <a16:creationId xmlns:a16="http://schemas.microsoft.com/office/drawing/2014/main" id="{BBAC01EC-E856-4860-B292-FF94F5A2DFFA}"/>
              </a:ext>
            </a:extLst>
          </p:cNvPr>
          <p:cNvSpPr/>
          <p:nvPr/>
        </p:nvSpPr>
        <p:spPr>
          <a:xfrm>
            <a:off x="1371600" y="2575421"/>
            <a:ext cx="9144000" cy="119962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7">
                <a:extLst>
                  <a:ext uri="{FF2B5EF4-FFF2-40B4-BE49-F238E27FC236}">
                    <a16:creationId xmlns:a16="http://schemas.microsoft.com/office/drawing/2014/main" id="{43434609-4479-46CB-A4E2-9F9A2E6B04CF}"/>
                  </a:ext>
                </a:extLst>
              </p:cNvPr>
              <p:cNvSpPr/>
              <p:nvPr/>
            </p:nvSpPr>
            <p:spPr>
              <a:xfrm>
                <a:off x="1463040" y="2892021"/>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mr>
                          </m:m>
                        </m:e>
                      </m:d>
                    </m:oMath>
                  </m:oMathPara>
                </a14:m>
                <a:endParaRPr lang="en-US" sz="1100" dirty="0"/>
              </a:p>
            </p:txBody>
          </p:sp>
        </mc:Choice>
        <mc:Fallback xmlns="">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1463040" y="2892021"/>
                <a:ext cx="8961120" cy="530352"/>
              </a:xfrm>
              <a:prstGeom prst="rect">
                <a:avLst/>
              </a:prstGeom>
              <a:blipFill>
                <a:blip r:embed="rId4"/>
                <a:stretch>
                  <a:fillRect t="-27586" b="-36782"/>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462233" y="4034041"/>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371600" y="4489243"/>
            <a:ext cx="9144000" cy="728709"/>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7">
                <a:extLst>
                  <a:ext uri="{FF2B5EF4-FFF2-40B4-BE49-F238E27FC236}">
                    <a16:creationId xmlns:a16="http://schemas.microsoft.com/office/drawing/2014/main" id="{03D3DAA2-D292-4B97-81CA-1484AD1CF633}"/>
                  </a:ext>
                </a:extLst>
              </p:cNvPr>
              <p:cNvSpPr/>
              <p:nvPr/>
            </p:nvSpPr>
            <p:spPr>
              <a:xfrm>
                <a:off x="1463040" y="456279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1463040" y="4562799"/>
                <a:ext cx="8961120" cy="530352"/>
              </a:xfrm>
              <a:prstGeom prst="rect">
                <a:avLst/>
              </a:prstGeom>
              <a:blipFill>
                <a:blip r:embed="rId3"/>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462233" y="5660774"/>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sub>
                                                    </m:sSub>
                                                    <m:r>
                                                      <a:rPr lang="es-AR" sz="1200" i="1">
                                                        <a:latin typeface="Cambria Math" panose="02040503050406030204" pitchFamily="18" charset="0"/>
                                                      </a:rPr>
                                                      <m:t>0</m:t>
                                                    </m:r>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1264" b="-175862"/>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600" y="4454260"/>
            <a:ext cx="9144000" cy="13173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Text 14"/>
              <p:cNvSpPr/>
              <p:nvPr/>
            </p:nvSpPr>
            <p:spPr>
              <a:xfrm>
                <a:off x="1371600" y="4758402"/>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xmlns="">
          <p:sp>
            <p:nvSpPr>
              <p:cNvPr id="16" name="Text 14"/>
              <p:cNvSpPr>
                <a:spLocks noRot="1" noChangeAspect="1" noMove="1" noResize="1" noEditPoints="1" noAdjustHandles="1" noChangeArrowheads="1" noChangeShapeType="1" noTextEdit="1"/>
              </p:cNvSpPr>
              <p:nvPr/>
            </p:nvSpPr>
            <p:spPr>
              <a:xfrm>
                <a:off x="1371600" y="4758402"/>
                <a:ext cx="8961120" cy="530352"/>
              </a:xfrm>
              <a:prstGeom prst="rect">
                <a:avLst/>
              </a:prstGeom>
              <a:blipFill>
                <a:blip r:embed="rId5"/>
                <a:stretch>
                  <a:fillRect t="-42529" b="-81609"/>
                </a:stretch>
              </a:blipFill>
              <a:ln/>
            </p:spPr>
            <p:txBody>
              <a:bodyPr/>
              <a:lstStyle/>
              <a:p>
                <a:r>
                  <a:rPr lang="es-AR">
                    <a:noFill/>
                  </a:rPr>
                  <a:t> </a:t>
                </a:r>
              </a:p>
            </p:txBody>
          </p:sp>
        </mc:Fallback>
      </mc:AlternateContent>
      <p:sp>
        <p:nvSpPr>
          <p:cNvPr id="17" name="Text 15"/>
          <p:cNvSpPr/>
          <p:nvPr/>
        </p:nvSpPr>
        <p:spPr>
          <a:xfrm>
            <a:off x="365760" y="5858621"/>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050" i="1">
                              <a:effectLst/>
                              <a:latin typeface="Cambria Math" panose="02040503050406030204" pitchFamily="18" charset="0"/>
                            </a:rPr>
                          </m:ctrlPr>
                        </m:acc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xmlns="">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42328"/>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r>
                              <a:rPr lang="es-AR" sz="1300" i="1">
                                <a:effectLst/>
                                <a:latin typeface="Cambria Math" panose="02040503050406030204" pitchFamily="18" charset="0"/>
                                <a:ea typeface="Times New Roman" panose="02020603050405020304" pitchFamily="18" charset="0"/>
                                <a:cs typeface="Calibri" panose="020F0502020204030204" pitchFamily="34" charset="0"/>
                              </a:rPr>
                              <m:t>,</m:t>
                            </m:r>
                            <m:r>
                              <a:rPr lang="es-AR" sz="1300" i="1">
                                <a:effectLst/>
                                <a:latin typeface="Cambria Math" panose="02040503050406030204" pitchFamily="18" charset="0"/>
                                <a:ea typeface="Times New Roman" panose="02020603050405020304" pitchFamily="18" charset="0"/>
                                <a:cs typeface="Calibri" panose="020F0502020204030204" pitchFamily="34" charset="0"/>
                              </a:rPr>
                              <m:t>𝑜𝑝</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42328"/>
              </a:xfrm>
              <a:prstGeom prst="rect">
                <a:avLst/>
              </a:prstGeom>
              <a:blipFill>
                <a:blip r:embed="rId3"/>
                <a:stretch>
                  <a:fillRect l="-53" r="-53" b="-8989"/>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sp>
        <p:nvSpPr>
          <p:cNvPr id="13" name="Text 11"/>
          <p:cNvSpPr/>
          <p:nvPr/>
        </p:nvSpPr>
        <p:spPr>
          <a:xfrm>
            <a:off x="502920" y="326440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Se desprecia la variación de Rs con Ts dentro del modelo eléctrico. El subsistema térmico se modela como independiente (sin realimentación hacia las ecuaciones eléctricas).</a:t>
            </a:r>
            <a:endParaRPr lang="en-US" sz="1200" dirty="0"/>
          </a:p>
        </p:txBody>
      </p:sp>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=0</m:t>
                    </m:r>
                  </m:oMath>
                </a14:m>
                <a:r>
                  <a:rPr lang="es-AR" sz="1400" dirty="0"/>
                  <a:t>, desacople térmico, y eliminación de la componente homopolar) al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56531" y="1929467"/>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79325" y="2408648"/>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79325" y="2408648"/>
                <a:ext cx="4544034" cy="530352"/>
              </a:xfrm>
              <a:prstGeom prst="rect">
                <a:avLst/>
              </a:prstGeom>
              <a:blipFill>
                <a:blip r:embed="rId4"/>
                <a:stretch>
                  <a:fillRect t="-66667" b="-105747"/>
                </a:stretch>
              </a:blipFill>
              <a:ln/>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1" name="Text 14">
                <a:extLst>
                  <a:ext uri="{FF2B5EF4-FFF2-40B4-BE49-F238E27FC236}">
                    <a16:creationId xmlns:a16="http://schemas.microsoft.com/office/drawing/2014/main" id="{FB8015F6-289C-42FB-ADFF-05DE85785676}"/>
                  </a:ext>
                </a:extLst>
              </p:cNvPr>
              <p:cNvSpPr/>
              <p:nvPr/>
            </p:nvSpPr>
            <p:spPr>
              <a:xfrm>
                <a:off x="5176421" y="2526010"/>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76421" y="2526010"/>
                <a:ext cx="6512659" cy="530352"/>
              </a:xfrm>
              <a:prstGeom prst="rect">
                <a:avLst/>
              </a:prstGeom>
              <a:blipFill>
                <a:blip r:embed="rId5"/>
                <a:stretch>
                  <a:fillRect t="-44828"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3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t="-1111"/>
                </a:stretch>
              </a:blipFill>
              <a:ln/>
            </p:spPr>
            <p:txBody>
              <a:bodyPr/>
              <a:lstStyle/>
              <a:p>
                <a:r>
                  <a:rPr lang="es-AR">
                    <a:noFill/>
                  </a:rPr>
                  <a:t> </a:t>
                </a:r>
              </a:p>
            </p:txBody>
          </p:sp>
        </mc:Fallback>
      </mc:AlternateContent>
      <p:sp>
        <p:nvSpPr>
          <p:cNvPr id="8" name="Shape 6"/>
          <p:cNvSpPr/>
          <p:nvPr/>
        </p:nvSpPr>
        <p:spPr>
          <a:xfrm>
            <a:off x="457200" y="1138428"/>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5"/>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28385"/>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28385"/>
                <a:ext cx="9256412" cy="296363"/>
              </a:xfrm>
              <a:prstGeom prst="rect">
                <a:avLst/>
              </a:prstGeom>
              <a:blipFill>
                <a:blip r:embed="rId5"/>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6"/>
          <a:stretch>
            <a:fillRect/>
          </a:stretch>
        </p:blipFill>
        <p:spPr>
          <a:xfrm>
            <a:off x="1292797" y="1980175"/>
            <a:ext cx="8361673" cy="4100585"/>
          </a:xfrm>
          <a:prstGeom prst="rect">
            <a:avLst/>
          </a:prstGeom>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oMath>
                </a14:m>
                <a:endParaRPr lang="es-AR" sz="1300" dirty="0"/>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3"/>
                <a:stretch>
                  <a:fillRect l="-53" t="-1111"/>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Esto es una ecuación a un sistema lineal 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6098796" cy="307841"/>
              </a:xfrm>
              <a:prstGeom prst="rect">
                <a:avLst/>
              </a:prstGeom>
              <a:noFill/>
            </p:spPr>
            <p:txBody>
              <a:bodyPr wrap="square">
                <a:spAutoFit/>
              </a:bodyPr>
              <a:lstStyle/>
              <a:p>
                <a:r>
                  <a:rPr lang="es-AR" sz="13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300" dirty="0"/>
                  <a:t>, podemos despejar </a:t>
                </a:r>
                <a14:m>
                  <m:oMath xmlns:m="http://schemas.openxmlformats.org/officeDocument/2006/math">
                    <m:sSubSup>
                      <m:sSubSupPr>
                        <m:ctrlPr>
                          <a:rPr lang="es-AR" sz="1300" i="1">
                            <a:latin typeface="Cambria Math" panose="02040503050406030204" pitchFamily="18" charset="0"/>
                          </a:rPr>
                        </m:ctrlPr>
                      </m:sSubSupPr>
                      <m:e>
                        <m:r>
                          <a:rPr lang="es-AR" sz="1300" i="1">
                            <a:latin typeface="Cambria Math" panose="02040503050406030204" pitchFamily="18" charset="0"/>
                          </a:rPr>
                          <m:t>𝑣</m:t>
                        </m:r>
                      </m:e>
                      <m:sub>
                        <m:r>
                          <a:rPr lang="es-AR" sz="1300" i="1">
                            <a:latin typeface="Cambria Math" panose="02040503050406030204" pitchFamily="18" charset="0"/>
                          </a:rPr>
                          <m:t>𝑞𝑠</m:t>
                        </m:r>
                      </m:sub>
                      <m:sup>
                        <m:r>
                          <a:rPr lang="es-AR" sz="1300" i="1">
                            <a:latin typeface="Cambria Math" panose="02040503050406030204" pitchFamily="18" charset="0"/>
                          </a:rPr>
                          <m:t>𝑟</m:t>
                        </m:r>
                      </m:sup>
                    </m:sSubSup>
                    <m:d>
                      <m:dPr>
                        <m:ctrlPr>
                          <a:rPr lang="es-AR" sz="1300" i="1">
                            <a:latin typeface="Cambria Math" panose="02040503050406030204" pitchFamily="18" charset="0"/>
                          </a:rPr>
                        </m:ctrlPr>
                      </m:dPr>
                      <m:e>
                        <m:r>
                          <a:rPr lang="es-AR" sz="1300" i="1">
                            <a:latin typeface="Cambria Math" panose="02040503050406030204" pitchFamily="18" charset="0"/>
                          </a:rPr>
                          <m:t>𝑡</m:t>
                        </m:r>
                      </m:e>
                    </m:d>
                  </m:oMath>
                </a14:m>
                <a:r>
                  <a:rPr lang="es-AR" sz="13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6098796" cy="307841"/>
              </a:xfrm>
              <a:prstGeom prst="rect">
                <a:avLst/>
              </a:prstGeom>
              <a:blipFill>
                <a:blip r:embed="rId7"/>
                <a:stretch>
                  <a:fillRect l="-100" b="-11765"/>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396766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00056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000561"/>
                <a:ext cx="7589520" cy="502920"/>
              </a:xfrm>
              <a:prstGeom prst="rect">
                <a:avLst/>
              </a:prstGeom>
              <a:blipFill>
                <a:blip r:embed="rId2"/>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4774998"/>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4807891"/>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4807891"/>
                <a:ext cx="7589520" cy="502920"/>
              </a:xfrm>
              <a:prstGeom prst="rect">
                <a:avLst/>
              </a:prstGeom>
              <a:blipFill>
                <a:blip r:embed="rId8"/>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pic>
        <p:nvPicPr>
          <p:cNvPr id="22" name="Imagen 21">
            <a:extLst>
              <a:ext uri="{FF2B5EF4-FFF2-40B4-BE49-F238E27FC236}">
                <a16:creationId xmlns:a16="http://schemas.microsoft.com/office/drawing/2014/main" id="{3EB8B67E-5ABF-4E7B-A6B2-5D9359B2751E}"/>
              </a:ext>
            </a:extLst>
          </p:cNvPr>
          <p:cNvPicPr>
            <a:picLocks noChangeAspect="1"/>
          </p:cNvPicPr>
          <p:nvPr/>
        </p:nvPicPr>
        <p:blipFill>
          <a:blip r:embed="rId2"/>
          <a:stretch>
            <a:fillRect/>
          </a:stretch>
        </p:blipFill>
        <p:spPr>
          <a:xfrm>
            <a:off x="1126503" y="810142"/>
            <a:ext cx="10341247" cy="5084286"/>
          </a:xfrm>
          <a:prstGeom prst="rect">
            <a:avLst/>
          </a:prstGeom>
        </p:spPr>
      </p:pic>
    </p:spTree>
    <p:extLst>
      <p:ext uri="{BB962C8B-B14F-4D97-AF65-F5344CB8AC3E}">
        <p14:creationId xmlns:p14="http://schemas.microsoft.com/office/powerpoint/2010/main" val="33068440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mc:Choice xmlns:a14="http://schemas.microsoft.com/office/drawing/2010/main"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m:ctrlPr>
                      </m:sSubSupPr>
                      <m:e>
                        <m:r>
                          <a:rPr lang="es-AR" sz="1400" i="1"/>
                          <m:t>𝑖</m:t>
                        </m:r>
                      </m:e>
                      <m:sub>
                        <m:r>
                          <a:rPr lang="es-AR" sz="1400" i="1"/>
                          <m:t>𝑑𝑠</m:t>
                        </m:r>
                      </m:sub>
                      <m:sup>
                        <m:r>
                          <a:rPr lang="es-AR" sz="1400" i="1"/>
                          <m:t>𝑟</m:t>
                        </m:r>
                      </m:sup>
                    </m:sSubSup>
                    <m:d>
                      <m:dPr>
                        <m:ctrlPr>
                          <a:rPr lang="es-AR" sz="1400" i="1"/>
                        </m:ctrlPr>
                      </m:dPr>
                      <m:e>
                        <m:r>
                          <a:rPr lang="es-AR" sz="1400" i="1"/>
                          <m:t>𝑡</m:t>
                        </m:r>
                      </m:e>
                    </m:d>
                    <m:r>
                      <a:rPr lang="es-AR" sz="1400"/>
                      <m:t>≈0</m:t>
                    </m:r>
                  </m:oMath>
                </a14:m>
                <a:r>
                  <a:rPr lang="es-AR" sz="1400" b="0" i="0" dirty="0">
                    <a:solidFill>
                      <a:srgbClr val="1A1A2E"/>
                    </a:solidFill>
                    <a:latin typeface="Calibri"/>
                  </a:rPr>
                  <a:t> para desacoplar las dinámicas d–q.</a:t>
                </a:r>
              </a:p>
            </p:txBody>
          </p:sp>
        </mc:Choice>
        <mc:Fallback>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p:sp>
        <p:nvSpPr>
          <p:cNvPr id="9" name="TextBox 8"/>
          <p:cNvSpPr txBox="1"/>
          <p:nvPr/>
        </p:nvSpPr>
        <p:spPr>
          <a:xfrm>
            <a:off x="365760" y="1965960"/>
            <a:ext cx="5486400" cy="2011680"/>
          </a:xfrm>
          <a:prstGeom prst="rect">
            <a:avLst/>
          </a:prstGeom>
          <a:noFill/>
        </p:spPr>
        <p:txBody>
          <a:bodyPr wrap="square">
            <a:spAutoFit/>
          </a:bodyPr>
          <a:lstStyle/>
          <a:p>
            <a:r>
              <a:rPr sz="1350">
                <a:solidFill>
                  <a:srgbClr val="1A1A2E"/>
                </a:solidFill>
                <a:latin typeface="Calibri"/>
              </a:rPr>
              <a:t>Conserva los acoplamientos y no linealidades del sistema real</a:t>
            </a:r>
          </a:p>
          <a:p>
            <a:pPr>
              <a:spcBef>
                <a:spcPts val="400"/>
              </a:spcBef>
            </a:pPr>
            <a:r>
              <a:rPr sz="1350">
                <a:solidFill>
                  <a:srgbClr val="1A1A2E"/>
                </a:solidFill>
                <a:latin typeface="Calibri"/>
              </a:rPr>
              <a:t>Mayor validez para distintos regímenes de operación (no solo ids ≈ 0)</a:t>
            </a:r>
          </a:p>
          <a:p>
            <a:pPr>
              <a:spcBef>
                <a:spcPts val="400"/>
              </a:spcBef>
            </a:pPr>
            <a:r>
              <a:rPr sz="1350">
                <a:solidFill>
                  <a:srgbClr val="1A1A2E"/>
                </a:solidFill>
                <a:latin typeface="Calibri"/>
              </a:rPr>
              <a:t>Permite simular el efecto del campo magnético en el torque para ids ≠ 0</a:t>
            </a:r>
          </a:p>
        </p:txBody>
      </p:sp>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mc:Choice xmlns:a14="http://schemas.microsoft.com/office/drawing/2010/main"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3"/>
                <a:stretch>
                  <a:fillRect l="-160" t="-3922" b="-17647"/>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rPr>
                        </m:ctrlPr>
                      </m:fPr>
                      <m:num>
                        <m:r>
                          <a:rPr lang="es-AR" sz="1400" i="1">
                            <a:solidFill>
                              <a:schemeClr val="tx1"/>
                            </a:solidFill>
                          </a:rPr>
                          <m:t>𝑑</m:t>
                        </m:r>
                        <m:sSubSup>
                          <m:sSubSupPr>
                            <m:ctrlPr>
                              <a:rPr lang="es-AR" sz="1400" i="1">
                                <a:solidFill>
                                  <a:schemeClr val="tx1"/>
                                </a:solidFill>
                              </a:rPr>
                            </m:ctrlPr>
                          </m:sSubSupPr>
                          <m:e>
                            <m:r>
                              <a:rPr lang="es-AR" sz="1400" i="1">
                                <a:solidFill>
                                  <a:schemeClr val="tx1"/>
                                </a:solidFill>
                              </a:rPr>
                              <m:t>𝑖</m:t>
                            </m:r>
                          </m:e>
                          <m:sub>
                            <m:r>
                              <a:rPr lang="es-AR" sz="1400" i="1">
                                <a:solidFill>
                                  <a:schemeClr val="tx1"/>
                                </a:solidFill>
                              </a:rPr>
                              <m:t>𝑑𝑠</m:t>
                            </m:r>
                          </m:sub>
                          <m:sup>
                            <m:r>
                              <a:rPr lang="es-AR" sz="1400" i="1">
                                <a:solidFill>
                                  <a:schemeClr val="tx1"/>
                                </a:solidFill>
                              </a:rPr>
                              <m:t>𝑟</m:t>
                            </m:r>
                          </m:sup>
                        </m:sSubSup>
                        <m:d>
                          <m:dPr>
                            <m:ctrlPr>
                              <a:rPr lang="es-AR" sz="1400" i="1">
                                <a:solidFill>
                                  <a:schemeClr val="tx1"/>
                                </a:solidFill>
                              </a:rPr>
                            </m:ctrlPr>
                          </m:dPr>
                          <m:e>
                            <m:r>
                              <a:rPr lang="es-AR" sz="1400" i="1">
                                <a:solidFill>
                                  <a:schemeClr val="tx1"/>
                                </a:solidFill>
                              </a:rPr>
                              <m:t>𝑡</m:t>
                            </m:r>
                          </m:e>
                        </m:d>
                      </m:num>
                      <m:den>
                        <m:r>
                          <a:rPr lang="es-AR" sz="1400" i="1">
                            <a:solidFill>
                              <a:schemeClr val="tx1"/>
                            </a:solidFill>
                          </a:rPr>
                          <m:t>𝑑𝑡</m:t>
                        </m:r>
                      </m:den>
                    </m:f>
                    <m:r>
                      <a:rPr lang="es-AR" sz="1400" i="1">
                        <a:solidFill>
                          <a:schemeClr val="tx1"/>
                        </a:solidFill>
                      </a:rPr>
                      <m:t>=</m:t>
                    </m:r>
                    <m:f>
                      <m:fPr>
                        <m:ctrlPr>
                          <a:rPr lang="es-AR" sz="1400" i="1">
                            <a:solidFill>
                              <a:schemeClr val="tx1"/>
                            </a:solidFill>
                          </a:rPr>
                        </m:ctrlPr>
                      </m:fPr>
                      <m:num>
                        <m:r>
                          <a:rPr lang="es-AR" sz="1400" i="1">
                            <a:solidFill>
                              <a:schemeClr val="tx1"/>
                            </a:solidFill>
                          </a:rPr>
                          <m:t>1</m:t>
                        </m:r>
                      </m:num>
                      <m:den>
                        <m:sSub>
                          <m:sSubPr>
                            <m:ctrlPr>
                              <a:rPr lang="es-AR" sz="1400" i="1">
                                <a:solidFill>
                                  <a:schemeClr val="tx1"/>
                                </a:solidFill>
                              </a:rPr>
                            </m:ctrlPr>
                          </m:sSubPr>
                          <m:e>
                            <m:r>
                              <a:rPr lang="es-AR" sz="1400" i="1">
                                <a:solidFill>
                                  <a:schemeClr val="tx1"/>
                                </a:solidFill>
                              </a:rPr>
                              <m:t>𝐿</m:t>
                            </m:r>
                          </m:e>
                          <m:sub>
                            <m:r>
                              <a:rPr lang="es-AR" sz="1400" i="1">
                                <a:solidFill>
                                  <a:schemeClr val="tx1"/>
                                </a:solidFill>
                              </a:rPr>
                              <m:t>𝑑</m:t>
                            </m:r>
                          </m:sub>
                        </m:sSub>
                      </m:den>
                    </m:f>
                    <m:d>
                      <m:dPr>
                        <m:ctrlPr>
                          <a:rPr lang="es-AR" sz="1400" i="1">
                            <a:solidFill>
                              <a:schemeClr val="tx1"/>
                            </a:solidFill>
                          </a:rPr>
                        </m:ctrlPr>
                      </m:dPr>
                      <m:e>
                        <m:sSubSup>
                          <m:sSubSupPr>
                            <m:ctrlPr>
                              <a:rPr lang="es-AR" sz="1400" i="1">
                                <a:solidFill>
                                  <a:schemeClr val="tx1"/>
                                </a:solidFill>
                              </a:rPr>
                            </m:ctrlPr>
                          </m:sSubSupPr>
                          <m:e>
                            <m:r>
                              <a:rPr lang="es-AR" sz="1400" i="1">
                                <a:solidFill>
                                  <a:schemeClr val="tx1"/>
                                </a:solidFill>
                              </a:rPr>
                              <m:t>𝑣</m:t>
                            </m:r>
                          </m:e>
                          <m:sub>
                            <m:r>
                              <a:rPr lang="es-AR" sz="1400" i="1">
                                <a:solidFill>
                                  <a:schemeClr val="tx1"/>
                                </a:solidFill>
                              </a:rPr>
                              <m:t>𝑑𝑠</m:t>
                            </m:r>
                          </m:sub>
                          <m:sup>
                            <m:r>
                              <a:rPr lang="es-AR" sz="1400" i="1">
                                <a:solidFill>
                                  <a:schemeClr val="tx1"/>
                                </a:solidFill>
                              </a:rPr>
                              <m:t>𝑟</m:t>
                            </m:r>
                          </m:sup>
                        </m:sSubSup>
                        <m:d>
                          <m:dPr>
                            <m:ctrlPr>
                              <a:rPr lang="es-AR" sz="1400" i="1">
                                <a:solidFill>
                                  <a:schemeClr val="tx1"/>
                                </a:solidFill>
                              </a:rPr>
                            </m:ctrlPr>
                          </m:dPr>
                          <m:e>
                            <m:r>
                              <a:rPr lang="es-AR" sz="1400" i="1">
                                <a:solidFill>
                                  <a:schemeClr val="tx1"/>
                                </a:solidFill>
                              </a:rPr>
                              <m:t>𝑡</m:t>
                            </m:r>
                          </m:e>
                        </m:d>
                        <m:r>
                          <a:rPr lang="es-AR" sz="1400" i="1">
                            <a:solidFill>
                              <a:schemeClr val="tx1"/>
                            </a:solidFill>
                          </a:rPr>
                          <m:t>−</m:t>
                        </m:r>
                        <m:sSub>
                          <m:sSubPr>
                            <m:ctrlPr>
                              <a:rPr lang="es-AR" sz="1400" i="1">
                                <a:solidFill>
                                  <a:schemeClr val="tx1"/>
                                </a:solidFill>
                              </a:rPr>
                            </m:ctrlPr>
                          </m:sSubPr>
                          <m:e>
                            <m:r>
                              <a:rPr lang="es-AR" sz="1400" i="1">
                                <a:solidFill>
                                  <a:schemeClr val="tx1"/>
                                </a:solidFill>
                              </a:rPr>
                              <m:t>𝑅</m:t>
                            </m:r>
                          </m:e>
                          <m:sub>
                            <m:r>
                              <a:rPr lang="es-AR" sz="1400" i="1">
                                <a:solidFill>
                                  <a:schemeClr val="tx1"/>
                                </a:solidFill>
                              </a:rPr>
                              <m:t>𝑠</m:t>
                            </m:r>
                          </m:sub>
                        </m:sSub>
                        <m:d>
                          <m:dPr>
                            <m:ctrlPr>
                              <a:rPr lang="es-AR" sz="1400" i="1">
                                <a:solidFill>
                                  <a:schemeClr val="tx1"/>
                                </a:solidFill>
                              </a:rPr>
                            </m:ctrlPr>
                          </m:dPr>
                          <m:e>
                            <m:sSubSup>
                              <m:sSubSupPr>
                                <m:ctrlPr>
                                  <a:rPr lang="es-AR" sz="1400" i="1">
                                    <a:solidFill>
                                      <a:schemeClr val="tx1"/>
                                    </a:solidFill>
                                  </a:rPr>
                                </m:ctrlPr>
                              </m:sSubSupPr>
                              <m:e>
                                <m:r>
                                  <a:rPr lang="es-AR" sz="1400" i="1">
                                    <a:solidFill>
                                      <a:schemeClr val="tx1"/>
                                    </a:solidFill>
                                  </a:rPr>
                                  <m:t>𝑇</m:t>
                                </m:r>
                              </m:e>
                              <m:sub>
                                <m:r>
                                  <a:rPr lang="es-AR" sz="1400" i="1">
                                    <a:solidFill>
                                      <a:schemeClr val="tx1"/>
                                    </a:solidFill>
                                  </a:rPr>
                                  <m:t>𝑠</m:t>
                                </m:r>
                              </m:sub>
                              <m:sup>
                                <m:r>
                                  <a:rPr lang="es-AR" sz="1400">
                                    <a:solidFill>
                                      <a:schemeClr val="tx1"/>
                                    </a:solidFill>
                                  </a:rPr>
                                  <m:t>∘</m:t>
                                </m:r>
                              </m:sup>
                            </m:sSubSup>
                          </m:e>
                        </m:d>
                        <m:sSubSup>
                          <m:sSubSupPr>
                            <m:ctrlPr>
                              <a:rPr lang="es-AR" sz="1400" i="1">
                                <a:solidFill>
                                  <a:schemeClr val="tx1"/>
                                </a:solidFill>
                              </a:rPr>
                            </m:ctrlPr>
                          </m:sSubSupPr>
                          <m:e>
                            <m:r>
                              <a:rPr lang="es-AR" sz="1400" i="1">
                                <a:solidFill>
                                  <a:schemeClr val="tx1"/>
                                </a:solidFill>
                              </a:rPr>
                              <m:t>𝑖</m:t>
                            </m:r>
                          </m:e>
                          <m:sub>
                            <m:r>
                              <a:rPr lang="es-AR" sz="1400" i="1">
                                <a:solidFill>
                                  <a:schemeClr val="tx1"/>
                                </a:solidFill>
                              </a:rPr>
                              <m:t>𝑑𝑠</m:t>
                            </m:r>
                          </m:sub>
                          <m:sup>
                            <m:r>
                              <a:rPr lang="es-AR" sz="1400" i="1">
                                <a:solidFill>
                                  <a:schemeClr val="tx1"/>
                                </a:solidFill>
                              </a:rPr>
                              <m:t>𝑟</m:t>
                            </m:r>
                          </m:sup>
                        </m:sSubSup>
                        <m:d>
                          <m:dPr>
                            <m:ctrlPr>
                              <a:rPr lang="es-AR" sz="1400" i="1">
                                <a:solidFill>
                                  <a:schemeClr val="tx1"/>
                                </a:solidFill>
                              </a:rPr>
                            </m:ctrlPr>
                          </m:dPr>
                          <m:e>
                            <m:r>
                              <a:rPr lang="es-AR" sz="1400" i="1">
                                <a:solidFill>
                                  <a:schemeClr val="tx1"/>
                                </a:solidFill>
                              </a:rPr>
                              <m:t>𝑡</m:t>
                            </m:r>
                          </m:e>
                        </m:d>
                        <m:r>
                          <a:rPr lang="es-AR" sz="1400" i="1">
                            <a:solidFill>
                              <a:schemeClr val="tx1"/>
                            </a:solidFill>
                          </a:rPr>
                          <m:t>+</m:t>
                        </m:r>
                        <m:sSub>
                          <m:sSubPr>
                            <m:ctrlPr>
                              <a:rPr lang="es-AR" sz="1400" i="1">
                                <a:solidFill>
                                  <a:schemeClr val="tx1"/>
                                </a:solidFill>
                              </a:rPr>
                            </m:ctrlPr>
                          </m:sSubPr>
                          <m:e>
                            <m:r>
                              <a:rPr lang="es-AR" sz="1400" i="1">
                                <a:solidFill>
                                  <a:schemeClr val="tx1"/>
                                </a:solidFill>
                              </a:rPr>
                              <m:t>𝐿</m:t>
                            </m:r>
                          </m:e>
                          <m:sub>
                            <m:r>
                              <a:rPr lang="es-AR" sz="1400" i="1">
                                <a:solidFill>
                                  <a:schemeClr val="tx1"/>
                                </a:solidFill>
                              </a:rPr>
                              <m:t>𝑞</m:t>
                            </m:r>
                          </m:sub>
                        </m:sSub>
                        <m:sSubSup>
                          <m:sSubSupPr>
                            <m:ctrlPr>
                              <a:rPr lang="es-AR" sz="1400" i="1">
                                <a:solidFill>
                                  <a:schemeClr val="tx1"/>
                                </a:solidFill>
                              </a:rPr>
                            </m:ctrlPr>
                          </m:sSubSupPr>
                          <m:e>
                            <m:r>
                              <a:rPr lang="es-AR" sz="1400" i="1">
                                <a:solidFill>
                                  <a:schemeClr val="tx1"/>
                                </a:solidFill>
                              </a:rPr>
                              <m:t>𝑖</m:t>
                            </m:r>
                          </m:e>
                          <m:sub>
                            <m:r>
                              <a:rPr lang="es-AR" sz="1400" i="1">
                                <a:solidFill>
                                  <a:schemeClr val="tx1"/>
                                </a:solidFill>
                              </a:rPr>
                              <m:t>𝑞𝑠</m:t>
                            </m:r>
                          </m:sub>
                          <m:sup>
                            <m:r>
                              <a:rPr lang="es-AR" sz="1400" i="1">
                                <a:solidFill>
                                  <a:schemeClr val="tx1"/>
                                </a:solidFill>
                              </a:rPr>
                              <m:t>𝑟</m:t>
                            </m:r>
                          </m:sup>
                        </m:sSubSup>
                        <m:d>
                          <m:dPr>
                            <m:ctrlPr>
                              <a:rPr lang="es-AR" sz="1400" i="1">
                                <a:solidFill>
                                  <a:schemeClr val="tx1"/>
                                </a:solidFill>
                              </a:rPr>
                            </m:ctrlPr>
                          </m:dPr>
                          <m:e>
                            <m:r>
                              <a:rPr lang="es-AR" sz="1400" i="1">
                                <a:solidFill>
                                  <a:schemeClr val="tx1"/>
                                </a:solidFill>
                              </a:rPr>
                              <m:t>𝑡</m:t>
                            </m:r>
                          </m:e>
                        </m:d>
                        <m:sSub>
                          <m:sSubPr>
                            <m:ctrlPr>
                              <a:rPr lang="es-AR" sz="1400" i="1">
                                <a:solidFill>
                                  <a:schemeClr val="tx1"/>
                                </a:solidFill>
                              </a:rPr>
                            </m:ctrlPr>
                          </m:sSubPr>
                          <m:e>
                            <m:r>
                              <a:rPr lang="es-AR" sz="1400" i="1">
                                <a:solidFill>
                                  <a:schemeClr val="tx1"/>
                                </a:solidFill>
                              </a:rPr>
                              <m:t>𝑃</m:t>
                            </m:r>
                          </m:e>
                          <m:sub>
                            <m:r>
                              <a:rPr lang="es-AR" sz="1400" i="1">
                                <a:solidFill>
                                  <a:schemeClr val="tx1"/>
                                </a:solidFill>
                              </a:rPr>
                              <m:t>𝑝</m:t>
                            </m:r>
                          </m:sub>
                        </m:sSub>
                        <m:sSub>
                          <m:sSubPr>
                            <m:ctrlPr>
                              <a:rPr lang="es-AR" sz="1400" i="1">
                                <a:solidFill>
                                  <a:schemeClr val="tx1"/>
                                </a:solidFill>
                              </a:rPr>
                            </m:ctrlPr>
                          </m:sSubPr>
                          <m:e>
                            <m:r>
                              <m:rPr>
                                <m:sty m:val="p"/>
                              </m:rPr>
                              <a:rPr lang="es-AR" sz="1400">
                                <a:solidFill>
                                  <a:schemeClr val="tx1"/>
                                </a:solidFill>
                              </a:rPr>
                              <m:t>ω</m:t>
                            </m:r>
                          </m:e>
                          <m:sub>
                            <m:r>
                              <a:rPr lang="es-AR" sz="1400" i="1">
                                <a:solidFill>
                                  <a:schemeClr val="tx1"/>
                                </a:solidFill>
                              </a:rPr>
                              <m:t>𝑚</m:t>
                            </m:r>
                          </m:sub>
                        </m:sSub>
                        <m:d>
                          <m:dPr>
                            <m:ctrlPr>
                              <a:rPr lang="es-AR" sz="1400" i="1">
                                <a:solidFill>
                                  <a:schemeClr val="tx1"/>
                                </a:solidFill>
                              </a:rPr>
                            </m:ctrlPr>
                          </m:dPr>
                          <m:e>
                            <m:r>
                              <a:rPr lang="es-AR" sz="1400" i="1">
                                <a:solidFill>
                                  <a:schemeClr val="tx1"/>
                                </a:solidFill>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rPr>
                          <m:t>ω</m:t>
                        </m:r>
                      </m:e>
                      <m:sub>
                        <m:r>
                          <a:rPr lang="es-AR" sz="1400" i="1">
                            <a:solidFill>
                              <a:schemeClr val="tx1"/>
                            </a:solidFill>
                          </a:rPr>
                          <m:t>𝑚</m:t>
                        </m:r>
                      </m:sub>
                    </m:sSub>
                    <m:d>
                      <m:dPr>
                        <m:ctrlPr>
                          <a:rPr lang="es-AR" sz="1400" i="1">
                            <a:solidFill>
                              <a:schemeClr val="tx1"/>
                            </a:solidFill>
                          </a:rPr>
                        </m:ctrlPr>
                      </m:dPr>
                      <m:e>
                        <m:r>
                          <a:rPr lang="es-AR" sz="1400" i="1">
                            <a:solidFill>
                              <a:schemeClr val="tx1"/>
                            </a:solidFill>
                          </a:rPr>
                          <m:t>𝑡</m:t>
                        </m:r>
                      </m:e>
                    </m:d>
                    <m:r>
                      <a:rPr lang="es-AR" sz="1400" i="1">
                        <a:solidFill>
                          <a:schemeClr val="tx1"/>
                        </a:solidFill>
                      </a:rPr>
                      <m:t>=</m:t>
                    </m:r>
                    <m:f>
                      <m:fPr>
                        <m:ctrlPr>
                          <a:rPr lang="es-AR" sz="1400" i="1">
                            <a:solidFill>
                              <a:schemeClr val="tx1"/>
                            </a:solidFill>
                          </a:rPr>
                        </m:ctrlPr>
                      </m:fPr>
                      <m:num>
                        <m:sSub>
                          <m:sSubPr>
                            <m:ctrlPr>
                              <a:rPr lang="es-AR" sz="1400" i="1">
                                <a:solidFill>
                                  <a:schemeClr val="tx1"/>
                                </a:solidFill>
                              </a:rPr>
                            </m:ctrlPr>
                          </m:sSubPr>
                          <m:e>
                            <m:r>
                              <a:rPr lang="es-AR" sz="1400" i="1">
                                <a:solidFill>
                                  <a:schemeClr val="tx1"/>
                                </a:solidFill>
                              </a:rPr>
                              <m:t>𝑅</m:t>
                            </m:r>
                          </m:e>
                          <m:sub>
                            <m:r>
                              <a:rPr lang="es-AR" sz="1400" i="1">
                                <a:solidFill>
                                  <a:schemeClr val="tx1"/>
                                </a:solidFill>
                              </a:rPr>
                              <m:t>𝑠</m:t>
                            </m:r>
                          </m:sub>
                        </m:sSub>
                        <m:d>
                          <m:dPr>
                            <m:ctrlPr>
                              <a:rPr lang="es-AR" sz="1400" i="1">
                                <a:solidFill>
                                  <a:schemeClr val="tx1"/>
                                </a:solidFill>
                              </a:rPr>
                            </m:ctrlPr>
                          </m:dPr>
                          <m:e>
                            <m:sSubSup>
                              <m:sSubSupPr>
                                <m:ctrlPr>
                                  <a:rPr lang="es-AR" sz="1400" i="1">
                                    <a:solidFill>
                                      <a:schemeClr val="tx1"/>
                                    </a:solidFill>
                                  </a:rPr>
                                </m:ctrlPr>
                              </m:sSubSupPr>
                              <m:e>
                                <m:r>
                                  <a:rPr lang="es-AR" sz="1400" i="1">
                                    <a:solidFill>
                                      <a:schemeClr val="tx1"/>
                                    </a:solidFill>
                                  </a:rPr>
                                  <m:t>𝑇</m:t>
                                </m:r>
                              </m:e>
                              <m:sub>
                                <m:r>
                                  <a:rPr lang="es-AR" sz="1400" i="1">
                                    <a:solidFill>
                                      <a:schemeClr val="tx1"/>
                                    </a:solidFill>
                                  </a:rPr>
                                  <m:t>𝑠</m:t>
                                </m:r>
                              </m:sub>
                              <m:sup>
                                <m:r>
                                  <a:rPr lang="es-AR" sz="1400">
                                    <a:solidFill>
                                      <a:schemeClr val="tx1"/>
                                    </a:solidFill>
                                  </a:rPr>
                                  <m:t>∘</m:t>
                                </m:r>
                              </m:sup>
                            </m:sSubSup>
                          </m:e>
                        </m:d>
                        <m:sSubSup>
                          <m:sSubSupPr>
                            <m:ctrlPr>
                              <a:rPr lang="es-AR" sz="1400" i="1">
                                <a:solidFill>
                                  <a:schemeClr val="tx1"/>
                                </a:solidFill>
                              </a:rPr>
                            </m:ctrlPr>
                          </m:sSubSupPr>
                          <m:e>
                            <m:r>
                              <a:rPr lang="es-AR" sz="1400" i="1">
                                <a:solidFill>
                                  <a:schemeClr val="tx1"/>
                                </a:solidFill>
                              </a:rPr>
                              <m:t>𝑖</m:t>
                            </m:r>
                          </m:e>
                          <m:sub>
                            <m:r>
                              <a:rPr lang="es-AR" sz="1400" i="1">
                                <a:solidFill>
                                  <a:schemeClr val="tx1"/>
                                </a:solidFill>
                              </a:rPr>
                              <m:t>𝑑𝑠</m:t>
                            </m:r>
                          </m:sub>
                          <m:sup>
                            <m:r>
                              <a:rPr lang="es-AR" sz="1400" i="1">
                                <a:solidFill>
                                  <a:schemeClr val="tx1"/>
                                </a:solidFill>
                              </a:rPr>
                              <m:t>𝑟</m:t>
                            </m:r>
                          </m:sup>
                        </m:sSubSup>
                        <m:d>
                          <m:dPr>
                            <m:ctrlPr>
                              <a:rPr lang="es-AR" sz="1400" i="1">
                                <a:solidFill>
                                  <a:schemeClr val="tx1"/>
                                </a:solidFill>
                              </a:rPr>
                            </m:ctrlPr>
                          </m:dPr>
                          <m:e>
                            <m:r>
                              <a:rPr lang="es-AR" sz="1400" i="1">
                                <a:solidFill>
                                  <a:schemeClr val="tx1"/>
                                </a:solidFill>
                              </a:rPr>
                              <m:t>𝑡</m:t>
                            </m:r>
                          </m:e>
                        </m:d>
                        <m:r>
                          <a:rPr lang="es-AR" sz="1400" i="1">
                            <a:solidFill>
                              <a:schemeClr val="tx1"/>
                            </a:solidFill>
                          </a:rPr>
                          <m:t>−</m:t>
                        </m:r>
                        <m:sSubSup>
                          <m:sSubSupPr>
                            <m:ctrlPr>
                              <a:rPr lang="es-AR" sz="1400" i="1">
                                <a:solidFill>
                                  <a:schemeClr val="tx1"/>
                                </a:solidFill>
                              </a:rPr>
                            </m:ctrlPr>
                          </m:sSubSupPr>
                          <m:e>
                            <m:r>
                              <a:rPr lang="es-AR" sz="1400" i="1">
                                <a:solidFill>
                                  <a:schemeClr val="tx1"/>
                                </a:solidFill>
                              </a:rPr>
                              <m:t>𝑣</m:t>
                            </m:r>
                          </m:e>
                          <m:sub>
                            <m:r>
                              <a:rPr lang="es-AR" sz="1400" i="1">
                                <a:solidFill>
                                  <a:schemeClr val="tx1"/>
                                </a:solidFill>
                              </a:rPr>
                              <m:t>𝑑𝑠</m:t>
                            </m:r>
                          </m:sub>
                          <m:sup>
                            <m:r>
                              <a:rPr lang="es-AR" sz="1400" i="1">
                                <a:solidFill>
                                  <a:schemeClr val="tx1"/>
                                </a:solidFill>
                              </a:rPr>
                              <m:t>𝑟</m:t>
                            </m:r>
                          </m:sup>
                        </m:sSubSup>
                        <m:d>
                          <m:dPr>
                            <m:ctrlPr>
                              <a:rPr lang="es-AR" sz="1400" i="1">
                                <a:solidFill>
                                  <a:schemeClr val="tx1"/>
                                </a:solidFill>
                              </a:rPr>
                            </m:ctrlPr>
                          </m:dPr>
                          <m:e>
                            <m:r>
                              <a:rPr lang="es-AR" sz="1400" i="1">
                                <a:solidFill>
                                  <a:schemeClr val="tx1"/>
                                </a:solidFill>
                              </a:rPr>
                              <m:t>𝑡</m:t>
                            </m:r>
                          </m:e>
                        </m:d>
                      </m:num>
                      <m:den>
                        <m:sSub>
                          <m:sSubPr>
                            <m:ctrlPr>
                              <a:rPr lang="es-AR" sz="1400" i="1">
                                <a:solidFill>
                                  <a:schemeClr val="tx1"/>
                                </a:solidFill>
                              </a:rPr>
                            </m:ctrlPr>
                          </m:sSubPr>
                          <m:e>
                            <m:r>
                              <a:rPr lang="es-AR" sz="1400" i="1">
                                <a:solidFill>
                                  <a:schemeClr val="tx1"/>
                                </a:solidFill>
                              </a:rPr>
                              <m:t>𝐿</m:t>
                            </m:r>
                          </m:e>
                          <m:sub>
                            <m:r>
                              <a:rPr lang="es-AR" sz="1400" i="1">
                                <a:solidFill>
                                  <a:schemeClr val="tx1"/>
                                </a:solidFill>
                              </a:rPr>
                              <m:t>𝑞</m:t>
                            </m:r>
                          </m:sub>
                        </m:sSub>
                        <m:sSubSup>
                          <m:sSubSupPr>
                            <m:ctrlPr>
                              <a:rPr lang="es-AR" sz="1400" i="1">
                                <a:solidFill>
                                  <a:schemeClr val="tx1"/>
                                </a:solidFill>
                              </a:rPr>
                            </m:ctrlPr>
                          </m:sSubSupPr>
                          <m:e>
                            <m:r>
                              <a:rPr lang="es-AR" sz="1400" i="1">
                                <a:solidFill>
                                  <a:schemeClr val="tx1"/>
                                </a:solidFill>
                              </a:rPr>
                              <m:t>𝑖</m:t>
                            </m:r>
                          </m:e>
                          <m:sub>
                            <m:r>
                              <a:rPr lang="es-AR" sz="1400" i="1">
                                <a:solidFill>
                                  <a:schemeClr val="tx1"/>
                                </a:solidFill>
                              </a:rPr>
                              <m:t>𝑞𝑠</m:t>
                            </m:r>
                          </m:sub>
                          <m:sup>
                            <m:r>
                              <a:rPr lang="es-AR" sz="1400" i="1">
                                <a:solidFill>
                                  <a:schemeClr val="tx1"/>
                                </a:solidFill>
                              </a:rPr>
                              <m:t>𝑟</m:t>
                            </m:r>
                          </m:sup>
                        </m:sSubSup>
                        <m:d>
                          <m:dPr>
                            <m:ctrlPr>
                              <a:rPr lang="es-AR" sz="1400" i="1">
                                <a:solidFill>
                                  <a:schemeClr val="tx1"/>
                                </a:solidFill>
                              </a:rPr>
                            </m:ctrlPr>
                          </m:dPr>
                          <m:e>
                            <m:r>
                              <a:rPr lang="es-AR" sz="1400" i="1">
                                <a:solidFill>
                                  <a:schemeClr val="tx1"/>
                                </a:solidFill>
                              </a:rPr>
                              <m:t>𝑡</m:t>
                            </m:r>
                          </m:e>
                        </m:d>
                        <m:sSub>
                          <m:sSubPr>
                            <m:ctrlPr>
                              <a:rPr lang="es-AR" sz="1400" i="1">
                                <a:solidFill>
                                  <a:schemeClr val="tx1"/>
                                </a:solidFill>
                              </a:rPr>
                            </m:ctrlPr>
                          </m:sSubPr>
                          <m:e>
                            <m:r>
                              <a:rPr lang="es-AR" sz="1400" i="1">
                                <a:solidFill>
                                  <a:schemeClr val="tx1"/>
                                </a:solidFill>
                              </a:rPr>
                              <m:t>𝑃</m:t>
                            </m:r>
                          </m:e>
                          <m:sub>
                            <m:r>
                              <a:rPr lang="es-AR" sz="1400" i="1">
                                <a:solidFill>
                                  <a:schemeClr val="tx1"/>
                                </a:solidFill>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5"/>
                <a:stretch>
                  <a:fillRect t="-1460" b="-4380"/>
                </a:stretch>
              </a:blipFill>
            </p:spPr>
            <p:txBody>
              <a:bodyPr/>
              <a:lstStyle/>
              <a:p>
                <a:r>
                  <a:rPr lang="es-AR">
                    <a:noFill/>
                  </a:rPr>
                  <a:t> </a:t>
                </a:r>
              </a:p>
            </p:txBody>
          </p:sp>
        </mc:Fallback>
      </mc:AlternateContent>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mc:Choice xmlns:a14="http://schemas.microsoft.com/office/drawing/2010/main"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mc:Choice xmlns:a14="http://schemas.microsoft.com/office/drawing/2010/main" Requires="a14">
          <p:sp>
            <p:nvSpPr>
              <p:cNvPr id="22" name="TextBox 8">
                <a:extLst>
                  <a:ext uri="{FF2B5EF4-FFF2-40B4-BE49-F238E27FC236}">
                    <a16:creationId xmlns:a16="http://schemas.microsoft.com/office/drawing/2014/main" id="{5A6A7BCB-C69A-43DC-B8F0-757517C9C07B}"/>
                  </a:ext>
                </a:extLst>
              </p:cNvPr>
              <p:cNvSpPr txBox="1"/>
              <p:nvPr/>
            </p:nvSpPr>
            <p:spPr>
              <a:xfrm>
                <a:off x="-374639" y="2754421"/>
                <a:ext cx="11368735" cy="674608"/>
              </a:xfrm>
              <a:prstGeom prst="rect">
                <a:avLst/>
              </a:prstGeom>
              <a:noFill/>
            </p:spPr>
            <p:txBody>
              <a:bodyPr wrap="square">
                <a:spAutoFit/>
              </a:bodyPr>
              <a:lstStyle/>
              <a:p>
                <a:pPr algn="ctr"/>
                <a14:m>
                  <m:oMath xmlns:m="http://schemas.openxmlformats.org/officeDocument/2006/math">
                    <m:sSub>
                      <m:sSubPr>
                        <m:ctrlPr>
                          <a:rPr lang="es-AR" sz="1600" i="1" smtClean="0">
                            <a:solidFill>
                              <a:schemeClr val="tx1"/>
                            </a:solidFill>
                          </a:rPr>
                        </m:ctrlPr>
                      </m:sSubPr>
                      <m:e>
                        <m:r>
                          <a:rPr lang="es-AR" sz="1600" i="1">
                            <a:solidFill>
                              <a:schemeClr val="tx1"/>
                            </a:solidFill>
                          </a:rPr>
                          <m:t>𝐺</m:t>
                        </m:r>
                      </m:e>
                      <m:sub>
                        <m:sSubSup>
                          <m:sSubSupPr>
                            <m:ctrlPr>
                              <a:rPr lang="es-AR" sz="1600" i="1">
                                <a:solidFill>
                                  <a:schemeClr val="tx1"/>
                                </a:solidFill>
                              </a:rPr>
                            </m:ctrlPr>
                          </m:sSubSupPr>
                          <m:e>
                            <m:r>
                              <a:rPr lang="es-AR" sz="1600" i="1">
                                <a:solidFill>
                                  <a:schemeClr val="tx1"/>
                                </a:solidFill>
                              </a:rPr>
                              <m:t>𝑉</m:t>
                            </m:r>
                          </m:e>
                          <m:sub>
                            <m:r>
                              <a:rPr lang="es-AR" sz="1600" i="1">
                                <a:solidFill>
                                  <a:schemeClr val="tx1"/>
                                </a:solidFill>
                              </a:rPr>
                              <m:t>𝑞𝑠</m:t>
                            </m:r>
                          </m:sub>
                          <m:sup>
                            <m:r>
                              <a:rPr lang="es-AR" sz="1600" i="1">
                                <a:solidFill>
                                  <a:schemeClr val="tx1"/>
                                </a:solidFill>
                              </a:rPr>
                              <m:t>𝑟</m:t>
                            </m:r>
                          </m:sup>
                        </m:sSubSup>
                      </m:sub>
                    </m:sSub>
                    <m:d>
                      <m:dPr>
                        <m:ctrlPr>
                          <a:rPr lang="es-AR" sz="1600" i="1">
                            <a:solidFill>
                              <a:schemeClr val="tx1"/>
                            </a:solidFill>
                          </a:rPr>
                        </m:ctrlPr>
                      </m:dPr>
                      <m:e>
                        <m:r>
                          <a:rPr lang="es-AR" sz="1600" i="1">
                            <a:solidFill>
                              <a:schemeClr val="tx1"/>
                            </a:solidFill>
                          </a:rPr>
                          <m:t>𝑠</m:t>
                        </m:r>
                      </m:e>
                    </m:d>
                    <m:r>
                      <a:rPr lang="es-AR" sz="1600" i="1">
                        <a:solidFill>
                          <a:schemeClr val="tx1"/>
                        </a:solidFill>
                      </a:rPr>
                      <m:t>=</m:t>
                    </m:r>
                    <m:f>
                      <m:fPr>
                        <m:ctrlPr>
                          <a:rPr lang="es-AR" sz="1600" i="1">
                            <a:solidFill>
                              <a:schemeClr val="tx1"/>
                            </a:solidFill>
                          </a:rPr>
                        </m:ctrlPr>
                      </m:fPr>
                      <m:num>
                        <m:sSub>
                          <m:sSubPr>
                            <m:ctrlPr>
                              <a:rPr lang="es-AR" sz="1600" i="1">
                                <a:solidFill>
                                  <a:schemeClr val="tx1"/>
                                </a:solidFill>
                              </a:rPr>
                            </m:ctrlPr>
                          </m:sSubPr>
                          <m:e>
                            <m:r>
                              <a:rPr lang="es-AR" sz="1600" i="1">
                                <a:solidFill>
                                  <a:schemeClr val="tx1"/>
                                </a:solidFill>
                              </a:rPr>
                              <m:t>𝛩</m:t>
                            </m:r>
                          </m:e>
                          <m:sub>
                            <m:r>
                              <a:rPr lang="es-AR" sz="1600" i="1">
                                <a:solidFill>
                                  <a:schemeClr val="tx1"/>
                                </a:solidFill>
                              </a:rPr>
                              <m:t>𝑚</m:t>
                            </m:r>
                          </m:sub>
                        </m:sSub>
                        <m:d>
                          <m:dPr>
                            <m:ctrlPr>
                              <a:rPr lang="es-AR" sz="1600" i="1">
                                <a:solidFill>
                                  <a:schemeClr val="tx1"/>
                                </a:solidFill>
                              </a:rPr>
                            </m:ctrlPr>
                          </m:dPr>
                          <m:e>
                            <m:r>
                              <a:rPr lang="es-AR" sz="1600" i="1">
                                <a:solidFill>
                                  <a:schemeClr val="tx1"/>
                                </a:solidFill>
                              </a:rPr>
                              <m:t>𝑠</m:t>
                            </m:r>
                          </m:e>
                        </m:d>
                      </m:num>
                      <m:den>
                        <m:sSubSup>
                          <m:sSubSupPr>
                            <m:ctrlPr>
                              <a:rPr lang="es-AR" sz="1600" i="1">
                                <a:solidFill>
                                  <a:schemeClr val="tx1"/>
                                </a:solidFill>
                              </a:rPr>
                            </m:ctrlPr>
                          </m:sSubSupPr>
                          <m:e>
                            <m:r>
                              <a:rPr lang="es-AR" sz="1600" i="1">
                                <a:solidFill>
                                  <a:schemeClr val="tx1"/>
                                </a:solidFill>
                              </a:rPr>
                              <m:t>𝑉</m:t>
                            </m:r>
                          </m:e>
                          <m:sub>
                            <m:r>
                              <a:rPr lang="es-AR" sz="1600" i="1">
                                <a:solidFill>
                                  <a:schemeClr val="tx1"/>
                                </a:solidFill>
                              </a:rPr>
                              <m:t>𝑞𝑠</m:t>
                            </m:r>
                          </m:sub>
                          <m:sup>
                            <m:r>
                              <a:rPr lang="es-AR" sz="1600" i="1">
                                <a:solidFill>
                                  <a:schemeClr val="tx1"/>
                                </a:solidFill>
                              </a:rPr>
                              <m:t>𝑟</m:t>
                            </m:r>
                          </m:sup>
                        </m:sSubSup>
                        <m:d>
                          <m:dPr>
                            <m:ctrlPr>
                              <a:rPr lang="es-AR" sz="1600" i="1">
                                <a:solidFill>
                                  <a:schemeClr val="tx1"/>
                                </a:solidFill>
                              </a:rPr>
                            </m:ctrlPr>
                          </m:dPr>
                          <m:e>
                            <m:r>
                              <a:rPr lang="es-AR" sz="1600" i="1">
                                <a:solidFill>
                                  <a:schemeClr val="tx1"/>
                                </a:solidFill>
                              </a:rPr>
                              <m:t>𝑠</m:t>
                            </m:r>
                          </m:e>
                        </m:d>
                      </m:den>
                    </m:f>
                    <m:r>
                      <a:rPr lang="es-AR" sz="1600" i="1">
                        <a:solidFill>
                          <a:schemeClr val="tx1"/>
                        </a:solidFill>
                      </a:rPr>
                      <m:t>=</m:t>
                    </m:r>
                    <m:f>
                      <m:fPr>
                        <m:ctrlPr>
                          <a:rPr lang="es-AR" sz="1600" i="1">
                            <a:solidFill>
                              <a:schemeClr val="tx1"/>
                            </a:solidFill>
                          </a:rPr>
                        </m:ctrlPr>
                      </m:fPr>
                      <m:num>
                        <m:box>
                          <m:boxPr>
                            <m:ctrlPr>
                              <a:rPr lang="es-AR" sz="1600" i="1">
                                <a:solidFill>
                                  <a:schemeClr val="tx1"/>
                                </a:solidFill>
                              </a:rPr>
                            </m:ctrlPr>
                          </m:boxPr>
                          <m:e>
                            <m:argPr>
                              <m:argSz m:val="-1"/>
                            </m:argPr>
                            <m:f>
                              <m:fPr>
                                <m:ctrlPr>
                                  <a:rPr lang="es-AR" sz="1600" i="1">
                                    <a:solidFill>
                                      <a:schemeClr val="tx1"/>
                                    </a:solidFill>
                                  </a:rPr>
                                </m:ctrlPr>
                              </m:fPr>
                              <m:num>
                                <m:r>
                                  <a:rPr lang="es-AR" sz="1600" i="1">
                                    <a:solidFill>
                                      <a:schemeClr val="tx1"/>
                                    </a:solidFill>
                                  </a:rPr>
                                  <m:t>3</m:t>
                                </m:r>
                              </m:num>
                              <m:den>
                                <m:r>
                                  <a:rPr lang="es-AR" sz="1600" i="1">
                                    <a:solidFill>
                                      <a:schemeClr val="tx1"/>
                                    </a:solidFill>
                                  </a:rPr>
                                  <m:t>2</m:t>
                                </m:r>
                              </m:den>
                            </m:f>
                          </m:e>
                        </m:box>
                        <m:sSub>
                          <m:sSubPr>
                            <m:ctrlPr>
                              <a:rPr lang="es-AR" sz="1600" i="1">
                                <a:solidFill>
                                  <a:schemeClr val="tx1"/>
                                </a:solidFill>
                              </a:rPr>
                            </m:ctrlPr>
                          </m:sSubPr>
                          <m:e>
                            <m:r>
                              <a:rPr lang="es-AR" sz="1600" i="1">
                                <a:solidFill>
                                  <a:schemeClr val="tx1"/>
                                </a:solidFill>
                              </a:rPr>
                              <m:t>𝑃</m:t>
                            </m:r>
                          </m:e>
                          <m:sub>
                            <m:r>
                              <a:rPr lang="es-AR" sz="1600" i="1">
                                <a:solidFill>
                                  <a:schemeClr val="tx1"/>
                                </a:solidFill>
                              </a:rPr>
                              <m:t>𝑝</m:t>
                            </m:r>
                          </m:sub>
                        </m:sSub>
                        <m:sSubSup>
                          <m:sSubSupPr>
                            <m:ctrlPr>
                              <a:rPr lang="es-AR" sz="1600" i="1">
                                <a:solidFill>
                                  <a:schemeClr val="tx1"/>
                                </a:solidFill>
                              </a:rPr>
                            </m:ctrlPr>
                          </m:sSubSupPr>
                          <m:e>
                            <m:r>
                              <a:rPr lang="es-AR" sz="1600" i="1">
                                <a:solidFill>
                                  <a:schemeClr val="tx1"/>
                                </a:solidFill>
                              </a:rPr>
                              <m:t>𝜆</m:t>
                            </m:r>
                          </m:e>
                          <m:sub>
                            <m:r>
                              <a:rPr lang="es-AR" sz="1600" i="1">
                                <a:solidFill>
                                  <a:schemeClr val="tx1"/>
                                </a:solidFill>
                              </a:rPr>
                              <m:t>𝑚</m:t>
                            </m:r>
                          </m:sub>
                          <m:sup>
                            <m:r>
                              <a:rPr lang="es-AR" sz="1600" i="1">
                                <a:solidFill>
                                  <a:schemeClr val="tx1"/>
                                </a:solidFill>
                              </a:rPr>
                              <m:t>ˊ</m:t>
                            </m:r>
                            <m:r>
                              <a:rPr lang="es-AR" sz="1600" i="1">
                                <a:solidFill>
                                  <a:schemeClr val="tx1"/>
                                </a:solidFill>
                              </a:rPr>
                              <m:t>𝑟</m:t>
                            </m:r>
                          </m:sup>
                        </m:sSubSup>
                      </m:num>
                      <m:den>
                        <m:sSub>
                          <m:sSubPr>
                            <m:ctrlPr>
                              <a:rPr lang="es-AR" sz="1600" i="1">
                                <a:solidFill>
                                  <a:schemeClr val="tx1"/>
                                </a:solidFill>
                              </a:rPr>
                            </m:ctrlPr>
                          </m:sSubPr>
                          <m:e>
                            <m:r>
                              <a:rPr lang="es-AR" sz="1600" i="1">
                                <a:solidFill>
                                  <a:schemeClr val="tx1"/>
                                </a:solidFill>
                              </a:rPr>
                              <m:t>𝐽</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𝐿</m:t>
                            </m:r>
                          </m:e>
                          <m:sub>
                            <m:r>
                              <a:rPr lang="es-AR" sz="1600" i="1">
                                <a:solidFill>
                                  <a:schemeClr val="tx1"/>
                                </a:solidFill>
                              </a:rPr>
                              <m:t>𝑞</m:t>
                            </m:r>
                          </m:sub>
                        </m:sSub>
                        <m:sSup>
                          <m:sSupPr>
                            <m:ctrlPr>
                              <a:rPr lang="es-AR" sz="1600" i="1">
                                <a:solidFill>
                                  <a:schemeClr val="tx1"/>
                                </a:solidFill>
                              </a:rPr>
                            </m:ctrlPr>
                          </m:sSupPr>
                          <m:e>
                            <m:r>
                              <a:rPr lang="es-AR" sz="1600" i="1">
                                <a:solidFill>
                                  <a:schemeClr val="tx1"/>
                                </a:solidFill>
                              </a:rPr>
                              <m:t>𝑠</m:t>
                            </m:r>
                          </m:e>
                          <m:sup>
                            <m:r>
                              <a:rPr lang="es-AR" sz="1600" i="1">
                                <a:solidFill>
                                  <a:schemeClr val="tx1"/>
                                </a:solidFill>
                              </a:rPr>
                              <m:t>3</m:t>
                            </m:r>
                          </m:sup>
                        </m:sSup>
                        <m:r>
                          <a:rPr lang="es-AR" sz="1600" i="1">
                            <a:solidFill>
                              <a:schemeClr val="tx1"/>
                            </a:solidFill>
                          </a:rPr>
                          <m:t>+</m:t>
                        </m:r>
                        <m:d>
                          <m:dPr>
                            <m:ctrlPr>
                              <a:rPr lang="es-AR" sz="1600" i="1">
                                <a:solidFill>
                                  <a:schemeClr val="tx1"/>
                                </a:solidFill>
                              </a:rPr>
                            </m:ctrlPr>
                          </m:dPr>
                          <m:e>
                            <m:sSub>
                              <m:sSubPr>
                                <m:ctrlPr>
                                  <a:rPr lang="es-AR" sz="1600" i="1">
                                    <a:solidFill>
                                      <a:schemeClr val="tx1"/>
                                    </a:solidFill>
                                  </a:rPr>
                                </m:ctrlPr>
                              </m:sSubPr>
                              <m:e>
                                <m:r>
                                  <a:rPr lang="es-AR" sz="1600" i="1">
                                    <a:solidFill>
                                      <a:schemeClr val="tx1"/>
                                    </a:solidFill>
                                  </a:rPr>
                                  <m:t>𝐽</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𝑅</m:t>
                                </m:r>
                              </m:e>
                              <m:sub>
                                <m:r>
                                  <a:rPr lang="es-AR" sz="1600" i="1">
                                    <a:solidFill>
                                      <a:schemeClr val="tx1"/>
                                    </a:solidFill>
                                  </a:rPr>
                                  <m:t>𝑠</m:t>
                                </m:r>
                              </m:sub>
                            </m:sSub>
                            <m:r>
                              <a:rPr lang="es-AR" sz="1600" i="1">
                                <a:solidFill>
                                  <a:schemeClr val="tx1"/>
                                </a:solidFill>
                              </a:rPr>
                              <m:t>+</m:t>
                            </m:r>
                            <m:sSub>
                              <m:sSubPr>
                                <m:ctrlPr>
                                  <a:rPr lang="es-AR" sz="1600" i="1">
                                    <a:solidFill>
                                      <a:schemeClr val="tx1"/>
                                    </a:solidFill>
                                  </a:rPr>
                                </m:ctrlPr>
                              </m:sSubPr>
                              <m:e>
                                <m:r>
                                  <a:rPr lang="es-AR" sz="1600" i="1">
                                    <a:solidFill>
                                      <a:schemeClr val="tx1"/>
                                    </a:solidFill>
                                  </a:rPr>
                                  <m:t>𝑏</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𝐿</m:t>
                                </m:r>
                              </m:e>
                              <m:sub>
                                <m:r>
                                  <a:rPr lang="es-AR" sz="1600" i="1">
                                    <a:solidFill>
                                      <a:schemeClr val="tx1"/>
                                    </a:solidFill>
                                  </a:rPr>
                                  <m:t>𝑞</m:t>
                                </m:r>
                              </m:sub>
                            </m:sSub>
                          </m:e>
                        </m:d>
                        <m:sSup>
                          <m:sSupPr>
                            <m:ctrlPr>
                              <a:rPr lang="es-AR" sz="1600" i="1">
                                <a:solidFill>
                                  <a:schemeClr val="tx1"/>
                                </a:solidFill>
                              </a:rPr>
                            </m:ctrlPr>
                          </m:sSupPr>
                          <m:e>
                            <m:r>
                              <a:rPr lang="es-AR" sz="1600" i="1">
                                <a:solidFill>
                                  <a:schemeClr val="tx1"/>
                                </a:solidFill>
                              </a:rPr>
                              <m:t>𝑠</m:t>
                            </m:r>
                          </m:e>
                          <m:sup>
                            <m:r>
                              <a:rPr lang="es-AR" sz="1600" i="1">
                                <a:solidFill>
                                  <a:schemeClr val="tx1"/>
                                </a:solidFill>
                              </a:rPr>
                              <m:t>2</m:t>
                            </m:r>
                          </m:sup>
                        </m:sSup>
                        <m:r>
                          <a:rPr lang="es-AR" sz="1600" i="1">
                            <a:solidFill>
                              <a:schemeClr val="tx1"/>
                            </a:solidFill>
                          </a:rPr>
                          <m:t>+</m:t>
                        </m:r>
                        <m:sSub>
                          <m:sSubPr>
                            <m:ctrlPr>
                              <a:rPr lang="es-AR" sz="1600" i="1">
                                <a:solidFill>
                                  <a:schemeClr val="tx1"/>
                                </a:solidFill>
                              </a:rPr>
                            </m:ctrlPr>
                          </m:sSubPr>
                          <m:e>
                            <m:r>
                              <a:rPr lang="es-AR" sz="1600" i="1">
                                <a:solidFill>
                                  <a:schemeClr val="tx1"/>
                                </a:solidFill>
                              </a:rPr>
                              <m:t>𝑏</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𝑅</m:t>
                            </m:r>
                          </m:e>
                          <m:sub>
                            <m:r>
                              <a:rPr lang="es-AR" sz="1600" i="1">
                                <a:solidFill>
                                  <a:schemeClr val="tx1"/>
                                </a:solidFill>
                              </a:rPr>
                              <m:t>𝑠</m:t>
                            </m:r>
                          </m:sub>
                        </m:sSub>
                        <m:r>
                          <a:rPr lang="es-AR" sz="1600" i="1">
                            <a:solidFill>
                              <a:schemeClr val="tx1"/>
                            </a:solidFill>
                          </a:rPr>
                          <m:t>+</m:t>
                        </m:r>
                        <m:box>
                          <m:boxPr>
                            <m:ctrlPr>
                              <a:rPr lang="es-AR" sz="1600" i="1">
                                <a:solidFill>
                                  <a:schemeClr val="tx1"/>
                                </a:solidFill>
                              </a:rPr>
                            </m:ctrlPr>
                          </m:boxPr>
                          <m:e>
                            <m:argPr>
                              <m:argSz m:val="-1"/>
                            </m:argPr>
                            <m:f>
                              <m:fPr>
                                <m:ctrlPr>
                                  <a:rPr lang="es-AR" sz="1600" i="1">
                                    <a:solidFill>
                                      <a:schemeClr val="tx1"/>
                                    </a:solidFill>
                                  </a:rPr>
                                </m:ctrlPr>
                              </m:fPr>
                              <m:num>
                                <m:r>
                                  <a:rPr lang="es-AR" sz="1600" i="1">
                                    <a:solidFill>
                                      <a:schemeClr val="tx1"/>
                                    </a:solidFill>
                                  </a:rPr>
                                  <m:t>3</m:t>
                                </m:r>
                              </m:num>
                              <m:den>
                                <m:r>
                                  <a:rPr lang="es-AR" sz="1600" i="1">
                                    <a:solidFill>
                                      <a:schemeClr val="tx1"/>
                                    </a:solidFill>
                                  </a:rPr>
                                  <m:t>2</m:t>
                                </m:r>
                              </m:den>
                            </m:f>
                          </m:e>
                        </m:box>
                        <m:sSubSup>
                          <m:sSubSupPr>
                            <m:ctrlPr>
                              <a:rPr lang="es-AR" sz="1600" i="1">
                                <a:solidFill>
                                  <a:schemeClr val="tx1"/>
                                </a:solidFill>
                              </a:rPr>
                            </m:ctrlPr>
                          </m:sSubSupPr>
                          <m:e>
                            <m:r>
                              <a:rPr lang="es-AR" sz="1600" i="1">
                                <a:solidFill>
                                  <a:schemeClr val="tx1"/>
                                </a:solidFill>
                              </a:rPr>
                              <m:t>𝑃</m:t>
                            </m:r>
                          </m:e>
                          <m:sub>
                            <m:r>
                              <a:rPr lang="es-AR" sz="1600" i="1">
                                <a:solidFill>
                                  <a:schemeClr val="tx1"/>
                                </a:solidFill>
                              </a:rPr>
                              <m:t>𝑝</m:t>
                            </m:r>
                          </m:sub>
                          <m:sup>
                            <m:r>
                              <a:rPr lang="es-AR" sz="1600" i="1">
                                <a:solidFill>
                                  <a:schemeClr val="tx1"/>
                                </a:solidFill>
                              </a:rPr>
                              <m:t>2</m:t>
                            </m:r>
                          </m:sup>
                        </m:sSubSup>
                        <m:sSup>
                          <m:sSupPr>
                            <m:ctrlPr>
                              <a:rPr lang="es-AR" sz="1600" i="1">
                                <a:solidFill>
                                  <a:schemeClr val="tx1"/>
                                </a:solidFill>
                              </a:rPr>
                            </m:ctrlPr>
                          </m:sSupPr>
                          <m:e>
                            <m:d>
                              <m:dPr>
                                <m:ctrlPr>
                                  <a:rPr lang="es-AR" sz="1600" i="1">
                                    <a:solidFill>
                                      <a:schemeClr val="tx1"/>
                                    </a:solidFill>
                                  </a:rPr>
                                </m:ctrlPr>
                              </m:dPr>
                              <m:e>
                                <m:sSubSup>
                                  <m:sSubSupPr>
                                    <m:ctrlPr>
                                      <a:rPr lang="es-AR" sz="1600" i="1">
                                        <a:solidFill>
                                          <a:schemeClr val="tx1"/>
                                        </a:solidFill>
                                      </a:rPr>
                                    </m:ctrlPr>
                                  </m:sSubSupPr>
                                  <m:e>
                                    <m:r>
                                      <a:rPr lang="es-AR" sz="1600" i="1">
                                        <a:solidFill>
                                          <a:schemeClr val="tx1"/>
                                        </a:solidFill>
                                      </a:rPr>
                                      <m:t>𝜆</m:t>
                                    </m:r>
                                  </m:e>
                                  <m:sub>
                                    <m:r>
                                      <a:rPr lang="es-AR" sz="1600" i="1">
                                        <a:solidFill>
                                          <a:schemeClr val="tx1"/>
                                        </a:solidFill>
                                      </a:rPr>
                                      <m:t>𝑚</m:t>
                                    </m:r>
                                  </m:sub>
                                  <m:sup>
                                    <m:r>
                                      <a:rPr lang="es-AR" sz="1600" i="1">
                                        <a:solidFill>
                                          <a:schemeClr val="tx1"/>
                                        </a:solidFill>
                                      </a:rPr>
                                      <m:t>ˊ</m:t>
                                    </m:r>
                                    <m:r>
                                      <a:rPr lang="es-AR" sz="1600" i="1">
                                        <a:solidFill>
                                          <a:schemeClr val="tx1"/>
                                        </a:solidFill>
                                      </a:rPr>
                                      <m:t>𝑟</m:t>
                                    </m:r>
                                  </m:sup>
                                </m:sSubSup>
                              </m:e>
                            </m:d>
                          </m:e>
                          <m:sup>
                            <m:r>
                              <a:rPr lang="es-AR" sz="1600" i="1">
                                <a:solidFill>
                                  <a:schemeClr val="tx1"/>
                                </a:solidFill>
                              </a:rPr>
                              <m:t>2</m:t>
                            </m:r>
                          </m:sup>
                        </m:sSup>
                        <m:r>
                          <a:rPr lang="es-AR" sz="1600" i="1">
                            <a:solidFill>
                              <a:schemeClr val="tx1"/>
                            </a:solidFill>
                          </a:rPr>
                          <m:t>𝑠</m:t>
                        </m:r>
                      </m:den>
                    </m:f>
                  </m:oMath>
                </a14:m>
                <a:r>
                  <a:rPr lang="es-AR" sz="1600" b="1" dirty="0">
                    <a:solidFill>
                      <a:schemeClr val="tx1"/>
                    </a:solidFill>
                    <a:latin typeface="Calibri"/>
                  </a:rPr>
                  <a:t>;	</a:t>
                </a:r>
                <a14:m>
                  <m:oMath xmlns:m="http://schemas.openxmlformats.org/officeDocument/2006/math">
                    <m:sSub>
                      <m:sSubPr>
                        <m:ctrlPr>
                          <a:rPr lang="es-AR" sz="1600" i="1">
                            <a:solidFill>
                              <a:schemeClr val="tx1"/>
                            </a:solidFill>
                          </a:rPr>
                        </m:ctrlPr>
                      </m:sSubPr>
                      <m:e>
                        <m:r>
                          <a:rPr lang="es-AR" sz="1600" i="1">
                            <a:solidFill>
                              <a:schemeClr val="tx1"/>
                            </a:solidFill>
                          </a:rPr>
                          <m:t>𝐺</m:t>
                        </m:r>
                      </m:e>
                      <m:sub>
                        <m:sSub>
                          <m:sSubPr>
                            <m:ctrlPr>
                              <a:rPr lang="es-AR" sz="1600" i="1">
                                <a:solidFill>
                                  <a:schemeClr val="tx1"/>
                                </a:solidFill>
                              </a:rPr>
                            </m:ctrlPr>
                          </m:sSubPr>
                          <m:e>
                            <m:r>
                              <a:rPr lang="es-AR" sz="1600" i="1">
                                <a:solidFill>
                                  <a:schemeClr val="tx1"/>
                                </a:solidFill>
                              </a:rPr>
                              <m:t>𝑇</m:t>
                            </m:r>
                          </m:e>
                          <m:sub>
                            <m:r>
                              <a:rPr lang="es-AR" sz="1600" i="1">
                                <a:solidFill>
                                  <a:schemeClr val="tx1"/>
                                </a:solidFill>
                              </a:rPr>
                              <m:t>𝑙</m:t>
                            </m:r>
                          </m:sub>
                        </m:sSub>
                      </m:sub>
                    </m:sSub>
                    <m:d>
                      <m:dPr>
                        <m:ctrlPr>
                          <a:rPr lang="es-AR" sz="1600" i="1">
                            <a:solidFill>
                              <a:schemeClr val="tx1"/>
                            </a:solidFill>
                          </a:rPr>
                        </m:ctrlPr>
                      </m:dPr>
                      <m:e>
                        <m:r>
                          <a:rPr lang="es-AR" sz="1600" i="1">
                            <a:solidFill>
                              <a:schemeClr val="tx1"/>
                            </a:solidFill>
                          </a:rPr>
                          <m:t>𝑠</m:t>
                        </m:r>
                      </m:e>
                    </m:d>
                    <m:r>
                      <a:rPr lang="es-AR" sz="1600" i="1">
                        <a:solidFill>
                          <a:schemeClr val="tx1"/>
                        </a:solidFill>
                      </a:rPr>
                      <m:t>=</m:t>
                    </m:r>
                    <m:f>
                      <m:fPr>
                        <m:ctrlPr>
                          <a:rPr lang="es-AR" sz="1600" i="1">
                            <a:solidFill>
                              <a:schemeClr val="tx1"/>
                            </a:solidFill>
                          </a:rPr>
                        </m:ctrlPr>
                      </m:fPr>
                      <m:num>
                        <m:sSub>
                          <m:sSubPr>
                            <m:ctrlPr>
                              <a:rPr lang="es-AR" sz="1600" i="1">
                                <a:solidFill>
                                  <a:schemeClr val="tx1"/>
                                </a:solidFill>
                              </a:rPr>
                            </m:ctrlPr>
                          </m:sSubPr>
                          <m:e>
                            <m:r>
                              <a:rPr lang="es-AR" sz="1600" i="1">
                                <a:solidFill>
                                  <a:schemeClr val="tx1"/>
                                </a:solidFill>
                              </a:rPr>
                              <m:t>𝛩</m:t>
                            </m:r>
                          </m:e>
                          <m:sub>
                            <m:r>
                              <a:rPr lang="es-AR" sz="1600" i="1">
                                <a:solidFill>
                                  <a:schemeClr val="tx1"/>
                                </a:solidFill>
                              </a:rPr>
                              <m:t>𝑚</m:t>
                            </m:r>
                          </m:sub>
                        </m:sSub>
                        <m:d>
                          <m:dPr>
                            <m:ctrlPr>
                              <a:rPr lang="es-AR" sz="1600" i="1">
                                <a:solidFill>
                                  <a:schemeClr val="tx1"/>
                                </a:solidFill>
                              </a:rPr>
                            </m:ctrlPr>
                          </m:dPr>
                          <m:e>
                            <m:r>
                              <a:rPr lang="es-AR" sz="1600" i="1">
                                <a:solidFill>
                                  <a:schemeClr val="tx1"/>
                                </a:solidFill>
                              </a:rPr>
                              <m:t>𝑠</m:t>
                            </m:r>
                          </m:e>
                        </m:d>
                      </m:num>
                      <m:den>
                        <m:sSub>
                          <m:sSubPr>
                            <m:ctrlPr>
                              <a:rPr lang="es-AR" sz="1600" i="1">
                                <a:solidFill>
                                  <a:schemeClr val="tx1"/>
                                </a:solidFill>
                              </a:rPr>
                            </m:ctrlPr>
                          </m:sSubPr>
                          <m:e>
                            <m:r>
                              <a:rPr lang="es-AR" sz="1600" i="1">
                                <a:solidFill>
                                  <a:schemeClr val="tx1"/>
                                </a:solidFill>
                              </a:rPr>
                              <m:t>𝑇</m:t>
                            </m:r>
                          </m:e>
                          <m:sub>
                            <m:r>
                              <a:rPr lang="es-AR" sz="1600" i="1">
                                <a:solidFill>
                                  <a:schemeClr val="tx1"/>
                                </a:solidFill>
                              </a:rPr>
                              <m:t>𝑙</m:t>
                            </m:r>
                          </m:sub>
                        </m:sSub>
                        <m:d>
                          <m:dPr>
                            <m:ctrlPr>
                              <a:rPr lang="es-AR" sz="1600" i="1">
                                <a:solidFill>
                                  <a:schemeClr val="tx1"/>
                                </a:solidFill>
                              </a:rPr>
                            </m:ctrlPr>
                          </m:dPr>
                          <m:e>
                            <m:r>
                              <a:rPr lang="es-AR" sz="1600" i="1">
                                <a:solidFill>
                                  <a:schemeClr val="tx1"/>
                                </a:solidFill>
                              </a:rPr>
                              <m:t>𝑠</m:t>
                            </m:r>
                          </m:e>
                        </m:d>
                      </m:den>
                    </m:f>
                    <m:r>
                      <a:rPr lang="es-AR" sz="1600" i="1">
                        <a:solidFill>
                          <a:schemeClr val="tx1"/>
                        </a:solidFill>
                      </a:rPr>
                      <m:t>=</m:t>
                    </m:r>
                    <m:f>
                      <m:fPr>
                        <m:ctrlPr>
                          <a:rPr lang="es-AR" sz="1600" i="1">
                            <a:solidFill>
                              <a:schemeClr val="tx1"/>
                            </a:solidFill>
                          </a:rPr>
                        </m:ctrlPr>
                      </m:fPr>
                      <m:num>
                        <m:r>
                          <a:rPr lang="es-AR" sz="1600" i="1">
                            <a:solidFill>
                              <a:schemeClr val="tx1"/>
                            </a:solidFill>
                          </a:rPr>
                          <m:t>−</m:t>
                        </m:r>
                        <m:box>
                          <m:boxPr>
                            <m:ctrlPr>
                              <a:rPr lang="es-AR" sz="1600" i="1">
                                <a:solidFill>
                                  <a:schemeClr val="tx1"/>
                                </a:solidFill>
                              </a:rPr>
                            </m:ctrlPr>
                          </m:boxPr>
                          <m:e>
                            <m:argPr>
                              <m:argSz m:val="-1"/>
                            </m:argPr>
                            <m:f>
                              <m:fPr>
                                <m:ctrlPr>
                                  <a:rPr lang="es-AR" sz="1600" i="1">
                                    <a:solidFill>
                                      <a:schemeClr val="tx1"/>
                                    </a:solidFill>
                                  </a:rPr>
                                </m:ctrlPr>
                              </m:fPr>
                              <m:num>
                                <m:r>
                                  <a:rPr lang="es-AR" sz="1600" i="1">
                                    <a:solidFill>
                                      <a:schemeClr val="tx1"/>
                                    </a:solidFill>
                                  </a:rPr>
                                  <m:t>1</m:t>
                                </m:r>
                              </m:num>
                              <m:den>
                                <m:r>
                                  <a:rPr lang="es-AR" sz="1600" i="1">
                                    <a:solidFill>
                                      <a:schemeClr val="tx1"/>
                                    </a:solidFill>
                                  </a:rPr>
                                  <m:t>𝑟</m:t>
                                </m:r>
                              </m:den>
                            </m:f>
                          </m:e>
                        </m:box>
                        <m:d>
                          <m:dPr>
                            <m:ctrlPr>
                              <a:rPr lang="es-AR" sz="1600" i="1">
                                <a:solidFill>
                                  <a:schemeClr val="tx1"/>
                                </a:solidFill>
                              </a:rPr>
                            </m:ctrlPr>
                          </m:dPr>
                          <m:e>
                            <m:r>
                              <a:rPr lang="es-AR" sz="1600" i="1">
                                <a:solidFill>
                                  <a:schemeClr val="tx1"/>
                                </a:solidFill>
                              </a:rPr>
                              <m:t>𝑠</m:t>
                            </m:r>
                            <m:sSub>
                              <m:sSubPr>
                                <m:ctrlPr>
                                  <a:rPr lang="es-AR" sz="1600" i="1">
                                    <a:solidFill>
                                      <a:schemeClr val="tx1"/>
                                    </a:solidFill>
                                  </a:rPr>
                                </m:ctrlPr>
                              </m:sSubPr>
                              <m:e>
                                <m:r>
                                  <a:rPr lang="es-AR" sz="1600" i="1">
                                    <a:solidFill>
                                      <a:schemeClr val="tx1"/>
                                    </a:solidFill>
                                  </a:rPr>
                                  <m:t>𝐿</m:t>
                                </m:r>
                              </m:e>
                              <m:sub>
                                <m:r>
                                  <a:rPr lang="es-AR" sz="1600" i="1">
                                    <a:solidFill>
                                      <a:schemeClr val="tx1"/>
                                    </a:solidFill>
                                  </a:rPr>
                                  <m:t>𝑞</m:t>
                                </m:r>
                              </m:sub>
                            </m:sSub>
                            <m:r>
                              <a:rPr lang="es-AR" sz="1600" i="1">
                                <a:solidFill>
                                  <a:schemeClr val="tx1"/>
                                </a:solidFill>
                              </a:rPr>
                              <m:t>+</m:t>
                            </m:r>
                            <m:sSub>
                              <m:sSubPr>
                                <m:ctrlPr>
                                  <a:rPr lang="es-AR" sz="1600" i="1">
                                    <a:solidFill>
                                      <a:schemeClr val="tx1"/>
                                    </a:solidFill>
                                  </a:rPr>
                                </m:ctrlPr>
                              </m:sSubPr>
                              <m:e>
                                <m:r>
                                  <a:rPr lang="es-AR" sz="1600" i="1">
                                    <a:solidFill>
                                      <a:schemeClr val="tx1"/>
                                    </a:solidFill>
                                  </a:rPr>
                                  <m:t>𝑅</m:t>
                                </m:r>
                              </m:e>
                              <m:sub>
                                <m:r>
                                  <a:rPr lang="es-AR" sz="1600" i="1">
                                    <a:solidFill>
                                      <a:schemeClr val="tx1"/>
                                    </a:solidFill>
                                  </a:rPr>
                                  <m:t>𝑠</m:t>
                                </m:r>
                              </m:sub>
                            </m:sSub>
                          </m:e>
                        </m:d>
                      </m:num>
                      <m:den>
                        <m:sSub>
                          <m:sSubPr>
                            <m:ctrlPr>
                              <a:rPr lang="es-AR" sz="1600" i="1">
                                <a:solidFill>
                                  <a:schemeClr val="tx1"/>
                                </a:solidFill>
                              </a:rPr>
                            </m:ctrlPr>
                          </m:sSubPr>
                          <m:e>
                            <m:r>
                              <a:rPr lang="es-AR" sz="1600" i="1">
                                <a:solidFill>
                                  <a:schemeClr val="tx1"/>
                                </a:solidFill>
                              </a:rPr>
                              <m:t>𝐽</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𝐿</m:t>
                            </m:r>
                          </m:e>
                          <m:sub>
                            <m:r>
                              <a:rPr lang="es-AR" sz="1600" i="1">
                                <a:solidFill>
                                  <a:schemeClr val="tx1"/>
                                </a:solidFill>
                              </a:rPr>
                              <m:t>𝑞</m:t>
                            </m:r>
                          </m:sub>
                        </m:sSub>
                        <m:sSup>
                          <m:sSupPr>
                            <m:ctrlPr>
                              <a:rPr lang="es-AR" sz="1600" i="1">
                                <a:solidFill>
                                  <a:schemeClr val="tx1"/>
                                </a:solidFill>
                              </a:rPr>
                            </m:ctrlPr>
                          </m:sSupPr>
                          <m:e>
                            <m:r>
                              <a:rPr lang="es-AR" sz="1600" i="1">
                                <a:solidFill>
                                  <a:schemeClr val="tx1"/>
                                </a:solidFill>
                              </a:rPr>
                              <m:t>𝑠</m:t>
                            </m:r>
                          </m:e>
                          <m:sup>
                            <m:r>
                              <a:rPr lang="es-AR" sz="1600" i="1">
                                <a:solidFill>
                                  <a:schemeClr val="tx1"/>
                                </a:solidFill>
                              </a:rPr>
                              <m:t>3</m:t>
                            </m:r>
                          </m:sup>
                        </m:sSup>
                        <m:r>
                          <a:rPr lang="es-AR" sz="1600" i="1">
                            <a:solidFill>
                              <a:schemeClr val="tx1"/>
                            </a:solidFill>
                          </a:rPr>
                          <m:t>+</m:t>
                        </m:r>
                        <m:d>
                          <m:dPr>
                            <m:ctrlPr>
                              <a:rPr lang="es-AR" sz="1600" i="1">
                                <a:solidFill>
                                  <a:schemeClr val="tx1"/>
                                </a:solidFill>
                              </a:rPr>
                            </m:ctrlPr>
                          </m:dPr>
                          <m:e>
                            <m:sSub>
                              <m:sSubPr>
                                <m:ctrlPr>
                                  <a:rPr lang="es-AR" sz="1600" i="1">
                                    <a:solidFill>
                                      <a:schemeClr val="tx1"/>
                                    </a:solidFill>
                                  </a:rPr>
                                </m:ctrlPr>
                              </m:sSubPr>
                              <m:e>
                                <m:r>
                                  <a:rPr lang="es-AR" sz="1600" i="1">
                                    <a:solidFill>
                                      <a:schemeClr val="tx1"/>
                                    </a:solidFill>
                                  </a:rPr>
                                  <m:t>𝐽</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𝑅</m:t>
                                </m:r>
                              </m:e>
                              <m:sub>
                                <m:r>
                                  <a:rPr lang="es-AR" sz="1600" i="1">
                                    <a:solidFill>
                                      <a:schemeClr val="tx1"/>
                                    </a:solidFill>
                                  </a:rPr>
                                  <m:t>𝑠</m:t>
                                </m:r>
                              </m:sub>
                            </m:sSub>
                            <m:r>
                              <a:rPr lang="es-AR" sz="1600" i="1">
                                <a:solidFill>
                                  <a:schemeClr val="tx1"/>
                                </a:solidFill>
                              </a:rPr>
                              <m:t>+</m:t>
                            </m:r>
                            <m:sSub>
                              <m:sSubPr>
                                <m:ctrlPr>
                                  <a:rPr lang="es-AR" sz="1600" i="1">
                                    <a:solidFill>
                                      <a:schemeClr val="tx1"/>
                                    </a:solidFill>
                                  </a:rPr>
                                </m:ctrlPr>
                              </m:sSubPr>
                              <m:e>
                                <m:r>
                                  <a:rPr lang="es-AR" sz="1600" i="1">
                                    <a:solidFill>
                                      <a:schemeClr val="tx1"/>
                                    </a:solidFill>
                                  </a:rPr>
                                  <m:t>𝑏</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𝐿</m:t>
                                </m:r>
                              </m:e>
                              <m:sub>
                                <m:r>
                                  <a:rPr lang="es-AR" sz="1600" i="1">
                                    <a:solidFill>
                                      <a:schemeClr val="tx1"/>
                                    </a:solidFill>
                                  </a:rPr>
                                  <m:t>𝑞</m:t>
                                </m:r>
                              </m:sub>
                            </m:sSub>
                          </m:e>
                        </m:d>
                        <m:sSup>
                          <m:sSupPr>
                            <m:ctrlPr>
                              <a:rPr lang="es-AR" sz="1600" i="1">
                                <a:solidFill>
                                  <a:schemeClr val="tx1"/>
                                </a:solidFill>
                              </a:rPr>
                            </m:ctrlPr>
                          </m:sSupPr>
                          <m:e>
                            <m:r>
                              <a:rPr lang="es-AR" sz="1600" i="1">
                                <a:solidFill>
                                  <a:schemeClr val="tx1"/>
                                </a:solidFill>
                              </a:rPr>
                              <m:t>𝑠</m:t>
                            </m:r>
                          </m:e>
                          <m:sup>
                            <m:r>
                              <a:rPr lang="es-AR" sz="1600" i="1">
                                <a:solidFill>
                                  <a:schemeClr val="tx1"/>
                                </a:solidFill>
                              </a:rPr>
                              <m:t>2</m:t>
                            </m:r>
                          </m:sup>
                        </m:sSup>
                        <m:r>
                          <a:rPr lang="es-AR" sz="1600" i="1">
                            <a:solidFill>
                              <a:schemeClr val="tx1"/>
                            </a:solidFill>
                          </a:rPr>
                          <m:t>+</m:t>
                        </m:r>
                        <m:sSub>
                          <m:sSubPr>
                            <m:ctrlPr>
                              <a:rPr lang="es-AR" sz="1600" i="1">
                                <a:solidFill>
                                  <a:schemeClr val="tx1"/>
                                </a:solidFill>
                              </a:rPr>
                            </m:ctrlPr>
                          </m:sSubPr>
                          <m:e>
                            <m:r>
                              <a:rPr lang="es-AR" sz="1600" i="1">
                                <a:solidFill>
                                  <a:schemeClr val="tx1"/>
                                </a:solidFill>
                              </a:rPr>
                              <m:t>𝑏</m:t>
                            </m:r>
                          </m:e>
                          <m:sub>
                            <m:r>
                              <a:rPr lang="es-AR" sz="1600" i="1">
                                <a:solidFill>
                                  <a:schemeClr val="tx1"/>
                                </a:solidFill>
                              </a:rPr>
                              <m:t>𝑒𝑞</m:t>
                            </m:r>
                          </m:sub>
                        </m:sSub>
                        <m:sSub>
                          <m:sSubPr>
                            <m:ctrlPr>
                              <a:rPr lang="es-AR" sz="1600" i="1">
                                <a:solidFill>
                                  <a:schemeClr val="tx1"/>
                                </a:solidFill>
                              </a:rPr>
                            </m:ctrlPr>
                          </m:sSubPr>
                          <m:e>
                            <m:r>
                              <a:rPr lang="es-AR" sz="1600" i="1">
                                <a:solidFill>
                                  <a:schemeClr val="tx1"/>
                                </a:solidFill>
                              </a:rPr>
                              <m:t>𝑅</m:t>
                            </m:r>
                          </m:e>
                          <m:sub>
                            <m:r>
                              <a:rPr lang="es-AR" sz="1600" i="1">
                                <a:solidFill>
                                  <a:schemeClr val="tx1"/>
                                </a:solidFill>
                              </a:rPr>
                              <m:t>𝑠</m:t>
                            </m:r>
                          </m:sub>
                        </m:sSub>
                        <m:r>
                          <a:rPr lang="es-AR" sz="1600" i="1">
                            <a:solidFill>
                              <a:schemeClr val="tx1"/>
                            </a:solidFill>
                          </a:rPr>
                          <m:t>+</m:t>
                        </m:r>
                        <m:box>
                          <m:boxPr>
                            <m:ctrlPr>
                              <a:rPr lang="es-AR" sz="1600" i="1">
                                <a:solidFill>
                                  <a:schemeClr val="tx1"/>
                                </a:solidFill>
                              </a:rPr>
                            </m:ctrlPr>
                          </m:boxPr>
                          <m:e>
                            <m:argPr>
                              <m:argSz m:val="-1"/>
                            </m:argPr>
                            <m:f>
                              <m:fPr>
                                <m:ctrlPr>
                                  <a:rPr lang="es-AR" sz="1600" i="1">
                                    <a:solidFill>
                                      <a:schemeClr val="tx1"/>
                                    </a:solidFill>
                                  </a:rPr>
                                </m:ctrlPr>
                              </m:fPr>
                              <m:num>
                                <m:r>
                                  <a:rPr lang="es-AR" sz="1600" i="1">
                                    <a:solidFill>
                                      <a:schemeClr val="tx1"/>
                                    </a:solidFill>
                                  </a:rPr>
                                  <m:t>3</m:t>
                                </m:r>
                              </m:num>
                              <m:den>
                                <m:r>
                                  <a:rPr lang="es-AR" sz="1600" i="1">
                                    <a:solidFill>
                                      <a:schemeClr val="tx1"/>
                                    </a:solidFill>
                                  </a:rPr>
                                  <m:t>2</m:t>
                                </m:r>
                              </m:den>
                            </m:f>
                          </m:e>
                        </m:box>
                        <m:sSubSup>
                          <m:sSubSupPr>
                            <m:ctrlPr>
                              <a:rPr lang="es-AR" sz="1600" i="1">
                                <a:solidFill>
                                  <a:schemeClr val="tx1"/>
                                </a:solidFill>
                              </a:rPr>
                            </m:ctrlPr>
                          </m:sSubSupPr>
                          <m:e>
                            <m:r>
                              <a:rPr lang="es-AR" sz="1600" i="1">
                                <a:solidFill>
                                  <a:schemeClr val="tx1"/>
                                </a:solidFill>
                              </a:rPr>
                              <m:t>𝑃</m:t>
                            </m:r>
                          </m:e>
                          <m:sub>
                            <m:r>
                              <a:rPr lang="es-AR" sz="1600" i="1">
                                <a:solidFill>
                                  <a:schemeClr val="tx1"/>
                                </a:solidFill>
                              </a:rPr>
                              <m:t>𝑝</m:t>
                            </m:r>
                          </m:sub>
                          <m:sup>
                            <m:r>
                              <a:rPr lang="es-AR" sz="1600" i="1">
                                <a:solidFill>
                                  <a:schemeClr val="tx1"/>
                                </a:solidFill>
                              </a:rPr>
                              <m:t>2</m:t>
                            </m:r>
                          </m:sup>
                        </m:sSubSup>
                        <m:sSup>
                          <m:sSupPr>
                            <m:ctrlPr>
                              <a:rPr lang="es-AR" sz="1600" i="1">
                                <a:solidFill>
                                  <a:schemeClr val="tx1"/>
                                </a:solidFill>
                              </a:rPr>
                            </m:ctrlPr>
                          </m:sSupPr>
                          <m:e>
                            <m:d>
                              <m:dPr>
                                <m:ctrlPr>
                                  <a:rPr lang="es-AR" sz="1600" i="1">
                                    <a:solidFill>
                                      <a:schemeClr val="tx1"/>
                                    </a:solidFill>
                                  </a:rPr>
                                </m:ctrlPr>
                              </m:dPr>
                              <m:e>
                                <m:sSubSup>
                                  <m:sSubSupPr>
                                    <m:ctrlPr>
                                      <a:rPr lang="es-AR" sz="1600" i="1">
                                        <a:solidFill>
                                          <a:schemeClr val="tx1"/>
                                        </a:solidFill>
                                      </a:rPr>
                                    </m:ctrlPr>
                                  </m:sSubSupPr>
                                  <m:e>
                                    <m:r>
                                      <a:rPr lang="es-AR" sz="1600" i="1">
                                        <a:solidFill>
                                          <a:schemeClr val="tx1"/>
                                        </a:solidFill>
                                      </a:rPr>
                                      <m:t>𝜆</m:t>
                                    </m:r>
                                  </m:e>
                                  <m:sub>
                                    <m:r>
                                      <a:rPr lang="es-AR" sz="1600" i="1">
                                        <a:solidFill>
                                          <a:schemeClr val="tx1"/>
                                        </a:solidFill>
                                      </a:rPr>
                                      <m:t>𝑚</m:t>
                                    </m:r>
                                  </m:sub>
                                  <m:sup>
                                    <m:r>
                                      <a:rPr lang="es-AR" sz="1600" i="1">
                                        <a:solidFill>
                                          <a:schemeClr val="tx1"/>
                                        </a:solidFill>
                                      </a:rPr>
                                      <m:t>ˊ</m:t>
                                    </m:r>
                                    <m:r>
                                      <a:rPr lang="es-AR" sz="1600" i="1">
                                        <a:solidFill>
                                          <a:schemeClr val="tx1"/>
                                        </a:solidFill>
                                      </a:rPr>
                                      <m:t>𝑟</m:t>
                                    </m:r>
                                  </m:sup>
                                </m:sSubSup>
                              </m:e>
                            </m:d>
                          </m:e>
                          <m:sup>
                            <m:r>
                              <a:rPr lang="es-AR" sz="1600" i="1">
                                <a:solidFill>
                                  <a:schemeClr val="tx1"/>
                                </a:solidFill>
                              </a:rPr>
                              <m:t>2</m:t>
                            </m:r>
                          </m:sup>
                        </m:sSup>
                        <m:r>
                          <a:rPr lang="es-AR" sz="1600" i="1">
                            <a:solidFill>
                              <a:schemeClr val="tx1"/>
                            </a:solidFill>
                          </a:rPr>
                          <m:t>𝑠</m:t>
                        </m:r>
                      </m:den>
                    </m:f>
                  </m:oMath>
                </a14:m>
                <a:endParaRPr lang="es-AR" sz="1600" b="1" dirty="0">
                  <a:solidFill>
                    <a:srgbClr val="1B6B2A"/>
                  </a:solidFill>
                  <a:latin typeface="Calibri"/>
                </a:endParaRPr>
              </a:p>
            </p:txBody>
          </p:sp>
        </mc:Choice>
        <mc:Fallback>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374639" y="2754421"/>
                <a:ext cx="11368735" cy="674608"/>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mc:Choice xmlns:a14="http://schemas.microsoft.com/office/drawing/2010/main"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mc:Choice xmlns:a14="http://schemas.microsoft.com/office/drawing/2010/main"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m:ctrlPr>
                        </m:dPr>
                        <m:e>
                          <m:m>
                            <m:mPr>
                              <m:mcs>
                                <m:mc>
                                  <m:mcPr>
                                    <m:count m:val="1"/>
                                    <m:mcJc m:val="center"/>
                                  </m:mcPr>
                                </m:mc>
                              </m:mcs>
                              <m:ctrlPr>
                                <a:rPr lang="es-AR" sz="1600" i="1"/>
                              </m:ctrlPr>
                            </m:mPr>
                            <m:mr>
                              <m:e>
                                <m:sSub>
                                  <m:sSubPr>
                                    <m:ctrlPr>
                                      <a:rPr lang="es-AR" sz="1600" i="1"/>
                                    </m:ctrlPr>
                                  </m:sSubPr>
                                  <m:e>
                                    <m:r>
                                      <a:rPr lang="es-AR" sz="1600" i="1"/>
                                      <m:t>𝑠</m:t>
                                    </m:r>
                                  </m:e>
                                  <m:sub>
                                    <m:r>
                                      <a:rPr lang="es-AR" sz="1600" i="1"/>
                                      <m:t>1</m:t>
                                    </m:r>
                                  </m:sub>
                                </m:sSub>
                                <m:r>
                                  <a:rPr lang="es-AR" sz="1600" i="1"/>
                                  <m:t>=0                                                                                                                                                                     </m:t>
                                </m:r>
                              </m:e>
                            </m:mr>
                            <m:mr>
                              <m:e>
                                <m:sSub>
                                  <m:sSubPr>
                                    <m:ctrlPr>
                                      <a:rPr lang="es-AR" sz="1600" i="1"/>
                                    </m:ctrlPr>
                                  </m:sSubPr>
                                  <m:e>
                                    <m:r>
                                      <a:rPr lang="es-AR" sz="1600" i="1"/>
                                      <m:t>𝑠</m:t>
                                    </m:r>
                                  </m:e>
                                  <m:sub>
                                    <m:r>
                                      <a:rPr lang="es-AR" sz="1600" i="1"/>
                                      <m:t>2,3</m:t>
                                    </m:r>
                                  </m:sub>
                                </m:sSub>
                                <m:r>
                                  <a:rPr lang="es-AR" sz="1600" i="1"/>
                                  <m:t>=</m:t>
                                </m:r>
                                <m:f>
                                  <m:fPr>
                                    <m:ctrlPr>
                                      <a:rPr lang="es-AR" sz="1600" i="1"/>
                                    </m:ctrlPr>
                                  </m:fPr>
                                  <m:num>
                                    <m:r>
                                      <a:rPr lang="es-AR" sz="1600" i="1"/>
                                      <m:t>−</m:t>
                                    </m:r>
                                    <m:d>
                                      <m:dPr>
                                        <m:ctrlPr>
                                          <a:rPr lang="es-AR" sz="1600" i="1"/>
                                        </m:ctrlPr>
                                      </m:dPr>
                                      <m:e>
                                        <m:sSub>
                                          <m:sSubPr>
                                            <m:ctrlPr>
                                              <a:rPr lang="es-AR" sz="1600" i="1"/>
                                            </m:ctrlPr>
                                          </m:sSubPr>
                                          <m:e>
                                            <m:r>
                                              <a:rPr lang="es-AR" sz="1600" i="1"/>
                                              <m:t>𝐿</m:t>
                                            </m:r>
                                          </m:e>
                                          <m:sub>
                                            <m:r>
                                              <a:rPr lang="es-AR" sz="1600" i="1"/>
                                              <m:t>𝑞</m:t>
                                            </m:r>
                                          </m:sub>
                                        </m:sSub>
                                        <m:sSub>
                                          <m:sSubPr>
                                            <m:ctrlPr>
                                              <a:rPr lang="es-AR" sz="1600" i="1"/>
                                            </m:ctrlPr>
                                          </m:sSubPr>
                                          <m:e>
                                            <m:r>
                                              <a:rPr lang="es-AR" sz="1600" i="1"/>
                                              <m:t>𝑏</m:t>
                                            </m:r>
                                          </m:e>
                                          <m:sub>
                                            <m:r>
                                              <a:rPr lang="es-AR" sz="1600" i="1"/>
                                              <m:t>𝑒𝑞</m:t>
                                            </m:r>
                                          </m:sub>
                                        </m:sSub>
                                        <m:r>
                                          <a:rPr lang="es-AR" sz="1600" i="1"/>
                                          <m:t>+</m:t>
                                        </m:r>
                                        <m:sSub>
                                          <m:sSubPr>
                                            <m:ctrlPr>
                                              <a:rPr lang="es-AR" sz="1600" i="1"/>
                                            </m:ctrlPr>
                                          </m:sSubPr>
                                          <m:e>
                                            <m:r>
                                              <a:rPr lang="es-AR" sz="1600" i="1"/>
                                              <m:t>𝑅</m:t>
                                            </m:r>
                                          </m:e>
                                          <m:sub>
                                            <m:r>
                                              <a:rPr lang="es-AR" sz="1600" i="1"/>
                                              <m:t>𝑠</m:t>
                                            </m:r>
                                          </m:sub>
                                        </m:sSub>
                                        <m:d>
                                          <m:dPr>
                                            <m:ctrlPr>
                                              <a:rPr lang="es-AR" sz="1600" i="1"/>
                                            </m:ctrlPr>
                                          </m:dPr>
                                          <m:e>
                                            <m:sSubSup>
                                              <m:sSubSupPr>
                                                <m:ctrlPr>
                                                  <a:rPr lang="es-AR" sz="1600" i="1"/>
                                                </m:ctrlPr>
                                              </m:sSubSupPr>
                                              <m:e>
                                                <m:r>
                                                  <a:rPr lang="es-AR" sz="1600" i="1"/>
                                                  <m:t>𝑇</m:t>
                                                </m:r>
                                              </m:e>
                                              <m:sub>
                                                <m:r>
                                                  <a:rPr lang="es-AR" sz="1600" i="1"/>
                                                  <m:t>𝑠</m:t>
                                                </m:r>
                                              </m:sub>
                                              <m:sup>
                                                <m:r>
                                                  <a:rPr lang="es-AR" sz="1600"/>
                                                  <m:t>∘</m:t>
                                                </m:r>
                                              </m:sup>
                                            </m:sSubSup>
                                          </m:e>
                                        </m:d>
                                        <m:sSub>
                                          <m:sSubPr>
                                            <m:ctrlPr>
                                              <a:rPr lang="es-AR" sz="1600" i="1"/>
                                            </m:ctrlPr>
                                          </m:sSubPr>
                                          <m:e>
                                            <m:r>
                                              <a:rPr lang="es-AR" sz="1600" i="1"/>
                                              <m:t>𝐽</m:t>
                                            </m:r>
                                          </m:e>
                                          <m:sub>
                                            <m:r>
                                              <a:rPr lang="es-AR" sz="1600" i="1"/>
                                              <m:t>𝑒𝑞</m:t>
                                            </m:r>
                                          </m:sub>
                                        </m:sSub>
                                      </m:e>
                                    </m:d>
                                    <m:r>
                                      <a:rPr lang="es-AR" sz="1600"/>
                                      <m:t>±</m:t>
                                    </m:r>
                                    <m:rad>
                                      <m:radPr>
                                        <m:degHide m:val="on"/>
                                        <m:ctrlPr>
                                          <a:rPr lang="es-AR" sz="1600" i="1"/>
                                        </m:ctrlPr>
                                      </m:radPr>
                                      <m:deg/>
                                      <m:e>
                                        <m:sSup>
                                          <m:sSupPr>
                                            <m:ctrlPr>
                                              <a:rPr lang="es-AR" sz="1600" i="1"/>
                                            </m:ctrlPr>
                                          </m:sSupPr>
                                          <m:e>
                                            <m:d>
                                              <m:dPr>
                                                <m:ctrlPr>
                                                  <a:rPr lang="es-AR" sz="1600" i="1"/>
                                                </m:ctrlPr>
                                              </m:dPr>
                                              <m:e>
                                                <m:sSub>
                                                  <m:sSubPr>
                                                    <m:ctrlPr>
                                                      <a:rPr lang="es-AR" sz="1600" i="1"/>
                                                    </m:ctrlPr>
                                                  </m:sSubPr>
                                                  <m:e>
                                                    <m:r>
                                                      <a:rPr lang="es-AR" sz="1600" i="1"/>
                                                      <m:t>𝐿</m:t>
                                                    </m:r>
                                                  </m:e>
                                                  <m:sub>
                                                    <m:r>
                                                      <a:rPr lang="es-AR" sz="1600" i="1"/>
                                                      <m:t>𝑞</m:t>
                                                    </m:r>
                                                  </m:sub>
                                                </m:sSub>
                                                <m:sSub>
                                                  <m:sSubPr>
                                                    <m:ctrlPr>
                                                      <a:rPr lang="es-AR" sz="1600" i="1"/>
                                                    </m:ctrlPr>
                                                  </m:sSubPr>
                                                  <m:e>
                                                    <m:r>
                                                      <a:rPr lang="es-AR" sz="1600" i="1"/>
                                                      <m:t>𝑏</m:t>
                                                    </m:r>
                                                  </m:e>
                                                  <m:sub>
                                                    <m:r>
                                                      <a:rPr lang="es-AR" sz="1600" i="1"/>
                                                      <m:t>𝑒𝑞</m:t>
                                                    </m:r>
                                                  </m:sub>
                                                </m:sSub>
                                                <m:r>
                                                  <a:rPr lang="es-AR" sz="1600" i="1"/>
                                                  <m:t>+</m:t>
                                                </m:r>
                                                <m:sSub>
                                                  <m:sSubPr>
                                                    <m:ctrlPr>
                                                      <a:rPr lang="es-AR" sz="1600" i="1"/>
                                                    </m:ctrlPr>
                                                  </m:sSubPr>
                                                  <m:e>
                                                    <m:r>
                                                      <a:rPr lang="es-AR" sz="1600" i="1"/>
                                                      <m:t>𝑅</m:t>
                                                    </m:r>
                                                  </m:e>
                                                  <m:sub>
                                                    <m:r>
                                                      <a:rPr lang="es-AR" sz="1600" i="1"/>
                                                      <m:t>𝑠</m:t>
                                                    </m:r>
                                                  </m:sub>
                                                </m:sSub>
                                                <m:d>
                                                  <m:dPr>
                                                    <m:ctrlPr>
                                                      <a:rPr lang="es-AR" sz="1600" i="1"/>
                                                    </m:ctrlPr>
                                                  </m:dPr>
                                                  <m:e>
                                                    <m:sSubSup>
                                                      <m:sSubSupPr>
                                                        <m:ctrlPr>
                                                          <a:rPr lang="es-AR" sz="1600" i="1"/>
                                                        </m:ctrlPr>
                                                      </m:sSubSupPr>
                                                      <m:e>
                                                        <m:r>
                                                          <a:rPr lang="es-AR" sz="1600" i="1"/>
                                                          <m:t>𝑇</m:t>
                                                        </m:r>
                                                      </m:e>
                                                      <m:sub>
                                                        <m:r>
                                                          <a:rPr lang="es-AR" sz="1600" i="1"/>
                                                          <m:t>𝑠</m:t>
                                                        </m:r>
                                                      </m:sub>
                                                      <m:sup>
                                                        <m:r>
                                                          <a:rPr lang="es-AR" sz="1600"/>
                                                          <m:t>∘</m:t>
                                                        </m:r>
                                                      </m:sup>
                                                    </m:sSubSup>
                                                  </m:e>
                                                </m:d>
                                                <m:sSub>
                                                  <m:sSubPr>
                                                    <m:ctrlPr>
                                                      <a:rPr lang="es-AR" sz="1600" i="1"/>
                                                    </m:ctrlPr>
                                                  </m:sSubPr>
                                                  <m:e>
                                                    <m:r>
                                                      <a:rPr lang="es-AR" sz="1600" i="1"/>
                                                      <m:t>𝐽</m:t>
                                                    </m:r>
                                                  </m:e>
                                                  <m:sub>
                                                    <m:r>
                                                      <a:rPr lang="es-AR" sz="1600" i="1"/>
                                                      <m:t>𝑒𝑞</m:t>
                                                    </m:r>
                                                  </m:sub>
                                                </m:sSub>
                                              </m:e>
                                            </m:d>
                                          </m:e>
                                          <m:sup>
                                            <m:r>
                                              <a:rPr lang="es-AR" sz="1600" i="1"/>
                                              <m:t>2</m:t>
                                            </m:r>
                                          </m:sup>
                                        </m:sSup>
                                        <m:r>
                                          <a:rPr lang="es-AR" sz="1600" i="1"/>
                                          <m:t>−4</m:t>
                                        </m:r>
                                        <m:d>
                                          <m:dPr>
                                            <m:ctrlPr>
                                              <a:rPr lang="es-AR" sz="1600" i="1"/>
                                            </m:ctrlPr>
                                          </m:dPr>
                                          <m:e>
                                            <m:sSub>
                                              <m:sSubPr>
                                                <m:ctrlPr>
                                                  <a:rPr lang="es-AR" sz="1600" i="1"/>
                                                </m:ctrlPr>
                                              </m:sSubPr>
                                              <m:e>
                                                <m:r>
                                                  <a:rPr lang="es-AR" sz="1600" i="1"/>
                                                  <m:t>𝐽</m:t>
                                                </m:r>
                                              </m:e>
                                              <m:sub>
                                                <m:r>
                                                  <a:rPr lang="es-AR" sz="1600" i="1"/>
                                                  <m:t>𝑒𝑞</m:t>
                                                </m:r>
                                              </m:sub>
                                            </m:sSub>
                                            <m:sSub>
                                              <m:sSubPr>
                                                <m:ctrlPr>
                                                  <a:rPr lang="es-AR" sz="1600" i="1"/>
                                                </m:ctrlPr>
                                              </m:sSubPr>
                                              <m:e>
                                                <m:r>
                                                  <a:rPr lang="es-AR" sz="1600" i="1"/>
                                                  <m:t>𝐿</m:t>
                                                </m:r>
                                              </m:e>
                                              <m:sub>
                                                <m:r>
                                                  <a:rPr lang="es-AR" sz="1600" i="1"/>
                                                  <m:t>𝑞</m:t>
                                                </m:r>
                                              </m:sub>
                                            </m:sSub>
                                          </m:e>
                                        </m:d>
                                        <m:d>
                                          <m:dPr>
                                            <m:ctrlPr>
                                              <a:rPr lang="es-AR" sz="1600" i="1"/>
                                            </m:ctrlPr>
                                          </m:dPr>
                                          <m:e>
                                            <m:sSub>
                                              <m:sSubPr>
                                                <m:ctrlPr>
                                                  <a:rPr lang="es-AR" sz="1600" i="1"/>
                                                </m:ctrlPr>
                                              </m:sSubPr>
                                              <m:e>
                                                <m:r>
                                                  <a:rPr lang="es-AR" sz="1600" i="1"/>
                                                  <m:t>𝑅</m:t>
                                                </m:r>
                                              </m:e>
                                              <m:sub>
                                                <m:r>
                                                  <a:rPr lang="es-AR" sz="1600" i="1"/>
                                                  <m:t>𝑠</m:t>
                                                </m:r>
                                              </m:sub>
                                            </m:sSub>
                                            <m:d>
                                              <m:dPr>
                                                <m:ctrlPr>
                                                  <a:rPr lang="es-AR" sz="1600" i="1"/>
                                                </m:ctrlPr>
                                              </m:dPr>
                                              <m:e>
                                                <m:sSubSup>
                                                  <m:sSubSupPr>
                                                    <m:ctrlPr>
                                                      <a:rPr lang="es-AR" sz="1600" i="1"/>
                                                    </m:ctrlPr>
                                                  </m:sSubSupPr>
                                                  <m:e>
                                                    <m:r>
                                                      <a:rPr lang="es-AR" sz="1600" i="1"/>
                                                      <m:t>𝑇</m:t>
                                                    </m:r>
                                                  </m:e>
                                                  <m:sub>
                                                    <m:r>
                                                      <a:rPr lang="es-AR" sz="1600" i="1"/>
                                                      <m:t>𝑠</m:t>
                                                    </m:r>
                                                  </m:sub>
                                                  <m:sup>
                                                    <m:r>
                                                      <a:rPr lang="es-AR" sz="1600"/>
                                                      <m:t>∘</m:t>
                                                    </m:r>
                                                  </m:sup>
                                                </m:sSubSup>
                                              </m:e>
                                            </m:d>
                                            <m:sSub>
                                              <m:sSubPr>
                                                <m:ctrlPr>
                                                  <a:rPr lang="es-AR" sz="1600" i="1"/>
                                                </m:ctrlPr>
                                              </m:sSubPr>
                                              <m:e>
                                                <m:r>
                                                  <a:rPr lang="es-AR" sz="1600" i="1"/>
                                                  <m:t>𝑏</m:t>
                                                </m:r>
                                              </m:e>
                                              <m:sub>
                                                <m:r>
                                                  <a:rPr lang="es-AR" sz="1600" i="1"/>
                                                  <m:t>𝑒𝑞</m:t>
                                                </m:r>
                                              </m:sub>
                                            </m:sSub>
                                            <m:r>
                                              <a:rPr lang="es-AR" sz="1600" i="1"/>
                                              <m:t>+</m:t>
                                            </m:r>
                                            <m:f>
                                              <m:fPr>
                                                <m:ctrlPr>
                                                  <a:rPr lang="es-AR" sz="1600" i="1"/>
                                                </m:ctrlPr>
                                              </m:fPr>
                                              <m:num>
                                                <m:r>
                                                  <a:rPr lang="es-AR" sz="1600" i="1"/>
                                                  <m:t>3</m:t>
                                                </m:r>
                                              </m:num>
                                              <m:den>
                                                <m:r>
                                                  <a:rPr lang="es-AR" sz="1600" i="1"/>
                                                  <m:t>2</m:t>
                                                </m:r>
                                              </m:den>
                                            </m:f>
                                            <m:sSubSup>
                                              <m:sSubSupPr>
                                                <m:ctrlPr>
                                                  <a:rPr lang="es-AR" sz="1600" i="1"/>
                                                </m:ctrlPr>
                                              </m:sSubSupPr>
                                              <m:e>
                                                <m:r>
                                                  <a:rPr lang="es-AR" sz="1600" i="1"/>
                                                  <m:t>𝑃</m:t>
                                                </m:r>
                                              </m:e>
                                              <m:sub>
                                                <m:r>
                                                  <a:rPr lang="es-AR" sz="1600" i="1"/>
                                                  <m:t>𝑝</m:t>
                                                </m:r>
                                              </m:sub>
                                              <m:sup>
                                                <m:r>
                                                  <a:rPr lang="es-AR" sz="1600" i="1"/>
                                                  <m:t>2</m:t>
                                                </m:r>
                                              </m:sup>
                                            </m:sSubSup>
                                            <m:sSup>
                                              <m:sSupPr>
                                                <m:ctrlPr>
                                                  <a:rPr lang="es-AR" sz="1600" i="1"/>
                                                </m:ctrlPr>
                                              </m:sSupPr>
                                              <m:e>
                                                <m:d>
                                                  <m:dPr>
                                                    <m:ctrlPr>
                                                      <a:rPr lang="es-AR" sz="1600" i="1"/>
                                                    </m:ctrlPr>
                                                  </m:dPr>
                                                  <m:e>
                                                    <m:sSubSup>
                                                      <m:sSubSupPr>
                                                        <m:ctrlPr>
                                                          <a:rPr lang="es-AR" sz="1600" i="1"/>
                                                        </m:ctrlPr>
                                                      </m:sSubSupPr>
                                                      <m:e>
                                                        <m:r>
                                                          <a:rPr lang="es-AR" sz="1600" i="1"/>
                                                          <m:t>𝜆</m:t>
                                                        </m:r>
                                                      </m:e>
                                                      <m:sub>
                                                        <m:r>
                                                          <a:rPr lang="es-AR" sz="1600" i="1"/>
                                                          <m:t>𝑚</m:t>
                                                        </m:r>
                                                      </m:sub>
                                                      <m:sup>
                                                        <m:r>
                                                          <a:rPr lang="es-AR" sz="1600" i="1"/>
                                                          <m:t>ˊ</m:t>
                                                        </m:r>
                                                        <m:r>
                                                          <a:rPr lang="es-AR" sz="1600" i="1"/>
                                                          <m:t>𝑟</m:t>
                                                        </m:r>
                                                      </m:sup>
                                                    </m:sSubSup>
                                                  </m:e>
                                                </m:d>
                                              </m:e>
                                              <m:sup>
                                                <m:r>
                                                  <a:rPr lang="es-AR" sz="1600" i="1"/>
                                                  <m:t>2</m:t>
                                                </m:r>
                                              </m:sup>
                                            </m:sSup>
                                          </m:e>
                                        </m:d>
                                      </m:e>
                                    </m:rad>
                                  </m:num>
                                  <m:den>
                                    <m:r>
                                      <a:rPr lang="es-AR" sz="1600" i="1"/>
                                      <m:t>2</m:t>
                                    </m:r>
                                    <m:d>
                                      <m:dPr>
                                        <m:ctrlPr>
                                          <a:rPr lang="es-AR" sz="1600" i="1"/>
                                        </m:ctrlPr>
                                      </m:dPr>
                                      <m:e>
                                        <m:sSub>
                                          <m:sSubPr>
                                            <m:ctrlPr>
                                              <a:rPr lang="es-AR" sz="1600" i="1"/>
                                            </m:ctrlPr>
                                          </m:sSubPr>
                                          <m:e>
                                            <m:r>
                                              <a:rPr lang="es-AR" sz="1600" i="1"/>
                                              <m:t>𝐽</m:t>
                                            </m:r>
                                          </m:e>
                                          <m:sub>
                                            <m:r>
                                              <a:rPr lang="es-AR" sz="1600" i="1"/>
                                              <m:t>𝑒𝑞</m:t>
                                            </m:r>
                                          </m:sub>
                                        </m:sSub>
                                        <m:sSub>
                                          <m:sSubPr>
                                            <m:ctrlPr>
                                              <a:rPr lang="es-AR" sz="1600" i="1"/>
                                            </m:ctrlPr>
                                          </m:sSubPr>
                                          <m:e>
                                            <m:r>
                                              <a:rPr lang="es-AR" sz="1600" i="1"/>
                                              <m:t>𝐿</m:t>
                                            </m:r>
                                          </m:e>
                                          <m:sub>
                                            <m:r>
                                              <a:rPr lang="es-AR" sz="1600" i="1"/>
                                              <m:t>𝑞</m:t>
                                            </m:r>
                                          </m:sub>
                                        </m:sSub>
                                      </m:e>
                                    </m:d>
                                  </m:den>
                                </m:f>
                              </m:e>
                            </m:mr>
                          </m:m>
                        </m:e>
                      </m:d>
                    </m:oMath>
                  </m:oMathPara>
                </a14:m>
                <a:endParaRPr lang="es-AR" sz="1100" b="1" dirty="0">
                  <a:solidFill>
                    <a:srgbClr val="1B6B2A"/>
                  </a:solidFill>
                  <a:latin typeface="Calibri"/>
                </a:endParaRPr>
              </a:p>
            </p:txBody>
          </p:sp>
        </mc:Choice>
        <mc:Fallback>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a:effectLst/>
                                      </a:rPr>
                                    </m:ctrlPr>
                                  </m:sSubPr>
                                  <m:e>
                                    <m:r>
                                      <a:rPr lang="es-AR" sz="1100">
                                        <a:effectLst/>
                                      </a:rPr>
                                      <m:t>𝑹</m:t>
                                    </m:r>
                                  </m:e>
                                  <m:sub>
                                    <m:r>
                                      <a:rPr lang="es-AR" sz="1100">
                                        <a:effectLst/>
                                      </a:rPr>
                                      <m:t>𝒔</m:t>
                                    </m:r>
                                  </m:sub>
                                </m:sSub>
                                <m:d>
                                  <m:dPr>
                                    <m:begChr m:val="["/>
                                    <m:endChr m:val="]"/>
                                    <m:ctrlPr>
                                      <a:rPr lang="es-AR" sz="1100">
                                        <a:effectLst/>
                                      </a:rPr>
                                    </m:ctrlPr>
                                  </m:dPr>
                                  <m:e>
                                    <m:r>
                                      <a:rPr lang="es-AR" sz="1100">
                                        <a:effectLst/>
                                      </a:rPr>
                                      <m:t>𝜴</m:t>
                                    </m:r>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100">
                                        <a:effectLst/>
                                      </a:rPr>
                                    </m:ctrlPr>
                                  </m:sSubPr>
                                  <m:e>
                                    <m:r>
                                      <a:rPr lang="es-AR" sz="1100">
                                        <a:effectLst/>
                                      </a:rPr>
                                      <m:t>⍵</m:t>
                                    </m:r>
                                  </m:e>
                                  <m:sub>
                                    <m:r>
                                      <a:rPr lang="es-AR" sz="1100">
                                        <a:effectLst/>
                                      </a:rPr>
                                      <m:t>𝒏</m:t>
                                    </m:r>
                                  </m:sub>
                                </m:sSub>
                                <m:d>
                                  <m:dPr>
                                    <m:begChr m:val="["/>
                                    <m:endChr m:val="]"/>
                                    <m:ctrlPr>
                                      <a:rPr lang="es-AR" sz="1100">
                                        <a:effectLst/>
                                      </a:rPr>
                                    </m:ctrlPr>
                                  </m:dPr>
                                  <m:e>
                                    <m:f>
                                      <m:fPr>
                                        <m:type m:val="lin"/>
                                        <m:ctrlPr>
                                          <a:rPr lang="es-AR" sz="1100">
                                            <a:effectLst/>
                                          </a:rPr>
                                        </m:ctrlPr>
                                      </m:fPr>
                                      <m:num>
                                        <m:r>
                                          <a:rPr lang="es-AR" sz="1100">
                                            <a:effectLst/>
                                          </a:rPr>
                                          <m:t>𝒓𝒂𝒅</m:t>
                                        </m:r>
                                      </m:num>
                                      <m:den>
                                        <m:r>
                                          <a:rPr lang="es-AR" sz="1100">
                                            <a:effectLst/>
                                          </a:rPr>
                                          <m:t>𝒔</m:t>
                                        </m:r>
                                      </m:den>
                                    </m:f>
                                  </m:e>
                                </m:d>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100">
                                    <a:effectLst/>
                                  </a:rPr>
                                  <m:t>𝛇</m:t>
                                </m:r>
                              </m:oMath>
                            </m:oMathPara>
                          </a14:m>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7510191"/>
                  </p:ext>
                </p:extLst>
              </p:nvPr>
            </p:nvGraphicFramePr>
            <p:xfrm>
              <a:off x="843663" y="4315420"/>
              <a:ext cx="10246832" cy="1804988"/>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80988">
                    <a:tc>
                      <a:txBody>
                        <a:bodyPr/>
                        <a:lstStyle/>
                        <a:p>
                          <a:endParaRPr lang="es-AR"/>
                        </a:p>
                      </a:txBody>
                      <a:tcPr marL="44450" marR="44450" marT="0" marB="0" anchor="b">
                        <a:blipFill>
                          <a:blip r:embed="rId6"/>
                          <a:stretch>
                            <a:fillRect l="-617" t="-97826" r="-940741" b="-576087"/>
                          </a:stretch>
                        </a:blipFill>
                      </a:tcPr>
                    </a:tc>
                    <a:tc>
                      <a:txBody>
                        <a:bodyPr/>
                        <a:lstStyle/>
                        <a:p>
                          <a:pPr algn="ctr">
                            <a:lnSpc>
                              <a:spcPct val="107000"/>
                            </a:lnSpc>
                            <a:spcAft>
                              <a:spcPts val="800"/>
                            </a:spcAft>
                          </a:pPr>
                          <a:r>
                            <a:rPr lang="es-AR" sz="1100">
                              <a:effectLst/>
                            </a:rPr>
                            <a:t>P1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P2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P3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Ceros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97826" r="-103782" b="-576087"/>
                          </a:stretch>
                        </a:blipFill>
                      </a:tcPr>
                    </a:tc>
                    <a:tc>
                      <a:txBody>
                        <a:bodyPr/>
                        <a:lstStyle/>
                        <a:p>
                          <a:endParaRPr lang="es-AR"/>
                        </a:p>
                      </a:txBody>
                      <a:tcPr marL="44450" marR="44450" marT="0" marB="0" anchor="b">
                        <a:blipFill>
                          <a:blip r:embed="rId6"/>
                          <a:stretch>
                            <a:fillRect l="-592593" t="-97826" r="-1646" b="-57608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100">
                              <a:effectLst/>
                            </a:rPr>
                            <a:t>1.0996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-95.34+145.73i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-95.34+145.73i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-189.5793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174.1481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0.5475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100">
                              <a:effectLst/>
                            </a:rPr>
                            <a:t>1.1393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-98.77+143.45i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-98.77+143.45i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-196.4379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0.5671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100">
                              <a:effectLst/>
                            </a:rPr>
                            <a:t>1.1791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-102.20+141.06i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-102.20+141.06i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-203.2966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174.1918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0.5867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100">
                              <a:effectLst/>
                            </a:rPr>
                            <a:t>1.2189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-105.63+138.54i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-105.63+138.54i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-210.1552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174.2136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0.6063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100">
                              <a:effectLst/>
                            </a:rPr>
                            <a:t>1.2587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-109.06+135.88i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-109.06+135.88i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-217.0138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174.2354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0.6260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100">
                              <a:effectLst/>
                            </a:rPr>
                            <a:t>1.2985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-112.49+133.08i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-112.49+133.08i</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-223.8724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174.257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0.6455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100">
                              <a:effectLst/>
                            </a:rPr>
                            <a:t>1.3382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-115.92+130.14i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-230.731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174.2791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0.6651</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100">
                              <a:effectLst/>
                            </a:rPr>
                            <a:t>1.3780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-119.35+127.03i</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-237.5897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174.3009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0.6847</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mc:Choice xmlns:a14="http://schemas.microsoft.com/office/drawing/2010/main"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3046988"/>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endParaRPr lang="es-AR" sz="1600" dirty="0"/>
              </a:p>
            </p:txBody>
          </p:sp>
        </mc:Choice>
        <mc:Fallback>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3046988"/>
              </a:xfrm>
              <a:prstGeom prst="rect">
                <a:avLst/>
              </a:prstGeom>
              <a:blipFill>
                <a:blip r:embed="rId3"/>
                <a:stretch>
                  <a:fillRect l="-665" t="-600" r="-1330" b="-160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Frecuencia natural y amortiguamiento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p:sp>
        <p:nvSpPr>
          <p:cNvPr id="7" name="TextBox 6"/>
          <p:cNvSpPr txBox="1"/>
          <p:nvPr/>
        </p:nvSpPr>
        <p:spPr>
          <a:xfrm>
            <a:off x="365760" y="777240"/>
            <a:ext cx="11430000" cy="621792"/>
          </a:xfrm>
          <a:prstGeom prst="rect">
            <a:avLst/>
          </a:prstGeom>
          <a:noFill/>
        </p:spPr>
        <p:txBody>
          <a:bodyPr wrap="square">
            <a:spAutoFit/>
          </a:bodyPr>
          <a:lstStyle/>
          <a:p>
            <a:pPr algn="l"/>
            <a:r>
              <a:rPr sz="1400" b="0" i="0">
                <a:solidFill>
                  <a:srgbClr val="1A1A2E"/>
                </a:solidFill>
                <a:latin typeface="Calibri"/>
              </a:rPr>
              <a:t>Comparando el polinomio característico de s₂,₃ con la forma canónica de segundo orden s²+2ζωn·s+ωn²=0, se obtienen ωn y ζ en función de los parámetros del sistema:</a:t>
            </a:r>
          </a:p>
        </p:txBody>
      </p:sp>
      <p:sp>
        <p:nvSpPr>
          <p:cNvPr id="8" name="Rectangle 7"/>
          <p:cNvSpPr/>
          <p:nvPr/>
        </p:nvSpPr>
        <p:spPr>
          <a:xfrm>
            <a:off x="365760" y="146304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11247120" cy="475488"/>
          </a:xfrm>
          <a:prstGeom prst="rect">
            <a:avLst/>
          </a:prstGeom>
          <a:noFill/>
        </p:spPr>
        <p:txBody>
          <a:bodyPr wrap="square">
            <a:spAutoFit/>
          </a:bodyPr>
          <a:lstStyle/>
          <a:p>
            <a:pPr algn="ctr"/>
            <a:r>
              <a:rPr sz="1100" b="1">
                <a:solidFill>
                  <a:srgbClr val="1B6B2A"/>
                </a:solidFill>
                <a:latin typeface="Calibri"/>
              </a:rPr>
              <a:t>📐  ECUACIÓN: ωn = √[(Rs·beq + (3/2)·Pp²·λ'm²) / (Jeq·Lq)]     →     depende de Rs (temperatura), Jeq y beq (carga)</a:t>
            </a:r>
          </a:p>
        </p:txBody>
      </p:sp>
      <p:sp>
        <p:nvSpPr>
          <p:cNvPr id="10" name="Rectangle 9"/>
          <p:cNvSpPr/>
          <p:nvPr/>
        </p:nvSpPr>
        <p:spPr>
          <a:xfrm>
            <a:off x="365760" y="200253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02536"/>
            <a:ext cx="11247120" cy="475488"/>
          </a:xfrm>
          <a:prstGeom prst="rect">
            <a:avLst/>
          </a:prstGeom>
          <a:noFill/>
        </p:spPr>
        <p:txBody>
          <a:bodyPr wrap="square">
            <a:spAutoFit/>
          </a:bodyPr>
          <a:lstStyle/>
          <a:p>
            <a:pPr algn="ctr"/>
            <a:r>
              <a:rPr sz="1100" b="1">
                <a:solidFill>
                  <a:srgbClr val="1B6B2A"/>
                </a:solidFill>
                <a:latin typeface="Calibri"/>
              </a:rPr>
              <a:t>📐  ECUACIÓN: ζ = (Lq·beq + Rs(Ts°)·Jeq) / (2·Jeq·Lq·ωn)     →     aumenta con Rs (temperatura)</a:t>
            </a:r>
          </a:p>
        </p:txBody>
      </p:sp>
      <p:graphicFrame>
        <p:nvGraphicFramePr>
          <p:cNvPr id="12" name="Table 11"/>
          <p:cNvGraphicFramePr>
            <a:graphicFrameLocks noGrp="1"/>
          </p:cNvGraphicFramePr>
          <p:nvPr/>
        </p:nvGraphicFramePr>
        <p:xfrm>
          <a:off x="365760" y="2633472"/>
          <a:ext cx="10515600" cy="2651760"/>
        </p:xfrm>
        <a:graphic>
          <a:graphicData uri="http://schemas.openxmlformats.org/drawingml/2006/table">
            <a:tbl>
              <a:tblPr firstRow="1" bandRow="1">
                <a:tableStyleId>{5C22544A-7EE6-4342-B048-85BDC9FD1C3A}</a:tableStyleId>
              </a:tblPr>
              <a:tblGrid>
                <a:gridCol w="5029200">
                  <a:extLst>
                    <a:ext uri="{9D8B030D-6E8A-4147-A177-3AD203B41FA5}">
                      <a16:colId xmlns:a16="http://schemas.microsoft.com/office/drawing/2014/main" val="20000"/>
                    </a:ext>
                  </a:extLst>
                </a:gridCol>
                <a:gridCol w="146304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441960">
                <a:tc>
                  <a:txBody>
                    <a:bodyPr/>
                    <a:lstStyle/>
                    <a:p>
                      <a:r>
                        <a:rPr sz="1200" b="1">
                          <a:solidFill>
                            <a:srgbClr val="FFFFFF"/>
                          </a:solidFill>
                          <a:latin typeface="Calibri"/>
                        </a:rPr>
                        <a:t>Condición</a:t>
                      </a:r>
                    </a:p>
                  </a:txBody>
                  <a:tcPr>
                    <a:solidFill>
                      <a:srgbClr val="1A3A6B"/>
                    </a:solidFill>
                  </a:tcPr>
                </a:tc>
                <a:tc>
                  <a:txBody>
                    <a:bodyPr/>
                    <a:lstStyle/>
                    <a:p>
                      <a:r>
                        <a:rPr sz="1200" b="1">
                          <a:solidFill>
                            <a:srgbClr val="FFFFFF"/>
                          </a:solidFill>
                          <a:latin typeface="Calibri"/>
                        </a:rPr>
                        <a:t>ωn [rad/s]</a:t>
                      </a:r>
                    </a:p>
                  </a:txBody>
                  <a:tcPr>
                    <a:solidFill>
                      <a:srgbClr val="1A3A6B"/>
                    </a:solidFill>
                  </a:tcPr>
                </a:tc>
                <a:tc>
                  <a:txBody>
                    <a:bodyPr/>
                    <a:lstStyle/>
                    <a:p>
                      <a:r>
                        <a:rPr sz="1200" b="1">
                          <a:solidFill>
                            <a:srgbClr val="FFFFFF"/>
                          </a:solidFill>
                          <a:latin typeface="Calibri"/>
                        </a:rPr>
                        <a:t>ζ</a:t>
                      </a:r>
                    </a:p>
                  </a:txBody>
                  <a:tcPr>
                    <a:solidFill>
                      <a:srgbClr val="1A3A6B"/>
                    </a:solidFill>
                  </a:tcPr>
                </a:tc>
                <a:tc>
                  <a:txBody>
                    <a:bodyPr/>
                    <a:lstStyle/>
                    <a:p>
                      <a:r>
                        <a:rPr sz="1200" b="1">
                          <a:solidFill>
                            <a:srgbClr val="FFFFFF"/>
                          </a:solidFill>
                          <a:latin typeface="Calibri"/>
                        </a:rPr>
                        <a:t>Observación</a:t>
                      </a:r>
                    </a:p>
                  </a:txBody>
                  <a:tcPr>
                    <a:solidFill>
                      <a:srgbClr val="1A3A6B"/>
                    </a:solidFill>
                  </a:tcPr>
                </a:tc>
                <a:extLst>
                  <a:ext uri="{0D108BD9-81ED-4DB2-BD59-A6C34878D82A}">
                    <a16:rowId xmlns:a16="http://schemas.microsoft.com/office/drawing/2014/main" val="10000"/>
                  </a:ext>
                </a:extLst>
              </a:tr>
              <a:tr h="441960">
                <a:tc>
                  <a:txBody>
                    <a:bodyPr/>
                    <a:lstStyle/>
                    <a:p>
                      <a:r>
                        <a:rPr sz="1200">
                          <a:latin typeface="Calibri"/>
                        </a:rPr>
                        <a:t>Rs = 1.10 Ω (40°C), params nominales</a:t>
                      </a:r>
                    </a:p>
                  </a:txBody>
                  <a:tcPr/>
                </a:tc>
                <a:tc>
                  <a:txBody>
                    <a:bodyPr/>
                    <a:lstStyle/>
                    <a:p>
                      <a:r>
                        <a:rPr sz="1200">
                          <a:latin typeface="Calibri"/>
                        </a:rPr>
                        <a:t>174.15</a:t>
                      </a:r>
                    </a:p>
                  </a:txBody>
                  <a:tcPr/>
                </a:tc>
                <a:tc>
                  <a:txBody>
                    <a:bodyPr/>
                    <a:lstStyle/>
                    <a:p>
                      <a:r>
                        <a:rPr sz="1200">
                          <a:latin typeface="Calibri"/>
                        </a:rPr>
                        <a:t>0.547</a:t>
                      </a:r>
                    </a:p>
                  </a:txBody>
                  <a:tcPr/>
                </a:tc>
                <a:tc>
                  <a:txBody>
                    <a:bodyPr/>
                    <a:lstStyle/>
                    <a:p>
                      <a:r>
                        <a:rPr sz="1200">
                          <a:latin typeface="Calibri"/>
                        </a:rPr>
                        <a:t>Operación normal</a:t>
                      </a:r>
                    </a:p>
                  </a:txBody>
                  <a:tcPr/>
                </a:tc>
                <a:extLst>
                  <a:ext uri="{0D108BD9-81ED-4DB2-BD59-A6C34878D82A}">
                    <a16:rowId xmlns:a16="http://schemas.microsoft.com/office/drawing/2014/main" val="10001"/>
                  </a:ext>
                </a:extLst>
              </a:tr>
              <a:tr h="441960">
                <a:tc>
                  <a:txBody>
                    <a:bodyPr/>
                    <a:lstStyle/>
                    <a:p>
                      <a:r>
                        <a:rPr sz="1200">
                          <a:latin typeface="Calibri"/>
                        </a:rPr>
                        <a:t>Rs = 1.40 Ω (115°C), params nominales</a:t>
                      </a:r>
                    </a:p>
                  </a:txBody>
                  <a:tcPr>
                    <a:solidFill>
                      <a:srgbClr val="F0F4F8"/>
                    </a:solidFill>
                  </a:tcPr>
                </a:tc>
                <a:tc>
                  <a:txBody>
                    <a:bodyPr/>
                    <a:lstStyle/>
                    <a:p>
                      <a:r>
                        <a:rPr sz="1200">
                          <a:latin typeface="Calibri"/>
                        </a:rPr>
                        <a:t>174.31</a:t>
                      </a:r>
                    </a:p>
                  </a:txBody>
                  <a:tcPr>
                    <a:solidFill>
                      <a:srgbClr val="F0F4F8"/>
                    </a:solidFill>
                  </a:tcPr>
                </a:tc>
                <a:tc>
                  <a:txBody>
                    <a:bodyPr/>
                    <a:lstStyle/>
                    <a:p>
                      <a:r>
                        <a:rPr sz="1200">
                          <a:latin typeface="Calibri"/>
                        </a:rPr>
                        <a:t>0.695</a:t>
                      </a:r>
                    </a:p>
                  </a:txBody>
                  <a:tcPr>
                    <a:solidFill>
                      <a:srgbClr val="F0F4F8"/>
                    </a:solidFill>
                  </a:tcPr>
                </a:tc>
                <a:tc>
                  <a:txBody>
                    <a:bodyPr/>
                    <a:lstStyle/>
                    <a:p>
                      <a:r>
                        <a:rPr sz="1200">
                          <a:latin typeface="Calibri"/>
                        </a:rPr>
                        <a:t>Máx. temperatura</a:t>
                      </a:r>
                    </a:p>
                  </a:txBody>
                  <a:tcPr>
                    <a:solidFill>
                      <a:srgbClr val="F0F4F8"/>
                    </a:solidFill>
                  </a:tcPr>
                </a:tc>
                <a:extLst>
                  <a:ext uri="{0D108BD9-81ED-4DB2-BD59-A6C34878D82A}">
                    <a16:rowId xmlns:a16="http://schemas.microsoft.com/office/drawing/2014/main" val="10002"/>
                  </a:ext>
                </a:extLst>
              </a:tr>
              <a:tr h="441960">
                <a:tc>
                  <a:txBody>
                    <a:bodyPr/>
                    <a:lstStyle/>
                    <a:p>
                      <a:r>
                        <a:rPr sz="1200">
                          <a:latin typeface="Calibri"/>
                        </a:rPr>
                        <a:t>Jeq,beq mínimos (Rs @ 40°C)</a:t>
                      </a:r>
                    </a:p>
                  </a:txBody>
                  <a:tcPr/>
                </a:tc>
                <a:tc>
                  <a:txBody>
                    <a:bodyPr/>
                    <a:lstStyle/>
                    <a:p>
                      <a:r>
                        <a:rPr sz="1200">
                          <a:latin typeface="Calibri"/>
                        </a:rPr>
                        <a:t>174.09</a:t>
                      </a:r>
                    </a:p>
                  </a:txBody>
                  <a:tcPr/>
                </a:tc>
                <a:tc>
                  <a:txBody>
                    <a:bodyPr/>
                    <a:lstStyle/>
                    <a:p>
                      <a:r>
                        <a:rPr sz="1200">
                          <a:latin typeface="Calibri"/>
                        </a:rPr>
                        <a:t>0.547</a:t>
                      </a:r>
                    </a:p>
                  </a:txBody>
                  <a:tcPr/>
                </a:tc>
                <a:tc>
                  <a:txBody>
                    <a:bodyPr/>
                    <a:lstStyle/>
                    <a:p>
                      <a:r>
                        <a:rPr sz="1200">
                          <a:latin typeface="Calibri"/>
                        </a:rPr>
                        <a:t>Sin carga útil</a:t>
                      </a:r>
                    </a:p>
                  </a:txBody>
                  <a:tcPr/>
                </a:tc>
                <a:extLst>
                  <a:ext uri="{0D108BD9-81ED-4DB2-BD59-A6C34878D82A}">
                    <a16:rowId xmlns:a16="http://schemas.microsoft.com/office/drawing/2014/main" val="10003"/>
                  </a:ext>
                </a:extLst>
              </a:tr>
              <a:tr h="441960">
                <a:tc>
                  <a:txBody>
                    <a:bodyPr/>
                    <a:lstStyle/>
                    <a:p>
                      <a:r>
                        <a:rPr sz="1200">
                          <a:latin typeface="Calibri"/>
                        </a:rPr>
                        <a:t>Jeq,beq máximos (Rs @ 40°C) — ml=1.5 kg</a:t>
                      </a:r>
                    </a:p>
                  </a:txBody>
                  <a:tcPr>
                    <a:solidFill>
                      <a:srgbClr val="F0F4F8"/>
                    </a:solidFill>
                  </a:tcPr>
                </a:tc>
                <a:tc>
                  <a:txBody>
                    <a:bodyPr/>
                    <a:lstStyle/>
                    <a:p>
                      <a:r>
                        <a:rPr sz="1200">
                          <a:latin typeface="Calibri"/>
                        </a:rPr>
                        <a:t>114.46</a:t>
                      </a:r>
                    </a:p>
                  </a:txBody>
                  <a:tcPr>
                    <a:solidFill>
                      <a:srgbClr val="F0F4F8"/>
                    </a:solidFill>
                  </a:tcPr>
                </a:tc>
                <a:tc>
                  <a:txBody>
                    <a:bodyPr/>
                    <a:lstStyle/>
                    <a:p>
                      <a:r>
                        <a:rPr sz="1200">
                          <a:latin typeface="Calibri"/>
                        </a:rPr>
                        <a:t>0.830</a:t>
                      </a:r>
                    </a:p>
                  </a:txBody>
                  <a:tcPr>
                    <a:solidFill>
                      <a:srgbClr val="F0F4F8"/>
                    </a:solidFill>
                  </a:tcPr>
                </a:tc>
                <a:tc>
                  <a:txBody>
                    <a:bodyPr/>
                    <a:lstStyle/>
                    <a:p>
                      <a:r>
                        <a:rPr sz="1200">
                          <a:latin typeface="Calibri"/>
                        </a:rPr>
                        <a:t>Máx. carga</a:t>
                      </a:r>
                    </a:p>
                  </a:txBody>
                  <a:tcPr>
                    <a:solidFill>
                      <a:srgbClr val="F0F4F8"/>
                    </a:solidFill>
                  </a:tcPr>
                </a:tc>
                <a:extLst>
                  <a:ext uri="{0D108BD9-81ED-4DB2-BD59-A6C34878D82A}">
                    <a16:rowId xmlns:a16="http://schemas.microsoft.com/office/drawing/2014/main" val="10004"/>
                  </a:ext>
                </a:extLst>
              </a:tr>
              <a:tr h="441960">
                <a:tc>
                  <a:txBody>
                    <a:bodyPr/>
                    <a:lstStyle/>
                    <a:p>
                      <a:r>
                        <a:rPr sz="1200">
                          <a:latin typeface="Calibri"/>
                        </a:rPr>
                        <a:t>Jeq,beq máximos (Rs @ 115°C)</a:t>
                      </a:r>
                    </a:p>
                  </a:txBody>
                  <a:tcPr/>
                </a:tc>
                <a:tc>
                  <a:txBody>
                    <a:bodyPr/>
                    <a:lstStyle/>
                    <a:p>
                      <a:r>
                        <a:rPr sz="1200">
                          <a:latin typeface="Calibri"/>
                        </a:rPr>
                        <a:t>114.58</a:t>
                      </a:r>
                    </a:p>
                  </a:txBody>
                  <a:tcPr/>
                </a:tc>
                <a:tc>
                  <a:txBody>
                    <a:bodyPr/>
                    <a:lstStyle/>
                    <a:p>
                      <a:r>
                        <a:rPr sz="1200">
                          <a:latin typeface="Calibri"/>
                        </a:rPr>
                        <a:t>1.054</a:t>
                      </a:r>
                    </a:p>
                  </a:txBody>
                  <a:tcPr/>
                </a:tc>
                <a:tc>
                  <a:txBody>
                    <a:bodyPr/>
                    <a:lstStyle/>
                    <a:p>
                      <a:r>
                        <a:rPr sz="1200">
                          <a:latin typeface="Calibri"/>
                        </a:rPr>
                        <a:t>⚠ Sobreamed.</a:t>
                      </a:r>
                    </a:p>
                  </a:txBody>
                  <a:tcPr/>
                </a:tc>
                <a:extLst>
                  <a:ext uri="{0D108BD9-81ED-4DB2-BD59-A6C34878D82A}">
                    <a16:rowId xmlns:a16="http://schemas.microsoft.com/office/drawing/2014/main" val="10005"/>
                  </a:ext>
                </a:extLst>
              </a:tr>
            </a:tbl>
          </a:graphicData>
        </a:graphic>
      </p:graphicFrame>
      <p:sp>
        <p:nvSpPr>
          <p:cNvPr id="13" name="TextBox 12"/>
          <p:cNvSpPr txBox="1"/>
          <p:nvPr/>
        </p:nvSpPr>
        <p:spPr>
          <a:xfrm>
            <a:off x="365760" y="5468112"/>
            <a:ext cx="11430000" cy="1051560"/>
          </a:xfrm>
          <a:prstGeom prst="rect">
            <a:avLst/>
          </a:prstGeom>
          <a:noFill/>
        </p:spPr>
        <p:txBody>
          <a:bodyPr wrap="square">
            <a:spAutoFit/>
          </a:bodyPr>
          <a:lstStyle/>
          <a:p>
            <a:r>
              <a:rPr sz="1350">
                <a:solidFill>
                  <a:srgbClr val="1A1A2E"/>
                </a:solidFill>
                <a:latin typeface="Calibri"/>
              </a:rPr>
              <a:t>ωn prácticamente no varía con la temperatura — lo que cambia es el amortiguamiento ζ</a:t>
            </a:r>
          </a:p>
          <a:p>
            <a:pPr>
              <a:spcBef>
                <a:spcPts val="400"/>
              </a:spcBef>
            </a:pPr>
            <a:r>
              <a:rPr sz="1350">
                <a:solidFill>
                  <a:srgbClr val="1A1A2E"/>
                </a:solidFill>
                <a:latin typeface="Calibri"/>
              </a:rPr>
              <a:t>Mayor Jeq (mayor carga) → ωn disminuye significativamente (respuesta más lenta)</a:t>
            </a:r>
          </a:p>
          <a:p>
            <a:pPr>
              <a:spcBef>
                <a:spcPts val="400"/>
              </a:spcBef>
            </a:pPr>
            <a:r>
              <a:rPr sz="1350">
                <a:solidFill>
                  <a:srgbClr val="1A1A2E"/>
                </a:solidFill>
                <a:latin typeface="Calibri"/>
              </a:rPr>
              <a:t>Mayor Rs (mayor temperatura) → ζ aumenta (sistema más amortiguado, puede volverse sobreamortiguado)</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Estabilidad — Diagramas de polos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34 / ~75</a:t>
            </a:r>
          </a:p>
        </p:txBody>
      </p:sp>
      <p:sp>
        <p:nvSpPr>
          <p:cNvPr id="7" name="TextBox 6"/>
          <p:cNvSpPr txBox="1"/>
          <p:nvPr/>
        </p:nvSpPr>
        <p:spPr>
          <a:xfrm>
            <a:off x="365760" y="777240"/>
            <a:ext cx="11430000" cy="457200"/>
          </a:xfrm>
          <a:prstGeom prst="rect">
            <a:avLst/>
          </a:prstGeom>
          <a:noFill/>
        </p:spPr>
        <p:txBody>
          <a:bodyPr wrap="square">
            <a:spAutoFit/>
          </a:bodyPr>
          <a:lstStyle/>
          <a:p>
            <a:pPr algn="l"/>
            <a:r>
              <a:rPr sz="1400" b="0" i="0">
                <a:solidFill>
                  <a:srgbClr val="1A1A2E"/>
                </a:solidFill>
                <a:latin typeface="Calibri"/>
              </a:rPr>
              <a:t>Variación de los polos del modelo LTI ante cambios en los parámetros del sistema:</a:t>
            </a:r>
          </a:p>
        </p:txBody>
      </p:sp>
      <p:sp>
        <p:nvSpPr>
          <p:cNvPr id="8" name="Rectangle 7"/>
          <p:cNvSpPr/>
          <p:nvPr/>
        </p:nvSpPr>
        <p:spPr>
          <a:xfrm>
            <a:off x="365760" y="1298448"/>
            <a:ext cx="548640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95728"/>
            <a:ext cx="5303520" cy="548640"/>
          </a:xfrm>
          <a:prstGeom prst="rect">
            <a:avLst/>
          </a:prstGeom>
          <a:noFill/>
        </p:spPr>
        <p:txBody>
          <a:bodyPr wrap="square">
            <a:spAutoFit/>
          </a:bodyPr>
          <a:lstStyle/>
          <a:p>
            <a:pPr algn="ctr"/>
            <a:r>
              <a:rPr sz="1100" b="1">
                <a:solidFill>
                  <a:srgbClr val="C35A00"/>
                </a:solidFill>
                <a:latin typeface="Calibri"/>
              </a:rPr>
              <a:t>🖼  FIGURA: Figura 12 — Variación de polos con la temperatura del estator (Rs cambia con Ts°)
Al aumentar Rs: ζ crece, ωn casi constante. Riesgo de sobreamed. a temperatura máxima con carga máxima.</a:t>
            </a:r>
          </a:p>
        </p:txBody>
      </p:sp>
      <p:sp>
        <p:nvSpPr>
          <p:cNvPr id="10" name="TextBox 9"/>
          <p:cNvSpPr txBox="1"/>
          <p:nvPr/>
        </p:nvSpPr>
        <p:spPr>
          <a:xfrm>
            <a:off x="457200" y="2779776"/>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080760" y="1298448"/>
            <a:ext cx="548640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172200" y="2395728"/>
            <a:ext cx="5303520" cy="548640"/>
          </a:xfrm>
          <a:prstGeom prst="rect">
            <a:avLst/>
          </a:prstGeom>
          <a:noFill/>
        </p:spPr>
        <p:txBody>
          <a:bodyPr wrap="square">
            <a:spAutoFit/>
          </a:bodyPr>
          <a:lstStyle/>
          <a:p>
            <a:pPr algn="ctr"/>
            <a:r>
              <a:rPr sz="1100" b="1">
                <a:solidFill>
                  <a:srgbClr val="C35A00"/>
                </a:solidFill>
                <a:latin typeface="Calibri"/>
              </a:rPr>
              <a:t>🖼  FIGURA: Figura 13 — Variación de polos con Jeq y beq (según carga útil ml)
Al aumentar Jeq: ωn disminuye, los polos se acercan al origen. Respuesta más lenta con mayor carga.</a:t>
            </a:r>
          </a:p>
        </p:txBody>
      </p:sp>
      <p:sp>
        <p:nvSpPr>
          <p:cNvPr id="13" name="TextBox 12"/>
          <p:cNvSpPr txBox="1"/>
          <p:nvPr/>
        </p:nvSpPr>
        <p:spPr>
          <a:xfrm>
            <a:off x="6172200" y="2779776"/>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4187952"/>
            <a:ext cx="11430000" cy="365760"/>
          </a:xfrm>
          <a:prstGeom prst="rect">
            <a:avLst/>
          </a:prstGeom>
          <a:noFill/>
        </p:spPr>
        <p:txBody>
          <a:bodyPr wrap="square">
            <a:spAutoFit/>
          </a:bodyPr>
          <a:lstStyle/>
          <a:p>
            <a:pPr algn="l"/>
            <a:r>
              <a:rPr sz="1400" b="1" i="0">
                <a:solidFill>
                  <a:srgbClr val="1A3A6B"/>
                </a:solidFill>
                <a:latin typeface="Calibri"/>
              </a:rPr>
              <a:t>Conclusiones del análisis de estabilidad:</a:t>
            </a:r>
          </a:p>
        </p:txBody>
      </p:sp>
      <p:sp>
        <p:nvSpPr>
          <p:cNvPr id="15" name="TextBox 14"/>
          <p:cNvSpPr txBox="1"/>
          <p:nvPr/>
        </p:nvSpPr>
        <p:spPr>
          <a:xfrm>
            <a:off x="365760" y="4617720"/>
            <a:ext cx="11430000" cy="1920240"/>
          </a:xfrm>
          <a:prstGeom prst="rect">
            <a:avLst/>
          </a:prstGeom>
          <a:noFill/>
        </p:spPr>
        <p:txBody>
          <a:bodyPr wrap="square">
            <a:spAutoFit/>
          </a:bodyPr>
          <a:lstStyle/>
          <a:p>
            <a:r>
              <a:rPr sz="1350">
                <a:solidFill>
                  <a:srgbClr val="1A1A2E"/>
                </a:solidFill>
                <a:latin typeface="Calibri"/>
              </a:rPr>
              <a:t>Sistema estable en lazo abierto para todos los pares de polos s₂,₃ (parte real negativa en todas las condiciones)</a:t>
            </a:r>
          </a:p>
          <a:p>
            <a:pPr>
              <a:spcBef>
                <a:spcPts val="400"/>
              </a:spcBef>
            </a:pPr>
            <a:r>
              <a:rPr sz="1350">
                <a:solidFill>
                  <a:srgbClr val="1A1A2E"/>
                </a:solidFill>
                <a:latin typeface="Calibri"/>
              </a:rPr>
              <a:t>La temperatura afecta principalmente el amortiguamiento ζ → el diseño del controlador debe considerar esta variación</a:t>
            </a:r>
          </a:p>
          <a:p>
            <a:pPr>
              <a:spcBef>
                <a:spcPts val="400"/>
              </a:spcBef>
            </a:pPr>
            <a:r>
              <a:rPr sz="1350">
                <a:solidFill>
                  <a:srgbClr val="1A1A2E"/>
                </a:solidFill>
                <a:latin typeface="Calibri"/>
              </a:rPr>
              <a:t>La carga útil afecta principalmente la frecuencia natural ωn → mayor inercia = respuesta más lenta</a:t>
            </a:r>
          </a:p>
          <a:p>
            <a:pPr>
              <a:spcBef>
                <a:spcPts val="400"/>
              </a:spcBef>
            </a:pPr>
            <a:r>
              <a:rPr sz="1350">
                <a:solidFill>
                  <a:srgbClr val="1A1A2E"/>
                </a:solidFill>
                <a:latin typeface="Calibri"/>
              </a:rPr>
              <a:t>El polo s₁=0 (integrador de posición) se estabilizará con el lazo cerrado del controlador PID externo</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365760" y="777240"/>
            <a:ext cx="11430000" cy="685800"/>
          </a:xfrm>
          <a:prstGeom prst="rect">
            <a:avLst/>
          </a:prstGeom>
          <a:noFill/>
        </p:spPr>
        <p:txBody>
          <a:bodyPr wrap="square">
            <a:spAutoFit/>
          </a:bodyPr>
          <a:lstStyle/>
          <a:p>
            <a:pPr algn="l"/>
            <a:r>
              <a:rPr sz="1400" b="0" i="0">
                <a:solidFill>
                  <a:srgbClr val="1A1A2E"/>
                </a:solidFill>
                <a:latin typeface="Calibri"/>
              </a:rPr>
              <a:t>Criterio de Kalman: un sistema LTI de orden n es completamente observable si el rango de la matriz de observabilidad O es n. Para una matriz cuadrada: rango = n ↔ det(O) ≠ 0.</a:t>
            </a:r>
          </a:p>
        </p:txBody>
      </p:sp>
      <p:sp>
        <p:nvSpPr>
          <p:cNvPr id="8" name="Rectangle 7"/>
          <p:cNvSpPr/>
          <p:nvPr/>
        </p:nvSpPr>
        <p:spPr>
          <a:xfrm>
            <a:off x="365760" y="153619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36192"/>
            <a:ext cx="11247120" cy="475488"/>
          </a:xfrm>
          <a:prstGeom prst="rect">
            <a:avLst/>
          </a:prstGeom>
          <a:noFill/>
        </p:spPr>
        <p:txBody>
          <a:bodyPr wrap="square">
            <a:spAutoFit/>
          </a:bodyPr>
          <a:lstStyle/>
          <a:p>
            <a:pPr algn="ctr"/>
            <a:r>
              <a:rPr sz="1100" b="1">
                <a:solidFill>
                  <a:srgbClr val="1B6B2A"/>
                </a:solidFill>
                <a:latin typeface="Calibri"/>
              </a:rPr>
              <a:t>📐  ECUACIÓN: O = [C ; CA ; CA² ; ... ; CA^(n-1)]ᵀ     →     rango(O) = n = 5  →  Sistema COMPLETAMENTE OBSERVABLE</a:t>
            </a:r>
          </a:p>
        </p:txBody>
      </p:sp>
      <p:sp>
        <p:nvSpPr>
          <p:cNvPr id="10" name="TextBox 9"/>
          <p:cNvSpPr txBox="1"/>
          <p:nvPr/>
        </p:nvSpPr>
        <p:spPr>
          <a:xfrm>
            <a:off x="365760" y="2121408"/>
            <a:ext cx="11430000" cy="365760"/>
          </a:xfrm>
          <a:prstGeom prst="rect">
            <a:avLst/>
          </a:prstGeom>
          <a:noFill/>
        </p:spPr>
        <p:txBody>
          <a:bodyPr wrap="square">
            <a:spAutoFit/>
          </a:bodyPr>
          <a:lstStyle/>
          <a:p>
            <a:pPr algn="l"/>
            <a:r>
              <a:rPr sz="1400" b="1" i="0">
                <a:solidFill>
                  <a:srgbClr val="1A3A6B"/>
                </a:solidFill>
                <a:latin typeface="Calibri"/>
              </a:rPr>
              <a:t>Salida medida: y(t) = θm(t)  (solo la posición angular del eje motor)</a:t>
            </a:r>
          </a:p>
        </p:txBody>
      </p:sp>
      <p:sp>
        <p:nvSpPr>
          <p:cNvPr id="11" name="TextBox 10"/>
          <p:cNvSpPr txBox="1"/>
          <p:nvPr/>
        </p:nvSpPr>
        <p:spPr>
          <a:xfrm>
            <a:off x="365760" y="2578608"/>
            <a:ext cx="11430000" cy="2286000"/>
          </a:xfrm>
          <a:prstGeom prst="rect">
            <a:avLst/>
          </a:prstGeom>
          <a:noFill/>
        </p:spPr>
        <p:txBody>
          <a:bodyPr wrap="square">
            <a:spAutoFit/>
          </a:bodyPr>
          <a:lstStyle/>
          <a:p>
            <a:r>
              <a:rPr sz="1350">
                <a:solidFill>
                  <a:srgbClr val="1A1A2E"/>
                </a:solidFill>
                <a:latin typeface="Calibri"/>
              </a:rPr>
              <a:t>Se verifica det(O) ≠ 0 de manera numérica (obtener O simbólicamente resulta impráctico en orden 5)</a:t>
            </a:r>
          </a:p>
          <a:p>
            <a:pPr>
              <a:spcBef>
                <a:spcPts val="400"/>
              </a:spcBef>
            </a:pPr>
            <a:r>
              <a:rPr sz="1350">
                <a:solidFill>
                  <a:srgbClr val="1A1A2E"/>
                </a:solidFill>
                <a:latin typeface="Calibri"/>
              </a:rPr>
              <a:t>Todos los estados son observables desde θm:  θm, ωm, iqs^r, ids^r, Ts°</a:t>
            </a:r>
          </a:p>
          <a:p>
            <a:pPr>
              <a:spcBef>
                <a:spcPts val="400"/>
              </a:spcBef>
            </a:pPr>
            <a:r>
              <a:rPr sz="1350">
                <a:solidFill>
                  <a:srgbClr val="1A1A2E"/>
                </a:solidFill>
                <a:latin typeface="Calibri"/>
              </a:rPr>
              <a:t>Esto habilita el diseño de un observador de Luenberger de orden reducido</a:t>
            </a:r>
          </a:p>
          <a:p>
            <a:pPr>
              <a:spcBef>
                <a:spcPts val="400"/>
              </a:spcBef>
            </a:pPr>
            <a:r>
              <a:rPr sz="1350">
                <a:solidFill>
                  <a:srgbClr val="1A1A2E"/>
                </a:solidFill>
                <a:latin typeface="Calibri"/>
              </a:rPr>
              <a:t>En la práctica se diseña el observador sobre el subsistema mecánico de orden 2 (θm, ωm), ya que las corrientes se miden directamente y Ts también se mide con sensor</a:t>
            </a:r>
          </a:p>
        </p:txBody>
      </p:sp>
      <p:sp>
        <p:nvSpPr>
          <p:cNvPr id="12" name="Rectangle 11"/>
          <p:cNvSpPr/>
          <p:nvPr/>
        </p:nvSpPr>
        <p:spPr>
          <a:xfrm>
            <a:off x="365760" y="5029200"/>
            <a:ext cx="11430000" cy="105156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5074920"/>
            <a:ext cx="11155680" cy="960119"/>
          </a:xfrm>
          <a:prstGeom prst="rect">
            <a:avLst/>
          </a:prstGeom>
          <a:noFill/>
        </p:spPr>
        <p:txBody>
          <a:bodyPr wrap="square">
            <a:spAutoFit/>
          </a:bodyPr>
          <a:lstStyle/>
          <a:p>
            <a:pPr algn="l"/>
            <a:r>
              <a:rPr sz="1300">
                <a:solidFill>
                  <a:srgbClr val="1A3A6B"/>
                </a:solidFill>
                <a:latin typeface="Calibri"/>
              </a:rPr>
              <a:t>El resultado de observabilidad garantiza que con un único sensor de posición (encoder) es posible estimar todas las variables de estado del sistema, incluyendo la velocidad angular. Esto tiene implicaciones prácticas importantes: se puede prescindir de un tacómetro.</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Análisis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65760" y="777240"/>
            <a:ext cx="11430000" cy="621792"/>
          </a:xfrm>
          <a:prstGeom prst="rect">
            <a:avLst/>
          </a:prstGeom>
          <a:noFill/>
        </p:spPr>
        <p:txBody>
          <a:bodyPr wrap="square">
            <a:spAutoFit/>
          </a:bodyPr>
          <a:lstStyle/>
          <a:p>
            <a:pPr algn="l"/>
            <a:r>
              <a:rPr sz="1400" b="0" i="0">
                <a:solidFill>
                  <a:srgbClr val="1A1A2E"/>
                </a:solidFill>
                <a:latin typeface="Calibri"/>
              </a:rPr>
              <a:t>Criterio de Kalman: un sistema LTI de orden n con p entradas es completamente controlable si el rango de la matriz de controlabilidad C es n.</a:t>
            </a:r>
          </a:p>
        </p:txBody>
      </p:sp>
      <p:sp>
        <p:nvSpPr>
          <p:cNvPr id="8" name="Rectangle 7"/>
          <p:cNvSpPr/>
          <p:nvPr/>
        </p:nvSpPr>
        <p:spPr>
          <a:xfrm>
            <a:off x="365760" y="146304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11247120" cy="475488"/>
          </a:xfrm>
          <a:prstGeom prst="rect">
            <a:avLst/>
          </a:prstGeom>
          <a:noFill/>
        </p:spPr>
        <p:txBody>
          <a:bodyPr wrap="square">
            <a:spAutoFit/>
          </a:bodyPr>
          <a:lstStyle/>
          <a:p>
            <a:pPr algn="ctr"/>
            <a:r>
              <a:rPr sz="1100" b="1">
                <a:solidFill>
                  <a:srgbClr val="1B6B2A"/>
                </a:solidFill>
                <a:latin typeface="Calibri"/>
              </a:rPr>
              <a:t>📐  ECUACIÓN: C = [B | AB | A²B | ... | A^(n-1)B]     →     rango(C) = n = 5  →  Sistema COMPLETAMENTE CONTROLABLE</a:t>
            </a:r>
          </a:p>
        </p:txBody>
      </p:sp>
      <p:sp>
        <p:nvSpPr>
          <p:cNvPr id="10" name="TextBox 9"/>
          <p:cNvSpPr txBox="1"/>
          <p:nvPr/>
        </p:nvSpPr>
        <p:spPr>
          <a:xfrm>
            <a:off x="365760" y="2057400"/>
            <a:ext cx="11430000" cy="365760"/>
          </a:xfrm>
          <a:prstGeom prst="rect">
            <a:avLst/>
          </a:prstGeom>
          <a:noFill/>
        </p:spPr>
        <p:txBody>
          <a:bodyPr wrap="square">
            <a:spAutoFit/>
          </a:bodyPr>
          <a:lstStyle/>
          <a:p>
            <a:pPr algn="l"/>
            <a:r>
              <a:rPr sz="1400" b="1" i="0">
                <a:solidFill>
                  <a:srgbClr val="1A3A6B"/>
                </a:solidFill>
                <a:latin typeface="Calibri"/>
              </a:rPr>
              <a:t>Entradas de control: u(t) = [vqs^r(t),  vds^r(t)]  (tensiones virtuales de control)</a:t>
            </a:r>
          </a:p>
        </p:txBody>
      </p:sp>
      <p:sp>
        <p:nvSpPr>
          <p:cNvPr id="11" name="TextBox 10"/>
          <p:cNvSpPr txBox="1"/>
          <p:nvPr/>
        </p:nvSpPr>
        <p:spPr>
          <a:xfrm>
            <a:off x="365760" y="2514600"/>
            <a:ext cx="11430000" cy="2560320"/>
          </a:xfrm>
          <a:prstGeom prst="rect">
            <a:avLst/>
          </a:prstGeom>
          <a:noFill/>
        </p:spPr>
        <p:txBody>
          <a:bodyPr wrap="square">
            <a:spAutoFit/>
          </a:bodyPr>
          <a:lstStyle/>
          <a:p>
            <a:r>
              <a:rPr sz="1350">
                <a:solidFill>
                  <a:srgbClr val="1A1A2E"/>
                </a:solidFill>
                <a:latin typeface="Calibri"/>
              </a:rPr>
              <a:t>Con dos entradas independientes (vqs^r y vds^r) es posible controlar independientemente los ejes q y d</a:t>
            </a:r>
          </a:p>
          <a:p>
            <a:pPr>
              <a:spcBef>
                <a:spcPts val="400"/>
              </a:spcBef>
            </a:pPr>
            <a:r>
              <a:rPr sz="1350">
                <a:solidFill>
                  <a:srgbClr val="1A1A2E"/>
                </a:solidFill>
                <a:latin typeface="Calibri"/>
              </a:rPr>
              <a:t>El resultado de controlabilidad garantiza que todos los estados pueden ser llevados a cero (origen) en tiempo finito</a:t>
            </a:r>
          </a:p>
          <a:p>
            <a:pPr>
              <a:spcBef>
                <a:spcPts val="400"/>
              </a:spcBef>
            </a:pPr>
            <a:r>
              <a:rPr sz="1350">
                <a:solidFill>
                  <a:srgbClr val="1A1A2E"/>
                </a:solidFill>
                <a:latin typeface="Calibri"/>
              </a:rPr>
              <a:t>Permite la asignación arbitraria de todos los polos del sistema en lazo cerrado mediante realimentación de estado</a:t>
            </a:r>
          </a:p>
          <a:p>
            <a:pPr>
              <a:spcBef>
                <a:spcPts val="400"/>
              </a:spcBef>
            </a:pPr>
            <a:r>
              <a:rPr sz="1350">
                <a:solidFill>
                  <a:srgbClr val="1A1A2E"/>
                </a:solidFill>
                <a:latin typeface="Calibri"/>
              </a:rPr>
              <a:t>En la práctica, la controlabilidad se verifica numéricamente evaluando el rango de C con los parámetros nominales</a:t>
            </a:r>
          </a:p>
        </p:txBody>
      </p:sp>
      <p:sp>
        <p:nvSpPr>
          <p:cNvPr id="12" name="Rectangle 11"/>
          <p:cNvSpPr/>
          <p:nvPr/>
        </p:nvSpPr>
        <p:spPr>
          <a:xfrm>
            <a:off x="365760" y="5257800"/>
            <a:ext cx="11430000" cy="91440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5303520"/>
            <a:ext cx="11155680" cy="822960"/>
          </a:xfrm>
          <a:prstGeom prst="rect">
            <a:avLst/>
          </a:prstGeom>
          <a:noFill/>
        </p:spPr>
        <p:txBody>
          <a:bodyPr wrap="square">
            <a:spAutoFit/>
          </a:bodyPr>
          <a:lstStyle/>
          <a:p>
            <a:pPr algn="l"/>
            <a:r>
              <a:rPr sz="1300">
                <a:solidFill>
                  <a:srgbClr val="1A3A6B"/>
                </a:solidFill>
                <a:latin typeface="Calibri"/>
              </a:rPr>
              <a:t>Conclusión: el sistema LTI equivalente es completamente observable (desde θm) y completamente controlable (desde vqs^r, vds^r). Esto garantiza que es teóricamente posible diseñar un observador de estado y un controlador por realimentación de estado con desempeño arbitrario, dentro de los límites físicos del sistema.</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Simulación del modelo NL · 4 cuadrantes · LTI vs NL</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p:sp>
        <p:nvSpPr>
          <p:cNvPr id="8" name="TextBox 7"/>
          <p:cNvSpPr txBox="1"/>
          <p:nvPr/>
        </p:nvSpPr>
        <p:spPr>
          <a:xfrm>
            <a:off x="365760" y="1261872"/>
            <a:ext cx="7772400" cy="1554480"/>
          </a:xfrm>
          <a:prstGeom prst="rect">
            <a:avLst/>
          </a:prstGeom>
          <a:noFill/>
        </p:spPr>
        <p:txBody>
          <a:bodyPr wrap="square">
            <a:spAutoFit/>
          </a:bodyPr>
          <a:lstStyle/>
          <a:p>
            <a:r>
              <a:rPr sz="1350">
                <a:solidFill>
                  <a:srgbClr val="1A1A2E"/>
                </a:solidFill>
                <a:latin typeface="Calibri"/>
              </a:rPr>
              <a:t>Consigna de tensión vqs^r: escalones de ±19.56 V en t = 0.1 s, t = 0.7 s y t = 1.1 s</a:t>
            </a:r>
          </a:p>
          <a:p>
            <a:pPr>
              <a:spcBef>
                <a:spcPts val="400"/>
              </a:spcBef>
            </a:pPr>
            <a:r>
              <a:rPr sz="1350">
                <a:solidFill>
                  <a:srgbClr val="1A1A2E"/>
                </a:solidFill>
                <a:latin typeface="Calibri"/>
              </a:rPr>
              <a:t>Perturbaciones de torque de carga Tld: doble pulso ±5 N·m entre t = 0.3–0.9 s y t = 1.3–1.9 s</a:t>
            </a:r>
          </a:p>
          <a:p>
            <a:pPr>
              <a:spcBef>
                <a:spcPts val="400"/>
              </a:spcBef>
            </a:pPr>
            <a:r>
              <a:rPr sz="1350">
                <a:solidFill>
                  <a:srgbClr val="1A1A2E"/>
                </a:solidFill>
                <a:latin typeface="Calibri"/>
              </a:rPr>
              <a:t>Condiciones iniciales nulas: θm = ωm = iqs^r = ids^r = 0,  Ts° = Tamb = 25°C</a:t>
            </a:r>
          </a:p>
        </p:txBody>
      </p:sp>
      <p:sp>
        <p:nvSpPr>
          <p:cNvPr id="9" name="Rectangle 8"/>
          <p:cNvSpPr/>
          <p:nvPr/>
        </p:nvSpPr>
        <p:spPr>
          <a:xfrm>
            <a:off x="365760" y="2907792"/>
            <a:ext cx="5486400" cy="18288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547872"/>
            <a:ext cx="5303520" cy="548640"/>
          </a:xfrm>
          <a:prstGeom prst="rect">
            <a:avLst/>
          </a:prstGeom>
          <a:noFill/>
        </p:spPr>
        <p:txBody>
          <a:bodyPr wrap="square">
            <a:spAutoFit/>
          </a:bodyPr>
          <a:lstStyle/>
          <a:p>
            <a:pPr algn="ctr"/>
            <a:r>
              <a:rPr sz="1100" b="1">
                <a:solidFill>
                  <a:srgbClr val="C35A00"/>
                </a:solidFill>
                <a:latin typeface="Calibri"/>
              </a:rPr>
              <a:t>🖼  FIGURA: Figura 14a — Consigna vqs^r(t)  (escalones ±19.56 V)</a:t>
            </a:r>
          </a:p>
        </p:txBody>
      </p:sp>
      <p:sp>
        <p:nvSpPr>
          <p:cNvPr id="11" name="TextBox 10"/>
          <p:cNvSpPr txBox="1"/>
          <p:nvPr/>
        </p:nvSpPr>
        <p:spPr>
          <a:xfrm>
            <a:off x="457200" y="393192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2" name="Rectangle 11"/>
          <p:cNvSpPr/>
          <p:nvPr/>
        </p:nvSpPr>
        <p:spPr>
          <a:xfrm>
            <a:off x="6126480" y="2907792"/>
            <a:ext cx="5486400" cy="18288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217920" y="3547872"/>
            <a:ext cx="5303520" cy="548640"/>
          </a:xfrm>
          <a:prstGeom prst="rect">
            <a:avLst/>
          </a:prstGeom>
          <a:noFill/>
        </p:spPr>
        <p:txBody>
          <a:bodyPr wrap="square">
            <a:spAutoFit/>
          </a:bodyPr>
          <a:lstStyle/>
          <a:p>
            <a:pPr algn="ctr"/>
            <a:r>
              <a:rPr sz="1100" b="1">
                <a:solidFill>
                  <a:srgbClr val="C35A00"/>
                </a:solidFill>
                <a:latin typeface="Calibri"/>
              </a:rPr>
              <a:t>🖼  FIGURA: Figura 14b — Perturbación Tld(t)  (pulsos dobles ±5 N·m)</a:t>
            </a:r>
          </a:p>
        </p:txBody>
      </p:sp>
      <p:sp>
        <p:nvSpPr>
          <p:cNvPr id="14" name="TextBox 13"/>
          <p:cNvSpPr txBox="1"/>
          <p:nvPr/>
        </p:nvSpPr>
        <p:spPr>
          <a:xfrm>
            <a:off x="6217920" y="393192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TextBox 14"/>
          <p:cNvSpPr txBox="1"/>
          <p:nvPr/>
        </p:nvSpPr>
        <p:spPr>
          <a:xfrm>
            <a:off x="365760" y="4864608"/>
            <a:ext cx="11430000" cy="347472"/>
          </a:xfrm>
          <a:prstGeom prst="rect">
            <a:avLst/>
          </a:prstGeom>
          <a:noFill/>
        </p:spPr>
        <p:txBody>
          <a:bodyPr wrap="square">
            <a:spAutoFit/>
          </a:bodyPr>
          <a:lstStyle/>
          <a:p>
            <a:pPr algn="l"/>
            <a:r>
              <a:rPr sz="1400" b="1" i="0">
                <a:solidFill>
                  <a:srgbClr val="1A3A6B"/>
                </a:solidFill>
                <a:latin typeface="Calibri"/>
              </a:rPr>
              <a:t>Objetivos de la simulación a lazo abierto:</a:t>
            </a:r>
          </a:p>
        </p:txBody>
      </p:sp>
      <p:sp>
        <p:nvSpPr>
          <p:cNvPr id="16" name="TextBox 15"/>
          <p:cNvSpPr txBox="1"/>
          <p:nvPr/>
        </p:nvSpPr>
        <p:spPr>
          <a:xfrm>
            <a:off x="365760" y="5257800"/>
            <a:ext cx="11430000" cy="1325880"/>
          </a:xfrm>
          <a:prstGeom prst="rect">
            <a:avLst/>
          </a:prstGeom>
          <a:noFill/>
        </p:spPr>
        <p:txBody>
          <a:bodyPr wrap="square">
            <a:spAutoFit/>
          </a:bodyPr>
          <a:lstStyle/>
          <a:p>
            <a:r>
              <a:rPr sz="1350">
                <a:solidFill>
                  <a:srgbClr val="1A1A2E"/>
                </a:solidFill>
                <a:latin typeface="Calibri"/>
              </a:rPr>
              <a:t>Verificar el funcionamiento en los 4 cuadrantes de operación del accionamiento</a:t>
            </a:r>
          </a:p>
          <a:p>
            <a:pPr>
              <a:spcBef>
                <a:spcPts val="400"/>
              </a:spcBef>
            </a:pPr>
            <a:r>
              <a:rPr sz="1350">
                <a:solidFill>
                  <a:srgbClr val="1A1A2E"/>
                </a:solidFill>
                <a:latin typeface="Calibri"/>
              </a:rPr>
              <a:t>Analizar la respuesta de θm, ωm, Tm, iqs, ids, vabc, iabc y Ts° ante las entradas aplicadas</a:t>
            </a:r>
          </a:p>
          <a:p>
            <a:pPr>
              <a:spcBef>
                <a:spcPts val="400"/>
              </a:spcBef>
            </a:pPr>
            <a:r>
              <a:rPr sz="1350">
                <a:solidFill>
                  <a:srgbClr val="1A1A2E"/>
                </a:solidFill>
                <a:latin typeface="Calibri"/>
              </a:rPr>
              <a:t>Comparar la respuesta del modelo NL con la del modelo LTI equivalente aumentado</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7" name="Rectangle 6"/>
          <p:cNvSpPr/>
          <p:nvPr/>
        </p:nvSpPr>
        <p:spPr>
          <a:xfrm>
            <a:off x="365760" y="777240"/>
            <a:ext cx="6858000" cy="33832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6675120" cy="548640"/>
          </a:xfrm>
          <a:prstGeom prst="rect">
            <a:avLst/>
          </a:prstGeom>
          <a:noFill/>
        </p:spPr>
        <p:txBody>
          <a:bodyPr wrap="square">
            <a:spAutoFit/>
          </a:bodyPr>
          <a:lstStyle/>
          <a:p>
            <a:pPr algn="ctr"/>
            <a:r>
              <a:rPr sz="1100" b="1">
                <a:solidFill>
                  <a:srgbClr val="C35A00"/>
                </a:solidFill>
                <a:latin typeface="Calibri"/>
              </a:rPr>
              <a:t>🖼  FIGURA: Figura 15 — Respuesta del sistema NL:
θm(t), ωm(t) y Tm(t) ante escalones de tensión y perturbaciones de carga</a:t>
            </a:r>
          </a:p>
        </p:txBody>
      </p:sp>
      <p:sp>
        <p:nvSpPr>
          <p:cNvPr id="9" name="TextBox 8"/>
          <p:cNvSpPr txBox="1"/>
          <p:nvPr/>
        </p:nvSpPr>
        <p:spPr>
          <a:xfrm>
            <a:off x="457200" y="2578608"/>
            <a:ext cx="6675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TextBox 9"/>
          <p:cNvSpPr txBox="1"/>
          <p:nvPr/>
        </p:nvSpPr>
        <p:spPr>
          <a:xfrm>
            <a:off x="7498079" y="777240"/>
            <a:ext cx="4480560" cy="365760"/>
          </a:xfrm>
          <a:prstGeom prst="rect">
            <a:avLst/>
          </a:prstGeom>
          <a:noFill/>
        </p:spPr>
        <p:txBody>
          <a:bodyPr wrap="square">
            <a:spAutoFit/>
          </a:bodyPr>
          <a:lstStyle/>
          <a:p>
            <a:pPr algn="l"/>
            <a:r>
              <a:rPr sz="1400" b="1" i="0">
                <a:solidFill>
                  <a:srgbClr val="1A3A6B"/>
                </a:solidFill>
                <a:latin typeface="Calibri"/>
              </a:rPr>
              <a:t>Valores de establecimiento de ωm:</a:t>
            </a:r>
          </a:p>
        </p:txBody>
      </p:sp>
      <p:graphicFrame>
        <p:nvGraphicFramePr>
          <p:cNvPr id="11" name="Table 10"/>
          <p:cNvGraphicFramePr>
            <a:graphicFrameLocks noGrp="1"/>
          </p:cNvGraphicFramePr>
          <p:nvPr/>
        </p:nvGraphicFramePr>
        <p:xfrm>
          <a:off x="7498079" y="1188720"/>
          <a:ext cx="4480560" cy="3017520"/>
        </p:xfrm>
        <a:graphic>
          <a:graphicData uri="http://schemas.openxmlformats.org/drawingml/2006/table">
            <a:tbl>
              <a:tblPr firstRow="1" bandRow="1">
                <a:tableStyleId>{5C22544A-7EE6-4342-B048-85BDC9FD1C3A}</a:tableStyleId>
              </a:tblPr>
              <a:tblGrid>
                <a:gridCol w="8229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1371600">
                  <a:extLst>
                    <a:ext uri="{9D8B030D-6E8A-4147-A177-3AD203B41FA5}">
                      <a16:colId xmlns:a16="http://schemas.microsoft.com/office/drawing/2014/main" val="20002"/>
                    </a:ext>
                  </a:extLst>
                </a:gridCol>
                <a:gridCol w="914400">
                  <a:extLst>
                    <a:ext uri="{9D8B030D-6E8A-4147-A177-3AD203B41FA5}">
                      <a16:colId xmlns:a16="http://schemas.microsoft.com/office/drawing/2014/main" val="20003"/>
                    </a:ext>
                  </a:extLst>
                </a:gridCol>
              </a:tblGrid>
              <a:tr h="502920">
                <a:tc>
                  <a:txBody>
                    <a:bodyPr/>
                    <a:lstStyle/>
                    <a:p>
                      <a:r>
                        <a:rPr sz="1200" b="1">
                          <a:solidFill>
                            <a:srgbClr val="FFFFFF"/>
                          </a:solidFill>
                          <a:latin typeface="Calibri"/>
                        </a:rPr>
                        <a:t>t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ωm RP [rad/s]</a:t>
                      </a:r>
                    </a:p>
                  </a:txBody>
                  <a:tcPr>
                    <a:solidFill>
                      <a:srgbClr val="1A3A6B"/>
                    </a:solidFill>
                  </a:tcPr>
                </a:tc>
                <a:extLst>
                  <a:ext uri="{0D108BD9-81ED-4DB2-BD59-A6C34878D82A}">
                    <a16:rowId xmlns:a16="http://schemas.microsoft.com/office/drawing/2014/main" val="10000"/>
                  </a:ext>
                </a:extLst>
              </a:tr>
              <a:tr h="502920">
                <a:tc>
                  <a:txBody>
                    <a:bodyPr/>
                    <a:lstStyle/>
                    <a:p>
                      <a:r>
                        <a:rPr sz="1200">
                          <a:latin typeface="Calibri"/>
                        </a:rPr>
                        <a:t>0.1</a:t>
                      </a:r>
                    </a:p>
                  </a:txBody>
                  <a:tcPr/>
                </a:tc>
                <a:tc>
                  <a:txBody>
                    <a:bodyPr/>
                    <a:lstStyle/>
                    <a:p>
                      <a:r>
                        <a:rPr sz="1200">
                          <a:latin typeface="Calibri"/>
                        </a:rPr>
                        <a:t>9.5</a:t>
                      </a:r>
                    </a:p>
                  </a:txBody>
                  <a:tcPr/>
                </a:tc>
                <a:tc>
                  <a:txBody>
                    <a:bodyPr/>
                    <a:lstStyle/>
                    <a:p>
                      <a:r>
                        <a:rPr sz="1200">
                          <a:latin typeface="Calibri"/>
                        </a:rPr>
                        <a:t>68.3</a:t>
                      </a:r>
                    </a:p>
                  </a:txBody>
                  <a:tcPr/>
                </a:tc>
                <a:tc>
                  <a:txBody>
                    <a:bodyPr/>
                    <a:lstStyle/>
                    <a:p>
                      <a:r>
                        <a:rPr sz="1200">
                          <a:latin typeface="Calibri"/>
                        </a:rPr>
                        <a:t>403.0  (1° cuadrante)</a:t>
                      </a:r>
                    </a:p>
                  </a:txBody>
                  <a:tcPr/>
                </a:tc>
                <a:extLst>
                  <a:ext uri="{0D108BD9-81ED-4DB2-BD59-A6C34878D82A}">
                    <a16:rowId xmlns:a16="http://schemas.microsoft.com/office/drawing/2014/main" val="10001"/>
                  </a:ext>
                </a:extLst>
              </a:tr>
              <a:tr h="502920">
                <a:tc>
                  <a:txBody>
                    <a:bodyPr/>
                    <a:lstStyle/>
                    <a:p>
                      <a:r>
                        <a:rPr sz="1200">
                          <a:latin typeface="Calibri"/>
                        </a:rPr>
                        <a:t>0.3</a:t>
                      </a:r>
                    </a:p>
                  </a:txBody>
                  <a:tcPr>
                    <a:solidFill>
                      <a:srgbClr val="F0F4F8"/>
                    </a:solidFill>
                  </a:tcPr>
                </a:tc>
                <a:tc>
                  <a:txBody>
                    <a:bodyPr/>
                    <a:lstStyle/>
                    <a:p>
                      <a:r>
                        <a:rPr sz="1200">
                          <a:latin typeface="Calibri"/>
                        </a:rPr>
                        <a:t>6.0</a:t>
                      </a:r>
                    </a:p>
                  </a:txBody>
                  <a:tcPr>
                    <a:solidFill>
                      <a:srgbClr val="F0F4F8"/>
                    </a:solidFill>
                  </a:tcPr>
                </a:tc>
                <a:tc>
                  <a:txBody>
                    <a:bodyPr/>
                    <a:lstStyle/>
                    <a:p>
                      <a:r>
                        <a:rPr sz="1200">
                          <a:latin typeface="Calibri"/>
                        </a:rPr>
                        <a:t>163.3</a:t>
                      </a:r>
                    </a:p>
                  </a:txBody>
                  <a:tcPr>
                    <a:solidFill>
                      <a:srgbClr val="F0F4F8"/>
                    </a:solidFill>
                  </a:tcPr>
                </a:tc>
                <a:tc>
                  <a:txBody>
                    <a:bodyPr/>
                    <a:lstStyle/>
                    <a:p>
                      <a:r>
                        <a:rPr sz="1200">
                          <a:latin typeface="Calibri"/>
                        </a:rPr>
                        <a:t>388.0  (con carga +)</a:t>
                      </a:r>
                    </a:p>
                  </a:txBody>
                  <a:tcPr>
                    <a:solidFill>
                      <a:srgbClr val="F0F4F8"/>
                    </a:solidFill>
                  </a:tcPr>
                </a:tc>
                <a:extLst>
                  <a:ext uri="{0D108BD9-81ED-4DB2-BD59-A6C34878D82A}">
                    <a16:rowId xmlns:a16="http://schemas.microsoft.com/office/drawing/2014/main" val="10002"/>
                  </a:ext>
                </a:extLst>
              </a:tr>
              <a:tr h="502920">
                <a:tc>
                  <a:txBody>
                    <a:bodyPr/>
                    <a:lstStyle/>
                    <a:p>
                      <a:r>
                        <a:rPr sz="1200">
                          <a:latin typeface="Calibri"/>
                        </a:rPr>
                        <a:t>0.5</a:t>
                      </a:r>
                    </a:p>
                  </a:txBody>
                  <a:tcPr/>
                </a:tc>
                <a:tc>
                  <a:txBody>
                    <a:bodyPr/>
                    <a:lstStyle/>
                    <a:p>
                      <a:r>
                        <a:rPr sz="1200">
                          <a:latin typeface="Calibri"/>
                        </a:rPr>
                        <a:t>4.6</a:t>
                      </a:r>
                    </a:p>
                  </a:txBody>
                  <a:tcPr/>
                </a:tc>
                <a:tc>
                  <a:txBody>
                    <a:bodyPr/>
                    <a:lstStyle/>
                    <a:p>
                      <a:r>
                        <a:rPr sz="1200">
                          <a:latin typeface="Calibri"/>
                        </a:rPr>
                        <a:t>143.6</a:t>
                      </a:r>
                    </a:p>
                  </a:txBody>
                  <a:tcPr/>
                </a:tc>
                <a:tc>
                  <a:txBody>
                    <a:bodyPr/>
                    <a:lstStyle/>
                    <a:p>
                      <a:r>
                        <a:rPr sz="1200">
                          <a:latin typeface="Calibri"/>
                        </a:rPr>
                        <a:t>414.4  (carga −)</a:t>
                      </a:r>
                    </a:p>
                  </a:txBody>
                  <a:tcPr/>
                </a:tc>
                <a:extLst>
                  <a:ext uri="{0D108BD9-81ED-4DB2-BD59-A6C34878D82A}">
                    <a16:rowId xmlns:a16="http://schemas.microsoft.com/office/drawing/2014/main" val="10003"/>
                  </a:ext>
                </a:extLst>
              </a:tr>
              <a:tr h="502920">
                <a:tc>
                  <a:txBody>
                    <a:bodyPr/>
                    <a:lstStyle/>
                    <a:p>
                      <a:r>
                        <a:rPr sz="1200">
                          <a:latin typeface="Calibri"/>
                        </a:rPr>
                        <a:t>0.7</a:t>
                      </a:r>
                    </a:p>
                  </a:txBody>
                  <a:tcPr>
                    <a:solidFill>
                      <a:srgbClr val="F0F4F8"/>
                    </a:solidFill>
                  </a:tcPr>
                </a:tc>
                <a:tc>
                  <a:txBody>
                    <a:bodyPr/>
                    <a:lstStyle/>
                    <a:p>
                      <a:r>
                        <a:rPr sz="1200">
                          <a:latin typeface="Calibri"/>
                        </a:rPr>
                        <a:t>—</a:t>
                      </a:r>
                    </a:p>
                  </a:txBody>
                  <a:tcPr>
                    <a:solidFill>
                      <a:srgbClr val="F0F4F8"/>
                    </a:solidFill>
                  </a:tcPr>
                </a:tc>
                <a:tc>
                  <a:txBody>
                    <a:bodyPr/>
                    <a:lstStyle/>
                    <a:p>
                      <a:r>
                        <a:rPr sz="1200">
                          <a:latin typeface="Calibri"/>
                        </a:rPr>
                        <a:t>—</a:t>
                      </a:r>
                    </a:p>
                  </a:txBody>
                  <a:tcPr>
                    <a:solidFill>
                      <a:srgbClr val="F0F4F8"/>
                    </a:solidFill>
                  </a:tcPr>
                </a:tc>
                <a:tc>
                  <a:txBody>
                    <a:bodyPr/>
                    <a:lstStyle/>
                    <a:p>
                      <a:r>
                        <a:rPr sz="1200">
                          <a:latin typeface="Calibri"/>
                        </a:rPr>
                        <a:t>↓ por carga</a:t>
                      </a:r>
                    </a:p>
                  </a:txBody>
                  <a:tcPr>
                    <a:solidFill>
                      <a:srgbClr val="F0F4F8"/>
                    </a:solidFill>
                  </a:tcPr>
                </a:tc>
                <a:extLst>
                  <a:ext uri="{0D108BD9-81ED-4DB2-BD59-A6C34878D82A}">
                    <a16:rowId xmlns:a16="http://schemas.microsoft.com/office/drawing/2014/main" val="10004"/>
                  </a:ext>
                </a:extLst>
              </a:tr>
              <a:tr h="502920">
                <a:tc>
                  <a:txBody>
                    <a:bodyPr/>
                    <a:lstStyle/>
                    <a:p>
                      <a:r>
                        <a:rPr sz="1200">
                          <a:latin typeface="Calibri"/>
                        </a:rPr>
                        <a:t>1.1</a:t>
                      </a:r>
                    </a:p>
                  </a:txBody>
                  <a:tcPr/>
                </a:tc>
                <a:tc>
                  <a:txBody>
                    <a:bodyPr/>
                    <a:lstStyle/>
                    <a:p>
                      <a:r>
                        <a:rPr sz="1200">
                          <a:latin typeface="Calibri"/>
                        </a:rPr>
                        <a:t>—</a:t>
                      </a:r>
                    </a:p>
                  </a:txBody>
                  <a:tcPr/>
                </a:tc>
                <a:tc>
                  <a:txBody>
                    <a:bodyPr/>
                    <a:lstStyle/>
                    <a:p>
                      <a:r>
                        <a:rPr sz="1200">
                          <a:latin typeface="Calibri"/>
                        </a:rPr>
                        <a:t>—</a:t>
                      </a:r>
                    </a:p>
                  </a:txBody>
                  <a:tcPr/>
                </a:tc>
                <a:tc>
                  <a:txBody>
                    <a:bodyPr/>
                    <a:lstStyle/>
                    <a:p>
                      <a:r>
                        <a:rPr sz="1200">
                          <a:latin typeface="Calibri"/>
                        </a:rPr>
                        <a:t>−423  (motoriz. inversa)</a:t>
                      </a:r>
                    </a:p>
                  </a:txBody>
                  <a:tcPr/>
                </a:tc>
                <a:extLst>
                  <a:ext uri="{0D108BD9-81ED-4DB2-BD59-A6C34878D82A}">
                    <a16:rowId xmlns:a16="http://schemas.microsoft.com/office/drawing/2014/main" val="10005"/>
                  </a:ext>
                </a:extLst>
              </a:tr>
            </a:tbl>
          </a:graphicData>
        </a:graphic>
      </p:graphicFrame>
      <p:sp>
        <p:nvSpPr>
          <p:cNvPr id="12" name="TextBox 11"/>
          <p:cNvSpPr txBox="1"/>
          <p:nvPr/>
        </p:nvSpPr>
        <p:spPr>
          <a:xfrm>
            <a:off x="365760" y="4297680"/>
            <a:ext cx="11430000" cy="365760"/>
          </a:xfrm>
          <a:prstGeom prst="rect">
            <a:avLst/>
          </a:prstGeom>
          <a:noFill/>
        </p:spPr>
        <p:txBody>
          <a:bodyPr wrap="square">
            <a:spAutoFit/>
          </a:bodyPr>
          <a:lstStyle/>
          <a:p>
            <a:pPr algn="l"/>
            <a:r>
              <a:rPr sz="1400" b="1" i="0">
                <a:solidFill>
                  <a:srgbClr val="1A3A6B"/>
                </a:solidFill>
                <a:latin typeface="Calibri"/>
              </a:rPr>
              <a:t>Análisis del movimiento:</a:t>
            </a:r>
          </a:p>
        </p:txBody>
      </p:sp>
      <p:sp>
        <p:nvSpPr>
          <p:cNvPr id="13" name="TextBox 12"/>
          <p:cNvSpPr txBox="1"/>
          <p:nvPr/>
        </p:nvSpPr>
        <p:spPr>
          <a:xfrm>
            <a:off x="365760" y="4709160"/>
            <a:ext cx="11430000" cy="1783080"/>
          </a:xfrm>
          <a:prstGeom prst="rect">
            <a:avLst/>
          </a:prstGeom>
          <a:noFill/>
        </p:spPr>
        <p:txBody>
          <a:bodyPr wrap="square">
            <a:spAutoFit/>
          </a:bodyPr>
          <a:lstStyle/>
          <a:p>
            <a:r>
              <a:rPr sz="1350">
                <a:solidFill>
                  <a:srgbClr val="1A1A2E"/>
                </a:solidFill>
                <a:latin typeface="Calibri"/>
              </a:rPr>
              <a:t>t=0.1s: tensión positiva → rotor acelera rápidamente hasta régimen cuasi-estacionario (1° cuadrante)</a:t>
            </a:r>
          </a:p>
          <a:p>
            <a:pPr>
              <a:spcBef>
                <a:spcPts val="400"/>
              </a:spcBef>
            </a:pPr>
            <a:r>
              <a:rPr sz="1350">
                <a:solidFill>
                  <a:srgbClr val="1A1A2E"/>
                </a:solidFill>
                <a:latin typeface="Calibri"/>
              </a:rPr>
              <a:t>t=0.3–0.9s: perturbaciones Tld generan transitorios en Tm para mantener la velocidad</a:t>
            </a:r>
          </a:p>
          <a:p>
            <a:pPr>
              <a:spcBef>
                <a:spcPts val="400"/>
              </a:spcBef>
            </a:pPr>
            <a:r>
              <a:rPr sz="1350">
                <a:solidFill>
                  <a:srgbClr val="1A1A2E"/>
                </a:solidFill>
                <a:latin typeface="Calibri"/>
              </a:rPr>
              <a:t>t=0.7s: tensión nula → velocidad decrece por carga aún presente; inversión de Tm (4° cuadrante)</a:t>
            </a:r>
          </a:p>
          <a:p>
            <a:pPr>
              <a:spcBef>
                <a:spcPts val="400"/>
              </a:spcBef>
            </a:pPr>
            <a:r>
              <a:rPr sz="1350">
                <a:solidFill>
                  <a:srgbClr val="1A1A2E"/>
                </a:solidFill>
                <a:latin typeface="Calibri"/>
              </a:rPr>
              <a:t>t=1.1s: tensión negativa → inversión del sentido de giro (transita por 3° y 2° cuadrante)</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Corrientes y temperatura del estator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7" name="Rectangle 6"/>
          <p:cNvSpPr/>
          <p:nvPr/>
        </p:nvSpPr>
        <p:spPr>
          <a:xfrm>
            <a:off x="3657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783080"/>
            <a:ext cx="3474720" cy="548640"/>
          </a:xfrm>
          <a:prstGeom prst="rect">
            <a:avLst/>
          </a:prstGeom>
          <a:noFill/>
        </p:spPr>
        <p:txBody>
          <a:bodyPr wrap="square">
            <a:spAutoFit/>
          </a:bodyPr>
          <a:lstStyle/>
          <a:p>
            <a:pPr algn="ctr"/>
            <a:r>
              <a:rPr sz="1100" b="1">
                <a:solidFill>
                  <a:srgbClr val="C35A00"/>
                </a:solidFill>
                <a:latin typeface="Calibri"/>
              </a:rPr>
              <a:t>🖼  FIGURA: Figuras 16-17 — Tensiones vqd0^r y vabc(t)</a:t>
            </a:r>
          </a:p>
        </p:txBody>
      </p:sp>
      <p:sp>
        <p:nvSpPr>
          <p:cNvPr id="9" name="TextBox 8"/>
          <p:cNvSpPr txBox="1"/>
          <p:nvPr/>
        </p:nvSpPr>
        <p:spPr>
          <a:xfrm>
            <a:off x="4572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42519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343400" y="1783080"/>
            <a:ext cx="3474720" cy="548640"/>
          </a:xfrm>
          <a:prstGeom prst="rect">
            <a:avLst/>
          </a:prstGeom>
          <a:noFill/>
        </p:spPr>
        <p:txBody>
          <a:bodyPr wrap="square">
            <a:spAutoFit/>
          </a:bodyPr>
          <a:lstStyle/>
          <a:p>
            <a:pPr algn="ctr"/>
            <a:r>
              <a:rPr sz="1100" b="1">
                <a:solidFill>
                  <a:srgbClr val="C35A00"/>
                </a:solidFill>
                <a:latin typeface="Calibri"/>
              </a:rPr>
              <a:t>🖼  FIGURA: Figuras 18-19 — Corrientes iqd0^r e iabc(t)</a:t>
            </a:r>
          </a:p>
        </p:txBody>
      </p:sp>
      <p:sp>
        <p:nvSpPr>
          <p:cNvPr id="12" name="TextBox 11"/>
          <p:cNvSpPr txBox="1"/>
          <p:nvPr/>
        </p:nvSpPr>
        <p:spPr>
          <a:xfrm>
            <a:off x="43434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8138160" y="777240"/>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9600" y="1783080"/>
            <a:ext cx="3474720" cy="548640"/>
          </a:xfrm>
          <a:prstGeom prst="rect">
            <a:avLst/>
          </a:prstGeom>
          <a:noFill/>
        </p:spPr>
        <p:txBody>
          <a:bodyPr wrap="square">
            <a:spAutoFit/>
          </a:bodyPr>
          <a:lstStyle/>
          <a:p>
            <a:pPr algn="ctr"/>
            <a:r>
              <a:rPr sz="1100" b="1">
                <a:solidFill>
                  <a:srgbClr val="C35A00"/>
                </a:solidFill>
                <a:latin typeface="Calibri"/>
              </a:rPr>
              <a:t>🖼  FIGURA: Figura 20 — Temperatura Ts°(t)</a:t>
            </a:r>
          </a:p>
        </p:txBody>
      </p:sp>
      <p:sp>
        <p:nvSpPr>
          <p:cNvPr id="15" name="TextBox 14"/>
          <p:cNvSpPr txBox="1"/>
          <p:nvPr/>
        </p:nvSpPr>
        <p:spPr>
          <a:xfrm>
            <a:off x="8229600" y="2167128"/>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TextBox 15"/>
          <p:cNvSpPr txBox="1"/>
          <p:nvPr/>
        </p:nvSpPr>
        <p:spPr>
          <a:xfrm>
            <a:off x="365760" y="3474720"/>
            <a:ext cx="11430000" cy="365760"/>
          </a:xfrm>
          <a:prstGeom prst="rect">
            <a:avLst/>
          </a:prstGeom>
          <a:noFill/>
        </p:spPr>
        <p:txBody>
          <a:bodyPr wrap="square">
            <a:spAutoFit/>
          </a:bodyPr>
          <a:lstStyle/>
          <a:p>
            <a:pPr algn="l"/>
            <a:r>
              <a:rPr sz="1400" b="1" i="0">
                <a:solidFill>
                  <a:srgbClr val="1A3A6B"/>
                </a:solidFill>
                <a:latin typeface="Calibri"/>
              </a:rPr>
              <a:t>Observaciones sobre corrientes y temperatura:</a:t>
            </a:r>
          </a:p>
        </p:txBody>
      </p:sp>
      <p:sp>
        <p:nvSpPr>
          <p:cNvPr id="17" name="TextBox 16"/>
          <p:cNvSpPr txBox="1"/>
          <p:nvPr/>
        </p:nvSpPr>
        <p:spPr>
          <a:xfrm>
            <a:off x="365760" y="3886200"/>
            <a:ext cx="11430000" cy="2194560"/>
          </a:xfrm>
          <a:prstGeom prst="rect">
            <a:avLst/>
          </a:prstGeom>
          <a:noFill/>
        </p:spPr>
        <p:txBody>
          <a:bodyPr wrap="square">
            <a:spAutoFit/>
          </a:bodyPr>
          <a:lstStyle/>
          <a:p>
            <a:r>
              <a:rPr sz="1350">
                <a:solidFill>
                  <a:srgbClr val="1A1A2E"/>
                </a:solidFill>
                <a:latin typeface="Calibri"/>
              </a:rPr>
              <a:t>Picos de corriente en los instantes de cambio de vqs^r (t≈0.1, 0.7, 1.1 s) → incremento escalonado de Ts°</a:t>
            </a:r>
          </a:p>
          <a:p>
            <a:pPr>
              <a:spcBef>
                <a:spcPts val="400"/>
              </a:spcBef>
            </a:pPr>
            <a:r>
              <a:rPr sz="1350">
                <a:solidFill>
                  <a:srgbClr val="1A1A2E"/>
                </a:solidFill>
                <a:latin typeface="Calibri"/>
              </a:rPr>
              <a:t>Durante la perturbación Tld: la corriente aumenta para compensar el par externo → mayor calentamiento</a:t>
            </a:r>
          </a:p>
          <a:p>
            <a:pPr>
              <a:spcBef>
                <a:spcPts val="400"/>
              </a:spcBef>
            </a:pPr>
            <a:r>
              <a:rPr sz="1350">
                <a:solidFill>
                  <a:srgbClr val="1A1A2E"/>
                </a:solidFill>
                <a:latin typeface="Calibri"/>
              </a:rPr>
              <a:t>Cuando Tld cambia de signo: variación en la pendiente de Ts° (casi constante a esa escala temporal)</a:t>
            </a:r>
          </a:p>
          <a:p>
            <a:pPr>
              <a:spcBef>
                <a:spcPts val="400"/>
              </a:spcBef>
            </a:pPr>
            <a:r>
              <a:rPr sz="1350">
                <a:solidFill>
                  <a:srgbClr val="1A1A2E"/>
                </a:solidFill>
                <a:latin typeface="Calibri"/>
              </a:rPr>
              <a:t>Al cesar excitación y perturbación: corrientes decaen progresivamente; Ts° sigue creciendo lentamente (τ≈120 s)</a:t>
            </a:r>
          </a:p>
          <a:p>
            <a:pPr>
              <a:spcBef>
                <a:spcPts val="400"/>
              </a:spcBef>
            </a:pPr>
            <a:r>
              <a:rPr sz="1350">
                <a:solidFill>
                  <a:srgbClr val="1A1A2E"/>
                </a:solidFill>
                <a:latin typeface="Calibri"/>
              </a:rPr>
              <a:t>Ts° no supera 56°C en este ensayo — muy lejos de Ts,max = 115°C</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7" name="Rectangle 6"/>
          <p:cNvSpPr/>
          <p:nvPr/>
        </p:nvSpPr>
        <p:spPr>
          <a:xfrm>
            <a:off x="36576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03120"/>
            <a:ext cx="5303520" cy="548640"/>
          </a:xfrm>
          <a:prstGeom prst="rect">
            <a:avLst/>
          </a:prstGeom>
          <a:noFill/>
        </p:spPr>
        <p:txBody>
          <a:bodyPr wrap="square">
            <a:spAutoFit/>
          </a:bodyPr>
          <a:lstStyle/>
          <a:p>
            <a:pPr algn="ctr"/>
            <a:r>
              <a:rPr sz="1100" b="1">
                <a:solidFill>
                  <a:srgbClr val="C35A00"/>
                </a:solidFill>
                <a:latin typeface="Calibri"/>
              </a:rPr>
              <a:t>🖼  FIGURA: Figura 25 — Curva Tm vs ωm
(plano de fases: los 4 cuadrantes de operación del accionamiento)</a:t>
            </a:r>
          </a:p>
        </p:txBody>
      </p:sp>
      <p:sp>
        <p:nvSpPr>
          <p:cNvPr id="9" name="TextBox 8"/>
          <p:cNvSpPr txBox="1"/>
          <p:nvPr/>
        </p:nvSpPr>
        <p:spPr>
          <a:xfrm>
            <a:off x="45720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32004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2103120"/>
            <a:ext cx="5303520" cy="548640"/>
          </a:xfrm>
          <a:prstGeom prst="rect">
            <a:avLst/>
          </a:prstGeom>
          <a:noFill/>
        </p:spPr>
        <p:txBody>
          <a:bodyPr wrap="square">
            <a:spAutoFit/>
          </a:bodyPr>
          <a:lstStyle/>
          <a:p>
            <a:pPr algn="ctr"/>
            <a:r>
              <a:rPr sz="1100" b="1">
                <a:solidFill>
                  <a:srgbClr val="C35A00"/>
                </a:solidFill>
                <a:latin typeface="Calibri"/>
              </a:rPr>
              <a:t>🖼  FIGURA: Figura 26 — Evolución temporal del ángulo de desfasaje electromagnético δ(t)</a:t>
            </a:r>
          </a:p>
        </p:txBody>
      </p:sp>
      <p:sp>
        <p:nvSpPr>
          <p:cNvPr id="12" name="TextBox 11"/>
          <p:cNvSpPr txBox="1"/>
          <p:nvPr/>
        </p:nvSpPr>
        <p:spPr>
          <a:xfrm>
            <a:off x="6217920" y="24871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365760" y="4096512"/>
            <a:ext cx="11430000" cy="365760"/>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graphicFrame>
        <p:nvGraphicFramePr>
          <p:cNvPr id="14" name="Table 13"/>
          <p:cNvGraphicFramePr>
            <a:graphicFrameLocks noGrp="1"/>
          </p:cNvGraphicFramePr>
          <p:nvPr/>
        </p:nvGraphicFramePr>
        <p:xfrm>
          <a:off x="365760" y="4526280"/>
          <a:ext cx="11430000" cy="2011680"/>
        </p:xfrm>
        <a:graphic>
          <a:graphicData uri="http://schemas.openxmlformats.org/drawingml/2006/table">
            <a:tbl>
              <a:tblPr firstRow="1" bandRow="1">
                <a:tableStyleId>{5C22544A-7EE6-4342-B048-85BDC9FD1C3A}</a:tableStyleId>
              </a:tblPr>
              <a:tblGrid>
                <a:gridCol w="137160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371600">
                  <a:extLst>
                    <a:ext uri="{9D8B030D-6E8A-4147-A177-3AD203B41FA5}">
                      <a16:colId xmlns:a16="http://schemas.microsoft.com/office/drawing/2014/main" val="20003"/>
                    </a:ext>
                  </a:extLst>
                </a:gridCol>
                <a:gridCol w="6309360">
                  <a:extLst>
                    <a:ext uri="{9D8B030D-6E8A-4147-A177-3AD203B41FA5}">
                      <a16:colId xmlns:a16="http://schemas.microsoft.com/office/drawing/2014/main" val="20004"/>
                    </a:ext>
                  </a:extLst>
                </a:gridCol>
              </a:tblGrid>
              <a:tr h="335280">
                <a:tc>
                  <a:txBody>
                    <a:bodyPr/>
                    <a:lstStyle/>
                    <a:p>
                      <a:r>
                        <a:rPr sz="1200" b="1">
                          <a:solidFill>
                            <a:srgbClr val="FFFFFF"/>
                          </a:solidFill>
                          <a:latin typeface="Calibri"/>
                        </a:rPr>
                        <a:t>Instant.</a:t>
                      </a:r>
                    </a:p>
                  </a:txBody>
                  <a:tcPr>
                    <a:solidFill>
                      <a:srgbClr val="1A3A6B"/>
                    </a:solidFill>
                  </a:tcPr>
                </a:tc>
                <a:tc>
                  <a:txBody>
                    <a:bodyPr/>
                    <a:lstStyle/>
                    <a:p>
                      <a:r>
                        <a:rPr sz="1200" b="1">
                          <a:solidFill>
                            <a:srgbClr val="FFFFFF"/>
                          </a:solidFill>
                          <a:latin typeface="Calibri"/>
                        </a:rPr>
                        <a:t>ωm</a:t>
                      </a:r>
                    </a:p>
                  </a:txBody>
                  <a:tcPr>
                    <a:solidFill>
                      <a:srgbClr val="1A3A6B"/>
                    </a:solidFill>
                  </a:tcPr>
                </a:tc>
                <a:tc>
                  <a:txBody>
                    <a:bodyPr/>
                    <a:lstStyle/>
                    <a:p>
                      <a:r>
                        <a:rPr sz="1200" b="1">
                          <a:solidFill>
                            <a:srgbClr val="FFFFFF"/>
                          </a:solidFill>
                          <a:latin typeface="Calibri"/>
                        </a:rPr>
                        <a:t>Tm</a:t>
                      </a:r>
                    </a:p>
                  </a:txBody>
                  <a:tcPr>
                    <a:solidFill>
                      <a:srgbClr val="1A3A6B"/>
                    </a:solidFill>
                  </a:tcPr>
                </a:tc>
                <a:tc>
                  <a:txBody>
                    <a:bodyPr/>
                    <a:lstStyle/>
                    <a:p>
                      <a:r>
                        <a:rPr sz="1200" b="1">
                          <a:solidFill>
                            <a:srgbClr val="FFFFFF"/>
                          </a:solidFill>
                          <a:latin typeface="Calibri"/>
                        </a:rPr>
                        <a:t>Cuadrante</a:t>
                      </a:r>
                    </a:p>
                  </a:txBody>
                  <a:tcPr>
                    <a:solidFill>
                      <a:srgbClr val="1A3A6B"/>
                    </a:solidFill>
                  </a:tcPr>
                </a:tc>
                <a:tc>
                  <a:txBody>
                    <a:bodyPr/>
                    <a:lstStyle/>
                    <a:p>
                      <a:r>
                        <a:rPr sz="1200" b="1">
                          <a:solidFill>
                            <a:srgbClr val="FFFFFF"/>
                          </a:solidFill>
                          <a:latin typeface="Calibri"/>
                        </a:rPr>
                        <a:t>Régimen</a:t>
                      </a:r>
                    </a:p>
                  </a:txBody>
                  <a:tcPr>
                    <a:solidFill>
                      <a:srgbClr val="1A3A6B"/>
                    </a:solidFill>
                  </a:tcPr>
                </a:tc>
                <a:extLst>
                  <a:ext uri="{0D108BD9-81ED-4DB2-BD59-A6C34878D82A}">
                    <a16:rowId xmlns:a16="http://schemas.microsoft.com/office/drawing/2014/main" val="10000"/>
                  </a:ext>
                </a:extLst>
              </a:tr>
              <a:tr h="335280">
                <a:tc>
                  <a:txBody>
                    <a:bodyPr/>
                    <a:lstStyle/>
                    <a:p>
                      <a:r>
                        <a:rPr sz="1200">
                          <a:latin typeface="Calibri"/>
                        </a:rPr>
                        <a:t>t=0.1s</a:t>
                      </a:r>
                    </a:p>
                  </a:txBody>
                  <a:tcPr/>
                </a:tc>
                <a:tc>
                  <a:txBody>
                    <a:bodyPr/>
                    <a:lstStyle/>
                    <a:p>
                      <a:r>
                        <a:rPr sz="1200">
                          <a:latin typeface="Calibri"/>
                        </a:rPr>
                        <a:t>&gt; 0</a:t>
                      </a:r>
                    </a:p>
                  </a:txBody>
                  <a:tcPr/>
                </a:tc>
                <a:tc>
                  <a:txBody>
                    <a:bodyPr/>
                    <a:lstStyle/>
                    <a:p>
                      <a:r>
                        <a:rPr sz="1200">
                          <a:latin typeface="Calibri"/>
                        </a:rPr>
                        <a:t>&gt; 0</a:t>
                      </a:r>
                    </a:p>
                  </a:txBody>
                  <a:tcPr/>
                </a:tc>
                <a:tc>
                  <a:txBody>
                    <a:bodyPr/>
                    <a:lstStyle/>
                    <a:p>
                      <a:r>
                        <a:rPr sz="1200">
                          <a:latin typeface="Calibri"/>
                        </a:rPr>
                        <a:t>1°</a:t>
                      </a:r>
                    </a:p>
                  </a:txBody>
                  <a:tcPr/>
                </a:tc>
                <a:tc>
                  <a:txBody>
                    <a:bodyPr/>
                    <a:lstStyle/>
                    <a:p>
                      <a:r>
                        <a:rPr sz="1200">
                          <a:latin typeface="Calibri"/>
                        </a:rPr>
                        <a:t>Motorización directa</a:t>
                      </a:r>
                    </a:p>
                  </a:txBody>
                  <a:tcPr/>
                </a:tc>
                <a:extLst>
                  <a:ext uri="{0D108BD9-81ED-4DB2-BD59-A6C34878D82A}">
                    <a16:rowId xmlns:a16="http://schemas.microsoft.com/office/drawing/2014/main" val="10001"/>
                  </a:ext>
                </a:extLst>
              </a:tr>
              <a:tr h="335280">
                <a:tc>
                  <a:txBody>
                    <a:bodyPr/>
                    <a:lstStyle/>
                    <a:p>
                      <a:r>
                        <a:rPr sz="1200">
                          <a:latin typeface="Calibri"/>
                        </a:rPr>
                        <a:t>t=0.3s</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&gt; 0</a:t>
                      </a:r>
                    </a:p>
                  </a:txBody>
                  <a:tcPr>
                    <a:solidFill>
                      <a:srgbClr val="F0F4F8"/>
                    </a:solidFill>
                  </a:tcPr>
                </a:tc>
                <a:tc>
                  <a:txBody>
                    <a:bodyPr/>
                    <a:lstStyle/>
                    <a:p>
                      <a:r>
                        <a:rPr sz="1200">
                          <a:latin typeface="Calibri"/>
                        </a:rPr>
                        <a:t>1°</a:t>
                      </a:r>
                    </a:p>
                  </a:txBody>
                  <a:tcPr>
                    <a:solidFill>
                      <a:srgbClr val="F0F4F8"/>
                    </a:solidFill>
                  </a:tcPr>
                </a:tc>
                <a:tc>
                  <a:txBody>
                    <a:bodyPr/>
                    <a:lstStyle/>
                    <a:p>
                      <a:r>
                        <a:rPr sz="1200">
                          <a:latin typeface="Calibri"/>
                        </a:rPr>
                        <a:t>Motorización directa + carga</a:t>
                      </a:r>
                    </a:p>
                  </a:txBody>
                  <a:tcPr>
                    <a:solidFill>
                      <a:srgbClr val="F0F4F8"/>
                    </a:solidFill>
                  </a:tcPr>
                </a:tc>
                <a:extLst>
                  <a:ext uri="{0D108BD9-81ED-4DB2-BD59-A6C34878D82A}">
                    <a16:rowId xmlns:a16="http://schemas.microsoft.com/office/drawing/2014/main" val="10002"/>
                  </a:ext>
                </a:extLst>
              </a:tr>
              <a:tr h="335280">
                <a:tc>
                  <a:txBody>
                    <a:bodyPr/>
                    <a:lstStyle/>
                    <a:p>
                      <a:r>
                        <a:rPr sz="1200">
                          <a:latin typeface="Calibri"/>
                        </a:rPr>
                        <a:t>t=0.7s → 1.0s</a:t>
                      </a:r>
                    </a:p>
                  </a:txBody>
                  <a:tcPr/>
                </a:tc>
                <a:tc>
                  <a:txBody>
                    <a:bodyPr/>
                    <a:lstStyle/>
                    <a:p>
                      <a:r>
                        <a:rPr sz="1200">
                          <a:latin typeface="Calibri"/>
                        </a:rPr>
                        <a:t>&gt; 0</a:t>
                      </a:r>
                    </a:p>
                  </a:txBody>
                  <a:tcPr/>
                </a:tc>
                <a:tc>
                  <a:txBody>
                    <a:bodyPr/>
                    <a:lstStyle/>
                    <a:p>
                      <a:r>
                        <a:rPr sz="1200">
                          <a:latin typeface="Calibri"/>
                        </a:rPr>
                        <a:t>&lt; 0</a:t>
                      </a:r>
                    </a:p>
                  </a:txBody>
                  <a:tcPr/>
                </a:tc>
                <a:tc>
                  <a:txBody>
                    <a:bodyPr/>
                    <a:lstStyle/>
                    <a:p>
                      <a:r>
                        <a:rPr sz="1200">
                          <a:latin typeface="Calibri"/>
                        </a:rPr>
                        <a:t>4°</a:t>
                      </a:r>
                    </a:p>
                  </a:txBody>
                  <a:tcPr/>
                </a:tc>
                <a:tc>
                  <a:txBody>
                    <a:bodyPr/>
                    <a:lstStyle/>
                    <a:p>
                      <a:r>
                        <a:rPr sz="1200">
                          <a:latin typeface="Calibri"/>
                        </a:rPr>
                        <a:t>Frenado regenerativo directo</a:t>
                      </a:r>
                    </a:p>
                  </a:txBody>
                  <a:tcPr/>
                </a:tc>
                <a:extLst>
                  <a:ext uri="{0D108BD9-81ED-4DB2-BD59-A6C34878D82A}">
                    <a16:rowId xmlns:a16="http://schemas.microsoft.com/office/drawing/2014/main" val="10003"/>
                  </a:ext>
                </a:extLst>
              </a:tr>
              <a:tr h="335280">
                <a:tc>
                  <a:txBody>
                    <a:bodyPr/>
                    <a:lstStyle/>
                    <a:p>
                      <a:r>
                        <a:rPr sz="1200">
                          <a:latin typeface="Calibri"/>
                        </a:rPr>
                        <a:t>t=1.1s → 1.7s</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&lt; 0</a:t>
                      </a:r>
                    </a:p>
                  </a:txBody>
                  <a:tcPr>
                    <a:solidFill>
                      <a:srgbClr val="F0F4F8"/>
                    </a:solidFill>
                  </a:tcPr>
                </a:tc>
                <a:tc>
                  <a:txBody>
                    <a:bodyPr/>
                    <a:lstStyle/>
                    <a:p>
                      <a:r>
                        <a:rPr sz="1200">
                          <a:latin typeface="Calibri"/>
                        </a:rPr>
                        <a:t>3°</a:t>
                      </a:r>
                    </a:p>
                  </a:txBody>
                  <a:tcPr>
                    <a:solidFill>
                      <a:srgbClr val="F0F4F8"/>
                    </a:solidFill>
                  </a:tcPr>
                </a:tc>
                <a:tc>
                  <a:txBody>
                    <a:bodyPr/>
                    <a:lstStyle/>
                    <a:p>
                      <a:r>
                        <a:rPr sz="1200">
                          <a:latin typeface="Calibri"/>
                        </a:rPr>
                        <a:t>Motorización inversa</a:t>
                      </a:r>
                    </a:p>
                  </a:txBody>
                  <a:tcPr>
                    <a:solidFill>
                      <a:srgbClr val="F0F4F8"/>
                    </a:solidFill>
                  </a:tcPr>
                </a:tc>
                <a:extLst>
                  <a:ext uri="{0D108BD9-81ED-4DB2-BD59-A6C34878D82A}">
                    <a16:rowId xmlns:a16="http://schemas.microsoft.com/office/drawing/2014/main" val="10004"/>
                  </a:ext>
                </a:extLst>
              </a:tr>
              <a:tr h="335280">
                <a:tc>
                  <a:txBody>
                    <a:bodyPr/>
                    <a:lstStyle/>
                    <a:p>
                      <a:r>
                        <a:rPr sz="1200">
                          <a:latin typeface="Calibri"/>
                        </a:rPr>
                        <a:t>t=1.7s → 1.9s</a:t>
                      </a:r>
                    </a:p>
                  </a:txBody>
                  <a:tcPr/>
                </a:tc>
                <a:tc>
                  <a:txBody>
                    <a:bodyPr/>
                    <a:lstStyle/>
                    <a:p>
                      <a:r>
                        <a:rPr sz="1200">
                          <a:latin typeface="Calibri"/>
                        </a:rPr>
                        <a:t>&lt; 0</a:t>
                      </a:r>
                    </a:p>
                  </a:txBody>
                  <a:tcPr/>
                </a:tc>
                <a:tc>
                  <a:txBody>
                    <a:bodyPr/>
                    <a:lstStyle/>
                    <a:p>
                      <a:r>
                        <a:rPr sz="1200">
                          <a:latin typeface="Calibri"/>
                        </a:rPr>
                        <a:t>&gt; 0</a:t>
                      </a:r>
                    </a:p>
                  </a:txBody>
                  <a:tcPr/>
                </a:tc>
                <a:tc>
                  <a:txBody>
                    <a:bodyPr/>
                    <a:lstStyle/>
                    <a:p>
                      <a:r>
                        <a:rPr sz="1200">
                          <a:latin typeface="Calibri"/>
                        </a:rPr>
                        <a:t>2°</a:t>
                      </a:r>
                    </a:p>
                  </a:txBody>
                  <a:tcPr/>
                </a:tc>
                <a:tc>
                  <a:txBody>
                    <a:bodyPr/>
                    <a:lstStyle/>
                    <a:p>
                      <a:r>
                        <a:rPr sz="1200">
                          <a:latin typeface="Calibri"/>
                        </a:rPr>
                        <a:t>Frenado regenerativo inverso</a:t>
                      </a:r>
                    </a:p>
                  </a:txBody>
                  <a:tcPr/>
                </a:tc>
                <a:extLst>
                  <a:ext uri="{0D108BD9-81ED-4DB2-BD59-A6C34878D82A}">
                    <a16:rowId xmlns:a16="http://schemas.microsoft.com/office/drawing/2014/main" val="10005"/>
                  </a:ext>
                </a:extLst>
              </a:tr>
            </a:tbl>
          </a:graphicData>
        </a:graphic>
      </p:graphicFrame>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7" name="Rectangle 6"/>
          <p:cNvSpPr/>
          <p:nvPr/>
        </p:nvSpPr>
        <p:spPr>
          <a:xfrm>
            <a:off x="365760" y="777240"/>
            <a:ext cx="5943600" cy="38404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423160"/>
            <a:ext cx="5760720" cy="548640"/>
          </a:xfrm>
          <a:prstGeom prst="rect">
            <a:avLst/>
          </a:prstGeom>
          <a:noFill/>
        </p:spPr>
        <p:txBody>
          <a:bodyPr wrap="square">
            <a:spAutoFit/>
          </a:bodyPr>
          <a:lstStyle/>
          <a:p>
            <a:pPr algn="ctr"/>
            <a:r>
              <a:rPr sz="1100" b="1">
                <a:solidFill>
                  <a:srgbClr val="C35A00"/>
                </a:solidFill>
                <a:latin typeface="Calibri"/>
              </a:rPr>
              <a:t>🖼  FIGURA: Figuras 21-24 — Comparación LTI vs NL:
θm(t), ωm(t), Tm(t), Ts°(t)
(curvas en negro = diferencia entre modelos)</a:t>
            </a:r>
          </a:p>
        </p:txBody>
      </p:sp>
      <p:sp>
        <p:nvSpPr>
          <p:cNvPr id="9" name="TextBox 8"/>
          <p:cNvSpPr txBox="1"/>
          <p:nvPr/>
        </p:nvSpPr>
        <p:spPr>
          <a:xfrm>
            <a:off x="457200" y="280720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TextBox 9"/>
          <p:cNvSpPr txBox="1"/>
          <p:nvPr/>
        </p:nvSpPr>
        <p:spPr>
          <a:xfrm>
            <a:off x="6583680" y="777240"/>
            <a:ext cx="5486400" cy="365760"/>
          </a:xfrm>
          <a:prstGeom prst="rect">
            <a:avLst/>
          </a:prstGeom>
          <a:noFill/>
        </p:spPr>
        <p:txBody>
          <a:bodyPr wrap="square">
            <a:spAutoFit/>
          </a:bodyPr>
          <a:lstStyle/>
          <a:p>
            <a:pPr algn="l"/>
            <a:r>
              <a:rPr sz="1400" b="1" i="0">
                <a:solidFill>
                  <a:srgbClr val="1A3A6B"/>
                </a:solidFill>
                <a:latin typeface="Calibri"/>
              </a:rPr>
              <a:t>Conclusiones de la comparación:</a:t>
            </a:r>
          </a:p>
        </p:txBody>
      </p:sp>
      <p:sp>
        <p:nvSpPr>
          <p:cNvPr id="11" name="TextBox 10"/>
          <p:cNvSpPr txBox="1"/>
          <p:nvPr/>
        </p:nvSpPr>
        <p:spPr>
          <a:xfrm>
            <a:off x="6583680" y="1207008"/>
            <a:ext cx="5486400" cy="3090672"/>
          </a:xfrm>
          <a:prstGeom prst="rect">
            <a:avLst/>
          </a:prstGeom>
          <a:noFill/>
        </p:spPr>
        <p:txBody>
          <a:bodyPr wrap="square">
            <a:spAutoFit/>
          </a:bodyPr>
          <a:lstStyle/>
          <a:p>
            <a:r>
              <a:rPr sz="1350">
                <a:solidFill>
                  <a:srgbClr val="1A1A2E"/>
                </a:solidFill>
                <a:latin typeface="Calibri"/>
              </a:rPr>
              <a:t>El modelo LTI reproduce adecuadamente la dinámica del NL — las discrepancias son pequeñas y acotadas</a:t>
            </a:r>
          </a:p>
          <a:p>
            <a:pPr>
              <a:spcBef>
                <a:spcPts val="400"/>
              </a:spcBef>
            </a:pPr>
            <a:r>
              <a:rPr sz="1350">
                <a:solidFill>
                  <a:srgbClr val="1A1A2E"/>
                </a:solidFill>
                <a:latin typeface="Calibri"/>
              </a:rPr>
              <a:t>Las diferencias se concentran en los transitorios (cambios de consigna y perturbaciones)</a:t>
            </a:r>
          </a:p>
          <a:p>
            <a:pPr>
              <a:spcBef>
                <a:spcPts val="400"/>
              </a:spcBef>
            </a:pPr>
            <a:r>
              <a:rPr sz="1350">
                <a:solidFill>
                  <a:srgbClr val="1A1A2E"/>
                </a:solidFill>
                <a:latin typeface="Calibri"/>
              </a:rPr>
              <a:t>En régimen permanente el modelo LTI es una buena aproximación</a:t>
            </a:r>
          </a:p>
          <a:p>
            <a:pPr>
              <a:spcBef>
                <a:spcPts val="400"/>
              </a:spcBef>
            </a:pPr>
            <a:r>
              <a:rPr sz="1350">
                <a:solidFill>
                  <a:srgbClr val="1A1A2E"/>
                </a:solidFill>
                <a:latin typeface="Calibri"/>
              </a:rPr>
              <a:t>A mayor tiempo de simulación: la temperatura afecta Rs, lo que separa progresivamente ambas respuestas</a:t>
            </a:r>
          </a:p>
          <a:p>
            <a:pPr>
              <a:spcBef>
                <a:spcPts val="400"/>
              </a:spcBef>
            </a:pPr>
            <a:r>
              <a:rPr sz="1350">
                <a:solidFill>
                  <a:srgbClr val="1A1A2E"/>
                </a:solidFill>
                <a:latin typeface="Calibri"/>
              </a:rPr>
              <a:t>La linealización es válida para el rango ωm &lt; 100 rad/s analizado</a:t>
            </a:r>
          </a:p>
        </p:txBody>
      </p:sp>
      <p:sp>
        <p:nvSpPr>
          <p:cNvPr id="12" name="Rectangle 11"/>
          <p:cNvSpPr/>
          <p:nvPr/>
        </p:nvSpPr>
        <p:spPr>
          <a:xfrm>
            <a:off x="365760" y="4736592"/>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02920" y="4782312"/>
            <a:ext cx="11155680" cy="713232"/>
          </a:xfrm>
          <a:prstGeom prst="rect">
            <a:avLst/>
          </a:prstGeom>
          <a:noFill/>
        </p:spPr>
        <p:txBody>
          <a:bodyPr wrap="square">
            <a:spAutoFit/>
          </a:bodyPr>
          <a:lstStyle/>
          <a:p>
            <a:pPr algn="l"/>
            <a:r>
              <a:rPr sz="1300">
                <a:solidFill>
                  <a:srgbClr val="1A3A6B"/>
                </a:solidFill>
                <a:latin typeface="Calibri"/>
              </a:rPr>
              <a:t>Conclusión: el modelo LTI equivalente aumentado es suficientemente preciso para el diseño del sistema de control en el rango de operación normal del accionamiento.</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p:sp>
        <p:nvSpPr>
          <p:cNvPr id="8" name="TextBox 7"/>
          <p:cNvSpPr txBox="1"/>
          <p:nvPr/>
        </p:nvSpPr>
        <p:spPr>
          <a:xfrm>
            <a:off x="365760" y="1261872"/>
            <a:ext cx="5486400" cy="347472"/>
          </a:xfrm>
          <a:prstGeom prst="rect">
            <a:avLst/>
          </a:prstGeom>
          <a:noFill/>
        </p:spPr>
        <p:txBody>
          <a:bodyPr wrap="square">
            <a:spAutoFit/>
          </a:bodyPr>
          <a:lstStyle/>
          <a:p>
            <a:pPr algn="l"/>
            <a:r>
              <a:rPr sz="1400" b="1" i="0">
                <a:solidFill>
                  <a:srgbClr val="1A3A6B"/>
                </a:solidFill>
                <a:latin typeface="Calibri"/>
              </a:rPr>
              <a:t>Tabla para ωm(t):</a:t>
            </a:r>
          </a:p>
        </p:txBody>
      </p:sp>
      <p:graphicFrame>
        <p:nvGraphicFramePr>
          <p:cNvPr id="9" name="Table 8"/>
          <p:cNvGraphicFramePr>
            <a:graphicFrameLocks noGrp="1"/>
          </p:cNvGraphicFramePr>
          <p:nvPr/>
        </p:nvGraphicFramePr>
        <p:xfrm>
          <a:off x="365760" y="1664208"/>
          <a:ext cx="7772400" cy="182880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5720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ωm RP [rad/s]</a:t>
                      </a:r>
                    </a:p>
                  </a:txBody>
                  <a:tcPr>
                    <a:solidFill>
                      <a:srgbClr val="1A3A6B"/>
                    </a:solidFill>
                  </a:tcPr>
                </a:tc>
                <a:extLst>
                  <a:ext uri="{0D108BD9-81ED-4DB2-BD59-A6C34878D82A}">
                    <a16:rowId xmlns:a16="http://schemas.microsoft.com/office/drawing/2014/main" val="10000"/>
                  </a:ext>
                </a:extLst>
              </a:tr>
              <a:tr h="457200">
                <a:tc>
                  <a:txBody>
                    <a:bodyPr/>
                    <a:lstStyle/>
                    <a:p>
                      <a:r>
                        <a:rPr sz="1200">
                          <a:latin typeface="Calibri"/>
                        </a:rPr>
                        <a:t>0.1000</a:t>
                      </a:r>
                    </a:p>
                  </a:txBody>
                  <a:tcPr/>
                </a:tc>
                <a:tc>
                  <a:txBody>
                    <a:bodyPr/>
                    <a:lstStyle/>
                    <a:p>
                      <a:r>
                        <a:rPr sz="1200">
                          <a:latin typeface="Calibri"/>
                        </a:rPr>
                        <a:t>9.5</a:t>
                      </a:r>
                    </a:p>
                  </a:txBody>
                  <a:tcPr/>
                </a:tc>
                <a:tc>
                  <a:txBody>
                    <a:bodyPr/>
                    <a:lstStyle/>
                    <a:p>
                      <a:r>
                        <a:rPr sz="1200">
                          <a:latin typeface="Calibri"/>
                        </a:rPr>
                        <a:t>68.3</a:t>
                      </a:r>
                    </a:p>
                  </a:txBody>
                  <a:tcPr/>
                </a:tc>
                <a:tc>
                  <a:txBody>
                    <a:bodyPr/>
                    <a:lstStyle/>
                    <a:p>
                      <a:r>
                        <a:rPr sz="1200">
                          <a:latin typeface="Calibri"/>
                        </a:rPr>
                        <a:t>22.97</a:t>
                      </a:r>
                    </a:p>
                  </a:txBody>
                  <a:tcPr/>
                </a:tc>
                <a:tc>
                  <a:txBody>
                    <a:bodyPr/>
                    <a:lstStyle/>
                    <a:p>
                      <a:r>
                        <a:rPr sz="1200">
                          <a:latin typeface="Calibri"/>
                        </a:rPr>
                        <a:t>403.0</a:t>
                      </a:r>
                    </a:p>
                  </a:txBody>
                  <a:tcPr/>
                </a:tc>
                <a:extLst>
                  <a:ext uri="{0D108BD9-81ED-4DB2-BD59-A6C34878D82A}">
                    <a16:rowId xmlns:a16="http://schemas.microsoft.com/office/drawing/2014/main" val="10001"/>
                  </a:ext>
                </a:extLst>
              </a:tr>
              <a:tr h="457200">
                <a:tc>
                  <a:txBody>
                    <a:bodyPr/>
                    <a:lstStyle/>
                    <a:p>
                      <a:r>
                        <a:rPr sz="1200">
                          <a:latin typeface="Calibri"/>
                        </a:rPr>
                        <a:t>0.3000</a:t>
                      </a:r>
                    </a:p>
                  </a:txBody>
                  <a:tcPr>
                    <a:solidFill>
                      <a:srgbClr val="F0F4F8"/>
                    </a:solidFill>
                  </a:tcPr>
                </a:tc>
                <a:tc>
                  <a:txBody>
                    <a:bodyPr/>
                    <a:lstStyle/>
                    <a:p>
                      <a:r>
                        <a:rPr sz="1200">
                          <a:latin typeface="Calibri"/>
                        </a:rPr>
                        <a:t>6.0</a:t>
                      </a:r>
                    </a:p>
                  </a:txBody>
                  <a:tcPr>
                    <a:solidFill>
                      <a:srgbClr val="F0F4F8"/>
                    </a:solidFill>
                  </a:tcPr>
                </a:tc>
                <a:tc>
                  <a:txBody>
                    <a:bodyPr/>
                    <a:lstStyle/>
                    <a:p>
                      <a:r>
                        <a:rPr sz="1200">
                          <a:latin typeface="Calibri"/>
                        </a:rPr>
                        <a:t>163.3</a:t>
                      </a:r>
                    </a:p>
                  </a:txBody>
                  <a:tcPr>
                    <a:solidFill>
                      <a:srgbClr val="F0F4F8"/>
                    </a:solidFill>
                  </a:tcPr>
                </a:tc>
                <a:tc>
                  <a:txBody>
                    <a:bodyPr/>
                    <a:lstStyle/>
                    <a:p>
                      <a:r>
                        <a:rPr sz="1200">
                          <a:latin typeface="Calibri"/>
                        </a:rPr>
                        <a:t>27.13</a:t>
                      </a:r>
                    </a:p>
                  </a:txBody>
                  <a:tcPr>
                    <a:solidFill>
                      <a:srgbClr val="F0F4F8"/>
                    </a:solidFill>
                  </a:tcPr>
                </a:tc>
                <a:tc>
                  <a:txBody>
                    <a:bodyPr/>
                    <a:lstStyle/>
                    <a:p>
                      <a:r>
                        <a:rPr sz="1200">
                          <a:latin typeface="Calibri"/>
                        </a:rPr>
                        <a:t>388.0</a:t>
                      </a:r>
                    </a:p>
                  </a:txBody>
                  <a:tcPr>
                    <a:solidFill>
                      <a:srgbClr val="F0F4F8"/>
                    </a:solidFill>
                  </a:tcPr>
                </a:tc>
                <a:extLst>
                  <a:ext uri="{0D108BD9-81ED-4DB2-BD59-A6C34878D82A}">
                    <a16:rowId xmlns:a16="http://schemas.microsoft.com/office/drawing/2014/main" val="10002"/>
                  </a:ext>
                </a:extLst>
              </a:tr>
              <a:tr h="457200">
                <a:tc>
                  <a:txBody>
                    <a:bodyPr/>
                    <a:lstStyle/>
                    <a:p>
                      <a:r>
                        <a:rPr sz="1200">
                          <a:latin typeface="Calibri"/>
                        </a:rPr>
                        <a:t>0.5000</a:t>
                      </a:r>
                    </a:p>
                  </a:txBody>
                  <a:tcPr/>
                </a:tc>
                <a:tc>
                  <a:txBody>
                    <a:bodyPr/>
                    <a:lstStyle/>
                    <a:p>
                      <a:r>
                        <a:rPr sz="1200">
                          <a:latin typeface="Calibri"/>
                        </a:rPr>
                        <a:t>4.6</a:t>
                      </a:r>
                    </a:p>
                  </a:txBody>
                  <a:tcPr/>
                </a:tc>
                <a:tc>
                  <a:txBody>
                    <a:bodyPr/>
                    <a:lstStyle/>
                    <a:p>
                      <a:r>
                        <a:rPr sz="1200">
                          <a:latin typeface="Calibri"/>
                        </a:rPr>
                        <a:t>143.6</a:t>
                      </a:r>
                    </a:p>
                  </a:txBody>
                  <a:tcPr/>
                </a:tc>
                <a:tc>
                  <a:txBody>
                    <a:bodyPr/>
                    <a:lstStyle/>
                    <a:p>
                      <a:r>
                        <a:rPr sz="1200">
                          <a:latin typeface="Calibri"/>
                        </a:rPr>
                        <a:t>42.24</a:t>
                      </a:r>
                    </a:p>
                  </a:txBody>
                  <a:tcPr/>
                </a:tc>
                <a:tc>
                  <a:txBody>
                    <a:bodyPr/>
                    <a:lstStyle/>
                    <a:p>
                      <a:r>
                        <a:rPr sz="1200">
                          <a:latin typeface="Calibri"/>
                        </a:rPr>
                        <a:t>414.4</a:t>
                      </a:r>
                    </a:p>
                  </a:txBody>
                  <a:tcPr/>
                </a:tc>
                <a:extLst>
                  <a:ext uri="{0D108BD9-81ED-4DB2-BD59-A6C34878D82A}">
                    <a16:rowId xmlns:a16="http://schemas.microsoft.com/office/drawing/2014/main" val="10003"/>
                  </a:ext>
                </a:extLst>
              </a:tr>
            </a:tbl>
          </a:graphicData>
        </a:graphic>
      </p:graphicFrame>
      <p:sp>
        <p:nvSpPr>
          <p:cNvPr id="10" name="TextBox 9"/>
          <p:cNvSpPr txBox="1"/>
          <p:nvPr/>
        </p:nvSpPr>
        <p:spPr>
          <a:xfrm>
            <a:off x="365760" y="3703320"/>
            <a:ext cx="7772400" cy="347472"/>
          </a:xfrm>
          <a:prstGeom prst="rect">
            <a:avLst/>
          </a:prstGeom>
          <a:noFill/>
        </p:spPr>
        <p:txBody>
          <a:bodyPr wrap="square">
            <a:spAutoFit/>
          </a:bodyPr>
          <a:lstStyle/>
          <a:p>
            <a:pPr algn="l"/>
            <a:r>
              <a:rPr sz="1400" b="1" i="0">
                <a:solidFill>
                  <a:srgbClr val="1A3A6B"/>
                </a:solidFill>
                <a:latin typeface="Calibri"/>
              </a:rPr>
              <a:t>Tabla para iqs^r(t):</a:t>
            </a:r>
          </a:p>
        </p:txBody>
      </p:sp>
      <p:graphicFrame>
        <p:nvGraphicFramePr>
          <p:cNvPr id="11" name="Table 10"/>
          <p:cNvGraphicFramePr>
            <a:graphicFrameLocks noGrp="1"/>
          </p:cNvGraphicFramePr>
          <p:nvPr/>
        </p:nvGraphicFramePr>
        <p:xfrm>
          <a:off x="365760" y="4114800"/>
          <a:ext cx="7772400" cy="2423160"/>
        </p:xfrm>
        <a:graphic>
          <a:graphicData uri="http://schemas.openxmlformats.org/drawingml/2006/table">
            <a:tbl>
              <a:tblPr firstRow="1" bandRow="1">
                <a:tableStyleId>{5C22544A-7EE6-4342-B048-85BDC9FD1C3A}</a:tableStyleId>
              </a:tblPr>
              <a:tblGrid>
                <a:gridCol w="155448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403860">
                <a:tc>
                  <a:txBody>
                    <a:bodyPr/>
                    <a:lstStyle/>
                    <a:p>
                      <a:r>
                        <a:rPr sz="1200" b="1">
                          <a:solidFill>
                            <a:srgbClr val="FFFFFF"/>
                          </a:solidFill>
                          <a:latin typeface="Calibri"/>
                        </a:rPr>
                        <a:t>Perturbación [s]</a:t>
                      </a:r>
                    </a:p>
                  </a:txBody>
                  <a:tcPr>
                    <a:solidFill>
                      <a:srgbClr val="1A3A6B"/>
                    </a:solidFill>
                  </a:tcPr>
                </a:tc>
                <a:tc>
                  <a:txBody>
                    <a:bodyPr/>
                    <a:lstStyle/>
                    <a:p>
                      <a:r>
                        <a:rPr sz="1200" b="1">
                          <a:solidFill>
                            <a:srgbClr val="FFFFFF"/>
                          </a:solidFill>
                          <a:latin typeface="Calibri"/>
                        </a:rPr>
                        <a:t>Rise/Fall [ms]</a:t>
                      </a:r>
                    </a:p>
                  </a:txBody>
                  <a:tcPr>
                    <a:solidFill>
                      <a:srgbClr val="1A3A6B"/>
                    </a:solidFill>
                  </a:tcPr>
                </a:tc>
                <a:tc>
                  <a:txBody>
                    <a:bodyPr/>
                    <a:lstStyle/>
                    <a:p>
                      <a:r>
                        <a:rPr sz="1200" b="1">
                          <a:solidFill>
                            <a:srgbClr val="FFFFFF"/>
                          </a:solidFill>
                          <a:latin typeface="Calibri"/>
                        </a:rPr>
                        <a:t>Settling [ms]</a:t>
                      </a:r>
                    </a:p>
                  </a:txBody>
                  <a:tcPr>
                    <a:solidFill>
                      <a:srgbClr val="1A3A6B"/>
                    </a:solidFill>
                  </a:tcPr>
                </a:tc>
                <a:tc>
                  <a:txBody>
                    <a:bodyPr/>
                    <a:lstStyle/>
                    <a:p>
                      <a:r>
                        <a:rPr sz="1200" b="1">
                          <a:solidFill>
                            <a:srgbClr val="FFFFFF"/>
                          </a:solidFill>
                          <a:latin typeface="Calibri"/>
                        </a:rPr>
                        <a:t>Overshoot [%]</a:t>
                      </a:r>
                    </a:p>
                  </a:txBody>
                  <a:tcPr>
                    <a:solidFill>
                      <a:srgbClr val="1A3A6B"/>
                    </a:solidFill>
                  </a:tcPr>
                </a:tc>
                <a:tc>
                  <a:txBody>
                    <a:bodyPr/>
                    <a:lstStyle/>
                    <a:p>
                      <a:r>
                        <a:rPr sz="1200" b="1">
                          <a:solidFill>
                            <a:srgbClr val="FFFFFF"/>
                          </a:solidFill>
                          <a:latin typeface="Calibri"/>
                        </a:rPr>
                        <a:t>iqs RP [A]</a:t>
                      </a:r>
                    </a:p>
                  </a:txBody>
                  <a:tcPr>
                    <a:solidFill>
                      <a:srgbClr val="1A3A6B"/>
                    </a:solidFill>
                  </a:tcPr>
                </a:tc>
                <a:extLst>
                  <a:ext uri="{0D108BD9-81ED-4DB2-BD59-A6C34878D82A}">
                    <a16:rowId xmlns:a16="http://schemas.microsoft.com/office/drawing/2014/main" val="10000"/>
                  </a:ext>
                </a:extLst>
              </a:tr>
              <a:tr h="403860">
                <a:tc>
                  <a:txBody>
                    <a:bodyPr/>
                    <a:lstStyle/>
                    <a:p>
                      <a:r>
                        <a:rPr sz="1200">
                          <a:latin typeface="Calibri"/>
                        </a:rPr>
                        <a:t>0.1000</a:t>
                      </a:r>
                    </a:p>
                  </a:txBody>
                  <a:tcPr/>
                </a:tc>
                <a:tc>
                  <a:txBody>
                    <a:bodyPr/>
                    <a:lstStyle/>
                    <a:p>
                      <a:r>
                        <a:rPr sz="1200">
                          <a:latin typeface="Calibri"/>
                        </a:rPr>
                        <a:t>200.0</a:t>
                      </a:r>
                    </a:p>
                  </a:txBody>
                  <a:tcPr/>
                </a:tc>
                <a:tc>
                  <a:txBody>
                    <a:bodyPr/>
                    <a:lstStyle/>
                    <a:p>
                      <a:r>
                        <a:rPr sz="1200">
                          <a:latin typeface="Calibri"/>
                        </a:rPr>
                        <a:t>200.0</a:t>
                      </a:r>
                    </a:p>
                  </a:txBody>
                  <a:tcPr/>
                </a:tc>
                <a:tc>
                  <a:txBody>
                    <a:bodyPr/>
                    <a:lstStyle/>
                    <a:p>
                      <a:r>
                        <a:rPr sz="1200">
                          <a:latin typeface="Calibri"/>
                        </a:rPr>
                        <a:t>3897.8</a:t>
                      </a:r>
                    </a:p>
                  </a:txBody>
                  <a:tcPr/>
                </a:tc>
                <a:tc>
                  <a:txBody>
                    <a:bodyPr/>
                    <a:lstStyle/>
                    <a:p>
                      <a:r>
                        <a:rPr sz="1200">
                          <a:latin typeface="Calibri"/>
                        </a:rPr>
                        <a:t>0.285</a:t>
                      </a:r>
                    </a:p>
                  </a:txBody>
                  <a:tcPr/>
                </a:tc>
                <a:extLst>
                  <a:ext uri="{0D108BD9-81ED-4DB2-BD59-A6C34878D82A}">
                    <a16:rowId xmlns:a16="http://schemas.microsoft.com/office/drawing/2014/main" val="10001"/>
                  </a:ext>
                </a:extLst>
              </a:tr>
              <a:tr h="403860">
                <a:tc>
                  <a:txBody>
                    <a:bodyPr/>
                    <a:lstStyle/>
                    <a:p>
                      <a:r>
                        <a:rPr sz="1200">
                          <a:latin typeface="Calibri"/>
                        </a:rPr>
                        <a:t>0.3000</a:t>
                      </a:r>
                    </a:p>
                  </a:txBody>
                  <a:tcPr>
                    <a:solidFill>
                      <a:srgbClr val="F0F4F8"/>
                    </a:solidFill>
                  </a:tcPr>
                </a:tc>
                <a:tc>
                  <a:txBody>
                    <a:bodyPr/>
                    <a:lstStyle/>
                    <a:p>
                      <a:r>
                        <a:rPr sz="1200">
                          <a:latin typeface="Calibri"/>
                        </a:rPr>
                        <a:t>10.0</a:t>
                      </a:r>
                    </a:p>
                  </a:txBody>
                  <a:tcPr>
                    <a:solidFill>
                      <a:srgbClr val="F0F4F8"/>
                    </a:solidFill>
                  </a:tcPr>
                </a:tc>
                <a:tc>
                  <a:txBody>
                    <a:bodyPr/>
                    <a:lstStyle/>
                    <a:p>
                      <a:r>
                        <a:rPr sz="1200">
                          <a:latin typeface="Calibri"/>
                        </a:rPr>
                        <a:t>164.3</a:t>
                      </a:r>
                    </a:p>
                  </a:txBody>
                  <a:tcPr>
                    <a:solidFill>
                      <a:srgbClr val="F0F4F8"/>
                    </a:solidFill>
                  </a:tcPr>
                </a:tc>
                <a:tc>
                  <a:txBody>
                    <a:bodyPr/>
                    <a:lstStyle/>
                    <a:p>
                      <a:r>
                        <a:rPr sz="1200">
                          <a:latin typeface="Calibri"/>
                        </a:rPr>
                        <a:t>8.76</a:t>
                      </a:r>
                    </a:p>
                  </a:txBody>
                  <a:tcPr>
                    <a:solidFill>
                      <a:srgbClr val="F0F4F8"/>
                    </a:solidFill>
                  </a:tcPr>
                </a:tc>
                <a:tc>
                  <a:txBody>
                    <a:bodyPr/>
                    <a:lstStyle/>
                    <a:p>
                      <a:r>
                        <a:rPr sz="1200">
                          <a:latin typeface="Calibri"/>
                        </a:rPr>
                        <a:t>1.115</a:t>
                      </a:r>
                    </a:p>
                  </a:txBody>
                  <a:tcPr>
                    <a:solidFill>
                      <a:srgbClr val="F0F4F8"/>
                    </a:solidFill>
                  </a:tcPr>
                </a:tc>
                <a:extLst>
                  <a:ext uri="{0D108BD9-81ED-4DB2-BD59-A6C34878D82A}">
                    <a16:rowId xmlns:a16="http://schemas.microsoft.com/office/drawing/2014/main" val="10002"/>
                  </a:ext>
                </a:extLst>
              </a:tr>
              <a:tr h="403860">
                <a:tc>
                  <a:txBody>
                    <a:bodyPr/>
                    <a:lstStyle/>
                    <a:p>
                      <a:r>
                        <a:rPr sz="1200">
                          <a:latin typeface="Calibri"/>
                        </a:rPr>
                        <a:t>0.5000</a:t>
                      </a:r>
                    </a:p>
                  </a:txBody>
                  <a:tcPr/>
                </a:tc>
                <a:tc>
                  <a:txBody>
                    <a:bodyPr/>
                    <a:lstStyle/>
                    <a:p>
                      <a:r>
                        <a:rPr sz="1200">
                          <a:latin typeface="Calibri"/>
                        </a:rPr>
                        <a:t>9.0</a:t>
                      </a:r>
                    </a:p>
                  </a:txBody>
                  <a:tcPr/>
                </a:tc>
                <a:tc>
                  <a:txBody>
                    <a:bodyPr/>
                    <a:lstStyle/>
                    <a:p>
                      <a:r>
                        <a:rPr sz="1200">
                          <a:latin typeface="Calibri"/>
                        </a:rPr>
                        <a:t>138.6</a:t>
                      </a:r>
                    </a:p>
                  </a:txBody>
                  <a:tcPr/>
                </a:tc>
                <a:tc>
                  <a:txBody>
                    <a:bodyPr/>
                    <a:lstStyle/>
                    <a:p>
                      <a:r>
                        <a:rPr sz="1200">
                          <a:latin typeface="Calibri"/>
                        </a:rPr>
                        <a:t>20.89</a:t>
                      </a:r>
                    </a:p>
                  </a:txBody>
                  <a:tcPr/>
                </a:tc>
                <a:tc>
                  <a:txBody>
                    <a:bodyPr/>
                    <a:lstStyle/>
                    <a:p>
                      <a:r>
                        <a:rPr sz="1200">
                          <a:latin typeface="Calibri"/>
                        </a:rPr>
                        <a:t>−0.337</a:t>
                      </a:r>
                    </a:p>
                  </a:txBody>
                  <a:tcPr/>
                </a:tc>
                <a:extLst>
                  <a:ext uri="{0D108BD9-81ED-4DB2-BD59-A6C34878D82A}">
                    <a16:rowId xmlns:a16="http://schemas.microsoft.com/office/drawing/2014/main" val="10003"/>
                  </a:ext>
                </a:extLst>
              </a:tr>
              <a:tr h="403860">
                <a:tc>
                  <a:txBody>
                    <a:bodyPr/>
                    <a:lstStyle/>
                    <a:p>
                      <a:r>
                        <a:rPr sz="1200">
                          <a:latin typeface="Calibri"/>
                        </a:rPr>
                        <a:t>0.7000</a:t>
                      </a:r>
                    </a:p>
                  </a:txBody>
                  <a:tcPr>
                    <a:solidFill>
                      <a:srgbClr val="F0F4F8"/>
                    </a:solidFill>
                  </a:tcPr>
                </a:tc>
                <a:tc>
                  <a:txBody>
                    <a:bodyPr/>
                    <a:lstStyle/>
                    <a:p>
                      <a:r>
                        <a:rPr sz="1200">
                          <a:latin typeface="Calibri"/>
                        </a:rPr>
                        <a:t>200.0</a:t>
                      </a:r>
                    </a:p>
                  </a:txBody>
                  <a:tcPr>
                    <a:solidFill>
                      <a:srgbClr val="F0F4F8"/>
                    </a:solidFill>
                  </a:tcPr>
                </a:tc>
                <a:tc>
                  <a:txBody>
                    <a:bodyPr/>
                    <a:lstStyle/>
                    <a:p>
                      <a:r>
                        <a:rPr sz="1200">
                          <a:latin typeface="Calibri"/>
                        </a:rPr>
                        <a:t>119.6</a:t>
                      </a:r>
                    </a:p>
                  </a:txBody>
                  <a:tcPr>
                    <a:solidFill>
                      <a:srgbClr val="F0F4F8"/>
                    </a:solidFill>
                  </a:tcPr>
                </a:tc>
                <a:tc>
                  <a:txBody>
                    <a:bodyPr/>
                    <a:lstStyle/>
                    <a:p>
                      <a:r>
                        <a:rPr sz="1200">
                          <a:latin typeface="Calibri"/>
                        </a:rPr>
                        <a:t>8568.4</a:t>
                      </a:r>
                    </a:p>
                  </a:txBody>
                  <a:tcPr>
                    <a:solidFill>
                      <a:srgbClr val="F0F4F8"/>
                    </a:solidFill>
                  </a:tcPr>
                </a:tc>
                <a:tc>
                  <a:txBody>
                    <a:bodyPr/>
                    <a:lstStyle/>
                    <a:p>
                      <a:r>
                        <a:rPr sz="1200">
                          <a:latin typeface="Calibri"/>
                        </a:rPr>
                        <a:t>−0.469</a:t>
                      </a:r>
                    </a:p>
                  </a:txBody>
                  <a:tcPr>
                    <a:solidFill>
                      <a:srgbClr val="F0F4F8"/>
                    </a:solidFill>
                  </a:tcPr>
                </a:tc>
                <a:extLst>
                  <a:ext uri="{0D108BD9-81ED-4DB2-BD59-A6C34878D82A}">
                    <a16:rowId xmlns:a16="http://schemas.microsoft.com/office/drawing/2014/main" val="10004"/>
                  </a:ext>
                </a:extLst>
              </a:tr>
              <a:tr h="403860">
                <a:tc>
                  <a:txBody>
                    <a:bodyPr/>
                    <a:lstStyle/>
                    <a:p>
                      <a:r>
                        <a:rPr sz="1200">
                          <a:latin typeface="Calibri"/>
                        </a:rPr>
                        <a:t>0.9000</a:t>
                      </a:r>
                    </a:p>
                  </a:txBody>
                  <a:tcPr/>
                </a:tc>
                <a:tc>
                  <a:txBody>
                    <a:bodyPr/>
                    <a:lstStyle/>
                    <a:p>
                      <a:r>
                        <a:rPr sz="1200">
                          <a:latin typeface="Calibri"/>
                        </a:rPr>
                        <a:t>9.0</a:t>
                      </a:r>
                    </a:p>
                  </a:txBody>
                  <a:tcPr/>
                </a:tc>
                <a:tc>
                  <a:txBody>
                    <a:bodyPr/>
                    <a:lstStyle/>
                    <a:p>
                      <a:r>
                        <a:rPr sz="1200">
                          <a:latin typeface="Calibri"/>
                        </a:rPr>
                        <a:t>51.6</a:t>
                      </a:r>
                    </a:p>
                  </a:txBody>
                  <a:tcPr/>
                </a:tc>
                <a:tc>
                  <a:txBody>
                    <a:bodyPr/>
                    <a:lstStyle/>
                    <a:p>
                      <a:r>
                        <a:rPr sz="1200">
                          <a:latin typeface="Calibri"/>
                        </a:rPr>
                        <a:t>21.23</a:t>
                      </a:r>
                    </a:p>
                  </a:txBody>
                  <a:tcPr/>
                </a:tc>
                <a:tc>
                  <a:txBody>
                    <a:bodyPr/>
                    <a:lstStyle/>
                    <a:p>
                      <a:r>
                        <a:rPr sz="1200">
                          <a:latin typeface="Calibri"/>
                        </a:rPr>
                        <a:t>0.254</a:t>
                      </a:r>
                    </a:p>
                  </a:txBody>
                  <a:tcPr/>
                </a:tc>
                <a:extLst>
                  <a:ext uri="{0D108BD9-81ED-4DB2-BD59-A6C34878D82A}">
                    <a16:rowId xmlns:a16="http://schemas.microsoft.com/office/drawing/2014/main" val="10005"/>
                  </a:ext>
                </a:extLst>
              </a:tr>
            </a:tbl>
          </a:graphicData>
        </a:graphic>
      </p:graphicFrame>
      <p:sp>
        <p:nvSpPr>
          <p:cNvPr id="12" name="TextBox 11"/>
          <p:cNvSpPr txBox="1"/>
          <p:nvPr/>
        </p:nvSpPr>
        <p:spPr>
          <a:xfrm>
            <a:off x="8366760" y="3703320"/>
            <a:ext cx="3520440" cy="1371600"/>
          </a:xfrm>
          <a:prstGeom prst="rect">
            <a:avLst/>
          </a:prstGeom>
          <a:noFill/>
        </p:spPr>
        <p:txBody>
          <a:bodyPr wrap="square">
            <a:spAutoFit/>
          </a:bodyPr>
          <a:lstStyle/>
          <a:p>
            <a:pPr algn="l"/>
            <a:r>
              <a:rPr sz="1300" b="0" i="0">
                <a:solidFill>
                  <a:srgbClr val="1A1A2E"/>
                </a:solidFill>
                <a:latin typeface="Calibri"/>
              </a:rPr>
              <a:t>Los cambios de tensión vqs^r afectan principalmente ωm; las perturbaciones de carga Tld impactan principalmente en iqs^r.</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Lazo abierto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El ángulo de desfasaje δ(t) se define como el desplazamiento angular entre la coordenada eléctrica de tensión θev(t) y la coordenada eléctrica del rotor θr(t):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δ(t) = θev(t) − θr(t)     →     indica el desfasaje entre el campo girador de tensión y el rotor</a:t>
            </a:r>
          </a:p>
        </p:txBody>
      </p:sp>
      <p:sp>
        <p:nvSpPr>
          <p:cNvPr id="10" name="Rectangle 9"/>
          <p:cNvSpPr/>
          <p:nvPr/>
        </p:nvSpPr>
        <p:spPr>
          <a:xfrm>
            <a:off x="365760" y="2011680"/>
            <a:ext cx="7772400" cy="36576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566160"/>
            <a:ext cx="7589520" cy="548640"/>
          </a:xfrm>
          <a:prstGeom prst="rect">
            <a:avLst/>
          </a:prstGeom>
          <a:noFill/>
        </p:spPr>
        <p:txBody>
          <a:bodyPr wrap="square">
            <a:spAutoFit/>
          </a:bodyPr>
          <a:lstStyle/>
          <a:p>
            <a:pPr algn="ctr"/>
            <a:r>
              <a:rPr sz="1100" b="1">
                <a:solidFill>
                  <a:srgbClr val="C35A00"/>
                </a:solidFill>
                <a:latin typeface="Calibri"/>
              </a:rPr>
              <a:t>🖼  FIGURA: Figura 26 — Evolución temporal de δ(t) durante la simulación
(compárese con los cuadrantes de operación identificados en la curva Tm–ωm)</a:t>
            </a:r>
          </a:p>
        </p:txBody>
      </p:sp>
      <p:sp>
        <p:nvSpPr>
          <p:cNvPr id="12" name="TextBox 11"/>
          <p:cNvSpPr txBox="1"/>
          <p:nvPr/>
        </p:nvSpPr>
        <p:spPr>
          <a:xfrm>
            <a:off x="457200" y="3950208"/>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TextBox 12"/>
          <p:cNvSpPr txBox="1"/>
          <p:nvPr/>
        </p:nvSpPr>
        <p:spPr>
          <a:xfrm>
            <a:off x="8412480" y="777240"/>
            <a:ext cx="3566160" cy="365760"/>
          </a:xfrm>
          <a:prstGeom prst="rect">
            <a:avLst/>
          </a:prstGeom>
          <a:noFill/>
        </p:spPr>
        <p:txBody>
          <a:bodyPr wrap="square">
            <a:spAutoFit/>
          </a:bodyPr>
          <a:lstStyle/>
          <a:p>
            <a:pPr algn="l"/>
            <a:r>
              <a:rPr sz="1400" b="1" i="0">
                <a:solidFill>
                  <a:srgbClr val="1A3A6B"/>
                </a:solidFill>
                <a:latin typeface="Calibri"/>
              </a:rPr>
              <a:t>Consistencia con los cuadrantes de operación:</a:t>
            </a:r>
          </a:p>
        </p:txBody>
      </p:sp>
      <p:sp>
        <p:nvSpPr>
          <p:cNvPr id="14" name="TextBox 13"/>
          <p:cNvSpPr txBox="1"/>
          <p:nvPr/>
        </p:nvSpPr>
        <p:spPr>
          <a:xfrm>
            <a:off x="8412480" y="1261872"/>
            <a:ext cx="3566160" cy="4114800"/>
          </a:xfrm>
          <a:prstGeom prst="rect">
            <a:avLst/>
          </a:prstGeom>
          <a:noFill/>
        </p:spPr>
        <p:txBody>
          <a:bodyPr wrap="square">
            <a:spAutoFit/>
          </a:bodyPr>
          <a:lstStyle/>
          <a:p>
            <a:r>
              <a:rPr sz="1350">
                <a:solidFill>
                  <a:srgbClr val="1A1A2E"/>
                </a:solidFill>
                <a:latin typeface="Calibri"/>
              </a:rPr>
              <a:t>δ(t) &gt; 0: motorización directa y frenado regen. inverso  (1°  y 2°  cuadrante)</a:t>
            </a:r>
          </a:p>
          <a:p>
            <a:pPr>
              <a:spcBef>
                <a:spcPts val="400"/>
              </a:spcBef>
            </a:pPr>
            <a:r>
              <a:rPr sz="1350">
                <a:solidFill>
                  <a:srgbClr val="1A1A2E"/>
                </a:solidFill>
                <a:latin typeface="Calibri"/>
              </a:rPr>
              <a:t>δ(t) &lt; 0: frenado regen. directo y motorización inversa  (4°  y 3°  cuadrante)</a:t>
            </a:r>
          </a:p>
          <a:p>
            <a:pPr>
              <a:spcBef>
                <a:spcPts val="400"/>
              </a:spcBef>
            </a:pPr>
            <a:r>
              <a:rPr sz="1350">
                <a:solidFill>
                  <a:srgbClr val="1A1A2E"/>
                </a:solidFill>
                <a:latin typeface="Calibri"/>
              </a:rPr>
              <a:t>El signo de δ(t) es coherente con los signos de ωm y Tm — confirma la consistencia del modelo</a:t>
            </a:r>
          </a:p>
          <a:p>
            <a:pPr>
              <a:spcBef>
                <a:spcPts val="400"/>
              </a:spcBef>
            </a:pPr>
            <a:r>
              <a:rPr sz="1350">
                <a:solidFill>
                  <a:srgbClr val="1A1A2E"/>
                </a:solidFill>
                <a:latin typeface="Calibri"/>
              </a:rPr>
              <a:t>Los transitorios de δ coinciden temporalmente con los cambios de consigna y perturbaciones</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Modulador de Torque Equivalente</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Control vectorial de corriente · Lazo interno del esquema en cascada</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Arquitectura de control en cascada</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65760" y="777240"/>
            <a:ext cx="11430000" cy="457200"/>
          </a:xfrm>
          <a:prstGeom prst="rect">
            <a:avLst/>
          </a:prstGeom>
          <a:noFill/>
        </p:spPr>
        <p:txBody>
          <a:bodyPr wrap="square">
            <a:spAutoFit/>
          </a:bodyPr>
          <a:lstStyle/>
          <a:p>
            <a:pPr algn="l"/>
            <a:r>
              <a:rPr sz="1400" b="0" i="0">
                <a:solidFill>
                  <a:srgbClr val="1A1A2E"/>
                </a:solidFill>
                <a:latin typeface="Calibri"/>
              </a:rPr>
              <a:t>Se adopta una estructura de control en cascada con dos niveles jerárquicos:</a:t>
            </a:r>
          </a:p>
        </p:txBody>
      </p:sp>
      <p:sp>
        <p:nvSpPr>
          <p:cNvPr id="8" name="TextBox 7"/>
          <p:cNvSpPr txBox="1"/>
          <p:nvPr/>
        </p:nvSpPr>
        <p:spPr>
          <a:xfrm>
            <a:off x="365760" y="1298448"/>
            <a:ext cx="11430000" cy="1188720"/>
          </a:xfrm>
          <a:prstGeom prst="rect">
            <a:avLst/>
          </a:prstGeom>
          <a:noFill/>
        </p:spPr>
        <p:txBody>
          <a:bodyPr wrap="square">
            <a:spAutoFit/>
          </a:bodyPr>
          <a:lstStyle/>
          <a:p>
            <a:r>
              <a:rPr sz="1350" b="1">
                <a:solidFill>
                  <a:srgbClr val="1A3A6B"/>
                </a:solidFill>
                <a:latin typeface="Calibri"/>
              </a:rPr>
              <a:t>Lazo interno (modulador de torque):  regula rápidamente las variables eléctricas (corrientes) para seguir una consigna de torque</a:t>
            </a:r>
          </a:p>
          <a:p>
            <a:pPr>
              <a:spcBef>
                <a:spcPts val="400"/>
              </a:spcBef>
            </a:pPr>
            <a:r>
              <a:rPr sz="1350" b="1">
                <a:solidFill>
                  <a:srgbClr val="1A3A6B"/>
                </a:solidFill>
                <a:latin typeface="Calibri"/>
              </a:rPr>
              <a:t>Lazo externo (PID de movimiento):  genera consignas de torque para seguir la referencia de posición/velocidad</a:t>
            </a:r>
          </a:p>
        </p:txBody>
      </p:sp>
      <p:sp>
        <p:nvSpPr>
          <p:cNvPr id="9" name="TextBox 8"/>
          <p:cNvSpPr txBox="1"/>
          <p:nvPr/>
        </p:nvSpPr>
        <p:spPr>
          <a:xfrm>
            <a:off x="365760" y="2633472"/>
            <a:ext cx="11430000" cy="365760"/>
          </a:xfrm>
          <a:prstGeom prst="rect">
            <a:avLst/>
          </a:prstGeom>
          <a:noFill/>
        </p:spPr>
        <p:txBody>
          <a:bodyPr wrap="square">
            <a:spAutoFit/>
          </a:bodyPr>
          <a:lstStyle/>
          <a:p>
            <a:pPr algn="l"/>
            <a:r>
              <a:rPr sz="1400" b="1" i="0">
                <a:solidFill>
                  <a:srgbClr val="1A3A6B"/>
                </a:solidFill>
                <a:latin typeface="Calibri"/>
              </a:rPr>
              <a:t>Bloques principales del sistema de control:</a:t>
            </a:r>
          </a:p>
        </p:txBody>
      </p:sp>
      <p:graphicFrame>
        <p:nvGraphicFramePr>
          <p:cNvPr id="10" name="Table 9"/>
          <p:cNvGraphicFramePr>
            <a:graphicFrameLocks noGrp="1"/>
          </p:cNvGraphicFramePr>
          <p:nvPr/>
        </p:nvGraphicFramePr>
        <p:xfrm>
          <a:off x="365760" y="3063240"/>
          <a:ext cx="11430000" cy="3108960"/>
        </p:xfrm>
        <a:graphic>
          <a:graphicData uri="http://schemas.openxmlformats.org/drawingml/2006/table">
            <a:tbl>
              <a:tblPr firstRow="1" bandRow="1">
                <a:tableStyleId>{5C22544A-7EE6-4342-B048-85BDC9FD1C3A}</a:tableStyleId>
              </a:tblPr>
              <a:tblGrid>
                <a:gridCol w="228600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383280">
                  <a:extLst>
                    <a:ext uri="{9D8B030D-6E8A-4147-A177-3AD203B41FA5}">
                      <a16:colId xmlns:a16="http://schemas.microsoft.com/office/drawing/2014/main" val="20002"/>
                    </a:ext>
                  </a:extLst>
                </a:gridCol>
              </a:tblGrid>
              <a:tr h="444137">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Función</a:t>
                      </a:r>
                    </a:p>
                  </a:txBody>
                  <a:tcPr>
                    <a:solidFill>
                      <a:srgbClr val="1A3A6B"/>
                    </a:solidFill>
                  </a:tcPr>
                </a:tc>
                <a:tc>
                  <a:txBody>
                    <a:bodyPr/>
                    <a:lstStyle/>
                    <a:p>
                      <a:r>
                        <a:rPr sz="1200" b="1">
                          <a:solidFill>
                            <a:srgbClr val="FFFFFF"/>
                          </a:solidFill>
                          <a:latin typeface="Calibri"/>
                        </a:rPr>
                        <a:t>Velocidad de respuesta</a:t>
                      </a:r>
                    </a:p>
                  </a:txBody>
                  <a:tcPr>
                    <a:solidFill>
                      <a:srgbClr val="1A3A6B"/>
                    </a:solidFill>
                  </a:tcPr>
                </a:tc>
                <a:extLst>
                  <a:ext uri="{0D108BD9-81ED-4DB2-BD59-A6C34878D82A}">
                    <a16:rowId xmlns:a16="http://schemas.microsoft.com/office/drawing/2014/main" val="10000"/>
                  </a:ext>
                </a:extLst>
              </a:tr>
              <a:tr h="444137">
                <a:tc>
                  <a:txBody>
                    <a:bodyPr/>
                    <a:lstStyle/>
                    <a:p>
                      <a:r>
                        <a:rPr sz="1200">
                          <a:latin typeface="Calibri"/>
                        </a:rPr>
                        <a:t>Modulador de tensión</a:t>
                      </a:r>
                    </a:p>
                  </a:txBody>
                  <a:tcPr/>
                </a:tc>
                <a:tc>
                  <a:txBody>
                    <a:bodyPr/>
                    <a:lstStyle/>
                    <a:p>
                      <a:r>
                        <a:rPr sz="1200">
                          <a:latin typeface="Calibri"/>
                        </a:rPr>
                        <a:t>vqs^r → vabc aplicadas al motor (inversor PWM)</a:t>
                      </a:r>
                    </a:p>
                  </a:txBody>
                  <a:tcPr/>
                </a:tc>
                <a:tc>
                  <a:txBody>
                    <a:bodyPr/>
                    <a:lstStyle/>
                    <a:p>
                      <a:r>
                        <a:rPr sz="1200">
                          <a:latin typeface="Calibri"/>
                        </a:rPr>
                        <a:t>Más rápido del sistema</a:t>
                      </a:r>
                    </a:p>
                  </a:txBody>
                  <a:tcPr/>
                </a:tc>
                <a:extLst>
                  <a:ext uri="{0D108BD9-81ED-4DB2-BD59-A6C34878D82A}">
                    <a16:rowId xmlns:a16="http://schemas.microsoft.com/office/drawing/2014/main" val="10001"/>
                  </a:ext>
                </a:extLst>
              </a:tr>
              <a:tr h="444137">
                <a:tc>
                  <a:txBody>
                    <a:bodyPr/>
                    <a:lstStyle/>
                    <a:p>
                      <a:r>
                        <a:rPr sz="1200">
                          <a:latin typeface="Calibri"/>
                        </a:rPr>
                        <a:t>Modulador de corriente</a:t>
                      </a:r>
                    </a:p>
                  </a:txBody>
                  <a:tcPr>
                    <a:solidFill>
                      <a:srgbClr val="F0F4F8"/>
                    </a:solidFill>
                  </a:tcPr>
                </a:tc>
                <a:tc>
                  <a:txBody>
                    <a:bodyPr/>
                    <a:lstStyle/>
                    <a:p>
                      <a:r>
                        <a:rPr sz="1200">
                          <a:latin typeface="Calibri"/>
                        </a:rPr>
                        <a:t>Compensa acoplamientos e impone iqs^r, ids^r</a:t>
                      </a:r>
                    </a:p>
                  </a:txBody>
                  <a:tcPr>
                    <a:solidFill>
                      <a:srgbClr val="F0F4F8"/>
                    </a:solidFill>
                  </a:tcPr>
                </a:tc>
                <a:tc>
                  <a:txBody>
                    <a:bodyPr/>
                    <a:lstStyle/>
                    <a:p>
                      <a:r>
                        <a:rPr sz="1200">
                          <a:latin typeface="Calibri"/>
                        </a:rPr>
                        <a:t>~5000 rad/s (τcc ≈ 0.2 ms)</a:t>
                      </a:r>
                    </a:p>
                  </a:txBody>
                  <a:tcPr>
                    <a:solidFill>
                      <a:srgbClr val="F0F4F8"/>
                    </a:solidFill>
                  </a:tcPr>
                </a:tc>
                <a:extLst>
                  <a:ext uri="{0D108BD9-81ED-4DB2-BD59-A6C34878D82A}">
                    <a16:rowId xmlns:a16="http://schemas.microsoft.com/office/drawing/2014/main" val="10002"/>
                  </a:ext>
                </a:extLst>
              </a:tr>
              <a:tr h="444137">
                <a:tc>
                  <a:txBody>
                    <a:bodyPr/>
                    <a:lstStyle/>
                    <a:p>
                      <a:r>
                        <a:rPr sz="1200">
                          <a:latin typeface="Calibri"/>
                        </a:rPr>
                        <a:t>Modulador de torque</a:t>
                      </a:r>
                    </a:p>
                  </a:txBody>
                  <a:tcPr/>
                </a:tc>
                <a:tc>
                  <a:txBody>
                    <a:bodyPr/>
                    <a:lstStyle/>
                    <a:p>
                      <a:r>
                        <a:rPr sz="1200">
                          <a:latin typeface="Calibri"/>
                        </a:rPr>
                        <a:t>T*m → i*qs^r (ley de control mínima + feedforward)</a:t>
                      </a:r>
                    </a:p>
                  </a:txBody>
                  <a:tcPr/>
                </a:tc>
                <a:tc>
                  <a:txBody>
                    <a:bodyPr/>
                    <a:lstStyle/>
                    <a:p>
                      <a:r>
                        <a:rPr sz="1200">
                          <a:latin typeface="Calibri"/>
                        </a:rPr>
                        <a:t>~5000 rad/s</a:t>
                      </a:r>
                    </a:p>
                  </a:txBody>
                  <a:tcPr/>
                </a:tc>
                <a:extLst>
                  <a:ext uri="{0D108BD9-81ED-4DB2-BD59-A6C34878D82A}">
                    <a16:rowId xmlns:a16="http://schemas.microsoft.com/office/drawing/2014/main" val="10003"/>
                  </a:ext>
                </a:extLst>
              </a:tr>
              <a:tr h="444137">
                <a:tc>
                  <a:txBody>
                    <a:bodyPr/>
                    <a:lstStyle/>
                    <a:p>
                      <a:r>
                        <a:rPr sz="1200">
                          <a:latin typeface="Calibri"/>
                        </a:rPr>
                        <a:t>Observador de estado</a:t>
                      </a:r>
                    </a:p>
                  </a:txBody>
                  <a:tcPr>
                    <a:solidFill>
                      <a:srgbClr val="F0F4F8"/>
                    </a:solidFill>
                  </a:tcPr>
                </a:tc>
                <a:tc>
                  <a:txBody>
                    <a:bodyPr/>
                    <a:lstStyle/>
                    <a:p>
                      <a:r>
                        <a:rPr sz="1200">
                          <a:latin typeface="Calibri"/>
                        </a:rPr>
                        <a:t>Estima ωm a partir de θm medido</a:t>
                      </a:r>
                    </a:p>
                  </a:txBody>
                  <a:tcPr>
                    <a:solidFill>
                      <a:srgbClr val="F0F4F8"/>
                    </a:solidFill>
                  </a:tcPr>
                </a:tc>
                <a:tc>
                  <a:txBody>
                    <a:bodyPr/>
                    <a:lstStyle/>
                    <a:p>
                      <a:r>
                        <a:rPr sz="1200">
                          <a:latin typeface="Calibri"/>
                        </a:rPr>
                        <a:t>~3200 rad/s</a:t>
                      </a:r>
                    </a:p>
                  </a:txBody>
                  <a:tcPr>
                    <a:solidFill>
                      <a:srgbClr val="F0F4F8"/>
                    </a:solidFill>
                  </a:tcPr>
                </a:tc>
                <a:extLst>
                  <a:ext uri="{0D108BD9-81ED-4DB2-BD59-A6C34878D82A}">
                    <a16:rowId xmlns:a16="http://schemas.microsoft.com/office/drawing/2014/main" val="10004"/>
                  </a:ext>
                </a:extLst>
              </a:tr>
              <a:tr h="444137">
                <a:tc>
                  <a:txBody>
                    <a:bodyPr/>
                    <a:lstStyle/>
                    <a:p>
                      <a:r>
                        <a:rPr sz="1200">
                          <a:latin typeface="Calibri"/>
                        </a:rPr>
                        <a:t>PID externo</a:t>
                      </a:r>
                    </a:p>
                  </a:txBody>
                  <a:tcPr/>
                </a:tc>
                <a:tc>
                  <a:txBody>
                    <a:bodyPr/>
                    <a:lstStyle/>
                    <a:p>
                      <a:r>
                        <a:rPr sz="1200">
                          <a:latin typeface="Calibri"/>
                        </a:rPr>
                        <a:t>θ*m, ω*m → T*m (control de movimiento)</a:t>
                      </a:r>
                    </a:p>
                  </a:txBody>
                  <a:tcPr/>
                </a:tc>
                <a:tc>
                  <a:txBody>
                    <a:bodyPr/>
                    <a:lstStyle/>
                    <a:p>
                      <a:r>
                        <a:rPr sz="1200">
                          <a:latin typeface="Calibri"/>
                        </a:rPr>
                        <a:t>~800 rad/s</a:t>
                      </a:r>
                    </a:p>
                  </a:txBody>
                  <a:tcPr/>
                </a:tc>
                <a:extLst>
                  <a:ext uri="{0D108BD9-81ED-4DB2-BD59-A6C34878D82A}">
                    <a16:rowId xmlns:a16="http://schemas.microsoft.com/office/drawing/2014/main" val="10005"/>
                  </a:ext>
                </a:extLst>
              </a:tr>
              <a:tr h="444138">
                <a:tc>
                  <a:txBody>
                    <a:bodyPr/>
                    <a:lstStyle/>
                    <a:p>
                      <a:r>
                        <a:rPr sz="1200">
                          <a:latin typeface="Calibri"/>
                        </a:rPr>
                        <a:t>Set-point</a:t>
                      </a:r>
                    </a:p>
                  </a:txBody>
                  <a:tcPr>
                    <a:solidFill>
                      <a:srgbClr val="F0F4F8"/>
                    </a:solidFill>
                  </a:tcPr>
                </a:tc>
                <a:tc>
                  <a:txBody>
                    <a:bodyPr/>
                    <a:lstStyle/>
                    <a:p>
                      <a:r>
                        <a:rPr sz="1200">
                          <a:latin typeface="Calibri"/>
                        </a:rPr>
                        <a:t>q*(t) articular → θ*m(t), ω*m(t) del eje motor</a:t>
                      </a:r>
                    </a:p>
                  </a:txBody>
                  <a:tcPr>
                    <a:solidFill>
                      <a:srgbClr val="F0F4F8"/>
                    </a:solidFill>
                  </a:tcPr>
                </a:tc>
                <a:tc>
                  <a:txBody>
                    <a:bodyPr/>
                    <a:lstStyle/>
                    <a:p>
                      <a:r>
                        <a:rPr sz="1200">
                          <a:latin typeface="Calibri"/>
                        </a:rPr>
                        <a:t>Generación de referencia</a:t>
                      </a:r>
                    </a:p>
                  </a:txBody>
                  <a:tcPr>
                    <a:solidFill>
                      <a:srgbClr val="F0F4F8"/>
                    </a:solidFill>
                  </a:tcPr>
                </a:tc>
                <a:extLst>
                  <a:ext uri="{0D108BD9-81ED-4DB2-BD59-A6C34878D82A}">
                    <a16:rowId xmlns:a16="http://schemas.microsoft.com/office/drawing/2014/main" val="10006"/>
                  </a:ext>
                </a:extLst>
              </a:tr>
            </a:tbl>
          </a:graphicData>
        </a:graphic>
      </p:graphicFrame>
      <p:sp>
        <p:nvSpPr>
          <p:cNvPr id="11" name="Rectangle 10"/>
          <p:cNvSpPr/>
          <p:nvPr/>
        </p:nvSpPr>
        <p:spPr>
          <a:xfrm>
            <a:off x="365760" y="6263640"/>
            <a:ext cx="11430000" cy="68580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6309359"/>
            <a:ext cx="11155680" cy="594360"/>
          </a:xfrm>
          <a:prstGeom prst="rect">
            <a:avLst/>
          </a:prstGeom>
          <a:noFill/>
        </p:spPr>
        <p:txBody>
          <a:bodyPr wrap="square">
            <a:spAutoFit/>
          </a:bodyPr>
          <a:lstStyle/>
          <a:p>
            <a:pPr algn="l"/>
            <a:r>
              <a:rPr sz="1300">
                <a:solidFill>
                  <a:srgbClr val="1A3A6B"/>
                </a:solidFill>
                <a:latin typeface="Calibri"/>
              </a:rPr>
              <a:t>La separación de escalas de tiempo (~6:1 entre lazo interno y externo) valida la hipótesis de cascada: el lazo de corriente está prácticamente en régimen permanente cuando el PID externo actúa.</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Desacople electromagnético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7" name="TextBox 6"/>
          <p:cNvSpPr txBox="1"/>
          <p:nvPr/>
        </p:nvSpPr>
        <p:spPr>
          <a:xfrm>
            <a:off x="365760" y="777240"/>
            <a:ext cx="11430000" cy="713232"/>
          </a:xfrm>
          <a:prstGeom prst="rect">
            <a:avLst/>
          </a:prstGeom>
          <a:noFill/>
        </p:spPr>
        <p:txBody>
          <a:bodyPr wrap="square">
            <a:spAutoFit/>
          </a:bodyPr>
          <a:lstStyle/>
          <a:p>
            <a:pPr algn="l"/>
            <a:r>
              <a:rPr sz="1400" b="0" i="0">
                <a:solidFill>
                  <a:srgbClr val="1A1A2E"/>
                </a:solidFill>
                <a:latin typeface="Calibri"/>
              </a:rPr>
              <a:t>El modelo del subsistema electromagnético presenta retroalimentaciones físicas naturales: caídas resistivas y acoplamientos cruzados entre ejes q y d a través de ωm. Se compensan sumando feedforward a las consignas de tensión:</a:t>
            </a:r>
          </a:p>
        </p:txBody>
      </p:sp>
      <p:sp>
        <p:nvSpPr>
          <p:cNvPr id="8" name="Rectangle 7"/>
          <p:cNvSpPr/>
          <p:nvPr/>
        </p:nvSpPr>
        <p:spPr>
          <a:xfrm>
            <a:off x="365760" y="155448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54480"/>
            <a:ext cx="11247120" cy="475488"/>
          </a:xfrm>
          <a:prstGeom prst="rect">
            <a:avLst/>
          </a:prstGeom>
          <a:noFill/>
        </p:spPr>
        <p:txBody>
          <a:bodyPr wrap="square">
            <a:spAutoFit/>
          </a:bodyPr>
          <a:lstStyle/>
          <a:p>
            <a:pPr algn="ctr"/>
            <a:r>
              <a:rPr sz="1100" b="1">
                <a:solidFill>
                  <a:srgbClr val="1B6B2A"/>
                </a:solidFill>
                <a:latin typeface="Calibri"/>
              </a:rPr>
              <a:t>📐  ECUACIÓN: vqs^r(t) = v*qs^r(t) + Rs(Ts)·iqs^r + [λ'm + Ld·ids^r]·Pp·ωm(t)     [compensación eje q]</a:t>
            </a:r>
          </a:p>
        </p:txBody>
      </p:sp>
      <p:sp>
        <p:nvSpPr>
          <p:cNvPr id="10" name="Rectangle 9"/>
          <p:cNvSpPr/>
          <p:nvPr/>
        </p:nvSpPr>
        <p:spPr>
          <a:xfrm>
            <a:off x="365760" y="209397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93976"/>
            <a:ext cx="11247120" cy="475488"/>
          </a:xfrm>
          <a:prstGeom prst="rect">
            <a:avLst/>
          </a:prstGeom>
          <a:noFill/>
        </p:spPr>
        <p:txBody>
          <a:bodyPr wrap="square">
            <a:spAutoFit/>
          </a:bodyPr>
          <a:lstStyle/>
          <a:p>
            <a:pPr algn="ctr"/>
            <a:r>
              <a:rPr sz="1100" b="1">
                <a:solidFill>
                  <a:srgbClr val="1B6B2A"/>
                </a:solidFill>
                <a:latin typeface="Calibri"/>
              </a:rPr>
              <a:t>📐  ECUACIÓN: vds^r(t) = v*ds^r(t) + Rs(Ts)·ids^r − Lq·iqs^r·Pp·ωm(t)                    [compensación eje d]</a:t>
            </a:r>
          </a:p>
        </p:txBody>
      </p:sp>
      <p:sp>
        <p:nvSpPr>
          <p:cNvPr id="12" name="TextBox 11"/>
          <p:cNvSpPr txBox="1"/>
          <p:nvPr/>
        </p:nvSpPr>
        <p:spPr>
          <a:xfrm>
            <a:off x="365760" y="2697480"/>
            <a:ext cx="11430000" cy="365760"/>
          </a:xfrm>
          <a:prstGeom prst="rect">
            <a:avLst/>
          </a:prstGeom>
          <a:noFill/>
        </p:spPr>
        <p:txBody>
          <a:bodyPr wrap="square">
            <a:spAutoFit/>
          </a:bodyPr>
          <a:lstStyle/>
          <a:p>
            <a:pPr algn="l"/>
            <a:r>
              <a:rPr sz="1400" b="1" i="0">
                <a:solidFill>
                  <a:srgbClr val="1A3A6B"/>
                </a:solidFill>
                <a:latin typeface="Calibri"/>
              </a:rPr>
              <a:t>Resultado del desacople:</a:t>
            </a:r>
          </a:p>
        </p:txBody>
      </p:sp>
      <p:sp>
        <p:nvSpPr>
          <p:cNvPr id="13" name="Rectangle 12"/>
          <p:cNvSpPr/>
          <p:nvPr/>
        </p:nvSpPr>
        <p:spPr>
          <a:xfrm>
            <a:off x="365760" y="3127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127248"/>
            <a:ext cx="7589520" cy="475488"/>
          </a:xfrm>
          <a:prstGeom prst="rect">
            <a:avLst/>
          </a:prstGeom>
          <a:noFill/>
        </p:spPr>
        <p:txBody>
          <a:bodyPr wrap="square">
            <a:spAutoFit/>
          </a:bodyPr>
          <a:lstStyle/>
          <a:p>
            <a:pPr algn="ctr"/>
            <a:r>
              <a:rPr sz="1100" b="1">
                <a:solidFill>
                  <a:srgbClr val="1B6B2A"/>
                </a:solidFill>
                <a:latin typeface="Calibri"/>
              </a:rPr>
              <a:t>📐  ECUACIÓN: diqs^r/dt = (1/Lq)·v*qs^r(t)     |     dids^r/dt = (1/Ld)·v*ds^r(t)     [Ec. 57]</a:t>
            </a:r>
          </a:p>
        </p:txBody>
      </p:sp>
      <p:sp>
        <p:nvSpPr>
          <p:cNvPr id="15" name="TextBox 14"/>
          <p:cNvSpPr txBox="1"/>
          <p:nvPr/>
        </p:nvSpPr>
        <p:spPr>
          <a:xfrm>
            <a:off x="365760" y="3703320"/>
            <a:ext cx="7772400" cy="621792"/>
          </a:xfrm>
          <a:prstGeom prst="rect">
            <a:avLst/>
          </a:prstGeom>
          <a:noFill/>
        </p:spPr>
        <p:txBody>
          <a:bodyPr wrap="square">
            <a:spAutoFit/>
          </a:bodyPr>
          <a:lstStyle/>
          <a:p>
            <a:pPr algn="l"/>
            <a:r>
              <a:rPr sz="1300" b="0" i="0">
                <a:solidFill>
                  <a:srgbClr val="1A1A2E"/>
                </a:solidFill>
                <a:latin typeface="Calibri"/>
              </a:rPr>
              <a:t>Cada tensión virtual v* actúa directamente sobre la derivada de su corriente correspondiente. El sistema queda desacoplado: se pueden diseñar controladores independientes para cada eje.</a:t>
            </a:r>
          </a:p>
        </p:txBody>
      </p:sp>
      <p:sp>
        <p:nvSpPr>
          <p:cNvPr id="16" name="Rectangle 15"/>
          <p:cNvSpPr/>
          <p:nvPr/>
        </p:nvSpPr>
        <p:spPr>
          <a:xfrm>
            <a:off x="8412480" y="2697480"/>
            <a:ext cx="356616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3931920"/>
            <a:ext cx="3383279" cy="548640"/>
          </a:xfrm>
          <a:prstGeom prst="rect">
            <a:avLst/>
          </a:prstGeom>
          <a:noFill/>
        </p:spPr>
        <p:txBody>
          <a:bodyPr wrap="square">
            <a:spAutoFit/>
          </a:bodyPr>
          <a:lstStyle/>
          <a:p>
            <a:pPr algn="ctr"/>
            <a:r>
              <a:rPr sz="1100" b="1">
                <a:solidFill>
                  <a:srgbClr val="C35A00"/>
                </a:solidFill>
                <a:latin typeface="Calibri"/>
              </a:rPr>
              <a:t>🖼  FIGURA: Figura 34 — Diagrama de bloques Simulink del modulador de corriente
(feedforward + controlador P por eje)</a:t>
            </a:r>
          </a:p>
        </p:txBody>
      </p:sp>
      <p:sp>
        <p:nvSpPr>
          <p:cNvPr id="18" name="TextBox 17"/>
          <p:cNvSpPr txBox="1"/>
          <p:nvPr/>
        </p:nvSpPr>
        <p:spPr>
          <a:xfrm>
            <a:off x="8503919" y="4315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4434840"/>
            <a:ext cx="7772400" cy="68580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434840"/>
            <a:ext cx="7589520" cy="685800"/>
          </a:xfrm>
          <a:prstGeom prst="rect">
            <a:avLst/>
          </a:prstGeom>
          <a:noFill/>
        </p:spPr>
        <p:txBody>
          <a:bodyPr wrap="square">
            <a:spAutoFit/>
          </a:bodyPr>
          <a:lstStyle/>
          <a:p>
            <a:pPr algn="ctr"/>
            <a:r>
              <a:rPr sz="1100" b="1">
                <a:solidFill>
                  <a:srgbClr val="1B6B2A"/>
                </a:solidFill>
                <a:latin typeface="Calibri"/>
              </a:rPr>
              <a:t>📐  ECUACIÓN: R'q = 5000·Lq = 29 Ω   |   R'd = 5000·Ld = 33 Ω   |   R'0 = 5000·Lls = 4 Ω
Polo en p = −5000 rad/s   →   τcc ≈ 0.2 ms   (≈20× más rápido que la dinámica mecánica)</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Diseño de lazos de control de corriente</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Con el desacople implementado, se diseña un controlador proporcional para cada eje. La consigna de tensión es proporcional al error de corriente:</a:t>
            </a:r>
          </a:p>
        </p:txBody>
      </p:sp>
      <p:sp>
        <p:nvSpPr>
          <p:cNvPr id="8" name="Rectangle 7"/>
          <p:cNvSpPr/>
          <p:nvPr/>
        </p:nvSpPr>
        <p:spPr>
          <a:xfrm>
            <a:off x="365760" y="1444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11247120" cy="475488"/>
          </a:xfrm>
          <a:prstGeom prst="rect">
            <a:avLst/>
          </a:prstGeom>
          <a:noFill/>
        </p:spPr>
        <p:txBody>
          <a:bodyPr wrap="square">
            <a:spAutoFit/>
          </a:bodyPr>
          <a:lstStyle/>
          <a:p>
            <a:pPr algn="ctr"/>
            <a:r>
              <a:rPr sz="1100" b="1">
                <a:solidFill>
                  <a:srgbClr val="1B6B2A"/>
                </a:solidFill>
                <a:latin typeface="Calibri"/>
              </a:rPr>
              <a:t>📐  ECUACIÓN: v*qs^r(t) = R'q · [i*qs^r(t) − iqs^r(t)]     |     v*ds^r(t) = R'd · [i*ds^r(t) − ids^r(t)]</a:t>
            </a:r>
          </a:p>
        </p:txBody>
      </p:sp>
      <p:sp>
        <p:nvSpPr>
          <p:cNvPr id="10" name="TextBox 9"/>
          <p:cNvSpPr txBox="1"/>
          <p:nvPr/>
        </p:nvSpPr>
        <p:spPr>
          <a:xfrm>
            <a:off x="365760" y="2029968"/>
            <a:ext cx="7772400" cy="365760"/>
          </a:xfrm>
          <a:prstGeom prst="rect">
            <a:avLst/>
          </a:prstGeom>
          <a:noFill/>
        </p:spPr>
        <p:txBody>
          <a:bodyPr wrap="square">
            <a:spAutoFit/>
          </a:bodyPr>
          <a:lstStyle/>
          <a:p>
            <a:pPr algn="l"/>
            <a:r>
              <a:rPr sz="1400" b="1" i="0">
                <a:solidFill>
                  <a:srgbClr val="1A3A6B"/>
                </a:solidFill>
                <a:latin typeface="Calibri"/>
              </a:rPr>
              <a:t>Función de transferencia de lazo cerrado (sistema de 1° orden):</a:t>
            </a:r>
          </a:p>
        </p:txBody>
      </p:sp>
      <p:sp>
        <p:nvSpPr>
          <p:cNvPr id="11" name="Rectangle 10"/>
          <p:cNvSpPr/>
          <p:nvPr/>
        </p:nvSpPr>
        <p:spPr>
          <a:xfrm>
            <a:off x="365760" y="24505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450592"/>
            <a:ext cx="7589520" cy="475488"/>
          </a:xfrm>
          <a:prstGeom prst="rect">
            <a:avLst/>
          </a:prstGeom>
          <a:noFill/>
        </p:spPr>
        <p:txBody>
          <a:bodyPr wrap="square">
            <a:spAutoFit/>
          </a:bodyPr>
          <a:lstStyle/>
          <a:p>
            <a:pPr algn="ctr"/>
            <a:r>
              <a:rPr sz="1100" b="1">
                <a:solidFill>
                  <a:srgbClr val="1B6B2A"/>
                </a:solidFill>
                <a:latin typeface="Calibri"/>
              </a:rPr>
              <a:t>📐  ECUACIÓN: G_iqs(s) = Iqs^r(s)/I*qs^r(s) = 1/(s·Lq/R'q + 1)     →     polo en p = −R'q/Lq   [Ec. 58]</a:t>
            </a:r>
          </a:p>
        </p:txBody>
      </p:sp>
      <p:sp>
        <p:nvSpPr>
          <p:cNvPr id="13" name="TextBox 12"/>
          <p:cNvSpPr txBox="1"/>
          <p:nvPr/>
        </p:nvSpPr>
        <p:spPr>
          <a:xfrm>
            <a:off x="365760" y="3017520"/>
            <a:ext cx="7772400" cy="2103120"/>
          </a:xfrm>
          <a:prstGeom prst="rect">
            <a:avLst/>
          </a:prstGeom>
          <a:noFill/>
        </p:spPr>
        <p:txBody>
          <a:bodyPr wrap="square">
            <a:spAutoFit/>
          </a:bodyPr>
          <a:lstStyle/>
          <a:p>
            <a:r>
              <a:rPr sz="1350">
                <a:solidFill>
                  <a:srgbClr val="1A1A2E"/>
                </a:solidFill>
                <a:latin typeface="Calibri"/>
              </a:rPr>
              <a:t>Sistema de 1° orden estable: polo con parte real negativa → estabilidad garantizada</a:t>
            </a:r>
          </a:p>
          <a:p>
            <a:pPr>
              <a:spcBef>
                <a:spcPts val="400"/>
              </a:spcBef>
            </a:pPr>
            <a:r>
              <a:rPr sz="1350">
                <a:solidFill>
                  <a:srgbClr val="1A1A2E"/>
                </a:solidFill>
                <a:latin typeface="Calibri"/>
              </a:rPr>
              <a:t>Sin ceros → respuesta monotónica, sin sobrepaso en la corriente</a:t>
            </a:r>
          </a:p>
          <a:p>
            <a:pPr>
              <a:spcBef>
                <a:spcPts val="400"/>
              </a:spcBef>
            </a:pPr>
            <a:r>
              <a:rPr sz="1350">
                <a:solidFill>
                  <a:srgbClr val="1A1A2E"/>
                </a:solidFill>
                <a:latin typeface="Calibri"/>
              </a:rPr>
              <a:t>Seguimiento sin error de estado estacionario ante escalón (ganancia estática = 1)</a:t>
            </a:r>
          </a:p>
          <a:p>
            <a:pPr>
              <a:spcBef>
                <a:spcPts val="400"/>
              </a:spcBef>
            </a:pPr>
            <a:r>
              <a:rPr sz="1350">
                <a:solidFill>
                  <a:srgbClr val="1A1A2E"/>
                </a:solidFill>
                <a:latin typeface="Calibri"/>
              </a:rPr>
              <a:t>Frecuencia de corte: fc = R'q/(2π·Lq) = 5000/(2π) ≈ 796 Hz</a:t>
            </a:r>
          </a:p>
        </p:txBody>
      </p:sp>
      <p:sp>
        <p:nvSpPr>
          <p:cNvPr id="14" name="Rectangle 13"/>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35 — Diagrama Simulink del lazo de torque
(conversión T*m → i*qs^r)</a:t>
            </a:r>
          </a:p>
        </p:txBody>
      </p:sp>
      <p:sp>
        <p:nvSpPr>
          <p:cNvPr id="16" name="TextBox 15"/>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8412480" y="342900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8503919" y="4434840"/>
            <a:ext cx="3383279" cy="548640"/>
          </a:xfrm>
          <a:prstGeom prst="rect">
            <a:avLst/>
          </a:prstGeom>
          <a:noFill/>
        </p:spPr>
        <p:txBody>
          <a:bodyPr wrap="square">
            <a:spAutoFit/>
          </a:bodyPr>
          <a:lstStyle/>
          <a:p>
            <a:pPr algn="ctr"/>
            <a:r>
              <a:rPr sz="1100" b="1">
                <a:solidFill>
                  <a:srgbClr val="C35A00"/>
                </a:solidFill>
                <a:latin typeface="Calibri"/>
              </a:rPr>
              <a:t>🖼  FIGURA: Figura 36 — Modulador de torque completo
(lazo corriente + feedforward + compensación gravitacional)</a:t>
            </a:r>
          </a:p>
        </p:txBody>
      </p:sp>
      <p:sp>
        <p:nvSpPr>
          <p:cNvPr id="19" name="TextBox 18"/>
          <p:cNvSpPr txBox="1"/>
          <p:nvPr/>
        </p:nvSpPr>
        <p:spPr>
          <a:xfrm>
            <a:off x="8503919" y="481888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0" name="Rectangle 19"/>
          <p:cNvSpPr/>
          <p:nvPr/>
        </p:nvSpPr>
        <p:spPr>
          <a:xfrm>
            <a:off x="365760" y="5230368"/>
            <a:ext cx="7772400" cy="8046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457200" y="5230368"/>
            <a:ext cx="7589520" cy="804672"/>
          </a:xfrm>
          <a:prstGeom prst="rect">
            <a:avLst/>
          </a:prstGeom>
          <a:noFill/>
        </p:spPr>
        <p:txBody>
          <a:bodyPr wrap="square">
            <a:spAutoFit/>
          </a:bodyPr>
          <a:lstStyle/>
          <a:p>
            <a:pPr algn="ctr"/>
            <a:r>
              <a:rPr sz="1100" b="1">
                <a:solidFill>
                  <a:srgbClr val="1B6B2A"/>
                </a:solidFill>
                <a:latin typeface="Calibri"/>
              </a:rPr>
              <a:t>📐  ECUACIÓN: Separación de escalas de tiempo:  τcc ≈ 0.2 ms  &lt;&lt;  τmec ≈ Jeq/beq ≈ 1.3 s
El lazo de corriente converge ~6500 veces más rápido que la dinámica mecánica → hipótesis de cascada válida</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vectorial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La etapa final del modulador convierte la consigna de torque T*m(t) en la referencia de corriente i*qs^r. Se incorpora compensación de fricción viscosa y del torque gravitatorio (feedforward):</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T*m(t) = T*'m(t) + beq·ωm(t) + (kl·g/r)·sin(θm(t)/r)     [Ec. 6]</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i*qs^r(t) = T*m(t) / [(3/2)·Pp·(λ'm + (Ld−Lq)·ids^r(t))]     [Ec. torque electromagnético invertido]</a:t>
            </a:r>
          </a:p>
        </p:txBody>
      </p:sp>
      <p:sp>
        <p:nvSpPr>
          <p:cNvPr id="12" name="TextBox 11"/>
          <p:cNvSpPr txBox="1"/>
          <p:nvPr/>
        </p:nvSpPr>
        <p:spPr>
          <a:xfrm>
            <a:off x="365760" y="2651760"/>
            <a:ext cx="5943600" cy="365760"/>
          </a:xfrm>
          <a:prstGeom prst="rect">
            <a:avLst/>
          </a:prstGeom>
          <a:noFill/>
        </p:spPr>
        <p:txBody>
          <a:bodyPr wrap="square">
            <a:spAutoFit/>
          </a:bodyPr>
          <a:lstStyle/>
          <a:p>
            <a:pPr algn="l"/>
            <a:r>
              <a:rPr sz="1400" b="1" i="0">
                <a:solidFill>
                  <a:srgbClr val="1A3A6B"/>
                </a:solidFill>
                <a:latin typeface="Calibri"/>
              </a:rPr>
              <a:t>Ley de control mínima  i*ds^r = 0:</a:t>
            </a:r>
          </a:p>
        </p:txBody>
      </p:sp>
      <p:sp>
        <p:nvSpPr>
          <p:cNvPr id="13" name="TextBox 12"/>
          <p:cNvSpPr txBox="1"/>
          <p:nvPr/>
        </p:nvSpPr>
        <p:spPr>
          <a:xfrm>
            <a:off x="365760" y="3090672"/>
            <a:ext cx="5943600" cy="2194560"/>
          </a:xfrm>
          <a:prstGeom prst="rect">
            <a:avLst/>
          </a:prstGeom>
          <a:noFill/>
        </p:spPr>
        <p:txBody>
          <a:bodyPr wrap="square">
            <a:spAutoFit/>
          </a:bodyPr>
          <a:lstStyle/>
          <a:p>
            <a:r>
              <a:rPr sz="1350">
                <a:solidFill>
                  <a:srgbClr val="1A1A2E"/>
                </a:solidFill>
                <a:latin typeface="Calibri"/>
              </a:rPr>
              <a:t>Con ids^r = 0: Tm = (3/2)·Pp·λ'm·iqs^r  →  torque proporcional solo a iqs^r</a:t>
            </a:r>
          </a:p>
          <a:p>
            <a:pPr>
              <a:spcBef>
                <a:spcPts val="400"/>
              </a:spcBef>
            </a:pPr>
            <a:r>
              <a:rPr sz="1350">
                <a:solidFill>
                  <a:srgbClr val="1A1A2E"/>
                </a:solidFill>
                <a:latin typeface="Calibri"/>
              </a:rPr>
              <a:t>Máximo torque por unidad de corriente (eficiencia óptima en motores con Ld ≈ Lq)</a:t>
            </a:r>
          </a:p>
          <a:p>
            <a:pPr>
              <a:spcBef>
                <a:spcPts val="400"/>
              </a:spcBef>
            </a:pPr>
            <a:r>
              <a:rPr sz="1350">
                <a:solidFill>
                  <a:srgbClr val="1A1A2E"/>
                </a:solidFill>
                <a:latin typeface="Calibri"/>
              </a:rPr>
              <a:t>El torque reluctante (Ld−Lq)·ids·iqs es despreciable para este motor (Ld ≈ Lq)</a:t>
            </a:r>
          </a:p>
        </p:txBody>
      </p:sp>
      <p:sp>
        <p:nvSpPr>
          <p:cNvPr id="14" name="TextBox 13"/>
          <p:cNvSpPr txBox="1"/>
          <p:nvPr/>
        </p:nvSpPr>
        <p:spPr>
          <a:xfrm>
            <a:off x="6583680" y="2651760"/>
            <a:ext cx="5029200" cy="365760"/>
          </a:xfrm>
          <a:prstGeom prst="rect">
            <a:avLst/>
          </a:prstGeom>
          <a:noFill/>
        </p:spPr>
        <p:txBody>
          <a:bodyPr wrap="square">
            <a:spAutoFit/>
          </a:bodyPr>
          <a:lstStyle/>
          <a:p>
            <a:pPr algn="l"/>
            <a:r>
              <a:rPr sz="1400" b="1" i="0">
                <a:solidFill>
                  <a:srgbClr val="1A3A6B"/>
                </a:solidFill>
                <a:latin typeface="Calibri"/>
              </a:rPr>
              <a:t>Feedforward gravitacional:</a:t>
            </a:r>
          </a:p>
        </p:txBody>
      </p:sp>
      <p:sp>
        <p:nvSpPr>
          <p:cNvPr id="15" name="TextBox 14"/>
          <p:cNvSpPr txBox="1"/>
          <p:nvPr/>
        </p:nvSpPr>
        <p:spPr>
          <a:xfrm>
            <a:off x="6583680" y="3090672"/>
            <a:ext cx="5029200" cy="2194560"/>
          </a:xfrm>
          <a:prstGeom prst="rect">
            <a:avLst/>
          </a:prstGeom>
          <a:noFill/>
        </p:spPr>
        <p:txBody>
          <a:bodyPr wrap="square">
            <a:spAutoFit/>
          </a:bodyPr>
          <a:lstStyle/>
          <a:p>
            <a:r>
              <a:rPr sz="1350">
                <a:solidFill>
                  <a:srgbClr val="1A1A2E"/>
                </a:solidFill>
                <a:latin typeface="Calibri"/>
              </a:rPr>
              <a:t>El término (kl·g/r)·sin(θm/r) estima el torque de gravedad y lo compensa directamente</a:t>
            </a:r>
          </a:p>
          <a:p>
            <a:pPr>
              <a:spcBef>
                <a:spcPts val="400"/>
              </a:spcBef>
            </a:pPr>
            <a:r>
              <a:rPr sz="1350">
                <a:solidFill>
                  <a:srgbClr val="1A1A2E"/>
                </a:solidFill>
                <a:latin typeface="Calibri"/>
              </a:rPr>
              <a:t>El controlador no necesita generar este torque como respuesta al error → mejora la respuesta dinámica</a:t>
            </a:r>
          </a:p>
          <a:p>
            <a:pPr>
              <a:spcBef>
                <a:spcPts val="400"/>
              </a:spcBef>
            </a:pPr>
            <a:r>
              <a:rPr sz="1350">
                <a:solidFill>
                  <a:srgbClr val="1A1A2E"/>
                </a:solidFill>
                <a:latin typeface="Calibri"/>
              </a:rPr>
              <a:t>Reduce el esfuerzo del lazo externo PID ante variaciones de posición articular</a:t>
            </a:r>
          </a:p>
          <a:p>
            <a:pPr>
              <a:spcBef>
                <a:spcPts val="400"/>
              </a:spcBef>
            </a:pPr>
            <a:r>
              <a:rPr sz="1350">
                <a:solidFill>
                  <a:srgbClr val="1A1A2E"/>
                </a:solidFill>
                <a:latin typeface="Calibri"/>
              </a:rPr>
              <a:t>kl = m·lcm + ml·ll varía con la carga útil ml</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7" name="TextBox 6"/>
          <p:cNvSpPr txBox="1"/>
          <p:nvPr/>
        </p:nvSpPr>
        <p:spPr>
          <a:xfrm>
            <a:off x="365760" y="777240"/>
            <a:ext cx="7772400" cy="621792"/>
          </a:xfrm>
          <a:prstGeom prst="rect">
            <a:avLst/>
          </a:prstGeom>
          <a:noFill/>
        </p:spPr>
        <p:txBody>
          <a:bodyPr wrap="square">
            <a:spAutoFit/>
          </a:bodyPr>
          <a:lstStyle/>
          <a:p>
            <a:pPr algn="l"/>
            <a:r>
              <a:rPr sz="1400" b="0" i="0">
                <a:solidFill>
                  <a:srgbClr val="1A1A2E"/>
                </a:solidFill>
                <a:latin typeface="Calibri"/>
              </a:rPr>
              <a:t>Lazo externo de posición y velocidad. Para evitar amplificar ruido con el derivador, se realimenta ωm(t) directamente. La salida es la consigna de torque T*'m(t):</a:t>
            </a:r>
          </a:p>
        </p:txBody>
      </p:sp>
      <p:sp>
        <p:nvSpPr>
          <p:cNvPr id="8" name="Rectangle 7"/>
          <p:cNvSpPr/>
          <p:nvPr/>
        </p:nvSpPr>
        <p:spPr>
          <a:xfrm>
            <a:off x="365760" y="14630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63040"/>
            <a:ext cx="7589520" cy="475488"/>
          </a:xfrm>
          <a:prstGeom prst="rect">
            <a:avLst/>
          </a:prstGeom>
          <a:noFill/>
        </p:spPr>
        <p:txBody>
          <a:bodyPr wrap="square">
            <a:spAutoFit/>
          </a:bodyPr>
          <a:lstStyle/>
          <a:p>
            <a:pPr algn="ctr"/>
            <a:r>
              <a:rPr sz="1100" b="1">
                <a:solidFill>
                  <a:srgbClr val="1B6B2A"/>
                </a:solidFill>
                <a:latin typeface="Calibri"/>
              </a:rPr>
              <a:t>📐  ECUACIÓN: T*'m(t) = eω(t)·ba + eθ(t)·Ksa + Ksia·∫eθ(t)dt     [Ec. 60]</a:t>
            </a:r>
          </a:p>
        </p:txBody>
      </p:sp>
      <p:sp>
        <p:nvSpPr>
          <p:cNvPr id="10" name="Rectangle 9"/>
          <p:cNvSpPr/>
          <p:nvPr/>
        </p:nvSpPr>
        <p:spPr>
          <a:xfrm>
            <a:off x="365760" y="2002536"/>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02536"/>
            <a:ext cx="7589520" cy="475488"/>
          </a:xfrm>
          <a:prstGeom prst="rect">
            <a:avLst/>
          </a:prstGeom>
          <a:noFill/>
        </p:spPr>
        <p:txBody>
          <a:bodyPr wrap="square">
            <a:spAutoFit/>
          </a:bodyPr>
          <a:lstStyle/>
          <a:p>
            <a:pPr algn="ctr"/>
            <a:r>
              <a:rPr sz="1100" b="1">
                <a:solidFill>
                  <a:srgbClr val="1B6B2A"/>
                </a:solidFill>
                <a:latin typeface="Calibri"/>
              </a:rPr>
              <a:t>📐  ECUACIÓN: eθ(s) = Θ*m(s) − Θm(s)     |     eω(s) = s·Eθ(s)     [Ecs. 61, 62]</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38 — Diagrama de bloques del controlador PID externo (Simulink)</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TextBox 14"/>
          <p:cNvSpPr txBox="1"/>
          <p:nvPr/>
        </p:nvSpPr>
        <p:spPr>
          <a:xfrm>
            <a:off x="365760" y="2606040"/>
            <a:ext cx="7772400" cy="365760"/>
          </a:xfrm>
          <a:prstGeom prst="rect">
            <a:avLst/>
          </a:prstGeom>
          <a:noFill/>
        </p:spPr>
        <p:txBody>
          <a:bodyPr wrap="square">
            <a:spAutoFit/>
          </a:bodyPr>
          <a:lstStyle/>
          <a:p>
            <a:pPr algn="l"/>
            <a:r>
              <a:rPr sz="1400" b="1" i="0">
                <a:solidFill>
                  <a:srgbClr val="1A3A6B"/>
                </a:solidFill>
                <a:latin typeface="Calibri"/>
              </a:rPr>
              <a:t>Funciones de transferencia de lazo cerrado:</a:t>
            </a:r>
          </a:p>
        </p:txBody>
      </p:sp>
      <p:sp>
        <p:nvSpPr>
          <p:cNvPr id="16" name="Rectangle 15"/>
          <p:cNvSpPr/>
          <p:nvPr/>
        </p:nvSpPr>
        <p:spPr>
          <a:xfrm>
            <a:off x="365760" y="303580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3035808"/>
            <a:ext cx="7589520" cy="475488"/>
          </a:xfrm>
          <a:prstGeom prst="rect">
            <a:avLst/>
          </a:prstGeom>
          <a:noFill/>
        </p:spPr>
        <p:txBody>
          <a:bodyPr wrap="square">
            <a:spAutoFit/>
          </a:bodyPr>
          <a:lstStyle/>
          <a:p>
            <a:pPr algn="ctr"/>
            <a:r>
              <a:rPr sz="1100" b="1">
                <a:solidFill>
                  <a:srgbClr val="1B6B2A"/>
                </a:solidFill>
                <a:latin typeface="Calibri"/>
              </a:rPr>
              <a:t>📐  ECUACIÓN: Gθm(s) = (s²·ba + s·Ksa + Ksia) / (Jeq·s³ + s²·ba + s·Ksa + Ksia)     [Ec. 65]</a:t>
            </a:r>
          </a:p>
        </p:txBody>
      </p:sp>
      <p:sp>
        <p:nvSpPr>
          <p:cNvPr id="18" name="Rectangle 17"/>
          <p:cNvSpPr/>
          <p:nvPr/>
        </p:nvSpPr>
        <p:spPr>
          <a:xfrm>
            <a:off x="365760" y="357530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57200" y="3575304"/>
            <a:ext cx="7589520" cy="475488"/>
          </a:xfrm>
          <a:prstGeom prst="rect">
            <a:avLst/>
          </a:prstGeom>
          <a:noFill/>
        </p:spPr>
        <p:txBody>
          <a:bodyPr wrap="square">
            <a:spAutoFit/>
          </a:bodyPr>
          <a:lstStyle/>
          <a:p>
            <a:pPr algn="ctr"/>
            <a:r>
              <a:rPr sz="1100" b="1">
                <a:solidFill>
                  <a:srgbClr val="1B6B2A"/>
                </a:solidFill>
                <a:latin typeface="Calibri"/>
              </a:rPr>
              <a:t>📐  ECUACIÓN: GTld(s) = −s / r·(Jeq·s³ + s²·ba + s·Ksa + Ksia)     [Ec. 66]</a:t>
            </a:r>
          </a:p>
        </p:txBody>
      </p:sp>
      <p:sp>
        <p:nvSpPr>
          <p:cNvPr id="20" name="TextBox 19"/>
          <p:cNvSpPr txBox="1"/>
          <p:nvPr/>
        </p:nvSpPr>
        <p:spPr>
          <a:xfrm>
            <a:off x="365760" y="4169663"/>
            <a:ext cx="7772400" cy="365760"/>
          </a:xfrm>
          <a:prstGeom prst="rect">
            <a:avLst/>
          </a:prstGeom>
          <a:noFill/>
        </p:spPr>
        <p:txBody>
          <a:bodyPr wrap="square">
            <a:spAutoFit/>
          </a:bodyPr>
          <a:lstStyle/>
          <a:p>
            <a:pPr algn="l"/>
            <a:r>
              <a:rPr sz="1400" b="1" i="0">
                <a:solidFill>
                  <a:srgbClr val="1A3A6B"/>
                </a:solidFill>
                <a:latin typeface="Calibri"/>
              </a:rPr>
              <a:t>Diseño por sintonía serie  (ζ=0.75, n=2.5, ωpos=800 rad/s):</a:t>
            </a:r>
          </a:p>
        </p:txBody>
      </p:sp>
      <p:sp>
        <p:nvSpPr>
          <p:cNvPr id="21" name="Rectangle 20"/>
          <p:cNvSpPr/>
          <p:nvPr/>
        </p:nvSpPr>
        <p:spPr>
          <a:xfrm>
            <a:off x="365760" y="45902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57200" y="4590288"/>
            <a:ext cx="7589520" cy="502920"/>
          </a:xfrm>
          <a:prstGeom prst="rect">
            <a:avLst/>
          </a:prstGeom>
          <a:noFill/>
        </p:spPr>
        <p:txBody>
          <a:bodyPr wrap="square">
            <a:spAutoFit/>
          </a:bodyPr>
          <a:lstStyle/>
          <a:p>
            <a:pPr algn="ctr"/>
            <a:r>
              <a:rPr sz="1100" b="1">
                <a:solidFill>
                  <a:srgbClr val="1B6B2A"/>
                </a:solidFill>
                <a:latin typeface="Calibri"/>
              </a:rPr>
              <a:t>📐  ECUACIÓN: ba = Jeq·n·ωpos = 0.03957 N·m/(rad/s)   |   Ksa = Jeq·n·ω²pos = 31.656 N·m/rad   |   Ksia = Jeq·ω³pos = 10129.78 N·m/(rad·s)</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p:sp>
        <p:nvSpPr>
          <p:cNvPr id="7" name="TextBox 6"/>
          <p:cNvSpPr txBox="1"/>
          <p:nvPr/>
        </p:nvSpPr>
        <p:spPr>
          <a:xfrm>
            <a:off x="365760" y="777240"/>
            <a:ext cx="7772400" cy="594360"/>
          </a:xfrm>
          <a:prstGeom prst="rect">
            <a:avLst/>
          </a:prstGeom>
          <a:noFill/>
        </p:spPr>
        <p:txBody>
          <a:bodyPr wrap="square">
            <a:spAutoFit/>
          </a:bodyPr>
          <a:lstStyle/>
          <a:p>
            <a:pPr algn="l"/>
            <a:r>
              <a:rPr sz="1400" b="0" i="0">
                <a:solidFill>
                  <a:srgbClr val="1A1A2E"/>
                </a:solidFill>
                <a:latin typeface="Calibri"/>
              </a:rPr>
              <a:t>El polinomio característico del sistema en lazo cerrado es de 3° orden. Se analiza el movimiento de los polos cuando Jeq varía con la carga:</a:t>
            </a:r>
          </a:p>
        </p:txBody>
      </p:sp>
      <p:graphicFrame>
        <p:nvGraphicFramePr>
          <p:cNvPr id="8" name="Table 7"/>
          <p:cNvGraphicFramePr>
            <a:graphicFrameLocks noGrp="1"/>
          </p:cNvGraphicFramePr>
          <p:nvPr/>
        </p:nvGraphicFramePr>
        <p:xfrm>
          <a:off x="365760" y="1444752"/>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sz="1200" b="1">
                          <a:solidFill>
                            <a:srgbClr val="FFFFFF"/>
                          </a:solidFill>
                          <a:latin typeface="Calibri"/>
                        </a:rPr>
                        <a:t>Condición Jeq</a:t>
                      </a:r>
                    </a:p>
                  </a:txBody>
                  <a:tcPr>
                    <a:solidFill>
                      <a:srgbClr val="1A3A6B"/>
                    </a:solidFill>
                  </a:tcPr>
                </a:tc>
                <a:tc>
                  <a:txBody>
                    <a:bodyPr/>
                    <a:lstStyle/>
                    <a:p>
                      <a:r>
                        <a:rPr sz="1200" b="1">
                          <a:solidFill>
                            <a:srgbClr val="FFFFFF"/>
                          </a:solidFill>
                          <a:latin typeface="Calibri"/>
                        </a:rPr>
                        <a:t>Jeq [kg·m²]</a:t>
                      </a:r>
                    </a:p>
                  </a:txBody>
                  <a:tcPr>
                    <a:solidFill>
                      <a:srgbClr val="1A3A6B"/>
                    </a:solidFill>
                  </a:tcPr>
                </a:tc>
                <a:tc>
                  <a:txBody>
                    <a:bodyPr/>
                    <a:lstStyle/>
                    <a:p>
                      <a:r>
                        <a:rPr sz="1200" b="1">
                          <a:solidFill>
                            <a:srgbClr val="FFFFFF"/>
                          </a:solidFill>
                          <a:latin typeface="Calibri"/>
                        </a:rPr>
                        <a:t>Polo 1 [rad/s]</a:t>
                      </a:r>
                    </a:p>
                  </a:txBody>
                  <a:tcPr>
                    <a:solidFill>
                      <a:srgbClr val="1A3A6B"/>
                    </a:solidFill>
                  </a:tcPr>
                </a:tc>
                <a:tc>
                  <a:txBody>
                    <a:bodyPr/>
                    <a:lstStyle/>
                    <a:p>
                      <a:r>
                        <a:rPr sz="1200" b="1">
                          <a:solidFill>
                            <a:srgbClr val="FFFFFF"/>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sz="1200">
                          <a:latin typeface="Calibri"/>
                        </a:rPr>
                        <a:t>Mínimo / Nominal  (ml=0)</a:t>
                      </a:r>
                    </a:p>
                  </a:txBody>
                  <a:tcPr/>
                </a:tc>
                <a:tc>
                  <a:txBody>
                    <a:bodyPr/>
                    <a:lstStyle/>
                    <a:p>
                      <a:r>
                        <a:rPr sz="120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a:latin typeface="Calibri"/>
                        </a:rPr>
                        <a:t>Máximo  (ml=1.5 kg)</a:t>
                      </a:r>
                    </a:p>
                  </a:txBody>
                  <a:tcPr>
                    <a:solidFill>
                      <a:srgbClr val="F0F4F8"/>
                    </a:solidFill>
                  </a:tcPr>
                </a:tc>
                <a:tc>
                  <a:txBody>
                    <a:bodyPr/>
                    <a:lstStyle/>
                    <a:p>
                      <a:r>
                        <a:rPr sz="120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p:sp>
        <p:nvSpPr>
          <p:cNvPr id="9" name="Rectangle 8"/>
          <p:cNvSpPr/>
          <p:nvPr/>
        </p:nvSpPr>
        <p:spPr>
          <a:xfrm>
            <a:off x="365760" y="3035808"/>
            <a:ext cx="7772400" cy="30175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4270248"/>
            <a:ext cx="7589520" cy="548640"/>
          </a:xfrm>
          <a:prstGeom prst="rect">
            <a:avLst/>
          </a:prstGeom>
          <a:noFill/>
        </p:spPr>
        <p:txBody>
          <a:bodyPr wrap="square">
            <a:spAutoFit/>
          </a:bodyPr>
          <a:lstStyle/>
          <a:p>
            <a:pPr algn="ctr"/>
            <a:r>
              <a:rPr sz="1100" b="1">
                <a:solidFill>
                  <a:srgbClr val="C35A00"/>
                </a:solidFill>
                <a:latin typeface="Calibri"/>
              </a:rPr>
              <a:t>🖼  FIGURA: Figura 37 — Diagrama de polos: lazo abierto (planta) vs. lazo de corriente vs. controlador PID externo
(obsérvese la separación de escalas de tiempo entre los tres lazos)</a:t>
            </a:r>
          </a:p>
        </p:txBody>
      </p:sp>
      <p:sp>
        <p:nvSpPr>
          <p:cNvPr id="11" name="TextBox 10"/>
          <p:cNvSpPr txBox="1"/>
          <p:nvPr/>
        </p:nvSpPr>
        <p:spPr>
          <a:xfrm>
            <a:off x="457200" y="4654296"/>
            <a:ext cx="7589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2" name="TextBox 11"/>
          <p:cNvSpPr txBox="1"/>
          <p:nvPr/>
        </p:nvSpPr>
        <p:spPr>
          <a:xfrm>
            <a:off x="8412480" y="1444752"/>
            <a:ext cx="3566160" cy="4114800"/>
          </a:xfrm>
          <a:prstGeom prst="rect">
            <a:avLst/>
          </a:prstGeom>
          <a:noFill/>
        </p:spPr>
        <p:txBody>
          <a:bodyPr wrap="square">
            <a:spAutoFit/>
          </a:bodyPr>
          <a:lstStyle/>
          <a:p>
            <a:r>
              <a:rPr sz="1350">
                <a:solidFill>
                  <a:srgbClr val="1A1A2E"/>
                </a:solidFill>
                <a:latin typeface="Calibri"/>
              </a:rPr>
              <a:t>Todos los polos tienen parte real negativa → sistema estable en todo el rango de operación</a:t>
            </a:r>
          </a:p>
          <a:p>
            <a:pPr>
              <a:spcBef>
                <a:spcPts val="400"/>
              </a:spcBef>
            </a:pPr>
            <a:r>
              <a:rPr sz="1350">
                <a:solidFill>
                  <a:srgbClr val="1A1A2E"/>
                </a:solidFill>
                <a:latin typeface="Calibri"/>
              </a:rPr>
              <a:t>Con mayor carga (mayor Jeq): los polos se acercan al eje imaginario → respuesta más lenta y con mayor amortiguamiento</a:t>
            </a:r>
          </a:p>
          <a:p>
            <a:pPr>
              <a:spcBef>
                <a:spcPts val="400"/>
              </a:spcBef>
            </a:pPr>
            <a:r>
              <a:rPr sz="1350">
                <a:solidFill>
                  <a:srgbClr val="1A1A2E"/>
                </a:solidFill>
                <a:latin typeface="Calibri"/>
              </a:rPr>
              <a:t>El lazo de corriente (~5000 rad/s) es ~6× más rápido que el PID (~800 rad/s) → hipótesis de cascada verificada</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365760" y="777240"/>
            <a:ext cx="7772400" cy="685800"/>
          </a:xfrm>
          <a:prstGeom prst="rect">
            <a:avLst/>
          </a:prstGeom>
          <a:noFill/>
        </p:spPr>
        <p:txBody>
          <a:bodyPr wrap="square">
            <a:spAutoFit/>
          </a:bodyPr>
          <a:lstStyle/>
          <a:p>
            <a:pPr algn="l"/>
            <a:r>
              <a:rPr sz="1400" b="0" i="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365760" y="153619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36192"/>
            <a:ext cx="7589520" cy="475488"/>
          </a:xfrm>
          <a:prstGeom prst="rect">
            <a:avLst/>
          </a:prstGeom>
          <a:noFill/>
        </p:spPr>
        <p:txBody>
          <a:bodyPr wrap="square">
            <a:spAutoFit/>
          </a:bodyPr>
          <a:lstStyle/>
          <a:p>
            <a:pPr algn="ctr"/>
            <a:r>
              <a:rPr sz="1100" b="1">
                <a:solidFill>
                  <a:srgbClr val="1B6B2A"/>
                </a:solidFill>
                <a:latin typeface="Calibri"/>
              </a:rPr>
              <a:t>📐  ECUACIÓN: θ*m(t) = r·q*(t)     |     ω*m(t) = r·q̇*(t)     [Ec. 71]</a:t>
            </a:r>
          </a:p>
        </p:txBody>
      </p:sp>
      <p:sp>
        <p:nvSpPr>
          <p:cNvPr id="10" name="TextBox 9"/>
          <p:cNvSpPr txBox="1"/>
          <p:nvPr/>
        </p:nvSpPr>
        <p:spPr>
          <a:xfrm>
            <a:off x="365760" y="2121408"/>
            <a:ext cx="7772400" cy="365760"/>
          </a:xfrm>
          <a:prstGeom prst="rect">
            <a:avLst/>
          </a:prstGeom>
          <a:noFill/>
        </p:spPr>
        <p:txBody>
          <a:bodyPr wrap="square">
            <a:spAutoFit/>
          </a:bodyPr>
          <a:lstStyle/>
          <a:p>
            <a:pPr algn="l"/>
            <a:r>
              <a:rPr sz="1400" b="1" i="0">
                <a:solidFill>
                  <a:srgbClr val="1A3A6B"/>
                </a:solidFill>
                <a:latin typeface="Calibri"/>
              </a:rPr>
              <a:t>Perfil trapezoidal de velocidad (consigna suavizada):</a:t>
            </a:r>
          </a:p>
        </p:txBody>
      </p:sp>
      <p:sp>
        <p:nvSpPr>
          <p:cNvPr id="11" name="TextBox 10"/>
          <p:cNvSpPr txBox="1"/>
          <p:nvPr/>
        </p:nvSpPr>
        <p:spPr>
          <a:xfrm>
            <a:off x="365760" y="2560320"/>
            <a:ext cx="7772400" cy="2560320"/>
          </a:xfrm>
          <a:prstGeom prst="rect">
            <a:avLst/>
          </a:prstGeom>
          <a:noFill/>
        </p:spPr>
        <p:txBody>
          <a:bodyPr wrap="square">
            <a:spAutoFit/>
          </a:bodyPr>
          <a:lstStyle/>
          <a:p>
            <a:r>
              <a:rPr sz="1350">
                <a:solidFill>
                  <a:srgbClr val="1A1A2E"/>
                </a:solidFill>
                <a:latin typeface="Calibri"/>
              </a:rPr>
              <a:t>La derivada de la consigna es interna al bloque de set-point → no amplifica ruido externo</a:t>
            </a:r>
          </a:p>
          <a:p>
            <a:pPr>
              <a:spcBef>
                <a:spcPts val="400"/>
              </a:spcBef>
            </a:pPr>
            <a:r>
              <a:rPr sz="1350">
                <a:solidFill>
                  <a:srgbClr val="1A1A2E"/>
                </a:solidFill>
                <a:latin typeface="Calibri"/>
              </a:rPr>
              <a:t>El perfil trapezoidal impone transiciones suaves de velocidad y aceleración</a:t>
            </a:r>
          </a:p>
          <a:p>
            <a:pPr>
              <a:spcBef>
                <a:spcPts val="400"/>
              </a:spcBef>
            </a:pPr>
            <a:r>
              <a:rPr sz="1350">
                <a:solidFill>
                  <a:srgbClr val="1A1A2E"/>
                </a:solidFill>
                <a:latin typeface="Calibri"/>
              </a:rPr>
              <a:t>Evita las exigencias dinámicas excesivas generadas por la consigna de posición trapezoidal directa</a:t>
            </a:r>
          </a:p>
          <a:p>
            <a:pPr>
              <a:spcBef>
                <a:spcPts val="400"/>
              </a:spcBef>
            </a:pPr>
            <a:r>
              <a:rPr sz="1350">
                <a:solidFill>
                  <a:srgbClr val="1A1A2E"/>
                </a:solidFill>
                <a:latin typeface="Calibri"/>
              </a:rPr>
              <a:t>Permite evaluar el desempeño en condiciones representativas de operación (1 revolución, rampas de 5 s)</a:t>
            </a:r>
          </a:p>
        </p:txBody>
      </p:sp>
      <p:sp>
        <p:nvSpPr>
          <p:cNvPr id="12" name="Rectangle 11"/>
          <p:cNvSpPr/>
          <p:nvPr/>
        </p:nvSpPr>
        <p:spPr>
          <a:xfrm>
            <a:off x="8412480" y="777240"/>
            <a:ext cx="356616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645920"/>
            <a:ext cx="3383279" cy="548640"/>
          </a:xfrm>
          <a:prstGeom prst="rect">
            <a:avLst/>
          </a:prstGeom>
          <a:noFill/>
        </p:spPr>
        <p:txBody>
          <a:bodyPr wrap="square">
            <a:spAutoFit/>
          </a:bodyPr>
          <a:lstStyle/>
          <a:p>
            <a:pPr algn="ctr"/>
            <a:r>
              <a:rPr sz="1100" b="1">
                <a:solidFill>
                  <a:srgbClr val="C35A00"/>
                </a:solidFill>
                <a:latin typeface="Calibri"/>
              </a:rPr>
              <a:t>🖼  FIGURA: Figura 39 — Diagrama de bloques Simulink del set-point de posición/velocidad</a:t>
            </a:r>
          </a:p>
        </p:txBody>
      </p:sp>
      <p:sp>
        <p:nvSpPr>
          <p:cNvPr id="14" name="TextBox 13"/>
          <p:cNvSpPr txBox="1"/>
          <p:nvPr/>
        </p:nvSpPr>
        <p:spPr>
          <a:xfrm>
            <a:off x="8503919" y="20299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8412480" y="3154680"/>
            <a:ext cx="3566160" cy="201168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503919" y="3886200"/>
            <a:ext cx="3383279" cy="548640"/>
          </a:xfrm>
          <a:prstGeom prst="rect">
            <a:avLst/>
          </a:prstGeom>
          <a:noFill/>
        </p:spPr>
        <p:txBody>
          <a:bodyPr wrap="square">
            <a:spAutoFit/>
          </a:bodyPr>
          <a:lstStyle/>
          <a:p>
            <a:pPr algn="ctr"/>
            <a:r>
              <a:rPr sz="1100" b="1">
                <a:solidFill>
                  <a:srgbClr val="C35A00"/>
                </a:solidFill>
                <a:latin typeface="Calibri"/>
              </a:rPr>
              <a:t>🖼  FIGURA: Figuras 41-42 — Consignas q*(t) articular y θ*m(t) del eje motor con perfil trapezoidal</a:t>
            </a:r>
          </a:p>
        </p:txBody>
      </p:sp>
      <p:sp>
        <p:nvSpPr>
          <p:cNvPr id="17" name="TextBox 16"/>
          <p:cNvSpPr txBox="1"/>
          <p:nvPr/>
        </p:nvSpPr>
        <p:spPr>
          <a:xfrm>
            <a:off x="8503919" y="427024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p:sp>
        <p:nvSpPr>
          <p:cNvPr id="7" name="TextBox 6"/>
          <p:cNvSpPr txBox="1"/>
          <p:nvPr/>
        </p:nvSpPr>
        <p:spPr>
          <a:xfrm>
            <a:off x="365760" y="777240"/>
            <a:ext cx="11430000" cy="658368"/>
          </a:xfrm>
          <a:prstGeom prst="rect">
            <a:avLst/>
          </a:prstGeom>
          <a:noFill/>
        </p:spPr>
        <p:txBody>
          <a:bodyPr wrap="square">
            <a:spAutoFit/>
          </a:bodyPr>
          <a:lstStyle/>
          <a:p>
            <a:pPr algn="l"/>
            <a:r>
              <a:rPr sz="1400" b="0" i="0">
                <a:solidFill>
                  <a:srgbClr val="1A1A2E"/>
                </a:solidFill>
                <a:latin typeface="Calibri"/>
              </a:rPr>
              <a:t>Solo se dispone del encoder de posición θm. Se diseña un observador asintótico de Luenberger sobre el subsistema mecánico de orden 2 (las corrientes y Ts se miden directamente):</a:t>
            </a:r>
          </a:p>
        </p:txBody>
      </p:sp>
      <p:sp>
        <p:nvSpPr>
          <p:cNvPr id="8" name="Rectangle 7"/>
          <p:cNvSpPr/>
          <p:nvPr/>
        </p:nvSpPr>
        <p:spPr>
          <a:xfrm>
            <a:off x="365760" y="1508760"/>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11247120" cy="475488"/>
          </a:xfrm>
          <a:prstGeom prst="rect">
            <a:avLst/>
          </a:prstGeom>
          <a:noFill/>
        </p:spPr>
        <p:txBody>
          <a:bodyPr wrap="square">
            <a:spAutoFit/>
          </a:bodyPr>
          <a:lstStyle/>
          <a:p>
            <a:pPr algn="ctr"/>
            <a:r>
              <a:rPr sz="1100" b="1">
                <a:solidFill>
                  <a:srgbClr val="1B6B2A"/>
                </a:solidFill>
                <a:latin typeface="Calibri"/>
              </a:rPr>
              <a:t>📐  ECUACIÓN: θ̃̇m = ω̃m + kθ·(θm − θ̃m)     [corrección de posición]     [Ec. 73a]</a:t>
            </a:r>
          </a:p>
        </p:txBody>
      </p:sp>
      <p:sp>
        <p:nvSpPr>
          <p:cNvPr id="10" name="Rectangle 9"/>
          <p:cNvSpPr/>
          <p:nvPr/>
        </p:nvSpPr>
        <p:spPr>
          <a:xfrm>
            <a:off x="365760" y="2048256"/>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2048256"/>
            <a:ext cx="11247120" cy="475488"/>
          </a:xfrm>
          <a:prstGeom prst="rect">
            <a:avLst/>
          </a:prstGeom>
          <a:noFill/>
        </p:spPr>
        <p:txBody>
          <a:bodyPr wrap="square">
            <a:spAutoFit/>
          </a:bodyPr>
          <a:lstStyle/>
          <a:p>
            <a:pPr algn="ctr"/>
            <a:r>
              <a:rPr sz="1100" b="1">
                <a:solidFill>
                  <a:srgbClr val="1B6B2A"/>
                </a:solidFill>
                <a:latin typeface="Calibri"/>
              </a:rPr>
              <a:t>📐  ECUACIÓN: ω̃̇m = T*'m/Jeq + kω·(θm − θ̃m)     [corrección de velocidad]     [Ec. 73b]</a:t>
            </a:r>
          </a:p>
        </p:txBody>
      </p:sp>
      <p:sp>
        <p:nvSpPr>
          <p:cNvPr id="12" name="Rectangle 11"/>
          <p:cNvSpPr/>
          <p:nvPr/>
        </p:nvSpPr>
        <p:spPr>
          <a:xfrm>
            <a:off x="365760" y="2587752"/>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87752"/>
            <a:ext cx="11247120" cy="475488"/>
          </a:xfrm>
          <a:prstGeom prst="rect">
            <a:avLst/>
          </a:prstGeom>
          <a:noFill/>
        </p:spPr>
        <p:txBody>
          <a:bodyPr wrap="square">
            <a:spAutoFit/>
          </a:bodyPr>
          <a:lstStyle/>
          <a:p>
            <a:pPr algn="ctr"/>
            <a:r>
              <a:rPr sz="1100" b="1">
                <a:solidFill>
                  <a:srgbClr val="1B6B2A"/>
                </a:solidFill>
                <a:latin typeface="Calibri"/>
              </a:rPr>
              <a:t>📐  ECUACIÓN: Dinámica del error:  ė(t) = (A − Ke·C)·e(t)     →     A' = [−kθ  1 ; −kω  0]</a:t>
            </a:r>
          </a:p>
        </p:txBody>
      </p:sp>
      <p:sp>
        <p:nvSpPr>
          <p:cNvPr id="14" name="Rectangle 13"/>
          <p:cNvSpPr/>
          <p:nvPr/>
        </p:nvSpPr>
        <p:spPr>
          <a:xfrm>
            <a:off x="365760" y="3127248"/>
            <a:ext cx="114300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127248"/>
            <a:ext cx="11247120" cy="502920"/>
          </a:xfrm>
          <a:prstGeom prst="rect">
            <a:avLst/>
          </a:prstGeom>
          <a:noFill/>
        </p:spPr>
        <p:txBody>
          <a:bodyPr wrap="square">
            <a:spAutoFit/>
          </a:bodyPr>
          <a:lstStyle/>
          <a:p>
            <a:pPr algn="ctr"/>
            <a:r>
              <a:rPr sz="1100" b="1">
                <a:solidFill>
                  <a:srgbClr val="1B6B2A"/>
                </a:solidFill>
                <a:latin typeface="Calibri"/>
              </a:rPr>
              <a:t>📐  ECUACIÓN: p(s) = s² + kθ·s + kω     →     polos deseados p₁,₂ = −3200 rad/s     →     kθ = 6400 rad/s,  kω = 1.024×10⁷ rad²/s²</a:t>
            </a:r>
          </a:p>
        </p:txBody>
      </p:sp>
      <p:sp>
        <p:nvSpPr>
          <p:cNvPr id="16" name="Rectangle 15"/>
          <p:cNvSpPr/>
          <p:nvPr/>
        </p:nvSpPr>
        <p:spPr>
          <a:xfrm>
            <a:off x="365760" y="3749039"/>
            <a:ext cx="5943600" cy="23317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40580"/>
            <a:ext cx="5760720" cy="548640"/>
          </a:xfrm>
          <a:prstGeom prst="rect">
            <a:avLst/>
          </a:prstGeom>
          <a:noFill/>
        </p:spPr>
        <p:txBody>
          <a:bodyPr wrap="square">
            <a:spAutoFit/>
          </a:bodyPr>
          <a:lstStyle/>
          <a:p>
            <a:pPr algn="ctr"/>
            <a:r>
              <a:rPr sz="1100" b="1">
                <a:solidFill>
                  <a:srgbClr val="C35A00"/>
                </a:solidFill>
                <a:latin typeface="Calibri"/>
              </a:rPr>
              <a:t>🖼  FIGURA: Figura 40 — Diagrama de bloques Simulink del observador de estado reducido</a:t>
            </a:r>
          </a:p>
        </p:txBody>
      </p:sp>
      <p:sp>
        <p:nvSpPr>
          <p:cNvPr id="18" name="TextBox 17"/>
          <p:cNvSpPr txBox="1"/>
          <p:nvPr/>
        </p:nvSpPr>
        <p:spPr>
          <a:xfrm>
            <a:off x="457200" y="5024628"/>
            <a:ext cx="5760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TextBox 18"/>
          <p:cNvSpPr txBox="1"/>
          <p:nvPr/>
        </p:nvSpPr>
        <p:spPr>
          <a:xfrm>
            <a:off x="6492240" y="3749039"/>
            <a:ext cx="5212080" cy="2331720"/>
          </a:xfrm>
          <a:prstGeom prst="rect">
            <a:avLst/>
          </a:prstGeom>
          <a:noFill/>
        </p:spPr>
        <p:txBody>
          <a:bodyPr wrap="square">
            <a:spAutoFit/>
          </a:bodyPr>
          <a:lstStyle/>
          <a:p>
            <a:r>
              <a:rPr sz="1350">
                <a:solidFill>
                  <a:srgbClr val="1A1A2E"/>
                </a:solidFill>
                <a:latin typeface="Calibri"/>
              </a:rPr>
              <a:t>Los polos del observador (−3200 rad/s) son 4× más rápidos que el PID (−800 rad/s) → converge antes de que el controlador actúe</a:t>
            </a:r>
          </a:p>
          <a:p>
            <a:pPr>
              <a:spcBef>
                <a:spcPts val="400"/>
              </a:spcBef>
            </a:pPr>
            <a:r>
              <a:rPr sz="1350" b="0">
                <a:solidFill>
                  <a:srgbClr val="C35A00"/>
                </a:solidFill>
                <a:latin typeface="Calibri"/>
              </a:rPr>
              <a:t>Limitación: sin acción integral → error estacionario frente a Tld constante → se corrige con observador aumentado</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Posición y velocidad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p:sp>
        <p:nvSpPr>
          <p:cNvPr id="7" name="TextBox 6"/>
          <p:cNvSpPr txBox="1"/>
          <p:nvPr/>
        </p:nvSpPr>
        <p:spPr>
          <a:xfrm>
            <a:off x="365760" y="777240"/>
            <a:ext cx="11430000" cy="384048"/>
          </a:xfrm>
          <a:prstGeom prst="rect">
            <a:avLst/>
          </a:prstGeom>
          <a:noFill/>
        </p:spPr>
        <p:txBody>
          <a:bodyPr wrap="square">
            <a:spAutoFit/>
          </a:bodyPr>
          <a:lstStyle/>
          <a:p>
            <a:pPr algn="l"/>
            <a:r>
              <a:rPr sz="1400" b="1" i="0">
                <a:solidFill>
                  <a:srgbClr val="1A3A6B"/>
                </a:solidFill>
                <a:latin typeface="Calibri"/>
              </a:rPr>
              <a:t>Consigna trapezoidal de posición (1 revolución, rampas de 5 s):</a:t>
            </a:r>
          </a:p>
        </p:txBody>
      </p:sp>
      <p:sp>
        <p:nvSpPr>
          <p:cNvPr id="8" name="Rectangle 7"/>
          <p:cNvSpPr/>
          <p:nvPr/>
        </p:nvSpPr>
        <p:spPr>
          <a:xfrm>
            <a:off x="36576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240280"/>
            <a:ext cx="5303520" cy="548640"/>
          </a:xfrm>
          <a:prstGeom prst="rect">
            <a:avLst/>
          </a:prstGeom>
          <a:noFill/>
        </p:spPr>
        <p:txBody>
          <a:bodyPr wrap="square">
            <a:spAutoFit/>
          </a:bodyPr>
          <a:lstStyle/>
          <a:p>
            <a:pPr algn="ctr"/>
            <a:r>
              <a:rPr sz="1100" b="1">
                <a:solidFill>
                  <a:srgbClr val="C35A00"/>
                </a:solidFill>
                <a:latin typeface="Calibri"/>
              </a:rPr>
              <a:t>🖼  FIGURA: Figuras 43-44 — θm(t): posición real vs. estimada vs. consigna
+ detalle del transitorio en t=5s (sobrepaso + oscilación amortiguada)</a:t>
            </a:r>
          </a:p>
        </p:txBody>
      </p:sp>
      <p:sp>
        <p:nvSpPr>
          <p:cNvPr id="10" name="TextBox 9"/>
          <p:cNvSpPr txBox="1"/>
          <p:nvPr/>
        </p:nvSpPr>
        <p:spPr>
          <a:xfrm>
            <a:off x="45720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234440"/>
            <a:ext cx="54864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240280"/>
            <a:ext cx="5303520" cy="548640"/>
          </a:xfrm>
          <a:prstGeom prst="rect">
            <a:avLst/>
          </a:prstGeom>
          <a:noFill/>
        </p:spPr>
        <p:txBody>
          <a:bodyPr wrap="square">
            <a:spAutoFit/>
          </a:bodyPr>
          <a:lstStyle/>
          <a:p>
            <a:pPr algn="ctr"/>
            <a:r>
              <a:rPr sz="1100" b="1">
                <a:solidFill>
                  <a:srgbClr val="C35A00"/>
                </a:solidFill>
                <a:latin typeface="Calibri"/>
              </a:rPr>
              <a:t>🖼  FIGURA: Figuras 45-46 — ωm(t): velocidad real vs. estimada vs. consigna
+ detalle transitorio en t=5s (sobrepico negativo + recuperación rápida)</a:t>
            </a:r>
          </a:p>
        </p:txBody>
      </p:sp>
      <p:sp>
        <p:nvSpPr>
          <p:cNvPr id="13" name="TextBox 12"/>
          <p:cNvSpPr txBox="1"/>
          <p:nvPr/>
        </p:nvSpPr>
        <p:spPr>
          <a:xfrm>
            <a:off x="6217920" y="26243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931920"/>
            <a:ext cx="11430000" cy="2286000"/>
          </a:xfrm>
          <a:prstGeom prst="rect">
            <a:avLst/>
          </a:prstGeom>
          <a:noFill/>
        </p:spPr>
        <p:txBody>
          <a:bodyPr wrap="square">
            <a:spAutoFit/>
          </a:bodyPr>
          <a:lstStyle/>
          <a:p>
            <a:r>
              <a:rPr sz="1350">
                <a:solidFill>
                  <a:srgbClr val="1A1A2E"/>
                </a:solidFill>
                <a:latin typeface="Calibri"/>
              </a:rPr>
              <a:t>Seguimiento de posición muy bueno: error mínimo en régimen permanente</a:t>
            </a:r>
          </a:p>
          <a:p>
            <a:pPr>
              <a:spcBef>
                <a:spcPts val="400"/>
              </a:spcBef>
            </a:pPr>
            <a:r>
              <a:rPr sz="1350">
                <a:solidFill>
                  <a:srgbClr val="1A1A2E"/>
                </a:solidFill>
                <a:latin typeface="Calibri"/>
              </a:rPr>
              <a:t>Velocidad: sobrepico transitorio más pronunciado (derivativa de la posición)</a:t>
            </a:r>
          </a:p>
          <a:p>
            <a:pPr>
              <a:spcBef>
                <a:spcPts val="400"/>
              </a:spcBef>
            </a:pPr>
            <a:r>
              <a:rPr sz="1350">
                <a:solidFill>
                  <a:srgbClr val="1A1A2E"/>
                </a:solidFill>
                <a:latin typeface="Calibri"/>
              </a:rPr>
              <a:t>El observador estima correctamente θm y ωm en ausencia de perturbaciones externas</a:t>
            </a:r>
          </a:p>
          <a:p>
            <a:pPr>
              <a:spcBef>
                <a:spcPts val="400"/>
              </a:spcBef>
            </a:pPr>
            <a:r>
              <a:rPr sz="1350">
                <a:solidFill>
                  <a:srgbClr val="1A1A2E"/>
                </a:solidFill>
                <a:latin typeface="Calibri"/>
              </a:rPr>
              <a:t>La señal estimada es prácticamente coincidente con la real</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Seguimiento de consigna — Variables eléctricas y limitaciones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58 / ~75</a:t>
            </a:r>
          </a:p>
        </p:txBody>
      </p:sp>
      <p:sp>
        <p:nvSpPr>
          <p:cNvPr id="7" name="Rectangle 6"/>
          <p:cNvSpPr/>
          <p:nvPr/>
        </p:nvSpPr>
        <p:spPr>
          <a:xfrm>
            <a:off x="365760" y="777240"/>
            <a:ext cx="114300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645920"/>
            <a:ext cx="11247120" cy="548640"/>
          </a:xfrm>
          <a:prstGeom prst="rect">
            <a:avLst/>
          </a:prstGeom>
          <a:noFill/>
        </p:spPr>
        <p:txBody>
          <a:bodyPr wrap="square">
            <a:spAutoFit/>
          </a:bodyPr>
          <a:lstStyle/>
          <a:p>
            <a:pPr algn="ctr"/>
            <a:r>
              <a:rPr sz="1100" b="1">
                <a:solidFill>
                  <a:srgbClr val="C35A00"/>
                </a:solidFill>
                <a:latin typeface="Calibri"/>
              </a:rPr>
              <a:t>🖼  FIGURA: Figuras 47-50 — Torque Tm(t), corrientes iabc(t), tensiones vabc(t), temperatura Ts°(t)
durante seguimiento de consigna trapezoidal de posición</a:t>
            </a:r>
          </a:p>
        </p:txBody>
      </p:sp>
      <p:sp>
        <p:nvSpPr>
          <p:cNvPr id="9" name="TextBox 8"/>
          <p:cNvSpPr txBox="1"/>
          <p:nvPr/>
        </p:nvSpPr>
        <p:spPr>
          <a:xfrm>
            <a:off x="457200" y="20299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200400"/>
          <a:ext cx="11430000" cy="2606040"/>
        </p:xfrm>
        <a:graphic>
          <a:graphicData uri="http://schemas.openxmlformats.org/drawingml/2006/table">
            <a:tbl>
              <a:tblPr firstRow="1" bandRow="1">
                <a:tableStyleId>{5C22544A-7EE6-4342-B048-85BDC9FD1C3A}</a:tableStyleId>
              </a:tblPr>
              <a:tblGrid>
                <a:gridCol w="237744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103120">
                  <a:extLst>
                    <a:ext uri="{9D8B030D-6E8A-4147-A177-3AD203B41FA5}">
                      <a16:colId xmlns:a16="http://schemas.microsoft.com/office/drawing/2014/main" val="20003"/>
                    </a:ext>
                  </a:extLst>
                </a:gridCol>
                <a:gridCol w="3200400">
                  <a:extLst>
                    <a:ext uri="{9D8B030D-6E8A-4147-A177-3AD203B41FA5}">
                      <a16:colId xmlns:a16="http://schemas.microsoft.com/office/drawing/2014/main" val="20004"/>
                    </a:ext>
                  </a:extLst>
                </a:gridCol>
              </a:tblGrid>
              <a:tr h="434340">
                <a:tc>
                  <a:txBody>
                    <a:bodyPr/>
                    <a:lstStyle/>
                    <a:p>
                      <a:r>
                        <a:rPr sz="1200" b="1">
                          <a:solidFill>
                            <a:srgbClr val="FFFFFF"/>
                          </a:solidFill>
                          <a:latin typeface="Calibri"/>
                        </a:rPr>
                        <a:t>Variable</a:t>
                      </a:r>
                    </a:p>
                  </a:txBody>
                  <a:tcPr>
                    <a:solidFill>
                      <a:srgbClr val="1A3A6B"/>
                    </a:solidFill>
                  </a:tcPr>
                </a:tc>
                <a:tc>
                  <a:txBody>
                    <a:bodyPr/>
                    <a:lstStyle/>
                    <a:p>
                      <a:r>
                        <a:rPr sz="1200" b="1">
                          <a:solidFill>
                            <a:srgbClr val="FFFFFF"/>
                          </a:solidFill>
                          <a:latin typeface="Calibri"/>
                        </a:rPr>
                        <a:t>Espec. continuo</a:t>
                      </a:r>
                    </a:p>
                  </a:txBody>
                  <a:tcPr>
                    <a:solidFill>
                      <a:srgbClr val="1A3A6B"/>
                    </a:solidFill>
                  </a:tcPr>
                </a:tc>
                <a:tc>
                  <a:txBody>
                    <a:bodyPr/>
                    <a:lstStyle/>
                    <a:p>
                      <a:r>
                        <a:rPr sz="1200" b="1">
                          <a:solidFill>
                            <a:srgbClr val="FFFFFF"/>
                          </a:solidFill>
                          <a:latin typeface="Calibri"/>
                        </a:rPr>
                        <a:t>Espec. pico</a:t>
                      </a:r>
                    </a:p>
                  </a:txBody>
                  <a:tcPr>
                    <a:solidFill>
                      <a:srgbClr val="1A3A6B"/>
                    </a:solidFill>
                  </a:tcPr>
                </a:tc>
                <a:tc>
                  <a:txBody>
                    <a:bodyPr/>
                    <a:lstStyle/>
                    <a:p>
                      <a:r>
                        <a:rPr sz="1200" b="1">
                          <a:solidFill>
                            <a:srgbClr val="FFFFFF"/>
                          </a:solidFill>
                          <a:latin typeface="Calibri"/>
                        </a:rPr>
                        <a:t>Sim. continuo</a:t>
                      </a:r>
                    </a:p>
                  </a:txBody>
                  <a:tcPr>
                    <a:solidFill>
                      <a:srgbClr val="1A3A6B"/>
                    </a:solidFill>
                  </a:tcPr>
                </a:tc>
                <a:tc>
                  <a:txBody>
                    <a:bodyPr/>
                    <a:lstStyle/>
                    <a:p>
                      <a:r>
                        <a:rPr sz="1200" b="1">
                          <a:solidFill>
                            <a:srgbClr val="FFFFFF"/>
                          </a:solidFill>
                          <a:latin typeface="Calibri"/>
                        </a:rPr>
                        <a:t>Sim. pico</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Torque (caja)</a:t>
                      </a:r>
                    </a:p>
                  </a:txBody>
                  <a:tcPr/>
                </a:tc>
                <a:tc>
                  <a:txBody>
                    <a:bodyPr/>
                    <a:lstStyle/>
                    <a:p>
                      <a:r>
                        <a:rPr sz="1200">
                          <a:latin typeface="Calibri"/>
                        </a:rPr>
                        <a:t>17.0 N·m</a:t>
                      </a:r>
                    </a:p>
                  </a:txBody>
                  <a:tcPr/>
                </a:tc>
                <a:tc>
                  <a:txBody>
                    <a:bodyPr/>
                    <a:lstStyle/>
                    <a:p>
                      <a:r>
                        <a:rPr sz="1200">
                          <a:latin typeface="Calibri"/>
                        </a:rPr>
                        <a:t>45.0 N·m</a:t>
                      </a:r>
                    </a:p>
                  </a:txBody>
                  <a:tcPr/>
                </a:tc>
                <a:tc>
                  <a:txBody>
                    <a:bodyPr/>
                    <a:lstStyle/>
                    <a:p>
                      <a:r>
                        <a:rPr sz="1200">
                          <a:latin typeface="Calibri"/>
                        </a:rPr>
                        <a:t>0.039 N·m</a:t>
                      </a:r>
                    </a:p>
                  </a:txBody>
                  <a:tcPr/>
                </a:tc>
                <a:tc>
                  <a:txBody>
                    <a:bodyPr/>
                    <a:lstStyle/>
                    <a:p>
                      <a:r>
                        <a:rPr sz="1200">
                          <a:latin typeface="Calibri"/>
                        </a:rPr>
                        <a:t>5.011 N·m ✓</a:t>
                      </a:r>
                    </a:p>
                  </a:txBody>
                  <a:tcPr/>
                </a:tc>
                <a:extLst>
                  <a:ext uri="{0D108BD9-81ED-4DB2-BD59-A6C34878D82A}">
                    <a16:rowId xmlns:a16="http://schemas.microsoft.com/office/drawing/2014/main" val="10001"/>
                  </a:ext>
                </a:extLst>
              </a:tr>
              <a:tr h="434340">
                <a:tc>
                  <a:txBody>
                    <a:bodyPr/>
                    <a:lstStyle/>
                    <a:p>
                      <a:r>
                        <a:rPr sz="1200">
                          <a:latin typeface="Calibri"/>
                        </a:rPr>
                        <a:t>Vel. angular (caja)</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6.28 rad/s</a:t>
                      </a:r>
                    </a:p>
                  </a:txBody>
                  <a:tcPr>
                    <a:solidFill>
                      <a:srgbClr val="F0F4F8"/>
                    </a:solidFill>
                  </a:tcPr>
                </a:tc>
                <a:tc>
                  <a:txBody>
                    <a:bodyPr/>
                    <a:lstStyle/>
                    <a:p>
                      <a:r>
                        <a:rPr sz="1200">
                          <a:latin typeface="Calibri"/>
                        </a:rPr>
                        <a:t>1.00 rad/s</a:t>
                      </a:r>
                    </a:p>
                  </a:txBody>
                  <a:tcPr>
                    <a:solidFill>
                      <a:srgbClr val="F0F4F8"/>
                    </a:solidFill>
                  </a:tcPr>
                </a:tc>
                <a:tc>
                  <a:txBody>
                    <a:bodyPr/>
                    <a:lstStyle/>
                    <a:p>
                      <a:r>
                        <a:rPr sz="1200">
                          <a:latin typeface="Calibri"/>
                        </a:rPr>
                        <a:t>1.595 rad/s ✓</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Vel. angular (motor)</a:t>
                      </a:r>
                    </a:p>
                  </a:txBody>
                  <a:tcPr/>
                </a:tc>
                <a:tc>
                  <a:txBody>
                    <a:bodyPr/>
                    <a:lstStyle/>
                    <a:p>
                      <a:r>
                        <a:rPr sz="1200">
                          <a:latin typeface="Calibri"/>
                        </a:rPr>
                        <a:t>691 rad/s</a:t>
                      </a:r>
                    </a:p>
                  </a:txBody>
                  <a:tcPr/>
                </a:tc>
                <a:tc>
                  <a:txBody>
                    <a:bodyPr/>
                    <a:lstStyle/>
                    <a:p>
                      <a:r>
                        <a:rPr sz="1200">
                          <a:latin typeface="Calibri"/>
                        </a:rPr>
                        <a:t>691 rad/s</a:t>
                      </a:r>
                    </a:p>
                  </a:txBody>
                  <a:tcPr/>
                </a:tc>
                <a:tc>
                  <a:txBody>
                    <a:bodyPr/>
                    <a:lstStyle/>
                    <a:p>
                      <a:r>
                        <a:rPr sz="1200">
                          <a:latin typeface="Calibri"/>
                        </a:rPr>
                        <a:t>120 rad/s</a:t>
                      </a:r>
                    </a:p>
                  </a:txBody>
                  <a:tcPr/>
                </a:tc>
                <a:tc>
                  <a:txBody>
                    <a:bodyPr/>
                    <a:lstStyle/>
                    <a:p>
                      <a:r>
                        <a:rPr sz="1200">
                          <a:latin typeface="Calibri"/>
                        </a:rPr>
                        <a:t>191.4 rad/s ✓</a:t>
                      </a:r>
                    </a:p>
                  </a:txBody>
                  <a:tcPr/>
                </a:tc>
                <a:extLst>
                  <a:ext uri="{0D108BD9-81ED-4DB2-BD59-A6C34878D82A}">
                    <a16:rowId xmlns:a16="http://schemas.microsoft.com/office/drawing/2014/main" val="10003"/>
                  </a:ext>
                </a:extLst>
              </a:tr>
              <a:tr h="434340">
                <a:tc>
                  <a:txBody>
                    <a:bodyPr/>
                    <a:lstStyle/>
                    <a:p>
                      <a:r>
                        <a:rPr sz="1200">
                          <a:latin typeface="Calibri"/>
                        </a:rPr>
                        <a:t>Corriente (estator)</a:t>
                      </a:r>
                    </a:p>
                  </a:txBody>
                  <a:tcPr>
                    <a:solidFill>
                      <a:srgbClr val="F0F4F8"/>
                    </a:solidFill>
                  </a:tcPr>
                </a:tc>
                <a:tc>
                  <a:txBody>
                    <a:bodyPr/>
                    <a:lstStyle/>
                    <a:p>
                      <a:r>
                        <a:rPr sz="1200">
                          <a:latin typeface="Calibri"/>
                        </a:rPr>
                        <a:t>0.4 A</a:t>
                      </a:r>
                    </a:p>
                  </a:txBody>
                  <a:tcPr>
                    <a:solidFill>
                      <a:srgbClr val="F0F4F8"/>
                    </a:solidFill>
                  </a:tcPr>
                </a:tc>
                <a:tc>
                  <a:txBody>
                    <a:bodyPr/>
                    <a:lstStyle/>
                    <a:p>
                      <a:r>
                        <a:rPr sz="1200">
                          <a:latin typeface="Calibri"/>
                        </a:rPr>
                        <a:t>2.0 A</a:t>
                      </a:r>
                    </a:p>
                  </a:txBody>
                  <a:tcPr>
                    <a:solidFill>
                      <a:srgbClr val="F0F4F8"/>
                    </a:solidFill>
                  </a:tcPr>
                </a:tc>
                <a:tc>
                  <a:txBody>
                    <a:bodyPr/>
                    <a:lstStyle/>
                    <a:p>
                      <a:r>
                        <a:rPr sz="1200">
                          <a:latin typeface="Calibri"/>
                        </a:rPr>
                        <a:t>0.541 A</a:t>
                      </a:r>
                    </a:p>
                  </a:txBody>
                  <a:tcPr>
                    <a:solidFill>
                      <a:srgbClr val="F0F4F8"/>
                    </a:solidFill>
                  </a:tcPr>
                </a:tc>
                <a:tc>
                  <a:txBody>
                    <a:bodyPr/>
                    <a:lstStyle/>
                    <a:p>
                      <a:r>
                        <a:rPr sz="1200">
                          <a:latin typeface="Calibri"/>
                        </a:rPr>
                        <a:t>72.5 A  ✗</a:t>
                      </a:r>
                    </a:p>
                  </a:txBody>
                  <a:tcPr>
                    <a:solidFill>
                      <a:srgbClr val="F0F4F8"/>
                    </a:solidFill>
                  </a:tcPr>
                </a:tc>
                <a:extLst>
                  <a:ext uri="{0D108BD9-81ED-4DB2-BD59-A6C34878D82A}">
                    <a16:rowId xmlns:a16="http://schemas.microsoft.com/office/drawing/2014/main" val="10004"/>
                  </a:ext>
                </a:extLst>
              </a:tr>
              <a:tr h="434340">
                <a:tc>
                  <a:txBody>
                    <a:bodyPr/>
                    <a:lstStyle/>
                    <a:p>
                      <a:r>
                        <a:rPr sz="1200">
                          <a:latin typeface="Calibri"/>
                        </a:rPr>
                        <a:t>Tensión de fase</a:t>
                      </a:r>
                    </a:p>
                  </a:txBody>
                  <a:tcPr/>
                </a:tc>
                <a:tc>
                  <a:txBody>
                    <a:bodyPr/>
                    <a:lstStyle/>
                    <a:p>
                      <a:r>
                        <a:rPr sz="1200">
                          <a:latin typeface="Calibri"/>
                        </a:rPr>
                        <a:t>30 V</a:t>
                      </a:r>
                    </a:p>
                  </a:txBody>
                  <a:tcPr/>
                </a:tc>
                <a:tc>
                  <a:txBody>
                    <a:bodyPr/>
                    <a:lstStyle/>
                    <a:p>
                      <a:r>
                        <a:rPr sz="1200">
                          <a:latin typeface="Calibri"/>
                        </a:rPr>
                        <a:t>48 V</a:t>
                      </a:r>
                    </a:p>
                  </a:txBody>
                  <a:tcPr/>
                </a:tc>
                <a:tc>
                  <a:txBody>
                    <a:bodyPr/>
                    <a:lstStyle/>
                    <a:p>
                      <a:r>
                        <a:rPr sz="1200">
                          <a:latin typeface="Calibri"/>
                        </a:rPr>
                        <a:t>5.07 V</a:t>
                      </a:r>
                    </a:p>
                  </a:txBody>
                  <a:tcPr/>
                </a:tc>
                <a:tc>
                  <a:txBody>
                    <a:bodyPr/>
                    <a:lstStyle/>
                    <a:p>
                      <a:r>
                        <a:rPr sz="1200">
                          <a:latin typeface="Calibri"/>
                        </a:rPr>
                        <a:t>1972 V  ✗</a:t>
                      </a:r>
                    </a:p>
                  </a:txBody>
                  <a:tcPr/>
                </a:tc>
                <a:extLst>
                  <a:ext uri="{0D108BD9-81ED-4DB2-BD59-A6C34878D82A}">
                    <a16:rowId xmlns:a16="http://schemas.microsoft.com/office/drawing/2014/main" val="10005"/>
                  </a:ext>
                </a:extLst>
              </a:tr>
            </a:tbl>
          </a:graphicData>
        </a:graphic>
      </p:graphicFrame>
      <p:sp>
        <p:nvSpPr>
          <p:cNvPr id="11" name="Rectangle 10"/>
          <p:cNvSpPr/>
          <p:nvPr/>
        </p:nvSpPr>
        <p:spPr>
          <a:xfrm>
            <a:off x="365760" y="5925312"/>
            <a:ext cx="11430000" cy="658368"/>
          </a:xfrm>
          <a:prstGeom prst="rect">
            <a:avLst/>
          </a:prstGeom>
          <a:solidFill>
            <a:srgbClr val="FFF3E0"/>
          </a:solidFill>
          <a:ln w="1270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02920" y="5971032"/>
            <a:ext cx="11155680" cy="566928"/>
          </a:xfrm>
          <a:prstGeom prst="rect">
            <a:avLst/>
          </a:prstGeom>
          <a:noFill/>
        </p:spPr>
        <p:txBody>
          <a:bodyPr wrap="square">
            <a:spAutoFit/>
          </a:bodyPr>
          <a:lstStyle/>
          <a:p>
            <a:pPr algn="l"/>
            <a:r>
              <a:rPr sz="1300">
                <a:solidFill>
                  <a:srgbClr val="1A3A6B"/>
                </a:solidFill>
                <a:latin typeface="Calibri"/>
              </a:rPr>
              <a:t>⚠  Los valores pico de corriente (72.5 A &gt;&gt; 2.0 A) y tensión (1972 V &gt;&gt; 48 V) superan ampliamente los límites. La consigna trapezoidal de posición brusca no es apta para el sistema real. Solución: usar consigna de velocidad trapezoidal suavizada.</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aplica un escalón de par resistente Tld = −5 N·m en t=5s y luego +5 N·m en t=10s (cambio de signo — condición más exigente que involucra frenado activo del sistema).</a:t>
            </a:r>
          </a:p>
        </p:txBody>
      </p:sp>
      <p:sp>
        <p:nvSpPr>
          <p:cNvPr id="8" name="Rectangle 7"/>
          <p:cNvSpPr/>
          <p:nvPr/>
        </p:nvSpPr>
        <p:spPr>
          <a:xfrm>
            <a:off x="365760" y="1444752"/>
            <a:ext cx="41148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3931920" cy="548640"/>
          </a:xfrm>
          <a:prstGeom prst="rect">
            <a:avLst/>
          </a:prstGeom>
          <a:noFill/>
        </p:spPr>
        <p:txBody>
          <a:bodyPr wrap="square">
            <a:spAutoFit/>
          </a:bodyPr>
          <a:lstStyle/>
          <a:p>
            <a:pPr algn="ctr"/>
            <a:r>
              <a:rPr sz="1100" b="1">
                <a:solidFill>
                  <a:srgbClr val="C35A00"/>
                </a:solidFill>
                <a:latin typeface="Calibri"/>
              </a:rPr>
              <a:t>🖼  FIGURA: Figura 51 — Perfil de perturbación Tld(t)</a:t>
            </a:r>
          </a:p>
        </p:txBody>
      </p:sp>
      <p:sp>
        <p:nvSpPr>
          <p:cNvPr id="10" name="TextBox 9"/>
          <p:cNvSpPr txBox="1"/>
          <p:nvPr/>
        </p:nvSpPr>
        <p:spPr>
          <a:xfrm>
            <a:off x="457200" y="2697480"/>
            <a:ext cx="39319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754880" y="1444752"/>
            <a:ext cx="713232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46320" y="2313432"/>
            <a:ext cx="6949440" cy="548640"/>
          </a:xfrm>
          <a:prstGeom prst="rect">
            <a:avLst/>
          </a:prstGeom>
          <a:noFill/>
        </p:spPr>
        <p:txBody>
          <a:bodyPr wrap="square">
            <a:spAutoFit/>
          </a:bodyPr>
          <a:lstStyle/>
          <a:p>
            <a:pPr algn="ctr"/>
            <a:r>
              <a:rPr sz="1100" b="1">
                <a:solidFill>
                  <a:srgbClr val="C35A00"/>
                </a:solidFill>
                <a:latin typeface="Calibri"/>
              </a:rPr>
              <a:t>🖼  FIGURA: Figura 52 — Respuesta de θm(t) con error de estado estacionario frente a Tld</a:t>
            </a:r>
          </a:p>
        </p:txBody>
      </p:sp>
      <p:sp>
        <p:nvSpPr>
          <p:cNvPr id="13" name="TextBox 12"/>
          <p:cNvSpPr txBox="1"/>
          <p:nvPr/>
        </p:nvSpPr>
        <p:spPr>
          <a:xfrm>
            <a:off x="4846320" y="2697480"/>
            <a:ext cx="694944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3858768"/>
            <a:ext cx="11430000" cy="347472"/>
          </a:xfrm>
          <a:prstGeom prst="rect">
            <a:avLst/>
          </a:prstGeom>
          <a:noFill/>
        </p:spPr>
        <p:txBody>
          <a:bodyPr wrap="square">
            <a:spAutoFit/>
          </a:bodyPr>
          <a:lstStyle/>
          <a:p>
            <a:pPr algn="l"/>
            <a:r>
              <a:rPr sz="1400" b="1" i="0">
                <a:solidFill>
                  <a:srgbClr val="1A3A6B"/>
                </a:solidFill>
                <a:latin typeface="Calibri"/>
              </a:rPr>
              <a:t>Análisis de resultados:</a:t>
            </a:r>
          </a:p>
        </p:txBody>
      </p:sp>
      <p:sp>
        <p:nvSpPr>
          <p:cNvPr id="15" name="TextBox 14"/>
          <p:cNvSpPr txBox="1"/>
          <p:nvPr/>
        </p:nvSpPr>
        <p:spPr>
          <a:xfrm>
            <a:off x="365760" y="4270248"/>
            <a:ext cx="11430000" cy="2331720"/>
          </a:xfrm>
          <a:prstGeom prst="rect">
            <a:avLst/>
          </a:prstGeom>
          <a:noFill/>
        </p:spPr>
        <p:txBody>
          <a:bodyPr wrap="square">
            <a:spAutoFit/>
          </a:bodyPr>
          <a:lstStyle/>
          <a:p>
            <a:r>
              <a:rPr sz="1350">
                <a:solidFill>
                  <a:srgbClr val="1A1A2E"/>
                </a:solidFill>
                <a:latin typeface="Calibri"/>
              </a:rPr>
              <a:t>El controlador compensa eficazmente la variación de carga — el error transitorio es acotado y rápidamente amortiguado</a:t>
            </a:r>
          </a:p>
          <a:p>
            <a:pPr>
              <a:spcBef>
                <a:spcPts val="400"/>
              </a:spcBef>
            </a:pPr>
            <a:r>
              <a:rPr sz="1350">
                <a:solidFill>
                  <a:srgbClr val="1A1A2E"/>
                </a:solidFill>
                <a:latin typeface="Calibri"/>
              </a:rPr>
              <a:t>Aparece un error de estado estacionario frente a Tld constante — el observador básico no tiene acción integral</a:t>
            </a:r>
          </a:p>
          <a:p>
            <a:pPr>
              <a:spcBef>
                <a:spcPts val="400"/>
              </a:spcBef>
            </a:pPr>
            <a:r>
              <a:rPr sz="1350">
                <a:solidFill>
                  <a:srgbClr val="1A1A2E"/>
                </a:solidFill>
                <a:latin typeface="Calibri"/>
              </a:rPr>
              <a:t>La señal estimada sigue consistentemente la posición real sin discrepancias significativas</a:t>
            </a:r>
          </a:p>
          <a:p>
            <a:pPr>
              <a:spcBef>
                <a:spcPts val="400"/>
              </a:spcBef>
            </a:pPr>
            <a:r>
              <a:rPr sz="1350">
                <a:solidFill>
                  <a:srgbClr val="1A1A2E"/>
                </a:solidFill>
                <a:latin typeface="Calibri"/>
              </a:rPr>
              <a:t>El instante t=10s (cambio de signo de la carga) genera el transitorio más exigente</a:t>
            </a:r>
          </a:p>
          <a:p>
            <a:pPr>
              <a:spcBef>
                <a:spcPts val="400"/>
              </a:spcBef>
            </a:pPr>
            <a:r>
              <a:rPr sz="1350" b="0">
                <a:solidFill>
                  <a:srgbClr val="C35A00"/>
                </a:solidFill>
                <a:latin typeface="Calibri"/>
              </a:rPr>
              <a:t>→  Solución: incorporar acción integral al observador para eliminar el error estacionario (Sección 4.5.2)</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Reemplazando la consigna de posición trapezoidal brusca por un perfil de velocidad trapezoidal suavizado, se obtienen transitorios compatibles con los límites físicos del sistema:</a:t>
            </a:r>
          </a:p>
        </p:txBody>
      </p:sp>
      <p:sp>
        <p:nvSpPr>
          <p:cNvPr id="8" name="Rectangle 7"/>
          <p:cNvSpPr/>
          <p:nvPr/>
        </p:nvSpPr>
        <p:spPr>
          <a:xfrm>
            <a:off x="36576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313432"/>
            <a:ext cx="5303520" cy="548640"/>
          </a:xfrm>
          <a:prstGeom prst="rect">
            <a:avLst/>
          </a:prstGeom>
          <a:noFill/>
        </p:spPr>
        <p:txBody>
          <a:bodyPr wrap="square">
            <a:spAutoFit/>
          </a:bodyPr>
          <a:lstStyle/>
          <a:p>
            <a:pPr algn="ctr"/>
            <a:r>
              <a:rPr sz="1100" b="1">
                <a:solidFill>
                  <a:srgbClr val="C35A00"/>
                </a:solidFill>
                <a:latin typeface="Calibri"/>
              </a:rPr>
              <a:t>🖼  FIGURA: Figuras 53-54 — Perfil de velocidad ωm*(t) y seguimiento de velocidad angular</a:t>
            </a:r>
          </a:p>
        </p:txBody>
      </p:sp>
      <p:sp>
        <p:nvSpPr>
          <p:cNvPr id="10" name="TextBox 9"/>
          <p:cNvSpPr txBox="1"/>
          <p:nvPr/>
        </p:nvSpPr>
        <p:spPr>
          <a:xfrm>
            <a:off x="45720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6126480" y="1444752"/>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217920" y="2313432"/>
            <a:ext cx="5303520" cy="548640"/>
          </a:xfrm>
          <a:prstGeom prst="rect">
            <a:avLst/>
          </a:prstGeom>
          <a:noFill/>
        </p:spPr>
        <p:txBody>
          <a:bodyPr wrap="square">
            <a:spAutoFit/>
          </a:bodyPr>
          <a:lstStyle/>
          <a:p>
            <a:pPr algn="ctr"/>
            <a:r>
              <a:rPr sz="1100" b="1">
                <a:solidFill>
                  <a:srgbClr val="C35A00"/>
                </a:solidFill>
                <a:latin typeface="Calibri"/>
              </a:rPr>
              <a:t>🖼  FIGURA: Figuras 55-58 — θm(t), detalle posición, Tm(t), iabc(t)</a:t>
            </a:r>
          </a:p>
        </p:txBody>
      </p:sp>
      <p:sp>
        <p:nvSpPr>
          <p:cNvPr id="13" name="TextBox 12"/>
          <p:cNvSpPr txBox="1"/>
          <p:nvPr/>
        </p:nvSpPr>
        <p:spPr>
          <a:xfrm>
            <a:off x="6217920" y="2697480"/>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365760" y="3840480"/>
            <a:ext cx="11430000" cy="21945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4663440"/>
            <a:ext cx="11247120" cy="548640"/>
          </a:xfrm>
          <a:prstGeom prst="rect">
            <a:avLst/>
          </a:prstGeom>
          <a:noFill/>
        </p:spPr>
        <p:txBody>
          <a:bodyPr wrap="square">
            <a:spAutoFit/>
          </a:bodyPr>
          <a:lstStyle/>
          <a:p>
            <a:pPr algn="ctr"/>
            <a:r>
              <a:rPr sz="1100" b="1">
                <a:solidFill>
                  <a:srgbClr val="C35A00"/>
                </a:solidFill>
                <a:latin typeface="Calibri"/>
              </a:rPr>
              <a:t>🖼  FIGURA: Figuras 59-60 — Tensiones vabc(t) y temperatura Ts°(t)
Ts &lt; 41°C (fue 56°C con consigna trapezoidal de posición)</a:t>
            </a:r>
          </a:p>
        </p:txBody>
      </p:sp>
      <p:sp>
        <p:nvSpPr>
          <p:cNvPr id="16" name="TextBox 15"/>
          <p:cNvSpPr txBox="1"/>
          <p:nvPr/>
        </p:nvSpPr>
        <p:spPr>
          <a:xfrm>
            <a:off x="457200" y="504748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Para anular el error de estado estacionario ante perturbaciones Tld constantes, se incorpora una variable de estado xI(t) que integra el error de estimación: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ẋI(t) = θm(t) − θ̃m(t)     (integración del error de estimación de posición)</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uI(t) = Jeq·ki·xI(t)     (acción integral sobre la dinámica del observador)</a:t>
            </a:r>
          </a:p>
        </p:txBody>
      </p:sp>
      <p:sp>
        <p:nvSpPr>
          <p:cNvPr id="12" name="Rectangle 11"/>
          <p:cNvSpPr/>
          <p:nvPr/>
        </p:nvSpPr>
        <p:spPr>
          <a:xfrm>
            <a:off x="365760" y="2523744"/>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7200" y="2523744"/>
            <a:ext cx="7589520" cy="475488"/>
          </a:xfrm>
          <a:prstGeom prst="rect">
            <a:avLst/>
          </a:prstGeom>
          <a:noFill/>
        </p:spPr>
        <p:txBody>
          <a:bodyPr wrap="square">
            <a:spAutoFit/>
          </a:bodyPr>
          <a:lstStyle/>
          <a:p>
            <a:pPr algn="ctr"/>
            <a:r>
              <a:rPr sz="1100" b="1">
                <a:solidFill>
                  <a:srgbClr val="1B6B2A"/>
                </a:solidFill>
                <a:latin typeface="Calibri"/>
              </a:rPr>
              <a:t>📐  ECUACIÓN: Polos deseados: p₁,₂,₃ = −3200 rad/s     →     pd(s) = (s+3200)³</a:t>
            </a:r>
          </a:p>
        </p:txBody>
      </p:sp>
      <p:sp>
        <p:nvSpPr>
          <p:cNvPr id="14" name="Rectangle 13"/>
          <p:cNvSpPr/>
          <p:nvPr/>
        </p:nvSpPr>
        <p:spPr>
          <a:xfrm>
            <a:off x="365760" y="306324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457200" y="3063240"/>
            <a:ext cx="7589520" cy="475488"/>
          </a:xfrm>
          <a:prstGeom prst="rect">
            <a:avLst/>
          </a:prstGeom>
          <a:noFill/>
        </p:spPr>
        <p:txBody>
          <a:bodyPr wrap="square">
            <a:spAutoFit/>
          </a:bodyPr>
          <a:lstStyle/>
          <a:p>
            <a:pPr algn="ctr"/>
            <a:r>
              <a:rPr sz="1100" b="1">
                <a:solidFill>
                  <a:srgbClr val="1B6B2A"/>
                </a:solidFill>
                <a:latin typeface="Calibri"/>
              </a:rPr>
              <a:t>📐  ECUACIÓN: kθ = 9600 rad/s   |   kω = 3.072×10⁷ rad²/s²   |   ki = 3.277×10¹⁰ rad³/s³</a:t>
            </a:r>
          </a:p>
        </p:txBody>
      </p:sp>
      <p:sp>
        <p:nvSpPr>
          <p:cNvPr id="16" name="Rectangle 15"/>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61 — Diagrama de bloques del observador aumentado con acción integral</a:t>
            </a:r>
          </a:p>
        </p:txBody>
      </p:sp>
      <p:sp>
        <p:nvSpPr>
          <p:cNvPr id="18" name="TextBox 17"/>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9" name="Rectangle 18"/>
          <p:cNvSpPr/>
          <p:nvPr/>
        </p:nvSpPr>
        <p:spPr>
          <a:xfrm>
            <a:off x="365760" y="3703320"/>
            <a:ext cx="11430000" cy="242316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4640580"/>
            <a:ext cx="11247120" cy="548640"/>
          </a:xfrm>
          <a:prstGeom prst="rect">
            <a:avLst/>
          </a:prstGeom>
          <a:noFill/>
        </p:spPr>
        <p:txBody>
          <a:bodyPr wrap="square">
            <a:spAutoFit/>
          </a:bodyPr>
          <a:lstStyle/>
          <a:p>
            <a:pPr algn="ctr"/>
            <a:r>
              <a:rPr sz="1100" b="1">
                <a:solidFill>
                  <a:srgbClr val="C35A00"/>
                </a:solidFill>
                <a:latin typeface="Calibri"/>
              </a:rPr>
              <a:t>🖼  FIGURA: Figura 62 — θm(t) con observador aumentado: error de estado estacionario → 0
(detalle en t=10s con perturbación)</a:t>
            </a:r>
          </a:p>
        </p:txBody>
      </p:sp>
      <p:sp>
        <p:nvSpPr>
          <p:cNvPr id="21" name="TextBox 20"/>
          <p:cNvSpPr txBox="1"/>
          <p:nvPr/>
        </p:nvSpPr>
        <p:spPr>
          <a:xfrm>
            <a:off x="457200" y="50246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Se analiza la evolución de Ts° durante 300–600 s de operación cíclica continua con consigna de velocidad trapezoidal. Temperatura ambiente inicial: 25°C.</a:t>
            </a:r>
          </a:p>
        </p:txBody>
      </p:sp>
      <p:sp>
        <p:nvSpPr>
          <p:cNvPr id="8" name="Rectangle 7"/>
          <p:cNvSpPr/>
          <p:nvPr/>
        </p:nvSpPr>
        <p:spPr>
          <a:xfrm>
            <a:off x="3657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450592"/>
            <a:ext cx="3474720" cy="548640"/>
          </a:xfrm>
          <a:prstGeom prst="rect">
            <a:avLst/>
          </a:prstGeom>
          <a:noFill/>
        </p:spPr>
        <p:txBody>
          <a:bodyPr wrap="square">
            <a:spAutoFit/>
          </a:bodyPr>
          <a:lstStyle/>
          <a:p>
            <a:pPr algn="ctr"/>
            <a:r>
              <a:rPr sz="1100" b="1">
                <a:solidFill>
                  <a:srgbClr val="C35A00"/>
                </a:solidFill>
                <a:latin typeface="Calibri"/>
              </a:rPr>
              <a:t>🖼  FIGURA: Figura 63 — Ts°(t) durante 300 s (≈20 ciclos) SIN perturbación Tld
Ts &lt; 48°C  &lt;&lt;  Ts,max = 115°C  ✓  Operación térmica segura</a:t>
            </a:r>
          </a:p>
        </p:txBody>
      </p:sp>
      <p:sp>
        <p:nvSpPr>
          <p:cNvPr id="10" name="TextBox 9"/>
          <p:cNvSpPr txBox="1"/>
          <p:nvPr/>
        </p:nvSpPr>
        <p:spPr>
          <a:xfrm>
            <a:off x="4572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1" name="Rectangle 10"/>
          <p:cNvSpPr/>
          <p:nvPr/>
        </p:nvSpPr>
        <p:spPr>
          <a:xfrm>
            <a:off x="4251960" y="1444752"/>
            <a:ext cx="365760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343400" y="2450592"/>
            <a:ext cx="3474720" cy="548640"/>
          </a:xfrm>
          <a:prstGeom prst="rect">
            <a:avLst/>
          </a:prstGeom>
          <a:noFill/>
        </p:spPr>
        <p:txBody>
          <a:bodyPr wrap="square">
            <a:spAutoFit/>
          </a:bodyPr>
          <a:lstStyle/>
          <a:p>
            <a:pPr algn="ctr"/>
            <a:r>
              <a:rPr sz="1100" b="1">
                <a:solidFill>
                  <a:srgbClr val="C35A00"/>
                </a:solidFill>
                <a:latin typeface="Calibri"/>
              </a:rPr>
              <a:t>🖼  FIGURA: Figura 64 — Ts°(t) CON perturbación cíclica Tld
Ts sube y se estabiliza ~500 s (30 ciclos) — cerca del límite pero sin superarlo</a:t>
            </a:r>
          </a:p>
        </p:txBody>
      </p:sp>
      <p:sp>
        <p:nvSpPr>
          <p:cNvPr id="13" name="TextBox 12"/>
          <p:cNvSpPr txBox="1"/>
          <p:nvPr/>
        </p:nvSpPr>
        <p:spPr>
          <a:xfrm>
            <a:off x="4343400" y="2834640"/>
            <a:ext cx="34747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Rectangle 13"/>
          <p:cNvSpPr/>
          <p:nvPr/>
        </p:nvSpPr>
        <p:spPr>
          <a:xfrm>
            <a:off x="8503920" y="1444752"/>
            <a:ext cx="347472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95360" y="2450592"/>
            <a:ext cx="3291839" cy="548640"/>
          </a:xfrm>
          <a:prstGeom prst="rect">
            <a:avLst/>
          </a:prstGeom>
          <a:noFill/>
        </p:spPr>
        <p:txBody>
          <a:bodyPr wrap="square">
            <a:spAutoFit/>
          </a:bodyPr>
          <a:lstStyle/>
          <a:p>
            <a:pPr algn="ctr"/>
            <a:r>
              <a:rPr sz="1100" b="1">
                <a:solidFill>
                  <a:srgbClr val="C35A00"/>
                </a:solidFill>
                <a:latin typeface="Calibri"/>
              </a:rPr>
              <a:t>🖼  FIGURA: Figura 65 — Ts°(t) con ml=1.5 kg (carga máxima)
Ts SUPERA Ts,max = 115°C  ⚠  Condición de riesgo</a:t>
            </a:r>
          </a:p>
        </p:txBody>
      </p:sp>
      <p:sp>
        <p:nvSpPr>
          <p:cNvPr id="16" name="TextBox 15"/>
          <p:cNvSpPr txBox="1"/>
          <p:nvPr/>
        </p:nvSpPr>
        <p:spPr>
          <a:xfrm>
            <a:off x="8595360" y="2834640"/>
            <a:ext cx="329183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TextBox 16"/>
          <p:cNvSpPr txBox="1"/>
          <p:nvPr/>
        </p:nvSpPr>
        <p:spPr>
          <a:xfrm>
            <a:off x="365760" y="4160520"/>
            <a:ext cx="11430000" cy="347472"/>
          </a:xfrm>
          <a:prstGeom prst="rect">
            <a:avLst/>
          </a:prstGeom>
          <a:noFill/>
        </p:spPr>
        <p:txBody>
          <a:bodyPr wrap="square">
            <a:spAutoFit/>
          </a:bodyPr>
          <a:lstStyle/>
          <a:p>
            <a:pPr algn="l"/>
            <a:r>
              <a:rPr sz="1400" b="1" i="0">
                <a:solidFill>
                  <a:srgbClr val="1A3A6B"/>
                </a:solidFill>
                <a:latin typeface="Calibri"/>
              </a:rPr>
              <a:t>Conclusiones y acciones correctivas:</a:t>
            </a:r>
          </a:p>
        </p:txBody>
      </p:sp>
      <p:sp>
        <p:nvSpPr>
          <p:cNvPr id="18" name="TextBox 17"/>
          <p:cNvSpPr txBox="1"/>
          <p:nvPr/>
        </p:nvSpPr>
        <p:spPr>
          <a:xfrm>
            <a:off x="365760" y="4572000"/>
            <a:ext cx="11430000" cy="1965960"/>
          </a:xfrm>
          <a:prstGeom prst="rect">
            <a:avLst/>
          </a:prstGeom>
          <a:noFill/>
        </p:spPr>
        <p:txBody>
          <a:bodyPr wrap="square">
            <a:spAutoFit/>
          </a:bodyPr>
          <a:lstStyle/>
          <a:p>
            <a:r>
              <a:rPr sz="1350">
                <a:solidFill>
                  <a:srgbClr val="1A1A2E"/>
                </a:solidFill>
                <a:latin typeface="Calibri"/>
              </a:rPr>
              <a:t>Sin carga extra: operación térmica segura en todo el rango analizado</a:t>
            </a:r>
          </a:p>
          <a:p>
            <a:pPr>
              <a:spcBef>
                <a:spcPts val="400"/>
              </a:spcBef>
            </a:pPr>
            <a:r>
              <a:rPr sz="1350">
                <a:solidFill>
                  <a:srgbClr val="1A1A2E"/>
                </a:solidFill>
                <a:latin typeface="Calibri"/>
              </a:rPr>
              <a:t>Con perturbación cíclica Tld: la temperatura llega cerca del límite tras 30 ciclos → monitoreo necesario</a:t>
            </a:r>
          </a:p>
          <a:p>
            <a:pPr>
              <a:spcBef>
                <a:spcPts val="400"/>
              </a:spcBef>
            </a:pPr>
            <a:r>
              <a:rPr sz="1350" b="0">
                <a:solidFill>
                  <a:srgbClr val="C35A00"/>
                </a:solidFill>
                <a:latin typeface="Calibri"/>
              </a:rPr>
              <a:t>Con ml=1.5 kg (carga máxima + perturbación): Ts supera 115°C → necesaria acción correctiva</a:t>
            </a:r>
          </a:p>
          <a:p>
            <a:pPr>
              <a:spcBef>
                <a:spcPts val="400"/>
              </a:spcBef>
            </a:pPr>
            <a:r>
              <a:rPr sz="1350">
                <a:solidFill>
                  <a:srgbClr val="1A1A2E"/>
                </a:solidFill>
                <a:latin typeface="Calibri"/>
              </a:rPr>
              <a:t>Alternativas: reducir la consigna de velocidad, limitar la corriente por protección térmica, o incorporar refrigeración forzada</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365760" y="777240"/>
            <a:ext cx="11430000" cy="411480"/>
          </a:xfrm>
          <a:prstGeom prst="rect">
            <a:avLst/>
          </a:prstGeom>
          <a:noFill/>
        </p:spPr>
        <p:txBody>
          <a:bodyPr wrap="square">
            <a:spAutoFit/>
          </a:bodyPr>
          <a:lstStyle/>
          <a:p>
            <a:pPr algn="l"/>
            <a:r>
              <a:rPr sz="1400" b="0" i="0">
                <a:solidFill>
                  <a:srgbClr val="1A1A2E"/>
                </a:solidFill>
                <a:latin typeface="Calibri"/>
              </a:rPr>
              <a:t>Los sensores reales tienen ancho de banda finito. Se modelan como filtros LP con ganancia unitaria:</a:t>
            </a:r>
          </a:p>
        </p:txBody>
      </p:sp>
      <p:graphicFrame>
        <p:nvGraphicFramePr>
          <p:cNvPr id="8" name="Table 7"/>
          <p:cNvGraphicFramePr>
            <a:graphicFrameLocks noGrp="1"/>
          </p:cNvGraphicFramePr>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sz="1200">
                          <a:latin typeface="Calibri"/>
                        </a:rPr>
                        <a:t>Posición θm</a:t>
                      </a:r>
                    </a:p>
                  </a:txBody>
                  <a:tcPr/>
                </a:tc>
                <a:tc>
                  <a:txBody>
                    <a:bodyPr/>
                    <a:lstStyle/>
                    <a:p>
                      <a:r>
                        <a:rPr sz="1200">
                          <a:latin typeface="Calibri"/>
                        </a:rPr>
                        <a:t>LP 2° orden, ζ=1</a:t>
                      </a:r>
                    </a:p>
                  </a:txBody>
                  <a:tcPr/>
                </a:tc>
                <a:tc>
                  <a:txBody>
                    <a:bodyPr/>
                    <a:lstStyle/>
                    <a:p>
                      <a:r>
                        <a:rPr sz="1200">
                          <a:latin typeface="Calibri"/>
                        </a:rPr>
                        <a:t>ωn = 2000 rad/s</a:t>
                      </a:r>
                    </a:p>
                  </a:txBody>
                  <a:tcPr/>
                </a:tc>
                <a:tc>
                  <a:txBody>
                    <a:bodyPr/>
                    <a:lstStyle/>
                    <a:p>
                      <a:r>
                        <a:rPr sz="1200">
                          <a:latin typeface="Calibri"/>
                        </a:rPr>
                        <a:t>ωn = 6000 rad/s</a:t>
                      </a:r>
                    </a:p>
                  </a:txBody>
                  <a:tcPr/>
                </a:tc>
                <a:extLst>
                  <a:ext uri="{0D108BD9-81ED-4DB2-BD59-A6C34878D82A}">
                    <a16:rowId xmlns:a16="http://schemas.microsoft.com/office/drawing/2014/main" val="10001"/>
                  </a:ext>
                </a:extLst>
              </a:tr>
              <a:tr h="434340">
                <a:tc>
                  <a:txBody>
                    <a:bodyPr/>
                    <a:lstStyle/>
                    <a:p>
                      <a:r>
                        <a:rPr sz="1200">
                          <a:latin typeface="Calibri"/>
                        </a:rPr>
                        <a:t>Corrientes iabc</a:t>
                      </a:r>
                    </a:p>
                  </a:txBody>
                  <a:tcPr>
                    <a:solidFill>
                      <a:srgbClr val="F0F4F8"/>
                    </a:solidFill>
                  </a:tcPr>
                </a:tc>
                <a:tc>
                  <a:txBody>
                    <a:bodyPr/>
                    <a:lstStyle/>
                    <a:p>
                      <a:r>
                        <a:rPr sz="1200">
                          <a:latin typeface="Calibri"/>
                        </a:rPr>
                        <a:t>LP 2° orden, ζ=1</a:t>
                      </a:r>
                    </a:p>
                  </a:txBody>
                  <a:tcPr>
                    <a:solidFill>
                      <a:srgbClr val="F0F4F8"/>
                    </a:solidFill>
                  </a:tcPr>
                </a:tc>
                <a:tc>
                  <a:txBody>
                    <a:bodyPr/>
                    <a:lstStyle/>
                    <a:p>
                      <a:r>
                        <a:rPr sz="1200">
                          <a:latin typeface="Calibri"/>
                        </a:rPr>
                        <a:t>ωn = 6000 rad/s</a:t>
                      </a:r>
                    </a:p>
                  </a:txBody>
                  <a:tcPr>
                    <a:solidFill>
                      <a:srgbClr val="F0F4F8"/>
                    </a:solidFill>
                  </a:tcPr>
                </a:tc>
                <a:tc>
                  <a:txBody>
                    <a:bodyPr/>
                    <a:lstStyle/>
                    <a:p>
                      <a:r>
                        <a:rPr sz="1200">
                          <a:latin typeface="Calibri"/>
                        </a:rPr>
                        <a:t>ωn = 18000 rad/s</a:t>
                      </a:r>
                    </a:p>
                  </a:txBody>
                  <a:tcPr>
                    <a:solidFill>
                      <a:srgbClr val="F0F4F8"/>
                    </a:solidFill>
                  </a:tcPr>
                </a:tc>
                <a:extLst>
                  <a:ext uri="{0D108BD9-81ED-4DB2-BD59-A6C34878D82A}">
                    <a16:rowId xmlns:a16="http://schemas.microsoft.com/office/drawing/2014/main" val="10002"/>
                  </a:ext>
                </a:extLst>
              </a:tr>
              <a:tr h="434340">
                <a:tc>
                  <a:txBody>
                    <a:bodyPr/>
                    <a:lstStyle/>
                    <a:p>
                      <a:r>
                        <a:rPr sz="1200">
                          <a:latin typeface="Calibri"/>
                        </a:rPr>
                        <a:t>Temperatura Ts°</a:t>
                      </a:r>
                    </a:p>
                  </a:txBody>
                  <a:tcPr/>
                </a:tc>
                <a:tc>
                  <a:txBody>
                    <a:bodyPr/>
                    <a:lstStyle/>
                    <a:p>
                      <a:r>
                        <a:rPr sz="1200">
                          <a:latin typeface="Calibri"/>
                        </a:rPr>
                        <a:t>LP 1° orden</a:t>
                      </a:r>
                    </a:p>
                  </a:txBody>
                  <a:tcPr/>
                </a:tc>
                <a:tc>
                  <a:txBody>
                    <a:bodyPr/>
                    <a:lstStyle/>
                    <a:p>
                      <a:r>
                        <a:rPr sz="1200">
                          <a:latin typeface="Calibri"/>
                        </a:rPr>
                        <a:t>τ = 20 s</a:t>
                      </a:r>
                    </a:p>
                  </a:txBody>
                  <a:tcPr/>
                </a:tc>
                <a:tc>
                  <a:txBody>
                    <a:bodyPr/>
                    <a:lstStyle/>
                    <a:p>
                      <a:r>
                        <a:rPr sz="1200">
                          <a:latin typeface="Calibri"/>
                        </a:rPr>
                        <a:t>τ = 0.05 s</a:t>
                      </a:r>
                    </a:p>
                  </a:txBody>
                  <a:tcPr/>
                </a:tc>
                <a:extLst>
                  <a:ext uri="{0D108BD9-81ED-4DB2-BD59-A6C34878D82A}">
                    <a16:rowId xmlns:a16="http://schemas.microsoft.com/office/drawing/2014/main" val="10003"/>
                  </a:ext>
                </a:extLst>
              </a:tr>
            </a:tbl>
          </a:graphicData>
        </a:graphic>
      </p:graphicFrame>
      <p:sp>
        <p:nvSpPr>
          <p:cNvPr id="9" name="Rectangle 8"/>
          <p:cNvSpPr/>
          <p:nvPr/>
        </p:nvSpPr>
        <p:spPr>
          <a:xfrm>
            <a:off x="365760" y="3127248"/>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457200" y="3127248"/>
            <a:ext cx="11247120" cy="475488"/>
          </a:xfrm>
          <a:prstGeom prst="rect">
            <a:avLst/>
          </a:prstGeom>
          <a:noFill/>
        </p:spPr>
        <p:txBody>
          <a:bodyPr wrap="square">
            <a:spAutoFit/>
          </a:bodyPr>
          <a:lstStyle/>
          <a:p>
            <a:pPr algn="ctr"/>
            <a:r>
              <a:rPr sz="1100" b="1">
                <a:solidFill>
                  <a:srgbClr val="1B6B2A"/>
                </a:solidFill>
                <a:latin typeface="Calibri"/>
              </a:rPr>
              <a:t>📐  ECUACIÓN: G_LP2(s) = ωn² / (s² + 2ζωn·s + ωn²)     |     G_LP1(s) = 1/(τs+1)</a:t>
            </a:r>
          </a:p>
        </p:txBody>
      </p:sp>
      <p:sp>
        <p:nvSpPr>
          <p:cNvPr id="11" name="Rectangle 10"/>
          <p:cNvSpPr/>
          <p:nvPr/>
        </p:nvSpPr>
        <p:spPr>
          <a:xfrm>
            <a:off x="365760" y="3703320"/>
            <a:ext cx="11430000" cy="169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4274820"/>
            <a:ext cx="11247120" cy="548640"/>
          </a:xfrm>
          <a:prstGeom prst="rect">
            <a:avLst/>
          </a:prstGeom>
          <a:noFill/>
        </p:spPr>
        <p:txBody>
          <a:bodyPr wrap="square">
            <a:spAutoFit/>
          </a:bodyPr>
          <a:lstStyle/>
          <a:p>
            <a:pPr algn="ctr"/>
            <a:r>
              <a:rPr sz="1100" b="1">
                <a:solidFill>
                  <a:srgbClr val="C35A00"/>
                </a:solidFill>
                <a:latin typeface="Calibri"/>
              </a:rPr>
              <a:t>🖼  FIGURA: Figuras 68-78 — Comparación respuesta con distintos ωn (posición, corriente) y τ (temperatura)
(ωn=2000/4000/6000 para posición; ωn=6000/12000/18000 para corriente; τ=20/5/0.5/0.05 s para temperatura)</a:t>
            </a:r>
          </a:p>
        </p:txBody>
      </p:sp>
      <p:sp>
        <p:nvSpPr>
          <p:cNvPr id="13" name="TextBox 12"/>
          <p:cNvSpPr txBox="1"/>
          <p:nvPr/>
        </p:nvSpPr>
        <p:spPr>
          <a:xfrm>
            <a:off x="457200" y="465886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4" name="TextBox 13"/>
          <p:cNvSpPr txBox="1"/>
          <p:nvPr/>
        </p:nvSpPr>
        <p:spPr>
          <a:xfrm>
            <a:off x="365760" y="5532120"/>
            <a:ext cx="11430000" cy="1005840"/>
          </a:xfrm>
          <a:prstGeom prst="rect">
            <a:avLst/>
          </a:prstGeom>
          <a:noFill/>
        </p:spPr>
        <p:txBody>
          <a:bodyPr wrap="square">
            <a:spAutoFit/>
          </a:bodyPr>
          <a:lstStyle/>
          <a:p>
            <a:r>
              <a:rPr sz="1350">
                <a:solidFill>
                  <a:srgbClr val="1A1A2E"/>
                </a:solidFill>
                <a:latin typeface="Calibri"/>
              </a:rPr>
              <a:t>Posición: ωn ≥ 6000 rad/s no muestra diferencias apreciables → no se requiere mayor resolución</a:t>
            </a:r>
          </a:p>
          <a:p>
            <a:pPr>
              <a:spcBef>
                <a:spcPts val="400"/>
              </a:spcBef>
            </a:pPr>
            <a:r>
              <a:rPr sz="1350">
                <a:solidFill>
                  <a:srgbClr val="1A1A2E"/>
                </a:solidFill>
                <a:latin typeface="Calibri"/>
              </a:rPr>
              <a:t>Corriente: ωn = 18000 rad/s ofrece buena respuesta sin necesidad de valores más altos</a:t>
            </a:r>
          </a:p>
          <a:p>
            <a:pPr>
              <a:spcBef>
                <a:spcPts val="400"/>
              </a:spcBef>
            </a:pPr>
            <a:r>
              <a:rPr sz="1350">
                <a:solidFill>
                  <a:srgbClr val="1A1A2E"/>
                </a:solidFill>
                <a:latin typeface="Calibri"/>
              </a:rPr>
              <a:t>Temperatura: variable más afectada; τ = 0.05 s necesario para rastrear señal; para detectar máximos τ puede ser mayor</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7" name="TextBox 6"/>
          <p:cNvSpPr txBox="1"/>
          <p:nvPr/>
        </p:nvSpPr>
        <p:spPr>
          <a:xfrm>
            <a:off x="365760" y="777240"/>
            <a:ext cx="11430000" cy="594360"/>
          </a:xfrm>
          <a:prstGeom prst="rect">
            <a:avLst/>
          </a:prstGeom>
          <a:noFill/>
        </p:spPr>
        <p:txBody>
          <a:bodyPr wrap="square">
            <a:spAutoFit/>
          </a:bodyPr>
          <a:lstStyle/>
          <a:p>
            <a:pPr algn="l"/>
            <a:r>
              <a:rPr sz="1400" b="0" i="0">
                <a:solidFill>
                  <a:srgbClr val="1A1A2E"/>
                </a:solidFill>
                <a:latin typeface="Calibri"/>
              </a:rPr>
              <a:t>El modulador real (inversor PWM) presenta ancho de banda finito y saturación de tensión. Se modela como filtro LP 2° orden + saturación:</a:t>
            </a:r>
          </a:p>
        </p:txBody>
      </p:sp>
      <p:sp>
        <p:nvSpPr>
          <p:cNvPr id="8" name="Rectangle 7"/>
          <p:cNvSpPr/>
          <p:nvPr/>
        </p:nvSpPr>
        <p:spPr>
          <a:xfrm>
            <a:off x="365760" y="1444752"/>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444752"/>
            <a:ext cx="7589520" cy="475488"/>
          </a:xfrm>
          <a:prstGeom prst="rect">
            <a:avLst/>
          </a:prstGeom>
          <a:noFill/>
        </p:spPr>
        <p:txBody>
          <a:bodyPr wrap="square">
            <a:spAutoFit/>
          </a:bodyPr>
          <a:lstStyle/>
          <a:p>
            <a:pPr algn="ctr"/>
            <a:r>
              <a:rPr sz="1100" b="1">
                <a:solidFill>
                  <a:srgbClr val="1B6B2A"/>
                </a:solidFill>
                <a:latin typeface="Calibri"/>
              </a:rPr>
              <a:t>📐  ECUACIÓN: Saturación de tensión de fase: |vas|,|vbs|,|vcs| ≤ (√2/√3)·Vsl,max = (√2/√3)·48 ≈ 39.2 V</a:t>
            </a:r>
          </a:p>
        </p:txBody>
      </p:sp>
      <p:sp>
        <p:nvSpPr>
          <p:cNvPr id="10" name="Rectangle 9"/>
          <p:cNvSpPr/>
          <p:nvPr/>
        </p:nvSpPr>
        <p:spPr>
          <a:xfrm>
            <a:off x="365760" y="1984248"/>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1984248"/>
            <a:ext cx="7589520" cy="475488"/>
          </a:xfrm>
          <a:prstGeom prst="rect">
            <a:avLst/>
          </a:prstGeom>
          <a:noFill/>
        </p:spPr>
        <p:txBody>
          <a:bodyPr wrap="square">
            <a:spAutoFit/>
          </a:bodyPr>
          <a:lstStyle/>
          <a:p>
            <a:pPr algn="ctr"/>
            <a:r>
              <a:rPr sz="1100" b="1">
                <a:solidFill>
                  <a:srgbClr val="1B6B2A"/>
                </a:solidFill>
                <a:latin typeface="Calibri"/>
              </a:rPr>
              <a:t>📐  ECUACIÓN: Dinámica del modulador: LP 2° orden, ζ=1  (mismo modelo que sensores de corriente)</a:t>
            </a:r>
          </a:p>
        </p:txBody>
      </p:sp>
      <p:sp>
        <p:nvSpPr>
          <p:cNvPr id="12" name="Rectangle 11"/>
          <p:cNvSpPr/>
          <p:nvPr/>
        </p:nvSpPr>
        <p:spPr>
          <a:xfrm>
            <a:off x="8412480" y="777240"/>
            <a:ext cx="3566160" cy="25603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503919" y="1783080"/>
            <a:ext cx="3383279" cy="548640"/>
          </a:xfrm>
          <a:prstGeom prst="rect">
            <a:avLst/>
          </a:prstGeom>
          <a:noFill/>
        </p:spPr>
        <p:txBody>
          <a:bodyPr wrap="square">
            <a:spAutoFit/>
          </a:bodyPr>
          <a:lstStyle/>
          <a:p>
            <a:pPr algn="ctr"/>
            <a:r>
              <a:rPr sz="1100" b="1">
                <a:solidFill>
                  <a:srgbClr val="C35A00"/>
                </a:solidFill>
                <a:latin typeface="Calibri"/>
              </a:rPr>
              <a:t>🖼  FIGURA: Figura 81 — Diagrama Simulink del modulador trifásico no ideal (LP + saturación)</a:t>
            </a:r>
          </a:p>
        </p:txBody>
      </p:sp>
      <p:sp>
        <p:nvSpPr>
          <p:cNvPr id="14" name="TextBox 13"/>
          <p:cNvSpPr txBox="1"/>
          <p:nvPr/>
        </p:nvSpPr>
        <p:spPr>
          <a:xfrm>
            <a:off x="8503919" y="216712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5" name="Rectangle 14"/>
          <p:cNvSpPr/>
          <p:nvPr/>
        </p:nvSpPr>
        <p:spPr>
          <a:xfrm>
            <a:off x="36576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57200" y="3474720"/>
            <a:ext cx="5303520" cy="548640"/>
          </a:xfrm>
          <a:prstGeom prst="rect">
            <a:avLst/>
          </a:prstGeom>
          <a:noFill/>
        </p:spPr>
        <p:txBody>
          <a:bodyPr wrap="square">
            <a:spAutoFit/>
          </a:bodyPr>
          <a:lstStyle/>
          <a:p>
            <a:pPr algn="ctr"/>
            <a:r>
              <a:rPr sz="1100" b="1">
                <a:solidFill>
                  <a:srgbClr val="C35A00"/>
                </a:solidFill>
                <a:latin typeface="Calibri"/>
              </a:rPr>
              <a:t>🖼  FIGURA: Figs. 82-87 — Con ωn=6000 rad/s: INESTABLE
La dinámica del modulador es insuficiente para las demandas del controlador</a:t>
            </a:r>
          </a:p>
        </p:txBody>
      </p:sp>
      <p:sp>
        <p:nvSpPr>
          <p:cNvPr id="17" name="TextBox 16"/>
          <p:cNvSpPr txBox="1"/>
          <p:nvPr/>
        </p:nvSpPr>
        <p:spPr>
          <a:xfrm>
            <a:off x="45720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8" name="Rectangle 17"/>
          <p:cNvSpPr/>
          <p:nvPr/>
        </p:nvSpPr>
        <p:spPr>
          <a:xfrm>
            <a:off x="6126480" y="2606040"/>
            <a:ext cx="5486400" cy="22860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217920" y="3474720"/>
            <a:ext cx="5303520" cy="548640"/>
          </a:xfrm>
          <a:prstGeom prst="rect">
            <a:avLst/>
          </a:prstGeom>
          <a:noFill/>
        </p:spPr>
        <p:txBody>
          <a:bodyPr wrap="square">
            <a:spAutoFit/>
          </a:bodyPr>
          <a:lstStyle/>
          <a:p>
            <a:pPr algn="ctr"/>
            <a:r>
              <a:rPr sz="1100" b="1">
                <a:solidFill>
                  <a:srgbClr val="C35A00"/>
                </a:solidFill>
                <a:latin typeface="Calibri"/>
              </a:rPr>
              <a:t>🖼  FIGURA: Figs. 88-89 — Con ωn=18000 rad/s: ESTABLE
El modulador puede seguir las variaciones de tensión con mayor fidelidad</a:t>
            </a:r>
          </a:p>
        </p:txBody>
      </p:sp>
      <p:sp>
        <p:nvSpPr>
          <p:cNvPr id="20" name="TextBox 19"/>
          <p:cNvSpPr txBox="1"/>
          <p:nvPr/>
        </p:nvSpPr>
        <p:spPr>
          <a:xfrm>
            <a:off x="6217920" y="385876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21" name="TextBox 20"/>
          <p:cNvSpPr txBox="1"/>
          <p:nvPr/>
        </p:nvSpPr>
        <p:spPr>
          <a:xfrm>
            <a:off x="365760" y="5047488"/>
            <a:ext cx="11430000" cy="1463040"/>
          </a:xfrm>
          <a:prstGeom prst="rect">
            <a:avLst/>
          </a:prstGeom>
          <a:noFill/>
        </p:spPr>
        <p:txBody>
          <a:bodyPr wrap="square">
            <a:spAutoFit/>
          </a:bodyPr>
          <a:lstStyle/>
          <a:p>
            <a:r>
              <a:rPr sz="1350">
                <a:solidFill>
                  <a:srgbClr val="1A1A2E"/>
                </a:solidFill>
                <a:latin typeface="Calibri"/>
              </a:rPr>
              <a:t>La dinámica del modulador debe ser considerablemente más rápida que el resto del sistema</a:t>
            </a:r>
          </a:p>
          <a:p>
            <a:pPr>
              <a:spcBef>
                <a:spcPts val="400"/>
              </a:spcBef>
            </a:pPr>
            <a:r>
              <a:rPr sz="1350">
                <a:solidFill>
                  <a:srgbClr val="1A1A2E"/>
                </a:solidFill>
                <a:latin typeface="Calibri"/>
              </a:rPr>
              <a:t>ωn = 18000 rad/s logra desempeño adecuado en estas condiciones</a:t>
            </a:r>
          </a:p>
          <a:p>
            <a:pPr>
              <a:spcBef>
                <a:spcPts val="400"/>
              </a:spcBef>
            </a:pPr>
            <a:r>
              <a:rPr sz="1350">
                <a:solidFill>
                  <a:srgbClr val="1A1A2E"/>
                </a:solidFill>
                <a:latin typeface="Calibri"/>
              </a:rPr>
              <a:t>Con sensores no ideales: el modulador debe operar con frecuencia aún mayor para compensar</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7" name="Rectangle 6"/>
          <p:cNvSpPr/>
          <p:nvPr/>
        </p:nvSpPr>
        <p:spPr>
          <a:xfrm>
            <a:off x="365760" y="77724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11247120" cy="548640"/>
          </a:xfrm>
          <a:prstGeom prst="rect">
            <a:avLst/>
          </a:prstGeom>
          <a:noFill/>
        </p:spPr>
        <p:txBody>
          <a:bodyPr wrap="square">
            <a:spAutoFit/>
          </a:bodyPr>
          <a:lstStyle/>
          <a:p>
            <a:pPr algn="ctr"/>
            <a:r>
              <a:rPr sz="1100" b="1">
                <a:solidFill>
                  <a:srgbClr val="C35A00"/>
                </a:solidFill>
                <a:latin typeface="Calibri"/>
              </a:rPr>
              <a:t>🖼  FIGURA: Figura 90 — Diagrama de bloques Simulink del sistema continuo completo
(todos los bloques integrados: set-point → obs. aumentado → PID → modulador torque → lazos corriente → modulador tensión → planta NL)</a:t>
            </a:r>
          </a:p>
        </p:txBody>
      </p:sp>
      <p:sp>
        <p:nvSpPr>
          <p:cNvPr id="9" name="TextBox 8"/>
          <p:cNvSpPr txBox="1"/>
          <p:nvPr/>
        </p:nvSpPr>
        <p:spPr>
          <a:xfrm>
            <a:off x="457200" y="1938528"/>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graphicFrame>
        <p:nvGraphicFramePr>
          <p:cNvPr id="10" name="Table 9"/>
          <p:cNvGraphicFramePr>
            <a:graphicFrameLocks noGrp="1"/>
          </p:cNvGraphicFramePr>
          <p:nvPr/>
        </p:nvGraphicFramePr>
        <p:xfrm>
          <a:off x="365760" y="3035808"/>
          <a:ext cx="11430000" cy="3520440"/>
        </p:xfrm>
        <a:graphic>
          <a:graphicData uri="http://schemas.openxmlformats.org/drawingml/2006/table">
            <a:tbl>
              <a:tblPr firstRow="1" bandRow="1">
                <a:tableStyleId>{5C22544A-7EE6-4342-B048-85BDC9FD1C3A}</a:tableStyleId>
              </a:tblPr>
              <a:tblGrid>
                <a:gridCol w="2560320">
                  <a:extLst>
                    <a:ext uri="{9D8B030D-6E8A-4147-A177-3AD203B41FA5}">
                      <a16:colId xmlns:a16="http://schemas.microsoft.com/office/drawing/2014/main" val="20000"/>
                    </a:ext>
                  </a:extLst>
                </a:gridCol>
                <a:gridCol w="8869680">
                  <a:extLst>
                    <a:ext uri="{9D8B030D-6E8A-4147-A177-3AD203B41FA5}">
                      <a16:colId xmlns:a16="http://schemas.microsoft.com/office/drawing/2014/main" val="20001"/>
                    </a:ext>
                  </a:extLst>
                </a:gridCol>
              </a:tblGrid>
              <a:tr h="440055">
                <a:tc>
                  <a:txBody>
                    <a:bodyPr/>
                    <a:lstStyle/>
                    <a:p>
                      <a:r>
                        <a:rPr sz="1200" b="1">
                          <a:solidFill>
                            <a:srgbClr val="FFFFFF"/>
                          </a:solidFill>
                          <a:latin typeface="Calibri"/>
                        </a:rPr>
                        <a:t>Bloque</a:t>
                      </a:r>
                    </a:p>
                  </a:txBody>
                  <a:tcPr>
                    <a:solidFill>
                      <a:srgbClr val="1A3A6B"/>
                    </a:solidFill>
                  </a:tcPr>
                </a:tc>
                <a:tc>
                  <a:txBody>
                    <a:bodyPr/>
                    <a:lstStyle/>
                    <a:p>
                      <a:r>
                        <a:rPr sz="1200" b="1">
                          <a:solidFill>
                            <a:srgbClr val="FFFFFF"/>
                          </a:solidFill>
                          <a:latin typeface="Calibri"/>
                        </a:rPr>
                        <a:t>Parámetros finales</a:t>
                      </a:r>
                    </a:p>
                  </a:txBody>
                  <a:tcPr>
                    <a:solidFill>
                      <a:srgbClr val="1A3A6B"/>
                    </a:solidFill>
                  </a:tcPr>
                </a:tc>
                <a:extLst>
                  <a:ext uri="{0D108BD9-81ED-4DB2-BD59-A6C34878D82A}">
                    <a16:rowId xmlns:a16="http://schemas.microsoft.com/office/drawing/2014/main" val="10000"/>
                  </a:ext>
                </a:extLst>
              </a:tr>
              <a:tr h="440055">
                <a:tc>
                  <a:txBody>
                    <a:bodyPr/>
                    <a:lstStyle/>
                    <a:p>
                      <a:r>
                        <a:rPr sz="1200">
                          <a:latin typeface="Calibri"/>
                        </a:rPr>
                        <a:t>PID externo</a:t>
                      </a:r>
                    </a:p>
                  </a:txBody>
                  <a:tcPr/>
                </a:tc>
                <a:tc>
                  <a:txBody>
                    <a:bodyPr/>
                    <a:lstStyle/>
                    <a:p>
                      <a:r>
                        <a:rPr sz="1200">
                          <a:latin typeface="Calibri"/>
                        </a:rPr>
                        <a:t>ba = 0.03957 N·m/(rad/s)   |   Ksa = 31.6556 N·m/rad   |   Ksia = 10129.78 N·m/(rad·s)</a:t>
                      </a:r>
                    </a:p>
                  </a:txBody>
                  <a:tcPr/>
                </a:tc>
                <a:extLst>
                  <a:ext uri="{0D108BD9-81ED-4DB2-BD59-A6C34878D82A}">
                    <a16:rowId xmlns:a16="http://schemas.microsoft.com/office/drawing/2014/main" val="10001"/>
                  </a:ext>
                </a:extLst>
              </a:tr>
              <a:tr h="440055">
                <a:tc>
                  <a:txBody>
                    <a:bodyPr/>
                    <a:lstStyle/>
                    <a:p>
                      <a:r>
                        <a:rPr sz="1200">
                          <a:latin typeface="Calibri"/>
                        </a:rPr>
                        <a:t>Observador aumentado</a:t>
                      </a:r>
                    </a:p>
                  </a:txBody>
                  <a:tcPr>
                    <a:solidFill>
                      <a:srgbClr val="F0F4F8"/>
                    </a:solidFill>
                  </a:tcPr>
                </a:tc>
                <a:tc>
                  <a:txBody>
                    <a:bodyPr/>
                    <a:lstStyle/>
                    <a:p>
                      <a:r>
                        <a:rPr sz="1200">
                          <a:latin typeface="Calibri"/>
                        </a:rPr>
                        <a:t>kθ = 9600 rad/s   |   kω = 3.072×10⁷ rad²/s²   |   ki = 3.277×10¹⁰ rad³/s³</a:t>
                      </a:r>
                    </a:p>
                  </a:txBody>
                  <a:tcPr>
                    <a:solidFill>
                      <a:srgbClr val="F0F4F8"/>
                    </a:solidFill>
                  </a:tcPr>
                </a:tc>
                <a:extLst>
                  <a:ext uri="{0D108BD9-81ED-4DB2-BD59-A6C34878D82A}">
                    <a16:rowId xmlns:a16="http://schemas.microsoft.com/office/drawing/2014/main" val="10002"/>
                  </a:ext>
                </a:extLst>
              </a:tr>
              <a:tr h="440055">
                <a:tc>
                  <a:txBody>
                    <a:bodyPr/>
                    <a:lstStyle/>
                    <a:p>
                      <a:r>
                        <a:rPr sz="1200">
                          <a:latin typeface="Calibri"/>
                        </a:rPr>
                        <a:t>Lazo de corriente</a:t>
                      </a:r>
                    </a:p>
                  </a:txBody>
                  <a:tcPr/>
                </a:tc>
                <a:tc>
                  <a:txBody>
                    <a:bodyPr/>
                    <a:lstStyle/>
                    <a:p>
                      <a:r>
                        <a:rPr sz="1200">
                          <a:latin typeface="Calibri"/>
                        </a:rPr>
                        <a:t>R'q = 29 Ω   |   R'd = 33 Ω   →   polo en p = −5000 rad/s</a:t>
                      </a:r>
                    </a:p>
                  </a:txBody>
                  <a:tcPr/>
                </a:tc>
                <a:extLst>
                  <a:ext uri="{0D108BD9-81ED-4DB2-BD59-A6C34878D82A}">
                    <a16:rowId xmlns:a16="http://schemas.microsoft.com/office/drawing/2014/main" val="10003"/>
                  </a:ext>
                </a:extLst>
              </a:tr>
              <a:tr h="440055">
                <a:tc>
                  <a:txBody>
                    <a:bodyPr/>
                    <a:lstStyle/>
                    <a:p>
                      <a:r>
                        <a:rPr sz="1200">
                          <a:latin typeface="Calibri"/>
                        </a:rPr>
                        <a:t>Sensor de posición</a:t>
                      </a:r>
                    </a:p>
                  </a:txBody>
                  <a:tcPr>
                    <a:solidFill>
                      <a:srgbClr val="F0F4F8"/>
                    </a:solidFill>
                  </a:tcPr>
                </a:tc>
                <a:tc>
                  <a:txBody>
                    <a:bodyPr/>
                    <a:lstStyle/>
                    <a:p>
                      <a:r>
                        <a:rPr sz="1200">
                          <a:latin typeface="Calibri"/>
                        </a:rPr>
                        <a:t>LP 2° orden, ωn = 6000 rad/s, ζ = 1</a:t>
                      </a:r>
                    </a:p>
                  </a:txBody>
                  <a:tcPr>
                    <a:solidFill>
                      <a:srgbClr val="F0F4F8"/>
                    </a:solidFill>
                  </a:tcPr>
                </a:tc>
                <a:extLst>
                  <a:ext uri="{0D108BD9-81ED-4DB2-BD59-A6C34878D82A}">
                    <a16:rowId xmlns:a16="http://schemas.microsoft.com/office/drawing/2014/main" val="10004"/>
                  </a:ext>
                </a:extLst>
              </a:tr>
              <a:tr h="440055">
                <a:tc>
                  <a:txBody>
                    <a:bodyPr/>
                    <a:lstStyle/>
                    <a:p>
                      <a:r>
                        <a:rPr sz="1200">
                          <a:latin typeface="Calibri"/>
                        </a:rPr>
                        <a:t>Sensor de corriente</a:t>
                      </a:r>
                    </a:p>
                  </a:txBody>
                  <a:tcPr/>
                </a:tc>
                <a:tc>
                  <a:txBody>
                    <a:bodyPr/>
                    <a:lstStyle/>
                    <a:p>
                      <a:r>
                        <a:rPr sz="1200">
                          <a:latin typeface="Calibri"/>
                        </a:rPr>
                        <a:t>LP 2° orden, ωn = 18000 rad/s, ζ = 1</a:t>
                      </a:r>
                    </a:p>
                  </a:txBody>
                  <a:tcPr/>
                </a:tc>
                <a:extLst>
                  <a:ext uri="{0D108BD9-81ED-4DB2-BD59-A6C34878D82A}">
                    <a16:rowId xmlns:a16="http://schemas.microsoft.com/office/drawing/2014/main" val="10005"/>
                  </a:ext>
                </a:extLst>
              </a:tr>
              <a:tr h="440055">
                <a:tc>
                  <a:txBody>
                    <a:bodyPr/>
                    <a:lstStyle/>
                    <a:p>
                      <a:r>
                        <a:rPr sz="1200">
                          <a:latin typeface="Calibri"/>
                        </a:rPr>
                        <a:t>Sensor de temperatura</a:t>
                      </a:r>
                    </a:p>
                  </a:txBody>
                  <a:tcPr>
                    <a:solidFill>
                      <a:srgbClr val="F0F4F8"/>
                    </a:solidFill>
                  </a:tcPr>
                </a:tc>
                <a:tc>
                  <a:txBody>
                    <a:bodyPr/>
                    <a:lstStyle/>
                    <a:p>
                      <a:r>
                        <a:rPr sz="1200">
                          <a:latin typeface="Calibri"/>
                        </a:rPr>
                        <a:t>LP 1° orden, τ = 0.05 s</a:t>
                      </a:r>
                    </a:p>
                  </a:txBody>
                  <a:tcPr>
                    <a:solidFill>
                      <a:srgbClr val="F0F4F8"/>
                    </a:solidFill>
                  </a:tcPr>
                </a:tc>
                <a:extLst>
                  <a:ext uri="{0D108BD9-81ED-4DB2-BD59-A6C34878D82A}">
                    <a16:rowId xmlns:a16="http://schemas.microsoft.com/office/drawing/2014/main" val="10006"/>
                  </a:ext>
                </a:extLst>
              </a:tr>
              <a:tr h="440055">
                <a:tc>
                  <a:txBody>
                    <a:bodyPr/>
                    <a:lstStyle/>
                    <a:p>
                      <a:r>
                        <a:rPr sz="1200">
                          <a:latin typeface="Calibri"/>
                        </a:rPr>
                        <a:t>Modulador de tensión</a:t>
                      </a:r>
                    </a:p>
                  </a:txBody>
                  <a:tcPr/>
                </a:tc>
                <a:tc>
                  <a:txBody>
                    <a:bodyPr/>
                    <a:lstStyle/>
                    <a:p>
                      <a:r>
                        <a:rPr sz="1200">
                          <a:latin typeface="Calibri"/>
                        </a:rPr>
                        <a:t>LP 2° orden, ωn = 18000 rad/s, ζ = 1  +  saturación 39.2 V</a:t>
                      </a:r>
                    </a:p>
                  </a:txBody>
                  <a:tcPr/>
                </a:tc>
                <a:extLst>
                  <a:ext uri="{0D108BD9-81ED-4DB2-BD59-A6C34878D82A}">
                    <a16:rowId xmlns:a16="http://schemas.microsoft.com/office/drawing/2014/main" val="10007"/>
                  </a:ext>
                </a:extLst>
              </a:tr>
            </a:tbl>
          </a:graphicData>
        </a:graphic>
      </p:graphicFrame>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365760" y="777240"/>
            <a:ext cx="7772400" cy="658368"/>
          </a:xfrm>
          <a:prstGeom prst="rect">
            <a:avLst/>
          </a:prstGeom>
          <a:noFill/>
        </p:spPr>
        <p:txBody>
          <a:bodyPr wrap="square">
            <a:spAutoFit/>
          </a:bodyPr>
          <a:lstStyle/>
          <a:p>
            <a:pPr algn="l"/>
            <a:r>
              <a:rPr sz="1400" b="0" i="0">
                <a:solidFill>
                  <a:srgbClr val="1A1A2E"/>
                </a:solidFill>
                <a:latin typeface="Calibri"/>
              </a:rPr>
              <a:t>Para implementar el controlador en un sistema digital (microcontrolador/DSP) se aplica el método de emulación con integrador de Tustin (trapecios). Se conservan las ganancias del diseño continuo:</a:t>
            </a:r>
          </a:p>
        </p:txBody>
      </p:sp>
      <p:sp>
        <p:nvSpPr>
          <p:cNvPr id="8" name="Rectangle 7"/>
          <p:cNvSpPr/>
          <p:nvPr/>
        </p:nvSpPr>
        <p:spPr>
          <a:xfrm>
            <a:off x="365760" y="1508760"/>
            <a:ext cx="77724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1508760"/>
            <a:ext cx="7589520" cy="475488"/>
          </a:xfrm>
          <a:prstGeom prst="rect">
            <a:avLst/>
          </a:prstGeom>
          <a:noFill/>
        </p:spPr>
        <p:txBody>
          <a:bodyPr wrap="square">
            <a:spAutoFit/>
          </a:bodyPr>
          <a:lstStyle/>
          <a:p>
            <a:pPr algn="ctr"/>
            <a:r>
              <a:rPr sz="1100" b="1">
                <a:solidFill>
                  <a:srgbClr val="1B6B2A"/>
                </a:solidFill>
                <a:latin typeface="Calibri"/>
              </a:rPr>
              <a:t>📐  ECUACIÓN: x[k] = x[k−1] + (Ts/2)·(x'[k] + x'[k−1])     ↔     s  →  (2/Ts)·(z−1)/(z+1)     [Ec. 31]</a:t>
            </a:r>
          </a:p>
        </p:txBody>
      </p:sp>
      <p:sp>
        <p:nvSpPr>
          <p:cNvPr id="10" name="TextBox 9"/>
          <p:cNvSpPr txBox="1"/>
          <p:nvPr/>
        </p:nvSpPr>
        <p:spPr>
          <a:xfrm>
            <a:off x="365760" y="2103120"/>
            <a:ext cx="7772400" cy="365760"/>
          </a:xfrm>
          <a:prstGeom prst="rect">
            <a:avLst/>
          </a:prstGeom>
          <a:noFill/>
        </p:spPr>
        <p:txBody>
          <a:bodyPr wrap="square">
            <a:spAutoFit/>
          </a:bodyPr>
          <a:lstStyle/>
          <a:p>
            <a:pPr algn="l"/>
            <a:r>
              <a:rPr sz="1400" b="1" i="0">
                <a:solidFill>
                  <a:srgbClr val="1A3A6B"/>
                </a:solidFill>
                <a:latin typeface="Calibri"/>
              </a:rPr>
              <a:t>Elección del período de muestreo:</a:t>
            </a:r>
          </a:p>
        </p:txBody>
      </p:sp>
      <p:sp>
        <p:nvSpPr>
          <p:cNvPr id="11" name="Rectangle 10"/>
          <p:cNvSpPr/>
          <p:nvPr/>
        </p:nvSpPr>
        <p:spPr>
          <a:xfrm>
            <a:off x="365760" y="2532888"/>
            <a:ext cx="7772400"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57200" y="2532888"/>
            <a:ext cx="7589520" cy="502920"/>
          </a:xfrm>
          <a:prstGeom prst="rect">
            <a:avLst/>
          </a:prstGeom>
          <a:noFill/>
        </p:spPr>
        <p:txBody>
          <a:bodyPr wrap="square">
            <a:spAutoFit/>
          </a:bodyPr>
          <a:lstStyle/>
          <a:p>
            <a:pPr algn="ctr"/>
            <a:r>
              <a:rPr sz="1100" b="1">
                <a:solidFill>
                  <a:srgbClr val="1B6B2A"/>
                </a:solidFill>
                <a:latin typeface="Calibri"/>
              </a:rPr>
              <a:t>📐  ECUACIÓN: fs ≥ 10·fmax  con  fmax = pcorriente/(2π) = 5000/(2π) ≈ 796 Hz   →   Ts ≈ 1.2566×10⁻⁴ s  (fs ≈ 7958 Hz)</a:t>
            </a:r>
          </a:p>
        </p:txBody>
      </p:sp>
      <p:sp>
        <p:nvSpPr>
          <p:cNvPr id="13" name="TextBox 12"/>
          <p:cNvSpPr txBox="1"/>
          <p:nvPr/>
        </p:nvSpPr>
        <p:spPr>
          <a:xfrm>
            <a:off x="365760" y="3127248"/>
            <a:ext cx="7772400" cy="1828800"/>
          </a:xfrm>
          <a:prstGeom prst="rect">
            <a:avLst/>
          </a:prstGeom>
          <a:noFill/>
        </p:spPr>
        <p:txBody>
          <a:bodyPr wrap="square">
            <a:spAutoFit/>
          </a:bodyPr>
          <a:lstStyle/>
          <a:p>
            <a:r>
              <a:rPr sz="1350">
                <a:solidFill>
                  <a:srgbClr val="1A1A2E"/>
                </a:solidFill>
                <a:latin typeface="Calibri"/>
              </a:rPr>
              <a:t>Criterio de Nyquist × 10: conservador pero estándar en control digital de accionamientos</a:t>
            </a:r>
          </a:p>
          <a:p>
            <a:pPr>
              <a:spcBef>
                <a:spcPts val="400"/>
              </a:spcBef>
            </a:pPr>
            <a:r>
              <a:rPr sz="1350">
                <a:solidFill>
                  <a:srgbClr val="1A1A2E"/>
                </a:solidFill>
                <a:latin typeface="Calibri"/>
              </a:rPr>
              <a:t>Ts es suficientemente pequeño para todos los lazos (lazo de corriente es el más rápido: τcc ≈ 0.2 ms)</a:t>
            </a:r>
          </a:p>
          <a:p>
            <a:pPr>
              <a:spcBef>
                <a:spcPts val="400"/>
              </a:spcBef>
            </a:pPr>
            <a:r>
              <a:rPr sz="1350">
                <a:solidFill>
                  <a:srgbClr val="1A1A2E"/>
                </a:solidFill>
                <a:latin typeface="Calibri"/>
              </a:rPr>
              <a:t>Se añaden retenedores de orden cero (ZOH) en entradas y salidas del controlador</a:t>
            </a:r>
          </a:p>
        </p:txBody>
      </p:sp>
      <p:sp>
        <p:nvSpPr>
          <p:cNvPr id="14" name="Rectangle 13"/>
          <p:cNvSpPr/>
          <p:nvPr/>
        </p:nvSpPr>
        <p:spPr>
          <a:xfrm>
            <a:off x="8412480" y="777240"/>
            <a:ext cx="3566160" cy="274320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503919" y="1874520"/>
            <a:ext cx="3383279" cy="548640"/>
          </a:xfrm>
          <a:prstGeom prst="rect">
            <a:avLst/>
          </a:prstGeom>
          <a:noFill/>
        </p:spPr>
        <p:txBody>
          <a:bodyPr wrap="square">
            <a:spAutoFit/>
          </a:bodyPr>
          <a:lstStyle/>
          <a:p>
            <a:pPr algn="ctr"/>
            <a:r>
              <a:rPr sz="1100" b="1">
                <a:solidFill>
                  <a:srgbClr val="C35A00"/>
                </a:solidFill>
                <a:latin typeface="Calibri"/>
              </a:rPr>
              <a:t>🖼  FIGURA: Figura 91 — Integrador discreto por trapecios (Tustin) en Simulink</a:t>
            </a:r>
          </a:p>
        </p:txBody>
      </p:sp>
      <p:sp>
        <p:nvSpPr>
          <p:cNvPr id="16" name="TextBox 15"/>
          <p:cNvSpPr txBox="1"/>
          <p:nvPr/>
        </p:nvSpPr>
        <p:spPr>
          <a:xfrm>
            <a:off x="8503919" y="2258568"/>
            <a:ext cx="3383279"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7" name="Rectangle 16"/>
          <p:cNvSpPr/>
          <p:nvPr/>
        </p:nvSpPr>
        <p:spPr>
          <a:xfrm>
            <a:off x="365760" y="5029200"/>
            <a:ext cx="7772400" cy="105156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457200" y="5029200"/>
            <a:ext cx="7589520" cy="1051560"/>
          </a:xfrm>
          <a:prstGeom prst="rect">
            <a:avLst/>
          </a:prstGeom>
          <a:noFill/>
        </p:spPr>
        <p:txBody>
          <a:bodyPr wrap="square">
            <a:spAutoFit/>
          </a:bodyPr>
          <a:lstStyle/>
          <a:p>
            <a:pPr algn="ctr"/>
            <a:r>
              <a:rPr sz="1100" b="1">
                <a:solidFill>
                  <a:srgbClr val="1B6B2A"/>
                </a:solidFill>
                <a:latin typeface="Calibri"/>
              </a:rPr>
              <a:t>📐  ECUACIÓN: Ecuaciones en diferencias principales:
Set-point: ω*m[k] = (θ*m[k] − θ*m[k−1]) / Ts
PID: I[k] = I[k−1] + (Ts/2)·(eθ[k]+eθ[k−1])     (ídem para observador)</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Bloques discretizados — Resultados y validación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7" name="Rectangle 6"/>
          <p:cNvSpPr/>
          <p:nvPr/>
        </p:nvSpPr>
        <p:spPr>
          <a:xfrm>
            <a:off x="36576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1554480"/>
            <a:ext cx="5303520" cy="548640"/>
          </a:xfrm>
          <a:prstGeom prst="rect">
            <a:avLst/>
          </a:prstGeom>
          <a:noFill/>
        </p:spPr>
        <p:txBody>
          <a:bodyPr wrap="square">
            <a:spAutoFit/>
          </a:bodyPr>
          <a:lstStyle/>
          <a:p>
            <a:pPr algn="ctr"/>
            <a:r>
              <a:rPr sz="1100" b="1">
                <a:solidFill>
                  <a:srgbClr val="C35A00"/>
                </a:solidFill>
                <a:latin typeface="Calibri"/>
              </a:rPr>
              <a:t>🖼  FIGURA: Figuras 92-94 — Set-point, PID y observador aumentado discretizados (bloques Simulink)</a:t>
            </a:r>
          </a:p>
        </p:txBody>
      </p:sp>
      <p:sp>
        <p:nvSpPr>
          <p:cNvPr id="9" name="TextBox 8"/>
          <p:cNvSpPr txBox="1"/>
          <p:nvPr/>
        </p:nvSpPr>
        <p:spPr>
          <a:xfrm>
            <a:off x="45720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0" name="Rectangle 9"/>
          <p:cNvSpPr/>
          <p:nvPr/>
        </p:nvSpPr>
        <p:spPr>
          <a:xfrm>
            <a:off x="6126480" y="777240"/>
            <a:ext cx="54864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217920" y="1554480"/>
            <a:ext cx="5303520" cy="548640"/>
          </a:xfrm>
          <a:prstGeom prst="rect">
            <a:avLst/>
          </a:prstGeom>
          <a:noFill/>
        </p:spPr>
        <p:txBody>
          <a:bodyPr wrap="square">
            <a:spAutoFit/>
          </a:bodyPr>
          <a:lstStyle/>
          <a:p>
            <a:pPr algn="ctr"/>
            <a:r>
              <a:rPr sz="1100" b="1">
                <a:solidFill>
                  <a:srgbClr val="C35A00"/>
                </a:solidFill>
                <a:latin typeface="Calibri"/>
              </a:rPr>
              <a:t>🖼  FIGURA: Figura 95 — Sistema completo discretizado (Simulink)</a:t>
            </a:r>
          </a:p>
        </p:txBody>
      </p:sp>
      <p:sp>
        <p:nvSpPr>
          <p:cNvPr id="12" name="TextBox 11"/>
          <p:cNvSpPr txBox="1"/>
          <p:nvPr/>
        </p:nvSpPr>
        <p:spPr>
          <a:xfrm>
            <a:off x="6217920" y="1938528"/>
            <a:ext cx="53035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3" name="Rectangle 12"/>
          <p:cNvSpPr/>
          <p:nvPr/>
        </p:nvSpPr>
        <p:spPr>
          <a:xfrm>
            <a:off x="365760" y="3017520"/>
            <a:ext cx="11430000" cy="210312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794759"/>
            <a:ext cx="11247120" cy="548640"/>
          </a:xfrm>
          <a:prstGeom prst="rect">
            <a:avLst/>
          </a:prstGeom>
          <a:noFill/>
        </p:spPr>
        <p:txBody>
          <a:bodyPr wrap="square">
            <a:spAutoFit/>
          </a:bodyPr>
          <a:lstStyle/>
          <a:p>
            <a:pPr algn="ctr"/>
            <a:r>
              <a:rPr sz="1100" b="1">
                <a:solidFill>
                  <a:srgbClr val="C35A00"/>
                </a:solidFill>
                <a:latin typeface="Calibri"/>
              </a:rPr>
              <a:t>🖼  FIGURA: Figuras 96-100 — Resultados con controlador discreto: θm, ωm, iabc, vabc, Tm
(concordancia con el sistema continuo)</a:t>
            </a:r>
          </a:p>
        </p:txBody>
      </p:sp>
      <p:sp>
        <p:nvSpPr>
          <p:cNvPr id="15" name="TextBox 14"/>
          <p:cNvSpPr txBox="1"/>
          <p:nvPr/>
        </p:nvSpPr>
        <p:spPr>
          <a:xfrm>
            <a:off x="457200" y="4178807"/>
            <a:ext cx="11247120" cy="320040"/>
          </a:xfrm>
          <a:prstGeom prst="rect">
            <a:avLst/>
          </a:prstGeom>
          <a:noFill/>
        </p:spPr>
        <p:txBody>
          <a:bodyPr wrap="none">
            <a:spAutoFit/>
          </a:bodyPr>
          <a:lstStyle/>
          <a:p>
            <a:pPr algn="ctr"/>
            <a:r>
              <a:rPr sz="950" i="1">
                <a:solidFill>
                  <a:srgbClr val="C35A00"/>
                </a:solidFill>
                <a:latin typeface="Calibri"/>
              </a:rPr>
              <a:t>(Insertar imagen aquí)</a:t>
            </a:r>
          </a:p>
        </p:txBody>
      </p:sp>
      <p:sp>
        <p:nvSpPr>
          <p:cNvPr id="16" name="Rectangle 15"/>
          <p:cNvSpPr/>
          <p:nvPr/>
        </p:nvSpPr>
        <p:spPr>
          <a:xfrm>
            <a:off x="365760" y="5230368"/>
            <a:ext cx="11430000" cy="9601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502920" y="5276088"/>
            <a:ext cx="11155680" cy="868680"/>
          </a:xfrm>
          <a:prstGeom prst="rect">
            <a:avLst/>
          </a:prstGeom>
          <a:noFill/>
        </p:spPr>
        <p:txBody>
          <a:bodyPr wrap="square">
            <a:spAutoFit/>
          </a:bodyPr>
          <a:lstStyle/>
          <a:p>
            <a:pPr algn="l"/>
            <a:r>
              <a:rPr sz="1300">
                <a:solidFill>
                  <a:srgbClr val="1A3A6B"/>
                </a:solidFill>
                <a:latin typeface="Calibri"/>
              </a:rPr>
              <a:t>Validación: el controlador discreto se reescribió como bloque MATLAB Function (código embebido secuencial — emula implementación en microcontrolador/DSP). La comparación con el modelo por bloques muestra concordancia prácticamente exacta, confirmando que la reescritura en código preserva fielmente la dinámica del sistema diseñado.</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Conclusiones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70 / ~75</a:t>
            </a:r>
          </a:p>
        </p:txBody>
      </p:sp>
      <p:sp>
        <p:nvSpPr>
          <p:cNvPr id="6" name="TextBox 5"/>
          <p:cNvSpPr txBox="1"/>
          <p:nvPr/>
        </p:nvSpPr>
        <p:spPr>
          <a:xfrm>
            <a:off x="365760" y="777240"/>
            <a:ext cx="11430000" cy="5852160"/>
          </a:xfrm>
          <a:prstGeom prst="rect">
            <a:avLst/>
          </a:prstGeom>
          <a:noFill/>
        </p:spPr>
        <p:txBody>
          <a:bodyPr wrap="square">
            <a:spAutoFit/>
          </a:bodyPr>
          <a:lstStyle/>
          <a:p>
            <a:r>
              <a:rPr sz="1350" b="1">
                <a:solidFill>
                  <a:srgbClr val="1A3A6B"/>
                </a:solidFill>
                <a:latin typeface="Calibri"/>
              </a:rPr>
              <a:t>1.  Modelado completo integrado: </a:t>
            </a:r>
            <a:r>
              <a:rPr sz="1300">
                <a:solidFill>
                  <a:srgbClr val="1A1A2E"/>
                </a:solidFill>
                <a:latin typeface="Calibri"/>
              </a:rPr>
              <a:t>Se desarrolló el modelo dinámico del accionamiento PMSM integrando los subsistemas mecánico, electromagnético y térmico (orden 5), con validación frente al modelo no lineal.</a:t>
            </a:r>
          </a:p>
          <a:p>
            <a:pPr>
              <a:spcBef>
                <a:spcPts val="800"/>
              </a:spcBef>
            </a:pPr>
            <a:r>
              <a:rPr sz="1350" b="1">
                <a:solidFill>
                  <a:srgbClr val="1A3A6B"/>
                </a:solidFill>
                <a:latin typeface="Calibri"/>
              </a:rPr>
              <a:t>2.  Modelo LTI observable y controlable: </a:t>
            </a:r>
            <a:r>
              <a:rPr sz="1300">
                <a:solidFill>
                  <a:srgbClr val="1A1A2E"/>
                </a:solidFill>
                <a:latin typeface="Calibri"/>
              </a:rPr>
              <a:t>La ley de control mínima (ids^r=0) y las hipótesis de linealización producen un modelo LTI de orden 5 completamente observable (desde θm) y controlable (desde vqs^r).</a:t>
            </a:r>
          </a:p>
          <a:p>
            <a:pPr>
              <a:spcBef>
                <a:spcPts val="800"/>
              </a:spcBef>
            </a:pPr>
            <a:r>
              <a:rPr sz="1350" b="1">
                <a:solidFill>
                  <a:srgbClr val="1A3A6B"/>
                </a:solidFill>
                <a:latin typeface="Calibri"/>
              </a:rPr>
              <a:t>3.  Estabilidad confirmada: </a:t>
            </a:r>
            <a:r>
              <a:rPr sz="1300">
                <a:solidFill>
                  <a:srgbClr val="1A1A2E"/>
                </a:solidFill>
                <a:latin typeface="Calibri"/>
              </a:rPr>
              <a:t>Estabilidad BIBO en todo el rango de operación: ωn ≈ 174 rad/s, ζ ∈ [0.55, 1.05] según temperatura y carga. Mayor Jeq → ωn cae; mayor Rs → ζ crece.</a:t>
            </a:r>
          </a:p>
          <a:p>
            <a:pPr>
              <a:spcBef>
                <a:spcPts val="800"/>
              </a:spcBef>
            </a:pPr>
            <a:r>
              <a:rPr sz="1350" b="1">
                <a:solidFill>
                  <a:srgbClr val="1A3A6B"/>
                </a:solidFill>
                <a:latin typeface="Calibri"/>
              </a:rPr>
              <a:t>4.  Control en cascada eficaz: </a:t>
            </a:r>
            <a:r>
              <a:rPr sz="1300">
                <a:solidFill>
                  <a:srgbClr val="1A1A2E"/>
                </a:solidFill>
                <a:latin typeface="Calibri"/>
              </a:rPr>
              <a:t>Modulador de torque + PID externo + observador aumentado con acción integral: seguimiento preciso, rechazo a perturbaciones y eliminación del error estacionario.</a:t>
            </a:r>
          </a:p>
          <a:p>
            <a:pPr>
              <a:spcBef>
                <a:spcPts val="800"/>
              </a:spcBef>
            </a:pPr>
            <a:r>
              <a:rPr sz="1350" b="1">
                <a:solidFill>
                  <a:srgbClr val="1A3A6B"/>
                </a:solidFill>
                <a:latin typeface="Calibri"/>
              </a:rPr>
              <a:t>5.  Comportamiento térmico: </a:t>
            </a:r>
            <a:r>
              <a:rPr sz="1300">
                <a:solidFill>
                  <a:srgbClr val="1A1A2E"/>
                </a:solidFill>
                <a:latin typeface="Calibri"/>
              </a:rPr>
              <a:t>Ts &lt; 115°C en condiciones nominales. Con ml=1.5 kg y carga cíclica prolongada Ts supera el límite → necesaria limitación de corriente o reducción de consigna.</a:t>
            </a:r>
          </a:p>
          <a:p>
            <a:pPr>
              <a:spcBef>
                <a:spcPts val="800"/>
              </a:spcBef>
            </a:pPr>
            <a:r>
              <a:rPr sz="1350" b="1">
                <a:solidFill>
                  <a:srgbClr val="1A3A6B"/>
                </a:solidFill>
                <a:latin typeface="Calibri"/>
              </a:rPr>
              <a:t>6.  Discretización y validación: </a:t>
            </a:r>
            <a:r>
              <a:rPr sz="1300">
                <a:solidFill>
                  <a:srgbClr val="1A1A2E"/>
                </a:solidFill>
                <a:latin typeface="Calibri"/>
              </a:rPr>
              <a:t>Discretización por Tustin con Ts ≈ 1.25×10⁻⁴ s valida el diseño continuo. Concordancia prácticamente exacta entre implementación por bloques y MATLAB Function.</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5760720"/>
          </a:xfrm>
          <a:prstGeom prst="rect">
            <a:avLst/>
          </a:prstGeom>
          <a:noFill/>
        </p:spPr>
        <p:txBody>
          <a:bodyPr wrap="square">
            <a:spAutoFit/>
          </a:bodyPr>
          <a:lstStyle/>
          <a:p>
            <a:r>
              <a:rPr sz="1300">
                <a:solidFill>
                  <a:srgbClr val="1A1A2E"/>
                </a:solidFill>
                <a:latin typeface="Calibri"/>
              </a:rPr>
              <a:t>[1] G. Julián. Proyecto Global Integrador: Control de Accionamiento de CA con Motor Síncrono de Imanes Permanentes. UNCuyo, Ing. en Mecatrónica, 2024.</a:t>
            </a:r>
          </a:p>
          <a:p>
            <a:pPr>
              <a:spcBef>
                <a:spcPts val="900"/>
              </a:spcBef>
            </a:pPr>
            <a:r>
              <a:rPr sz="1300">
                <a:solidFill>
                  <a:srgbClr val="1A1A2E"/>
                </a:solidFill>
                <a:latin typeface="Calibri"/>
              </a:rPr>
              <a:t>[2] G. Julián. Guía de trabajo — Proyecto Global Integrador. UNCuyo, 2024.</a:t>
            </a:r>
          </a:p>
          <a:p>
            <a:pPr>
              <a:spcBef>
                <a:spcPts val="900"/>
              </a:spcBef>
            </a:pPr>
            <a:r>
              <a:rPr sz="1300">
                <a:solidFill>
                  <a:srgbClr val="1A1A2E"/>
                </a:solidFill>
                <a:latin typeface="Calibri"/>
              </a:rPr>
              <a:t>[3] P. Krause, O. Wasynczuk, S. D. Sudhoff, S. Pekarek. Analysis of Electric Machinery and Drive Systems. 3ª ed. Wiley-IEEE Press, 2013.</a:t>
            </a:r>
          </a:p>
          <a:p>
            <a:pPr>
              <a:spcBef>
                <a:spcPts val="900"/>
              </a:spcBef>
            </a:pPr>
            <a:r>
              <a:rPr sz="1300">
                <a:solidFill>
                  <a:srgbClr val="1A1A2E"/>
                </a:solidFill>
                <a:latin typeface="Calibri"/>
              </a:rPr>
              <a:t>[4] G. F. Franklin, J. D. Powell, A. Emami-Naeni. Feedback Control of Dynamic Systems. 7ª ed. Pearson, 2015.</a:t>
            </a:r>
          </a:p>
          <a:p>
            <a:pPr>
              <a:spcBef>
                <a:spcPts val="900"/>
              </a:spcBef>
            </a:pPr>
            <a:r>
              <a:rPr sz="1300">
                <a:solidFill>
                  <a:srgbClr val="1A1A2E"/>
                </a:solidFill>
                <a:latin typeface="Calibri"/>
              </a:rPr>
              <a:t>[5] K. Ogata. Ingeniería de Control Moderna. 5ª ed. Prentice Hall, 2010.</a:t>
            </a:r>
          </a:p>
          <a:p>
            <a:pPr>
              <a:spcBef>
                <a:spcPts val="900"/>
              </a:spcBef>
            </a:pPr>
            <a:r>
              <a:rPr sz="1300">
                <a:solidFill>
                  <a:srgbClr val="1A1A2E"/>
                </a:solidFill>
                <a:latin typeface="Calibri"/>
              </a:rPr>
              <a:t>[6] K. M. Lynch, F. C. Park. Modern Robotics: Mechanics, Planning, and Control. Cambridge University Press, 2017.</a:t>
            </a:r>
          </a:p>
          <a:p>
            <a:pPr>
              <a:spcBef>
                <a:spcPts val="900"/>
              </a:spcBef>
            </a:pPr>
            <a:r>
              <a:rPr sz="1300">
                <a:solidFill>
                  <a:srgbClr val="1A1A2E"/>
                </a:solidFill>
                <a:latin typeface="Calibri"/>
              </a:rPr>
              <a:t>[7] MathWorks. MATLAB/Simulink R2024b Documentation. www.mathworks.com</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5486400"/>
            <a:ext cx="12191695" cy="164592"/>
          </a:xfrm>
          <a:prstGeom prst="rect">
            <a:avLst/>
          </a:prstGeom>
          <a:solidFill>
            <a:srgbClr val="C35A00"/>
          </a:solidFill>
          <a:ln>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0" y="5650992"/>
            <a:ext cx="12191695" cy="1207008"/>
          </a:xfrm>
          <a:prstGeom prst="rect">
            <a:avLst/>
          </a:prstGeom>
          <a:solidFill>
            <a:srgbClr val="0D2241"/>
          </a:solidFill>
          <a:ln>
            <a:solidFill>
              <a:srgbClr val="0D224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0" y="1828800"/>
            <a:ext cx="12191695" cy="1463040"/>
          </a:xfrm>
          <a:prstGeom prst="rect">
            <a:avLst/>
          </a:prstGeom>
          <a:noFill/>
        </p:spPr>
        <p:txBody>
          <a:bodyPr wrap="none">
            <a:spAutoFit/>
          </a:bodyPr>
          <a:lstStyle/>
          <a:p>
            <a:pPr algn="ctr"/>
            <a:r>
              <a:rPr sz="5200" b="1">
                <a:solidFill>
                  <a:srgbClr val="FFFFFF"/>
                </a:solidFill>
                <a:latin typeface="Cambria"/>
              </a:rPr>
              <a:t>¡Muchas gracias!</a:t>
            </a:r>
          </a:p>
        </p:txBody>
      </p:sp>
      <p:sp>
        <p:nvSpPr>
          <p:cNvPr id="6" name="TextBox 5"/>
          <p:cNvSpPr txBox="1"/>
          <p:nvPr/>
        </p:nvSpPr>
        <p:spPr>
          <a:xfrm>
            <a:off x="914400" y="3474720"/>
            <a:ext cx="10362895" cy="548640"/>
          </a:xfrm>
          <a:prstGeom prst="rect">
            <a:avLst/>
          </a:prstGeom>
          <a:noFill/>
        </p:spPr>
        <p:txBody>
          <a:bodyPr wrap="none">
            <a:spAutoFit/>
          </a:bodyPr>
          <a:lstStyle/>
          <a:p>
            <a:pPr algn="ctr"/>
            <a:r>
              <a:rPr sz="1600">
                <a:solidFill>
                  <a:srgbClr val="B0CBEE"/>
                </a:solidFill>
                <a:latin typeface="Calibri"/>
              </a:rPr>
              <a:t>Juan Stella  ·  Juan Francisco Huertas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138</TotalTime>
  <Words>10592</Words>
  <Application>Microsoft Office PowerPoint</Application>
  <PresentationFormat>Panorámica</PresentationFormat>
  <Paragraphs>1011</Paragraphs>
  <Slides>73</Slides>
  <Notes>0</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73</vt:i4>
      </vt:variant>
    </vt:vector>
  </HeadingPairs>
  <TitlesOfParts>
    <vt:vector size="78" baseType="lpstr">
      <vt:lpstr>Arial</vt:lpstr>
      <vt:lpstr>Calibri</vt:lpstr>
      <vt:lpstr>Cambria</vt:lpstr>
      <vt:lpstr>Cambria Math</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7</cp:revision>
  <dcterms:created xsi:type="dcterms:W3CDTF">2013-01-27T09:14:16Z</dcterms:created>
  <dcterms:modified xsi:type="dcterms:W3CDTF">2026-04-10T23:58:13Z</dcterms:modified>
  <cp:category/>
</cp:coreProperties>
</file>