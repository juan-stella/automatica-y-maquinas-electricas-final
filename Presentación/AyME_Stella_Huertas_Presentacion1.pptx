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6" r:id="rId2"/>
    <p:sldId id="257" r:id="rId3"/>
    <p:sldId id="258" r:id="rId4"/>
    <p:sldId id="384" r:id="rId5"/>
    <p:sldId id="260" r:id="rId6"/>
    <p:sldId id="261" r:id="rId7"/>
    <p:sldId id="262" r:id="rId8"/>
    <p:sldId id="263" r:id="rId9"/>
    <p:sldId id="382" r:id="rId10"/>
    <p:sldId id="264" r:id="rId11"/>
    <p:sldId id="265" r:id="rId12"/>
    <p:sldId id="383"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4" r:id="rId31"/>
    <p:sldId id="285" r:id="rId32"/>
    <p:sldId id="286" r:id="rId33"/>
    <p:sldId id="287" r:id="rId34"/>
    <p:sldId id="328" r:id="rId35"/>
    <p:sldId id="329" r:id="rId36"/>
    <p:sldId id="330" r:id="rId37"/>
    <p:sldId id="288" r:id="rId38"/>
    <p:sldId id="290" r:id="rId39"/>
    <p:sldId id="331" r:id="rId40"/>
    <p:sldId id="291" r:id="rId41"/>
    <p:sldId id="332" r:id="rId42"/>
    <p:sldId id="292" r:id="rId43"/>
    <p:sldId id="293" r:id="rId44"/>
    <p:sldId id="294" r:id="rId45"/>
    <p:sldId id="333" r:id="rId46"/>
    <p:sldId id="295" r:id="rId47"/>
    <p:sldId id="334" r:id="rId48"/>
    <p:sldId id="297" r:id="rId49"/>
    <p:sldId id="337" r:id="rId50"/>
    <p:sldId id="336" r:id="rId51"/>
    <p:sldId id="296" r:id="rId52"/>
    <p:sldId id="338" r:id="rId53"/>
    <p:sldId id="299" r:id="rId54"/>
    <p:sldId id="298" r:id="rId55"/>
    <p:sldId id="339" r:id="rId56"/>
    <p:sldId id="340" r:id="rId57"/>
    <p:sldId id="385" r:id="rId58"/>
    <p:sldId id="341" r:id="rId59"/>
    <p:sldId id="300" r:id="rId60"/>
    <p:sldId id="301" r:id="rId61"/>
    <p:sldId id="302" r:id="rId62"/>
    <p:sldId id="343" r:id="rId63"/>
    <p:sldId id="344" r:id="rId64"/>
    <p:sldId id="303" r:id="rId65"/>
    <p:sldId id="345" r:id="rId66"/>
    <p:sldId id="304" r:id="rId67"/>
    <p:sldId id="346" r:id="rId68"/>
    <p:sldId id="305" r:id="rId69"/>
    <p:sldId id="306" r:id="rId70"/>
    <p:sldId id="347" r:id="rId71"/>
    <p:sldId id="307" r:id="rId72"/>
    <p:sldId id="348" r:id="rId73"/>
    <p:sldId id="309" r:id="rId74"/>
    <p:sldId id="310" r:id="rId75"/>
    <p:sldId id="349" r:id="rId76"/>
    <p:sldId id="311" r:id="rId77"/>
    <p:sldId id="312" r:id="rId78"/>
    <p:sldId id="350" r:id="rId79"/>
    <p:sldId id="351" r:id="rId80"/>
    <p:sldId id="314" r:id="rId81"/>
    <p:sldId id="315" r:id="rId82"/>
    <p:sldId id="316" r:id="rId83"/>
    <p:sldId id="352" r:id="rId84"/>
    <p:sldId id="353" r:id="rId85"/>
    <p:sldId id="354" r:id="rId86"/>
    <p:sldId id="355" r:id="rId87"/>
    <p:sldId id="317" r:id="rId88"/>
    <p:sldId id="356" r:id="rId89"/>
    <p:sldId id="318" r:id="rId90"/>
    <p:sldId id="357" r:id="rId91"/>
    <p:sldId id="358" r:id="rId92"/>
    <p:sldId id="319" r:id="rId93"/>
    <p:sldId id="359" r:id="rId94"/>
    <p:sldId id="360" r:id="rId95"/>
    <p:sldId id="361" r:id="rId96"/>
    <p:sldId id="363" r:id="rId97"/>
    <p:sldId id="364" r:id="rId98"/>
    <p:sldId id="362" r:id="rId99"/>
    <p:sldId id="365" r:id="rId100"/>
    <p:sldId id="366" r:id="rId101"/>
    <p:sldId id="320" r:id="rId102"/>
    <p:sldId id="367" r:id="rId103"/>
    <p:sldId id="368" r:id="rId104"/>
    <p:sldId id="369" r:id="rId105"/>
    <p:sldId id="370" r:id="rId106"/>
    <p:sldId id="371" r:id="rId107"/>
    <p:sldId id="321" r:id="rId108"/>
    <p:sldId id="322" r:id="rId109"/>
    <p:sldId id="323" r:id="rId110"/>
    <p:sldId id="372" r:id="rId111"/>
    <p:sldId id="373" r:id="rId112"/>
    <p:sldId id="374" r:id="rId113"/>
    <p:sldId id="375" r:id="rId114"/>
    <p:sldId id="377" r:id="rId115"/>
    <p:sldId id="378" r:id="rId116"/>
    <p:sldId id="379" r:id="rId117"/>
    <p:sldId id="380" r:id="rId118"/>
    <p:sldId id="381" r:id="rId119"/>
    <p:sldId id="326" r:id="rId1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002" autoAdjust="0"/>
    <p:restoredTop sz="94477" autoAdjust="0"/>
  </p:normalViewPr>
  <p:slideViewPr>
    <p:cSldViewPr snapToGrid="0" snapToObjects="1">
      <p:cViewPr varScale="1">
        <p:scale>
          <a:sx n="108" d="100"/>
          <a:sy n="108" d="100"/>
        </p:scale>
        <p:origin x="768"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27/4/2026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56</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57</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58</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77</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92</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101</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41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2100.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10.png"/><Relationship Id="rId1" Type="http://schemas.openxmlformats.org/officeDocument/2006/relationships/slideLayout" Target="../slideLayouts/slideLayout7.xml"/><Relationship Id="rId6" Type="http://schemas.openxmlformats.org/officeDocument/2006/relationships/image" Target="../media/image1611.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910.png"/></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11.png"/><Relationship Id="rId2" Type="http://schemas.openxmlformats.org/officeDocument/2006/relationships/image" Target="../media/image2510.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0.png"/><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60.png"/></Relationships>
</file>

<file path=ppt/slides/_rels/slide23.xml.rels><?xml version="1.0" encoding="UTF-8" standalone="yes"?>
<Relationships xmlns="http://schemas.openxmlformats.org/package/2006/relationships"><Relationship Id="rId2" Type="http://schemas.openxmlformats.org/officeDocument/2006/relationships/image" Target="../media/image390.png"/><Relationship Id="rId1" Type="http://schemas.openxmlformats.org/officeDocument/2006/relationships/slideLayout" Target="../slideLayouts/slideLayout7.xml"/><Relationship Id="rId5" Type="http://schemas.openxmlformats.org/officeDocument/2006/relationships/image" Target="../media/image371.png"/><Relationship Id="rId4" Type="http://schemas.openxmlformats.org/officeDocument/2006/relationships/image" Target="../media/image40.png"/></Relationships>
</file>

<file path=ppt/slides/_rels/slide24.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41.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s>
</file>

<file path=ppt/slides/_rels/slide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5.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8" Type="http://schemas.openxmlformats.org/officeDocument/2006/relationships/image" Target="../media/image491.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0" Type="http://schemas.openxmlformats.org/officeDocument/2006/relationships/image" Target="../media/image531.png"/><Relationship Id="rId9" Type="http://schemas.openxmlformats.org/officeDocument/2006/relationships/image" Target="../media/image501.png"/></Relationships>
</file>

<file path=ppt/slides/_rels/slide29.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90.png"/><Relationship Id="rId4" Type="http://schemas.openxmlformats.org/officeDocument/2006/relationships/image" Target="../media/image450.png"/></Relationships>
</file>

<file path=ppt/slides/_rels/slide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1.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7.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8.png"/><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3" Type="http://schemas.openxmlformats.org/officeDocument/2006/relationships/image" Target="../media/image71.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3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2.png"/></Relationships>
</file>

<file path=ppt/slides/_rels/slide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3.png"/><Relationship Id="rId1" Type="http://schemas.openxmlformats.org/officeDocument/2006/relationships/slideLayout" Target="../slideLayouts/slideLayout7.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4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 Id="rId5" Type="http://schemas.openxmlformats.org/officeDocument/2006/relationships/image" Target="../media/image111.png"/><Relationship Id="rId4" Type="http://schemas.openxmlformats.org/officeDocument/2006/relationships/image" Target="../media/image110.png"/></Relationships>
</file>

<file path=ppt/slides/_rels/slide5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0.png"/><Relationship Id="rId7" Type="http://schemas.openxmlformats.org/officeDocument/2006/relationships/image" Target="../media/image106.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s>
</file>

<file path=ppt/slides/_rels/slide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2.png"/><Relationship Id="rId4" Type="http://schemas.openxmlformats.org/officeDocument/2006/relationships/image" Target="../media/image120.png"/></Relationships>
</file>

<file path=ppt/slides/_rels/slide5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3.png"/><Relationship Id="rId4" Type="http://schemas.openxmlformats.org/officeDocument/2006/relationships/image" Target="../media/image126.png"/></Relationships>
</file>

<file path=ppt/slides/_rels/slide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27.png"/></Relationships>
</file>

<file path=ppt/slides/_rels/slide58.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 Id="rId5" Type="http://schemas.openxmlformats.org/officeDocument/2006/relationships/image" Target="../media/image136.png"/><Relationship Id="rId4" Type="http://schemas.openxmlformats.org/officeDocument/2006/relationships/image" Target="../media/image135.png"/></Relationships>
</file>

<file path=ppt/slides/_rels/slide62.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3.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41.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65.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8.png"/></Relationships>
</file>

<file path=ppt/slides/_rels/slide66.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6" Type="http://schemas.openxmlformats.org/officeDocument/2006/relationships/image" Target="../media/image155.png"/><Relationship Id="rId5" Type="http://schemas.openxmlformats.org/officeDocument/2006/relationships/image" Target="../media/image154.png"/><Relationship Id="rId4" Type="http://schemas.openxmlformats.org/officeDocument/2006/relationships/image" Target="../media/image153.png"/></Relationships>
</file>

<file path=ppt/slides/_rels/slide67.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70.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71.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74.png"/><Relationship Id="rId5" Type="http://schemas.openxmlformats.org/officeDocument/2006/relationships/image" Target="../media/image157.png"/><Relationship Id="rId4" Type="http://schemas.openxmlformats.org/officeDocument/2006/relationships/image" Target="../media/image173.png"/></Relationships>
</file>

<file path=ppt/slides/_rels/slide72.xml.rels><?xml version="1.0" encoding="UTF-8" standalone="yes"?>
<Relationships xmlns="http://schemas.openxmlformats.org/package/2006/relationships"><Relationship Id="rId3" Type="http://schemas.openxmlformats.org/officeDocument/2006/relationships/image" Target="../media/image175.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77.png"/><Relationship Id="rId4" Type="http://schemas.openxmlformats.org/officeDocument/2006/relationships/image" Target="../media/image18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8" Type="http://schemas.openxmlformats.org/officeDocument/2006/relationships/image" Target="../media/image193.png"/><Relationship Id="rId3" Type="http://schemas.openxmlformats.org/officeDocument/2006/relationships/image" Target="../media/image187.png"/><Relationship Id="rId7" Type="http://schemas.openxmlformats.org/officeDocument/2006/relationships/image" Target="../media/image19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89.png"/><Relationship Id="rId5" Type="http://schemas.openxmlformats.org/officeDocument/2006/relationships/image" Target="../media/image188.png"/><Relationship Id="rId4" Type="http://schemas.openxmlformats.org/officeDocument/2006/relationships/image" Target="../media/image186.png"/><Relationship Id="rId9" Type="http://schemas.openxmlformats.org/officeDocument/2006/relationships/image" Target="../media/image194.png"/></Relationships>
</file>

<file path=ppt/slides/_rels/slide78.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9.png"/><Relationship Id="rId5" Type="http://schemas.openxmlformats.org/officeDocument/2006/relationships/image" Target="../media/image191.png"/><Relationship Id="rId4" Type="http://schemas.openxmlformats.org/officeDocument/2006/relationships/image" Target="../media/image190.png"/></Relationships>
</file>

<file path=ppt/slides/_rels/slide79.xml.rels><?xml version="1.0" encoding="UTF-8" standalone="yes"?>
<Relationships xmlns="http://schemas.openxmlformats.org/package/2006/relationships"><Relationship Id="rId8" Type="http://schemas.openxmlformats.org/officeDocument/2006/relationships/image" Target="../media/image203.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202.png"/><Relationship Id="rId5" Type="http://schemas.openxmlformats.org/officeDocument/2006/relationships/image" Target="../media/image198.png"/><Relationship Id="rId4" Type="http://schemas.openxmlformats.org/officeDocument/2006/relationships/image" Target="../media/image197.png"/></Relationships>
</file>

<file path=ppt/slides/_rels/slide80.xml.rels><?xml version="1.0" encoding="UTF-8" standalone="yes"?>
<Relationships xmlns="http://schemas.openxmlformats.org/package/2006/relationships"><Relationship Id="rId3" Type="http://schemas.openxmlformats.org/officeDocument/2006/relationships/image" Target="../media/image208.png"/><Relationship Id="rId2" Type="http://schemas.openxmlformats.org/officeDocument/2006/relationships/image" Target="../media/image207.png"/><Relationship Id="rId1" Type="http://schemas.openxmlformats.org/officeDocument/2006/relationships/slideLayout" Target="../slideLayouts/slideLayout7.xml"/><Relationship Id="rId6" Type="http://schemas.openxmlformats.org/officeDocument/2006/relationships/image" Target="../media/image206.png"/><Relationship Id="rId5" Type="http://schemas.openxmlformats.org/officeDocument/2006/relationships/image" Target="../media/image210.png"/><Relationship Id="rId4" Type="http://schemas.openxmlformats.org/officeDocument/2006/relationships/image" Target="../media/image204.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12.png"/><Relationship Id="rId1" Type="http://schemas.openxmlformats.org/officeDocument/2006/relationships/slideLayout" Target="../slideLayouts/slideLayout7.xml"/><Relationship Id="rId4" Type="http://schemas.openxmlformats.org/officeDocument/2006/relationships/image" Target="../media/image209.png"/></Relationships>
</file>

<file path=ppt/slides/_rels/slide83.xml.rels><?xml version="1.0" encoding="UTF-8" standalone="yes"?>
<Relationships xmlns="http://schemas.openxmlformats.org/package/2006/relationships"><Relationship Id="rId2" Type="http://schemas.openxmlformats.org/officeDocument/2006/relationships/image" Target="../media/image211.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215.png"/><Relationship Id="rId2" Type="http://schemas.openxmlformats.org/officeDocument/2006/relationships/image" Target="../media/image214.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 Id="rId5" Type="http://schemas.openxmlformats.org/officeDocument/2006/relationships/image" Target="../media/image217.png"/><Relationship Id="rId4" Type="http://schemas.openxmlformats.org/officeDocument/2006/relationships/image" Target="../media/image216.png"/></Relationships>
</file>

<file path=ppt/slides/_rels/slide86.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image" Target="../media/image222.png"/><Relationship Id="rId1" Type="http://schemas.openxmlformats.org/officeDocument/2006/relationships/slideLayout" Target="../slideLayouts/slideLayout7.xml"/><Relationship Id="rId4" Type="http://schemas.openxmlformats.org/officeDocument/2006/relationships/image" Target="../media/image221.png"/></Relationships>
</file>

<file path=ppt/slides/_rels/slide87.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8.xml.rels><?xml version="1.0" encoding="UTF-8" standalone="yes"?>
<Relationships xmlns="http://schemas.openxmlformats.org/package/2006/relationships"><Relationship Id="rId3" Type="http://schemas.openxmlformats.org/officeDocument/2006/relationships/image" Target="../media/image229.png"/><Relationship Id="rId2" Type="http://schemas.openxmlformats.org/officeDocument/2006/relationships/image" Target="../media/image224.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9.xml.rels><?xml version="1.0" encoding="UTF-8" standalone="yes"?>
<Relationships xmlns="http://schemas.openxmlformats.org/package/2006/relationships"><Relationship Id="rId3" Type="http://schemas.openxmlformats.org/officeDocument/2006/relationships/image" Target="../media/image233.png"/><Relationship Id="rId2" Type="http://schemas.openxmlformats.org/officeDocument/2006/relationships/image" Target="../media/image232.png"/><Relationship Id="rId1" Type="http://schemas.openxmlformats.org/officeDocument/2006/relationships/slideLayout" Target="../slideLayouts/slideLayout7.xml"/><Relationship Id="rId4" Type="http://schemas.openxmlformats.org/officeDocument/2006/relationships/image" Target="../media/image237.png"/></Relationships>
</file>

<file path=ppt/slides/_rels/slide90.xml.rels><?xml version="1.0" encoding="UTF-8" standalone="yes"?>
<Relationships xmlns="http://schemas.openxmlformats.org/package/2006/relationships"><Relationship Id="rId3" Type="http://schemas.openxmlformats.org/officeDocument/2006/relationships/image" Target="../media/image236.png"/><Relationship Id="rId2" Type="http://schemas.openxmlformats.org/officeDocument/2006/relationships/image" Target="../media/image235.png"/><Relationship Id="rId1" Type="http://schemas.openxmlformats.org/officeDocument/2006/relationships/slideLayout" Target="../slideLayouts/slideLayout7.xml"/><Relationship Id="rId5" Type="http://schemas.openxmlformats.org/officeDocument/2006/relationships/image" Target="../media/image240.png"/><Relationship Id="rId4" Type="http://schemas.openxmlformats.org/officeDocument/2006/relationships/image" Target="../media/image23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43.png"/><Relationship Id="rId5" Type="http://schemas.openxmlformats.org/officeDocument/2006/relationships/image" Target="../media/image239.png"/><Relationship Id="rId4" Type="http://schemas.openxmlformats.org/officeDocument/2006/relationships/image" Target="../media/image242.png"/></Relationships>
</file>

<file path=ppt/slides/_rels/slide93.xml.rels><?xml version="1.0" encoding="UTF-8" standalone="yes"?>
<Relationships xmlns="http://schemas.openxmlformats.org/package/2006/relationships"><Relationship Id="rId2" Type="http://schemas.openxmlformats.org/officeDocument/2006/relationships/image" Target="../media/image244.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246.png"/><Relationship Id="rId2" Type="http://schemas.openxmlformats.org/officeDocument/2006/relationships/image" Target="../media/image245.png"/><Relationship Id="rId1" Type="http://schemas.openxmlformats.org/officeDocument/2006/relationships/slideLayout" Target="../slideLayouts/slideLayout7.xml"/><Relationship Id="rId5" Type="http://schemas.openxmlformats.org/officeDocument/2006/relationships/image" Target="../media/image248.png"/><Relationship Id="rId4" Type="http://schemas.openxmlformats.org/officeDocument/2006/relationships/image" Target="../media/image247.png"/></Relationships>
</file>

<file path=ppt/slides/_rels/slide95.xml.rels><?xml version="1.0" encoding="UTF-8" standalone="yes"?>
<Relationships xmlns="http://schemas.openxmlformats.org/package/2006/relationships"><Relationship Id="rId3" Type="http://schemas.openxmlformats.org/officeDocument/2006/relationships/image" Target="../media/image250.png"/><Relationship Id="rId7" Type="http://schemas.openxmlformats.org/officeDocument/2006/relationships/image" Target="../media/image254.png"/><Relationship Id="rId2" Type="http://schemas.openxmlformats.org/officeDocument/2006/relationships/image" Target="../media/image249.png"/><Relationship Id="rId1" Type="http://schemas.openxmlformats.org/officeDocument/2006/relationships/slideLayout" Target="../slideLayouts/slideLayout7.xml"/><Relationship Id="rId6" Type="http://schemas.openxmlformats.org/officeDocument/2006/relationships/image" Target="../media/image253.png"/><Relationship Id="rId5" Type="http://schemas.openxmlformats.org/officeDocument/2006/relationships/image" Target="../media/image252.png"/><Relationship Id="rId4" Type="http://schemas.openxmlformats.org/officeDocument/2006/relationships/image" Target="../media/image251.png"/></Relationships>
</file>

<file path=ppt/slides/_rels/slide96.xml.rels><?xml version="1.0" encoding="UTF-8" standalone="yes"?>
<Relationships xmlns="http://schemas.openxmlformats.org/package/2006/relationships"><Relationship Id="rId3" Type="http://schemas.openxmlformats.org/officeDocument/2006/relationships/image" Target="../media/image256.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57.png"/></Relationships>
</file>

<file path=ppt/slides/_rels/slide97.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8.xml.rels><?xml version="1.0" encoding="UTF-8" standalone="yes"?>
<Relationships xmlns="http://schemas.openxmlformats.org/package/2006/relationships"><Relationship Id="rId3" Type="http://schemas.openxmlformats.org/officeDocument/2006/relationships/image" Target="../media/image264.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66.png"/><Relationship Id="rId4" Type="http://schemas.openxmlformats.org/officeDocument/2006/relationships/image" Target="../media/image265.png"/></Relationships>
</file>

<file path=ppt/slides/_rels/slide99.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8.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71.png"/><Relationship Id="rId5" Type="http://schemas.openxmlformats.org/officeDocument/2006/relationships/image" Target="../media/image270.png"/><Relationship Id="rId4" Type="http://schemas.openxmlformats.org/officeDocument/2006/relationships/image" Target="../media/image269.png"/></Relationships>
</file>

<file path=ppt/slides/_rels/slide100.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image" Target="../media/image274.png"/><Relationship Id="rId1" Type="http://schemas.openxmlformats.org/officeDocument/2006/relationships/slideLayout" Target="../slideLayouts/slideLayout7.xml"/><Relationship Id="rId5" Type="http://schemas.openxmlformats.org/officeDocument/2006/relationships/image" Target="../media/image277.png"/><Relationship Id="rId4" Type="http://schemas.openxmlformats.org/officeDocument/2006/relationships/image" Target="../media/image276.png"/></Relationships>
</file>

<file path=ppt/slides/_rels/slide101.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281.png"/><Relationship Id="rId5" Type="http://schemas.openxmlformats.org/officeDocument/2006/relationships/image" Target="../media/image280.png"/><Relationship Id="rId4" Type="http://schemas.openxmlformats.org/officeDocument/2006/relationships/image" Target="../media/image279.png"/></Relationships>
</file>

<file path=ppt/slides/_rels/slide102.xml.rels><?xml version="1.0" encoding="UTF-8" standalone="yes"?>
<Relationships xmlns="http://schemas.openxmlformats.org/package/2006/relationships"><Relationship Id="rId3" Type="http://schemas.openxmlformats.org/officeDocument/2006/relationships/image" Target="../media/image283.png"/><Relationship Id="rId2" Type="http://schemas.openxmlformats.org/officeDocument/2006/relationships/image" Target="../media/image282.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4.png"/></Relationships>
</file>

<file path=ppt/slides/_rels/slide103.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89.png"/><Relationship Id="rId4" Type="http://schemas.openxmlformats.org/officeDocument/2006/relationships/image" Target="../media/image288.png"/></Relationships>
</file>

<file path=ppt/slides/_rels/slide104.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93.png"/><Relationship Id="rId4" Type="http://schemas.openxmlformats.org/officeDocument/2006/relationships/image" Target="../media/image292.png"/></Relationships>
</file>

<file path=ppt/slides/_rels/slide105.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97.png"/><Relationship Id="rId4" Type="http://schemas.openxmlformats.org/officeDocument/2006/relationships/image" Target="../media/image296.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302.png"/><Relationship Id="rId5" Type="http://schemas.openxmlformats.org/officeDocument/2006/relationships/image" Target="../media/image301.png"/><Relationship Id="rId4" Type="http://schemas.openxmlformats.org/officeDocument/2006/relationships/image" Target="../media/image300.png"/></Relationships>
</file>

<file path=ppt/slides/_rels/slide110.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303.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305.png"/></Relationships>
</file>

<file path=ppt/slides/_rels/slide111.xml.rels><?xml version="1.0" encoding="UTF-8" standalone="yes"?>
<Relationships xmlns="http://schemas.openxmlformats.org/package/2006/relationships"><Relationship Id="rId3" Type="http://schemas.openxmlformats.org/officeDocument/2006/relationships/image" Target="../media/image309.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image" Target="../media/image311.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8" Type="http://schemas.openxmlformats.org/officeDocument/2006/relationships/image" Target="../media/image1610.png"/><Relationship Id="rId3" Type="http://schemas.openxmlformats.org/officeDocument/2006/relationships/image" Target="../media/image313.png"/><Relationship Id="rId7" Type="http://schemas.openxmlformats.org/officeDocument/2006/relationships/image" Target="../media/image1600.png"/><Relationship Id="rId2" Type="http://schemas.openxmlformats.org/officeDocument/2006/relationships/image" Target="../media/image312.png"/><Relationship Id="rId1" Type="http://schemas.openxmlformats.org/officeDocument/2006/relationships/slideLayout" Target="../slideLayouts/slideLayout7.xml"/><Relationship Id="rId6" Type="http://schemas.openxmlformats.org/officeDocument/2006/relationships/image" Target="../media/image1590.png"/><Relationship Id="rId5" Type="http://schemas.openxmlformats.org/officeDocument/2006/relationships/image" Target="../media/image315.png"/><Relationship Id="rId4" Type="http://schemas.openxmlformats.org/officeDocument/2006/relationships/image" Target="../media/image314.png"/><Relationship Id="rId9" Type="http://schemas.openxmlformats.org/officeDocument/2006/relationships/image" Target="../media/image1620.png"/></Relationships>
</file>

<file path=ppt/slides/_rels/slide115.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png"/><Relationship Id="rId4" Type="http://schemas.openxmlformats.org/officeDocument/2006/relationships/image" Target="../media/image316.png"/></Relationships>
</file>

<file path=ppt/slides/_rels/slide116.xml.rels><?xml version="1.0" encoding="UTF-8" standalone="yes"?>
<Relationships xmlns="http://schemas.openxmlformats.org/package/2006/relationships"><Relationship Id="rId3" Type="http://schemas.openxmlformats.org/officeDocument/2006/relationships/image" Target="../media/image319.png"/><Relationship Id="rId2" Type="http://schemas.openxmlformats.org/officeDocument/2006/relationships/image" Target="../media/image318.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20.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8.xml.rels><?xml version="1.0" encoding="UTF-8" standalone="yes"?>
<Relationships xmlns="http://schemas.openxmlformats.org/package/2006/relationships"><Relationship Id="rId3" Type="http://schemas.openxmlformats.org/officeDocument/2006/relationships/image" Target="../media/image324.png"/><Relationship Id="rId7" Type="http://schemas.openxmlformats.org/officeDocument/2006/relationships/image" Target="../media/image1730.png"/><Relationship Id="rId2" Type="http://schemas.openxmlformats.org/officeDocument/2006/relationships/image" Target="../media/image323.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2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243526" y="1597480"/>
            <a:ext cx="2014399" cy="201439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32498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683508"/>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683508"/>
                <a:ext cx="5394960" cy="1920240"/>
              </a:xfrm>
              <a:prstGeom prst="rect">
                <a:avLst/>
              </a:prstGeom>
              <a:blipFill>
                <a:blip r:embed="rId5"/>
                <a:stretch>
                  <a:fillRect l="-226" t="-635"/>
                </a:stretch>
              </a:blipFill>
              <a:ln/>
            </p:spPr>
            <p:txBody>
              <a:bodyPr/>
              <a:lstStyle/>
              <a:p>
                <a:r>
                  <a:rPr lang="es-AR">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300" i="1" smtClean="0">
                                        <a:effectLst/>
                                        <a:latin typeface="Cambria Math" panose="02040503050406030204" pitchFamily="18" charset="0"/>
                                        <a:ea typeface="Times New Roman" panose="02020603050405020304" pitchFamily="18" charset="0"/>
                                      </a:rPr>
                                    </m:ctrlPr>
                                  </m:sSubSup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𝑞</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𝑑</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𝑙𝑠</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𝑅</m:t>
                                    </m:r>
                                  </m:e>
                                  <m:sub>
                                    <m:r>
                                      <a:rPr lang="es-MX" sz="1300" b="0" i="1" smtClean="0">
                                        <a:effectLst/>
                                        <a:latin typeface="Cambria Math" panose="02040503050406030204" pitchFamily="18" charset="0"/>
                                      </a:rPr>
                                      <m:t>𝑆</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m:rPr>
                                        <m:nor/>
                                      </m:rPr>
                                      <a:rPr lang="en-US" sz="1300" dirty="0" smtClean="0">
                                        <a:solidFill>
                                          <a:srgbClr val="000000"/>
                                        </a:solidFill>
                                        <a:latin typeface="Calibri" pitchFamily="34" charset="0"/>
                                        <a:ea typeface="Calibri" pitchFamily="34" charset="-122"/>
                                        <a:cs typeface="Calibri" pitchFamily="34" charset="-120"/>
                                      </a:rPr>
                                      <m:t>α</m:t>
                                    </m:r>
                                  </m:e>
                                  <m:sub>
                                    <m:r>
                                      <a:rPr lang="es-MX" sz="1300" b="0" i="1" smtClean="0">
                                        <a:effectLst/>
                                        <a:latin typeface="Cambria Math" panose="02040503050406030204" pitchFamily="18" charset="0"/>
                                      </a:rPr>
                                      <m:t>𝑐𝑢</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𝐽</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𝑏</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𝑛</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𝑚𝑎𝑥</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𝑉</m:t>
                                    </m:r>
                                  </m:e>
                                  <m:sub>
                                    <m:r>
                                      <a:rPr lang="es-MX" sz="1300" b="0" i="1" smtClean="0">
                                        <a:effectLst/>
                                        <a:latin typeface="Cambria Math" panose="02040503050406030204" pitchFamily="18" charset="0"/>
                                      </a:rPr>
                                      <m:t>𝑠𝑙</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Choice>
        <mc:Fallback xmlns="">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201667" r="-205152" b="-1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301667" r="-205152" b="-10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401667" r="-205152" b="-9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501667" r="-205152" b="-8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601667" r="-205152" b="-7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701667" r="-205152" b="-6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801667" r="-205152" b="-5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901667" r="-205152" b="-4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001667" r="-205152" b="-3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101667" r="-205152" b="-2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201667" r="-205152" b="-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301667" r="-205152" b="-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857244"/>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0.1±0.03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=1.0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=9.80665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=0.25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=0.0208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=0.50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0⋯1.5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𝑚</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𝑐𝑚</m:t>
                            </m:r>
                          </m:sub>
                          <m:sup>
                            <m:r>
                              <a:rPr lang="es-AR" sz="1400" i="1">
                                <a:latin typeface="Cambria Math" panose="02040503050406030204" pitchFamily="18" charset="0"/>
                              </a:rPr>
                              <m:t>2</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𝑐𝑚</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𝑙</m:t>
                        </m:r>
                      </m:sub>
                      <m:sup>
                        <m:r>
                          <a:rPr lang="es-AR" sz="1400" i="1">
                            <a:latin typeface="Cambria Math" panose="02040503050406030204" pitchFamily="18" charset="0"/>
                          </a:rPr>
                          <m:t>2</m:t>
                        </m:r>
                      </m:sup>
                    </m:sSubSup>
                    <m:r>
                      <a:rPr lang="es-AR" sz="1400" i="1">
                        <a:latin typeface="Cambria Math" panose="02040503050406030204" pitchFamily="18" charset="0"/>
                      </a:rPr>
                      <m:t>=0.0833+</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0⋯0.</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rPr>
                      <m:t>𝑚</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𝑐𝑚</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0.25+</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0⋯0.75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0±5.0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857244"/>
                <a:ext cx="11430000" cy="1828800"/>
              </a:xfrm>
              <a:prstGeom prst="rect">
                <a:avLst/>
              </a:prstGeom>
              <a:blipFill>
                <a:blip r:embed="rId6"/>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207008"/>
            <a:ext cx="5486400" cy="41148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Rotor referido al estator — parámetros concentrados:</a:t>
            </a:r>
            <a:endParaRPr lang="en-US" sz="13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1" name="Text 19"/>
          <p:cNvSpPr/>
          <p:nvPr/>
        </p:nvSpPr>
        <p:spPr>
          <a:xfrm>
            <a:off x="0" y="696941"/>
            <a:ext cx="1143000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91440" y="1146995"/>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444495" y="1444331"/>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23" name="Text 21"/>
              <p:cNvSpPr>
                <a:spLocks noRot="1" noChangeAspect="1" noMove="1" noResize="1" noEditPoints="1" noAdjustHandles="1" noChangeArrowheads="1" noChangeShapeType="1" noTextEdit="1"/>
              </p:cNvSpPr>
              <p:nvPr/>
            </p:nvSpPr>
            <p:spPr>
              <a:xfrm>
                <a:off x="-444495" y="1444331"/>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0" y="2440915"/>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91440" y="2759301"/>
            <a:ext cx="11247120" cy="791767"/>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28" name="Text 21">
                <a:extLst>
                  <a:ext uri="{FF2B5EF4-FFF2-40B4-BE49-F238E27FC236}">
                    <a16:creationId xmlns:a16="http://schemas.microsoft.com/office/drawing/2014/main" id="{9CB1D5DA-B895-49EC-AF0F-2B5E12F4D128}"/>
                  </a:ext>
                </a:extLst>
              </p:cNvPr>
              <p:cNvSpPr/>
              <p:nvPr/>
            </p:nvSpPr>
            <p:spPr>
              <a:xfrm>
                <a:off x="180039" y="2858502"/>
                <a:ext cx="4209081" cy="594360"/>
              </a:xfrm>
              <a:prstGeom prst="rect">
                <a:avLst/>
              </a:prstGeom>
              <a:noFill/>
              <a:ln/>
            </p:spPr>
            <p:txBody>
              <a:bodyPr wrap="square" rtlCol="0" anchor="ctr"/>
              <a:lstStyle/>
              <a:p>
                <a:pPr algn="ctr"/>
                <a14:m>
                  <m:oMath xmlns:m="http://schemas.openxmlformats.org/officeDocument/2006/math">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180039" y="2858502"/>
                <a:ext cx="4209081" cy="594360"/>
              </a:xfrm>
              <a:prstGeom prst="rect">
                <a:avLst/>
              </a:prstGeom>
              <a:blipFill>
                <a:blip r:embed="rId3"/>
                <a:stretch>
                  <a:fillRect b="-3093"/>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0" y="3738869"/>
            <a:ext cx="11430000" cy="411480"/>
          </a:xfrm>
          <a:prstGeom prst="rect">
            <a:avLst/>
          </a:prstGeom>
          <a:noFill/>
          <a:ln/>
        </p:spPr>
        <p:txBody>
          <a:bodyPr wrap="square" rtlCol="0" anchor="t"/>
          <a:lstStyle/>
          <a:p>
            <a:pPr marL="0" indent="0" algn="l">
              <a:buNone/>
            </a:pPr>
            <a:r>
              <a:rPr lang="es-AR" sz="1600" b="1" dirty="0">
                <a:solidFill>
                  <a:srgbClr val="1A386B"/>
                </a:solidFill>
                <a:latin typeface="Calibri" pitchFamily="34" charset="0"/>
                <a:ea typeface="Calibri" pitchFamily="34" charset="-122"/>
                <a:cs typeface="Calibri" pitchFamily="34" charset="-120"/>
              </a:rPr>
              <a:t>Representación matricial en espacio de estados:</a:t>
            </a:r>
            <a:endParaRPr lang="es-AR" sz="1600" dirty="0"/>
          </a:p>
        </p:txBody>
      </p:sp>
      <p:sp>
        <p:nvSpPr>
          <p:cNvPr id="30" name="Shape 20">
            <a:extLst>
              <a:ext uri="{FF2B5EF4-FFF2-40B4-BE49-F238E27FC236}">
                <a16:creationId xmlns:a16="http://schemas.microsoft.com/office/drawing/2014/main" id="{8B4DE1EB-B212-4A92-A0D0-0B0C5C1971DD}"/>
              </a:ext>
            </a:extLst>
          </p:cNvPr>
          <p:cNvSpPr/>
          <p:nvPr/>
        </p:nvSpPr>
        <p:spPr>
          <a:xfrm>
            <a:off x="91440" y="4231196"/>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0" y="4541249"/>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eqArr>
                            <m:eqArrPr>
                              <m:ctrlPr>
                                <a:rPr lang="es-AR" sz="1050" i="1">
                                  <a:effectLst/>
                                  <a:latin typeface="Cambria Math" panose="02040503050406030204" pitchFamily="18" charset="0"/>
                                  <a:ea typeface="Times New Roman" panose="02020603050405020304" pitchFamily="18" charset="0"/>
                                </a:rPr>
                              </m:ctrlPr>
                            </m:eqArrPr>
                            <m:e>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1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0" y="4541249"/>
                <a:ext cx="5178523" cy="594360"/>
              </a:xfrm>
              <a:prstGeom prst="rect">
                <a:avLst/>
              </a:prstGeom>
              <a:blipFill>
                <a:blip r:embed="rId4"/>
                <a:stretch>
                  <a:fillRect t="-31959" b="-3505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796264"/>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0" name="Text 8"/>
              <p:cNvSpPr/>
              <p:nvPr/>
            </p:nvSpPr>
            <p:spPr>
              <a:xfrm>
                <a:off x="161573" y="1977390"/>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transformación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p:sp>
            <p:nvSpPr>
              <p:cNvPr id="10" name="Text 8"/>
              <p:cNvSpPr>
                <a:spLocks noRot="1" noChangeAspect="1" noMove="1" noResize="1" noEditPoints="1" noAdjustHandles="1" noChangeArrowheads="1" noChangeShapeType="1" noTextEdit="1"/>
              </p:cNvSpPr>
              <p:nvPr/>
            </p:nvSpPr>
            <p:spPr>
              <a:xfrm>
                <a:off x="161573" y="1977390"/>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949760"/>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949760"/>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943627"/>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943627"/>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486410"/>
            <a:ext cx="2628678"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511415"/>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535158"/>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535158"/>
                <a:ext cx="11430000" cy="731520"/>
              </a:xfrm>
              <a:prstGeom prst="rect">
                <a:avLst/>
              </a:prstGeom>
              <a:blipFill>
                <a:blip r:embed="rId6"/>
                <a:stretch>
                  <a:fillRect l="-160" t="-1667"/>
                </a:stretch>
              </a:blipFill>
              <a:ln/>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C240382E-B464-47CA-9B22-CC7A848DA512}"/>
              </a:ext>
            </a:extLst>
          </p:cNvPr>
          <p:cNvSpPr txBox="1"/>
          <p:nvPr/>
        </p:nvSpPr>
        <p:spPr>
          <a:xfrm>
            <a:off x="274320" y="136634"/>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extLst>
      <p:ext uri="{BB962C8B-B14F-4D97-AF65-F5344CB8AC3E}">
        <p14:creationId xmlns:p14="http://schemas.microsoft.com/office/powerpoint/2010/main" val="2229578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a:t>
            </a:r>
            <a:r>
              <a:rPr lang="en-US" sz="1900" b="1" dirty="0" err="1">
                <a:solidFill>
                  <a:srgbClr val="FFFFFF"/>
                </a:solidFill>
                <a:latin typeface="Calibri" pitchFamily="34" charset="0"/>
                <a:ea typeface="Calibri" pitchFamily="34" charset="-122"/>
                <a:cs typeface="Calibri" pitchFamily="34" charset="-120"/>
              </a:rPr>
              <a:t>Transformación</a:t>
            </a:r>
            <a:r>
              <a:rPr lang="en-US" sz="1900" b="1" dirty="0">
                <a:solidFill>
                  <a:srgbClr val="FFFFFF"/>
                </a:solidFill>
                <a:latin typeface="Calibri" pitchFamily="34" charset="0"/>
                <a:ea typeface="Calibri" pitchFamily="34" charset="-122"/>
                <a:cs typeface="Calibri" pitchFamily="34" charset="-120"/>
              </a:rPr>
              <a:t>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457200" y="4991559"/>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a:t>
            </a:r>
            <a:r>
              <a:rPr lang="en-US" sz="1100" i="1" dirty="0" err="1">
                <a:solidFill>
                  <a:srgbClr val="224488"/>
                </a:solidFill>
                <a:latin typeface="Calibri" pitchFamily="34" charset="0"/>
                <a:ea typeface="Calibri" pitchFamily="34" charset="-122"/>
                <a:cs typeface="Calibri" pitchFamily="34" charset="-120"/>
              </a:rPr>
              <a:t>transformación</a:t>
            </a:r>
            <a:r>
              <a:rPr lang="en-US" sz="1100" i="1" dirty="0">
                <a:solidFill>
                  <a:srgbClr val="224488"/>
                </a:solidFill>
                <a:latin typeface="Calibri" pitchFamily="34" charset="0"/>
                <a:ea typeface="Calibri" pitchFamily="34" charset="-122"/>
                <a:cs typeface="Calibri" pitchFamily="34" charset="-120"/>
              </a:rPr>
              <a:t>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2"/>
          <a:stretch>
            <a:fillRect/>
          </a:stretch>
        </p:blipFill>
        <p:spPr>
          <a:xfrm>
            <a:off x="2266852" y="1025880"/>
            <a:ext cx="7702771" cy="3734677"/>
          </a:xfrm>
          <a:prstGeom prst="rect">
            <a:avLst/>
          </a:prstGeom>
        </p:spPr>
      </p:pic>
    </p:spTree>
    <p:extLst>
      <p:ext uri="{BB962C8B-B14F-4D97-AF65-F5344CB8AC3E}">
        <p14:creationId xmlns:p14="http://schemas.microsoft.com/office/powerpoint/2010/main" val="911180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639192" y="1615224"/>
                <a:ext cx="500798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639192" y="1615224"/>
                <a:ext cx="5007984" cy="548640"/>
              </a:xfrm>
              <a:prstGeom prst="rect">
                <a:avLst/>
              </a:prstGeom>
              <a:blipFill>
                <a:blip r:embed="rId2"/>
                <a:stretch>
                  <a:fillRect l="-122" t="-67778" b="-70000"/>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514905" y="4098731"/>
                <a:ext cx="615555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514905" y="4098731"/>
                <a:ext cx="6155557" cy="548640"/>
              </a:xfrm>
              <a:prstGeom prst="rect">
                <a:avLst/>
              </a:prstGeom>
              <a:blipFill>
                <a:blip r:embed="rId3"/>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149839"/>
                <a:ext cx="11430000" cy="457200"/>
              </a:xfrm>
              <a:prstGeom prst="rect">
                <a:avLst/>
              </a:prstGeom>
              <a:blipFill>
                <a:blip r:embed="rId5"/>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59646BFE-5B29-4924-BE61-8E62C94BCF85}"/>
              </a:ext>
            </a:extLst>
          </p:cNvPr>
          <p:cNvSpPr txBox="1"/>
          <p:nvPr/>
        </p:nvSpPr>
        <p:spPr>
          <a:xfrm>
            <a:off x="152696" y="144518"/>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1872740"/>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65760" y="4040006"/>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472440" y="4104014"/>
                <a:ext cx="11247120" cy="62179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472440" y="4104014"/>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11430000"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−15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11430000" cy="1179576"/>
              </a:xfrm>
              <a:prstGeom prst="rect">
                <a:avLst/>
              </a:prstGeom>
              <a:blipFill>
                <a:blip r:embed="rId4"/>
                <a:stretch>
                  <a:fillRect l="-160" t="-24742"/>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365760" y="2948529"/>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≡1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018101"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500" i="1">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018101"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 10">
                <a:extLst>
                  <a:ext uri="{FF2B5EF4-FFF2-40B4-BE49-F238E27FC236}">
                    <a16:creationId xmlns:a16="http://schemas.microsoft.com/office/drawing/2014/main" id="{8487B241-9AC0-49F2-B841-AFF136F1385B}"/>
                  </a:ext>
                </a:extLst>
              </p:cNvPr>
              <p:cNvSpPr/>
              <p:nvPr/>
            </p:nvSpPr>
            <p:spPr>
              <a:xfrm>
                <a:off x="260898" y="4586257"/>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𝑙𝑑</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xmlns="">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60898" y="4586257"/>
                <a:ext cx="5486400" cy="1307592"/>
              </a:xfrm>
              <a:prstGeom prst="rect">
                <a:avLst/>
              </a:prstGeom>
              <a:blipFill>
                <a:blip r:embed="rId3"/>
                <a:stretch>
                  <a:fillRect l="-333" b="-45116"/>
                </a:stretch>
              </a:blipFill>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Modelo LTI equivalente y análisis</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mc:Choice xmlns:a14="http://schemas.microsoft.com/office/drawing/2010/main" Requires="a14">
          <p:sp>
            <p:nvSpPr>
              <p:cNvPr id="7" name="Text 5"/>
              <p:cNvSpPr/>
              <p:nvPr/>
            </p:nvSpPr>
            <p:spPr>
              <a:xfrm>
                <a:off x="91440" y="677772"/>
                <a:ext cx="11978640" cy="785384"/>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s-AR" sz="1400" i="1" smtClean="0">
                        <a:solidFill>
                          <a:srgbClr val="111111"/>
                        </a:solidFill>
                        <a:latin typeface="Cambria Math" panose="02040503050406030204" pitchFamily="18" charset="0"/>
                        <a:ea typeface="Calibri" pitchFamily="34" charset="-122"/>
                        <a:cs typeface="Calibri" pitchFamily="34" charset="-120"/>
                      </a:rPr>
                      <m:t>𝑑</m:t>
                    </m:r>
                    <m:r>
                      <a:rPr lang="es-AR" sz="1400" i="1" smtClean="0">
                        <a:solidFill>
                          <a:srgbClr val="111111"/>
                        </a:solidFill>
                        <a:latin typeface="Cambria Math" panose="02040503050406030204" pitchFamily="18" charset="0"/>
                        <a:ea typeface="Calibri" pitchFamily="34" charset="-122"/>
                        <a:cs typeface="Calibri" pitchFamily="34" charset="-120"/>
                      </a:rPr>
                      <m:t>−</m:t>
                    </m:r>
                    <m:r>
                      <a:rPr lang="es-AR" sz="1400" i="1" smtClean="0">
                        <a:solidFill>
                          <a:srgbClr val="111111"/>
                        </a:solidFill>
                        <a:latin typeface="Cambria Math" panose="02040503050406030204" pitchFamily="18" charset="0"/>
                        <a:ea typeface="Calibri" pitchFamily="34" charset="-122"/>
                        <a:cs typeface="Calibri" pitchFamily="34" charset="-120"/>
                      </a:rPr>
                      <m:t>𝑞</m:t>
                    </m:r>
                  </m:oMath>
                </a14:m>
                <a:r>
                  <a:rPr lang="es-AR" sz="1400" dirty="0">
                    <a:solidFill>
                      <a:srgbClr val="111111"/>
                    </a:solidFill>
                    <a:latin typeface="Calibri" pitchFamily="34" charset="0"/>
                    <a:ea typeface="Calibri" pitchFamily="34" charset="-122"/>
                    <a:cs typeface="Calibri" pitchFamily="34" charset="-120"/>
                  </a:rPr>
                  <a:t>. </a:t>
                </a:r>
                <a:r>
                  <a:rPr lang="es-AR" sz="1400" dirty="0"/>
                  <a:t>De manera general, un sistema dinámico no lineal puede describirse mediante un conjunto de ecuaciones diferenciales, donde la dinámica está representada por una función vectorial </a:t>
                </a:r>
                <a14:m>
                  <m:oMath xmlns:m="http://schemas.openxmlformats.org/officeDocument/2006/math">
                    <m:r>
                      <a:rPr lang="es-AR" sz="1400" i="1">
                        <a:latin typeface="Cambria Math" panose="02040503050406030204" pitchFamily="18" charset="0"/>
                      </a:rPr>
                      <m:t>𝑓</m:t>
                    </m:r>
                  </m:oMath>
                </a14:m>
                <a:r>
                  <a:rPr lang="es-AR" sz="1400" dirty="0"/>
                  <a:t>, dependiente del vector de estado </a:t>
                </a:r>
                <a14:m>
                  <m:oMath xmlns:m="http://schemas.openxmlformats.org/officeDocument/2006/math">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de la entrada de control </a:t>
                </a:r>
                <a14:m>
                  <m:oMath xmlns:m="http://schemas.openxmlformats.org/officeDocument/2006/math">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La salida del sistema se considera, en este caso, como una combinación lineal de las variables de estado.</a:t>
                </a:r>
              </a:p>
              <a:p>
                <a:br>
                  <a:rPr lang="en-US" sz="1300" dirty="0">
                    <a:solidFill>
                      <a:srgbClr val="111111"/>
                    </a:solidFill>
                    <a:latin typeface="Calibri" pitchFamily="34" charset="0"/>
                    <a:ea typeface="Calibri" pitchFamily="34" charset="-122"/>
                    <a:cs typeface="Calibri" pitchFamily="34" charset="-120"/>
                  </a:rPr>
                </a:br>
                <a:endParaRPr lang="en-US" sz="1300" dirty="0"/>
              </a:p>
            </p:txBody>
          </p:sp>
        </mc:Choice>
        <mc:Fallback>
          <p:sp>
            <p:nvSpPr>
              <p:cNvPr id="7" name="Text 5"/>
              <p:cNvSpPr>
                <a:spLocks noRot="1" noChangeAspect="1" noMove="1" noResize="1" noEditPoints="1" noAdjustHandles="1" noChangeArrowheads="1" noChangeShapeType="1" noTextEdit="1"/>
              </p:cNvSpPr>
              <p:nvPr/>
            </p:nvSpPr>
            <p:spPr>
              <a:xfrm>
                <a:off x="91440" y="677772"/>
                <a:ext cx="11978640" cy="785384"/>
              </a:xfrm>
              <a:prstGeom prst="rect">
                <a:avLst/>
              </a:prstGeom>
              <a:blipFill>
                <a:blip r:embed="rId2"/>
                <a:stretch>
                  <a:fillRect l="-153" t="-1550" r="-153" b="-1550"/>
                </a:stretch>
              </a:blipFill>
              <a:ln/>
            </p:spPr>
            <p:txBody>
              <a:bodyPr/>
              <a:lstStyle/>
              <a:p>
                <a:r>
                  <a:rPr lang="es-AR">
                    <a:noFill/>
                  </a:rPr>
                  <a:t> </a:t>
                </a:r>
              </a:p>
            </p:txBody>
          </p:sp>
        </mc:Fallback>
      </mc:AlternateContent>
      <p:sp>
        <p:nvSpPr>
          <p:cNvPr id="8" name="Shape 6"/>
          <p:cNvSpPr/>
          <p:nvPr/>
        </p:nvSpPr>
        <p:spPr>
          <a:xfrm>
            <a:off x="127543" y="2482774"/>
            <a:ext cx="9144000" cy="530352"/>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9" name="Text 7"/>
              <p:cNvSpPr/>
              <p:nvPr/>
            </p:nvSpPr>
            <p:spPr>
              <a:xfrm>
                <a:off x="-319597" y="2422594"/>
                <a:ext cx="2936289"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p:sp>
            <p:nvSpPr>
              <p:cNvPr id="9" name="Text 7"/>
              <p:cNvSpPr>
                <a:spLocks noRot="1" noChangeAspect="1" noMove="1" noResize="1" noEditPoints="1" noAdjustHandles="1" noChangeArrowheads="1" noChangeShapeType="1" noTextEdit="1"/>
              </p:cNvSpPr>
              <p:nvPr/>
            </p:nvSpPr>
            <p:spPr>
              <a:xfrm>
                <a:off x="-319597" y="2422594"/>
                <a:ext cx="2936289"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127543" y="3060525"/>
            <a:ext cx="11430000" cy="384048"/>
          </a:xfrm>
          <a:prstGeom prst="rect">
            <a:avLst/>
          </a:prstGeom>
          <a:noFill/>
          <a:ln/>
        </p:spPr>
        <p:txBody>
          <a:bodyPr wrap="square" rtlCol="0" anchor="t"/>
          <a:lstStyle/>
          <a:p>
            <a:pPr marL="0" indent="0" algn="l">
              <a:buNone/>
            </a:pPr>
            <a:r>
              <a:rPr lang="es-AR" sz="1400" dirty="0">
                <a:solidFill>
                  <a:srgbClr val="111111"/>
                </a:solidFill>
                <a:latin typeface="Calibri" pitchFamily="34" charset="0"/>
                <a:ea typeface="Calibri" pitchFamily="34" charset="-122"/>
                <a:cs typeface="Calibri" pitchFamily="34" charset="-120"/>
              </a:rPr>
              <a:t>Entonces, el sistema no lineal queda expresado como: </a:t>
            </a:r>
            <a:endParaRPr lang="es-AR" sz="1400" dirty="0"/>
          </a:p>
        </p:txBody>
      </p:sp>
      <p:sp>
        <p:nvSpPr>
          <p:cNvPr id="18" name="Shape 6">
            <a:extLst>
              <a:ext uri="{FF2B5EF4-FFF2-40B4-BE49-F238E27FC236}">
                <a16:creationId xmlns:a16="http://schemas.microsoft.com/office/drawing/2014/main" id="{BBAC01EC-E856-4860-B292-FF94F5A2DFFA}"/>
              </a:ext>
            </a:extLst>
          </p:cNvPr>
          <p:cNvSpPr/>
          <p:nvPr/>
        </p:nvSpPr>
        <p:spPr>
          <a:xfrm>
            <a:off x="143078" y="3472258"/>
            <a:ext cx="9144000" cy="1059694"/>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19" name="Text 7">
                <a:extLst>
                  <a:ext uri="{FF2B5EF4-FFF2-40B4-BE49-F238E27FC236}">
                    <a16:creationId xmlns:a16="http://schemas.microsoft.com/office/drawing/2014/main" id="{43434609-4479-46CB-A4E2-9F9A2E6B04CF}"/>
                  </a:ext>
                </a:extLst>
              </p:cNvPr>
              <p:cNvSpPr/>
              <p:nvPr/>
            </p:nvSpPr>
            <p:spPr>
              <a:xfrm>
                <a:off x="258636" y="3582142"/>
                <a:ext cx="5593524"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b="0" i="1" smtClean="0">
                                    <a:latin typeface="Cambria Math" panose="02040503050406030204" pitchFamily="18" charset="0"/>
                                  </a:rPr>
                                  <m:t>       </m:t>
                                </m:r>
                                <m:r>
                                  <a:rPr lang="es-AR" sz="1600" i="1">
                                    <a:latin typeface="Cambria Math" panose="02040503050406030204" pitchFamily="18" charset="0"/>
                                  </a:rPr>
                                  <m:t>                                                </m:t>
                                </m:r>
                              </m:e>
                            </m:mr>
                          </m:m>
                        </m:e>
                      </m:d>
                    </m:oMath>
                  </m:oMathPara>
                </a14:m>
                <a:endParaRPr lang="en-US" sz="1100" dirty="0"/>
              </a:p>
            </p:txBody>
          </p:sp>
        </mc:Choice>
        <mc:Fallback>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258636" y="3582142"/>
                <a:ext cx="5593524" cy="815929"/>
              </a:xfrm>
              <a:prstGeom prst="rect">
                <a:avLst/>
              </a:prstGeom>
              <a:blipFill>
                <a:blip r:embed="rId4"/>
                <a:stretch>
                  <a:fillRect t="-752" b="-6015"/>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127543" y="4628082"/>
            <a:ext cx="6098796" cy="312650"/>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43078" y="4976203"/>
            <a:ext cx="9144000" cy="728709"/>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23" name="Text 7">
                <a:extLst>
                  <a:ext uri="{FF2B5EF4-FFF2-40B4-BE49-F238E27FC236}">
                    <a16:creationId xmlns:a16="http://schemas.microsoft.com/office/drawing/2014/main" id="{03D3DAA2-D292-4B97-81CA-1484AD1CF633}"/>
                  </a:ext>
                </a:extLst>
              </p:cNvPr>
              <p:cNvSpPr/>
              <p:nvPr/>
            </p:nvSpPr>
            <p:spPr>
              <a:xfrm>
                <a:off x="234518" y="504975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234518" y="504975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127543" y="6000725"/>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7" name="Shape 6">
            <a:extLst>
              <a:ext uri="{FF2B5EF4-FFF2-40B4-BE49-F238E27FC236}">
                <a16:creationId xmlns:a16="http://schemas.microsoft.com/office/drawing/2014/main" id="{38AA6824-F3C0-4639-A0BE-357DF624F043}"/>
              </a:ext>
            </a:extLst>
          </p:cNvPr>
          <p:cNvSpPr/>
          <p:nvPr/>
        </p:nvSpPr>
        <p:spPr>
          <a:xfrm>
            <a:off x="127543" y="1498627"/>
            <a:ext cx="9144000" cy="530352"/>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20" name="Text 7">
                <a:extLst>
                  <a:ext uri="{FF2B5EF4-FFF2-40B4-BE49-F238E27FC236}">
                    <a16:creationId xmlns:a16="http://schemas.microsoft.com/office/drawing/2014/main" id="{DA892EF5-3E87-4AFE-BB7C-31BC1FD0C14A}"/>
                  </a:ext>
                </a:extLst>
              </p:cNvPr>
              <p:cNvSpPr/>
              <p:nvPr/>
            </p:nvSpPr>
            <p:spPr>
              <a:xfrm>
                <a:off x="-319597" y="1472537"/>
                <a:ext cx="4074111"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m:ctrlPr>
                        </m:mPr>
                        <m:mr>
                          <m:e>
                            <m:acc>
                              <m:accPr>
                                <m:chr m:val="̇"/>
                                <m:ctrlPr>
                                  <a:rPr lang="es-AR" sz="1400" i="1"/>
                                </m:ctrlPr>
                              </m:accPr>
                              <m:e>
                                <m:r>
                                  <a:rPr lang="es-AR" sz="1400" i="1"/>
                                  <m:t>𝑥</m:t>
                                </m:r>
                              </m:e>
                            </m:acc>
                            <m:d>
                              <m:dPr>
                                <m:ctrlPr>
                                  <a:rPr lang="es-AR" sz="1400" i="1"/>
                                </m:ctrlPr>
                              </m:dPr>
                              <m:e>
                                <m:r>
                                  <a:rPr lang="es-AR" sz="1400" i="1"/>
                                  <m:t>𝑡</m:t>
                                </m:r>
                              </m:e>
                            </m:d>
                            <m:r>
                              <a:rPr lang="es-AR" sz="1400" i="1"/>
                              <m:t>=</m:t>
                            </m:r>
                            <m:r>
                              <a:rPr lang="es-AR" sz="1400" i="1"/>
                              <m:t>𝑓</m:t>
                            </m:r>
                            <m:d>
                              <m:dPr>
                                <m:ctrlPr>
                                  <a:rPr lang="es-AR" sz="1400" i="1"/>
                                </m:ctrlPr>
                              </m:dPr>
                              <m:e>
                                <m:r>
                                  <a:rPr lang="es-AR" sz="1400" i="1"/>
                                  <m:t>𝑥</m:t>
                                </m:r>
                                <m:d>
                                  <m:dPr>
                                    <m:ctrlPr>
                                      <a:rPr lang="es-AR" sz="1400" i="1"/>
                                    </m:ctrlPr>
                                  </m:dPr>
                                  <m:e>
                                    <m:r>
                                      <a:rPr lang="es-AR" sz="1400" i="1"/>
                                      <m:t>𝑡</m:t>
                                    </m:r>
                                  </m:e>
                                </m:d>
                                <m:r>
                                  <a:rPr lang="es-AR" sz="1400" i="1"/>
                                  <m:t>,</m:t>
                                </m:r>
                                <m:r>
                                  <a:rPr lang="es-AR" sz="1400" i="1"/>
                                  <m:t>𝑢</m:t>
                                </m:r>
                                <m:d>
                                  <m:dPr>
                                    <m:ctrlPr>
                                      <a:rPr lang="es-AR" sz="1400" i="1"/>
                                    </m:ctrlPr>
                                  </m:dPr>
                                  <m:e>
                                    <m:r>
                                      <a:rPr lang="es-AR" sz="1400" i="1"/>
                                      <m:t>𝑡</m:t>
                                    </m:r>
                                  </m:e>
                                </m:d>
                              </m:e>
                            </m:d>
                            <m:r>
                              <a:rPr lang="es-AR" sz="1400" i="1"/>
                              <m:t>,</m:t>
                            </m:r>
                            <m:r>
                              <a:rPr lang="es-AR" sz="1400"/>
                              <m:t> </m:t>
                            </m:r>
                            <m:r>
                              <a:rPr lang="es-AR" sz="1400" i="1"/>
                              <m:t>𝑥</m:t>
                            </m:r>
                            <m:d>
                              <m:dPr>
                                <m:ctrlPr>
                                  <a:rPr lang="es-AR" sz="1400" i="1"/>
                                </m:ctrlPr>
                              </m:dPr>
                              <m:e>
                                <m:sSub>
                                  <m:sSubPr>
                                    <m:ctrlPr>
                                      <a:rPr lang="es-AR" sz="1400" i="1"/>
                                    </m:ctrlPr>
                                  </m:sSubPr>
                                  <m:e>
                                    <m:r>
                                      <a:rPr lang="es-AR" sz="1400" i="1"/>
                                      <m:t>𝑡</m:t>
                                    </m:r>
                                  </m:e>
                                  <m:sub>
                                    <m:r>
                                      <a:rPr lang="es-AR" sz="1400" i="1"/>
                                      <m:t>0</m:t>
                                    </m:r>
                                  </m:sub>
                                </m:sSub>
                              </m:e>
                            </m:d>
                            <m:r>
                              <a:rPr lang="es-AR" sz="1400" i="1"/>
                              <m:t>=</m:t>
                            </m:r>
                            <m:sSub>
                              <m:sSubPr>
                                <m:ctrlPr>
                                  <a:rPr lang="es-AR" sz="1400" i="1"/>
                                </m:ctrlPr>
                              </m:sSubPr>
                              <m:e>
                                <m:r>
                                  <a:rPr lang="es-AR" sz="1400" i="1"/>
                                  <m:t>𝑥</m:t>
                                </m:r>
                              </m:e>
                              <m:sub>
                                <m:r>
                                  <a:rPr lang="es-AR" sz="1400" i="1"/>
                                  <m:t>0</m:t>
                                </m:r>
                              </m:sub>
                            </m:sSub>
                          </m:e>
                        </m:mr>
                        <m:mr>
                          <m:e>
                            <m:r>
                              <a:rPr lang="es-AR" sz="1400" i="1"/>
                              <m:t>𝑦</m:t>
                            </m:r>
                            <m:d>
                              <m:dPr>
                                <m:ctrlPr>
                                  <a:rPr lang="es-AR" sz="1400" i="1"/>
                                </m:ctrlPr>
                              </m:dPr>
                              <m:e>
                                <m:r>
                                  <a:rPr lang="es-AR" sz="1400" i="1"/>
                                  <m:t>𝑡</m:t>
                                </m:r>
                              </m:e>
                            </m:d>
                            <m:r>
                              <a:rPr lang="es-AR" sz="1400" i="1"/>
                              <m:t>=</m:t>
                            </m:r>
                            <m:r>
                              <a:rPr lang="es-AR" sz="1400" i="1"/>
                              <m:t>𝐶𝑥</m:t>
                            </m:r>
                            <m:d>
                              <m:dPr>
                                <m:ctrlPr>
                                  <a:rPr lang="es-AR" sz="1400" i="1"/>
                                </m:ctrlPr>
                              </m:dPr>
                              <m:e>
                                <m:r>
                                  <a:rPr lang="es-AR" sz="1400" i="1"/>
                                  <m:t>𝑡</m:t>
                                </m:r>
                              </m:e>
                            </m:d>
                            <m:r>
                              <a:rPr lang="es-AR" sz="1400" i="1"/>
                              <m:t>                                        </m:t>
                            </m:r>
                          </m:e>
                        </m:mr>
                      </m:m>
                    </m:oMath>
                  </m:oMathPara>
                </a14:m>
                <a:endParaRPr lang="en-US" sz="1400" dirty="0"/>
              </a:p>
            </p:txBody>
          </p:sp>
        </mc:Choice>
        <mc:Fallback>
          <p:sp>
            <p:nvSpPr>
              <p:cNvPr id="20" name="Text 7">
                <a:extLst>
                  <a:ext uri="{FF2B5EF4-FFF2-40B4-BE49-F238E27FC236}">
                    <a16:creationId xmlns:a16="http://schemas.microsoft.com/office/drawing/2014/main" id="{DA892EF5-3E87-4AFE-BB7C-31BC1FD0C14A}"/>
                  </a:ext>
                </a:extLst>
              </p:cNvPr>
              <p:cNvSpPr>
                <a:spLocks noRot="1" noChangeAspect="1" noMove="1" noResize="1" noEditPoints="1" noAdjustHandles="1" noChangeArrowheads="1" noChangeShapeType="1" noTextEdit="1"/>
              </p:cNvSpPr>
              <p:nvPr/>
            </p:nvSpPr>
            <p:spPr>
              <a:xfrm>
                <a:off x="-319597" y="1472537"/>
                <a:ext cx="4074111" cy="530352"/>
              </a:xfrm>
              <a:prstGeom prst="rect">
                <a:avLst/>
              </a:prstGeom>
              <a:blipFill>
                <a:blip r:embed="rId6"/>
                <a:stretch>
                  <a:fillRect/>
                </a:stretch>
              </a:blipFill>
              <a:ln/>
            </p:spPr>
            <p:txBody>
              <a:bodyPr/>
              <a:lstStyle/>
              <a:p>
                <a:r>
                  <a:rPr lang="es-AR">
                    <a:noFill/>
                  </a:rPr>
                  <a:t> </a:t>
                </a:r>
              </a:p>
            </p:txBody>
          </p:sp>
        </mc:Fallback>
      </mc:AlternateContent>
      <p:sp>
        <p:nvSpPr>
          <p:cNvPr id="25" name="CuadroTexto 24">
            <a:extLst>
              <a:ext uri="{FF2B5EF4-FFF2-40B4-BE49-F238E27FC236}">
                <a16:creationId xmlns:a16="http://schemas.microsoft.com/office/drawing/2014/main" id="{7601BCCB-31A5-4894-96E6-AA6A026EDF08}"/>
              </a:ext>
            </a:extLst>
          </p:cNvPr>
          <p:cNvSpPr txBox="1"/>
          <p:nvPr/>
        </p:nvSpPr>
        <p:spPr>
          <a:xfrm>
            <a:off x="91440" y="2077418"/>
            <a:ext cx="11887200" cy="307777"/>
          </a:xfrm>
          <a:prstGeom prst="rect">
            <a:avLst/>
          </a:prstGeom>
          <a:noFill/>
        </p:spPr>
        <p:txBody>
          <a:bodyPr wrap="square">
            <a:spAutoFit/>
          </a:bodyPr>
          <a:lstStyle/>
          <a:p>
            <a:r>
              <a:rPr lang="es-AR" sz="1400" dirty="0">
                <a:solidFill>
                  <a:srgbClr val="111111"/>
                </a:solidFill>
                <a:latin typeface="Calibri" pitchFamily="34" charset="0"/>
                <a:ea typeface="Calibri" pitchFamily="34" charset="-122"/>
                <a:cs typeface="Calibri" pitchFamily="34" charset="-120"/>
              </a:rPr>
              <a:t>Para usar herramientas de control lineal, se descompone cada variable en un punto de operación cuasi-estacionario y una perturbación de pequeña magnitud. </a:t>
            </a:r>
            <a:endParaRPr lang="es-AR"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smtClean="0">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r>
                                                          <a:rPr lang="es-AR" sz="1200" b="0" i="1" smtClean="0">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=0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r>
                                        <m:rPr>
                                          <m:nor/>
                                        </m:rPr>
                                        <a:rPr lang="es-AR" sz="1200"/>
                                        <m:t>(31)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=0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0115" b="-174713"/>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599" y="4528622"/>
            <a:ext cx="9144000" cy="1317365"/>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16" name="Text 14"/>
              <p:cNvSpPr/>
              <p:nvPr/>
            </p:nvSpPr>
            <p:spPr>
              <a:xfrm>
                <a:off x="1371599" y="4832764"/>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p:sp>
            <p:nvSpPr>
              <p:cNvPr id="16" name="Text 14"/>
              <p:cNvSpPr>
                <a:spLocks noRot="1" noChangeAspect="1" noMove="1" noResize="1" noEditPoints="1" noAdjustHandles="1" noChangeArrowheads="1" noChangeShapeType="1" noTextEdit="1"/>
              </p:cNvSpPr>
              <p:nvPr/>
            </p:nvSpPr>
            <p:spPr>
              <a:xfrm>
                <a:off x="1371599" y="4832764"/>
                <a:ext cx="8961120" cy="530352"/>
              </a:xfrm>
              <a:prstGeom prst="rect">
                <a:avLst/>
              </a:prstGeom>
              <a:blipFill>
                <a:blip r:embed="rId3"/>
                <a:stretch>
                  <a:fillRect t="-42529" b="-81609"/>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600" i="1" smtClean="0">
                              <a:effectLst/>
                              <a:latin typeface="Cambria Math" panose="02040503050406030204" pitchFamily="18" charset="0"/>
                              <a:cs typeface="Times New Roman" panose="02020603050405020304" pitchFamily="18" charset="0"/>
                            </a:rPr>
                          </m:ctrlPr>
                        </m:accPr>
                        <m:e>
                          <m:r>
                            <a:rPr lang="es-MX" sz="1600" b="0" i="1" smtClean="0">
                              <a:effectLst/>
                              <a:latin typeface="Cambria Math" panose="02040503050406030204" pitchFamily="18"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6"/>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5760"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460324"/>
            <a:ext cx="9144000"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975678"/>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975678"/>
                <a:ext cx="8961120" cy="530352"/>
              </a:xfrm>
              <a:prstGeom prst="rect">
                <a:avLst/>
              </a:prstGeom>
              <a:blipFill>
                <a:blip r:embed="rId4"/>
                <a:stretch>
                  <a:fillRect t="-73563" b="-8046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19" y="3864998"/>
                <a:ext cx="11397563" cy="510396"/>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Considerando la dependencia térmica de la resistencia de estator </a:t>
                </a:r>
                <a14:m>
                  <m:oMath xmlns:m="http://schemas.openxmlformats.org/officeDocument/2006/math">
                    <m:sSub>
                      <m:sSub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300" i="1" smtClean="0">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up>
                            <m:r>
                              <a:rPr lang="es-AR" sz="1300" i="1">
                                <a:effectLst/>
                                <a:latin typeface="Cambria Math" panose="02040503050406030204" pitchFamily="18" charset="0"/>
                                <a:ea typeface="Times New Roman" panose="02020603050405020304" pitchFamily="18" charset="0"/>
                                <a:cs typeface="Calibri" panose="020F0502020204030204" pitchFamily="34" charset="0"/>
                              </a:rPr>
                              <m:t>𝑜</m:t>
                            </m:r>
                          </m:sup>
                        </m:sSubSup>
                      </m:e>
                    </m:d>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 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19" y="3864998"/>
                <a:ext cx="11397563" cy="510396"/>
              </a:xfrm>
              <a:prstGeom prst="rect">
                <a:avLst/>
              </a:prstGeom>
              <a:blipFill>
                <a:blip r:embed="rId5"/>
                <a:stretch>
                  <a:fillRect l="-53" r="-53" b="-9524"/>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0292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transformada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02920" y="4773168"/>
                <a:ext cx="11155680" cy="1005840"/>
              </a:xfrm>
              <a:prstGeom prst="rect">
                <a:avLst/>
              </a:prstGeom>
              <a:blipFill>
                <a:blip r:embed="rId6"/>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547872"/>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547872"/>
                <a:ext cx="6098796" cy="571760"/>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mc:Choice xmlns:a14="http://schemas.microsoft.com/office/drawing/2010/main" Requires="a14">
          <p:sp>
            <p:nvSpPr>
              <p:cNvPr id="16" name="Text 14"/>
              <p:cNvSpPr/>
              <p:nvPr/>
            </p:nvSpPr>
            <p:spPr>
              <a:xfrm>
                <a:off x="274320" y="834453"/>
                <a:ext cx="11155680"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p:sp>
            <p:nvSpPr>
              <p:cNvPr id="16" name="Text 14"/>
              <p:cNvSpPr>
                <a:spLocks noRot="1" noChangeAspect="1" noMove="1" noResize="1" noEditPoints="1" noAdjustHandles="1" noChangeArrowheads="1" noChangeShapeType="1" noTextEdit="1"/>
              </p:cNvSpPr>
              <p:nvPr/>
            </p:nvSpPr>
            <p:spPr>
              <a:xfrm>
                <a:off x="274320" y="834453"/>
                <a:ext cx="11155680" cy="1005840"/>
              </a:xfrm>
              <a:prstGeom prst="rect">
                <a:avLst/>
              </a:prstGeom>
              <a:blipFill>
                <a:blip r:embed="rId2"/>
                <a:stretch>
                  <a:fillRect l="-164" t="-1212"/>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Ley de control </a:t>
            </a:r>
            <a:r>
              <a:rPr lang="en-US" sz="1900" b="1" dirty="0" err="1">
                <a:solidFill>
                  <a:srgbClr val="FFFFFF"/>
                </a:solidFill>
                <a:latin typeface="Calibri" pitchFamily="34" charset="0"/>
                <a:ea typeface="Calibri" pitchFamily="34" charset="-122"/>
                <a:cs typeface="Calibri" pitchFamily="34" charset="-120"/>
              </a:rPr>
              <a:t>mínima</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2"/>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3"/>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4"/>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5"/>
          <a:stretch>
            <a:fillRect/>
          </a:stretch>
        </p:blipFill>
        <p:spPr>
          <a:xfrm>
            <a:off x="1292797" y="2062302"/>
            <a:ext cx="8361673" cy="410058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27288"/>
              </a:xfrm>
              <a:prstGeom prst="rect">
                <a:avLst/>
              </a:prstGeom>
              <a:noFill/>
            </p:spPr>
            <p:txBody>
              <a:bodyPr wrap="square">
                <a:spAutoFit/>
              </a:bodyPr>
              <a:lstStyle/>
              <a:p>
                <a:pPr algn="just">
                  <a:lnSpc>
                    <a:spcPct val="107000"/>
                  </a:lnSpc>
                  <a:spcBef>
                    <a:spcPts val="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3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3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3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27288"/>
              </a:xfrm>
              <a:prstGeom prst="rect">
                <a:avLst/>
              </a:prstGeom>
              <a:blipFill>
                <a:blip r:embed="rId6"/>
                <a:stretch>
                  <a:fillRect l="-52" r="-52" b="-776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8"/>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9"/>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0"/>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2"/>
          <a:stretch>
            <a:fillRect/>
          </a:stretch>
        </p:blipFill>
        <p:spPr>
          <a:xfrm>
            <a:off x="274320" y="864951"/>
            <a:ext cx="11612880" cy="5493857"/>
          </a:xfrm>
          <a:prstGeom prst="rect">
            <a:avLst/>
          </a:prstGeom>
        </p:spPr>
      </p:pic>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10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 y q</a:t>
            </a:r>
            <a:endParaRPr lang="en-US" sz="1100" dirty="0"/>
          </a:p>
        </p:txBody>
      </p:sp>
    </p:spTree>
    <p:extLst>
      <p:ext uri="{BB962C8B-B14F-4D97-AF65-F5344CB8AC3E}">
        <p14:creationId xmlns:p14="http://schemas.microsoft.com/office/powerpoint/2010/main" val="3306844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Modelo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Tree>
    <p:extLst>
      <p:ext uri="{BB962C8B-B14F-4D97-AF65-F5344CB8AC3E}">
        <p14:creationId xmlns:p14="http://schemas.microsoft.com/office/powerpoint/2010/main" val="25777917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Tree>
    <p:extLst>
      <p:ext uri="{BB962C8B-B14F-4D97-AF65-F5344CB8AC3E}">
        <p14:creationId xmlns:p14="http://schemas.microsoft.com/office/powerpoint/2010/main" val="1555235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750" b="-313793"/>
                          </a:stretch>
                        </a:blipFill>
                      </a:tcPr>
                    </a:tc>
                    <a:tc>
                      <a:txBody>
                        <a:bodyPr/>
                        <a:lstStyle/>
                        <a:p>
                          <a:endParaRPr lang="es-AR"/>
                        </a:p>
                      </a:txBody>
                      <a:tcPr marL="68580" marR="68580" marT="0" marB="0">
                        <a:blipFill>
                          <a:blip r:embed="rId5"/>
                          <a:stretch>
                            <a:fillRect l="-220856" t="-84483" r="-433690"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6336" b="-313793"/>
                          </a:stretch>
                        </a:blipFill>
                      </a:tcPr>
                    </a:tc>
                    <a:tc>
                      <a:txBody>
                        <a:bodyPr/>
                        <a:lstStyle/>
                        <a:p>
                          <a:endParaRPr lang="es-AR"/>
                        </a:p>
                      </a:txBody>
                      <a:tcPr marL="68580" marR="68580" marT="0" marB="0">
                        <a:blipFill>
                          <a:blip r:embed="rId5"/>
                          <a:stretch>
                            <a:fillRect l="-1380000" t="-84483" r="-5263"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Tree>
    <p:extLst>
      <p:ext uri="{BB962C8B-B14F-4D97-AF65-F5344CB8AC3E}">
        <p14:creationId xmlns:p14="http://schemas.microsoft.com/office/powerpoint/2010/main" val="419254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MX" sz="1200" b="0" i="1" smtClean="0">
                                      <a:latin typeface="Cambria Math" panose="02040503050406030204" pitchFamily="18" charset="0"/>
                                    </a:rPr>
                                    <m:t>𝑚</m:t>
                                  </m:r>
                                </m:e>
                                <m:sub>
                                  <m:r>
                                    <a:rPr lang="es-MX"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631608"/>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631608"/>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Tree>
    <p:extLst>
      <p:ext uri="{BB962C8B-B14F-4D97-AF65-F5344CB8AC3E}">
        <p14:creationId xmlns:p14="http://schemas.microsoft.com/office/powerpoint/2010/main" val="17742039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Tree>
    <p:extLst>
      <p:ext uri="{BB962C8B-B14F-4D97-AF65-F5344CB8AC3E}">
        <p14:creationId xmlns:p14="http://schemas.microsoft.com/office/powerpoint/2010/main" val="3655757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dirty="0" err="1">
                <a:solidFill>
                  <a:srgbClr val="A0C4FF"/>
                </a:solidFill>
                <a:latin typeface="Calibri"/>
              </a:rPr>
              <a:t>Simulación</a:t>
            </a:r>
            <a:r>
              <a:rPr sz="1700" dirty="0">
                <a:solidFill>
                  <a:srgbClr val="A0C4FF"/>
                </a:solidFill>
                <a:latin typeface="Calibri"/>
              </a:rPr>
              <a:t> del </a:t>
            </a:r>
            <a:r>
              <a:rPr sz="1700" dirty="0" err="1">
                <a:solidFill>
                  <a:srgbClr val="A0C4FF"/>
                </a:solidFill>
                <a:latin typeface="Calibri"/>
              </a:rPr>
              <a:t>modelo</a:t>
            </a:r>
            <a:r>
              <a:rPr sz="1700" dirty="0">
                <a:solidFill>
                  <a:srgbClr val="A0C4FF"/>
                </a:solidFill>
                <a:latin typeface="Calibri"/>
              </a:rPr>
              <a:t> NL · 4 </a:t>
            </a:r>
            <a:r>
              <a:rPr sz="1700" dirty="0" err="1">
                <a:solidFill>
                  <a:srgbClr val="A0C4FF"/>
                </a:solidFill>
                <a:latin typeface="Calibri"/>
              </a:rPr>
              <a:t>cuadrantes</a:t>
            </a:r>
            <a:r>
              <a:rPr sz="1700" dirty="0">
                <a:solidFill>
                  <a:srgbClr val="A0C4FF"/>
                </a:solidFill>
                <a:latin typeface="Calibri"/>
              </a:rPr>
              <a:t> · LTI vs NL</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a:blip r:embed="rId2">
            <a:extLst>
              <a:ext uri="{28A0092B-C50C-407E-A947-70E740481C1C}">
                <a14:useLocalDpi xmlns:a14="http://schemas.microsoft.com/office/drawing/2010/main" val="0"/>
              </a:ext>
            </a:extLst>
          </a:blip>
          <a:srcRect t="1615" b="1615"/>
          <a:stretch>
            <a:fillRect/>
          </a:stretch>
        </p:blipFill>
        <p:spPr bwMode="auto">
          <a:xfrm>
            <a:off x="2109585" y="2259275"/>
            <a:ext cx="7571717"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365759" y="1261872"/>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𝑙𝑑</m:t>
                        </m:r>
                      </m:sub>
                    </m:sSub>
                  </m:oMath>
                </a14:m>
                <a:r>
                  <a:rPr lang="es-AR" sz="1400" dirty="0">
                    <a:solidFill>
                      <a:srgbClr val="1A1A2E"/>
                    </a:solidFill>
                    <a:latin typeface="Calibri"/>
                  </a:rPr>
                  <a:t>: doble pulso ±5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365759" y="1261872"/>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Tree>
    <p:extLst>
      <p:ext uri="{BB962C8B-B14F-4D97-AF65-F5344CB8AC3E}">
        <p14:creationId xmlns:p14="http://schemas.microsoft.com/office/powerpoint/2010/main" val="3504572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Tree>
    <p:extLst>
      <p:ext uri="{BB962C8B-B14F-4D97-AF65-F5344CB8AC3E}">
        <p14:creationId xmlns:p14="http://schemas.microsoft.com/office/powerpoint/2010/main" val="967824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tretch>
            <a:fillRect/>
          </a:stretch>
        </p:blipFill>
        <p:spPr>
          <a:xfrm>
            <a:off x="-1" y="658367"/>
            <a:ext cx="5871937" cy="4757054"/>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tretch>
            <a:fillRect/>
          </a:stretch>
        </p:blipFill>
        <p:spPr>
          <a:xfrm>
            <a:off x="5871936" y="662163"/>
            <a:ext cx="6320064"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11551615" cy="658368"/>
          </a:xfrm>
          <a:prstGeom prst="rect">
            <a:avLst/>
          </a:prstGeom>
          <a:noFill/>
        </p:spPr>
        <p:txBody>
          <a:bodyPr wrap="none">
            <a:spAutoFit/>
          </a:bodyPr>
          <a:lstStyle/>
          <a:p>
            <a:pPr algn="l"/>
            <a:r>
              <a:rPr sz="2100" b="1" dirty="0" err="1">
                <a:solidFill>
                  <a:srgbClr val="FFFFFF"/>
                </a:solidFill>
                <a:latin typeface="Cambria"/>
              </a:rPr>
              <a:t>Comparación</a:t>
            </a:r>
            <a:r>
              <a:rPr sz="2100" b="1" dirty="0">
                <a:solidFill>
                  <a:srgbClr val="FFFFFF"/>
                </a:solidFill>
                <a:latin typeface="Cambria"/>
              </a:rPr>
              <a:t> </a:t>
            </a:r>
            <a:r>
              <a:rPr sz="2100" b="1" dirty="0" err="1">
                <a:solidFill>
                  <a:srgbClr val="FFFFFF"/>
                </a:solidFill>
                <a:latin typeface="Cambria"/>
              </a:rPr>
              <a:t>modelo</a:t>
            </a:r>
            <a:r>
              <a:rPr sz="2100" b="1" dirty="0">
                <a:solidFill>
                  <a:srgbClr val="FFFFFF"/>
                </a:solidFill>
                <a:latin typeface="Cambria"/>
              </a:rPr>
              <a:t> LTI vs. </a:t>
            </a:r>
            <a:r>
              <a:rPr sz="2100" b="1" dirty="0" err="1">
                <a:solidFill>
                  <a:srgbClr val="FFFFFF"/>
                </a:solidFill>
                <a:latin typeface="Cambria"/>
              </a:rPr>
              <a:t>modelo</a:t>
            </a:r>
            <a:r>
              <a:rPr sz="2100" b="1" dirty="0">
                <a:solidFill>
                  <a:srgbClr val="FFFFFF"/>
                </a:solidFill>
                <a:latin typeface="Cambria"/>
              </a:rPr>
              <a:t>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tretch>
            <a:fillRect/>
          </a:stretch>
        </p:blipFill>
        <p:spPr>
          <a:xfrm>
            <a:off x="6095846" y="658367"/>
            <a:ext cx="609615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tretch>
            <a:fillRect/>
          </a:stretch>
        </p:blipFill>
        <p:spPr>
          <a:xfrm>
            <a:off x="-304" y="658368"/>
            <a:ext cx="6096150" cy="4623846"/>
          </a:xfrm>
          <a:prstGeom prst="rect">
            <a:avLst/>
          </a:prstGeom>
        </p:spPr>
      </p:pic>
    </p:spTree>
    <p:extLst>
      <p:ext uri="{BB962C8B-B14F-4D97-AF65-F5344CB8AC3E}">
        <p14:creationId xmlns:p14="http://schemas.microsoft.com/office/powerpoint/2010/main" val="9716209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84125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Tree>
    <p:extLst>
      <p:ext uri="{BB962C8B-B14F-4D97-AF65-F5344CB8AC3E}">
        <p14:creationId xmlns:p14="http://schemas.microsoft.com/office/powerpoint/2010/main" val="12300080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8" name="TextBox 23">
            <a:extLst>
              <a:ext uri="{FF2B5EF4-FFF2-40B4-BE49-F238E27FC236}">
                <a16:creationId xmlns:a16="http://schemas.microsoft.com/office/drawing/2014/main" id="{05947E8B-63DE-46BB-9C21-E783C1807622}"/>
              </a:ext>
            </a:extLst>
          </p:cNvPr>
          <p:cNvSpPr txBox="1"/>
          <p:nvPr/>
        </p:nvSpPr>
        <p:spPr>
          <a:xfrm>
            <a:off x="8970263" y="907882"/>
            <a:ext cx="493776" cy="577081"/>
          </a:xfrm>
          <a:prstGeom prst="rect">
            <a:avLst/>
          </a:prstGeom>
          <a:noFill/>
        </p:spPr>
        <p:txBody>
          <a:bodyPr wrap="square">
            <a:spAutoFit/>
          </a:bodyPr>
          <a:lstStyle/>
          <a:p>
            <a:pPr algn="ctr"/>
            <a:r>
              <a:rPr sz="1050" b="1">
                <a:solidFill>
                  <a:schemeClr val="bg1"/>
                </a:solidFill>
                <a:latin typeface="Calibri"/>
              </a:rPr>
              <a:t>Tld
[N·m]</a:t>
            </a:r>
          </a:p>
        </p:txBody>
      </p:sp>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0" name="TextBox 25">
            <a:extLst>
              <a:ext uri="{FF2B5EF4-FFF2-40B4-BE49-F238E27FC236}">
                <a16:creationId xmlns:a16="http://schemas.microsoft.com/office/drawing/2014/main" id="{F4A45EC6-BB19-4D3F-877D-ACEC3109C603}"/>
              </a:ext>
            </a:extLst>
          </p:cNvPr>
          <p:cNvSpPr txBox="1"/>
          <p:nvPr/>
        </p:nvSpPr>
        <p:spPr>
          <a:xfrm>
            <a:off x="9518903" y="907882"/>
            <a:ext cx="566928" cy="415498"/>
          </a:xfrm>
          <a:prstGeom prst="rect">
            <a:avLst/>
          </a:prstGeom>
          <a:noFill/>
        </p:spPr>
        <p:txBody>
          <a:bodyPr wrap="square">
            <a:spAutoFit/>
          </a:bodyPr>
          <a:lstStyle/>
          <a:p>
            <a:pPr algn="ctr"/>
            <a:r>
              <a:rPr sz="1050" b="1">
                <a:solidFill>
                  <a:schemeClr val="bg1"/>
                </a:solidFill>
                <a:latin typeface="Calibri"/>
              </a:rPr>
              <a:t>vqs^r
[V]</a:t>
            </a:r>
          </a:p>
        </p:txBody>
      </p:sp>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0695" y="907882"/>
                <a:ext cx="630936"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𝜔</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0695" y="907882"/>
                <a:ext cx="630936" cy="415498"/>
              </a:xfrm>
              <a:prstGeom prst="rect">
                <a:avLst/>
              </a:prstGeom>
              <a:blipFill>
                <a:blip r:embed="rId4"/>
                <a:stretch>
                  <a:fillRect b="-8824"/>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907882"/>
                <a:ext cx="585215"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𝑇</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907882"/>
                <a:ext cx="585215" cy="415498"/>
              </a:xfrm>
              <a:prstGeom prst="rect">
                <a:avLst/>
              </a:prstGeom>
              <a:blipFill>
                <a:blip r:embed="rId5"/>
                <a:stretch>
                  <a:fillRect b="-8824"/>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491471" y="133536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Tree>
    <p:extLst>
      <p:ext uri="{BB962C8B-B14F-4D97-AF65-F5344CB8AC3E}">
        <p14:creationId xmlns:p14="http://schemas.microsoft.com/office/powerpoint/2010/main" val="40457373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Valores de establecimiento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sz="1400" b="1" i="0" dirty="0" err="1">
                    <a:solidFill>
                      <a:srgbClr val="1A3A6B"/>
                    </a:solidFill>
                    <a:latin typeface="Calibri"/>
                  </a:rPr>
                  <a:t>Tabla</a:t>
                </a:r>
                <a:r>
                  <a:rPr sz="1400" b="1" i="0" dirty="0">
                    <a:solidFill>
                      <a:srgbClr val="1A3A6B"/>
                    </a:solidFill>
                    <a:latin typeface="Calibri"/>
                  </a:rPr>
                  <a:t>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𝒍𝒅</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=±0.5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025699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9596</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5</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Tree>
    <p:extLst>
      <p:ext uri="{BB962C8B-B14F-4D97-AF65-F5344CB8AC3E}">
        <p14:creationId xmlns:p14="http://schemas.microsoft.com/office/powerpoint/2010/main" val="3519582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Tree>
    <p:extLst>
      <p:ext uri="{BB962C8B-B14F-4D97-AF65-F5344CB8AC3E}">
        <p14:creationId xmlns:p14="http://schemas.microsoft.com/office/powerpoint/2010/main" val="23042340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7131156" y="6273863"/>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7131156" y="6273863"/>
                <a:ext cx="3613212" cy="261610"/>
              </a:xfrm>
              <a:prstGeom prst="rect">
                <a:avLst/>
              </a:prstGeom>
              <a:blipFill>
                <a:blip r:embed="rId3"/>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latin typeface="Calibri" panose="020F0502020204030204" pitchFamily="34" charset="0"/>
                    <a:ea typeface="Calibri" panose="020F0502020204030204" pitchFamily="34" charset="0"/>
                    <a:cs typeface="Times New Roman" panose="02020603050405020304" pitchFamily="18" charset="0"/>
                  </a:rPr>
                  <a:t> </a:t>
                </a:r>
                <a:r>
                  <a:rPr lang="es-MX" sz="1600" dirty="0"/>
                  <a:t>en régimen; picos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MX" sz="1600" dirty="0"/>
                  <a:t>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Tree>
    <p:extLst>
      <p:ext uri="{BB962C8B-B14F-4D97-AF65-F5344CB8AC3E}">
        <p14:creationId xmlns:p14="http://schemas.microsoft.com/office/powerpoint/2010/main" val="35223631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p:sp>
        <p:nvSpPr>
          <p:cNvPr id="14" name="CuadroTexto 13">
            <a:extLst>
              <a:ext uri="{FF2B5EF4-FFF2-40B4-BE49-F238E27FC236}">
                <a16:creationId xmlns:a16="http://schemas.microsoft.com/office/drawing/2014/main" id="{6E2D4AFC-E308-4676-A366-47E0821BF784}"/>
              </a:ext>
            </a:extLst>
          </p:cNvPr>
          <p:cNvSpPr txBox="1"/>
          <p:nvPr/>
        </p:nvSpPr>
        <p:spPr>
          <a:xfrm>
            <a:off x="365760" y="2860032"/>
            <a:ext cx="11217250" cy="2265557"/>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75651" y="4238463"/>
            <a:ext cx="5015440"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2685197"/>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02156"/>
                <a:ext cx="11643055" cy="1815882"/>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a:t>
                </a:r>
                <a:r>
                  <a:rPr lang="es-AR" sz="1400" dirty="0">
                    <a:effectLst/>
                    <a:latin typeface="Calibri" panose="020F0502020204030204" pitchFamily="34" charset="0"/>
                    <a:ea typeface="Calibri" panose="020F0502020204030204" pitchFamily="34" charset="0"/>
                  </a:rPr>
                  <a:t>e implementa el modulador de torque equivalente, que constituye el lazo interno del esquema de control en cascada. Este bloque recibe como entrada las consignas de torque generadas por el controlador de movimiento y produce como salida las consignas de tensión que deben aplicarse al accionamiento eléctrico.</a:t>
                </a:r>
              </a:p>
              <a:p>
                <a:r>
                  <a:rPr lang="es-AR" sz="1400" dirty="0">
                    <a:latin typeface="Calibri" panose="020F0502020204030204" pitchFamily="34" charset="0"/>
                    <a:ea typeface="Calibri" panose="020F0502020204030204" pitchFamily="34" charset="0"/>
                  </a:rPr>
                  <a:t>El modulador se basa en el modelo dinámico linealizado del sistema expresado en el marco de referencia </a:t>
                </a:r>
                <a14:m>
                  <m:oMath xmlns:m="http://schemas.openxmlformats.org/officeDocument/2006/math">
                    <m:sSup>
                      <m:sSupPr>
                        <m:ctrlPr>
                          <a:rPr lang="es-AR" sz="1400" i="1">
                            <a:latin typeface="Cambria Math" panose="02040503050406030204" pitchFamily="18" charset="0"/>
                            <a:ea typeface="Calibri" panose="020F0502020204030204" pitchFamily="34" charset="0"/>
                          </a:rPr>
                        </m:ctrlPr>
                      </m:sSupPr>
                      <m:e>
                        <m:r>
                          <a:rPr lang="es-AR" sz="1400">
                            <a:latin typeface="Cambria Math" panose="02040503050406030204" pitchFamily="18" charset="0"/>
                            <a:ea typeface="Calibri" panose="020F0502020204030204" pitchFamily="34" charset="0"/>
                          </a:rPr>
                          <m:t>𝑞𝑑</m:t>
                        </m:r>
                        <m:r>
                          <a:rPr lang="es-AR" sz="1400">
                            <a:latin typeface="Cambria Math" panose="02040503050406030204" pitchFamily="18" charset="0"/>
                            <a:ea typeface="Calibri" panose="020F0502020204030204" pitchFamily="34" charset="0"/>
                          </a:rPr>
                          <m:t>0</m:t>
                        </m:r>
                      </m:e>
                      <m:sup>
                        <m:r>
                          <a:rPr lang="es-AR" sz="1400">
                            <a:latin typeface="Cambria Math" panose="02040503050406030204" pitchFamily="18" charset="0"/>
                            <a:ea typeface="Calibri" panose="020F0502020204030204" pitchFamily="34" charset="0"/>
                          </a:rPr>
                          <m:t>𝑟</m:t>
                        </m:r>
                      </m:sup>
                    </m:sSup>
                  </m:oMath>
                </a14:m>
                <a:r>
                  <a:rPr lang="es-AR" sz="14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p>
              <a:p>
                <a:endParaRPr lang="es-AR" sz="1400" dirty="0">
                  <a:latin typeface="Calibri" panose="020F0502020204030204" pitchFamily="34" charset="0"/>
                  <a:ea typeface="Calibri" panose="020F0502020204030204" pitchFamily="34" charset="0"/>
                </a:endParaRPr>
              </a:p>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transformadas de Park:</a:t>
                </a:r>
              </a:p>
            </p:txBody>
          </p:sp>
        </mc:Choice>
        <mc:Fallback xmlns="">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02156"/>
                <a:ext cx="11643055" cy="1815882"/>
              </a:xfrm>
              <a:prstGeom prst="rect">
                <a:avLst/>
              </a:prstGeom>
              <a:blipFill>
                <a:blip r:embed="rId2"/>
                <a:stretch>
                  <a:fillRect l="-157" t="-673" b="-26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231267" y="2738532"/>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231267" y="2738532"/>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77924" y="3281314"/>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471549" y="4269430"/>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471549" y="4269430"/>
                <a:ext cx="4714490" cy="1608902"/>
              </a:xfrm>
              <a:prstGeom prst="rect">
                <a:avLst/>
              </a:prstGeom>
              <a:blipFill>
                <a:blip r:embed="rId4"/>
                <a:stretch>
                  <a:fillRect l="-2455" r="-129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5442462" y="4347158"/>
                <a:ext cx="6236562" cy="1186159"/>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5442462" y="4347158"/>
                <a:ext cx="6236562" cy="1186159"/>
              </a:xfrm>
              <a:prstGeom prst="rect">
                <a:avLst/>
              </a:prstGeom>
              <a:blipFill>
                <a:blip r:embed="rId5"/>
                <a:stretch>
                  <a:fillRect l="-293" t="-1026" r="-293" b="-4615"/>
                </a:stretch>
              </a:blipFill>
            </p:spPr>
            <p:txBody>
              <a:bodyPr/>
              <a:lstStyle/>
              <a:p>
                <a:r>
                  <a:rPr lang="es-AR">
                    <a:noFill/>
                  </a:rPr>
                  <a:t> </a:t>
                </a:r>
              </a:p>
            </p:txBody>
          </p:sp>
        </mc:Fallback>
      </mc:AlternateContent>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Tree>
    <p:extLst>
      <p:ext uri="{BB962C8B-B14F-4D97-AF65-F5344CB8AC3E}">
        <p14:creationId xmlns:p14="http://schemas.microsoft.com/office/powerpoint/2010/main" val="41497860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Tree>
    <p:extLst>
      <p:ext uri="{BB962C8B-B14F-4D97-AF65-F5344CB8AC3E}">
        <p14:creationId xmlns:p14="http://schemas.microsoft.com/office/powerpoint/2010/main" val="20937183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269532"/>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Con </a:t>
                </a:r>
                <a:r>
                  <a:rPr lang="es-AR" sz="1400" dirty="0">
                    <a:effectLst/>
                    <a:latin typeface="Calibri" panose="020F0502020204030204" pitchFamily="34" charset="0"/>
                    <a:ea typeface="Calibri" panose="020F0502020204030204" pitchFamily="34" charset="0"/>
                    <a:cs typeface="Calibri" panose="020F0502020204030204" pitchFamily="34" charset="0"/>
                  </a:rPr>
                  <a:t>el desacople de las realimentaciones electromagnéticas, el 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269532"/>
              </a:xfrm>
              <a:prstGeom prst="rect">
                <a:avLst/>
              </a:prstGeom>
              <a:blipFill>
                <a:blip r:embed="rId2"/>
                <a:stretch>
                  <a:fillRect l="-155" t="-26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 gracias a que</a:t>
                </a:r>
                <a:r>
                  <a:rPr lang="es-AR" b="1" dirty="0"/>
                  <a:t> </a:t>
                </a:r>
                <a14:m>
                  <m:oMath xmlns:m="http://schemas.openxmlformats.org/officeDocument/2006/math">
                    <m:r>
                      <a:rPr lang="es-AR" sz="1400" b="0" i="1">
                        <a:latin typeface="Cambria Math" panose="02040503050406030204" pitchFamily="18" charset="0"/>
                      </a:rPr>
                      <m:t>𝑖</m:t>
                    </m:r>
                    <m:d>
                      <m:dPr>
                        <m:ctrlPr>
                          <a:rPr lang="es-AR" sz="1400" i="1">
                            <a:latin typeface="Cambria Math" panose="02040503050406030204" pitchFamily="18" charset="0"/>
                          </a:rPr>
                        </m:ctrlPr>
                      </m:dPr>
                      <m:e>
                        <m:r>
                          <a:rPr lang="es-AR" sz="1400" b="0" i="1">
                            <a:latin typeface="Cambria Math" panose="02040503050406030204" pitchFamily="18" charset="0"/>
                          </a:rPr>
                          <m:t>𝑡</m:t>
                        </m:r>
                      </m:e>
                    </m:d>
                    <m:r>
                      <a:rPr lang="es-AR" sz="1400" b="0" i="1">
                        <a:latin typeface="Cambria Math" panose="02040503050406030204" pitchFamily="18" charset="0"/>
                      </a:rPr>
                      <m:t>=</m:t>
                    </m:r>
                    <m:sSup>
                      <m:sSupPr>
                        <m:ctrlPr>
                          <a:rPr lang="es-AR" sz="1400" i="1">
                            <a:latin typeface="Cambria Math" panose="02040503050406030204" pitchFamily="18" charset="0"/>
                          </a:rPr>
                        </m:ctrlPr>
                      </m:sSupPr>
                      <m:e>
                        <m:r>
                          <a:rPr lang="es-AR" sz="1400" b="0" i="1">
                            <a:latin typeface="Cambria Math" panose="02040503050406030204" pitchFamily="18" charset="0"/>
                          </a:rPr>
                          <m:t>𝑖</m:t>
                        </m:r>
                      </m:e>
                      <m:sup>
                        <m:r>
                          <a:rPr lang="es-AR" sz="1400" b="0" i="1">
                            <a:latin typeface="Cambria Math" panose="02040503050406030204" pitchFamily="18" charset="0"/>
                          </a:rPr>
                          <m:t>∗</m:t>
                        </m:r>
                      </m:sup>
                    </m:sSup>
                    <m:d>
                      <m:dPr>
                        <m:ctrlPr>
                          <a:rPr lang="es-AR" sz="1400" i="1">
                            <a:latin typeface="Cambria Math" panose="02040503050406030204" pitchFamily="18" charset="0"/>
                          </a:rPr>
                        </m:ctrlPr>
                      </m:dPr>
                      <m:e>
                        <m:r>
                          <a:rPr lang="es-AR" sz="1400" b="0" i="1">
                            <a:latin typeface="Cambria Math" panose="02040503050406030204" pitchFamily="18" charset="0"/>
                          </a:rPr>
                          <m:t>𝑡</m:t>
                        </m:r>
                      </m:e>
                    </m:d>
                  </m:oMath>
                </a14:m>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29</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33</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4</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Tree>
    <p:extLst>
      <p:ext uri="{BB962C8B-B14F-4D97-AF65-F5344CB8AC3E}">
        <p14:creationId xmlns:p14="http://schemas.microsoft.com/office/powerpoint/2010/main" val="6170945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13512" y="3907451"/>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523220"/>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a:t>
                </a: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523220"/>
              </a:xfrm>
              <a:prstGeom prst="rect">
                <a:avLst/>
              </a:prstGeom>
              <a:blipFill>
                <a:blip r:embed="rId2"/>
                <a:stretch>
                  <a:fillRect l="-160" t="-3488" b="-10465"/>
                </a:stretch>
              </a:blipFill>
            </p:spPr>
            <p:txBody>
              <a:bodyPr/>
              <a:lstStyle/>
              <a:p>
                <a:r>
                  <a:rPr lang="es-AR">
                    <a:noFill/>
                  </a:rPr>
                  <a:t> </a:t>
                </a:r>
              </a:p>
            </p:txBody>
          </p:sp>
        </mc:Fallback>
      </mc:AlternateContent>
      <p:sp>
        <p:nvSpPr>
          <p:cNvPr id="8" name="Rectangle 7"/>
          <p:cNvSpPr/>
          <p:nvPr/>
        </p:nvSpPr>
        <p:spPr>
          <a:xfrm>
            <a:off x="213512" y="1293373"/>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293373"/>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293373"/>
                <a:ext cx="3741050" cy="434158"/>
              </a:xfrm>
              <a:prstGeom prst="rect">
                <a:avLst/>
              </a:prstGeom>
              <a:blipFill>
                <a:blip r:embed="rId3"/>
                <a:stretch>
                  <a:fillRect b="-4225"/>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1864873"/>
            <a:ext cx="11876538" cy="954107"/>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2838522"/>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2838522"/>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2838522"/>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152705" y="3530310"/>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3885172"/>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3885172"/>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2"/>
          <a:srcRect/>
          <a:stretch/>
        </p:blipFill>
        <p:spPr>
          <a:xfrm>
            <a:off x="80652" y="761883"/>
            <a:ext cx="6497701" cy="3312420"/>
          </a:xfrm>
          <a:prstGeom prst="rect">
            <a:avLst/>
          </a:prstGeom>
        </p:spPr>
      </p:pic>
      <p:pic>
        <p:nvPicPr>
          <p:cNvPr id="17" name="Imagen 16">
            <a:extLst>
              <a:ext uri="{FF2B5EF4-FFF2-40B4-BE49-F238E27FC236}">
                <a16:creationId xmlns:a16="http://schemas.microsoft.com/office/drawing/2014/main" id="{43A492D6-C7BC-48B2-A493-5408B3CBF048}"/>
              </a:ext>
            </a:extLst>
          </p:cNvPr>
          <p:cNvPicPr/>
          <p:nvPr/>
        </p:nvPicPr>
        <p:blipFill>
          <a:blip r:embed="rId3"/>
          <a:srcRect/>
          <a:stretch/>
        </p:blipFill>
        <p:spPr>
          <a:xfrm>
            <a:off x="5018333" y="2939236"/>
            <a:ext cx="7155301" cy="3156881"/>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279383" y="6005837"/>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Tree>
    <p:extLst>
      <p:ext uri="{BB962C8B-B14F-4D97-AF65-F5344CB8AC3E}">
        <p14:creationId xmlns:p14="http://schemas.microsoft.com/office/powerpoint/2010/main" val="1409030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Tree>
    <p:extLst>
      <p:ext uri="{BB962C8B-B14F-4D97-AF65-F5344CB8AC3E}">
        <p14:creationId xmlns:p14="http://schemas.microsoft.com/office/powerpoint/2010/main" val="15496948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Polos y estabilidad</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Set-point de posición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Tree>
    <p:extLst>
      <p:ext uri="{BB962C8B-B14F-4D97-AF65-F5344CB8AC3E}">
        <p14:creationId xmlns:p14="http://schemas.microsoft.com/office/powerpoint/2010/main" val="40822507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2"/>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4"/>
                <a:stretch>
                  <a:fillRect/>
                </a:stretch>
              </a:blipFill>
            </p:spPr>
            <p:txBody>
              <a:bodyPr/>
              <a:lstStyle/>
              <a:p>
                <a:r>
                  <a:rPr lang="es-AR">
                    <a:noFill/>
                  </a:rPr>
                  <a:t> </a:t>
                </a:r>
              </a:p>
            </p:txBody>
          </p:sp>
        </mc:Fallback>
      </mc:AlternateContent>
      <p:pic>
        <p:nvPicPr>
          <p:cNvPr id="26" name="Imagen 25">
            <a:extLst>
              <a:ext uri="{FF2B5EF4-FFF2-40B4-BE49-F238E27FC236}">
                <a16:creationId xmlns:a16="http://schemas.microsoft.com/office/drawing/2014/main" id="{B43C3E9C-51E4-42F8-A725-3C8829DDEFDF}"/>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2146756" y="3067441"/>
            <a:ext cx="7039992" cy="2834979"/>
          </a:xfrm>
          <a:prstGeom prst="rect">
            <a:avLst/>
          </a:prstGeom>
        </p:spPr>
      </p:pic>
      <p:sp>
        <p:nvSpPr>
          <p:cNvPr id="27" name="CuadroTexto 26">
            <a:extLst>
              <a:ext uri="{FF2B5EF4-FFF2-40B4-BE49-F238E27FC236}">
                <a16:creationId xmlns:a16="http://schemas.microsoft.com/office/drawing/2014/main" id="{F554A308-3CE6-43AA-84C1-1C61C1DA4EBB}"/>
              </a:ext>
            </a:extLst>
          </p:cNvPr>
          <p:cNvSpPr txBox="1"/>
          <p:nvPr/>
        </p:nvSpPr>
        <p:spPr>
          <a:xfrm>
            <a:off x="3848464" y="590242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Tree>
    <p:extLst>
      <p:ext uri="{BB962C8B-B14F-4D97-AF65-F5344CB8AC3E}">
        <p14:creationId xmlns:p14="http://schemas.microsoft.com/office/powerpoint/2010/main" val="7747458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8"/>
            <a:ext cx="3762357" cy="2595476"/>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a:blip r:embed="rId5">
            <a:extLst>
              <a:ext uri="{28A0092B-C50C-407E-A947-70E740481C1C}">
                <a14:useLocalDpi xmlns:a14="http://schemas.microsoft.com/office/drawing/2010/main" val="0"/>
              </a:ext>
            </a:extLst>
          </a:blip>
          <a:srcRect l="316" r="316"/>
          <a:stretch>
            <a:fillRect/>
          </a:stretch>
        </p:blipFill>
        <p:spPr bwMode="auto">
          <a:xfrm>
            <a:off x="4052430" y="1284423"/>
            <a:ext cx="3762357" cy="2790958"/>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a:blip r:embed="rId6">
            <a:extLst>
              <a:ext uri="{28A0092B-C50C-407E-A947-70E740481C1C}">
                <a14:useLocalDpi xmlns:a14="http://schemas.microsoft.com/office/drawing/2010/main" val="0"/>
              </a:ext>
            </a:extLst>
          </a:blip>
          <a:srcRect t="163" b="163"/>
          <a:stretch>
            <a:fillRect/>
          </a:stretch>
        </p:blipFill>
        <p:spPr bwMode="auto">
          <a:xfrm>
            <a:off x="7862716" y="1321868"/>
            <a:ext cx="3908613" cy="2790958"/>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2029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20290"/>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250104" y="4087253"/>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250104" y="4087253"/>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13874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13874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a:blip r:embed="rId4">
            <a:extLst>
              <a:ext uri="{28A0092B-C50C-407E-A947-70E740481C1C}">
                <a14:useLocalDpi xmlns:a14="http://schemas.microsoft.com/office/drawing/2010/main" val="0"/>
              </a:ext>
            </a:extLst>
          </a:blip>
          <a:srcRect l="244" r="244"/>
          <a:stretch>
            <a:fillRect/>
          </a:stretch>
        </p:blipFill>
        <p:spPr bwMode="auto">
          <a:xfrm>
            <a:off x="158154" y="883856"/>
            <a:ext cx="4902118" cy="3466201"/>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a:blip r:embed="rId5">
            <a:extLst>
              <a:ext uri="{28A0092B-C50C-407E-A947-70E740481C1C}">
                <a14:useLocalDpi xmlns:a14="http://schemas.microsoft.com/office/drawing/2010/main" val="0"/>
              </a:ext>
            </a:extLst>
          </a:blip>
          <a:srcRect t="60" b="60"/>
          <a:stretch>
            <a:fillRect/>
          </a:stretch>
        </p:blipFill>
        <p:spPr bwMode="auto">
          <a:xfrm>
            <a:off x="6095846" y="842095"/>
            <a:ext cx="5018997" cy="3576381"/>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81892"/>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81892"/>
                <a:ext cx="11787353" cy="1491177"/>
              </a:xfrm>
              <a:prstGeom prst="rect">
                <a:avLst/>
              </a:prstGeom>
              <a:blipFill>
                <a:blip r:embed="rId6"/>
                <a:stretch>
                  <a:fillRect l="-155" r="-103" b="-3673"/>
                </a:stretch>
              </a:blipFill>
            </p:spPr>
            <p:txBody>
              <a:bodyPr/>
              <a:lstStyle/>
              <a:p>
                <a:r>
                  <a:rPr lang="es-AR">
                    <a:noFill/>
                  </a:rPr>
                  <a:t> </a:t>
                </a:r>
              </a:p>
            </p:txBody>
          </p:sp>
        </mc:Fallback>
      </mc:AlternateContent>
    </p:spTree>
    <p:extLst>
      <p:ext uri="{BB962C8B-B14F-4D97-AF65-F5344CB8AC3E}">
        <p14:creationId xmlns:p14="http://schemas.microsoft.com/office/powerpoint/2010/main" val="23477262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a:blip r:embed="rId4">
            <a:extLst>
              <a:ext uri="{28A0092B-C50C-407E-A947-70E740481C1C}">
                <a14:useLocalDpi xmlns:a14="http://schemas.microsoft.com/office/drawing/2010/main" val="0"/>
              </a:ext>
            </a:extLst>
          </a:blip>
          <a:srcRect l="502" r="502"/>
          <a:stretch>
            <a:fillRect/>
          </a:stretch>
        </p:blipFill>
        <p:spPr bwMode="auto">
          <a:xfrm>
            <a:off x="121460" y="811518"/>
            <a:ext cx="3865417" cy="2862169"/>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a:blip r:embed="rId5">
            <a:extLst>
              <a:ext uri="{28A0092B-C50C-407E-A947-70E740481C1C}">
                <a14:useLocalDpi xmlns:a14="http://schemas.microsoft.com/office/drawing/2010/main" val="0"/>
              </a:ext>
            </a:extLst>
          </a:blip>
          <a:srcRect l="13" r="13"/>
          <a:stretch>
            <a:fillRect/>
          </a:stretch>
        </p:blipFill>
        <p:spPr bwMode="auto">
          <a:xfrm>
            <a:off x="4028177" y="781981"/>
            <a:ext cx="3996736"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a:blip r:embed="rId6">
            <a:extLst>
              <a:ext uri="{28A0092B-C50C-407E-A947-70E740481C1C}">
                <a14:useLocalDpi xmlns:a14="http://schemas.microsoft.com/office/drawing/2010/main" val="0"/>
              </a:ext>
            </a:extLst>
          </a:blip>
          <a:srcRect l="532" r="532"/>
          <a:stretch>
            <a:fillRect/>
          </a:stretch>
        </p:blipFill>
        <p:spPr bwMode="auto">
          <a:xfrm>
            <a:off x="8163824" y="709524"/>
            <a:ext cx="386541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a:blip r:embed="rId8">
            <a:extLst>
              <a:ext uri="{28A0092B-C50C-407E-A947-70E740481C1C}">
                <a14:useLocalDpi xmlns:a14="http://schemas.microsoft.com/office/drawing/2010/main" val="0"/>
              </a:ext>
            </a:extLst>
          </a:blip>
          <a:srcRect l="86" r="86"/>
          <a:stretch>
            <a:fillRect/>
          </a:stretch>
        </p:blipFill>
        <p:spPr bwMode="auto">
          <a:xfrm>
            <a:off x="121460" y="3913675"/>
            <a:ext cx="3271264" cy="2512215"/>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039555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Rechazo a perturbaciones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2"/>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3"/>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4"/>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5"/>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6">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45</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extLst>
              <a:ext uri="{28A0092B-C50C-407E-A947-70E740481C1C}">
                <a14:useLocalDpi xmlns:a14="http://schemas.microsoft.com/office/drawing/2010/main" val="0"/>
              </a:ext>
            </a:extLst>
          </a:blip>
          <a:srcRect l="923" r="-4927"/>
          <a:stretch/>
        </p:blipFill>
        <p:spPr bwMode="auto">
          <a:xfrm>
            <a:off x="2692717" y="871433"/>
            <a:ext cx="6628837"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Tree>
    <p:extLst>
      <p:ext uri="{BB962C8B-B14F-4D97-AF65-F5344CB8AC3E}">
        <p14:creationId xmlns:p14="http://schemas.microsoft.com/office/powerpoint/2010/main" val="37394107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Tree>
    <p:extLst>
      <p:ext uri="{BB962C8B-B14F-4D97-AF65-F5344CB8AC3E}">
        <p14:creationId xmlns:p14="http://schemas.microsoft.com/office/powerpoint/2010/main" val="7946784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430123" y="4729671"/>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430123" y="4729671"/>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extLst>
              <a:ext uri="{28A0092B-C50C-407E-A947-70E740481C1C}">
                <a14:useLocalDpi xmlns:a14="http://schemas.microsoft.com/office/drawing/2010/main" val="0"/>
              </a:ext>
            </a:extLst>
          </a:blip>
          <a:stretch>
            <a:fillRect/>
          </a:stretch>
        </p:blipFill>
        <p:spPr>
          <a:xfrm>
            <a:off x="320040" y="933985"/>
            <a:ext cx="4465024" cy="3717914"/>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a:blip r:embed="rId5">
            <a:extLst>
              <a:ext uri="{28A0092B-C50C-407E-A947-70E740481C1C}">
                <a14:useLocalDpi xmlns:a14="http://schemas.microsoft.com/office/drawing/2010/main" val="0"/>
              </a:ext>
            </a:extLst>
          </a:blip>
          <a:srcRect t="644" b="644"/>
          <a:stretch>
            <a:fillRect/>
          </a:stretch>
        </p:blipFill>
        <p:spPr bwMode="auto">
          <a:xfrm>
            <a:off x="6095847" y="933985"/>
            <a:ext cx="4666030" cy="3811467"/>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663834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527777" y="4656315"/>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527777" y="4656315"/>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extLst>
              <a:ext uri="{28A0092B-C50C-407E-A947-70E740481C1C}">
                <a14:useLocalDpi xmlns:a14="http://schemas.microsoft.com/office/drawing/2010/main" val="0"/>
              </a:ext>
            </a:extLst>
          </a:blip>
          <a:stretch>
            <a:fillRect/>
          </a:stretch>
        </p:blipFill>
        <p:spPr>
          <a:xfrm>
            <a:off x="320039" y="828919"/>
            <a:ext cx="4775743" cy="3760836"/>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extLst>
              <a:ext uri="{28A0092B-C50C-407E-A947-70E740481C1C}">
                <a14:useLocalDpi xmlns:a14="http://schemas.microsoft.com/office/drawing/2010/main" val="0"/>
              </a:ext>
            </a:extLst>
          </a:blip>
          <a:srcRect t="815" b="-1363"/>
          <a:stretch/>
        </p:blipFill>
        <p:spPr bwMode="auto">
          <a:xfrm>
            <a:off x="6260757" y="866610"/>
            <a:ext cx="4596633"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Tree>
    <p:extLst>
      <p:ext uri="{BB962C8B-B14F-4D97-AF65-F5344CB8AC3E}">
        <p14:creationId xmlns:p14="http://schemas.microsoft.com/office/powerpoint/2010/main" val="1508699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997488" cy="3636894"/>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1329995" y="4421862"/>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extLst>
              <a:ext uri="{28A0092B-C50C-407E-A947-70E740481C1C}">
                <a14:useLocalDpi xmlns:a14="http://schemas.microsoft.com/office/drawing/2010/main" val="0"/>
              </a:ext>
            </a:extLst>
          </a:blip>
          <a:stretch>
            <a:fillRect/>
          </a:stretch>
        </p:blipFill>
        <p:spPr>
          <a:xfrm>
            <a:off x="7072430" y="711896"/>
            <a:ext cx="5044627" cy="3690422"/>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0225949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extLst>
              <a:ext uri="{28A0092B-C50C-407E-A947-70E740481C1C}">
                <a14:useLocalDpi xmlns:a14="http://schemas.microsoft.com/office/drawing/2010/main" val="0"/>
              </a:ext>
            </a:extLst>
          </a:blip>
          <a:srcRect r="-1833"/>
          <a:stretch/>
        </p:blipFill>
        <p:spPr>
          <a:xfrm>
            <a:off x="3325267" y="1362865"/>
            <a:ext cx="5208828"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3987080"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3987080" y="5514755"/>
                <a:ext cx="4547015" cy="430887"/>
              </a:xfrm>
              <a:prstGeom prst="rect">
                <a:avLst/>
              </a:prstGeom>
              <a:blipFill>
                <a:blip r:embed="rId4"/>
                <a:stretch>
                  <a:fillRect/>
                </a:stretch>
              </a:blipFill>
            </p:spPr>
            <p:txBody>
              <a:bodyPr/>
              <a:lstStyle/>
              <a:p>
                <a:r>
                  <a:rPr lang="es-AR">
                    <a:noFill/>
                  </a:rPr>
                  <a:t> </a:t>
                </a:r>
              </a:p>
            </p:txBody>
          </p:sp>
        </mc:Fallback>
      </mc:AlternateContent>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1" name="Imagen 20">
            <a:extLst>
              <a:ext uri="{FF2B5EF4-FFF2-40B4-BE49-F238E27FC236}">
                <a16:creationId xmlns:a16="http://schemas.microsoft.com/office/drawing/2014/main" id="{6305DE5A-871E-4904-9FBE-88C3110618ED}"/>
              </a:ext>
            </a:extLst>
          </p:cNvPr>
          <p:cNvPicPr/>
          <p:nvPr/>
        </p:nvPicPr>
        <p:blipFill rotWithShape="1">
          <a:blip r:embed="rId2">
            <a:extLst>
              <a:ext uri="{28A0092B-C50C-407E-A947-70E740481C1C}">
                <a14:useLocalDpi xmlns:a14="http://schemas.microsoft.com/office/drawing/2010/main" val="0"/>
              </a:ext>
            </a:extLst>
          </a:blip>
          <a:srcRect l="798"/>
          <a:stretch/>
        </p:blipFill>
        <p:spPr bwMode="auto">
          <a:xfrm>
            <a:off x="133732" y="803213"/>
            <a:ext cx="5628402" cy="4466371"/>
          </a:xfrm>
          <a:prstGeom prst="rect">
            <a:avLst/>
          </a:prstGeom>
          <a:ln>
            <a:noFill/>
          </a:ln>
          <a:extLst>
            <a:ext uri="{53640926-AAD7-44D8-BBD7-CCE9431645EC}">
              <a14:shadowObscured xmlns:a14="http://schemas.microsoft.com/office/drawing/2010/main"/>
            </a:ext>
          </a:extLst>
        </p:spPr>
      </p:pic>
      <p:pic>
        <p:nvPicPr>
          <p:cNvPr id="22" name="Imagen 21">
            <a:extLst>
              <a:ext uri="{FF2B5EF4-FFF2-40B4-BE49-F238E27FC236}">
                <a16:creationId xmlns:a16="http://schemas.microsoft.com/office/drawing/2014/main" id="{493D2690-153C-456B-A197-5FCDB225506A}"/>
              </a:ext>
            </a:extLst>
          </p:cNvPr>
          <p:cNvPicPr/>
          <p:nvPr/>
        </p:nvPicPr>
        <p:blipFill>
          <a:blip r:embed="rId3">
            <a:extLst>
              <a:ext uri="{28A0092B-C50C-407E-A947-70E740481C1C}">
                <a14:useLocalDpi xmlns:a14="http://schemas.microsoft.com/office/drawing/2010/main" val="0"/>
              </a:ext>
            </a:extLst>
          </a:blip>
          <a:stretch>
            <a:fillRect/>
          </a:stretch>
        </p:blipFill>
        <p:spPr>
          <a:xfrm>
            <a:off x="5837311" y="774800"/>
            <a:ext cx="5765680" cy="4494784"/>
          </a:xfrm>
          <a:prstGeom prst="rect">
            <a:avLst/>
          </a:prstGeom>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7129B19-80DF-4CAF-B21C-6358FC302665}"/>
                  </a:ext>
                </a:extLst>
              </p:cNvPr>
              <p:cNvSpPr txBox="1"/>
              <p:nvPr/>
            </p:nvSpPr>
            <p:spPr>
              <a:xfrm>
                <a:off x="589009" y="5311437"/>
                <a:ext cx="509690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3" name="CuadroTexto 12">
                <a:extLst>
                  <a:ext uri="{FF2B5EF4-FFF2-40B4-BE49-F238E27FC236}">
                    <a16:creationId xmlns:a16="http://schemas.microsoft.com/office/drawing/2014/main" id="{27129B19-80DF-4CAF-B21C-6358FC302665}"/>
                  </a:ext>
                </a:extLst>
              </p:cNvPr>
              <p:cNvSpPr txBox="1">
                <a:spLocks noRot="1" noChangeAspect="1" noMove="1" noResize="1" noEditPoints="1" noAdjustHandles="1" noChangeArrowheads="1" noChangeShapeType="1" noTextEdit="1"/>
              </p:cNvSpPr>
              <p:nvPr/>
            </p:nvSpPr>
            <p:spPr>
              <a:xfrm>
                <a:off x="589009" y="5311437"/>
                <a:ext cx="5096905" cy="43088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7055976" y="5339314"/>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a:t>
                </a:r>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7055976" y="5339314"/>
                <a:ext cx="4547015"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409847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17" name="TextBox 16"/>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 y acciones correctivas:</a:t>
            </a:r>
          </a:p>
        </p:txBody>
      </p:sp>
      <p:sp>
        <p:nvSpPr>
          <p:cNvPr id="18" name="TextBox 17"/>
          <p:cNvSpPr txBox="1"/>
          <p:nvPr/>
        </p:nvSpPr>
        <p:spPr>
          <a:xfrm>
            <a:off x="289015" y="1419713"/>
            <a:ext cx="11902680" cy="3077766"/>
          </a:xfrm>
          <a:prstGeom prst="rect">
            <a:avLst/>
          </a:prstGeom>
          <a:noFill/>
        </p:spPr>
        <p:txBody>
          <a:bodyPr wrap="square">
            <a:spAutoFit/>
          </a:bodyPr>
          <a:lstStyle/>
          <a:p>
            <a:pPr marL="285750" indent="-285750">
              <a:buFont typeface="Arial" panose="020B0604020202020204" pitchFamily="34" charset="0"/>
              <a:buChar char="•"/>
            </a:pPr>
            <a:r>
              <a:rPr lang="es-MX" sz="1600" dirty="0"/>
              <a:t>Sin perturbación de carga, la temperatura crece progresivamente pero se estabiliza por debajo de los 48 °C en 20 ciclos, manteniéndose dentro de condiciones térmicas aceptables.</a:t>
            </a:r>
          </a:p>
          <a:p>
            <a:pPr marL="285750" indent="-285750">
              <a:buFont typeface="Arial" panose="020B0604020202020204" pitchFamily="34" charset="0"/>
              <a:buChar char="•"/>
            </a:pPr>
            <a:r>
              <a:rPr lang="es-MX" sz="1600" dirty="0"/>
              <a:t>Al introducir una perturbación de carga cíclica, la temperatura continúa incrementándose hasta estabilizarse cerca del límite máximo admisible (~30 ciclos).</a:t>
            </a:r>
          </a:p>
          <a:p>
            <a:pPr marL="285750" indent="-285750">
              <a:buFont typeface="Arial" panose="020B0604020202020204" pitchFamily="34" charset="0"/>
              <a:buChar char="•"/>
            </a:pPr>
            <a:r>
              <a:rPr lang="es-MX" sz="1600" dirty="0"/>
              <a:t>Con carga máxima en el extremo del brazo, la temperatura </a:t>
            </a:r>
            <a:r>
              <a:rPr lang="es-MX" sz="1600" b="1" dirty="0"/>
              <a:t>supera el límite admisible</a:t>
            </a:r>
            <a:r>
              <a:rPr lang="es-MX" sz="1600" dirty="0"/>
              <a:t>, lo que representa una condición de operación insegura.</a:t>
            </a:r>
          </a:p>
          <a:p>
            <a:endParaRPr lang="es-MX" sz="1600" b="1" dirty="0"/>
          </a:p>
          <a:p>
            <a:r>
              <a:rPr lang="es-MX" sz="1600" b="1" dirty="0">
                <a:solidFill>
                  <a:srgbClr val="1A3A6B"/>
                </a:solidFill>
                <a:latin typeface="Calibri"/>
              </a:rPr>
              <a:t>Medidas para garantizar operación segura:</a:t>
            </a:r>
          </a:p>
          <a:p>
            <a:endParaRPr lang="es-MX" sz="1600" dirty="0"/>
          </a:p>
          <a:p>
            <a:pPr marL="285750" indent="-285750">
              <a:buFont typeface="Arial" panose="020B0604020202020204" pitchFamily="34" charset="0"/>
              <a:buChar char="•"/>
            </a:pPr>
            <a:r>
              <a:rPr lang="es-MX" sz="1600" dirty="0"/>
              <a:t>Limitar o evitar perturbaciones de carga sostenidas</a:t>
            </a:r>
          </a:p>
          <a:p>
            <a:pPr marL="285750" indent="-285750">
              <a:buFont typeface="Arial" panose="020B0604020202020204" pitchFamily="34" charset="0"/>
              <a:buChar char="•"/>
            </a:pPr>
            <a:r>
              <a:rPr lang="es-AR" dirty="0">
                <a:latin typeface="Calibri" panose="020F0502020204030204" pitchFamily="34" charset="0"/>
                <a:ea typeface="Calibri" panose="020F0502020204030204" pitchFamily="34" charset="0"/>
                <a:cs typeface="Times New Roman" panose="02020603050405020304" pitchFamily="18" charset="0"/>
              </a:rPr>
              <a:t>M</a:t>
            </a:r>
            <a:r>
              <a:rPr lang="es-AR" sz="1800" dirty="0">
                <a:effectLst/>
                <a:latin typeface="Calibri" panose="020F0502020204030204" pitchFamily="34" charset="0"/>
                <a:ea typeface="Calibri" panose="020F0502020204030204" pitchFamily="34" charset="0"/>
                <a:cs typeface="Times New Roman" panose="02020603050405020304" pitchFamily="18" charset="0"/>
              </a:rPr>
              <a:t>odificación en la consigna de velocidad </a:t>
            </a:r>
          </a:p>
          <a:p>
            <a:pPr marL="285750" indent="-285750">
              <a:buFont typeface="Arial" panose="020B0604020202020204" pitchFamily="34" charset="0"/>
              <a:buChar char="•"/>
            </a:pPr>
            <a:r>
              <a:rPr lang="es-MX" sz="1600" dirty="0"/>
              <a:t>Incorporar un mecanismo de refrigeración</a:t>
            </a:r>
          </a:p>
        </p:txBody>
      </p:sp>
    </p:spTree>
    <p:extLst>
      <p:ext uri="{BB962C8B-B14F-4D97-AF65-F5344CB8AC3E}">
        <p14:creationId xmlns:p14="http://schemas.microsoft.com/office/powerpoint/2010/main" val="36410716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74320" y="3411191"/>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sz="1350" dirty="0" err="1">
                    <a:solidFill>
                      <a:srgbClr val="1A1A2E"/>
                    </a:solidFill>
                    <a:latin typeface="Calibri"/>
                  </a:rPr>
                  <a:t>Posición</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6000 rad/s no </a:t>
                </a:r>
                <a:r>
                  <a:rPr sz="1350" dirty="0" err="1">
                    <a:solidFill>
                      <a:srgbClr val="1A1A2E"/>
                    </a:solidFill>
                    <a:latin typeface="Calibri"/>
                  </a:rPr>
                  <a:t>muestra</a:t>
                </a:r>
                <a:r>
                  <a:rPr sz="1350" dirty="0">
                    <a:solidFill>
                      <a:srgbClr val="1A1A2E"/>
                    </a:solidFill>
                    <a:latin typeface="Calibri"/>
                  </a:rPr>
                  <a:t> </a:t>
                </a:r>
                <a:r>
                  <a:rPr sz="1350" dirty="0" err="1">
                    <a:solidFill>
                      <a:srgbClr val="1A1A2E"/>
                    </a:solidFill>
                    <a:latin typeface="Calibri"/>
                  </a:rPr>
                  <a:t>diferencias</a:t>
                </a:r>
                <a:r>
                  <a:rPr sz="1350" dirty="0">
                    <a:solidFill>
                      <a:srgbClr val="1A1A2E"/>
                    </a:solidFill>
                    <a:latin typeface="Calibri"/>
                  </a:rPr>
                  <a:t> </a:t>
                </a:r>
                <a:r>
                  <a:rPr sz="1350" dirty="0" err="1">
                    <a:solidFill>
                      <a:srgbClr val="1A1A2E"/>
                    </a:solidFill>
                    <a:latin typeface="Calibri"/>
                  </a:rPr>
                  <a:t>apreciables</a:t>
                </a:r>
                <a:r>
                  <a:rPr sz="1350" dirty="0">
                    <a:solidFill>
                      <a:srgbClr val="1A1A2E"/>
                    </a:solidFill>
                    <a:latin typeface="Calibri"/>
                  </a:rPr>
                  <a:t> → no se </a:t>
                </a:r>
                <a:r>
                  <a:rPr sz="1350" dirty="0" err="1">
                    <a:solidFill>
                      <a:srgbClr val="1A1A2E"/>
                    </a:solidFill>
                    <a:latin typeface="Calibri"/>
                  </a:rPr>
                  <a:t>requiere</a:t>
                </a:r>
                <a:r>
                  <a:rPr sz="1350" dirty="0">
                    <a:solidFill>
                      <a:srgbClr val="1A1A2E"/>
                    </a:solidFill>
                    <a:latin typeface="Calibri"/>
                  </a:rPr>
                  <a:t> mayor </a:t>
                </a:r>
                <a:r>
                  <a:rPr sz="1350" dirty="0" err="1">
                    <a:solidFill>
                      <a:srgbClr val="1A1A2E"/>
                    </a:solidFill>
                    <a:latin typeface="Calibri"/>
                  </a:rPr>
                  <a:t>resolución</a:t>
                </a:r>
                <a:endParaRPr sz="1350" dirty="0">
                  <a:solidFill>
                    <a:srgbClr val="1A1A2E"/>
                  </a:solidFill>
                  <a:latin typeface="Calibri"/>
                </a:endParaRPr>
              </a:p>
              <a:p>
                <a:pPr>
                  <a:spcBef>
                    <a:spcPts val="400"/>
                  </a:spcBef>
                </a:pPr>
                <a:r>
                  <a:rPr sz="1350" dirty="0" err="1">
                    <a:solidFill>
                      <a:srgbClr val="1A1A2E"/>
                    </a:solidFill>
                    <a:latin typeface="Calibri"/>
                  </a:rPr>
                  <a:t>Corriente</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18000 rad/s </a:t>
                </a:r>
                <a:r>
                  <a:rPr sz="1350" dirty="0" err="1">
                    <a:solidFill>
                      <a:srgbClr val="1A1A2E"/>
                    </a:solidFill>
                    <a:latin typeface="Calibri"/>
                  </a:rPr>
                  <a:t>ofrece</a:t>
                </a:r>
                <a:r>
                  <a:rPr sz="1350" dirty="0">
                    <a:solidFill>
                      <a:srgbClr val="1A1A2E"/>
                    </a:solidFill>
                    <a:latin typeface="Calibri"/>
                  </a:rPr>
                  <a:t> </a:t>
                </a:r>
                <a:r>
                  <a:rPr sz="1350" dirty="0" err="1">
                    <a:solidFill>
                      <a:srgbClr val="1A1A2E"/>
                    </a:solidFill>
                    <a:latin typeface="Calibri"/>
                  </a:rPr>
                  <a:t>buena</a:t>
                </a:r>
                <a:r>
                  <a:rPr sz="1350" dirty="0">
                    <a:solidFill>
                      <a:srgbClr val="1A1A2E"/>
                    </a:solidFill>
                    <a:latin typeface="Calibri"/>
                  </a:rPr>
                  <a:t> </a:t>
                </a:r>
                <a:r>
                  <a:rPr sz="1350" dirty="0" err="1">
                    <a:solidFill>
                      <a:srgbClr val="1A1A2E"/>
                    </a:solidFill>
                    <a:latin typeface="Calibri"/>
                  </a:rPr>
                  <a:t>respuesta</a:t>
                </a:r>
                <a:r>
                  <a:rPr sz="1350" dirty="0">
                    <a:solidFill>
                      <a:srgbClr val="1A1A2E"/>
                    </a:solidFill>
                    <a:latin typeface="Calibri"/>
                  </a:rPr>
                  <a:t> sin </a:t>
                </a:r>
                <a:r>
                  <a:rPr sz="1350" dirty="0" err="1">
                    <a:solidFill>
                      <a:srgbClr val="1A1A2E"/>
                    </a:solidFill>
                    <a:latin typeface="Calibri"/>
                  </a:rPr>
                  <a:t>necesidad</a:t>
                </a:r>
                <a:r>
                  <a:rPr sz="1350" dirty="0">
                    <a:solidFill>
                      <a:srgbClr val="1A1A2E"/>
                    </a:solidFill>
                    <a:latin typeface="Calibri"/>
                  </a:rPr>
                  <a:t> de </a:t>
                </a:r>
                <a:r>
                  <a:rPr sz="1350" dirty="0" err="1">
                    <a:solidFill>
                      <a:srgbClr val="1A1A2E"/>
                    </a:solidFill>
                    <a:latin typeface="Calibri"/>
                  </a:rPr>
                  <a:t>valores</a:t>
                </a:r>
                <a:r>
                  <a:rPr sz="1350" dirty="0">
                    <a:solidFill>
                      <a:srgbClr val="1A1A2E"/>
                    </a:solidFill>
                    <a:latin typeface="Calibri"/>
                  </a:rPr>
                  <a:t> </a:t>
                </a:r>
                <a:r>
                  <a:rPr sz="1350" dirty="0" err="1">
                    <a:solidFill>
                      <a:srgbClr val="1A1A2E"/>
                    </a:solidFill>
                    <a:latin typeface="Calibri"/>
                  </a:rPr>
                  <a:t>más</a:t>
                </a:r>
                <a:r>
                  <a:rPr sz="1350" dirty="0">
                    <a:solidFill>
                      <a:srgbClr val="1A1A2E"/>
                    </a:solidFill>
                    <a:latin typeface="Calibri"/>
                  </a:rPr>
                  <a:t> altos</a:t>
                </a:r>
              </a:p>
              <a:p>
                <a:pPr>
                  <a:spcBef>
                    <a:spcPts val="400"/>
                  </a:spcBef>
                </a:pPr>
                <a:r>
                  <a:rPr sz="1350" dirty="0" err="1">
                    <a:solidFill>
                      <a:srgbClr val="1A1A2E"/>
                    </a:solidFill>
                    <a:latin typeface="Calibri"/>
                  </a:rPr>
                  <a:t>Temperatura</a:t>
                </a:r>
                <a:r>
                  <a:rPr sz="1350" dirty="0">
                    <a:solidFill>
                      <a:srgbClr val="1A1A2E"/>
                    </a:solidFill>
                    <a:latin typeface="Calibri"/>
                  </a:rPr>
                  <a:t>: variable </a:t>
                </a:r>
                <a:r>
                  <a:rPr sz="1350" dirty="0" err="1">
                    <a:solidFill>
                      <a:srgbClr val="1A1A2E"/>
                    </a:solidFill>
                    <a:latin typeface="Calibri"/>
                  </a:rPr>
                  <a:t>más</a:t>
                </a:r>
                <a:r>
                  <a:rPr sz="1350" dirty="0">
                    <a:solidFill>
                      <a:srgbClr val="1A1A2E"/>
                    </a:solidFill>
                    <a:latin typeface="Calibri"/>
                  </a:rPr>
                  <a:t> </a:t>
                </a:r>
                <a:r>
                  <a:rPr sz="1350" dirty="0" err="1">
                    <a:solidFill>
                      <a:srgbClr val="1A1A2E"/>
                    </a:solidFill>
                    <a:latin typeface="Calibri"/>
                  </a:rPr>
                  <a:t>afectada</a:t>
                </a:r>
                <a:r>
                  <a:rPr sz="1350" dirty="0">
                    <a:solidFill>
                      <a:srgbClr val="1A1A2E"/>
                    </a:solidFill>
                    <a:latin typeface="Calibri"/>
                  </a:rPr>
                  <a:t>; τ = 0.05 s </a:t>
                </a:r>
                <a:r>
                  <a:rPr sz="1350" dirty="0" err="1">
                    <a:solidFill>
                      <a:srgbClr val="1A1A2E"/>
                    </a:solidFill>
                    <a:latin typeface="Calibri"/>
                  </a:rPr>
                  <a:t>necesario</a:t>
                </a:r>
                <a:r>
                  <a:rPr sz="1350" dirty="0">
                    <a:solidFill>
                      <a:srgbClr val="1A1A2E"/>
                    </a:solidFill>
                    <a:latin typeface="Calibri"/>
                  </a:rPr>
                  <a:t> para </a:t>
                </a:r>
                <a:r>
                  <a:rPr sz="1350" dirty="0" err="1">
                    <a:solidFill>
                      <a:srgbClr val="1A1A2E"/>
                    </a:solidFill>
                    <a:latin typeface="Calibri"/>
                  </a:rPr>
                  <a:t>rastrear</a:t>
                </a:r>
                <a:r>
                  <a:rPr sz="1350" dirty="0">
                    <a:solidFill>
                      <a:srgbClr val="1A1A2E"/>
                    </a:solidFill>
                    <a:latin typeface="Calibri"/>
                  </a:rPr>
                  <a:t> </a:t>
                </a:r>
                <a:r>
                  <a:rPr sz="1350" dirty="0" err="1">
                    <a:solidFill>
                      <a:srgbClr val="1A1A2E"/>
                    </a:solidFill>
                    <a:latin typeface="Calibri"/>
                  </a:rPr>
                  <a:t>señal</a:t>
                </a:r>
                <a:r>
                  <a:rPr sz="1350" dirty="0">
                    <a:solidFill>
                      <a:srgbClr val="1A1A2E"/>
                    </a:solidFill>
                    <a:latin typeface="Calibri"/>
                  </a:rPr>
                  <a:t>; para </a:t>
                </a:r>
                <a:r>
                  <a:rPr sz="1350" dirty="0" err="1">
                    <a:solidFill>
                      <a:srgbClr val="1A1A2E"/>
                    </a:solidFill>
                    <a:latin typeface="Calibri"/>
                  </a:rPr>
                  <a:t>detectar</a:t>
                </a:r>
                <a:r>
                  <a:rPr sz="1350" dirty="0">
                    <a:solidFill>
                      <a:srgbClr val="1A1A2E"/>
                    </a:solidFill>
                    <a:latin typeface="Calibri"/>
                  </a:rPr>
                  <a:t> </a:t>
                </a:r>
                <a:r>
                  <a:rPr sz="1350" dirty="0" err="1">
                    <a:solidFill>
                      <a:srgbClr val="1A1A2E"/>
                    </a:solidFill>
                    <a:latin typeface="Calibri"/>
                  </a:rPr>
                  <a:t>máximos</a:t>
                </a:r>
                <a:r>
                  <a:rPr sz="1350" dirty="0">
                    <a:solidFill>
                      <a:srgbClr val="1A1A2E"/>
                    </a:solidFill>
                    <a:latin typeface="Calibri"/>
                  </a:rPr>
                  <a:t> τ </a:t>
                </a:r>
                <a:r>
                  <a:rPr sz="1350" dirty="0" err="1">
                    <a:solidFill>
                      <a:srgbClr val="1A1A2E"/>
                    </a:solidFill>
                    <a:latin typeface="Calibri"/>
                  </a:rPr>
                  <a:t>puede</a:t>
                </a:r>
                <a:r>
                  <a:rPr sz="1350" dirty="0">
                    <a:solidFill>
                      <a:srgbClr val="1A1A2E"/>
                    </a:solidFill>
                    <a:latin typeface="Calibri"/>
                  </a:rPr>
                  <a:t>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24838" y="4095344"/>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74320" y="4389015"/>
            <a:ext cx="11430000" cy="651909"/>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89015"/>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89015"/>
                <a:ext cx="4627618" cy="651910"/>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2325215" y="806973"/>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4627621" y="4332210"/>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Tree>
    <p:extLst>
      <p:ext uri="{BB962C8B-B14F-4D97-AF65-F5344CB8AC3E}">
        <p14:creationId xmlns:p14="http://schemas.microsoft.com/office/powerpoint/2010/main" val="34697714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3"/>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4"/>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5">
            <a:extLst>
              <a:ext uri="{28A0092B-C50C-407E-A947-70E740481C1C}">
                <a14:useLocalDpi xmlns:a14="http://schemas.microsoft.com/office/drawing/2010/main" val="0"/>
              </a:ext>
            </a:extLst>
          </a:blip>
          <a:stretch>
            <a:fillRect/>
          </a:stretch>
        </p:blipFill>
        <p:spPr>
          <a:xfrm>
            <a:off x="2432933" y="3117295"/>
            <a:ext cx="6937309" cy="2213113"/>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495647"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Tree>
    <p:extLst>
      <p:ext uri="{BB962C8B-B14F-4D97-AF65-F5344CB8AC3E}">
        <p14:creationId xmlns:p14="http://schemas.microsoft.com/office/powerpoint/2010/main" val="338053470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1610" y="639742"/>
                <a:ext cx="8357730" cy="657552"/>
              </a:xfrm>
              <a:prstGeom prst="rect">
                <a:avLst/>
              </a:prstGeom>
              <a:noFill/>
            </p:spPr>
            <p:txBody>
              <a:bodyPr wrap="square">
                <a:spAutoFit/>
              </a:bodyPr>
              <a:lstStyle/>
              <a:p>
                <a:pPr algn="just">
                  <a:lnSpc>
                    <a:spcPct val="107000"/>
                  </a:lnSpc>
                  <a:spcBef>
                    <a:spcPts val="1800"/>
                  </a:spcBef>
                  <a:spcAft>
                    <a:spcPts val="1800"/>
                  </a:spcAft>
                </a:pPr>
                <a:r>
                  <a:rPr lang="es-MX" sz="1600" b="0" dirty="0">
                    <a:effectLst/>
                    <a:ea typeface="Calibri" panose="020F0502020204030204" pitchFamily="34" charset="0"/>
                    <a:cs typeface="Times New Roman" panose="02020603050405020304" pitchFamily="18" charset="0"/>
                  </a:rPr>
                  <a:t>Para</a:t>
                </a:r>
                <a14:m>
                  <m:oMath xmlns:m="http://schemas.openxmlformats.org/officeDocument/2006/math">
                    <m:r>
                      <a:rPr lang="es-MX" sz="16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6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=2000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=6000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6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600" i="1">
                        <a:effectLst/>
                        <a:latin typeface="Cambria Math" panose="02040503050406030204" pitchFamily="18" charset="0"/>
                        <a:ea typeface="Calibri" panose="020F0502020204030204" pitchFamily="34" charset="0"/>
                        <a:cs typeface="Times New Roman" panose="02020603050405020304" pitchFamily="18" charset="0"/>
                      </a:rPr>
                      <m:t>=20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6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1610" y="639742"/>
                <a:ext cx="8357730" cy="657552"/>
              </a:xfrm>
              <a:prstGeom prst="rect">
                <a:avLst/>
              </a:prstGeom>
              <a:blipFill>
                <a:blip r:embed="rId3"/>
                <a:stretch>
                  <a:fillRect l="-438" r="-365" b="-11111"/>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4">
            <a:extLst>
              <a:ext uri="{28A0092B-C50C-407E-A947-70E740481C1C}">
                <a14:useLocalDpi xmlns:a14="http://schemas.microsoft.com/office/drawing/2010/main" val="0"/>
              </a:ext>
            </a:extLst>
          </a:blip>
          <a:stretch>
            <a:fillRect/>
          </a:stretch>
        </p:blipFill>
        <p:spPr>
          <a:xfrm>
            <a:off x="2793890" y="1267735"/>
            <a:ext cx="4671395" cy="3250102"/>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5">
            <a:extLst>
              <a:ext uri="{28A0092B-C50C-407E-A947-70E740481C1C}">
                <a14:useLocalDpi xmlns:a14="http://schemas.microsoft.com/office/drawing/2010/main" val="0"/>
              </a:ext>
            </a:extLst>
          </a:blip>
          <a:stretch>
            <a:fillRect/>
          </a:stretch>
        </p:blipFill>
        <p:spPr>
          <a:xfrm>
            <a:off x="7515861" y="1267735"/>
            <a:ext cx="4671395" cy="3194988"/>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289363" y="4462723"/>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289363" y="4462723"/>
                <a:ext cx="4040254" cy="276742"/>
              </a:xfrm>
              <a:prstGeom prst="rect">
                <a:avLst/>
              </a:prstGeom>
              <a:blipFill>
                <a:blip r:embed="rId6"/>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087408" y="4431368"/>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087408" y="4431368"/>
                <a:ext cx="4040254" cy="276742"/>
              </a:xfrm>
              <a:prstGeom prst="rect">
                <a:avLst/>
              </a:prstGeom>
              <a:blipFill>
                <a:blip r:embed="rId7"/>
                <a:stretch>
                  <a:fillRect b="-11111"/>
                </a:stretch>
              </a:blipFill>
            </p:spPr>
            <p:txBody>
              <a:bodyPr/>
              <a:lstStyle/>
              <a:p>
                <a:r>
                  <a:rPr lang="es-AR">
                    <a:noFill/>
                  </a:rPr>
                  <a:t> </a:t>
                </a:r>
              </a:p>
            </p:txBody>
          </p:sp>
        </mc:Fallback>
      </mc:AlternateContent>
    </p:spTree>
    <p:extLst>
      <p:ext uri="{BB962C8B-B14F-4D97-AF65-F5344CB8AC3E}">
        <p14:creationId xmlns:p14="http://schemas.microsoft.com/office/powerpoint/2010/main" val="41000813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extLst>
              <a:ext uri="{28A0092B-C50C-407E-A947-70E740481C1C}">
                <a14:useLocalDpi xmlns:a14="http://schemas.microsoft.com/office/drawing/2010/main" val="0"/>
              </a:ext>
            </a:extLst>
          </a:blip>
          <a:stretch>
            <a:fillRect/>
          </a:stretch>
        </p:blipFill>
        <p:spPr>
          <a:xfrm>
            <a:off x="274320" y="776749"/>
            <a:ext cx="5090475" cy="3834845"/>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extLst>
              <a:ext uri="{28A0092B-C50C-407E-A947-70E740481C1C}">
                <a14:useLocalDpi xmlns:a14="http://schemas.microsoft.com/office/drawing/2010/main" val="0"/>
              </a:ext>
            </a:extLst>
          </a:blip>
          <a:stretch>
            <a:fillRect/>
          </a:stretch>
        </p:blipFill>
        <p:spPr>
          <a:xfrm>
            <a:off x="6402693" y="736423"/>
            <a:ext cx="5090475" cy="3915495"/>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7784484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Tree>
    <p:extLst>
      <p:ext uri="{BB962C8B-B14F-4D97-AF65-F5344CB8AC3E}">
        <p14:creationId xmlns:p14="http://schemas.microsoft.com/office/powerpoint/2010/main" val="19220450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7035541" y="4554091"/>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7035541" y="4554091"/>
                <a:ext cx="4040254" cy="276742"/>
              </a:xfrm>
              <a:prstGeom prst="rect">
                <a:avLst/>
              </a:prstGeom>
              <a:blipFill>
                <a:blip r:embed="rId3"/>
                <a:stretch>
                  <a:fillRect b="-11111"/>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74320" y="5513633"/>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extLst>
              <a:ext uri="{28A0092B-C50C-407E-A947-70E740481C1C}">
                <a14:useLocalDpi xmlns:a14="http://schemas.microsoft.com/office/drawing/2010/main" val="0"/>
              </a:ext>
            </a:extLst>
          </a:blip>
          <a:stretch>
            <a:fillRect/>
          </a:stretch>
        </p:blipFill>
        <p:spPr>
          <a:xfrm>
            <a:off x="269480" y="842008"/>
            <a:ext cx="5018957" cy="3651565"/>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extLst>
              <a:ext uri="{28A0092B-C50C-407E-A947-70E740481C1C}">
                <a14:useLocalDpi xmlns:a14="http://schemas.microsoft.com/office/drawing/2010/main" val="0"/>
              </a:ext>
            </a:extLst>
          </a:blip>
          <a:stretch>
            <a:fillRect/>
          </a:stretch>
        </p:blipFill>
        <p:spPr>
          <a:xfrm>
            <a:off x="5987919" y="849633"/>
            <a:ext cx="5277111" cy="3651564"/>
          </a:xfrm>
          <a:prstGeom prst="rect">
            <a:avLst/>
          </a:prstGeom>
        </p:spPr>
      </p:pic>
    </p:spTree>
    <p:extLst>
      <p:ext uri="{BB962C8B-B14F-4D97-AF65-F5344CB8AC3E}">
        <p14:creationId xmlns:p14="http://schemas.microsoft.com/office/powerpoint/2010/main" val="40724733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78209"/>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78209"/>
                <a:ext cx="12022317" cy="1887183"/>
              </a:xfrm>
              <a:prstGeom prst="rect">
                <a:avLst/>
              </a:prstGeom>
              <a:blipFill>
                <a:blip r:embed="rId3"/>
                <a:stretch>
                  <a:fillRect l="-152"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extLst>
              <a:ext uri="{28A0092B-C50C-407E-A947-70E740481C1C}">
                <a14:useLocalDpi xmlns:a14="http://schemas.microsoft.com/office/drawing/2010/main" val="0"/>
              </a:ext>
            </a:extLst>
          </a:blip>
          <a:stretch>
            <a:fillRect/>
          </a:stretch>
        </p:blipFill>
        <p:spPr>
          <a:xfrm>
            <a:off x="0" y="792870"/>
            <a:ext cx="4014876" cy="3226589"/>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extLst>
              <a:ext uri="{28A0092B-C50C-407E-A947-70E740481C1C}">
                <a14:useLocalDpi xmlns:a14="http://schemas.microsoft.com/office/drawing/2010/main" val="0"/>
              </a:ext>
            </a:extLst>
          </a:blip>
          <a:stretch>
            <a:fillRect/>
          </a:stretch>
        </p:blipFill>
        <p:spPr>
          <a:xfrm>
            <a:off x="3989498" y="813001"/>
            <a:ext cx="4040254" cy="320645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extLst>
              <a:ext uri="{28A0092B-C50C-407E-A947-70E740481C1C}">
                <a14:useLocalDpi xmlns:a14="http://schemas.microsoft.com/office/drawing/2010/main" val="0"/>
              </a:ext>
            </a:extLst>
          </a:blip>
          <a:stretch>
            <a:fillRect/>
          </a:stretch>
        </p:blipFill>
        <p:spPr>
          <a:xfrm>
            <a:off x="8004374" y="792870"/>
            <a:ext cx="4161943" cy="3269006"/>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184409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63672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636721"/>
                <a:ext cx="4554874" cy="267253"/>
              </a:xfrm>
              <a:prstGeom prst="rect">
                <a:avLst/>
              </a:prstGeom>
              <a:blipFill>
                <a:blip r:embed="rId2"/>
                <a:stretch>
                  <a:fillRect b="-16279"/>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187595"/>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280849" y="4671890"/>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280849" y="4671890"/>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extLst>
              <a:ext uri="{28A0092B-C50C-407E-A947-70E740481C1C}">
                <a14:useLocalDpi xmlns:a14="http://schemas.microsoft.com/office/drawing/2010/main" val="0"/>
              </a:ext>
            </a:extLst>
          </a:blip>
          <a:stretch>
            <a:fillRect/>
          </a:stretch>
        </p:blipFill>
        <p:spPr>
          <a:xfrm>
            <a:off x="274320" y="863874"/>
            <a:ext cx="4609312" cy="3764403"/>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extLst>
              <a:ext uri="{28A0092B-C50C-407E-A947-70E740481C1C}">
                <a14:useLocalDpi xmlns:a14="http://schemas.microsoft.com/office/drawing/2010/main" val="0"/>
              </a:ext>
            </a:extLst>
          </a:blip>
          <a:stretch>
            <a:fillRect/>
          </a:stretch>
        </p:blipFill>
        <p:spPr>
          <a:xfrm>
            <a:off x="5767708" y="863873"/>
            <a:ext cx="4790313" cy="3764403"/>
          </a:xfrm>
          <a:prstGeom prst="rect">
            <a:avLst/>
          </a:prstGeom>
        </p:spPr>
      </p:pic>
    </p:spTree>
    <p:extLst>
      <p:ext uri="{BB962C8B-B14F-4D97-AF65-F5344CB8AC3E}">
        <p14:creationId xmlns:p14="http://schemas.microsoft.com/office/powerpoint/2010/main" val="7869925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1445" y="104505"/>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extLst>
              <a:ext uri="{28A0092B-C50C-407E-A947-70E740481C1C}">
                <a14:useLocalDpi xmlns:a14="http://schemas.microsoft.com/office/drawing/2010/main" val="0"/>
              </a:ext>
            </a:extLst>
          </a:blip>
          <a:stretch>
            <a:fillRect/>
          </a:stretch>
        </p:blipFill>
        <p:spPr>
          <a:xfrm>
            <a:off x="183177" y="849096"/>
            <a:ext cx="5362620" cy="407522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extLst>
              <a:ext uri="{28A0092B-C50C-407E-A947-70E740481C1C}">
                <a14:useLocalDpi xmlns:a14="http://schemas.microsoft.com/office/drawing/2010/main" val="0"/>
              </a:ext>
            </a:extLst>
          </a:blip>
          <a:stretch>
            <a:fillRect/>
          </a:stretch>
        </p:blipFill>
        <p:spPr>
          <a:xfrm>
            <a:off x="6437540" y="849096"/>
            <a:ext cx="5362620" cy="407522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Tree>
    <p:extLst>
      <p:ext uri="{BB962C8B-B14F-4D97-AF65-F5344CB8AC3E}">
        <p14:creationId xmlns:p14="http://schemas.microsoft.com/office/powerpoint/2010/main" val="3441387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extLst>
              <a:ext uri="{28A0092B-C50C-407E-A947-70E740481C1C}">
                <a14:useLocalDpi xmlns:a14="http://schemas.microsoft.com/office/drawing/2010/main" val="0"/>
              </a:ext>
            </a:extLst>
          </a:blip>
          <a:stretch>
            <a:fillRect/>
          </a:stretch>
        </p:blipFill>
        <p:spPr>
          <a:xfrm>
            <a:off x="391839" y="849095"/>
            <a:ext cx="5153957" cy="3949147"/>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extLst>
              <a:ext uri="{28A0092B-C50C-407E-A947-70E740481C1C}">
                <a14:useLocalDpi xmlns:a14="http://schemas.microsoft.com/office/drawing/2010/main" val="0"/>
              </a:ext>
            </a:extLst>
          </a:blip>
          <a:stretch>
            <a:fillRect/>
          </a:stretch>
        </p:blipFill>
        <p:spPr>
          <a:xfrm>
            <a:off x="6536382" y="749847"/>
            <a:ext cx="5099601" cy="4114383"/>
          </a:xfrm>
          <a:prstGeom prst="rect">
            <a:avLst/>
          </a:prstGeom>
        </p:spPr>
      </p:pic>
    </p:spTree>
    <p:extLst>
      <p:ext uri="{BB962C8B-B14F-4D97-AF65-F5344CB8AC3E}">
        <p14:creationId xmlns:p14="http://schemas.microsoft.com/office/powerpoint/2010/main" val="40372119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extLst>
              <a:ext uri="{28A0092B-C50C-407E-A947-70E740481C1C}">
                <a14:useLocalDpi xmlns:a14="http://schemas.microsoft.com/office/drawing/2010/main" val="0"/>
              </a:ext>
            </a:extLst>
          </a:blip>
          <a:stretch>
            <a:fillRect/>
          </a:stretch>
        </p:blipFill>
        <p:spPr>
          <a:xfrm>
            <a:off x="274320" y="813054"/>
            <a:ext cx="5099601" cy="4016501"/>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extLst>
              <a:ext uri="{28A0092B-C50C-407E-A947-70E740481C1C}">
                <a14:useLocalDpi xmlns:a14="http://schemas.microsoft.com/office/drawing/2010/main" val="0"/>
              </a:ext>
            </a:extLst>
          </a:blip>
          <a:stretch>
            <a:fillRect/>
          </a:stretch>
        </p:blipFill>
        <p:spPr>
          <a:xfrm>
            <a:off x="6607450" y="813055"/>
            <a:ext cx="5028534" cy="4016500"/>
          </a:xfrm>
          <a:prstGeom prst="rect">
            <a:avLst/>
          </a:prstGeom>
        </p:spPr>
      </p:pic>
    </p:spTree>
    <p:extLst>
      <p:ext uri="{BB962C8B-B14F-4D97-AF65-F5344CB8AC3E}">
        <p14:creationId xmlns:p14="http://schemas.microsoft.com/office/powerpoint/2010/main" val="38376162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38993"/>
            <a:ext cx="5028534" cy="3564623"/>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extLst>
              <a:ext uri="{28A0092B-C50C-407E-A947-70E740481C1C}">
                <a14:useLocalDpi xmlns:a14="http://schemas.microsoft.com/office/drawing/2010/main" val="0"/>
              </a:ext>
            </a:extLst>
          </a:blip>
          <a:stretch>
            <a:fillRect/>
          </a:stretch>
        </p:blipFill>
        <p:spPr>
          <a:xfrm>
            <a:off x="320040" y="893263"/>
            <a:ext cx="5028534" cy="4016500"/>
          </a:xfrm>
          <a:prstGeom prst="rect">
            <a:avLst/>
          </a:prstGeom>
        </p:spPr>
      </p:pic>
    </p:spTree>
    <p:extLst>
      <p:ext uri="{BB962C8B-B14F-4D97-AF65-F5344CB8AC3E}">
        <p14:creationId xmlns:p14="http://schemas.microsoft.com/office/powerpoint/2010/main" val="34079178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12" name="TextBox 16">
            <a:extLst>
              <a:ext uri="{FF2B5EF4-FFF2-40B4-BE49-F238E27FC236}">
                <a16:creationId xmlns:a16="http://schemas.microsoft.com/office/drawing/2014/main" id="{7B305629-F234-40F9-AA87-AA6BFB073DFB}"/>
              </a:ext>
            </a:extLst>
          </p:cNvPr>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a:t>
            </a:r>
          </a:p>
        </p:txBody>
      </p:sp>
      <p:sp>
        <p:nvSpPr>
          <p:cNvPr id="16" name="CuadroTexto 15">
            <a:extLst>
              <a:ext uri="{FF2B5EF4-FFF2-40B4-BE49-F238E27FC236}">
                <a16:creationId xmlns:a16="http://schemas.microsoft.com/office/drawing/2014/main" id="{13AA8040-65B7-4B73-B893-E8810EA99AA6}"/>
              </a:ext>
            </a:extLst>
          </p:cNvPr>
          <p:cNvSpPr txBox="1"/>
          <p:nvPr/>
        </p:nvSpPr>
        <p:spPr>
          <a:xfrm>
            <a:off x="274319" y="1406663"/>
            <a:ext cx="11597335" cy="3742307"/>
          </a:xfrm>
          <a:prstGeom prst="rect">
            <a:avLst/>
          </a:prstGeom>
          <a:noFill/>
        </p:spPr>
        <p:txBody>
          <a:bodyPr wrap="square">
            <a:spAutoFit/>
          </a:bodyPr>
          <a:lstStyle/>
          <a:p>
            <a:r>
              <a:rPr lang="es-MX" sz="1600" dirty="0"/>
              <a:t>Con la frecuencia inicial del modulador, el sistema presenta comportamiento inestable. El modulador no logra seguir las variaciones de las tensiones de referencia, por lo que la planta recibe valores incorrectos en sus entradas.</a:t>
            </a:r>
          </a:p>
          <a:p>
            <a:endParaRPr lang="es-MX" sz="1600" dirty="0"/>
          </a:p>
          <a:p>
            <a:r>
              <a:rPr lang="es-MX" sz="1600" dirty="0"/>
              <a:t>Al incrementar la frecuencia natural del modulador se obtiene una mejora significativa: el modulador sigue con mayor fidelidad las tensiones de referencia, logrando una representación más precisa de la dinámica real.</a:t>
            </a:r>
          </a:p>
          <a:p>
            <a:endParaRPr lang="es-MX" sz="1600" dirty="0"/>
          </a:p>
          <a:p>
            <a:r>
              <a:rPr lang="es-MX" sz="1600" dirty="0"/>
              <a:t>Condición necesaria para el correcto funcionamiento: el modulador debe poseer una dinámica considerablemente más rápida que la del resto del sistema. Se obtiene un desempeño adecuado para valores de frecuencia del orden del triple de la inicial.</a:t>
            </a:r>
          </a:p>
          <a:p>
            <a:endParaRPr lang="es-MX" sz="1600" dirty="0"/>
          </a:p>
          <a:p>
            <a:pPr algn="just">
              <a:lnSpc>
                <a:spcPct val="107000"/>
              </a:lnSpc>
              <a:spcAft>
                <a:spcPts val="800"/>
              </a:spcAft>
            </a:pPr>
            <a:r>
              <a:rPr lang="es-AR" sz="1600" dirty="0">
                <a:effectLst/>
                <a:ea typeface="Calibri" panose="020F0502020204030204" pitchFamily="34" charset="0"/>
                <a:cs typeface="Times New Roman" panose="02020603050405020304" pitchFamily="18" charset="0"/>
              </a:rPr>
              <a:t>En caso de contar con sensores no ideales, es necesario que el modulador presente una frecuencia aún mayor para compensar las limitaciones introducidas por estos.</a:t>
            </a:r>
          </a:p>
          <a:p>
            <a:pPr marL="285750" indent="-285750">
              <a:buFont typeface="Arial" panose="020B0604020202020204" pitchFamily="34" charset="0"/>
              <a:buChar char="•"/>
            </a:pPr>
            <a:r>
              <a:rPr lang="es-MX" sz="1600" dirty="0"/>
              <a:t>Con sensores ideales, basta con que el modulador sea suficientemente más rápido que la planta.</a:t>
            </a:r>
          </a:p>
          <a:p>
            <a:pPr marL="285750" indent="-285750">
              <a:buFont typeface="Arial" panose="020B0604020202020204" pitchFamily="34" charset="0"/>
              <a:buChar char="•"/>
            </a:pPr>
            <a:r>
              <a:rPr lang="es-MX" sz="1600" dirty="0"/>
              <a:t>Con sensores no ideales (dinámica más lenta), el modulador debe operar a una frecuencia aún mayor para compensar las limitaciones introducidas por estos y garantizar estabilidad.</a:t>
            </a:r>
          </a:p>
        </p:txBody>
      </p:sp>
    </p:spTree>
    <p:extLst>
      <p:ext uri="{BB962C8B-B14F-4D97-AF65-F5344CB8AC3E}">
        <p14:creationId xmlns:p14="http://schemas.microsoft.com/office/powerpoint/2010/main" val="41195571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Sistema continuo completo — Parámetros finales del controlador</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lazos de corriente, modulador de tensión no ideal y sensores no ideales.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extLst>
              <a:ext uri="{28A0092B-C50C-407E-A947-70E740481C1C}">
                <a14:useLocalDpi xmlns:a14="http://schemas.microsoft.com/office/drawing/2010/main" val="0"/>
              </a:ext>
            </a:extLst>
          </a:blip>
          <a:srcRect b="10462"/>
          <a:stretch/>
        </p:blipFill>
        <p:spPr bwMode="auto">
          <a:xfrm>
            <a:off x="5631229" y="3829102"/>
            <a:ext cx="6455386" cy="2493264"/>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extLst>
              <a:ext uri="{28A0092B-C50C-407E-A947-70E740481C1C}">
                <a14:useLocalDpi xmlns:a14="http://schemas.microsoft.com/office/drawing/2010/main" val="0"/>
              </a:ext>
            </a:extLst>
          </a:blip>
          <a:stretch>
            <a:fillRect/>
          </a:stretch>
        </p:blipFill>
        <p:spPr>
          <a:xfrm>
            <a:off x="5784616" y="698017"/>
            <a:ext cx="5998890" cy="2966265"/>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Tree>
    <p:extLst>
      <p:ext uri="{BB962C8B-B14F-4D97-AF65-F5344CB8AC3E}">
        <p14:creationId xmlns:p14="http://schemas.microsoft.com/office/powerpoint/2010/main" val="40963757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Observador aumentado</a:t>
            </a:r>
            <a:r>
              <a:rPr lang="es-AR" sz="1400" dirty="0">
                <a:effectLst/>
                <a:latin typeface="Calibri" panose="020F0502020204030204" pitchFamily="34" charset="0"/>
                <a:ea typeface="Calibri" panose="020F0502020204030204" pitchFamily="34" charset="0"/>
                <a:cs typeface="Times New Roman" panose="02020603050405020304" pitchFamily="18" charset="0"/>
              </a:rPr>
              <a:t>,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extLst>
              <a:ext uri="{28A0092B-C50C-407E-A947-70E740481C1C}">
                <a14:useLocalDpi xmlns:a14="http://schemas.microsoft.com/office/drawing/2010/main" val="0"/>
              </a:ext>
            </a:extLst>
          </a:blip>
          <a:stretch>
            <a:fillRect/>
          </a:stretch>
        </p:blipFill>
        <p:spPr>
          <a:xfrm>
            <a:off x="2045617" y="2776416"/>
            <a:ext cx="7592856" cy="2881208"/>
          </a:xfrm>
          <a:prstGeom prst="rect">
            <a:avLst/>
          </a:prstGeom>
        </p:spPr>
      </p:pic>
    </p:spTree>
    <p:extLst>
      <p:ext uri="{BB962C8B-B14F-4D97-AF65-F5344CB8AC3E}">
        <p14:creationId xmlns:p14="http://schemas.microsoft.com/office/powerpoint/2010/main" val="1228105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=1.2566×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Tree>
    <p:extLst>
      <p:ext uri="{BB962C8B-B14F-4D97-AF65-F5344CB8AC3E}">
        <p14:creationId xmlns:p14="http://schemas.microsoft.com/office/powerpoint/2010/main" val="33850040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836955"/>
            <a:ext cx="12191695" cy="3791605"/>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Tree>
    <p:extLst>
      <p:ext uri="{BB962C8B-B14F-4D97-AF65-F5344CB8AC3E}">
        <p14:creationId xmlns:p14="http://schemas.microsoft.com/office/powerpoint/2010/main" val="17773018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2">
            <a:extLst>
              <a:ext uri="{28A0092B-C50C-407E-A947-70E740481C1C}">
                <a14:useLocalDpi xmlns:a14="http://schemas.microsoft.com/office/drawing/2010/main" val="0"/>
              </a:ext>
            </a:extLst>
          </a:blip>
          <a:stretch>
            <a:fillRect/>
          </a:stretch>
        </p:blipFill>
        <p:spPr>
          <a:xfrm>
            <a:off x="76199" y="724155"/>
            <a:ext cx="5953126"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3">
            <a:extLst>
              <a:ext uri="{28A0092B-C50C-407E-A947-70E740481C1C}">
                <a14:useLocalDpi xmlns:a14="http://schemas.microsoft.com/office/drawing/2010/main" val="0"/>
              </a:ext>
            </a:extLst>
          </a:blip>
          <a:stretch>
            <a:fillRect/>
          </a:stretch>
        </p:blipFill>
        <p:spPr>
          <a:xfrm>
            <a:off x="6162677" y="724154"/>
            <a:ext cx="5953124"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a:blip r:embed="rId4">
            <a:extLst>
              <a:ext uri="{28A0092B-C50C-407E-A947-70E740481C1C}">
                <a14:useLocalDpi xmlns:a14="http://schemas.microsoft.com/office/drawing/2010/main" val="0"/>
              </a:ext>
            </a:extLst>
          </a:blip>
          <a:stretch>
            <a:fillRect/>
          </a:stretch>
        </p:blipFill>
        <p:spPr>
          <a:xfrm>
            <a:off x="76199" y="3693921"/>
            <a:ext cx="5953126" cy="2704845"/>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5">
            <a:extLst>
              <a:ext uri="{28A0092B-C50C-407E-A947-70E740481C1C}">
                <a14:useLocalDpi xmlns:a14="http://schemas.microsoft.com/office/drawing/2010/main" val="0"/>
              </a:ext>
            </a:extLst>
          </a:blip>
          <a:stretch>
            <a:fillRect/>
          </a:stretch>
        </p:blipFill>
        <p:spPr>
          <a:xfrm>
            <a:off x="6162677" y="3693921"/>
            <a:ext cx="5953124"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8"/>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9"/>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5996815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extLst>
              <a:ext uri="{28A0092B-C50C-407E-A947-70E740481C1C}">
                <a14:useLocalDpi xmlns:a14="http://schemas.microsoft.com/office/drawing/2010/main" val="0"/>
              </a:ext>
            </a:extLst>
          </a:blip>
          <a:stretch>
            <a:fillRect/>
          </a:stretch>
        </p:blipFill>
        <p:spPr>
          <a:xfrm>
            <a:off x="2241234" y="755307"/>
            <a:ext cx="711231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11735103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3069943" cy="415498"/>
          </a:xfrm>
          <a:prstGeom prst="rect">
            <a:avLst/>
          </a:prstGeom>
          <a:noFill/>
        </p:spPr>
        <p:txBody>
          <a:bodyPr wrap="none">
            <a:spAutoFit/>
          </a:bodyPr>
          <a:lstStyle/>
          <a:p>
            <a:pPr algn="l"/>
            <a:r>
              <a:rPr lang="en-US" sz="2100" b="1" dirty="0" err="1">
                <a:solidFill>
                  <a:srgbClr val="FFFFFF"/>
                </a:solidFill>
                <a:latin typeface="Cambria"/>
              </a:rPr>
              <a:t>Modelo</a:t>
            </a:r>
            <a:r>
              <a:rPr lang="en-US" sz="2100" b="1" dirty="0">
                <a:solidFill>
                  <a:srgbClr val="FFFFFF"/>
                </a:solidFill>
                <a:latin typeface="Cambria"/>
              </a:rPr>
              <a:t> final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336663"/>
            <a:ext cx="12192000" cy="3891759"/>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Tree>
    <p:extLst>
      <p:ext uri="{BB962C8B-B14F-4D97-AF65-F5344CB8AC3E}">
        <p14:creationId xmlns:p14="http://schemas.microsoft.com/office/powerpoint/2010/main" val="42246988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Tree>
    <p:extLst>
      <p:ext uri="{BB962C8B-B14F-4D97-AF65-F5344CB8AC3E}">
        <p14:creationId xmlns:p14="http://schemas.microsoft.com/office/powerpoint/2010/main" val="155469907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58368"/>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extLst>
              <a:ext uri="{28A0092B-C50C-407E-A947-70E740481C1C}">
                <a14:useLocalDpi xmlns:a14="http://schemas.microsoft.com/office/drawing/2010/main" val="0"/>
              </a:ext>
            </a:extLst>
          </a:blip>
          <a:stretch>
            <a:fillRect/>
          </a:stretch>
        </p:blipFill>
        <p:spPr>
          <a:xfrm>
            <a:off x="59349" y="1281070"/>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extLst>
              <a:ext uri="{28A0092B-C50C-407E-A947-70E740481C1C}">
                <a14:useLocalDpi xmlns:a14="http://schemas.microsoft.com/office/drawing/2010/main" val="0"/>
              </a:ext>
            </a:extLst>
          </a:blip>
          <a:stretch>
            <a:fillRect/>
          </a:stretch>
        </p:blipFill>
        <p:spPr>
          <a:xfrm>
            <a:off x="6515747" y="1259132"/>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extLst>
              <a:ext uri="{28A0092B-C50C-407E-A947-70E740481C1C}">
                <a14:useLocalDpi xmlns:a14="http://schemas.microsoft.com/office/drawing/2010/main" val="0"/>
              </a:ext>
            </a:extLst>
          </a:blip>
          <a:stretch>
            <a:fillRect/>
          </a:stretch>
        </p:blipFill>
        <p:spPr>
          <a:xfrm>
            <a:off x="3295885" y="3935575"/>
            <a:ext cx="5599923"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Tree>
    <p:extLst>
      <p:ext uri="{BB962C8B-B14F-4D97-AF65-F5344CB8AC3E}">
        <p14:creationId xmlns:p14="http://schemas.microsoft.com/office/powerpoint/2010/main" val="174318010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Referencias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4847481"/>
          </a:xfrm>
          <a:prstGeom prst="rect">
            <a:avLst/>
          </a:prstGeom>
          <a:noFill/>
        </p:spPr>
        <p:txBody>
          <a:bodyPr wrap="square">
            <a:spAutoFit/>
          </a:bodyPr>
          <a:lstStyle/>
          <a:p>
            <a:r>
              <a:rPr sz="2400" dirty="0">
                <a:solidFill>
                  <a:srgbClr val="1A1A2E"/>
                </a:solidFill>
                <a:latin typeface="Calibri"/>
              </a:rPr>
              <a:t>[1] G. Julián. Proyecto Global </a:t>
            </a:r>
            <a:r>
              <a:rPr sz="2400" dirty="0" err="1">
                <a:solidFill>
                  <a:srgbClr val="1A1A2E"/>
                </a:solidFill>
                <a:latin typeface="Calibri"/>
              </a:rPr>
              <a:t>Integrador</a:t>
            </a:r>
            <a:r>
              <a:rPr sz="2400" dirty="0">
                <a:solidFill>
                  <a:srgbClr val="1A1A2E"/>
                </a:solidFill>
                <a:latin typeface="Calibri"/>
              </a:rPr>
              <a:t>: Control de </a:t>
            </a:r>
            <a:r>
              <a:rPr sz="2400" dirty="0" err="1">
                <a:solidFill>
                  <a:srgbClr val="1A1A2E"/>
                </a:solidFill>
                <a:latin typeface="Calibri"/>
              </a:rPr>
              <a:t>Accionamiento</a:t>
            </a:r>
            <a:r>
              <a:rPr sz="2400" dirty="0">
                <a:solidFill>
                  <a:srgbClr val="1A1A2E"/>
                </a:solidFill>
                <a:latin typeface="Calibri"/>
              </a:rPr>
              <a:t> de CA con Motor </a:t>
            </a:r>
            <a:r>
              <a:rPr sz="2400" dirty="0" err="1">
                <a:solidFill>
                  <a:srgbClr val="1A1A2E"/>
                </a:solidFill>
                <a:latin typeface="Calibri"/>
              </a:rPr>
              <a:t>Síncrono</a:t>
            </a:r>
            <a:r>
              <a:rPr sz="2400" dirty="0">
                <a:solidFill>
                  <a:srgbClr val="1A1A2E"/>
                </a:solidFill>
                <a:latin typeface="Calibri"/>
              </a:rPr>
              <a:t> de </a:t>
            </a:r>
            <a:r>
              <a:rPr sz="2400" dirty="0" err="1">
                <a:solidFill>
                  <a:srgbClr val="1A1A2E"/>
                </a:solidFill>
                <a:latin typeface="Calibri"/>
              </a:rPr>
              <a:t>Imanes</a:t>
            </a:r>
            <a:r>
              <a:rPr sz="2400" dirty="0">
                <a:solidFill>
                  <a:srgbClr val="1A1A2E"/>
                </a:solidFill>
                <a:latin typeface="Calibri"/>
              </a:rPr>
              <a:t> </a:t>
            </a:r>
            <a:r>
              <a:rPr sz="2400" dirty="0" err="1">
                <a:solidFill>
                  <a:srgbClr val="1A1A2E"/>
                </a:solidFill>
                <a:latin typeface="Calibri"/>
              </a:rPr>
              <a:t>Permanentes</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Ing. </a:t>
            </a:r>
            <a:r>
              <a:rPr sz="2400" dirty="0" err="1">
                <a:solidFill>
                  <a:srgbClr val="1A1A2E"/>
                </a:solidFill>
                <a:latin typeface="Calibri"/>
              </a:rPr>
              <a:t>en</a:t>
            </a:r>
            <a:r>
              <a:rPr sz="2400" dirty="0">
                <a:solidFill>
                  <a:srgbClr val="1A1A2E"/>
                </a:solidFill>
                <a:latin typeface="Calibri"/>
              </a:rPr>
              <a:t> </a:t>
            </a:r>
            <a:r>
              <a:rPr sz="2400" dirty="0" err="1">
                <a:solidFill>
                  <a:srgbClr val="1A1A2E"/>
                </a:solidFill>
                <a:latin typeface="Calibri"/>
              </a:rPr>
              <a:t>Mecatrónica</a:t>
            </a:r>
            <a:r>
              <a:rPr sz="2400" dirty="0">
                <a:solidFill>
                  <a:srgbClr val="1A1A2E"/>
                </a:solidFill>
                <a:latin typeface="Calibri"/>
              </a:rPr>
              <a:t>, 2024.</a:t>
            </a:r>
          </a:p>
          <a:p>
            <a:pPr>
              <a:spcBef>
                <a:spcPts val="900"/>
              </a:spcBef>
            </a:pPr>
            <a:r>
              <a:rPr sz="2400" dirty="0">
                <a:solidFill>
                  <a:srgbClr val="1A1A2E"/>
                </a:solidFill>
                <a:latin typeface="Calibri"/>
              </a:rPr>
              <a:t>[2] G. Julián. </a:t>
            </a:r>
            <a:r>
              <a:rPr sz="2400" dirty="0" err="1">
                <a:solidFill>
                  <a:srgbClr val="1A1A2E"/>
                </a:solidFill>
                <a:latin typeface="Calibri"/>
              </a:rPr>
              <a:t>Guía</a:t>
            </a:r>
            <a:r>
              <a:rPr sz="2400" dirty="0">
                <a:solidFill>
                  <a:srgbClr val="1A1A2E"/>
                </a:solidFill>
                <a:latin typeface="Calibri"/>
              </a:rPr>
              <a:t> de </a:t>
            </a:r>
            <a:r>
              <a:rPr sz="2400" dirty="0" err="1">
                <a:solidFill>
                  <a:srgbClr val="1A1A2E"/>
                </a:solidFill>
                <a:latin typeface="Calibri"/>
              </a:rPr>
              <a:t>trabajo</a:t>
            </a:r>
            <a:r>
              <a:rPr sz="2400" dirty="0">
                <a:solidFill>
                  <a:srgbClr val="1A1A2E"/>
                </a:solidFill>
                <a:latin typeface="Calibri"/>
              </a:rPr>
              <a:t> — Proyecto Global </a:t>
            </a:r>
            <a:r>
              <a:rPr sz="2400" dirty="0" err="1">
                <a:solidFill>
                  <a:srgbClr val="1A1A2E"/>
                </a:solidFill>
                <a:latin typeface="Calibri"/>
              </a:rPr>
              <a:t>Integrador</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2024.</a:t>
            </a:r>
          </a:p>
          <a:p>
            <a:pPr>
              <a:spcBef>
                <a:spcPts val="900"/>
              </a:spcBef>
            </a:pPr>
            <a:r>
              <a:rPr sz="2400" dirty="0">
                <a:solidFill>
                  <a:srgbClr val="1A1A2E"/>
                </a:solidFill>
                <a:latin typeface="Calibri"/>
              </a:rPr>
              <a:t>[3] P. Krause, O. </a:t>
            </a:r>
            <a:r>
              <a:rPr sz="2400" dirty="0" err="1">
                <a:solidFill>
                  <a:srgbClr val="1A1A2E"/>
                </a:solidFill>
                <a:latin typeface="Calibri"/>
              </a:rPr>
              <a:t>Wasynczuk</a:t>
            </a:r>
            <a:r>
              <a:rPr sz="2400" dirty="0">
                <a:solidFill>
                  <a:srgbClr val="1A1A2E"/>
                </a:solidFill>
                <a:latin typeface="Calibri"/>
              </a:rPr>
              <a:t>, S. D. </a:t>
            </a:r>
            <a:r>
              <a:rPr sz="2400" dirty="0" err="1">
                <a:solidFill>
                  <a:srgbClr val="1A1A2E"/>
                </a:solidFill>
                <a:latin typeface="Calibri"/>
              </a:rPr>
              <a:t>Sudhoff</a:t>
            </a:r>
            <a:r>
              <a:rPr sz="2400" dirty="0">
                <a:solidFill>
                  <a:srgbClr val="1A1A2E"/>
                </a:solidFill>
                <a:latin typeface="Calibri"/>
              </a:rPr>
              <a:t>, S. </a:t>
            </a:r>
            <a:r>
              <a:rPr sz="2400" dirty="0" err="1">
                <a:solidFill>
                  <a:srgbClr val="1A1A2E"/>
                </a:solidFill>
                <a:latin typeface="Calibri"/>
              </a:rPr>
              <a:t>Pekarek</a:t>
            </a:r>
            <a:r>
              <a:rPr sz="2400" dirty="0">
                <a:solidFill>
                  <a:srgbClr val="1A1A2E"/>
                </a:solidFill>
                <a:latin typeface="Calibri"/>
              </a:rPr>
              <a:t>. Analysis of Electric Machinery and Drive Systems. 3ª ed. Wiley-IEEE Press, 2013.</a:t>
            </a:r>
          </a:p>
          <a:p>
            <a:pPr>
              <a:spcBef>
                <a:spcPts val="900"/>
              </a:spcBef>
            </a:pPr>
            <a:r>
              <a:rPr sz="2400" dirty="0">
                <a:solidFill>
                  <a:srgbClr val="1A1A2E"/>
                </a:solidFill>
                <a:latin typeface="Calibri"/>
              </a:rPr>
              <a:t>[4] G. F. Franklin, J. D. Powell, A. </a:t>
            </a:r>
            <a:r>
              <a:rPr sz="2400" dirty="0" err="1">
                <a:solidFill>
                  <a:srgbClr val="1A1A2E"/>
                </a:solidFill>
                <a:latin typeface="Calibri"/>
              </a:rPr>
              <a:t>Emami-Naeni</a:t>
            </a:r>
            <a:r>
              <a:rPr sz="2400" dirty="0">
                <a:solidFill>
                  <a:srgbClr val="1A1A2E"/>
                </a:solidFill>
                <a:latin typeface="Calibri"/>
              </a:rPr>
              <a:t>. Feedback Control of Dynamic Systems. 7ª ed. Pearson, 2015.</a:t>
            </a:r>
          </a:p>
          <a:p>
            <a:pPr>
              <a:spcBef>
                <a:spcPts val="900"/>
              </a:spcBef>
            </a:pPr>
            <a:r>
              <a:rPr sz="2400" dirty="0">
                <a:solidFill>
                  <a:srgbClr val="1A1A2E"/>
                </a:solidFill>
                <a:latin typeface="Calibri"/>
              </a:rPr>
              <a:t>[5] K. Ogata. </a:t>
            </a:r>
            <a:r>
              <a:rPr sz="2400" dirty="0" err="1">
                <a:solidFill>
                  <a:srgbClr val="1A1A2E"/>
                </a:solidFill>
                <a:latin typeface="Calibri"/>
              </a:rPr>
              <a:t>Ingeniería</a:t>
            </a:r>
            <a:r>
              <a:rPr sz="2400" dirty="0">
                <a:solidFill>
                  <a:srgbClr val="1A1A2E"/>
                </a:solidFill>
                <a:latin typeface="Calibri"/>
              </a:rPr>
              <a:t> de Control Moderna. 5ª ed. Prentice Hall, 2010.</a:t>
            </a:r>
          </a:p>
          <a:p>
            <a:pPr>
              <a:spcBef>
                <a:spcPts val="900"/>
              </a:spcBef>
            </a:pPr>
            <a:r>
              <a:rPr sz="2400" dirty="0">
                <a:solidFill>
                  <a:srgbClr val="1A1A2E"/>
                </a:solidFill>
                <a:latin typeface="Calibri"/>
              </a:rPr>
              <a:t>[6] K. M. Lynch, F. C. Park. Modern Robotics: Mechanics, Planning, and Control. Cambridge University Press, 2017.</a:t>
            </a:r>
          </a:p>
          <a:p>
            <a:pPr>
              <a:spcBef>
                <a:spcPts val="900"/>
              </a:spcBef>
            </a:pPr>
            <a:r>
              <a:rPr sz="2400" dirty="0">
                <a:solidFill>
                  <a:srgbClr val="1A1A2E"/>
                </a:solidFill>
                <a:latin typeface="Calibri"/>
              </a:rPr>
              <a:t>[7] MathWorks. MATLAB/Simulink R2024b Documentation. www.mathworks.com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4820</TotalTime>
  <Words>13738</Words>
  <Application>Microsoft Office PowerPoint</Application>
  <PresentationFormat>Panorámica</PresentationFormat>
  <Paragraphs>1340</Paragraphs>
  <Slides>119</Slides>
  <Notes>8</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119</vt:i4>
      </vt:variant>
    </vt:vector>
  </HeadingPairs>
  <TitlesOfParts>
    <vt:vector size="126"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 stella</cp:lastModifiedBy>
  <cp:revision>206</cp:revision>
  <dcterms:created xsi:type="dcterms:W3CDTF">2013-01-27T09:14:16Z</dcterms:created>
  <dcterms:modified xsi:type="dcterms:W3CDTF">2026-04-27T20:44:51Z</dcterms:modified>
  <cp:category/>
</cp:coreProperties>
</file>