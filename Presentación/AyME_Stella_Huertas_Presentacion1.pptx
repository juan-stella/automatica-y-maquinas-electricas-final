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4477" autoAdjust="0"/>
  </p:normalViewPr>
  <p:slideViewPr>
    <p:cSldViewPr snapToGrid="0" snapToObjects="1">
      <p:cViewPr varScale="1">
        <p:scale>
          <a:sx n="108" d="100"/>
          <a:sy n="108" d="100"/>
        </p:scale>
        <p:origin x="76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27/4/2026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26.png"/><Relationship Id="rId2" Type="http://schemas.openxmlformats.org/officeDocument/2006/relationships/image" Target="../media/image34.png"/><Relationship Id="rId1" Type="http://schemas.openxmlformats.org/officeDocument/2006/relationships/slideLayout" Target="../slideLayouts/slideLayout7.xml"/><Relationship Id="rId5" Type="http://schemas.openxmlformats.org/officeDocument/2006/relationships/image" Target="../media/image340.png"/><Relationship Id="rId4" Type="http://schemas.openxmlformats.org/officeDocument/2006/relationships/image" Target="../media/image341.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6.png"/></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50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4.png"/><Relationship Id="rId5" Type="http://schemas.openxmlformats.org/officeDocument/2006/relationships/image" Target="../media/image157.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7.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6.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1.png"/><Relationship Id="rId4" Type="http://schemas.openxmlformats.org/officeDocument/2006/relationships/image" Target="../media/image190.png"/></Relationships>
</file>

<file path=ppt/slides/_rels/slide7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2.png"/><Relationship Id="rId5" Type="http://schemas.openxmlformats.org/officeDocument/2006/relationships/image" Target="../media/image198.png"/><Relationship Id="rId4" Type="http://schemas.openxmlformats.org/officeDocument/2006/relationships/image" Target="../media/image197.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6.png"/><Relationship Id="rId5" Type="http://schemas.openxmlformats.org/officeDocument/2006/relationships/image" Target="../media/image210.png"/><Relationship Id="rId4" Type="http://schemas.openxmlformats.org/officeDocument/2006/relationships/image" Target="../media/image20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7.png"/><Relationship Id="rId4" Type="http://schemas.openxmlformats.org/officeDocument/2006/relationships/image" Target="../media/image216.png"/></Relationships>
</file>

<file path=ppt/slides/_rels/slide8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m:t>
                    </m:r>
                    <m:r>
                      <a:rPr lang="es-AR" sz="1400" i="1">
                        <a:latin typeface="Cambria Math" panose="02040503050406030204" pitchFamily="18" charset="0"/>
                      </a:rPr>
                      <m:t>45</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m:t>
                        </m:r>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1" name="Text 19"/>
          <p:cNvSpPr/>
          <p:nvPr/>
        </p:nvSpPr>
        <p:spPr>
          <a:xfrm>
            <a:off x="0" y="696941"/>
            <a:ext cx="1143000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91440" y="1146995"/>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444495" y="1444331"/>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444495" y="1444331"/>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0" y="2440915"/>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91440" y="2759301"/>
            <a:ext cx="11247120" cy="79176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8" name="Text 21">
                <a:extLst>
                  <a:ext uri="{FF2B5EF4-FFF2-40B4-BE49-F238E27FC236}">
                    <a16:creationId xmlns:a16="http://schemas.microsoft.com/office/drawing/2014/main" id="{9CB1D5DA-B895-49EC-AF0F-2B5E12F4D128}"/>
                  </a:ext>
                </a:extLst>
              </p:cNvPr>
              <p:cNvSpPr/>
              <p:nvPr/>
            </p:nvSpPr>
            <p:spPr>
              <a:xfrm>
                <a:off x="180039" y="285850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180039" y="2858502"/>
                <a:ext cx="4209081" cy="594360"/>
              </a:xfrm>
              <a:prstGeom prst="rect">
                <a:avLst/>
              </a:prstGeom>
              <a:blipFill>
                <a:blip r:embed="rId3"/>
                <a:stretch>
                  <a:fillRect b="-3093"/>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0" y="3738869"/>
            <a:ext cx="11430000" cy="411480"/>
          </a:xfrm>
          <a:prstGeom prst="rect">
            <a:avLst/>
          </a:prstGeom>
          <a:noFill/>
          <a:ln/>
        </p:spPr>
        <p:txBody>
          <a:bodyPr wrap="square" rtlCol="0" anchor="t"/>
          <a:lstStyle/>
          <a:p>
            <a:pPr marL="0" indent="0" algn="l">
              <a:buNone/>
            </a:pPr>
            <a:r>
              <a:rPr lang="es-AR" sz="1600" b="1" dirty="0">
                <a:solidFill>
                  <a:srgbClr val="1A386B"/>
                </a:solidFill>
                <a:latin typeface="Calibri" pitchFamily="34" charset="0"/>
                <a:ea typeface="Calibri" pitchFamily="34" charset="-122"/>
                <a:cs typeface="Calibri" pitchFamily="34" charset="-120"/>
              </a:rPr>
              <a:t>Representación matricial en espacio de estados:</a:t>
            </a:r>
            <a:endParaRPr lang="es-AR" sz="1600" dirty="0"/>
          </a:p>
        </p:txBody>
      </p:sp>
      <p:sp>
        <p:nvSpPr>
          <p:cNvPr id="30" name="Shape 20">
            <a:extLst>
              <a:ext uri="{FF2B5EF4-FFF2-40B4-BE49-F238E27FC236}">
                <a16:creationId xmlns:a16="http://schemas.microsoft.com/office/drawing/2014/main" id="{8B4DE1EB-B212-4A92-A0D0-0B0C5C1971DD}"/>
              </a:ext>
            </a:extLst>
          </p:cNvPr>
          <p:cNvSpPr/>
          <p:nvPr/>
        </p:nvSpPr>
        <p:spPr>
          <a:xfrm>
            <a:off x="91440" y="4231196"/>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0" y="4541249"/>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0" y="4541249"/>
                <a:ext cx="5178523" cy="594360"/>
              </a:xfrm>
              <a:prstGeom prst="rect">
                <a:avLst/>
              </a:prstGeom>
              <a:blipFill>
                <a:blip r:embed="rId4"/>
                <a:stretch>
                  <a:fillRect t="-31959" b="-3505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Transformada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m:t>
                    </m:r>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247826"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2" name="Text 10"/>
          <p:cNvSpPr/>
          <p:nvPr/>
        </p:nvSpPr>
        <p:spPr>
          <a:xfrm>
            <a:off x="457200" y="4432266"/>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955038"/>
            <a:ext cx="7421213" cy="3598164"/>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818</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m:t>
                    </m:r>
                    <m:r>
                      <a:rPr lang="es-AR" sz="1400" i="1">
                        <a:latin typeface="Cambria Math" panose="02040503050406030204" pitchFamily="18" charset="0"/>
                      </a:rPr>
                      <m:t>40</m:t>
                    </m:r>
                    <m:r>
                      <a:rPr lang="es-AR" sz="1400" i="1">
                        <a:latin typeface="Cambria Math" panose="02040503050406030204" pitchFamily="18" charset="0"/>
                      </a:rPr>
                      <m:t>°</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6858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n-US" sz="1300" i="1" dirty="0" smtClean="0">
                        <a:solidFill>
                          <a:srgbClr val="111111"/>
                        </a:solidFill>
                        <a:latin typeface="Cambria Math" panose="02040503050406030204" pitchFamily="18" charset="0"/>
                        <a:ea typeface="Calibri" pitchFamily="34" charset="-122"/>
                        <a:cs typeface="Calibri" pitchFamily="34" charset="-120"/>
                      </a:rPr>
                      <m:t>𝑑</m:t>
                    </m:r>
                    <m:r>
                      <a:rPr lang="en-US" sz="1300" i="1" dirty="0" smtClean="0">
                        <a:solidFill>
                          <a:srgbClr val="111111"/>
                        </a:solidFill>
                        <a:latin typeface="Cambria Math" panose="02040503050406030204" pitchFamily="18" charset="0"/>
                        <a:ea typeface="Calibri" pitchFamily="34" charset="-122"/>
                        <a:cs typeface="Calibri" pitchFamily="34" charset="-120"/>
                      </a:rPr>
                      <m:t>−</m:t>
                    </m:r>
                    <m:r>
                      <a:rPr lang="en-US" sz="1300" i="1" dirty="0" smtClean="0">
                        <a:solidFill>
                          <a:srgbClr val="111111"/>
                        </a:solidFill>
                        <a:latin typeface="Cambria Math" panose="02040503050406030204" pitchFamily="18" charset="0"/>
                        <a:ea typeface="Calibri" pitchFamily="34" charset="-122"/>
                        <a:cs typeface="Calibri" pitchFamily="34" charset="-120"/>
                      </a:rPr>
                      <m:t>𝑞</m:t>
                    </m:r>
                  </m:oMath>
                </a14:m>
                <a:r>
                  <a:rPr lang="en-US" sz="1300" dirty="0">
                    <a:solidFill>
                      <a:srgbClr val="111111"/>
                    </a:solidFill>
                    <a:latin typeface="Calibri" pitchFamily="34" charset="0"/>
                    <a:ea typeface="Calibri" pitchFamily="34" charset="-122"/>
                    <a:cs typeface="Calibri" pitchFamily="34" charset="-120"/>
                  </a:rPr>
                  <a:t>. Para usar herramientas de control lineal, se descompone cada variable en un punto de operación cuasi-estacionario y una perturbación de pequeña magnitud:</a:t>
                </a: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685800"/>
              </a:xfrm>
              <a:prstGeom prst="rect">
                <a:avLst/>
              </a:prstGeom>
              <a:blipFill>
                <a:blip r:embed="rId2"/>
                <a:stretch>
                  <a:fillRect l="-53" t="-893"/>
                </a:stretch>
              </a:blipFill>
              <a:ln/>
            </p:spPr>
            <p:txBody>
              <a:bodyPr/>
              <a:lstStyle/>
              <a:p>
                <a:r>
                  <a:rPr lang="es-AR">
                    <a:noFill/>
                  </a:rPr>
                  <a:t> </a:t>
                </a:r>
              </a:p>
            </p:txBody>
          </p:sp>
        </mc:Fallback>
      </mc:AlternateContent>
      <p:sp>
        <p:nvSpPr>
          <p:cNvPr id="8" name="Shape 6"/>
          <p:cNvSpPr/>
          <p:nvPr/>
        </p:nvSpPr>
        <p:spPr>
          <a:xfrm>
            <a:off x="1371600" y="1401968"/>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401968"/>
                <a:ext cx="896112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401968"/>
                <a:ext cx="8961120"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365760" y="2148840"/>
            <a:ext cx="11430000" cy="38404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Entonces, el sistema no lineal queda expresado como: </a:t>
            </a:r>
            <a:endParaRPr lang="es-AR" sz="1300" dirty="0"/>
          </a:p>
        </p:txBody>
      </p:sp>
      <p:sp>
        <p:nvSpPr>
          <p:cNvPr id="18" name="Shape 6">
            <a:extLst>
              <a:ext uri="{FF2B5EF4-FFF2-40B4-BE49-F238E27FC236}">
                <a16:creationId xmlns:a16="http://schemas.microsoft.com/office/drawing/2014/main" id="{BBAC01EC-E856-4860-B292-FF94F5A2DFFA}"/>
              </a:ext>
            </a:extLst>
          </p:cNvPr>
          <p:cNvSpPr/>
          <p:nvPr/>
        </p:nvSpPr>
        <p:spPr>
          <a:xfrm>
            <a:off x="1371600" y="2575421"/>
            <a:ext cx="9144000" cy="119962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1371600" y="2701999"/>
                <a:ext cx="9052560"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1371600" y="2701999"/>
                <a:ext cx="9052560" cy="815929"/>
              </a:xfrm>
              <a:prstGeom prst="rect">
                <a:avLst/>
              </a:prstGeom>
              <a:blipFill>
                <a:blip r:embed="rId4"/>
                <a:stretch>
                  <a:fillRect t="-746" b="-5970"/>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462233" y="4034041"/>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371600" y="448924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1463040" y="456279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1463040" y="456279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462233" y="5660774"/>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05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a:t>
                </a:r>
                <a:r>
                  <a:rPr lang="es-AR" sz="1400" dirty="0" err="1"/>
                  <a:t>homopolaral</a:t>
                </a:r>
                <a:r>
                  <a:rPr lang="es-AR" sz="1400" dirty="0"/>
                  <a:t>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m:t>
                    </m:r>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4387</TotalTime>
  <Words>13779</Words>
  <Application>Microsoft Office PowerPoint</Application>
  <PresentationFormat>Panorámica</PresentationFormat>
  <Paragraphs>1361</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196</cp:revision>
  <dcterms:created xsi:type="dcterms:W3CDTF">2013-01-27T09:14:16Z</dcterms:created>
  <dcterms:modified xsi:type="dcterms:W3CDTF">2026-04-27T13:31:56Z</dcterms:modified>
  <cp:category/>
</cp:coreProperties>
</file>