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1"/>
  </p:notesMasterIdLst>
  <p:sldIdLst>
    <p:sldId id="256" r:id="rId2"/>
    <p:sldId id="257" r:id="rId3"/>
    <p:sldId id="258" r:id="rId4"/>
    <p:sldId id="384" r:id="rId5"/>
    <p:sldId id="260" r:id="rId6"/>
    <p:sldId id="261" r:id="rId7"/>
    <p:sldId id="262" r:id="rId8"/>
    <p:sldId id="263" r:id="rId9"/>
    <p:sldId id="382" r:id="rId10"/>
    <p:sldId id="264" r:id="rId11"/>
    <p:sldId id="265" r:id="rId12"/>
    <p:sldId id="383"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4" r:id="rId31"/>
    <p:sldId id="285" r:id="rId32"/>
    <p:sldId id="286" r:id="rId33"/>
    <p:sldId id="287" r:id="rId34"/>
    <p:sldId id="328" r:id="rId35"/>
    <p:sldId id="329" r:id="rId36"/>
    <p:sldId id="330" r:id="rId37"/>
    <p:sldId id="288" r:id="rId38"/>
    <p:sldId id="290" r:id="rId39"/>
    <p:sldId id="331" r:id="rId40"/>
    <p:sldId id="291" r:id="rId41"/>
    <p:sldId id="332" r:id="rId42"/>
    <p:sldId id="292" r:id="rId43"/>
    <p:sldId id="293" r:id="rId44"/>
    <p:sldId id="294" r:id="rId45"/>
    <p:sldId id="333" r:id="rId46"/>
    <p:sldId id="295" r:id="rId47"/>
    <p:sldId id="334" r:id="rId48"/>
    <p:sldId id="297" r:id="rId49"/>
    <p:sldId id="337" r:id="rId50"/>
    <p:sldId id="336" r:id="rId51"/>
    <p:sldId id="296" r:id="rId52"/>
    <p:sldId id="338" r:id="rId53"/>
    <p:sldId id="299" r:id="rId54"/>
    <p:sldId id="298" r:id="rId55"/>
    <p:sldId id="339" r:id="rId56"/>
    <p:sldId id="340" r:id="rId57"/>
    <p:sldId id="385" r:id="rId58"/>
    <p:sldId id="341" r:id="rId59"/>
    <p:sldId id="300" r:id="rId60"/>
    <p:sldId id="301" r:id="rId61"/>
    <p:sldId id="302" r:id="rId62"/>
    <p:sldId id="343" r:id="rId63"/>
    <p:sldId id="344" r:id="rId64"/>
    <p:sldId id="303" r:id="rId65"/>
    <p:sldId id="345" r:id="rId66"/>
    <p:sldId id="304" r:id="rId67"/>
    <p:sldId id="346" r:id="rId68"/>
    <p:sldId id="305" r:id="rId69"/>
    <p:sldId id="306" r:id="rId70"/>
    <p:sldId id="347" r:id="rId71"/>
    <p:sldId id="307" r:id="rId72"/>
    <p:sldId id="348" r:id="rId73"/>
    <p:sldId id="309" r:id="rId74"/>
    <p:sldId id="310" r:id="rId75"/>
    <p:sldId id="349" r:id="rId76"/>
    <p:sldId id="311" r:id="rId77"/>
    <p:sldId id="312" r:id="rId78"/>
    <p:sldId id="350" r:id="rId79"/>
    <p:sldId id="351" r:id="rId80"/>
    <p:sldId id="314" r:id="rId81"/>
    <p:sldId id="315" r:id="rId82"/>
    <p:sldId id="316" r:id="rId83"/>
    <p:sldId id="352" r:id="rId84"/>
    <p:sldId id="353" r:id="rId85"/>
    <p:sldId id="354" r:id="rId86"/>
    <p:sldId id="355" r:id="rId87"/>
    <p:sldId id="317" r:id="rId88"/>
    <p:sldId id="356" r:id="rId89"/>
    <p:sldId id="318" r:id="rId90"/>
    <p:sldId id="357" r:id="rId91"/>
    <p:sldId id="358" r:id="rId92"/>
    <p:sldId id="319" r:id="rId93"/>
    <p:sldId id="359" r:id="rId94"/>
    <p:sldId id="360" r:id="rId95"/>
    <p:sldId id="361" r:id="rId96"/>
    <p:sldId id="363" r:id="rId97"/>
    <p:sldId id="364" r:id="rId98"/>
    <p:sldId id="362" r:id="rId99"/>
    <p:sldId id="365" r:id="rId100"/>
    <p:sldId id="366" r:id="rId101"/>
    <p:sldId id="320" r:id="rId102"/>
    <p:sldId id="367" r:id="rId103"/>
    <p:sldId id="368" r:id="rId104"/>
    <p:sldId id="369" r:id="rId105"/>
    <p:sldId id="370" r:id="rId106"/>
    <p:sldId id="371" r:id="rId107"/>
    <p:sldId id="321" r:id="rId108"/>
    <p:sldId id="322" r:id="rId109"/>
    <p:sldId id="323" r:id="rId110"/>
    <p:sldId id="372" r:id="rId111"/>
    <p:sldId id="373" r:id="rId112"/>
    <p:sldId id="374" r:id="rId113"/>
    <p:sldId id="375" r:id="rId114"/>
    <p:sldId id="377" r:id="rId115"/>
    <p:sldId id="378" r:id="rId116"/>
    <p:sldId id="379" r:id="rId117"/>
    <p:sldId id="380" r:id="rId118"/>
    <p:sldId id="381" r:id="rId119"/>
    <p:sldId id="326" r:id="rId1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002" autoAdjust="0"/>
    <p:restoredTop sz="94477" autoAdjust="0"/>
  </p:normalViewPr>
  <p:slideViewPr>
    <p:cSldViewPr snapToGrid="0" snapToObjects="1">
      <p:cViewPr varScale="1">
        <p:scale>
          <a:sx n="108" d="100"/>
          <a:sy n="108" d="100"/>
        </p:scale>
        <p:origin x="76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29/4/2026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56</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57</a:t>
            </a:fld>
            <a:endParaRPr lang="es-AR"/>
          </a:p>
        </p:txBody>
      </p:sp>
    </p:spTree>
    <p:extLst>
      <p:ext uri="{BB962C8B-B14F-4D97-AF65-F5344CB8AC3E}">
        <p14:creationId xmlns:p14="http://schemas.microsoft.com/office/powerpoint/2010/main" val="38887594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58</a:t>
            </a:fld>
            <a:endParaRPr lang="es-AR"/>
          </a:p>
        </p:txBody>
      </p:sp>
    </p:spTree>
    <p:extLst>
      <p:ext uri="{BB962C8B-B14F-4D97-AF65-F5344CB8AC3E}">
        <p14:creationId xmlns:p14="http://schemas.microsoft.com/office/powerpoint/2010/main" val="1642738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74</a:t>
            </a:fld>
            <a:endParaRPr lang="es-AR"/>
          </a:p>
        </p:txBody>
      </p:sp>
    </p:spTree>
    <p:extLst>
      <p:ext uri="{BB962C8B-B14F-4D97-AF65-F5344CB8AC3E}">
        <p14:creationId xmlns:p14="http://schemas.microsoft.com/office/powerpoint/2010/main" val="22925668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77</a:t>
            </a:fld>
            <a:endParaRPr lang="es-AR"/>
          </a:p>
        </p:txBody>
      </p:sp>
    </p:spTree>
    <p:extLst>
      <p:ext uri="{BB962C8B-B14F-4D97-AF65-F5344CB8AC3E}">
        <p14:creationId xmlns:p14="http://schemas.microsoft.com/office/powerpoint/2010/main" val="25172467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92</a:t>
            </a:fld>
            <a:endParaRPr lang="es-AR"/>
          </a:p>
        </p:txBody>
      </p:sp>
    </p:spTree>
    <p:extLst>
      <p:ext uri="{BB962C8B-B14F-4D97-AF65-F5344CB8AC3E}">
        <p14:creationId xmlns:p14="http://schemas.microsoft.com/office/powerpoint/2010/main" val="1451269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101</a:t>
            </a:fld>
            <a:endParaRPr lang="es-AR"/>
          </a:p>
        </p:txBody>
      </p:sp>
    </p:spTree>
    <p:extLst>
      <p:ext uri="{BB962C8B-B14F-4D97-AF65-F5344CB8AC3E}">
        <p14:creationId xmlns:p14="http://schemas.microsoft.com/office/powerpoint/2010/main" val="75301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41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00.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2100.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27.png"/><Relationship Id="rId3" Type="http://schemas.openxmlformats.org/officeDocument/2006/relationships/image" Target="../media/image510.png"/><Relationship Id="rId12"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10.png"/><Relationship Id="rId1" Type="http://schemas.openxmlformats.org/officeDocument/2006/relationships/slideLayout" Target="../slideLayouts/slideLayout7.xml"/><Relationship Id="rId6" Type="http://schemas.openxmlformats.org/officeDocument/2006/relationships/image" Target="../media/image1611.png"/><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910.png"/></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611.png"/><Relationship Id="rId2" Type="http://schemas.openxmlformats.org/officeDocument/2006/relationships/image" Target="../media/image2510.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610.png"/><Relationship Id="rId1" Type="http://schemas.openxmlformats.org/officeDocument/2006/relationships/slideLayout" Target="../slideLayouts/slideLayout7.xml"/><Relationship Id="rId6" Type="http://schemas.openxmlformats.org/officeDocument/2006/relationships/image" Target="../media/image3010.png"/><Relationship Id="rId5" Type="http://schemas.openxmlformats.org/officeDocument/2006/relationships/image" Target="../media/image2910.png"/><Relationship Id="rId4" Type="http://schemas.openxmlformats.org/officeDocument/2006/relationships/image" Target="../media/image2810.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0.png"/><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360.png"/></Relationships>
</file>

<file path=ppt/slides/_rels/slide23.xml.rels><?xml version="1.0" encoding="UTF-8" standalone="yes"?>
<Relationships xmlns="http://schemas.openxmlformats.org/package/2006/relationships"><Relationship Id="rId2" Type="http://schemas.openxmlformats.org/officeDocument/2006/relationships/image" Target="../media/image390.png"/><Relationship Id="rId1" Type="http://schemas.openxmlformats.org/officeDocument/2006/relationships/slideLayout" Target="../slideLayouts/slideLayout7.xml"/><Relationship Id="rId5" Type="http://schemas.openxmlformats.org/officeDocument/2006/relationships/image" Target="../media/image371.png"/><Relationship Id="rId4" Type="http://schemas.openxmlformats.org/officeDocument/2006/relationships/image" Target="../media/image40.png"/></Relationships>
</file>

<file path=ppt/slides/_rels/slide24.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6.png"/><Relationship Id="rId7" Type="http://schemas.openxmlformats.org/officeDocument/2006/relationships/image" Target="../media/image41.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s>
</file>

<file path=ppt/slides/_rels/slide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51.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5" Type="http://schemas.openxmlformats.org/officeDocument/2006/relationships/image" Target="../media/image53.png"/><Relationship Id="rId4" Type="http://schemas.openxmlformats.org/officeDocument/2006/relationships/image" Target="../media/image52.png"/></Relationships>
</file>

<file path=ppt/slides/_rels/slide28.xml.rels><?xml version="1.0" encoding="UTF-8" standalone="yes"?>
<Relationships xmlns="http://schemas.openxmlformats.org/package/2006/relationships"><Relationship Id="rId8" Type="http://schemas.openxmlformats.org/officeDocument/2006/relationships/image" Target="../media/image491.png"/><Relationship Id="rId7"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10" Type="http://schemas.openxmlformats.org/officeDocument/2006/relationships/image" Target="../media/image531.png"/><Relationship Id="rId9" Type="http://schemas.openxmlformats.org/officeDocument/2006/relationships/image" Target="../media/image501.png"/></Relationships>
</file>

<file path=ppt/slides/_rels/slide29.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591.png"/><Relationship Id="rId2" Type="http://schemas.openxmlformats.org/officeDocument/2006/relationships/image" Target="../media/image370.png"/><Relationship Id="rId1"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490.png"/><Relationship Id="rId4" Type="http://schemas.openxmlformats.org/officeDocument/2006/relationships/image" Target="../media/image450.png"/></Relationships>
</file>

<file path=ppt/slides/_rels/slide3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1.png"/><Relationship Id="rId1" Type="http://schemas.openxmlformats.org/officeDocument/2006/relationships/slideLayout" Target="../slideLayouts/slideLayout7.xml"/><Relationship Id="rId4" Type="http://schemas.openxmlformats.org/officeDocument/2006/relationships/image" Target="../media/image580.png"/></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600.png"/><Relationship Id="rId5" Type="http://schemas.openxmlformats.org/officeDocument/2006/relationships/image" Target="../media/image65.png"/><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671.png"/><Relationship Id="rId2" Type="http://schemas.openxmlformats.org/officeDocument/2006/relationships/image" Target="../media/image66.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68.png"/><Relationship Id="rId4" Type="http://schemas.openxmlformats.org/officeDocument/2006/relationships/image" Target="../media/image70.png"/></Relationships>
</file>

<file path=ppt/slides/_rels/slide37.xml.rels><?xml version="1.0" encoding="UTF-8" standalone="yes"?>
<Relationships xmlns="http://schemas.openxmlformats.org/package/2006/relationships"><Relationship Id="rId3" Type="http://schemas.openxmlformats.org/officeDocument/2006/relationships/image" Target="../media/image71.png"/><Relationship Id="rId7" Type="http://schemas.openxmlformats.org/officeDocument/2006/relationships/image" Target="../media/image76.png"/><Relationship Id="rId2"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3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4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4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89.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1.png"/></Relationships>
</file>

<file path=ppt/slides/_rels/slide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6" Type="http://schemas.openxmlformats.org/officeDocument/2006/relationships/image" Target="../media/image98.png"/><Relationship Id="rId5" Type="http://schemas.openxmlformats.org/officeDocument/2006/relationships/image" Target="../media/image97.png"/><Relationship Id="rId4" Type="http://schemas.openxmlformats.org/officeDocument/2006/relationships/image" Target="../media/image96.png"/></Relationships>
</file>

<file path=ppt/slides/_rels/slide4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7.xml"/><Relationship Id="rId5" Type="http://schemas.openxmlformats.org/officeDocument/2006/relationships/image" Target="../media/image111.png"/><Relationship Id="rId4" Type="http://schemas.openxmlformats.org/officeDocument/2006/relationships/image" Target="../media/image110.png"/></Relationships>
</file>

<file path=ppt/slides/_rels/slide53.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0.png"/><Relationship Id="rId7" Type="http://schemas.openxmlformats.org/officeDocument/2006/relationships/image" Target="../media/image105.png"/><Relationship Id="rId2" Type="http://schemas.openxmlformats.org/officeDocument/2006/relationships/image" Target="../media/image1101.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png"/></Relationships>
</file>

<file path=ppt/slides/_rels/slide5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15.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20.png"/><Relationship Id="rId4" Type="http://schemas.openxmlformats.org/officeDocument/2006/relationships/image" Target="../media/image106.png"/></Relationships>
</file>

<file path=ppt/slides/_rels/slide5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2.png"/><Relationship Id="rId4" Type="http://schemas.openxmlformats.org/officeDocument/2006/relationships/image" Target="../media/image126.png"/></Relationships>
</file>

<file path=ppt/slides/_rels/slide5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23.png"/></Relationships>
</file>

<file path=ppt/slides/_rels/slide58.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0.png"/><Relationship Id="rId1" Type="http://schemas.openxmlformats.org/officeDocument/2006/relationships/slideLayout" Target="../slideLayouts/slideLayout7.xml"/><Relationship Id="rId5" Type="http://schemas.openxmlformats.org/officeDocument/2006/relationships/image" Target="../media/image136.png"/><Relationship Id="rId4" Type="http://schemas.openxmlformats.org/officeDocument/2006/relationships/image" Target="../media/image135.png"/></Relationships>
</file>

<file path=ppt/slides/_rels/slide62.xml.rels><?xml version="1.0" encoding="UTF-8" standalone="yes"?>
<Relationships xmlns="http://schemas.openxmlformats.org/package/2006/relationships"><Relationship Id="rId3" Type="http://schemas.openxmlformats.org/officeDocument/2006/relationships/image" Target="../media/image1300.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63.xml.rels><?xml version="1.0" encoding="UTF-8" standalone="yes"?>
<Relationships xmlns="http://schemas.openxmlformats.org/package/2006/relationships"><Relationship Id="rId3" Type="http://schemas.openxmlformats.org/officeDocument/2006/relationships/image" Target="../media/image127.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41.png"/><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65.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33.png"/></Relationships>
</file>

<file path=ppt/slides/_rels/slide66.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6" Type="http://schemas.openxmlformats.org/officeDocument/2006/relationships/image" Target="../media/image155.png"/><Relationship Id="rId5" Type="http://schemas.openxmlformats.org/officeDocument/2006/relationships/image" Target="../media/image154.png"/><Relationship Id="rId4" Type="http://schemas.openxmlformats.org/officeDocument/2006/relationships/image" Target="../media/image153.png"/></Relationships>
</file>

<file path=ppt/slides/_rels/slide67.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38.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70.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71.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56.png"/><Relationship Id="rId5" Type="http://schemas.openxmlformats.org/officeDocument/2006/relationships/image" Target="../media/image150.png"/><Relationship Id="rId4" Type="http://schemas.openxmlformats.org/officeDocument/2006/relationships/image" Target="../media/image173.png"/></Relationships>
</file>

<file path=ppt/slides/_rels/slide72.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74.png"/><Relationship Id="rId4" Type="http://schemas.openxmlformats.org/officeDocument/2006/relationships/image" Target="../media/image18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8" Type="http://schemas.openxmlformats.org/officeDocument/2006/relationships/image" Target="../media/image193.png"/><Relationship Id="rId3" Type="http://schemas.openxmlformats.org/officeDocument/2006/relationships/image" Target="../media/image187.png"/><Relationship Id="rId7" Type="http://schemas.openxmlformats.org/officeDocument/2006/relationships/image" Target="../media/image192.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86.png"/><Relationship Id="rId5" Type="http://schemas.openxmlformats.org/officeDocument/2006/relationships/image" Target="../media/image177.png"/><Relationship Id="rId4" Type="http://schemas.openxmlformats.org/officeDocument/2006/relationships/image" Target="../media/image175.png"/><Relationship Id="rId9" Type="http://schemas.openxmlformats.org/officeDocument/2006/relationships/image" Target="../media/image194.png"/></Relationships>
</file>

<file path=ppt/slides/_rels/slide78.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9.png"/><Relationship Id="rId5" Type="http://schemas.openxmlformats.org/officeDocument/2006/relationships/image" Target="../media/image189.png"/><Relationship Id="rId4" Type="http://schemas.openxmlformats.org/officeDocument/2006/relationships/image" Target="../media/image188.png"/></Relationships>
</file>

<file path=ppt/slides/_rels/slide79.xml.rels><?xml version="1.0" encoding="UTF-8" standalone="yes"?>
<Relationships xmlns="http://schemas.openxmlformats.org/package/2006/relationships"><Relationship Id="rId8" Type="http://schemas.openxmlformats.org/officeDocument/2006/relationships/image" Target="../media/image198.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197.png"/><Relationship Id="rId5" Type="http://schemas.openxmlformats.org/officeDocument/2006/relationships/image" Target="../media/image191.png"/><Relationship Id="rId4" Type="http://schemas.openxmlformats.org/officeDocument/2006/relationships/image" Target="../media/image190.png"/></Relationships>
</file>

<file path=ppt/slides/_rels/slide80.xml.rels><?xml version="1.0" encoding="UTF-8" standalone="yes"?>
<Relationships xmlns="http://schemas.openxmlformats.org/package/2006/relationships"><Relationship Id="rId3" Type="http://schemas.openxmlformats.org/officeDocument/2006/relationships/image" Target="../media/image208.png"/><Relationship Id="rId2" Type="http://schemas.openxmlformats.org/officeDocument/2006/relationships/image" Target="../media/image207.png"/><Relationship Id="rId1" Type="http://schemas.openxmlformats.org/officeDocument/2006/relationships/slideLayout" Target="../slideLayouts/slideLayout7.xml"/><Relationship Id="rId6" Type="http://schemas.openxmlformats.org/officeDocument/2006/relationships/image" Target="../media/image203.png"/><Relationship Id="rId5" Type="http://schemas.openxmlformats.org/officeDocument/2006/relationships/image" Target="../media/image210.png"/><Relationship Id="rId4" Type="http://schemas.openxmlformats.org/officeDocument/2006/relationships/image" Target="../media/image202.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12.png"/><Relationship Id="rId1" Type="http://schemas.openxmlformats.org/officeDocument/2006/relationships/slideLayout" Target="../slideLayouts/slideLayout7.xml"/><Relationship Id="rId4" Type="http://schemas.openxmlformats.org/officeDocument/2006/relationships/image" Target="../media/image204.png"/></Relationships>
</file>

<file path=ppt/slides/_rels/slide83.xml.rels><?xml version="1.0" encoding="UTF-8" standalone="yes"?>
<Relationships xmlns="http://schemas.openxmlformats.org/package/2006/relationships"><Relationship Id="rId2" Type="http://schemas.openxmlformats.org/officeDocument/2006/relationships/image" Target="../media/image206.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211.png"/><Relationship Id="rId2" Type="http://schemas.openxmlformats.org/officeDocument/2006/relationships/image" Target="../media/image209.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png"/><Relationship Id="rId1" Type="http://schemas.openxmlformats.org/officeDocument/2006/relationships/slideLayout" Target="../slideLayouts/slideLayout7.xml"/><Relationship Id="rId5" Type="http://schemas.openxmlformats.org/officeDocument/2006/relationships/image" Target="../media/image215.png"/><Relationship Id="rId4" Type="http://schemas.openxmlformats.org/officeDocument/2006/relationships/image" Target="../media/image214.png"/></Relationships>
</file>

<file path=ppt/slides/_rels/slide86.xml.rels><?xml version="1.0" encoding="UTF-8" standalone="yes"?>
<Relationships xmlns="http://schemas.openxmlformats.org/package/2006/relationships"><Relationship Id="rId3" Type="http://schemas.openxmlformats.org/officeDocument/2006/relationships/image" Target="../media/image216.png"/><Relationship Id="rId2" Type="http://schemas.openxmlformats.org/officeDocument/2006/relationships/image" Target="../media/image222.png"/><Relationship Id="rId1" Type="http://schemas.openxmlformats.org/officeDocument/2006/relationships/slideLayout" Target="../slideLayouts/slideLayout7.xml"/><Relationship Id="rId4" Type="http://schemas.openxmlformats.org/officeDocument/2006/relationships/image" Target="../media/image217.png"/></Relationships>
</file>

<file path=ppt/slides/_rels/slide87.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3.png"/><Relationship Id="rId5" Type="http://schemas.openxmlformats.org/officeDocument/2006/relationships/image" Target="../media/image228.png"/><Relationship Id="rId4" Type="http://schemas.openxmlformats.org/officeDocument/2006/relationships/image" Target="../media/image227.png"/></Relationships>
</file>

<file path=ppt/slides/_rels/slide88.xml.rels><?xml version="1.0" encoding="UTF-8" standalone="yes"?>
<Relationships xmlns="http://schemas.openxmlformats.org/package/2006/relationships"><Relationship Id="rId3" Type="http://schemas.openxmlformats.org/officeDocument/2006/relationships/image" Target="../media/image221.png"/><Relationship Id="rId2" Type="http://schemas.openxmlformats.org/officeDocument/2006/relationships/image" Target="../media/image220.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9.xml.rels><?xml version="1.0" encoding="UTF-8" standalone="yes"?>
<Relationships xmlns="http://schemas.openxmlformats.org/package/2006/relationships"><Relationship Id="rId3" Type="http://schemas.openxmlformats.org/officeDocument/2006/relationships/image" Target="../media/image224.png"/><Relationship Id="rId2" Type="http://schemas.openxmlformats.org/officeDocument/2006/relationships/image" Target="../media/image232.png"/><Relationship Id="rId1" Type="http://schemas.openxmlformats.org/officeDocument/2006/relationships/slideLayout" Target="../slideLayouts/slideLayout7.xml"/><Relationship Id="rId4" Type="http://schemas.openxmlformats.org/officeDocument/2006/relationships/image" Target="../media/image237.png"/></Relationships>
</file>

<file path=ppt/slides/_rels/slide90.xml.rels><?xml version="1.0" encoding="UTF-8" standalone="yes"?>
<Relationships xmlns="http://schemas.openxmlformats.org/package/2006/relationships"><Relationship Id="rId3" Type="http://schemas.openxmlformats.org/officeDocument/2006/relationships/image" Target="../media/image233.png"/><Relationship Id="rId2" Type="http://schemas.openxmlformats.org/officeDocument/2006/relationships/image" Target="../media/image229.png"/><Relationship Id="rId1" Type="http://schemas.openxmlformats.org/officeDocument/2006/relationships/slideLayout" Target="../slideLayouts/slideLayout7.xml"/><Relationship Id="rId5" Type="http://schemas.openxmlformats.org/officeDocument/2006/relationships/image" Target="../media/image240.png"/><Relationship Id="rId4" Type="http://schemas.openxmlformats.org/officeDocument/2006/relationships/image" Target="../media/image23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43.png"/><Relationship Id="rId5" Type="http://schemas.openxmlformats.org/officeDocument/2006/relationships/image" Target="../media/image239.png"/><Relationship Id="rId4" Type="http://schemas.openxmlformats.org/officeDocument/2006/relationships/image" Target="../media/image242.png"/></Relationships>
</file>

<file path=ppt/slides/_rels/slide93.xml.rels><?xml version="1.0" encoding="UTF-8" standalone="yes"?>
<Relationships xmlns="http://schemas.openxmlformats.org/package/2006/relationships"><Relationship Id="rId2" Type="http://schemas.openxmlformats.org/officeDocument/2006/relationships/image" Target="../media/image235.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246.png"/><Relationship Id="rId2" Type="http://schemas.openxmlformats.org/officeDocument/2006/relationships/image" Target="../media/image245.png"/><Relationship Id="rId1" Type="http://schemas.openxmlformats.org/officeDocument/2006/relationships/slideLayout" Target="../slideLayouts/slideLayout7.xml"/><Relationship Id="rId5" Type="http://schemas.openxmlformats.org/officeDocument/2006/relationships/image" Target="../media/image236.png"/><Relationship Id="rId4" Type="http://schemas.openxmlformats.org/officeDocument/2006/relationships/image" Target="../media/image247.png"/></Relationships>
</file>

<file path=ppt/slides/_rels/slide95.xml.rels><?xml version="1.0" encoding="UTF-8" standalone="yes"?>
<Relationships xmlns="http://schemas.openxmlformats.org/package/2006/relationships"><Relationship Id="rId3" Type="http://schemas.openxmlformats.org/officeDocument/2006/relationships/image" Target="../media/image250.png"/><Relationship Id="rId7" Type="http://schemas.openxmlformats.org/officeDocument/2006/relationships/image" Target="../media/image254.png"/><Relationship Id="rId2" Type="http://schemas.openxmlformats.org/officeDocument/2006/relationships/image" Target="../media/image244.png"/><Relationship Id="rId1" Type="http://schemas.openxmlformats.org/officeDocument/2006/relationships/slideLayout" Target="../slideLayouts/slideLayout7.xml"/><Relationship Id="rId6" Type="http://schemas.openxmlformats.org/officeDocument/2006/relationships/image" Target="../media/image253.png"/><Relationship Id="rId5" Type="http://schemas.openxmlformats.org/officeDocument/2006/relationships/image" Target="../media/image249.png"/><Relationship Id="rId4" Type="http://schemas.openxmlformats.org/officeDocument/2006/relationships/image" Target="../media/image248.png"/></Relationships>
</file>

<file path=ppt/slides/_rels/slide96.xml.rels><?xml version="1.0" encoding="UTF-8" standalone="yes"?>
<Relationships xmlns="http://schemas.openxmlformats.org/package/2006/relationships"><Relationship Id="rId3" Type="http://schemas.openxmlformats.org/officeDocument/2006/relationships/image" Target="../media/image251.png"/><Relationship Id="rId2" Type="http://schemas.openxmlformats.org/officeDocument/2006/relationships/image" Target="../media/image255.png"/><Relationship Id="rId1" Type="http://schemas.openxmlformats.org/officeDocument/2006/relationships/slideLayout" Target="../slideLayouts/slideLayout7.xml"/><Relationship Id="rId6" Type="http://schemas.openxmlformats.org/officeDocument/2006/relationships/image" Target="../media/image259.png"/><Relationship Id="rId5" Type="http://schemas.openxmlformats.org/officeDocument/2006/relationships/image" Target="../media/image258.png"/><Relationship Id="rId4" Type="http://schemas.openxmlformats.org/officeDocument/2006/relationships/image" Target="../media/image252.png"/></Relationships>
</file>

<file path=ppt/slides/_rels/slide97.xml.rels><?xml version="1.0" encoding="UTF-8" standalone="yes"?>
<Relationships xmlns="http://schemas.openxmlformats.org/package/2006/relationships"><Relationship Id="rId3" Type="http://schemas.openxmlformats.org/officeDocument/2006/relationships/image" Target="../media/image256.png"/><Relationship Id="rId2" Type="http://schemas.openxmlformats.org/officeDocument/2006/relationships/image" Target="../media/image260.png"/><Relationship Id="rId1" Type="http://schemas.openxmlformats.org/officeDocument/2006/relationships/slideLayout" Target="../slideLayouts/slideLayout7.xml"/><Relationship Id="rId4" Type="http://schemas.openxmlformats.org/officeDocument/2006/relationships/image" Target="../media/image262.png"/></Relationships>
</file>

<file path=ppt/slides/_rels/slide98.xml.rels><?xml version="1.0" encoding="UTF-8" standalone="yes"?>
<Relationships xmlns="http://schemas.openxmlformats.org/package/2006/relationships"><Relationship Id="rId3" Type="http://schemas.openxmlformats.org/officeDocument/2006/relationships/image" Target="../media/image264.png"/><Relationship Id="rId2" Type="http://schemas.openxmlformats.org/officeDocument/2006/relationships/image" Target="../media/image263.png"/><Relationship Id="rId1" Type="http://schemas.openxmlformats.org/officeDocument/2006/relationships/slideLayout" Target="../slideLayouts/slideLayout7.xml"/><Relationship Id="rId5" Type="http://schemas.openxmlformats.org/officeDocument/2006/relationships/image" Target="../media/image261.png"/><Relationship Id="rId4" Type="http://schemas.openxmlformats.org/officeDocument/2006/relationships/image" Target="../media/image257.png"/></Relationships>
</file>

<file path=ppt/slides/_rels/slide99.xml.rels><?xml version="1.0" encoding="UTF-8" standalone="yes"?>
<Relationships xmlns="http://schemas.openxmlformats.org/package/2006/relationships"><Relationship Id="rId8" Type="http://schemas.openxmlformats.org/officeDocument/2006/relationships/image" Target="../media/image273.png"/><Relationship Id="rId3" Type="http://schemas.openxmlformats.org/officeDocument/2006/relationships/image" Target="../media/image268.png"/><Relationship Id="rId7" Type="http://schemas.openxmlformats.org/officeDocument/2006/relationships/image" Target="../media/image272.png"/><Relationship Id="rId2" Type="http://schemas.openxmlformats.org/officeDocument/2006/relationships/image" Target="../media/image267.png"/><Relationship Id="rId1" Type="http://schemas.openxmlformats.org/officeDocument/2006/relationships/slideLayout" Target="../slideLayouts/slideLayout7.xml"/><Relationship Id="rId6" Type="http://schemas.openxmlformats.org/officeDocument/2006/relationships/image" Target="../media/image269.png"/><Relationship Id="rId5" Type="http://schemas.openxmlformats.org/officeDocument/2006/relationships/image" Target="../media/image266.png"/><Relationship Id="rId4" Type="http://schemas.openxmlformats.org/officeDocument/2006/relationships/image" Target="../media/image265.png"/></Relationships>
</file>

<file path=ppt/slides/_rels/slide100.xml.rels><?xml version="1.0" encoding="UTF-8" standalone="yes"?>
<Relationships xmlns="http://schemas.openxmlformats.org/package/2006/relationships"><Relationship Id="rId3" Type="http://schemas.openxmlformats.org/officeDocument/2006/relationships/image" Target="../media/image275.png"/><Relationship Id="rId2" Type="http://schemas.openxmlformats.org/officeDocument/2006/relationships/image" Target="../media/image274.png"/><Relationship Id="rId1" Type="http://schemas.openxmlformats.org/officeDocument/2006/relationships/slideLayout" Target="../slideLayouts/slideLayout7.xml"/><Relationship Id="rId5" Type="http://schemas.openxmlformats.org/officeDocument/2006/relationships/image" Target="../media/image271.png"/><Relationship Id="rId4" Type="http://schemas.openxmlformats.org/officeDocument/2006/relationships/image" Target="../media/image270.png"/></Relationships>
</file>

<file path=ppt/slides/_rels/slide101.xml.rels><?xml version="1.0" encoding="UTF-8" standalone="yes"?>
<Relationships xmlns="http://schemas.openxmlformats.org/package/2006/relationships"><Relationship Id="rId3" Type="http://schemas.openxmlformats.org/officeDocument/2006/relationships/image" Target="../media/image278.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276.png"/><Relationship Id="rId5" Type="http://schemas.openxmlformats.org/officeDocument/2006/relationships/image" Target="../media/image280.png"/><Relationship Id="rId4" Type="http://schemas.openxmlformats.org/officeDocument/2006/relationships/image" Target="../media/image279.png"/></Relationships>
</file>

<file path=ppt/slides/_rels/slide102.xml.rels><?xml version="1.0" encoding="UTF-8" standalone="yes"?>
<Relationships xmlns="http://schemas.openxmlformats.org/package/2006/relationships"><Relationship Id="rId3" Type="http://schemas.openxmlformats.org/officeDocument/2006/relationships/image" Target="../media/image281.png"/><Relationship Id="rId2" Type="http://schemas.openxmlformats.org/officeDocument/2006/relationships/image" Target="../media/image277.png"/><Relationship Id="rId1" Type="http://schemas.openxmlformats.org/officeDocument/2006/relationships/slideLayout" Target="../slideLayouts/slideLayout7.xml"/><Relationship Id="rId5" Type="http://schemas.openxmlformats.org/officeDocument/2006/relationships/image" Target="../media/image285.png"/><Relationship Id="rId4" Type="http://schemas.openxmlformats.org/officeDocument/2006/relationships/image" Target="../media/image284.png"/></Relationships>
</file>

<file path=ppt/slides/_rels/slide103.xml.rels><?xml version="1.0" encoding="UTF-8" standalone="yes"?>
<Relationships xmlns="http://schemas.openxmlformats.org/package/2006/relationships"><Relationship Id="rId3" Type="http://schemas.openxmlformats.org/officeDocument/2006/relationships/image" Target="../media/image287.png"/><Relationship Id="rId2" Type="http://schemas.openxmlformats.org/officeDocument/2006/relationships/image" Target="../media/image286.png"/><Relationship Id="rId1" Type="http://schemas.openxmlformats.org/officeDocument/2006/relationships/slideLayout" Target="../slideLayouts/slideLayout7.xml"/><Relationship Id="rId5" Type="http://schemas.openxmlformats.org/officeDocument/2006/relationships/image" Target="../media/image283.png"/><Relationship Id="rId4" Type="http://schemas.openxmlformats.org/officeDocument/2006/relationships/image" Target="../media/image282.png"/></Relationships>
</file>

<file path=ppt/slides/_rels/slide104.xml.rels><?xml version="1.0" encoding="UTF-8" standalone="yes"?>
<Relationships xmlns="http://schemas.openxmlformats.org/package/2006/relationships"><Relationship Id="rId3" Type="http://schemas.openxmlformats.org/officeDocument/2006/relationships/image" Target="../media/image291.png"/><Relationship Id="rId2" Type="http://schemas.openxmlformats.org/officeDocument/2006/relationships/image" Target="../media/image290.png"/><Relationship Id="rId1" Type="http://schemas.openxmlformats.org/officeDocument/2006/relationships/slideLayout" Target="../slideLayouts/slideLayout7.xml"/><Relationship Id="rId5" Type="http://schemas.openxmlformats.org/officeDocument/2006/relationships/image" Target="../media/image289.png"/><Relationship Id="rId4" Type="http://schemas.openxmlformats.org/officeDocument/2006/relationships/image" Target="../media/image288.png"/></Relationships>
</file>

<file path=ppt/slides/_rels/slide105.xml.rels><?xml version="1.0" encoding="UTF-8" standalone="yes"?>
<Relationships xmlns="http://schemas.openxmlformats.org/package/2006/relationships"><Relationship Id="rId3" Type="http://schemas.openxmlformats.org/officeDocument/2006/relationships/image" Target="../media/image295.png"/><Relationship Id="rId2" Type="http://schemas.openxmlformats.org/officeDocument/2006/relationships/image" Target="../media/image294.png"/><Relationship Id="rId1" Type="http://schemas.openxmlformats.org/officeDocument/2006/relationships/slideLayout" Target="../slideLayouts/slideLayout7.xml"/><Relationship Id="rId5" Type="http://schemas.openxmlformats.org/officeDocument/2006/relationships/image" Target="../media/image293.png"/><Relationship Id="rId4" Type="http://schemas.openxmlformats.org/officeDocument/2006/relationships/image" Target="../media/image292.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2970.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299.png"/><Relationship Id="rId2" Type="http://schemas.openxmlformats.org/officeDocument/2006/relationships/image" Target="../media/image298.png"/><Relationship Id="rId1" Type="http://schemas.openxmlformats.org/officeDocument/2006/relationships/slideLayout" Target="../slideLayouts/slideLayout7.xml"/><Relationship Id="rId6" Type="http://schemas.openxmlformats.org/officeDocument/2006/relationships/image" Target="../media/image296.png"/><Relationship Id="rId5" Type="http://schemas.openxmlformats.org/officeDocument/2006/relationships/image" Target="../media/image301.png"/><Relationship Id="rId4" Type="http://schemas.openxmlformats.org/officeDocument/2006/relationships/image" Target="../media/image300.png"/></Relationships>
</file>

<file path=ppt/slides/_rels/slide110.xml.rels><?xml version="1.0" encoding="UTF-8" standalone="yes"?>
<Relationships xmlns="http://schemas.openxmlformats.org/package/2006/relationships"><Relationship Id="rId3" Type="http://schemas.openxmlformats.org/officeDocument/2006/relationships/image" Target="../media/image304.png"/><Relationship Id="rId2" Type="http://schemas.openxmlformats.org/officeDocument/2006/relationships/image" Target="../media/image297.png"/><Relationship Id="rId1" Type="http://schemas.openxmlformats.org/officeDocument/2006/relationships/slideLayout" Target="../slideLayouts/slideLayout7.xml"/><Relationship Id="rId6" Type="http://schemas.openxmlformats.org/officeDocument/2006/relationships/image" Target="../media/image307.png"/><Relationship Id="rId5" Type="http://schemas.openxmlformats.org/officeDocument/2006/relationships/image" Target="../media/image306.png"/><Relationship Id="rId4" Type="http://schemas.openxmlformats.org/officeDocument/2006/relationships/image" Target="../media/image302.png"/></Relationships>
</file>

<file path=ppt/slides/_rels/slide111.xml.rels><?xml version="1.0" encoding="UTF-8" standalone="yes"?>
<Relationships xmlns="http://schemas.openxmlformats.org/package/2006/relationships"><Relationship Id="rId3" Type="http://schemas.openxmlformats.org/officeDocument/2006/relationships/image" Target="../media/image303.png"/><Relationship Id="rId2" Type="http://schemas.openxmlformats.org/officeDocument/2006/relationships/image" Target="../media/image308.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image" Target="../media/image305.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8" Type="http://schemas.openxmlformats.org/officeDocument/2006/relationships/image" Target="../media/image1610.png"/><Relationship Id="rId3" Type="http://schemas.openxmlformats.org/officeDocument/2006/relationships/image" Target="../media/image311.png"/><Relationship Id="rId7" Type="http://schemas.openxmlformats.org/officeDocument/2006/relationships/image" Target="../media/image1600.png"/><Relationship Id="rId2" Type="http://schemas.openxmlformats.org/officeDocument/2006/relationships/image" Target="../media/image309.png"/><Relationship Id="rId1" Type="http://schemas.openxmlformats.org/officeDocument/2006/relationships/slideLayout" Target="../slideLayouts/slideLayout7.xml"/><Relationship Id="rId6" Type="http://schemas.openxmlformats.org/officeDocument/2006/relationships/image" Target="../media/image1590.png"/><Relationship Id="rId5" Type="http://schemas.openxmlformats.org/officeDocument/2006/relationships/image" Target="../media/image313.png"/><Relationship Id="rId4" Type="http://schemas.openxmlformats.org/officeDocument/2006/relationships/image" Target="../media/image312.png"/><Relationship Id="rId9" Type="http://schemas.openxmlformats.org/officeDocument/2006/relationships/image" Target="../media/image1620.png"/></Relationships>
</file>

<file path=ppt/slides/_rels/slide115.xml.rels><?xml version="1.0" encoding="UTF-8" standalone="yes"?>
<Relationships xmlns="http://schemas.openxmlformats.org/package/2006/relationships"><Relationship Id="rId3" Type="http://schemas.openxmlformats.org/officeDocument/2006/relationships/image" Target="../media/image1600.png"/><Relationship Id="rId2" Type="http://schemas.openxmlformats.org/officeDocument/2006/relationships/image" Target="../media/image1590.png"/><Relationship Id="rId1" Type="http://schemas.openxmlformats.org/officeDocument/2006/relationships/slideLayout" Target="../slideLayouts/slideLayout7.xml"/><Relationship Id="rId5" Type="http://schemas.openxmlformats.org/officeDocument/2006/relationships/image" Target="../media/image317.png"/><Relationship Id="rId4" Type="http://schemas.openxmlformats.org/officeDocument/2006/relationships/image" Target="../media/image314.png"/></Relationships>
</file>

<file path=ppt/slides/_rels/slide116.xml.rels><?xml version="1.0" encoding="UTF-8" standalone="yes"?>
<Relationships xmlns="http://schemas.openxmlformats.org/package/2006/relationships"><Relationship Id="rId3" Type="http://schemas.openxmlformats.org/officeDocument/2006/relationships/image" Target="../media/image319.png"/><Relationship Id="rId2" Type="http://schemas.openxmlformats.org/officeDocument/2006/relationships/image" Target="../media/image315.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321.png"/><Relationship Id="rId2" Type="http://schemas.openxmlformats.org/officeDocument/2006/relationships/image" Target="../media/image316.png"/><Relationship Id="rId1" Type="http://schemas.openxmlformats.org/officeDocument/2006/relationships/slideLayout" Target="../slideLayouts/slideLayout7.xml"/><Relationship Id="rId4" Type="http://schemas.openxmlformats.org/officeDocument/2006/relationships/image" Target="../media/image322.png"/></Relationships>
</file>

<file path=ppt/slides/_rels/slide118.xml.rels><?xml version="1.0" encoding="UTF-8" standalone="yes"?>
<Relationships xmlns="http://schemas.openxmlformats.org/package/2006/relationships"><Relationship Id="rId3" Type="http://schemas.openxmlformats.org/officeDocument/2006/relationships/image" Target="../media/image320.png"/><Relationship Id="rId7" Type="http://schemas.openxmlformats.org/officeDocument/2006/relationships/image" Target="../media/image1730.png"/><Relationship Id="rId2" Type="http://schemas.openxmlformats.org/officeDocument/2006/relationships/image" Target="../media/image318.png"/><Relationship Id="rId1" Type="http://schemas.openxmlformats.org/officeDocument/2006/relationships/slideLayout" Target="../slideLayouts/slideLayout7.xml"/><Relationship Id="rId6" Type="http://schemas.openxmlformats.org/officeDocument/2006/relationships/image" Target="../media/image1720.png"/><Relationship Id="rId5" Type="http://schemas.openxmlformats.org/officeDocument/2006/relationships/image" Target="../media/image1710.png"/><Relationship Id="rId4" Type="http://schemas.openxmlformats.org/officeDocument/2006/relationships/image" Target="../media/image323.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1737360"/>
          </a:xfrm>
          <a:prstGeom prst="rect">
            <a:avLst/>
          </a:prstGeom>
          <a:solidFill>
            <a:srgbClr val="1A386B"/>
          </a:solidFill>
          <a:ln w="12700">
            <a:solidFill>
              <a:srgbClr val="1A386B"/>
            </a:solidFill>
            <a:prstDash val="solid"/>
          </a:ln>
        </p:spPr>
      </p:sp>
      <p:sp>
        <p:nvSpPr>
          <p:cNvPr id="3" name="Shape 1"/>
          <p:cNvSpPr/>
          <p:nvPr/>
        </p:nvSpPr>
        <p:spPr>
          <a:xfrm>
            <a:off x="0" y="1737360"/>
            <a:ext cx="12192000" cy="73152"/>
          </a:xfrm>
          <a:prstGeom prst="rect">
            <a:avLst/>
          </a:prstGeom>
          <a:solidFill>
            <a:srgbClr val="C0392B"/>
          </a:solidFill>
          <a:ln w="12700">
            <a:solidFill>
              <a:srgbClr val="C0392B"/>
            </a:solidFill>
            <a:prstDash val="solid"/>
          </a:ln>
        </p:spPr>
      </p:sp>
      <p:sp>
        <p:nvSpPr>
          <p:cNvPr id="4" name="Shape 2"/>
          <p:cNvSpPr/>
          <p:nvPr/>
        </p:nvSpPr>
        <p:spPr>
          <a:xfrm>
            <a:off x="0" y="5852160"/>
            <a:ext cx="1219200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10" name="Text 8"/>
          <p:cNvSpPr/>
          <p:nvPr/>
        </p:nvSpPr>
        <p:spPr>
          <a:xfrm>
            <a:off x="1371600" y="411480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12552        Juan Francisco Huertas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6868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6868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6868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6868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6868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6868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68680" y="505663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Diseño final y discretización (Tustin)</a:t>
            </a:r>
            <a:endParaRPr lang="en-US" sz="120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Conclusiones</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9200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1B0CE61A-FC5B-45C3-A219-99BBA00CBA13}"/>
              </a:ext>
            </a:extLst>
          </p:cNvPr>
          <p:cNvPicPr>
            <a:picLocks noChangeAspect="1"/>
          </p:cNvPicPr>
          <p:nvPr/>
        </p:nvPicPr>
        <p:blipFill>
          <a:blip r:embed="rId2"/>
          <a:stretch>
            <a:fillRect/>
          </a:stretch>
        </p:blipFill>
        <p:spPr>
          <a:xfrm>
            <a:off x="9527960" y="1537461"/>
            <a:ext cx="2267800" cy="1487560"/>
          </a:xfrm>
          <a:prstGeom prst="rect">
            <a:avLst/>
          </a:prstGeom>
        </p:spPr>
      </p:pic>
      <p:pic>
        <p:nvPicPr>
          <p:cNvPr id="17" name="Imagen 16">
            <a:extLst>
              <a:ext uri="{FF2B5EF4-FFF2-40B4-BE49-F238E27FC236}">
                <a16:creationId xmlns:a16="http://schemas.microsoft.com/office/drawing/2014/main" id="{BE8F19BD-15C2-416B-8492-42E6BB338E60}"/>
              </a:ext>
            </a:extLst>
          </p:cNvPr>
          <p:cNvPicPr>
            <a:picLocks noChangeAspect="1"/>
          </p:cNvPicPr>
          <p:nvPr/>
        </p:nvPicPr>
        <p:blipFill>
          <a:blip r:embed="rId3"/>
          <a:stretch>
            <a:fillRect/>
          </a:stretch>
        </p:blipFill>
        <p:spPr>
          <a:xfrm>
            <a:off x="4243526" y="1597480"/>
            <a:ext cx="2014399" cy="201439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411333" y="3406902"/>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mc:AlternateContent xmlns:mc="http://schemas.openxmlformats.org/markup-compatibility/2006" xmlns:a14="http://schemas.microsoft.com/office/drawing/2010/main">
        <mc:Choice Requires="a14">
          <p:sp>
            <p:nvSpPr>
              <p:cNvPr id="10" name="Text 8"/>
              <p:cNvSpPr/>
              <p:nvPr/>
            </p:nvSpPr>
            <p:spPr>
              <a:xfrm>
                <a:off x="411332" y="3792093"/>
                <a:ext cx="5684667"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𝑚</m:t>
                        </m:r>
                      </m:e>
                      <m:sub>
                        <m:r>
                          <a:rPr lang="es-AR" sz="1300" b="0" i="1" smtClean="0">
                            <a:effectLst/>
                            <a:latin typeface="Cambria Math" panose="02040503050406030204" pitchFamily="18" charset="0"/>
                          </a:rPr>
                          <m:t>𝑙</m:t>
                        </m:r>
                      </m:sub>
                    </m:sSub>
                  </m:oMath>
                </a14:m>
                <a:r>
                  <a:rPr lang="en-US" sz="1300" dirty="0">
                    <a:solidFill>
                      <a:srgbClr val="111111"/>
                    </a:solidFill>
                    <a:latin typeface="Calibri" pitchFamily="34" charset="0"/>
                    <a:ea typeface="Calibri" pitchFamily="34" charset="-122"/>
                    <a:cs typeface="Calibri" pitchFamily="34" charset="-120"/>
                  </a:rPr>
                  <a:t> ∈ [0, 1.5] kg</a:t>
                </a:r>
                <a:endParaRPr lang="en-US" sz="1300" dirty="0"/>
              </a:p>
              <a:p>
                <a:pPr marL="342900" indent="-342900">
                  <a:buSzPct val="100000"/>
                  <a:buChar char="•"/>
                </a:pPr>
                <a:r>
                  <a:rPr lang="es-AR" sz="1300" dirty="0">
                    <a:solidFill>
                      <a:srgbClr val="111111"/>
                    </a:solidFill>
                    <a:latin typeface="Calibri" pitchFamily="34" charset="0"/>
                    <a:ea typeface="Calibri" pitchFamily="34" charset="-122"/>
                    <a:cs typeface="Calibri" pitchFamily="34" charset="-120"/>
                  </a:rPr>
                  <a:t>Posición q(t) ≡ </a:t>
                </a:r>
                <a14:m>
                  <m:oMath xmlns:m="http://schemas.openxmlformats.org/officeDocument/2006/math">
                    <m:sSub>
                      <m:sSubPr>
                        <m:ctrlPr>
                          <a:rPr lang="es-AR" sz="1300" i="1" smtClean="0">
                            <a:effectLst/>
                            <a:latin typeface="Cambria Math" panose="02040503050406030204" pitchFamily="18" charset="0"/>
                          </a:rPr>
                        </m:ctrlPr>
                      </m:sSubPr>
                      <m:e>
                        <m:r>
                          <a:rPr lang="es-AR" sz="1300" i="1" smtClean="0">
                            <a:effectLst/>
                            <a:latin typeface="Cambria Math" panose="02040503050406030204" pitchFamily="18" charset="0"/>
                            <a:ea typeface="Cambria Math" panose="02040503050406030204" pitchFamily="18" charset="0"/>
                          </a:rPr>
                          <m:t>𝜃</m:t>
                        </m:r>
                      </m:e>
                      <m:sub>
                        <m:r>
                          <a:rPr lang="es-AR" sz="1300" b="0" i="1" smtClean="0">
                            <a:effectLst/>
                            <a:latin typeface="Cambria Math" panose="02040503050406030204" pitchFamily="18" charset="0"/>
                          </a:rPr>
                          <m:t>𝑙</m:t>
                        </m:r>
                      </m:sub>
                    </m:sSub>
                    <m:r>
                      <a:rPr lang="es-AR" sz="1300" b="0" i="1" smtClean="0">
                        <a:effectLst/>
                        <a:latin typeface="Cambria Math" panose="02040503050406030204" pitchFamily="18" charset="0"/>
                      </a:rPr>
                      <m:t> </m:t>
                    </m:r>
                  </m:oMath>
                </a14:m>
                <a:r>
                  <a:rPr lang="es-AR" sz="1300" dirty="0">
                    <a:solidFill>
                      <a:srgbClr val="111111"/>
                    </a:solidFill>
                    <a:latin typeface="Calibri" pitchFamily="34" charset="0"/>
                    <a:ea typeface="Calibri" pitchFamily="34" charset="-122"/>
                    <a:cs typeface="Calibri" pitchFamily="34" charset="-120"/>
                  </a:rPr>
                  <a:t>(t) medida desde vertical, positivo en sentido antihorario</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411332" y="3792093"/>
                <a:ext cx="5684667" cy="1554480"/>
              </a:xfrm>
              <a:prstGeom prst="rect">
                <a:avLst/>
              </a:prstGeom>
              <a:blipFill>
                <a:blip r:embed="rId4"/>
                <a:stretch>
                  <a:fillRect l="-214" t="-784"/>
                </a:stretch>
              </a:blipFill>
              <a:ln/>
            </p:spPr>
            <p:txBody>
              <a:bodyPr/>
              <a:lstStyle/>
              <a:p>
                <a:r>
                  <a:rPr lang="es-AR">
                    <a:noFill/>
                  </a:rPr>
                  <a:t> </a:t>
                </a:r>
              </a:p>
            </p:txBody>
          </p:sp>
        </mc:Fallback>
      </mc:AlternateContent>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3324987"/>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mc:AlternateContent xmlns:mc="http://schemas.openxmlformats.org/markup-compatibility/2006" xmlns:a14="http://schemas.microsoft.com/office/drawing/2010/main">
        <mc:Choice Requires="a14">
          <p:sp>
            <p:nvSpPr>
              <p:cNvPr id="14" name="Text 12"/>
              <p:cNvSpPr/>
              <p:nvPr/>
            </p:nvSpPr>
            <p:spPr>
              <a:xfrm>
                <a:off x="6385707" y="3683508"/>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err="1">
                    <a:solidFill>
                      <a:srgbClr val="111111"/>
                    </a:solidFill>
                    <a:latin typeface="Calibri" pitchFamily="34" charset="0"/>
                    <a:ea typeface="Calibri" pitchFamily="34" charset="-122"/>
                    <a:cs typeface="Calibri" pitchFamily="34" charset="-120"/>
                  </a:rPr>
                  <a:t>Parámetros</a:t>
                </a:r>
                <a:r>
                  <a:rPr lang="en-US" sz="1300" dirty="0">
                    <a:solidFill>
                      <a:srgbClr val="111111"/>
                    </a:solidFill>
                    <a:latin typeface="Calibri" pitchFamily="34" charset="0"/>
                    <a:ea typeface="Calibri" pitchFamily="34" charset="-122"/>
                    <a:cs typeface="Calibri" pitchFamily="34" charset="-120"/>
                  </a:rPr>
                  <a:t> ajustables: módulo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r>
                      <a:rPr lang="es-MX" sz="1300" b="0" i="1" smtClean="0">
                        <a:effectLst/>
                        <a:latin typeface="Cambria Math" panose="02040503050406030204" pitchFamily="18" charset="0"/>
                      </a:rPr>
                      <m:t> </m:t>
                    </m:r>
                  </m:oMath>
                </a14:m>
                <a:r>
                  <a:rPr lang="en-US" sz="1300" dirty="0">
                    <a:solidFill>
                      <a:srgbClr val="111111"/>
                    </a:solidFill>
                    <a:latin typeface="Calibri" pitchFamily="34" charset="0"/>
                    <a:ea typeface="Calibri" pitchFamily="34" charset="-122"/>
                    <a:cs typeface="Calibri" pitchFamily="34" charset="-120"/>
                  </a:rPr>
                  <a:t>(t) y frecuencia </a:t>
                </a:r>
                <a14:m>
                  <m:oMath xmlns:m="http://schemas.openxmlformats.org/officeDocument/2006/math">
                    <m:sSub>
                      <m:sSubPr>
                        <m:ctrlPr>
                          <a:rPr lang="es-AR" sz="1000" i="1">
                            <a:latin typeface="Cambria Math" panose="020405030504060302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b="0" i="1" smtClean="0">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oMath>
                </a14:m>
                <a:r>
                  <a:rPr lang="en-US" sz="1300" dirty="0">
                    <a:solidFill>
                      <a:srgbClr val="111111"/>
                    </a:solidFill>
                    <a:latin typeface="Calibri" pitchFamily="34" charset="0"/>
                    <a:ea typeface="Calibri" pitchFamily="34" charset="-122"/>
                    <a:cs typeface="Calibri" pitchFamily="34" charset="-120"/>
                  </a:rPr>
                  <a:t>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a:t>
                </a:r>
                <a14:m>
                  <m:oMath xmlns:m="http://schemas.openxmlformats.org/officeDocument/2006/math">
                    <m:sSub>
                      <m:sSubPr>
                        <m:ctrlPr>
                          <a:rPr lang="es-AR" sz="1000" i="1" smtClean="0">
                            <a:effectLst/>
                            <a:latin typeface="Cambria Math" panose="02040503050406030204" pitchFamily="18" charset="0"/>
                          </a:rPr>
                        </m:ctrlPr>
                      </m:sSubPr>
                      <m:e>
                        <m:r>
                          <a:rPr lang="es-AR" sz="1000" b="0" i="1" smtClean="0">
                            <a:effectLst/>
                            <a:latin typeface="Cambria Math" panose="02040503050406030204" pitchFamily="18" charset="0"/>
                          </a:rPr>
                          <m:t>𝑓</m:t>
                        </m:r>
                      </m:e>
                      <m:sub>
                        <m:r>
                          <a:rPr lang="es-AR" sz="1400" b="0" i="1" smtClean="0">
                            <a:effectLst/>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 ∈ [-330, +330] Hz (determina sentido de giro)</a:t>
                </a:r>
                <a:endParaRPr lang="en-US" sz="1300" dirty="0"/>
              </a:p>
            </p:txBody>
          </p:sp>
        </mc:Choice>
        <mc:Fallback xmlns="">
          <p:sp>
            <p:nvSpPr>
              <p:cNvPr id="14" name="Text 12"/>
              <p:cNvSpPr>
                <a:spLocks noRot="1" noChangeAspect="1" noMove="1" noResize="1" noEditPoints="1" noAdjustHandles="1" noChangeArrowheads="1" noChangeShapeType="1" noTextEdit="1"/>
              </p:cNvSpPr>
              <p:nvPr/>
            </p:nvSpPr>
            <p:spPr>
              <a:xfrm>
                <a:off x="6385707" y="3683508"/>
                <a:ext cx="5394960" cy="1920240"/>
              </a:xfrm>
              <a:prstGeom prst="rect">
                <a:avLst/>
              </a:prstGeom>
              <a:blipFill>
                <a:blip r:embed="rId5"/>
                <a:stretch>
                  <a:fillRect l="-226" t="-635"/>
                </a:stretch>
              </a:blipFill>
              <a:ln/>
            </p:spPr>
            <p:txBody>
              <a:bodyPr/>
              <a:lstStyle/>
              <a:p>
                <a:r>
                  <a:rPr lang="es-AR">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300" i="1" smtClean="0">
                                        <a:effectLst/>
                                        <a:latin typeface="Cambria Math" panose="02040503050406030204" pitchFamily="18" charset="0"/>
                                        <a:ea typeface="Times New Roman" panose="02020603050405020304" pitchFamily="18" charset="0"/>
                                      </a:rPr>
                                    </m:ctrlPr>
                                  </m:sSubSup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𝑞</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𝑑</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𝑙𝑠</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𝑅</m:t>
                                    </m:r>
                                  </m:e>
                                  <m:sub>
                                    <m:r>
                                      <a:rPr lang="es-MX" sz="1300" b="0" i="1" smtClean="0">
                                        <a:effectLst/>
                                        <a:latin typeface="Cambria Math" panose="02040503050406030204" pitchFamily="18" charset="0"/>
                                      </a:rPr>
                                      <m:t>𝑆</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m:rPr>
                                        <m:nor/>
                                      </m:rPr>
                                      <a:rPr lang="en-US" sz="1300" dirty="0" smtClean="0">
                                        <a:solidFill>
                                          <a:srgbClr val="000000"/>
                                        </a:solidFill>
                                        <a:latin typeface="Calibri" pitchFamily="34" charset="0"/>
                                        <a:ea typeface="Calibri" pitchFamily="34" charset="-122"/>
                                        <a:cs typeface="Calibri" pitchFamily="34" charset="-120"/>
                                      </a:rPr>
                                      <m:t>α</m:t>
                                    </m:r>
                                  </m:e>
                                  <m:sub>
                                    <m:r>
                                      <a:rPr lang="es-MX" sz="1300" b="0" i="1" smtClean="0">
                                        <a:effectLst/>
                                        <a:latin typeface="Cambria Math" panose="02040503050406030204" pitchFamily="18" charset="0"/>
                                      </a:rPr>
                                      <m:t>𝑐𝑢</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𝐽</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𝑏</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𝑛</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𝑚𝑎𝑥</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𝑉</m:t>
                                    </m:r>
                                  </m:e>
                                  <m:sub>
                                    <m:r>
                                      <a:rPr lang="es-MX" sz="1300" b="0" i="1" smtClean="0">
                                        <a:effectLst/>
                                        <a:latin typeface="Cambria Math" panose="02040503050406030204" pitchFamily="18" charset="0"/>
                                      </a:rPr>
                                      <m:t>𝑠𝑙</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Choice>
        <mc:Fallback xmlns="">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201667" r="-205152" b="-1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301667" r="-205152" b="-10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401667" r="-205152" b="-9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501667" r="-205152" b="-8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601667" r="-205152" b="-7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701667" r="-205152" b="-6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801667" r="-205152" b="-5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901667" r="-205152" b="-4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001667" r="-205152" b="-3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101667" r="-205152" b="-2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201667" r="-205152" b="-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301667" r="-205152" b="-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021" y="0"/>
            <a:ext cx="12263021"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0" y="76809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492246"/>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857244"/>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0.1±0.03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=1.0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=9.80665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=0.25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=0.0208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=0.50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0⋯1.5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𝑚</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𝑐𝑚</m:t>
                            </m:r>
                          </m:sub>
                          <m:sup>
                            <m:r>
                              <a:rPr lang="es-AR" sz="1400" i="1">
                                <a:latin typeface="Cambria Math" panose="02040503050406030204" pitchFamily="18" charset="0"/>
                              </a:rPr>
                              <m:t>2</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𝑐𝑚</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𝑙</m:t>
                        </m:r>
                      </m:sub>
                      <m:sup>
                        <m:r>
                          <a:rPr lang="es-AR" sz="1400" i="1">
                            <a:latin typeface="Cambria Math" panose="02040503050406030204" pitchFamily="18" charset="0"/>
                          </a:rPr>
                          <m:t>2</m:t>
                        </m:r>
                      </m:sup>
                    </m:sSubSup>
                    <m:r>
                      <a:rPr lang="es-AR" sz="1400" i="1">
                        <a:latin typeface="Cambria Math" panose="02040503050406030204" pitchFamily="18" charset="0"/>
                      </a:rPr>
                      <m:t>=0.0833+</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0⋯0.</m:t>
                        </m:r>
                        <m:r>
                          <a:rPr lang="es-MX" sz="1400" b="0" i="1" smtClean="0">
                            <a:latin typeface="Cambria Math" panose="02040503050406030204" pitchFamily="18" charset="0"/>
                          </a:rPr>
                          <m:t>3</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rPr>
                      <m:t>𝑚</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𝑐𝑚</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sub>
                    </m:sSub>
                    <m:r>
                      <a:rPr lang="es-AR" sz="1400" i="1">
                        <a:latin typeface="Cambria Math" panose="02040503050406030204" pitchFamily="18"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0.25+</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0⋯0.75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0±5.0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857244"/>
                <a:ext cx="11430000" cy="1828800"/>
              </a:xfrm>
              <a:prstGeom prst="rect">
                <a:avLst/>
              </a:prstGeom>
              <a:blipFill>
                <a:blip r:embed="rId6"/>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9">
            <a:extLst>
              <a:ext uri="{FF2B5EF4-FFF2-40B4-BE49-F238E27FC236}">
                <a16:creationId xmlns:a16="http://schemas.microsoft.com/office/drawing/2014/main" id="{FC67A3CE-E47F-460B-BB07-C75E41941322}"/>
              </a:ext>
            </a:extLst>
          </p:cNvPr>
          <p:cNvSpPr/>
          <p:nvPr/>
        </p:nvSpPr>
        <p:spPr>
          <a:xfrm>
            <a:off x="457200" y="4284000"/>
            <a:ext cx="5212080" cy="649152"/>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=120.0:1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=45.0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s-AR" sz="1400" dirty="0">
                  <a:latin typeface="Calibri" pitchFamily="34" charset="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𝑇𝑜𝑟𝑞𝑢𝑒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𝑒𝑛𝑡𝑟𝑎𝑑𝑎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𝑙𝑎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𝑐𝑎𝑗𝑎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𝑟𝑒𝑑𝑢𝑐𝑡𝑜𝑟𝑎</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9"/>
                <a:stretch>
                  <a:fillRect l="-222" t="-1563" b="-2344"/>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207008"/>
            <a:ext cx="5486400" cy="41148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Rotor referido al estator — parámetros concentrados:</a:t>
            </a:r>
            <a:endParaRPr lang="en-US" sz="13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035040" y="1655064"/>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035040" y="1655064"/>
                <a:ext cx="5120640" cy="530352"/>
              </a:xfrm>
              <a:prstGeom prst="rect">
                <a:avLst/>
              </a:prstGeom>
              <a:blipFill>
                <a:blip r:embed="rId10"/>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≈1.4∙</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≈15∙</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691.15 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Text 6">
                <a:extLst>
                  <a:ext uri="{FF2B5EF4-FFF2-40B4-BE49-F238E27FC236}">
                    <a16:creationId xmlns:a16="http://schemas.microsoft.com/office/drawing/2014/main" id="{9B4CF49A-AADC-44C9-9A28-1F5C08A0EA0B}"/>
                  </a:ext>
                </a:extLst>
              </p:cNvPr>
              <p:cNvSpPr/>
              <p:nvPr/>
            </p:nvSpPr>
            <p:spPr>
              <a:xfrm>
                <a:off x="91440" y="3942041"/>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Expresando las variables de la carga mecánica en función de las del motor, utilizando la relación de transmisión y despejando </a:t>
                </a:r>
                <a14:m>
                  <m:oMath xmlns:m="http://schemas.openxmlformats.org/officeDocument/2006/math">
                    <m:sSub>
                      <m:sSubPr>
                        <m:ctrlPr>
                          <a:rPr lang="es-AR" sz="1300" i="1" smtClean="0">
                            <a:effectLst/>
                            <a:latin typeface="Cambria Math" panose="02040503050406030204" pitchFamily="18" charset="0"/>
                            <a:ea typeface="Times New Roman" panose="02020603050405020304" pitchFamily="18" charset="0"/>
                          </a:rPr>
                        </m:ctrlPr>
                      </m:sSub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3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oMath>
                </a14:m>
                <a:r>
                  <a:rPr lang="es-AR" sz="1300" dirty="0">
                    <a:solidFill>
                      <a:srgbClr val="111111"/>
                    </a:solidFill>
                    <a:latin typeface="Calibri" pitchFamily="34" charset="0"/>
                    <a:ea typeface="Calibri" pitchFamily="34" charset="-122"/>
                    <a:cs typeface="Calibri" pitchFamily="34" charset="-120"/>
                  </a:rPr>
                  <a:t>: </a:t>
                </a:r>
                <a:endParaRPr lang="es-AR" sz="1300" dirty="0"/>
              </a:p>
            </p:txBody>
          </p:sp>
        </mc:Choice>
        <mc:Fallback xmlns="">
          <p:sp>
            <p:nvSpPr>
              <p:cNvPr id="25" name="Text 6">
                <a:extLst>
                  <a:ext uri="{FF2B5EF4-FFF2-40B4-BE49-F238E27FC236}">
                    <a16:creationId xmlns:a16="http://schemas.microsoft.com/office/drawing/2014/main" id="{9B4CF49A-AADC-44C9-9A28-1F5C08A0EA0B}"/>
                  </a:ext>
                </a:extLst>
              </p:cNvPr>
              <p:cNvSpPr>
                <a:spLocks noRot="1" noChangeAspect="1" noMove="1" noResize="1" noEditPoints="1" noAdjustHandles="1" noChangeArrowheads="1" noChangeShapeType="1" noTextEdit="1"/>
              </p:cNvSpPr>
              <p:nvPr/>
            </p:nvSpPr>
            <p:spPr>
              <a:xfrm>
                <a:off x="91440" y="3942041"/>
                <a:ext cx="11704320" cy="502920"/>
              </a:xfrm>
              <a:prstGeom prst="rect">
                <a:avLst/>
              </a:prstGeom>
              <a:blipFill>
                <a:blip r:embed="rId11"/>
                <a:stretch>
                  <a:fillRect l="-52" t="-122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1442EDF-7B72-4F84-BA33-1E72FD3CFE59}"/>
                  </a:ext>
                </a:extLst>
              </p:cNvPr>
              <p:cNvSpPr txBox="1"/>
              <p:nvPr/>
            </p:nvSpPr>
            <p:spPr>
              <a:xfrm>
                <a:off x="457200" y="4322514"/>
                <a:ext cx="3442909" cy="499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lang="es-AR" sz="1100" dirty="0">
                  <a:solidFill>
                    <a:schemeClr val="tx1"/>
                  </a:solidFill>
                </a:endParaRPr>
              </a:p>
            </p:txBody>
          </p:sp>
        </mc:Choice>
        <mc:Fallback xmlns="">
          <p:sp>
            <p:nvSpPr>
              <p:cNvPr id="28" name="CuadroTexto 27">
                <a:extLst>
                  <a:ext uri="{FF2B5EF4-FFF2-40B4-BE49-F238E27FC236}">
                    <a16:creationId xmlns:a16="http://schemas.microsoft.com/office/drawing/2014/main" id="{31442EDF-7B72-4F84-BA33-1E72FD3CFE59}"/>
                  </a:ext>
                </a:extLst>
              </p:cNvPr>
              <p:cNvSpPr txBox="1">
                <a:spLocks noRot="1" noChangeAspect="1" noMove="1" noResize="1" noEditPoints="1" noAdjustHandles="1" noChangeArrowheads="1" noChangeShapeType="1" noTextEdit="1"/>
              </p:cNvSpPr>
              <p:nvPr/>
            </p:nvSpPr>
            <p:spPr>
              <a:xfrm>
                <a:off x="457200" y="4322514"/>
                <a:ext cx="3442909" cy="499945"/>
              </a:xfrm>
              <a:prstGeom prst="rect">
                <a:avLst/>
              </a:prstGeom>
              <a:blipFill>
                <a:blip r:embed="rId12"/>
                <a:stretch>
                  <a:fillRect/>
                </a:stretch>
              </a:blipFill>
            </p:spPr>
            <p:txBody>
              <a:bodyPr/>
              <a:lstStyle/>
              <a:p>
                <a:r>
                  <a:rPr lang="es-AR">
                    <a:noFill/>
                  </a:rPr>
                  <a:t> </a:t>
                </a:r>
              </a:p>
            </p:txBody>
          </p:sp>
        </mc:Fallback>
      </mc:AlternateContent>
      <p:sp>
        <p:nvSpPr>
          <p:cNvPr id="30" name="Text 6">
            <a:extLst>
              <a:ext uri="{FF2B5EF4-FFF2-40B4-BE49-F238E27FC236}">
                <a16:creationId xmlns:a16="http://schemas.microsoft.com/office/drawing/2014/main" id="{07AD0427-720A-4A83-BE86-A827F1CA1736}"/>
              </a:ext>
            </a:extLst>
          </p:cNvPr>
          <p:cNvSpPr/>
          <p:nvPr/>
        </p:nvSpPr>
        <p:spPr>
          <a:xfrm>
            <a:off x="182880" y="5014108"/>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Y reemplazando en la ecuación del subsistema del motor:</a:t>
            </a:r>
            <a:endParaRPr lang="es-AR" sz="1300" dirty="0"/>
          </a:p>
        </p:txBody>
      </p:sp>
      <p:sp>
        <p:nvSpPr>
          <p:cNvPr id="31" name="Shape 9">
            <a:extLst>
              <a:ext uri="{FF2B5EF4-FFF2-40B4-BE49-F238E27FC236}">
                <a16:creationId xmlns:a16="http://schemas.microsoft.com/office/drawing/2014/main" id="{D9788D1C-B7CB-47DE-B01D-2EBC987D943C}"/>
              </a:ext>
            </a:extLst>
          </p:cNvPr>
          <p:cNvSpPr/>
          <p:nvPr/>
        </p:nvSpPr>
        <p:spPr>
          <a:xfrm>
            <a:off x="457200" y="5416444"/>
            <a:ext cx="10719786" cy="6491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73CA2346-43EF-445B-948C-A91E2B55DD49}"/>
                  </a:ext>
                </a:extLst>
              </p:cNvPr>
              <p:cNvSpPr txBox="1"/>
              <p:nvPr/>
            </p:nvSpPr>
            <p:spPr>
              <a:xfrm>
                <a:off x="679140" y="5488553"/>
                <a:ext cx="7824779" cy="473335"/>
              </a:xfrm>
              <a:prstGeom prst="rect">
                <a:avLst/>
              </a:prstGeom>
              <a:noFill/>
            </p:spPr>
            <p:txBody>
              <a:bodyPr wrap="square">
                <a:spAutoFit/>
              </a:bodyPr>
              <a:lstStyle/>
              <a:p>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endParaRPr lang="es-AR" sz="1400" dirty="0">
                  <a:solidFill>
                    <a:schemeClr val="tx1"/>
                  </a:solidFill>
                </a:endParaRPr>
              </a:p>
            </p:txBody>
          </p:sp>
        </mc:Choice>
        <mc:Fallback xmlns="">
          <p:sp>
            <p:nvSpPr>
              <p:cNvPr id="32" name="CuadroTexto 31">
                <a:extLst>
                  <a:ext uri="{FF2B5EF4-FFF2-40B4-BE49-F238E27FC236}">
                    <a16:creationId xmlns:a16="http://schemas.microsoft.com/office/drawing/2014/main" id="{73CA2346-43EF-445B-948C-A91E2B55DD49}"/>
                  </a:ext>
                </a:extLst>
              </p:cNvPr>
              <p:cNvSpPr txBox="1">
                <a:spLocks noRot="1" noChangeAspect="1" noMove="1" noResize="1" noEditPoints="1" noAdjustHandles="1" noChangeArrowheads="1" noChangeShapeType="1" noTextEdit="1"/>
              </p:cNvSpPr>
              <p:nvPr/>
            </p:nvSpPr>
            <p:spPr>
              <a:xfrm>
                <a:off x="679140" y="5488553"/>
                <a:ext cx="7824779" cy="473335"/>
              </a:xfrm>
              <a:prstGeom prst="rect">
                <a:avLst/>
              </a:prstGeom>
              <a:blipFill>
                <a:blip r:embed="rId1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a:solidFill>
                  <a:srgbClr val="FFFFFF"/>
                </a:solidFill>
                <a:latin typeface="Calibri" pitchFamily="34" charset="0"/>
                <a:ea typeface="Calibri" pitchFamily="34" charset="-122"/>
                <a:cs typeface="Calibri" pitchFamily="34" charset="-120"/>
              </a:rPr>
              <a:t>Subsistema</a:t>
            </a:r>
            <a:r>
              <a:rPr lang="en-US" sz="1900" b="1" dirty="0">
                <a:solidFill>
                  <a:srgbClr val="FFFFFF"/>
                </a:solidFill>
                <a:latin typeface="Calibri" pitchFamily="34" charset="0"/>
                <a:ea typeface="Calibri" pitchFamily="34" charset="-122"/>
                <a:cs typeface="Calibri" pitchFamily="34" charset="-120"/>
              </a:rPr>
              <a:t>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1" name="Text 19"/>
          <p:cNvSpPr/>
          <p:nvPr/>
        </p:nvSpPr>
        <p:spPr>
          <a:xfrm>
            <a:off x="177198" y="1882411"/>
            <a:ext cx="11341401"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Se obtiene entonces el modelo mecánico equivalente completo (referido al eje del motor):</a:t>
            </a:r>
            <a:endParaRPr lang="es-AR" sz="1400" dirty="0"/>
          </a:p>
        </p:txBody>
      </p:sp>
      <p:sp>
        <p:nvSpPr>
          <p:cNvPr id="22" name="Shape 20"/>
          <p:cNvSpPr/>
          <p:nvPr/>
        </p:nvSpPr>
        <p:spPr>
          <a:xfrm>
            <a:off x="182880" y="2335739"/>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373473" y="2625559"/>
                <a:ext cx="5178523" cy="59436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600" dirty="0"/>
              </a:p>
            </p:txBody>
          </p:sp>
        </mc:Choice>
        <mc:Fallback xmlns="">
          <p:sp>
            <p:nvSpPr>
              <p:cNvPr id="23" name="Text 21"/>
              <p:cNvSpPr>
                <a:spLocks noRot="1" noChangeAspect="1" noMove="1" noResize="1" noEditPoints="1" noAdjustHandles="1" noChangeArrowheads="1" noChangeShapeType="1" noTextEdit="1"/>
              </p:cNvSpPr>
              <p:nvPr/>
            </p:nvSpPr>
            <p:spPr>
              <a:xfrm>
                <a:off x="-373473" y="2625559"/>
                <a:ext cx="5178523" cy="594360"/>
              </a:xfrm>
              <a:prstGeom prst="rect">
                <a:avLst/>
              </a:prstGeom>
              <a:blipFill>
                <a:blip r:embed="rId2"/>
                <a:stretch>
                  <a:fillRect t="-37113" b="-44330"/>
                </a:stretch>
              </a:blipFill>
              <a:ln/>
            </p:spPr>
            <p:txBody>
              <a:bodyPr/>
              <a:lstStyle/>
              <a:p>
                <a:r>
                  <a:rPr lang="es-AR">
                    <a:noFill/>
                  </a:rPr>
                  <a:t> </a:t>
                </a:r>
              </a:p>
            </p:txBody>
          </p:sp>
        </mc:Fallback>
      </mc:AlternateContent>
      <p:sp>
        <p:nvSpPr>
          <p:cNvPr id="25" name="Text 6">
            <a:extLst>
              <a:ext uri="{FF2B5EF4-FFF2-40B4-BE49-F238E27FC236}">
                <a16:creationId xmlns:a16="http://schemas.microsoft.com/office/drawing/2014/main" id="{59955CD1-FD34-4648-B4C4-E65F5F9E10DD}"/>
              </a:ext>
            </a:extLst>
          </p:cNvPr>
          <p:cNvSpPr/>
          <p:nvPr/>
        </p:nvSpPr>
        <p:spPr>
          <a:xfrm>
            <a:off x="177198" y="715313"/>
            <a:ext cx="11618562"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Con los siguientes vectores de estados, entrada y salida, respectivamente:</a:t>
            </a:r>
            <a:endParaRPr lang="es-AR" sz="1300" dirty="0"/>
          </a:p>
        </p:txBody>
      </p:sp>
      <p:sp>
        <p:nvSpPr>
          <p:cNvPr id="27" name="Shape 20">
            <a:extLst>
              <a:ext uri="{FF2B5EF4-FFF2-40B4-BE49-F238E27FC236}">
                <a16:creationId xmlns:a16="http://schemas.microsoft.com/office/drawing/2014/main" id="{05FE7D54-3017-4137-9195-493937B70021}"/>
              </a:ext>
            </a:extLst>
          </p:cNvPr>
          <p:cNvSpPr/>
          <p:nvPr/>
        </p:nvSpPr>
        <p:spPr>
          <a:xfrm>
            <a:off x="182879" y="1057709"/>
            <a:ext cx="11244279" cy="79176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8" name="Text 21">
                <a:extLst>
                  <a:ext uri="{FF2B5EF4-FFF2-40B4-BE49-F238E27FC236}">
                    <a16:creationId xmlns:a16="http://schemas.microsoft.com/office/drawing/2014/main" id="{9CB1D5DA-B895-49EC-AF0F-2B5E12F4D128}"/>
                  </a:ext>
                </a:extLst>
              </p:cNvPr>
              <p:cNvSpPr/>
              <p:nvPr/>
            </p:nvSpPr>
            <p:spPr>
              <a:xfrm>
                <a:off x="274320" y="1135822"/>
                <a:ext cx="4209081" cy="594360"/>
              </a:xfrm>
              <a:prstGeom prst="rect">
                <a:avLst/>
              </a:prstGeom>
              <a:noFill/>
              <a:ln/>
            </p:spPr>
            <p:txBody>
              <a:bodyPr wrap="square" rtlCol="0" anchor="ctr"/>
              <a:lstStyle/>
              <a:p>
                <a:pPr algn="ctr"/>
                <a14:m>
                  <m:oMath xmlns:m="http://schemas.openxmlformats.org/officeDocument/2006/math">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a14:m>
                <a:endParaRPr lang="en-US" sz="1600" dirty="0"/>
              </a:p>
            </p:txBody>
          </p:sp>
        </mc:Choice>
        <mc:Fallback xmlns="">
          <p:sp>
            <p:nvSpPr>
              <p:cNvPr id="28" name="Text 21">
                <a:extLst>
                  <a:ext uri="{FF2B5EF4-FFF2-40B4-BE49-F238E27FC236}">
                    <a16:creationId xmlns:a16="http://schemas.microsoft.com/office/drawing/2014/main" id="{9CB1D5DA-B895-49EC-AF0F-2B5E12F4D128}"/>
                  </a:ext>
                </a:extLst>
              </p:cNvPr>
              <p:cNvSpPr>
                <a:spLocks noRot="1" noChangeAspect="1" noMove="1" noResize="1" noEditPoints="1" noAdjustHandles="1" noChangeArrowheads="1" noChangeShapeType="1" noTextEdit="1"/>
              </p:cNvSpPr>
              <p:nvPr/>
            </p:nvSpPr>
            <p:spPr>
              <a:xfrm>
                <a:off x="274320" y="1135822"/>
                <a:ext cx="4209081" cy="594360"/>
              </a:xfrm>
              <a:prstGeom prst="rect">
                <a:avLst/>
              </a:prstGeom>
              <a:blipFill>
                <a:blip r:embed="rId3"/>
                <a:stretch>
                  <a:fillRect b="-2041"/>
                </a:stretch>
              </a:blipFill>
              <a:ln/>
            </p:spPr>
            <p:txBody>
              <a:bodyPr/>
              <a:lstStyle/>
              <a:p>
                <a:r>
                  <a:rPr lang="es-AR">
                    <a:noFill/>
                  </a:rPr>
                  <a:t> </a:t>
                </a:r>
              </a:p>
            </p:txBody>
          </p:sp>
        </mc:Fallback>
      </mc:AlternateContent>
      <p:sp>
        <p:nvSpPr>
          <p:cNvPr id="29" name="Text 19">
            <a:extLst>
              <a:ext uri="{FF2B5EF4-FFF2-40B4-BE49-F238E27FC236}">
                <a16:creationId xmlns:a16="http://schemas.microsoft.com/office/drawing/2014/main" id="{CE663B03-D651-4B0D-8172-D7C28A9FF0C5}"/>
              </a:ext>
            </a:extLst>
          </p:cNvPr>
          <p:cNvSpPr/>
          <p:nvPr/>
        </p:nvSpPr>
        <p:spPr>
          <a:xfrm>
            <a:off x="227179" y="3681280"/>
            <a:ext cx="11291420"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Representación matricial en espacio de estados:</a:t>
            </a:r>
            <a:endParaRPr lang="es-AR" sz="1400" dirty="0"/>
          </a:p>
        </p:txBody>
      </p:sp>
      <p:sp>
        <p:nvSpPr>
          <p:cNvPr id="30" name="Shape 20">
            <a:extLst>
              <a:ext uri="{FF2B5EF4-FFF2-40B4-BE49-F238E27FC236}">
                <a16:creationId xmlns:a16="http://schemas.microsoft.com/office/drawing/2014/main" id="{8B4DE1EB-B212-4A92-A0D0-0B0C5C1971DD}"/>
              </a:ext>
            </a:extLst>
          </p:cNvPr>
          <p:cNvSpPr/>
          <p:nvPr/>
        </p:nvSpPr>
        <p:spPr>
          <a:xfrm>
            <a:off x="227179" y="4231196"/>
            <a:ext cx="11158521" cy="121446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31" name="Text 21">
                <a:extLst>
                  <a:ext uri="{FF2B5EF4-FFF2-40B4-BE49-F238E27FC236}">
                    <a16:creationId xmlns:a16="http://schemas.microsoft.com/office/drawing/2014/main" id="{2F45BAC8-DE8F-46C4-B1B9-E38DCFAD6909}"/>
                  </a:ext>
                </a:extLst>
              </p:cNvPr>
              <p:cNvSpPr/>
              <p:nvPr/>
            </p:nvSpPr>
            <p:spPr>
              <a:xfrm>
                <a:off x="91440" y="4558603"/>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eqArr>
                            <m:eqArrPr>
                              <m:ctrlPr>
                                <a:rPr lang="es-AR" sz="1400" i="1">
                                  <a:effectLst/>
                                  <a:latin typeface="Cambria Math" panose="02040503050406030204" pitchFamily="18" charset="0"/>
                                  <a:ea typeface="Times New Roman" panose="02020603050405020304" pitchFamily="18" charset="0"/>
                                </a:rPr>
                              </m:ctrlPr>
                            </m:eqArrPr>
                            <m:e>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b="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400" i="1">
                                      <a:effectLst/>
                                      <a:latin typeface="Cambria Math" panose="02040503050406030204" pitchFamily="18" charset="0"/>
                                      <a:ea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400" dirty="0"/>
              </a:p>
            </p:txBody>
          </p:sp>
        </mc:Choice>
        <mc:Fallback xmlns="">
          <p:sp>
            <p:nvSpPr>
              <p:cNvPr id="31" name="Text 21">
                <a:extLst>
                  <a:ext uri="{FF2B5EF4-FFF2-40B4-BE49-F238E27FC236}">
                    <a16:creationId xmlns:a16="http://schemas.microsoft.com/office/drawing/2014/main" id="{2F45BAC8-DE8F-46C4-B1B9-E38DCFAD6909}"/>
                  </a:ext>
                </a:extLst>
              </p:cNvPr>
              <p:cNvSpPr>
                <a:spLocks noRot="1" noChangeAspect="1" noMove="1" noResize="1" noEditPoints="1" noAdjustHandles="1" noChangeArrowheads="1" noChangeShapeType="1" noTextEdit="1"/>
              </p:cNvSpPr>
              <p:nvPr/>
            </p:nvSpPr>
            <p:spPr>
              <a:xfrm>
                <a:off x="91440" y="4558603"/>
                <a:ext cx="5178523" cy="594360"/>
              </a:xfrm>
              <a:prstGeom prst="rect">
                <a:avLst/>
              </a:prstGeom>
              <a:blipFill>
                <a:blip r:embed="rId4"/>
                <a:stretch>
                  <a:fillRect t="-31959" b="-36082"/>
                </a:stretch>
              </a:blipFill>
              <a:ln/>
            </p:spPr>
            <p:txBody>
              <a:bodyPr/>
              <a:lstStyle/>
              <a:p>
                <a:r>
                  <a:rPr lang="es-AR">
                    <a:noFill/>
                  </a:rPr>
                  <a:t> </a:t>
                </a:r>
              </a:p>
            </p:txBody>
          </p:sp>
        </mc:Fallback>
      </mc:AlternateContent>
    </p:spTree>
    <p:extLst>
      <p:ext uri="{BB962C8B-B14F-4D97-AF65-F5344CB8AC3E}">
        <p14:creationId xmlns:p14="http://schemas.microsoft.com/office/powerpoint/2010/main" val="27742583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8" name="Imagen 7">
            <a:extLst>
              <a:ext uri="{FF2B5EF4-FFF2-40B4-BE49-F238E27FC236}">
                <a16:creationId xmlns:a16="http://schemas.microsoft.com/office/drawing/2014/main" id="{03C02F6E-DCE2-418F-B492-D759EBA8D24F}"/>
              </a:ext>
            </a:extLst>
          </p:cNvPr>
          <p:cNvPicPr>
            <a:picLocks noChangeAspect="1"/>
          </p:cNvPicPr>
          <p:nvPr/>
        </p:nvPicPr>
        <p:blipFill>
          <a:blip r:embed="rId2"/>
          <a:stretch>
            <a:fillRect/>
          </a:stretch>
        </p:blipFill>
        <p:spPr>
          <a:xfrm>
            <a:off x="286138" y="964586"/>
            <a:ext cx="10869542" cy="41820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F39677F8-8741-419C-ACC2-2D0D8DF251F6}"/>
              </a:ext>
            </a:extLst>
          </p:cNvPr>
          <p:cNvSpPr/>
          <p:nvPr/>
        </p:nvSpPr>
        <p:spPr>
          <a:xfrm>
            <a:off x="271212" y="2796264"/>
            <a:ext cx="11210722" cy="1372030"/>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161573" y="76047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161573" y="1977390"/>
                <a:ext cx="11430000" cy="73152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La transformación de Park convierte el sistema trifásico estacionario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a un sistema rotante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𝑞𝑑</m:t>
                    </m:r>
                    <m:r>
                      <a:rPr lang="es-AR" sz="1300" i="1" smtClean="0">
                        <a:solidFill>
                          <a:srgbClr val="111111"/>
                        </a:solidFill>
                        <a:latin typeface="Cambria Math" panose="02040503050406030204" pitchFamily="18" charset="0"/>
                        <a:ea typeface="Calibri" pitchFamily="34" charset="-122"/>
                        <a:cs typeface="Calibri" pitchFamily="34" charset="-120"/>
                      </a:rPr>
                      <m:t>0</m:t>
                    </m:r>
                    <m:r>
                      <a:rPr lang="es-AR" sz="1300" i="1" smtClean="0">
                        <a:solidFill>
                          <a:srgbClr val="111111"/>
                        </a:solidFill>
                        <a:latin typeface="Cambria Math" panose="02040503050406030204" pitchFamily="18" charset="0"/>
                        <a:ea typeface="Calibri" pitchFamily="34" charset="-122"/>
                        <a:cs typeface="Calibri" pitchFamily="34" charset="-120"/>
                      </a:rPr>
                      <m:t>𝑟</m:t>
                    </m:r>
                  </m:oMath>
                </a14:m>
                <a:r>
                  <a:rPr lang="es-AR" sz="1300" dirty="0">
                    <a:solidFill>
                      <a:srgbClr val="111111"/>
                    </a:solidFill>
                    <a:latin typeface="Calibri" pitchFamily="34" charset="0"/>
                    <a:ea typeface="Calibri" pitchFamily="34" charset="-122"/>
                    <a:cs typeface="Calibri" pitchFamily="34" charset="-120"/>
                  </a:rPr>
                  <a:t> que gira a velocidad eléctrica </a:t>
                </a:r>
                <a14:m>
                  <m:oMath xmlns:m="http://schemas.openxmlformats.org/officeDocument/2006/math">
                    <m:sSub>
                      <m:sSubPr>
                        <m:ctrlPr>
                          <a:rPr lang="es-AR" sz="1300" i="1">
                            <a:solidFill>
                              <a:srgbClr val="111111"/>
                            </a:solidFill>
                            <a:latin typeface="Cambria Math" panose="02040503050406030204" pitchFamily="18" charset="0"/>
                            <a:ea typeface="Calibri" pitchFamily="34" charset="-122"/>
                            <a:cs typeface="Calibri" pitchFamily="34" charset="-120"/>
                          </a:rPr>
                        </m:ctrlPr>
                      </m:sSubPr>
                      <m:e>
                        <m:r>
                          <a:rPr lang="es-AR" sz="1300">
                            <a:solidFill>
                              <a:srgbClr val="111111"/>
                            </a:solidFill>
                            <a:latin typeface="Cambria Math" panose="02040503050406030204" pitchFamily="18" charset="0"/>
                            <a:ea typeface="Calibri" pitchFamily="34" charset="-122"/>
                            <a:cs typeface="Calibri" pitchFamily="34" charset="-120"/>
                          </a:rPr>
                          <m:t>𝜔</m:t>
                        </m:r>
                      </m:e>
                      <m:sub>
                        <m:r>
                          <a:rPr lang="es-AR" sz="1300">
                            <a:solidFill>
                              <a:srgbClr val="111111"/>
                            </a:solidFill>
                            <a:latin typeface="Cambria Math" panose="02040503050406030204" pitchFamily="18" charset="0"/>
                            <a:ea typeface="Calibri" pitchFamily="34" charset="-122"/>
                            <a:cs typeface="Calibri" pitchFamily="34" charset="-120"/>
                          </a:rPr>
                          <m:t>𝑟</m:t>
                        </m:r>
                      </m:sub>
                    </m:sSub>
                    <m:d>
                      <m:dPr>
                        <m:ctrlPr>
                          <a:rPr lang="es-AR" sz="1300" i="1">
                            <a:solidFill>
                              <a:srgbClr val="111111"/>
                            </a:solidFill>
                            <a:latin typeface="Cambria Math" panose="02040503050406030204" pitchFamily="18" charset="0"/>
                            <a:ea typeface="Calibri" pitchFamily="34" charset="-122"/>
                            <a:cs typeface="Calibri" pitchFamily="34" charset="-120"/>
                          </a:rPr>
                        </m:ctrlPr>
                      </m:dPr>
                      <m:e>
                        <m:r>
                          <a:rPr lang="es-AR" sz="1300">
                            <a:solidFill>
                              <a:srgbClr val="111111"/>
                            </a:solidFill>
                            <a:latin typeface="Cambria Math" panose="02040503050406030204" pitchFamily="18" charset="0"/>
                            <a:ea typeface="Calibri" pitchFamily="34" charset="-122"/>
                            <a:cs typeface="Calibri" pitchFamily="34" charset="-120"/>
                          </a:rPr>
                          <m:t>𝑡</m:t>
                        </m:r>
                      </m:e>
                    </m:d>
                    <m:r>
                      <a:rPr lang="es-AR" sz="1300">
                        <a:solidFill>
                          <a:srgbClr val="111111"/>
                        </a:solidFill>
                        <a:latin typeface="Cambria Math" panose="02040503050406030204" pitchFamily="18" charset="0"/>
                        <a:ea typeface="Calibri" pitchFamily="34" charset="-122"/>
                        <a:cs typeface="Calibri" pitchFamily="34" charset="-120"/>
                      </a:rPr>
                      <m:t>=2</m:t>
                    </m:r>
                    <m:r>
                      <a:rPr lang="es-AR" sz="1300">
                        <a:solidFill>
                          <a:srgbClr val="111111"/>
                        </a:solidFill>
                        <a:latin typeface="Cambria Math" panose="02040503050406030204" pitchFamily="18" charset="0"/>
                        <a:ea typeface="Calibri" pitchFamily="34" charset="-122"/>
                        <a:cs typeface="Calibri" pitchFamily="34" charset="-120"/>
                      </a:rPr>
                      <m:t>𝜋</m:t>
                    </m:r>
                    <m:r>
                      <a:rPr lang="es-AR" sz="1300">
                        <a:solidFill>
                          <a:srgbClr val="111111"/>
                        </a:solidFill>
                        <a:latin typeface="Cambria Math" panose="02040503050406030204" pitchFamily="18" charset="0"/>
                        <a:ea typeface="Calibri" pitchFamily="34" charset="-122"/>
                        <a:cs typeface="Calibri" pitchFamily="34" charset="-120"/>
                      </a:rPr>
                      <m:t>𝑓</m:t>
                    </m:r>
                  </m:oMath>
                </a14:m>
                <a:r>
                  <a:rPr lang="es-AR" sz="1300" dirty="0">
                    <a:solidFill>
                      <a:srgbClr val="111111"/>
                    </a:solidFill>
                    <a:latin typeface="Calibri" pitchFamily="34" charset="0"/>
                    <a:ea typeface="Calibri" pitchFamily="34" charset="-122"/>
                    <a:cs typeface="Calibri" pitchFamily="34" charset="-120"/>
                  </a:rPr>
                  <a:t>. Las señales sinusoidales en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se transforman en variables aproximadamente constantes en régimen permanente, facilitando el diseño del control.</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161573" y="1977390"/>
                <a:ext cx="11430000" cy="731520"/>
              </a:xfrm>
              <a:prstGeom prst="rect">
                <a:avLst/>
              </a:prstGeom>
              <a:blipFill>
                <a:blip r:embed="rId3"/>
                <a:stretch>
                  <a:fillRect l="-107" t="-833"/>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0773CF10-C926-47C3-9DB9-8212B5133B9D}"/>
                  </a:ext>
                </a:extLst>
              </p:cNvPr>
              <p:cNvSpPr txBox="1"/>
              <p:nvPr/>
            </p:nvSpPr>
            <p:spPr>
              <a:xfrm>
                <a:off x="99280" y="2949760"/>
                <a:ext cx="5698726" cy="9275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p>
            </p:txBody>
          </p:sp>
        </mc:Choice>
        <mc:Fallback xmlns="">
          <p:sp>
            <p:nvSpPr>
              <p:cNvPr id="18" name="CuadroTexto 17">
                <a:extLst>
                  <a:ext uri="{FF2B5EF4-FFF2-40B4-BE49-F238E27FC236}">
                    <a16:creationId xmlns:a16="http://schemas.microsoft.com/office/drawing/2014/main" id="{0773CF10-C926-47C3-9DB9-8212B5133B9D}"/>
                  </a:ext>
                </a:extLst>
              </p:cNvPr>
              <p:cNvSpPr txBox="1">
                <a:spLocks noRot="1" noChangeAspect="1" noMove="1" noResize="1" noEditPoints="1" noAdjustHandles="1" noChangeArrowheads="1" noChangeShapeType="1" noTextEdit="1"/>
              </p:cNvSpPr>
              <p:nvPr/>
            </p:nvSpPr>
            <p:spPr>
              <a:xfrm>
                <a:off x="99280" y="2949760"/>
                <a:ext cx="5698726" cy="92756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52BB38B-053F-4FC4-B437-B4A2C041E4CB}"/>
                  </a:ext>
                </a:extLst>
              </p:cNvPr>
              <p:cNvSpPr txBox="1"/>
              <p:nvPr/>
            </p:nvSpPr>
            <p:spPr>
              <a:xfrm>
                <a:off x="5444676" y="2943627"/>
                <a:ext cx="6280950"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solidFill>
                    <a:schemeClr val="tx1"/>
                  </a:solidFill>
                </a:endParaRPr>
              </a:p>
            </p:txBody>
          </p:sp>
        </mc:Choice>
        <mc:Fallback xmlns="">
          <p:sp>
            <p:nvSpPr>
              <p:cNvPr id="20" name="CuadroTexto 19">
                <a:extLst>
                  <a:ext uri="{FF2B5EF4-FFF2-40B4-BE49-F238E27FC236}">
                    <a16:creationId xmlns:a16="http://schemas.microsoft.com/office/drawing/2014/main" id="{152BB38B-053F-4FC4-B437-B4A2C041E4CB}"/>
                  </a:ext>
                </a:extLst>
              </p:cNvPr>
              <p:cNvSpPr txBox="1">
                <a:spLocks noRot="1" noChangeAspect="1" noMove="1" noResize="1" noEditPoints="1" noAdjustHandles="1" noChangeArrowheads="1" noChangeShapeType="1" noTextEdit="1"/>
              </p:cNvSpPr>
              <p:nvPr/>
            </p:nvSpPr>
            <p:spPr>
              <a:xfrm>
                <a:off x="5444676" y="2943627"/>
                <a:ext cx="6280950" cy="886012"/>
              </a:xfrm>
              <a:prstGeom prst="rect">
                <a:avLst/>
              </a:prstGeom>
              <a:blipFill>
                <a:blip r:embed="rId5"/>
                <a:stretch>
                  <a:fillRect/>
                </a:stretch>
              </a:blipFill>
            </p:spPr>
            <p:txBody>
              <a:bodyPr/>
              <a:lstStyle/>
              <a:p>
                <a:r>
                  <a:rPr lang="es-AR">
                    <a:noFill/>
                  </a:rPr>
                  <a:t> </a:t>
                </a:r>
              </a:p>
            </p:txBody>
          </p:sp>
        </mc:Fallback>
      </mc:AlternateContent>
      <p:sp>
        <p:nvSpPr>
          <p:cNvPr id="24" name="Text 8">
            <a:extLst>
              <a:ext uri="{FF2B5EF4-FFF2-40B4-BE49-F238E27FC236}">
                <a16:creationId xmlns:a16="http://schemas.microsoft.com/office/drawing/2014/main" id="{54B8DB2A-BA6B-41D8-90FF-4614853674F0}"/>
              </a:ext>
            </a:extLst>
          </p:cNvPr>
          <p:cNvSpPr/>
          <p:nvPr/>
        </p:nvSpPr>
        <p:spPr>
          <a:xfrm>
            <a:off x="274320" y="2486410"/>
            <a:ext cx="2628678"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directa de Park:</a:t>
            </a:r>
            <a:endParaRPr lang="es-AR" sz="1300" b="1" dirty="0"/>
          </a:p>
        </p:txBody>
      </p:sp>
      <p:sp>
        <p:nvSpPr>
          <p:cNvPr id="25" name="Text 8">
            <a:extLst>
              <a:ext uri="{FF2B5EF4-FFF2-40B4-BE49-F238E27FC236}">
                <a16:creationId xmlns:a16="http://schemas.microsoft.com/office/drawing/2014/main" id="{74590FBB-C950-45EA-A07D-45F2DDD51A93}"/>
              </a:ext>
            </a:extLst>
          </p:cNvPr>
          <p:cNvSpPr/>
          <p:nvPr/>
        </p:nvSpPr>
        <p:spPr>
          <a:xfrm>
            <a:off x="6267636" y="2511415"/>
            <a:ext cx="2388092"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inversa de Park:</a:t>
            </a:r>
            <a:endParaRPr lang="es-AR" sz="1300" b="1" dirty="0"/>
          </a:p>
        </p:txBody>
      </p:sp>
      <mc:AlternateContent xmlns:mc="http://schemas.openxmlformats.org/markup-compatibility/2006" xmlns:a14="http://schemas.microsoft.com/office/drawing/2010/main">
        <mc:Choice Requires="a14">
          <p:sp>
            <p:nvSpPr>
              <p:cNvPr id="27" name="Text 8">
                <a:extLst>
                  <a:ext uri="{FF2B5EF4-FFF2-40B4-BE49-F238E27FC236}">
                    <a16:creationId xmlns:a16="http://schemas.microsoft.com/office/drawing/2014/main" id="{1D34D745-8CFD-4B34-851B-3B6060ED7E8C}"/>
                  </a:ext>
                </a:extLst>
              </p:cNvPr>
              <p:cNvSpPr/>
              <p:nvPr/>
            </p:nvSpPr>
            <p:spPr>
              <a:xfrm>
                <a:off x="228600" y="4535158"/>
                <a:ext cx="11430000" cy="731520"/>
              </a:xfrm>
              <a:prstGeom prst="rect">
                <a:avLst/>
              </a:prstGeom>
              <a:noFill/>
              <a:ln/>
            </p:spPr>
            <p:txBody>
              <a:bodyPr wrap="square" rtlCol="0" anchor="t"/>
              <a:lstStyle/>
              <a:p>
                <a:r>
                  <a:rPr lang="es-AR" sz="1400" dirty="0"/>
                  <a:t>Las expresiones de </a:t>
                </a:r>
                <a14:m>
                  <m:oMath xmlns:m="http://schemas.openxmlformats.org/officeDocument/2006/math">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se puede representar tensión </a:t>
                </a:r>
                <a14:m>
                  <m:oMath xmlns:m="http://schemas.openxmlformats.org/officeDocument/2006/math">
                    <m:r>
                      <a:rPr lang="es-AR" sz="1400" i="1">
                        <a:latin typeface="Cambria Math" panose="02040503050406030204" pitchFamily="18" charset="0"/>
                      </a:rPr>
                      <m:t>𝑣</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corriente </a:t>
                </a:r>
                <a14:m>
                  <m:oMath xmlns:m="http://schemas.openxmlformats.org/officeDocument/2006/math">
                    <m:r>
                      <a:rPr lang="es-AR" sz="1400" i="1">
                        <a:latin typeface="Cambria Math" panose="02040503050406030204" pitchFamily="18" charset="0"/>
                      </a:rPr>
                      <m:t>𝑖</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flujo concatenado </a:t>
                </a:r>
                <a14:m>
                  <m:oMath xmlns:m="http://schemas.openxmlformats.org/officeDocument/2006/math">
                    <m:r>
                      <a:rPr lang="es-AR" sz="1400" i="1">
                        <a:latin typeface="Cambria Math" panose="02040503050406030204" pitchFamily="18" charset="0"/>
                      </a:rPr>
                      <m:t>𝜆</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¸etc.</a:t>
                </a:r>
              </a:p>
            </p:txBody>
          </p:sp>
        </mc:Choice>
        <mc:Fallback xmlns="">
          <p:sp>
            <p:nvSpPr>
              <p:cNvPr id="27" name="Text 8">
                <a:extLst>
                  <a:ext uri="{FF2B5EF4-FFF2-40B4-BE49-F238E27FC236}">
                    <a16:creationId xmlns:a16="http://schemas.microsoft.com/office/drawing/2014/main" id="{1D34D745-8CFD-4B34-851B-3B6060ED7E8C}"/>
                  </a:ext>
                </a:extLst>
              </p:cNvPr>
              <p:cNvSpPr>
                <a:spLocks noRot="1" noChangeAspect="1" noMove="1" noResize="1" noEditPoints="1" noAdjustHandles="1" noChangeArrowheads="1" noChangeShapeType="1" noTextEdit="1"/>
              </p:cNvSpPr>
              <p:nvPr/>
            </p:nvSpPr>
            <p:spPr>
              <a:xfrm>
                <a:off x="228600" y="4535158"/>
                <a:ext cx="11430000" cy="731520"/>
              </a:xfrm>
              <a:prstGeom prst="rect">
                <a:avLst/>
              </a:prstGeom>
              <a:blipFill>
                <a:blip r:embed="rId6"/>
                <a:stretch>
                  <a:fillRect l="-160" t="-1667"/>
                </a:stretch>
              </a:blipFill>
              <a:ln/>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C240382E-B464-47CA-9B22-CC7A848DA512}"/>
              </a:ext>
            </a:extLst>
          </p:cNvPr>
          <p:cNvSpPr txBox="1"/>
          <p:nvPr/>
        </p:nvSpPr>
        <p:spPr>
          <a:xfrm>
            <a:off x="274320" y="136634"/>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extLst>
      <p:ext uri="{BB962C8B-B14F-4D97-AF65-F5344CB8AC3E}">
        <p14:creationId xmlns:p14="http://schemas.microsoft.com/office/powerpoint/2010/main" val="22295780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a:t>
            </a:r>
            <a:r>
              <a:rPr lang="en-US" sz="1900" b="1" dirty="0" err="1">
                <a:solidFill>
                  <a:srgbClr val="FFFFFF"/>
                </a:solidFill>
                <a:latin typeface="Calibri" pitchFamily="34" charset="0"/>
                <a:ea typeface="Calibri" pitchFamily="34" charset="-122"/>
                <a:cs typeface="Calibri" pitchFamily="34" charset="-120"/>
              </a:rPr>
              <a:t>Transformación</a:t>
            </a:r>
            <a:r>
              <a:rPr lang="en-US" sz="1900" b="1" dirty="0">
                <a:solidFill>
                  <a:srgbClr val="FFFFFF"/>
                </a:solidFill>
                <a:latin typeface="Calibri" pitchFamily="34" charset="0"/>
                <a:ea typeface="Calibri" pitchFamily="34" charset="-122"/>
                <a:cs typeface="Calibri" pitchFamily="34" charset="-120"/>
              </a:rPr>
              <a:t>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457200" y="4991559"/>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a:t>
            </a:r>
            <a:r>
              <a:rPr lang="en-US" sz="1100" i="1" dirty="0" err="1">
                <a:solidFill>
                  <a:srgbClr val="224488"/>
                </a:solidFill>
                <a:latin typeface="Calibri" pitchFamily="34" charset="0"/>
                <a:ea typeface="Calibri" pitchFamily="34" charset="-122"/>
                <a:cs typeface="Calibri" pitchFamily="34" charset="-120"/>
              </a:rPr>
              <a:t>transformación</a:t>
            </a:r>
            <a:r>
              <a:rPr lang="en-US" sz="1100" i="1" dirty="0">
                <a:solidFill>
                  <a:srgbClr val="224488"/>
                </a:solidFill>
                <a:latin typeface="Calibri" pitchFamily="34" charset="0"/>
                <a:ea typeface="Calibri" pitchFamily="34" charset="-122"/>
                <a:cs typeface="Calibri" pitchFamily="34" charset="-120"/>
              </a:rPr>
              <a:t>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2"/>
          <a:stretch>
            <a:fillRect/>
          </a:stretch>
        </p:blipFill>
        <p:spPr>
          <a:xfrm>
            <a:off x="2266852" y="1025880"/>
            <a:ext cx="7702771" cy="3734677"/>
          </a:xfrm>
          <a:prstGeom prst="rect">
            <a:avLst/>
          </a:prstGeom>
        </p:spPr>
      </p:pic>
    </p:spTree>
    <p:extLst>
      <p:ext uri="{BB962C8B-B14F-4D97-AF65-F5344CB8AC3E}">
        <p14:creationId xmlns:p14="http://schemas.microsoft.com/office/powerpoint/2010/main" val="911180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3" name="Text 11"/>
          <p:cNvSpPr/>
          <p:nvPr/>
        </p:nvSpPr>
        <p:spPr>
          <a:xfrm>
            <a:off x="152696" y="7219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37773"/>
            <a:ext cx="11460480" cy="151795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639192" y="1615224"/>
                <a:ext cx="5007984"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5" name="Text 13"/>
              <p:cNvSpPr>
                <a:spLocks noRot="1" noChangeAspect="1" noMove="1" noResize="1" noEditPoints="1" noAdjustHandles="1" noChangeArrowheads="1" noChangeShapeType="1" noTextEdit="1"/>
              </p:cNvSpPr>
              <p:nvPr/>
            </p:nvSpPr>
            <p:spPr>
              <a:xfrm>
                <a:off x="639192" y="1615224"/>
                <a:ext cx="5007984" cy="548640"/>
              </a:xfrm>
              <a:prstGeom prst="rect">
                <a:avLst/>
              </a:prstGeom>
              <a:blipFill>
                <a:blip r:embed="rId2"/>
                <a:stretch>
                  <a:fillRect l="-122" t="-67778" b="-70000"/>
                </a:stretch>
              </a:blipFill>
              <a:ln/>
            </p:spPr>
            <p:txBody>
              <a:bodyPr/>
              <a:lstStyle/>
              <a:p>
                <a:r>
                  <a:rPr lang="es-AR">
                    <a:noFill/>
                  </a:rPr>
                  <a:t> </a:t>
                </a:r>
              </a:p>
            </p:txBody>
          </p:sp>
        </mc:Fallback>
      </mc:AlternateContent>
      <p:sp>
        <p:nvSpPr>
          <p:cNvPr id="16" name="Shape 14"/>
          <p:cNvSpPr/>
          <p:nvPr/>
        </p:nvSpPr>
        <p:spPr>
          <a:xfrm>
            <a:off x="381000" y="3477005"/>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514905" y="4098731"/>
                <a:ext cx="6155557"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514905" y="4098731"/>
                <a:ext cx="6155557" cy="548640"/>
              </a:xfrm>
              <a:prstGeom prst="rect">
                <a:avLst/>
              </a:prstGeom>
              <a:blipFill>
                <a:blip r:embed="rId3"/>
                <a:stretch>
                  <a:fillRect t="-78889" b="-8000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764641"/>
                <a:ext cx="11430000" cy="457200"/>
              </a:xfrm>
              <a:prstGeom prst="rect">
                <a:avLst/>
              </a:prstGeom>
              <a:noFill/>
              <a:ln/>
            </p:spPr>
            <p:txBody>
              <a:bodyPr wrap="square" rtlCol="0" anchor="t"/>
              <a:lstStyle/>
              <a:p>
                <a:r>
                  <a:rPr lang="en-US" sz="1200" i="1" dirty="0">
                    <a:latin typeface="Calibri" pitchFamily="34" charset="0"/>
                    <a:ea typeface="Calibri" pitchFamily="34" charset="-122"/>
                    <a:cs typeface="Calibri" pitchFamily="34" charset="-120"/>
                  </a:rPr>
                  <a:t>Nótese el acoplamiento cruzado entre ejes q y d a través de </a:t>
                </a:r>
                <a14:m>
                  <m:oMath xmlns:m="http://schemas.openxmlformats.org/officeDocument/2006/math">
                    <m:sSub>
                      <m:sSubPr>
                        <m:ctrlPr>
                          <a:rPr lang="es-AR" sz="9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m:t>
                        </m:r>
                      </m:e>
                      <m:sub>
                        <m:r>
                          <a:rPr lang="es-AR" sz="1200" b="0" i="1" smtClean="0">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900" i="1">
                            <a:latin typeface="Cambria Math" panose="02040503050406030204" pitchFamily="18" charset="0"/>
                            <a:ea typeface="Times New Roman" panose="02020603050405020304" pitchFamily="18" charset="0"/>
                          </a:rPr>
                        </m:ctrlPr>
                      </m:dPr>
                      <m:e>
                        <m:r>
                          <a:rPr lang="es-AR" sz="12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i="1" dirty="0">
                    <a:latin typeface="Calibri" pitchFamily="34" charset="0"/>
                    <a:ea typeface="Calibri" pitchFamily="34" charset="-122"/>
                    <a:cs typeface="Calibri" pitchFamily="34" charset="-120"/>
                  </a:rPr>
                  <a:t>. La resistencia </a:t>
                </a:r>
                <a14:m>
                  <m:oMath xmlns:m="http://schemas.openxmlformats.org/officeDocument/2006/math">
                    <m:sSub>
                      <m:sSubPr>
                        <m:ctrlPr>
                          <a:rPr lang="es-AR" sz="10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200" i="1" dirty="0">
                    <a:latin typeface="Calibri" pitchFamily="34" charset="0"/>
                    <a:ea typeface="Calibri" pitchFamily="34" charset="-122"/>
                    <a:cs typeface="Calibri" pitchFamily="34" charset="-120"/>
                  </a:rPr>
                  <a:t>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764641"/>
                <a:ext cx="11430000" cy="457200"/>
              </a:xfrm>
              <a:prstGeom prst="rect">
                <a:avLst/>
              </a:prstGeom>
              <a:blipFill>
                <a:blip r:embed="rId4"/>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 5">
                <a:extLst>
                  <a:ext uri="{FF2B5EF4-FFF2-40B4-BE49-F238E27FC236}">
                    <a16:creationId xmlns:a16="http://schemas.microsoft.com/office/drawing/2014/main" id="{1E87B317-5267-44EA-9CD2-BA0AA07589B3}"/>
                  </a:ext>
                </a:extLst>
              </p:cNvPr>
              <p:cNvSpPr/>
              <p:nvPr/>
            </p:nvSpPr>
            <p:spPr>
              <a:xfrm>
                <a:off x="274320" y="3149839"/>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corrientes y aplicando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400" dirty="0">
                    <a:solidFill>
                      <a:srgbClr val="111111"/>
                    </a:solidFill>
                    <a:latin typeface="Calibri" pitchFamily="34" charset="0"/>
                    <a:ea typeface="Calibri" pitchFamily="34" charset="-122"/>
                    <a:cs typeface="Calibri" pitchFamily="34" charset="-120"/>
                  </a:rPr>
                  <a:t> ≡ 0 (neutro flotante):</a:t>
                </a:r>
                <a:endParaRPr lang="en-US" sz="1400" dirty="0"/>
              </a:p>
            </p:txBody>
          </p:sp>
        </mc:Choice>
        <mc:Fallback xmlns="">
          <p:sp>
            <p:nvSpPr>
              <p:cNvPr id="24" name="Text 5">
                <a:extLst>
                  <a:ext uri="{FF2B5EF4-FFF2-40B4-BE49-F238E27FC236}">
                    <a16:creationId xmlns:a16="http://schemas.microsoft.com/office/drawing/2014/main" id="{1E87B317-5267-44EA-9CD2-BA0AA07589B3}"/>
                  </a:ext>
                </a:extLst>
              </p:cNvPr>
              <p:cNvSpPr>
                <a:spLocks noRot="1" noChangeAspect="1" noMove="1" noResize="1" noEditPoints="1" noAdjustHandles="1" noChangeArrowheads="1" noChangeShapeType="1" noTextEdit="1"/>
              </p:cNvSpPr>
              <p:nvPr/>
            </p:nvSpPr>
            <p:spPr>
              <a:xfrm>
                <a:off x="274320" y="3149839"/>
                <a:ext cx="11430000" cy="457200"/>
              </a:xfrm>
              <a:prstGeom prst="rect">
                <a:avLst/>
              </a:prstGeom>
              <a:blipFill>
                <a:blip r:embed="rId5"/>
                <a:stretch>
                  <a:fillRect l="-160" t="-2667"/>
                </a:stretch>
              </a:blipFill>
              <a:ln/>
            </p:spPr>
            <p:txBody>
              <a:bodyPr/>
              <a:lstStyle/>
              <a:p>
                <a:r>
                  <a:rPr lang="es-AR">
                    <a:noFill/>
                  </a:rPr>
                  <a:t> </a:t>
                </a:r>
              </a:p>
            </p:txBody>
          </p:sp>
        </mc:Fallback>
      </mc:AlternateContent>
      <p:sp>
        <p:nvSpPr>
          <p:cNvPr id="25" name="Text 10">
            <a:extLst>
              <a:ext uri="{FF2B5EF4-FFF2-40B4-BE49-F238E27FC236}">
                <a16:creationId xmlns:a16="http://schemas.microsoft.com/office/drawing/2014/main" id="{C0D6C996-7D83-4288-B527-2A4E55EA4457}"/>
              </a:ext>
            </a:extLst>
          </p:cNvPr>
          <p:cNvSpPr/>
          <p:nvPr/>
        </p:nvSpPr>
        <p:spPr>
          <a:xfrm>
            <a:off x="274320" y="53175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mc:AlternateContent xmlns:mc="http://schemas.openxmlformats.org/markup-compatibility/2006" xmlns:a14="http://schemas.microsoft.com/office/drawing/2010/main">
        <mc:Choice Requires="a14">
          <p:sp>
            <p:nvSpPr>
              <p:cNvPr id="26" name="Text 13">
                <a:extLst>
                  <a:ext uri="{FF2B5EF4-FFF2-40B4-BE49-F238E27FC236}">
                    <a16:creationId xmlns:a16="http://schemas.microsoft.com/office/drawing/2014/main" id="{12E79842-49C7-463E-B87B-0AD84247764F}"/>
                  </a:ext>
                </a:extLst>
              </p:cNvPr>
              <p:cNvSpPr/>
              <p:nvPr/>
            </p:nvSpPr>
            <p:spPr>
              <a:xfrm>
                <a:off x="365760" y="5602662"/>
                <a:ext cx="11430000" cy="346745"/>
              </a:xfrm>
              <a:prstGeom prst="rect">
                <a:avLst/>
              </a:prstGeom>
              <a:noFill/>
              <a:ln/>
            </p:spPr>
            <p:txBody>
              <a:bodyPr wrap="square" rtlCol="0" anchor="t"/>
              <a:lstStyle/>
              <a:p>
                <a:r>
                  <a:rPr lang="es-AR" sz="1400" dirty="0">
                    <a:solidFill>
                      <a:srgbClr val="111111"/>
                    </a:solidFill>
                    <a:latin typeface="Calibri" pitchFamily="34" charset="0"/>
                    <a:cs typeface="Calibri" pitchFamily="34" charset="-120"/>
                  </a:rPr>
                  <a:t>Para el PMSM con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oMath>
                </a14:m>
                <a:r>
                  <a:rPr lang="es-AR" sz="1400" dirty="0">
                    <a:solidFill>
                      <a:srgbClr val="111111"/>
                    </a:solidFill>
                    <a:latin typeface="Calibri" pitchFamily="34" charset="0"/>
                    <a:cs typeface="Calibri" pitchFamily="34" charset="-120"/>
                  </a:rPr>
                  <a:t> ≈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oMath>
                </a14:m>
                <a:r>
                  <a:rPr lang="es-AR" sz="1400" dirty="0">
                    <a:solidFill>
                      <a:srgbClr val="111111"/>
                    </a:solidFill>
                    <a:latin typeface="Calibri" pitchFamily="34" charset="0"/>
                    <a:cs typeface="Calibri" pitchFamily="34" charset="-120"/>
                  </a:rPr>
                  <a:t>, el torque depende principalmente de </a:t>
                </a:r>
                <a14:m>
                  <m:oMath xmlns:m="http://schemas.openxmlformats.org/officeDocument/2006/math">
                    <m:sSubSup>
                      <m:sSubSupPr>
                        <m:ctrlPr>
                          <a:rPr lang="es-AR" sz="1000" i="1" smtClean="0">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(torque de imanes). El término </a:t>
                </a:r>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000" i="1">
                            <a:latin typeface="Cambria Math" panose="02040503050406030204" pitchFamily="18" charset="0"/>
                            <a:ea typeface="Times New Roman" panose="02020603050405020304" pitchFamily="18" charset="0"/>
                          </a:rPr>
                        </m:ctrlPr>
                      </m:sSubSupPr>
                      <m:e>
                        <m:r>
                          <a:rPr lang="es-AR" sz="1400" i="1">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latin typeface="Cambria Math" panose="02040503050406030204" pitchFamily="18" charset="0"/>
                            <a:ea typeface="Times New Roman" panose="02020603050405020304" pitchFamily="18" charset="0"/>
                          </a:rPr>
                        </m:ctrlPr>
                      </m:dPr>
                      <m:e>
                        <m:r>
                          <a:rPr lang="es-AR" sz="14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es el torque de reluctancia.</a:t>
                </a:r>
              </a:p>
            </p:txBody>
          </p:sp>
        </mc:Choice>
        <mc:Fallback xmlns="">
          <p:sp>
            <p:nvSpPr>
              <p:cNvPr id="26" name="Text 13">
                <a:extLst>
                  <a:ext uri="{FF2B5EF4-FFF2-40B4-BE49-F238E27FC236}">
                    <a16:creationId xmlns:a16="http://schemas.microsoft.com/office/drawing/2014/main" id="{12E79842-49C7-463E-B87B-0AD84247764F}"/>
                  </a:ext>
                </a:extLst>
              </p:cNvPr>
              <p:cNvSpPr>
                <a:spLocks noRot="1" noChangeAspect="1" noMove="1" noResize="1" noEditPoints="1" noAdjustHandles="1" noChangeArrowheads="1" noChangeShapeType="1" noTextEdit="1"/>
              </p:cNvSpPr>
              <p:nvPr/>
            </p:nvSpPr>
            <p:spPr>
              <a:xfrm>
                <a:off x="365760" y="5602662"/>
                <a:ext cx="11430000" cy="346745"/>
              </a:xfrm>
              <a:prstGeom prst="rect">
                <a:avLst/>
              </a:prstGeom>
              <a:blipFill>
                <a:blip r:embed="rId6"/>
                <a:stretch>
                  <a:fillRect l="-160" b="-1228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9"/>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59646BFE-5B29-4924-BE61-8E62C94BCF85}"/>
              </a:ext>
            </a:extLst>
          </p:cNvPr>
          <p:cNvSpPr txBox="1"/>
          <p:nvPr/>
        </p:nvSpPr>
        <p:spPr>
          <a:xfrm>
            <a:off x="152696" y="144518"/>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4 — Diagrama de bloques Simulink del subsistema electromagnético</a:t>
            </a:r>
            <a:endParaRPr lang="es-AR"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74320" y="806712"/>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274320" y="145839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1872740"/>
            <a:ext cx="1144524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78280" y="1851851"/>
                <a:ext cx="8961120" cy="566928"/>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600" i="1">
                              <a:effectLst/>
                              <a:latin typeface="Cambria Math" panose="02040503050406030204" pitchFamily="18" charset="0"/>
                            </a:rPr>
                          </m:ctrlPr>
                        </m:sSubPr>
                        <m:e>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600" dirty="0"/>
              </a:p>
            </p:txBody>
          </p:sp>
        </mc:Choice>
        <mc:Fallback xmlns="">
          <p:sp>
            <p:nvSpPr>
              <p:cNvPr id="10" name="Text 8"/>
              <p:cNvSpPr>
                <a:spLocks noRot="1" noChangeAspect="1" noMove="1" noResize="1" noEditPoints="1" noAdjustHandles="1" noChangeArrowheads="1" noChangeShapeType="1" noTextEdit="1"/>
              </p:cNvSpPr>
              <p:nvPr/>
            </p:nvSpPr>
            <p:spPr>
              <a:xfrm>
                <a:off x="1478280" y="1851851"/>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289560" y="2566725"/>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65760" y="4040006"/>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472440" y="4104014"/>
                <a:ext cx="11247120" cy="62179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472440" y="4104014"/>
                <a:ext cx="11247120" cy="621792"/>
              </a:xfrm>
              <a:prstGeom prst="rect">
                <a:avLst/>
              </a:prstGeom>
              <a:blipFill>
                <a:blip r:embed="rId3"/>
                <a:stretch>
                  <a:fillRect/>
                </a:stretch>
              </a:blipFill>
              <a:ln/>
            </p:spPr>
            <p:txBody>
              <a:bodyPr/>
              <a:lstStyle/>
              <a:p>
                <a:r>
                  <a:rPr lang="es-AR">
                    <a:noFill/>
                  </a:rPr>
                  <a:t> </a:t>
                </a:r>
              </a:p>
            </p:txBody>
          </p:sp>
        </mc:Fallback>
      </mc:AlternateContent>
      <p:sp>
        <p:nvSpPr>
          <p:cNvPr id="14" name="Text 12"/>
          <p:cNvSpPr/>
          <p:nvPr/>
        </p:nvSpPr>
        <p:spPr>
          <a:xfrm>
            <a:off x="213360" y="4937760"/>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213360" y="5321808"/>
                <a:ext cx="11430000" cy="1179576"/>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≈0.818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≈146.7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−15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≤40°</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213360" y="5321808"/>
                <a:ext cx="11430000" cy="1179576"/>
              </a:xfrm>
              <a:prstGeom prst="rect">
                <a:avLst/>
              </a:prstGeom>
              <a:blipFill>
                <a:blip r:embed="rId4"/>
                <a:stretch>
                  <a:fillRect l="-160" t="-24742"/>
                </a:stretch>
              </a:blipFill>
              <a:ln/>
            </p:spPr>
            <p:txBody>
              <a:bodyPr/>
              <a:lstStyle/>
              <a:p>
                <a:r>
                  <a:rPr lang="es-AR">
                    <a:noFill/>
                  </a:rPr>
                  <a:t> </a:t>
                </a:r>
              </a:p>
            </p:txBody>
          </p:sp>
        </mc:Fallback>
      </mc:AlternateContent>
      <p:sp>
        <p:nvSpPr>
          <p:cNvPr id="16" name="Shape 10">
            <a:extLst>
              <a:ext uri="{FF2B5EF4-FFF2-40B4-BE49-F238E27FC236}">
                <a16:creationId xmlns:a16="http://schemas.microsoft.com/office/drawing/2014/main" id="{3801E66D-3CD5-4C4D-9C96-0DDF4563177B}"/>
              </a:ext>
            </a:extLst>
          </p:cNvPr>
          <p:cNvSpPr/>
          <p:nvPr/>
        </p:nvSpPr>
        <p:spPr>
          <a:xfrm>
            <a:off x="365760" y="2948529"/>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1">
                <a:extLst>
                  <a:ext uri="{FF2B5EF4-FFF2-40B4-BE49-F238E27FC236}">
                    <a16:creationId xmlns:a16="http://schemas.microsoft.com/office/drawing/2014/main" id="{2C5B11D9-002E-4394-98EC-B6421BAAA077}"/>
                  </a:ext>
                </a:extLst>
              </p:cNvPr>
              <p:cNvSpPr/>
              <p:nvPr/>
            </p:nvSpPr>
            <p:spPr>
              <a:xfrm>
                <a:off x="472440" y="3012537"/>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𝑠</m:t>
                          </m:r>
                          <m:r>
                            <a:rPr lang="es-AR" sz="1600" i="1">
                              <a:latin typeface="Cambria Math" panose="02040503050406030204" pitchFamily="18" charset="0"/>
                            </a:rPr>
                            <m:t>,</m:t>
                          </m:r>
                          <m:r>
                            <a:rPr lang="es-AR" sz="1600" i="1">
                              <a:latin typeface="Cambria Math" panose="02040503050406030204" pitchFamily="18" charset="0"/>
                            </a:rPr>
                            <m:t>𝑝𝑒𝑟𝑑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r>
                        <a:rPr lang="es-AR" sz="1600" i="1">
                          <a:latin typeface="Cambria Math" panose="02040503050406030204" pitchFamily="18" charset="0"/>
                        </a:rPr>
                        <m:t>·</m:t>
                      </m:r>
                      <m:f>
                        <m:fPr>
                          <m:ctrlPr>
                            <a:rPr lang="es-AR" sz="1600" i="1">
                              <a:latin typeface="Cambria Math" panose="02040503050406030204" pitchFamily="18" charset="0"/>
                            </a:rPr>
                          </m:ctrlPr>
                        </m:fPr>
                        <m:num>
                          <m:sSubSup>
                            <m:sSubSupPr>
                              <m:ctrlPr>
                                <a:rPr lang="es-AR" sz="1600" i="1">
                                  <a:latin typeface="Cambria Math" panose="02040503050406030204" pitchFamily="18" charset="0"/>
                                </a:rPr>
                              </m:ctrlPr>
                            </m:sSubSupPr>
                            <m:e>
                              <m:r>
                                <a:rPr lang="es-AR" sz="1600" i="1">
                                  <a:latin typeface="Cambria Math" panose="02040503050406030204" pitchFamily="18" charset="0"/>
                                </a:rPr>
                                <m:t>𝑑𝑇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oMath>
                  </m:oMathPara>
                </a14:m>
                <a:endParaRPr lang="en-US" sz="1050" dirty="0"/>
              </a:p>
            </p:txBody>
          </p:sp>
        </mc:Choice>
        <mc:Fallback xmlns="">
          <p:sp>
            <p:nvSpPr>
              <p:cNvPr id="17" name="Text 11">
                <a:extLst>
                  <a:ext uri="{FF2B5EF4-FFF2-40B4-BE49-F238E27FC236}">
                    <a16:creationId xmlns:a16="http://schemas.microsoft.com/office/drawing/2014/main" id="{2C5B11D9-002E-4394-98EC-B6421BAAA077}"/>
                  </a:ext>
                </a:extLst>
              </p:cNvPr>
              <p:cNvSpPr>
                <a:spLocks noRot="1" noChangeAspect="1" noMove="1" noResize="1" noEditPoints="1" noAdjustHandles="1" noChangeArrowheads="1" noChangeShapeType="1" noTextEdit="1"/>
              </p:cNvSpPr>
              <p:nvPr/>
            </p:nvSpPr>
            <p:spPr>
              <a:xfrm>
                <a:off x="472440" y="3012537"/>
                <a:ext cx="11247120" cy="621792"/>
              </a:xfrm>
              <a:prstGeom prst="rect">
                <a:avLst/>
              </a:prstGeom>
              <a:blipFill>
                <a:blip r:embed="rId5"/>
                <a:stretch>
                  <a:fillRect/>
                </a:stretch>
              </a:blipFill>
              <a:ln/>
            </p:spPr>
            <p:txBody>
              <a:bodyPr/>
              <a:lstStyle/>
              <a:p>
                <a:r>
                  <a:rPr lang="es-AR">
                    <a:noFill/>
                  </a:rPr>
                  <a:t> </a:t>
                </a:r>
              </a:p>
            </p:txBody>
          </p:sp>
        </mc:Fallback>
      </mc:AlternateContent>
      <p:sp>
        <p:nvSpPr>
          <p:cNvPr id="18" name="Text 9">
            <a:extLst>
              <a:ext uri="{FF2B5EF4-FFF2-40B4-BE49-F238E27FC236}">
                <a16:creationId xmlns:a16="http://schemas.microsoft.com/office/drawing/2014/main" id="{6C1EDED8-B4EA-45BE-97E9-29BA3BEC0B58}"/>
              </a:ext>
            </a:extLst>
          </p:cNvPr>
          <p:cNvSpPr/>
          <p:nvPr/>
        </p:nvSpPr>
        <p:spPr>
          <a:xfrm>
            <a:off x="365760" y="3721945"/>
            <a:ext cx="11430000" cy="47548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Igualando</a:t>
            </a:r>
            <a:r>
              <a:rPr lang="en-US" sz="1300" dirty="0">
                <a:solidFill>
                  <a:srgbClr val="111111"/>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0583475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Inversor</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trifásico</a:t>
            </a:r>
            <a:r>
              <a:rPr lang="en-US" sz="1900" b="1" dirty="0">
                <a:solidFill>
                  <a:srgbClr val="FFFFFF"/>
                </a:solidFill>
                <a:latin typeface="Calibri" pitchFamily="34" charset="0"/>
                <a:ea typeface="Calibri" pitchFamily="34" charset="-122"/>
                <a:cs typeface="Calibri" pitchFamily="34" charset="-120"/>
              </a:rPr>
              <a:t> y </a:t>
            </a:r>
            <a:r>
              <a:rPr lang="en-US" sz="1900" b="1" dirty="0" err="1">
                <a:solidFill>
                  <a:srgbClr val="FFFFFF"/>
                </a:solidFill>
                <a:latin typeface="Calibri" pitchFamily="34" charset="0"/>
                <a:ea typeface="Calibri" pitchFamily="34" charset="-122"/>
                <a:cs typeface="Calibri" pitchFamily="34" charset="-120"/>
              </a:rPr>
              <a:t>sensores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13360" y="717804"/>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Inversor trifásico (modelo promediado):</a:t>
            </a:r>
            <a:endParaRPr lang="en-US" sz="1600" dirty="0"/>
          </a:p>
        </p:txBody>
      </p:sp>
      <mc:AlternateContent xmlns:mc="http://schemas.openxmlformats.org/markup-compatibility/2006" xmlns:a14="http://schemas.microsoft.com/office/drawing/2010/main">
        <mc:Choice Requires="a14">
          <p:sp>
            <p:nvSpPr>
              <p:cNvPr id="8" name="Text 6"/>
              <p:cNvSpPr/>
              <p:nvPr/>
            </p:nvSpPr>
            <p:spPr>
              <a:xfrm>
                <a:off x="168380" y="1136320"/>
                <a:ext cx="1161288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168380" y="1136320"/>
                <a:ext cx="11612880" cy="777240"/>
              </a:xfrm>
              <a:prstGeom prst="rect">
                <a:avLst/>
              </a:prstGeom>
              <a:blipFill>
                <a:blip r:embed="rId2"/>
                <a:stretch>
                  <a:fillRect l="-52"/>
                </a:stretch>
              </a:blipFill>
              <a:ln/>
            </p:spPr>
            <p:txBody>
              <a:bodyPr/>
              <a:lstStyle/>
              <a:p>
                <a:r>
                  <a:rPr lang="es-AR">
                    <a:noFill/>
                  </a:rPr>
                  <a:t> </a:t>
                </a:r>
              </a:p>
            </p:txBody>
          </p:sp>
        </mc:Fallback>
      </mc:AlternateContent>
      <p:sp>
        <p:nvSpPr>
          <p:cNvPr id="16" name="Shape 7">
            <a:extLst>
              <a:ext uri="{FF2B5EF4-FFF2-40B4-BE49-F238E27FC236}">
                <a16:creationId xmlns:a16="http://schemas.microsoft.com/office/drawing/2014/main" id="{A03BEA2F-A2B3-4DCD-9E0D-A5E8DED4A719}"/>
              </a:ext>
            </a:extLst>
          </p:cNvPr>
          <p:cNvSpPr/>
          <p:nvPr/>
        </p:nvSpPr>
        <p:spPr>
          <a:xfrm>
            <a:off x="213360" y="1643035"/>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8">
                <a:extLst>
                  <a:ext uri="{FF2B5EF4-FFF2-40B4-BE49-F238E27FC236}">
                    <a16:creationId xmlns:a16="http://schemas.microsoft.com/office/drawing/2014/main" id="{0EDBDC51-0DF1-4A2A-AD84-8D4288D029B3}"/>
                  </a:ext>
                </a:extLst>
              </p:cNvPr>
              <p:cNvSpPr/>
              <p:nvPr/>
            </p:nvSpPr>
            <p:spPr>
              <a:xfrm>
                <a:off x="-675591" y="1591722"/>
                <a:ext cx="9952756" cy="566928"/>
              </a:xfrm>
              <a:prstGeom prst="rect">
                <a:avLst/>
              </a:prstGeom>
              <a:noFill/>
              <a:ln/>
            </p:spPr>
            <p:txBody>
              <a:bodyPr wrap="square" rtlCol="0" anchor="ctr"/>
              <a:lstStyle/>
              <a:p>
                <a:pPr algn="ct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𝑎𝑠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b="0" i="1" smtClean="0">
                                    <a:latin typeface="Cambria Math" panose="02040503050406030204" pitchFamily="18" charset="0"/>
                                  </a:rPr>
                                  <m:t>𝑒</m:t>
                                </m:r>
                                <m:r>
                                  <a:rPr lang="es-AR" sz="1400" i="1">
                                    <a:latin typeface="Cambria Math" panose="02040503050406030204" pitchFamily="18" charset="0"/>
                                  </a:rPr>
                                  <m:t>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𝑏𝑠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MX"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𝑐𝑠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4</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endParaRPr lang="en-US" sz="1400" dirty="0"/>
              </a:p>
            </p:txBody>
          </p:sp>
        </mc:Choice>
        <mc:Fallback xmlns="">
          <p:sp>
            <p:nvSpPr>
              <p:cNvPr id="19" name="Text 8">
                <a:extLst>
                  <a:ext uri="{FF2B5EF4-FFF2-40B4-BE49-F238E27FC236}">
                    <a16:creationId xmlns:a16="http://schemas.microsoft.com/office/drawing/2014/main" id="{0EDBDC51-0DF1-4A2A-AD84-8D4288D029B3}"/>
                  </a:ext>
                </a:extLst>
              </p:cNvPr>
              <p:cNvSpPr>
                <a:spLocks noRot="1" noChangeAspect="1" noMove="1" noResize="1" noEditPoints="1" noAdjustHandles="1" noChangeArrowheads="1" noChangeShapeType="1" noTextEdit="1"/>
              </p:cNvSpPr>
              <p:nvPr/>
            </p:nvSpPr>
            <p:spPr>
              <a:xfrm>
                <a:off x="-675591" y="1591722"/>
                <a:ext cx="9952756" cy="566928"/>
              </a:xfrm>
              <a:prstGeom prst="rect">
                <a:avLst/>
              </a:prstGeom>
              <a:blipFill>
                <a:blip r:embed="rId3"/>
                <a:stretch>
                  <a:fillRect/>
                </a:stretch>
              </a:blipFill>
              <a:ln/>
            </p:spPr>
            <p:txBody>
              <a:bodyPr/>
              <a:lstStyle/>
              <a:p>
                <a:r>
                  <a:rPr lang="es-AR">
                    <a:noFill/>
                  </a:rPr>
                  <a:t> </a:t>
                </a:r>
              </a:p>
            </p:txBody>
          </p:sp>
        </mc:Fallback>
      </mc:AlternateContent>
      <p:sp>
        <p:nvSpPr>
          <p:cNvPr id="20" name="Shape 7">
            <a:extLst>
              <a:ext uri="{FF2B5EF4-FFF2-40B4-BE49-F238E27FC236}">
                <a16:creationId xmlns:a16="http://schemas.microsoft.com/office/drawing/2014/main" id="{D3DC9DBE-C90E-473D-81B4-083F1E247E8F}"/>
              </a:ext>
            </a:extLst>
          </p:cNvPr>
          <p:cNvSpPr/>
          <p:nvPr/>
        </p:nvSpPr>
        <p:spPr>
          <a:xfrm>
            <a:off x="213360" y="2392976"/>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8">
                <a:extLst>
                  <a:ext uri="{FF2B5EF4-FFF2-40B4-BE49-F238E27FC236}">
                    <a16:creationId xmlns:a16="http://schemas.microsoft.com/office/drawing/2014/main" id="{F62D270F-4021-4CDA-B12A-6BF5F3C0189C}"/>
                  </a:ext>
                </a:extLst>
              </p:cNvPr>
              <p:cNvSpPr/>
              <p:nvPr/>
            </p:nvSpPr>
            <p:spPr>
              <a:xfrm>
                <a:off x="0" y="2368962"/>
                <a:ext cx="5496757"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i="1">
                          <a:latin typeface="Cambria Math" panose="02040503050406030204" pitchFamily="18" charset="0"/>
                        </a:rPr>
                        <m:t>𝜋</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nary>
                        <m:naryPr>
                          <m:ctrlPr>
                            <a:rPr lang="es-AR" sz="1400" i="1">
                              <a:latin typeface="Cambria Math" panose="02040503050406030204" pitchFamily="18" charset="0"/>
                            </a:rPr>
                          </m:ctrlPr>
                        </m:naryPr>
                        <m:sub>
                          <m:r>
                            <a:rPr lang="es-AR" sz="1400" i="1">
                              <a:latin typeface="Cambria Math" panose="02040503050406030204" pitchFamily="18" charset="0"/>
                            </a:rPr>
                            <m:t>0</m:t>
                          </m:r>
                        </m:sub>
                        <m:sup>
                          <m:r>
                            <a:rPr lang="es-AR" sz="1400" i="1">
                              <a:latin typeface="Cambria Math" panose="02040503050406030204" pitchFamily="18" charset="0"/>
                            </a:rPr>
                            <m:t>𝑡</m:t>
                          </m:r>
                        </m:sup>
                        <m:e>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𝜉</m:t>
                              </m:r>
                            </m:e>
                          </m:d>
                        </m:e>
                      </m:nary>
                      <m:r>
                        <a:rPr lang="es-AR" sz="1400" i="1">
                          <a:latin typeface="Cambria Math" panose="02040503050406030204" pitchFamily="18" charset="0"/>
                        </a:rPr>
                        <m:t> </m:t>
                      </m:r>
                      <m:r>
                        <a:rPr lang="es-AR" sz="1400" i="1">
                          <a:latin typeface="Cambria Math" panose="02040503050406030204" pitchFamily="18" charset="0"/>
                        </a:rPr>
                        <m:t>𝑑</m:t>
                      </m:r>
                      <m:r>
                        <a:rPr lang="es-AR" sz="1400" i="1">
                          <a:latin typeface="Cambria Math" panose="02040503050406030204" pitchFamily="18" charset="0"/>
                        </a:rPr>
                        <m:t>𝜉</m:t>
                      </m:r>
                    </m:oMath>
                  </m:oMathPara>
                </a14:m>
                <a:endParaRPr lang="en-US" sz="1400" dirty="0"/>
              </a:p>
            </p:txBody>
          </p:sp>
        </mc:Choice>
        <mc:Fallback xmlns="">
          <p:sp>
            <p:nvSpPr>
              <p:cNvPr id="21" name="Text 8">
                <a:extLst>
                  <a:ext uri="{FF2B5EF4-FFF2-40B4-BE49-F238E27FC236}">
                    <a16:creationId xmlns:a16="http://schemas.microsoft.com/office/drawing/2014/main" id="{F62D270F-4021-4CDA-B12A-6BF5F3C0189C}"/>
                  </a:ext>
                </a:extLst>
              </p:cNvPr>
              <p:cNvSpPr>
                <a:spLocks noRot="1" noChangeAspect="1" noMove="1" noResize="1" noEditPoints="1" noAdjustHandles="1" noChangeArrowheads="1" noChangeShapeType="1" noTextEdit="1"/>
              </p:cNvSpPr>
              <p:nvPr/>
            </p:nvSpPr>
            <p:spPr>
              <a:xfrm>
                <a:off x="0" y="2368962"/>
                <a:ext cx="5496757" cy="566928"/>
              </a:xfrm>
              <a:prstGeom prst="rect">
                <a:avLst/>
              </a:prstGeom>
              <a:blipFill>
                <a:blip r:embed="rId4"/>
                <a:stretch>
                  <a:fillRect t="-147312" b="-2204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D6D6003-48B9-48F6-9C9C-39A88D4D7ED9}"/>
                  </a:ext>
                </a:extLst>
              </p:cNvPr>
              <p:cNvSpPr txBox="1"/>
              <p:nvPr/>
            </p:nvSpPr>
            <p:spPr>
              <a:xfrm>
                <a:off x="213360" y="3307578"/>
                <a:ext cx="11522920" cy="312073"/>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Parámetros variables: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𝑒</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𝜋</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pueden variarse a voluntad, dentro de ciertos límites, a partir del control por PWM.</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AD6D6003-48B9-48F6-9C9C-39A88D4D7ED9}"/>
                  </a:ext>
                </a:extLst>
              </p:cNvPr>
              <p:cNvSpPr txBox="1">
                <a:spLocks noRot="1" noChangeAspect="1" noMove="1" noResize="1" noEditPoints="1" noAdjustHandles="1" noChangeArrowheads="1" noChangeShapeType="1" noTextEdit="1"/>
              </p:cNvSpPr>
              <p:nvPr/>
            </p:nvSpPr>
            <p:spPr>
              <a:xfrm>
                <a:off x="213360" y="3307578"/>
                <a:ext cx="11522920" cy="312073"/>
              </a:xfrm>
              <a:prstGeom prst="rect">
                <a:avLst/>
              </a:prstGeom>
              <a:blipFill>
                <a:blip r:embed="rId5"/>
                <a:stretch>
                  <a:fillRect l="-159" t="-1961" b="-19608"/>
                </a:stretch>
              </a:blipFill>
            </p:spPr>
            <p:txBody>
              <a:bodyPr/>
              <a:lstStyle/>
              <a:p>
                <a:r>
                  <a:rPr lang="es-AR">
                    <a:noFill/>
                  </a:rPr>
                  <a:t> </a:t>
                </a:r>
              </a:p>
            </p:txBody>
          </p:sp>
        </mc:Fallback>
      </mc:AlternateContent>
      <p:sp>
        <p:nvSpPr>
          <p:cNvPr id="25" name="Text 7">
            <a:extLst>
              <a:ext uri="{FF2B5EF4-FFF2-40B4-BE49-F238E27FC236}">
                <a16:creationId xmlns:a16="http://schemas.microsoft.com/office/drawing/2014/main" id="{E1179467-0D33-489B-83FB-C8099C435821}"/>
              </a:ext>
            </a:extLst>
          </p:cNvPr>
          <p:cNvSpPr/>
          <p:nvPr/>
        </p:nvSpPr>
        <p:spPr>
          <a:xfrm>
            <a:off x="213360" y="4033505"/>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Sensores (inicialmente ideales):</a:t>
            </a:r>
            <a:endParaRPr lang="en-US" sz="1600" dirty="0"/>
          </a:p>
        </p:txBody>
      </p:sp>
      <mc:AlternateContent xmlns:mc="http://schemas.openxmlformats.org/markup-compatibility/2006" xmlns:a14="http://schemas.microsoft.com/office/drawing/2010/main">
        <mc:Choice Requires="a14">
          <p:sp>
            <p:nvSpPr>
              <p:cNvPr id="26" name="Text 8">
                <a:extLst>
                  <a:ext uri="{FF2B5EF4-FFF2-40B4-BE49-F238E27FC236}">
                    <a16:creationId xmlns:a16="http://schemas.microsoft.com/office/drawing/2014/main" id="{DEEEDBF9-B6DE-46B6-B15C-6D0BCE210AF8}"/>
                  </a:ext>
                </a:extLst>
              </p:cNvPr>
              <p:cNvSpPr/>
              <p:nvPr/>
            </p:nvSpPr>
            <p:spPr>
              <a:xfrm>
                <a:off x="213360" y="4444985"/>
                <a:ext cx="5486400" cy="155448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absoluta, multi-vuelta</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en salida del inversor</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embebido en bobinado</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≡1 </m:t>
                    </m:r>
                  </m:oMath>
                </a14:m>
                <a:r>
                  <a:rPr lang="en-US" sz="1400" dirty="0">
                    <a:solidFill>
                      <a:srgbClr val="111111"/>
                    </a:solidFill>
                    <a:latin typeface="Calibri" pitchFamily="34" charset="0"/>
                    <a:ea typeface="Calibri" pitchFamily="34" charset="-122"/>
                    <a:cs typeface="Calibri" pitchFamily="34" charset="-120"/>
                  </a:rPr>
                  <a:t>(ganancia unitaria, BW infinito)</a:t>
                </a:r>
                <a:endParaRPr lang="en-US" sz="1400" dirty="0"/>
              </a:p>
            </p:txBody>
          </p:sp>
        </mc:Choice>
        <mc:Fallback xmlns="">
          <p:sp>
            <p:nvSpPr>
              <p:cNvPr id="26" name="Text 8">
                <a:extLst>
                  <a:ext uri="{FF2B5EF4-FFF2-40B4-BE49-F238E27FC236}">
                    <a16:creationId xmlns:a16="http://schemas.microsoft.com/office/drawing/2014/main" id="{DEEEDBF9-B6DE-46B6-B15C-6D0BCE210AF8}"/>
                  </a:ext>
                </a:extLst>
              </p:cNvPr>
              <p:cNvSpPr>
                <a:spLocks noRot="1" noChangeAspect="1" noMove="1" noResize="1" noEditPoints="1" noAdjustHandles="1" noChangeArrowheads="1" noChangeShapeType="1" noTextEdit="1"/>
              </p:cNvSpPr>
              <p:nvPr/>
            </p:nvSpPr>
            <p:spPr>
              <a:xfrm>
                <a:off x="213360" y="4444985"/>
                <a:ext cx="5486400" cy="1554480"/>
              </a:xfrm>
              <a:prstGeom prst="rect">
                <a:avLst/>
              </a:prstGeom>
              <a:blipFill>
                <a:blip r:embed="rId6"/>
                <a:stretch>
                  <a:fillRect l="-333" t="-1176"/>
                </a:stretch>
              </a:blipFill>
              <a:ln/>
            </p:spPr>
            <p:txBody>
              <a:bodyPr/>
              <a:lstStyle/>
              <a:p>
                <a:r>
                  <a:rPr lang="es-AR">
                    <a:noFill/>
                  </a:rPr>
                  <a:t> </a:t>
                </a:r>
              </a:p>
            </p:txBody>
          </p:sp>
        </mc:Fallback>
      </mc:AlternateContent>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831861"/>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406320"/>
                <a:ext cx="11018101" cy="3085781"/>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d>
                        <m:dPr>
                          <m:begChr m:val="{"/>
                          <m:endChr m:val=""/>
                          <m:ctrlPr>
                            <a:rPr lang="es-AR" sz="1500" i="1">
                              <a:latin typeface="Cambria Math" panose="02040503050406030204" pitchFamily="18" charset="0"/>
                            </a:rPr>
                          </m:ctrlPr>
                        </m:dPr>
                        <m:e>
                          <m:m>
                            <m:mPr>
                              <m:mcs>
                                <m:mc>
                                  <m:mcPr>
                                    <m:count m:val="1"/>
                                    <m:mcJc m:val="center"/>
                                  </m:mcPr>
                                </m:mc>
                              </m:mcs>
                              <m:ctrlPr>
                                <a:rPr lang="es-AR" sz="1500" i="1">
                                  <a:latin typeface="Cambria Math" panose="02040503050406030204" pitchFamily="18" charset="0"/>
                                </a:rPr>
                              </m:ctrlPr>
                            </m:mP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𝜃</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                                                                                                                                                                 </m:t>
                                </m:r>
                              </m:e>
                            </m:m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𝐽</m:t>
                                        </m:r>
                                      </m:e>
                                      <m:sub>
                                        <m:r>
                                          <a:rPr lang="es-AR" sz="1500" i="1">
                                            <a:latin typeface="Cambria Math" panose="02040503050406030204" pitchFamily="18" charset="0"/>
                                          </a:rPr>
                                          <m:t>𝑒𝑞</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𝑏</m:t>
                                        </m:r>
                                      </m:e>
                                      <m:sub>
                                        <m:r>
                                          <a:rPr lang="es-AR" sz="1500" i="1">
                                            <a:latin typeface="Cambria Math" panose="02040503050406030204" pitchFamily="18" charset="0"/>
                                          </a:rPr>
                                          <m:t>𝑒𝑞</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r>
                                          <a:rPr lang="es-AR" sz="1500" i="1">
                                            <a:latin typeface="Cambria Math" panose="02040503050406030204" pitchFamily="18" charset="0"/>
                                          </a:rPr>
                                          <m:t>𝑟</m:t>
                                        </m:r>
                                      </m:den>
                                    </m:f>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𝑙𝑑</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r>
                                          <a:rPr lang="es-AR" sz="1500" i="1">
                                            <a:latin typeface="Cambria Math" panose="02040503050406030204" pitchFamily="18" charset="0"/>
                                          </a:rPr>
                                          <m:t>𝑔</m:t>
                                        </m:r>
                                        <m:r>
                                          <a:rPr lang="es-AR" sz="1500" i="1">
                                            <a:latin typeface="Cambria Math" panose="02040503050406030204" pitchFamily="18" charset="0"/>
                                          </a:rPr>
                                          <m:t> </m:t>
                                        </m:r>
                                        <m:sSub>
                                          <m:sSubPr>
                                            <m:ctrlPr>
                                              <a:rPr lang="es-AR" sz="1500" i="1">
                                                <a:latin typeface="Cambria Math" panose="02040503050406030204" pitchFamily="18" charset="0"/>
                                              </a:rPr>
                                            </m:ctrlPr>
                                          </m:sSubPr>
                                          <m:e>
                                            <m:r>
                                              <a:rPr lang="es-AR" sz="1500" i="1">
                                                <a:latin typeface="Cambria Math" panose="02040503050406030204" pitchFamily="18" charset="0"/>
                                              </a:rPr>
                                              <m:t>𝑘</m:t>
                                            </m:r>
                                          </m:e>
                                          <m:sub>
                                            <m:r>
                                              <a:rPr lang="es-AR" sz="1500" i="1">
                                                <a:latin typeface="Cambria Math" panose="02040503050406030204" pitchFamily="18" charset="0"/>
                                              </a:rPr>
                                              <m:t>𝑙</m:t>
                                            </m:r>
                                          </m:sub>
                                        </m:sSub>
                                        <m:func>
                                          <m:funcPr>
                                            <m:ctrlPr>
                                              <a:rPr lang="es-AR" sz="1500" i="1">
                                                <a:latin typeface="Cambria Math" panose="02040503050406030204" pitchFamily="18" charset="0"/>
                                              </a:rPr>
                                            </m:ctrlPr>
                                          </m:funcPr>
                                          <m:fName>
                                            <m:r>
                                              <a:rPr lang="es-AR" sz="1500" i="1">
                                                <a:latin typeface="Cambria Math" panose="02040503050406030204" pitchFamily="18" charset="0"/>
                                              </a:rPr>
                                              <m:t>𝑠𝑖𝑛</m:t>
                                            </m:r>
                                          </m:fName>
                                          <m:e>
                                            <m:d>
                                              <m:dPr>
                                                <m:ctrlPr>
                                                  <a:rPr lang="es-AR" sz="1500" i="1">
                                                    <a:latin typeface="Cambria Math" panose="02040503050406030204" pitchFamily="18" charset="0"/>
                                                  </a:rPr>
                                                </m:ctrlPr>
                                              </m:dPr>
                                              <m:e>
                                                <m:f>
                                                  <m:fPr>
                                                    <m:ctrlPr>
                                                      <a:rPr lang="es-AR" sz="1500" i="1">
                                                        <a:latin typeface="Cambria Math" panose="02040503050406030204" pitchFamily="18" charset="0"/>
                                                      </a:rPr>
                                                    </m:ctrlPr>
                                                  </m:fPr>
                                                  <m:num>
                                                    <m:sSub>
                                                      <m:sSubPr>
                                                        <m:ctrlPr>
                                                          <a:rPr lang="es-AR" sz="1500" i="1">
                                                            <a:latin typeface="Cambria Math" panose="02040503050406030204" pitchFamily="18" charset="0"/>
                                                          </a:rPr>
                                                        </m:ctrlPr>
                                                      </m:sSubPr>
                                                      <m:e>
                                                        <m:r>
                                                          <a:rPr lang="es-AR" sz="1500" i="1">
                                                            <a:latin typeface="Cambria Math" panose="02040503050406030204" pitchFamily="18" charset="0"/>
                                                          </a:rPr>
                                                          <m:t>𝜃</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𝑟</m:t>
                                                    </m:r>
                                                  </m:den>
                                                </m:f>
                                              </m:e>
                                            </m:d>
                                          </m:e>
                                        </m:func>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𝑙𝑠</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𝐶</m:t>
                                                    </m:r>
                                                  </m:e>
                                                  <m:sub>
                                                    <m:r>
                                                      <a:rPr lang="es-AR" sz="1500" i="1">
                                                        <a:latin typeface="Cambria Math" panose="02040503050406030204" pitchFamily="18" charset="0"/>
                                                      </a:rPr>
                                                      <m:t>𝑡𝑠</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d>
                                                  <m:dPr>
                                                    <m:ctrlPr>
                                                      <a:rPr lang="es-AR" sz="1500" i="1">
                                                        <a:latin typeface="Cambria Math" panose="02040503050406030204" pitchFamily="18" charset="0"/>
                                                      </a:rPr>
                                                    </m:ctrlPr>
                                                  </m:dPr>
                                                  <m:e>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+2</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𝑡𝑠</m:t>
                                                        </m:r>
                                                        <m:r>
                                                          <a:rPr lang="es-AR" sz="1500" i="1">
                                                            <a:latin typeface="Cambria Math" panose="02040503050406030204" pitchFamily="18" charset="0"/>
                                                          </a:rPr>
                                                          <m:t>−</m:t>
                                                        </m:r>
                                                        <m:r>
                                                          <a:rPr lang="es-AR" sz="1500" i="1">
                                                            <a:latin typeface="Cambria Math" panose="02040503050406030204" pitchFamily="18" charset="0"/>
                                                          </a:rPr>
                                                          <m:t>𝑎𝑚𝑏</m:t>
                                                        </m:r>
                                                      </m:sub>
                                                    </m:sSub>
                                                  </m:den>
                                                </m:f>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Sup>
                                                      <m:sSubSupPr>
                                                        <m:ctrlPr>
                                                          <a:rPr lang="es-AR" sz="1500" i="1">
                                                            <a:latin typeface="Cambria Math" panose="02040503050406030204" pitchFamily="18" charset="0"/>
                                                          </a:rPr>
                                                        </m:ctrlPr>
                                                      </m:sSubSupPr>
                                                      <m:e>
                                                        <m:r>
                                                          <a:rPr lang="es-AR" sz="1500" i="1">
                                                            <a:latin typeface="Cambria Math" panose="02040503050406030204" pitchFamily="18" charset="0"/>
                                                          </a:rPr>
                                                          <m:t>−</m:t>
                                                        </m:r>
                                                        <m:r>
                                                          <a:rPr lang="es-AR" sz="1500" i="1">
                                                            <a:latin typeface="Cambria Math" panose="02040503050406030204" pitchFamily="18" charset="0"/>
                                                          </a:rPr>
                                                          <m:t>𝑇</m:t>
                                                        </m:r>
                                                      </m:e>
                                                      <m:sub>
                                                        <m:r>
                                                          <a:rPr lang="es-AR" sz="1500" i="1">
                                                            <a:latin typeface="Cambria Math" panose="02040503050406030204" pitchFamily="18" charset="0"/>
                                                          </a:rPr>
                                                          <m:t>𝑎𝑚𝑏</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e>
                                            </m:d>
                                            <m:r>
                                              <a:rPr lang="es-AR" sz="1500" i="1">
                                                <a:latin typeface="Cambria Math" panose="02040503050406030204" pitchFamily="18" charset="0"/>
                                              </a:rPr>
                                              <m:t>                               </m:t>
                                            </m:r>
                                          </m:e>
                                        </m:mr>
                                      </m:m>
                                    </m:e>
                                  </m:mr>
                                </m:m>
                              </m:e>
                            </m:mr>
                          </m:m>
                        </m:e>
                      </m:d>
                    </m:oMath>
                  </m:oMathPara>
                </a14:m>
                <a:endParaRPr lang="es-AR" sz="1500"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406320"/>
                <a:ext cx="11018101" cy="3085781"/>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 10">
                <a:extLst>
                  <a:ext uri="{FF2B5EF4-FFF2-40B4-BE49-F238E27FC236}">
                    <a16:creationId xmlns:a16="http://schemas.microsoft.com/office/drawing/2014/main" id="{8487B241-9AC0-49F2-B841-AFF136F1385B}"/>
                  </a:ext>
                </a:extLst>
              </p:cNvPr>
              <p:cNvSpPr/>
              <p:nvPr/>
            </p:nvSpPr>
            <p:spPr>
              <a:xfrm>
                <a:off x="260898" y="4586257"/>
                <a:ext cx="5486400" cy="1307592"/>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𝑙𝑑</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p>
            </p:txBody>
          </p:sp>
        </mc:Choice>
        <mc:Fallback xmlns="">
          <p:sp>
            <p:nvSpPr>
              <p:cNvPr id="9" name="Text 10">
                <a:extLst>
                  <a:ext uri="{FF2B5EF4-FFF2-40B4-BE49-F238E27FC236}">
                    <a16:creationId xmlns:a16="http://schemas.microsoft.com/office/drawing/2014/main" id="{8487B241-9AC0-49F2-B841-AFF136F1385B}"/>
                  </a:ext>
                </a:extLst>
              </p:cNvPr>
              <p:cNvSpPr>
                <a:spLocks noRot="1" noChangeAspect="1" noMove="1" noResize="1" noEditPoints="1" noAdjustHandles="1" noChangeArrowheads="1" noChangeShapeType="1" noTextEdit="1"/>
              </p:cNvSpPr>
              <p:nvPr/>
            </p:nvSpPr>
            <p:spPr>
              <a:xfrm>
                <a:off x="260898" y="4586257"/>
                <a:ext cx="5486400" cy="1307592"/>
              </a:xfrm>
              <a:prstGeom prst="rect">
                <a:avLst/>
              </a:prstGeom>
              <a:blipFill>
                <a:blip r:embed="rId3"/>
                <a:stretch>
                  <a:fillRect l="-333" b="-45116"/>
                </a:stretch>
              </a:blipFill>
              <a:ln/>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793314"/>
            <a:ext cx="10594134" cy="4923906"/>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err="1">
                <a:solidFill>
                  <a:srgbClr val="FFFFFF"/>
                </a:solidFill>
                <a:latin typeface="Cambria" pitchFamily="34" charset="0"/>
                <a:ea typeface="Cambria" pitchFamily="34" charset="-122"/>
                <a:cs typeface="Cambria" pitchFamily="34" charset="-120"/>
              </a:rPr>
              <a:t>Modelo</a:t>
            </a:r>
            <a:r>
              <a:rPr lang="en-US" sz="3400" b="1" dirty="0">
                <a:solidFill>
                  <a:srgbClr val="FFFFFF"/>
                </a:solidFill>
                <a:latin typeface="Cambria" pitchFamily="34" charset="0"/>
                <a:ea typeface="Cambria" pitchFamily="34" charset="-122"/>
                <a:cs typeface="Cambria" pitchFamily="34" charset="-120"/>
              </a:rPr>
              <a:t> LTI equivalente y análisis</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91440" y="677772"/>
                <a:ext cx="11978640" cy="785384"/>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El sistema es no lineal por acoplamientos entre variables de estado y entre ejes </a:t>
                </a:r>
                <a14:m>
                  <m:oMath xmlns:m="http://schemas.openxmlformats.org/officeDocument/2006/math">
                    <m:r>
                      <a:rPr lang="es-AR" sz="1400" i="1" smtClean="0">
                        <a:solidFill>
                          <a:srgbClr val="111111"/>
                        </a:solidFill>
                        <a:latin typeface="Cambria Math" panose="02040503050406030204" pitchFamily="18" charset="0"/>
                        <a:ea typeface="Calibri" pitchFamily="34" charset="-122"/>
                        <a:cs typeface="Calibri" pitchFamily="34" charset="-120"/>
                      </a:rPr>
                      <m:t>𝑑</m:t>
                    </m:r>
                    <m:r>
                      <a:rPr lang="es-AR" sz="1400" i="1" smtClean="0">
                        <a:solidFill>
                          <a:srgbClr val="111111"/>
                        </a:solidFill>
                        <a:latin typeface="Cambria Math" panose="02040503050406030204" pitchFamily="18" charset="0"/>
                        <a:ea typeface="Calibri" pitchFamily="34" charset="-122"/>
                        <a:cs typeface="Calibri" pitchFamily="34" charset="-120"/>
                      </a:rPr>
                      <m:t>−</m:t>
                    </m:r>
                    <m:r>
                      <a:rPr lang="es-AR" sz="1400" i="1" smtClean="0">
                        <a:solidFill>
                          <a:srgbClr val="111111"/>
                        </a:solidFill>
                        <a:latin typeface="Cambria Math" panose="02040503050406030204" pitchFamily="18" charset="0"/>
                        <a:ea typeface="Calibri" pitchFamily="34" charset="-122"/>
                        <a:cs typeface="Calibri" pitchFamily="34" charset="-120"/>
                      </a:rPr>
                      <m:t>𝑞</m:t>
                    </m:r>
                  </m:oMath>
                </a14:m>
                <a:r>
                  <a:rPr lang="es-AR" sz="1400" dirty="0">
                    <a:solidFill>
                      <a:srgbClr val="111111"/>
                    </a:solidFill>
                    <a:latin typeface="Calibri" pitchFamily="34" charset="0"/>
                    <a:ea typeface="Calibri" pitchFamily="34" charset="-122"/>
                    <a:cs typeface="Calibri" pitchFamily="34" charset="-120"/>
                  </a:rPr>
                  <a:t>. </a:t>
                </a:r>
                <a:r>
                  <a:rPr lang="es-AR" sz="1400" dirty="0"/>
                  <a:t>De manera general, un sistema dinámico no lineal puede describirse mediante un conjunto de ecuaciones diferenciales, donde la dinámica está representada por una función vectorial </a:t>
                </a:r>
                <a14:m>
                  <m:oMath xmlns:m="http://schemas.openxmlformats.org/officeDocument/2006/math">
                    <m:r>
                      <a:rPr lang="es-AR" sz="1400" i="1">
                        <a:latin typeface="Cambria Math" panose="02040503050406030204" pitchFamily="18" charset="0"/>
                      </a:rPr>
                      <m:t>𝑓</m:t>
                    </m:r>
                  </m:oMath>
                </a14:m>
                <a:r>
                  <a:rPr lang="es-AR" sz="1400" dirty="0"/>
                  <a:t>, dependiente del vector de estado </a:t>
                </a:r>
                <a14:m>
                  <m:oMath xmlns:m="http://schemas.openxmlformats.org/officeDocument/2006/math">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de la entrada de control </a:t>
                </a:r>
                <a14:m>
                  <m:oMath xmlns:m="http://schemas.openxmlformats.org/officeDocument/2006/math">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La salida del sistema se considera, en este caso, como una combinación lineal de las variables de estado.</a:t>
                </a:r>
              </a:p>
              <a:p>
                <a:br>
                  <a:rPr lang="en-US" sz="1300" dirty="0">
                    <a:solidFill>
                      <a:srgbClr val="111111"/>
                    </a:solidFill>
                    <a:latin typeface="Calibri" pitchFamily="34" charset="0"/>
                    <a:ea typeface="Calibri" pitchFamily="34" charset="-122"/>
                    <a:cs typeface="Calibri" pitchFamily="34" charset="-120"/>
                  </a:rPr>
                </a:br>
                <a:endParaRPr lang="en-US" sz="1300" dirty="0"/>
              </a:p>
            </p:txBody>
          </p:sp>
        </mc:Choice>
        <mc:Fallback xmlns="">
          <p:sp>
            <p:nvSpPr>
              <p:cNvPr id="7" name="Text 5"/>
              <p:cNvSpPr>
                <a:spLocks noRot="1" noChangeAspect="1" noMove="1" noResize="1" noEditPoints="1" noAdjustHandles="1" noChangeArrowheads="1" noChangeShapeType="1" noTextEdit="1"/>
              </p:cNvSpPr>
              <p:nvPr/>
            </p:nvSpPr>
            <p:spPr>
              <a:xfrm>
                <a:off x="91440" y="677772"/>
                <a:ext cx="11978640" cy="785384"/>
              </a:xfrm>
              <a:prstGeom prst="rect">
                <a:avLst/>
              </a:prstGeom>
              <a:blipFill>
                <a:blip r:embed="rId2"/>
                <a:stretch>
                  <a:fillRect l="-153" t="-1550" r="-153" b="-1550"/>
                </a:stretch>
              </a:blipFill>
              <a:ln/>
            </p:spPr>
            <p:txBody>
              <a:bodyPr/>
              <a:lstStyle/>
              <a:p>
                <a:r>
                  <a:rPr lang="es-AR">
                    <a:noFill/>
                  </a:rPr>
                  <a:t> </a:t>
                </a:r>
              </a:p>
            </p:txBody>
          </p:sp>
        </mc:Fallback>
      </mc:AlternateContent>
      <p:sp>
        <p:nvSpPr>
          <p:cNvPr id="8" name="Shape 6"/>
          <p:cNvSpPr/>
          <p:nvPr/>
        </p:nvSpPr>
        <p:spPr>
          <a:xfrm>
            <a:off x="127543" y="2482774"/>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19597" y="2422594"/>
                <a:ext cx="2936289"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19597" y="2422594"/>
                <a:ext cx="2936289" cy="530352"/>
              </a:xfrm>
              <a:prstGeom prst="rect">
                <a:avLst/>
              </a:prstGeom>
              <a:blipFill>
                <a:blip r:embed="rId3"/>
                <a:stretch>
                  <a:fillRect/>
                </a:stretch>
              </a:blipFill>
              <a:ln/>
            </p:spPr>
            <p:txBody>
              <a:bodyPr/>
              <a:lstStyle/>
              <a:p>
                <a:r>
                  <a:rPr lang="es-AR">
                    <a:noFill/>
                  </a:rPr>
                  <a:t> </a:t>
                </a:r>
              </a:p>
            </p:txBody>
          </p:sp>
        </mc:Fallback>
      </mc:AlternateContent>
      <p:sp>
        <p:nvSpPr>
          <p:cNvPr id="10" name="Text 8"/>
          <p:cNvSpPr/>
          <p:nvPr/>
        </p:nvSpPr>
        <p:spPr>
          <a:xfrm>
            <a:off x="127543" y="3060525"/>
            <a:ext cx="11430000" cy="384048"/>
          </a:xfrm>
          <a:prstGeom prst="rect">
            <a:avLst/>
          </a:prstGeom>
          <a:noFill/>
          <a:ln/>
        </p:spPr>
        <p:txBody>
          <a:bodyPr wrap="square" rtlCol="0" anchor="t"/>
          <a:lstStyle/>
          <a:p>
            <a:pPr marL="0" indent="0" algn="l">
              <a:buNone/>
            </a:pPr>
            <a:r>
              <a:rPr lang="es-AR" sz="1400" dirty="0">
                <a:solidFill>
                  <a:srgbClr val="111111"/>
                </a:solidFill>
                <a:latin typeface="Calibri" pitchFamily="34" charset="0"/>
                <a:ea typeface="Calibri" pitchFamily="34" charset="-122"/>
                <a:cs typeface="Calibri" pitchFamily="34" charset="-120"/>
              </a:rPr>
              <a:t>Entonces, el sistema no lineal queda expresado como: </a:t>
            </a:r>
            <a:endParaRPr lang="es-AR" sz="1400" dirty="0"/>
          </a:p>
        </p:txBody>
      </p:sp>
      <p:sp>
        <p:nvSpPr>
          <p:cNvPr id="18" name="Shape 6">
            <a:extLst>
              <a:ext uri="{FF2B5EF4-FFF2-40B4-BE49-F238E27FC236}">
                <a16:creationId xmlns:a16="http://schemas.microsoft.com/office/drawing/2014/main" id="{BBAC01EC-E856-4860-B292-FF94F5A2DFFA}"/>
              </a:ext>
            </a:extLst>
          </p:cNvPr>
          <p:cNvSpPr/>
          <p:nvPr/>
        </p:nvSpPr>
        <p:spPr>
          <a:xfrm>
            <a:off x="143078" y="3472258"/>
            <a:ext cx="9144000" cy="1059694"/>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7">
                <a:extLst>
                  <a:ext uri="{FF2B5EF4-FFF2-40B4-BE49-F238E27FC236}">
                    <a16:creationId xmlns:a16="http://schemas.microsoft.com/office/drawing/2014/main" id="{43434609-4479-46CB-A4E2-9F9A2E6B04CF}"/>
                  </a:ext>
                </a:extLst>
              </p:cNvPr>
              <p:cNvSpPr/>
              <p:nvPr/>
            </p:nvSpPr>
            <p:spPr>
              <a:xfrm>
                <a:off x="258636" y="3582142"/>
                <a:ext cx="5593524" cy="815929"/>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b="0" i="1" smtClean="0">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b="0" i="1" smtClean="0">
                                    <a:latin typeface="Cambria Math" panose="02040503050406030204" pitchFamily="18" charset="0"/>
                                  </a:rPr>
                                  <m:t>       </m:t>
                                </m:r>
                                <m:r>
                                  <a:rPr lang="es-AR" sz="1600" i="1">
                                    <a:latin typeface="Cambria Math" panose="02040503050406030204" pitchFamily="18" charset="0"/>
                                  </a:rPr>
                                  <m:t>                                                </m:t>
                                </m:r>
                              </m:e>
                            </m:mr>
                          </m:m>
                        </m:e>
                      </m:d>
                    </m:oMath>
                  </m:oMathPara>
                </a14:m>
                <a:endParaRPr lang="en-US" sz="1100" dirty="0"/>
              </a:p>
            </p:txBody>
          </p:sp>
        </mc:Choice>
        <mc:Fallback xmlns="">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258636" y="3582142"/>
                <a:ext cx="5593524" cy="815929"/>
              </a:xfrm>
              <a:prstGeom prst="rect">
                <a:avLst/>
              </a:prstGeom>
              <a:blipFill>
                <a:blip r:embed="rId4"/>
                <a:stretch>
                  <a:fillRect t="-752" b="-6015"/>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127543" y="4628082"/>
            <a:ext cx="6098796" cy="312650"/>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43078" y="497620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234518" y="504975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234518" y="5049759"/>
                <a:ext cx="8961120" cy="530352"/>
              </a:xfrm>
              <a:prstGeom prst="rect">
                <a:avLst/>
              </a:prstGeom>
              <a:blipFill>
                <a:blip r:embed="rId5"/>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127543" y="6000725"/>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7" name="Shape 6">
            <a:extLst>
              <a:ext uri="{FF2B5EF4-FFF2-40B4-BE49-F238E27FC236}">
                <a16:creationId xmlns:a16="http://schemas.microsoft.com/office/drawing/2014/main" id="{38AA6824-F3C0-4639-A0BE-357DF624F043}"/>
              </a:ext>
            </a:extLst>
          </p:cNvPr>
          <p:cNvSpPr/>
          <p:nvPr/>
        </p:nvSpPr>
        <p:spPr>
          <a:xfrm>
            <a:off x="127543" y="1498627"/>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7">
                <a:extLst>
                  <a:ext uri="{FF2B5EF4-FFF2-40B4-BE49-F238E27FC236}">
                    <a16:creationId xmlns:a16="http://schemas.microsoft.com/office/drawing/2014/main" id="{DA892EF5-3E87-4AFE-BB7C-31BC1FD0C14A}"/>
                  </a:ext>
                </a:extLst>
              </p:cNvPr>
              <p:cNvSpPr/>
              <p:nvPr/>
            </p:nvSpPr>
            <p:spPr>
              <a:xfrm>
                <a:off x="-319597" y="1472537"/>
                <a:ext cx="4074111"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𝑥</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𝑡</m:t>
                                    </m:r>
                                  </m:e>
                                  <m:sub>
                                    <m:r>
                                      <a:rPr lang="es-AR" sz="1400" i="1">
                                        <a:latin typeface="Cambria Math" panose="02040503050406030204" pitchFamily="18" charset="0"/>
                                      </a:rPr>
                                      <m:t>0</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e>
                        </m:mr>
                        <m:mr>
                          <m:e>
                            <m:r>
                              <a:rPr lang="es-AR" sz="1400" i="1">
                                <a:latin typeface="Cambria Math" panose="02040503050406030204" pitchFamily="18" charset="0"/>
                              </a:rPr>
                              <m:t>𝑦</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oMath>
                  </m:oMathPara>
                </a14:m>
                <a:endParaRPr lang="en-US" sz="1400" dirty="0"/>
              </a:p>
            </p:txBody>
          </p:sp>
        </mc:Choice>
        <mc:Fallback xmlns="">
          <p:sp>
            <p:nvSpPr>
              <p:cNvPr id="20" name="Text 7">
                <a:extLst>
                  <a:ext uri="{FF2B5EF4-FFF2-40B4-BE49-F238E27FC236}">
                    <a16:creationId xmlns:a16="http://schemas.microsoft.com/office/drawing/2014/main" id="{DA892EF5-3E87-4AFE-BB7C-31BC1FD0C14A}"/>
                  </a:ext>
                </a:extLst>
              </p:cNvPr>
              <p:cNvSpPr>
                <a:spLocks noRot="1" noChangeAspect="1" noMove="1" noResize="1" noEditPoints="1" noAdjustHandles="1" noChangeArrowheads="1" noChangeShapeType="1" noTextEdit="1"/>
              </p:cNvSpPr>
              <p:nvPr/>
            </p:nvSpPr>
            <p:spPr>
              <a:xfrm>
                <a:off x="-319597" y="1472537"/>
                <a:ext cx="4074111" cy="530352"/>
              </a:xfrm>
              <a:prstGeom prst="rect">
                <a:avLst/>
              </a:prstGeom>
              <a:blipFill>
                <a:blip r:embed="rId6"/>
                <a:stretch>
                  <a:fillRect/>
                </a:stretch>
              </a:blipFill>
              <a:ln/>
            </p:spPr>
            <p:txBody>
              <a:bodyPr/>
              <a:lstStyle/>
              <a:p>
                <a:r>
                  <a:rPr lang="es-AR">
                    <a:noFill/>
                  </a:rPr>
                  <a:t> </a:t>
                </a:r>
              </a:p>
            </p:txBody>
          </p:sp>
        </mc:Fallback>
      </mc:AlternateContent>
      <p:sp>
        <p:nvSpPr>
          <p:cNvPr id="25" name="CuadroTexto 24">
            <a:extLst>
              <a:ext uri="{FF2B5EF4-FFF2-40B4-BE49-F238E27FC236}">
                <a16:creationId xmlns:a16="http://schemas.microsoft.com/office/drawing/2014/main" id="{7601BCCB-31A5-4894-96E6-AA6A026EDF08}"/>
              </a:ext>
            </a:extLst>
          </p:cNvPr>
          <p:cNvSpPr txBox="1"/>
          <p:nvPr/>
        </p:nvSpPr>
        <p:spPr>
          <a:xfrm>
            <a:off x="91440" y="2077418"/>
            <a:ext cx="11887200" cy="307777"/>
          </a:xfrm>
          <a:prstGeom prst="rect">
            <a:avLst/>
          </a:prstGeom>
          <a:noFill/>
        </p:spPr>
        <p:txBody>
          <a:bodyPr wrap="square">
            <a:spAutoFit/>
          </a:bodyPr>
          <a:lstStyle/>
          <a:p>
            <a:r>
              <a:rPr lang="es-AR" sz="1400" dirty="0">
                <a:solidFill>
                  <a:srgbClr val="111111"/>
                </a:solidFill>
                <a:latin typeface="Calibri" pitchFamily="34" charset="0"/>
                <a:ea typeface="Calibri" pitchFamily="34" charset="-122"/>
                <a:cs typeface="Calibri" pitchFamily="34" charset="-120"/>
              </a:rPr>
              <a:t>Para usar herramientas de control lineal, se descompone cada variable en un punto de operación cuasi-estacionario y una perturbación de pequeña magnitud. </a:t>
            </a:r>
            <a:endParaRPr lang="es-AR"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1" name="Text 9"/>
          <p:cNvSpPr/>
          <p:nvPr/>
        </p:nvSpPr>
        <p:spPr>
          <a:xfrm>
            <a:off x="365760" y="87790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1.  Espacio de puntos de operación (NL, lentamente variable):</a:t>
            </a:r>
            <a:endParaRPr lang="en-US" sz="1300" dirty="0"/>
          </a:p>
        </p:txBody>
      </p:sp>
      <p:sp>
        <p:nvSpPr>
          <p:cNvPr id="12" name="Shape 10"/>
          <p:cNvSpPr/>
          <p:nvPr/>
        </p:nvSpPr>
        <p:spPr>
          <a:xfrm>
            <a:off x="1371599" y="1262457"/>
            <a:ext cx="9223695" cy="2613258"/>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463040" y="2267795"/>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200" i="1" smtClean="0">
                              <a:latin typeface="Cambria Math" panose="02040503050406030204" pitchFamily="18" charset="0"/>
                            </a:rPr>
                          </m:ctrlPr>
                        </m:dPr>
                        <m:e>
                          <m:m>
                            <m:mPr>
                              <m:mcs>
                                <m:mc>
                                  <m:mcPr>
                                    <m:count m:val="1"/>
                                    <m:mcJc m:val="center"/>
                                  </m:mcPr>
                                </m:mc>
                              </m:mcs>
                              <m:ctrlPr>
                                <a:rPr lang="es-AR" sz="1200" i="1">
                                  <a:latin typeface="Cambria Math" panose="02040503050406030204" pitchFamily="18" charset="0"/>
                                </a:rPr>
                              </m:ctrlPr>
                            </m:mP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𝜃</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 </m:t>
                                </m:r>
                                <m:r>
                                  <a:rPr lang="es-AR" sz="1200" i="1">
                                    <a:latin typeface="Cambria Math" panose="02040503050406030204" pitchFamily="18" charset="0"/>
                                  </a:rPr>
                                  <m:t>𝑐𝑡𝑒</m:t>
                                </m:r>
                                <m:r>
                                  <a:rPr lang="es-AR" sz="1200" i="1">
                                    <a:latin typeface="Cambria Math" panose="02040503050406030204" pitchFamily="18" charset="0"/>
                                  </a:rPr>
                                  <m:t>                                                                                                                                                           </m:t>
                                </m:r>
                              </m:e>
                            </m:m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𝐽</m:t>
                                        </m:r>
                                      </m:e>
                                      <m:sub>
                                        <m:r>
                                          <a:rPr lang="es-AR" sz="1200" i="1">
                                            <a:latin typeface="Cambria Math" panose="02040503050406030204" pitchFamily="18" charset="0"/>
                                          </a:rPr>
                                          <m:t>𝑒𝑞</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𝑏</m:t>
                                        </m:r>
                                      </m:e>
                                      <m:sub>
                                        <m:r>
                                          <a:rPr lang="es-AR" sz="1200" i="1">
                                            <a:latin typeface="Cambria Math" panose="02040503050406030204" pitchFamily="18" charset="0"/>
                                          </a:rPr>
                                          <m:t>𝑒𝑞</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𝑟</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𝑙𝑑</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𝑔</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𝑘</m:t>
                                            </m:r>
                                          </m:e>
                                          <m:sub>
                                            <m:r>
                                              <a:rPr lang="es-AR" sz="1200" i="1">
                                                <a:latin typeface="Cambria Math" panose="02040503050406030204" pitchFamily="18" charset="0"/>
                                              </a:rPr>
                                              <m:t>𝑙</m:t>
                                            </m:r>
                                          </m:sub>
                                        </m:sSub>
                                        <m:func>
                                          <m:funcPr>
                                            <m:ctrlPr>
                                              <a:rPr lang="es-AR" sz="1200" i="1">
                                                <a:latin typeface="Cambria Math" panose="02040503050406030204" pitchFamily="18" charset="0"/>
                                              </a:rPr>
                                            </m:ctrlPr>
                                          </m:funcPr>
                                          <m:fName>
                                            <m:r>
                                              <a:rPr lang="es-AR" sz="1200" i="1">
                                                <a:latin typeface="Cambria Math" panose="02040503050406030204" pitchFamily="18" charset="0"/>
                                              </a:rPr>
                                              <m:t>𝑠𝑖𝑛</m:t>
                                            </m:r>
                                          </m:fName>
                                          <m:e>
                                            <m:d>
                                              <m:dPr>
                                                <m:ctrlPr>
                                                  <a:rPr lang="es-AR" sz="1200" i="1">
                                                    <a:latin typeface="Cambria Math" panose="02040503050406030204" pitchFamily="18" charset="0"/>
                                                  </a:rPr>
                                                </m:ctrlPr>
                                              </m:dPr>
                                              <m:e>
                                                <m:f>
                                                  <m:fPr>
                                                    <m:ctrlPr>
                                                      <a:rPr lang="es-AR" sz="1200" i="1">
                                                        <a:latin typeface="Cambria Math" panose="02040503050406030204" pitchFamily="18" charset="0"/>
                                                      </a:rPr>
                                                    </m:ctrlPr>
                                                  </m:fPr>
                                                  <m:num>
                                                    <m:sSub>
                                                      <m:sSubPr>
                                                        <m:ctrlPr>
                                                          <a:rPr lang="es-AR" sz="1200" i="1">
                                                            <a:latin typeface="Cambria Math" panose="02040503050406030204" pitchFamily="18" charset="0"/>
                                                          </a:rPr>
                                                        </m:ctrlPr>
                                                      </m:sSubPr>
                                                      <m:e>
                                                        <m:r>
                                                          <a:rPr lang="es-AR" sz="1200" i="1">
                                                            <a:latin typeface="Cambria Math" panose="02040503050406030204" pitchFamily="18" charset="0"/>
                                                          </a:rPr>
                                                          <m:t>𝜃</m:t>
                                                        </m:r>
                                                      </m:e>
                                                      <m:sub>
                                                        <m:r>
                                                          <a:rPr lang="es-AR" sz="1200" i="1">
                                                            <a:latin typeface="Cambria Math" panose="02040503050406030204" pitchFamily="18" charset="0"/>
                                                          </a:rPr>
                                                          <m:t>𝑚</m:t>
                                                        </m:r>
                                                        <m:r>
                                                          <a:rPr lang="es-AR" sz="1200" b="0" i="1" smtClean="0">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𝑟</m:t>
                                                    </m:r>
                                                  </m:den>
                                                </m:f>
                                              </m:e>
                                            </m:d>
                                          </m:e>
                                        </m:func>
                                      </m:e>
                                    </m:d>
                                  </m:e>
                                </m:d>
                                <m:r>
                                  <a:rPr lang="es-AR" sz="1200" i="1">
                                    <a:latin typeface="Cambria Math" panose="02040503050406030204" pitchFamily="18" charset="0"/>
                                  </a:rPr>
                                  <m:t> =0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r>
                                        <m:rPr>
                                          <m:nor/>
                                        </m:rPr>
                                        <a:rPr lang="es-AR" sz="1200"/>
                                        <m:t>(31)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𝑙𝑠</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𝐶</m:t>
                                                    </m:r>
                                                  </m:e>
                                                  <m:sub>
                                                    <m:r>
                                                      <a:rPr lang="es-AR" sz="1200" i="1">
                                                        <a:latin typeface="Cambria Math" panose="02040503050406030204" pitchFamily="18" charset="0"/>
                                                      </a:rPr>
                                                      <m:t>𝑡𝑠</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d>
                                                  <m:dPr>
                                                    <m:ctrlPr>
                                                      <a:rPr lang="es-AR" sz="1200" i="1">
                                                        <a:latin typeface="Cambria Math" panose="02040503050406030204" pitchFamily="18" charset="0"/>
                                                      </a:rPr>
                                                    </m:ctrlPr>
                                                  </m:dPr>
                                                  <m:e>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+2</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𝑡𝑠</m:t>
                                                        </m:r>
                                                        <m:r>
                                                          <a:rPr lang="es-AR" sz="1200" i="1">
                                                            <a:latin typeface="Cambria Math" panose="02040503050406030204" pitchFamily="18" charset="0"/>
                                                          </a:rPr>
                                                          <m:t>−</m:t>
                                                        </m:r>
                                                        <m:r>
                                                          <a:rPr lang="es-AR" sz="1200" i="1">
                                                            <a:latin typeface="Cambria Math" panose="02040503050406030204" pitchFamily="18" charset="0"/>
                                                          </a:rPr>
                                                          <m:t>𝑎𝑚𝑏</m:t>
                                                        </m:r>
                                                      </m:sub>
                                                    </m:sSub>
                                                  </m:den>
                                                </m:f>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Sup>
                                                      <m:sSubSupPr>
                                                        <m:ctrlPr>
                                                          <a:rPr lang="es-AR" sz="1200" i="1">
                                                            <a:latin typeface="Cambria Math" panose="02040503050406030204" pitchFamily="18" charset="0"/>
                                                          </a:rPr>
                                                        </m:ctrlPr>
                                                      </m:sSubSupPr>
                                                      <m:e>
                                                        <m:r>
                                                          <a:rPr lang="es-AR" sz="1200" i="1">
                                                            <a:latin typeface="Cambria Math" panose="02040503050406030204" pitchFamily="18" charset="0"/>
                                                          </a:rPr>
                                                          <m:t>−</m:t>
                                                        </m:r>
                                                        <m:r>
                                                          <a:rPr lang="es-AR" sz="1200" i="1">
                                                            <a:latin typeface="Cambria Math" panose="02040503050406030204" pitchFamily="18" charset="0"/>
                                                          </a:rPr>
                                                          <m:t>𝑇</m:t>
                                                        </m:r>
                                                      </m:e>
                                                      <m:sub>
                                                        <m:r>
                                                          <a:rPr lang="es-AR" sz="1200" i="1">
                                                            <a:latin typeface="Cambria Math" panose="02040503050406030204" pitchFamily="18" charset="0"/>
                                                          </a:rPr>
                                                          <m:t>𝑎𝑚𝑏</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e>
                                            </m:d>
                                            <m:r>
                                              <a:rPr lang="es-AR" sz="1200" i="1">
                                                <a:latin typeface="Cambria Math" panose="02040503050406030204" pitchFamily="18" charset="0"/>
                                              </a:rPr>
                                              <m:t>=0                         </m:t>
                                            </m:r>
                                          </m:e>
                                        </m:mr>
                                      </m:m>
                                    </m:e>
                                  </m:mr>
                                </m:m>
                              </m:e>
                            </m:mr>
                          </m:m>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267795"/>
                <a:ext cx="8961120" cy="530352"/>
              </a:xfrm>
              <a:prstGeom prst="rect">
                <a:avLst/>
              </a:prstGeom>
              <a:blipFill>
                <a:blip r:embed="rId2"/>
                <a:stretch>
                  <a:fillRect t="-170115" b="-174713"/>
                </a:stretch>
              </a:blipFill>
              <a:ln/>
            </p:spPr>
            <p:txBody>
              <a:bodyPr/>
              <a:lstStyle/>
              <a:p>
                <a:r>
                  <a:rPr lang="es-AR">
                    <a:noFill/>
                  </a:rPr>
                  <a:t> </a:t>
                </a:r>
              </a:p>
            </p:txBody>
          </p:sp>
        </mc:Fallback>
      </mc:AlternateContent>
      <p:sp>
        <p:nvSpPr>
          <p:cNvPr id="14" name="Text 12"/>
          <p:cNvSpPr/>
          <p:nvPr/>
        </p:nvSpPr>
        <p:spPr>
          <a:xfrm>
            <a:off x="365760" y="4129649"/>
            <a:ext cx="11430000" cy="47548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2.  Modelo de pequeñas desviaciones Δx(t) (LPV — matrices A(p) y B(p) varían con el punto de operación):</a:t>
            </a:r>
            <a:endParaRPr lang="en-US" sz="1300" dirty="0"/>
          </a:p>
        </p:txBody>
      </p:sp>
      <p:sp>
        <p:nvSpPr>
          <p:cNvPr id="15" name="Shape 13"/>
          <p:cNvSpPr/>
          <p:nvPr/>
        </p:nvSpPr>
        <p:spPr>
          <a:xfrm>
            <a:off x="1371599" y="4528622"/>
            <a:ext cx="9144000" cy="13173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Text 14"/>
              <p:cNvSpPr/>
              <p:nvPr/>
            </p:nvSpPr>
            <p:spPr>
              <a:xfrm>
                <a:off x="1371599" y="4832764"/>
                <a:ext cx="8961120"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𝐴</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r>
                        <a:rPr lang="es-AR" sz="1400" i="1">
                          <a:latin typeface="Cambria Math" panose="02040503050406030204" pitchFamily="18" charset="0"/>
                        </a:rPr>
                        <m:t> ,                              </m:t>
                      </m:r>
                      <m:r>
                        <a:rPr lang="es-AR" sz="1400" i="1">
                          <a:latin typeface="Cambria Math" panose="02040503050406030204" pitchFamily="18" charset="0"/>
                        </a:rPr>
                        <m:t>𝐵</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oMath>
                  </m:oMathPara>
                </a14:m>
                <a:endParaRPr lang="en-US" sz="1100" dirty="0"/>
              </a:p>
            </p:txBody>
          </p:sp>
        </mc:Choice>
        <mc:Fallback xmlns="">
          <p:sp>
            <p:nvSpPr>
              <p:cNvPr id="16" name="Text 14"/>
              <p:cNvSpPr>
                <a:spLocks noRot="1" noChangeAspect="1" noMove="1" noResize="1" noEditPoints="1" noAdjustHandles="1" noChangeArrowheads="1" noChangeShapeType="1" noTextEdit="1"/>
              </p:cNvSpPr>
              <p:nvPr/>
            </p:nvSpPr>
            <p:spPr>
              <a:xfrm>
                <a:off x="1371599" y="4832764"/>
                <a:ext cx="8961120" cy="530352"/>
              </a:xfrm>
              <a:prstGeom prst="rect">
                <a:avLst/>
              </a:prstGeom>
              <a:blipFill>
                <a:blip r:embed="rId3"/>
                <a:stretch>
                  <a:fillRect t="-42529" b="-81609"/>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62552072-93AD-44B7-AA9E-5C03109DB1C9}"/>
                  </a:ext>
                </a:extLst>
              </p:cNvPr>
              <p:cNvSpPr txBox="1"/>
              <p:nvPr/>
            </p:nvSpPr>
            <p:spPr>
              <a:xfrm>
                <a:off x="3046602" y="843816"/>
                <a:ext cx="6098796" cy="34868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panose="020F0502020204030204" pitchFamily="34" charset="0"/>
                            </a:rPr>
                          </m:ctrlPr>
                        </m:sSubPr>
                        <m:e>
                          <m:acc>
                            <m:accPr>
                              <m:chr m:val="̇"/>
                              <m:ctrlPr>
                                <a:rPr lang="es-AR" sz="1050" i="1" smtClean="0">
                                  <a:effectLst/>
                                  <a:latin typeface="Cambria Math" panose="02040503050406030204" pitchFamily="18" charset="0"/>
                                  <a:cs typeface="Calibri" panose="020F0502020204030204" pitchFamily="34" charset="0"/>
                                </a:rPr>
                              </m:ctrlPr>
                            </m:accPr>
                            <m:e>
                              <m:r>
                                <a:rPr lang="es-AR" sz="1600" i="1">
                                  <a:effectLst/>
                                  <a:latin typeface="Cambria Math" panose="02040503050406030204" pitchFamily="18" charset="0"/>
                                  <a:ea typeface="Calibri" panose="020F0502020204030204" pitchFamily="34" charset="0"/>
                                  <a:cs typeface="Calibri" panose="020F0502020204030204" pitchFamily="34" charset="0"/>
                                </a:rPr>
                                <m:t>𝑋</m:t>
                              </m:r>
                            </m:e>
                          </m:acc>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𝑓</m:t>
                      </m:r>
                      <m:d>
                        <m:dPr>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𝑋</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𝑈</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𝑐𝑡𝑒</m:t>
                      </m:r>
                    </m:oMath>
                  </m:oMathPara>
                </a14:m>
                <a:endParaRPr lang="es-AR" dirty="0"/>
              </a:p>
            </p:txBody>
          </p:sp>
        </mc:Choice>
        <mc:Fallback xmlns="">
          <p:sp>
            <p:nvSpPr>
              <p:cNvPr id="20" name="CuadroTexto 19">
                <a:extLst>
                  <a:ext uri="{FF2B5EF4-FFF2-40B4-BE49-F238E27FC236}">
                    <a16:creationId xmlns:a16="http://schemas.microsoft.com/office/drawing/2014/main" id="{62552072-93AD-44B7-AA9E-5C03109DB1C9}"/>
                  </a:ext>
                </a:extLst>
              </p:cNvPr>
              <p:cNvSpPr txBox="1">
                <a:spLocks noRot="1" noChangeAspect="1" noMove="1" noResize="1" noEditPoints="1" noAdjustHandles="1" noChangeArrowheads="1" noChangeShapeType="1" noTextEdit="1"/>
              </p:cNvSpPr>
              <p:nvPr/>
            </p:nvSpPr>
            <p:spPr>
              <a:xfrm>
                <a:off x="3046602" y="843816"/>
                <a:ext cx="6098796" cy="348685"/>
              </a:xfrm>
              <a:prstGeom prst="rect">
                <a:avLst/>
              </a:prstGeom>
              <a:blipFill>
                <a:blip r:embed="rId5"/>
                <a:stretch>
                  <a:fillRect b="-344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778FF9FF-370D-406E-B50A-A717C2ABCFAC}"/>
                  </a:ext>
                </a:extLst>
              </p:cNvPr>
              <p:cNvSpPr txBox="1"/>
              <p:nvPr/>
            </p:nvSpPr>
            <p:spPr>
              <a:xfrm>
                <a:off x="5983446" y="4076250"/>
                <a:ext cx="6098796"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600" smtClean="0">
                          <a:effectLst/>
                          <a:latin typeface="Cambria Math" panose="02040503050406030204" pitchFamily="18" charset="0"/>
                          <a:ea typeface="Calibri" panose="020F0502020204030204" pitchFamily="34" charset="0"/>
                          <a:cs typeface="Times New Roman" panose="02020603050405020304" pitchFamily="18" charset="0"/>
                        </a:rPr>
                        <m:t>Δ</m:t>
                      </m:r>
                      <m:acc>
                        <m:accPr>
                          <m:chr m:val="̇"/>
                          <m:ctrlPr>
                            <a:rPr lang="es-AR" sz="1600" i="1" smtClean="0">
                              <a:effectLst/>
                              <a:latin typeface="Cambria Math" panose="02040503050406030204" pitchFamily="18" charset="0"/>
                              <a:cs typeface="Times New Roman" panose="02020603050405020304" pitchFamily="18" charset="0"/>
                            </a:rPr>
                          </m:ctrlPr>
                        </m:accPr>
                        <m:e>
                          <m:r>
                            <a:rPr lang="es-MX" sz="1600" b="0" i="1" smtClean="0">
                              <a:effectLst/>
                              <a:latin typeface="Cambria Math" panose="02040503050406030204" pitchFamily="18" charset="0"/>
                              <a:cs typeface="Times New Roman" panose="02020603050405020304" pitchFamily="18" charset="0"/>
                            </a:rPr>
                            <m:t>𝑥</m:t>
                          </m:r>
                        </m:e>
                      </m:acc>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𝐴</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𝐵</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s-AR" dirty="0"/>
              </a:p>
            </p:txBody>
          </p:sp>
        </mc:Choice>
        <mc:Fallback xmlns="">
          <p:sp>
            <p:nvSpPr>
              <p:cNvPr id="22" name="CuadroTexto 21">
                <a:extLst>
                  <a:ext uri="{FF2B5EF4-FFF2-40B4-BE49-F238E27FC236}">
                    <a16:creationId xmlns:a16="http://schemas.microsoft.com/office/drawing/2014/main" id="{778FF9FF-370D-406E-B50A-A717C2ABCFAC}"/>
                  </a:ext>
                </a:extLst>
              </p:cNvPr>
              <p:cNvSpPr txBox="1">
                <a:spLocks noRot="1" noChangeAspect="1" noMove="1" noResize="1" noEditPoints="1" noAdjustHandles="1" noChangeArrowheads="1" noChangeShapeType="1" noTextEdit="1"/>
              </p:cNvSpPr>
              <p:nvPr/>
            </p:nvSpPr>
            <p:spPr>
              <a:xfrm>
                <a:off x="5983446" y="4076250"/>
                <a:ext cx="6098796" cy="338554"/>
              </a:xfrm>
              <a:prstGeom prst="rect">
                <a:avLst/>
              </a:prstGeom>
              <a:blipFill>
                <a:blip r:embed="rId6"/>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1989650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5760"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460324"/>
            <a:ext cx="9144000"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975678"/>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975678"/>
                <a:ext cx="8961120" cy="530352"/>
              </a:xfrm>
              <a:prstGeom prst="rect">
                <a:avLst/>
              </a:prstGeom>
              <a:blipFill>
                <a:blip r:embed="rId4"/>
                <a:stretch>
                  <a:fillRect t="-73563" b="-8046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19" y="3864998"/>
                <a:ext cx="11397563" cy="510396"/>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Considerando la dependencia térmica de la resistencia de estator </a:t>
                </a:r>
                <a14:m>
                  <m:oMath xmlns:m="http://schemas.openxmlformats.org/officeDocument/2006/math">
                    <m:sSub>
                      <m:sSub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300" i="1" smtClean="0">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up>
                            <m:r>
                              <a:rPr lang="es-AR" sz="1300" i="1">
                                <a:effectLst/>
                                <a:latin typeface="Cambria Math" panose="02040503050406030204" pitchFamily="18" charset="0"/>
                                <a:ea typeface="Times New Roman" panose="02020603050405020304" pitchFamily="18" charset="0"/>
                                <a:cs typeface="Calibri" panose="020F0502020204030204" pitchFamily="34" charset="0"/>
                              </a:rPr>
                              <m:t>𝑜</m:t>
                            </m:r>
                          </m:sup>
                        </m:sSubSup>
                      </m:e>
                    </m:d>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 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19" y="3864998"/>
                <a:ext cx="11397563" cy="510396"/>
              </a:xfrm>
              <a:prstGeom prst="rect">
                <a:avLst/>
              </a:prstGeom>
              <a:blipFill>
                <a:blip r:embed="rId5"/>
                <a:stretch>
                  <a:fillRect l="-53" r="-53" b="-9524"/>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3" name="Text 11"/>
              <p:cNvSpPr/>
              <p:nvPr/>
            </p:nvSpPr>
            <p:spPr>
              <a:xfrm>
                <a:off x="502920" y="3264408"/>
                <a:ext cx="11155680" cy="10058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Se desprecia la variación de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i="1">
                            <a:solidFill>
                              <a:schemeClr val="tx1"/>
                            </a:solidFill>
                            <a:latin typeface="Cambria Math" panose="02040503050406030204" pitchFamily="18" charset="0"/>
                          </a:rPr>
                          <m:t>𝑅</m:t>
                        </m:r>
                      </m:e>
                      <m:sub>
                        <m:r>
                          <a:rPr lang="es-AR" sz="1200" i="1">
                            <a:solidFill>
                              <a:schemeClr val="tx1"/>
                            </a:solidFill>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con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dentro del modelo eléctrico. El subsistema térmico se modela como independiente (sin realimentación hacia las ecuaciones eléctricas).</a:t>
                </a:r>
                <a:endParaRPr lang="en-US" sz="1200" dirty="0"/>
              </a:p>
            </p:txBody>
          </p:sp>
        </mc:Choice>
        <mc:Fallback xmlns="">
          <p:sp>
            <p:nvSpPr>
              <p:cNvPr id="13" name="Text 11"/>
              <p:cNvSpPr>
                <a:spLocks noRot="1" noChangeAspect="1" noMove="1" noResize="1" noEditPoints="1" noAdjustHandles="1" noChangeArrowheads="1" noChangeShapeType="1" noTextEdit="1"/>
              </p:cNvSpPr>
              <p:nvPr/>
            </p:nvSpPr>
            <p:spPr>
              <a:xfrm>
                <a:off x="502920" y="3264408"/>
                <a:ext cx="11155680" cy="1005840"/>
              </a:xfrm>
              <a:prstGeom prst="rect">
                <a:avLst/>
              </a:prstGeom>
              <a:blipFill>
                <a:blip r:embed="rId7"/>
                <a:stretch>
                  <a:fillRect l="-55" t="-606"/>
                </a:stretch>
              </a:blipFill>
              <a:ln/>
            </p:spPr>
            <p:txBody>
              <a:bodyPr/>
              <a:lstStyle/>
              <a:p>
                <a:r>
                  <a:rPr lang="es-AR">
                    <a:noFill/>
                  </a:rPr>
                  <a:t> </a:t>
                </a:r>
              </a:p>
            </p:txBody>
          </p:sp>
        </mc:Fallback>
      </mc:AlternateContent>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0292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transformación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02920" y="4773168"/>
                <a:ext cx="11155680" cy="1005840"/>
              </a:xfrm>
              <a:prstGeom prst="rect">
                <a:avLst/>
              </a:prstGeom>
              <a:blipFill>
                <a:blip r:embed="rId8"/>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547872"/>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547872"/>
                <a:ext cx="6098796" cy="571760"/>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274320" y="834453"/>
                <a:ext cx="11155680"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homopolar al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274320" y="834453"/>
                <a:ext cx="11155680" cy="1005840"/>
              </a:xfrm>
              <a:prstGeom prst="rect">
                <a:avLst/>
              </a:prstGeom>
              <a:blipFill>
                <a:blip r:embed="rId2"/>
                <a:stretch>
                  <a:fillRect l="-164" t="-1212"/>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31977" y="1753465"/>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54771" y="2232646"/>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54771" y="2232646"/>
                <a:ext cx="4544034" cy="530352"/>
              </a:xfrm>
              <a:prstGeom prst="rect">
                <a:avLst/>
              </a:prstGeom>
              <a:blipFill>
                <a:blip r:embed="rId3"/>
                <a:stretch>
                  <a:fillRect t="-65517" b="-104598"/>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51867" y="2350008"/>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51867" y="2350008"/>
                <a:ext cx="6512659" cy="530352"/>
              </a:xfrm>
              <a:prstGeom prst="rect">
                <a:avLst/>
              </a:prstGeom>
              <a:blipFill>
                <a:blip r:embed="rId4"/>
                <a:stretch>
                  <a:fillRect t="-45977"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tretch>
            <a:fillRect/>
          </a:stretch>
        </p:blipFill>
        <p:spPr>
          <a:xfrm>
            <a:off x="1031845" y="816440"/>
            <a:ext cx="9464149"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Ley de control </a:t>
            </a:r>
            <a:r>
              <a:rPr lang="en-US" sz="1900" b="1" dirty="0" err="1">
                <a:solidFill>
                  <a:srgbClr val="FFFFFF"/>
                </a:solidFill>
                <a:latin typeface="Calibri" pitchFamily="34" charset="0"/>
                <a:ea typeface="Calibri" pitchFamily="34" charset="-122"/>
                <a:cs typeface="Calibri" pitchFamily="34" charset="-120"/>
              </a:rPr>
              <a:t>mínima</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179329" y="717751"/>
                <a:ext cx="11430000" cy="548640"/>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4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y</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MX" sz="1400" b="0" i="1" smtClean="0">
                        <a:latin typeface="Cambria Math" panose="02040503050406030204" pitchFamily="18" charset="0"/>
                      </a:rPr>
                      <m:t>=0</m:t>
                    </m:r>
                  </m:oMath>
                </a14:m>
                <a:r>
                  <a:rPr lang="es-AR" sz="14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179329" y="717751"/>
                <a:ext cx="11430000" cy="548640"/>
              </a:xfrm>
              <a:prstGeom prst="rect">
                <a:avLst/>
              </a:prstGeom>
              <a:blipFill>
                <a:blip r:embed="rId2"/>
                <a:stretch>
                  <a:fillRect l="-160"/>
                </a:stretch>
              </a:blipFill>
              <a:ln/>
            </p:spPr>
            <p:txBody>
              <a:bodyPr/>
              <a:lstStyle/>
              <a:p>
                <a:r>
                  <a:rPr lang="es-AR">
                    <a:noFill/>
                  </a:rPr>
                  <a:t> </a:t>
                </a:r>
              </a:p>
            </p:txBody>
          </p:sp>
        </mc:Fallback>
      </mc:AlternateContent>
      <p:sp>
        <p:nvSpPr>
          <p:cNvPr id="8" name="Shape 6"/>
          <p:cNvSpPr/>
          <p:nvPr/>
        </p:nvSpPr>
        <p:spPr>
          <a:xfrm>
            <a:off x="457200" y="1225465"/>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225465"/>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225465"/>
                <a:ext cx="7589520" cy="502920"/>
              </a:xfrm>
              <a:prstGeom prst="rect">
                <a:avLst/>
              </a:prstGeom>
              <a:blipFill>
                <a:blip r:embed="rId3"/>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65939"/>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65939"/>
                <a:ext cx="9256412" cy="296363"/>
              </a:xfrm>
              <a:prstGeom prst="rect">
                <a:avLst/>
              </a:prstGeom>
              <a:blipFill>
                <a:blip r:embed="rId4"/>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5"/>
          <a:stretch>
            <a:fillRect/>
          </a:stretch>
        </p:blipFill>
        <p:spPr>
          <a:xfrm>
            <a:off x="1292797" y="2062302"/>
            <a:ext cx="8361673" cy="4100585"/>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300" dirty="0"/>
                  <a:t> Aplicando la ley de control mínima sobre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300" dirty="0"/>
                  <a:t>:</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Esta ecuación corresponde a un sistema lineal de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27288"/>
              </a:xfrm>
              <a:prstGeom prst="rect">
                <a:avLst/>
              </a:prstGeom>
              <a:noFill/>
            </p:spPr>
            <p:txBody>
              <a:bodyPr wrap="square">
                <a:spAutoFit/>
              </a:bodyPr>
              <a:lstStyle/>
              <a:p>
                <a:pPr algn="just">
                  <a:lnSpc>
                    <a:spcPct val="107000"/>
                  </a:lnSpc>
                  <a:spcBef>
                    <a:spcPts val="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3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3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3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27288"/>
              </a:xfrm>
              <a:prstGeom prst="rect">
                <a:avLst/>
              </a:prstGeom>
              <a:blipFill>
                <a:blip r:embed="rId6"/>
                <a:stretch>
                  <a:fillRect l="-52" r="-52" b="-776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11612880" cy="539828"/>
              </a:xfrm>
              <a:prstGeom prst="rect">
                <a:avLst/>
              </a:prstGeom>
              <a:noFill/>
            </p:spPr>
            <p:txBody>
              <a:bodyPr wrap="square">
                <a:spAutoFit/>
              </a:bodyPr>
              <a:lstStyle/>
              <a:p>
                <a:r>
                  <a:rPr lang="es-AR" sz="1400" dirty="0"/>
                  <a:t>Se puede implementar una restricción o Ley de Control complementaria mínima en el eje q para eliminar completamente el acoplamiento, y obtener un modelo equivalente lineal, independiente del estado inicial de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t>, podemos despejar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11612880" cy="539828"/>
              </a:xfrm>
              <a:prstGeom prst="rect">
                <a:avLst/>
              </a:prstGeom>
              <a:blipFill>
                <a:blip r:embed="rId8"/>
                <a:stretch>
                  <a:fillRect l="-157" t="-2247" b="-8989"/>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428725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32015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320152"/>
                <a:ext cx="7589520" cy="502920"/>
              </a:xfrm>
              <a:prstGeom prst="rect">
                <a:avLst/>
              </a:prstGeom>
              <a:blipFill>
                <a:blip r:embed="rId9"/>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509458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512748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5127482"/>
                <a:ext cx="7589520" cy="502920"/>
              </a:xfrm>
              <a:prstGeom prst="rect">
                <a:avLst/>
              </a:prstGeom>
              <a:blipFill>
                <a:blip r:embed="rId10"/>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19E0564-D6DC-483D-A7DA-D040A55C1EF1}"/>
              </a:ext>
            </a:extLst>
          </p:cNvPr>
          <p:cNvPicPr/>
          <p:nvPr/>
        </p:nvPicPr>
        <p:blipFill>
          <a:blip r:embed="rId2"/>
          <a:stretch>
            <a:fillRect/>
          </a:stretch>
        </p:blipFill>
        <p:spPr>
          <a:xfrm>
            <a:off x="274320" y="864951"/>
            <a:ext cx="11612880" cy="5493857"/>
          </a:xfrm>
          <a:prstGeom prst="rect">
            <a:avLst/>
          </a:prstGeom>
        </p:spPr>
      </p:pic>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10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 y q</a:t>
            </a:r>
            <a:endParaRPr lang="en-US" sz="1100" dirty="0"/>
          </a:p>
        </p:txBody>
      </p:sp>
    </p:spTree>
    <p:extLst>
      <p:ext uri="{BB962C8B-B14F-4D97-AF65-F5344CB8AC3E}">
        <p14:creationId xmlns:p14="http://schemas.microsoft.com/office/powerpoint/2010/main" val="33068440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853489"/>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mc:Choice xmlns:a14="http://schemas.microsoft.com/office/drawing/2010/main"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r>
                                              <a:rPr lang="es-MX" sz="1600" b="0" i="0" smtClean="0">
                                                <a:solidFill>
                                                  <a:schemeClr val="tx1"/>
                                                </a:solidFill>
                                                <a:latin typeface="Cambria Math" panose="02040503050406030204" pitchFamily="18" charset="0"/>
                                              </a:rPr>
                                              <m:t>       </m:t>
                                            </m:r>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Modelo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a:blip r:embed="rId2"/>
          <a:stretch>
            <a:fillRect/>
          </a:stretch>
        </p:blipFill>
        <p:spPr>
          <a:xfrm>
            <a:off x="1422918" y="739997"/>
            <a:ext cx="8783968"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mc:AlternateContent xmlns:mc="http://schemas.openxmlformats.org/markup-compatibility/2006" xmlns:a14="http://schemas.microsoft.com/office/drawing/2010/main">
        <mc:Choice Requires="a14">
          <p:sp>
            <p:nvSpPr>
              <p:cNvPr id="9" name="TextBox 8"/>
              <p:cNvSpPr txBox="1"/>
              <p:nvPr/>
            </p:nvSpPr>
            <p:spPr>
              <a:xfrm>
                <a:off x="365760" y="1965960"/>
                <a:ext cx="5486400" cy="818173"/>
              </a:xfrm>
              <a:prstGeom prst="rect">
                <a:avLst/>
              </a:prstGeom>
              <a:noFill/>
            </p:spPr>
            <p:txBody>
              <a:bodyPr wrap="square">
                <a:spAutoFit/>
              </a:bodyPr>
              <a:lstStyle/>
              <a:p>
                <a:r>
                  <a:rPr lang="es-AR" sz="1350" dirty="0">
                    <a:solidFill>
                      <a:srgbClr val="1A1A2E"/>
                    </a:solidFill>
                    <a:latin typeface="Calibri"/>
                  </a:rPr>
                  <a:t>Conserva los acoplamientos y no linealidades del sistema real</a:t>
                </a:r>
              </a:p>
              <a:p>
                <a:pPr>
                  <a:spcBef>
                    <a:spcPts val="400"/>
                  </a:spcBef>
                </a:pPr>
                <a:r>
                  <a:rPr lang="es-AR" sz="1350" dirty="0">
                    <a:solidFill>
                      <a:srgbClr val="1A1A2E"/>
                    </a:solidFill>
                    <a:latin typeface="Calibri"/>
                  </a:rPr>
                  <a:t>Mayor validez para distintos regímenes de operación (no solo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a:p>
                <a:pPr>
                  <a:spcBef>
                    <a:spcPts val="400"/>
                  </a:spcBef>
                </a:pPr>
                <a:r>
                  <a:rPr lang="es-AR" sz="1350" dirty="0">
                    <a:solidFill>
                      <a:srgbClr val="1A1A2E"/>
                    </a:solidFill>
                    <a:latin typeface="Calibri"/>
                  </a:rPr>
                  <a:t>Permite simular el efecto del campo magnético en el torque para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p:txBody>
          </p:sp>
        </mc:Choice>
        <mc:Fallback xmlns="">
          <p:sp>
            <p:nvSpPr>
              <p:cNvPr id="9" name="TextBox 8"/>
              <p:cNvSpPr txBox="1">
                <a:spLocks noRot="1" noChangeAspect="1" noMove="1" noResize="1" noEditPoints="1" noAdjustHandles="1" noChangeArrowheads="1" noChangeShapeType="1" noTextEdit="1"/>
              </p:cNvSpPr>
              <p:nvPr/>
            </p:nvSpPr>
            <p:spPr>
              <a:xfrm>
                <a:off x="365760" y="1965960"/>
                <a:ext cx="5486400" cy="818173"/>
              </a:xfrm>
              <a:prstGeom prst="rect">
                <a:avLst/>
              </a:prstGeom>
              <a:blipFill>
                <a:blip r:embed="rId3"/>
                <a:stretch>
                  <a:fillRect l="-222" t="-1493" b="-5970"/>
                </a:stretch>
              </a:blipFill>
            </p:spPr>
            <p:txBody>
              <a:bodyPr/>
              <a:lstStyle/>
              <a:p>
                <a:r>
                  <a:rPr lang="es-AR">
                    <a:noFill/>
                  </a:rPr>
                  <a:t> </a:t>
                </a:r>
              </a:p>
            </p:txBody>
          </p:sp>
        </mc:Fallback>
      </mc:AlternateContent>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4"/>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6"/>
                <a:stretch>
                  <a:fillRect t="-1460" b="-4380"/>
                </a:stretch>
              </a:blipFill>
            </p:spPr>
            <p:txBody>
              <a:bodyPr/>
              <a:lstStyle/>
              <a:p>
                <a:r>
                  <a:rPr lang="es-AR">
                    <a:noFill/>
                  </a:rPr>
                  <a:t> </a:t>
                </a:r>
              </a:p>
            </p:txBody>
          </p:sp>
        </mc:Fallback>
      </mc:AlternateContent>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MX" sz="1400" b="0" i="1" smtClean="0">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649847" y="2858879"/>
                <a:ext cx="11368735" cy="591829"/>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3</m:t>
                                </m:r>
                              </m:num>
                              <m:den>
                                <m:r>
                                  <a:rPr lang="es-AR" sz="1400" i="1">
                                    <a:solidFill>
                                      <a:schemeClr val="tx1"/>
                                    </a:solidFill>
                                    <a:latin typeface="Cambria Math" panose="02040503050406030204" pitchFamily="18" charset="0"/>
                                  </a:rPr>
                                  <m:t>2</m:t>
                                </m:r>
                              </m:den>
                            </m:f>
                          </m:e>
                        </m:box>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ˊ</m:t>
                            </m:r>
                            <m:r>
                              <a:rPr lang="es-AR" sz="1400" i="1">
                                <a:solidFill>
                                  <a:schemeClr val="tx1"/>
                                </a:solidFill>
                                <a:latin typeface="Cambria Math" panose="02040503050406030204" pitchFamily="18" charset="0"/>
                              </a:rPr>
                              <m:t>𝑟</m:t>
                            </m:r>
                          </m:sup>
                        </m:sSub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r>
                  <a:rPr lang="es-AR"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m:t>
                        </m:r>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e>
                        </m:box>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endParaRPr lang="es-AR" sz="14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649847" y="2858879"/>
                <a:ext cx="11368735" cy="591829"/>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810286" y="1135878"/>
                <a:ext cx="10741937" cy="1224181"/>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1</m:t>
                                    </m:r>
                                  </m:sub>
                                </m:sSub>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2,3</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r>
                                      <a:rPr lang="es-AR" sz="1600">
                                        <a:latin typeface="Cambria Math" panose="02040503050406030204" pitchFamily="18" charset="0"/>
                                      </a:rPr>
                                      <m:t>±</m:t>
                                    </m:r>
                                    <m:rad>
                                      <m:radPr>
                                        <m:degHide m:val="on"/>
                                        <m:ctrlPr>
                                          <a:rPr lang="es-AR" sz="1600" i="1">
                                            <a:latin typeface="Cambria Math" panose="02040503050406030204" pitchFamily="18" charset="0"/>
                                          </a:rPr>
                                        </m:ctrlPr>
                                      </m:radPr>
                                      <m:deg/>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e>
                                          <m:sup>
                                            <m:r>
                                              <a:rPr lang="es-AR" sz="1600" i="1">
                                                <a:latin typeface="Cambria Math" panose="02040503050406030204" pitchFamily="18" charset="0"/>
                                              </a:rPr>
                                              <m:t>2</m:t>
                                            </m:r>
                                          </m:sup>
                                        </m:sSup>
                                        <m:r>
                                          <a:rPr lang="es-AR" sz="1600" i="1">
                                            <a:latin typeface="Cambria Math" panose="02040503050406030204" pitchFamily="18" charset="0"/>
                                          </a:rPr>
                                          <m:t>−4</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Sup>
                                              <m:sSubSupPr>
                                                <m:ctrlPr>
                                                  <a:rPr lang="es-AR" sz="1600" i="1">
                                                    <a:latin typeface="Cambria Math" panose="02040503050406030204" pitchFamily="18" charset="0"/>
                                                  </a:rPr>
                                                </m:ctrlPr>
                                              </m:sSubSupPr>
                                              <m:e>
                                                <m:r>
                                                  <a:rPr lang="es-AR" sz="1600" i="1">
                                                    <a:latin typeface="Cambria Math" panose="02040503050406030204" pitchFamily="18" charset="0"/>
                                                  </a:rPr>
                                                  <m:t>𝑃</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e>
                                    </m:rad>
                                  </m:num>
                                  <m:den>
                                    <m:r>
                                      <a:rPr lang="es-AR" sz="1600" i="1">
                                        <a:latin typeface="Cambria Math" panose="02040503050406030204" pitchFamily="18" charset="0"/>
                                      </a:rPr>
                                      <m:t>2</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en>
                                </m:f>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10286" y="1135878"/>
                <a:ext cx="10741937" cy="1224181"/>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𝑧</m:t>
                          </m:r>
                        </m:sub>
                      </m:sSub>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𝑹</m:t>
                                    </m:r>
                                  </m:e>
                                  <m:sub>
                                    <m:r>
                                      <a:rPr lang="es-AR" sz="1200">
                                        <a:effectLst/>
                                        <a:latin typeface="Cambria Math" panose="02040503050406030204" pitchFamily="18" charset="0"/>
                                      </a:rPr>
                                      <m:t>𝒔</m:t>
                                    </m:r>
                                  </m:sub>
                                </m:sSub>
                                <m:d>
                                  <m:dPr>
                                    <m:begChr m:val="["/>
                                    <m:endChr m:val="]"/>
                                    <m:ctrlPr>
                                      <a:rPr lang="es-AR" sz="1200" i="1">
                                        <a:effectLst/>
                                        <a:latin typeface="Cambria Math" panose="02040503050406030204" pitchFamily="18" charset="0"/>
                                      </a:rPr>
                                    </m:ctrlPr>
                                  </m:dPr>
                                  <m:e>
                                    <m:r>
                                      <a:rPr lang="es-AR" sz="1200">
                                        <a:effectLst/>
                                        <a:latin typeface="Cambria Math" panose="02040503050406030204" pitchFamily="18" charset="0"/>
                                      </a:rPr>
                                      <m:t>𝜴</m:t>
                                    </m:r>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97307">
                    <a:tc>
                      <a:txBody>
                        <a:bodyPr/>
                        <a:lstStyle/>
                        <a:p>
                          <a:endParaRPr lang="es-AR"/>
                        </a:p>
                      </a:txBody>
                      <a:tcPr marL="44450" marR="44450" marT="0" marB="0" anchor="b">
                        <a:blipFill>
                          <a:blip r:embed="rId6"/>
                          <a:stretch>
                            <a:fillRect l="-617" t="-100000" r="-940741" b="-542857"/>
                          </a:stretch>
                        </a:blipFill>
                      </a:tcPr>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100000" r="-103782" b="-542857"/>
                          </a:stretch>
                        </a:blipFill>
                      </a:tcPr>
                    </a:tc>
                    <a:tc>
                      <a:txBody>
                        <a:bodyPr/>
                        <a:lstStyle/>
                        <a:p>
                          <a:endParaRPr lang="es-AR"/>
                        </a:p>
                      </a:txBody>
                      <a:tcPr marL="44450" marR="44450" marT="0" marB="0" anchor="b">
                        <a:blipFill>
                          <a:blip r:embed="rId6"/>
                          <a:stretch>
                            <a:fillRect l="-592593" t="-100000" r="-1646" b="-54285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Tree>
    <p:extLst>
      <p:ext uri="{BB962C8B-B14F-4D97-AF65-F5344CB8AC3E}">
        <p14:creationId xmlns:p14="http://schemas.microsoft.com/office/powerpoint/2010/main" val="25777917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Tree>
    <p:extLst>
      <p:ext uri="{BB962C8B-B14F-4D97-AF65-F5344CB8AC3E}">
        <p14:creationId xmlns:p14="http://schemas.microsoft.com/office/powerpoint/2010/main" val="1555235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rcRect/>
          <a:stretch/>
        </p:blipFill>
        <p:spPr>
          <a:xfrm>
            <a:off x="0" y="658369"/>
            <a:ext cx="5372395" cy="4196880"/>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819260" y="4871784"/>
                <a:ext cx="4035141" cy="44602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12— Variación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819260" y="4871784"/>
                <a:ext cx="4035141" cy="446020"/>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38237">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48425">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58125" t="-84483" r="-623750" b="-313793"/>
                          </a:stretch>
                        </a:blipFill>
                      </a:tcPr>
                    </a:tc>
                    <a:tc>
                      <a:txBody>
                        <a:bodyPr/>
                        <a:lstStyle/>
                        <a:p>
                          <a:endParaRPr lang="es-AR"/>
                        </a:p>
                      </a:txBody>
                      <a:tcPr marL="68580" marR="68580" marT="0" marB="0">
                        <a:blipFill>
                          <a:blip r:embed="rId5"/>
                          <a:stretch>
                            <a:fillRect l="-220856" t="-84483" r="-433690" b="-313793"/>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900763" t="-84483" r="-76336" b="-313793"/>
                          </a:stretch>
                        </a:blipFill>
                      </a:tcPr>
                    </a:tc>
                    <a:tc>
                      <a:txBody>
                        <a:bodyPr/>
                        <a:lstStyle/>
                        <a:p>
                          <a:endParaRPr lang="es-AR"/>
                        </a:p>
                      </a:txBody>
                      <a:tcPr marL="68580" marR="68580" marT="0" marB="0">
                        <a:blipFill>
                          <a:blip r:embed="rId5"/>
                          <a:stretch>
                            <a:fillRect l="-1380000" t="-84483" r="-5263" b="-313793"/>
                          </a:stretch>
                        </a:blipFill>
                      </a:tcPr>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Tree>
    <p:extLst>
      <p:ext uri="{BB962C8B-B14F-4D97-AF65-F5344CB8AC3E}">
        <p14:creationId xmlns:p14="http://schemas.microsoft.com/office/powerpoint/2010/main" val="4192547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20039" y="2372477"/>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5458" y="89115"/>
            <a:ext cx="4940904" cy="415498"/>
          </a:xfrm>
          <a:prstGeom prst="rect">
            <a:avLst/>
          </a:prstGeom>
          <a:noFill/>
        </p:spPr>
        <p:txBody>
          <a:bodyPr wrap="none">
            <a:spAutoFit/>
          </a:bodyPr>
          <a:lstStyle/>
          <a:p>
            <a:pPr algn="l"/>
            <a:r>
              <a:rPr sz="2100" b="1" dirty="0" err="1">
                <a:solidFill>
                  <a:srgbClr val="FFFFFF"/>
                </a:solidFill>
                <a:latin typeface="Cambria"/>
              </a:rPr>
              <a:t>Frecuencia</a:t>
            </a:r>
            <a:r>
              <a:rPr sz="2100" b="1" dirty="0">
                <a:solidFill>
                  <a:srgbClr val="FFFFFF"/>
                </a:solidFill>
                <a:latin typeface="Cambria"/>
              </a:rPr>
              <a:t> natural y </a:t>
            </a:r>
            <a:r>
              <a:rPr sz="2100" b="1" dirty="0" err="1">
                <a:solidFill>
                  <a:srgbClr val="FFFFFF"/>
                </a:solidFill>
                <a:latin typeface="Cambria"/>
              </a:rPr>
              <a:t>amortiguamiento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307777"/>
              </a:xfrm>
              <a:prstGeom prst="rect">
                <a:avLst/>
              </a:prstGeom>
              <a:noFill/>
            </p:spPr>
            <p:txBody>
              <a:bodyPr wrap="square">
                <a:spAutoFit/>
              </a:bodyPr>
              <a:lstStyle/>
              <a:p>
                <a:r>
                  <a:rPr lang="es-AR" sz="1400" b="0" i="0" dirty="0">
                    <a:solidFill>
                      <a:srgbClr val="1A1A2E"/>
                    </a:solidFill>
                    <a:latin typeface="Calibri"/>
                  </a:rPr>
                  <a:t>Comparando el polinomio característico de s₂,₃ con la forma canónica de segundo orden, se obtienen </a:t>
                </a:r>
                <a14:m>
                  <m:oMath xmlns:m="http://schemas.openxmlformats.org/officeDocument/2006/math">
                    <m:sSub>
                      <m:sSubPr>
                        <m:ctrlPr>
                          <a:rPr lang="es-AR" sz="1400" i="1">
                            <a:latin typeface="Cambria Math" panose="02040503050406030204" pitchFamily="18" charset="0"/>
                            <a:ea typeface="Calibri" panose="020F0502020204030204" pitchFamily="34" charset="0"/>
                            <a:cs typeface="Times New Roman" panose="020206030504050203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i="1">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400" b="0" i="0" dirty="0">
                    <a:solidFill>
                      <a:srgbClr val="1A1A2E"/>
                    </a:solidFill>
                    <a:latin typeface="Calibri"/>
                  </a:rPr>
                  <a:t> y ζ en función de los parámetros del sistema:</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307777"/>
              </a:xfrm>
              <a:prstGeom prst="rect">
                <a:avLst/>
              </a:prstGeom>
              <a:blipFill>
                <a:blip r:embed="rId2"/>
                <a:stretch>
                  <a:fillRect l="-160" t="-4000" b="-2000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a:t>
                          </a:r>
                          <a14:m>
                            <m:oMath xmlns:m="http://schemas.openxmlformats.org/officeDocument/2006/math">
                              <m:sSub>
                                <m:sSubPr>
                                  <m:ctrlPr>
                                    <a:rPr lang="es-AR" sz="1200" i="1" smtClean="0">
                                      <a:latin typeface="Cambria Math" panose="02040503050406030204" pitchFamily="18" charset="0"/>
                                    </a:rPr>
                                  </m:ctrlPr>
                                </m:sSubPr>
                                <m:e>
                                  <m:r>
                                    <a:rPr lang="es-MX" sz="1200" b="0" i="1" smtClean="0">
                                      <a:latin typeface="Cambria Math" panose="02040503050406030204" pitchFamily="18" charset="0"/>
                                    </a:rPr>
                                    <m:t>𝑚</m:t>
                                  </m:r>
                                </m:e>
                                <m:sub>
                                  <m:r>
                                    <a:rPr lang="es-MX" sz="1200" b="0" i="1" smtClean="0">
                                      <a:latin typeface="Cambria Math" panose="02040503050406030204" pitchFamily="18" charset="0"/>
                                    </a:rPr>
                                    <m:t>𝑙</m:t>
                                  </m:r>
                                </m:sub>
                              </m:sSub>
                            </m:oMath>
                          </a14:m>
                          <a:r>
                            <a:rPr lang="es-AR" sz="1200" noProof="0" dirty="0">
                              <a:latin typeface="+mn-lt"/>
                            </a:rPr>
                            <a:t>=1.5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endParaRPr lang="es-AR"/>
                        </a:p>
                      </a:txBody>
                      <a:tcPr>
                        <a:blipFill>
                          <a:blip r:embed="rId3"/>
                          <a:stretch>
                            <a:fillRect l="-169438" t="-2000" r="-118652" b="-514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endParaRPr lang="es-AR"/>
                        </a:p>
                      </a:txBody>
                      <a:tcPr>
                        <a:blipFill>
                          <a:blip r:embed="rId3"/>
                          <a:stretch>
                            <a:fillRect l="-133" t="-290385" r="-129216" b="-201923"/>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endParaRPr lang="es-AR"/>
                        </a:p>
                      </a:txBody>
                      <a:tcPr>
                        <a:blipFill>
                          <a:blip r:embed="rId3"/>
                          <a:stretch>
                            <a:fillRect l="-133" t="-398039" r="-129216" b="-105882"/>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endParaRPr lang="es-AR"/>
                        </a:p>
                      </a:txBody>
                      <a:tcPr>
                        <a:blipFill>
                          <a:blip r:embed="rId3"/>
                          <a:stretch>
                            <a:fillRect l="-133" t="-488462" r="-129216" b="-3846"/>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380846" y="5631608"/>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sobre amortiguado)</a:t>
                </a:r>
              </a:p>
            </p:txBody>
          </p:sp>
        </mc:Choice>
        <mc:Fallback xmlns="">
          <p:sp>
            <p:nvSpPr>
              <p:cNvPr id="13" name="TextBox 12"/>
              <p:cNvSpPr txBox="1">
                <a:spLocks noRot="1" noChangeAspect="1" noMove="1" noResize="1" noEditPoints="1" noAdjustHandles="1" noChangeArrowheads="1" noChangeShapeType="1" noTextEdit="1"/>
              </p:cNvSpPr>
              <p:nvPr/>
            </p:nvSpPr>
            <p:spPr>
              <a:xfrm>
                <a:off x="380846" y="5631608"/>
                <a:ext cx="11430000" cy="812915"/>
              </a:xfrm>
              <a:prstGeom prst="rect">
                <a:avLst/>
              </a:prstGeom>
              <a:blipFill>
                <a:blip r:embed="rId4"/>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05013" y="2360402"/>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05013" y="2360402"/>
                <a:ext cx="6143346" cy="930511"/>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17872" y="2577733"/>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b</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R</m:t>
                              </m:r>
                            </m:e>
                            <m:sub>
                              <m:r>
                                <m:rPr>
                                  <m:sty m:val="p"/>
                                </m:rPr>
                                <a:rPr lang="es-AR" sz="1400" i="0">
                                  <a:solidFill>
                                    <a:schemeClr val="tx1"/>
                                  </a:solidFill>
                                  <a:latin typeface="Cambria Math" panose="02040503050406030204" pitchFamily="18" charset="0"/>
                                </a:rPr>
                                <m:t>s</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T</m:t>
                                  </m:r>
                                </m:e>
                                <m:sub>
                                  <m:r>
                                    <m:rPr>
                                      <m:sty m:val="p"/>
                                    </m:rPr>
                                    <a:rPr lang="es-AR" sz="1400" i="0">
                                      <a:solidFill>
                                        <a:schemeClr val="tx1"/>
                                      </a:solidFill>
                                      <a:latin typeface="Cambria Math" panose="02040503050406030204" pitchFamily="18" charset="0"/>
                                    </a:rPr>
                                    <m:t>s</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num>
                        <m:den>
                          <m:r>
                            <a:rPr lang="es-AR" sz="1400" i="0">
                              <a:solidFill>
                                <a:schemeClr val="tx1"/>
                              </a:solidFill>
                              <a:latin typeface="Cambria Math" panose="02040503050406030204" pitchFamily="18" charset="0"/>
                            </a:rPr>
                            <m:t>2 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m:rPr>
                                  <m:sty m:val="p"/>
                                </m:rPr>
                                <a:rPr lang="es-AR" sz="1400" i="0">
                                  <a:solidFill>
                                    <a:schemeClr val="tx1"/>
                                  </a:solidFill>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17872" y="2577733"/>
                <a:ext cx="6143346" cy="581057"/>
              </a:xfrm>
              <a:prstGeom prst="rect">
                <a:avLst/>
              </a:prstGeom>
              <a:blipFill>
                <a:blip r:embed="rId6"/>
                <a:stretch>
                  <a:fillRect/>
                </a:stretch>
              </a:blipFill>
            </p:spPr>
            <p:txBody>
              <a:bodyPr/>
              <a:lstStyle/>
              <a:p>
                <a:r>
                  <a:rPr lang="es-AR">
                    <a:noFill/>
                  </a:rPr>
                  <a:t> </a:t>
                </a:r>
              </a:p>
            </p:txBody>
          </p:sp>
        </mc:Fallback>
      </mc:AlternateContent>
      <p:sp>
        <p:nvSpPr>
          <p:cNvPr id="14" name="Shape 14">
            <a:extLst>
              <a:ext uri="{FF2B5EF4-FFF2-40B4-BE49-F238E27FC236}">
                <a16:creationId xmlns:a16="http://schemas.microsoft.com/office/drawing/2014/main" id="{EDA96A35-DC5A-4231-B367-8F13B52C36A3}"/>
              </a:ext>
            </a:extLst>
          </p:cNvPr>
          <p:cNvSpPr/>
          <p:nvPr/>
        </p:nvSpPr>
        <p:spPr>
          <a:xfrm>
            <a:off x="320039" y="1234199"/>
            <a:ext cx="11551615" cy="96298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BB668F99-9D93-4E57-9121-0A4CDA553DE1}"/>
                  </a:ext>
                </a:extLst>
              </p:cNvPr>
              <p:cNvSpPr txBox="1"/>
              <p:nvPr/>
            </p:nvSpPr>
            <p:spPr>
              <a:xfrm>
                <a:off x="551973" y="1390398"/>
                <a:ext cx="8572722" cy="634148"/>
              </a:xfrm>
              <a:prstGeom prst="rect">
                <a:avLst/>
              </a:prstGeom>
              <a:noFill/>
            </p:spPr>
            <p:txBody>
              <a:bodyPr wrap="square">
                <a:spAutoFit/>
              </a:bodyPr>
              <a:lstStyle/>
              <a:p>
                <a14:m>
                  <m:oMath xmlns:m="http://schemas.openxmlformats.org/officeDocument/2006/math">
                    <m:sSup>
                      <m:sSupPr>
                        <m:ctrlPr>
                          <a:rPr lang="es-AR" sz="1600" i="1" smtClean="0">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+2</m:t>
                    </m:r>
                    <m:r>
                      <a:rPr lang="es-AR" sz="1600" i="1">
                        <a:latin typeface="Cambria Math" panose="02040503050406030204" pitchFamily="18" charset="0"/>
                      </a:rPr>
                      <m:t>𝜁</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𝑛</m:t>
                        </m:r>
                      </m:sub>
                    </m:sSub>
                    <m:r>
                      <a:rPr lang="es-AR" sz="1600" i="1">
                        <a:latin typeface="Cambria Math" panose="02040503050406030204" pitchFamily="18" charset="0"/>
                      </a:rPr>
                      <m:t>𝑠</m:t>
                    </m:r>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𝜔</m:t>
                        </m:r>
                      </m:e>
                      <m:sub>
                        <m:r>
                          <a:rPr lang="es-AR" sz="1600" i="1">
                            <a:latin typeface="Cambria Math" panose="02040503050406030204" pitchFamily="18" charset="0"/>
                          </a:rPr>
                          <m:t>𝑛</m:t>
                        </m:r>
                      </m:sub>
                      <m:sup>
                        <m:r>
                          <a:rPr lang="es-AR" sz="1600" i="1">
                            <a:latin typeface="Cambria Math" panose="02040503050406030204" pitchFamily="18" charset="0"/>
                          </a:rPr>
                          <m:t>2</m:t>
                        </m:r>
                      </m:sup>
                    </m:sSubSup>
                    <m:r>
                      <a:rPr lang="es-AR" sz="1600" i="1">
                        <a:latin typeface="Cambria Math" panose="02040503050406030204" pitchFamily="18" charset="0"/>
                      </a:rPr>
                      <m:t>=0</m:t>
                    </m:r>
                    <m:r>
                      <a:rPr lang="es-AR" sz="1600" b="0" i="1" smtClean="0">
                        <a:latin typeface="Cambria Math" panose="02040503050406030204" pitchFamily="18" charset="0"/>
                      </a:rPr>
                      <m:t>;        </m:t>
                    </m:r>
                  </m:oMath>
                </a14:m>
                <a:r>
                  <a:rPr lang="es-AR" sz="1400" dirty="0"/>
                  <a:t> </a:t>
                </a:r>
                <a14:m>
                  <m:oMath xmlns:m="http://schemas.openxmlformats.org/officeDocument/2006/math">
                    <m:sSup>
                      <m:sSupPr>
                        <m:ctrlPr>
                          <a:rPr lang="es-AR" sz="1600" i="1">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 </m:t>
                    </m:r>
                    <m:r>
                      <a:rPr lang="es-AR" sz="1600" i="1">
                        <a:latin typeface="Cambria Math" panose="02040503050406030204" pitchFamily="18" charset="0"/>
                      </a:rPr>
                      <m:t>𝑠</m:t>
                    </m:r>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r>
                          <a:rPr lang="es-AR" sz="1600" i="1">
                            <a:latin typeface="Cambria Math" panose="02040503050406030204" pitchFamily="18" charset="0"/>
                          </a:rPr>
                          <m:t> </m:t>
                        </m:r>
                        <m:sSubSup>
                          <m:sSubSupPr>
                            <m:ctrlPr>
                              <a:rPr lang="es-AR" sz="1600" i="1">
                                <a:latin typeface="Cambria Math" panose="02040503050406030204" pitchFamily="18" charset="0"/>
                              </a:rPr>
                            </m:ctrlPr>
                          </m:sSubSupPr>
                          <m:e>
                            <m:r>
                              <a:rPr lang="es-AR" sz="1600" i="1">
                                <a:latin typeface="Cambria Math" panose="02040503050406030204" pitchFamily="18" charset="0"/>
                              </a:rPr>
                              <m:t>𝑝</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r>
                          <a:rPr lang="es-AR" sz="1600" i="1">
                            <a:latin typeface="Cambria Math" panose="02040503050406030204" pitchFamily="18" charset="0"/>
                          </a:rPr>
                          <m:t> </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m:rPr>
                                        <m:sty m:val="p"/>
                                      </m:rPr>
                                      <a:rPr lang="es-AR" sz="1600">
                                        <a:latin typeface="Cambria Math" panose="02040503050406030204" pitchFamily="18" charset="0"/>
                                      </a:rPr>
                                      <m:t>λ</m:t>
                                    </m:r>
                                  </m:e>
                                  <m:sub>
                                    <m:r>
                                      <a:rPr lang="es-AR" sz="1600" i="1">
                                        <a:latin typeface="Cambria Math" panose="02040503050406030204" pitchFamily="18" charset="0"/>
                                      </a:rPr>
                                      <m:t>𝑚</m:t>
                                    </m:r>
                                  </m:sub>
                                  <m:sup>
                                    <m:r>
                                      <a:rPr lang="es-AR" sz="1600" i="1">
                                        <a:latin typeface="Cambria Math" panose="02040503050406030204" pitchFamily="18" charset="0"/>
                                      </a:rPr>
                                      <m:t>′</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=0</m:t>
                    </m:r>
                  </m:oMath>
                </a14:m>
                <a:endParaRPr lang="es-AR" sz="1400" dirty="0"/>
              </a:p>
            </p:txBody>
          </p:sp>
        </mc:Choice>
        <mc:Fallback xmlns="">
          <p:sp>
            <p:nvSpPr>
              <p:cNvPr id="16" name="CuadroTexto 15">
                <a:extLst>
                  <a:ext uri="{FF2B5EF4-FFF2-40B4-BE49-F238E27FC236}">
                    <a16:creationId xmlns:a16="http://schemas.microsoft.com/office/drawing/2014/main" id="{BB668F99-9D93-4E57-9121-0A4CDA553DE1}"/>
                  </a:ext>
                </a:extLst>
              </p:cNvPr>
              <p:cNvSpPr txBox="1">
                <a:spLocks noRot="1" noChangeAspect="1" noMove="1" noResize="1" noEditPoints="1" noAdjustHandles="1" noChangeArrowheads="1" noChangeShapeType="1" noTextEdit="1"/>
              </p:cNvSpPr>
              <p:nvPr/>
            </p:nvSpPr>
            <p:spPr>
              <a:xfrm>
                <a:off x="551973" y="1390398"/>
                <a:ext cx="8572722" cy="634148"/>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20484" y="1407605"/>
                <a:ext cx="885326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20484" y="1407605"/>
                <a:ext cx="8853262"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5154416"/>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72287" y="5275460"/>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72287" y="5275460"/>
                <a:ext cx="11155680" cy="492443"/>
              </a:xfrm>
              <a:prstGeom prst="rect">
                <a:avLst/>
              </a:prstGeom>
              <a:blipFill>
                <a:blip r:embed="rId3"/>
                <a:stretch>
                  <a:fillRect l="-55"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257801"/>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r>
                      <a:rPr lang="es-MX" sz="1400" b="0" i="1" smtClean="0">
                        <a:solidFill>
                          <a:srgbClr val="1A1A2E"/>
                        </a:solidFill>
                        <a:latin typeface="Cambria Math" panose="02040503050406030204" pitchFamily="18" charset="0"/>
                      </a:rPr>
                      <m:t>=0</m:t>
                    </m:r>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257801"/>
                <a:ext cx="11430000" cy="523861"/>
              </a:xfrm>
              <a:prstGeom prst="rect">
                <a:avLst/>
              </a:prstGeom>
              <a:blipFill>
                <a:blip r:embed="rId4"/>
                <a:stretch>
                  <a:fillRect l="-160" t="-1163" b="-11628"/>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887825"/>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84814" y="3878739"/>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84814" y="3878739"/>
                <a:ext cx="6829153" cy="1000402"/>
              </a:xfrm>
              <a:prstGeom prst="rect">
                <a:avLst/>
              </a:prstGeom>
              <a:blipFill>
                <a:blip r:embed="rId5"/>
                <a:stretch>
                  <a:fillRect/>
                </a:stretch>
              </a:blipFill>
            </p:spPr>
            <p:txBody>
              <a:bodyPr/>
              <a:lstStyle/>
              <a:p>
                <a:r>
                  <a:rPr lang="es-AR">
                    <a:noFill/>
                  </a:rPr>
                  <a:t> </a:t>
                </a:r>
              </a:p>
            </p:txBody>
          </p:sp>
        </mc:Fallback>
      </mc:AlternateContent>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Tree>
    <p:extLst>
      <p:ext uri="{BB962C8B-B14F-4D97-AF65-F5344CB8AC3E}">
        <p14:creationId xmlns:p14="http://schemas.microsoft.com/office/powerpoint/2010/main" val="17742039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78394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307777"/>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con p entradas es completamente controlable si el rango de la matriz de controlabilidad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441960" y="1201183"/>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441960" y="1201183"/>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67624"/>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67624"/>
                <a:ext cx="11672359" cy="560346"/>
              </a:xfrm>
              <a:prstGeom prst="rect">
                <a:avLst/>
              </a:prstGeom>
              <a:blipFill>
                <a:blip r:embed="rId3"/>
                <a:stretch>
                  <a:fillRect l="-157" r="-157" b="-108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320040" y="3808747"/>
                <a:ext cx="4799960" cy="163435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20040" y="3808747"/>
                <a:ext cx="4799960" cy="1634358"/>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623883"/>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623883"/>
                <a:ext cx="11672360" cy="790858"/>
              </a:xfrm>
              <a:prstGeom prst="rect">
                <a:avLst/>
              </a:prstGeom>
              <a:blipFill>
                <a:blip r:embed="rId5"/>
                <a:stretch>
                  <a:fillRect l="-157" r="-157" b="-7752"/>
                </a:stretch>
              </a:blipFill>
            </p:spPr>
            <p:txBody>
              <a:bodyPr/>
              <a:lstStyle/>
              <a:p>
                <a:r>
                  <a:rPr lang="es-AR">
                    <a:noFill/>
                  </a:rPr>
                  <a:t> </a:t>
                </a:r>
              </a:p>
            </p:txBody>
          </p:sp>
        </mc:Fallback>
      </mc:AlternateContent>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350754"/>
              </a:xfrm>
              <a:prstGeom prst="rect">
                <a:avLst/>
              </a:prstGeom>
              <a:noFill/>
            </p:spPr>
            <p:txBody>
              <a:bodyPr wrap="square">
                <a:spAutoFit/>
              </a:bodyPr>
              <a:lstStyle/>
              <a:p>
                <a:pPr algn="just">
                  <a:spcBef>
                    <a:spcPts val="400"/>
                  </a:spcBef>
                  <a:spcAft>
                    <a:spcPts val="400"/>
                  </a:spcAft>
                </a:pPr>
                <a:r>
                  <a:rPr lang="es-AR" sz="1600" b="1" dirty="0">
                    <a:effectLst/>
                    <a:latin typeface="Calibri" panose="020F0502020204030204" pitchFamily="34" charset="0"/>
                    <a:ea typeface="Times New Roman" panose="02020603050405020304" pitchFamily="18" charset="0"/>
                  </a:rPr>
                  <a:t>Interpretación física:</a:t>
                </a:r>
                <a:endParaRPr lang="es-AR" sz="1600"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600"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Para controlarla se necesita actuar sobre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  </a:t>
                </a:r>
                <a:endParaRPr lang="es-AR" sz="16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AR" sz="1600" i="1">
                        <a:solidFill>
                          <a:schemeClr val="tx1"/>
                        </a:solidFill>
                        <a:effectLst/>
                        <a:latin typeface="Cambria Math" panose="02040503050406030204" pitchFamily="18" charset="0"/>
                        <a:ea typeface="Times New Roman" panose="02020603050405020304" pitchFamily="18" charset="0"/>
                      </a:rPr>
                      <m:t>+</m:t>
                    </m:r>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MX" sz="1600" b="0" i="0" smtClean="0">
                        <a:solidFill>
                          <a:schemeClr val="tx1"/>
                        </a:solidFill>
                        <a:effectLst/>
                        <a:latin typeface="Cambria Math" panose="02040503050406030204" pitchFamily="18" charset="0"/>
                        <a:ea typeface="Times New Roman" panose="02020603050405020304" pitchFamily="18" charset="0"/>
                      </a:rPr>
                      <m:t>. </m:t>
                    </m:r>
                  </m:oMath>
                </a14:m>
                <a:r>
                  <a:rPr lang="es-AR" sz="1600" dirty="0">
                    <a:solidFill>
                      <a:schemeClr val="tx1"/>
                    </a:solidFill>
                    <a:effectLst/>
                    <a:latin typeface="Calibri" panose="020F0502020204030204" pitchFamily="34" charset="0"/>
                    <a:ea typeface="Times New Roman" panose="02020603050405020304" pitchFamily="18" charset="0"/>
                  </a:rPr>
                  <a:t>Aunque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sz="16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a:t>
                </a:r>
                <a:r>
                  <a:rPr lang="es-AR" sz="1600"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a:t>
                </a:r>
                <a:r>
                  <a:rPr lang="es-AR" sz="1600" b="1" dirty="0">
                    <a:solidFill>
                      <a:schemeClr val="tx1"/>
                    </a:solidFill>
                    <a:effectLst/>
                    <a:latin typeface="Calibri" panose="020F0502020204030204" pitchFamily="34" charset="0"/>
                    <a:ea typeface="Times New Roman" panose="02020603050405020304" pitchFamily="18" charset="0"/>
                  </a:rPr>
                  <a:t> a un valor arbitrario </a:t>
                </a:r>
                <a:r>
                  <a:rPr lang="es-AR" sz="1600"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sz="16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350754"/>
              </a:xfrm>
              <a:prstGeom prst="rect">
                <a:avLst/>
              </a:prstGeom>
              <a:blipFill>
                <a:blip r:embed="rId2"/>
                <a:stretch>
                  <a:fillRect l="-335" t="-1357" r="-279" b="-4072"/>
                </a:stretch>
              </a:blipFill>
            </p:spPr>
            <p:txBody>
              <a:bodyPr/>
              <a:lstStyle/>
              <a:p>
                <a:r>
                  <a:rPr lang="es-AR">
                    <a:noFill/>
                  </a:rPr>
                  <a:t> </a:t>
                </a:r>
              </a:p>
            </p:txBody>
          </p:sp>
        </mc:Fallback>
      </mc:AlternateContent>
    </p:spTree>
    <p:extLst>
      <p:ext uri="{BB962C8B-B14F-4D97-AF65-F5344CB8AC3E}">
        <p14:creationId xmlns:p14="http://schemas.microsoft.com/office/powerpoint/2010/main" val="36557572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dirty="0" err="1">
                <a:solidFill>
                  <a:srgbClr val="A0C4FF"/>
                </a:solidFill>
                <a:latin typeface="Calibri"/>
              </a:rPr>
              <a:t>Simulación</a:t>
            </a:r>
            <a:r>
              <a:rPr sz="1700" dirty="0">
                <a:solidFill>
                  <a:srgbClr val="A0C4FF"/>
                </a:solidFill>
                <a:latin typeface="Calibri"/>
              </a:rPr>
              <a:t> del </a:t>
            </a:r>
            <a:r>
              <a:rPr sz="1700" dirty="0" err="1">
                <a:solidFill>
                  <a:srgbClr val="A0C4FF"/>
                </a:solidFill>
                <a:latin typeface="Calibri"/>
              </a:rPr>
              <a:t>modelo</a:t>
            </a:r>
            <a:r>
              <a:rPr sz="1700" dirty="0">
                <a:solidFill>
                  <a:srgbClr val="A0C4FF"/>
                </a:solidFill>
                <a:latin typeface="Calibri"/>
              </a:rPr>
              <a:t> NL · 4 </a:t>
            </a:r>
            <a:r>
              <a:rPr sz="1700" dirty="0" err="1">
                <a:solidFill>
                  <a:srgbClr val="A0C4FF"/>
                </a:solidFill>
                <a:latin typeface="Calibri"/>
              </a:rPr>
              <a:t>cuadrantes</a:t>
            </a:r>
            <a:r>
              <a:rPr sz="1700" dirty="0">
                <a:solidFill>
                  <a:srgbClr val="A0C4FF"/>
                </a:solidFill>
                <a:latin typeface="Calibri"/>
              </a:rPr>
              <a:t> · LTI vs NL</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C4E0C6ED-563E-49AB-8131-0DE0A9CB5BCD}"/>
              </a:ext>
            </a:extLst>
          </p:cNvPr>
          <p:cNvPicPr/>
          <p:nvPr/>
        </p:nvPicPr>
        <p:blipFill>
          <a:blip r:embed="rId2">
            <a:extLst>
              <a:ext uri="{28A0092B-C50C-407E-A947-70E740481C1C}">
                <a14:useLocalDpi xmlns:a14="http://schemas.microsoft.com/office/drawing/2010/main" val="0"/>
              </a:ext>
            </a:extLst>
          </a:blip>
          <a:srcRect t="1615" b="1615"/>
          <a:stretch>
            <a:fillRect/>
          </a:stretch>
        </p:blipFill>
        <p:spPr bwMode="auto">
          <a:xfrm>
            <a:off x="2109585" y="2259275"/>
            <a:ext cx="7571717" cy="3235563"/>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Descripción de la simulación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365759" y="1261872"/>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𝑙𝑑</m:t>
                        </m:r>
                      </m:sub>
                    </m:sSub>
                  </m:oMath>
                </a14:m>
                <a:r>
                  <a:rPr lang="es-AR" sz="1400" dirty="0">
                    <a:solidFill>
                      <a:srgbClr val="1A1A2E"/>
                    </a:solidFill>
                    <a:latin typeface="Calibri"/>
                  </a:rPr>
                  <a:t>: doble pulso ±5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365759" y="1261872"/>
                <a:ext cx="11335009" cy="879856"/>
              </a:xfrm>
              <a:prstGeom prst="rect">
                <a:avLst/>
              </a:prstGeom>
              <a:blipFill>
                <a:blip r:embed="rId3"/>
                <a:stretch>
                  <a:fillRect l="-161" t="-694" b="-4167"/>
                </a:stretch>
              </a:blipFill>
            </p:spPr>
            <p:txBody>
              <a:bodyPr/>
              <a:lstStyle/>
              <a:p>
                <a:r>
                  <a:rPr lang="es-AR">
                    <a:noFill/>
                  </a:rPr>
                  <a:t> </a:t>
                </a:r>
              </a:p>
            </p:txBody>
          </p:sp>
        </mc:Fallback>
      </mc:AlternateContent>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6500882" cy="415498"/>
          </a:xfrm>
          <a:prstGeom prst="rect">
            <a:avLst/>
          </a:prstGeom>
          <a:noFill/>
        </p:spPr>
        <p:txBody>
          <a:bodyPr wrap="none">
            <a:spAutoFit/>
          </a:bodyPr>
          <a:lstStyle/>
          <a:p>
            <a:pPr algn="l"/>
            <a:r>
              <a:rPr lang="es-AR" sz="2100" b="1" dirty="0">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xmlns:a14="http://schemas.microsoft.com/office/drawing/2010/main">
        <mc:Choice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Tree>
    <p:extLst>
      <p:ext uri="{BB962C8B-B14F-4D97-AF65-F5344CB8AC3E}">
        <p14:creationId xmlns:p14="http://schemas.microsoft.com/office/powerpoint/2010/main" val="35045723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2"/>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3"/>
          <a:srcRect r="4768" b="9471"/>
          <a:stretch/>
        </p:blipFill>
        <p:spPr>
          <a:xfrm>
            <a:off x="4209973" y="3517623"/>
            <a:ext cx="4060741" cy="2843604"/>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5"/>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6"/>
          <a:stretch>
            <a:fillRect/>
          </a:stretch>
        </p:blipFill>
        <p:spPr>
          <a:xfrm>
            <a:off x="4209973" y="711477"/>
            <a:ext cx="3742379" cy="2759327"/>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3432"/>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Corrientes y </a:t>
            </a:r>
            <a:r>
              <a:rPr sz="2100" b="1" dirty="0" err="1">
                <a:solidFill>
                  <a:srgbClr val="FFFFFF"/>
                </a:solidFill>
                <a:latin typeface="Cambria"/>
              </a:rPr>
              <a:t>temperatura</a:t>
            </a:r>
            <a:r>
              <a:rPr sz="2100" b="1" dirty="0">
                <a:solidFill>
                  <a:srgbClr val="FFFFFF"/>
                </a:solidFill>
                <a:latin typeface="Cambria"/>
              </a:rPr>
              <a:t> del </a:t>
            </a:r>
            <a:r>
              <a:rPr sz="2100" b="1" dirty="0" err="1">
                <a:solidFill>
                  <a:srgbClr val="FFFFFF"/>
                </a:solidFill>
                <a:latin typeface="Cambria"/>
              </a:rPr>
              <a:t>estator</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6" name="TextBox 15"/>
          <p:cNvSpPr txBox="1"/>
          <p:nvPr/>
        </p:nvSpPr>
        <p:spPr>
          <a:xfrm>
            <a:off x="143818" y="780791"/>
            <a:ext cx="11430000" cy="307777"/>
          </a:xfrm>
          <a:prstGeom prst="rect">
            <a:avLst/>
          </a:prstGeom>
          <a:noFill/>
        </p:spPr>
        <p:txBody>
          <a:bodyPr wrap="square">
            <a:spAutoFit/>
          </a:bodyPr>
          <a:lstStyle/>
          <a:p>
            <a:pPr algn="l"/>
            <a:r>
              <a:rPr lang="es-AR" sz="1400" b="1" i="0" dirty="0">
                <a:solidFill>
                  <a:srgbClr val="1A3A6B"/>
                </a:solidFill>
                <a:latin typeface="Calibri"/>
              </a:rPr>
              <a:t>Observaciones sobre corrientes y temperatura:</a:t>
            </a:r>
          </a:p>
        </p:txBody>
      </p:sp>
      <mc:AlternateContent xmlns:mc="http://schemas.openxmlformats.org/markup-compatibility/2006" xmlns:a14="http://schemas.microsoft.com/office/drawing/2010/main">
        <mc:Choice Requires="a14">
          <p:sp>
            <p:nvSpPr>
              <p:cNvPr id="17" name="TextBox 16"/>
              <p:cNvSpPr txBox="1"/>
              <p:nvPr/>
            </p:nvSpPr>
            <p:spPr>
              <a:xfrm>
                <a:off x="143818" y="1146551"/>
                <a:ext cx="11430000" cy="2458302"/>
              </a:xfrm>
              <a:prstGeom prst="rect">
                <a:avLst/>
              </a:prstGeom>
              <a:noFill/>
            </p:spPr>
            <p:txBody>
              <a:bodyPr wrap="square">
                <a:spAutoFit/>
              </a:bodyPr>
              <a:lstStyle/>
              <a:p>
                <a:pPr algn="just">
                  <a:spcAft>
                    <a:spcPts val="4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Analizando las gráficas de tensiones, corrientes y temperatura del estator, pueden identificarse los siguientes comportamientos:</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observan picos en las corrientes en los instantes en los que la consigna de tensión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rPr>
                        </m:ctrlPr>
                      </m:sSubSupPr>
                      <m:e>
                        <m:r>
                          <a:rPr lang="es-AR" sz="1400" i="1">
                            <a:solidFill>
                              <a:schemeClr val="tx1"/>
                            </a:solidFill>
                            <a:effectLst/>
                            <a:latin typeface="Cambria Math" panose="02040503050406030204" pitchFamily="18" charset="0"/>
                            <a:ea typeface="Times New Roman" panose="02020603050405020304" pitchFamily="18" charset="0"/>
                          </a:rPr>
                          <m:t>𝑣</m:t>
                        </m:r>
                      </m:e>
                      <m:sub>
                        <m:r>
                          <a:rPr lang="es-AR" sz="1400" i="1">
                            <a:solidFill>
                              <a:schemeClr val="tx1"/>
                            </a:solidFill>
                            <a:effectLst/>
                            <a:latin typeface="Cambria Math" panose="02040503050406030204" pitchFamily="18" charset="0"/>
                            <a:ea typeface="Times New Roman" panose="02020603050405020304" pitchFamily="18" charset="0"/>
                          </a:rPr>
                          <m:t>𝑞𝑠</m:t>
                        </m:r>
                      </m:sub>
                      <m:sup>
                        <m:r>
                          <a:rPr lang="es-AR" sz="1400" i="1">
                            <a:solidFill>
                              <a:schemeClr val="tx1"/>
                            </a:solidFill>
                            <a:effectLst/>
                            <a:latin typeface="Cambria Math" panose="02040503050406030204" pitchFamily="18" charset="0"/>
                            <a:ea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cambia, particularmente alrededor de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=0.7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Esto provoca un incremento escalonado en la temperatura del estator.</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Durante los intervalos en los que se aplica la perturbación de torque (aproximadamente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luego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la corriente aumenta para compensar el torque externo. Esto se traduce en un mayor crecimiento de la temperatura.</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Cuando el torque de carga cambia de signo dentro de cada bloque de perturbación, se produce una modificación en la corriente del eje correspondiente, reflejándose en una variación en la pendiente de la temperatura, manteniéndose casi constante.</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Finalmente, cuando cesan tanto la excitación como la perturbación, las corrientes tienden a reducirse progresivamente, mientras que la temperatura evoluciona de manera más lenta, tendiendo a estabilizarse.</a:t>
                </a:r>
                <a:endParaRPr lang="es-AR" sz="14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7" name="TextBox 16"/>
              <p:cNvSpPr txBox="1">
                <a:spLocks noRot="1" noChangeAspect="1" noMove="1" noResize="1" noEditPoints="1" noAdjustHandles="1" noChangeArrowheads="1" noChangeShapeType="1" noTextEdit="1"/>
              </p:cNvSpPr>
              <p:nvPr/>
            </p:nvSpPr>
            <p:spPr>
              <a:xfrm>
                <a:off x="143818" y="1146551"/>
                <a:ext cx="11430000" cy="2458302"/>
              </a:xfrm>
              <a:prstGeom prst="rect">
                <a:avLst/>
              </a:prstGeom>
              <a:blipFill>
                <a:blip r:embed="rId2"/>
                <a:stretch>
                  <a:fillRect l="-160" t="-496" r="-160" b="-1985"/>
                </a:stretch>
              </a:blipFill>
            </p:spPr>
            <p:txBody>
              <a:bodyPr/>
              <a:lstStyle/>
              <a:p>
                <a:r>
                  <a:rPr lang="es-AR">
                    <a:noFill/>
                  </a:rPr>
                  <a:t> </a:t>
                </a:r>
              </a:p>
            </p:txBody>
          </p:sp>
        </mc:Fallback>
      </mc:AlternateContent>
    </p:spTree>
    <p:extLst>
      <p:ext uri="{BB962C8B-B14F-4D97-AF65-F5344CB8AC3E}">
        <p14:creationId xmlns:p14="http://schemas.microsoft.com/office/powerpoint/2010/main" val="9678241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BDB800DF-73AE-4914-9F49-B9CA73A208F0}"/>
              </a:ext>
            </a:extLst>
          </p:cNvPr>
          <p:cNvPicPr/>
          <p:nvPr/>
        </p:nvPicPr>
        <p:blipFill>
          <a:blip r:embed="rId2"/>
          <a:stretch>
            <a:fillRect/>
          </a:stretch>
        </p:blipFill>
        <p:spPr>
          <a:xfrm>
            <a:off x="-1" y="658367"/>
            <a:ext cx="5871937" cy="4757054"/>
          </a:xfrm>
          <a:prstGeom prst="rect">
            <a:avLst/>
          </a:prstGeom>
        </p:spPr>
      </p:pic>
      <p:pic>
        <p:nvPicPr>
          <p:cNvPr id="11" name="Imagen 10">
            <a:extLst>
              <a:ext uri="{FF2B5EF4-FFF2-40B4-BE49-F238E27FC236}">
                <a16:creationId xmlns:a16="http://schemas.microsoft.com/office/drawing/2014/main" id="{E8DEAC34-30CC-425F-BD46-69B9B383EA78}"/>
              </a:ext>
            </a:extLst>
          </p:cNvPr>
          <p:cNvPicPr/>
          <p:nvPr/>
        </p:nvPicPr>
        <p:blipFill>
          <a:blip r:embed="rId3"/>
          <a:stretch>
            <a:fillRect/>
          </a:stretch>
        </p:blipFill>
        <p:spPr>
          <a:xfrm>
            <a:off x="5871936" y="662163"/>
            <a:ext cx="6320064" cy="4753257"/>
          </a:xfrm>
          <a:prstGeom prst="rect">
            <a:avLst/>
          </a:prstGeom>
        </p:spPr>
      </p:pic>
      <p:sp>
        <p:nvSpPr>
          <p:cNvPr id="12" name="Rectangle 1">
            <a:extLst>
              <a:ext uri="{FF2B5EF4-FFF2-40B4-BE49-F238E27FC236}">
                <a16:creationId xmlns:a16="http://schemas.microsoft.com/office/drawing/2014/main" id="{48DE2D0E-5D14-4808-94B8-5CECCB96FB0C}"/>
              </a:ext>
            </a:extLst>
          </p:cNvPr>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2">
            <a:extLst>
              <a:ext uri="{FF2B5EF4-FFF2-40B4-BE49-F238E27FC236}">
                <a16:creationId xmlns:a16="http://schemas.microsoft.com/office/drawing/2014/main" id="{002B0B06-C79C-4E89-9F83-017A37B564E7}"/>
              </a:ext>
            </a:extLst>
          </p:cNvPr>
          <p:cNvSpPr txBox="1"/>
          <p:nvPr/>
        </p:nvSpPr>
        <p:spPr>
          <a:xfrm>
            <a:off x="274320" y="93432"/>
            <a:ext cx="5863015" cy="415498"/>
          </a:xfrm>
          <a:prstGeom prst="rect">
            <a:avLst/>
          </a:prstGeom>
          <a:noFill/>
        </p:spPr>
        <p:txBody>
          <a:bodyPr wrap="none">
            <a:spAutoFit/>
          </a:bodyPr>
          <a:lstStyle/>
          <a:p>
            <a:pPr algn="l"/>
            <a:r>
              <a:rPr lang="es-MX" sz="2100" b="1" dirty="0">
                <a:solidFill>
                  <a:srgbClr val="FFFFFF"/>
                </a:solidFill>
                <a:latin typeface="Cambria"/>
              </a:rPr>
              <a:t>Comparación modelo LTI vs. modelo No Lineal</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7640" y="85421"/>
            <a:ext cx="11551615" cy="658368"/>
          </a:xfrm>
          <a:prstGeom prst="rect">
            <a:avLst/>
          </a:prstGeom>
          <a:noFill/>
        </p:spPr>
        <p:txBody>
          <a:bodyPr wrap="none">
            <a:spAutoFit/>
          </a:bodyPr>
          <a:lstStyle/>
          <a:p>
            <a:pPr algn="l"/>
            <a:r>
              <a:rPr sz="2100" b="1" dirty="0" err="1">
                <a:solidFill>
                  <a:srgbClr val="FFFFFF"/>
                </a:solidFill>
                <a:latin typeface="Cambria"/>
              </a:rPr>
              <a:t>Comparación</a:t>
            </a:r>
            <a:r>
              <a:rPr sz="2100" b="1" dirty="0">
                <a:solidFill>
                  <a:srgbClr val="FFFFFF"/>
                </a:solidFill>
                <a:latin typeface="Cambria"/>
              </a:rPr>
              <a:t> </a:t>
            </a:r>
            <a:r>
              <a:rPr sz="2100" b="1" dirty="0" err="1">
                <a:solidFill>
                  <a:srgbClr val="FFFFFF"/>
                </a:solidFill>
                <a:latin typeface="Cambria"/>
              </a:rPr>
              <a:t>modelo</a:t>
            </a:r>
            <a:r>
              <a:rPr sz="2100" b="1" dirty="0">
                <a:solidFill>
                  <a:srgbClr val="FFFFFF"/>
                </a:solidFill>
                <a:latin typeface="Cambria"/>
              </a:rPr>
              <a:t> LTI vs. </a:t>
            </a:r>
            <a:r>
              <a:rPr sz="2100" b="1" dirty="0" err="1">
                <a:solidFill>
                  <a:srgbClr val="FFFFFF"/>
                </a:solidFill>
                <a:latin typeface="Cambria"/>
              </a:rPr>
              <a:t>modelo</a:t>
            </a:r>
            <a:r>
              <a:rPr sz="2100" b="1" dirty="0">
                <a:solidFill>
                  <a:srgbClr val="FFFFFF"/>
                </a:solidFill>
                <a:latin typeface="Cambria"/>
              </a:rPr>
              <a:t>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05DB3275-9249-4D2F-87F1-60CD290B4F26}"/>
              </a:ext>
            </a:extLst>
          </p:cNvPr>
          <p:cNvPicPr/>
          <p:nvPr/>
        </p:nvPicPr>
        <p:blipFill>
          <a:blip r:embed="rId2"/>
          <a:stretch>
            <a:fillRect/>
          </a:stretch>
        </p:blipFill>
        <p:spPr>
          <a:xfrm>
            <a:off x="6095846" y="658367"/>
            <a:ext cx="6096153" cy="4623847"/>
          </a:xfrm>
          <a:prstGeom prst="rect">
            <a:avLst/>
          </a:prstGeom>
        </p:spPr>
      </p:pic>
      <p:pic>
        <p:nvPicPr>
          <p:cNvPr id="11" name="Imagen 10">
            <a:extLst>
              <a:ext uri="{FF2B5EF4-FFF2-40B4-BE49-F238E27FC236}">
                <a16:creationId xmlns:a16="http://schemas.microsoft.com/office/drawing/2014/main" id="{899A7762-C028-4627-8BA9-2C8C9A9761F7}"/>
              </a:ext>
            </a:extLst>
          </p:cNvPr>
          <p:cNvPicPr/>
          <p:nvPr/>
        </p:nvPicPr>
        <p:blipFill>
          <a:blip r:embed="rId3"/>
          <a:stretch>
            <a:fillRect/>
          </a:stretch>
        </p:blipFill>
        <p:spPr>
          <a:xfrm>
            <a:off x="-304" y="658368"/>
            <a:ext cx="6096150" cy="4623846"/>
          </a:xfrm>
          <a:prstGeom prst="rect">
            <a:avLst/>
          </a:prstGeom>
        </p:spPr>
      </p:pic>
    </p:spTree>
    <p:extLst>
      <p:ext uri="{BB962C8B-B14F-4D97-AF65-F5344CB8AC3E}">
        <p14:creationId xmlns:p14="http://schemas.microsoft.com/office/powerpoint/2010/main" val="9716209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0" name="TextBox 9"/>
          <p:cNvSpPr txBox="1"/>
          <p:nvPr/>
        </p:nvSpPr>
        <p:spPr>
          <a:xfrm>
            <a:off x="191758" y="749808"/>
            <a:ext cx="5486400" cy="307777"/>
          </a:xfrm>
          <a:prstGeom prst="rect">
            <a:avLst/>
          </a:prstGeom>
          <a:noFill/>
        </p:spPr>
        <p:txBody>
          <a:bodyPr wrap="square">
            <a:spAutoFit/>
          </a:bodyPr>
          <a:lstStyle/>
          <a:p>
            <a:pPr algn="l"/>
            <a:r>
              <a:rPr lang="es-AR" sz="1400" b="1" i="0" dirty="0">
                <a:solidFill>
                  <a:srgbClr val="1A3A6B"/>
                </a:solidFill>
                <a:latin typeface="Calibri"/>
              </a:rPr>
              <a:t>Conclusiones de la comparación:</a:t>
            </a:r>
          </a:p>
        </p:txBody>
      </p:sp>
      <p:sp>
        <p:nvSpPr>
          <p:cNvPr id="11" name="TextBox 10"/>
          <p:cNvSpPr txBox="1"/>
          <p:nvPr/>
        </p:nvSpPr>
        <p:spPr>
          <a:xfrm>
            <a:off x="191757" y="1207008"/>
            <a:ext cx="11551615" cy="841256"/>
          </a:xfrm>
          <a:prstGeom prst="rect">
            <a:avLst/>
          </a:prstGeom>
          <a:noFill/>
        </p:spPr>
        <p:txBody>
          <a:bodyPr wrap="square">
            <a:spAutoFit/>
          </a:bodyPr>
          <a:lstStyle/>
          <a:p>
            <a:pPr marL="285750" indent="-285750">
              <a:buFont typeface="Arial" panose="020B0604020202020204" pitchFamily="34" charset="0"/>
              <a:buChar char="•"/>
            </a:pPr>
            <a:r>
              <a:rPr lang="es-AR" sz="1400" dirty="0">
                <a:solidFill>
                  <a:schemeClr val="tx1"/>
                </a:solidFill>
                <a:latin typeface="Calibri"/>
              </a:rPr>
              <a:t>El modelo LTI reproduce adecuadamente la dinámica del NL — las discrepancias son pequeñas y acotadas</a:t>
            </a:r>
          </a:p>
          <a:p>
            <a:pPr marL="285750" indent="-285750">
              <a:spcBef>
                <a:spcPts val="400"/>
              </a:spcBef>
              <a:buFont typeface="Arial" panose="020B0604020202020204" pitchFamily="34" charset="0"/>
              <a:buChar char="•"/>
            </a:pPr>
            <a:r>
              <a:rPr lang="es-AR" sz="1400" dirty="0">
                <a:solidFill>
                  <a:schemeClr val="tx1"/>
                </a:solidFill>
                <a:latin typeface="Calibri"/>
              </a:rPr>
              <a:t>Las diferencias se concentran en los transitorios (cambios de consigna y perturbaciones)</a:t>
            </a:r>
          </a:p>
          <a:p>
            <a:pPr marL="285750" indent="-285750">
              <a:spcBef>
                <a:spcPts val="400"/>
              </a:spcBef>
              <a:buFont typeface="Arial" panose="020B0604020202020204" pitchFamily="34" charset="0"/>
              <a:buChar char="•"/>
            </a:pPr>
            <a:r>
              <a:rPr lang="es-AR" sz="1400" dirty="0">
                <a:solidFill>
                  <a:schemeClr val="tx1"/>
                </a:solidFill>
                <a:latin typeface="Calibri"/>
              </a:rPr>
              <a:t>A mayor tiempo de simulación: la temperatura afecta Rs, lo que separa progresivamente ambas respuestas</a:t>
            </a:r>
          </a:p>
        </p:txBody>
      </p:sp>
      <p:sp>
        <p:nvSpPr>
          <p:cNvPr id="12" name="Rectangle 11"/>
          <p:cNvSpPr/>
          <p:nvPr/>
        </p:nvSpPr>
        <p:spPr>
          <a:xfrm>
            <a:off x="191757" y="2907791"/>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8917" y="2953511"/>
            <a:ext cx="11155680" cy="523220"/>
          </a:xfrm>
          <a:prstGeom prst="rect">
            <a:avLst/>
          </a:prstGeom>
          <a:noFill/>
        </p:spPr>
        <p:txBody>
          <a:bodyPr wrap="square">
            <a:spAutoFit/>
          </a:bodyPr>
          <a:lstStyle/>
          <a:p>
            <a:pPr algn="l"/>
            <a:r>
              <a:rPr lang="es-AR" sz="1400" dirty="0">
                <a:solidFill>
                  <a:srgbClr val="1A3A6B"/>
                </a:solidFill>
                <a:latin typeface="Calibri"/>
              </a:rPr>
              <a:t>Conclusión: el modelo LTI equivalente aumentado es suficientemente preciso para el diseño del sistema de control en el rango de operación normal del accionamiento.</a:t>
            </a:r>
          </a:p>
        </p:txBody>
      </p:sp>
    </p:spTree>
    <p:extLst>
      <p:ext uri="{BB962C8B-B14F-4D97-AF65-F5344CB8AC3E}">
        <p14:creationId xmlns:p14="http://schemas.microsoft.com/office/powerpoint/2010/main" val="12300080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92673"/>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92673"/>
                <a:ext cx="7705288" cy="430887"/>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3959352" cy="30777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53916"/>
          </a:xfrm>
          <a:prstGeom prst="rect">
            <a:avLst/>
          </a:prstGeom>
          <a:noFill/>
        </p:spPr>
        <p:txBody>
          <a:bodyPr wrap="square">
            <a:spAutoFit/>
          </a:bodyPr>
          <a:lstStyle/>
          <a:p>
            <a:pPr algn="ctr"/>
            <a:r>
              <a:rPr sz="10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53916"/>
          </a:xfrm>
          <a:prstGeom prst="rect">
            <a:avLst/>
          </a:prstGeom>
          <a:noFill/>
        </p:spPr>
        <p:txBody>
          <a:bodyPr wrap="square">
            <a:spAutoFit/>
          </a:bodyPr>
          <a:lstStyle/>
          <a:p>
            <a:pPr algn="ctr"/>
            <a:r>
              <a:rPr sz="10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𝜔</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338554"/>
              </a:xfrm>
              <a:prstGeom prst="rect">
                <a:avLst/>
              </a:prstGeom>
              <a:blipFill>
                <a:blip r:embed="rId2"/>
                <a:stretch>
                  <a:fillRect l="-4545"/>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𝑇</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338554"/>
              </a:xfrm>
              <a:prstGeom prst="rect">
                <a:avLst/>
              </a:prstGeom>
              <a:blipFill>
                <a:blip r:embed="rId3"/>
                <a:stretch>
                  <a:fillRect l="-4545"/>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53916"/>
          </a:xfrm>
          <a:prstGeom prst="rect">
            <a:avLst/>
          </a:prstGeom>
          <a:noFill/>
        </p:spPr>
        <p:txBody>
          <a:bodyPr wrap="square">
            <a:spAutoFit/>
          </a:bodyPr>
          <a:lstStyle/>
          <a:p>
            <a:pPr algn="ctr"/>
            <a:r>
              <a:rPr sz="10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53916"/>
          </a:xfrm>
          <a:prstGeom prst="rect">
            <a:avLst/>
          </a:prstGeom>
          <a:noFill/>
        </p:spPr>
        <p:txBody>
          <a:bodyPr wrap="square">
            <a:spAutoFit/>
          </a:bodyPr>
          <a:lstStyle/>
          <a:p>
            <a:pPr algn="ctr"/>
            <a:r>
              <a:rPr sz="10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8" name="TextBox 23">
            <a:extLst>
              <a:ext uri="{FF2B5EF4-FFF2-40B4-BE49-F238E27FC236}">
                <a16:creationId xmlns:a16="http://schemas.microsoft.com/office/drawing/2014/main" id="{05947E8B-63DE-46BB-9C21-E783C1807622}"/>
              </a:ext>
            </a:extLst>
          </p:cNvPr>
          <p:cNvSpPr txBox="1"/>
          <p:nvPr/>
        </p:nvSpPr>
        <p:spPr>
          <a:xfrm>
            <a:off x="8970263" y="907882"/>
            <a:ext cx="493776" cy="577081"/>
          </a:xfrm>
          <a:prstGeom prst="rect">
            <a:avLst/>
          </a:prstGeom>
          <a:noFill/>
        </p:spPr>
        <p:txBody>
          <a:bodyPr wrap="square">
            <a:spAutoFit/>
          </a:bodyPr>
          <a:lstStyle/>
          <a:p>
            <a:pPr algn="ctr"/>
            <a:r>
              <a:rPr sz="1050" b="1">
                <a:solidFill>
                  <a:schemeClr val="bg1"/>
                </a:solidFill>
                <a:latin typeface="Calibri"/>
              </a:rPr>
              <a:t>Tld
[N·m]</a:t>
            </a:r>
          </a:p>
        </p:txBody>
      </p:sp>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0" name="TextBox 25">
            <a:extLst>
              <a:ext uri="{FF2B5EF4-FFF2-40B4-BE49-F238E27FC236}">
                <a16:creationId xmlns:a16="http://schemas.microsoft.com/office/drawing/2014/main" id="{F4A45EC6-BB19-4D3F-877D-ACEC3109C603}"/>
              </a:ext>
            </a:extLst>
          </p:cNvPr>
          <p:cNvSpPr txBox="1"/>
          <p:nvPr/>
        </p:nvSpPr>
        <p:spPr>
          <a:xfrm>
            <a:off x="9518903" y="907882"/>
            <a:ext cx="566928" cy="415498"/>
          </a:xfrm>
          <a:prstGeom prst="rect">
            <a:avLst/>
          </a:prstGeom>
          <a:noFill/>
        </p:spPr>
        <p:txBody>
          <a:bodyPr wrap="square">
            <a:spAutoFit/>
          </a:bodyPr>
          <a:lstStyle/>
          <a:p>
            <a:pPr algn="ctr"/>
            <a:r>
              <a:rPr sz="1050" b="1">
                <a:solidFill>
                  <a:schemeClr val="bg1"/>
                </a:solidFill>
                <a:latin typeface="Calibri"/>
              </a:rPr>
              <a:t>vqs^r
[V]</a:t>
            </a:r>
          </a:p>
        </p:txBody>
      </p:sp>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2" name="TextBox 27">
                <a:extLst>
                  <a:ext uri="{FF2B5EF4-FFF2-40B4-BE49-F238E27FC236}">
                    <a16:creationId xmlns:a16="http://schemas.microsoft.com/office/drawing/2014/main" id="{03644BFE-F399-42A1-8C5D-CD276E2C4465}"/>
                  </a:ext>
                </a:extLst>
              </p:cNvPr>
              <p:cNvSpPr txBox="1"/>
              <p:nvPr/>
            </p:nvSpPr>
            <p:spPr>
              <a:xfrm>
                <a:off x="10140695" y="907882"/>
                <a:ext cx="630936"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𝜔</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[rad/s]</a:t>
                </a:r>
              </a:p>
            </p:txBody>
          </p:sp>
        </mc:Choice>
        <mc:Fallback xmlns="">
          <p:sp>
            <p:nvSpPr>
              <p:cNvPr id="32" name="TextBox 27">
                <a:extLst>
                  <a:ext uri="{FF2B5EF4-FFF2-40B4-BE49-F238E27FC236}">
                    <a16:creationId xmlns:a16="http://schemas.microsoft.com/office/drawing/2014/main" id="{03644BFE-F399-42A1-8C5D-CD276E2C4465}"/>
                  </a:ext>
                </a:extLst>
              </p:cNvPr>
              <p:cNvSpPr txBox="1">
                <a:spLocks noRot="1" noChangeAspect="1" noMove="1" noResize="1" noEditPoints="1" noAdjustHandles="1" noChangeArrowheads="1" noChangeShapeType="1" noTextEdit="1"/>
              </p:cNvSpPr>
              <p:nvPr/>
            </p:nvSpPr>
            <p:spPr>
              <a:xfrm>
                <a:off x="10140695" y="907882"/>
                <a:ext cx="630936" cy="415498"/>
              </a:xfrm>
              <a:prstGeom prst="rect">
                <a:avLst/>
              </a:prstGeom>
              <a:blipFill>
                <a:blip r:embed="rId4"/>
                <a:stretch>
                  <a:fillRect b="-8824"/>
                </a:stretch>
              </a:blipFill>
            </p:spPr>
            <p:txBody>
              <a:bodyPr/>
              <a:lstStyle/>
              <a:p>
                <a:r>
                  <a:rPr lang="es-AR">
                    <a:noFill/>
                  </a:rPr>
                  <a:t> </a:t>
                </a:r>
              </a:p>
            </p:txBody>
          </p:sp>
        </mc:Fallback>
      </mc:AlternateContent>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4" name="TextBox 29">
                <a:extLst>
                  <a:ext uri="{FF2B5EF4-FFF2-40B4-BE49-F238E27FC236}">
                    <a16:creationId xmlns:a16="http://schemas.microsoft.com/office/drawing/2014/main" id="{39D06A79-7921-47A8-A37C-F0F9280B041C}"/>
                  </a:ext>
                </a:extLst>
              </p:cNvPr>
              <p:cNvSpPr txBox="1"/>
              <p:nvPr/>
            </p:nvSpPr>
            <p:spPr>
              <a:xfrm>
                <a:off x="10826495" y="907882"/>
                <a:ext cx="585215"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𝑇</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[N·m]</a:t>
                </a:r>
              </a:p>
            </p:txBody>
          </p:sp>
        </mc:Choice>
        <mc:Fallback xmlns="">
          <p:sp>
            <p:nvSpPr>
              <p:cNvPr id="34" name="TextBox 29">
                <a:extLst>
                  <a:ext uri="{FF2B5EF4-FFF2-40B4-BE49-F238E27FC236}">
                    <a16:creationId xmlns:a16="http://schemas.microsoft.com/office/drawing/2014/main" id="{39D06A79-7921-47A8-A37C-F0F9280B041C}"/>
                  </a:ext>
                </a:extLst>
              </p:cNvPr>
              <p:cNvSpPr txBox="1">
                <a:spLocks noRot="1" noChangeAspect="1" noMove="1" noResize="1" noEditPoints="1" noAdjustHandles="1" noChangeArrowheads="1" noChangeShapeType="1" noTextEdit="1"/>
              </p:cNvSpPr>
              <p:nvPr/>
            </p:nvSpPr>
            <p:spPr>
              <a:xfrm>
                <a:off x="10826495" y="907882"/>
                <a:ext cx="585215" cy="415498"/>
              </a:xfrm>
              <a:prstGeom prst="rect">
                <a:avLst/>
              </a:prstGeom>
              <a:blipFill>
                <a:blip r:embed="rId5"/>
                <a:stretch>
                  <a:fillRect b="-8824"/>
                </a:stretch>
              </a:blipFill>
            </p:spPr>
            <p:txBody>
              <a:bodyPr/>
              <a:lstStyle/>
              <a:p>
                <a:r>
                  <a:rPr lang="es-AR">
                    <a:noFill/>
                  </a:rPr>
                  <a:t> </a:t>
                </a:r>
              </a:p>
            </p:txBody>
          </p:sp>
        </mc:Fallback>
      </mc:AlternateContent>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53916"/>
          </a:xfrm>
          <a:prstGeom prst="rect">
            <a:avLst/>
          </a:prstGeom>
          <a:noFill/>
        </p:spPr>
        <p:txBody>
          <a:bodyPr wrap="square">
            <a:spAutoFit/>
          </a:bodyPr>
          <a:lstStyle/>
          <a:p>
            <a:pPr algn="ctr"/>
            <a:r>
              <a:rPr sz="10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53916"/>
          </a:xfrm>
          <a:prstGeom prst="rect">
            <a:avLst/>
          </a:prstGeom>
          <a:noFill/>
        </p:spPr>
        <p:txBody>
          <a:bodyPr wrap="square">
            <a:spAutoFit/>
          </a:bodyPr>
          <a:lstStyle/>
          <a:p>
            <a:pPr algn="ctr"/>
            <a:r>
              <a:rPr sz="10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53916"/>
          </a:xfrm>
          <a:prstGeom prst="rect">
            <a:avLst/>
          </a:prstGeom>
          <a:noFill/>
        </p:spPr>
        <p:txBody>
          <a:bodyPr wrap="square">
            <a:spAutoFit/>
          </a:bodyPr>
          <a:lstStyle/>
          <a:p>
            <a:pPr algn="ctr"/>
            <a:r>
              <a:rPr sz="10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53916"/>
          </a:xfrm>
          <a:prstGeom prst="rect">
            <a:avLst/>
          </a:prstGeom>
          <a:noFill/>
        </p:spPr>
        <p:txBody>
          <a:bodyPr wrap="square">
            <a:spAutoFit/>
          </a:bodyPr>
          <a:lstStyle/>
          <a:p>
            <a:pPr algn="ctr"/>
            <a:r>
              <a:rPr sz="10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53916"/>
          </a:xfrm>
          <a:prstGeom prst="rect">
            <a:avLst/>
          </a:prstGeom>
          <a:noFill/>
        </p:spPr>
        <p:txBody>
          <a:bodyPr wrap="square">
            <a:spAutoFit/>
          </a:bodyPr>
          <a:lstStyle/>
          <a:p>
            <a:pPr algn="ctr"/>
            <a:r>
              <a:rPr sz="10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53916"/>
          </a:xfrm>
          <a:prstGeom prst="rect">
            <a:avLst/>
          </a:prstGeom>
          <a:noFill/>
        </p:spPr>
        <p:txBody>
          <a:bodyPr wrap="square">
            <a:spAutoFit/>
          </a:bodyPr>
          <a:lstStyle/>
          <a:p>
            <a:pPr algn="ctr"/>
            <a:r>
              <a:rPr sz="105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53916"/>
          </a:xfrm>
          <a:prstGeom prst="rect">
            <a:avLst/>
          </a:prstGeom>
          <a:noFill/>
        </p:spPr>
        <p:txBody>
          <a:bodyPr wrap="square">
            <a:spAutoFit/>
          </a:bodyPr>
          <a:lstStyle/>
          <a:p>
            <a:pPr algn="ctr"/>
            <a:r>
              <a:rPr sz="10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491471" y="133536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53916"/>
          </a:xfrm>
          <a:prstGeom prst="rect">
            <a:avLst/>
          </a:prstGeom>
          <a:noFill/>
        </p:spPr>
        <p:txBody>
          <a:bodyPr wrap="square">
            <a:spAutoFit/>
          </a:bodyPr>
          <a:lstStyle/>
          <a:p>
            <a:pPr algn="ctr"/>
            <a:r>
              <a:rPr sz="10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53916"/>
          </a:xfrm>
          <a:prstGeom prst="rect">
            <a:avLst/>
          </a:prstGeom>
          <a:noFill/>
        </p:spPr>
        <p:txBody>
          <a:bodyPr wrap="square">
            <a:spAutoFit/>
          </a:bodyPr>
          <a:lstStyle/>
          <a:p>
            <a:pPr algn="ctr"/>
            <a:r>
              <a:rPr sz="10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53916"/>
          </a:xfrm>
          <a:prstGeom prst="rect">
            <a:avLst/>
          </a:prstGeom>
          <a:noFill/>
        </p:spPr>
        <p:txBody>
          <a:bodyPr wrap="square">
            <a:spAutoFit/>
          </a:bodyPr>
          <a:lstStyle/>
          <a:p>
            <a:pPr algn="ctr"/>
            <a:r>
              <a:rPr sz="10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178113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1799422"/>
            <a:ext cx="329184" cy="253916"/>
          </a:xfrm>
          <a:prstGeom prst="rect">
            <a:avLst/>
          </a:prstGeom>
          <a:noFill/>
        </p:spPr>
        <p:txBody>
          <a:bodyPr wrap="square">
            <a:spAutoFit/>
          </a:bodyPr>
          <a:lstStyle/>
          <a:p>
            <a:pPr algn="ctr"/>
            <a:r>
              <a:rPr lang="es-MX" sz="1050" b="0" dirty="0">
                <a:latin typeface="Calibri"/>
              </a:rPr>
              <a:t>1</a:t>
            </a:r>
            <a:endParaRPr sz="1050" b="0" dirty="0">
              <a:latin typeface="Calibri"/>
            </a:endParaRPr>
          </a:p>
        </p:txBody>
      </p:sp>
      <p:sp>
        <p:nvSpPr>
          <p:cNvPr id="77" name="Rectangle 72">
            <a:extLst>
              <a:ext uri="{FF2B5EF4-FFF2-40B4-BE49-F238E27FC236}">
                <a16:creationId xmlns:a16="http://schemas.microsoft.com/office/drawing/2014/main" id="{25CBEB9A-83B4-4EB7-9EB2-97CCE78BA6FC}"/>
              </a:ext>
            </a:extLst>
          </p:cNvPr>
          <p:cNvSpPr/>
          <p:nvPr/>
        </p:nvSpPr>
        <p:spPr>
          <a:xfrm>
            <a:off x="5029200" y="178113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1799422"/>
            <a:ext cx="512064" cy="253916"/>
          </a:xfrm>
          <a:prstGeom prst="rect">
            <a:avLst/>
          </a:prstGeom>
          <a:noFill/>
        </p:spPr>
        <p:txBody>
          <a:bodyPr wrap="square">
            <a:spAutoFit/>
          </a:bodyPr>
          <a:lstStyle/>
          <a:p>
            <a:pPr algn="ctr"/>
            <a:r>
              <a:rPr sz="10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1799422"/>
            <a:ext cx="402336" cy="253916"/>
          </a:xfrm>
          <a:prstGeom prst="rect">
            <a:avLst/>
          </a:prstGeom>
          <a:noFill/>
        </p:spPr>
        <p:txBody>
          <a:bodyPr wrap="square">
            <a:spAutoFit/>
          </a:bodyPr>
          <a:lstStyle/>
          <a:p>
            <a:pPr algn="ctr"/>
            <a:r>
              <a:rPr sz="10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1799422"/>
            <a:ext cx="402336" cy="253916"/>
          </a:xfrm>
          <a:prstGeom prst="rect">
            <a:avLst/>
          </a:prstGeom>
          <a:noFill/>
        </p:spPr>
        <p:txBody>
          <a:bodyPr wrap="square">
            <a:spAutoFit/>
          </a:bodyPr>
          <a:lstStyle/>
          <a:p>
            <a:pPr algn="ctr"/>
            <a:r>
              <a:rPr sz="10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1799422"/>
            <a:ext cx="384048" cy="253916"/>
          </a:xfrm>
          <a:prstGeom prst="rect">
            <a:avLst/>
          </a:prstGeom>
          <a:noFill/>
        </p:spPr>
        <p:txBody>
          <a:bodyPr wrap="square">
            <a:spAutoFit/>
          </a:bodyPr>
          <a:lstStyle/>
          <a:p>
            <a:pPr algn="ctr"/>
            <a:r>
              <a:rPr sz="10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178113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1799422"/>
            <a:ext cx="1938528" cy="253916"/>
          </a:xfrm>
          <a:prstGeom prst="rect">
            <a:avLst/>
          </a:prstGeom>
          <a:noFill/>
        </p:spPr>
        <p:txBody>
          <a:bodyPr wrap="square">
            <a:spAutoFit/>
          </a:bodyPr>
          <a:lstStyle/>
          <a:p>
            <a:pPr algn="ctr"/>
            <a:r>
              <a:rPr sz="105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178113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1799422"/>
            <a:ext cx="493776" cy="253916"/>
          </a:xfrm>
          <a:prstGeom prst="rect">
            <a:avLst/>
          </a:prstGeom>
          <a:noFill/>
        </p:spPr>
        <p:txBody>
          <a:bodyPr wrap="square">
            <a:spAutoFit/>
          </a:bodyPr>
          <a:lstStyle/>
          <a:p>
            <a:pPr algn="ctr"/>
            <a:r>
              <a:rPr sz="10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178113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1799422"/>
            <a:ext cx="566928" cy="253916"/>
          </a:xfrm>
          <a:prstGeom prst="rect">
            <a:avLst/>
          </a:prstGeom>
          <a:noFill/>
        </p:spPr>
        <p:txBody>
          <a:bodyPr wrap="square">
            <a:spAutoFit/>
          </a:bodyPr>
          <a:lstStyle/>
          <a:p>
            <a:pPr algn="ctr"/>
            <a:r>
              <a:rPr sz="10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178113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1799422"/>
            <a:ext cx="630936" cy="253916"/>
          </a:xfrm>
          <a:prstGeom prst="rect">
            <a:avLst/>
          </a:prstGeom>
          <a:noFill/>
        </p:spPr>
        <p:txBody>
          <a:bodyPr wrap="square">
            <a:spAutoFit/>
          </a:bodyPr>
          <a:lstStyle/>
          <a:p>
            <a:pPr algn="ctr"/>
            <a:r>
              <a:rPr sz="10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178113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1799422"/>
            <a:ext cx="585215" cy="253916"/>
          </a:xfrm>
          <a:prstGeom prst="rect">
            <a:avLst/>
          </a:prstGeom>
          <a:noFill/>
        </p:spPr>
        <p:txBody>
          <a:bodyPr wrap="square">
            <a:spAutoFit/>
          </a:bodyPr>
          <a:lstStyle/>
          <a:p>
            <a:pPr algn="ctr"/>
            <a:r>
              <a:rPr sz="10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22690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245192"/>
            <a:ext cx="329184" cy="253916"/>
          </a:xfrm>
          <a:prstGeom prst="rect">
            <a:avLst/>
          </a:prstGeom>
          <a:noFill/>
        </p:spPr>
        <p:txBody>
          <a:bodyPr wrap="square">
            <a:spAutoFit/>
          </a:bodyPr>
          <a:lstStyle/>
          <a:p>
            <a:pPr algn="ctr"/>
            <a:r>
              <a:rPr lang="es-MX" sz="1050" dirty="0">
                <a:latin typeface="Calibri"/>
              </a:rPr>
              <a:t>2</a:t>
            </a:r>
            <a:endParaRPr sz="1050" b="0" dirty="0">
              <a:latin typeface="Calibri"/>
            </a:endParaRP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22690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245192"/>
            <a:ext cx="512064" cy="253916"/>
          </a:xfrm>
          <a:prstGeom prst="rect">
            <a:avLst/>
          </a:prstGeom>
          <a:noFill/>
        </p:spPr>
        <p:txBody>
          <a:bodyPr wrap="square">
            <a:spAutoFit/>
          </a:bodyPr>
          <a:lstStyle/>
          <a:p>
            <a:pPr algn="ctr"/>
            <a:r>
              <a:rPr sz="10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245192"/>
            <a:ext cx="402336" cy="253916"/>
          </a:xfrm>
          <a:prstGeom prst="rect">
            <a:avLst/>
          </a:prstGeom>
          <a:noFill/>
        </p:spPr>
        <p:txBody>
          <a:bodyPr wrap="square">
            <a:spAutoFit/>
          </a:bodyPr>
          <a:lstStyle/>
          <a:p>
            <a:pPr algn="ctr"/>
            <a:r>
              <a:rPr sz="10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245192"/>
            <a:ext cx="402336" cy="253916"/>
          </a:xfrm>
          <a:prstGeom prst="rect">
            <a:avLst/>
          </a:prstGeom>
          <a:noFill/>
        </p:spPr>
        <p:txBody>
          <a:bodyPr wrap="square">
            <a:spAutoFit/>
          </a:bodyPr>
          <a:lstStyle/>
          <a:p>
            <a:pPr algn="ctr"/>
            <a:r>
              <a:rPr sz="10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245192"/>
            <a:ext cx="384048" cy="253916"/>
          </a:xfrm>
          <a:prstGeom prst="rect">
            <a:avLst/>
          </a:prstGeom>
          <a:noFill/>
        </p:spPr>
        <p:txBody>
          <a:bodyPr wrap="square">
            <a:spAutoFit/>
          </a:bodyPr>
          <a:lstStyle/>
          <a:p>
            <a:pPr algn="ctr"/>
            <a:r>
              <a:rPr sz="10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22690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245192"/>
            <a:ext cx="1938528" cy="253916"/>
          </a:xfrm>
          <a:prstGeom prst="rect">
            <a:avLst/>
          </a:prstGeom>
          <a:noFill/>
        </p:spPr>
        <p:txBody>
          <a:bodyPr wrap="square">
            <a:spAutoFit/>
          </a:bodyPr>
          <a:lstStyle/>
          <a:p>
            <a:pPr algn="ctr"/>
            <a:r>
              <a:rPr sz="1050" b="0" dirty="0">
                <a:latin typeface="Calibri"/>
              </a:rPr>
              <a:t>Motor. </a:t>
            </a:r>
            <a:r>
              <a:rPr sz="1050" b="0" dirty="0" err="1">
                <a:latin typeface="Calibri"/>
              </a:rPr>
              <a:t>directa</a:t>
            </a:r>
            <a:endParaRPr sz="105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22690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245192"/>
            <a:ext cx="493776" cy="253916"/>
          </a:xfrm>
          <a:prstGeom prst="rect">
            <a:avLst/>
          </a:prstGeom>
          <a:noFill/>
        </p:spPr>
        <p:txBody>
          <a:bodyPr wrap="square">
            <a:spAutoFit/>
          </a:bodyPr>
          <a:lstStyle/>
          <a:p>
            <a:pPr algn="ctr"/>
            <a:r>
              <a:rPr sz="10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22690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245192"/>
            <a:ext cx="566928" cy="253916"/>
          </a:xfrm>
          <a:prstGeom prst="rect">
            <a:avLst/>
          </a:prstGeom>
          <a:noFill/>
        </p:spPr>
        <p:txBody>
          <a:bodyPr wrap="square">
            <a:spAutoFit/>
          </a:bodyPr>
          <a:lstStyle/>
          <a:p>
            <a:pPr algn="ctr"/>
            <a:r>
              <a:rPr sz="10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22690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245192"/>
            <a:ext cx="630936" cy="253916"/>
          </a:xfrm>
          <a:prstGeom prst="rect">
            <a:avLst/>
          </a:prstGeom>
          <a:noFill/>
        </p:spPr>
        <p:txBody>
          <a:bodyPr wrap="square">
            <a:spAutoFit/>
          </a:bodyPr>
          <a:lstStyle/>
          <a:p>
            <a:pPr algn="ctr"/>
            <a:r>
              <a:rPr sz="10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22690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245192"/>
            <a:ext cx="585215" cy="253916"/>
          </a:xfrm>
          <a:prstGeom prst="rect">
            <a:avLst/>
          </a:prstGeom>
          <a:noFill/>
        </p:spPr>
        <p:txBody>
          <a:bodyPr wrap="square">
            <a:spAutoFit/>
          </a:bodyPr>
          <a:lstStyle/>
          <a:p>
            <a:pPr algn="ctr"/>
            <a:r>
              <a:rPr sz="10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267267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2690962"/>
            <a:ext cx="329184" cy="253916"/>
          </a:xfrm>
          <a:prstGeom prst="rect">
            <a:avLst/>
          </a:prstGeom>
          <a:noFill/>
        </p:spPr>
        <p:txBody>
          <a:bodyPr wrap="square">
            <a:spAutoFit/>
          </a:bodyPr>
          <a:lstStyle/>
          <a:p>
            <a:pPr algn="ctr"/>
            <a:r>
              <a:rPr lang="es-MX" sz="1050" b="0" dirty="0">
                <a:latin typeface="Calibri"/>
              </a:rPr>
              <a:t>3</a:t>
            </a:r>
            <a:endParaRPr sz="1050" b="0" dirty="0">
              <a:latin typeface="Calibri"/>
            </a:endParaRP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267267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2690962"/>
            <a:ext cx="512064" cy="253916"/>
          </a:xfrm>
          <a:prstGeom prst="rect">
            <a:avLst/>
          </a:prstGeom>
          <a:noFill/>
        </p:spPr>
        <p:txBody>
          <a:bodyPr wrap="square">
            <a:spAutoFit/>
          </a:bodyPr>
          <a:lstStyle/>
          <a:p>
            <a:pPr algn="ctr"/>
            <a:r>
              <a:rPr sz="10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2690962"/>
            <a:ext cx="402336" cy="253916"/>
          </a:xfrm>
          <a:prstGeom prst="rect">
            <a:avLst/>
          </a:prstGeom>
          <a:noFill/>
        </p:spPr>
        <p:txBody>
          <a:bodyPr wrap="square">
            <a:spAutoFit/>
          </a:bodyPr>
          <a:lstStyle/>
          <a:p>
            <a:pPr algn="ctr"/>
            <a:r>
              <a:rPr sz="10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2690962"/>
            <a:ext cx="402336" cy="253916"/>
          </a:xfrm>
          <a:prstGeom prst="rect">
            <a:avLst/>
          </a:prstGeom>
          <a:noFill/>
        </p:spPr>
        <p:txBody>
          <a:bodyPr wrap="square">
            <a:spAutoFit/>
          </a:bodyPr>
          <a:lstStyle/>
          <a:p>
            <a:pPr algn="ctr"/>
            <a:r>
              <a:rPr sz="10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267267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2690962"/>
            <a:ext cx="384048" cy="253916"/>
          </a:xfrm>
          <a:prstGeom prst="rect">
            <a:avLst/>
          </a:prstGeom>
          <a:noFill/>
        </p:spPr>
        <p:txBody>
          <a:bodyPr wrap="square">
            <a:spAutoFit/>
          </a:bodyPr>
          <a:lstStyle/>
          <a:p>
            <a:pPr algn="ctr"/>
            <a:r>
              <a:rPr sz="10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267267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2690962"/>
            <a:ext cx="1938528" cy="253916"/>
          </a:xfrm>
          <a:prstGeom prst="rect">
            <a:avLst/>
          </a:prstGeom>
          <a:noFill/>
        </p:spPr>
        <p:txBody>
          <a:bodyPr wrap="square">
            <a:spAutoFit/>
          </a:bodyPr>
          <a:lstStyle/>
          <a:p>
            <a:pPr algn="ctr"/>
            <a:r>
              <a:rPr sz="105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267267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2690962"/>
            <a:ext cx="493776" cy="253916"/>
          </a:xfrm>
          <a:prstGeom prst="rect">
            <a:avLst/>
          </a:prstGeom>
          <a:noFill/>
        </p:spPr>
        <p:txBody>
          <a:bodyPr wrap="square">
            <a:spAutoFit/>
          </a:bodyPr>
          <a:lstStyle/>
          <a:p>
            <a:pPr algn="ctr"/>
            <a:r>
              <a:rPr sz="10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267267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2690962"/>
            <a:ext cx="566928" cy="253916"/>
          </a:xfrm>
          <a:prstGeom prst="rect">
            <a:avLst/>
          </a:prstGeom>
          <a:noFill/>
        </p:spPr>
        <p:txBody>
          <a:bodyPr wrap="square">
            <a:spAutoFit/>
          </a:bodyPr>
          <a:lstStyle/>
          <a:p>
            <a:pPr algn="ctr"/>
            <a:r>
              <a:rPr sz="10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267267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2690962"/>
            <a:ext cx="630936" cy="253916"/>
          </a:xfrm>
          <a:prstGeom prst="rect">
            <a:avLst/>
          </a:prstGeom>
          <a:noFill/>
        </p:spPr>
        <p:txBody>
          <a:bodyPr wrap="square">
            <a:spAutoFit/>
          </a:bodyPr>
          <a:lstStyle/>
          <a:p>
            <a:pPr algn="ctr"/>
            <a:r>
              <a:rPr sz="10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267267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2690962"/>
            <a:ext cx="585215" cy="253916"/>
          </a:xfrm>
          <a:prstGeom prst="rect">
            <a:avLst/>
          </a:prstGeom>
          <a:noFill/>
        </p:spPr>
        <p:txBody>
          <a:bodyPr wrap="square">
            <a:spAutoFit/>
          </a:bodyPr>
          <a:lstStyle/>
          <a:p>
            <a:pPr algn="ctr"/>
            <a:r>
              <a:rPr sz="10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11844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136731"/>
            <a:ext cx="329184" cy="253916"/>
          </a:xfrm>
          <a:prstGeom prst="rect">
            <a:avLst/>
          </a:prstGeom>
          <a:noFill/>
        </p:spPr>
        <p:txBody>
          <a:bodyPr wrap="square">
            <a:spAutoFit/>
          </a:bodyPr>
          <a:lstStyle/>
          <a:p>
            <a:pPr algn="ctr"/>
            <a:r>
              <a:rPr lang="es-MX" sz="1050" b="0" dirty="0">
                <a:latin typeface="Calibri"/>
              </a:rPr>
              <a:t>4</a:t>
            </a:r>
            <a:endParaRPr sz="1050" b="0" dirty="0">
              <a:latin typeface="Calibri"/>
            </a:endParaRP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11844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136731"/>
            <a:ext cx="512064" cy="253916"/>
          </a:xfrm>
          <a:prstGeom prst="rect">
            <a:avLst/>
          </a:prstGeom>
          <a:noFill/>
        </p:spPr>
        <p:txBody>
          <a:bodyPr wrap="square">
            <a:spAutoFit/>
          </a:bodyPr>
          <a:lstStyle/>
          <a:p>
            <a:pPr algn="ctr"/>
            <a:r>
              <a:rPr sz="10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136731"/>
            <a:ext cx="402336" cy="253916"/>
          </a:xfrm>
          <a:prstGeom prst="rect">
            <a:avLst/>
          </a:prstGeom>
          <a:noFill/>
        </p:spPr>
        <p:txBody>
          <a:bodyPr wrap="square">
            <a:spAutoFit/>
          </a:bodyPr>
          <a:lstStyle/>
          <a:p>
            <a:pPr algn="ctr"/>
            <a:r>
              <a:rPr sz="10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136731"/>
            <a:ext cx="402336" cy="253916"/>
          </a:xfrm>
          <a:prstGeom prst="rect">
            <a:avLst/>
          </a:prstGeom>
          <a:noFill/>
        </p:spPr>
        <p:txBody>
          <a:bodyPr wrap="square">
            <a:spAutoFit/>
          </a:bodyPr>
          <a:lstStyle/>
          <a:p>
            <a:pPr algn="ctr"/>
            <a:r>
              <a:rPr sz="10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136731"/>
            <a:ext cx="384048" cy="253916"/>
          </a:xfrm>
          <a:prstGeom prst="rect">
            <a:avLst/>
          </a:prstGeom>
          <a:noFill/>
        </p:spPr>
        <p:txBody>
          <a:bodyPr wrap="square">
            <a:spAutoFit/>
          </a:bodyPr>
          <a:lstStyle/>
          <a:p>
            <a:pPr algn="ctr"/>
            <a:r>
              <a:rPr sz="10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11844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136731"/>
            <a:ext cx="1938528" cy="253916"/>
          </a:xfrm>
          <a:prstGeom prst="rect">
            <a:avLst/>
          </a:prstGeom>
          <a:noFill/>
        </p:spPr>
        <p:txBody>
          <a:bodyPr wrap="square">
            <a:spAutoFit/>
          </a:bodyPr>
          <a:lstStyle/>
          <a:p>
            <a:pPr algn="ctr"/>
            <a:r>
              <a:rPr sz="1050" b="0" dirty="0" err="1">
                <a:latin typeface="Calibri"/>
              </a:rPr>
              <a:t>Fren</a:t>
            </a:r>
            <a:r>
              <a:rPr sz="1050" b="0" dirty="0">
                <a:latin typeface="Calibri"/>
              </a:rPr>
              <a:t>. regen. </a:t>
            </a:r>
            <a:r>
              <a:rPr sz="1050" b="0" dirty="0" err="1">
                <a:latin typeface="Calibri"/>
              </a:rPr>
              <a:t>dir</a:t>
            </a:r>
            <a:r>
              <a:rPr lang="es-MX" sz="1050" dirty="0" err="1">
                <a:latin typeface="Calibri"/>
              </a:rPr>
              <a:t>ecto</a:t>
            </a:r>
            <a:endParaRPr sz="1050" b="0" dirty="0">
              <a:latin typeface="Calibri"/>
            </a:endParaRP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11844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136731"/>
            <a:ext cx="493776" cy="253916"/>
          </a:xfrm>
          <a:prstGeom prst="rect">
            <a:avLst/>
          </a:prstGeom>
          <a:noFill/>
        </p:spPr>
        <p:txBody>
          <a:bodyPr wrap="square">
            <a:spAutoFit/>
          </a:bodyPr>
          <a:lstStyle/>
          <a:p>
            <a:pPr algn="ctr"/>
            <a:r>
              <a:rPr sz="10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11844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136731"/>
            <a:ext cx="566928" cy="253916"/>
          </a:xfrm>
          <a:prstGeom prst="rect">
            <a:avLst/>
          </a:prstGeom>
          <a:noFill/>
        </p:spPr>
        <p:txBody>
          <a:bodyPr wrap="square">
            <a:spAutoFit/>
          </a:bodyPr>
          <a:lstStyle/>
          <a:p>
            <a:pPr algn="ctr"/>
            <a:r>
              <a:rPr sz="10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11844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136731"/>
            <a:ext cx="630936" cy="253916"/>
          </a:xfrm>
          <a:prstGeom prst="rect">
            <a:avLst/>
          </a:prstGeom>
          <a:noFill/>
        </p:spPr>
        <p:txBody>
          <a:bodyPr wrap="square">
            <a:spAutoFit/>
          </a:bodyPr>
          <a:lstStyle/>
          <a:p>
            <a:pPr algn="ctr"/>
            <a:r>
              <a:rPr sz="10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11844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136731"/>
            <a:ext cx="585215" cy="253916"/>
          </a:xfrm>
          <a:prstGeom prst="rect">
            <a:avLst/>
          </a:prstGeom>
          <a:noFill/>
        </p:spPr>
        <p:txBody>
          <a:bodyPr wrap="square">
            <a:spAutoFit/>
          </a:bodyPr>
          <a:lstStyle/>
          <a:p>
            <a:pPr algn="ctr"/>
            <a:r>
              <a:rPr sz="10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356421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3582502"/>
            <a:ext cx="329184" cy="253916"/>
          </a:xfrm>
          <a:prstGeom prst="rect">
            <a:avLst/>
          </a:prstGeom>
          <a:noFill/>
        </p:spPr>
        <p:txBody>
          <a:bodyPr wrap="square">
            <a:spAutoFit/>
          </a:bodyPr>
          <a:lstStyle/>
          <a:p>
            <a:pPr algn="ctr"/>
            <a:r>
              <a:rPr lang="es-MX" sz="1050" b="0" dirty="0">
                <a:latin typeface="Calibri"/>
              </a:rPr>
              <a:t>5</a:t>
            </a:r>
            <a:endParaRPr sz="1050" b="0" dirty="0">
              <a:latin typeface="Calibri"/>
            </a:endParaRP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356421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3582502"/>
            <a:ext cx="512064" cy="253916"/>
          </a:xfrm>
          <a:prstGeom prst="rect">
            <a:avLst/>
          </a:prstGeom>
          <a:noFill/>
        </p:spPr>
        <p:txBody>
          <a:bodyPr wrap="square">
            <a:spAutoFit/>
          </a:bodyPr>
          <a:lstStyle/>
          <a:p>
            <a:pPr algn="ctr"/>
            <a:r>
              <a:rPr sz="10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3582502"/>
            <a:ext cx="402336" cy="253916"/>
          </a:xfrm>
          <a:prstGeom prst="rect">
            <a:avLst/>
          </a:prstGeom>
          <a:noFill/>
        </p:spPr>
        <p:txBody>
          <a:bodyPr wrap="square">
            <a:spAutoFit/>
          </a:bodyPr>
          <a:lstStyle/>
          <a:p>
            <a:pPr algn="ctr"/>
            <a:r>
              <a:rPr sz="10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3582502"/>
            <a:ext cx="402336" cy="253916"/>
          </a:xfrm>
          <a:prstGeom prst="rect">
            <a:avLst/>
          </a:prstGeom>
          <a:noFill/>
        </p:spPr>
        <p:txBody>
          <a:bodyPr wrap="square">
            <a:spAutoFit/>
          </a:bodyPr>
          <a:lstStyle/>
          <a:p>
            <a:pPr algn="ctr"/>
            <a:r>
              <a:rPr sz="10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356421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3582502"/>
            <a:ext cx="384048" cy="253916"/>
          </a:xfrm>
          <a:prstGeom prst="rect">
            <a:avLst/>
          </a:prstGeom>
          <a:noFill/>
        </p:spPr>
        <p:txBody>
          <a:bodyPr wrap="square">
            <a:spAutoFit/>
          </a:bodyPr>
          <a:lstStyle/>
          <a:p>
            <a:pPr algn="ctr"/>
            <a:r>
              <a:rPr sz="10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356421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3582502"/>
            <a:ext cx="1938528" cy="253916"/>
          </a:xfrm>
          <a:prstGeom prst="rect">
            <a:avLst/>
          </a:prstGeom>
          <a:noFill/>
        </p:spPr>
        <p:txBody>
          <a:bodyPr wrap="square">
            <a:spAutoFit/>
          </a:bodyPr>
          <a:lstStyle/>
          <a:p>
            <a:pPr algn="ctr"/>
            <a:r>
              <a:rPr sz="105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356421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3582502"/>
            <a:ext cx="493776" cy="253916"/>
          </a:xfrm>
          <a:prstGeom prst="rect">
            <a:avLst/>
          </a:prstGeom>
          <a:noFill/>
        </p:spPr>
        <p:txBody>
          <a:bodyPr wrap="square">
            <a:spAutoFit/>
          </a:bodyPr>
          <a:lstStyle/>
          <a:p>
            <a:pPr algn="ctr"/>
            <a:r>
              <a:rPr sz="10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356421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3582502"/>
            <a:ext cx="566928" cy="253916"/>
          </a:xfrm>
          <a:prstGeom prst="rect">
            <a:avLst/>
          </a:prstGeom>
          <a:noFill/>
        </p:spPr>
        <p:txBody>
          <a:bodyPr wrap="square">
            <a:spAutoFit/>
          </a:bodyPr>
          <a:lstStyle/>
          <a:p>
            <a:pPr algn="ctr"/>
            <a:r>
              <a:rPr sz="10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356421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3582502"/>
            <a:ext cx="630936" cy="253916"/>
          </a:xfrm>
          <a:prstGeom prst="rect">
            <a:avLst/>
          </a:prstGeom>
          <a:noFill/>
        </p:spPr>
        <p:txBody>
          <a:bodyPr wrap="square">
            <a:spAutoFit/>
          </a:bodyPr>
          <a:lstStyle/>
          <a:p>
            <a:pPr algn="ctr"/>
            <a:r>
              <a:rPr sz="10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356421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3582502"/>
            <a:ext cx="585215" cy="253916"/>
          </a:xfrm>
          <a:prstGeom prst="rect">
            <a:avLst/>
          </a:prstGeom>
          <a:noFill/>
        </p:spPr>
        <p:txBody>
          <a:bodyPr wrap="square">
            <a:spAutoFit/>
          </a:bodyPr>
          <a:lstStyle/>
          <a:p>
            <a:pPr algn="ctr"/>
            <a:r>
              <a:rPr sz="10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00998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028271"/>
            <a:ext cx="329184" cy="253916"/>
          </a:xfrm>
          <a:prstGeom prst="rect">
            <a:avLst/>
          </a:prstGeom>
          <a:noFill/>
        </p:spPr>
        <p:txBody>
          <a:bodyPr wrap="square">
            <a:spAutoFit/>
          </a:bodyPr>
          <a:lstStyle/>
          <a:p>
            <a:pPr algn="ctr"/>
            <a:r>
              <a:rPr lang="es-MX" sz="1050" b="0" dirty="0">
                <a:latin typeface="Calibri"/>
              </a:rPr>
              <a:t>6</a:t>
            </a:r>
            <a:endParaRPr sz="1050" b="0" dirty="0">
              <a:latin typeface="Calibri"/>
            </a:endParaRP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00998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028271"/>
            <a:ext cx="512064" cy="253916"/>
          </a:xfrm>
          <a:prstGeom prst="rect">
            <a:avLst/>
          </a:prstGeom>
          <a:noFill/>
        </p:spPr>
        <p:txBody>
          <a:bodyPr wrap="square">
            <a:spAutoFit/>
          </a:bodyPr>
          <a:lstStyle/>
          <a:p>
            <a:pPr algn="ctr"/>
            <a:r>
              <a:rPr sz="10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028271"/>
            <a:ext cx="402336" cy="253916"/>
          </a:xfrm>
          <a:prstGeom prst="rect">
            <a:avLst/>
          </a:prstGeom>
          <a:noFill/>
        </p:spPr>
        <p:txBody>
          <a:bodyPr wrap="square">
            <a:spAutoFit/>
          </a:bodyPr>
          <a:lstStyle/>
          <a:p>
            <a:pPr algn="ctr"/>
            <a:r>
              <a:rPr sz="10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028271"/>
            <a:ext cx="402336" cy="253916"/>
          </a:xfrm>
          <a:prstGeom prst="rect">
            <a:avLst/>
          </a:prstGeom>
          <a:noFill/>
        </p:spPr>
        <p:txBody>
          <a:bodyPr wrap="square">
            <a:spAutoFit/>
          </a:bodyPr>
          <a:lstStyle/>
          <a:p>
            <a:pPr algn="ctr"/>
            <a:r>
              <a:rPr sz="10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028271"/>
            <a:ext cx="384048" cy="253916"/>
          </a:xfrm>
          <a:prstGeom prst="rect">
            <a:avLst/>
          </a:prstGeom>
          <a:noFill/>
        </p:spPr>
        <p:txBody>
          <a:bodyPr wrap="square">
            <a:spAutoFit/>
          </a:bodyPr>
          <a:lstStyle/>
          <a:p>
            <a:pPr algn="ctr"/>
            <a:r>
              <a:rPr sz="10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00998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028271"/>
            <a:ext cx="1938528" cy="253916"/>
          </a:xfrm>
          <a:prstGeom prst="rect">
            <a:avLst/>
          </a:prstGeom>
          <a:noFill/>
        </p:spPr>
        <p:txBody>
          <a:bodyPr wrap="square">
            <a:spAutoFit/>
          </a:bodyPr>
          <a:lstStyle/>
          <a:p>
            <a:pPr algn="ctr"/>
            <a:r>
              <a:rPr sz="105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00998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028271"/>
            <a:ext cx="493776" cy="253916"/>
          </a:xfrm>
          <a:prstGeom prst="rect">
            <a:avLst/>
          </a:prstGeom>
          <a:noFill/>
        </p:spPr>
        <p:txBody>
          <a:bodyPr wrap="square">
            <a:spAutoFit/>
          </a:bodyPr>
          <a:lstStyle/>
          <a:p>
            <a:pPr algn="ctr"/>
            <a:r>
              <a:rPr sz="10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00998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028271"/>
            <a:ext cx="566928" cy="253916"/>
          </a:xfrm>
          <a:prstGeom prst="rect">
            <a:avLst/>
          </a:prstGeom>
          <a:noFill/>
        </p:spPr>
        <p:txBody>
          <a:bodyPr wrap="square">
            <a:spAutoFit/>
          </a:bodyPr>
          <a:lstStyle/>
          <a:p>
            <a:pPr algn="ctr"/>
            <a:r>
              <a:rPr sz="10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00998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028271"/>
            <a:ext cx="630936" cy="253916"/>
          </a:xfrm>
          <a:prstGeom prst="rect">
            <a:avLst/>
          </a:prstGeom>
          <a:noFill/>
        </p:spPr>
        <p:txBody>
          <a:bodyPr wrap="square">
            <a:spAutoFit/>
          </a:bodyPr>
          <a:lstStyle/>
          <a:p>
            <a:pPr algn="ctr"/>
            <a:r>
              <a:rPr sz="10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00998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028271"/>
            <a:ext cx="585215" cy="253916"/>
          </a:xfrm>
          <a:prstGeom prst="rect">
            <a:avLst/>
          </a:prstGeom>
          <a:noFill/>
        </p:spPr>
        <p:txBody>
          <a:bodyPr wrap="square">
            <a:spAutoFit/>
          </a:bodyPr>
          <a:lstStyle/>
          <a:p>
            <a:pPr algn="ctr"/>
            <a:r>
              <a:rPr sz="10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45575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474042"/>
            <a:ext cx="329184" cy="253916"/>
          </a:xfrm>
          <a:prstGeom prst="rect">
            <a:avLst/>
          </a:prstGeom>
          <a:noFill/>
        </p:spPr>
        <p:txBody>
          <a:bodyPr wrap="square">
            <a:spAutoFit/>
          </a:bodyPr>
          <a:lstStyle/>
          <a:p>
            <a:pPr algn="ctr"/>
            <a:r>
              <a:rPr lang="es-MX" sz="1050" b="0" dirty="0">
                <a:latin typeface="Calibri"/>
              </a:rPr>
              <a:t>7</a:t>
            </a:r>
            <a:endParaRPr sz="1050" b="0" dirty="0">
              <a:latin typeface="Calibri"/>
            </a:endParaRP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45575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474042"/>
            <a:ext cx="512064" cy="253916"/>
          </a:xfrm>
          <a:prstGeom prst="rect">
            <a:avLst/>
          </a:prstGeom>
          <a:noFill/>
        </p:spPr>
        <p:txBody>
          <a:bodyPr wrap="square">
            <a:spAutoFit/>
          </a:bodyPr>
          <a:lstStyle/>
          <a:p>
            <a:pPr algn="ctr"/>
            <a:r>
              <a:rPr sz="10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474042"/>
            <a:ext cx="402336" cy="253916"/>
          </a:xfrm>
          <a:prstGeom prst="rect">
            <a:avLst/>
          </a:prstGeom>
          <a:noFill/>
        </p:spPr>
        <p:txBody>
          <a:bodyPr wrap="square">
            <a:spAutoFit/>
          </a:bodyPr>
          <a:lstStyle/>
          <a:p>
            <a:pPr algn="ctr"/>
            <a:r>
              <a:rPr sz="10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474042"/>
            <a:ext cx="402336" cy="253916"/>
          </a:xfrm>
          <a:prstGeom prst="rect">
            <a:avLst/>
          </a:prstGeom>
          <a:noFill/>
        </p:spPr>
        <p:txBody>
          <a:bodyPr wrap="square">
            <a:spAutoFit/>
          </a:bodyPr>
          <a:lstStyle/>
          <a:p>
            <a:pPr algn="ctr"/>
            <a:r>
              <a:rPr sz="10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474042"/>
            <a:ext cx="384048" cy="253916"/>
          </a:xfrm>
          <a:prstGeom prst="rect">
            <a:avLst/>
          </a:prstGeom>
          <a:noFill/>
        </p:spPr>
        <p:txBody>
          <a:bodyPr wrap="square">
            <a:spAutoFit/>
          </a:bodyPr>
          <a:lstStyle/>
          <a:p>
            <a:pPr algn="ctr"/>
            <a:r>
              <a:rPr sz="10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45575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474042"/>
            <a:ext cx="1938528" cy="253916"/>
          </a:xfrm>
          <a:prstGeom prst="rect">
            <a:avLst/>
          </a:prstGeom>
          <a:noFill/>
        </p:spPr>
        <p:txBody>
          <a:bodyPr wrap="square">
            <a:spAutoFit/>
          </a:bodyPr>
          <a:lstStyle/>
          <a:p>
            <a:pPr algn="ctr"/>
            <a:r>
              <a:rPr sz="105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45575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474042"/>
            <a:ext cx="493776" cy="253916"/>
          </a:xfrm>
          <a:prstGeom prst="rect">
            <a:avLst/>
          </a:prstGeom>
          <a:noFill/>
        </p:spPr>
        <p:txBody>
          <a:bodyPr wrap="square">
            <a:spAutoFit/>
          </a:bodyPr>
          <a:lstStyle/>
          <a:p>
            <a:pPr algn="ctr"/>
            <a:r>
              <a:rPr sz="10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45575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474042"/>
            <a:ext cx="566928" cy="253916"/>
          </a:xfrm>
          <a:prstGeom prst="rect">
            <a:avLst/>
          </a:prstGeom>
          <a:noFill/>
        </p:spPr>
        <p:txBody>
          <a:bodyPr wrap="square">
            <a:spAutoFit/>
          </a:bodyPr>
          <a:lstStyle/>
          <a:p>
            <a:pPr algn="ctr"/>
            <a:r>
              <a:rPr sz="10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45575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474042"/>
            <a:ext cx="630936" cy="253916"/>
          </a:xfrm>
          <a:prstGeom prst="rect">
            <a:avLst/>
          </a:prstGeom>
          <a:noFill/>
        </p:spPr>
        <p:txBody>
          <a:bodyPr wrap="square">
            <a:spAutoFit/>
          </a:bodyPr>
          <a:lstStyle/>
          <a:p>
            <a:pPr algn="ctr"/>
            <a:r>
              <a:rPr sz="10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45575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474042"/>
            <a:ext cx="585215" cy="253916"/>
          </a:xfrm>
          <a:prstGeom prst="rect">
            <a:avLst/>
          </a:prstGeom>
          <a:noFill/>
        </p:spPr>
        <p:txBody>
          <a:bodyPr wrap="square">
            <a:spAutoFit/>
          </a:bodyPr>
          <a:lstStyle/>
          <a:p>
            <a:pPr algn="ctr"/>
            <a:r>
              <a:rPr sz="10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490152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4919812"/>
            <a:ext cx="329184" cy="253916"/>
          </a:xfrm>
          <a:prstGeom prst="rect">
            <a:avLst/>
          </a:prstGeom>
          <a:noFill/>
        </p:spPr>
        <p:txBody>
          <a:bodyPr wrap="square">
            <a:spAutoFit/>
          </a:bodyPr>
          <a:lstStyle/>
          <a:p>
            <a:pPr algn="ctr"/>
            <a:r>
              <a:rPr lang="es-MX" sz="1050" b="0" dirty="0">
                <a:latin typeface="Calibri"/>
              </a:rPr>
              <a:t>8</a:t>
            </a:r>
            <a:endParaRPr sz="1050" b="0" dirty="0">
              <a:latin typeface="Calibri"/>
            </a:endParaRP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490152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4919812"/>
            <a:ext cx="512064" cy="253916"/>
          </a:xfrm>
          <a:prstGeom prst="rect">
            <a:avLst/>
          </a:prstGeom>
          <a:noFill/>
        </p:spPr>
        <p:txBody>
          <a:bodyPr wrap="square">
            <a:spAutoFit/>
          </a:bodyPr>
          <a:lstStyle/>
          <a:p>
            <a:pPr algn="ctr"/>
            <a:r>
              <a:rPr sz="10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4919812"/>
            <a:ext cx="402336" cy="253916"/>
          </a:xfrm>
          <a:prstGeom prst="rect">
            <a:avLst/>
          </a:prstGeom>
          <a:noFill/>
        </p:spPr>
        <p:txBody>
          <a:bodyPr wrap="square">
            <a:spAutoFit/>
          </a:bodyPr>
          <a:lstStyle/>
          <a:p>
            <a:pPr algn="ctr"/>
            <a:r>
              <a:rPr sz="10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4919812"/>
            <a:ext cx="402336" cy="253916"/>
          </a:xfrm>
          <a:prstGeom prst="rect">
            <a:avLst/>
          </a:prstGeom>
          <a:noFill/>
        </p:spPr>
        <p:txBody>
          <a:bodyPr wrap="square">
            <a:spAutoFit/>
          </a:bodyPr>
          <a:lstStyle/>
          <a:p>
            <a:pPr algn="ctr"/>
            <a:r>
              <a:rPr sz="10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490152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4919812"/>
            <a:ext cx="384048" cy="253916"/>
          </a:xfrm>
          <a:prstGeom prst="rect">
            <a:avLst/>
          </a:prstGeom>
          <a:noFill/>
        </p:spPr>
        <p:txBody>
          <a:bodyPr wrap="square">
            <a:spAutoFit/>
          </a:bodyPr>
          <a:lstStyle/>
          <a:p>
            <a:pPr algn="ctr"/>
            <a:r>
              <a:rPr sz="10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490152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4919812"/>
            <a:ext cx="1938528" cy="253916"/>
          </a:xfrm>
          <a:prstGeom prst="rect">
            <a:avLst/>
          </a:prstGeom>
          <a:noFill/>
        </p:spPr>
        <p:txBody>
          <a:bodyPr wrap="square">
            <a:spAutoFit/>
          </a:bodyPr>
          <a:lstStyle/>
          <a:p>
            <a:pPr algn="ctr"/>
            <a:r>
              <a:rPr sz="105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490152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4919812"/>
            <a:ext cx="493776" cy="253916"/>
          </a:xfrm>
          <a:prstGeom prst="rect">
            <a:avLst/>
          </a:prstGeom>
          <a:noFill/>
        </p:spPr>
        <p:txBody>
          <a:bodyPr wrap="square">
            <a:spAutoFit/>
          </a:bodyPr>
          <a:lstStyle/>
          <a:p>
            <a:pPr algn="ctr"/>
            <a:r>
              <a:rPr sz="10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490152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4919812"/>
            <a:ext cx="566928" cy="253916"/>
          </a:xfrm>
          <a:prstGeom prst="rect">
            <a:avLst/>
          </a:prstGeom>
          <a:noFill/>
        </p:spPr>
        <p:txBody>
          <a:bodyPr wrap="square">
            <a:spAutoFit/>
          </a:bodyPr>
          <a:lstStyle/>
          <a:p>
            <a:pPr algn="ctr"/>
            <a:r>
              <a:rPr sz="10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490152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4919812"/>
            <a:ext cx="630936" cy="253916"/>
          </a:xfrm>
          <a:prstGeom prst="rect">
            <a:avLst/>
          </a:prstGeom>
          <a:noFill/>
        </p:spPr>
        <p:txBody>
          <a:bodyPr wrap="square">
            <a:spAutoFit/>
          </a:bodyPr>
          <a:lstStyle/>
          <a:p>
            <a:pPr algn="ctr"/>
            <a:r>
              <a:rPr sz="10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490152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4919812"/>
            <a:ext cx="585215" cy="253916"/>
          </a:xfrm>
          <a:prstGeom prst="rect">
            <a:avLst/>
          </a:prstGeom>
          <a:noFill/>
        </p:spPr>
        <p:txBody>
          <a:bodyPr wrap="square">
            <a:spAutoFit/>
          </a:bodyPr>
          <a:lstStyle/>
          <a:p>
            <a:pPr algn="ctr"/>
            <a:r>
              <a:rPr sz="10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34729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365582"/>
            <a:ext cx="329184" cy="253916"/>
          </a:xfrm>
          <a:prstGeom prst="rect">
            <a:avLst/>
          </a:prstGeom>
          <a:noFill/>
        </p:spPr>
        <p:txBody>
          <a:bodyPr wrap="square">
            <a:spAutoFit/>
          </a:bodyPr>
          <a:lstStyle/>
          <a:p>
            <a:pPr algn="ctr"/>
            <a:r>
              <a:rPr lang="es-MX" sz="1050" b="0" dirty="0">
                <a:latin typeface="Calibri"/>
              </a:rPr>
              <a:t>9</a:t>
            </a:r>
            <a:endParaRPr sz="1050" b="0" dirty="0">
              <a:latin typeface="Calibri"/>
            </a:endParaRP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34729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365582"/>
            <a:ext cx="512064" cy="253916"/>
          </a:xfrm>
          <a:prstGeom prst="rect">
            <a:avLst/>
          </a:prstGeom>
          <a:noFill/>
        </p:spPr>
        <p:txBody>
          <a:bodyPr wrap="square">
            <a:spAutoFit/>
          </a:bodyPr>
          <a:lstStyle/>
          <a:p>
            <a:pPr algn="ctr"/>
            <a:r>
              <a:rPr sz="10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365582"/>
            <a:ext cx="402336" cy="253916"/>
          </a:xfrm>
          <a:prstGeom prst="rect">
            <a:avLst/>
          </a:prstGeom>
          <a:noFill/>
        </p:spPr>
        <p:txBody>
          <a:bodyPr wrap="square">
            <a:spAutoFit/>
          </a:bodyPr>
          <a:lstStyle/>
          <a:p>
            <a:pPr algn="ctr"/>
            <a:r>
              <a:rPr sz="10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365582"/>
            <a:ext cx="402336" cy="253916"/>
          </a:xfrm>
          <a:prstGeom prst="rect">
            <a:avLst/>
          </a:prstGeom>
          <a:noFill/>
        </p:spPr>
        <p:txBody>
          <a:bodyPr wrap="square">
            <a:spAutoFit/>
          </a:bodyPr>
          <a:lstStyle/>
          <a:p>
            <a:pPr algn="ctr"/>
            <a:r>
              <a:rPr sz="10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34729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365582"/>
            <a:ext cx="384048" cy="253916"/>
          </a:xfrm>
          <a:prstGeom prst="rect">
            <a:avLst/>
          </a:prstGeom>
          <a:noFill/>
        </p:spPr>
        <p:txBody>
          <a:bodyPr wrap="square">
            <a:spAutoFit/>
          </a:bodyPr>
          <a:lstStyle/>
          <a:p>
            <a:pPr algn="ctr"/>
            <a:r>
              <a:rPr sz="10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34729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365582"/>
            <a:ext cx="1938528" cy="253916"/>
          </a:xfrm>
          <a:prstGeom prst="rect">
            <a:avLst/>
          </a:prstGeom>
          <a:noFill/>
        </p:spPr>
        <p:txBody>
          <a:bodyPr wrap="square">
            <a:spAutoFit/>
          </a:bodyPr>
          <a:lstStyle/>
          <a:p>
            <a:pPr algn="ctr"/>
            <a:r>
              <a:rPr sz="105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34729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365582"/>
            <a:ext cx="493776" cy="253916"/>
          </a:xfrm>
          <a:prstGeom prst="rect">
            <a:avLst/>
          </a:prstGeom>
          <a:noFill/>
        </p:spPr>
        <p:txBody>
          <a:bodyPr wrap="square">
            <a:spAutoFit/>
          </a:bodyPr>
          <a:lstStyle/>
          <a:p>
            <a:pPr algn="ctr"/>
            <a:r>
              <a:rPr sz="10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34729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365582"/>
            <a:ext cx="566928" cy="253916"/>
          </a:xfrm>
          <a:prstGeom prst="rect">
            <a:avLst/>
          </a:prstGeom>
          <a:noFill/>
        </p:spPr>
        <p:txBody>
          <a:bodyPr wrap="square">
            <a:spAutoFit/>
          </a:bodyPr>
          <a:lstStyle/>
          <a:p>
            <a:pPr algn="ctr"/>
            <a:r>
              <a:rPr sz="10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34729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365582"/>
            <a:ext cx="630936" cy="253916"/>
          </a:xfrm>
          <a:prstGeom prst="rect">
            <a:avLst/>
          </a:prstGeom>
          <a:noFill/>
        </p:spPr>
        <p:txBody>
          <a:bodyPr wrap="square">
            <a:spAutoFit/>
          </a:bodyPr>
          <a:lstStyle/>
          <a:p>
            <a:pPr algn="ctr"/>
            <a:r>
              <a:rPr sz="10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34729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365582"/>
            <a:ext cx="585215" cy="253916"/>
          </a:xfrm>
          <a:prstGeom prst="rect">
            <a:avLst/>
          </a:prstGeom>
          <a:noFill/>
        </p:spPr>
        <p:txBody>
          <a:bodyPr wrap="square">
            <a:spAutoFit/>
          </a:bodyPr>
          <a:lstStyle/>
          <a:p>
            <a:pPr algn="ctr"/>
            <a:r>
              <a:rPr sz="1050" b="0" dirty="0">
                <a:latin typeface="Calibri"/>
              </a:rPr>
              <a:t>−0.052</a:t>
            </a:r>
          </a:p>
        </p:txBody>
      </p:sp>
    </p:spTree>
    <p:extLst>
      <p:ext uri="{BB962C8B-B14F-4D97-AF65-F5344CB8AC3E}">
        <p14:creationId xmlns:p14="http://schemas.microsoft.com/office/powerpoint/2010/main" val="40457373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5C75207-FF13-4C24-B81D-1EC36030ED43}"/>
                  </a:ext>
                </a:extLst>
              </p:cNvPr>
              <p:cNvSpPr txBox="1"/>
              <p:nvPr/>
            </p:nvSpPr>
            <p:spPr>
              <a:xfrm>
                <a:off x="4872805" y="4384421"/>
                <a:ext cx="6190696" cy="1169551"/>
              </a:xfrm>
              <a:prstGeom prst="rect">
                <a:avLst/>
              </a:prstGeom>
              <a:noFill/>
            </p:spPr>
            <p:txBody>
              <a:bodyPr wrap="square">
                <a:spAutoFit/>
              </a:bodyPr>
              <a:lstStyle/>
              <a:p>
                <a:pPr algn="just"/>
                <a:r>
                  <a:rPr lang="es-AR" sz="1400" dirty="0">
                    <a:latin typeface="Calibri" panose="020F0502020204030204" pitchFamily="34" charset="0"/>
                    <a:ea typeface="Times New Roman" panose="02020603050405020304" pitchFamily="18" charset="0"/>
                  </a:rPr>
                  <a:t>S</a:t>
                </a:r>
                <a:r>
                  <a:rPr lang="es-AR" sz="1400" dirty="0">
                    <a:effectLst/>
                    <a:latin typeface="Calibri" panose="020F0502020204030204" pitchFamily="34" charset="0"/>
                    <a:ea typeface="Times New Roman" panose="02020603050405020304" pitchFamily="18" charset="0"/>
                  </a:rPr>
                  <a:t>e observa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)&gt;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durante los intervalos correspondientes a motorización directa y frenado regenerativo en sentido inverso, mientras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)&lt;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en los casos de frenado regenerativo en sentido directo y motorización en inverso. Esta correspondencia confirma la consistencia entre la evolución del desfasaje electromagnético y el cuadrante de operación del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4" name="CuadroTexto 23">
                <a:extLst>
                  <a:ext uri="{FF2B5EF4-FFF2-40B4-BE49-F238E27FC236}">
                    <a16:creationId xmlns:a16="http://schemas.microsoft.com/office/drawing/2014/main" id="{55C75207-FF13-4C24-B81D-1EC36030ED43}"/>
                  </a:ext>
                </a:extLst>
              </p:cNvPr>
              <p:cNvSpPr txBox="1">
                <a:spLocks noRot="1" noChangeAspect="1" noMove="1" noResize="1" noEditPoints="1" noAdjustHandles="1" noChangeArrowheads="1" noChangeShapeType="1" noTextEdit="1"/>
              </p:cNvSpPr>
              <p:nvPr/>
            </p:nvSpPr>
            <p:spPr>
              <a:xfrm>
                <a:off x="4872805" y="4384421"/>
                <a:ext cx="6190696" cy="1169551"/>
              </a:xfrm>
              <a:prstGeom prst="rect">
                <a:avLst/>
              </a:prstGeom>
              <a:blipFill>
                <a:blip r:embed="rId8"/>
                <a:stretch>
                  <a:fillRect l="-295" t="-1042" r="-197" b="-4688"/>
                </a:stretch>
              </a:blipFill>
            </p:spPr>
            <p:txBody>
              <a:bodyPr/>
              <a:lstStyle/>
              <a:p>
                <a:r>
                  <a:rPr lang="es-AR">
                    <a:noFill/>
                  </a:rPr>
                  <a:t> </a:t>
                </a:r>
              </a:p>
            </p:txBody>
          </p:sp>
        </mc:Fallback>
      </mc:AlternateContent>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Valores de establecimiento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sz="1400" b="1" i="0" dirty="0" err="1">
                    <a:solidFill>
                      <a:srgbClr val="1A3A6B"/>
                    </a:solidFill>
                    <a:latin typeface="Calibri"/>
                  </a:rPr>
                  <a:t>Tabla</a:t>
                </a:r>
                <a:r>
                  <a:rPr sz="1400" b="1" i="0" dirty="0">
                    <a:solidFill>
                      <a:srgbClr val="1A3A6B"/>
                    </a:solidFill>
                    <a:latin typeface="Calibri"/>
                  </a:rPr>
                  <a:t>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603376"/>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𝒍𝒅</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 pero su valor de establecimiento no varía proporcionalmente como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603376"/>
              </a:xfrm>
              <a:prstGeom prst="rect">
                <a:avLst/>
              </a:prstGeom>
              <a:blipFill>
                <a:blip r:embed="rId4"/>
                <a:stretch>
                  <a:fillRect l="-642" t="-397" r="-1178" b="-795"/>
                </a:stretch>
              </a:blipFill>
            </p:spPr>
            <p:txBody>
              <a:bodyPr/>
              <a:lstStyle/>
              <a:p>
                <a:r>
                  <a:rPr lang="es-AR">
                    <a:noFill/>
                  </a:rPr>
                  <a:t> </a:t>
                </a:r>
              </a:p>
            </p:txBody>
          </p:sp>
        </mc:Fallback>
      </mc:AlternateContent>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figuras,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=±0.5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0256994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4717866" y="6028092"/>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4717866" y="6028092"/>
                <a:ext cx="3613212" cy="262059"/>
              </a:xfrm>
              <a:prstGeom prst="rect">
                <a:avLst/>
              </a:prstGeom>
              <a:blipFill>
                <a:blip r:embed="rId4"/>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3907" y="1906538"/>
            <a:ext cx="11218968" cy="4027537"/>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153881" y="1486499"/>
                <a:ext cx="9380644" cy="307777"/>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9596</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5</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153881" y="1486499"/>
                <a:ext cx="9380644" cy="307777"/>
              </a:xfrm>
              <a:prstGeom prst="rect">
                <a:avLst/>
              </a:prstGeom>
              <a:blipFill>
                <a:blip r:embed="rId6"/>
                <a:stretch>
                  <a:fillRect l="-195" t="-4000" b="-20000"/>
                </a:stretch>
              </a:blipFill>
            </p:spPr>
            <p:txBody>
              <a:bodyPr/>
              <a:lstStyle/>
              <a:p>
                <a:r>
                  <a:rPr lang="es-AR">
                    <a:noFill/>
                  </a:rPr>
                  <a:t> </a:t>
                </a:r>
              </a:p>
            </p:txBody>
          </p:sp>
        </mc:Fallback>
      </mc:AlternateContent>
    </p:spTree>
    <p:extLst>
      <p:ext uri="{BB962C8B-B14F-4D97-AF65-F5344CB8AC3E}">
        <p14:creationId xmlns:p14="http://schemas.microsoft.com/office/powerpoint/2010/main" val="35195824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4869709" y="5423125"/>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4869709" y="5423125"/>
                <a:ext cx="3613212"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8F9EA927-07BE-4441-976A-0DA54EBF50E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6078" y="849029"/>
            <a:ext cx="10414847" cy="4456396"/>
          </a:xfrm>
          <a:prstGeom prst="rect">
            <a:avLst/>
          </a:prstGeom>
          <a:noFill/>
          <a:ln>
            <a:noFill/>
          </a:ln>
        </p:spPr>
      </p:pic>
    </p:spTree>
    <p:extLst>
      <p:ext uri="{BB962C8B-B14F-4D97-AF65-F5344CB8AC3E}">
        <p14:creationId xmlns:p14="http://schemas.microsoft.com/office/powerpoint/2010/main" val="23042340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7131156" y="6273863"/>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7131156" y="6273863"/>
                <a:ext cx="3613212" cy="261610"/>
              </a:xfrm>
              <a:prstGeom prst="rect">
                <a:avLst/>
              </a:prstGeom>
              <a:blipFill>
                <a:blip r:embed="rId3"/>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F913FF57-83AB-4AAD-9D93-5FED7EBB3644}"/>
                  </a:ext>
                </a:extLst>
              </p:cNvPr>
              <p:cNvSpPr txBox="1"/>
              <p:nvPr/>
            </p:nvSpPr>
            <p:spPr>
              <a:xfrm>
                <a:off x="441215" y="954251"/>
                <a:ext cx="11144143" cy="2309094"/>
              </a:xfrm>
              <a:prstGeom prst="rect">
                <a:avLst/>
              </a:prstGeom>
              <a:noFill/>
            </p:spPr>
            <p:txBody>
              <a:bodyPr wrap="square">
                <a:spAutoFit/>
              </a:bodyPr>
              <a:lstStyle/>
              <a:p>
                <a:r>
                  <a:rPr lang="es-MX" sz="1600" b="1" dirty="0">
                    <a:solidFill>
                      <a:schemeClr val="tx1"/>
                    </a:solidFill>
                  </a:rPr>
                  <a:t>Field forcing y field weakening — Efecto de </a:t>
                </a:r>
                <a14:m>
                  <m:oMath xmlns:m="http://schemas.openxmlformats.org/officeDocument/2006/math">
                    <m:sSubSup>
                      <m:sSubSupPr>
                        <m:ctrlP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𝒅𝒔</m:t>
                        </m:r>
                      </m:sub>
                      <m:sup>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b="1" dirty="0">
                    <a:solidFill>
                      <a:schemeClr val="tx1"/>
                    </a:solidFill>
                  </a:rPr>
                  <a:t> sobre </a:t>
                </a:r>
                <a14:m>
                  <m:oMath xmlns:m="http://schemas.openxmlformats.org/officeDocument/2006/math">
                    <m:sSub>
                      <m:sSubPr>
                        <m:ctrlPr>
                          <a:rPr lang="es-AR"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MX"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MX" sz="1600" b="1" dirty="0">
                  <a:solidFill>
                    <a:schemeClr val="tx1"/>
                  </a:solidFill>
                </a:endParaRPr>
              </a:p>
              <a:p>
                <a:endParaRPr lang="es-MX" sz="1600" b="1" dirty="0">
                  <a:solidFill>
                    <a:schemeClr val="tx1"/>
                  </a:solidFill>
                </a:endParaRPr>
              </a:p>
              <a:p>
                <a:pPr marL="285750" indent="-285750">
                  <a:buFont typeface="Arial" panose="020B0604020202020204" pitchFamily="34" charset="0"/>
                  <a:buChar char="•"/>
                </a:pPr>
                <a:r>
                  <a:rPr lang="es-MX" sz="1600" dirty="0"/>
                  <a:t>Field forcing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&gt; 0): refuerza el flujo → ligera reducción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latin typeface="Calibri" panose="020F0502020204030204" pitchFamily="34" charset="0"/>
                    <a:ea typeface="Calibri" panose="020F0502020204030204" pitchFamily="34" charset="0"/>
                    <a:cs typeface="Times New Roman" panose="02020603050405020304" pitchFamily="18" charset="0"/>
                  </a:rPr>
                  <a:t> </a:t>
                </a:r>
                <a:r>
                  <a:rPr lang="es-MX" sz="1600" dirty="0"/>
                  <a:t>en régimen; picos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MX" sz="1600" dirty="0"/>
                  <a:t> más pronunciados en el transitorio.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Field weakening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&lt; 0): debilita el flujo → velocidades ligeramente superiores; diferencias visibles principalmente en el transitorio antes de retornar al régimen estacionario.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Modelo LTI: permanece prácticamente inalterado ante variaciones de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 el desacople entre ejes d y q elimina este efecto. Cualquier valor inicial de </a:t>
                </a:r>
                <a14:m>
                  <m:oMath xmlns:m="http://schemas.openxmlformats.org/officeDocument/2006/math">
                    <m:sSubSup>
                      <m:sSubSupPr>
                        <m:ctrlPr>
                          <a:rPr lang="es-AR" sz="1600" i="1">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es anulado rápidamente por el controlador.</a:t>
                </a:r>
              </a:p>
            </p:txBody>
          </p:sp>
        </mc:Choice>
        <mc:Fallback xmlns="">
          <p:sp>
            <p:nvSpPr>
              <p:cNvPr id="17" name="CuadroTexto 16">
                <a:extLst>
                  <a:ext uri="{FF2B5EF4-FFF2-40B4-BE49-F238E27FC236}">
                    <a16:creationId xmlns:a16="http://schemas.microsoft.com/office/drawing/2014/main" id="{F913FF57-83AB-4AAD-9D93-5FED7EBB3644}"/>
                  </a:ext>
                </a:extLst>
              </p:cNvPr>
              <p:cNvSpPr txBox="1">
                <a:spLocks noRot="1" noChangeAspect="1" noMove="1" noResize="1" noEditPoints="1" noAdjustHandles="1" noChangeArrowheads="1" noChangeShapeType="1" noTextEdit="1"/>
              </p:cNvSpPr>
              <p:nvPr/>
            </p:nvSpPr>
            <p:spPr>
              <a:xfrm>
                <a:off x="441215" y="954251"/>
                <a:ext cx="11144143" cy="2309094"/>
              </a:xfrm>
              <a:prstGeom prst="rect">
                <a:avLst/>
              </a:prstGeom>
              <a:blipFill>
                <a:blip r:embed="rId4"/>
                <a:stretch>
                  <a:fillRect l="-274" t="-794" b="-2646"/>
                </a:stretch>
              </a:blipFill>
            </p:spPr>
            <p:txBody>
              <a:bodyPr/>
              <a:lstStyle/>
              <a:p>
                <a:r>
                  <a:rPr lang="es-AR">
                    <a:noFill/>
                  </a:rPr>
                  <a:t> </a:t>
                </a:r>
              </a:p>
            </p:txBody>
          </p:sp>
        </mc:Fallback>
      </mc:AlternateContent>
    </p:spTree>
    <p:extLst>
      <p:ext uri="{BB962C8B-B14F-4D97-AF65-F5344CB8AC3E}">
        <p14:creationId xmlns:p14="http://schemas.microsoft.com/office/powerpoint/2010/main" val="35223631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20040" y="777240"/>
            <a:ext cx="11430000" cy="338554"/>
          </a:xfrm>
          <a:prstGeom prst="rect">
            <a:avLst/>
          </a:prstGeom>
          <a:noFill/>
        </p:spPr>
        <p:txBody>
          <a:bodyPr wrap="square">
            <a:spAutoFit/>
          </a:bodyPr>
          <a:lstStyle/>
          <a:p>
            <a:pPr algn="l"/>
            <a:r>
              <a:rPr lang="es-AR" sz="1600" b="0" i="0" u="sng"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a:t>
            </a:r>
            <a:r>
              <a:rPr lang="es-AR" sz="1600" dirty="0">
                <a:latin typeface="Calibri"/>
              </a:rPr>
              <a:t>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a:t>
            </a:r>
            <a:r>
              <a:rPr lang="es-AR" sz="1600" dirty="0">
                <a:latin typeface="Calibri"/>
              </a:rPr>
              <a:t>genera consignas de torque para seguir la referencia de posición/velocidad. Éstas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p:sp>
        <p:nvSpPr>
          <p:cNvPr id="14" name="CuadroTexto 13">
            <a:extLst>
              <a:ext uri="{FF2B5EF4-FFF2-40B4-BE49-F238E27FC236}">
                <a16:creationId xmlns:a16="http://schemas.microsoft.com/office/drawing/2014/main" id="{6E2D4AFC-E308-4676-A366-47E0821BF784}"/>
              </a:ext>
            </a:extLst>
          </p:cNvPr>
          <p:cNvSpPr txBox="1"/>
          <p:nvPr/>
        </p:nvSpPr>
        <p:spPr>
          <a:xfrm>
            <a:off x="365760" y="2860032"/>
            <a:ext cx="11217250" cy="2265557"/>
          </a:xfrm>
          <a:prstGeom prst="rect">
            <a:avLst/>
          </a:prstGeom>
          <a:noFill/>
        </p:spPr>
        <p:txBody>
          <a:bodyPr wrap="square">
            <a:spAutoFit/>
          </a:bodyPr>
          <a:lstStyle/>
          <a:p>
            <a:pPr algn="just">
              <a:lnSpc>
                <a:spcPct val="107000"/>
              </a:lnSpc>
              <a:spcBef>
                <a:spcPts val="400"/>
              </a:spcBef>
              <a:spcAft>
                <a:spcPts val="400"/>
              </a:spcAft>
            </a:pPr>
            <a:r>
              <a:rPr lang="es-AR" sz="1600" u="sng" dirty="0">
                <a:solidFill>
                  <a:srgbClr val="1A1A2E"/>
                </a:solidFill>
                <a:latin typeface="Calibri"/>
              </a:rPr>
              <a:t>El sistema de control propuesto se compone de los siguientes bloques principales:</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a:t>
            </a:r>
            <a:r>
              <a:rPr lang="es-AR" sz="1600" dirty="0">
                <a:latin typeface="Calibri"/>
              </a:rPr>
              <a:t>encargado de transformar las consignas de torque en señales de tensión equivalentes que actúan sobre la máquina.</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a:t>
            </a:r>
            <a:r>
              <a:rPr lang="es-AR" sz="1600" dirty="0">
                <a:latin typeface="Calibri"/>
              </a:rPr>
              <a:t>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a:t>
            </a:r>
            <a:r>
              <a:rPr lang="es-AR" sz="1600" dirty="0">
                <a:latin typeface="Calibri"/>
              </a:rPr>
              <a:t>genera las consignas de torque necesarias para que el sistema siga un perfil de posición o velocidad especificado.</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75651" y="4238463"/>
            <a:ext cx="5015440"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2685197"/>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02156"/>
                <a:ext cx="11643055" cy="1815882"/>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a:t>
                </a:r>
                <a:r>
                  <a:rPr lang="es-AR" sz="1400" dirty="0">
                    <a:effectLst/>
                    <a:latin typeface="Calibri" panose="020F0502020204030204" pitchFamily="34" charset="0"/>
                    <a:ea typeface="Calibri" panose="020F0502020204030204" pitchFamily="34" charset="0"/>
                  </a:rPr>
                  <a:t>e implementa el modulador de torque equivalente, que constituye el lazo interno del esquema de control en cascada. Este bloque recibe como entrada las consignas de torque generadas por el controlador de movimiento y produce como salida las consignas de tensión que deben aplicarse al accionamiento eléctrico.</a:t>
                </a:r>
              </a:p>
              <a:p>
                <a:r>
                  <a:rPr lang="es-AR" sz="1400" dirty="0">
                    <a:latin typeface="Calibri" panose="020F0502020204030204" pitchFamily="34" charset="0"/>
                    <a:ea typeface="Calibri" panose="020F0502020204030204" pitchFamily="34" charset="0"/>
                  </a:rPr>
                  <a:t>El modulador se basa en el modelo dinámico linealizado del sistema expresado en el marco de referencia </a:t>
                </a:r>
                <a14:m>
                  <m:oMath xmlns:m="http://schemas.openxmlformats.org/officeDocument/2006/math">
                    <m:sSup>
                      <m:sSupPr>
                        <m:ctrlPr>
                          <a:rPr lang="es-AR" sz="1400" i="1">
                            <a:latin typeface="Cambria Math" panose="02040503050406030204" pitchFamily="18" charset="0"/>
                            <a:ea typeface="Calibri" panose="020F0502020204030204" pitchFamily="34" charset="0"/>
                          </a:rPr>
                        </m:ctrlPr>
                      </m:sSupPr>
                      <m:e>
                        <m:r>
                          <a:rPr lang="es-AR" sz="1400">
                            <a:latin typeface="Cambria Math" panose="02040503050406030204" pitchFamily="18" charset="0"/>
                            <a:ea typeface="Calibri" panose="020F0502020204030204" pitchFamily="34" charset="0"/>
                          </a:rPr>
                          <m:t>𝑞𝑑</m:t>
                        </m:r>
                        <m:r>
                          <a:rPr lang="es-AR" sz="1400">
                            <a:latin typeface="Cambria Math" panose="02040503050406030204" pitchFamily="18" charset="0"/>
                            <a:ea typeface="Calibri" panose="020F0502020204030204" pitchFamily="34" charset="0"/>
                          </a:rPr>
                          <m:t>0</m:t>
                        </m:r>
                      </m:e>
                      <m:sup>
                        <m:r>
                          <a:rPr lang="es-AR" sz="1400">
                            <a:latin typeface="Cambria Math" panose="02040503050406030204" pitchFamily="18" charset="0"/>
                            <a:ea typeface="Calibri" panose="020F0502020204030204" pitchFamily="34" charset="0"/>
                          </a:rPr>
                          <m:t>𝑟</m:t>
                        </m:r>
                      </m:sup>
                    </m:sSup>
                  </m:oMath>
                </a14:m>
                <a:r>
                  <a:rPr lang="es-AR" sz="14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p>
              <a:p>
                <a:endParaRPr lang="es-AR" sz="1400" dirty="0">
                  <a:latin typeface="Calibri" panose="020F0502020204030204" pitchFamily="34" charset="0"/>
                  <a:ea typeface="Calibri" panose="020F0502020204030204" pitchFamily="34" charset="0"/>
                </a:endParaRPr>
              </a:p>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transformación de Park:</a:t>
                </a:r>
              </a:p>
            </p:txBody>
          </p:sp>
        </mc:Choice>
        <mc:Fallback xmlns="">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02156"/>
                <a:ext cx="11643055" cy="1815882"/>
              </a:xfrm>
              <a:prstGeom prst="rect">
                <a:avLst/>
              </a:prstGeom>
              <a:blipFill>
                <a:blip r:embed="rId2"/>
                <a:stretch>
                  <a:fillRect l="-157" t="-673" b="-26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Box 16">
                <a:extLst>
                  <a:ext uri="{FF2B5EF4-FFF2-40B4-BE49-F238E27FC236}">
                    <a16:creationId xmlns:a16="http://schemas.microsoft.com/office/drawing/2014/main" id="{90D5BD06-E953-4B2D-9222-069FC768BFC6}"/>
                  </a:ext>
                </a:extLst>
              </p:cNvPr>
              <p:cNvSpPr txBox="1"/>
              <p:nvPr/>
            </p:nvSpPr>
            <p:spPr>
              <a:xfrm>
                <a:off x="-231267" y="2738532"/>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xmlns="">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231267" y="2738532"/>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77924" y="3281314"/>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471549" y="4269430"/>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471549" y="4269430"/>
                <a:ext cx="4714490" cy="1608902"/>
              </a:xfrm>
              <a:prstGeom prst="rect">
                <a:avLst/>
              </a:prstGeom>
              <a:blipFill>
                <a:blip r:embed="rId4"/>
                <a:stretch>
                  <a:fillRect l="-2455" r="-129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2DE01B99-EDA0-4525-9FC7-E41D06B78EA1}"/>
                  </a:ext>
                </a:extLst>
              </p:cNvPr>
              <p:cNvSpPr txBox="1"/>
              <p:nvPr/>
            </p:nvSpPr>
            <p:spPr>
              <a:xfrm>
                <a:off x="5442462" y="4347158"/>
                <a:ext cx="6236562" cy="1186159"/>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5442462" y="4347158"/>
                <a:ext cx="6236562" cy="1186159"/>
              </a:xfrm>
              <a:prstGeom prst="rect">
                <a:avLst/>
              </a:prstGeom>
              <a:blipFill>
                <a:blip r:embed="rId5"/>
                <a:stretch>
                  <a:fillRect l="-293" t="-1026" r="-293" b="-4615"/>
                </a:stretch>
              </a:blipFill>
            </p:spPr>
            <p:txBody>
              <a:bodyPr/>
              <a:lstStyle/>
              <a:p>
                <a:r>
                  <a:rPr lang="es-AR">
                    <a:noFill/>
                  </a:rPr>
                  <a:t> </a:t>
                </a:r>
              </a:p>
            </p:txBody>
          </p:sp>
        </mc:Fallback>
      </mc:AlternateContent>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smtClean="0">
                                        <a:latin typeface="Cambria Math" panose="02040503050406030204" pitchFamily="18" charset="0"/>
                                      </a:rPr>
                                    </m:ctrlPr>
                                  </m:sSubPr>
                                  <m:e>
                                    <m:r>
                                      <a:rPr lang="es-AR" sz="1400" i="1">
                                        <a:latin typeface="Cambria Math" panose="02040503050406030204" pitchFamily="18" charset="0"/>
                                      </a:rPr>
                                      <m:t>𝐿</m:t>
                                    </m:r>
                                  </m:e>
                                  <m:sub>
                                    <m:r>
                                      <a:rPr lang="es-MX" sz="1400" b="0" i="1" smtClean="0">
                                        <a:latin typeface="Cambria Math" panose="02040503050406030204" pitchFamily="18" charset="0"/>
                                      </a:rPr>
                                      <m:t>𝑞</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MX" sz="1400" b="0" i="1" smtClean="0">
                                            <a:latin typeface="Cambria Math" panose="02040503050406030204" pitchFamily="18" charset="0"/>
                                          </a:rPr>
                                          <m:t>𝑞</m:t>
                                        </m:r>
                                        <m:r>
                                          <a:rPr lang="es-AR" sz="1400" i="1">
                                            <a:latin typeface="Cambria Math" panose="02040503050406030204" pitchFamily="18" charset="0"/>
                                          </a:rPr>
                                          <m:t>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Tree>
    <p:extLst>
      <p:ext uri="{BB962C8B-B14F-4D97-AF65-F5344CB8AC3E}">
        <p14:creationId xmlns:p14="http://schemas.microsoft.com/office/powerpoint/2010/main" val="41497860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Tree>
    <p:extLst>
      <p:ext uri="{BB962C8B-B14F-4D97-AF65-F5344CB8AC3E}">
        <p14:creationId xmlns:p14="http://schemas.microsoft.com/office/powerpoint/2010/main" val="20937183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2269532"/>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Con </a:t>
                </a:r>
                <a:r>
                  <a:rPr lang="es-AR" sz="1400" dirty="0">
                    <a:effectLst/>
                    <a:latin typeface="Calibri" panose="020F0502020204030204" pitchFamily="34" charset="0"/>
                    <a:ea typeface="Calibri" panose="020F0502020204030204" pitchFamily="34" charset="0"/>
                    <a:cs typeface="Calibri" panose="020F0502020204030204" pitchFamily="34" charset="0"/>
                  </a:rPr>
                  <a:t>el desacople de las realimentaciones electromagnéticas, el 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son las ganancias proporcionales. Estas ganancias se expresan como resistencias virtuales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up>
                    </m:sSubSup>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con unidades de ohmios, ya que modelan el comportamiento de una resistencia equivalente que gobierna la dinámica del lazo. </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2269532"/>
              </a:xfrm>
              <a:prstGeom prst="rect">
                <a:avLst/>
              </a:prstGeom>
              <a:blipFill>
                <a:blip r:embed="rId2"/>
                <a:stretch>
                  <a:fillRect l="-155" t="-269" r="-155"/>
                </a:stretch>
              </a:blipFill>
            </p:spPr>
            <p:txBody>
              <a:bodyPr/>
              <a:lstStyle/>
              <a:p>
                <a:r>
                  <a:rPr lang="es-AR">
                    <a:noFill/>
                  </a:rPr>
                  <a:t> </a:t>
                </a:r>
              </a:p>
            </p:txBody>
          </p:sp>
        </mc:Fallback>
      </mc:AlternateContent>
      <p:sp>
        <p:nvSpPr>
          <p:cNvPr id="11" name="Rectangle 10"/>
          <p:cNvSpPr/>
          <p:nvPr/>
        </p:nvSpPr>
        <p:spPr>
          <a:xfrm>
            <a:off x="274320" y="2303463"/>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249624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249624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293183"/>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293183"/>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182921" y="3731488"/>
                <a:ext cx="11765280" cy="958980"/>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 Las tres funciones de transferencia presentan la forma canónica de un sistema de primer orden:</a:t>
                </a:r>
              </a:p>
              <a:p>
                <a:endParaRPr lang="es-AR" sz="14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182921" y="3731488"/>
                <a:ext cx="11765280" cy="958980"/>
              </a:xfrm>
              <a:prstGeom prst="rect">
                <a:avLst/>
              </a:prstGeom>
              <a:blipFill>
                <a:blip r:embed="rId5"/>
                <a:stretch>
                  <a:fillRect l="-155" t="-1274"/>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262335"/>
            <a:ext cx="11222677" cy="22463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314934"/>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314934"/>
                <a:ext cx="2798083" cy="2330766"/>
              </a:xfrm>
              <a:prstGeom prst="rect">
                <a:avLst/>
              </a:prstGeom>
              <a:blipFill>
                <a:blip r:embed="rId6"/>
                <a:stretch>
                  <a:fillRect l="-8932" r="-784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38930"/>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r>
                      <a:rPr lang="es-MX" sz="1600" b="0" i="1" smtClean="0">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3893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 gracias a que</a:t>
                </a:r>
                <a:r>
                  <a:rPr lang="es-AR" b="1" dirty="0"/>
                  <a:t> </a:t>
                </a:r>
                <a14:m>
                  <m:oMath xmlns:m="http://schemas.openxmlformats.org/officeDocument/2006/math">
                    <m:r>
                      <a:rPr lang="es-AR" sz="1400" b="0" i="1">
                        <a:latin typeface="Cambria Math" panose="02040503050406030204" pitchFamily="18" charset="0"/>
                      </a:rPr>
                      <m:t>𝑖</m:t>
                    </m:r>
                    <m:d>
                      <m:dPr>
                        <m:ctrlPr>
                          <a:rPr lang="es-AR" sz="1400" i="1">
                            <a:latin typeface="Cambria Math" panose="02040503050406030204" pitchFamily="18" charset="0"/>
                          </a:rPr>
                        </m:ctrlPr>
                      </m:dPr>
                      <m:e>
                        <m:r>
                          <a:rPr lang="es-AR" sz="1400" b="0" i="1">
                            <a:latin typeface="Cambria Math" panose="02040503050406030204" pitchFamily="18" charset="0"/>
                          </a:rPr>
                          <m:t>𝑡</m:t>
                        </m:r>
                      </m:e>
                    </m:d>
                    <m:r>
                      <a:rPr lang="es-AR" sz="1400" b="0" i="1">
                        <a:latin typeface="Cambria Math" panose="02040503050406030204" pitchFamily="18" charset="0"/>
                      </a:rPr>
                      <m:t>=</m:t>
                    </m:r>
                    <m:sSup>
                      <m:sSupPr>
                        <m:ctrlPr>
                          <a:rPr lang="es-AR" sz="1400" i="1">
                            <a:latin typeface="Cambria Math" panose="02040503050406030204" pitchFamily="18" charset="0"/>
                          </a:rPr>
                        </m:ctrlPr>
                      </m:sSupPr>
                      <m:e>
                        <m:r>
                          <a:rPr lang="es-AR" sz="1400" b="0" i="1">
                            <a:latin typeface="Cambria Math" panose="02040503050406030204" pitchFamily="18" charset="0"/>
                          </a:rPr>
                          <m:t>𝑖</m:t>
                        </m:r>
                      </m:e>
                      <m:sup>
                        <m:r>
                          <a:rPr lang="es-AR" sz="1400" b="0" i="1">
                            <a:latin typeface="Cambria Math" panose="02040503050406030204" pitchFamily="18" charset="0"/>
                          </a:rPr>
                          <m:t>∗</m:t>
                        </m:r>
                      </m:sup>
                    </m:sSup>
                    <m:d>
                      <m:dPr>
                        <m:ctrlPr>
                          <a:rPr lang="es-AR" sz="1400" i="1">
                            <a:latin typeface="Cambria Math" panose="02040503050406030204" pitchFamily="18" charset="0"/>
                          </a:rPr>
                        </m:ctrlPr>
                      </m:dPr>
                      <m:e>
                        <m:r>
                          <a:rPr lang="es-AR" sz="1400" b="0" i="1">
                            <a:latin typeface="Cambria Math" panose="02040503050406030204" pitchFamily="18" charset="0"/>
                          </a:rPr>
                          <m:t>𝑡</m:t>
                        </m:r>
                      </m:e>
                    </m:d>
                  </m:oMath>
                </a14:m>
                <a:endParaRPr lang="es-AR" sz="1400" i="1"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29</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33</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4</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Tree>
    <p:extLst>
      <p:ext uri="{BB962C8B-B14F-4D97-AF65-F5344CB8AC3E}">
        <p14:creationId xmlns:p14="http://schemas.microsoft.com/office/powerpoint/2010/main" val="6170945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13512" y="3907451"/>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xmlns:a14="http://schemas.microsoft.com/office/drawing/2010/main">
        <mc:Choice Requires="a14">
          <p:sp>
            <p:nvSpPr>
              <p:cNvPr id="7" name="TextBox 6"/>
              <p:cNvSpPr txBox="1"/>
              <p:nvPr/>
            </p:nvSpPr>
            <p:spPr>
              <a:xfrm>
                <a:off x="152705" y="717524"/>
                <a:ext cx="11430000" cy="523220"/>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a:t>
                </a:r>
              </a:p>
            </p:txBody>
          </p:sp>
        </mc:Choice>
        <mc:Fallback xmlns="">
          <p:sp>
            <p:nvSpPr>
              <p:cNvPr id="7" name="TextBox 6"/>
              <p:cNvSpPr txBox="1">
                <a:spLocks noRot="1" noChangeAspect="1" noMove="1" noResize="1" noEditPoints="1" noAdjustHandles="1" noChangeArrowheads="1" noChangeShapeType="1" noTextEdit="1"/>
              </p:cNvSpPr>
              <p:nvPr/>
            </p:nvSpPr>
            <p:spPr>
              <a:xfrm>
                <a:off x="152705" y="717524"/>
                <a:ext cx="11430000" cy="523220"/>
              </a:xfrm>
              <a:prstGeom prst="rect">
                <a:avLst/>
              </a:prstGeom>
              <a:blipFill>
                <a:blip r:embed="rId2"/>
                <a:stretch>
                  <a:fillRect l="-160" t="-3488" b="-10465"/>
                </a:stretch>
              </a:blipFill>
            </p:spPr>
            <p:txBody>
              <a:bodyPr/>
              <a:lstStyle/>
              <a:p>
                <a:r>
                  <a:rPr lang="es-AR">
                    <a:noFill/>
                  </a:rPr>
                  <a:t> </a:t>
                </a:r>
              </a:p>
            </p:txBody>
          </p:sp>
        </mc:Fallback>
      </mc:AlternateContent>
      <p:sp>
        <p:nvSpPr>
          <p:cNvPr id="8" name="Rectangle 7"/>
          <p:cNvSpPr/>
          <p:nvPr/>
        </p:nvSpPr>
        <p:spPr>
          <a:xfrm>
            <a:off x="213512" y="1293373"/>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83010" y="1293373"/>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010" y="1293373"/>
                <a:ext cx="3741050" cy="434158"/>
              </a:xfrm>
              <a:prstGeom prst="rect">
                <a:avLst/>
              </a:prstGeom>
              <a:blipFill>
                <a:blip r:embed="rId3"/>
                <a:stretch>
                  <a:fillRect b="-4225"/>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1864873"/>
            <a:ext cx="11876538" cy="954107"/>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2838522"/>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9" name="TextBox 8">
                <a:extLst>
                  <a:ext uri="{FF2B5EF4-FFF2-40B4-BE49-F238E27FC236}">
                    <a16:creationId xmlns:a16="http://schemas.microsoft.com/office/drawing/2014/main" id="{39DF1666-565F-43EE-BB39-721F00DE72D0}"/>
                  </a:ext>
                </a:extLst>
              </p:cNvPr>
              <p:cNvSpPr txBox="1"/>
              <p:nvPr/>
            </p:nvSpPr>
            <p:spPr>
              <a:xfrm>
                <a:off x="355108" y="2838522"/>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xmlns="">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2838522"/>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152705" y="3530310"/>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3885172"/>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xmlns="">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3885172"/>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m:t>
                                </m:r>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xmlns="">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2"/>
          <a:srcRect/>
          <a:stretch/>
        </p:blipFill>
        <p:spPr>
          <a:xfrm>
            <a:off x="80652" y="761883"/>
            <a:ext cx="6497701" cy="3312420"/>
          </a:xfrm>
          <a:prstGeom prst="rect">
            <a:avLst/>
          </a:prstGeom>
        </p:spPr>
      </p:pic>
      <p:pic>
        <p:nvPicPr>
          <p:cNvPr id="17" name="Imagen 16">
            <a:extLst>
              <a:ext uri="{FF2B5EF4-FFF2-40B4-BE49-F238E27FC236}">
                <a16:creationId xmlns:a16="http://schemas.microsoft.com/office/drawing/2014/main" id="{43A492D6-C7BC-48B2-A493-5408B3CBF048}"/>
              </a:ext>
            </a:extLst>
          </p:cNvPr>
          <p:cNvPicPr/>
          <p:nvPr/>
        </p:nvPicPr>
        <p:blipFill>
          <a:blip r:embed="rId3"/>
          <a:srcRect/>
          <a:stretch/>
        </p:blipFill>
        <p:spPr>
          <a:xfrm>
            <a:off x="5018333" y="2939236"/>
            <a:ext cx="7155301" cy="3156881"/>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279383" y="6005837"/>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Tree>
    <p:extLst>
      <p:ext uri="{BB962C8B-B14F-4D97-AF65-F5344CB8AC3E}">
        <p14:creationId xmlns:p14="http://schemas.microsoft.com/office/powerpoint/2010/main" val="14090305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Tree>
    <p:extLst>
      <p:ext uri="{BB962C8B-B14F-4D97-AF65-F5344CB8AC3E}">
        <p14:creationId xmlns:p14="http://schemas.microsoft.com/office/powerpoint/2010/main" val="15496948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Polos y estabilidad</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Set-point de posición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Tree>
    <p:extLst>
      <p:ext uri="{BB962C8B-B14F-4D97-AF65-F5344CB8AC3E}">
        <p14:creationId xmlns:p14="http://schemas.microsoft.com/office/powerpoint/2010/main" val="40822507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2"/>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4"/>
                <a:stretch>
                  <a:fillRect/>
                </a:stretch>
              </a:blipFill>
            </p:spPr>
            <p:txBody>
              <a:bodyPr/>
              <a:lstStyle/>
              <a:p>
                <a:r>
                  <a:rPr lang="es-AR">
                    <a:noFill/>
                  </a:rPr>
                  <a:t> </a:t>
                </a:r>
              </a:p>
            </p:txBody>
          </p:sp>
        </mc:Fallback>
      </mc:AlternateContent>
      <p:pic>
        <p:nvPicPr>
          <p:cNvPr id="26" name="Imagen 25">
            <a:extLst>
              <a:ext uri="{FF2B5EF4-FFF2-40B4-BE49-F238E27FC236}">
                <a16:creationId xmlns:a16="http://schemas.microsoft.com/office/drawing/2014/main" id="{B43C3E9C-51E4-42F8-A725-3C8829DDEFDF}"/>
              </a:ext>
            </a:extLst>
          </p:cNvPr>
          <p:cNvPicPr/>
          <p:nvPr/>
        </p:nvPicPr>
        <p:blipFill>
          <a:blip r:embed="rId5" cstate="print">
            <a:extLst>
              <a:ext uri="{28A0092B-C50C-407E-A947-70E740481C1C}">
                <a14:useLocalDpi xmlns:a14="http://schemas.microsoft.com/office/drawing/2010/main" val="0"/>
              </a:ext>
            </a:extLst>
          </a:blip>
          <a:stretch>
            <a:fillRect/>
          </a:stretch>
        </p:blipFill>
        <p:spPr>
          <a:xfrm>
            <a:off x="2146756" y="3067441"/>
            <a:ext cx="7039992" cy="2834979"/>
          </a:xfrm>
          <a:prstGeom prst="rect">
            <a:avLst/>
          </a:prstGeom>
        </p:spPr>
      </p:pic>
      <p:sp>
        <p:nvSpPr>
          <p:cNvPr id="27" name="CuadroTexto 26">
            <a:extLst>
              <a:ext uri="{FF2B5EF4-FFF2-40B4-BE49-F238E27FC236}">
                <a16:creationId xmlns:a16="http://schemas.microsoft.com/office/drawing/2014/main" id="{F554A308-3CE6-43AA-84C1-1C61C1DA4EBB}"/>
              </a:ext>
            </a:extLst>
          </p:cNvPr>
          <p:cNvSpPr txBox="1"/>
          <p:nvPr/>
        </p:nvSpPr>
        <p:spPr>
          <a:xfrm>
            <a:off x="3848464" y="590242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Tree>
    <p:extLst>
      <p:ext uri="{BB962C8B-B14F-4D97-AF65-F5344CB8AC3E}">
        <p14:creationId xmlns:p14="http://schemas.microsoft.com/office/powerpoint/2010/main" val="77474582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3"/>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4">
            <a:extLst>
              <a:ext uri="{28A0092B-C50C-407E-A947-70E740481C1C}">
                <a14:useLocalDpi xmlns:a14="http://schemas.microsoft.com/office/drawing/2010/main" val="0"/>
              </a:ext>
            </a:extLst>
          </a:blip>
          <a:srcRect t="17" b="17"/>
          <a:stretch>
            <a:fillRect/>
          </a:stretch>
        </p:blipFill>
        <p:spPr bwMode="auto">
          <a:xfrm>
            <a:off x="143818" y="1380058"/>
            <a:ext cx="3762357" cy="2595476"/>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a:blip r:embed="rId5">
            <a:extLst>
              <a:ext uri="{28A0092B-C50C-407E-A947-70E740481C1C}">
                <a14:useLocalDpi xmlns:a14="http://schemas.microsoft.com/office/drawing/2010/main" val="0"/>
              </a:ext>
            </a:extLst>
          </a:blip>
          <a:srcRect l="316" r="316"/>
          <a:stretch>
            <a:fillRect/>
          </a:stretch>
        </p:blipFill>
        <p:spPr bwMode="auto">
          <a:xfrm>
            <a:off x="4052430" y="1284423"/>
            <a:ext cx="3762357" cy="2790958"/>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a:blip r:embed="rId6">
            <a:extLst>
              <a:ext uri="{28A0092B-C50C-407E-A947-70E740481C1C}">
                <a14:useLocalDpi xmlns:a14="http://schemas.microsoft.com/office/drawing/2010/main" val="0"/>
              </a:ext>
            </a:extLst>
          </a:blip>
          <a:srcRect t="163" b="163"/>
          <a:stretch>
            <a:fillRect/>
          </a:stretch>
        </p:blipFill>
        <p:spPr bwMode="auto">
          <a:xfrm>
            <a:off x="7862716" y="1321868"/>
            <a:ext cx="3908613" cy="2790958"/>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2029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xmlns="">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20290"/>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4250104" y="4087253"/>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250104" y="4087253"/>
                <a:ext cx="3996737" cy="261610"/>
              </a:xfrm>
              <a:prstGeom prst="rect">
                <a:avLst/>
              </a:prstGeom>
              <a:blipFill>
                <a:blip r:embed="rId8"/>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813874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138740" y="4078914"/>
                <a:ext cx="3996737" cy="261610"/>
              </a:xfrm>
              <a:prstGeom prst="rect">
                <a:avLst/>
              </a:prstGeom>
              <a:blipFill>
                <a:blip r:embed="rId9"/>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 pico pequeño en la respuesta de posición, acompañado por una oscilación amortiguada de corta duración. </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a:blip r:embed="rId4">
            <a:extLst>
              <a:ext uri="{28A0092B-C50C-407E-A947-70E740481C1C}">
                <a14:useLocalDpi xmlns:a14="http://schemas.microsoft.com/office/drawing/2010/main" val="0"/>
              </a:ext>
            </a:extLst>
          </a:blip>
          <a:srcRect l="244" r="244"/>
          <a:stretch>
            <a:fillRect/>
          </a:stretch>
        </p:blipFill>
        <p:spPr bwMode="auto">
          <a:xfrm>
            <a:off x="158154" y="883856"/>
            <a:ext cx="4902118" cy="3466201"/>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a:blip r:embed="rId5">
            <a:extLst>
              <a:ext uri="{28A0092B-C50C-407E-A947-70E740481C1C}">
                <a14:useLocalDpi xmlns:a14="http://schemas.microsoft.com/office/drawing/2010/main" val="0"/>
              </a:ext>
            </a:extLst>
          </a:blip>
          <a:srcRect t="60" b="60"/>
          <a:stretch>
            <a:fillRect/>
          </a:stretch>
        </p:blipFill>
        <p:spPr bwMode="auto">
          <a:xfrm>
            <a:off x="6095846" y="842095"/>
            <a:ext cx="5018997" cy="3576381"/>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81892"/>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xmlns="">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81892"/>
                <a:ext cx="11787353" cy="1491177"/>
              </a:xfrm>
              <a:prstGeom prst="rect">
                <a:avLst/>
              </a:prstGeom>
              <a:blipFill>
                <a:blip r:embed="rId6"/>
                <a:stretch>
                  <a:fillRect l="-155" r="-103" b="-3673"/>
                </a:stretch>
              </a:blipFill>
            </p:spPr>
            <p:txBody>
              <a:bodyPr/>
              <a:lstStyle/>
              <a:p>
                <a:r>
                  <a:rPr lang="es-AR">
                    <a:noFill/>
                  </a:rPr>
                  <a:t> </a:t>
                </a:r>
              </a:p>
            </p:txBody>
          </p:sp>
        </mc:Fallback>
      </mc:AlternateContent>
    </p:spTree>
    <p:extLst>
      <p:ext uri="{BB962C8B-B14F-4D97-AF65-F5344CB8AC3E}">
        <p14:creationId xmlns:p14="http://schemas.microsoft.com/office/powerpoint/2010/main" val="23477262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a:blip r:embed="rId4">
            <a:extLst>
              <a:ext uri="{28A0092B-C50C-407E-A947-70E740481C1C}">
                <a14:useLocalDpi xmlns:a14="http://schemas.microsoft.com/office/drawing/2010/main" val="0"/>
              </a:ext>
            </a:extLst>
          </a:blip>
          <a:srcRect l="502" r="502"/>
          <a:stretch>
            <a:fillRect/>
          </a:stretch>
        </p:blipFill>
        <p:spPr bwMode="auto">
          <a:xfrm>
            <a:off x="121460" y="811518"/>
            <a:ext cx="3865417" cy="2862169"/>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a:blip r:embed="rId5">
            <a:extLst>
              <a:ext uri="{28A0092B-C50C-407E-A947-70E740481C1C}">
                <a14:useLocalDpi xmlns:a14="http://schemas.microsoft.com/office/drawing/2010/main" val="0"/>
              </a:ext>
            </a:extLst>
          </a:blip>
          <a:srcRect l="13" r="13"/>
          <a:stretch>
            <a:fillRect/>
          </a:stretch>
        </p:blipFill>
        <p:spPr bwMode="auto">
          <a:xfrm>
            <a:off x="4028177" y="781981"/>
            <a:ext cx="3996736"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a:blip r:embed="rId6">
            <a:extLst>
              <a:ext uri="{28A0092B-C50C-407E-A947-70E740481C1C}">
                <a14:useLocalDpi xmlns:a14="http://schemas.microsoft.com/office/drawing/2010/main" val="0"/>
              </a:ext>
            </a:extLst>
          </a:blip>
          <a:srcRect l="532" r="532"/>
          <a:stretch>
            <a:fillRect/>
          </a:stretch>
        </p:blipFill>
        <p:spPr bwMode="auto">
          <a:xfrm>
            <a:off x="8163824" y="709524"/>
            <a:ext cx="386541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a:blip r:embed="rId8">
            <a:extLst>
              <a:ext uri="{28A0092B-C50C-407E-A947-70E740481C1C}">
                <a14:useLocalDpi xmlns:a14="http://schemas.microsoft.com/office/drawing/2010/main" val="0"/>
              </a:ext>
            </a:extLst>
          </a:blip>
          <a:srcRect l="86" r="86"/>
          <a:stretch>
            <a:fillRect/>
          </a:stretch>
        </p:blipFill>
        <p:spPr bwMode="auto">
          <a:xfrm>
            <a:off x="121460" y="3913675"/>
            <a:ext cx="3271264" cy="2512215"/>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039555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Rechazo a perturbaciones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2"/>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3"/>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4"/>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5"/>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6">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45</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xmlns="">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extLst>
              <a:ext uri="{28A0092B-C50C-407E-A947-70E740481C1C}">
                <a14:useLocalDpi xmlns:a14="http://schemas.microsoft.com/office/drawing/2010/main" val="0"/>
              </a:ext>
            </a:extLst>
          </a:blip>
          <a:srcRect l="923" r="-4927"/>
          <a:stretch/>
        </p:blipFill>
        <p:spPr bwMode="auto">
          <a:xfrm>
            <a:off x="2692717" y="871433"/>
            <a:ext cx="6628837"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Tree>
    <p:extLst>
      <p:ext uri="{BB962C8B-B14F-4D97-AF65-F5344CB8AC3E}">
        <p14:creationId xmlns:p14="http://schemas.microsoft.com/office/powerpoint/2010/main" val="37394107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Tree>
    <p:extLst>
      <p:ext uri="{BB962C8B-B14F-4D97-AF65-F5344CB8AC3E}">
        <p14:creationId xmlns:p14="http://schemas.microsoft.com/office/powerpoint/2010/main" val="7946784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430123" y="4729671"/>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430123" y="4729671"/>
                <a:ext cx="4366945"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75945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759459"/>
                <a:ext cx="4366945"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4">
            <a:extLst>
              <a:ext uri="{28A0092B-C50C-407E-A947-70E740481C1C}">
                <a14:useLocalDpi xmlns:a14="http://schemas.microsoft.com/office/drawing/2010/main" val="0"/>
              </a:ext>
            </a:extLst>
          </a:blip>
          <a:stretch>
            <a:fillRect/>
          </a:stretch>
        </p:blipFill>
        <p:spPr>
          <a:xfrm>
            <a:off x="320040" y="933985"/>
            <a:ext cx="4465024" cy="3717914"/>
          </a:xfrm>
          <a:prstGeom prst="rect">
            <a:avLst/>
          </a:prstGeom>
        </p:spPr>
      </p:pic>
      <p:pic>
        <p:nvPicPr>
          <p:cNvPr id="13" name="Imagen 12">
            <a:extLst>
              <a:ext uri="{FF2B5EF4-FFF2-40B4-BE49-F238E27FC236}">
                <a16:creationId xmlns:a16="http://schemas.microsoft.com/office/drawing/2014/main" id="{A8BE010C-9E72-40EC-AB4B-412DDC01C099}"/>
              </a:ext>
            </a:extLst>
          </p:cNvPr>
          <p:cNvPicPr/>
          <p:nvPr/>
        </p:nvPicPr>
        <p:blipFill>
          <a:blip r:embed="rId5">
            <a:extLst>
              <a:ext uri="{28A0092B-C50C-407E-A947-70E740481C1C}">
                <a14:useLocalDpi xmlns:a14="http://schemas.microsoft.com/office/drawing/2010/main" val="0"/>
              </a:ext>
            </a:extLst>
          </a:blip>
          <a:srcRect t="644" b="644"/>
          <a:stretch>
            <a:fillRect/>
          </a:stretch>
        </p:blipFill>
        <p:spPr bwMode="auto">
          <a:xfrm>
            <a:off x="6095847" y="933985"/>
            <a:ext cx="4666030" cy="3811467"/>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6638340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527777" y="4656315"/>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527777" y="4656315"/>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extLst>
              <a:ext uri="{28A0092B-C50C-407E-A947-70E740481C1C}">
                <a14:useLocalDpi xmlns:a14="http://schemas.microsoft.com/office/drawing/2010/main" val="0"/>
              </a:ext>
            </a:extLst>
          </a:blip>
          <a:stretch>
            <a:fillRect/>
          </a:stretch>
        </p:blipFill>
        <p:spPr>
          <a:xfrm>
            <a:off x="320039" y="828919"/>
            <a:ext cx="4775743" cy="3760836"/>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rotWithShape="1">
          <a:blip r:embed="rId4">
            <a:extLst>
              <a:ext uri="{28A0092B-C50C-407E-A947-70E740481C1C}">
                <a14:useLocalDpi xmlns:a14="http://schemas.microsoft.com/office/drawing/2010/main" val="0"/>
              </a:ext>
            </a:extLst>
          </a:blip>
          <a:srcRect t="815" b="-1363"/>
          <a:stretch/>
        </p:blipFill>
        <p:spPr bwMode="auto">
          <a:xfrm>
            <a:off x="6260757" y="866610"/>
            <a:ext cx="4596633"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Tree>
    <p:extLst>
      <p:ext uri="{BB962C8B-B14F-4D97-AF65-F5344CB8AC3E}">
        <p14:creationId xmlns:p14="http://schemas.microsoft.com/office/powerpoint/2010/main" val="15086996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xmlns:a14="http://schemas.microsoft.com/office/drawing/2010/main">
        <mc:Choice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asociada a la integración del error de estimación:</a:t>
                </a:r>
              </a:p>
            </p:txBody>
          </p:sp>
        </mc:Choice>
        <mc:Fallback xmlns="">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𝑎𝑢𝑔</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a14:m>
                <a:endParaRPr sz="1100" b="1" dirty="0">
                  <a:solidFill>
                    <a:srgbClr val="1B6B2A"/>
                  </a:solidFill>
                  <a:latin typeface="Calibri"/>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xmlns="">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𝐴</m:t>
                                  </m:r>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e>
                              </m:d>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𝐵</m:t>
                                  </m:r>
                                </m:e>
                                <m:sub>
                                  <m:r>
                                    <a:rPr lang="es-AR" sz="1400" i="1">
                                      <a:solidFill>
                                        <a:schemeClr val="tx1"/>
                                      </a:solidFill>
                                      <a:latin typeface="Cambria Math" panose="02040503050406030204" pitchFamily="18" charset="0"/>
                                    </a:rPr>
                                    <m:t>𝑐</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r>
                                    <a:rPr lang="es-AR" sz="1400" i="1">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acc>
                                <m:accPr>
                                  <m:chr m:val="̇"/>
                                  <m:ctrlPr>
                                    <a:rPr lang="es-AR" sz="1400" i="1">
                                      <a:solidFill>
                                        <a:schemeClr val="tx1"/>
                                      </a:solidFill>
                                      <a:latin typeface="Cambria Math" panose="02040503050406030204" pitchFamily="18" charset="0"/>
                                    </a:rPr>
                                  </m:ctrlPr>
                                </m:acc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                                                                        </m:t>
                              </m:r>
                            </m:e>
                          </m:mr>
                          <m:m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𝑦</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r>
                  <a:rPr lang="es-MX" sz="1100" b="1" dirty="0">
                    <a:solidFill>
                      <a:schemeClr val="tx1"/>
                    </a:solidFill>
                    <a:latin typeface="Calibri"/>
                  </a:rPr>
                  <a:t>,                     </a:t>
                </a:r>
                <a14:m>
                  <m:oMath xmlns:m="http://schemas.openxmlformats.org/officeDocument/2006/math">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3"/>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e>
                                    </m:mr>
                                    <m:mr>
                                      <m:e>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0</m:t>
                                        </m:r>
                                      </m:e>
                                    </m:mr>
                                    <m:mr>
                                      <m:e>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en>
                                            </m:f>
                                          </m:e>
                                        </m:box>
                                      </m:e>
                                    </m:mr>
                                    <m:mr>
                                      <m:e>
                                        <m:r>
                                          <a:rPr lang="es-AR" sz="1400" i="1">
                                            <a:solidFill>
                                              <a:schemeClr val="tx1"/>
                                            </a:solidFill>
                                            <a:latin typeface="Cambria Math" panose="02040503050406030204" pitchFamily="18" charset="0"/>
                                          </a:rPr>
                                          <m:t>0</m:t>
                                        </m:r>
                                      </m:e>
                                    </m:mr>
                                  </m:m>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2"/>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0</m:t>
                                        </m:r>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e>
                          </m:mr>
                          <m:mr>
                            <m:e>
                              <m:r>
                                <a:rPr lang="es-AR" sz="1400" i="1">
                                  <a:solidFill>
                                    <a:schemeClr val="tx1"/>
                                  </a:solidFill>
                                  <a:latin typeface="Cambria Math" panose="02040503050406030204" pitchFamily="18" charset="0"/>
                                </a:rPr>
                                <m:t>𝑦</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endParaRPr sz="1100" b="1" dirty="0">
                  <a:solidFill>
                    <a:srgbClr val="1B6B2A"/>
                  </a:solidFill>
                  <a:latin typeface="Calibri"/>
                </a:endParaRPr>
              </a:p>
            </p:txBody>
          </p:sp>
        </mc:Choice>
        <mc:Fallback xmlns="">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3200</m:t>
                            </m:r>
                          </m:e>
                        </m:d>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r>
                      <a:rPr lang="es-AR" sz="1400" i="1">
                        <a:latin typeface="Cambria Math" panose="02040503050406030204" pitchFamily="18" charset="0"/>
                      </a:rPr>
                      <m:t>9600</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r>
                      <a:rPr lang="es-AR" sz="1400" i="1">
                        <a:latin typeface="Cambria Math" panose="02040503050406030204" pitchFamily="18" charset="0"/>
                      </a:rPr>
                      <m:t>3</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2</m:t>
                        </m:r>
                      </m:sup>
                    </m:sSup>
                    <m:r>
                      <a:rPr lang="es-AR" sz="1400" i="1">
                        <a:latin typeface="Cambria Math" panose="02040503050406030204" pitchFamily="18" charset="0"/>
                      </a:rPr>
                      <m:t> </m:t>
                    </m:r>
                    <m:r>
                      <a:rPr lang="es-AR" sz="1400" i="1">
                        <a:latin typeface="Cambria Math" panose="02040503050406030204" pitchFamily="18" charset="0"/>
                      </a:rPr>
                      <m:t>𝑠</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6</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3</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072</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7</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𝑖</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2768</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10</m:t>
                                  </m:r>
                                </m:sup>
                              </m:sSup>
                            </m:e>
                          </m:mr>
                        </m:m>
                      </m:e>
                    </m:d>
                  </m:oMath>
                </a14:m>
                <a:endParaRPr sz="1100" b="1" dirty="0">
                  <a:solidFill>
                    <a:srgbClr val="1B6B2A"/>
                  </a:solidFill>
                  <a:latin typeface="Calibri"/>
                </a:endParaRPr>
              </a:p>
            </p:txBody>
          </p:sp>
        </mc:Choice>
        <mc:Fallback xmlns="">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997488" cy="3636894"/>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1329995" y="4421862"/>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extLst>
              <a:ext uri="{28A0092B-C50C-407E-A947-70E740481C1C}">
                <a14:useLocalDpi xmlns:a14="http://schemas.microsoft.com/office/drawing/2010/main" val="0"/>
              </a:ext>
            </a:extLst>
          </a:blip>
          <a:stretch>
            <a:fillRect/>
          </a:stretch>
        </p:blipFill>
        <p:spPr>
          <a:xfrm>
            <a:off x="7072430" y="711896"/>
            <a:ext cx="5044627" cy="3690422"/>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observador de estados con acción integral.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10</m:t>
                    </m:r>
                    <m:r>
                      <a:rPr lang="es-AR">
                        <a:latin typeface="Cambria Math" panose="02040503050406030204" pitchFamily="18" charset="0"/>
                      </a:rPr>
                      <m:t>𝑠</m:t>
                    </m:r>
                  </m:oMath>
                </a14:m>
                <a:r>
                  <a:rPr lang="es-AR" dirty="0"/>
                  <a:t>.</a:t>
                </a:r>
              </a:p>
              <a:p>
                <a:endParaRPr lang="es-AR" dirty="0"/>
              </a:p>
            </p:txBody>
          </p:sp>
        </mc:Choice>
        <mc:Fallback xmlns="">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0225949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xmlns:a14="http://schemas.microsoft.com/office/drawing/2010/main">
        <mc:Choice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Se analiza la 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extLst>
              <a:ext uri="{28A0092B-C50C-407E-A947-70E740481C1C}">
                <a14:useLocalDpi xmlns:a14="http://schemas.microsoft.com/office/drawing/2010/main" val="0"/>
              </a:ext>
            </a:extLst>
          </a:blip>
          <a:srcRect r="-1833"/>
          <a:stretch/>
        </p:blipFill>
        <p:spPr>
          <a:xfrm>
            <a:off x="3325267" y="1362865"/>
            <a:ext cx="5208828" cy="4132269"/>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4A773F5F-0B19-4AAB-9B75-3C2E99385B0E}"/>
                  </a:ext>
                </a:extLst>
              </p:cNvPr>
              <p:cNvSpPr txBox="1"/>
              <p:nvPr/>
            </p:nvSpPr>
            <p:spPr>
              <a:xfrm>
                <a:off x="3987080"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duración de </a:t>
                </a:r>
                <a14:m>
                  <m:oMath xmlns:m="http://schemas.openxmlformats.org/officeDocument/2006/math">
                    <m:r>
                      <a:rPr lang="es-AR">
                        <a:latin typeface="Cambria Math" panose="02040503050406030204" pitchFamily="18" charset="0"/>
                      </a:rPr>
                      <m:t>300</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3987080" y="5514755"/>
                <a:ext cx="4547015" cy="430887"/>
              </a:xfrm>
              <a:prstGeom prst="rect">
                <a:avLst/>
              </a:prstGeom>
              <a:blipFill>
                <a:blip r:embed="rId4"/>
                <a:stretch>
                  <a:fillRect/>
                </a:stretch>
              </a:blipFill>
            </p:spPr>
            <p:txBody>
              <a:bodyPr/>
              <a:lstStyle/>
              <a:p>
                <a:r>
                  <a:rPr lang="es-AR">
                    <a:noFill/>
                  </a:rPr>
                  <a:t> </a:t>
                </a:r>
              </a:p>
            </p:txBody>
          </p:sp>
        </mc:Fallback>
      </mc:AlternateContent>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1" name="Imagen 20">
            <a:extLst>
              <a:ext uri="{FF2B5EF4-FFF2-40B4-BE49-F238E27FC236}">
                <a16:creationId xmlns:a16="http://schemas.microsoft.com/office/drawing/2014/main" id="{6305DE5A-871E-4904-9FBE-88C3110618ED}"/>
              </a:ext>
            </a:extLst>
          </p:cNvPr>
          <p:cNvPicPr/>
          <p:nvPr/>
        </p:nvPicPr>
        <p:blipFill rotWithShape="1">
          <a:blip r:embed="rId2">
            <a:extLst>
              <a:ext uri="{28A0092B-C50C-407E-A947-70E740481C1C}">
                <a14:useLocalDpi xmlns:a14="http://schemas.microsoft.com/office/drawing/2010/main" val="0"/>
              </a:ext>
            </a:extLst>
          </a:blip>
          <a:srcRect l="798"/>
          <a:stretch/>
        </p:blipFill>
        <p:spPr bwMode="auto">
          <a:xfrm>
            <a:off x="133732" y="803213"/>
            <a:ext cx="5628402" cy="4466371"/>
          </a:xfrm>
          <a:prstGeom prst="rect">
            <a:avLst/>
          </a:prstGeom>
          <a:ln>
            <a:noFill/>
          </a:ln>
          <a:extLst>
            <a:ext uri="{53640926-AAD7-44D8-BBD7-CCE9431645EC}">
              <a14:shadowObscured xmlns:a14="http://schemas.microsoft.com/office/drawing/2010/main"/>
            </a:ext>
          </a:extLst>
        </p:spPr>
      </p:pic>
      <p:pic>
        <p:nvPicPr>
          <p:cNvPr id="22" name="Imagen 21">
            <a:extLst>
              <a:ext uri="{FF2B5EF4-FFF2-40B4-BE49-F238E27FC236}">
                <a16:creationId xmlns:a16="http://schemas.microsoft.com/office/drawing/2014/main" id="{493D2690-153C-456B-A197-5FCDB225506A}"/>
              </a:ext>
            </a:extLst>
          </p:cNvPr>
          <p:cNvPicPr/>
          <p:nvPr/>
        </p:nvPicPr>
        <p:blipFill>
          <a:blip r:embed="rId3">
            <a:extLst>
              <a:ext uri="{28A0092B-C50C-407E-A947-70E740481C1C}">
                <a14:useLocalDpi xmlns:a14="http://schemas.microsoft.com/office/drawing/2010/main" val="0"/>
              </a:ext>
            </a:extLst>
          </a:blip>
          <a:stretch>
            <a:fillRect/>
          </a:stretch>
        </p:blipFill>
        <p:spPr>
          <a:xfrm>
            <a:off x="5837311" y="774800"/>
            <a:ext cx="5765680" cy="4494784"/>
          </a:xfrm>
          <a:prstGeom prst="rect">
            <a:avLst/>
          </a:prstGeom>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7129B19-80DF-4CAF-B21C-6358FC302665}"/>
                  </a:ext>
                </a:extLst>
              </p:cNvPr>
              <p:cNvSpPr txBox="1"/>
              <p:nvPr/>
            </p:nvSpPr>
            <p:spPr>
              <a:xfrm>
                <a:off x="589009" y="5311437"/>
                <a:ext cx="509690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 con duración de </a:t>
                </a:r>
                <a14:m>
                  <m:oMath xmlns:m="http://schemas.openxmlformats.org/officeDocument/2006/math">
                    <m:r>
                      <a:rPr lang="es-MX" b="0" i="1" smtClean="0">
                        <a:latin typeface="Cambria Math" panose="02040503050406030204" pitchFamily="18" charset="0"/>
                      </a:rPr>
                      <m:t>6</m:t>
                    </m:r>
                    <m:r>
                      <a:rPr lang="es-AR">
                        <a:latin typeface="Cambria Math" panose="02040503050406030204" pitchFamily="18" charset="0"/>
                      </a:rPr>
                      <m:t>00</m:t>
                    </m:r>
                    <m:r>
                      <a:rPr lang="es-AR">
                        <a:latin typeface="Cambria Math" panose="02040503050406030204" pitchFamily="18" charset="0"/>
                      </a:rPr>
                      <m:t>𝑠</m:t>
                    </m:r>
                  </m:oMath>
                </a14:m>
                <a:endParaRPr lang="es-AR" dirty="0"/>
              </a:p>
              <a:p>
                <a:endParaRPr lang="es-AR" dirty="0"/>
              </a:p>
            </p:txBody>
          </p:sp>
        </mc:Choice>
        <mc:Fallback xmlns="">
          <p:sp>
            <p:nvSpPr>
              <p:cNvPr id="13" name="CuadroTexto 12">
                <a:extLst>
                  <a:ext uri="{FF2B5EF4-FFF2-40B4-BE49-F238E27FC236}">
                    <a16:creationId xmlns:a16="http://schemas.microsoft.com/office/drawing/2014/main" id="{27129B19-80DF-4CAF-B21C-6358FC302665}"/>
                  </a:ext>
                </a:extLst>
              </p:cNvPr>
              <p:cNvSpPr txBox="1">
                <a:spLocks noRot="1" noChangeAspect="1" noMove="1" noResize="1" noEditPoints="1" noAdjustHandles="1" noChangeArrowheads="1" noChangeShapeType="1" noTextEdit="1"/>
              </p:cNvSpPr>
              <p:nvPr/>
            </p:nvSpPr>
            <p:spPr>
              <a:xfrm>
                <a:off x="589009" y="5311437"/>
                <a:ext cx="5096905" cy="43088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2AFA0C8A-8D03-46E3-A57D-895A61B04ADF}"/>
                  </a:ext>
                </a:extLst>
              </p:cNvPr>
              <p:cNvSpPr txBox="1"/>
              <p:nvPr/>
            </p:nvSpPr>
            <p:spPr>
              <a:xfrm>
                <a:off x="7055976" y="5339314"/>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a:t>
                </a:r>
              </a:p>
              <a:p>
                <a:endParaRPr lang="es-AR" dirty="0"/>
              </a:p>
            </p:txBody>
          </p:sp>
        </mc:Choice>
        <mc:Fallback xmlns="">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7055976" y="5339314"/>
                <a:ext cx="4547015"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4098471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17" name="TextBox 16"/>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 y acciones correctivas:</a:t>
            </a:r>
          </a:p>
        </p:txBody>
      </p:sp>
      <p:sp>
        <p:nvSpPr>
          <p:cNvPr id="18" name="TextBox 17"/>
          <p:cNvSpPr txBox="1"/>
          <p:nvPr/>
        </p:nvSpPr>
        <p:spPr>
          <a:xfrm>
            <a:off x="289015" y="1419713"/>
            <a:ext cx="11902680" cy="3077766"/>
          </a:xfrm>
          <a:prstGeom prst="rect">
            <a:avLst/>
          </a:prstGeom>
          <a:noFill/>
        </p:spPr>
        <p:txBody>
          <a:bodyPr wrap="square">
            <a:spAutoFit/>
          </a:bodyPr>
          <a:lstStyle/>
          <a:p>
            <a:pPr marL="285750" indent="-285750">
              <a:buFont typeface="Arial" panose="020B0604020202020204" pitchFamily="34" charset="0"/>
              <a:buChar char="•"/>
            </a:pPr>
            <a:r>
              <a:rPr lang="es-MX" sz="1600" dirty="0"/>
              <a:t>Sin perturbación de carga, la temperatura crece progresivamente pero se estabiliza por debajo de los 48 °C en 20 ciclos, manteniéndose dentro de condiciones térmicas aceptables.</a:t>
            </a:r>
          </a:p>
          <a:p>
            <a:pPr marL="285750" indent="-285750">
              <a:buFont typeface="Arial" panose="020B0604020202020204" pitchFamily="34" charset="0"/>
              <a:buChar char="•"/>
            </a:pPr>
            <a:r>
              <a:rPr lang="es-MX" sz="1600" dirty="0"/>
              <a:t>Al introducir una perturbación de carga cíclica, la temperatura continúa incrementándose hasta estabilizarse cerca del límite máximo admisible (~30 ciclos).</a:t>
            </a:r>
          </a:p>
          <a:p>
            <a:pPr marL="285750" indent="-285750">
              <a:buFont typeface="Arial" panose="020B0604020202020204" pitchFamily="34" charset="0"/>
              <a:buChar char="•"/>
            </a:pPr>
            <a:r>
              <a:rPr lang="es-MX" sz="1600" dirty="0"/>
              <a:t>Con carga máxima en el extremo del brazo, la temperatura </a:t>
            </a:r>
            <a:r>
              <a:rPr lang="es-MX" sz="1600" b="1" dirty="0"/>
              <a:t>supera el límite admisible</a:t>
            </a:r>
            <a:r>
              <a:rPr lang="es-MX" sz="1600" dirty="0"/>
              <a:t>, lo que representa una condición de operación insegura.</a:t>
            </a:r>
          </a:p>
          <a:p>
            <a:endParaRPr lang="es-MX" sz="1600" b="1" dirty="0"/>
          </a:p>
          <a:p>
            <a:r>
              <a:rPr lang="es-MX" sz="1600" b="1" dirty="0">
                <a:solidFill>
                  <a:srgbClr val="1A3A6B"/>
                </a:solidFill>
                <a:latin typeface="Calibri"/>
              </a:rPr>
              <a:t>Medidas para garantizar operación segura:</a:t>
            </a:r>
          </a:p>
          <a:p>
            <a:endParaRPr lang="es-MX" sz="1600" dirty="0"/>
          </a:p>
          <a:p>
            <a:pPr marL="285750" indent="-285750">
              <a:buFont typeface="Arial" panose="020B0604020202020204" pitchFamily="34" charset="0"/>
              <a:buChar char="•"/>
            </a:pPr>
            <a:r>
              <a:rPr lang="es-MX" sz="1600" dirty="0"/>
              <a:t>Limitar o evitar perturbaciones de carga sostenidas</a:t>
            </a:r>
          </a:p>
          <a:p>
            <a:pPr marL="285750" indent="-285750">
              <a:buFont typeface="Arial" panose="020B0604020202020204" pitchFamily="34" charset="0"/>
              <a:buChar char="•"/>
            </a:pPr>
            <a:r>
              <a:rPr lang="es-AR" dirty="0">
                <a:latin typeface="Calibri" panose="020F0502020204030204" pitchFamily="34" charset="0"/>
                <a:ea typeface="Calibri" panose="020F0502020204030204" pitchFamily="34" charset="0"/>
                <a:cs typeface="Times New Roman" panose="02020603050405020304" pitchFamily="18" charset="0"/>
              </a:rPr>
              <a:t>M</a:t>
            </a:r>
            <a:r>
              <a:rPr lang="es-AR" sz="1800" dirty="0">
                <a:effectLst/>
                <a:latin typeface="Calibri" panose="020F0502020204030204" pitchFamily="34" charset="0"/>
                <a:ea typeface="Calibri" panose="020F0502020204030204" pitchFamily="34" charset="0"/>
                <a:cs typeface="Times New Roman" panose="02020603050405020304" pitchFamily="18" charset="0"/>
              </a:rPr>
              <a:t>odificación en la consigna de velocidad </a:t>
            </a:r>
          </a:p>
          <a:p>
            <a:pPr marL="285750" indent="-285750">
              <a:buFont typeface="Arial" panose="020B0604020202020204" pitchFamily="34" charset="0"/>
              <a:buChar char="•"/>
            </a:pPr>
            <a:r>
              <a:rPr lang="es-MX" sz="1600" dirty="0"/>
              <a:t>Incorporar un mecanismo de refrigeración</a:t>
            </a:r>
          </a:p>
        </p:txBody>
      </p:sp>
    </p:spTree>
    <p:extLst>
      <p:ext uri="{BB962C8B-B14F-4D97-AF65-F5344CB8AC3E}">
        <p14:creationId xmlns:p14="http://schemas.microsoft.com/office/powerpoint/2010/main" val="36410716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83575"/>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dirty="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3"/>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3"/>
                          <a:stretch>
                            <a:fillRect l="-176533" t="-101389" r="-225333" b="-201389"/>
                          </a:stretch>
                        </a:blipFill>
                      </a:tcPr>
                    </a:tc>
                    <a:tc>
                      <a:txBody>
                        <a:bodyPr/>
                        <a:lstStyle/>
                        <a:p>
                          <a:endParaRPr lang="es-AR"/>
                        </a:p>
                      </a:txBody>
                      <a:tcPr>
                        <a:blipFill>
                          <a:blip r:embed="rId3"/>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3"/>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3"/>
                          <a:stretch>
                            <a:fillRect l="-176533" t="-204225" r="-225333" b="-104225"/>
                          </a:stretch>
                        </a:blipFill>
                      </a:tcPr>
                    </a:tc>
                    <a:tc>
                      <a:txBody>
                        <a:bodyPr/>
                        <a:lstStyle/>
                        <a:p>
                          <a:endParaRPr lang="es-AR"/>
                        </a:p>
                      </a:txBody>
                      <a:tcPr>
                        <a:blipFill>
                          <a:blip r:embed="rId3"/>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74320" y="3411191"/>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365760" y="5532120"/>
                <a:ext cx="11430000" cy="818173"/>
              </a:xfrm>
              <a:prstGeom prst="rect">
                <a:avLst/>
              </a:prstGeom>
              <a:noFill/>
            </p:spPr>
            <p:txBody>
              <a:bodyPr wrap="square">
                <a:spAutoFit/>
              </a:bodyPr>
              <a:lstStyle/>
              <a:p>
                <a:r>
                  <a:rPr sz="1350" dirty="0" err="1">
                    <a:solidFill>
                      <a:srgbClr val="1A1A2E"/>
                    </a:solidFill>
                    <a:latin typeface="Calibri"/>
                  </a:rPr>
                  <a:t>Posición</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6000 rad/s no </a:t>
                </a:r>
                <a:r>
                  <a:rPr sz="1350" dirty="0" err="1">
                    <a:solidFill>
                      <a:srgbClr val="1A1A2E"/>
                    </a:solidFill>
                    <a:latin typeface="Calibri"/>
                  </a:rPr>
                  <a:t>muestra</a:t>
                </a:r>
                <a:r>
                  <a:rPr sz="1350" dirty="0">
                    <a:solidFill>
                      <a:srgbClr val="1A1A2E"/>
                    </a:solidFill>
                    <a:latin typeface="Calibri"/>
                  </a:rPr>
                  <a:t> </a:t>
                </a:r>
                <a:r>
                  <a:rPr sz="1350" dirty="0" err="1">
                    <a:solidFill>
                      <a:srgbClr val="1A1A2E"/>
                    </a:solidFill>
                    <a:latin typeface="Calibri"/>
                  </a:rPr>
                  <a:t>diferencias</a:t>
                </a:r>
                <a:r>
                  <a:rPr sz="1350" dirty="0">
                    <a:solidFill>
                      <a:srgbClr val="1A1A2E"/>
                    </a:solidFill>
                    <a:latin typeface="Calibri"/>
                  </a:rPr>
                  <a:t> </a:t>
                </a:r>
                <a:r>
                  <a:rPr sz="1350" dirty="0" err="1">
                    <a:solidFill>
                      <a:srgbClr val="1A1A2E"/>
                    </a:solidFill>
                    <a:latin typeface="Calibri"/>
                  </a:rPr>
                  <a:t>apreciables</a:t>
                </a:r>
                <a:r>
                  <a:rPr sz="1350" dirty="0">
                    <a:solidFill>
                      <a:srgbClr val="1A1A2E"/>
                    </a:solidFill>
                    <a:latin typeface="Calibri"/>
                  </a:rPr>
                  <a:t> → no se </a:t>
                </a:r>
                <a:r>
                  <a:rPr sz="1350" dirty="0" err="1">
                    <a:solidFill>
                      <a:srgbClr val="1A1A2E"/>
                    </a:solidFill>
                    <a:latin typeface="Calibri"/>
                  </a:rPr>
                  <a:t>requiere</a:t>
                </a:r>
                <a:r>
                  <a:rPr sz="1350" dirty="0">
                    <a:solidFill>
                      <a:srgbClr val="1A1A2E"/>
                    </a:solidFill>
                    <a:latin typeface="Calibri"/>
                  </a:rPr>
                  <a:t> mayor </a:t>
                </a:r>
                <a:r>
                  <a:rPr sz="1350" dirty="0" err="1">
                    <a:solidFill>
                      <a:srgbClr val="1A1A2E"/>
                    </a:solidFill>
                    <a:latin typeface="Calibri"/>
                  </a:rPr>
                  <a:t>resolución</a:t>
                </a:r>
                <a:endParaRPr sz="1350" dirty="0">
                  <a:solidFill>
                    <a:srgbClr val="1A1A2E"/>
                  </a:solidFill>
                  <a:latin typeface="Calibri"/>
                </a:endParaRPr>
              </a:p>
              <a:p>
                <a:pPr>
                  <a:spcBef>
                    <a:spcPts val="400"/>
                  </a:spcBef>
                </a:pPr>
                <a:r>
                  <a:rPr sz="1350" dirty="0" err="1">
                    <a:solidFill>
                      <a:srgbClr val="1A1A2E"/>
                    </a:solidFill>
                    <a:latin typeface="Calibri"/>
                  </a:rPr>
                  <a:t>Corriente</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18000 rad/s </a:t>
                </a:r>
                <a:r>
                  <a:rPr sz="1350" dirty="0" err="1">
                    <a:solidFill>
                      <a:srgbClr val="1A1A2E"/>
                    </a:solidFill>
                    <a:latin typeface="Calibri"/>
                  </a:rPr>
                  <a:t>ofrece</a:t>
                </a:r>
                <a:r>
                  <a:rPr sz="1350" dirty="0">
                    <a:solidFill>
                      <a:srgbClr val="1A1A2E"/>
                    </a:solidFill>
                    <a:latin typeface="Calibri"/>
                  </a:rPr>
                  <a:t> </a:t>
                </a:r>
                <a:r>
                  <a:rPr sz="1350" dirty="0" err="1">
                    <a:solidFill>
                      <a:srgbClr val="1A1A2E"/>
                    </a:solidFill>
                    <a:latin typeface="Calibri"/>
                  </a:rPr>
                  <a:t>buena</a:t>
                </a:r>
                <a:r>
                  <a:rPr sz="1350" dirty="0">
                    <a:solidFill>
                      <a:srgbClr val="1A1A2E"/>
                    </a:solidFill>
                    <a:latin typeface="Calibri"/>
                  </a:rPr>
                  <a:t> </a:t>
                </a:r>
                <a:r>
                  <a:rPr sz="1350" dirty="0" err="1">
                    <a:solidFill>
                      <a:srgbClr val="1A1A2E"/>
                    </a:solidFill>
                    <a:latin typeface="Calibri"/>
                  </a:rPr>
                  <a:t>respuesta</a:t>
                </a:r>
                <a:r>
                  <a:rPr sz="1350" dirty="0">
                    <a:solidFill>
                      <a:srgbClr val="1A1A2E"/>
                    </a:solidFill>
                    <a:latin typeface="Calibri"/>
                  </a:rPr>
                  <a:t> sin </a:t>
                </a:r>
                <a:r>
                  <a:rPr sz="1350" dirty="0" err="1">
                    <a:solidFill>
                      <a:srgbClr val="1A1A2E"/>
                    </a:solidFill>
                    <a:latin typeface="Calibri"/>
                  </a:rPr>
                  <a:t>necesidad</a:t>
                </a:r>
                <a:r>
                  <a:rPr sz="1350" dirty="0">
                    <a:solidFill>
                      <a:srgbClr val="1A1A2E"/>
                    </a:solidFill>
                    <a:latin typeface="Calibri"/>
                  </a:rPr>
                  <a:t> de </a:t>
                </a:r>
                <a:r>
                  <a:rPr sz="1350" dirty="0" err="1">
                    <a:solidFill>
                      <a:srgbClr val="1A1A2E"/>
                    </a:solidFill>
                    <a:latin typeface="Calibri"/>
                  </a:rPr>
                  <a:t>valores</a:t>
                </a:r>
                <a:r>
                  <a:rPr sz="1350" dirty="0">
                    <a:solidFill>
                      <a:srgbClr val="1A1A2E"/>
                    </a:solidFill>
                    <a:latin typeface="Calibri"/>
                  </a:rPr>
                  <a:t> </a:t>
                </a:r>
                <a:r>
                  <a:rPr sz="1350" dirty="0" err="1">
                    <a:solidFill>
                      <a:srgbClr val="1A1A2E"/>
                    </a:solidFill>
                    <a:latin typeface="Calibri"/>
                  </a:rPr>
                  <a:t>más</a:t>
                </a:r>
                <a:r>
                  <a:rPr sz="1350" dirty="0">
                    <a:solidFill>
                      <a:srgbClr val="1A1A2E"/>
                    </a:solidFill>
                    <a:latin typeface="Calibri"/>
                  </a:rPr>
                  <a:t> altos</a:t>
                </a:r>
              </a:p>
              <a:p>
                <a:pPr>
                  <a:spcBef>
                    <a:spcPts val="400"/>
                  </a:spcBef>
                </a:pPr>
                <a:r>
                  <a:rPr sz="1350" dirty="0" err="1">
                    <a:solidFill>
                      <a:srgbClr val="1A1A2E"/>
                    </a:solidFill>
                    <a:latin typeface="Calibri"/>
                  </a:rPr>
                  <a:t>Temperatura</a:t>
                </a:r>
                <a:r>
                  <a:rPr sz="1350" dirty="0">
                    <a:solidFill>
                      <a:srgbClr val="1A1A2E"/>
                    </a:solidFill>
                    <a:latin typeface="Calibri"/>
                  </a:rPr>
                  <a:t>: variable </a:t>
                </a:r>
                <a:r>
                  <a:rPr sz="1350" dirty="0" err="1">
                    <a:solidFill>
                      <a:srgbClr val="1A1A2E"/>
                    </a:solidFill>
                    <a:latin typeface="Calibri"/>
                  </a:rPr>
                  <a:t>más</a:t>
                </a:r>
                <a:r>
                  <a:rPr sz="1350" dirty="0">
                    <a:solidFill>
                      <a:srgbClr val="1A1A2E"/>
                    </a:solidFill>
                    <a:latin typeface="Calibri"/>
                  </a:rPr>
                  <a:t> </a:t>
                </a:r>
                <a:r>
                  <a:rPr sz="1350" dirty="0" err="1">
                    <a:solidFill>
                      <a:srgbClr val="1A1A2E"/>
                    </a:solidFill>
                    <a:latin typeface="Calibri"/>
                  </a:rPr>
                  <a:t>afectada</a:t>
                </a:r>
                <a:r>
                  <a:rPr sz="1350" dirty="0">
                    <a:solidFill>
                      <a:srgbClr val="1A1A2E"/>
                    </a:solidFill>
                    <a:latin typeface="Calibri"/>
                  </a:rPr>
                  <a:t>; τ = 0.05 s </a:t>
                </a:r>
                <a:r>
                  <a:rPr sz="1350" dirty="0" err="1">
                    <a:solidFill>
                      <a:srgbClr val="1A1A2E"/>
                    </a:solidFill>
                    <a:latin typeface="Calibri"/>
                  </a:rPr>
                  <a:t>necesario</a:t>
                </a:r>
                <a:r>
                  <a:rPr sz="1350" dirty="0">
                    <a:solidFill>
                      <a:srgbClr val="1A1A2E"/>
                    </a:solidFill>
                    <a:latin typeface="Calibri"/>
                  </a:rPr>
                  <a:t> para </a:t>
                </a:r>
                <a:r>
                  <a:rPr sz="1350" dirty="0" err="1">
                    <a:solidFill>
                      <a:srgbClr val="1A1A2E"/>
                    </a:solidFill>
                    <a:latin typeface="Calibri"/>
                  </a:rPr>
                  <a:t>rastrear</a:t>
                </a:r>
                <a:r>
                  <a:rPr sz="1350" dirty="0">
                    <a:solidFill>
                      <a:srgbClr val="1A1A2E"/>
                    </a:solidFill>
                    <a:latin typeface="Calibri"/>
                  </a:rPr>
                  <a:t> </a:t>
                </a:r>
                <a:r>
                  <a:rPr sz="1350" dirty="0" err="1">
                    <a:solidFill>
                      <a:srgbClr val="1A1A2E"/>
                    </a:solidFill>
                    <a:latin typeface="Calibri"/>
                  </a:rPr>
                  <a:t>señal</a:t>
                </a:r>
                <a:r>
                  <a:rPr sz="1350" dirty="0">
                    <a:solidFill>
                      <a:srgbClr val="1A1A2E"/>
                    </a:solidFill>
                    <a:latin typeface="Calibri"/>
                  </a:rPr>
                  <a:t>; para </a:t>
                </a:r>
                <a:r>
                  <a:rPr sz="1350" dirty="0" err="1">
                    <a:solidFill>
                      <a:srgbClr val="1A1A2E"/>
                    </a:solidFill>
                    <a:latin typeface="Calibri"/>
                  </a:rPr>
                  <a:t>detectar</a:t>
                </a:r>
                <a:r>
                  <a:rPr sz="1350" dirty="0">
                    <a:solidFill>
                      <a:srgbClr val="1A1A2E"/>
                    </a:solidFill>
                    <a:latin typeface="Calibri"/>
                  </a:rPr>
                  <a:t> </a:t>
                </a:r>
                <a:r>
                  <a:rPr sz="1350" dirty="0" err="1">
                    <a:solidFill>
                      <a:srgbClr val="1A1A2E"/>
                    </a:solidFill>
                    <a:latin typeface="Calibri"/>
                  </a:rPr>
                  <a:t>máximos</a:t>
                </a:r>
                <a:r>
                  <a:rPr sz="1350" dirty="0">
                    <a:solidFill>
                      <a:srgbClr val="1A1A2E"/>
                    </a:solidFill>
                    <a:latin typeface="Calibri"/>
                  </a:rPr>
                  <a:t> τ </a:t>
                </a:r>
                <a:r>
                  <a:rPr sz="1350" dirty="0" err="1">
                    <a:solidFill>
                      <a:srgbClr val="1A1A2E"/>
                    </a:solidFill>
                    <a:latin typeface="Calibri"/>
                  </a:rPr>
                  <a:t>puede</a:t>
                </a:r>
                <a:r>
                  <a:rPr sz="1350" dirty="0">
                    <a:solidFill>
                      <a:srgbClr val="1A1A2E"/>
                    </a:solidFill>
                    <a:latin typeface="Calibri"/>
                  </a:rPr>
                  <a:t> ser mayor</a:t>
                </a:r>
              </a:p>
            </p:txBody>
          </p:sp>
        </mc:Choice>
        <mc:Fallback xmlns="">
          <p:sp>
            <p:nvSpPr>
              <p:cNvPr id="14" name="TextBox 13"/>
              <p:cNvSpPr txBox="1">
                <a:spLocks noRot="1" noChangeAspect="1" noMove="1" noResize="1" noEditPoints="1" noAdjustHandles="1" noChangeArrowheads="1" noChangeShapeType="1" noTextEdit="1"/>
              </p:cNvSpPr>
              <p:nvPr/>
            </p:nvSpPr>
            <p:spPr>
              <a:xfrm>
                <a:off x="365760" y="5532120"/>
                <a:ext cx="11430000" cy="818173"/>
              </a:xfrm>
              <a:prstGeom prst="rect">
                <a:avLst/>
              </a:prstGeom>
              <a:blipFill>
                <a:blip r:embed="rId5"/>
                <a:stretch>
                  <a:fillRect l="-107" t="-1493" b="-5970"/>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24838" y="4095344"/>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74320" y="4389015"/>
            <a:ext cx="11430000" cy="651909"/>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89015"/>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 </m:t>
                                </m:r>
                                <m:r>
                                  <m:rPr>
                                    <m:sty m:val="p"/>
                                  </m:rPr>
                                  <a:rPr lang="es-AR" sz="1400">
                                    <a:latin typeface="Cambria Math" panose="02040503050406030204" pitchFamily="18" charset="0"/>
                                  </a:rPr>
                                  <m:t>ξ</m:t>
                                </m:r>
                                <m:r>
                                  <a:rPr lang="es-AR" sz="1400" i="1">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m:oMathPara>
                </a14:m>
                <a:endParaRPr sz="1100" b="1" dirty="0">
                  <a:solidFill>
                    <a:srgbClr val="1B6B2A"/>
                  </a:solidFill>
                  <a:latin typeface="Calibri"/>
                </a:endParaRPr>
              </a:p>
            </p:txBody>
          </p:sp>
        </mc:Choice>
        <mc:Fallback xmlns="">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89015"/>
                <a:ext cx="4627618" cy="651910"/>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2325215" y="806973"/>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4627621" y="4332210"/>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Tree>
    <p:extLst>
      <p:ext uri="{BB962C8B-B14F-4D97-AF65-F5344CB8AC3E}">
        <p14:creationId xmlns:p14="http://schemas.microsoft.com/office/powerpoint/2010/main" val="34697714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𝜏</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100" b="1" dirty="0">
                  <a:solidFill>
                    <a:srgbClr val="1B6B2A"/>
                  </a:solidFill>
                  <a:latin typeface="Calibri"/>
                </a:endParaRPr>
              </a:p>
            </p:txBody>
          </p:sp>
        </mc:Choice>
        <mc:Fallback xmlns="">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xmlns="">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3"/>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000" b="1" dirty="0">
                  <a:solidFill>
                    <a:srgbClr val="1B6B2A"/>
                  </a:solidFill>
                  <a:latin typeface="Calibri"/>
                </a:endParaRPr>
              </a:p>
            </p:txBody>
          </p:sp>
        </mc:Choice>
        <mc:Fallback xmlns="">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4"/>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5">
            <a:extLst>
              <a:ext uri="{28A0092B-C50C-407E-A947-70E740481C1C}">
                <a14:useLocalDpi xmlns:a14="http://schemas.microsoft.com/office/drawing/2010/main" val="0"/>
              </a:ext>
            </a:extLst>
          </a:blip>
          <a:stretch>
            <a:fillRect/>
          </a:stretch>
        </p:blipFill>
        <p:spPr>
          <a:xfrm>
            <a:off x="2432933" y="3117295"/>
            <a:ext cx="6937309" cy="2213113"/>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495647"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Tree>
    <p:extLst>
      <p:ext uri="{BB962C8B-B14F-4D97-AF65-F5344CB8AC3E}">
        <p14:creationId xmlns:p14="http://schemas.microsoft.com/office/powerpoint/2010/main" val="338053470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A471200D-02B9-475D-9F27-6DEF9B504CA0}"/>
                  </a:ext>
                </a:extLst>
              </p:cNvPr>
              <p:cNvSpPr txBox="1"/>
              <p:nvPr/>
            </p:nvSpPr>
            <p:spPr>
              <a:xfrm>
                <a:off x="2901610" y="639742"/>
                <a:ext cx="8357730" cy="657552"/>
              </a:xfrm>
              <a:prstGeom prst="rect">
                <a:avLst/>
              </a:prstGeom>
              <a:noFill/>
            </p:spPr>
            <p:txBody>
              <a:bodyPr wrap="square">
                <a:spAutoFit/>
              </a:bodyPr>
              <a:lstStyle/>
              <a:p>
                <a:pPr algn="just">
                  <a:lnSpc>
                    <a:spcPct val="107000"/>
                  </a:lnSpc>
                  <a:spcBef>
                    <a:spcPts val="1800"/>
                  </a:spcBef>
                  <a:spcAft>
                    <a:spcPts val="1800"/>
                  </a:spcAft>
                </a:pPr>
                <a:r>
                  <a:rPr lang="es-MX" sz="1600" b="0" dirty="0">
                    <a:effectLst/>
                    <a:ea typeface="Calibri" panose="020F0502020204030204" pitchFamily="34" charset="0"/>
                    <a:cs typeface="Times New Roman" panose="02020603050405020304" pitchFamily="18" charset="0"/>
                  </a:rPr>
                  <a:t>Para</a:t>
                </a:r>
                <a14:m>
                  <m:oMath xmlns:m="http://schemas.openxmlformats.org/officeDocument/2006/math">
                    <m:r>
                      <a:rPr lang="es-MX" sz="16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6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=2000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=6000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6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600" i="1">
                        <a:effectLst/>
                        <a:latin typeface="Cambria Math" panose="02040503050406030204" pitchFamily="18" charset="0"/>
                        <a:ea typeface="Calibri" panose="020F0502020204030204" pitchFamily="34" charset="0"/>
                        <a:cs typeface="Times New Roman" panose="02020603050405020304" pitchFamily="18" charset="0"/>
                      </a:rPr>
                      <m:t>=20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6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xmlns="">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1610" y="639742"/>
                <a:ext cx="8357730" cy="657552"/>
              </a:xfrm>
              <a:prstGeom prst="rect">
                <a:avLst/>
              </a:prstGeom>
              <a:blipFill>
                <a:blip r:embed="rId3"/>
                <a:stretch>
                  <a:fillRect l="-438" r="-365" b="-11111"/>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4">
            <a:extLst>
              <a:ext uri="{28A0092B-C50C-407E-A947-70E740481C1C}">
                <a14:useLocalDpi xmlns:a14="http://schemas.microsoft.com/office/drawing/2010/main" val="0"/>
              </a:ext>
            </a:extLst>
          </a:blip>
          <a:stretch>
            <a:fillRect/>
          </a:stretch>
        </p:blipFill>
        <p:spPr>
          <a:xfrm>
            <a:off x="2793890" y="1267735"/>
            <a:ext cx="4671395" cy="3250102"/>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5">
            <a:extLst>
              <a:ext uri="{28A0092B-C50C-407E-A947-70E740481C1C}">
                <a14:useLocalDpi xmlns:a14="http://schemas.microsoft.com/office/drawing/2010/main" val="0"/>
              </a:ext>
            </a:extLst>
          </a:blip>
          <a:stretch>
            <a:fillRect/>
          </a:stretch>
        </p:blipFill>
        <p:spPr>
          <a:xfrm>
            <a:off x="7515861" y="1267735"/>
            <a:ext cx="4671395" cy="3194988"/>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289363" y="4462723"/>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=2000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289363" y="4462723"/>
                <a:ext cx="4040254" cy="276742"/>
              </a:xfrm>
              <a:prstGeom prst="rect">
                <a:avLst/>
              </a:prstGeom>
              <a:blipFill>
                <a:blip r:embed="rId6"/>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8087408" y="4431368"/>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=2000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087408" y="4431368"/>
                <a:ext cx="4040254" cy="276742"/>
              </a:xfrm>
              <a:prstGeom prst="rect">
                <a:avLst/>
              </a:prstGeom>
              <a:blipFill>
                <a:blip r:embed="rId7"/>
                <a:stretch>
                  <a:fillRect b="-11111"/>
                </a:stretch>
              </a:blipFill>
            </p:spPr>
            <p:txBody>
              <a:bodyPr/>
              <a:lstStyle/>
              <a:p>
                <a:r>
                  <a:rPr lang="es-AR">
                    <a:noFill/>
                  </a:rPr>
                  <a:t> </a:t>
                </a:r>
              </a:p>
            </p:txBody>
          </p:sp>
        </mc:Fallback>
      </mc:AlternateContent>
    </p:spTree>
    <p:extLst>
      <p:ext uri="{BB962C8B-B14F-4D97-AF65-F5344CB8AC3E}">
        <p14:creationId xmlns:p14="http://schemas.microsoft.com/office/powerpoint/2010/main" val="41000813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CFF3FB85-0778-42B7-B56F-EEF1354A91C2}"/>
                  </a:ext>
                </a:extLst>
              </p:cNvPr>
              <p:cNvSpPr txBox="1"/>
              <p:nvPr/>
            </p:nvSpPr>
            <p:spPr>
              <a:xfrm>
                <a:off x="274320" y="5128388"/>
                <a:ext cx="12041171" cy="1477328"/>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a:latin typeface="Cambria Math" panose="02040503050406030204" pitchFamily="18" charset="0"/>
                      </a:rPr>
                      <m:t>𝑡</m:t>
                    </m:r>
                    <m:r>
                      <a:rPr lang="es-AR" sz="1400">
                        <a:latin typeface="Cambria Math" panose="02040503050406030204" pitchFamily="18" charset="0"/>
                      </a:rPr>
                      <m:t>=</m:t>
                    </m:r>
                    <m:r>
                      <a:rPr lang="es-AR" sz="1400">
                        <a:latin typeface="Cambria Math" panose="02040503050406030204" pitchFamily="18" charset="0"/>
                      </a:rPr>
                      <m:t>0</m:t>
                    </m:r>
                    <m:r>
                      <a:rPr lang="es-AR" sz="1400">
                        <a:latin typeface="Cambria Math" panose="02040503050406030204" pitchFamily="18" charset="0"/>
                      </a:rPr>
                      <m:t>.</m:t>
                    </m:r>
                    <m:r>
                      <a:rPr lang="es-AR" sz="1400">
                        <a:latin typeface="Cambria Math" panose="02040503050406030204" pitchFamily="18" charset="0"/>
                      </a:rPr>
                      <m:t>03</m:t>
                    </m:r>
                    <m:r>
                      <a:rPr lang="es-AR" sz="1400">
                        <a:latin typeface="Cambria Math" panose="02040503050406030204" pitchFamily="18" charset="0"/>
                      </a:rPr>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274320" y="5128388"/>
                <a:ext cx="12041171" cy="1477328"/>
              </a:xfrm>
              <a:prstGeom prst="rect">
                <a:avLst/>
              </a:prstGeom>
              <a:blipFill>
                <a:blip r:embed="rId2"/>
                <a:stretch>
                  <a:fillRect l="-152" t="-412"/>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CF669D34-8448-41D8-AD09-3D028D326B05}"/>
              </a:ext>
            </a:extLst>
          </p:cNvPr>
          <p:cNvPicPr/>
          <p:nvPr/>
        </p:nvPicPr>
        <p:blipFill>
          <a:blip r:embed="rId3">
            <a:extLst>
              <a:ext uri="{28A0092B-C50C-407E-A947-70E740481C1C}">
                <a14:useLocalDpi xmlns:a14="http://schemas.microsoft.com/office/drawing/2010/main" val="0"/>
              </a:ext>
            </a:extLst>
          </a:blip>
          <a:stretch>
            <a:fillRect/>
          </a:stretch>
        </p:blipFill>
        <p:spPr>
          <a:xfrm>
            <a:off x="274320" y="776749"/>
            <a:ext cx="5090475" cy="3834845"/>
          </a:xfrm>
          <a:prstGeom prst="rect">
            <a:avLst/>
          </a:prstGeom>
        </p:spPr>
      </p:pic>
      <p:pic>
        <p:nvPicPr>
          <p:cNvPr id="15" name="Imagen 14">
            <a:extLst>
              <a:ext uri="{FF2B5EF4-FFF2-40B4-BE49-F238E27FC236}">
                <a16:creationId xmlns:a16="http://schemas.microsoft.com/office/drawing/2014/main" id="{4C9E71E1-51C5-4EAD-8AA2-534D5FF9DBED}"/>
              </a:ext>
            </a:extLst>
          </p:cNvPr>
          <p:cNvPicPr/>
          <p:nvPr/>
        </p:nvPicPr>
        <p:blipFill>
          <a:blip r:embed="rId4">
            <a:extLst>
              <a:ext uri="{28A0092B-C50C-407E-A947-70E740481C1C}">
                <a14:useLocalDpi xmlns:a14="http://schemas.microsoft.com/office/drawing/2010/main" val="0"/>
              </a:ext>
            </a:extLst>
          </a:blip>
          <a:stretch>
            <a:fillRect/>
          </a:stretch>
        </p:blipFill>
        <p:spPr>
          <a:xfrm>
            <a:off x="6402693" y="736423"/>
            <a:ext cx="5090475" cy="3915495"/>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4042BF6-315E-4BCB-9041-00FBBAAFC850}"/>
                  </a:ext>
                </a:extLst>
              </p:cNvPr>
              <p:cNvSpPr txBox="1"/>
              <p:nvPr/>
            </p:nvSpPr>
            <p:spPr>
              <a:xfrm>
                <a:off x="853837" y="4619295"/>
                <a:ext cx="4464767"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69—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6" name="CuadroTexto 15">
                <a:extLst>
                  <a:ext uri="{FF2B5EF4-FFF2-40B4-BE49-F238E27FC236}">
                    <a16:creationId xmlns:a16="http://schemas.microsoft.com/office/drawing/2014/main" id="{94042BF6-315E-4BCB-9041-00FBBAAFC850}"/>
                  </a:ext>
                </a:extLst>
              </p:cNvPr>
              <p:cNvSpPr txBox="1">
                <a:spLocks noRot="1" noChangeAspect="1" noMove="1" noResize="1" noEditPoints="1" noAdjustHandles="1" noChangeArrowheads="1" noChangeShapeType="1" noTextEdit="1"/>
              </p:cNvSpPr>
              <p:nvPr/>
            </p:nvSpPr>
            <p:spPr>
              <a:xfrm>
                <a:off x="853837" y="4619295"/>
                <a:ext cx="4464767" cy="267253"/>
              </a:xfrm>
              <a:prstGeom prst="rect">
                <a:avLst/>
              </a:prstGeom>
              <a:blipFill>
                <a:blip r:embed="rId5"/>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0ED1C2-BA7D-4666-98A6-17E5784DF0EA}"/>
                  </a:ext>
                </a:extLst>
              </p:cNvPr>
              <p:cNvSpPr txBox="1"/>
              <p:nvPr/>
            </p:nvSpPr>
            <p:spPr>
              <a:xfrm>
                <a:off x="6927803" y="4635218"/>
                <a:ext cx="404025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70—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20</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7" name="CuadroTexto 16">
                <a:extLst>
                  <a:ext uri="{FF2B5EF4-FFF2-40B4-BE49-F238E27FC236}">
                    <a16:creationId xmlns:a16="http://schemas.microsoft.com/office/drawing/2014/main" id="{B20ED1C2-BA7D-4666-98A6-17E5784DF0EA}"/>
                  </a:ext>
                </a:extLst>
              </p:cNvPr>
              <p:cNvSpPr txBox="1">
                <a:spLocks noRot="1" noChangeAspect="1" noMove="1" noResize="1" noEditPoints="1" noAdjustHandles="1" noChangeArrowheads="1" noChangeShapeType="1" noTextEdit="1"/>
              </p:cNvSpPr>
              <p:nvPr/>
            </p:nvSpPr>
            <p:spPr>
              <a:xfrm>
                <a:off x="6927803" y="4635218"/>
                <a:ext cx="4040254"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7784484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943523" y="5296495"/>
                <a:ext cx="4232239" cy="44390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943523" y="5296495"/>
                <a:ext cx="4232239" cy="443904"/>
              </a:xfrm>
              <a:prstGeom prst="rect">
                <a:avLst/>
              </a:prstGeom>
              <a:blipFill>
                <a:blip r:embed="rId2"/>
                <a:stretch>
                  <a:fillRect/>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26BD677C-BE44-49FA-82D5-6BD93CD6D046}"/>
              </a:ext>
            </a:extLst>
          </p:cNvPr>
          <p:cNvPicPr/>
          <p:nvPr/>
        </p:nvPicPr>
        <p:blipFill>
          <a:blip r:embed="rId3">
            <a:extLst>
              <a:ext uri="{28A0092B-C50C-407E-A947-70E740481C1C}">
                <a14:useLocalDpi xmlns:a14="http://schemas.microsoft.com/office/drawing/2010/main" val="0"/>
              </a:ext>
            </a:extLst>
          </a:blip>
          <a:stretch>
            <a:fillRect/>
          </a:stretch>
        </p:blipFill>
        <p:spPr>
          <a:xfrm>
            <a:off x="2786435" y="795392"/>
            <a:ext cx="5876797" cy="450110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448589" y="5731678"/>
                <a:ext cx="12022317" cy="379271"/>
              </a:xfrm>
              <a:prstGeom prst="rect">
                <a:avLst/>
              </a:prstGeom>
              <a:noFill/>
            </p:spPr>
            <p:txBody>
              <a:bodyPr wrap="square">
                <a:spAutoFit/>
              </a:bodyPr>
              <a:lstStyle/>
              <a:p>
                <a:pPr>
                  <a:lnSpc>
                    <a:spcPct val="107000"/>
                  </a:lnSpc>
                  <a:spcAft>
                    <a:spcPts val="800"/>
                  </a:spcAft>
                </a:pPr>
                <a:r>
                  <a:rPr lang="es-AR" sz="1600" dirty="0">
                    <a:effectLst/>
                    <a:latin typeface="Calibri" panose="020F0502020204030204" pitchFamily="34" charset="0"/>
                    <a:ea typeface="Calibri" panose="020F0502020204030204" pitchFamily="34" charset="0"/>
                    <a:cs typeface="Times New Roman" panose="02020603050405020304" pitchFamily="18" charset="0"/>
                  </a:rPr>
                  <a:t>Al comparar con la frecuencia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n</m:t>
                        </m:r>
                        <m:r>
                          <a:rPr lang="es-AR" sz="1600">
                            <a:effectLst/>
                            <a:latin typeface="Cambria Math" panose="02040503050406030204" pitchFamily="18" charset="0"/>
                            <a:ea typeface="Calibri" panose="020F0502020204030204" pitchFamily="34" charset="0"/>
                            <a:cs typeface="Times New Roman" panose="02020603050405020304" pitchFamily="18" charset="0"/>
                          </a:rPr>
                          <m:t>_</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pos</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a:effectLst/>
                        <a:latin typeface="Cambria Math" panose="02040503050406030204" pitchFamily="18" charset="0"/>
                        <a:ea typeface="Calibri" panose="020F0502020204030204" pitchFamily="34" charset="0"/>
                        <a:cs typeface="Times New Roman" panose="02020603050405020304" pitchFamily="18" charset="0"/>
                      </a:rPr>
                      <m:t>6</m:t>
                    </m:r>
                    <m:r>
                      <a:rPr lang="es-AR" sz="1600" i="1">
                        <a:effectLst/>
                        <a:latin typeface="Cambria Math" panose="02040503050406030204" pitchFamily="18" charset="0"/>
                        <a:ea typeface="Calibri" panose="020F0502020204030204" pitchFamily="34" charset="0"/>
                        <a:cs typeface="Times New Roman" panose="02020603050405020304" pitchFamily="18" charset="0"/>
                      </a:rPr>
                      <m:t>000</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no notamos diferencias apreciables, por lo que no exige mayor resolución.</a:t>
                </a:r>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448589" y="5731678"/>
                <a:ext cx="12022317" cy="379271"/>
              </a:xfrm>
              <a:prstGeom prst="rect">
                <a:avLst/>
              </a:prstGeom>
              <a:blipFill>
                <a:blip r:embed="rId4"/>
                <a:stretch>
                  <a:fillRect l="-304" b="-16129"/>
                </a:stretch>
              </a:blipFill>
            </p:spPr>
            <p:txBody>
              <a:bodyPr/>
              <a:lstStyle/>
              <a:p>
                <a:r>
                  <a:rPr lang="es-AR">
                    <a:noFill/>
                  </a:rPr>
                  <a:t> </a:t>
                </a:r>
              </a:p>
            </p:txBody>
          </p:sp>
        </mc:Fallback>
      </mc:AlternateContent>
    </p:spTree>
    <p:extLst>
      <p:ext uri="{BB962C8B-B14F-4D97-AF65-F5344CB8AC3E}">
        <p14:creationId xmlns:p14="http://schemas.microsoft.com/office/powerpoint/2010/main" val="19220450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924222" y="4569739"/>
                <a:ext cx="4232239" cy="27462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=4000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924222" y="4569739"/>
                <a:ext cx="4232239" cy="274627"/>
              </a:xfrm>
              <a:prstGeom prst="rect">
                <a:avLst/>
              </a:prstGeom>
              <a:blipFill>
                <a:blip r:embed="rId2"/>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7035541" y="4554091"/>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7035541" y="4554091"/>
                <a:ext cx="4040254" cy="276742"/>
              </a:xfrm>
              <a:prstGeom prst="rect">
                <a:avLst/>
              </a:prstGeom>
              <a:blipFill>
                <a:blip r:embed="rId3"/>
                <a:stretch>
                  <a:fillRect b="-11111"/>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274320" y="5513633"/>
            <a:ext cx="12022317" cy="338554"/>
          </a:xfrm>
          <a:prstGeom prst="rect">
            <a:avLst/>
          </a:prstGeom>
          <a:noFill/>
        </p:spPr>
        <p:txBody>
          <a:bodyPr wrap="square">
            <a:spAutoFit/>
          </a:bodyPr>
          <a:lstStyle/>
          <a:p>
            <a:r>
              <a:rPr lang="es-AR" sz="1600" dirty="0"/>
              <a:t>Para el caso de la velocidad, se nota una leve mejora en la estabilidad al triplicar la frecuencia.</a:t>
            </a:r>
          </a:p>
        </p:txBody>
      </p:sp>
      <p:pic>
        <p:nvPicPr>
          <p:cNvPr id="17" name="Imagen 16">
            <a:extLst>
              <a:ext uri="{FF2B5EF4-FFF2-40B4-BE49-F238E27FC236}">
                <a16:creationId xmlns:a16="http://schemas.microsoft.com/office/drawing/2014/main" id="{B00F16F4-E8F7-4A3D-AE3E-48E99990D636}"/>
              </a:ext>
            </a:extLst>
          </p:cNvPr>
          <p:cNvPicPr/>
          <p:nvPr/>
        </p:nvPicPr>
        <p:blipFill>
          <a:blip r:embed="rId4">
            <a:extLst>
              <a:ext uri="{28A0092B-C50C-407E-A947-70E740481C1C}">
                <a14:useLocalDpi xmlns:a14="http://schemas.microsoft.com/office/drawing/2010/main" val="0"/>
              </a:ext>
            </a:extLst>
          </a:blip>
          <a:stretch>
            <a:fillRect/>
          </a:stretch>
        </p:blipFill>
        <p:spPr>
          <a:xfrm>
            <a:off x="269480" y="842008"/>
            <a:ext cx="5018957" cy="3651565"/>
          </a:xfrm>
          <a:prstGeom prst="rect">
            <a:avLst/>
          </a:prstGeom>
        </p:spPr>
      </p:pic>
      <p:pic>
        <p:nvPicPr>
          <p:cNvPr id="26" name="Imagen 25">
            <a:extLst>
              <a:ext uri="{FF2B5EF4-FFF2-40B4-BE49-F238E27FC236}">
                <a16:creationId xmlns:a16="http://schemas.microsoft.com/office/drawing/2014/main" id="{28678D3F-A963-4A96-A807-9F74A0FBE801}"/>
              </a:ext>
            </a:extLst>
          </p:cNvPr>
          <p:cNvPicPr/>
          <p:nvPr/>
        </p:nvPicPr>
        <p:blipFill>
          <a:blip r:embed="rId5">
            <a:extLst>
              <a:ext uri="{28A0092B-C50C-407E-A947-70E740481C1C}">
                <a14:useLocalDpi xmlns:a14="http://schemas.microsoft.com/office/drawing/2010/main" val="0"/>
              </a:ext>
            </a:extLst>
          </a:blip>
          <a:stretch>
            <a:fillRect/>
          </a:stretch>
        </p:blipFill>
        <p:spPr>
          <a:xfrm>
            <a:off x="5987919" y="849633"/>
            <a:ext cx="5277111" cy="3651564"/>
          </a:xfrm>
          <a:prstGeom prst="rect">
            <a:avLst/>
          </a:prstGeom>
        </p:spPr>
      </p:pic>
    </p:spTree>
    <p:extLst>
      <p:ext uri="{BB962C8B-B14F-4D97-AF65-F5344CB8AC3E}">
        <p14:creationId xmlns:p14="http://schemas.microsoft.com/office/powerpoint/2010/main" val="407247330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141797" y="4012147"/>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74—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141797" y="4012147"/>
                <a:ext cx="4232239"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84688" y="4678209"/>
                <a:ext cx="12022317" cy="188718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temperatura resulta ser la variable más afectada por la dinámica del sensor, lo cual se evidencia claramente en los resultados de simulación. Para lograr un seguimiento adecuado de la señal, sería necesario adoptar valores de constante de tiempo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considerablemente pequeños, lo que implica un sensor con respuesta muy rápida. </a:t>
                </a:r>
              </a:p>
              <a:p>
                <a:pPr algn="just">
                  <a:lnSpc>
                    <a:spcPct val="107000"/>
                  </a:lnSpc>
                  <a:spcBef>
                    <a:spcPts val="600"/>
                  </a:spcBef>
                  <a:spcAft>
                    <a:spcPts val="800"/>
                  </a:spcAft>
                </a:pPr>
                <a:r>
                  <a:rPr lang="es-AR" sz="1400" dirty="0"/>
                  <a:t>El aspecto más relevante es el correcto seguimiento de los valores máximos de temperatura. Para este objetivo, no resulta imprescindible una constante de tiempo tan reducida, lo que permite emplear sensores más simples y de menor costo.</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84688" y="4678209"/>
                <a:ext cx="12022317" cy="1887183"/>
              </a:xfrm>
              <a:prstGeom prst="rect">
                <a:avLst/>
              </a:prstGeom>
              <a:blipFill>
                <a:blip r:embed="rId3"/>
                <a:stretch>
                  <a:fillRect l="-152" r="-152"/>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71868927-1F05-46A9-9532-B62231355191}"/>
              </a:ext>
            </a:extLst>
          </p:cNvPr>
          <p:cNvPicPr/>
          <p:nvPr/>
        </p:nvPicPr>
        <p:blipFill>
          <a:blip r:embed="rId4">
            <a:extLst>
              <a:ext uri="{28A0092B-C50C-407E-A947-70E740481C1C}">
                <a14:useLocalDpi xmlns:a14="http://schemas.microsoft.com/office/drawing/2010/main" val="0"/>
              </a:ext>
            </a:extLst>
          </a:blip>
          <a:stretch>
            <a:fillRect/>
          </a:stretch>
        </p:blipFill>
        <p:spPr>
          <a:xfrm>
            <a:off x="0" y="792870"/>
            <a:ext cx="4014876" cy="3226589"/>
          </a:xfrm>
          <a:prstGeom prst="rect">
            <a:avLst/>
          </a:prstGeom>
        </p:spPr>
      </p:pic>
      <p:pic>
        <p:nvPicPr>
          <p:cNvPr id="12" name="Imagen 11">
            <a:extLst>
              <a:ext uri="{FF2B5EF4-FFF2-40B4-BE49-F238E27FC236}">
                <a16:creationId xmlns:a16="http://schemas.microsoft.com/office/drawing/2014/main" id="{F55DBAE9-F7CE-4D5E-ABCC-16AE32B3A60F}"/>
              </a:ext>
            </a:extLst>
          </p:cNvPr>
          <p:cNvPicPr/>
          <p:nvPr/>
        </p:nvPicPr>
        <p:blipFill>
          <a:blip r:embed="rId5">
            <a:extLst>
              <a:ext uri="{28A0092B-C50C-407E-A947-70E740481C1C}">
                <a14:useLocalDpi xmlns:a14="http://schemas.microsoft.com/office/drawing/2010/main" val="0"/>
              </a:ext>
            </a:extLst>
          </a:blip>
          <a:stretch>
            <a:fillRect/>
          </a:stretch>
        </p:blipFill>
        <p:spPr>
          <a:xfrm>
            <a:off x="3989498" y="813001"/>
            <a:ext cx="4040254" cy="3206458"/>
          </a:xfrm>
          <a:prstGeom prst="rect">
            <a:avLst/>
          </a:prstGeom>
        </p:spPr>
      </p:pic>
      <p:pic>
        <p:nvPicPr>
          <p:cNvPr id="13" name="Imagen 12">
            <a:extLst>
              <a:ext uri="{FF2B5EF4-FFF2-40B4-BE49-F238E27FC236}">
                <a16:creationId xmlns:a16="http://schemas.microsoft.com/office/drawing/2014/main" id="{553E7F1D-45D5-418F-88F2-224B98F55B0F}"/>
              </a:ext>
            </a:extLst>
          </p:cNvPr>
          <p:cNvPicPr/>
          <p:nvPr/>
        </p:nvPicPr>
        <p:blipFill>
          <a:blip r:embed="rId6">
            <a:extLst>
              <a:ext uri="{28A0092B-C50C-407E-A947-70E740481C1C}">
                <a14:useLocalDpi xmlns:a14="http://schemas.microsoft.com/office/drawing/2010/main" val="0"/>
              </a:ext>
            </a:extLst>
          </a:blip>
          <a:stretch>
            <a:fillRect/>
          </a:stretch>
        </p:blipFill>
        <p:spPr>
          <a:xfrm>
            <a:off x="8004374" y="792870"/>
            <a:ext cx="4161943" cy="3269006"/>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4131295" y="4025165"/>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75—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4131295" y="4025165"/>
                <a:ext cx="4232239"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F5AE9F1-AD73-49A7-9B24-1304D4F554F0}"/>
                  </a:ext>
                </a:extLst>
              </p:cNvPr>
              <p:cNvSpPr txBox="1"/>
              <p:nvPr/>
            </p:nvSpPr>
            <p:spPr>
              <a:xfrm>
                <a:off x="8479953" y="4046760"/>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76—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MX" b="0" i="1" smtClean="0">
                        <a:latin typeface="Cambria Math" panose="02040503050406030204" pitchFamily="18" charset="0"/>
                      </a:rPr>
                      <m:t>0</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F5AE9F1-AD73-49A7-9B24-1304D4F554F0}"/>
                  </a:ext>
                </a:extLst>
              </p:cNvPr>
              <p:cNvSpPr txBox="1">
                <a:spLocks noRot="1" noChangeAspect="1" noMove="1" noResize="1" noEditPoints="1" noAdjustHandles="1" noChangeArrowheads="1" noChangeShapeType="1" noTextEdit="1"/>
              </p:cNvSpPr>
              <p:nvPr/>
            </p:nvSpPr>
            <p:spPr>
              <a:xfrm>
                <a:off x="8479953" y="4046760"/>
                <a:ext cx="4232239" cy="261610"/>
              </a:xfrm>
              <a:prstGeom prst="rect">
                <a:avLst/>
              </a:prstGeom>
              <a:blipFill>
                <a:blip r:embed="rId8"/>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18440913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724682" y="463672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77—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724682" y="4636721"/>
                <a:ext cx="4554874" cy="267253"/>
              </a:xfrm>
              <a:prstGeom prst="rect">
                <a:avLst/>
              </a:prstGeom>
              <a:blipFill>
                <a:blip r:embed="rId2"/>
                <a:stretch>
                  <a:fillRect b="-16279"/>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84688" y="5187595"/>
            <a:ext cx="12022317" cy="1314271"/>
          </a:xfrm>
          <a:prstGeom prst="rect">
            <a:avLst/>
          </a:prstGeom>
          <a:noFill/>
        </p:spPr>
        <p:txBody>
          <a:bodyPr wrap="square">
            <a:spAutoFit/>
          </a:bodyPr>
          <a:lstStyle/>
          <a:p>
            <a:r>
              <a:rPr lang="es-AR" sz="1400" dirty="0"/>
              <a:t>Para el caso de frecuencia duplicada, la señal presenta valores pico a pico ligeramente más pronunciados respecto al caso en que la frecuencia se triplica. No obstante, las diferencias entre ambos escenarios no resultan significativas.</a:t>
            </a:r>
          </a:p>
          <a:p>
            <a:r>
              <a:rPr lang="es-AR" sz="1400" dirty="0"/>
              <a:t>En consecuencia, puede concluirse que no es estrictamente necesario incrementar excesivamente la frecuencia de corte de los sensores de corriente y posición, siendo posible optar por dispositivos de menor precisión sin comprometer de forma relevante el desempeño global.</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6280849" y="4671890"/>
                <a:ext cx="4609312"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78—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6280849" y="4671890"/>
                <a:ext cx="4609312" cy="267253"/>
              </a:xfrm>
              <a:prstGeom prst="rect">
                <a:avLst/>
              </a:prstGeom>
              <a:blipFill>
                <a:blip r:embed="rId3"/>
                <a:stretch>
                  <a:fillRect b="-13636"/>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4672065E-279F-41D9-85D1-61D7E4FABA3C}"/>
              </a:ext>
            </a:extLst>
          </p:cNvPr>
          <p:cNvPicPr/>
          <p:nvPr/>
        </p:nvPicPr>
        <p:blipFill>
          <a:blip r:embed="rId4">
            <a:extLst>
              <a:ext uri="{28A0092B-C50C-407E-A947-70E740481C1C}">
                <a14:useLocalDpi xmlns:a14="http://schemas.microsoft.com/office/drawing/2010/main" val="0"/>
              </a:ext>
            </a:extLst>
          </a:blip>
          <a:stretch>
            <a:fillRect/>
          </a:stretch>
        </p:blipFill>
        <p:spPr>
          <a:xfrm>
            <a:off x="274320" y="863874"/>
            <a:ext cx="4609312" cy="3764403"/>
          </a:xfrm>
          <a:prstGeom prst="rect">
            <a:avLst/>
          </a:prstGeom>
        </p:spPr>
      </p:pic>
      <p:pic>
        <p:nvPicPr>
          <p:cNvPr id="18" name="Imagen 17">
            <a:extLst>
              <a:ext uri="{FF2B5EF4-FFF2-40B4-BE49-F238E27FC236}">
                <a16:creationId xmlns:a16="http://schemas.microsoft.com/office/drawing/2014/main" id="{BB8444B4-B86C-4052-B46A-E8D6917C2D9A}"/>
              </a:ext>
            </a:extLst>
          </p:cNvPr>
          <p:cNvPicPr/>
          <p:nvPr/>
        </p:nvPicPr>
        <p:blipFill>
          <a:blip r:embed="rId5">
            <a:extLst>
              <a:ext uri="{28A0092B-C50C-407E-A947-70E740481C1C}">
                <a14:useLocalDpi xmlns:a14="http://schemas.microsoft.com/office/drawing/2010/main" val="0"/>
              </a:ext>
            </a:extLst>
          </a:blip>
          <a:stretch>
            <a:fillRect/>
          </a:stretch>
        </p:blipFill>
        <p:spPr>
          <a:xfrm>
            <a:off x="5767708" y="863873"/>
            <a:ext cx="4790313" cy="3764403"/>
          </a:xfrm>
          <a:prstGeom prst="rect">
            <a:avLst/>
          </a:prstGeom>
        </p:spPr>
      </p:pic>
    </p:spTree>
    <p:extLst>
      <p:ext uri="{BB962C8B-B14F-4D97-AF65-F5344CB8AC3E}">
        <p14:creationId xmlns:p14="http://schemas.microsoft.com/office/powerpoint/2010/main" val="78699250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1445" y="104505"/>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65 / ~75</a:t>
            </a:r>
          </a:p>
        </p:txBody>
      </p:sp>
      <mc:AlternateContent xmlns:mc="http://schemas.openxmlformats.org/markup-compatibility/2006" xmlns:a14="http://schemas.microsoft.com/office/drawing/2010/main">
        <mc:Choice Requires="a14">
          <p:sp>
            <p:nvSpPr>
              <p:cNvPr id="7" name="TextBox 6"/>
              <p:cNvSpPr txBox="1"/>
              <p:nvPr/>
            </p:nvSpPr>
            <p:spPr>
              <a:xfrm>
                <a:off x="0" y="736452"/>
                <a:ext cx="12003150"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adopta un modelo aproximado que incluye dos efectos principales: la saturación de tensión y la dinámica asociada al proceso de modulación, la cual se modela mediante un filtro pasa bajos. Las tensiones trifásicas de salida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𝑎𝑠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𝑏𝑠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𝑐𝑠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se encuentran limitadas por la siguiente condición de saturación: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0" y="736452"/>
                <a:ext cx="12003150" cy="523220"/>
              </a:xfrm>
              <a:prstGeom prst="rect">
                <a:avLst/>
              </a:prstGeom>
              <a:blipFill>
                <a:blip r:embed="rId3"/>
                <a:stretch>
                  <a:fillRect l="-152" t="-2326" b="-10465"/>
                </a:stretch>
              </a:blipFill>
            </p:spPr>
            <p:txBody>
              <a:bodyPr/>
              <a:lstStyle/>
              <a:p>
                <a:r>
                  <a:rPr lang="es-AR">
                    <a:noFill/>
                  </a:rPr>
                  <a:t> </a:t>
                </a:r>
              </a:p>
            </p:txBody>
          </p:sp>
        </mc:Fallback>
      </mc:AlternateContent>
      <p:sp>
        <p:nvSpPr>
          <p:cNvPr id="8" name="Rectangle 7"/>
          <p:cNvSpPr/>
          <p:nvPr/>
        </p:nvSpPr>
        <p:spPr>
          <a:xfrm>
            <a:off x="130090" y="1307839"/>
            <a:ext cx="11482790" cy="50267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301595"/>
                <a:ext cx="5247586" cy="449226"/>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𝑏𝑠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ar-AE" sz="1400" i="1">
                            <a:solidFill>
                              <a:schemeClr val="tx1"/>
                            </a:solidFill>
                            <a:effectLst/>
                            <a:latin typeface="Cambria Math" panose="02040503050406030204" pitchFamily="18" charset="0"/>
                          </a:rPr>
                        </m:ctrlPr>
                      </m:fPr>
                      <m:num>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e>
                        </m:rad>
                      </m:num>
                      <m:den>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e>
                        </m:rad>
                      </m:den>
                    </m:f>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𝑠𝑙</m:t>
                        </m:r>
                        <m:r>
                          <m:rPr>
                            <m:lit/>
                          </m:rP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_</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𝑉</m:t>
                        </m:r>
                      </m:e>
                      <m:sub>
                        <m:r>
                          <a:rPr lang="ar-AE" sz="1400" i="1">
                            <a:solidFill>
                              <a:schemeClr val="tx1"/>
                            </a:solidFill>
                            <a:latin typeface="Cambria Math" panose="02040503050406030204" pitchFamily="18" charset="0"/>
                          </a:rPr>
                          <m:t>𝑠𝑙</m:t>
                        </m:r>
                        <m:r>
                          <m:rPr>
                            <m:lit/>
                          </m:rPr>
                          <a:rPr lang="ar-AE" sz="1400" i="1">
                            <a:solidFill>
                              <a:schemeClr val="tx1"/>
                            </a:solidFill>
                            <a:latin typeface="Cambria Math" panose="02040503050406030204" pitchFamily="18" charset="0"/>
                          </a:rPr>
                          <m:t>_</m:t>
                        </m:r>
                        <m:r>
                          <a:rPr lang="ar-AE" sz="1400" i="1">
                            <a:solidFill>
                              <a:schemeClr val="tx1"/>
                            </a:solidFill>
                            <a:latin typeface="Cambria Math" panose="02040503050406030204" pitchFamily="18" charset="0"/>
                          </a:rPr>
                          <m:t>𝑚𝑎𝑥</m:t>
                        </m:r>
                      </m:sub>
                    </m:sSub>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48</m:t>
                    </m:r>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nor/>
                          </m:rPr>
                          <a:rPr lang="es-AR" sz="1400">
                            <a:solidFill>
                              <a:schemeClr val="tx1"/>
                            </a:solidFill>
                          </a:rPr>
                          <m:t>V</m:t>
                        </m:r>
                      </m:e>
                      <m:sub>
                        <m:r>
                          <m:rPr>
                            <m:nor/>
                          </m:rPr>
                          <a:rPr lang="es-AR" sz="1400">
                            <a:solidFill>
                              <a:schemeClr val="tx1"/>
                            </a:solidFill>
                          </a:rPr>
                          <m:t>rms</m:t>
                        </m:r>
                      </m:sub>
                    </m:sSub>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301595"/>
                <a:ext cx="5247586" cy="449226"/>
              </a:xfrm>
              <a:prstGeom prst="rect">
                <a:avLst/>
              </a:prstGeom>
              <a:blipFill>
                <a:blip r:embed="rId4"/>
                <a:stretch>
                  <a:fillRect b="-13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62F2501C-F83B-45C0-A72A-B4CA9374833A}"/>
                  </a:ext>
                </a:extLst>
              </p:cNvPr>
              <p:cNvSpPr txBox="1"/>
              <p:nvPr/>
            </p:nvSpPr>
            <p:spPr>
              <a:xfrm>
                <a:off x="0" y="1885599"/>
                <a:ext cx="11873060" cy="1891352"/>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Esta restricción asegura que las tensiones de salida permanezcan dentro de los límites físicos impuestos por la modulación trifásica.</a:t>
                </a:r>
                <a:endParaRPr lang="es-AR" sz="1600" dirty="0">
                  <a:effectLst/>
                  <a:latin typeface="Times New Roman" panose="02020603050405020304" pitchFamily="18" charset="0"/>
                  <a:ea typeface="Times New Roman" panose="02020603050405020304" pitchFamily="18" charset="0"/>
                </a:endParaRPr>
              </a:p>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Adicionalmente, cada una de las tensiones de fase se modela mediante un filtro pasa bajos de segundo orden con ganancia unitaria, de forma análoga a lo realizado para los sensores no ideales. Este filtro permite representar la dinámica del modulador, introduciendo un retardo y limitando el ancho de banda de las tensiones aplicadas.</a:t>
                </a:r>
                <a:endParaRPr lang="es-AR" sz="1600" dirty="0">
                  <a:effectLst/>
                  <a:latin typeface="Times New Roman" panose="02020603050405020304" pitchFamily="18" charset="0"/>
                  <a:ea typeface="Times New Roman" panose="02020603050405020304" pitchFamily="18" charset="0"/>
                </a:endParaRPr>
              </a:p>
              <a:p>
                <a:pPr>
                  <a:lnSpc>
                    <a:spcPct val="107000"/>
                  </a:lnSpc>
                  <a:spcBef>
                    <a:spcPts val="400"/>
                  </a:spcBef>
                  <a:spcAft>
                    <a:spcPts val="4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Para dicho modelo se adoptan los siguientes parámetros:</a:t>
                </a: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Frecuencia natural: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f>
                      <m:fPr>
                        <m:type m:val="lin"/>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den>
                    </m:f>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Factor de amortiguamiento: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𝜁</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62F2501C-F83B-45C0-A72A-B4CA9374833A}"/>
                  </a:ext>
                </a:extLst>
              </p:cNvPr>
              <p:cNvSpPr txBox="1">
                <a:spLocks noRot="1" noChangeAspect="1" noMove="1" noResize="1" noEditPoints="1" noAdjustHandles="1" noChangeArrowheads="1" noChangeShapeType="1" noTextEdit="1"/>
              </p:cNvSpPr>
              <p:nvPr/>
            </p:nvSpPr>
            <p:spPr>
              <a:xfrm>
                <a:off x="0" y="1885599"/>
                <a:ext cx="11873060" cy="1891352"/>
              </a:xfrm>
              <a:prstGeom prst="rect">
                <a:avLst/>
              </a:prstGeom>
              <a:blipFill>
                <a:blip r:embed="rId5"/>
                <a:stretch>
                  <a:fillRect l="-154" t="-322" r="-103" b="-6752"/>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12EAC9BE-EE69-47D9-B205-66C80EEAC87C}"/>
              </a:ext>
            </a:extLst>
          </p:cNvPr>
          <p:cNvPicPr/>
          <p:nvPr/>
        </p:nvPicPr>
        <p:blipFill>
          <a:blip r:embed="rId6"/>
          <a:srcRect/>
          <a:stretch/>
        </p:blipFill>
        <p:spPr>
          <a:xfrm>
            <a:off x="5247586" y="2775020"/>
            <a:ext cx="3785084" cy="3772834"/>
          </a:xfrm>
          <a:prstGeom prst="rect">
            <a:avLst/>
          </a:prstGeom>
        </p:spPr>
      </p:pic>
      <p:sp>
        <p:nvSpPr>
          <p:cNvPr id="25" name="CuadroTexto 24">
            <a:extLst>
              <a:ext uri="{FF2B5EF4-FFF2-40B4-BE49-F238E27FC236}">
                <a16:creationId xmlns:a16="http://schemas.microsoft.com/office/drawing/2014/main" id="{E10430F9-FD11-4D6D-9AA9-8EDC2362C113}"/>
              </a:ext>
            </a:extLst>
          </p:cNvPr>
          <p:cNvSpPr txBox="1"/>
          <p:nvPr/>
        </p:nvSpPr>
        <p:spPr>
          <a:xfrm>
            <a:off x="9003707" y="4290460"/>
            <a:ext cx="3187988"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79— Modulador de tensión no ideal</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pic>
        <p:nvPicPr>
          <p:cNvPr id="12" name="Imagen 11">
            <a:extLst>
              <a:ext uri="{FF2B5EF4-FFF2-40B4-BE49-F238E27FC236}">
                <a16:creationId xmlns:a16="http://schemas.microsoft.com/office/drawing/2014/main" id="{8CE8B700-A663-4796-86D1-FCCEA2EF0637}"/>
              </a:ext>
            </a:extLst>
          </p:cNvPr>
          <p:cNvPicPr/>
          <p:nvPr/>
        </p:nvPicPr>
        <p:blipFill>
          <a:blip r:embed="rId2">
            <a:extLst>
              <a:ext uri="{28A0092B-C50C-407E-A947-70E740481C1C}">
                <a14:useLocalDpi xmlns:a14="http://schemas.microsoft.com/office/drawing/2010/main" val="0"/>
              </a:ext>
            </a:extLst>
          </a:blip>
          <a:stretch>
            <a:fillRect/>
          </a:stretch>
        </p:blipFill>
        <p:spPr>
          <a:xfrm>
            <a:off x="183177" y="849096"/>
            <a:ext cx="5362620" cy="4075222"/>
          </a:xfrm>
          <a:prstGeom prst="rect">
            <a:avLst/>
          </a:prstGeom>
        </p:spPr>
      </p:pic>
      <p:pic>
        <p:nvPicPr>
          <p:cNvPr id="13" name="Imagen 12">
            <a:extLst>
              <a:ext uri="{FF2B5EF4-FFF2-40B4-BE49-F238E27FC236}">
                <a16:creationId xmlns:a16="http://schemas.microsoft.com/office/drawing/2014/main" id="{33568A11-FE22-4A87-8D15-5347606B3DE8}"/>
              </a:ext>
            </a:extLst>
          </p:cNvPr>
          <p:cNvPicPr/>
          <p:nvPr/>
        </p:nvPicPr>
        <p:blipFill>
          <a:blip r:embed="rId3">
            <a:extLst>
              <a:ext uri="{28A0092B-C50C-407E-A947-70E740481C1C}">
                <a14:useLocalDpi xmlns:a14="http://schemas.microsoft.com/office/drawing/2010/main" val="0"/>
              </a:ext>
            </a:extLst>
          </a:blip>
          <a:stretch>
            <a:fillRect/>
          </a:stretch>
        </p:blipFill>
        <p:spPr>
          <a:xfrm>
            <a:off x="6437540" y="849096"/>
            <a:ext cx="5362620" cy="4075222"/>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80—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4"/>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5057944"/>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=18000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5057944"/>
                <a:ext cx="4554874" cy="267253"/>
              </a:xfrm>
              <a:prstGeom prst="rect">
                <a:avLst/>
              </a:prstGeom>
              <a:blipFill>
                <a:blip r:embed="rId5"/>
                <a:stretch>
                  <a:fillRect b="-13636"/>
                </a:stretch>
              </a:blipFill>
            </p:spPr>
            <p:txBody>
              <a:bodyPr/>
              <a:lstStyle/>
              <a:p>
                <a:r>
                  <a:rPr lang="es-AR">
                    <a:noFill/>
                  </a:rPr>
                  <a:t> </a:t>
                </a:r>
              </a:p>
            </p:txBody>
          </p:sp>
        </mc:Fallback>
      </mc:AlternateContent>
    </p:spTree>
    <p:extLst>
      <p:ext uri="{BB962C8B-B14F-4D97-AF65-F5344CB8AC3E}">
        <p14:creationId xmlns:p14="http://schemas.microsoft.com/office/powerpoint/2010/main" val="34413870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989418"/>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989418"/>
                <a:ext cx="4554874" cy="267253"/>
              </a:xfrm>
              <a:prstGeom prst="rect">
                <a:avLst/>
              </a:prstGeom>
              <a:blipFill>
                <a:blip r:embed="rId3"/>
                <a:stretch>
                  <a:fillRect b="-13636"/>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E4973BD4-0249-42A8-8055-F0CAB6C18447}"/>
              </a:ext>
            </a:extLst>
          </p:cNvPr>
          <p:cNvPicPr/>
          <p:nvPr/>
        </p:nvPicPr>
        <p:blipFill>
          <a:blip r:embed="rId4">
            <a:extLst>
              <a:ext uri="{28A0092B-C50C-407E-A947-70E740481C1C}">
                <a14:useLocalDpi xmlns:a14="http://schemas.microsoft.com/office/drawing/2010/main" val="0"/>
              </a:ext>
            </a:extLst>
          </a:blip>
          <a:stretch>
            <a:fillRect/>
          </a:stretch>
        </p:blipFill>
        <p:spPr>
          <a:xfrm>
            <a:off x="391839" y="849095"/>
            <a:ext cx="5153957" cy="3949147"/>
          </a:xfrm>
          <a:prstGeom prst="rect">
            <a:avLst/>
          </a:prstGeom>
        </p:spPr>
      </p:pic>
      <p:pic>
        <p:nvPicPr>
          <p:cNvPr id="16" name="Imagen 15">
            <a:extLst>
              <a:ext uri="{FF2B5EF4-FFF2-40B4-BE49-F238E27FC236}">
                <a16:creationId xmlns:a16="http://schemas.microsoft.com/office/drawing/2014/main" id="{7A7F9AFC-9FF5-4F48-9E06-595323B49044}"/>
              </a:ext>
            </a:extLst>
          </p:cNvPr>
          <p:cNvPicPr/>
          <p:nvPr/>
        </p:nvPicPr>
        <p:blipFill>
          <a:blip r:embed="rId5">
            <a:extLst>
              <a:ext uri="{28A0092B-C50C-407E-A947-70E740481C1C}">
                <a14:useLocalDpi xmlns:a14="http://schemas.microsoft.com/office/drawing/2010/main" val="0"/>
              </a:ext>
            </a:extLst>
          </a:blip>
          <a:stretch>
            <a:fillRect/>
          </a:stretch>
        </p:blipFill>
        <p:spPr>
          <a:xfrm>
            <a:off x="6536382" y="749847"/>
            <a:ext cx="5099601" cy="4114383"/>
          </a:xfrm>
          <a:prstGeom prst="rect">
            <a:avLst/>
          </a:prstGeom>
        </p:spPr>
      </p:pic>
    </p:spTree>
    <p:extLst>
      <p:ext uri="{BB962C8B-B14F-4D97-AF65-F5344CB8AC3E}">
        <p14:creationId xmlns:p14="http://schemas.microsoft.com/office/powerpoint/2010/main" val="403721197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84—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85—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478297AB-B676-4C5D-B6DB-B38DCA301408}"/>
              </a:ext>
            </a:extLst>
          </p:cNvPr>
          <p:cNvPicPr/>
          <p:nvPr/>
        </p:nvPicPr>
        <p:blipFill>
          <a:blip r:embed="rId4">
            <a:extLst>
              <a:ext uri="{28A0092B-C50C-407E-A947-70E740481C1C}">
                <a14:useLocalDpi xmlns:a14="http://schemas.microsoft.com/office/drawing/2010/main" val="0"/>
              </a:ext>
            </a:extLst>
          </a:blip>
          <a:stretch>
            <a:fillRect/>
          </a:stretch>
        </p:blipFill>
        <p:spPr>
          <a:xfrm>
            <a:off x="274320" y="813054"/>
            <a:ext cx="5099601" cy="4016501"/>
          </a:xfrm>
          <a:prstGeom prst="rect">
            <a:avLst/>
          </a:prstGeom>
        </p:spPr>
      </p:pic>
      <p:pic>
        <p:nvPicPr>
          <p:cNvPr id="13" name="Imagen 12">
            <a:extLst>
              <a:ext uri="{FF2B5EF4-FFF2-40B4-BE49-F238E27FC236}">
                <a16:creationId xmlns:a16="http://schemas.microsoft.com/office/drawing/2014/main" id="{ACE9E3A0-B74A-4F2B-B7E1-8009B6134884}"/>
              </a:ext>
            </a:extLst>
          </p:cNvPr>
          <p:cNvPicPr/>
          <p:nvPr/>
        </p:nvPicPr>
        <p:blipFill>
          <a:blip r:embed="rId5">
            <a:extLst>
              <a:ext uri="{28A0092B-C50C-407E-A947-70E740481C1C}">
                <a14:useLocalDpi xmlns:a14="http://schemas.microsoft.com/office/drawing/2010/main" val="0"/>
              </a:ext>
            </a:extLst>
          </a:blip>
          <a:stretch>
            <a:fillRect/>
          </a:stretch>
        </p:blipFill>
        <p:spPr>
          <a:xfrm>
            <a:off x="6607450" y="813055"/>
            <a:ext cx="5028534" cy="4016500"/>
          </a:xfrm>
          <a:prstGeom prst="rect">
            <a:avLst/>
          </a:prstGeom>
        </p:spPr>
      </p:pic>
    </p:spTree>
    <p:extLst>
      <p:ext uri="{BB962C8B-B14F-4D97-AF65-F5344CB8AC3E}">
        <p14:creationId xmlns:p14="http://schemas.microsoft.com/office/powerpoint/2010/main" val="383761626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86—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87—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ACE9E3A0-B74A-4F2B-B7E1-8009B6134884}"/>
              </a:ext>
            </a:extLst>
          </p:cNvPr>
          <p:cNvPicPr/>
          <p:nvPr/>
        </p:nvPicPr>
        <p:blipFill>
          <a:blip r:embed="rId4"/>
          <a:srcRect/>
          <a:stretch/>
        </p:blipFill>
        <p:spPr>
          <a:xfrm>
            <a:off x="6607450" y="1038993"/>
            <a:ext cx="5028534" cy="3564623"/>
          </a:xfrm>
          <a:prstGeom prst="rect">
            <a:avLst/>
          </a:prstGeom>
        </p:spPr>
      </p:pic>
      <p:pic>
        <p:nvPicPr>
          <p:cNvPr id="11" name="Imagen 10">
            <a:extLst>
              <a:ext uri="{FF2B5EF4-FFF2-40B4-BE49-F238E27FC236}">
                <a16:creationId xmlns:a16="http://schemas.microsoft.com/office/drawing/2014/main" id="{B4BB8278-956E-4087-AEE8-6D5AE12D0785}"/>
              </a:ext>
            </a:extLst>
          </p:cNvPr>
          <p:cNvPicPr/>
          <p:nvPr/>
        </p:nvPicPr>
        <p:blipFill>
          <a:blip r:embed="rId5">
            <a:extLst>
              <a:ext uri="{28A0092B-C50C-407E-A947-70E740481C1C}">
                <a14:useLocalDpi xmlns:a14="http://schemas.microsoft.com/office/drawing/2010/main" val="0"/>
              </a:ext>
            </a:extLst>
          </a:blip>
          <a:stretch>
            <a:fillRect/>
          </a:stretch>
        </p:blipFill>
        <p:spPr>
          <a:xfrm>
            <a:off x="320040" y="893263"/>
            <a:ext cx="5028534" cy="4016500"/>
          </a:xfrm>
          <a:prstGeom prst="rect">
            <a:avLst/>
          </a:prstGeom>
        </p:spPr>
      </p:pic>
    </p:spTree>
    <p:extLst>
      <p:ext uri="{BB962C8B-B14F-4D97-AF65-F5344CB8AC3E}">
        <p14:creationId xmlns:p14="http://schemas.microsoft.com/office/powerpoint/2010/main" val="340791785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12" name="TextBox 16">
            <a:extLst>
              <a:ext uri="{FF2B5EF4-FFF2-40B4-BE49-F238E27FC236}">
                <a16:creationId xmlns:a16="http://schemas.microsoft.com/office/drawing/2014/main" id="{7B305629-F234-40F9-AA87-AA6BFB073DFB}"/>
              </a:ext>
            </a:extLst>
          </p:cNvPr>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a:t>
            </a:r>
          </a:p>
        </p:txBody>
      </p:sp>
      <p:sp>
        <p:nvSpPr>
          <p:cNvPr id="16" name="CuadroTexto 15">
            <a:extLst>
              <a:ext uri="{FF2B5EF4-FFF2-40B4-BE49-F238E27FC236}">
                <a16:creationId xmlns:a16="http://schemas.microsoft.com/office/drawing/2014/main" id="{13AA8040-65B7-4B73-B893-E8810EA99AA6}"/>
              </a:ext>
            </a:extLst>
          </p:cNvPr>
          <p:cNvSpPr txBox="1"/>
          <p:nvPr/>
        </p:nvSpPr>
        <p:spPr>
          <a:xfrm>
            <a:off x="274319" y="1406663"/>
            <a:ext cx="11597335" cy="3742307"/>
          </a:xfrm>
          <a:prstGeom prst="rect">
            <a:avLst/>
          </a:prstGeom>
          <a:noFill/>
        </p:spPr>
        <p:txBody>
          <a:bodyPr wrap="square">
            <a:spAutoFit/>
          </a:bodyPr>
          <a:lstStyle/>
          <a:p>
            <a:r>
              <a:rPr lang="es-MX" sz="1600" dirty="0"/>
              <a:t>Con la frecuencia inicial del modulador, el sistema presenta comportamiento inestable. El modulador no logra seguir las variaciones de las tensiones de referencia, por lo que la planta recibe valores incorrectos en sus entradas.</a:t>
            </a:r>
          </a:p>
          <a:p>
            <a:endParaRPr lang="es-MX" sz="1600" dirty="0"/>
          </a:p>
          <a:p>
            <a:r>
              <a:rPr lang="es-MX" sz="1600" dirty="0"/>
              <a:t>Al incrementar la frecuencia natural del modulador se obtiene una mejora significativa: el modulador sigue con mayor fidelidad las tensiones de referencia, logrando una representación más precisa de la dinámica real.</a:t>
            </a:r>
          </a:p>
          <a:p>
            <a:endParaRPr lang="es-MX" sz="1600" dirty="0"/>
          </a:p>
          <a:p>
            <a:r>
              <a:rPr lang="es-MX" sz="1600" dirty="0"/>
              <a:t>Condición necesaria para el correcto funcionamiento: el modulador debe poseer una dinámica considerablemente más rápida que la del resto del sistema. Se obtiene un desempeño adecuado para valores de frecuencia del orden del triple de la inicial.</a:t>
            </a:r>
          </a:p>
          <a:p>
            <a:endParaRPr lang="es-MX" sz="1600" dirty="0"/>
          </a:p>
          <a:p>
            <a:pPr algn="just">
              <a:lnSpc>
                <a:spcPct val="107000"/>
              </a:lnSpc>
              <a:spcAft>
                <a:spcPts val="800"/>
              </a:spcAft>
            </a:pPr>
            <a:r>
              <a:rPr lang="es-AR" sz="1600" dirty="0">
                <a:effectLst/>
                <a:ea typeface="Calibri" panose="020F0502020204030204" pitchFamily="34" charset="0"/>
                <a:cs typeface="Times New Roman" panose="02020603050405020304" pitchFamily="18" charset="0"/>
              </a:rPr>
              <a:t>En caso de contar con sensores no ideales, es necesario que el modulador presente una frecuencia aún mayor para compensar las limitaciones introducidas por estos.</a:t>
            </a:r>
          </a:p>
          <a:p>
            <a:pPr marL="285750" indent="-285750">
              <a:buFont typeface="Arial" panose="020B0604020202020204" pitchFamily="34" charset="0"/>
              <a:buChar char="•"/>
            </a:pPr>
            <a:r>
              <a:rPr lang="es-MX" sz="1600" dirty="0"/>
              <a:t>Con sensores ideales, basta con que el modulador sea suficientemente más rápido que la planta.</a:t>
            </a:r>
          </a:p>
          <a:p>
            <a:pPr marL="285750" indent="-285750">
              <a:buFont typeface="Arial" panose="020B0604020202020204" pitchFamily="34" charset="0"/>
              <a:buChar char="•"/>
            </a:pPr>
            <a:r>
              <a:rPr lang="es-MX" sz="1600" dirty="0"/>
              <a:t>Con sensores no ideales (dinámica más lenta), el modulador debe operar a una frecuencia aún mayor para compensar las limitaciones introducidas por estos y garantizar estabilidad.</a:t>
            </a:r>
          </a:p>
        </p:txBody>
      </p:sp>
    </p:spTree>
    <p:extLst>
      <p:ext uri="{BB962C8B-B14F-4D97-AF65-F5344CB8AC3E}">
        <p14:creationId xmlns:p14="http://schemas.microsoft.com/office/powerpoint/2010/main" val="411955718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Sistema continuo completo — Parámetros finales del controlador</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13" name="CuadroTexto 12">
            <a:extLst>
              <a:ext uri="{FF2B5EF4-FFF2-40B4-BE49-F238E27FC236}">
                <a16:creationId xmlns:a16="http://schemas.microsoft.com/office/drawing/2014/main" id="{80E6232C-4CE1-44D3-81B4-072AE205783C}"/>
              </a:ext>
            </a:extLst>
          </p:cNvPr>
          <p:cNvSpPr txBox="1"/>
          <p:nvPr/>
        </p:nvSpPr>
        <p:spPr>
          <a:xfrm>
            <a:off x="274320" y="878799"/>
            <a:ext cx="11795759" cy="830997"/>
          </a:xfrm>
          <a:prstGeom prst="rect">
            <a:avLst/>
          </a:prstGeom>
          <a:noFill/>
        </p:spPr>
        <p:txBody>
          <a:bodyPr wrap="square">
            <a:spAutoFit/>
          </a:bodyPr>
          <a:lstStyle/>
          <a:p>
            <a:pPr algn="just"/>
            <a:r>
              <a:rPr lang="es-AR" sz="1600" dirty="0">
                <a:effectLst/>
                <a:latin typeface="Calibri" panose="020F0502020204030204" pitchFamily="34" charset="0"/>
                <a:ea typeface="Times New Roman" panose="02020603050405020304" pitchFamily="18" charset="0"/>
              </a:rPr>
              <a:t>El controlador completo integra, en orden, los bloques desarrollados a lo largo del trabajo: set-point, observador aumentado con acción integral, PID externo, modulador de torque, lazos de corriente, modulador de tensión no ideal y sensores no ideales. Todos los parámetros se conservan sin modificación al pasar a tiempo discreto. Resumen de parámetros:</a:t>
            </a:r>
            <a:endParaRPr lang="es-AR"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𝑏</m:t>
                                    </m:r>
                                  </m:e>
                                  <m:sub>
                                    <m:r>
                                      <a:rPr lang="es-AR" sz="1400">
                                        <a:effectLst/>
                                        <a:latin typeface="Cambria Math" panose="02040503050406030204" pitchFamily="18" charset="0"/>
                                      </a:rPr>
                                      <m:t>𝑎</m:t>
                                    </m:r>
                                  </m:sub>
                                </m:sSub>
                                <m:r>
                                  <a:rPr lang="es-AR" sz="1400">
                                    <a:effectLst/>
                                    <a:latin typeface="Cambria Math" panose="02040503050406030204" pitchFamily="18" charset="0"/>
                                  </a:rPr>
                                  <m:t>=0.03957</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𝑠𝑎</m:t>
                                    </m:r>
                                  </m:sub>
                                </m:sSub>
                                <m:r>
                                  <a:rPr lang="es-AR" sz="1400">
                                    <a:effectLst/>
                                    <a:latin typeface="Cambria Math" panose="02040503050406030204" pitchFamily="18" charset="0"/>
                                  </a:rPr>
                                  <m:t>=31.6556</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𝑠𝑖𝑎</m:t>
                                    </m:r>
                                  </m:sub>
                                </m:sSub>
                                <m:r>
                                  <a:rPr lang="es-AR" sz="1400">
                                    <a:effectLst/>
                                    <a:latin typeface="Cambria Math" panose="02040503050406030204" pitchFamily="18" charset="0"/>
                                  </a:rPr>
                                  <m:t>=10129.78</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𝑘</m:t>
                                    </m:r>
                                  </m:e>
                                  <m:sub>
                                    <m:r>
                                      <a:rPr lang="es-AR" sz="1400">
                                        <a:effectLst/>
                                        <a:latin typeface="Cambria Math" panose="02040503050406030204" pitchFamily="18" charset="0"/>
                                      </a:rPr>
                                      <m:t>𝜃</m:t>
                                    </m:r>
                                    <m:r>
                                      <a:rPr lang="es-AR" sz="1400">
                                        <a:effectLst/>
                                        <a:latin typeface="Cambria Math" panose="02040503050406030204" pitchFamily="18" charset="0"/>
                                      </a:rPr>
                                      <m:t>​</m:t>
                                    </m:r>
                                  </m:sub>
                                </m:sSub>
                                <m:r>
                                  <a:rPr lang="es-AR" sz="1400">
                                    <a:effectLst/>
                                    <a:latin typeface="Cambria Math" panose="02040503050406030204" pitchFamily="18" charset="0"/>
                                  </a:rPr>
                                  <m:t>=9.6×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3</m:t>
                                    </m:r>
                                  </m:sup>
                                </m:sSup>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𝜔</m:t>
                                    </m:r>
                                    <m:r>
                                      <a:rPr lang="es-AR" sz="1400">
                                        <a:effectLst/>
                                        <a:latin typeface="Cambria Math" panose="02040503050406030204" pitchFamily="18" charset="0"/>
                                      </a:rPr>
                                      <m:t>​</m:t>
                                    </m:r>
                                  </m:sub>
                                </m:sSub>
                                <m:r>
                                  <a:rPr lang="es-AR" sz="1400">
                                    <a:effectLst/>
                                    <a:latin typeface="Cambria Math" panose="02040503050406030204" pitchFamily="18" charset="0"/>
                                  </a:rPr>
                                  <m:t>=3.072×</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7</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2</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𝑖</m:t>
                                    </m:r>
                                  </m:sub>
                                </m:sSub>
                                <m:r>
                                  <a:rPr lang="es-AR" sz="1400">
                                    <a:effectLst/>
                                    <a:latin typeface="Cambria Math" panose="02040503050406030204" pitchFamily="18" charset="0"/>
                                  </a:rPr>
                                  <m:t>=3.2768×</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10</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3</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𝑅</m:t>
                                    </m:r>
                                  </m:e>
                                  <m:sub>
                                    <m:r>
                                      <a:rPr lang="es-AR" sz="1400">
                                        <a:effectLst/>
                                        <a:latin typeface="Cambria Math" panose="02040503050406030204" pitchFamily="18" charset="0"/>
                                      </a:rPr>
                                      <m:t>𝑞</m:t>
                                    </m:r>
                                  </m:sub>
                                  <m:sup>
                                    <m:r>
                                      <a:rPr lang="es-AR" sz="1400">
                                        <a:effectLst/>
                                        <a:latin typeface="Cambria Math" panose="02040503050406030204" pitchFamily="18" charset="0"/>
                                      </a:rPr>
                                      <m:t>′</m:t>
                                    </m:r>
                                  </m:sup>
                                </m:sSubSup>
                                <m:r>
                                  <a:rPr lang="es-AR" sz="1400">
                                    <a:effectLst/>
                                    <a:latin typeface="Cambria Math" panose="02040503050406030204" pitchFamily="18" charset="0"/>
                                  </a:rPr>
                                  <m:t>=29 </m:t>
                                </m:r>
                                <m:r>
                                  <a:rPr lang="es-AR" sz="1400">
                                    <a:effectLst/>
                                    <a:latin typeface="Cambria Math" panose="02040503050406030204" pitchFamily="18" charset="0"/>
                                  </a:rPr>
                                  <m:t>𝛺</m:t>
                                </m:r>
                                <m:r>
                                  <a:rPr lang="es-AR" sz="1400">
                                    <a:effectLst/>
                                    <a:latin typeface="Cambria Math" panose="02040503050406030204" pitchFamily="18" charset="0"/>
                                  </a:rPr>
                                  <m:t>,</m:t>
                                </m:r>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 </m:t>
                                    </m:r>
                                    <m:r>
                                      <a:rPr lang="es-AR" sz="1400">
                                        <a:effectLst/>
                                        <a:latin typeface="Cambria Math" panose="02040503050406030204" pitchFamily="18" charset="0"/>
                                      </a:rPr>
                                      <m:t>𝑅</m:t>
                                    </m:r>
                                  </m:e>
                                  <m:sub>
                                    <m:r>
                                      <a:rPr lang="es-AR" sz="1400">
                                        <a:effectLst/>
                                        <a:latin typeface="Cambria Math" panose="02040503050406030204" pitchFamily="18" charset="0"/>
                                      </a:rPr>
                                      <m:t>𝑑</m:t>
                                    </m:r>
                                  </m:sub>
                                  <m:sup>
                                    <m:r>
                                      <a:rPr lang="es-AR" sz="1400">
                                        <a:effectLst/>
                                        <a:latin typeface="Cambria Math" panose="02040503050406030204" pitchFamily="18" charset="0"/>
                                      </a:rPr>
                                      <m:t>′</m:t>
                                    </m:r>
                                  </m:sup>
                                </m:sSubSup>
                                <m:r>
                                  <a:rPr lang="es-AR" sz="1400">
                                    <a:effectLst/>
                                    <a:latin typeface="Cambria Math" panose="02040503050406030204" pitchFamily="18" charset="0"/>
                                  </a:rPr>
                                  <m:t>=33 </m:t>
                                </m:r>
                                <m:r>
                                  <a:rPr lang="es-AR" sz="1400">
                                    <a:effectLst/>
                                    <a:latin typeface="Cambria Math" panose="02040503050406030204" pitchFamily="18" charset="0"/>
                                  </a:rPr>
                                  <m:t>𝛺</m:t>
                                </m:r>
                                <m:r>
                                  <a:rPr lang="es-AR" sz="1400">
                                    <a:effectLst/>
                                    <a:latin typeface="Cambria Math" panose="02040503050406030204" pitchFamily="18" charset="0"/>
                                  </a:rPr>
                                  <m:t>, </m:t>
                                </m:r>
                                <m:r>
                                  <a:rPr lang="es-AR" sz="1400">
                                    <a:effectLst/>
                                    <a:latin typeface="Cambria Math" panose="02040503050406030204" pitchFamily="18" charset="0"/>
                                  </a:rPr>
                                  <m:t>𝑐𝑜𝑛</m:t>
                                </m:r>
                                <m:r>
                                  <a:rPr lang="es-AR" sz="1400">
                                    <a:effectLst/>
                                    <a:latin typeface="Cambria Math" panose="02040503050406030204" pitchFamily="18" charset="0"/>
                                  </a:rPr>
                                  <m:t> </m:t>
                                </m:r>
                                <m:r>
                                  <a:rPr lang="es-AR" sz="1400">
                                    <a:effectLst/>
                                    <a:latin typeface="Cambria Math" panose="02040503050406030204" pitchFamily="18" charset="0"/>
                                  </a:rPr>
                                  <m:t>𝑝𝑜𝑙𝑜</m:t>
                                </m:r>
                                <m:r>
                                  <a:rPr lang="es-AR" sz="1400">
                                    <a:effectLst/>
                                    <a:latin typeface="Cambria Math" panose="02040503050406030204" pitchFamily="18" charset="0"/>
                                  </a:rPr>
                                  <m:t> </m:t>
                                </m:r>
                                <m:r>
                                  <a:rPr lang="es-AR" sz="1400">
                                    <a:effectLst/>
                                    <a:latin typeface="Cambria Math" panose="02040503050406030204" pitchFamily="18" charset="0"/>
                                  </a:rPr>
                                  <m:t>𝑒𝑛</m:t>
                                </m:r>
                                <m:r>
                                  <a:rPr lang="es-AR" sz="1400">
                                    <a:effectLst/>
                                    <a:latin typeface="Cambria Math" panose="02040503050406030204" pitchFamily="18" charset="0"/>
                                  </a:rPr>
                                  <m:t> </m:t>
                                </m:r>
                                <m:r>
                                  <a:rPr lang="es-AR" sz="1400">
                                    <a:effectLst/>
                                    <a:latin typeface="Cambria Math" panose="02040503050406030204" pitchFamily="18" charset="0"/>
                                  </a:rPr>
                                  <m:t>𝑝</m:t>
                                </m:r>
                                <m:r>
                                  <a:rPr lang="es-AR" sz="1400">
                                    <a:effectLst/>
                                    <a:latin typeface="Cambria Math" panose="02040503050406030204" pitchFamily="18" charset="0"/>
                                  </a:rPr>
                                  <m:t>=−5000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1°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736480092"/>
                      </a:ext>
                    </a:extLst>
                  </a:tr>
                </a:tbl>
              </a:graphicData>
            </a:graphic>
          </p:graphicFrame>
        </mc:Choice>
        <mc:Fallback xmlns="">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7009" r="-300" b="-520561"/>
                          </a:stretch>
                        </a:blipFill>
                      </a:tcPr>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157009" r="-300" b="-420561"/>
                          </a:stretch>
                        </a:blipFill>
                      </a:tcPr>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335366" r="-300" b="-448780"/>
                          </a:stretch>
                        </a:blipFill>
                      </a:tcPr>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446250" r="-300" b="-360000"/>
                          </a:stretch>
                        </a:blipFill>
                      </a:tcPr>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20238" r="-300" b="-242857"/>
                          </a:stretch>
                        </a:blipFill>
                      </a:tcPr>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627711" r="-300" b="-145783"/>
                          </a:stretch>
                        </a:blipFill>
                      </a:tcPr>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745679" r="-300" b="-49383"/>
                          </a:stretch>
                        </a:blipFill>
                      </a:tcPr>
                    </a:tc>
                    <a:extLst>
                      <a:ext uri="{0D108BD9-81ED-4DB2-BD59-A6C34878D82A}">
                        <a16:rowId xmlns:a16="http://schemas.microsoft.com/office/drawing/2014/main" val="1736480092"/>
                      </a:ext>
                    </a:extLst>
                  </a:tr>
                </a:tbl>
              </a:graphicData>
            </a:graphic>
          </p:graphicFrame>
        </mc:Fallback>
      </mc:AlternateContent>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71172" y="722376"/>
            <a:ext cx="11551614" cy="307777"/>
          </a:xfrm>
          <a:prstGeom prst="rect">
            <a:avLst/>
          </a:prstGeom>
          <a:noFill/>
        </p:spPr>
        <p:txBody>
          <a:bodyPr wrap="square">
            <a:spAutoFit/>
          </a:bodyPr>
          <a:lstStyle/>
          <a:p>
            <a:pPr algn="l"/>
            <a:r>
              <a:rPr lang="es-MX" sz="1400" b="0" i="0" dirty="0">
                <a:solidFill>
                  <a:srgbClr val="1A1A2E"/>
                </a:solidFill>
                <a:latin typeface="Calibri"/>
              </a:rPr>
              <a:t>Se toma el siguiente periodo de muestreo </a:t>
            </a:r>
            <a:r>
              <a:rPr lang="es-AR" sz="1400" dirty="0">
                <a:effectLst/>
                <a:latin typeface="Calibri" panose="020F0502020204030204" pitchFamily="34" charset="0"/>
                <a:ea typeface="Calibri" panose="020F0502020204030204" pitchFamily="34" charset="0"/>
              </a:rPr>
              <a:t>para minimizar errores de reconstrucción y estimación en el observador</a:t>
            </a:r>
            <a:r>
              <a:rPr lang="es-MX" sz="1400" b="0" i="0" dirty="0">
                <a:solidFill>
                  <a:srgbClr val="1A1A2E"/>
                </a:solidFill>
                <a:latin typeface="Calibri"/>
              </a:rPr>
              <a:t>: </a:t>
            </a:r>
            <a:endParaRPr sz="1400" b="0" i="0" dirty="0">
              <a:solidFill>
                <a:srgbClr val="1A1A2E"/>
              </a:solidFill>
              <a:latin typeface="Calibri"/>
            </a:endParaRPr>
          </a:p>
        </p:txBody>
      </p:sp>
      <p:sp>
        <p:nvSpPr>
          <p:cNvPr id="8" name="Rectangle 7"/>
          <p:cNvSpPr/>
          <p:nvPr/>
        </p:nvSpPr>
        <p:spPr>
          <a:xfrm>
            <a:off x="157427" y="1103305"/>
            <a:ext cx="1168877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084" y="1121593"/>
                <a:ext cx="11465359" cy="406778"/>
              </a:xfrm>
              <a:prstGeom prst="rect">
                <a:avLst/>
              </a:prstGeom>
              <a:noFill/>
            </p:spPr>
            <p:txBody>
              <a:bodyPr wrap="square">
                <a:spAutoFit/>
              </a:bodyPr>
              <a:lstStyle/>
              <a:p>
                <a:pPr algn="ct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r>
                      <a:rPr lang="es-AR" sz="1400" i="1">
                        <a:effectLst/>
                        <a:latin typeface="Cambria Math" panose="02040503050406030204" pitchFamily="18" charset="0"/>
                        <a:ea typeface="Calibri" panose="020F0502020204030204" pitchFamily="34" charset="0"/>
                        <a:cs typeface="Cambria Math" panose="020405030504060302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𝑐𝑜𝑟𝑟𝑖𝑒𝑛𝑡𝑒</m:t>
                        </m:r>
                      </m:sub>
                    </m:sSub>
                    <m:r>
                      <a:rPr lang="es-AR" sz="1400" i="1">
                        <a:latin typeface="Cambria Math" panose="02040503050406030204" pitchFamily="18" charset="0"/>
                      </a:rPr>
                      <m:t>​=−5000</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r>
                      <a:rPr lang="es-AR" sz="1400" i="1">
                        <a:latin typeface="Cambria Math" panose="02040503050406030204" pitchFamily="18" charset="0"/>
                      </a:rPr>
                      <m:t>​      ⟹     </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𝑚𝑎𝑥</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r>
                          <a:rPr lang="es-AR" sz="1400" i="1">
                            <a:latin typeface="Cambria Math" panose="02040503050406030204" pitchFamily="18" charset="0"/>
                          </a:rPr>
                          <m:t>𝑝</m:t>
                        </m:r>
                        <m:r>
                          <a:rPr lang="es-AR" sz="1400" i="1">
                            <a:latin typeface="Cambria Math" panose="02040503050406030204" pitchFamily="18" charset="0"/>
                          </a:rPr>
                          <m:t>∣</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5000</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​≈796</m:t>
                    </m:r>
                    <m:r>
                      <a:rPr lang="es-AR" sz="1400" i="1">
                        <a:latin typeface="Cambria Math" panose="02040503050406030204" pitchFamily="18" charset="0"/>
                      </a:rPr>
                      <m:t>𝐻𝑧</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m:rPr>
                            <m:sty m:val="p"/>
                          </m:rPr>
                          <a:rPr lang="es-AR" sz="1400">
                            <a:latin typeface="Cambria Math" panose="02040503050406030204" pitchFamily="18" charset="0"/>
                          </a:rPr>
                          <m:t>π</m:t>
                        </m:r>
                      </m:num>
                      <m:den>
                        <m:r>
                          <a:rPr lang="es-AR" sz="1400" i="1">
                            <a:latin typeface="Cambria Math" panose="02040503050406030204" pitchFamily="18" charset="0"/>
                          </a:rPr>
                          <m:t>10⋅5000</m:t>
                        </m:r>
                      </m:den>
                    </m:f>
                    <m:r>
                      <a:rPr lang="es-AR" sz="1400">
                        <a:latin typeface="Cambria Math" panose="02040503050406030204" pitchFamily="18" charset="0"/>
                      </a:rPr>
                      <m:t>≈1.2566×</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−4</m:t>
                        </m:r>
                      </m:sup>
                    </m:sSup>
                    <m:r>
                      <m:rPr>
                        <m:sty m:val="p"/>
                      </m:rPr>
                      <a:rPr lang="es-AR" sz="1400">
                        <a:latin typeface="Cambria Math" panose="02040503050406030204" pitchFamily="18" charset="0"/>
                      </a:rPr>
                      <m:t>s</m:t>
                    </m:r>
                    <m:r>
                      <a:rPr lang="es-MX" sz="1400" b="0" i="1"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𝑓</m:t>
                    </m:r>
                    <m:r>
                      <a:rPr lang="es-AR" sz="1400" i="1">
                        <a:latin typeface="Cambria Math" panose="02040503050406030204" pitchFamily="18" charset="0"/>
                      </a:rPr>
                      <m:t>≈7958</m:t>
                    </m:r>
                    <m:r>
                      <a:rPr lang="es-AR" sz="1400">
                        <a:latin typeface="Cambria Math" panose="02040503050406030204" pitchFamily="18" charset="0"/>
                      </a:rPr>
                      <m:t> </m:t>
                    </m:r>
                    <m:r>
                      <m:rPr>
                        <m:sty m:val="p"/>
                      </m:rPr>
                      <a:rPr lang="es-AR" sz="1400">
                        <a:latin typeface="Cambria Math" panose="02040503050406030204" pitchFamily="18" charset="0"/>
                      </a:rPr>
                      <m:t>Hz</m:t>
                    </m:r>
                  </m:oMath>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084" y="1121593"/>
                <a:ext cx="11465359" cy="406778"/>
              </a:xfrm>
              <a:prstGeom prst="rect">
                <a:avLst/>
              </a:prstGeom>
              <a:blipFill>
                <a:blip r:embed="rId2"/>
                <a:stretch>
                  <a:fillRect b="-2985"/>
                </a:stretch>
              </a:blipFill>
            </p:spPr>
            <p:txBody>
              <a:bodyPr/>
              <a:lstStyle/>
              <a:p>
                <a:r>
                  <a:rPr lang="es-AR">
                    <a:noFill/>
                  </a:rPr>
                  <a:t> </a:t>
                </a:r>
              </a:p>
            </p:txBody>
          </p:sp>
        </mc:Fallback>
      </mc:AlternateContent>
      <p:sp>
        <p:nvSpPr>
          <p:cNvPr id="10" name="TextBox 9"/>
          <p:cNvSpPr txBox="1"/>
          <p:nvPr/>
        </p:nvSpPr>
        <p:spPr>
          <a:xfrm>
            <a:off x="0" y="2693250"/>
            <a:ext cx="7772400" cy="338554"/>
          </a:xfrm>
          <a:prstGeom prst="rect">
            <a:avLst/>
          </a:prstGeom>
          <a:noFill/>
        </p:spPr>
        <p:txBody>
          <a:bodyPr wrap="square">
            <a:spAutoFit/>
          </a:bodyPr>
          <a:lstStyle/>
          <a:p>
            <a:pPr algn="l"/>
            <a:r>
              <a:rPr lang="es-MX" sz="1600" b="1" i="0" dirty="0">
                <a:solidFill>
                  <a:srgbClr val="1A3A6B"/>
                </a:solidFill>
                <a:latin typeface="Calibri"/>
              </a:rPr>
              <a:t>Método de Tustin:</a:t>
            </a:r>
            <a:endParaRPr sz="1600" b="1" i="0" dirty="0">
              <a:solidFill>
                <a:srgbClr val="1A3A6B"/>
              </a:solidFill>
              <a:latin typeface="Calibri"/>
            </a:endParaRPr>
          </a:p>
        </p:txBody>
      </p:sp>
      <p:sp>
        <p:nvSpPr>
          <p:cNvPr id="11" name="Rectangle 10"/>
          <p:cNvSpPr/>
          <p:nvPr/>
        </p:nvSpPr>
        <p:spPr>
          <a:xfrm>
            <a:off x="71172" y="3463175"/>
            <a:ext cx="11775028"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63951" y="3425632"/>
                <a:ext cx="4056825" cy="49423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f>
                        <m:fPr>
                          <m:ctrlPr>
                            <a:rPr lang="es-AR" sz="1400" i="1">
                              <a:effectLst/>
                              <a:latin typeface="Cambria Math" panose="02040503050406030204" pitchFamily="18" charset="0"/>
                            </a:rPr>
                          </m:ctrlPr>
                        </m:fPr>
                        <m:num>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951" y="3425632"/>
                <a:ext cx="4056825" cy="494238"/>
              </a:xfrm>
              <a:prstGeom prst="rect">
                <a:avLst/>
              </a:prstGeom>
              <a:blipFill>
                <a:blip r:embed="rId3"/>
                <a:stretch>
                  <a:fillRect b="-1235"/>
                </a:stretch>
              </a:blipFill>
            </p:spPr>
            <p:txBody>
              <a:bodyPr/>
              <a:lstStyle/>
              <a:p>
                <a:r>
                  <a:rPr lang="es-AR">
                    <a:noFill/>
                  </a:rPr>
                  <a:t> </a:t>
                </a:r>
              </a:p>
            </p:txBody>
          </p:sp>
        </mc:Fallback>
      </mc:AlternateContent>
      <p:sp>
        <p:nvSpPr>
          <p:cNvPr id="13" name="TextBox 12"/>
          <p:cNvSpPr txBox="1"/>
          <p:nvPr/>
        </p:nvSpPr>
        <p:spPr>
          <a:xfrm>
            <a:off x="101571" y="4070170"/>
            <a:ext cx="11714228"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 diferencia del método de Euler hacia adelante o hacia atrás, Tustin preserva la estabilidad del sistema continuo en el discreto y mantiene la frecuencia natural sin distorsión.</a:t>
            </a: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D25D1D9-9289-400B-A436-B0A1D9670563}"/>
                  </a:ext>
                </a:extLst>
              </p:cNvPr>
              <p:cNvSpPr txBox="1"/>
              <p:nvPr/>
            </p:nvSpPr>
            <p:spPr>
              <a:xfrm>
                <a:off x="71172" y="1724154"/>
                <a:ext cx="11775030" cy="910442"/>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Este valor garantiza que todos los modos dinámicos relevantes del sistema queden representados fielmente en tiempo discreto. </a:t>
                </a:r>
                <a:endParaRPr lang="es-AR" sz="1600" dirty="0">
                  <a:effectLst/>
                  <a:latin typeface="Times New Roman" panose="02020603050405020304" pitchFamily="18" charset="0"/>
                  <a:ea typeface="Times New Roman" panose="02020603050405020304" pitchFamily="18" charset="0"/>
                </a:endParaRPr>
              </a:p>
              <a:p>
                <a:pPr algn="just">
                  <a:spcBef>
                    <a:spcPts val="600"/>
                  </a:spcBef>
                </a:pPr>
                <a:r>
                  <a:rPr lang="es-AR" sz="1400" dirty="0">
                    <a:effectLst/>
                    <a:latin typeface="Calibri" panose="020F0502020204030204" pitchFamily="34" charset="0"/>
                    <a:ea typeface="Times New Roman" panose="02020603050405020304" pitchFamily="18" charset="0"/>
                  </a:rPr>
                  <a:t>Cabe destacar que los polos del observador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𝑜𝑏𝑠</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3200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 y del PID externo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𝑃𝐼𝐷</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800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son considerablemente más lentos que el lazo de corriente, por lo que la elección de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oMath>
                </a14:m>
                <a:r>
                  <a:rPr lang="es-AR" sz="1400" dirty="0">
                    <a:effectLst/>
                    <a:latin typeface="Calibri" panose="020F0502020204030204" pitchFamily="34" charset="0"/>
                    <a:ea typeface="Times New Roman" panose="02020603050405020304" pitchFamily="18" charset="0"/>
                  </a:rPr>
                  <a:t>​ basada en este último resulta suficientemente conservadora para todo 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0" name="CuadroTexto 19">
                <a:extLst>
                  <a:ext uri="{FF2B5EF4-FFF2-40B4-BE49-F238E27FC236}">
                    <a16:creationId xmlns:a16="http://schemas.microsoft.com/office/drawing/2014/main" id="{1D25D1D9-9289-400B-A436-B0A1D9670563}"/>
                  </a:ext>
                </a:extLst>
              </p:cNvPr>
              <p:cNvSpPr txBox="1">
                <a:spLocks noRot="1" noChangeAspect="1" noMove="1" noResize="1" noEditPoints="1" noAdjustHandles="1" noChangeArrowheads="1" noChangeShapeType="1" noTextEdit="1"/>
              </p:cNvSpPr>
              <p:nvPr/>
            </p:nvSpPr>
            <p:spPr>
              <a:xfrm>
                <a:off x="71172" y="1724154"/>
                <a:ext cx="11775030" cy="910442"/>
              </a:xfrm>
              <a:prstGeom prst="rect">
                <a:avLst/>
              </a:prstGeom>
              <a:blipFill>
                <a:blip r:embed="rId4"/>
                <a:stretch>
                  <a:fillRect l="-155" t="-1342" r="-207" b="-604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F982078-5C78-451D-B56C-4C7EE6BEBF04}"/>
                  </a:ext>
                </a:extLst>
              </p:cNvPr>
              <p:cNvSpPr txBox="1"/>
              <p:nvPr/>
            </p:nvSpPr>
            <p:spPr>
              <a:xfrm>
                <a:off x="71171" y="2979692"/>
                <a:ext cx="11775029" cy="424347"/>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método de Tustin reemplaza cada integración continua </a:t>
                </a:r>
                <a14:m>
                  <m:oMath xmlns:m="http://schemas.openxmlformats.org/officeDocument/2006/math">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𝑑𝑥</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la regla trapezoidal:</a:t>
                </a:r>
              </a:p>
            </p:txBody>
          </p:sp>
        </mc:Choice>
        <mc:Fallback xmlns="">
          <p:sp>
            <p:nvSpPr>
              <p:cNvPr id="22" name="CuadroTexto 21">
                <a:extLst>
                  <a:ext uri="{FF2B5EF4-FFF2-40B4-BE49-F238E27FC236}">
                    <a16:creationId xmlns:a16="http://schemas.microsoft.com/office/drawing/2014/main" id="{0F982078-5C78-451D-B56C-4C7EE6BEBF04}"/>
                  </a:ext>
                </a:extLst>
              </p:cNvPr>
              <p:cNvSpPr txBox="1">
                <a:spLocks noRot="1" noChangeAspect="1" noMove="1" noResize="1" noEditPoints="1" noAdjustHandles="1" noChangeArrowheads="1" noChangeShapeType="1" noTextEdit="1"/>
              </p:cNvSpPr>
              <p:nvPr/>
            </p:nvSpPr>
            <p:spPr>
              <a:xfrm>
                <a:off x="71171" y="2979692"/>
                <a:ext cx="11775029" cy="424347"/>
              </a:xfrm>
              <a:prstGeom prst="rect">
                <a:avLst/>
              </a:prstGeom>
              <a:blipFill>
                <a:blip r:embed="rId5"/>
                <a:stretch>
                  <a:fillRect l="-155" b="-4348"/>
                </a:stretch>
              </a:blipFill>
            </p:spPr>
            <p:txBody>
              <a:bodyPr/>
              <a:lstStyle/>
              <a:p>
                <a:r>
                  <a:rPr lang="es-AR">
                    <a:noFill/>
                  </a:rPr>
                  <a:t> </a:t>
                </a:r>
              </a:p>
            </p:txBody>
          </p:sp>
        </mc:Fallback>
      </mc:AlternateContent>
      <p:pic>
        <p:nvPicPr>
          <p:cNvPr id="23" name="Imagen 22">
            <a:extLst>
              <a:ext uri="{FF2B5EF4-FFF2-40B4-BE49-F238E27FC236}">
                <a16:creationId xmlns:a16="http://schemas.microsoft.com/office/drawing/2014/main" id="{AA1A926F-CE10-4BFD-A532-F8A8B1F8F134}"/>
              </a:ext>
            </a:extLst>
          </p:cNvPr>
          <p:cNvPicPr/>
          <p:nvPr/>
        </p:nvPicPr>
        <p:blipFill>
          <a:blip r:embed="rId6"/>
          <a:stretch>
            <a:fillRect/>
          </a:stretch>
        </p:blipFill>
        <p:spPr>
          <a:xfrm>
            <a:off x="3194479" y="4702468"/>
            <a:ext cx="5614670" cy="1221105"/>
          </a:xfrm>
          <a:prstGeom prst="rect">
            <a:avLst/>
          </a:prstGeom>
        </p:spPr>
      </p:pic>
      <p:sp>
        <p:nvSpPr>
          <p:cNvPr id="24" name="CuadroTexto 23">
            <a:extLst>
              <a:ext uri="{FF2B5EF4-FFF2-40B4-BE49-F238E27FC236}">
                <a16:creationId xmlns:a16="http://schemas.microsoft.com/office/drawing/2014/main" id="{42C1B375-B2A8-491B-BFDF-160134613C1A}"/>
              </a:ext>
            </a:extLst>
          </p:cNvPr>
          <p:cNvSpPr txBox="1"/>
          <p:nvPr/>
        </p:nvSpPr>
        <p:spPr>
          <a:xfrm>
            <a:off x="3979221" y="593187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89— Integrador por trapecios</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Imagen 27">
            <a:extLst>
              <a:ext uri="{FF2B5EF4-FFF2-40B4-BE49-F238E27FC236}">
                <a16:creationId xmlns:a16="http://schemas.microsoft.com/office/drawing/2014/main" id="{38B620A1-4024-498B-A692-8C5CEEEC50EC}"/>
              </a:ext>
            </a:extLst>
          </p:cNvPr>
          <p:cNvPicPr/>
          <p:nvPr/>
        </p:nvPicPr>
        <p:blipFill rotWithShape="1">
          <a:blip r:embed="rId2">
            <a:extLst>
              <a:ext uri="{28A0092B-C50C-407E-A947-70E740481C1C}">
                <a14:useLocalDpi xmlns:a14="http://schemas.microsoft.com/office/drawing/2010/main" val="0"/>
              </a:ext>
            </a:extLst>
          </a:blip>
          <a:srcRect b="10462"/>
          <a:stretch/>
        </p:blipFill>
        <p:spPr bwMode="auto">
          <a:xfrm>
            <a:off x="5631229" y="3829102"/>
            <a:ext cx="6455386" cy="2493264"/>
          </a:xfrm>
          <a:prstGeom prst="rect">
            <a:avLst/>
          </a:prstGeom>
          <a:ln>
            <a:noFill/>
          </a:ln>
          <a:extLst>
            <a:ext uri="{53640926-AAD7-44D8-BBD7-CCE9431645EC}">
              <a14:shadowObscured xmlns:a14="http://schemas.microsoft.com/office/drawing/2010/main"/>
            </a:ext>
          </a:extLst>
        </p:spPr>
      </p:pic>
      <p:sp>
        <p:nvSpPr>
          <p:cNvPr id="27" name="Rectangle 10">
            <a:extLst>
              <a:ext uri="{FF2B5EF4-FFF2-40B4-BE49-F238E27FC236}">
                <a16:creationId xmlns:a16="http://schemas.microsoft.com/office/drawing/2014/main" id="{731945F5-DBAB-4273-8C1E-F2D6D618DA0A}"/>
              </a:ext>
            </a:extLst>
          </p:cNvPr>
          <p:cNvSpPr/>
          <p:nvPr/>
        </p:nvSpPr>
        <p:spPr>
          <a:xfrm>
            <a:off x="142347" y="3000154"/>
            <a:ext cx="3581241" cy="134672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0" name="TextBox 9"/>
          <p:cNvSpPr txBox="1"/>
          <p:nvPr/>
        </p:nvSpPr>
        <p:spPr>
          <a:xfrm>
            <a:off x="71171" y="691193"/>
            <a:ext cx="7772400" cy="338554"/>
          </a:xfrm>
          <a:prstGeom prst="rect">
            <a:avLst/>
          </a:prstGeom>
          <a:noFill/>
        </p:spPr>
        <p:txBody>
          <a:bodyPr wrap="square">
            <a:spAutoFit/>
          </a:bodyPr>
          <a:lstStyle/>
          <a:p>
            <a:pPr algn="l"/>
            <a:r>
              <a:rPr lang="es-MX" sz="1600" b="1" i="0" dirty="0">
                <a:solidFill>
                  <a:srgbClr val="1A3A6B"/>
                </a:solidFill>
                <a:latin typeface="Calibri"/>
              </a:rPr>
              <a:t>Ecuaciones en diferencias:</a:t>
            </a:r>
            <a:endParaRPr sz="1600" b="1" i="0" dirty="0">
              <a:solidFill>
                <a:srgbClr val="1A3A6B"/>
              </a:solidFill>
              <a:latin typeface="Calibri"/>
            </a:endParaRPr>
          </a:p>
        </p:txBody>
      </p:sp>
      <p:sp>
        <p:nvSpPr>
          <p:cNvPr id="11" name="Rectangle 10"/>
          <p:cNvSpPr/>
          <p:nvPr/>
        </p:nvSpPr>
        <p:spPr>
          <a:xfrm>
            <a:off x="142347" y="1537578"/>
            <a:ext cx="2877299" cy="54713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723746" y="1573808"/>
                <a:ext cx="4056825" cy="54713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den>
                      </m:f>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723746" y="1573808"/>
                <a:ext cx="4056825" cy="547137"/>
              </a:xfrm>
              <a:prstGeom prst="rect">
                <a:avLst/>
              </a:prstGeom>
              <a:blipFill>
                <a:blip r:embed="rId3"/>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958586"/>
            <a:ext cx="5441391" cy="543162"/>
          </a:xfrm>
          <a:prstGeom prst="rect">
            <a:avLst/>
          </a:prstGeom>
          <a:noFill/>
        </p:spPr>
        <p:txBody>
          <a:bodyPr wrap="square">
            <a:spAutoFit/>
          </a:bodyPr>
          <a:lstStyle/>
          <a:p>
            <a:pPr algn="just">
              <a:lnSpc>
                <a:spcPct val="107000"/>
              </a:lnSpc>
              <a:spcAft>
                <a:spcPts val="12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En el bloque </a:t>
            </a:r>
            <a:r>
              <a:rPr lang="es-AR" sz="1400" b="1" dirty="0">
                <a:effectLst/>
                <a:latin typeface="Calibri" panose="020F0502020204030204" pitchFamily="34" charset="0"/>
                <a:ea typeface="Times New Roman" panose="02020603050405020304" pitchFamily="18" charset="0"/>
                <a:cs typeface="Calibri" panose="020F0502020204030204" pitchFamily="34" charset="0"/>
              </a:rPr>
              <a:t>Set-point</a:t>
            </a:r>
            <a:r>
              <a:rPr lang="es-AR" sz="1400" dirty="0">
                <a:effectLst/>
                <a:latin typeface="Calibri" panose="020F0502020204030204" pitchFamily="34" charset="0"/>
                <a:ea typeface="Times New Roman" panose="02020603050405020304" pitchFamily="18" charset="0"/>
                <a:cs typeface="Calibri" panose="020F0502020204030204" pitchFamily="34" charset="0"/>
              </a:rPr>
              <a:t>, la consigna de velocidad se obtiene por diferencias finitas sobre la referencia (no requiere filtrado):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1" name="Imagen 20">
            <a:extLst>
              <a:ext uri="{FF2B5EF4-FFF2-40B4-BE49-F238E27FC236}">
                <a16:creationId xmlns:a16="http://schemas.microsoft.com/office/drawing/2014/main" id="{D07B43FA-F348-427F-89D5-C7F01C6B97F0}"/>
              </a:ext>
            </a:extLst>
          </p:cNvPr>
          <p:cNvPicPr/>
          <p:nvPr/>
        </p:nvPicPr>
        <p:blipFill>
          <a:blip r:embed="rId4">
            <a:extLst>
              <a:ext uri="{28A0092B-C50C-407E-A947-70E740481C1C}">
                <a14:useLocalDpi xmlns:a14="http://schemas.microsoft.com/office/drawing/2010/main" val="0"/>
              </a:ext>
            </a:extLst>
          </a:blip>
          <a:stretch>
            <a:fillRect/>
          </a:stretch>
        </p:blipFill>
        <p:spPr>
          <a:xfrm>
            <a:off x="5784616" y="698017"/>
            <a:ext cx="5998890" cy="2966265"/>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EF9EF40-F923-470C-9780-35E43069CD00}"/>
                  </a:ext>
                </a:extLst>
              </p:cNvPr>
              <p:cNvSpPr txBox="1"/>
              <p:nvPr/>
            </p:nvSpPr>
            <p:spPr>
              <a:xfrm>
                <a:off x="142347" y="2349144"/>
                <a:ext cx="5130801" cy="542584"/>
              </a:xfrm>
              <a:prstGeom prst="rect">
                <a:avLst/>
              </a:prstGeom>
              <a:noFill/>
            </p:spPr>
            <p:txBody>
              <a:bodyPr wrap="square">
                <a:spAutoFit/>
              </a:bodyPr>
              <a:lstStyle/>
              <a:p>
                <a:pPr algn="just">
                  <a:lnSpc>
                    <a:spcPct val="107000"/>
                  </a:lnSpc>
                  <a:spcBef>
                    <a:spcPts val="600"/>
                  </a:spcBef>
                  <a:spcAft>
                    <a:spcPts val="8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PID externo</a:t>
                </a:r>
                <a:r>
                  <a:rPr lang="es-AR" sz="1400" dirty="0">
                    <a:effectLst/>
                    <a:latin typeface="Calibri" panose="020F0502020204030204" pitchFamily="34" charset="0"/>
                    <a:ea typeface="Calibri" panose="020F0502020204030204" pitchFamily="34" charset="0"/>
                    <a:cs typeface="Times New Roman" panose="02020603050405020304" pitchFamily="18" charset="0"/>
                  </a:rPr>
                  <a:t>, definiendo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como la integración del error de velocidad 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su segunda integración:</a:t>
                </a:r>
              </a:p>
            </p:txBody>
          </p:sp>
        </mc:Choice>
        <mc:Fallback xmlns="">
          <p:sp>
            <p:nvSpPr>
              <p:cNvPr id="25" name="CuadroTexto 24">
                <a:extLst>
                  <a:ext uri="{FF2B5EF4-FFF2-40B4-BE49-F238E27FC236}">
                    <a16:creationId xmlns:a16="http://schemas.microsoft.com/office/drawing/2014/main" id="{9EF9EF40-F923-470C-9780-35E43069CD00}"/>
                  </a:ext>
                </a:extLst>
              </p:cNvPr>
              <p:cNvSpPr txBox="1">
                <a:spLocks noRot="1" noChangeAspect="1" noMove="1" noResize="1" noEditPoints="1" noAdjustHandles="1" noChangeArrowheads="1" noChangeShapeType="1" noTextEdit="1"/>
              </p:cNvSpPr>
              <p:nvPr/>
            </p:nvSpPr>
            <p:spPr>
              <a:xfrm>
                <a:off x="142347" y="2349144"/>
                <a:ext cx="5130801" cy="542584"/>
              </a:xfrm>
              <a:prstGeom prst="rect">
                <a:avLst/>
              </a:prstGeom>
              <a:blipFill>
                <a:blip r:embed="rId5"/>
                <a:stretch>
                  <a:fillRect l="-356" r="-238" b="-123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BD54E6B-DAC7-43CD-BE7E-389DAABE9C0C}"/>
                  </a:ext>
                </a:extLst>
              </p:cNvPr>
              <p:cNvSpPr txBox="1"/>
              <p:nvPr/>
            </p:nvSpPr>
            <p:spPr>
              <a:xfrm>
                <a:off x="0" y="2948611"/>
                <a:ext cx="3855562" cy="1490729"/>
              </a:xfrm>
              <a:prstGeom prst="rect">
                <a:avLst/>
              </a:prstGeom>
              <a:noFill/>
            </p:spPr>
            <p:txBody>
              <a:bodyPr wrap="square">
                <a:spAutoFit/>
              </a:bodyPr>
              <a:lstStyle/>
              <a:p>
                <a:pPr algn="just">
                  <a:lnSpc>
                    <a:spcPct val="107000"/>
                  </a:lnSpc>
                  <a:spcAft>
                    <a:spcPts val="600"/>
                  </a:spcAft>
                </a:pP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600"/>
                  </a:spcAft>
                </a:pPr>
                <a14:m>
                  <m:oMathPara xmlns:m="http://schemas.openxmlformats.org/officeDocument/2006/math">
                    <m:oMathParaPr>
                      <m:jc m:val="centerGroup"/>
                    </m:oMathParaPr>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1200"/>
                  </a:spcAft>
                </a:pP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𝑠𝑖𝑎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6" name="CuadroTexto 25">
                <a:extLst>
                  <a:ext uri="{FF2B5EF4-FFF2-40B4-BE49-F238E27FC236}">
                    <a16:creationId xmlns:a16="http://schemas.microsoft.com/office/drawing/2014/main" id="{CBD54E6B-DAC7-43CD-BE7E-389DAABE9C0C}"/>
                  </a:ext>
                </a:extLst>
              </p:cNvPr>
              <p:cNvSpPr txBox="1">
                <a:spLocks noRot="1" noChangeAspect="1" noMove="1" noResize="1" noEditPoints="1" noAdjustHandles="1" noChangeArrowheads="1" noChangeShapeType="1" noTextEdit="1"/>
              </p:cNvSpPr>
              <p:nvPr/>
            </p:nvSpPr>
            <p:spPr>
              <a:xfrm>
                <a:off x="0" y="2948611"/>
                <a:ext cx="3855562" cy="1490729"/>
              </a:xfrm>
              <a:prstGeom prst="rect">
                <a:avLst/>
              </a:prstGeom>
              <a:blipFill>
                <a:blip r:embed="rId6"/>
                <a:stretch>
                  <a:fillRect/>
                </a:stretch>
              </a:blipFill>
            </p:spPr>
            <p:txBody>
              <a:bodyPr/>
              <a:lstStyle/>
              <a:p>
                <a:r>
                  <a:rPr lang="es-AR">
                    <a:noFill/>
                  </a:rPr>
                  <a:t> </a:t>
                </a:r>
              </a:p>
            </p:txBody>
          </p:sp>
        </mc:Fallback>
      </mc:AlternateContent>
      <p:sp>
        <p:nvSpPr>
          <p:cNvPr id="30" name="CuadroTexto 29">
            <a:extLst>
              <a:ext uri="{FF2B5EF4-FFF2-40B4-BE49-F238E27FC236}">
                <a16:creationId xmlns:a16="http://schemas.microsoft.com/office/drawing/2014/main" id="{AFF04977-62DC-4B0F-8833-52859944481E}"/>
              </a:ext>
            </a:extLst>
          </p:cNvPr>
          <p:cNvSpPr txBox="1"/>
          <p:nvPr/>
        </p:nvSpPr>
        <p:spPr>
          <a:xfrm>
            <a:off x="7889823" y="3583870"/>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90— Set-point Discretizado</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7811281" y="6138962"/>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91— PID externo discretizado</a:t>
            </a:r>
          </a:p>
        </p:txBody>
      </p:sp>
    </p:spTree>
    <p:extLst>
      <p:ext uri="{BB962C8B-B14F-4D97-AF65-F5344CB8AC3E}">
        <p14:creationId xmlns:p14="http://schemas.microsoft.com/office/powerpoint/2010/main" val="40963757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1" name="Rectangle 10"/>
          <p:cNvSpPr/>
          <p:nvPr/>
        </p:nvSpPr>
        <p:spPr>
          <a:xfrm>
            <a:off x="153891" y="1113194"/>
            <a:ext cx="10856615" cy="147104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1222539"/>
                <a:ext cx="4056825" cy="1471044"/>
              </a:xfrm>
              <a:prstGeom prst="rect">
                <a:avLst/>
              </a:prstGeom>
              <a:noFill/>
            </p:spPr>
            <p:txBody>
              <a:bodyPr wrap="square">
                <a:spAutoFit/>
              </a:bodyPr>
              <a:lstStyle/>
              <a:p>
                <a14:m>
                  <m:oMath xmlns:m="http://schemas.openxmlformats.org/officeDocument/2006/math">
                    <m:r>
                      <a:rPr lang="es-AR" sz="1400" i="1">
                        <a:latin typeface="Cambria Math" panose="02040503050406030204" pitchFamily="18" charset="0"/>
                      </a:rPr>
                      <m:t>𝜀</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pPr algn="ctr"/>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1222539"/>
                <a:ext cx="4056825" cy="1471044"/>
              </a:xfrm>
              <a:prstGeom prst="rect">
                <a:avLst/>
              </a:prstGeom>
              <a:blipFill>
                <a:blip r:embed="rId2"/>
                <a:stretch>
                  <a:fillRect t="-1245"/>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745069"/>
            <a:ext cx="11700789" cy="312650"/>
          </a:xfrm>
          <a:prstGeom prst="rect">
            <a:avLst/>
          </a:prstGeom>
          <a:noFill/>
        </p:spPr>
        <p:txBody>
          <a:bodyPr wrap="square">
            <a:spAutoFit/>
          </a:bodyPr>
          <a:lstStyle/>
          <a:p>
            <a:pPr algn="just">
              <a:lnSpc>
                <a:spcPct val="107000"/>
              </a:lnSpc>
              <a:spcBef>
                <a:spcPts val="600"/>
              </a:spcBef>
              <a:spcAft>
                <a:spcPts val="6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del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Observador aumentado</a:t>
            </a:r>
            <a:r>
              <a:rPr lang="es-AR" sz="1400" dirty="0">
                <a:effectLst/>
                <a:latin typeface="Calibri" panose="020F0502020204030204" pitchFamily="34" charset="0"/>
                <a:ea typeface="Calibri" panose="020F0502020204030204" pitchFamily="34" charset="0"/>
                <a:cs typeface="Times New Roman" panose="02020603050405020304" pitchFamily="18" charset="0"/>
              </a:rPr>
              <a:t>, aplicando Tustin a la forma expandida, con:</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4173071" y="5735154"/>
            <a:ext cx="455487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92— Observador aumentado discretizado</a:t>
            </a:r>
          </a:p>
          <a:p>
            <a:endParaRPr lang="es-AR" dirty="0"/>
          </a:p>
        </p:txBody>
      </p:sp>
      <p:pic>
        <p:nvPicPr>
          <p:cNvPr id="18" name="Imagen 17">
            <a:extLst>
              <a:ext uri="{FF2B5EF4-FFF2-40B4-BE49-F238E27FC236}">
                <a16:creationId xmlns:a16="http://schemas.microsoft.com/office/drawing/2014/main" id="{FDA11935-5BDB-4D49-9C60-2DC9BF2F88B1}"/>
              </a:ext>
            </a:extLst>
          </p:cNvPr>
          <p:cNvPicPr/>
          <p:nvPr/>
        </p:nvPicPr>
        <p:blipFill>
          <a:blip r:embed="rId3">
            <a:extLst>
              <a:ext uri="{28A0092B-C50C-407E-A947-70E740481C1C}">
                <a14:useLocalDpi xmlns:a14="http://schemas.microsoft.com/office/drawing/2010/main" val="0"/>
              </a:ext>
            </a:extLst>
          </a:blip>
          <a:stretch>
            <a:fillRect/>
          </a:stretch>
        </p:blipFill>
        <p:spPr>
          <a:xfrm>
            <a:off x="2045617" y="2776416"/>
            <a:ext cx="7592856" cy="2881208"/>
          </a:xfrm>
          <a:prstGeom prst="rect">
            <a:avLst/>
          </a:prstGeom>
        </p:spPr>
      </p:pic>
    </p:spTree>
    <p:extLst>
      <p:ext uri="{BB962C8B-B14F-4D97-AF65-F5344CB8AC3E}">
        <p14:creationId xmlns:p14="http://schemas.microsoft.com/office/powerpoint/2010/main" val="1228105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20" name="CuadroTexto 19">
            <a:extLst>
              <a:ext uri="{FF2B5EF4-FFF2-40B4-BE49-F238E27FC236}">
                <a16:creationId xmlns:a16="http://schemas.microsoft.com/office/drawing/2014/main" id="{2A133480-A24F-4AA2-974C-3329BBBDCAEC}"/>
              </a:ext>
            </a:extLst>
          </p:cNvPr>
          <p:cNvSpPr txBox="1"/>
          <p:nvPr/>
        </p:nvSpPr>
        <p:spPr>
          <a:xfrm>
            <a:off x="191374" y="893009"/>
            <a:ext cx="8342721" cy="344069"/>
          </a:xfrm>
          <a:prstGeom prst="rect">
            <a:avLst/>
          </a:prstGeom>
          <a:noFill/>
        </p:spPr>
        <p:txBody>
          <a:bodyPr wrap="square">
            <a:spAutoFit/>
          </a:bodyPr>
          <a:lstStyle/>
          <a:p>
            <a:pPr algn="just">
              <a:lnSpc>
                <a:spcPct val="107000"/>
              </a:lnSpc>
              <a:spcBef>
                <a:spcPts val="1800"/>
              </a:spcBef>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a:t>
            </a:r>
            <a:r>
              <a:rPr lang="es-AR" sz="1600" dirty="0">
                <a:effectLst/>
                <a:latin typeface="Calibri" panose="020F0502020204030204" pitchFamily="34" charset="0"/>
                <a:ea typeface="Calibri" panose="020F0502020204030204" pitchFamily="34" charset="0"/>
                <a:cs typeface="Times New Roman" panose="02020603050405020304" pitchFamily="18" charset="0"/>
              </a:rPr>
              <a:t>as especificaciones finales del sistema discreto quedan resumidas en la siguiente tabla:</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𝑇</m:t>
                                    </m:r>
                                  </m:e>
                                  <m:sub>
                                    <m:r>
                                      <a:rPr lang="es-AR" sz="1400">
                                        <a:effectLst/>
                                        <a:latin typeface="Cambria Math" panose="02040503050406030204" pitchFamily="18" charset="0"/>
                                      </a:rPr>
                                      <m:t>𝑠</m:t>
                                    </m:r>
                                  </m:sub>
                                </m:sSub>
                                <m:r>
                                  <a:rPr lang="es-AR" sz="1400">
                                    <a:effectLst/>
                                    <a:latin typeface="Cambria Math" panose="02040503050406030204" pitchFamily="18" charset="0"/>
                                  </a:rPr>
                                  <m:t>=1.2566×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−4</m:t>
                                    </m:r>
                                  </m:sup>
                                </m:sSup>
                                <m:r>
                                  <a:rPr lang="es-AR" sz="1400">
                                    <a:effectLst/>
                                    <a:latin typeface="Cambria Math" panose="02040503050406030204" pitchFamily="18" charset="0"/>
                                  </a:rPr>
                                  <m:t>𝑠</m:t>
                                </m:r>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8431513"/>
                      </a:ext>
                    </a:extLst>
                  </a:tr>
                </a:tbl>
              </a:graphicData>
            </a:graphic>
          </p:graphicFrame>
        </mc:Choice>
        <mc:Fallback xmlns="">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71250" r="-667" b="-406250"/>
                          </a:stretch>
                        </a:blipFill>
                      </a:tcPr>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169136" r="-667" b="-301235"/>
                          </a:stretch>
                        </a:blipFill>
                      </a:tcPr>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272500" r="-667" b="-205000"/>
                          </a:stretch>
                        </a:blipFill>
                      </a:tcPr>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367901" r="-667" b="-102469"/>
                          </a:stretch>
                        </a:blipFill>
                      </a:tcPr>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467901" r="-667" b="-2469"/>
                          </a:stretch>
                        </a:blipFill>
                      </a:tcPr>
                    </a:tc>
                    <a:extLst>
                      <a:ext uri="{0D108BD9-81ED-4DB2-BD59-A6C34878D82A}">
                        <a16:rowId xmlns:a16="http://schemas.microsoft.com/office/drawing/2014/main" val="2138431513"/>
                      </a:ext>
                    </a:extLst>
                  </a:tr>
                </a:tbl>
              </a:graphicData>
            </a:graphic>
          </p:graphicFrame>
        </mc:Fallback>
      </mc:AlternateContent>
    </p:spTree>
    <p:extLst>
      <p:ext uri="{BB962C8B-B14F-4D97-AF65-F5344CB8AC3E}">
        <p14:creationId xmlns:p14="http://schemas.microsoft.com/office/powerpoint/2010/main" val="338500408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7246279" cy="415498"/>
          </a:xfrm>
          <a:prstGeom prst="rect">
            <a:avLst/>
          </a:prstGeom>
          <a:noFill/>
        </p:spPr>
        <p:txBody>
          <a:bodyPr wrap="none">
            <a:spAutoFit/>
          </a:bodyPr>
          <a:lstStyle/>
          <a:p>
            <a:pPr algn="l"/>
            <a:r>
              <a:rPr lang="en-US" sz="2100" b="1" dirty="0">
                <a:solidFill>
                  <a:srgbClr val="FFFFFF"/>
                </a:solidFill>
                <a:latin typeface="Cambria"/>
              </a:rPr>
              <a:t>Sistema </a:t>
            </a:r>
            <a:r>
              <a:rPr lang="en-US" sz="2100" b="1" dirty="0" err="1">
                <a:solidFill>
                  <a:srgbClr val="FFFFFF"/>
                </a:solidFill>
                <a:latin typeface="Cambria"/>
              </a:rPr>
              <a:t>completo</a:t>
            </a:r>
            <a:r>
              <a:rPr lang="en-US" sz="2100" b="1" dirty="0">
                <a:solidFill>
                  <a:srgbClr val="FFFFFF"/>
                </a:solidFill>
                <a:latin typeface="Cambria"/>
              </a:rPr>
              <a:t> </a:t>
            </a:r>
            <a:r>
              <a:rPr lang="en-US" sz="2100" b="1" dirty="0" err="1">
                <a:solidFill>
                  <a:srgbClr val="FFFFFF"/>
                </a:solidFill>
                <a:latin typeface="Cambria"/>
              </a:rPr>
              <a:t>discretizado</a:t>
            </a:r>
            <a:r>
              <a:rPr lang="en-US" sz="2100" b="1" dirty="0">
                <a:solidFill>
                  <a:srgbClr val="FFFFFF"/>
                </a:solidFill>
                <a:latin typeface="Cambria"/>
              </a:rPr>
              <a:t> </a:t>
            </a:r>
            <a:r>
              <a:rPr lang="es-AR" sz="2100" b="1" dirty="0">
                <a:solidFill>
                  <a:srgbClr val="FFFFFF"/>
                </a:solidFill>
                <a:latin typeface="Cambria"/>
              </a:rPr>
              <a:t>— Resultados y validación</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22" name="Imagen 21">
            <a:extLst>
              <a:ext uri="{FF2B5EF4-FFF2-40B4-BE49-F238E27FC236}">
                <a16:creationId xmlns:a16="http://schemas.microsoft.com/office/drawing/2014/main" id="{1E9BBB49-A005-436E-B79D-BF2D938F4842}"/>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836955"/>
            <a:ext cx="12191695" cy="3791605"/>
          </a:xfrm>
          <a:prstGeom prst="rect">
            <a:avLst/>
          </a:prstGeom>
        </p:spPr>
      </p:pic>
      <p:sp>
        <p:nvSpPr>
          <p:cNvPr id="10" name="CuadroTexto 9">
            <a:extLst>
              <a:ext uri="{FF2B5EF4-FFF2-40B4-BE49-F238E27FC236}">
                <a16:creationId xmlns:a16="http://schemas.microsoft.com/office/drawing/2014/main" id="{A3C746FA-B106-48E1-AEDE-5FA4AECA4688}"/>
              </a:ext>
            </a:extLst>
          </p:cNvPr>
          <p:cNvSpPr txBox="1"/>
          <p:nvPr/>
        </p:nvSpPr>
        <p:spPr>
          <a:xfrm>
            <a:off x="4380461" y="4591703"/>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93— Sistema completo discreto</a:t>
            </a:r>
          </a:p>
          <a:p>
            <a:endParaRPr lang="es-AR" dirty="0"/>
          </a:p>
          <a:p>
            <a:endParaRPr lang="es-AR" dirty="0"/>
          </a:p>
        </p:txBody>
      </p:sp>
    </p:spTree>
    <p:extLst>
      <p:ext uri="{BB962C8B-B14F-4D97-AF65-F5344CB8AC3E}">
        <p14:creationId xmlns:p14="http://schemas.microsoft.com/office/powerpoint/2010/main" val="17773018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8" name="Imagen 17">
            <a:extLst>
              <a:ext uri="{FF2B5EF4-FFF2-40B4-BE49-F238E27FC236}">
                <a16:creationId xmlns:a16="http://schemas.microsoft.com/office/drawing/2014/main" id="{FB60BD7D-FC67-448D-B74C-45E1461D146F}"/>
              </a:ext>
            </a:extLst>
          </p:cNvPr>
          <p:cNvPicPr/>
          <p:nvPr/>
        </p:nvPicPr>
        <p:blipFill>
          <a:blip r:embed="rId2">
            <a:extLst>
              <a:ext uri="{28A0092B-C50C-407E-A947-70E740481C1C}">
                <a14:useLocalDpi xmlns:a14="http://schemas.microsoft.com/office/drawing/2010/main" val="0"/>
              </a:ext>
            </a:extLst>
          </a:blip>
          <a:stretch>
            <a:fillRect/>
          </a:stretch>
        </p:blipFill>
        <p:spPr>
          <a:xfrm>
            <a:off x="588645" y="734568"/>
            <a:ext cx="4270229" cy="3014553"/>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E5E99950-A618-4C48-8259-DE1906E23C2B}"/>
              </a:ext>
            </a:extLst>
          </p:cNvPr>
          <p:cNvPicPr/>
          <p:nvPr/>
        </p:nvPicPr>
        <p:blipFill>
          <a:blip r:embed="rId3">
            <a:extLst>
              <a:ext uri="{28A0092B-C50C-407E-A947-70E740481C1C}">
                <a14:useLocalDpi xmlns:a14="http://schemas.microsoft.com/office/drawing/2010/main" val="0"/>
              </a:ext>
            </a:extLst>
          </a:blip>
          <a:stretch>
            <a:fillRect/>
          </a:stretch>
        </p:blipFill>
        <p:spPr>
          <a:xfrm>
            <a:off x="7647453" y="734568"/>
            <a:ext cx="4125448" cy="3014553"/>
          </a:xfrm>
          <a:prstGeom prst="rect">
            <a:avLst/>
          </a:prstGeom>
        </p:spPr>
        <p:style>
          <a:lnRef idx="2">
            <a:schemeClr val="accent1"/>
          </a:lnRef>
          <a:fillRef idx="1">
            <a:schemeClr val="lt1"/>
          </a:fillRef>
          <a:effectRef idx="0">
            <a:schemeClr val="accent1"/>
          </a:effectRef>
          <a:fontRef idx="minor">
            <a:schemeClr val="dk1"/>
          </a:fontRef>
        </p:style>
      </p:pic>
      <p:pic>
        <p:nvPicPr>
          <p:cNvPr id="20" name="Imagen 19">
            <a:extLst>
              <a:ext uri="{FF2B5EF4-FFF2-40B4-BE49-F238E27FC236}">
                <a16:creationId xmlns:a16="http://schemas.microsoft.com/office/drawing/2014/main" id="{8DE2DBAD-71F1-446C-9773-2C04DD80EF66}"/>
              </a:ext>
            </a:extLst>
          </p:cNvPr>
          <p:cNvPicPr/>
          <p:nvPr/>
        </p:nvPicPr>
        <p:blipFill>
          <a:blip r:embed="rId4">
            <a:extLst>
              <a:ext uri="{28A0092B-C50C-407E-A947-70E740481C1C}">
                <a14:useLocalDpi xmlns:a14="http://schemas.microsoft.com/office/drawing/2010/main" val="0"/>
              </a:ext>
            </a:extLst>
          </a:blip>
          <a:stretch>
            <a:fillRect/>
          </a:stretch>
        </p:blipFill>
        <p:spPr>
          <a:xfrm>
            <a:off x="178117" y="3991991"/>
            <a:ext cx="3453765" cy="2429510"/>
          </a:xfrm>
          <a:prstGeom prst="rect">
            <a:avLst/>
          </a:prstGeom>
        </p:spPr>
      </p:pic>
      <p:graphicFrame>
        <p:nvGraphicFramePr>
          <p:cNvPr id="21" name="Tabla 21">
            <a:extLst>
              <a:ext uri="{FF2B5EF4-FFF2-40B4-BE49-F238E27FC236}">
                <a16:creationId xmlns:a16="http://schemas.microsoft.com/office/drawing/2014/main" id="{4DC96354-B257-434B-9F4A-63357F75F47D}"/>
              </a:ext>
            </a:extLst>
          </p:cNvPr>
          <p:cNvGraphicFramePr>
            <a:graphicFrameLocks noGrp="1"/>
          </p:cNvGraphicFramePr>
          <p:nvPr/>
        </p:nvGraphicFramePr>
        <p:xfrm>
          <a:off x="0" y="668782"/>
          <a:ext cx="12191694" cy="5896610"/>
        </p:xfrm>
        <a:graphic>
          <a:graphicData uri="http://schemas.openxmlformats.org/drawingml/2006/table">
            <a:tbl>
              <a:tblPr firstRow="1" bandRow="1">
                <a:tableStyleId>{5C22544A-7EE6-4342-B048-85BDC9FD1C3A}</a:tableStyleId>
              </a:tblPr>
              <a:tblGrid>
                <a:gridCol w="6095847">
                  <a:extLst>
                    <a:ext uri="{9D8B030D-6E8A-4147-A177-3AD203B41FA5}">
                      <a16:colId xmlns:a16="http://schemas.microsoft.com/office/drawing/2014/main" val="500867234"/>
                    </a:ext>
                  </a:extLst>
                </a:gridCol>
                <a:gridCol w="6095847">
                  <a:extLst>
                    <a:ext uri="{9D8B030D-6E8A-4147-A177-3AD203B41FA5}">
                      <a16:colId xmlns:a16="http://schemas.microsoft.com/office/drawing/2014/main" val="4033675718"/>
                    </a:ext>
                  </a:extLst>
                </a:gridCol>
              </a:tblGrid>
              <a:tr h="2948305">
                <a:tc>
                  <a:txBody>
                    <a:bodyPr/>
                    <a:lstStyle/>
                    <a:p>
                      <a:endParaRPr lang="es-AR" dirty="0"/>
                    </a:p>
                  </a:txBody>
                  <a:tcPr/>
                </a:tc>
                <a:tc>
                  <a:txBody>
                    <a:bodyPr/>
                    <a:lstStyle/>
                    <a:p>
                      <a:endParaRPr lang="es-AR"/>
                    </a:p>
                  </a:txBody>
                  <a:tcPr/>
                </a:tc>
                <a:extLst>
                  <a:ext uri="{0D108BD9-81ED-4DB2-BD59-A6C34878D82A}">
                    <a16:rowId xmlns:a16="http://schemas.microsoft.com/office/drawing/2014/main" val="3219475773"/>
                  </a:ext>
                </a:extLst>
              </a:tr>
              <a:tr h="2948305">
                <a:tc>
                  <a:txBody>
                    <a:bodyPr/>
                    <a:lstStyle/>
                    <a:p>
                      <a:endParaRPr lang="es-AR" dirty="0"/>
                    </a:p>
                  </a:txBody>
                  <a:tcPr/>
                </a:tc>
                <a:tc>
                  <a:txBody>
                    <a:bodyPr/>
                    <a:lstStyle/>
                    <a:p>
                      <a:endParaRPr lang="es-AR" dirty="0"/>
                    </a:p>
                  </a:txBody>
                  <a:tcPr/>
                </a:tc>
                <a:extLst>
                  <a:ext uri="{0D108BD9-81ED-4DB2-BD59-A6C34878D82A}">
                    <a16:rowId xmlns:a16="http://schemas.microsoft.com/office/drawing/2014/main" val="1060784161"/>
                  </a:ext>
                </a:extLst>
              </a:tr>
            </a:tbl>
          </a:graphicData>
        </a:graphic>
      </p:graphicFrame>
      <p:pic>
        <p:nvPicPr>
          <p:cNvPr id="22" name="Imagen 21">
            <a:extLst>
              <a:ext uri="{FF2B5EF4-FFF2-40B4-BE49-F238E27FC236}">
                <a16:creationId xmlns:a16="http://schemas.microsoft.com/office/drawing/2014/main" id="{04051067-6736-473D-A748-A2E70EB97C8F}"/>
              </a:ext>
            </a:extLst>
          </p:cNvPr>
          <p:cNvPicPr/>
          <p:nvPr/>
        </p:nvPicPr>
        <p:blipFill>
          <a:blip r:embed="rId2">
            <a:extLst>
              <a:ext uri="{28A0092B-C50C-407E-A947-70E740481C1C}">
                <a14:useLocalDpi xmlns:a14="http://schemas.microsoft.com/office/drawing/2010/main" val="0"/>
              </a:ext>
            </a:extLst>
          </a:blip>
          <a:stretch>
            <a:fillRect/>
          </a:stretch>
        </p:blipFill>
        <p:spPr>
          <a:xfrm>
            <a:off x="76199" y="724155"/>
            <a:ext cx="5953126" cy="2704846"/>
          </a:xfrm>
          <a:prstGeom prst="rect">
            <a:avLst/>
          </a:prstGeom>
        </p:spPr>
      </p:pic>
      <p:pic>
        <p:nvPicPr>
          <p:cNvPr id="23" name="Imagen 22">
            <a:extLst>
              <a:ext uri="{FF2B5EF4-FFF2-40B4-BE49-F238E27FC236}">
                <a16:creationId xmlns:a16="http://schemas.microsoft.com/office/drawing/2014/main" id="{16F7F114-FFF5-40D2-8935-BBC426472874}"/>
              </a:ext>
            </a:extLst>
          </p:cNvPr>
          <p:cNvPicPr/>
          <p:nvPr/>
        </p:nvPicPr>
        <p:blipFill>
          <a:blip r:embed="rId3">
            <a:extLst>
              <a:ext uri="{28A0092B-C50C-407E-A947-70E740481C1C}">
                <a14:useLocalDpi xmlns:a14="http://schemas.microsoft.com/office/drawing/2010/main" val="0"/>
              </a:ext>
            </a:extLst>
          </a:blip>
          <a:stretch>
            <a:fillRect/>
          </a:stretch>
        </p:blipFill>
        <p:spPr>
          <a:xfrm>
            <a:off x="6162677" y="724154"/>
            <a:ext cx="5953124" cy="2704846"/>
          </a:xfrm>
          <a:prstGeom prst="rect">
            <a:avLst/>
          </a:prstGeom>
        </p:spPr>
      </p:pic>
      <p:pic>
        <p:nvPicPr>
          <p:cNvPr id="24" name="Imagen 23">
            <a:extLst>
              <a:ext uri="{FF2B5EF4-FFF2-40B4-BE49-F238E27FC236}">
                <a16:creationId xmlns:a16="http://schemas.microsoft.com/office/drawing/2014/main" id="{BD1F2E0C-314D-4C57-8459-8687E73CCBBB}"/>
              </a:ext>
            </a:extLst>
          </p:cNvPr>
          <p:cNvPicPr/>
          <p:nvPr/>
        </p:nvPicPr>
        <p:blipFill>
          <a:blip r:embed="rId4">
            <a:extLst>
              <a:ext uri="{28A0092B-C50C-407E-A947-70E740481C1C}">
                <a14:useLocalDpi xmlns:a14="http://schemas.microsoft.com/office/drawing/2010/main" val="0"/>
              </a:ext>
            </a:extLst>
          </a:blip>
          <a:stretch>
            <a:fillRect/>
          </a:stretch>
        </p:blipFill>
        <p:spPr>
          <a:xfrm>
            <a:off x="76199" y="3693921"/>
            <a:ext cx="5953126" cy="2704845"/>
          </a:xfrm>
          <a:prstGeom prst="rect">
            <a:avLst/>
          </a:prstGeom>
        </p:spPr>
      </p:pic>
      <p:pic>
        <p:nvPicPr>
          <p:cNvPr id="25" name="Imagen 24">
            <a:extLst>
              <a:ext uri="{FF2B5EF4-FFF2-40B4-BE49-F238E27FC236}">
                <a16:creationId xmlns:a16="http://schemas.microsoft.com/office/drawing/2014/main" id="{CB6E6B92-8F7C-40E7-9673-4BB2824CAC23}"/>
              </a:ext>
            </a:extLst>
          </p:cNvPr>
          <p:cNvPicPr/>
          <p:nvPr/>
        </p:nvPicPr>
        <p:blipFill>
          <a:blip r:embed="rId5">
            <a:extLst>
              <a:ext uri="{28A0092B-C50C-407E-A947-70E740481C1C}">
                <a14:useLocalDpi xmlns:a14="http://schemas.microsoft.com/office/drawing/2010/main" val="0"/>
              </a:ext>
            </a:extLst>
          </a:blip>
          <a:stretch>
            <a:fillRect/>
          </a:stretch>
        </p:blipFill>
        <p:spPr>
          <a:xfrm>
            <a:off x="6162677" y="3693921"/>
            <a:ext cx="5953124" cy="2704845"/>
          </a:xfrm>
          <a:prstGeom prst="rect">
            <a:avLst/>
          </a:prstGeom>
        </p:spPr>
      </p:pic>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0D5052E-C84A-4D0D-8F0B-6741E82D8547}"/>
                  </a:ext>
                </a:extLst>
              </p:cNvPr>
              <p:cNvSpPr txBox="1"/>
              <p:nvPr/>
            </p:nvSpPr>
            <p:spPr>
              <a:xfrm>
                <a:off x="274319" y="6339534"/>
                <a:ext cx="6098796" cy="600164"/>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solidFill>
                      <a:schemeClr val="tx1"/>
                    </a:solidFill>
                  </a:rPr>
                  <a:t>Figura 96: Curvas de corrientes </a:t>
                </a:r>
                <a14:m>
                  <m:oMath xmlns:m="http://schemas.openxmlformats.org/officeDocument/2006/math">
                    <m:sSub>
                      <m:sSubPr>
                        <m:ctrlPr>
                          <a:rPr lang="es-AR" sz="1100" i="1">
                            <a:solidFill>
                              <a:schemeClr val="tx1"/>
                            </a:solidFill>
                            <a:latin typeface="Cambria Math" panose="02040503050406030204" pitchFamily="18" charset="0"/>
                          </a:rPr>
                        </m:ctrlPr>
                      </m:sSubPr>
                      <m:e>
                        <m:r>
                          <a:rPr lang="es-AR" sz="1100" i="1">
                            <a:solidFill>
                              <a:schemeClr val="tx1"/>
                            </a:solidFill>
                            <a:latin typeface="Cambria Math" panose="02040503050406030204" pitchFamily="18" charset="0"/>
                          </a:rPr>
                          <m:t>𝑖</m:t>
                        </m:r>
                      </m:e>
                      <m:sub>
                        <m:r>
                          <a:rPr lang="es-AR" sz="1100" i="1">
                            <a:solidFill>
                              <a:schemeClr val="tx1"/>
                            </a:solidFill>
                            <a:latin typeface="Cambria Math" panose="02040503050406030204" pitchFamily="18" charset="0"/>
                          </a:rPr>
                          <m:t>𝑎𝑏𝑐</m:t>
                        </m:r>
                      </m:sub>
                    </m:sSub>
                  </m:oMath>
                </a14:m>
                <a:r>
                  <a:rPr lang="es-AR" sz="1100" i="1" dirty="0">
                    <a:solidFill>
                      <a:schemeClr val="tx1"/>
                    </a:solidFill>
                  </a:rPr>
                  <a:t> con controlador discreto</a:t>
                </a: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8" name="CuadroTexto 27">
                <a:extLst>
                  <a:ext uri="{FF2B5EF4-FFF2-40B4-BE49-F238E27FC236}">
                    <a16:creationId xmlns:a16="http://schemas.microsoft.com/office/drawing/2014/main" id="{10D5052E-C84A-4D0D-8F0B-6741E82D8547}"/>
                  </a:ext>
                </a:extLst>
              </p:cNvPr>
              <p:cNvSpPr txBox="1">
                <a:spLocks noRot="1" noChangeAspect="1" noMove="1" noResize="1" noEditPoints="1" noAdjustHandles="1" noChangeArrowheads="1" noChangeShapeType="1" noTextEdit="1"/>
              </p:cNvSpPr>
              <p:nvPr/>
            </p:nvSpPr>
            <p:spPr>
              <a:xfrm>
                <a:off x="274319" y="6339534"/>
                <a:ext cx="6098796" cy="600164"/>
              </a:xfrm>
              <a:prstGeom prst="rect">
                <a:avLst/>
              </a:prstGeom>
              <a:blipFill>
                <a:blip r:embed="rId8"/>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84A114E-CCDD-4A32-B157-6EE1A24480AA}"/>
                  </a:ext>
                </a:extLst>
              </p:cNvPr>
              <p:cNvSpPr txBox="1"/>
              <p:nvPr/>
            </p:nvSpPr>
            <p:spPr>
              <a:xfrm>
                <a:off x="6303644" y="6357338"/>
                <a:ext cx="6098796" cy="769441"/>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t>Figura 97: Curvas de tensiones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𝑣</m:t>
                        </m:r>
                      </m:e>
                      <m:sub>
                        <m:r>
                          <a:rPr lang="es-AR" sz="1100" i="1">
                            <a:latin typeface="Cambria Math" panose="02040503050406030204" pitchFamily="18" charset="0"/>
                          </a:rPr>
                          <m:t>𝑎𝑏𝑐</m:t>
                        </m:r>
                      </m:sub>
                    </m:sSub>
                  </m:oMath>
                </a14:m>
                <a:r>
                  <a:rPr lang="es-AR" sz="1100" i="1" dirty="0"/>
                  <a:t>  con controlador discreto </a:t>
                </a:r>
              </a:p>
              <a:p>
                <a:pPr algn="ctr"/>
                <a:endParaRPr lang="es-AR" sz="1100" i="1" dirty="0">
                  <a:solidFill>
                    <a:schemeClr val="tx1"/>
                  </a:solidFill>
                </a:endParaRP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9" name="CuadroTexto 28">
                <a:extLst>
                  <a:ext uri="{FF2B5EF4-FFF2-40B4-BE49-F238E27FC236}">
                    <a16:creationId xmlns:a16="http://schemas.microsoft.com/office/drawing/2014/main" id="{284A114E-CCDD-4A32-B157-6EE1A24480AA}"/>
                  </a:ext>
                </a:extLst>
              </p:cNvPr>
              <p:cNvSpPr txBox="1">
                <a:spLocks noRot="1" noChangeAspect="1" noMove="1" noResize="1" noEditPoints="1" noAdjustHandles="1" noChangeArrowheads="1" noChangeShapeType="1" noTextEdit="1"/>
              </p:cNvSpPr>
              <p:nvPr/>
            </p:nvSpPr>
            <p:spPr>
              <a:xfrm>
                <a:off x="6303644" y="6357338"/>
                <a:ext cx="6098796" cy="769441"/>
              </a:xfrm>
              <a:prstGeom prst="rect">
                <a:avLst/>
              </a:prstGeom>
              <a:blipFill>
                <a:blip r:embed="rId9"/>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59968152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3"/>
                <a:stretch>
                  <a:fillRect/>
                </a:stretch>
              </a:blipFill>
            </p:spPr>
            <p:txBody>
              <a:bodyPr/>
              <a:lstStyle/>
              <a:p>
                <a:r>
                  <a:rPr lang="es-AR">
                    <a:noFill/>
                  </a:rPr>
                  <a:t> </a:t>
                </a:r>
              </a:p>
            </p:txBody>
          </p:sp>
        </mc:Fallback>
      </mc:AlternateContent>
      <p:pic>
        <p:nvPicPr>
          <p:cNvPr id="30" name="Imagen 29">
            <a:extLst>
              <a:ext uri="{FF2B5EF4-FFF2-40B4-BE49-F238E27FC236}">
                <a16:creationId xmlns:a16="http://schemas.microsoft.com/office/drawing/2014/main" id="{2822B486-B39E-43A4-8D0E-84E74715BA04}"/>
              </a:ext>
            </a:extLst>
          </p:cNvPr>
          <p:cNvPicPr/>
          <p:nvPr/>
        </p:nvPicPr>
        <p:blipFill>
          <a:blip r:embed="rId4">
            <a:extLst>
              <a:ext uri="{28A0092B-C50C-407E-A947-70E740481C1C}">
                <a14:useLocalDpi xmlns:a14="http://schemas.microsoft.com/office/drawing/2010/main" val="0"/>
              </a:ext>
            </a:extLst>
          </a:blip>
          <a:stretch>
            <a:fillRect/>
          </a:stretch>
        </p:blipFill>
        <p:spPr>
          <a:xfrm>
            <a:off x="2241234" y="755307"/>
            <a:ext cx="7112316" cy="4169117"/>
          </a:xfrm>
          <a:prstGeom prst="rect">
            <a:avLst/>
          </a:prstGeom>
        </p:spPr>
        <p:style>
          <a:lnRef idx="2">
            <a:schemeClr val="dk1"/>
          </a:lnRef>
          <a:fillRef idx="1">
            <a:schemeClr val="lt1"/>
          </a:fillRef>
          <a:effectRef idx="0">
            <a:schemeClr val="dk1"/>
          </a:effectRef>
          <a:fontRef idx="minor">
            <a:schemeClr val="dk1"/>
          </a:fontRef>
        </p:style>
      </p:pic>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3BAD8A74-ED17-4DE0-BB26-DD9B139160BE}"/>
                  </a:ext>
                </a:extLst>
              </p:cNvPr>
              <p:cNvSpPr txBox="1"/>
              <p:nvPr/>
            </p:nvSpPr>
            <p:spPr>
              <a:xfrm>
                <a:off x="4447246" y="5098577"/>
                <a:ext cx="3297201" cy="430887"/>
              </a:xfrm>
              <a:prstGeom prst="rect">
                <a:avLst/>
              </a:prstGeom>
              <a:noFill/>
            </p:spPr>
            <p:txBody>
              <a:bodyPr wrap="square">
                <a:spAutoFit/>
              </a:bodyPr>
              <a:lstStyle/>
              <a:p>
                <a:r>
                  <a:rPr lang="es-AR" sz="1100" i="1" dirty="0">
                    <a:solidFill>
                      <a:schemeClr val="tx1"/>
                    </a:solidFill>
                    <a:latin typeface="Calibri" pitchFamily="34" charset="0"/>
                    <a:ea typeface="Calibri" pitchFamily="34" charset="-122"/>
                    <a:cs typeface="Calibri" pitchFamily="34" charset="-120"/>
                  </a:rPr>
                  <a:t>FIGURA: </a:t>
                </a:r>
                <a:r>
                  <a:rPr lang="es-AR" sz="1100" i="1" dirty="0"/>
                  <a:t>Figura 98: Torque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𝑇</m:t>
                        </m:r>
                      </m:e>
                      <m:sub>
                        <m:r>
                          <a:rPr lang="es-AR" sz="1100" i="1">
                            <a:latin typeface="Cambria Math" panose="02040503050406030204" pitchFamily="18" charset="0"/>
                          </a:rPr>
                          <m:t>𝑚</m:t>
                        </m:r>
                      </m:sub>
                    </m:sSub>
                  </m:oMath>
                </a14:m>
                <a:r>
                  <a:rPr lang="es-AR" sz="1100" i="1" dirty="0"/>
                  <a:t>con controlador discreto</a:t>
                </a:r>
              </a:p>
              <a:p>
                <a:pPr marL="0" indent="0" algn="ctr">
                  <a:buNone/>
                </a:pPr>
                <a:endParaRPr lang="es-AR" sz="1100" i="1" dirty="0">
                  <a:solidFill>
                    <a:schemeClr val="tx2"/>
                  </a:solidFill>
                </a:endParaRPr>
              </a:p>
            </p:txBody>
          </p:sp>
        </mc:Choice>
        <mc:Fallback xmlns="">
          <p:sp>
            <p:nvSpPr>
              <p:cNvPr id="31" name="CuadroTexto 30">
                <a:extLst>
                  <a:ext uri="{FF2B5EF4-FFF2-40B4-BE49-F238E27FC236}">
                    <a16:creationId xmlns:a16="http://schemas.microsoft.com/office/drawing/2014/main" id="{3BAD8A74-ED17-4DE0-BB26-DD9B139160BE}"/>
                  </a:ext>
                </a:extLst>
              </p:cNvPr>
              <p:cNvSpPr txBox="1">
                <a:spLocks noRot="1" noChangeAspect="1" noMove="1" noResize="1" noEditPoints="1" noAdjustHandles="1" noChangeArrowheads="1" noChangeShapeType="1" noTextEdit="1"/>
              </p:cNvSpPr>
              <p:nvPr/>
            </p:nvSpPr>
            <p:spPr>
              <a:xfrm>
                <a:off x="4447246" y="5098577"/>
                <a:ext cx="3297201"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117351032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3069943" cy="415498"/>
          </a:xfrm>
          <a:prstGeom prst="rect">
            <a:avLst/>
          </a:prstGeom>
          <a:noFill/>
        </p:spPr>
        <p:txBody>
          <a:bodyPr wrap="none">
            <a:spAutoFit/>
          </a:bodyPr>
          <a:lstStyle/>
          <a:p>
            <a:pPr algn="l"/>
            <a:r>
              <a:rPr lang="en-US" sz="2100" b="1" dirty="0" err="1">
                <a:solidFill>
                  <a:srgbClr val="FFFFFF"/>
                </a:solidFill>
                <a:latin typeface="Cambria"/>
              </a:rPr>
              <a:t>Modelo</a:t>
            </a:r>
            <a:r>
              <a:rPr lang="en-US" sz="2100" b="1" dirty="0">
                <a:solidFill>
                  <a:srgbClr val="FFFFFF"/>
                </a:solidFill>
                <a:latin typeface="Cambria"/>
              </a:rPr>
              <a:t> final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9" name="Imagen 18">
            <a:extLst>
              <a:ext uri="{FF2B5EF4-FFF2-40B4-BE49-F238E27FC236}">
                <a16:creationId xmlns:a16="http://schemas.microsoft.com/office/drawing/2014/main" id="{5B21EE59-DCD7-4AE8-94A0-54322EAD4511}"/>
              </a:ext>
            </a:extLst>
          </p:cNvPr>
          <p:cNvPicPr>
            <a:picLocks noChangeAspect="1"/>
          </p:cNvPicPr>
          <p:nvPr/>
        </p:nvPicPr>
        <p:blipFill>
          <a:blip r:embed="rId2"/>
          <a:srcRect/>
          <a:stretch/>
        </p:blipFill>
        <p:spPr>
          <a:xfrm>
            <a:off x="-610" y="2336663"/>
            <a:ext cx="12192000" cy="3891759"/>
          </a:xfrm>
          <a:prstGeom prst="rect">
            <a:avLst/>
          </a:prstGeom>
        </p:spPr>
      </p:pic>
      <p:sp>
        <p:nvSpPr>
          <p:cNvPr id="22" name="Rectangle 15">
            <a:extLst>
              <a:ext uri="{FF2B5EF4-FFF2-40B4-BE49-F238E27FC236}">
                <a16:creationId xmlns:a16="http://schemas.microsoft.com/office/drawing/2014/main" id="{198FF9F3-3AF4-4354-81FD-EC0CDA5B529F}"/>
              </a:ext>
            </a:extLst>
          </p:cNvPr>
          <p:cNvSpPr/>
          <p:nvPr/>
        </p:nvSpPr>
        <p:spPr>
          <a:xfrm>
            <a:off x="137159" y="898398"/>
            <a:ext cx="11359515" cy="138226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TextBox 16">
                <a:extLst>
                  <a:ext uri="{FF2B5EF4-FFF2-40B4-BE49-F238E27FC236}">
                    <a16:creationId xmlns:a16="http://schemas.microsoft.com/office/drawing/2014/main" id="{53767F22-EC6A-45E9-99D5-AE28AEB2AF5A}"/>
                  </a:ext>
                </a:extLst>
              </p:cNvPr>
              <p:cNvSpPr txBox="1"/>
              <p:nvPr/>
            </p:nvSpPr>
            <p:spPr>
              <a:xfrm>
                <a:off x="274319" y="944118"/>
                <a:ext cx="11222355" cy="1277273"/>
              </a:xfrm>
              <a:prstGeom prst="rect">
                <a:avLst/>
              </a:prstGeom>
              <a:noFill/>
            </p:spPr>
            <p:txBody>
              <a:bodyPr wrap="square">
                <a:spAutoFit/>
              </a:bodyPr>
              <a:lstStyle/>
              <a:p>
                <a:pPr algn="just"/>
                <a:r>
                  <a:rPr lang="es-AR" sz="1600" dirty="0">
                    <a:latin typeface="+mj-lt"/>
                  </a:rPr>
                  <a:t>Diagrama de bloques final con la implementación codificada del controlador externo. </a:t>
                </a:r>
                <a:r>
                  <a:rPr lang="es-AR" sz="1600" dirty="0">
                    <a:effectLst/>
                    <a:latin typeface="+mj-lt"/>
                    <a:ea typeface="Calibri" panose="020F0502020204030204" pitchFamily="34" charset="0"/>
                    <a:cs typeface="Times New Roman" panose="02020603050405020304" pitchFamily="18" charset="0"/>
                  </a:rPr>
                  <a:t>Esta implementación reemplaza la estructura gráfica del controlador por un algoritmo secuencial ejecutado en cada período de muestreo </a:t>
                </a:r>
                <a14:m>
                  <m:oMath xmlns:m="http://schemas.openxmlformats.org/officeDocument/2006/math">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rPr>
                          <m:t>𝑠</m:t>
                        </m:r>
                      </m:sub>
                    </m:sSub>
                  </m:oMath>
                </a14:m>
                <a:r>
                  <a:rPr lang="es-AR" sz="1600" dirty="0">
                    <a:effectLst/>
                    <a:latin typeface="+mj-lt"/>
                    <a:ea typeface="Calibri" panose="020F0502020204030204" pitchFamily="34" charset="0"/>
                    <a:cs typeface="Times New Roman" panose="02020603050405020304" pitchFamily="18" charset="0"/>
                  </a:rPr>
                  <a:t>, utilizando variables persistentes para almacenar los estados internos del sistema. De esta forma, se emula el comportamiento de un controlador digital implementado en un microcontrolador o DSP.</a:t>
                </a:r>
                <a:endParaRPr lang="es-AR" sz="1600" dirty="0">
                  <a:effectLst/>
                  <a:latin typeface="+mj-lt"/>
                  <a:ea typeface="Times New Roman" panose="02020603050405020304" pitchFamily="18" charset="0"/>
                </a:endParaRPr>
              </a:p>
              <a:p>
                <a:pPr algn="l"/>
                <a:endParaRPr sz="1300" dirty="0">
                  <a:solidFill>
                    <a:srgbClr val="1A3A6B"/>
                  </a:solidFill>
                  <a:latin typeface="Calibri"/>
                </a:endParaRPr>
              </a:p>
            </p:txBody>
          </p:sp>
        </mc:Choice>
        <mc:Fallback xmlns="">
          <p:sp>
            <p:nvSpPr>
              <p:cNvPr id="23" name="TextBox 16">
                <a:extLst>
                  <a:ext uri="{FF2B5EF4-FFF2-40B4-BE49-F238E27FC236}">
                    <a16:creationId xmlns:a16="http://schemas.microsoft.com/office/drawing/2014/main" id="{53767F22-EC6A-45E9-99D5-AE28AEB2AF5A}"/>
                  </a:ext>
                </a:extLst>
              </p:cNvPr>
              <p:cNvSpPr txBox="1">
                <a:spLocks noRot="1" noChangeAspect="1" noMove="1" noResize="1" noEditPoints="1" noAdjustHandles="1" noChangeArrowheads="1" noChangeShapeType="1" noTextEdit="1"/>
              </p:cNvSpPr>
              <p:nvPr/>
            </p:nvSpPr>
            <p:spPr>
              <a:xfrm>
                <a:off x="274319" y="944118"/>
                <a:ext cx="11222355" cy="1277273"/>
              </a:xfrm>
              <a:prstGeom prst="rect">
                <a:avLst/>
              </a:prstGeom>
              <a:blipFill>
                <a:blip r:embed="rId3"/>
                <a:stretch>
                  <a:fillRect l="-272" t="-1435" r="-272"/>
                </a:stretch>
              </a:blipFill>
            </p:spPr>
            <p:txBody>
              <a:bodyPr/>
              <a:lstStyle/>
              <a:p>
                <a:r>
                  <a:rPr lang="es-AR">
                    <a:noFill/>
                  </a:rPr>
                  <a:t> </a:t>
                </a:r>
              </a:p>
            </p:txBody>
          </p:sp>
        </mc:Fallback>
      </mc:AlternateContent>
    </p:spTree>
    <p:extLst>
      <p:ext uri="{BB962C8B-B14F-4D97-AF65-F5344CB8AC3E}">
        <p14:creationId xmlns:p14="http://schemas.microsoft.com/office/powerpoint/2010/main" val="42246988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2628117" y="5972117"/>
            <a:ext cx="6756389" cy="50007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5">
            <a:extLst>
              <a:ext uri="{FF2B5EF4-FFF2-40B4-BE49-F238E27FC236}">
                <a16:creationId xmlns:a16="http://schemas.microsoft.com/office/drawing/2014/main" id="{5256F758-419A-4566-B4B5-CD4CAECF7228}"/>
              </a:ext>
            </a:extLst>
          </p:cNvPr>
          <p:cNvSpPr/>
          <p:nvPr/>
        </p:nvSpPr>
        <p:spPr>
          <a:xfrm>
            <a:off x="118110" y="1139672"/>
            <a:ext cx="3539490" cy="30540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542526" cy="415498"/>
          </a:xfrm>
          <a:prstGeom prst="rect">
            <a:avLst/>
          </a:prstGeom>
          <a:noFill/>
        </p:spPr>
        <p:txBody>
          <a:bodyPr wrap="none">
            <a:spAutoFit/>
          </a:bodyPr>
          <a:lstStyle/>
          <a:p>
            <a:pPr algn="l"/>
            <a:r>
              <a:rPr lang="en-US" sz="2100" b="1" dirty="0" err="1">
                <a:solidFill>
                  <a:srgbClr val="FFFFFF"/>
                </a:solidFill>
                <a:latin typeface="Cambria"/>
              </a:rPr>
              <a:t>Estructura</a:t>
            </a:r>
            <a:r>
              <a:rPr lang="en-US" sz="2100" b="1" dirty="0">
                <a:solidFill>
                  <a:srgbClr val="FFFFFF"/>
                </a:solidFill>
                <a:latin typeface="Cambria"/>
              </a:rPr>
              <a:t> del </a:t>
            </a:r>
            <a:r>
              <a:rPr lang="en-US" sz="2100" b="1" dirty="0" err="1">
                <a:solidFill>
                  <a:srgbClr val="FFFFFF"/>
                </a:solidFill>
                <a:latin typeface="Cambria"/>
              </a:rPr>
              <a:t>algoritmo</a:t>
            </a:r>
            <a:r>
              <a:rPr lang="en-US" sz="2100" b="1" dirty="0">
                <a:solidFill>
                  <a:srgbClr val="FFFFFF"/>
                </a:solidFill>
                <a:latin typeface="Cambria"/>
              </a:rPr>
              <a:t> de control</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22" name="Rectangle 15">
            <a:extLst>
              <a:ext uri="{FF2B5EF4-FFF2-40B4-BE49-F238E27FC236}">
                <a16:creationId xmlns:a16="http://schemas.microsoft.com/office/drawing/2014/main" id="{198FF9F3-3AF4-4354-81FD-EC0CDA5B529F}"/>
              </a:ext>
            </a:extLst>
          </p:cNvPr>
          <p:cNvSpPr/>
          <p:nvPr/>
        </p:nvSpPr>
        <p:spPr>
          <a:xfrm>
            <a:off x="8473134" y="1112871"/>
            <a:ext cx="3539490" cy="3031194"/>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magen 9">
            <a:extLst>
              <a:ext uri="{FF2B5EF4-FFF2-40B4-BE49-F238E27FC236}">
                <a16:creationId xmlns:a16="http://schemas.microsoft.com/office/drawing/2014/main" id="{85996C9B-5BFC-4A11-AF3D-45BEA1A2EACF}"/>
              </a:ext>
            </a:extLst>
          </p:cNvPr>
          <p:cNvPicPr/>
          <p:nvPr/>
        </p:nvPicPr>
        <p:blipFill rotWithShape="1">
          <a:blip r:embed="rId2"/>
          <a:srcRect t="1132" b="-47"/>
          <a:stretch/>
        </p:blipFill>
        <p:spPr bwMode="auto">
          <a:xfrm>
            <a:off x="3718867" y="1750102"/>
            <a:ext cx="4651704" cy="4170303"/>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1" name="Rectangle 4">
                <a:extLst>
                  <a:ext uri="{FF2B5EF4-FFF2-40B4-BE49-F238E27FC236}">
                    <a16:creationId xmlns:a16="http://schemas.microsoft.com/office/drawing/2014/main" id="{80288983-C1E7-48F7-84E7-670D673A33F3}"/>
                  </a:ext>
                </a:extLst>
              </p:cNvPr>
              <p:cNvSpPr>
                <a:spLocks noChangeArrowheads="1"/>
              </p:cNvSpPr>
              <p:nvPr/>
            </p:nvSpPr>
            <p:spPr bwMode="auto">
              <a:xfrm>
                <a:off x="118110" y="1080426"/>
                <a:ext cx="3470910" cy="335809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kumimoji="0" lang="es-AR" altLang="es-AR" sz="1400" b="1" i="0" u="none" strike="noStrike" cap="none" normalizeH="0" baseline="0" dirty="0">
                    <a:ln>
                      <a:noFill/>
                    </a:ln>
                    <a:solidFill>
                      <a:schemeClr val="tx1"/>
                    </a:solidFill>
                    <a:effectLst/>
                  </a:rPr>
                  <a:t>Observador de estado aumentado</a:t>
                </a:r>
                <a:r>
                  <a:rPr lang="es-AR" altLang="es-AR" sz="1400" dirty="0"/>
                  <a:t>: E</a:t>
                </a:r>
                <a:r>
                  <a:rPr kumimoji="0" lang="es-AR" altLang="es-AR" sz="1400" b="0" i="0" u="none" strike="noStrike" cap="none" normalizeH="0" baseline="0" dirty="0">
                    <a:ln>
                      <a:noFill/>
                    </a:ln>
                    <a:solidFill>
                      <a:schemeClr val="tx1"/>
                    </a:solidFill>
                    <a:effectLst/>
                  </a:rPr>
                  <a:t>stima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kumimoji="0" lang="es-AR" altLang="es-AR" sz="1400" b="0" i="0" u="none" strike="noStrike" cap="none" normalizeH="0" baseline="0" dirty="0">
                    <a:ln>
                      <a:noFill/>
                    </a:ln>
                    <a:solidFill>
                      <a:schemeClr val="tx1"/>
                    </a:solidFill>
                    <a:effectLst/>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𝑡</m:t>
                    </m:r>
                    <m:r>
                      <a:rPr lang="es-AR" sz="1400" i="1">
                        <a:latin typeface="Cambria Math" panose="02040503050406030204" pitchFamily="18" charset="0"/>
                      </a:rPr>
                      <m:t>)</m:t>
                    </m:r>
                  </m:oMath>
                </a14:m>
                <a:r>
                  <a:rPr kumimoji="0" lang="es-AR" altLang="es-AR" sz="1400" b="0" i="0" u="none" strike="noStrike" cap="none" normalizeH="0" baseline="0" dirty="0">
                    <a:ln>
                      <a:noFill/>
                    </a:ln>
                    <a:solidFill>
                      <a:schemeClr val="tx1"/>
                    </a:solidFill>
                    <a:effectLst/>
                  </a:rPr>
                  <a:t> y realiza la acción integral a partir de la medición de posición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Generación de referencias</a:t>
                </a:r>
                <a:r>
                  <a:rPr kumimoji="0" lang="es-AR" altLang="es-AR" sz="1400" b="0" i="0" u="none" strike="noStrike" cap="none" normalizeH="0" baseline="0" dirty="0">
                    <a:ln>
                      <a:noFill/>
                    </a:ln>
                    <a:solidFill>
                      <a:schemeClr val="tx1"/>
                    </a:solidFill>
                    <a:effectLst/>
                  </a:rPr>
                  <a:t>: Selecciona modo de velocidad / modo posición, con integración o derivación discreta según corresponda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Controlador externo PID</a:t>
                </a:r>
                <a:r>
                  <a:rPr lang="es-AR" altLang="es-AR" sz="1400" dirty="0"/>
                  <a:t>: O</a:t>
                </a:r>
                <a:r>
                  <a:rPr kumimoji="0" lang="es-AR" altLang="es-AR" sz="1400" b="0" i="0" u="none" strike="noStrike" cap="none" normalizeH="0" baseline="0" dirty="0">
                    <a:ln>
                      <a:noFill/>
                    </a:ln>
                    <a:solidFill>
                      <a:schemeClr val="tx1"/>
                    </a:solidFill>
                    <a:effectLst/>
                  </a:rPr>
                  <a:t>pera sobre el error de velocidad y genera la referencia de torque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𝑟𝑒𝑓</m:t>
                        </m:r>
                      </m:sub>
                    </m:sSub>
                  </m:oMath>
                </a14:m>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200" b="0" i="0" u="none" strike="noStrike" cap="none" normalizeH="0" baseline="0" dirty="0">
                  <a:ln>
                    <a:noFill/>
                  </a:ln>
                  <a:solidFill>
                    <a:schemeClr val="tx1"/>
                  </a:solidFill>
                  <a:effectLst/>
                  <a:latin typeface="Arial" panose="020B0604020202020204" pitchFamily="34" charset="0"/>
                </a:endParaRPr>
              </a:p>
            </p:txBody>
          </p:sp>
        </mc:Choice>
        <mc:Fallback xmlns="">
          <p:sp>
            <p:nvSpPr>
              <p:cNvPr id="11" name="Rectangle 4">
                <a:extLst>
                  <a:ext uri="{FF2B5EF4-FFF2-40B4-BE49-F238E27FC236}">
                    <a16:creationId xmlns:a16="http://schemas.microsoft.com/office/drawing/2014/main" id="{80288983-C1E7-48F7-84E7-670D673A33F3}"/>
                  </a:ext>
                </a:extLst>
              </p:cNvPr>
              <p:cNvSpPr>
                <a:spLocks noRot="1" noChangeAspect="1" noMove="1" noResize="1" noEditPoints="1" noAdjustHandles="1" noChangeArrowheads="1" noChangeShapeType="1" noTextEdit="1"/>
              </p:cNvSpPr>
              <p:nvPr/>
            </p:nvSpPr>
            <p:spPr bwMode="auto">
              <a:xfrm>
                <a:off x="118110" y="1080426"/>
                <a:ext cx="3470910" cy="3358099"/>
              </a:xfrm>
              <a:prstGeom prst="rect">
                <a:avLst/>
              </a:prstGeom>
              <a:blipFill>
                <a:blip r:embed="rId3"/>
                <a:stretch>
                  <a:fillRect l="-526" r="-35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Rectangle 7">
                <a:extLst>
                  <a:ext uri="{FF2B5EF4-FFF2-40B4-BE49-F238E27FC236}">
                    <a16:creationId xmlns:a16="http://schemas.microsoft.com/office/drawing/2014/main" id="{98F1B1D7-B89B-410B-8128-15D5DDA1E472}"/>
                  </a:ext>
                </a:extLst>
              </p:cNvPr>
              <p:cNvSpPr>
                <a:spLocks noChangeArrowheads="1"/>
              </p:cNvSpPr>
              <p:nvPr/>
            </p:nvSpPr>
            <p:spPr bwMode="auto">
              <a:xfrm>
                <a:off x="8473133" y="1235981"/>
                <a:ext cx="3539491" cy="267765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lang="es-AR" altLang="es-AR" sz="1400" b="1" dirty="0"/>
                  <a:t>Actualización del observador: </a:t>
                </a:r>
                <a:r>
                  <a:rPr lang="es-AR" altLang="es-AR" sz="1400" dirty="0"/>
                  <a:t>Corrige</a:t>
                </a:r>
                <a:r>
                  <a:rPr lang="es-AR" altLang="es-AR" sz="1400" b="1" dirty="0"/>
                  <a:t> </a:t>
                </a:r>
                <a:r>
                  <a:rPr lang="es-AR" altLang="es-AR" sz="1400" dirty="0"/>
                  <a:t>los estados estimados con el error de observación.</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r>
                  <a:rPr lang="es-AR" altLang="es-AR" sz="1400" b="1" dirty="0"/>
                  <a:t>Modulador de torque: </a:t>
                </a:r>
                <a:r>
                  <a:rPr lang="es-AR" altLang="es-AR" sz="1400" dirty="0"/>
                  <a:t>Calcula </a:t>
                </a:r>
                <a14:m>
                  <m:oMath xmlns:m="http://schemas.openxmlformats.org/officeDocument/2006/math">
                    <m:sSub>
                      <m:sSubPr>
                        <m:ctrlPr>
                          <a:rPr lang="es-AR" sz="11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𝑟𝑒𝑓</m:t>
                        </m:r>
                      </m:sub>
                    </m:sSub>
                  </m:oMath>
                </a14:m>
                <a:r>
                  <a:rPr lang="es-AR" altLang="es-AR" sz="1400" dirty="0"/>
                  <a:t> a partir del modelo mecánico y electromagnético</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pPr>
                <a:endParaRPr lang="es-AR" altLang="es-AR" sz="1400" dirty="0"/>
              </a:p>
              <a:p>
                <a:pPr lvl="0" algn="just" defTabSz="914400" eaLnBrk="0" fontAlgn="base" hangingPunct="0">
                  <a:spcBef>
                    <a:spcPct val="0"/>
                  </a:spcBef>
                  <a:spcAft>
                    <a:spcPct val="0"/>
                  </a:spcAft>
                  <a:buFontTx/>
                  <a:buChar char="•"/>
                </a:pPr>
                <a:r>
                  <a:rPr lang="es-AR" altLang="es-AR" sz="1400" b="1" dirty="0"/>
                  <a:t>Modulador de corriente + desacople: </a:t>
                </a:r>
                <a:r>
                  <a:rPr lang="es-AR" altLang="es-AR" sz="1400" dirty="0"/>
                  <a:t>Reguladores proporcionales por eje y compensación de términos cruzados </a:t>
                </a:r>
              </a:p>
            </p:txBody>
          </p:sp>
        </mc:Choice>
        <mc:Fallback xmlns="">
          <p:sp>
            <p:nvSpPr>
              <p:cNvPr id="14" name="Rectangle 7">
                <a:extLst>
                  <a:ext uri="{FF2B5EF4-FFF2-40B4-BE49-F238E27FC236}">
                    <a16:creationId xmlns:a16="http://schemas.microsoft.com/office/drawing/2014/main" id="{98F1B1D7-B89B-410B-8128-15D5DDA1E472}"/>
                  </a:ext>
                </a:extLst>
              </p:cNvPr>
              <p:cNvSpPr>
                <a:spLocks noRot="1" noChangeAspect="1" noMove="1" noResize="1" noEditPoints="1" noAdjustHandles="1" noChangeArrowheads="1" noChangeShapeType="1" noTextEdit="1"/>
              </p:cNvSpPr>
              <p:nvPr/>
            </p:nvSpPr>
            <p:spPr bwMode="auto">
              <a:xfrm>
                <a:off x="8473133" y="1235981"/>
                <a:ext cx="3539491" cy="2677656"/>
              </a:xfrm>
              <a:prstGeom prst="rect">
                <a:avLst/>
              </a:prstGeom>
              <a:blipFill>
                <a:blip r:embed="rId4"/>
                <a:stretch>
                  <a:fillRect l="-688" t="-228" r="-516" b="-182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p:sp>
        <p:nvSpPr>
          <p:cNvPr id="20" name="CuadroTexto 19">
            <a:extLst>
              <a:ext uri="{FF2B5EF4-FFF2-40B4-BE49-F238E27FC236}">
                <a16:creationId xmlns:a16="http://schemas.microsoft.com/office/drawing/2014/main" id="{B5F975F1-6706-45AB-B2EA-1907C28ABBC5}"/>
              </a:ext>
            </a:extLst>
          </p:cNvPr>
          <p:cNvSpPr txBox="1"/>
          <p:nvPr/>
        </p:nvSpPr>
        <p:spPr>
          <a:xfrm>
            <a:off x="2735274" y="6094238"/>
            <a:ext cx="11193780" cy="253916"/>
          </a:xfrm>
          <a:prstGeom prst="rect">
            <a:avLst/>
          </a:prstGeom>
          <a:noFill/>
        </p:spPr>
        <p:txBody>
          <a:bodyPr wrap="square">
            <a:spAutoFit/>
          </a:bodyPr>
          <a:lstStyle/>
          <a:p>
            <a:pPr algn="just"/>
            <a:r>
              <a:rPr lang="es-AR" sz="1050" dirty="0"/>
              <a:t>Todas las integraciones discretizadas con método de </a:t>
            </a:r>
            <a:r>
              <a:rPr lang="es-AR" sz="1050" dirty="0" err="1"/>
              <a:t>Tustin</a:t>
            </a:r>
            <a:r>
              <a:rPr lang="es-AR" sz="1050" dirty="0"/>
              <a:t>. Estados internos almacenados en variables persistentes.</a:t>
            </a:r>
          </a:p>
        </p:txBody>
      </p:sp>
    </p:spTree>
    <p:extLst>
      <p:ext uri="{BB962C8B-B14F-4D97-AF65-F5344CB8AC3E}">
        <p14:creationId xmlns:p14="http://schemas.microsoft.com/office/powerpoint/2010/main" val="155469907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681037" y="658368"/>
            <a:ext cx="10853738" cy="54316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dirty="0"/>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470904" cy="415498"/>
          </a:xfrm>
          <a:prstGeom prst="rect">
            <a:avLst/>
          </a:prstGeom>
          <a:noFill/>
        </p:spPr>
        <p:txBody>
          <a:bodyPr wrap="none">
            <a:spAutoFit/>
          </a:bodyPr>
          <a:lstStyle/>
          <a:p>
            <a:pPr algn="l"/>
            <a:r>
              <a:rPr lang="en-US" sz="2100" b="1" dirty="0" err="1">
                <a:solidFill>
                  <a:srgbClr val="FFFFFF"/>
                </a:solidFill>
                <a:latin typeface="Cambria"/>
              </a:rPr>
              <a:t>Resultados</a:t>
            </a:r>
            <a:r>
              <a:rPr lang="en-US" sz="2100" b="1" dirty="0">
                <a:solidFill>
                  <a:srgbClr val="FFFFFF"/>
                </a:solidFill>
                <a:latin typeface="Cambria"/>
              </a:rPr>
              <a:t>  del </a:t>
            </a:r>
            <a:r>
              <a:rPr lang="en-US" sz="2100" b="1" dirty="0" err="1">
                <a:solidFill>
                  <a:srgbClr val="FFFFFF"/>
                </a:solidFill>
                <a:latin typeface="Cambria"/>
              </a:rPr>
              <a:t>modelo</a:t>
            </a:r>
            <a:r>
              <a:rPr lang="en-US" sz="2100" b="1" dirty="0">
                <a:solidFill>
                  <a:srgbClr val="FFFFFF"/>
                </a:solidFill>
                <a:latin typeface="Cambria"/>
              </a:rPr>
              <a:t>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15" name="CuadroTexto 14">
            <a:extLst>
              <a:ext uri="{FF2B5EF4-FFF2-40B4-BE49-F238E27FC236}">
                <a16:creationId xmlns:a16="http://schemas.microsoft.com/office/drawing/2014/main" id="{FB446ED9-17A6-4898-9F49-B17E11795EB9}"/>
              </a:ext>
            </a:extLst>
          </p:cNvPr>
          <p:cNvSpPr txBox="1"/>
          <p:nvPr/>
        </p:nvSpPr>
        <p:spPr>
          <a:xfrm>
            <a:off x="668978" y="658368"/>
            <a:ext cx="10853738" cy="543162"/>
          </a:xfrm>
          <a:prstGeom prst="rect">
            <a:avLst/>
          </a:prstGeom>
          <a:noFill/>
        </p:spPr>
        <p:txBody>
          <a:bodyPr wrap="square">
            <a:spAutoFit/>
          </a:bodyPr>
          <a:lstStyle/>
          <a:p>
            <a:pPr marL="0" marR="0" algn="ctr">
              <a:lnSpc>
                <a:spcPct val="107000"/>
              </a:lnSpc>
              <a:spcBef>
                <a:spcPts val="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comportamiento del controlador implementado en texto estructurado fue validado comparando sus resultados con los obtenidos previamente mediante el modelo en bloques de </a:t>
            </a:r>
            <a:r>
              <a:rPr lang="es-AR" sz="1400" dirty="0" err="1">
                <a:effectLst/>
                <a:latin typeface="Calibri" panose="020F0502020204030204" pitchFamily="34" charset="0"/>
                <a:ea typeface="Calibri" panose="020F0502020204030204" pitchFamily="34" charset="0"/>
                <a:cs typeface="Times New Roman" panose="02020603050405020304" pitchFamily="18" charset="0"/>
              </a:rPr>
              <a:t>Simulink</a:t>
            </a:r>
            <a:r>
              <a:rPr lang="es-AR" sz="1400" dirty="0">
                <a:effectLst/>
                <a:latin typeface="Calibri" panose="020F0502020204030204" pitchFamily="34" charset="0"/>
                <a:ea typeface="Calibri" panose="020F0502020204030204" pitchFamily="34" charset="0"/>
                <a:cs typeface="Times New Roman" panose="02020603050405020304" pitchFamily="18" charset="0"/>
              </a:rPr>
              <a:t>.</a:t>
            </a:r>
          </a:p>
        </p:txBody>
      </p:sp>
      <p:pic>
        <p:nvPicPr>
          <p:cNvPr id="16" name="Imagen 15">
            <a:extLst>
              <a:ext uri="{FF2B5EF4-FFF2-40B4-BE49-F238E27FC236}">
                <a16:creationId xmlns:a16="http://schemas.microsoft.com/office/drawing/2014/main" id="{47E2607F-59BD-4FFC-A7EE-97A01964828E}"/>
              </a:ext>
            </a:extLst>
          </p:cNvPr>
          <p:cNvPicPr/>
          <p:nvPr/>
        </p:nvPicPr>
        <p:blipFill>
          <a:blip r:embed="rId2">
            <a:extLst>
              <a:ext uri="{28A0092B-C50C-407E-A947-70E740481C1C}">
                <a14:useLocalDpi xmlns:a14="http://schemas.microsoft.com/office/drawing/2010/main" val="0"/>
              </a:ext>
            </a:extLst>
          </a:blip>
          <a:stretch>
            <a:fillRect/>
          </a:stretch>
        </p:blipFill>
        <p:spPr>
          <a:xfrm>
            <a:off x="59349" y="1281070"/>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7" name="Imagen 16">
            <a:extLst>
              <a:ext uri="{FF2B5EF4-FFF2-40B4-BE49-F238E27FC236}">
                <a16:creationId xmlns:a16="http://schemas.microsoft.com/office/drawing/2014/main" id="{CFA72D58-4B0F-4BEC-A06D-738ADB9D35F8}"/>
              </a:ext>
            </a:extLst>
          </p:cNvPr>
          <p:cNvPicPr/>
          <p:nvPr/>
        </p:nvPicPr>
        <p:blipFill>
          <a:blip r:embed="rId3">
            <a:extLst>
              <a:ext uri="{28A0092B-C50C-407E-A947-70E740481C1C}">
                <a14:useLocalDpi xmlns:a14="http://schemas.microsoft.com/office/drawing/2010/main" val="0"/>
              </a:ext>
            </a:extLst>
          </a:blip>
          <a:stretch>
            <a:fillRect/>
          </a:stretch>
        </p:blipFill>
        <p:spPr>
          <a:xfrm>
            <a:off x="6515747" y="1259132"/>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DCFB1DF7-D86E-4A07-8DB2-3638233B0AA9}"/>
              </a:ext>
            </a:extLst>
          </p:cNvPr>
          <p:cNvPicPr/>
          <p:nvPr/>
        </p:nvPicPr>
        <p:blipFill>
          <a:blip r:embed="rId4">
            <a:extLst>
              <a:ext uri="{28A0092B-C50C-407E-A947-70E740481C1C}">
                <a14:useLocalDpi xmlns:a14="http://schemas.microsoft.com/office/drawing/2010/main" val="0"/>
              </a:ext>
            </a:extLst>
          </a:blip>
          <a:stretch>
            <a:fillRect/>
          </a:stretch>
        </p:blipFill>
        <p:spPr>
          <a:xfrm>
            <a:off x="3295885" y="3935575"/>
            <a:ext cx="5599923" cy="2422822"/>
          </a:xfrm>
          <a:prstGeom prst="rect">
            <a:avLst/>
          </a:prstGeom>
        </p:spPr>
        <p:style>
          <a:lnRef idx="2">
            <a:schemeClr val="accent1"/>
          </a:lnRef>
          <a:fillRef idx="1">
            <a:schemeClr val="lt1"/>
          </a:fillRef>
          <a:effectRef idx="0">
            <a:schemeClr val="accent1"/>
          </a:effectRef>
          <a:fontRef idx="minor">
            <a:schemeClr val="dk1"/>
          </a:fontRef>
        </p:style>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3DF57B-F855-4801-82A9-11E435668C63}"/>
                  </a:ext>
                </a:extLst>
              </p:cNvPr>
              <p:cNvSpPr txBox="1"/>
              <p:nvPr/>
            </p:nvSpPr>
            <p:spPr>
              <a:xfrm>
                <a:off x="-265741" y="3650925"/>
                <a:ext cx="6148386" cy="276999"/>
              </a:xfrm>
              <a:prstGeom prst="rect">
                <a:avLst/>
              </a:prstGeom>
              <a:noFill/>
            </p:spPr>
            <p:txBody>
              <a:bodyPr wrap="square">
                <a:spAutoFit/>
              </a:bodyPr>
              <a:lstStyle/>
              <a:p>
                <a:pPr marL="0" indent="0" algn="ctr">
                  <a:buNone/>
                </a:pPr>
                <a:r>
                  <a:rPr lang="es-AR" sz="1200" i="1" dirty="0">
                    <a:solidFill>
                      <a:schemeClr val="tx2"/>
                    </a:solidFill>
                    <a:latin typeface="Calibri" pitchFamily="34" charset="0"/>
                    <a:ea typeface="Calibri" pitchFamily="34" charset="-122"/>
                    <a:cs typeface="Calibri" pitchFamily="34" charset="-120"/>
                  </a:rPr>
                  <a:t>FIGURA: </a:t>
                </a:r>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100: Figura 96: Curvas de posición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controlador discreto codificado</a:t>
                </a:r>
                <a:endParaRPr lang="es-AR" sz="1200" i="1" dirty="0">
                  <a:solidFill>
                    <a:schemeClr val="tx2"/>
                  </a:solidFill>
                </a:endParaRPr>
              </a:p>
            </p:txBody>
          </p:sp>
        </mc:Choice>
        <mc:Fallback xmlns="">
          <p:sp>
            <p:nvSpPr>
              <p:cNvPr id="23" name="CuadroTexto 22">
                <a:extLst>
                  <a:ext uri="{FF2B5EF4-FFF2-40B4-BE49-F238E27FC236}">
                    <a16:creationId xmlns:a16="http://schemas.microsoft.com/office/drawing/2014/main" id="{973DF57B-F855-4801-82A9-11E435668C63}"/>
                  </a:ext>
                </a:extLst>
              </p:cNvPr>
              <p:cNvSpPr txBox="1">
                <a:spLocks noRot="1" noChangeAspect="1" noMove="1" noResize="1" noEditPoints="1" noAdjustHandles="1" noChangeArrowheads="1" noChangeShapeType="1" noTextEdit="1"/>
              </p:cNvSpPr>
              <p:nvPr/>
            </p:nvSpPr>
            <p:spPr>
              <a:xfrm>
                <a:off x="-265741" y="3650925"/>
                <a:ext cx="6148386" cy="276999"/>
              </a:xfrm>
              <a:prstGeom prst="rect">
                <a:avLst/>
              </a:prstGeom>
              <a:blipFill>
                <a:blip r:embed="rId5"/>
                <a:stretch>
                  <a:fillRect t="-2222" b="-1777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302F3835-C550-4082-8AA7-EDF6FA1C8FFF}"/>
                  </a:ext>
                </a:extLst>
              </p:cNvPr>
              <p:cNvSpPr txBox="1"/>
              <p:nvPr/>
            </p:nvSpPr>
            <p:spPr>
              <a:xfrm>
                <a:off x="3021653" y="6341320"/>
                <a:ext cx="6148386" cy="553998"/>
              </a:xfrm>
              <a:prstGeom prst="rect">
                <a:avLst/>
              </a:prstGeom>
              <a:noFill/>
            </p:spPr>
            <p:txBody>
              <a:bodyPr wrap="square">
                <a:spAutoFit/>
              </a:bodyPr>
              <a:lstStyle/>
              <a:p>
                <a:pPr algn="ctr"/>
                <a:r>
                  <a:rPr lang="es-AR" sz="1100" i="1" dirty="0">
                    <a:solidFill>
                      <a:schemeClr val="tx2"/>
                    </a:solidFill>
                    <a:latin typeface="Calibri" pitchFamily="34" charset="0"/>
                    <a:ea typeface="Calibri" pitchFamily="34" charset="-122"/>
                    <a:cs typeface="Calibri" pitchFamily="34" charset="-120"/>
                  </a:rPr>
                  <a:t>FIGURA: </a:t>
                </a:r>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102: Torque </a:t>
                </a:r>
                <a14:m>
                  <m:oMath xmlns:m="http://schemas.openxmlformats.org/officeDocument/2006/math">
                    <m:sSub>
                      <m:sSubPr>
                        <m:ctrlP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 controlador discreto codificado</a:t>
                </a:r>
              </a:p>
              <a:p>
                <a:pPr marL="0" indent="0" algn="ctr">
                  <a:buNone/>
                </a:pPr>
                <a:endParaRPr lang="es-AR" sz="1800" i="1" dirty="0">
                  <a:solidFill>
                    <a:schemeClr val="tx2"/>
                  </a:solidFill>
                </a:endParaRPr>
              </a:p>
            </p:txBody>
          </p:sp>
        </mc:Choice>
        <mc:Fallback xmlns="">
          <p:sp>
            <p:nvSpPr>
              <p:cNvPr id="25" name="CuadroTexto 24">
                <a:extLst>
                  <a:ext uri="{FF2B5EF4-FFF2-40B4-BE49-F238E27FC236}">
                    <a16:creationId xmlns:a16="http://schemas.microsoft.com/office/drawing/2014/main" id="{302F3835-C550-4082-8AA7-EDF6FA1C8FFF}"/>
                  </a:ext>
                </a:extLst>
              </p:cNvPr>
              <p:cNvSpPr txBox="1">
                <a:spLocks noRot="1" noChangeAspect="1" noMove="1" noResize="1" noEditPoints="1" noAdjustHandles="1" noChangeArrowheads="1" noChangeShapeType="1" noTextEdit="1"/>
              </p:cNvSpPr>
              <p:nvPr/>
            </p:nvSpPr>
            <p:spPr>
              <a:xfrm>
                <a:off x="3021653" y="6341320"/>
                <a:ext cx="6148386" cy="553998"/>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E5F5C51E-5D36-4BB9-843D-0CFE06C61DA2}"/>
                  </a:ext>
                </a:extLst>
              </p:cNvPr>
              <p:cNvSpPr txBox="1"/>
              <p:nvPr/>
            </p:nvSpPr>
            <p:spPr>
              <a:xfrm>
                <a:off x="6250006" y="3641464"/>
                <a:ext cx="6148386" cy="276999"/>
              </a:xfrm>
              <a:prstGeom prst="rect">
                <a:avLst/>
              </a:prstGeom>
              <a:noFill/>
            </p:spPr>
            <p:txBody>
              <a:bodyPr wrap="square">
                <a:spAutoFit/>
              </a:bodyPr>
              <a:lstStyle/>
              <a:p>
                <a:pPr marL="0" indent="0" algn="ctr">
                  <a:buNone/>
                </a:pPr>
                <a:r>
                  <a:rPr lang="es-AR" sz="1200" i="1" dirty="0">
                    <a:solidFill>
                      <a:schemeClr val="tx2"/>
                    </a:solidFill>
                    <a:latin typeface="+mj-lt"/>
                    <a:ea typeface="Calibri" pitchFamily="34" charset="-122"/>
                    <a:cs typeface="Calibri" pitchFamily="34" charset="-120"/>
                  </a:rPr>
                  <a:t>FIGURA: </a:t>
                </a:r>
                <a:r>
                  <a:rPr lang="es-AR" sz="1200" i="1" dirty="0">
                    <a:solidFill>
                      <a:schemeClr val="tx2"/>
                    </a:solidFill>
                    <a:effectLst/>
                    <a:latin typeface="+mj-lt"/>
                    <a:ea typeface="Calibri" panose="020F0502020204030204" pitchFamily="34" charset="0"/>
                    <a:cs typeface="Times New Roman" panose="02020603050405020304" pitchFamily="18" charset="0"/>
                  </a:rPr>
                  <a:t>Figura 101: Curvas de velocidad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mj-lt"/>
                    <a:ea typeface="Calibri" panose="020F0502020204030204" pitchFamily="34" charset="0"/>
                    <a:cs typeface="Times New Roman" panose="02020603050405020304" pitchFamily="18" charset="0"/>
                  </a:rPr>
                  <a:t> con controlador discreto codificado</a:t>
                </a:r>
                <a:endParaRPr lang="es-AR" sz="1200" i="1" dirty="0">
                  <a:solidFill>
                    <a:schemeClr val="tx2"/>
                  </a:solidFill>
                  <a:latin typeface="+mj-lt"/>
                </a:endParaRPr>
              </a:p>
            </p:txBody>
          </p:sp>
        </mc:Choice>
        <mc:Fallback xmlns="">
          <p:sp>
            <p:nvSpPr>
              <p:cNvPr id="27" name="CuadroTexto 26">
                <a:extLst>
                  <a:ext uri="{FF2B5EF4-FFF2-40B4-BE49-F238E27FC236}">
                    <a16:creationId xmlns:a16="http://schemas.microsoft.com/office/drawing/2014/main" id="{E5F5C51E-5D36-4BB9-843D-0CFE06C61DA2}"/>
                  </a:ext>
                </a:extLst>
              </p:cNvPr>
              <p:cNvSpPr txBox="1">
                <a:spLocks noRot="1" noChangeAspect="1" noMove="1" noResize="1" noEditPoints="1" noAdjustHandles="1" noChangeArrowheads="1" noChangeShapeType="1" noTextEdit="1"/>
              </p:cNvSpPr>
              <p:nvPr/>
            </p:nvSpPr>
            <p:spPr>
              <a:xfrm>
                <a:off x="6250006" y="3641464"/>
                <a:ext cx="6148386" cy="276999"/>
              </a:xfrm>
              <a:prstGeom prst="rect">
                <a:avLst/>
              </a:prstGeom>
              <a:blipFill>
                <a:blip r:embed="rId7"/>
                <a:stretch>
                  <a:fillRect b="-15217"/>
                </a:stretch>
              </a:blipFill>
            </p:spPr>
            <p:txBody>
              <a:bodyPr/>
              <a:lstStyle/>
              <a:p>
                <a:r>
                  <a:rPr lang="es-AR">
                    <a:noFill/>
                  </a:rPr>
                  <a:t> </a:t>
                </a:r>
              </a:p>
            </p:txBody>
          </p:sp>
        </mc:Fallback>
      </mc:AlternateContent>
    </p:spTree>
    <p:extLst>
      <p:ext uri="{BB962C8B-B14F-4D97-AF65-F5344CB8AC3E}">
        <p14:creationId xmlns:p14="http://schemas.microsoft.com/office/powerpoint/2010/main" val="174318010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Referencias</a:t>
            </a: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4847481"/>
          </a:xfrm>
          <a:prstGeom prst="rect">
            <a:avLst/>
          </a:prstGeom>
          <a:noFill/>
        </p:spPr>
        <p:txBody>
          <a:bodyPr wrap="square">
            <a:spAutoFit/>
          </a:bodyPr>
          <a:lstStyle/>
          <a:p>
            <a:r>
              <a:rPr sz="2400" dirty="0">
                <a:solidFill>
                  <a:srgbClr val="1A1A2E"/>
                </a:solidFill>
                <a:latin typeface="Calibri"/>
              </a:rPr>
              <a:t>[1] G. Julián. Proyecto Global </a:t>
            </a:r>
            <a:r>
              <a:rPr sz="2400" dirty="0" err="1">
                <a:solidFill>
                  <a:srgbClr val="1A1A2E"/>
                </a:solidFill>
                <a:latin typeface="Calibri"/>
              </a:rPr>
              <a:t>Integrador</a:t>
            </a:r>
            <a:r>
              <a:rPr sz="2400" dirty="0">
                <a:solidFill>
                  <a:srgbClr val="1A1A2E"/>
                </a:solidFill>
                <a:latin typeface="Calibri"/>
              </a:rPr>
              <a:t>: Control de </a:t>
            </a:r>
            <a:r>
              <a:rPr sz="2400" dirty="0" err="1">
                <a:solidFill>
                  <a:srgbClr val="1A1A2E"/>
                </a:solidFill>
                <a:latin typeface="Calibri"/>
              </a:rPr>
              <a:t>Accionamiento</a:t>
            </a:r>
            <a:r>
              <a:rPr sz="2400" dirty="0">
                <a:solidFill>
                  <a:srgbClr val="1A1A2E"/>
                </a:solidFill>
                <a:latin typeface="Calibri"/>
              </a:rPr>
              <a:t> de CA con Motor </a:t>
            </a:r>
            <a:r>
              <a:rPr sz="2400" dirty="0" err="1">
                <a:solidFill>
                  <a:srgbClr val="1A1A2E"/>
                </a:solidFill>
                <a:latin typeface="Calibri"/>
              </a:rPr>
              <a:t>Síncrono</a:t>
            </a:r>
            <a:r>
              <a:rPr sz="2400" dirty="0">
                <a:solidFill>
                  <a:srgbClr val="1A1A2E"/>
                </a:solidFill>
                <a:latin typeface="Calibri"/>
              </a:rPr>
              <a:t> de </a:t>
            </a:r>
            <a:r>
              <a:rPr sz="2400" dirty="0" err="1">
                <a:solidFill>
                  <a:srgbClr val="1A1A2E"/>
                </a:solidFill>
                <a:latin typeface="Calibri"/>
              </a:rPr>
              <a:t>Imanes</a:t>
            </a:r>
            <a:r>
              <a:rPr sz="2400" dirty="0">
                <a:solidFill>
                  <a:srgbClr val="1A1A2E"/>
                </a:solidFill>
                <a:latin typeface="Calibri"/>
              </a:rPr>
              <a:t> </a:t>
            </a:r>
            <a:r>
              <a:rPr sz="2400" dirty="0" err="1">
                <a:solidFill>
                  <a:srgbClr val="1A1A2E"/>
                </a:solidFill>
                <a:latin typeface="Calibri"/>
              </a:rPr>
              <a:t>Permanentes</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Ing. </a:t>
            </a:r>
            <a:r>
              <a:rPr sz="2400" dirty="0" err="1">
                <a:solidFill>
                  <a:srgbClr val="1A1A2E"/>
                </a:solidFill>
                <a:latin typeface="Calibri"/>
              </a:rPr>
              <a:t>en</a:t>
            </a:r>
            <a:r>
              <a:rPr sz="2400" dirty="0">
                <a:solidFill>
                  <a:srgbClr val="1A1A2E"/>
                </a:solidFill>
                <a:latin typeface="Calibri"/>
              </a:rPr>
              <a:t> </a:t>
            </a:r>
            <a:r>
              <a:rPr sz="2400" dirty="0" err="1">
                <a:solidFill>
                  <a:srgbClr val="1A1A2E"/>
                </a:solidFill>
                <a:latin typeface="Calibri"/>
              </a:rPr>
              <a:t>Mecatrónica</a:t>
            </a:r>
            <a:r>
              <a:rPr sz="2400" dirty="0">
                <a:solidFill>
                  <a:srgbClr val="1A1A2E"/>
                </a:solidFill>
                <a:latin typeface="Calibri"/>
              </a:rPr>
              <a:t>, 2024.</a:t>
            </a:r>
          </a:p>
          <a:p>
            <a:pPr>
              <a:spcBef>
                <a:spcPts val="900"/>
              </a:spcBef>
            </a:pPr>
            <a:r>
              <a:rPr sz="2400" dirty="0">
                <a:solidFill>
                  <a:srgbClr val="1A1A2E"/>
                </a:solidFill>
                <a:latin typeface="Calibri"/>
              </a:rPr>
              <a:t>[2] G. Julián. </a:t>
            </a:r>
            <a:r>
              <a:rPr sz="2400" dirty="0" err="1">
                <a:solidFill>
                  <a:srgbClr val="1A1A2E"/>
                </a:solidFill>
                <a:latin typeface="Calibri"/>
              </a:rPr>
              <a:t>Guía</a:t>
            </a:r>
            <a:r>
              <a:rPr sz="2400" dirty="0">
                <a:solidFill>
                  <a:srgbClr val="1A1A2E"/>
                </a:solidFill>
                <a:latin typeface="Calibri"/>
              </a:rPr>
              <a:t> de </a:t>
            </a:r>
            <a:r>
              <a:rPr sz="2400" dirty="0" err="1">
                <a:solidFill>
                  <a:srgbClr val="1A1A2E"/>
                </a:solidFill>
                <a:latin typeface="Calibri"/>
              </a:rPr>
              <a:t>trabajo</a:t>
            </a:r>
            <a:r>
              <a:rPr sz="2400" dirty="0">
                <a:solidFill>
                  <a:srgbClr val="1A1A2E"/>
                </a:solidFill>
                <a:latin typeface="Calibri"/>
              </a:rPr>
              <a:t> — Proyecto Global </a:t>
            </a:r>
            <a:r>
              <a:rPr sz="2400" dirty="0" err="1">
                <a:solidFill>
                  <a:srgbClr val="1A1A2E"/>
                </a:solidFill>
                <a:latin typeface="Calibri"/>
              </a:rPr>
              <a:t>Integrador</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2024.</a:t>
            </a:r>
          </a:p>
          <a:p>
            <a:pPr>
              <a:spcBef>
                <a:spcPts val="900"/>
              </a:spcBef>
            </a:pPr>
            <a:r>
              <a:rPr sz="2400" dirty="0">
                <a:solidFill>
                  <a:srgbClr val="1A1A2E"/>
                </a:solidFill>
                <a:latin typeface="Calibri"/>
              </a:rPr>
              <a:t>[3] P. Krause, O. </a:t>
            </a:r>
            <a:r>
              <a:rPr sz="2400" dirty="0" err="1">
                <a:solidFill>
                  <a:srgbClr val="1A1A2E"/>
                </a:solidFill>
                <a:latin typeface="Calibri"/>
              </a:rPr>
              <a:t>Wasynczuk</a:t>
            </a:r>
            <a:r>
              <a:rPr sz="2400" dirty="0">
                <a:solidFill>
                  <a:srgbClr val="1A1A2E"/>
                </a:solidFill>
                <a:latin typeface="Calibri"/>
              </a:rPr>
              <a:t>, S. D. </a:t>
            </a:r>
            <a:r>
              <a:rPr sz="2400" dirty="0" err="1">
                <a:solidFill>
                  <a:srgbClr val="1A1A2E"/>
                </a:solidFill>
                <a:latin typeface="Calibri"/>
              </a:rPr>
              <a:t>Sudhoff</a:t>
            </a:r>
            <a:r>
              <a:rPr sz="2400" dirty="0">
                <a:solidFill>
                  <a:srgbClr val="1A1A2E"/>
                </a:solidFill>
                <a:latin typeface="Calibri"/>
              </a:rPr>
              <a:t>, S. </a:t>
            </a:r>
            <a:r>
              <a:rPr sz="2400" dirty="0" err="1">
                <a:solidFill>
                  <a:srgbClr val="1A1A2E"/>
                </a:solidFill>
                <a:latin typeface="Calibri"/>
              </a:rPr>
              <a:t>Pekarek</a:t>
            </a:r>
            <a:r>
              <a:rPr sz="2400" dirty="0">
                <a:solidFill>
                  <a:srgbClr val="1A1A2E"/>
                </a:solidFill>
                <a:latin typeface="Calibri"/>
              </a:rPr>
              <a:t>. Analysis of Electric Machinery and Drive Systems. 3ª ed. Wiley-IEEE Press, 2013.</a:t>
            </a:r>
          </a:p>
          <a:p>
            <a:pPr>
              <a:spcBef>
                <a:spcPts val="900"/>
              </a:spcBef>
            </a:pPr>
            <a:r>
              <a:rPr sz="2400" dirty="0">
                <a:solidFill>
                  <a:srgbClr val="1A1A2E"/>
                </a:solidFill>
                <a:latin typeface="Calibri"/>
              </a:rPr>
              <a:t>[4] G. F. Franklin, J. D. Powell, A. </a:t>
            </a:r>
            <a:r>
              <a:rPr sz="2400" dirty="0" err="1">
                <a:solidFill>
                  <a:srgbClr val="1A1A2E"/>
                </a:solidFill>
                <a:latin typeface="Calibri"/>
              </a:rPr>
              <a:t>Emami-Naeni</a:t>
            </a:r>
            <a:r>
              <a:rPr sz="2400" dirty="0">
                <a:solidFill>
                  <a:srgbClr val="1A1A2E"/>
                </a:solidFill>
                <a:latin typeface="Calibri"/>
              </a:rPr>
              <a:t>. Feedback Control of Dynamic Systems. 7ª ed. Pearson, 2015.</a:t>
            </a:r>
          </a:p>
          <a:p>
            <a:pPr>
              <a:spcBef>
                <a:spcPts val="900"/>
              </a:spcBef>
            </a:pPr>
            <a:r>
              <a:rPr sz="2400" dirty="0">
                <a:solidFill>
                  <a:srgbClr val="1A1A2E"/>
                </a:solidFill>
                <a:latin typeface="Calibri"/>
              </a:rPr>
              <a:t>[5] K. Ogata. </a:t>
            </a:r>
            <a:r>
              <a:rPr sz="2400" dirty="0" err="1">
                <a:solidFill>
                  <a:srgbClr val="1A1A2E"/>
                </a:solidFill>
                <a:latin typeface="Calibri"/>
              </a:rPr>
              <a:t>Ingeniería</a:t>
            </a:r>
            <a:r>
              <a:rPr sz="2400" dirty="0">
                <a:solidFill>
                  <a:srgbClr val="1A1A2E"/>
                </a:solidFill>
                <a:latin typeface="Calibri"/>
              </a:rPr>
              <a:t> de Control Moderna. 5ª ed. Prentice Hall, 2010.</a:t>
            </a:r>
          </a:p>
          <a:p>
            <a:pPr>
              <a:spcBef>
                <a:spcPts val="900"/>
              </a:spcBef>
            </a:pPr>
            <a:r>
              <a:rPr sz="2400" dirty="0">
                <a:solidFill>
                  <a:srgbClr val="1A1A2E"/>
                </a:solidFill>
                <a:latin typeface="Calibri"/>
              </a:rPr>
              <a:t>[6] K. M. Lynch, F. C. Park. Modern Robotics: Mechanics, Planning, and Control. Cambridge University Press, 2017.</a:t>
            </a:r>
          </a:p>
          <a:p>
            <a:pPr>
              <a:spcBef>
                <a:spcPts val="900"/>
              </a:spcBef>
            </a:pPr>
            <a:r>
              <a:rPr sz="2400" dirty="0">
                <a:solidFill>
                  <a:srgbClr val="1A1A2E"/>
                </a:solidFill>
                <a:latin typeface="Calibri"/>
              </a:rPr>
              <a:t>[7] MathWorks. MATLAB/Simulink R2024b Documentation. www.mathworks.com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4928</TotalTime>
  <Words>13734</Words>
  <Application>Microsoft Office PowerPoint</Application>
  <PresentationFormat>Panorámica</PresentationFormat>
  <Paragraphs>1340</Paragraphs>
  <Slides>119</Slides>
  <Notes>8</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119</vt:i4>
      </vt:variant>
    </vt:vector>
  </HeadingPairs>
  <TitlesOfParts>
    <vt:vector size="126"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 stella</cp:lastModifiedBy>
  <cp:revision>212</cp:revision>
  <dcterms:created xsi:type="dcterms:W3CDTF">2013-01-27T09:14:16Z</dcterms:created>
  <dcterms:modified xsi:type="dcterms:W3CDTF">2026-04-29T19:14:52Z</dcterms:modified>
  <cp:category/>
</cp:coreProperties>
</file>