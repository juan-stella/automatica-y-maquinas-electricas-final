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386"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67" autoAdjust="0"/>
    <p:restoredTop sz="96357" autoAdjust="0"/>
  </p:normalViewPr>
  <p:slideViewPr>
    <p:cSldViewPr snapToGrid="0" snapToObjects="1">
      <p:cViewPr varScale="1">
        <p:scale>
          <a:sx n="86" d="100"/>
          <a:sy n="86" d="100"/>
        </p:scale>
        <p:origin x="514"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9/5/2026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29</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80</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90</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95</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11.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25.png"/><Relationship Id="rId4" Type="http://schemas.openxmlformats.org/officeDocument/2006/relationships/image" Target="../media/image22.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5.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1.png"/><Relationship Id="rId4" Type="http://schemas.openxmlformats.org/officeDocument/2006/relationships/image" Target="../media/image350.png"/></Relationships>
</file>

<file path=ppt/slides/_rels/slide2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 Id="rId9" Type="http://schemas.openxmlformats.org/officeDocument/2006/relationships/image" Target="../media/image38.png"/></Relationships>
</file>

<file path=ppt/slides/_rels/slide25.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0.png"/><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1.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0.png"/><Relationship Id="rId4" Type="http://schemas.openxmlformats.org/officeDocument/2006/relationships/image" Target="../media/image115.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2.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3.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36.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5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4.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6.png"/><Relationship Id="rId5" Type="http://schemas.openxmlformats.org/officeDocument/2006/relationships/image" Target="../media/image177.png"/><Relationship Id="rId4" Type="http://schemas.openxmlformats.org/officeDocument/2006/relationships/image" Target="../media/image175.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2.png"/><Relationship Id="rId4" Type="http://schemas.openxmlformats.org/officeDocument/2006/relationships/image" Target="../media/image188.png"/></Relationships>
</file>

<file path=ppt/slides/_rels/slide79.xml.rels><?xml version="1.0" encoding="UTF-8" standalone="yes"?>
<Relationships xmlns="http://schemas.openxmlformats.org/package/2006/relationships"><Relationship Id="rId8" Type="http://schemas.openxmlformats.org/officeDocument/2006/relationships/image" Target="../media/image198.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7.png"/><Relationship Id="rId5" Type="http://schemas.openxmlformats.org/officeDocument/2006/relationships/image" Target="../media/image194.png"/><Relationship Id="rId4" Type="http://schemas.openxmlformats.org/officeDocument/2006/relationships/image" Target="../media/image193.png"/></Relationships>
</file>

<file path=ppt/slides/_rels/slide80.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203.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202.png"/><Relationship Id="rId4" Type="http://schemas.openxmlformats.org/officeDocument/2006/relationships/image" Target="../media/image2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204.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2.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5.png"/><Relationship Id="rId4" Type="http://schemas.openxmlformats.org/officeDocument/2006/relationships/image" Target="../media/image214.png"/></Relationships>
</file>

<file path=ppt/slides/_rels/slide86.xml.rels><?xml version="1.0" encoding="UTF-8" standalone="yes"?>
<Relationships xmlns="http://schemas.openxmlformats.org/package/2006/relationships"><Relationship Id="rId3" Type="http://schemas.openxmlformats.org/officeDocument/2006/relationships/image" Target="../media/image216.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17.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image" Target="../media/image220.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29.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5.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40.png"/><Relationship Id="rId5" Type="http://schemas.openxmlformats.org/officeDocument/2006/relationships/image" Target="../media/image237.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39.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44.png"/><Relationship Id="rId5" Type="http://schemas.openxmlformats.org/officeDocument/2006/relationships/image" Target="../media/image247.png"/><Relationship Id="rId4" Type="http://schemas.openxmlformats.org/officeDocument/2006/relationships/image" Target="../media/image246.png"/></Relationships>
</file>

<file path=ppt/slides/_rels/slide9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48.png"/><Relationship Id="rId7" Type="http://schemas.openxmlformats.org/officeDocument/2006/relationships/image" Target="../media/image253.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51.png"/><Relationship Id="rId5" Type="http://schemas.openxmlformats.org/officeDocument/2006/relationships/image" Target="../media/image249.png"/><Relationship Id="rId4" Type="http://schemas.openxmlformats.org/officeDocument/2006/relationships/image" Target="../media/image250.png"/></Relationships>
</file>

<file path=ppt/slides/_rels/slide96.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6.png"/></Relationships>
</file>

<file path=ppt/slides/_rels/slide97.xml.rels><?xml version="1.0" encoding="UTF-8" standalone="yes"?>
<Relationships xmlns="http://schemas.openxmlformats.org/package/2006/relationships"><Relationship Id="rId3" Type="http://schemas.openxmlformats.org/officeDocument/2006/relationships/image" Target="../media/image257.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5.png"/><Relationship Id="rId4" Type="http://schemas.openxmlformats.org/officeDocument/2006/relationships/image" Target="../media/image261.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0.png"/><Relationship Id="rId5" Type="http://schemas.openxmlformats.org/officeDocument/2006/relationships/image" Target="../media/image269.png"/><Relationship Id="rId4" Type="http://schemas.openxmlformats.org/officeDocument/2006/relationships/image" Target="../media/image266.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1.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77.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2.png"/><Relationship Id="rId2" Type="http://schemas.openxmlformats.org/officeDocument/2006/relationships/image" Target="../media/image281.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8.png"/><Relationship Id="rId4" Type="http://schemas.openxmlformats.org/officeDocument/2006/relationships/image" Target="../media/image283.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2.png"/><Relationship Id="rId4" Type="http://schemas.openxmlformats.org/officeDocument/2006/relationships/image" Target="../media/image289.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6.png"/><Relationship Id="rId4" Type="http://schemas.openxmlformats.org/officeDocument/2006/relationships/image" Target="../media/image29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297.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3.png"/></Relationships>
</file>

<file path=ppt/slides/_rels/slide111.xml.rels><?xml version="1.0" encoding="UTF-8" standalone="yes"?>
<Relationships xmlns="http://schemas.openxmlformats.org/package/2006/relationships"><Relationship Id="rId3" Type="http://schemas.openxmlformats.org/officeDocument/2006/relationships/image" Target="../media/image305.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09.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2.png"/><Relationship Id="rId7" Type="http://schemas.openxmlformats.org/officeDocument/2006/relationships/image" Target="../media/image1600.png"/><Relationship Id="rId2" Type="http://schemas.openxmlformats.org/officeDocument/2006/relationships/image" Target="../media/image311.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4.png"/><Relationship Id="rId4" Type="http://schemas.openxmlformats.org/officeDocument/2006/relationships/image" Target="../media/image313.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5.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6.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8.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3.png"/><Relationship Id="rId7" Type="http://schemas.openxmlformats.org/officeDocument/2006/relationships/image" Target="../media/image1730.png"/><Relationship Id="rId2" Type="http://schemas.openxmlformats.org/officeDocument/2006/relationships/image" Target="../media/image320.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45821" y="923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45821" y="16322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45821" y="235000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45821" y="306781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45821" y="3747215"/>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45821" y="446913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45821" y="51755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7871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85687"/>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349211"/>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301889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747215"/>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Diseño final y discretización </a:t>
            </a:r>
            <a:endParaRPr lang="es-AR"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455241"/>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Codificación</a:t>
            </a:r>
            <a:r>
              <a:rPr lang="en-US" sz="1200" b="1" dirty="0">
                <a:solidFill>
                  <a:srgbClr val="1A386B"/>
                </a:solidFill>
                <a:latin typeface="Calibri" pitchFamily="34" charset="0"/>
                <a:ea typeface="Calibri" pitchFamily="34" charset="-122"/>
                <a:cs typeface="Calibri" pitchFamily="34" charset="-120"/>
              </a:rPr>
              <a:t> </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pic>
        <p:nvPicPr>
          <p:cNvPr id="16" name="Picture 2" descr="The four-quadrant operation of a DC motor can be described as follows">
            <a:extLst>
              <a:ext uri="{FF2B5EF4-FFF2-40B4-BE49-F238E27FC236}">
                <a16:creationId xmlns:a16="http://schemas.microsoft.com/office/drawing/2014/main" id="{8D9D9F26-C412-4508-9C72-2443C2C53F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17668" y="4688507"/>
            <a:ext cx="2252707" cy="17722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91440" y="1109831"/>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91440" y="1109831"/>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573947" y="1582514"/>
                <a:ext cx="5007984"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573947" y="1582514"/>
                <a:ext cx="5007984" cy="548640"/>
              </a:xfrm>
              <a:prstGeom prst="rect">
                <a:avLst/>
              </a:prstGeom>
              <a:blipFill>
                <a:blip r:embed="rId2"/>
                <a:stretch>
                  <a:fillRect l="-1946" t="-70000" r="-1217" b="-75556"/>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74320" y="4070657"/>
                <a:ext cx="6155557"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500" dirty="0"/>
              </a:p>
            </p:txBody>
          </p:sp>
        </mc:Choice>
        <mc:Fallback xmlns="">
          <p:sp>
            <p:nvSpPr>
              <p:cNvPr id="17" name="Text 15"/>
              <p:cNvSpPr>
                <a:spLocks noRot="1" noChangeAspect="1" noMove="1" noResize="1" noEditPoints="1" noAdjustHandles="1" noChangeArrowheads="1" noChangeShapeType="1" noTextEdit="1"/>
              </p:cNvSpPr>
              <p:nvPr/>
            </p:nvSpPr>
            <p:spPr>
              <a:xfrm>
                <a:off x="274320" y="4070657"/>
                <a:ext cx="6155557" cy="548640"/>
              </a:xfrm>
              <a:prstGeom prst="rect">
                <a:avLst/>
              </a:prstGeom>
              <a:blipFill>
                <a:blip r:embed="rId3"/>
                <a:stretch>
                  <a:fillRect t="-82222" b="-8666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smtClean="0">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a:t>
            </a:r>
            <a:r>
              <a:rPr lang="en-US" sz="1400" dirty="0" err="1">
                <a:solidFill>
                  <a:srgbClr val="111111"/>
                </a:solidFill>
                <a:latin typeface="Calibri" pitchFamily="34" charset="0"/>
                <a:ea typeface="Calibri" pitchFamily="34" charset="-122"/>
                <a:cs typeface="Calibri" pitchFamily="34" charset="-120"/>
              </a:rPr>
              <a:t>corrientes</a:t>
            </a: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213360" y="1883513"/>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213360" y="406834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213360" y="2967933"/>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smtClean="0">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pic>
        <p:nvPicPr>
          <p:cNvPr id="15" name="Imagen 14">
            <a:extLst>
              <a:ext uri="{FF2B5EF4-FFF2-40B4-BE49-F238E27FC236}">
                <a16:creationId xmlns:a16="http://schemas.microsoft.com/office/drawing/2014/main" id="{EDD9B0C2-A4AE-470B-BD78-B2B38C17C5D3}"/>
              </a:ext>
            </a:extLst>
          </p:cNvPr>
          <p:cNvPicPr>
            <a:picLocks noChangeAspect="1"/>
          </p:cNvPicPr>
          <p:nvPr/>
        </p:nvPicPr>
        <p:blipFill>
          <a:blip r:embed="rId7"/>
          <a:stretch>
            <a:fillRect/>
          </a:stretch>
        </p:blipFill>
        <p:spPr>
          <a:xfrm>
            <a:off x="6905150" y="4047593"/>
            <a:ext cx="4220235" cy="842345"/>
          </a:xfrm>
          <a:prstGeom prst="rect">
            <a:avLst/>
          </a:prstGeom>
        </p:spPr>
      </p:pic>
      <p:sp>
        <p:nvSpPr>
          <p:cNvPr id="17" name="CuadroTexto 16">
            <a:extLst>
              <a:ext uri="{FF2B5EF4-FFF2-40B4-BE49-F238E27FC236}">
                <a16:creationId xmlns:a16="http://schemas.microsoft.com/office/drawing/2014/main" id="{2B47554C-3CFC-4A0C-915A-AF3092AC39BD}"/>
              </a:ext>
            </a:extLst>
          </p:cNvPr>
          <p:cNvSpPr txBox="1"/>
          <p:nvPr/>
        </p:nvSpPr>
        <p:spPr>
          <a:xfrm>
            <a:off x="5539740" y="4855660"/>
            <a:ext cx="6438900" cy="430887"/>
          </a:xfrm>
          <a:prstGeom prst="rect">
            <a:avLst/>
          </a:prstGeom>
          <a:noFill/>
        </p:spPr>
        <p:txBody>
          <a:bodyPr wrap="square">
            <a:spAutoFit/>
          </a:bodyPr>
          <a:lstStyle/>
          <a:p>
            <a:r>
              <a:rPr lang="es-AR" sz="1100" dirty="0"/>
              <a:t>La alta frecuencia del PWM (5kHz) es filtrada naturalmente por la inductancia del motor, permitiéndonos trabajar solo con la componente fundamental que efectivamente controla el movimiento del brazo.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176653"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left"/>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smtClean="0">
                                            <a:latin typeface="Cambria Math" panose="02040503050406030204" pitchFamily="18" charset="0"/>
                                          </a:rPr>
                                        </m:ctrlPr>
                                      </m:dPr>
                                      <m:e>
                                        <m:sSub>
                                          <m:sSubPr>
                                            <m:ctrlPr>
                                              <a:rPr lang="es-AR" sz="1500" i="1" smtClean="0">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176653"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7595111-B765-4817-96C6-473C4B8ED581}"/>
                  </a:ext>
                </a:extLst>
              </p:cNvPr>
              <p:cNvSpPr txBox="1"/>
              <p:nvPr/>
            </p:nvSpPr>
            <p:spPr>
              <a:xfrm>
                <a:off x="6241684" y="3938944"/>
                <a:ext cx="6102990" cy="414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sz="1400" dirty="0"/>
              </a:p>
            </p:txBody>
          </p:sp>
        </mc:Choice>
        <mc:Fallback xmlns="">
          <p:sp>
            <p:nvSpPr>
              <p:cNvPr id="10" name="CuadroTexto 9">
                <a:extLst>
                  <a:ext uri="{FF2B5EF4-FFF2-40B4-BE49-F238E27FC236}">
                    <a16:creationId xmlns:a16="http://schemas.microsoft.com/office/drawing/2014/main" id="{A7595111-B765-4817-96C6-473C4B8ED581}"/>
                  </a:ext>
                </a:extLst>
              </p:cNvPr>
              <p:cNvSpPr txBox="1">
                <a:spLocks noRot="1" noChangeAspect="1" noMove="1" noResize="1" noEditPoints="1" noAdjustHandles="1" noChangeArrowheads="1" noChangeShapeType="1" noTextEdit="1"/>
              </p:cNvSpPr>
              <p:nvPr/>
            </p:nvSpPr>
            <p:spPr>
              <a:xfrm>
                <a:off x="6241684" y="3938944"/>
                <a:ext cx="6102990" cy="414729"/>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69105"/>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69105"/>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0</m:t>
                                </m:r>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88FB12-F75E-4A29-9959-2F834F8F880C}"/>
              </a:ext>
            </a:extLst>
          </p:cNvPr>
          <p:cNvSpPr>
            <a:spLocks noGrp="1"/>
          </p:cNvSpPr>
          <p:nvPr>
            <p:ph type="ctrTitle"/>
          </p:nvPr>
        </p:nvSpPr>
        <p:spPr/>
        <p:txBody>
          <a:bodyPr/>
          <a:lstStyle/>
          <a:p>
            <a:endParaRPr lang="es-AR"/>
          </a:p>
        </p:txBody>
      </p:sp>
      <p:sp>
        <p:nvSpPr>
          <p:cNvPr id="3" name="Subtítulo 2">
            <a:extLst>
              <a:ext uri="{FF2B5EF4-FFF2-40B4-BE49-F238E27FC236}">
                <a16:creationId xmlns:a16="http://schemas.microsoft.com/office/drawing/2014/main" id="{652584DA-C060-4B7A-938A-0531151C7C52}"/>
              </a:ext>
            </a:extLst>
          </p:cNvPr>
          <p:cNvSpPr>
            <a:spLocks noGrp="1"/>
          </p:cNvSpPr>
          <p:nvPr>
            <p:ph type="subTitle" idx="1"/>
          </p:nvPr>
        </p:nvSpPr>
        <p:spPr/>
        <p:txBody>
          <a:bodyPr/>
          <a:lstStyle/>
          <a:p>
            <a:endParaRPr lang="es-AR"/>
          </a:p>
        </p:txBody>
      </p:sp>
      <p:pic>
        <p:nvPicPr>
          <p:cNvPr id="5" name="Imagen 4">
            <a:extLst>
              <a:ext uri="{FF2B5EF4-FFF2-40B4-BE49-F238E27FC236}">
                <a16:creationId xmlns:a16="http://schemas.microsoft.com/office/drawing/2014/main" id="{3C5F1C77-3B26-4AFF-82A0-865EF7D219C2}"/>
              </a:ext>
            </a:extLst>
          </p:cNvPr>
          <p:cNvPicPr>
            <a:picLocks noChangeAspect="1"/>
          </p:cNvPicPr>
          <p:nvPr/>
        </p:nvPicPr>
        <p:blipFill>
          <a:blip r:embed="rId2"/>
          <a:stretch>
            <a:fillRect/>
          </a:stretch>
        </p:blipFill>
        <p:spPr>
          <a:xfrm>
            <a:off x="0" y="0"/>
            <a:ext cx="12286695" cy="6899520"/>
          </a:xfrm>
          <a:prstGeom prst="rect">
            <a:avLst/>
          </a:prstGeom>
        </p:spPr>
      </p:pic>
      <p:sp>
        <p:nvSpPr>
          <p:cNvPr id="7" name="Shape 2">
            <a:extLst>
              <a:ext uri="{FF2B5EF4-FFF2-40B4-BE49-F238E27FC236}">
                <a16:creationId xmlns:a16="http://schemas.microsoft.com/office/drawing/2014/main" id="{07F4DF46-6727-4D7A-9974-4CC2899DCB60}"/>
              </a:ext>
            </a:extLst>
          </p:cNvPr>
          <p:cNvSpPr/>
          <p:nvPr/>
        </p:nvSpPr>
        <p:spPr>
          <a:xfrm>
            <a:off x="-1" y="6565392"/>
            <a:ext cx="12286695"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9BB34DC3-921B-4EFB-A538-4333B0B4DD2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sSubSup>
                                <m:sSubSupPr>
                                  <m:ctrlPr>
                                    <a:rPr lang="es-AR" sz="1400" i="1">
                                      <a:latin typeface="Cambria Math" panose="02040503050406030204" pitchFamily="18" charset="0"/>
                                    </a:rPr>
                                  </m:ctrlPr>
                                </m:sSubSupPr>
                                <m:e>
                                  <m:r>
                                    <a:rPr lang="es-AR" sz="1400" i="1">
                                      <a:latin typeface="Cambria Math" panose="02040503050406030204" pitchFamily="18" charset="0"/>
                                    </a:rPr>
                                    <m:t>−</m:t>
                                  </m:r>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oMath>
                  </m:oMathPara>
                </a14:m>
                <a:endParaRPr lang="es-AR" dirty="0">
                  <a:solidFill>
                    <a:schemeClr val="tx1"/>
                  </a:solidFill>
                </a:endParaRPr>
              </a:p>
            </p:txBody>
          </p:sp>
        </mc:Choice>
        <mc:Fallback>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rcRect/>
          <a:stretch/>
        </p:blipFill>
        <p:spPr>
          <a:xfrm>
            <a:off x="570760" y="658368"/>
            <a:ext cx="10545932" cy="558475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5" name="CuadroTexto 14">
            <a:extLst>
              <a:ext uri="{FF2B5EF4-FFF2-40B4-BE49-F238E27FC236}">
                <a16:creationId xmlns:a16="http://schemas.microsoft.com/office/drawing/2014/main" id="{9A639F6C-1BED-47BA-BB04-A7534BAF33FF}"/>
              </a:ext>
            </a:extLst>
          </p:cNvPr>
          <p:cNvSpPr txBox="1"/>
          <p:nvPr/>
        </p:nvSpPr>
        <p:spPr>
          <a:xfrm>
            <a:off x="2915174" y="6214256"/>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2"/>
          <a:stretch>
            <a:fillRect/>
          </a:stretch>
        </p:blipFill>
        <p:spPr>
          <a:xfrm>
            <a:off x="1097489" y="2027830"/>
            <a:ext cx="9252731" cy="4537562"/>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3"/>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4"/>
                <a:stretch>
                  <a:fillRect/>
                </a:stretch>
              </a:blipFill>
              <a:ln/>
            </p:spPr>
            <p:txBody>
              <a:bodyPr/>
              <a:lstStyle/>
              <a:p>
                <a:r>
                  <a:rPr lang="es-AR">
                    <a:noFill/>
                  </a:rPr>
                  <a:t> </a:t>
                </a:r>
              </a:p>
            </p:txBody>
          </p:sp>
        </mc:Fallback>
      </mc:AlternateContent>
      <p:sp>
        <p:nvSpPr>
          <p:cNvPr id="20" name="Text 18"/>
          <p:cNvSpPr/>
          <p:nvPr/>
        </p:nvSpPr>
        <p:spPr>
          <a:xfrm>
            <a:off x="2405237" y="5573047"/>
            <a:ext cx="5177457" cy="364951"/>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5"/>
                <a:stretch>
                  <a:fillRect l="-66" b="-18750"/>
                </a:stretch>
              </a:blipFill>
            </p:spPr>
            <p:txBody>
              <a:bodyPr/>
              <a:lstStyle/>
              <a:p>
                <a:r>
                  <a:rPr lang="es-AR">
                    <a:noFill/>
                  </a:rPr>
                  <a:t> </a:t>
                </a:r>
              </a:p>
            </p:txBody>
          </p:sp>
        </mc:Fallback>
      </mc:AlternateContent>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772111"/>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smtClean="0">
                                                        <a:solidFill>
                                                          <a:schemeClr val="tx1"/>
                                                        </a:solidFill>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e>
                                        </m:mr>
                                      </m:m>
                                    </m:e>
                                  </m:mr>
                                </m:m>
                              </m:e>
                            </m:mr>
                          </m:m>
                        </m:e>
                      </m:d>
                    </m:oMath>
                  </m:oMathPara>
                </a14:m>
                <a:endParaRPr lang="es-AR" dirty="0"/>
              </a:p>
            </p:txBody>
          </p:sp>
        </mc:Choice>
        <mc:Fallback>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r="-378"/>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rotWithShape="1">
          <a:blip r:embed="rId2"/>
          <a:srcRect r="-4037"/>
          <a:stretch/>
        </p:blipFill>
        <p:spPr>
          <a:xfrm>
            <a:off x="1834064" y="739997"/>
            <a:ext cx="8283059"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100668" y="1159318"/>
                <a:ext cx="8455189" cy="107965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1</m:t>
                                    </m:r>
                                  </m:sub>
                                </m:sSub>
                                <m:r>
                                  <a:rPr lang="es-AR" sz="1400" i="1">
                                    <a:latin typeface="Cambria Math" panose="02040503050406030204" pitchFamily="18" charset="0"/>
                                  </a:rPr>
                                  <m:t>=0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2,3</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r>
                                      <a:rPr lang="es-AR" sz="1400">
                                        <a:latin typeface="Cambria Math" panose="02040503050406030204" pitchFamily="18" charset="0"/>
                                      </a:rPr>
                                      <m:t>±</m:t>
                                    </m:r>
                                    <m:rad>
                                      <m:radPr>
                                        <m:degHide m:val="on"/>
                                        <m:ctrlPr>
                                          <a:rPr lang="es-AR" sz="1400" i="1">
                                            <a:latin typeface="Cambria Math" panose="02040503050406030204" pitchFamily="18" charset="0"/>
                                          </a:rPr>
                                        </m:ctrlPr>
                                      </m:radPr>
                                      <m:deg/>
                                      <m:e>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e>
                                          <m:sup>
                                            <m:r>
                                              <a:rPr lang="es-AR" sz="1400" i="1">
                                                <a:latin typeface="Cambria Math" panose="02040503050406030204" pitchFamily="18" charset="0"/>
                                              </a:rPr>
                                              <m:t>2</m:t>
                                            </m:r>
                                          </m:sup>
                                        </m:sSup>
                                        <m:r>
                                          <a:rPr lang="es-AR" sz="1400" i="1">
                                            <a:latin typeface="Cambria Math" panose="02040503050406030204" pitchFamily="18" charset="0"/>
                                          </a:rPr>
                                          <m:t>−4</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e>
                                    </m:rad>
                                  </m:num>
                                  <m:den>
                                    <m:r>
                                      <a:rPr lang="es-AR" sz="1400" i="1">
                                        <a:latin typeface="Cambria Math" panose="02040503050406030204" pitchFamily="18" charset="0"/>
                                      </a:rPr>
                                      <m:t>2</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en>
                                </m:f>
                              </m:e>
                            </m:mr>
                          </m:m>
                        </m:e>
                      </m:d>
                    </m:oMath>
                  </m:oMathPara>
                </a14:m>
                <a:endParaRPr lang="es-AR" sz="105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00668" y="1159318"/>
                <a:ext cx="8455189" cy="1079655"/>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𝑠</m:t>
                          </m:r>
                        </m:e>
                        <m:sub>
                          <m:r>
                            <a:rPr lang="es-AR" sz="1600" i="1">
                              <a:solidFill>
                                <a:schemeClr val="tx1"/>
                              </a:solidFill>
                              <a:latin typeface="Cambria Math" panose="02040503050406030204" pitchFamily="18" charset="0"/>
                            </a:rPr>
                            <m:t>𝑧</m:t>
                          </m:r>
                        </m:sub>
                      </m:sSub>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rcRect/>
          <a:stretch/>
        </p:blipFill>
        <p:spPr>
          <a:xfrm>
            <a:off x="-1" y="681156"/>
            <a:ext cx="5871937" cy="4711475"/>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rcRect/>
          <a:stretch/>
        </p:blipFill>
        <p:spPr>
          <a:xfrm>
            <a:off x="5929473" y="662163"/>
            <a:ext cx="6204990"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rcRect/>
          <a:stretch/>
        </p:blipFill>
        <p:spPr>
          <a:xfrm>
            <a:off x="6114116" y="658367"/>
            <a:ext cx="605961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rcRect/>
          <a:stretch/>
        </p:blipFill>
        <p:spPr>
          <a:xfrm>
            <a:off x="105324" y="658368"/>
            <a:ext cx="5884894"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=±1.9596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=0.5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5"/>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92540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3956905"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8"/>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8232125" cy="415498"/>
          </a:xfrm>
          <a:prstGeom prst="rect">
            <a:avLst/>
          </a:prstGeom>
          <a:noFill/>
        </p:spPr>
        <p:txBody>
          <a:bodyPr wrap="none">
            <a:spAutoFit/>
          </a:bodyPr>
          <a:lstStyle/>
          <a:p>
            <a:pPr algn="l"/>
            <a:r>
              <a:rPr lang="es-AR" sz="2100" b="1" dirty="0">
                <a:solidFill>
                  <a:srgbClr val="FFFFFF"/>
                </a:solidFill>
                <a:latin typeface="Cambria"/>
              </a:rPr>
              <a:t>Sistema continuo completo — Parámetros finales del controlador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y lazos de corriente.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dirty="0">
                <a:effectLst/>
                <a:latin typeface="Calibri" panose="020F0502020204030204" pitchFamily="34" charset="0"/>
                <a:ea typeface="Calibri" panose="020F0502020204030204" pitchFamily="34" charset="0"/>
                <a:cs typeface="Times New Roman" panose="02020603050405020304" pitchFamily="18" charset="0"/>
              </a:rPr>
              <a:t>Observador,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s-AR" sz="2100" b="1" dirty="0">
                <a:solidFill>
                  <a:srgbClr val="FFFFFF"/>
                </a:solidFill>
                <a:latin typeface="Cambria"/>
              </a:rPr>
              <a:t>Modelo final codificado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8714</TotalTime>
  <Words>14237</Words>
  <Application>Microsoft Office PowerPoint</Application>
  <PresentationFormat>Panorámica</PresentationFormat>
  <Paragraphs>1390</Paragraphs>
  <Slides>119</Slides>
  <Notes>15</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Juan</dc:creator>
  <cp:keywords/>
  <dc:description>generated using python-pptx</dc:description>
  <cp:lastModifiedBy>juan</cp:lastModifiedBy>
  <cp:revision>286</cp:revision>
  <dcterms:created xsi:type="dcterms:W3CDTF">2013-01-27T09:14:16Z</dcterms:created>
  <dcterms:modified xsi:type="dcterms:W3CDTF">2026-05-09T21:40:18Z</dcterms:modified>
  <cp:category/>
</cp:coreProperties>
</file>