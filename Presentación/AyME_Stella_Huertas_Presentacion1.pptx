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4477" autoAdjust="0"/>
  </p:normalViewPr>
  <p:slideViewPr>
    <p:cSldViewPr snapToGrid="0" snapToObjects="1">
      <p:cViewPr varScale="1">
        <p:scale>
          <a:sx n="108" d="100"/>
          <a:sy n="108" d="100"/>
        </p:scale>
        <p:origin x="76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27/4/2026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2.xml.rels><?xml version="1.0" encoding="UTF-8" standalone="yes"?>
<Relationships xmlns="http://schemas.openxmlformats.org/package/2006/relationships"><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50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8.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74.png"/><Relationship Id="rId5" Type="http://schemas.openxmlformats.org/officeDocument/2006/relationships/image" Target="../media/image157.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7.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9.png"/><Relationship Id="rId5" Type="http://schemas.openxmlformats.org/officeDocument/2006/relationships/image" Target="../media/image188.png"/><Relationship Id="rId4" Type="http://schemas.openxmlformats.org/officeDocument/2006/relationships/image" Target="../media/image186.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1.png"/><Relationship Id="rId4" Type="http://schemas.openxmlformats.org/officeDocument/2006/relationships/image" Target="../media/image190.png"/></Relationships>
</file>

<file path=ppt/slides/_rels/slide79.xml.rels><?xml version="1.0" encoding="UTF-8" standalone="yes"?>
<Relationships xmlns="http://schemas.openxmlformats.org/package/2006/relationships"><Relationship Id="rId8" Type="http://schemas.openxmlformats.org/officeDocument/2006/relationships/image" Target="../media/image203.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202.png"/><Relationship Id="rId5" Type="http://schemas.openxmlformats.org/officeDocument/2006/relationships/image" Target="../media/image198.png"/><Relationship Id="rId4" Type="http://schemas.openxmlformats.org/officeDocument/2006/relationships/image" Target="../media/image197.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6.png"/><Relationship Id="rId5" Type="http://schemas.openxmlformats.org/officeDocument/2006/relationships/image" Target="../media/image210.png"/><Relationship Id="rId4" Type="http://schemas.openxmlformats.org/officeDocument/2006/relationships/image" Target="../media/image20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7.png"/><Relationship Id="rId4" Type="http://schemas.openxmlformats.org/officeDocument/2006/relationships/image" Target="../media/image216.png"/></Relationships>
</file>

<file path=ppt/slides/_rels/slide86.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1.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2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0</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m:t>
                    </m:r>
                    <m:r>
                      <a:rPr lang="es-AR" sz="1400" i="1">
                        <a:latin typeface="Cambria Math" panose="02040503050406030204" pitchFamily="18" charset="0"/>
                      </a:rPr>
                      <m:t>45</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m:t>
                        </m:r>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m:t>
                    </m:r>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1" name="Text 19"/>
          <p:cNvSpPr/>
          <p:nvPr/>
        </p:nvSpPr>
        <p:spPr>
          <a:xfrm>
            <a:off x="0" y="696941"/>
            <a:ext cx="1143000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91440" y="1146995"/>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444495" y="1444331"/>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444495" y="1444331"/>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0" y="2440915"/>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91440" y="2759301"/>
            <a:ext cx="11247120" cy="791767"/>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8" name="Text 21">
                <a:extLst>
                  <a:ext uri="{FF2B5EF4-FFF2-40B4-BE49-F238E27FC236}">
                    <a16:creationId xmlns:a16="http://schemas.microsoft.com/office/drawing/2014/main" id="{9CB1D5DA-B895-49EC-AF0F-2B5E12F4D128}"/>
                  </a:ext>
                </a:extLst>
              </p:cNvPr>
              <p:cNvSpPr/>
              <p:nvPr/>
            </p:nvSpPr>
            <p:spPr>
              <a:xfrm>
                <a:off x="180039" y="285850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180039" y="2858502"/>
                <a:ext cx="4209081" cy="594360"/>
              </a:xfrm>
              <a:prstGeom prst="rect">
                <a:avLst/>
              </a:prstGeom>
              <a:blipFill>
                <a:blip r:embed="rId3"/>
                <a:stretch>
                  <a:fillRect b="-3093"/>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0" y="3738869"/>
            <a:ext cx="11430000" cy="411480"/>
          </a:xfrm>
          <a:prstGeom prst="rect">
            <a:avLst/>
          </a:prstGeom>
          <a:noFill/>
          <a:ln/>
        </p:spPr>
        <p:txBody>
          <a:bodyPr wrap="square" rtlCol="0" anchor="t"/>
          <a:lstStyle/>
          <a:p>
            <a:pPr marL="0" indent="0" algn="l">
              <a:buNone/>
            </a:pPr>
            <a:r>
              <a:rPr lang="es-AR" sz="1600" b="1" dirty="0">
                <a:solidFill>
                  <a:srgbClr val="1A386B"/>
                </a:solidFill>
                <a:latin typeface="Calibri" pitchFamily="34" charset="0"/>
                <a:ea typeface="Calibri" pitchFamily="34" charset="-122"/>
                <a:cs typeface="Calibri" pitchFamily="34" charset="-120"/>
              </a:rPr>
              <a:t>Representación matricial en espacio de estados:</a:t>
            </a:r>
            <a:endParaRPr lang="es-AR" sz="1600" dirty="0"/>
          </a:p>
        </p:txBody>
      </p:sp>
      <p:sp>
        <p:nvSpPr>
          <p:cNvPr id="30" name="Shape 20">
            <a:extLst>
              <a:ext uri="{FF2B5EF4-FFF2-40B4-BE49-F238E27FC236}">
                <a16:creationId xmlns:a16="http://schemas.microsoft.com/office/drawing/2014/main" id="{8B4DE1EB-B212-4A92-A0D0-0B0C5C1971DD}"/>
              </a:ext>
            </a:extLst>
          </p:cNvPr>
          <p:cNvSpPr/>
          <p:nvPr/>
        </p:nvSpPr>
        <p:spPr>
          <a:xfrm>
            <a:off x="91440" y="4231196"/>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0" y="4541249"/>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0" y="4541249"/>
                <a:ext cx="5178523" cy="594360"/>
              </a:xfrm>
              <a:prstGeom prst="rect">
                <a:avLst/>
              </a:prstGeom>
              <a:blipFill>
                <a:blip r:embed="rId4"/>
                <a:stretch>
                  <a:fillRect t="-31959" b="-3505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Transformada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m:t>
                    </m:r>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247826"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2" name="Text 10"/>
          <p:cNvSpPr/>
          <p:nvPr/>
        </p:nvSpPr>
        <p:spPr>
          <a:xfrm>
            <a:off x="457200" y="4432266"/>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transformada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955038"/>
            <a:ext cx="7421213" cy="3598164"/>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mc:AlternateContent xmlns:mc="http://schemas.openxmlformats.org/markup-compatibility/2006">
        <mc:Choice xmlns:a14="http://schemas.microsoft.com/office/drawing/2010/main"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m:ctrlPr>
                        </m:mPr>
                        <m:mr>
                          <m:e>
                            <m:acc>
                              <m:accPr>
                                <m:chr m:val="̇"/>
                                <m:ctrlPr>
                                  <a:rPr lang="es-AR" sz="1400" i="1"/>
                                </m:ctrlPr>
                              </m:accPr>
                              <m:e>
                                <m:r>
                                  <a:rPr lang="es-AR" sz="1400" i="1"/>
                                  <m:t>𝑥</m:t>
                                </m:r>
                              </m:e>
                            </m:acc>
                            <m:d>
                              <m:dPr>
                                <m:ctrlPr>
                                  <a:rPr lang="es-AR" sz="1400" i="1"/>
                                </m:ctrlPr>
                              </m:dPr>
                              <m:e>
                                <m:r>
                                  <a:rPr lang="es-AR" sz="1400" i="1"/>
                                  <m:t>𝑡</m:t>
                                </m:r>
                              </m:e>
                            </m:d>
                            <m:r>
                              <a:rPr lang="es-AR" sz="1400" i="1"/>
                              <m:t>=</m:t>
                            </m:r>
                            <m:r>
                              <a:rPr lang="es-AR" sz="1400" i="1"/>
                              <m:t>𝑓</m:t>
                            </m:r>
                            <m:d>
                              <m:dPr>
                                <m:ctrlPr>
                                  <a:rPr lang="es-AR" sz="1400" i="1"/>
                                </m:ctrlPr>
                              </m:dPr>
                              <m:e>
                                <m:r>
                                  <a:rPr lang="es-AR" sz="1400" i="1"/>
                                  <m:t>𝑥</m:t>
                                </m:r>
                                <m:d>
                                  <m:dPr>
                                    <m:ctrlPr>
                                      <a:rPr lang="es-AR" sz="1400" i="1"/>
                                    </m:ctrlPr>
                                  </m:dPr>
                                  <m:e>
                                    <m:r>
                                      <a:rPr lang="es-AR" sz="1400" i="1"/>
                                      <m:t>𝑡</m:t>
                                    </m:r>
                                  </m:e>
                                </m:d>
                                <m:r>
                                  <a:rPr lang="es-AR" sz="1400" i="1"/>
                                  <m:t>,</m:t>
                                </m:r>
                                <m:r>
                                  <a:rPr lang="es-AR" sz="1400" i="1"/>
                                  <m:t>𝑢</m:t>
                                </m:r>
                                <m:d>
                                  <m:dPr>
                                    <m:ctrlPr>
                                      <a:rPr lang="es-AR" sz="1400" i="1"/>
                                    </m:ctrlPr>
                                  </m:dPr>
                                  <m:e>
                                    <m:r>
                                      <a:rPr lang="es-AR" sz="1400" i="1"/>
                                      <m:t>𝑡</m:t>
                                    </m:r>
                                  </m:e>
                                </m:d>
                              </m:e>
                            </m:d>
                            <m:r>
                              <a:rPr lang="es-AR" sz="1400" i="1"/>
                              <m:t>,</m:t>
                            </m:r>
                            <m:r>
                              <a:rPr lang="es-AR" sz="1400"/>
                              <m:t> </m:t>
                            </m:r>
                            <m:r>
                              <a:rPr lang="es-AR" sz="1400" i="1"/>
                              <m:t>𝑥</m:t>
                            </m:r>
                            <m:d>
                              <m:dPr>
                                <m:ctrlPr>
                                  <a:rPr lang="es-AR" sz="1400" i="1"/>
                                </m:ctrlPr>
                              </m:dPr>
                              <m:e>
                                <m:sSub>
                                  <m:sSubPr>
                                    <m:ctrlPr>
                                      <a:rPr lang="es-AR" sz="1400" i="1"/>
                                    </m:ctrlPr>
                                  </m:sSubPr>
                                  <m:e>
                                    <m:r>
                                      <a:rPr lang="es-AR" sz="1400" i="1"/>
                                      <m:t>𝑡</m:t>
                                    </m:r>
                                  </m:e>
                                  <m:sub>
                                    <m:r>
                                      <a:rPr lang="es-AR" sz="1400" i="1"/>
                                      <m:t>0</m:t>
                                    </m:r>
                                  </m:sub>
                                </m:sSub>
                              </m:e>
                            </m:d>
                            <m:r>
                              <a:rPr lang="es-AR" sz="1400" i="1"/>
                              <m:t>=</m:t>
                            </m:r>
                            <m:sSub>
                              <m:sSubPr>
                                <m:ctrlPr>
                                  <a:rPr lang="es-AR" sz="1400" i="1"/>
                                </m:ctrlPr>
                              </m:sSubPr>
                              <m:e>
                                <m:r>
                                  <a:rPr lang="es-AR" sz="1400" i="1"/>
                                  <m:t>𝑥</m:t>
                                </m:r>
                              </m:e>
                              <m:sub>
                                <m:r>
                                  <a:rPr lang="es-AR" sz="1400" i="1"/>
                                  <m:t>0</m:t>
                                </m:r>
                              </m:sub>
                            </m:sSub>
                          </m:e>
                        </m:mr>
                        <m:mr>
                          <m:e>
                            <m:r>
                              <a:rPr lang="es-AR" sz="1400" i="1"/>
                              <m:t>𝑦</m:t>
                            </m:r>
                            <m:d>
                              <m:dPr>
                                <m:ctrlPr>
                                  <a:rPr lang="es-AR" sz="1400" i="1"/>
                                </m:ctrlPr>
                              </m:dPr>
                              <m:e>
                                <m:r>
                                  <a:rPr lang="es-AR" sz="1400" i="1"/>
                                  <m:t>𝑡</m:t>
                                </m:r>
                              </m:e>
                            </m:d>
                            <m:r>
                              <a:rPr lang="es-AR" sz="1400" i="1"/>
                              <m:t>=</m:t>
                            </m:r>
                            <m:r>
                              <a:rPr lang="es-AR" sz="1400" i="1"/>
                              <m:t>𝐶𝑥</m:t>
                            </m:r>
                            <m:d>
                              <m:dPr>
                                <m:ctrlPr>
                                  <a:rPr lang="es-AR" sz="1400" i="1"/>
                                </m:ctrlPr>
                              </m:dPr>
                              <m:e>
                                <m:r>
                                  <a:rPr lang="es-AR" sz="1400" i="1"/>
                                  <m:t>𝑡</m:t>
                                </m:r>
                              </m:e>
                            </m:d>
                            <m:r>
                              <a:rPr lang="es-AR" sz="1400" i="1"/>
                              <m:t>                                        </m:t>
                            </m:r>
                          </m:e>
                        </m:mr>
                      </m:m>
                    </m:oMath>
                  </m:oMathPara>
                </a14:m>
                <a:endParaRPr lang="en-US" sz="1400" dirty="0"/>
              </a:p>
            </p:txBody>
          </p:sp>
        </mc:Choice>
        <mc:Fallback>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600" y="4454260"/>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600" y="4758402"/>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600" y="4758402"/>
                <a:ext cx="8961120" cy="530352"/>
              </a:xfrm>
              <a:prstGeom prst="rect">
                <a:avLst/>
              </a:prstGeom>
              <a:blipFill>
                <a:blip r:embed="rId5"/>
                <a:stretch>
                  <a:fillRect t="-42529" b="-81609"/>
                </a:stretch>
              </a:blipFill>
              <a:ln/>
            </p:spPr>
            <p:txBody>
              <a:bodyPr/>
              <a:lstStyle/>
              <a:p>
                <a:r>
                  <a:rPr lang="es-AR">
                    <a:noFill/>
                  </a:rPr>
                  <a:t> </a:t>
                </a:r>
              </a:p>
            </p:txBody>
          </p:sp>
        </mc:Fallback>
      </mc:AlternateContent>
      <p:sp>
        <p:nvSpPr>
          <p:cNvPr id="17" name="Text 15"/>
          <p:cNvSpPr/>
          <p:nvPr/>
        </p:nvSpPr>
        <p:spPr>
          <a:xfrm>
            <a:off x="365760" y="5858621"/>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a:t>
                </a:r>
                <a:r>
                  <a:rPr lang="es-AR" sz="1400" dirty="0" err="1"/>
                  <a:t>homopolaral</a:t>
                </a:r>
                <a:r>
                  <a:rPr lang="es-AR" sz="1400" dirty="0"/>
                  <a:t>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m:t>
                    </m:r>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dirty="0" err="1">
                <a:solidFill>
                  <a:srgbClr val="A0C4FF"/>
                </a:solidFill>
                <a:latin typeface="Calibri"/>
              </a:rPr>
              <a:t>Simulación</a:t>
            </a:r>
            <a:r>
              <a:rPr sz="1700" dirty="0">
                <a:solidFill>
                  <a:srgbClr val="A0C4FF"/>
                </a:solidFill>
                <a:latin typeface="Calibri"/>
              </a:rPr>
              <a:t> del </a:t>
            </a:r>
            <a:r>
              <a:rPr sz="1700" dirty="0" err="1">
                <a:solidFill>
                  <a:srgbClr val="A0C4FF"/>
                </a:solidFill>
                <a:latin typeface="Calibri"/>
              </a:rPr>
              <a:t>modelo</a:t>
            </a:r>
            <a:r>
              <a:rPr sz="1700" dirty="0">
                <a:solidFill>
                  <a:srgbClr val="A0C4FF"/>
                </a:solidFill>
                <a:latin typeface="Calibri"/>
              </a:rPr>
              <a:t> NL · 4 </a:t>
            </a:r>
            <a:r>
              <a:rPr sz="1700" dirty="0" err="1">
                <a:solidFill>
                  <a:srgbClr val="A0C4FF"/>
                </a:solidFill>
                <a:latin typeface="Calibri"/>
              </a:rPr>
              <a:t>cuadrantes</a:t>
            </a:r>
            <a:r>
              <a:rPr sz="1700" dirty="0">
                <a:solidFill>
                  <a:srgbClr val="A0C4FF"/>
                </a:solidFill>
                <a:latin typeface="Calibri"/>
              </a:rPr>
              <a:t>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a:blip r:embed="rId2">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transformadas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4443</TotalTime>
  <Words>13847</Words>
  <Application>Microsoft Office PowerPoint</Application>
  <PresentationFormat>Panorámica</PresentationFormat>
  <Paragraphs>1364</Paragraphs>
  <Slides>119</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198</cp:revision>
  <dcterms:created xsi:type="dcterms:W3CDTF">2013-01-27T09:14:16Z</dcterms:created>
  <dcterms:modified xsi:type="dcterms:W3CDTF">2026-04-27T14:28:35Z</dcterms:modified>
  <cp:category/>
</cp:coreProperties>
</file>