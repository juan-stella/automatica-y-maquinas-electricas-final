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002" autoAdjust="0"/>
    <p:restoredTop sz="94477" autoAdjust="0"/>
  </p:normalViewPr>
  <p:slideViewPr>
    <p:cSldViewPr snapToGrid="0" snapToObjects="1">
      <p:cViewPr varScale="1">
        <p:scale>
          <a:sx n="108" d="100"/>
          <a:sy n="108" d="100"/>
        </p:scale>
        <p:origin x="768"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28/4/2026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11.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11.png"/><Relationship Id="rId2" Type="http://schemas.openxmlformats.org/officeDocument/2006/relationships/image" Target="../media/image2510.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0.png"/><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60.png"/></Relationships>
</file>

<file path=ppt/slides/_rels/slide23.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7.xml"/><Relationship Id="rId5" Type="http://schemas.openxmlformats.org/officeDocument/2006/relationships/image" Target="../media/image371.png"/><Relationship Id="rId4" Type="http://schemas.openxmlformats.org/officeDocument/2006/relationships/image" Target="../media/image40.png"/></Relationships>
</file>

<file path=ppt/slides/_rels/slide24.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6.png"/><Relationship Id="rId7" Type="http://schemas.openxmlformats.org/officeDocument/2006/relationships/image" Target="../media/image41.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51.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491.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0" Type="http://schemas.openxmlformats.org/officeDocument/2006/relationships/image" Target="../media/image531.png"/><Relationship Id="rId9" Type="http://schemas.openxmlformats.org/officeDocument/2006/relationships/image" Target="../media/image501.png"/></Relationships>
</file>

<file path=ppt/slides/_rels/slide2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1.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7.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8.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2.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 Id="rId5" Type="http://schemas.openxmlformats.org/officeDocument/2006/relationships/image" Target="../media/image111.png"/><Relationship Id="rId4" Type="http://schemas.openxmlformats.org/officeDocument/2006/relationships/image" Target="../media/image110.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06.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2.png"/><Relationship Id="rId4" Type="http://schemas.openxmlformats.org/officeDocument/2006/relationships/image" Target="../media/image120.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3.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27.png"/></Relationships>
</file>

<file path=ppt/slides/_rels/slide58.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0.png"/><Relationship Id="rId1" Type="http://schemas.openxmlformats.org/officeDocument/2006/relationships/slideLayout" Target="../slideLayouts/slideLayout7.xml"/><Relationship Id="rId5" Type="http://schemas.openxmlformats.org/officeDocument/2006/relationships/image" Target="../media/image136.png"/><Relationship Id="rId4" Type="http://schemas.openxmlformats.org/officeDocument/2006/relationships/image" Target="../media/image135.png"/></Relationships>
</file>

<file path=ppt/slides/_rels/slide62.xml.rels><?xml version="1.0" encoding="UTF-8" standalone="yes"?>
<Relationships xmlns="http://schemas.openxmlformats.org/package/2006/relationships"><Relationship Id="rId3" Type="http://schemas.openxmlformats.org/officeDocument/2006/relationships/image" Target="../media/image130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41.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38.png"/></Relationships>
</file>

<file path=ppt/slides/_rels/slide66.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6" Type="http://schemas.openxmlformats.org/officeDocument/2006/relationships/image" Target="../media/image155.png"/><Relationship Id="rId5" Type="http://schemas.openxmlformats.org/officeDocument/2006/relationships/image" Target="../media/image154.png"/><Relationship Id="rId4" Type="http://schemas.openxmlformats.org/officeDocument/2006/relationships/image" Target="../media/image153.png"/></Relationships>
</file>

<file path=ppt/slides/_rels/slide6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8.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57.png"/><Relationship Id="rId5" Type="http://schemas.openxmlformats.org/officeDocument/2006/relationships/image" Target="../media/image156.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5.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3.png"/><Relationship Id="rId3" Type="http://schemas.openxmlformats.org/officeDocument/2006/relationships/image" Target="../media/image187.png"/><Relationship Id="rId7" Type="http://schemas.openxmlformats.org/officeDocument/2006/relationships/image" Target="../media/image19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88.png"/><Relationship Id="rId5" Type="http://schemas.openxmlformats.org/officeDocument/2006/relationships/image" Target="../media/image186.png"/><Relationship Id="rId4" Type="http://schemas.openxmlformats.org/officeDocument/2006/relationships/image" Target="../media/image177.png"/><Relationship Id="rId9" Type="http://schemas.openxmlformats.org/officeDocument/2006/relationships/image" Target="../media/image194.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0.png"/><Relationship Id="rId4" Type="http://schemas.openxmlformats.org/officeDocument/2006/relationships/image" Target="../media/image189.png"/></Relationships>
</file>

<file path=ppt/slides/_rels/slide79.xml.rels><?xml version="1.0" encoding="UTF-8" standalone="yes"?>
<Relationships xmlns="http://schemas.openxmlformats.org/package/2006/relationships"><Relationship Id="rId8" Type="http://schemas.openxmlformats.org/officeDocument/2006/relationships/image" Target="../media/image202.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198.png"/><Relationship Id="rId5" Type="http://schemas.openxmlformats.org/officeDocument/2006/relationships/image" Target="../media/image197.png"/><Relationship Id="rId4" Type="http://schemas.openxmlformats.org/officeDocument/2006/relationships/image" Target="../media/image191.png"/></Relationships>
</file>

<file path=ppt/slides/_rels/slide80.xml.rels><?xml version="1.0" encoding="UTF-8" standalone="yes"?>
<Relationships xmlns="http://schemas.openxmlformats.org/package/2006/relationships"><Relationship Id="rId3" Type="http://schemas.openxmlformats.org/officeDocument/2006/relationships/image" Target="../media/image208.png"/><Relationship Id="rId2" Type="http://schemas.openxmlformats.org/officeDocument/2006/relationships/image" Target="../media/image207.png"/><Relationship Id="rId1" Type="http://schemas.openxmlformats.org/officeDocument/2006/relationships/slideLayout" Target="../slideLayouts/slideLayout7.xml"/><Relationship Id="rId6" Type="http://schemas.openxmlformats.org/officeDocument/2006/relationships/image" Target="../media/image204.png"/><Relationship Id="rId5" Type="http://schemas.openxmlformats.org/officeDocument/2006/relationships/image" Target="../media/image210.png"/><Relationship Id="rId4" Type="http://schemas.openxmlformats.org/officeDocument/2006/relationships/image" Target="../media/image20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 Id="rId4" Type="http://schemas.openxmlformats.org/officeDocument/2006/relationships/image" Target="../media/image206.png"/></Relationships>
</file>

<file path=ppt/slides/_rels/slide83.xml.rels><?xml version="1.0" encoding="UTF-8" standalone="yes"?>
<Relationships xmlns="http://schemas.openxmlformats.org/package/2006/relationships"><Relationship Id="rId2" Type="http://schemas.openxmlformats.org/officeDocument/2006/relationships/image" Target="../media/image209.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4.png"/><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6.png"/><Relationship Id="rId4" Type="http://schemas.openxmlformats.org/officeDocument/2006/relationships/image" Target="../media/image215.png"/></Relationships>
</file>

<file path=ppt/slides/_rels/slide86.xml.rels><?xml version="1.0" encoding="UTF-8" standalone="yes"?>
<Relationships xmlns="http://schemas.openxmlformats.org/package/2006/relationships"><Relationship Id="rId3" Type="http://schemas.openxmlformats.org/officeDocument/2006/relationships/image" Target="../media/image217.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0.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4.png"/><Relationship Id="rId2" Type="http://schemas.openxmlformats.org/officeDocument/2006/relationships/image" Target="../media/image221.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29.png"/><Relationship Id="rId2" Type="http://schemas.openxmlformats.org/officeDocument/2006/relationships/image" Target="../media/image232.png"/><Relationship Id="rId1" Type="http://schemas.openxmlformats.org/officeDocument/2006/relationships/slideLayout" Target="../slideLayouts/slideLayout7.xml"/><Relationship Id="rId4" Type="http://schemas.openxmlformats.org/officeDocument/2006/relationships/image" Target="../media/image237.png"/></Relationships>
</file>

<file path=ppt/slides/_rels/slide90.xml.rels><?xml version="1.0" encoding="UTF-8" standalone="yes"?>
<Relationships xmlns="http://schemas.openxmlformats.org/package/2006/relationships"><Relationship Id="rId3" Type="http://schemas.openxmlformats.org/officeDocument/2006/relationships/image" Target="../media/image235.png"/><Relationship Id="rId2" Type="http://schemas.openxmlformats.org/officeDocument/2006/relationships/image" Target="../media/image233.png"/><Relationship Id="rId1" Type="http://schemas.openxmlformats.org/officeDocument/2006/relationships/slideLayout" Target="../slideLayouts/slideLayout7.xml"/><Relationship Id="rId5" Type="http://schemas.openxmlformats.org/officeDocument/2006/relationships/image" Target="../media/image240.png"/><Relationship Id="rId4" Type="http://schemas.openxmlformats.org/officeDocument/2006/relationships/image" Target="../media/image23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43.png"/><Relationship Id="rId5" Type="http://schemas.openxmlformats.org/officeDocument/2006/relationships/image" Target="../media/image239.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36.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6.png"/><Relationship Id="rId2" Type="http://schemas.openxmlformats.org/officeDocument/2006/relationships/image" Target="../media/image245.png"/><Relationship Id="rId1" Type="http://schemas.openxmlformats.org/officeDocument/2006/relationships/slideLayout" Target="../slideLayouts/slideLayout7.xml"/><Relationship Id="rId5" Type="http://schemas.openxmlformats.org/officeDocument/2006/relationships/image" Target="../media/image244.png"/><Relationship Id="rId4" Type="http://schemas.openxmlformats.org/officeDocument/2006/relationships/image" Target="../media/image247.png"/></Relationships>
</file>

<file path=ppt/slides/_rels/slide95.xml.rels><?xml version="1.0" encoding="UTF-8" standalone="yes"?>
<Relationships xmlns="http://schemas.openxmlformats.org/package/2006/relationships"><Relationship Id="rId3" Type="http://schemas.openxmlformats.org/officeDocument/2006/relationships/image" Target="../media/image250.png"/><Relationship Id="rId7" Type="http://schemas.openxmlformats.org/officeDocument/2006/relationships/image" Target="../media/image254.png"/><Relationship Id="rId2" Type="http://schemas.openxmlformats.org/officeDocument/2006/relationships/image" Target="../media/image248.png"/><Relationship Id="rId1" Type="http://schemas.openxmlformats.org/officeDocument/2006/relationships/slideLayout" Target="../slideLayouts/slideLayout7.xml"/><Relationship Id="rId6" Type="http://schemas.openxmlformats.org/officeDocument/2006/relationships/image" Target="../media/image253.png"/><Relationship Id="rId5" Type="http://schemas.openxmlformats.org/officeDocument/2006/relationships/image" Target="../media/image251.png"/><Relationship Id="rId4" Type="http://schemas.openxmlformats.org/officeDocument/2006/relationships/image" Target="../media/image249.png"/></Relationships>
</file>

<file path=ppt/slides/_rels/slide96.xml.rels><?xml version="1.0" encoding="UTF-8" standalone="yes"?>
<Relationships xmlns="http://schemas.openxmlformats.org/package/2006/relationships"><Relationship Id="rId3" Type="http://schemas.openxmlformats.org/officeDocument/2006/relationships/image" Target="../media/image252.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6.png"/></Relationships>
</file>

<file path=ppt/slides/_rels/slide97.xml.rels><?xml version="1.0" encoding="UTF-8" standalone="yes"?>
<Relationships xmlns="http://schemas.openxmlformats.org/package/2006/relationships"><Relationship Id="rId3" Type="http://schemas.openxmlformats.org/officeDocument/2006/relationships/image" Target="../media/image257.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5.png"/><Relationship Id="rId4" Type="http://schemas.openxmlformats.org/officeDocument/2006/relationships/image" Target="../media/image261.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0.png"/><Relationship Id="rId5" Type="http://schemas.openxmlformats.org/officeDocument/2006/relationships/image" Target="../media/image269.png"/><Relationship Id="rId4" Type="http://schemas.openxmlformats.org/officeDocument/2006/relationships/image" Target="../media/image266.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6.png"/><Relationship Id="rId4" Type="http://schemas.openxmlformats.org/officeDocument/2006/relationships/image" Target="../media/image271.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277.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2.png"/><Relationship Id="rId2" Type="http://schemas.openxmlformats.org/officeDocument/2006/relationships/image" Target="../media/image281.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8.png"/><Relationship Id="rId4" Type="http://schemas.openxmlformats.org/officeDocument/2006/relationships/image" Target="../media/image283.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2.png"/><Relationship Id="rId4" Type="http://schemas.openxmlformats.org/officeDocument/2006/relationships/image" Target="../media/image289.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6.png"/><Relationship Id="rId4" Type="http://schemas.openxmlformats.org/officeDocument/2006/relationships/image" Target="../media/image293.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297.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2.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3.png"/></Relationships>
</file>

<file path=ppt/slides/_rels/slide111.xml.rels><?xml version="1.0" encoding="UTF-8" standalone="yes"?>
<Relationships xmlns="http://schemas.openxmlformats.org/package/2006/relationships"><Relationship Id="rId3" Type="http://schemas.openxmlformats.org/officeDocument/2006/relationships/image" Target="../media/image305.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09.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2.png"/><Relationship Id="rId7" Type="http://schemas.openxmlformats.org/officeDocument/2006/relationships/image" Target="../media/image1600.png"/><Relationship Id="rId2" Type="http://schemas.openxmlformats.org/officeDocument/2006/relationships/image" Target="../media/image311.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4.png"/><Relationship Id="rId4" Type="http://schemas.openxmlformats.org/officeDocument/2006/relationships/image" Target="../media/image313.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5.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6.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18.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3.png"/><Relationship Id="rId7" Type="http://schemas.openxmlformats.org/officeDocument/2006/relationships/image" Target="../media/image1730.png"/><Relationship Id="rId2" Type="http://schemas.openxmlformats.org/officeDocument/2006/relationships/image" Target="../media/image320.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4.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1</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m:t>
                    </m:r>
                    <m:r>
                      <a:rPr lang="es-AR" sz="1400" i="1">
                        <a:latin typeface="Cambria Math" panose="02040503050406030204" pitchFamily="18" charset="0"/>
                      </a:rPr>
                      <m:t>1</m:t>
                    </m:r>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80665</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25</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0208</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50</m:t>
                    </m:r>
                    <m:r>
                      <a:rPr lang="es-AR" sz="1400" i="1">
                        <a:latin typeface="Cambria Math" panose="02040503050406030204" pitchFamily="18" charset="0"/>
                      </a:rPr>
                      <m:t>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0833</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25</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207008"/>
            <a:ext cx="5486400" cy="41148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Rotor referido al estator — parámetros concentrados:</a:t>
            </a:r>
            <a:endParaRPr lang="en-US" sz="13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a:solidFill>
                  <a:srgbClr val="FFFFFF"/>
                </a:solidFill>
                <a:latin typeface="Calibri" pitchFamily="34" charset="0"/>
                <a:ea typeface="Calibri" pitchFamily="34" charset="-122"/>
                <a:cs typeface="Calibri" pitchFamily="34" charset="-120"/>
              </a:rPr>
              <a:t>Subsistema</a:t>
            </a:r>
            <a:r>
              <a:rPr lang="en-US" sz="1900" b="1" dirty="0">
                <a:solidFill>
                  <a:srgbClr val="FFFFFF"/>
                </a:solidFill>
                <a:latin typeface="Calibri" pitchFamily="34" charset="0"/>
                <a:ea typeface="Calibri" pitchFamily="34" charset="-122"/>
                <a:cs typeface="Calibri" pitchFamily="34" charset="-120"/>
              </a:rPr>
              <a:t>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1" name="Text 19"/>
          <p:cNvSpPr/>
          <p:nvPr/>
        </p:nvSpPr>
        <p:spPr>
          <a:xfrm>
            <a:off x="177198" y="1882411"/>
            <a:ext cx="11341401"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182880" y="2335739"/>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373473" y="2625559"/>
                <a:ext cx="5178523" cy="59436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600" dirty="0"/>
              </a:p>
            </p:txBody>
          </p:sp>
        </mc:Choice>
        <mc:Fallback xmlns="">
          <p:sp>
            <p:nvSpPr>
              <p:cNvPr id="23" name="Text 21"/>
              <p:cNvSpPr>
                <a:spLocks noRot="1" noChangeAspect="1" noMove="1" noResize="1" noEditPoints="1" noAdjustHandles="1" noChangeArrowheads="1" noChangeShapeType="1" noTextEdit="1"/>
              </p:cNvSpPr>
              <p:nvPr/>
            </p:nvSpPr>
            <p:spPr>
              <a:xfrm>
                <a:off x="-373473" y="2625559"/>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177198" y="715313"/>
            <a:ext cx="11618562"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182879" y="1057709"/>
            <a:ext cx="11244279" cy="79176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8" name="Text 21">
                <a:extLst>
                  <a:ext uri="{FF2B5EF4-FFF2-40B4-BE49-F238E27FC236}">
                    <a16:creationId xmlns:a16="http://schemas.microsoft.com/office/drawing/2014/main" id="{9CB1D5DA-B895-49EC-AF0F-2B5E12F4D128}"/>
                  </a:ext>
                </a:extLst>
              </p:cNvPr>
              <p:cNvSpPr/>
              <p:nvPr/>
            </p:nvSpPr>
            <p:spPr>
              <a:xfrm>
                <a:off x="274320" y="1135822"/>
                <a:ext cx="4209081" cy="594360"/>
              </a:xfrm>
              <a:prstGeom prst="rect">
                <a:avLst/>
              </a:prstGeom>
              <a:noFill/>
              <a:ln/>
            </p:spPr>
            <p:txBody>
              <a:bodyPr wrap="square" rtlCol="0" anchor="ctr"/>
              <a:lstStyle/>
              <a:p>
                <a:pPr algn="ctr"/>
                <a14:m>
                  <m:oMath xmlns:m="http://schemas.openxmlformats.org/officeDocument/2006/math">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xmlns="">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274320" y="1135822"/>
                <a:ext cx="4209081" cy="594360"/>
              </a:xfrm>
              <a:prstGeom prst="rect">
                <a:avLst/>
              </a:prstGeom>
              <a:blipFill>
                <a:blip r:embed="rId3"/>
                <a:stretch>
                  <a:fillRect b="-2041"/>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227179" y="3681280"/>
            <a:ext cx="1129142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Representación matricial en espacio de estados:</a:t>
            </a:r>
            <a:endParaRPr lang="es-AR" sz="1400" dirty="0"/>
          </a:p>
        </p:txBody>
      </p:sp>
      <p:sp>
        <p:nvSpPr>
          <p:cNvPr id="30" name="Shape 20">
            <a:extLst>
              <a:ext uri="{FF2B5EF4-FFF2-40B4-BE49-F238E27FC236}">
                <a16:creationId xmlns:a16="http://schemas.microsoft.com/office/drawing/2014/main" id="{8B4DE1EB-B212-4A92-A0D0-0B0C5C1971DD}"/>
              </a:ext>
            </a:extLst>
          </p:cNvPr>
          <p:cNvSpPr/>
          <p:nvPr/>
        </p:nvSpPr>
        <p:spPr>
          <a:xfrm>
            <a:off x="227179" y="4231196"/>
            <a:ext cx="11158521" cy="121446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91440" y="4558603"/>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eqArr>
                            <m:eqArrPr>
                              <m:ctrlPr>
                                <a:rPr lang="es-AR" sz="1400" i="1">
                                  <a:effectLst/>
                                  <a:latin typeface="Cambria Math" panose="02040503050406030204" pitchFamily="18" charset="0"/>
                                  <a:ea typeface="Times New Roman" panose="02020603050405020304" pitchFamily="18" charset="0"/>
                                </a:rPr>
                              </m:ctrlPr>
                            </m:eqArrPr>
                            <m:e>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b="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400" i="1">
                                      <a:effectLst/>
                                      <a:latin typeface="Cambria Math" panose="02040503050406030204" pitchFamily="18" charset="0"/>
                                      <a:ea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4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91440" y="4558603"/>
                <a:ext cx="5178523" cy="594360"/>
              </a:xfrm>
              <a:prstGeom prst="rect">
                <a:avLst/>
              </a:prstGeom>
              <a:blipFill>
                <a:blip r:embed="rId4"/>
                <a:stretch>
                  <a:fillRect t="-31959" b="-3608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transformación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628678"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C240382E-B464-47CA-9B22-CC7A848DA512}"/>
              </a:ext>
            </a:extLst>
          </p:cNvPr>
          <p:cNvSpPr txBox="1"/>
          <p:nvPr/>
        </p:nvSpPr>
        <p:spPr>
          <a:xfrm>
            <a:off x="274320" y="136634"/>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a:t>
            </a:r>
            <a:r>
              <a:rPr lang="en-US" sz="1900" b="1" dirty="0" err="1">
                <a:solidFill>
                  <a:srgbClr val="FFFFFF"/>
                </a:solidFill>
                <a:latin typeface="Calibri" pitchFamily="34" charset="0"/>
                <a:ea typeface="Calibri" pitchFamily="34" charset="-122"/>
                <a:cs typeface="Calibri" pitchFamily="34" charset="-120"/>
              </a:rPr>
              <a:t>Transformación</a:t>
            </a:r>
            <a:r>
              <a:rPr lang="en-US" sz="1900" b="1" dirty="0">
                <a:solidFill>
                  <a:srgbClr val="FFFFFF"/>
                </a:solidFill>
                <a:latin typeface="Calibri" pitchFamily="34" charset="0"/>
                <a:ea typeface="Calibri" pitchFamily="34" charset="-122"/>
                <a:cs typeface="Calibri" pitchFamily="34" charset="-120"/>
              </a:rPr>
              <a:t>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457200" y="4991559"/>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a:t>
            </a:r>
            <a:r>
              <a:rPr lang="en-US" sz="1100" i="1" dirty="0" err="1">
                <a:solidFill>
                  <a:srgbClr val="224488"/>
                </a:solidFill>
                <a:latin typeface="Calibri" pitchFamily="34" charset="0"/>
                <a:ea typeface="Calibri" pitchFamily="34" charset="-122"/>
                <a:cs typeface="Calibri" pitchFamily="34" charset="-120"/>
              </a:rPr>
              <a:t>transformación</a:t>
            </a:r>
            <a:r>
              <a:rPr lang="en-US" sz="1100" i="1" dirty="0">
                <a:solidFill>
                  <a:srgbClr val="224488"/>
                </a:solidFill>
                <a:latin typeface="Calibri" pitchFamily="34" charset="0"/>
                <a:ea typeface="Calibri" pitchFamily="34" charset="-122"/>
                <a:cs typeface="Calibri" pitchFamily="34" charset="-120"/>
              </a:rPr>
              <a:t>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1025880"/>
            <a:ext cx="7702771" cy="3734677"/>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639192" y="1615224"/>
                <a:ext cx="500798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639192" y="1615224"/>
                <a:ext cx="5007984" cy="548640"/>
              </a:xfrm>
              <a:prstGeom prst="rect">
                <a:avLst/>
              </a:prstGeom>
              <a:blipFill>
                <a:blip r:embed="rId2"/>
                <a:stretch>
                  <a:fillRect l="-122" t="-67778" b="-70000"/>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514905" y="4098731"/>
                <a:ext cx="615555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514905" y="4098731"/>
                <a:ext cx="6155557" cy="548640"/>
              </a:xfrm>
              <a:prstGeom prst="rect">
                <a:avLst/>
              </a:prstGeom>
              <a:blipFill>
                <a:blip r:embed="rId3"/>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149839"/>
                <a:ext cx="11430000" cy="457200"/>
              </a:xfrm>
              <a:prstGeom prst="rect">
                <a:avLst/>
              </a:prstGeom>
              <a:blipFill>
                <a:blip r:embed="rId5"/>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59646BFE-5B29-4924-BE61-8E62C94BCF85}"/>
              </a:ext>
            </a:extLst>
          </p:cNvPr>
          <p:cNvSpPr txBox="1"/>
          <p:nvPr/>
        </p:nvSpPr>
        <p:spPr>
          <a:xfrm>
            <a:off x="152696" y="144518"/>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1872740"/>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65760" y="404000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72440" y="4104014"/>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72440" y="4104014"/>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365760" y="2948529"/>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018101"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500" i="1">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018101"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60898" y="4586257"/>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60898" y="4586257"/>
                <a:ext cx="5486400" cy="1307592"/>
              </a:xfrm>
              <a:prstGeom prst="rect">
                <a:avLst/>
              </a:prstGeom>
              <a:blipFill>
                <a:blip r:embed="rId3"/>
                <a:stretch>
                  <a:fillRect l="-333" b="-45116"/>
                </a:stretch>
              </a:blipFill>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Modelo LTI equivalente y análisis</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xmlns="">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19597" y="2422594"/>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19597" y="2422594"/>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3" y="1498627"/>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7">
                <a:extLst>
                  <a:ext uri="{FF2B5EF4-FFF2-40B4-BE49-F238E27FC236}">
                    <a16:creationId xmlns:a16="http://schemas.microsoft.com/office/drawing/2014/main" id="{DA892EF5-3E87-4AFE-BB7C-31BC1FD0C14A}"/>
                  </a:ext>
                </a:extLst>
              </p:cNvPr>
              <p:cNvSpPr/>
              <p:nvPr/>
            </p:nvSpPr>
            <p:spPr>
              <a:xfrm>
                <a:off x="-319597" y="1472537"/>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𝑥</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𝑡</m:t>
                                    </m:r>
                                  </m:e>
                                  <m:sub>
                                    <m:r>
                                      <a:rPr lang="es-AR" sz="1400" i="1">
                                        <a:latin typeface="Cambria Math" panose="02040503050406030204" pitchFamily="18" charset="0"/>
                                      </a:rPr>
                                      <m:t>0</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e>
                        </m:mr>
                        <m:mr>
                          <m:e>
                            <m:r>
                              <a:rPr lang="es-AR" sz="1400" i="1">
                                <a:latin typeface="Cambria Math" panose="02040503050406030204" pitchFamily="18" charset="0"/>
                              </a:rPr>
                              <m:t>𝑦</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oMath>
                  </m:oMathPara>
                </a14:m>
                <a:endParaRPr lang="en-US" sz="1400" dirty="0"/>
              </a:p>
            </p:txBody>
          </p:sp>
        </mc:Choice>
        <mc:Fallback xmlns="">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72537"/>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smtClean="0">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r>
                                                          <a:rPr lang="es-AR" sz="1200" b="0" i="1" smtClean="0">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=0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r>
                                        <m:rPr>
                                          <m:nor/>
                                        </m:rPr>
                                        <a:rPr lang="es-AR" sz="1200"/>
                                        <m:t>(31)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=0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0115" b="-174713"/>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599" y="4528622"/>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599" y="4832764"/>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599" y="4832764"/>
                <a:ext cx="8961120" cy="530352"/>
              </a:xfrm>
              <a:prstGeom prst="rect">
                <a:avLst/>
              </a:prstGeom>
              <a:blipFill>
                <a:blip r:embed="rId3"/>
                <a:stretch>
                  <a:fillRect t="-42529" b="-81609"/>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600" i="1" smtClean="0">
                              <a:effectLst/>
                              <a:latin typeface="Cambria Math" panose="02040503050406030204" pitchFamily="18" charset="0"/>
                              <a:cs typeface="Times New Roman" panose="02020603050405020304" pitchFamily="18" charset="0"/>
                            </a:rPr>
                          </m:ctrlPr>
                        </m:accPr>
                        <m:e>
                          <m:r>
                            <a:rPr lang="es-MX" sz="1600" b="0" i="1" smtClean="0">
                              <a:effectLst/>
                              <a:latin typeface="Cambria Math" panose="02040503050406030204" pitchFamily="18"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6"/>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10396"/>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smtClean="0">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10396"/>
              </a:xfrm>
              <a:prstGeom prst="rect">
                <a:avLst/>
              </a:prstGeom>
              <a:blipFill>
                <a:blip r:embed="rId5"/>
                <a:stretch>
                  <a:fillRect l="-53" r="-53" b="-9524"/>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transformación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8"/>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Ley de control </a:t>
            </a:r>
            <a:r>
              <a:rPr lang="en-US" sz="1900" b="1" dirty="0" err="1">
                <a:solidFill>
                  <a:srgbClr val="FFFFFF"/>
                </a:solidFill>
                <a:latin typeface="Calibri" pitchFamily="34" charset="0"/>
                <a:ea typeface="Calibri" pitchFamily="34" charset="-122"/>
                <a:cs typeface="Calibri" pitchFamily="34" charset="-120"/>
              </a:rPr>
              <a:t>mínima</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2"/>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3"/>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4"/>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5"/>
          <a:stretch>
            <a:fillRect/>
          </a:stretch>
        </p:blipFill>
        <p:spPr>
          <a:xfrm>
            <a:off x="1292797" y="2062302"/>
            <a:ext cx="8361673" cy="41005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8"/>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9"/>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0"/>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2"/>
          <a:stretch>
            <a:fillRect/>
          </a:stretch>
        </p:blipFill>
        <p:spPr>
          <a:xfrm>
            <a:off x="274320" y="864951"/>
            <a:ext cx="11612880" cy="5493857"/>
          </a:xfrm>
          <a:prstGeom prst="rect">
            <a:avLst/>
          </a:prstGeom>
        </p:spPr>
      </p:pic>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Modelo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750" b="-313793"/>
                          </a:stretch>
                        </a:blipFill>
                      </a:tcPr>
                    </a:tc>
                    <a:tc>
                      <a:txBody>
                        <a:bodyPr/>
                        <a:lstStyle/>
                        <a:p>
                          <a:endParaRPr lang="es-AR"/>
                        </a:p>
                      </a:txBody>
                      <a:tcPr marL="68580" marR="68580" marT="0" marB="0">
                        <a:blipFill>
                          <a:blip r:embed="rId5"/>
                          <a:stretch>
                            <a:fillRect l="-220856" t="-84483" r="-433690"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6336" b="-313793"/>
                          </a:stretch>
                        </a:blipFill>
                      </a:tcPr>
                    </a:tc>
                    <a:tc>
                      <a:txBody>
                        <a:bodyPr/>
                        <a:lstStyle/>
                        <a:p>
                          <a:endParaRPr lang="es-AR"/>
                        </a:p>
                      </a:txBody>
                      <a:tcPr marL="68580" marR="68580" marT="0" marB="0">
                        <a:blipFill>
                          <a:blip r:embed="rId5"/>
                          <a:stretch>
                            <a:fillRect l="-1380000" t="-84483" r="-5263"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MX" sz="1200" b="0" i="1" smtClean="0">
                                      <a:latin typeface="Cambria Math" panose="02040503050406030204" pitchFamily="18" charset="0"/>
                                    </a:rPr>
                                    <m:t>𝑚</m:t>
                                  </m:r>
                                </m:e>
                                <m:sub>
                                  <m:r>
                                    <a:rPr lang="es-MX"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631608"/>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631608"/>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dirty="0" err="1">
                <a:solidFill>
                  <a:srgbClr val="A0C4FF"/>
                </a:solidFill>
                <a:latin typeface="Calibri"/>
              </a:rPr>
              <a:t>Simulación</a:t>
            </a:r>
            <a:r>
              <a:rPr sz="1700" dirty="0">
                <a:solidFill>
                  <a:srgbClr val="A0C4FF"/>
                </a:solidFill>
                <a:latin typeface="Calibri"/>
              </a:rPr>
              <a:t> del </a:t>
            </a:r>
            <a:r>
              <a:rPr sz="1700" dirty="0" err="1">
                <a:solidFill>
                  <a:srgbClr val="A0C4FF"/>
                </a:solidFill>
                <a:latin typeface="Calibri"/>
              </a:rPr>
              <a:t>modelo</a:t>
            </a:r>
            <a:r>
              <a:rPr sz="1700" dirty="0">
                <a:solidFill>
                  <a:srgbClr val="A0C4FF"/>
                </a:solidFill>
                <a:latin typeface="Calibri"/>
              </a:rPr>
              <a:t> NL · 4 </a:t>
            </a:r>
            <a:r>
              <a:rPr sz="1700" dirty="0" err="1">
                <a:solidFill>
                  <a:srgbClr val="A0C4FF"/>
                </a:solidFill>
                <a:latin typeface="Calibri"/>
              </a:rPr>
              <a:t>cuadrantes</a:t>
            </a:r>
            <a:r>
              <a:rPr sz="1700" dirty="0">
                <a:solidFill>
                  <a:srgbClr val="A0C4FF"/>
                </a:solidFill>
                <a:latin typeface="Calibri"/>
              </a:rPr>
              <a:t> · LTI vs NL</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a:blip r:embed="rId2">
            <a:extLst>
              <a:ext uri="{28A0092B-C50C-407E-A947-70E740481C1C}">
                <a14:useLocalDpi xmlns:a14="http://schemas.microsoft.com/office/drawing/2010/main" val="0"/>
              </a:ext>
            </a:extLst>
          </a:blip>
          <a:srcRect t="1615" b="1615"/>
          <a:stretch>
            <a:fillRect/>
          </a:stretch>
        </p:blipFill>
        <p:spPr bwMode="auto">
          <a:xfrm>
            <a:off x="2109585" y="2259275"/>
            <a:ext cx="7571717"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365759" y="1261872"/>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𝑙𝑑</m:t>
                        </m:r>
                      </m:sub>
                    </m:sSub>
                  </m:oMath>
                </a14:m>
                <a:r>
                  <a:rPr lang="es-AR" sz="1400" dirty="0">
                    <a:solidFill>
                      <a:srgbClr val="1A1A2E"/>
                    </a:solidFill>
                    <a:latin typeface="Calibri"/>
                  </a:rPr>
                  <a:t>: doble pulso ±5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365759" y="1261872"/>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tretch>
            <a:fillRect/>
          </a:stretch>
        </p:blipFill>
        <p:spPr>
          <a:xfrm>
            <a:off x="-1" y="658367"/>
            <a:ext cx="5871937" cy="4757054"/>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tretch>
            <a:fillRect/>
          </a:stretch>
        </p:blipFill>
        <p:spPr>
          <a:xfrm>
            <a:off x="5871936" y="662163"/>
            <a:ext cx="6320064"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11551615" cy="658368"/>
          </a:xfrm>
          <a:prstGeom prst="rect">
            <a:avLst/>
          </a:prstGeom>
          <a:noFill/>
        </p:spPr>
        <p:txBody>
          <a:bodyPr wrap="none">
            <a:spAutoFit/>
          </a:bodyPr>
          <a:lstStyle/>
          <a:p>
            <a:pPr algn="l"/>
            <a:r>
              <a:rPr sz="2100" b="1" dirty="0" err="1">
                <a:solidFill>
                  <a:srgbClr val="FFFFFF"/>
                </a:solidFill>
                <a:latin typeface="Cambria"/>
              </a:rPr>
              <a:t>Comparación</a:t>
            </a:r>
            <a:r>
              <a:rPr sz="2100" b="1" dirty="0">
                <a:solidFill>
                  <a:srgbClr val="FFFFFF"/>
                </a:solidFill>
                <a:latin typeface="Cambria"/>
              </a:rPr>
              <a:t> </a:t>
            </a:r>
            <a:r>
              <a:rPr sz="2100" b="1" dirty="0" err="1">
                <a:solidFill>
                  <a:srgbClr val="FFFFFF"/>
                </a:solidFill>
                <a:latin typeface="Cambria"/>
              </a:rPr>
              <a:t>modelo</a:t>
            </a:r>
            <a:r>
              <a:rPr sz="2100" b="1" dirty="0">
                <a:solidFill>
                  <a:srgbClr val="FFFFFF"/>
                </a:solidFill>
                <a:latin typeface="Cambria"/>
              </a:rPr>
              <a:t> LTI vs. </a:t>
            </a:r>
            <a:r>
              <a:rPr sz="2100" b="1" dirty="0" err="1">
                <a:solidFill>
                  <a:srgbClr val="FFFFFF"/>
                </a:solidFill>
                <a:latin typeface="Cambria"/>
              </a:rPr>
              <a:t>modelo</a:t>
            </a:r>
            <a:r>
              <a:rPr sz="2100" b="1" dirty="0">
                <a:solidFill>
                  <a:srgbClr val="FFFFFF"/>
                </a:solidFill>
                <a:latin typeface="Cambria"/>
              </a:rPr>
              <a:t>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tretch>
            <a:fillRect/>
          </a:stretch>
        </p:blipFill>
        <p:spPr>
          <a:xfrm>
            <a:off x="6095846" y="658367"/>
            <a:ext cx="609615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tretch>
            <a:fillRect/>
          </a:stretch>
        </p:blipFill>
        <p:spPr>
          <a:xfrm>
            <a:off x="-304" y="658368"/>
            <a:ext cx="6096150" cy="4623846"/>
          </a:xfrm>
          <a:prstGeom prst="rect">
            <a:avLst/>
          </a:prstGeom>
        </p:spPr>
      </p:pic>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8" name="TextBox 23">
            <a:extLst>
              <a:ext uri="{FF2B5EF4-FFF2-40B4-BE49-F238E27FC236}">
                <a16:creationId xmlns:a16="http://schemas.microsoft.com/office/drawing/2014/main" id="{05947E8B-63DE-46BB-9C21-E783C1807622}"/>
              </a:ext>
            </a:extLst>
          </p:cNvPr>
          <p:cNvSpPr txBox="1"/>
          <p:nvPr/>
        </p:nvSpPr>
        <p:spPr>
          <a:xfrm>
            <a:off x="8970263" y="907882"/>
            <a:ext cx="493776" cy="577081"/>
          </a:xfrm>
          <a:prstGeom prst="rect">
            <a:avLst/>
          </a:prstGeom>
          <a:noFill/>
        </p:spPr>
        <p:txBody>
          <a:bodyPr wrap="square">
            <a:spAutoFit/>
          </a:bodyPr>
          <a:lstStyle/>
          <a:p>
            <a:pPr algn="ctr"/>
            <a:r>
              <a:rPr sz="1050" b="1">
                <a:solidFill>
                  <a:schemeClr val="bg1"/>
                </a:solidFill>
                <a:latin typeface="Calibri"/>
              </a:rPr>
              <a:t>Tld
[N·m]</a:t>
            </a:r>
          </a:p>
        </p:txBody>
      </p:sp>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0" name="TextBox 25">
            <a:extLst>
              <a:ext uri="{FF2B5EF4-FFF2-40B4-BE49-F238E27FC236}">
                <a16:creationId xmlns:a16="http://schemas.microsoft.com/office/drawing/2014/main" id="{F4A45EC6-BB19-4D3F-877D-ACEC3109C603}"/>
              </a:ext>
            </a:extLst>
          </p:cNvPr>
          <p:cNvSpPr txBox="1"/>
          <p:nvPr/>
        </p:nvSpPr>
        <p:spPr>
          <a:xfrm>
            <a:off x="9518903" y="907882"/>
            <a:ext cx="566928" cy="415498"/>
          </a:xfrm>
          <a:prstGeom prst="rect">
            <a:avLst/>
          </a:prstGeom>
          <a:noFill/>
        </p:spPr>
        <p:txBody>
          <a:bodyPr wrap="square">
            <a:spAutoFit/>
          </a:bodyPr>
          <a:lstStyle/>
          <a:p>
            <a:pPr algn="ctr"/>
            <a:r>
              <a:rPr sz="1050" b="1">
                <a:solidFill>
                  <a:schemeClr val="bg1"/>
                </a:solidFill>
                <a:latin typeface="Calibri"/>
              </a:rPr>
              <a:t>vqs^r
[V]</a:t>
            </a:r>
          </a:p>
        </p:txBody>
      </p:sp>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0695" y="907882"/>
                <a:ext cx="630936"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𝜔</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0695" y="907882"/>
                <a:ext cx="630936" cy="415498"/>
              </a:xfrm>
              <a:prstGeom prst="rect">
                <a:avLst/>
              </a:prstGeom>
              <a:blipFill>
                <a:blip r:embed="rId4"/>
                <a:stretch>
                  <a:fillRect b="-8824"/>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907882"/>
                <a:ext cx="585215"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𝑇</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907882"/>
                <a:ext cx="585215" cy="415498"/>
              </a:xfrm>
              <a:prstGeom prst="rect">
                <a:avLst/>
              </a:prstGeom>
              <a:blipFill>
                <a:blip r:embed="rId5"/>
                <a:stretch>
                  <a:fillRect b="-8824"/>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491471" y="133536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sz="1400" b="1" i="0" dirty="0" err="1">
                    <a:solidFill>
                      <a:srgbClr val="1A3A6B"/>
                    </a:solidFill>
                    <a:latin typeface="Calibri"/>
                  </a:rPr>
                  <a:t>Tabla</a:t>
                </a:r>
                <a:r>
                  <a:rPr sz="1400" b="1" i="0" dirty="0">
                    <a:solidFill>
                      <a:srgbClr val="1A3A6B"/>
                    </a:solidFill>
                    <a:latin typeface="Calibri"/>
                  </a:rPr>
                  <a:t>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=±0.5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5</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7131156" y="6273863"/>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7131156" y="6273863"/>
                <a:ext cx="3613212" cy="261610"/>
              </a:xfrm>
              <a:prstGeom prst="rect">
                <a:avLst/>
              </a:prstGeom>
              <a:blipFill>
                <a:blip r:embed="rId3"/>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p:sp>
        <p:nvSpPr>
          <p:cNvPr id="14" name="CuadroTexto 13">
            <a:extLst>
              <a:ext uri="{FF2B5EF4-FFF2-40B4-BE49-F238E27FC236}">
                <a16:creationId xmlns:a16="http://schemas.microsoft.com/office/drawing/2014/main" id="{6E2D4AFC-E308-4676-A366-47E0821BF784}"/>
              </a:ext>
            </a:extLst>
          </p:cNvPr>
          <p:cNvSpPr txBox="1"/>
          <p:nvPr/>
        </p:nvSpPr>
        <p:spPr>
          <a:xfrm>
            <a:off x="365760" y="2860032"/>
            <a:ext cx="11217250" cy="2265557"/>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75651" y="4238463"/>
            <a:ext cx="5015440"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2685197"/>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mc:Choice xmlns:a14="http://schemas.microsoft.com/office/drawing/2010/main"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02156"/>
                <a:ext cx="11643055" cy="1815882"/>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a:t>
                </a:r>
                <a:r>
                  <a:rPr lang="es-AR" sz="1400" dirty="0">
                    <a:effectLst/>
                    <a:latin typeface="Calibri" panose="020F0502020204030204" pitchFamily="34" charset="0"/>
                    <a:ea typeface="Calibri" panose="020F0502020204030204" pitchFamily="34" charset="0"/>
                  </a:rPr>
                  <a:t>e implementa el modulador de torque equivalente, que constituye el lazo interno del esquema de control en cascada. Este bloque recibe como entrada las consignas de torque generadas por el controlador de movimiento y produce como salida las consignas de tensión que deben aplicarse al accionamiento eléctrico.</a:t>
                </a:r>
              </a:p>
              <a:p>
                <a:r>
                  <a:rPr lang="es-AR" sz="1400" dirty="0">
                    <a:latin typeface="Calibri" panose="020F0502020204030204" pitchFamily="34" charset="0"/>
                    <a:ea typeface="Calibri" panose="020F0502020204030204" pitchFamily="34" charset="0"/>
                  </a:rPr>
                  <a:t>El modulador se basa en el modelo dinámico linealizado del sistema expresado en el marco de referencia </a:t>
                </a:r>
                <a14:m>
                  <m:oMath xmlns:m="http://schemas.openxmlformats.org/officeDocument/2006/math">
                    <m:sSup>
                      <m:sSupPr>
                        <m:ctrlPr>
                          <a:rPr lang="es-AR" sz="1400" i="1">
                            <a:latin typeface="Cambria Math" panose="02040503050406030204" pitchFamily="18" charset="0"/>
                            <a:ea typeface="Calibri" panose="020F0502020204030204" pitchFamily="34" charset="0"/>
                          </a:rPr>
                        </m:ctrlPr>
                      </m:sSupPr>
                      <m:e>
                        <m:r>
                          <a:rPr lang="es-AR" sz="1400">
                            <a:latin typeface="Cambria Math" panose="02040503050406030204" pitchFamily="18" charset="0"/>
                            <a:ea typeface="Calibri" panose="020F0502020204030204" pitchFamily="34" charset="0"/>
                          </a:rPr>
                          <m:t>𝑞𝑑</m:t>
                        </m:r>
                        <m:r>
                          <a:rPr lang="es-AR" sz="1400">
                            <a:latin typeface="Cambria Math" panose="02040503050406030204" pitchFamily="18" charset="0"/>
                            <a:ea typeface="Calibri" panose="020F0502020204030204" pitchFamily="34" charset="0"/>
                          </a:rPr>
                          <m:t>0</m:t>
                        </m:r>
                      </m:e>
                      <m:sup>
                        <m:r>
                          <a:rPr lang="es-AR" sz="1400">
                            <a:latin typeface="Cambria Math" panose="02040503050406030204" pitchFamily="18" charset="0"/>
                            <a:ea typeface="Calibri" panose="020F0502020204030204" pitchFamily="34" charset="0"/>
                          </a:rPr>
                          <m:t>𝑟</m:t>
                        </m:r>
                      </m:sup>
                    </m:sSup>
                  </m:oMath>
                </a14:m>
                <a:r>
                  <a:rPr lang="es-AR" sz="14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p>
              <a:p>
                <a:endParaRPr lang="es-AR" sz="1400" dirty="0">
                  <a:latin typeface="Calibri" panose="020F0502020204030204" pitchFamily="34" charset="0"/>
                  <a:ea typeface="Calibri" panose="020F0502020204030204" pitchFamily="34" charset="0"/>
                </a:endParaRPr>
              </a:p>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transformación de Park:</a:t>
                </a:r>
              </a:p>
            </p:txBody>
          </p:sp>
        </mc:Choice>
        <mc:Fallback>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02156"/>
                <a:ext cx="11643055" cy="1815882"/>
              </a:xfrm>
              <a:prstGeom prst="rect">
                <a:avLst/>
              </a:prstGeom>
              <a:blipFill>
                <a:blip r:embed="rId2"/>
                <a:stretch>
                  <a:fillRect l="-157" t="-673" b="-26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231267" y="2738532"/>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231267" y="2738532"/>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77924" y="328131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471549" y="4269430"/>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471549" y="4269430"/>
                <a:ext cx="4714490" cy="1608902"/>
              </a:xfrm>
              <a:prstGeom prst="rect">
                <a:avLst/>
              </a:prstGeom>
              <a:blipFill>
                <a:blip r:embed="rId4"/>
                <a:stretch>
                  <a:fillRect l="-2455" r="-129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5442462" y="4347158"/>
                <a:ext cx="6236562" cy="1186159"/>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5442462" y="4347158"/>
                <a:ext cx="6236562" cy="1186159"/>
              </a:xfrm>
              <a:prstGeom prst="rect">
                <a:avLst/>
              </a:prstGeom>
              <a:blipFill>
                <a:blip r:embed="rId5"/>
                <a:stretch>
                  <a:fillRect l="-293" t="-1026" r="-293" b="-4615"/>
                </a:stretch>
              </a:blipFill>
            </p:spPr>
            <p:txBody>
              <a:bodyPr/>
              <a:lstStyle/>
              <a:p>
                <a:r>
                  <a:rPr lang="es-AR">
                    <a:noFill/>
                  </a:rPr>
                  <a:t> </a:t>
                </a:r>
              </a:p>
            </p:txBody>
          </p:sp>
        </mc:Fallback>
      </mc:AlternateContent>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269532"/>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Con </a:t>
                </a:r>
                <a:r>
                  <a:rPr lang="es-AR" sz="1400" dirty="0">
                    <a:effectLst/>
                    <a:latin typeface="Calibri" panose="020F0502020204030204" pitchFamily="34" charset="0"/>
                    <a:ea typeface="Calibri" panose="020F0502020204030204" pitchFamily="34" charset="0"/>
                    <a:cs typeface="Calibri" panose="020F0502020204030204" pitchFamily="34" charset="0"/>
                  </a:rPr>
                  <a:t>el desacople de las realimentaciones electromagnéticas, el 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269532"/>
              </a:xfrm>
              <a:prstGeom prst="rect">
                <a:avLst/>
              </a:prstGeom>
              <a:blipFill>
                <a:blip r:embed="rId2"/>
                <a:stretch>
                  <a:fillRect l="-155" t="-26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 gracias a que</a:t>
                </a:r>
                <a:r>
                  <a:rPr lang="es-AR" b="1" dirty="0"/>
                  <a:t> </a:t>
                </a:r>
                <a14:m>
                  <m:oMath xmlns:m="http://schemas.openxmlformats.org/officeDocument/2006/math">
                    <m:r>
                      <a:rPr lang="es-AR" sz="1400" b="0" i="1">
                        <a:latin typeface="Cambria Math" panose="02040503050406030204" pitchFamily="18" charset="0"/>
                      </a:rPr>
                      <m:t>𝑖</m:t>
                    </m:r>
                    <m:d>
                      <m:dPr>
                        <m:ctrlPr>
                          <a:rPr lang="es-AR" sz="1400" i="1">
                            <a:latin typeface="Cambria Math" panose="02040503050406030204" pitchFamily="18" charset="0"/>
                          </a:rPr>
                        </m:ctrlPr>
                      </m:dPr>
                      <m:e>
                        <m:r>
                          <a:rPr lang="es-AR" sz="1400" b="0" i="1">
                            <a:latin typeface="Cambria Math" panose="02040503050406030204" pitchFamily="18" charset="0"/>
                          </a:rPr>
                          <m:t>𝑡</m:t>
                        </m:r>
                      </m:e>
                    </m:d>
                    <m:r>
                      <a:rPr lang="es-AR" sz="1400" b="0" i="1">
                        <a:latin typeface="Cambria Math" panose="02040503050406030204" pitchFamily="18" charset="0"/>
                      </a:rPr>
                      <m:t>=</m:t>
                    </m:r>
                    <m:sSup>
                      <m:sSupPr>
                        <m:ctrlPr>
                          <a:rPr lang="es-AR" sz="1400" i="1">
                            <a:latin typeface="Cambria Math" panose="02040503050406030204" pitchFamily="18" charset="0"/>
                          </a:rPr>
                        </m:ctrlPr>
                      </m:sSupPr>
                      <m:e>
                        <m:r>
                          <a:rPr lang="es-AR" sz="1400" b="0" i="1">
                            <a:latin typeface="Cambria Math" panose="02040503050406030204" pitchFamily="18" charset="0"/>
                          </a:rPr>
                          <m:t>𝑖</m:t>
                        </m:r>
                      </m:e>
                      <m:sup>
                        <m:r>
                          <a:rPr lang="es-AR" sz="1400" b="0" i="1">
                            <a:latin typeface="Cambria Math" panose="02040503050406030204" pitchFamily="18" charset="0"/>
                          </a:rPr>
                          <m:t>∗</m:t>
                        </m:r>
                      </m:sup>
                    </m:sSup>
                    <m:d>
                      <m:dPr>
                        <m:ctrlPr>
                          <a:rPr lang="es-AR" sz="1400" i="1">
                            <a:latin typeface="Cambria Math" panose="02040503050406030204" pitchFamily="18" charset="0"/>
                          </a:rPr>
                        </m:ctrlPr>
                      </m:dPr>
                      <m:e>
                        <m:r>
                          <a:rPr lang="es-AR" sz="1400" b="0" i="1">
                            <a:latin typeface="Cambria Math" panose="02040503050406030204" pitchFamily="18" charset="0"/>
                          </a:rPr>
                          <m:t>𝑡</m:t>
                        </m:r>
                      </m:e>
                    </m:d>
                  </m:oMath>
                </a14:m>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29</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33</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4</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13512" y="3907451"/>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523220"/>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a:t>
                </a: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523220"/>
              </a:xfrm>
              <a:prstGeom prst="rect">
                <a:avLst/>
              </a:prstGeom>
              <a:blipFill>
                <a:blip r:embed="rId2"/>
                <a:stretch>
                  <a:fillRect l="-160" t="-3488" b="-10465"/>
                </a:stretch>
              </a:blipFill>
            </p:spPr>
            <p:txBody>
              <a:bodyPr/>
              <a:lstStyle/>
              <a:p>
                <a:r>
                  <a:rPr lang="es-AR">
                    <a:noFill/>
                  </a:rPr>
                  <a:t> </a:t>
                </a:r>
              </a:p>
            </p:txBody>
          </p:sp>
        </mc:Fallback>
      </mc:AlternateContent>
      <p:sp>
        <p:nvSpPr>
          <p:cNvPr id="8" name="Rectangle 7"/>
          <p:cNvSpPr/>
          <p:nvPr/>
        </p:nvSpPr>
        <p:spPr>
          <a:xfrm>
            <a:off x="213512" y="1293373"/>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293373"/>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293373"/>
                <a:ext cx="3741050" cy="434158"/>
              </a:xfrm>
              <a:prstGeom prst="rect">
                <a:avLst/>
              </a:prstGeom>
              <a:blipFill>
                <a:blip r:embed="rId3"/>
                <a:stretch>
                  <a:fillRect b="-4225"/>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1864873"/>
            <a:ext cx="11876538" cy="954107"/>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2838522"/>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2838522"/>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2838522"/>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152705" y="3530310"/>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3885172"/>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3885172"/>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2"/>
          <a:srcRect/>
          <a:stretch/>
        </p:blipFill>
        <p:spPr>
          <a:xfrm>
            <a:off x="80652" y="761883"/>
            <a:ext cx="6497701" cy="3312420"/>
          </a:xfrm>
          <a:prstGeom prst="rect">
            <a:avLst/>
          </a:prstGeom>
        </p:spPr>
      </p:pic>
      <p:pic>
        <p:nvPicPr>
          <p:cNvPr id="17" name="Imagen 16">
            <a:extLst>
              <a:ext uri="{FF2B5EF4-FFF2-40B4-BE49-F238E27FC236}">
                <a16:creationId xmlns:a16="http://schemas.microsoft.com/office/drawing/2014/main" id="{43A492D6-C7BC-48B2-A493-5408B3CBF048}"/>
              </a:ext>
            </a:extLst>
          </p:cNvPr>
          <p:cNvPicPr/>
          <p:nvPr/>
        </p:nvPicPr>
        <p:blipFill>
          <a:blip r:embed="rId3"/>
          <a:srcRect/>
          <a:stretch/>
        </p:blipFill>
        <p:spPr>
          <a:xfrm>
            <a:off x="5018333" y="2939236"/>
            <a:ext cx="7155301" cy="3156881"/>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279383" y="6005837"/>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Polos y estabilidad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Set-point de posición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2029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20290"/>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250104" y="4087253"/>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250104" y="4087253"/>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13874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13874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Rechazo a perturbaciones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2"/>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3"/>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4"/>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5"/>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6">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45</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3325267" y="1362865"/>
            <a:ext cx="5208828"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3987080"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3987080" y="5514755"/>
                <a:ext cx="4547015" cy="430887"/>
              </a:xfrm>
              <a:prstGeom prst="rect">
                <a:avLst/>
              </a:prstGeom>
              <a:blipFill>
                <a:blip r:embed="rId4"/>
                <a:stretch>
                  <a:fillRect/>
                </a:stretch>
              </a:blipFill>
            </p:spPr>
            <p:txBody>
              <a:bodyPr/>
              <a:lstStyle/>
              <a:p>
                <a:r>
                  <a:rPr lang="es-AR">
                    <a:noFill/>
                  </a:rPr>
                  <a:t> </a:t>
                </a:r>
              </a:p>
            </p:txBody>
          </p:sp>
        </mc:Fallback>
      </mc:AlternateContent>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1" name="Imagen 20">
            <a:extLst>
              <a:ext uri="{FF2B5EF4-FFF2-40B4-BE49-F238E27FC236}">
                <a16:creationId xmlns:a16="http://schemas.microsoft.com/office/drawing/2014/main" id="{6305DE5A-871E-4904-9FBE-88C3110618ED}"/>
              </a:ext>
            </a:extLst>
          </p:cNvPr>
          <p:cNvPicPr/>
          <p:nvPr/>
        </p:nvPicPr>
        <p:blipFill rotWithShape="1">
          <a:blip r:embed="rId2">
            <a:extLst>
              <a:ext uri="{28A0092B-C50C-407E-A947-70E740481C1C}">
                <a14:useLocalDpi xmlns:a14="http://schemas.microsoft.com/office/drawing/2010/main" val="0"/>
              </a:ext>
            </a:extLst>
          </a:blip>
          <a:srcRect l="798"/>
          <a:stretch/>
        </p:blipFill>
        <p:spPr bwMode="auto">
          <a:xfrm>
            <a:off x="133732" y="803213"/>
            <a:ext cx="5628402" cy="4466371"/>
          </a:xfrm>
          <a:prstGeom prst="rect">
            <a:avLst/>
          </a:prstGeom>
          <a:ln>
            <a:noFill/>
          </a:ln>
          <a:extLst>
            <a:ext uri="{53640926-AAD7-44D8-BBD7-CCE9431645EC}">
              <a14:shadowObscured xmlns:a14="http://schemas.microsoft.com/office/drawing/2010/main"/>
            </a:ext>
          </a:extLst>
        </p:spPr>
      </p:pic>
      <p:pic>
        <p:nvPicPr>
          <p:cNvPr id="22" name="Imagen 21">
            <a:extLst>
              <a:ext uri="{FF2B5EF4-FFF2-40B4-BE49-F238E27FC236}">
                <a16:creationId xmlns:a16="http://schemas.microsoft.com/office/drawing/2014/main" id="{493D2690-153C-456B-A197-5FCDB225506A}"/>
              </a:ext>
            </a:extLst>
          </p:cNvPr>
          <p:cNvPicPr/>
          <p:nvPr/>
        </p:nvPicPr>
        <p:blipFill>
          <a:blip r:embed="rId3">
            <a:extLst>
              <a:ext uri="{28A0092B-C50C-407E-A947-70E740481C1C}">
                <a14:useLocalDpi xmlns:a14="http://schemas.microsoft.com/office/drawing/2010/main" val="0"/>
              </a:ext>
            </a:extLst>
          </a:blip>
          <a:stretch>
            <a:fillRect/>
          </a:stretch>
        </p:blipFill>
        <p:spPr>
          <a:xfrm>
            <a:off x="5837311" y="774800"/>
            <a:ext cx="5765680" cy="4494784"/>
          </a:xfrm>
          <a:prstGeom prst="rect">
            <a:avLst/>
          </a:prstGeom>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7129B19-80DF-4CAF-B21C-6358FC302665}"/>
                  </a:ext>
                </a:extLst>
              </p:cNvPr>
              <p:cNvSpPr txBox="1"/>
              <p:nvPr/>
            </p:nvSpPr>
            <p:spPr>
              <a:xfrm>
                <a:off x="589009" y="5311437"/>
                <a:ext cx="509690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3" name="CuadroTexto 12">
                <a:extLst>
                  <a:ext uri="{FF2B5EF4-FFF2-40B4-BE49-F238E27FC236}">
                    <a16:creationId xmlns:a16="http://schemas.microsoft.com/office/drawing/2014/main" id="{27129B19-80DF-4CAF-B21C-6358FC302665}"/>
                  </a:ext>
                </a:extLst>
              </p:cNvPr>
              <p:cNvSpPr txBox="1">
                <a:spLocks noRot="1" noChangeAspect="1" noMove="1" noResize="1" noEditPoints="1" noAdjustHandles="1" noChangeArrowheads="1" noChangeShapeType="1" noTextEdit="1"/>
              </p:cNvSpPr>
              <p:nvPr/>
            </p:nvSpPr>
            <p:spPr>
              <a:xfrm>
                <a:off x="589009" y="5311437"/>
                <a:ext cx="5096905" cy="43088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7055976" y="5339314"/>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𝐾𝑔</m:t>
                    </m:r>
                  </m:oMath>
                </a14:m>
                <a:r>
                  <a:rPr lang="es-AR" dirty="0"/>
                  <a:t> de en el extremo</a:t>
                </a:r>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7055976" y="5339314"/>
                <a:ext cx="4547015"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3077766"/>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600" dirty="0"/>
          </a:p>
          <a:p>
            <a:pPr marL="285750" indent="-285750">
              <a:buFont typeface="Arial" panose="020B0604020202020204" pitchFamily="34" charset="0"/>
              <a:buChar char="•"/>
            </a:pPr>
            <a:r>
              <a:rPr lang="es-MX" sz="1600" dirty="0"/>
              <a:t>Limitar o evitar perturbaciones de carga sostenidas</a:t>
            </a:r>
          </a:p>
          <a:p>
            <a:pPr marL="285750" indent="-285750">
              <a:buFont typeface="Arial" panose="020B0604020202020204" pitchFamily="34" charset="0"/>
              <a:buChar char="•"/>
            </a:pPr>
            <a:r>
              <a:rPr lang="es-AR" dirty="0">
                <a:latin typeface="Calibri" panose="020F0502020204030204" pitchFamily="34" charset="0"/>
                <a:ea typeface="Calibri" panose="020F0502020204030204" pitchFamily="34" charset="0"/>
                <a:cs typeface="Times New Roman" panose="02020603050405020304" pitchFamily="18" charset="0"/>
              </a:rPr>
              <a:t>M</a:t>
            </a:r>
            <a:r>
              <a:rPr lang="es-AR" sz="18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600" dirty="0"/>
              <a:t>Incorporar un mecanismo de refrigeración</a:t>
            </a:r>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sz="1350" dirty="0" err="1">
                    <a:solidFill>
                      <a:srgbClr val="1A1A2E"/>
                    </a:solidFill>
                    <a:latin typeface="Calibri"/>
                  </a:rPr>
                  <a:t>Posición</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6000 rad/s no </a:t>
                </a:r>
                <a:r>
                  <a:rPr sz="1350" dirty="0" err="1">
                    <a:solidFill>
                      <a:srgbClr val="1A1A2E"/>
                    </a:solidFill>
                    <a:latin typeface="Calibri"/>
                  </a:rPr>
                  <a:t>muestra</a:t>
                </a:r>
                <a:r>
                  <a:rPr sz="1350" dirty="0">
                    <a:solidFill>
                      <a:srgbClr val="1A1A2E"/>
                    </a:solidFill>
                    <a:latin typeface="Calibri"/>
                  </a:rPr>
                  <a:t> </a:t>
                </a:r>
                <a:r>
                  <a:rPr sz="1350" dirty="0" err="1">
                    <a:solidFill>
                      <a:srgbClr val="1A1A2E"/>
                    </a:solidFill>
                    <a:latin typeface="Calibri"/>
                  </a:rPr>
                  <a:t>diferencias</a:t>
                </a:r>
                <a:r>
                  <a:rPr sz="1350" dirty="0">
                    <a:solidFill>
                      <a:srgbClr val="1A1A2E"/>
                    </a:solidFill>
                    <a:latin typeface="Calibri"/>
                  </a:rPr>
                  <a:t> </a:t>
                </a:r>
                <a:r>
                  <a:rPr sz="1350" dirty="0" err="1">
                    <a:solidFill>
                      <a:srgbClr val="1A1A2E"/>
                    </a:solidFill>
                    <a:latin typeface="Calibri"/>
                  </a:rPr>
                  <a:t>apreciables</a:t>
                </a:r>
                <a:r>
                  <a:rPr sz="1350" dirty="0">
                    <a:solidFill>
                      <a:srgbClr val="1A1A2E"/>
                    </a:solidFill>
                    <a:latin typeface="Calibri"/>
                  </a:rPr>
                  <a:t> → no se </a:t>
                </a:r>
                <a:r>
                  <a:rPr sz="1350" dirty="0" err="1">
                    <a:solidFill>
                      <a:srgbClr val="1A1A2E"/>
                    </a:solidFill>
                    <a:latin typeface="Calibri"/>
                  </a:rPr>
                  <a:t>requiere</a:t>
                </a:r>
                <a:r>
                  <a:rPr sz="1350" dirty="0">
                    <a:solidFill>
                      <a:srgbClr val="1A1A2E"/>
                    </a:solidFill>
                    <a:latin typeface="Calibri"/>
                  </a:rPr>
                  <a:t> mayor </a:t>
                </a:r>
                <a:r>
                  <a:rPr sz="1350" dirty="0" err="1">
                    <a:solidFill>
                      <a:srgbClr val="1A1A2E"/>
                    </a:solidFill>
                    <a:latin typeface="Calibri"/>
                  </a:rPr>
                  <a:t>resolución</a:t>
                </a:r>
                <a:endParaRPr sz="1350" dirty="0">
                  <a:solidFill>
                    <a:srgbClr val="1A1A2E"/>
                  </a:solidFill>
                  <a:latin typeface="Calibri"/>
                </a:endParaRPr>
              </a:p>
              <a:p>
                <a:pPr>
                  <a:spcBef>
                    <a:spcPts val="400"/>
                  </a:spcBef>
                </a:pPr>
                <a:r>
                  <a:rPr sz="1350" dirty="0" err="1">
                    <a:solidFill>
                      <a:srgbClr val="1A1A2E"/>
                    </a:solidFill>
                    <a:latin typeface="Calibri"/>
                  </a:rPr>
                  <a:t>Corriente</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18000 rad/s </a:t>
                </a:r>
                <a:r>
                  <a:rPr sz="1350" dirty="0" err="1">
                    <a:solidFill>
                      <a:srgbClr val="1A1A2E"/>
                    </a:solidFill>
                    <a:latin typeface="Calibri"/>
                  </a:rPr>
                  <a:t>ofrece</a:t>
                </a:r>
                <a:r>
                  <a:rPr sz="1350" dirty="0">
                    <a:solidFill>
                      <a:srgbClr val="1A1A2E"/>
                    </a:solidFill>
                    <a:latin typeface="Calibri"/>
                  </a:rPr>
                  <a:t> </a:t>
                </a:r>
                <a:r>
                  <a:rPr sz="1350" dirty="0" err="1">
                    <a:solidFill>
                      <a:srgbClr val="1A1A2E"/>
                    </a:solidFill>
                    <a:latin typeface="Calibri"/>
                  </a:rPr>
                  <a:t>buena</a:t>
                </a:r>
                <a:r>
                  <a:rPr sz="1350" dirty="0">
                    <a:solidFill>
                      <a:srgbClr val="1A1A2E"/>
                    </a:solidFill>
                    <a:latin typeface="Calibri"/>
                  </a:rPr>
                  <a:t> </a:t>
                </a:r>
                <a:r>
                  <a:rPr sz="1350" dirty="0" err="1">
                    <a:solidFill>
                      <a:srgbClr val="1A1A2E"/>
                    </a:solidFill>
                    <a:latin typeface="Calibri"/>
                  </a:rPr>
                  <a:t>respuesta</a:t>
                </a:r>
                <a:r>
                  <a:rPr sz="1350" dirty="0">
                    <a:solidFill>
                      <a:srgbClr val="1A1A2E"/>
                    </a:solidFill>
                    <a:latin typeface="Calibri"/>
                  </a:rPr>
                  <a:t> sin </a:t>
                </a:r>
                <a:r>
                  <a:rPr sz="1350" dirty="0" err="1">
                    <a:solidFill>
                      <a:srgbClr val="1A1A2E"/>
                    </a:solidFill>
                    <a:latin typeface="Calibri"/>
                  </a:rPr>
                  <a:t>necesidad</a:t>
                </a:r>
                <a:r>
                  <a:rPr sz="1350" dirty="0">
                    <a:solidFill>
                      <a:srgbClr val="1A1A2E"/>
                    </a:solidFill>
                    <a:latin typeface="Calibri"/>
                  </a:rPr>
                  <a:t> de </a:t>
                </a:r>
                <a:r>
                  <a:rPr sz="1350" dirty="0" err="1">
                    <a:solidFill>
                      <a:srgbClr val="1A1A2E"/>
                    </a:solidFill>
                    <a:latin typeface="Calibri"/>
                  </a:rPr>
                  <a:t>valores</a:t>
                </a:r>
                <a:r>
                  <a:rPr sz="1350" dirty="0">
                    <a:solidFill>
                      <a:srgbClr val="1A1A2E"/>
                    </a:solidFill>
                    <a:latin typeface="Calibri"/>
                  </a:rPr>
                  <a:t> </a:t>
                </a:r>
                <a:r>
                  <a:rPr sz="1350" dirty="0" err="1">
                    <a:solidFill>
                      <a:srgbClr val="1A1A2E"/>
                    </a:solidFill>
                    <a:latin typeface="Calibri"/>
                  </a:rPr>
                  <a:t>más</a:t>
                </a:r>
                <a:r>
                  <a:rPr sz="1350" dirty="0">
                    <a:solidFill>
                      <a:srgbClr val="1A1A2E"/>
                    </a:solidFill>
                    <a:latin typeface="Calibri"/>
                  </a:rPr>
                  <a:t> altos</a:t>
                </a:r>
              </a:p>
              <a:p>
                <a:pPr>
                  <a:spcBef>
                    <a:spcPts val="400"/>
                  </a:spcBef>
                </a:pPr>
                <a:r>
                  <a:rPr sz="1350" dirty="0" err="1">
                    <a:solidFill>
                      <a:srgbClr val="1A1A2E"/>
                    </a:solidFill>
                    <a:latin typeface="Calibri"/>
                  </a:rPr>
                  <a:t>Temperatura</a:t>
                </a:r>
                <a:r>
                  <a:rPr sz="1350" dirty="0">
                    <a:solidFill>
                      <a:srgbClr val="1A1A2E"/>
                    </a:solidFill>
                    <a:latin typeface="Calibri"/>
                  </a:rPr>
                  <a:t>: variable </a:t>
                </a:r>
                <a:r>
                  <a:rPr sz="1350" dirty="0" err="1">
                    <a:solidFill>
                      <a:srgbClr val="1A1A2E"/>
                    </a:solidFill>
                    <a:latin typeface="Calibri"/>
                  </a:rPr>
                  <a:t>más</a:t>
                </a:r>
                <a:r>
                  <a:rPr sz="1350" dirty="0">
                    <a:solidFill>
                      <a:srgbClr val="1A1A2E"/>
                    </a:solidFill>
                    <a:latin typeface="Calibri"/>
                  </a:rPr>
                  <a:t> </a:t>
                </a:r>
                <a:r>
                  <a:rPr sz="1350" dirty="0" err="1">
                    <a:solidFill>
                      <a:srgbClr val="1A1A2E"/>
                    </a:solidFill>
                    <a:latin typeface="Calibri"/>
                  </a:rPr>
                  <a:t>afectada</a:t>
                </a:r>
                <a:r>
                  <a:rPr sz="1350" dirty="0">
                    <a:solidFill>
                      <a:srgbClr val="1A1A2E"/>
                    </a:solidFill>
                    <a:latin typeface="Calibri"/>
                  </a:rPr>
                  <a:t>; τ = 0.05 s </a:t>
                </a:r>
                <a:r>
                  <a:rPr sz="1350" dirty="0" err="1">
                    <a:solidFill>
                      <a:srgbClr val="1A1A2E"/>
                    </a:solidFill>
                    <a:latin typeface="Calibri"/>
                  </a:rPr>
                  <a:t>necesario</a:t>
                </a:r>
                <a:r>
                  <a:rPr sz="1350" dirty="0">
                    <a:solidFill>
                      <a:srgbClr val="1A1A2E"/>
                    </a:solidFill>
                    <a:latin typeface="Calibri"/>
                  </a:rPr>
                  <a:t> para </a:t>
                </a:r>
                <a:r>
                  <a:rPr sz="1350" dirty="0" err="1">
                    <a:solidFill>
                      <a:srgbClr val="1A1A2E"/>
                    </a:solidFill>
                    <a:latin typeface="Calibri"/>
                  </a:rPr>
                  <a:t>rastrear</a:t>
                </a:r>
                <a:r>
                  <a:rPr sz="1350" dirty="0">
                    <a:solidFill>
                      <a:srgbClr val="1A1A2E"/>
                    </a:solidFill>
                    <a:latin typeface="Calibri"/>
                  </a:rPr>
                  <a:t> </a:t>
                </a:r>
                <a:r>
                  <a:rPr sz="1350" dirty="0" err="1">
                    <a:solidFill>
                      <a:srgbClr val="1A1A2E"/>
                    </a:solidFill>
                    <a:latin typeface="Calibri"/>
                  </a:rPr>
                  <a:t>señal</a:t>
                </a:r>
                <a:r>
                  <a:rPr sz="1350" dirty="0">
                    <a:solidFill>
                      <a:srgbClr val="1A1A2E"/>
                    </a:solidFill>
                    <a:latin typeface="Calibri"/>
                  </a:rPr>
                  <a:t>; para </a:t>
                </a:r>
                <a:r>
                  <a:rPr sz="1350" dirty="0" err="1">
                    <a:solidFill>
                      <a:srgbClr val="1A1A2E"/>
                    </a:solidFill>
                    <a:latin typeface="Calibri"/>
                  </a:rPr>
                  <a:t>detectar</a:t>
                </a:r>
                <a:r>
                  <a:rPr sz="1350" dirty="0">
                    <a:solidFill>
                      <a:srgbClr val="1A1A2E"/>
                    </a:solidFill>
                    <a:latin typeface="Calibri"/>
                  </a:rPr>
                  <a:t> </a:t>
                </a:r>
                <a:r>
                  <a:rPr sz="1350" dirty="0" err="1">
                    <a:solidFill>
                      <a:srgbClr val="1A1A2E"/>
                    </a:solidFill>
                    <a:latin typeface="Calibri"/>
                  </a:rPr>
                  <a:t>máximos</a:t>
                </a:r>
                <a:r>
                  <a:rPr sz="1350" dirty="0">
                    <a:solidFill>
                      <a:srgbClr val="1A1A2E"/>
                    </a:solidFill>
                    <a:latin typeface="Calibri"/>
                  </a:rPr>
                  <a:t> τ </a:t>
                </a:r>
                <a:r>
                  <a:rPr sz="1350" dirty="0" err="1">
                    <a:solidFill>
                      <a:srgbClr val="1A1A2E"/>
                    </a:solidFill>
                    <a:latin typeface="Calibri"/>
                  </a:rPr>
                  <a:t>puede</a:t>
                </a:r>
                <a:r>
                  <a:rPr sz="1350" dirty="0">
                    <a:solidFill>
                      <a:srgbClr val="1A1A2E"/>
                    </a:solidFill>
                    <a:latin typeface="Calibri"/>
                  </a:rPr>
                  <a:t>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325215" y="80697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4627621"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3"/>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4"/>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5">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1610" y="639742"/>
                <a:ext cx="8357730" cy="657552"/>
              </a:xfrm>
              <a:prstGeom prst="rect">
                <a:avLst/>
              </a:prstGeom>
              <a:noFill/>
            </p:spPr>
            <p:txBody>
              <a:bodyPr wrap="square">
                <a:spAutoFit/>
              </a:bodyPr>
              <a:lstStyle/>
              <a:p>
                <a:pPr algn="just">
                  <a:lnSpc>
                    <a:spcPct val="107000"/>
                  </a:lnSpc>
                  <a:spcBef>
                    <a:spcPts val="1800"/>
                  </a:spcBef>
                  <a:spcAft>
                    <a:spcPts val="1800"/>
                  </a:spcAft>
                </a:pPr>
                <a:r>
                  <a:rPr lang="es-MX" sz="1600" b="0" dirty="0">
                    <a:effectLst/>
                    <a:ea typeface="Calibri" panose="020F0502020204030204" pitchFamily="34" charset="0"/>
                    <a:cs typeface="Times New Roman" panose="02020603050405020304" pitchFamily="18" charset="0"/>
                  </a:rPr>
                  <a:t>Para</a:t>
                </a:r>
                <a14:m>
                  <m:oMath xmlns:m="http://schemas.openxmlformats.org/officeDocument/2006/math">
                    <m:r>
                      <a:rPr lang="es-MX" sz="16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6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=2000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=6000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6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600" i="1">
                        <a:effectLst/>
                        <a:latin typeface="Cambria Math" panose="02040503050406030204" pitchFamily="18" charset="0"/>
                        <a:ea typeface="Calibri" panose="020F0502020204030204" pitchFamily="34" charset="0"/>
                        <a:cs typeface="Times New Roman" panose="02020603050405020304" pitchFamily="18" charset="0"/>
                      </a:rPr>
                      <m:t>=20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6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1610" y="639742"/>
                <a:ext cx="8357730" cy="657552"/>
              </a:xfrm>
              <a:prstGeom prst="rect">
                <a:avLst/>
              </a:prstGeom>
              <a:blipFill>
                <a:blip r:embed="rId3"/>
                <a:stretch>
                  <a:fillRect l="-438" r="-365" b="-11111"/>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4">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5">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6"/>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7"/>
                <a:stretch>
                  <a:fillRect b="-11111"/>
                </a:stretch>
              </a:blipFill>
            </p:spPr>
            <p:txBody>
              <a:bodyPr/>
              <a:lstStyle/>
              <a:p>
                <a:r>
                  <a:rPr lang="es-AR">
                    <a:noFill/>
                  </a:rPr>
                  <a:t> </a:t>
                </a:r>
              </a:p>
            </p:txBody>
          </p:sp>
        </mc:Fallback>
      </mc:AlternateContent>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54091"/>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54091"/>
                <a:ext cx="4040254" cy="276742"/>
              </a:xfrm>
              <a:prstGeom prst="rect">
                <a:avLst/>
              </a:prstGeom>
              <a:blipFill>
                <a:blip r:embed="rId3"/>
                <a:stretch>
                  <a:fillRect b="-11111"/>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74320" y="5513633"/>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651564"/>
          </a:xfrm>
          <a:prstGeom prst="rect">
            <a:avLst/>
          </a:prstGeom>
        </p:spPr>
      </p:pic>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1445" y="104505"/>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Sistema continuo completo — Parámetros finales del controlador</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lazos de corriente, modulador de tensión no ideal y sensores no ideales.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m:t>
                                </m:r>
                                <m:r>
                                  <a:rPr lang="es-AR" sz="1400">
                                    <a:effectLst/>
                                    <a:latin typeface="Cambria Math" panose="02040503050406030204" pitchFamily="18" charset="0"/>
                                  </a:rPr>
                                  <m:t>0</m:t>
                                </m:r>
                                <m:r>
                                  <a:rPr lang="es-AR" sz="1400">
                                    <a:effectLst/>
                                    <a:latin typeface="Cambria Math" panose="02040503050406030204" pitchFamily="18" charset="0"/>
                                  </a:rPr>
                                  <m:t>.</m:t>
                                </m:r>
                                <m:r>
                                  <a:rPr lang="es-AR" sz="1400">
                                    <a:effectLst/>
                                    <a:latin typeface="Cambria Math" panose="02040503050406030204" pitchFamily="18" charset="0"/>
                                  </a:rPr>
                                  <m:t>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m:t>
                                </m:r>
                                <m:r>
                                  <a:rPr lang="es-AR" sz="1400">
                                    <a:effectLst/>
                                    <a:latin typeface="Cambria Math" panose="02040503050406030204" pitchFamily="18" charset="0"/>
                                  </a:rPr>
                                  <m:t>31</m:t>
                                </m:r>
                                <m:r>
                                  <a:rPr lang="es-AR" sz="1400">
                                    <a:effectLst/>
                                    <a:latin typeface="Cambria Math" panose="02040503050406030204" pitchFamily="18" charset="0"/>
                                  </a:rPr>
                                  <m:t>.</m:t>
                                </m:r>
                                <m:r>
                                  <a:rPr lang="es-AR" sz="1400">
                                    <a:effectLst/>
                                    <a:latin typeface="Cambria Math" panose="02040503050406030204" pitchFamily="18" charset="0"/>
                                  </a:rPr>
                                  <m:t>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m:t>
                                </m:r>
                                <m:r>
                                  <a:rPr lang="es-AR" sz="1400">
                                    <a:effectLst/>
                                    <a:latin typeface="Cambria Math" panose="02040503050406030204" pitchFamily="18" charset="0"/>
                                  </a:rPr>
                                  <m:t>10129</m:t>
                                </m:r>
                                <m:r>
                                  <a:rPr lang="es-AR" sz="1400">
                                    <a:effectLst/>
                                    <a:latin typeface="Cambria Math" panose="02040503050406030204" pitchFamily="18" charset="0"/>
                                  </a:rPr>
                                  <m:t>.</m:t>
                                </m:r>
                                <m:r>
                                  <a:rPr lang="es-AR" sz="1400">
                                    <a:effectLst/>
                                    <a:latin typeface="Cambria Math" panose="02040503050406030204" pitchFamily="18" charset="0"/>
                                  </a:rPr>
                                  <m:t>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m:t>
                                </m:r>
                                <m:r>
                                  <a:rPr lang="es-AR" sz="1400">
                                    <a:effectLst/>
                                    <a:latin typeface="Cambria Math" panose="02040503050406030204" pitchFamily="18" charset="0"/>
                                  </a:rPr>
                                  <m:t>9</m:t>
                                </m:r>
                                <m:r>
                                  <a:rPr lang="es-AR" sz="1400">
                                    <a:effectLst/>
                                    <a:latin typeface="Cambria Math" panose="02040503050406030204" pitchFamily="18" charset="0"/>
                                  </a:rPr>
                                  <m:t>.</m:t>
                                </m:r>
                                <m:r>
                                  <a:rPr lang="es-AR" sz="1400">
                                    <a:effectLst/>
                                    <a:latin typeface="Cambria Math" panose="02040503050406030204" pitchFamily="18" charset="0"/>
                                  </a:rPr>
                                  <m:t>6</m:t>
                                </m:r>
                                <m:r>
                                  <a:rPr lang="es-AR" sz="1400">
                                    <a:effectLst/>
                                    <a:latin typeface="Cambria Math" panose="02040503050406030204" pitchFamily="18" charset="0"/>
                                  </a:rPr>
                                  <m:t>×</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m:t>
                                </m:r>
                                <m:r>
                                  <a:rPr lang="es-AR" sz="1400">
                                    <a:effectLst/>
                                    <a:latin typeface="Cambria Math" panose="02040503050406030204" pitchFamily="18" charset="0"/>
                                  </a:rPr>
                                  <m:t>3</m:t>
                                </m:r>
                                <m:r>
                                  <a:rPr lang="es-AR" sz="1400">
                                    <a:effectLst/>
                                    <a:latin typeface="Cambria Math" panose="02040503050406030204" pitchFamily="18" charset="0"/>
                                  </a:rPr>
                                  <m:t>.</m:t>
                                </m:r>
                                <m:r>
                                  <a:rPr lang="es-AR" sz="1400">
                                    <a:effectLst/>
                                    <a:latin typeface="Cambria Math" panose="02040503050406030204" pitchFamily="18" charset="0"/>
                                  </a:rPr>
                                  <m:t>072</m:t>
                                </m:r>
                                <m:r>
                                  <a:rPr lang="es-AR" sz="1400">
                                    <a:effectLst/>
                                    <a:latin typeface="Cambria Math" panose="02040503050406030204" pitchFamily="18" charset="0"/>
                                  </a:rPr>
                                  <m:t>×</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m:t>
                                </m:r>
                                <m:r>
                                  <a:rPr lang="es-AR" sz="1400">
                                    <a:effectLst/>
                                    <a:latin typeface="Cambria Math" panose="02040503050406030204" pitchFamily="18" charset="0"/>
                                  </a:rPr>
                                  <m:t>3</m:t>
                                </m:r>
                                <m:r>
                                  <a:rPr lang="es-AR" sz="1400">
                                    <a:effectLst/>
                                    <a:latin typeface="Cambria Math" panose="02040503050406030204" pitchFamily="18" charset="0"/>
                                  </a:rPr>
                                  <m:t>.</m:t>
                                </m:r>
                                <m:r>
                                  <a:rPr lang="es-AR" sz="1400">
                                    <a:effectLst/>
                                    <a:latin typeface="Cambria Math" panose="02040503050406030204" pitchFamily="18" charset="0"/>
                                  </a:rPr>
                                  <m:t>2768</m:t>
                                </m:r>
                                <m:r>
                                  <a:rPr lang="es-AR" sz="1400">
                                    <a:effectLst/>
                                    <a:latin typeface="Cambria Math" panose="02040503050406030204" pitchFamily="18" charset="0"/>
                                  </a:rPr>
                                  <m:t>×</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m:t>
                                </m:r>
                                <m:r>
                                  <a:rPr lang="es-AR" sz="1400">
                                    <a:effectLst/>
                                    <a:latin typeface="Cambria Math" panose="02040503050406030204" pitchFamily="18" charset="0"/>
                                  </a:rPr>
                                  <m:t>29</m:t>
                                </m:r>
                                <m:r>
                                  <a:rPr lang="es-AR" sz="1400">
                                    <a:effectLst/>
                                    <a:latin typeface="Cambria Math" panose="02040503050406030204" pitchFamily="18" charset="0"/>
                                  </a:rPr>
                                  <m:t>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m:t>
                                </m:r>
                                <m:r>
                                  <a:rPr lang="es-AR" sz="1400">
                                    <a:effectLst/>
                                    <a:latin typeface="Cambria Math" panose="02040503050406030204" pitchFamily="18" charset="0"/>
                                  </a:rPr>
                                  <m:t>33</m:t>
                                </m:r>
                                <m:r>
                                  <a:rPr lang="es-AR" sz="1400">
                                    <a:effectLst/>
                                    <a:latin typeface="Cambria Math" panose="02040503050406030204" pitchFamily="18" charset="0"/>
                                  </a:rPr>
                                  <m:t>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m:t>
                                </m:r>
                                <m:r>
                                  <a:rPr lang="es-AR" sz="1400">
                                    <a:effectLst/>
                                    <a:latin typeface="Cambria Math" panose="02040503050406030204" pitchFamily="18" charset="0"/>
                                  </a:rPr>
                                  <m:t>5000</m:t>
                                </m:r>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m:t>
                                </m:r>
                                <m:r>
                                  <a:rPr lang="es-AR" sz="1400">
                                    <a:effectLst/>
                                    <a:latin typeface="Cambria Math" panose="02040503050406030204" pitchFamily="18" charset="0"/>
                                  </a:rPr>
                                  <m:t>2</m:t>
                                </m:r>
                                <m:r>
                                  <a:rPr lang="es-AR" sz="1400">
                                    <a:effectLst/>
                                    <a:latin typeface="Cambria Math" panose="02040503050406030204" pitchFamily="18" charset="0"/>
                                  </a:rPr>
                                  <m:t>°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m:t>
                                </m:r>
                                <m:r>
                                  <a:rPr lang="es-AR" sz="1400">
                                    <a:effectLst/>
                                    <a:latin typeface="Cambria Math" panose="02040503050406030204" pitchFamily="18" charset="0"/>
                                  </a:rPr>
                                  <m:t>6000</m:t>
                                </m:r>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m:t>
                                </m:r>
                                <m:r>
                                  <a:rPr lang="es-AR" sz="1400">
                                    <a:effectLst/>
                                    <a:latin typeface="Cambria Math" panose="02040503050406030204" pitchFamily="18" charset="0"/>
                                  </a:rPr>
                                  <m:t>2</m:t>
                                </m:r>
                                <m:r>
                                  <a:rPr lang="es-AR" sz="1400">
                                    <a:effectLst/>
                                    <a:latin typeface="Cambria Math" panose="02040503050406030204" pitchFamily="18" charset="0"/>
                                  </a:rPr>
                                  <m:t>°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m:t>
                                </m:r>
                                <m:r>
                                  <a:rPr lang="es-AR" sz="1400">
                                    <a:effectLst/>
                                    <a:latin typeface="Cambria Math" panose="02040503050406030204" pitchFamily="18" charset="0"/>
                                  </a:rPr>
                                  <m:t>18000</m:t>
                                </m:r>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m:t>
                                </m:r>
                                <m:r>
                                  <a:rPr lang="es-AR" sz="1400">
                                    <a:effectLst/>
                                    <a:latin typeface="Cambria Math" panose="02040503050406030204" pitchFamily="18" charset="0"/>
                                  </a:rPr>
                                  <m:t>1</m:t>
                                </m:r>
                                <m:r>
                                  <a:rPr lang="es-AR" sz="1400">
                                    <a:effectLst/>
                                    <a:latin typeface="Cambria Math" panose="02040503050406030204" pitchFamily="18" charset="0"/>
                                  </a:rPr>
                                  <m:t>°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m:t>
                                </m:r>
                                <m:r>
                                  <a:rPr lang="es-AR" sz="1400">
                                    <a:effectLst/>
                                    <a:latin typeface="Cambria Math" panose="02040503050406030204" pitchFamily="18" charset="0"/>
                                  </a:rPr>
                                  <m:t>0</m:t>
                                </m:r>
                                <m:r>
                                  <a:rPr lang="es-AR" sz="1400">
                                    <a:effectLst/>
                                    <a:latin typeface="Cambria Math" panose="02040503050406030204" pitchFamily="18" charset="0"/>
                                  </a:rPr>
                                  <m:t>.</m:t>
                                </m:r>
                                <m:r>
                                  <a:rPr lang="es-AR" sz="1400">
                                    <a:effectLst/>
                                    <a:latin typeface="Cambria Math" panose="02040503050406030204" pitchFamily="18" charset="0"/>
                                  </a:rPr>
                                  <m:t>05</m:t>
                                </m:r>
                                <m:r>
                                  <a:rPr lang="es-AR" sz="1400">
                                    <a:effectLst/>
                                    <a:latin typeface="Cambria Math" panose="02040503050406030204" pitchFamily="18" charset="0"/>
                                  </a:rPr>
                                  <m:t>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m:t>
                                </m:r>
                                <m:r>
                                  <a:rPr lang="es-AR" sz="1400">
                                    <a:effectLst/>
                                    <a:latin typeface="Cambria Math" panose="02040503050406030204" pitchFamily="18" charset="0"/>
                                  </a:rPr>
                                  <m:t>2</m:t>
                                </m:r>
                                <m:r>
                                  <a:rPr lang="es-AR" sz="1400">
                                    <a:effectLst/>
                                    <a:latin typeface="Cambria Math" panose="02040503050406030204" pitchFamily="18" charset="0"/>
                                  </a:rPr>
                                  <m:t>°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m:t>
                                </m:r>
                                <m:r>
                                  <a:rPr lang="es-AR" sz="1400">
                                    <a:effectLst/>
                                    <a:latin typeface="Cambria Math" panose="02040503050406030204" pitchFamily="18" charset="0"/>
                                  </a:rPr>
                                  <m:t>18000</m:t>
                                </m:r>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Observador aumentado</a:t>
            </a:r>
            <a:r>
              <a:rPr lang="es-AR" sz="1400" dirty="0">
                <a:effectLst/>
                <a:latin typeface="Calibri" panose="020F0502020204030204" pitchFamily="34" charset="0"/>
                <a:ea typeface="Calibri" panose="020F0502020204030204" pitchFamily="34" charset="0"/>
                <a:cs typeface="Times New Roman" panose="02020603050405020304" pitchFamily="18" charset="0"/>
              </a:rPr>
              <a:t>,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m:t>
                                </m:r>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m:t>
                                </m:r>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m:t>
                                </m:r>
                                <m:r>
                                  <a:rPr lang="es-AR" sz="1400">
                                    <a:effectLst/>
                                    <a:latin typeface="Cambria Math" panose="02040503050406030204" pitchFamily="18" charset="0"/>
                                  </a:rPr>
                                  <m:t>0</m:t>
                                </m:r>
                                <m:r>
                                  <a:rPr lang="es-AR" sz="1400">
                                    <a:effectLst/>
                                    <a:latin typeface="Cambria Math" panose="02040503050406030204" pitchFamily="18" charset="0"/>
                                  </a:rPr>
                                  <m:t>.</m:t>
                                </m:r>
                                <m:r>
                                  <a:rPr lang="es-AR" sz="1400">
                                    <a:effectLst/>
                                    <a:latin typeface="Cambria Math" panose="02040503050406030204" pitchFamily="18" charset="0"/>
                                  </a:rPr>
                                  <m:t>05</m:t>
                                </m:r>
                                <m:r>
                                  <a:rPr lang="es-AR" sz="1400">
                                    <a:effectLst/>
                                    <a:latin typeface="Cambria Math" panose="02040503050406030204" pitchFamily="18" charset="0"/>
                                  </a:rPr>
                                  <m:t>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m:t>
                                </m:r>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m:t>
                                </m:r>
                                <m:r>
                                  <a:rPr lang="es-AR" sz="1400">
                                    <a:effectLst/>
                                    <a:latin typeface="Cambria Math" panose="02040503050406030204" pitchFamily="18" charset="0"/>
                                  </a:rPr>
                                  <m:t>1</m:t>
                                </m:r>
                                <m:r>
                                  <a:rPr lang="es-AR" sz="1400">
                                    <a:effectLst/>
                                    <a:latin typeface="Cambria Math" panose="02040503050406030204" pitchFamily="18" charset="0"/>
                                  </a:rPr>
                                  <m:t>.</m:t>
                                </m:r>
                                <m:r>
                                  <a:rPr lang="es-AR" sz="1400">
                                    <a:effectLst/>
                                    <a:latin typeface="Cambria Math" panose="02040503050406030204" pitchFamily="18" charset="0"/>
                                  </a:rPr>
                                  <m:t>2566</m:t>
                                </m:r>
                                <m:r>
                                  <a:rPr lang="es-AR" sz="1400">
                                    <a:effectLst/>
                                    <a:latin typeface="Cambria Math" panose="02040503050406030204" pitchFamily="18" charset="0"/>
                                  </a:rPr>
                                  <m:t>×</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m:t>
                                    </m:r>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3069943" cy="415498"/>
          </a:xfrm>
          <a:prstGeom prst="rect">
            <a:avLst/>
          </a:prstGeom>
          <a:noFill/>
        </p:spPr>
        <p:txBody>
          <a:bodyPr wrap="none">
            <a:spAutoFit/>
          </a:bodyPr>
          <a:lstStyle/>
          <a:p>
            <a:pPr algn="l"/>
            <a:r>
              <a:rPr lang="en-US" sz="2100" b="1" dirty="0" err="1">
                <a:solidFill>
                  <a:srgbClr val="FFFFFF"/>
                </a:solidFill>
                <a:latin typeface="Cambria"/>
              </a:rPr>
              <a:t>Modelo</a:t>
            </a:r>
            <a:r>
              <a:rPr lang="en-US" sz="2100" b="1" dirty="0">
                <a:solidFill>
                  <a:srgbClr val="FFFFFF"/>
                </a:solidFill>
                <a:latin typeface="Cambria"/>
              </a:rPr>
              <a:t> final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58368"/>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Referencias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4847481"/>
          </a:xfrm>
          <a:prstGeom prst="rect">
            <a:avLst/>
          </a:prstGeom>
          <a:noFill/>
        </p:spPr>
        <p:txBody>
          <a:bodyPr wrap="square">
            <a:spAutoFit/>
          </a:bodyPr>
          <a:lstStyle/>
          <a:p>
            <a:r>
              <a:rPr sz="2400" dirty="0">
                <a:solidFill>
                  <a:srgbClr val="1A1A2E"/>
                </a:solidFill>
                <a:latin typeface="Calibri"/>
              </a:rPr>
              <a:t>[1] G. Julián. Proyecto Global </a:t>
            </a:r>
            <a:r>
              <a:rPr sz="2400" dirty="0" err="1">
                <a:solidFill>
                  <a:srgbClr val="1A1A2E"/>
                </a:solidFill>
                <a:latin typeface="Calibri"/>
              </a:rPr>
              <a:t>Integrador</a:t>
            </a:r>
            <a:r>
              <a:rPr sz="2400" dirty="0">
                <a:solidFill>
                  <a:srgbClr val="1A1A2E"/>
                </a:solidFill>
                <a:latin typeface="Calibri"/>
              </a:rPr>
              <a:t>: Control de </a:t>
            </a:r>
            <a:r>
              <a:rPr sz="2400" dirty="0" err="1">
                <a:solidFill>
                  <a:srgbClr val="1A1A2E"/>
                </a:solidFill>
                <a:latin typeface="Calibri"/>
              </a:rPr>
              <a:t>Accionamiento</a:t>
            </a:r>
            <a:r>
              <a:rPr sz="2400" dirty="0">
                <a:solidFill>
                  <a:srgbClr val="1A1A2E"/>
                </a:solidFill>
                <a:latin typeface="Calibri"/>
              </a:rPr>
              <a:t> de CA con Motor </a:t>
            </a:r>
            <a:r>
              <a:rPr sz="2400" dirty="0" err="1">
                <a:solidFill>
                  <a:srgbClr val="1A1A2E"/>
                </a:solidFill>
                <a:latin typeface="Calibri"/>
              </a:rPr>
              <a:t>Síncrono</a:t>
            </a:r>
            <a:r>
              <a:rPr sz="2400" dirty="0">
                <a:solidFill>
                  <a:srgbClr val="1A1A2E"/>
                </a:solidFill>
                <a:latin typeface="Calibri"/>
              </a:rPr>
              <a:t> de </a:t>
            </a:r>
            <a:r>
              <a:rPr sz="2400" dirty="0" err="1">
                <a:solidFill>
                  <a:srgbClr val="1A1A2E"/>
                </a:solidFill>
                <a:latin typeface="Calibri"/>
              </a:rPr>
              <a:t>Imanes</a:t>
            </a:r>
            <a:r>
              <a:rPr sz="2400" dirty="0">
                <a:solidFill>
                  <a:srgbClr val="1A1A2E"/>
                </a:solidFill>
                <a:latin typeface="Calibri"/>
              </a:rPr>
              <a:t> </a:t>
            </a:r>
            <a:r>
              <a:rPr sz="2400" dirty="0" err="1">
                <a:solidFill>
                  <a:srgbClr val="1A1A2E"/>
                </a:solidFill>
                <a:latin typeface="Calibri"/>
              </a:rPr>
              <a:t>Permanentes</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Ing. </a:t>
            </a:r>
            <a:r>
              <a:rPr sz="2400" dirty="0" err="1">
                <a:solidFill>
                  <a:srgbClr val="1A1A2E"/>
                </a:solidFill>
                <a:latin typeface="Calibri"/>
              </a:rPr>
              <a:t>en</a:t>
            </a:r>
            <a:r>
              <a:rPr sz="2400" dirty="0">
                <a:solidFill>
                  <a:srgbClr val="1A1A2E"/>
                </a:solidFill>
                <a:latin typeface="Calibri"/>
              </a:rPr>
              <a:t> </a:t>
            </a:r>
            <a:r>
              <a:rPr sz="2400" dirty="0" err="1">
                <a:solidFill>
                  <a:srgbClr val="1A1A2E"/>
                </a:solidFill>
                <a:latin typeface="Calibri"/>
              </a:rPr>
              <a:t>Mecatrónica</a:t>
            </a:r>
            <a:r>
              <a:rPr sz="2400" dirty="0">
                <a:solidFill>
                  <a:srgbClr val="1A1A2E"/>
                </a:solidFill>
                <a:latin typeface="Calibri"/>
              </a:rPr>
              <a:t>, 2024.</a:t>
            </a:r>
          </a:p>
          <a:p>
            <a:pPr>
              <a:spcBef>
                <a:spcPts val="900"/>
              </a:spcBef>
            </a:pPr>
            <a:r>
              <a:rPr sz="2400" dirty="0">
                <a:solidFill>
                  <a:srgbClr val="1A1A2E"/>
                </a:solidFill>
                <a:latin typeface="Calibri"/>
              </a:rPr>
              <a:t>[2] G. Julián. </a:t>
            </a:r>
            <a:r>
              <a:rPr sz="2400" dirty="0" err="1">
                <a:solidFill>
                  <a:srgbClr val="1A1A2E"/>
                </a:solidFill>
                <a:latin typeface="Calibri"/>
              </a:rPr>
              <a:t>Guía</a:t>
            </a:r>
            <a:r>
              <a:rPr sz="2400" dirty="0">
                <a:solidFill>
                  <a:srgbClr val="1A1A2E"/>
                </a:solidFill>
                <a:latin typeface="Calibri"/>
              </a:rPr>
              <a:t> de </a:t>
            </a:r>
            <a:r>
              <a:rPr sz="2400" dirty="0" err="1">
                <a:solidFill>
                  <a:srgbClr val="1A1A2E"/>
                </a:solidFill>
                <a:latin typeface="Calibri"/>
              </a:rPr>
              <a:t>trabajo</a:t>
            </a:r>
            <a:r>
              <a:rPr sz="2400" dirty="0">
                <a:solidFill>
                  <a:srgbClr val="1A1A2E"/>
                </a:solidFill>
                <a:latin typeface="Calibri"/>
              </a:rPr>
              <a:t> — Proyecto Global </a:t>
            </a:r>
            <a:r>
              <a:rPr sz="2400" dirty="0" err="1">
                <a:solidFill>
                  <a:srgbClr val="1A1A2E"/>
                </a:solidFill>
                <a:latin typeface="Calibri"/>
              </a:rPr>
              <a:t>Integrador</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2024.</a:t>
            </a:r>
          </a:p>
          <a:p>
            <a:pPr>
              <a:spcBef>
                <a:spcPts val="900"/>
              </a:spcBef>
            </a:pPr>
            <a:r>
              <a:rPr sz="2400" dirty="0">
                <a:solidFill>
                  <a:srgbClr val="1A1A2E"/>
                </a:solidFill>
                <a:latin typeface="Calibri"/>
              </a:rPr>
              <a:t>[3] P. Krause, O. </a:t>
            </a:r>
            <a:r>
              <a:rPr sz="2400" dirty="0" err="1">
                <a:solidFill>
                  <a:srgbClr val="1A1A2E"/>
                </a:solidFill>
                <a:latin typeface="Calibri"/>
              </a:rPr>
              <a:t>Wasynczuk</a:t>
            </a:r>
            <a:r>
              <a:rPr sz="2400" dirty="0">
                <a:solidFill>
                  <a:srgbClr val="1A1A2E"/>
                </a:solidFill>
                <a:latin typeface="Calibri"/>
              </a:rPr>
              <a:t>, S. D. </a:t>
            </a:r>
            <a:r>
              <a:rPr sz="2400" dirty="0" err="1">
                <a:solidFill>
                  <a:srgbClr val="1A1A2E"/>
                </a:solidFill>
                <a:latin typeface="Calibri"/>
              </a:rPr>
              <a:t>Sudhoff</a:t>
            </a:r>
            <a:r>
              <a:rPr sz="2400" dirty="0">
                <a:solidFill>
                  <a:srgbClr val="1A1A2E"/>
                </a:solidFill>
                <a:latin typeface="Calibri"/>
              </a:rPr>
              <a:t>, S. </a:t>
            </a:r>
            <a:r>
              <a:rPr sz="2400" dirty="0" err="1">
                <a:solidFill>
                  <a:srgbClr val="1A1A2E"/>
                </a:solidFill>
                <a:latin typeface="Calibri"/>
              </a:rPr>
              <a:t>Pekarek</a:t>
            </a:r>
            <a:r>
              <a:rPr sz="2400" dirty="0">
                <a:solidFill>
                  <a:srgbClr val="1A1A2E"/>
                </a:solidFill>
                <a:latin typeface="Calibri"/>
              </a:rPr>
              <a:t>. Analysis of Electric Machinery and Drive Systems. 3ª ed. Wiley-IEEE Press, 2013.</a:t>
            </a:r>
          </a:p>
          <a:p>
            <a:pPr>
              <a:spcBef>
                <a:spcPts val="900"/>
              </a:spcBef>
            </a:pPr>
            <a:r>
              <a:rPr sz="2400" dirty="0">
                <a:solidFill>
                  <a:srgbClr val="1A1A2E"/>
                </a:solidFill>
                <a:latin typeface="Calibri"/>
              </a:rPr>
              <a:t>[4] G. F. Franklin, J. D. Powell, A. </a:t>
            </a:r>
            <a:r>
              <a:rPr sz="2400" dirty="0" err="1">
                <a:solidFill>
                  <a:srgbClr val="1A1A2E"/>
                </a:solidFill>
                <a:latin typeface="Calibri"/>
              </a:rPr>
              <a:t>Emami-Naeni</a:t>
            </a:r>
            <a:r>
              <a:rPr sz="2400" dirty="0">
                <a:solidFill>
                  <a:srgbClr val="1A1A2E"/>
                </a:solidFill>
                <a:latin typeface="Calibri"/>
              </a:rPr>
              <a:t>. Feedback Control of Dynamic Systems. 7ª ed. Pearson, 2015.</a:t>
            </a:r>
          </a:p>
          <a:p>
            <a:pPr>
              <a:spcBef>
                <a:spcPts val="900"/>
              </a:spcBef>
            </a:pPr>
            <a:r>
              <a:rPr sz="2400" dirty="0">
                <a:solidFill>
                  <a:srgbClr val="1A1A2E"/>
                </a:solidFill>
                <a:latin typeface="Calibri"/>
              </a:rPr>
              <a:t>[5] K. Ogata. </a:t>
            </a:r>
            <a:r>
              <a:rPr sz="2400" dirty="0" err="1">
                <a:solidFill>
                  <a:srgbClr val="1A1A2E"/>
                </a:solidFill>
                <a:latin typeface="Calibri"/>
              </a:rPr>
              <a:t>Ingeniería</a:t>
            </a:r>
            <a:r>
              <a:rPr sz="2400" dirty="0">
                <a:solidFill>
                  <a:srgbClr val="1A1A2E"/>
                </a:solidFill>
                <a:latin typeface="Calibri"/>
              </a:rPr>
              <a:t> de Control Moderna. 5ª ed. Prentice Hall, 2010.</a:t>
            </a:r>
          </a:p>
          <a:p>
            <a:pPr>
              <a:spcBef>
                <a:spcPts val="900"/>
              </a:spcBef>
            </a:pPr>
            <a:r>
              <a:rPr sz="2400" dirty="0">
                <a:solidFill>
                  <a:srgbClr val="1A1A2E"/>
                </a:solidFill>
                <a:latin typeface="Calibri"/>
              </a:rPr>
              <a:t>[6] K. M. Lynch, F. C. Park. Modern Robotics: Mechanics, Planning, and Control. Cambridge University Press, 2017.</a:t>
            </a:r>
          </a:p>
          <a:p>
            <a:pPr>
              <a:spcBef>
                <a:spcPts val="900"/>
              </a:spcBef>
            </a:pPr>
            <a:r>
              <a:rPr sz="2400" dirty="0">
                <a:solidFill>
                  <a:srgbClr val="1A1A2E"/>
                </a:solidFill>
                <a:latin typeface="Calibri"/>
              </a:rPr>
              <a:t>[7] MathWorks. MATLAB/Simulink R2024b Documentation. www.mathworks.com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4885</TotalTime>
  <Words>13734</Words>
  <Application>Microsoft Office PowerPoint</Application>
  <PresentationFormat>Panorámica</PresentationFormat>
  <Paragraphs>1340</Paragraphs>
  <Slides>119</Slides>
  <Notes>8</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 stella</cp:lastModifiedBy>
  <cp:revision>210</cp:revision>
  <dcterms:created xsi:type="dcterms:W3CDTF">2013-01-27T09:14:16Z</dcterms:created>
  <dcterms:modified xsi:type="dcterms:W3CDTF">2026-04-29T01:41:59Z</dcterms:modified>
  <cp:category/>
</cp:coreProperties>
</file>