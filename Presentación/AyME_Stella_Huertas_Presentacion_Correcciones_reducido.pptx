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4"/>
  </p:notesMasterIdLst>
  <p:sldIdLst>
    <p:sldId id="256" r:id="rId2"/>
    <p:sldId id="257" r:id="rId3"/>
    <p:sldId id="258" r:id="rId4"/>
    <p:sldId id="384" r:id="rId5"/>
    <p:sldId id="261" r:id="rId6"/>
    <p:sldId id="262" r:id="rId7"/>
    <p:sldId id="263" r:id="rId8"/>
    <p:sldId id="382" r:id="rId9"/>
    <p:sldId id="264" r:id="rId10"/>
    <p:sldId id="265" r:id="rId11"/>
    <p:sldId id="266" r:id="rId12"/>
    <p:sldId id="267" r:id="rId13"/>
    <p:sldId id="268" r:id="rId14"/>
    <p:sldId id="269" r:id="rId15"/>
    <p:sldId id="270" r:id="rId16"/>
    <p:sldId id="271" r:id="rId17"/>
    <p:sldId id="272" r:id="rId18"/>
    <p:sldId id="273" r:id="rId19"/>
    <p:sldId id="274" r:id="rId20"/>
    <p:sldId id="386" r:id="rId21"/>
    <p:sldId id="276" r:id="rId22"/>
    <p:sldId id="277" r:id="rId23"/>
    <p:sldId id="278" r:id="rId24"/>
    <p:sldId id="279" r:id="rId25"/>
    <p:sldId id="280" r:id="rId26"/>
    <p:sldId id="281" r:id="rId27"/>
    <p:sldId id="282" r:id="rId28"/>
    <p:sldId id="284" r:id="rId29"/>
    <p:sldId id="285" r:id="rId30"/>
    <p:sldId id="286" r:id="rId31"/>
    <p:sldId id="287" r:id="rId32"/>
    <p:sldId id="328" r:id="rId33"/>
    <p:sldId id="329" r:id="rId34"/>
    <p:sldId id="330" r:id="rId35"/>
    <p:sldId id="288" r:id="rId36"/>
    <p:sldId id="290" r:id="rId37"/>
    <p:sldId id="331" r:id="rId38"/>
    <p:sldId id="291" r:id="rId39"/>
    <p:sldId id="332" r:id="rId40"/>
    <p:sldId id="292" r:id="rId41"/>
    <p:sldId id="293" r:id="rId42"/>
    <p:sldId id="294" r:id="rId43"/>
    <p:sldId id="295" r:id="rId44"/>
    <p:sldId id="297" r:id="rId45"/>
    <p:sldId id="337" r:id="rId46"/>
    <p:sldId id="296" r:id="rId47"/>
    <p:sldId id="338" r:id="rId48"/>
    <p:sldId id="299" r:id="rId49"/>
    <p:sldId id="298" r:id="rId50"/>
    <p:sldId id="339" r:id="rId51"/>
    <p:sldId id="340" r:id="rId52"/>
    <p:sldId id="385" r:id="rId53"/>
    <p:sldId id="300" r:id="rId54"/>
    <p:sldId id="301" r:id="rId55"/>
    <p:sldId id="302" r:id="rId56"/>
    <p:sldId id="343" r:id="rId57"/>
    <p:sldId id="344" r:id="rId58"/>
    <p:sldId id="303" r:id="rId59"/>
    <p:sldId id="345" r:id="rId60"/>
    <p:sldId id="304" r:id="rId61"/>
    <p:sldId id="346" r:id="rId62"/>
    <p:sldId id="305" r:id="rId63"/>
    <p:sldId id="306" r:id="rId64"/>
    <p:sldId id="347" r:id="rId65"/>
    <p:sldId id="307" r:id="rId66"/>
    <p:sldId id="348" r:id="rId67"/>
    <p:sldId id="309" r:id="rId68"/>
    <p:sldId id="310" r:id="rId69"/>
    <p:sldId id="349" r:id="rId70"/>
    <p:sldId id="311" r:id="rId71"/>
    <p:sldId id="312" r:id="rId72"/>
    <p:sldId id="350" r:id="rId73"/>
    <p:sldId id="351" r:id="rId74"/>
    <p:sldId id="314" r:id="rId75"/>
    <p:sldId id="315" r:id="rId76"/>
    <p:sldId id="316" r:id="rId77"/>
    <p:sldId id="352" r:id="rId78"/>
    <p:sldId id="353" r:id="rId79"/>
    <p:sldId id="354" r:id="rId80"/>
    <p:sldId id="355" r:id="rId81"/>
    <p:sldId id="317" r:id="rId82"/>
    <p:sldId id="356" r:id="rId83"/>
    <p:sldId id="318" r:id="rId84"/>
    <p:sldId id="357" r:id="rId85"/>
    <p:sldId id="319" r:id="rId86"/>
    <p:sldId id="359" r:id="rId87"/>
    <p:sldId id="360" r:id="rId88"/>
    <p:sldId id="361" r:id="rId89"/>
    <p:sldId id="363" r:id="rId90"/>
    <p:sldId id="364" r:id="rId91"/>
    <p:sldId id="362" r:id="rId92"/>
    <p:sldId id="365" r:id="rId93"/>
    <p:sldId id="366" r:id="rId94"/>
    <p:sldId id="320" r:id="rId95"/>
    <p:sldId id="367" r:id="rId96"/>
    <p:sldId id="368" r:id="rId97"/>
    <p:sldId id="369" r:id="rId98"/>
    <p:sldId id="370" r:id="rId99"/>
    <p:sldId id="387" r:id="rId100"/>
    <p:sldId id="321" r:id="rId101"/>
    <p:sldId id="322" r:id="rId102"/>
    <p:sldId id="323" r:id="rId103"/>
    <p:sldId id="372" r:id="rId104"/>
    <p:sldId id="373" r:id="rId105"/>
    <p:sldId id="374" r:id="rId106"/>
    <p:sldId id="375" r:id="rId107"/>
    <p:sldId id="377" r:id="rId108"/>
    <p:sldId id="378" r:id="rId109"/>
    <p:sldId id="379" r:id="rId110"/>
    <p:sldId id="380" r:id="rId111"/>
    <p:sldId id="381" r:id="rId112"/>
    <p:sldId id="388" r:id="rId1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67" autoAdjust="0"/>
    <p:restoredTop sz="96357" autoAdjust="0"/>
  </p:normalViewPr>
  <p:slideViewPr>
    <p:cSldViewPr snapToGrid="0" snapToObjects="1">
      <p:cViewPr varScale="1">
        <p:scale>
          <a:sx n="114" d="100"/>
          <a:sy n="114" d="100"/>
        </p:scale>
        <p:origin x="414"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theme" Target="theme/theme1.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tableStyles" Target="tableStyle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18/5/2026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27</a:t>
            </a:fld>
            <a:endParaRPr lang="es-AR"/>
          </a:p>
        </p:txBody>
      </p:sp>
    </p:spTree>
    <p:extLst>
      <p:ext uri="{BB962C8B-B14F-4D97-AF65-F5344CB8AC3E}">
        <p14:creationId xmlns:p14="http://schemas.microsoft.com/office/powerpoint/2010/main" val="16879002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40</a:t>
            </a:fld>
            <a:endParaRPr lang="es-AR"/>
          </a:p>
        </p:txBody>
      </p:sp>
    </p:spTree>
    <p:extLst>
      <p:ext uri="{BB962C8B-B14F-4D97-AF65-F5344CB8AC3E}">
        <p14:creationId xmlns:p14="http://schemas.microsoft.com/office/powerpoint/2010/main" val="11077983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51</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52</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61</a:t>
            </a:fld>
            <a:endParaRPr lang="es-AR"/>
          </a:p>
        </p:txBody>
      </p:sp>
    </p:spTree>
    <p:extLst>
      <p:ext uri="{BB962C8B-B14F-4D97-AF65-F5344CB8AC3E}">
        <p14:creationId xmlns:p14="http://schemas.microsoft.com/office/powerpoint/2010/main" val="13182277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68</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71</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11438117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84</a:t>
            </a:fld>
            <a:endParaRPr lang="es-AR"/>
          </a:p>
        </p:txBody>
      </p:sp>
    </p:spTree>
    <p:extLst>
      <p:ext uri="{BB962C8B-B14F-4D97-AF65-F5344CB8AC3E}">
        <p14:creationId xmlns:p14="http://schemas.microsoft.com/office/powerpoint/2010/main" val="2847072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85</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87</a:t>
            </a:fld>
            <a:endParaRPr lang="es-AR"/>
          </a:p>
        </p:txBody>
      </p:sp>
    </p:spTree>
    <p:extLst>
      <p:ext uri="{BB962C8B-B14F-4D97-AF65-F5344CB8AC3E}">
        <p14:creationId xmlns:p14="http://schemas.microsoft.com/office/powerpoint/2010/main" val="39320188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88</a:t>
            </a:fld>
            <a:endParaRPr lang="es-AR"/>
          </a:p>
        </p:txBody>
      </p:sp>
    </p:spTree>
    <p:extLst>
      <p:ext uri="{BB962C8B-B14F-4D97-AF65-F5344CB8AC3E}">
        <p14:creationId xmlns:p14="http://schemas.microsoft.com/office/powerpoint/2010/main" val="78950856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94</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7" Type="http://schemas.openxmlformats.org/officeDocument/2006/relationships/image" Target="../media/image7.png"/><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2100.png"/></Relationships>
</file>

<file path=ppt/slides/_rels/slide7.xml.rels><?xml version="1.0" encoding="UTF-8" standalone="yes"?>
<Relationships xmlns="http://schemas.openxmlformats.org/package/2006/relationships"><Relationship Id="rId8" Type="http://schemas.openxmlformats.org/officeDocument/2006/relationships/image" Target="../media/image610.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10.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image" Target="../media/image2110.png"/><Relationship Id="rId2" Type="http://schemas.openxmlformats.org/officeDocument/2006/relationships/image" Target="../media/image2010.png"/><Relationship Id="rId1" Type="http://schemas.openxmlformats.org/officeDocument/2006/relationships/slideLayout" Target="../slideLayouts/slideLayout7.xml"/><Relationship Id="rId6" Type="http://schemas.openxmlformats.org/officeDocument/2006/relationships/image" Target="../media/image25.png"/><Relationship Id="rId4" Type="http://schemas.openxmlformats.org/officeDocument/2006/relationships/image" Target="../media/image22.png"/><Relationship Id="rId9" Type="http://schemas.openxmlformats.org/officeDocument/2006/relationships/image" Target="../media/image910.png"/></Relationships>
</file>

<file path=ppt/slides/_rels/slide1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4.png"/><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011.png"/><Relationship Id="rId7" Type="http://schemas.openxmlformats.org/officeDocument/2006/relationships/image" Target="../media/image31.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6.xml.rels><?xml version="1.0" encoding="UTF-8" standalone="yes"?>
<Relationships xmlns="http://schemas.openxmlformats.org/package/2006/relationships"><Relationship Id="rId3" Type="http://schemas.openxmlformats.org/officeDocument/2006/relationships/image" Target="../media/image325.png"/><Relationship Id="rId2" Type="http://schemas.openxmlformats.org/officeDocument/2006/relationships/image" Target="../media/image32.png"/><Relationship Id="rId1" Type="http://schemas.openxmlformats.org/officeDocument/2006/relationships/slideLayout" Target="../slideLayouts/slideLayout7.xml"/><Relationship Id="rId4" Type="http://schemas.openxmlformats.org/officeDocument/2006/relationships/image" Target="../media/image33.png"/></Relationships>
</file>

<file path=ppt/slides/_rels/slide1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30.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1.png"/><Relationship Id="rId4" Type="http://schemas.openxmlformats.org/officeDocument/2006/relationships/image" Target="../media/image35.png"/></Relationships>
</file>

<file path=ppt/slides/_rels/slide2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400.png"/><Relationship Id="rId2" Type="http://schemas.openxmlformats.org/officeDocument/2006/relationships/image" Target="../media/image390.png"/><Relationship Id="rId1" Type="http://schemas.openxmlformats.org/officeDocument/2006/relationships/slideLayout" Target="../slideLayouts/slideLayout7.xml"/><Relationship Id="rId4" Type="http://schemas.openxmlformats.org/officeDocument/2006/relationships/image" Target="../media/image41.png"/></Relationships>
</file>

<file path=ppt/slides/_rels/slide22.xml.rels><?xml version="1.0" encoding="UTF-8" standalone="yes"?>
<Relationships xmlns="http://schemas.openxmlformats.org/package/2006/relationships"><Relationship Id="rId8" Type="http://schemas.openxmlformats.org/officeDocument/2006/relationships/image" Target="../media/image45.png"/><Relationship Id="rId7" Type="http://schemas.openxmlformats.org/officeDocument/2006/relationships/image" Target="../media/image410.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 Id="rId9" Type="http://schemas.openxmlformats.org/officeDocument/2006/relationships/image" Target="../media/image380.png"/></Relationships>
</file>

<file path=ppt/slides/_rels/slide23.xml.rels><?xml version="1.0" encoding="UTF-8" standalone="yes"?>
<Relationships xmlns="http://schemas.openxmlformats.org/package/2006/relationships"><Relationship Id="rId3" Type="http://schemas.openxmlformats.org/officeDocument/2006/relationships/image" Target="../media/image470.png"/><Relationship Id="rId2" Type="http://schemas.openxmlformats.org/officeDocument/2006/relationships/image" Target="../media/image47.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0.png"/><Relationship Id="rId1" Type="http://schemas.openxmlformats.org/officeDocument/2006/relationships/slideLayout" Target="../slideLayouts/slideLayout7.xml"/><Relationship Id="rId5" Type="http://schemas.openxmlformats.org/officeDocument/2006/relationships/image" Target="../media/image52.png"/><Relationship Id="rId4" Type="http://schemas.openxmlformats.org/officeDocument/2006/relationships/image" Target="../media/image51.png"/></Relationships>
</file>

<file path=ppt/slides/_rels/slide26.xml.rels><?xml version="1.0" encoding="UTF-8" standalone="yes"?>
<Relationships xmlns="http://schemas.openxmlformats.org/package/2006/relationships"><Relationship Id="rId8" Type="http://schemas.openxmlformats.org/officeDocument/2006/relationships/image" Target="../media/image55.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1" Type="http://schemas.openxmlformats.org/officeDocument/2006/relationships/image" Target="../media/image531.png"/><Relationship Id="rId10" Type="http://schemas.openxmlformats.org/officeDocument/2006/relationships/image" Target="../media/image501.png"/><Relationship Id="rId9" Type="http://schemas.openxmlformats.org/officeDocument/2006/relationships/image" Target="../media/image491.png"/></Relationships>
</file>

<file path=ppt/slides/_rels/slide2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591.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90.png"/><Relationship Id="rId4" Type="http://schemas.openxmlformats.org/officeDocument/2006/relationships/image" Target="../media/image450.png"/></Relationships>
</file>

<file path=ppt/slides/_rels/slide31.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1.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3.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4.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7.png"/><Relationship Id="rId4" Type="http://schemas.openxmlformats.org/officeDocument/2006/relationships/image" Target="../media/image70.png"/></Relationships>
</file>

<file path=ppt/slides/_rels/slide35.xml.rels><?xml version="1.0" encoding="UTF-8" standalone="yes"?>
<Relationships xmlns="http://schemas.openxmlformats.org/package/2006/relationships"><Relationship Id="rId3" Type="http://schemas.openxmlformats.org/officeDocument/2006/relationships/image" Target="../media/image68.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1.png"/></Relationships>
</file>

<file path=ppt/slides/_rels/slide3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3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39.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73.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1.png"/></Relationships>
</file>

<file path=ppt/slides/_rels/slide43.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6" Type="http://schemas.openxmlformats.org/officeDocument/2006/relationships/image" Target="../media/image97.png"/><Relationship Id="rId5" Type="http://schemas.openxmlformats.org/officeDocument/2006/relationships/image" Target="../media/image96.png"/><Relationship Id="rId4" Type="http://schemas.openxmlformats.org/officeDocument/2006/relationships/image" Target="../media/image95.png"/></Relationships>
</file>

<file path=ppt/slides/_rels/slide44.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109.png"/><Relationship Id="rId7" Type="http://schemas.openxmlformats.org/officeDocument/2006/relationships/image" Target="../media/image112.png"/><Relationship Id="rId2" Type="http://schemas.openxmlformats.org/officeDocument/2006/relationships/image" Target="../media/image108.png"/><Relationship Id="rId1" Type="http://schemas.openxmlformats.org/officeDocument/2006/relationships/slideLayout" Target="../slideLayouts/slideLayout7.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6.png"/></Relationships>
</file>

<file path=ppt/slides/_rels/slide48.xml.rels><?xml version="1.0" encoding="UTF-8" standalone="yes"?>
<Relationships xmlns="http://schemas.openxmlformats.org/package/2006/relationships"><Relationship Id="rId3" Type="http://schemas.openxmlformats.org/officeDocument/2006/relationships/image" Target="../media/image1110.png"/><Relationship Id="rId7" Type="http://schemas.openxmlformats.org/officeDocument/2006/relationships/image" Target="../media/image103.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0.png"/></Relationships>
</file>

<file path=ppt/slides/_rels/slide49.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04.png"/></Relationships>
</file>

<file path=ppt/slides/_rels/slide50.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0.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15.png"/><Relationship Id="rId4" Type="http://schemas.openxmlformats.org/officeDocument/2006/relationships/image" Target="../media/image105.png"/></Relationships>
</file>

<file path=ppt/slides/_rels/slide51.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16.png"/><Relationship Id="rId4" Type="http://schemas.openxmlformats.org/officeDocument/2006/relationships/image" Target="../media/image126.png"/></Relationships>
</file>

<file path=ppt/slides/_rels/slide52.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1.png"/><Relationship Id="rId1" Type="http://schemas.openxmlformats.org/officeDocument/2006/relationships/slideLayout" Target="../slideLayouts/slideLayout7.xml"/><Relationship Id="rId5" Type="http://schemas.openxmlformats.org/officeDocument/2006/relationships/image" Target="../media/image135.png"/><Relationship Id="rId4" Type="http://schemas.openxmlformats.org/officeDocument/2006/relationships/image" Target="../media/image134.png"/></Relationships>
</file>

<file path=ppt/slides/_rels/slide56.xml.rels><?xml version="1.0" encoding="UTF-8" standalone="yes"?>
<Relationships xmlns="http://schemas.openxmlformats.org/package/2006/relationships"><Relationship Id="rId3" Type="http://schemas.openxmlformats.org/officeDocument/2006/relationships/image" Target="../media/image130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57.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22.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59.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1.png"/><Relationship Id="rId1" Type="http://schemas.openxmlformats.org/officeDocument/2006/relationships/slideLayout" Target="../slideLayouts/slideLayout7.xml"/><Relationship Id="rId4" Type="http://schemas.openxmlformats.org/officeDocument/2006/relationships/image" Target="../media/image123.png"/></Relationships>
</file>

<file path=ppt/slides/_rels/slide60.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8.png"/><Relationship Id="rId1" Type="http://schemas.openxmlformats.org/officeDocument/2006/relationships/slideLayout" Target="../slideLayouts/slideLayout7.xml"/><Relationship Id="rId6" Type="http://schemas.openxmlformats.org/officeDocument/2006/relationships/image" Target="../media/image153.png"/><Relationship Id="rId5" Type="http://schemas.openxmlformats.org/officeDocument/2006/relationships/image" Target="../media/image152.png"/><Relationship Id="rId4" Type="http://schemas.openxmlformats.org/officeDocument/2006/relationships/image" Target="../media/image151.png"/></Relationships>
</file>

<file path=ppt/slides/_rels/slide61.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64.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65.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38.png"/><Relationship Id="rId5" Type="http://schemas.openxmlformats.org/officeDocument/2006/relationships/image" Target="../media/image136.png"/><Relationship Id="rId4" Type="http://schemas.openxmlformats.org/officeDocument/2006/relationships/image" Target="../media/image173.png"/></Relationships>
</file>

<file path=ppt/slides/_rels/slide66.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69.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54.png"/><Relationship Id="rId1" Type="http://schemas.openxmlformats.org/officeDocument/2006/relationships/slideLayout" Target="../slideLayouts/slideLayout7.xml"/><Relationship Id="rId5" Type="http://schemas.openxmlformats.org/officeDocument/2006/relationships/image" Target="../media/image185.png"/><Relationship Id="rId4" Type="http://schemas.openxmlformats.org/officeDocument/2006/relationships/image" Target="../media/image18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87.png"/><Relationship Id="rId7" Type="http://schemas.openxmlformats.org/officeDocument/2006/relationships/image" Target="../media/image189.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157.png"/><Relationship Id="rId5" Type="http://schemas.openxmlformats.org/officeDocument/2006/relationships/image" Target="../media/image156.png"/><Relationship Id="rId4" Type="http://schemas.openxmlformats.org/officeDocument/2006/relationships/image" Target="../media/image155.png"/><Relationship Id="rId9" Type="http://schemas.openxmlformats.org/officeDocument/2006/relationships/image" Target="../media/image191.png"/></Relationships>
</file>

<file path=ppt/slides/_rels/slide72.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3.png"/><Relationship Id="rId5" Type="http://schemas.openxmlformats.org/officeDocument/2006/relationships/image" Target="../media/image175.png"/><Relationship Id="rId4" Type="http://schemas.openxmlformats.org/officeDocument/2006/relationships/image" Target="../media/image174.png"/></Relationships>
</file>

<file path=ppt/slides/_rels/slide73.xml.rels><?xml version="1.0" encoding="UTF-8" standalone="yes"?>
<Relationships xmlns="http://schemas.openxmlformats.org/package/2006/relationships"><Relationship Id="rId8" Type="http://schemas.openxmlformats.org/officeDocument/2006/relationships/image" Target="../media/image192.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188.png"/><Relationship Id="rId5" Type="http://schemas.openxmlformats.org/officeDocument/2006/relationships/image" Target="../media/image186.png"/><Relationship Id="rId4" Type="http://schemas.openxmlformats.org/officeDocument/2006/relationships/image" Target="../media/image177.png"/></Relationships>
</file>

<file path=ppt/slides/_rels/slide74.xml.rels><?xml version="1.0" encoding="UTF-8" standalone="yes"?>
<Relationships xmlns="http://schemas.openxmlformats.org/package/2006/relationships"><Relationship Id="rId3" Type="http://schemas.openxmlformats.org/officeDocument/2006/relationships/image" Target="../media/image207.png"/><Relationship Id="rId7" Type="http://schemas.openxmlformats.org/officeDocument/2006/relationships/image" Target="../media/image197.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210.png"/><Relationship Id="rId5" Type="http://schemas.openxmlformats.org/officeDocument/2006/relationships/image" Target="../media/image194.png"/><Relationship Id="rId4" Type="http://schemas.openxmlformats.org/officeDocument/2006/relationships/image" Target="../media/image208.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06.png"/><Relationship Id="rId1" Type="http://schemas.openxmlformats.org/officeDocument/2006/relationships/slideLayout" Target="../slideLayouts/slideLayout7.xml"/><Relationship Id="rId4" Type="http://schemas.openxmlformats.org/officeDocument/2006/relationships/image" Target="../media/image198.png"/></Relationships>
</file>

<file path=ppt/slides/_rels/slide77.xml.rels><?xml version="1.0" encoding="UTF-8" standalone="yes"?>
<Relationships xmlns="http://schemas.openxmlformats.org/package/2006/relationships"><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203.png"/><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3" Type="http://schemas.openxmlformats.org/officeDocument/2006/relationships/image" Target="../media/image2140.png"/><Relationship Id="rId2" Type="http://schemas.openxmlformats.org/officeDocument/2006/relationships/image" Target="../media/image204.png"/><Relationship Id="rId1" Type="http://schemas.openxmlformats.org/officeDocument/2006/relationships/slideLayout" Target="../slideLayouts/slideLayout7.xml"/><Relationship Id="rId5" Type="http://schemas.openxmlformats.org/officeDocument/2006/relationships/image" Target="../media/image209.png"/><Relationship Id="rId4" Type="http://schemas.openxmlformats.org/officeDocument/2006/relationships/image" Target="../media/image215.png"/></Relationships>
</file>

<file path=ppt/slides/_rels/slide80.xml.rels><?xml version="1.0" encoding="UTF-8" standalone="yes"?>
<Relationships xmlns="http://schemas.openxmlformats.org/package/2006/relationships"><Relationship Id="rId3" Type="http://schemas.openxmlformats.org/officeDocument/2006/relationships/image" Target="../media/image211.png"/><Relationship Id="rId2" Type="http://schemas.openxmlformats.org/officeDocument/2006/relationships/image" Target="../media/image217.png"/><Relationship Id="rId1" Type="http://schemas.openxmlformats.org/officeDocument/2006/relationships/slideLayout" Target="../slideLayouts/slideLayout7.xml"/><Relationship Id="rId4" Type="http://schemas.openxmlformats.org/officeDocument/2006/relationships/image" Target="../media/image212.png"/></Relationships>
</file>

<file path=ppt/slides/_rels/slide81.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2.xml.rels><?xml version="1.0" encoding="UTF-8" standalone="yes"?>
<Relationships xmlns="http://schemas.openxmlformats.org/package/2006/relationships"><Relationship Id="rId3" Type="http://schemas.openxmlformats.org/officeDocument/2006/relationships/image" Target="../media/image216.png"/><Relationship Id="rId2" Type="http://schemas.openxmlformats.org/officeDocument/2006/relationships/image" Target="../media/image214.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3.xml.rels><?xml version="1.0" encoding="UTF-8" standalone="yes"?>
<Relationships xmlns="http://schemas.openxmlformats.org/package/2006/relationships"><Relationship Id="rId3" Type="http://schemas.openxmlformats.org/officeDocument/2006/relationships/image" Target="../media/image218.png"/><Relationship Id="rId2" Type="http://schemas.openxmlformats.org/officeDocument/2006/relationships/image" Target="../media/image232.png"/><Relationship Id="rId1" Type="http://schemas.openxmlformats.org/officeDocument/2006/relationships/slideLayout" Target="../slideLayouts/slideLayout7.xml"/><Relationship Id="rId6" Type="http://schemas.openxmlformats.org/officeDocument/2006/relationships/image" Target="../media/image229.png"/><Relationship Id="rId5" Type="http://schemas.openxmlformats.org/officeDocument/2006/relationships/image" Target="../media/image219.png"/><Relationship Id="rId4" Type="http://schemas.openxmlformats.org/officeDocument/2006/relationships/image" Target="../media/image233.png"/></Relationships>
</file>

<file path=ppt/slides/_rels/slide84.xml.rels><?xml version="1.0" encoding="UTF-8" standalone="yes"?>
<Relationships xmlns="http://schemas.openxmlformats.org/package/2006/relationships"><Relationship Id="rId3" Type="http://schemas.openxmlformats.org/officeDocument/2006/relationships/image" Target="../media/image220.png"/><Relationship Id="rId7" Type="http://schemas.openxmlformats.org/officeDocument/2006/relationships/image" Target="../media/image221.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240.png"/><Relationship Id="rId4" Type="http://schemas.openxmlformats.org/officeDocument/2006/relationships/image" Target="../media/image238.png"/></Relationships>
</file>

<file path=ppt/slides/_rels/slide85.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237.png"/><Relationship Id="rId5" Type="http://schemas.openxmlformats.org/officeDocument/2006/relationships/image" Target="../media/image243.png"/><Relationship Id="rId4" Type="http://schemas.openxmlformats.org/officeDocument/2006/relationships/image" Target="../media/image242.png"/></Relationships>
</file>

<file path=ppt/slides/_rels/slide86.xml.rels><?xml version="1.0" encoding="UTF-8" standalone="yes"?>
<Relationships xmlns="http://schemas.openxmlformats.org/package/2006/relationships"><Relationship Id="rId2" Type="http://schemas.openxmlformats.org/officeDocument/2006/relationships/image" Target="../media/image222.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3" Type="http://schemas.openxmlformats.org/officeDocument/2006/relationships/image" Target="../media/image245.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24.png"/><Relationship Id="rId5" Type="http://schemas.openxmlformats.org/officeDocument/2006/relationships/image" Target="../media/image247.png"/><Relationship Id="rId4" Type="http://schemas.openxmlformats.org/officeDocument/2006/relationships/image" Target="../media/image246.png"/></Relationships>
</file>

<file path=ppt/slides/_rels/slide88.xml.rels><?xml version="1.0" encoding="UTF-8" standalone="yes"?>
<Relationships xmlns="http://schemas.openxmlformats.org/package/2006/relationships"><Relationship Id="rId8" Type="http://schemas.openxmlformats.org/officeDocument/2006/relationships/image" Target="../media/image253.png"/><Relationship Id="rId3" Type="http://schemas.openxmlformats.org/officeDocument/2006/relationships/image" Target="../media/image235.png"/><Relationship Id="rId7" Type="http://schemas.openxmlformats.org/officeDocument/2006/relationships/image" Target="../media/image252.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239.png"/><Relationship Id="rId5" Type="http://schemas.openxmlformats.org/officeDocument/2006/relationships/image" Target="../media/image236.png"/><Relationship Id="rId4" Type="http://schemas.openxmlformats.org/officeDocument/2006/relationships/image" Target="../media/image250.png"/></Relationships>
</file>

<file path=ppt/slides/_rels/slide89.xml.rels><?xml version="1.0" encoding="UTF-8" standalone="yes"?>
<Relationships xmlns="http://schemas.openxmlformats.org/package/2006/relationships"><Relationship Id="rId3" Type="http://schemas.openxmlformats.org/officeDocument/2006/relationships/image" Target="../media/image244.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48.png"/></Relationships>
</file>

<file path=ppt/slides/_rels/slide90.xml.rels><?xml version="1.0" encoding="UTF-8" standalone="yes"?>
<Relationships xmlns="http://schemas.openxmlformats.org/package/2006/relationships"><Relationship Id="rId3" Type="http://schemas.openxmlformats.org/officeDocument/2006/relationships/image" Target="../media/image249.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1.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54.png"/><Relationship Id="rId4" Type="http://schemas.openxmlformats.org/officeDocument/2006/relationships/image" Target="../media/image251.png"/></Relationships>
</file>

<file path=ppt/slides/_rels/slide92.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6.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64.png"/><Relationship Id="rId5" Type="http://schemas.openxmlformats.org/officeDocument/2006/relationships/image" Target="../media/image257.png"/><Relationship Id="rId4" Type="http://schemas.openxmlformats.org/officeDocument/2006/relationships/image" Target="../media/image256.png"/></Relationships>
</file>

<file path=ppt/slides/_rels/slide93.xml.rels><?xml version="1.0" encoding="UTF-8" standalone="yes"?>
<Relationships xmlns="http://schemas.openxmlformats.org/package/2006/relationships"><Relationship Id="rId3" Type="http://schemas.openxmlformats.org/officeDocument/2006/relationships/image" Target="../media/image274.png"/><Relationship Id="rId2" Type="http://schemas.openxmlformats.org/officeDocument/2006/relationships/image" Target="../media/image271.png"/><Relationship Id="rId1" Type="http://schemas.openxmlformats.org/officeDocument/2006/relationships/slideLayout" Target="../slideLayouts/slideLayout7.xml"/><Relationship Id="rId5" Type="http://schemas.openxmlformats.org/officeDocument/2006/relationships/image" Target="../media/image268.png"/><Relationship Id="rId4" Type="http://schemas.openxmlformats.org/officeDocument/2006/relationships/image" Target="../media/image265.png"/></Relationships>
</file>

<file path=ppt/slides/_rels/slide94.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269.png"/><Relationship Id="rId5" Type="http://schemas.openxmlformats.org/officeDocument/2006/relationships/image" Target="../media/image280.png"/><Relationship Id="rId4" Type="http://schemas.openxmlformats.org/officeDocument/2006/relationships/image" Target="../media/image279.png"/></Relationships>
</file>

<file path=ppt/slides/_rels/slide95.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270.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2.png"/></Relationships>
</file>

<file path=ppt/slides/_rels/slide96.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76.png"/><Relationship Id="rId4" Type="http://schemas.openxmlformats.org/officeDocument/2006/relationships/image" Target="../media/image275.png"/></Relationships>
</file>

<file path=ppt/slides/_rels/slide97.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81.png"/><Relationship Id="rId4" Type="http://schemas.openxmlformats.org/officeDocument/2006/relationships/image" Target="../media/image277.png"/></Relationships>
</file>

<file path=ppt/slides/_rels/slide98.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84.png"/><Relationship Id="rId4" Type="http://schemas.openxmlformats.org/officeDocument/2006/relationships/image" Target="../media/image283.png"/></Relationships>
</file>

<file path=ppt/slides/_rels/slide99.xml.rels><?xml version="1.0" encoding="UTF-8" standalone="yes"?>
<Relationships xmlns="http://schemas.openxmlformats.org/package/2006/relationships"><Relationship Id="rId2" Type="http://schemas.openxmlformats.org/officeDocument/2006/relationships/image" Target="../media/image288.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289.png"/><Relationship Id="rId5" Type="http://schemas.openxmlformats.org/officeDocument/2006/relationships/image" Target="../media/image301.png"/><Relationship Id="rId4" Type="http://schemas.openxmlformats.org/officeDocument/2006/relationships/image" Target="../media/image300.png"/></Relationships>
</file>

<file path=ppt/slides/_rels/slide103.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292.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293.png"/></Relationships>
</file>

<file path=ppt/slides/_rels/slide104.xml.rels><?xml version="1.0" encoding="UTF-8" standalone="yes"?>
<Relationships xmlns="http://schemas.openxmlformats.org/package/2006/relationships"><Relationship Id="rId3" Type="http://schemas.openxmlformats.org/officeDocument/2006/relationships/image" Target="../media/image296.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2" Type="http://schemas.openxmlformats.org/officeDocument/2006/relationships/image" Target="../media/image297.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8" Type="http://schemas.openxmlformats.org/officeDocument/2006/relationships/image" Target="../media/image313.png"/><Relationship Id="rId3" Type="http://schemas.openxmlformats.org/officeDocument/2006/relationships/image" Target="../media/image303.png"/><Relationship Id="rId7" Type="http://schemas.openxmlformats.org/officeDocument/2006/relationships/image" Target="../media/image312.png"/><Relationship Id="rId12" Type="http://schemas.openxmlformats.org/officeDocument/2006/relationships/image" Target="../media/image1620.png"/><Relationship Id="rId2" Type="http://schemas.openxmlformats.org/officeDocument/2006/relationships/image" Target="../media/image302.png"/><Relationship Id="rId1" Type="http://schemas.openxmlformats.org/officeDocument/2006/relationships/slideLayout" Target="../slideLayouts/slideLayout7.xml"/><Relationship Id="rId6" Type="http://schemas.openxmlformats.org/officeDocument/2006/relationships/image" Target="../media/image311.png"/><Relationship Id="rId11" Type="http://schemas.openxmlformats.org/officeDocument/2006/relationships/image" Target="../media/image1610.png"/><Relationship Id="rId5" Type="http://schemas.openxmlformats.org/officeDocument/2006/relationships/image" Target="../media/image309.png"/><Relationship Id="rId10" Type="http://schemas.openxmlformats.org/officeDocument/2006/relationships/image" Target="../media/image1600.png"/><Relationship Id="rId4" Type="http://schemas.openxmlformats.org/officeDocument/2006/relationships/image" Target="../media/image305.png"/><Relationship Id="rId9" Type="http://schemas.openxmlformats.org/officeDocument/2006/relationships/image" Target="../media/image1590.png"/></Relationships>
</file>

<file path=ppt/slides/_rels/slide108.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0.png"/><Relationship Id="rId4" Type="http://schemas.openxmlformats.org/officeDocument/2006/relationships/image" Target="../media/image314.png"/></Relationships>
</file>

<file path=ppt/slides/_rels/slide109.xml.rels><?xml version="1.0" encoding="UTF-8" standalone="yes"?>
<Relationships xmlns="http://schemas.openxmlformats.org/package/2006/relationships"><Relationship Id="rId3" Type="http://schemas.openxmlformats.org/officeDocument/2006/relationships/image" Target="../media/image3190.png"/><Relationship Id="rId2" Type="http://schemas.openxmlformats.org/officeDocument/2006/relationships/image" Target="../media/image315.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16.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1.xml.rels><?xml version="1.0" encoding="UTF-8" standalone="yes"?>
<Relationships xmlns="http://schemas.openxmlformats.org/package/2006/relationships"><Relationship Id="rId3" Type="http://schemas.openxmlformats.org/officeDocument/2006/relationships/image" Target="../media/image318.png"/><Relationship Id="rId7" Type="http://schemas.openxmlformats.org/officeDocument/2006/relationships/image" Target="../media/image1730.png"/><Relationship Id="rId2" Type="http://schemas.openxmlformats.org/officeDocument/2006/relationships/image" Target="../media/image317.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19.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45821" y="923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45821" y="16322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45821" y="235000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45821" y="306781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45821" y="3747215"/>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45821" y="446913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45821" y="51755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7871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85687"/>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349211"/>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301889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747215"/>
            <a:ext cx="5394960" cy="347472"/>
          </a:xfrm>
          <a:prstGeom prst="rect">
            <a:avLst/>
          </a:prstGeom>
          <a:noFill/>
          <a:ln/>
        </p:spPr>
        <p:txBody>
          <a:bodyPr wrap="square" rtlCol="0" anchor="ctr"/>
          <a:lstStyle/>
          <a:p>
            <a:pPr marL="0" indent="0">
              <a:buNone/>
            </a:pPr>
            <a:r>
              <a:rPr lang="es-AR" sz="1200" b="1" dirty="0">
                <a:solidFill>
                  <a:srgbClr val="1A386B"/>
                </a:solidFill>
                <a:latin typeface="Calibri" pitchFamily="34" charset="0"/>
                <a:ea typeface="Calibri" pitchFamily="34" charset="-122"/>
                <a:cs typeface="Calibri" pitchFamily="34" charset="-120"/>
              </a:rPr>
              <a:t>Diseño final y discretización </a:t>
            </a:r>
            <a:endParaRPr lang="es-AR"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455241"/>
            <a:ext cx="5394960" cy="347472"/>
          </a:xfrm>
          <a:prstGeom prst="rect">
            <a:avLst/>
          </a:prstGeom>
          <a:noFill/>
          <a:ln/>
        </p:spPr>
        <p:txBody>
          <a:bodyPr wrap="square" rtlCol="0" anchor="ctr"/>
          <a:lstStyle/>
          <a:p>
            <a:pPr marL="0" indent="0">
              <a:buNone/>
            </a:pPr>
            <a:r>
              <a:rPr lang="es-AR" sz="1200" b="1" dirty="0">
                <a:solidFill>
                  <a:srgbClr val="1A386B"/>
                </a:solidFill>
                <a:latin typeface="Calibri" pitchFamily="34" charset="0"/>
                <a:ea typeface="Calibri" pitchFamily="34" charset="-122"/>
                <a:cs typeface="Calibri" pitchFamily="34" charset="-120"/>
              </a:rPr>
              <a:t>Codificación</a:t>
            </a:r>
            <a:r>
              <a:rPr lang="en-US" sz="1200" b="1" dirty="0">
                <a:solidFill>
                  <a:srgbClr val="1A386B"/>
                </a:solidFill>
                <a:latin typeface="Calibri" pitchFamily="34" charset="0"/>
                <a:ea typeface="Calibri" pitchFamily="34" charset="-122"/>
                <a:cs typeface="Calibri" pitchFamily="34" charset="-120"/>
              </a:rPr>
              <a:t> </a:t>
            </a:r>
            <a:endParaRPr lang="en-US" sz="1200" dirty="0"/>
          </a:p>
        </p:txBody>
      </p:sp>
      <p:sp>
        <p:nvSpPr>
          <p:cNvPr id="58" name="Shape 56"/>
          <p:cNvSpPr/>
          <p:nvPr/>
        </p:nvSpPr>
        <p:spPr>
          <a:xfrm>
            <a:off x="5027523" y="87871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479946" y="1548186"/>
            <a:ext cx="1905761" cy="1905761"/>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31280" y="82000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485674"/>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mc:Choice xmlns:a14="http://schemas.microsoft.com/office/drawing/2010/main" Requires="a14">
          <p:sp>
            <p:nvSpPr>
              <p:cNvPr id="14" name="Text 12"/>
              <p:cNvSpPr/>
              <p:nvPr/>
            </p:nvSpPr>
            <p:spPr>
              <a:xfrm>
                <a:off x="6385707" y="3834575"/>
                <a:ext cx="5394960" cy="964883"/>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p:sp>
            <p:nvSpPr>
              <p:cNvPr id="14" name="Text 12"/>
              <p:cNvSpPr>
                <a:spLocks noRot="1" noChangeAspect="1" noMove="1" noResize="1" noEditPoints="1" noAdjustHandles="1" noChangeArrowheads="1" noChangeShapeType="1" noTextEdit="1"/>
              </p:cNvSpPr>
              <p:nvPr/>
            </p:nvSpPr>
            <p:spPr>
              <a:xfrm>
                <a:off x="6385707" y="3834575"/>
                <a:ext cx="5394960" cy="964883"/>
              </a:xfrm>
              <a:prstGeom prst="rect">
                <a:avLst/>
              </a:prstGeom>
              <a:blipFill>
                <a:blip r:embed="rId5"/>
                <a:stretch>
                  <a:fillRect l="-226" t="-1266"/>
                </a:stretch>
              </a:blipFill>
              <a:ln/>
            </p:spPr>
            <p:txBody>
              <a:bodyPr/>
              <a:lstStyle/>
              <a:p>
                <a:r>
                  <a:rPr lang="es-AR">
                    <a:noFill/>
                  </a:rPr>
                  <a:t> </a:t>
                </a:r>
              </a:p>
            </p:txBody>
          </p:sp>
        </mc:Fallback>
      </mc:AlternateContent>
      <p:pic>
        <p:nvPicPr>
          <p:cNvPr id="16" name="Picture 2" descr="The four-quadrant operation of a DC motor can be described as follows">
            <a:extLst>
              <a:ext uri="{FF2B5EF4-FFF2-40B4-BE49-F238E27FC236}">
                <a16:creationId xmlns:a16="http://schemas.microsoft.com/office/drawing/2014/main" id="{8D9D9F26-C412-4508-9C72-2443C2C53F2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988521" y="4799457"/>
            <a:ext cx="2140577" cy="168402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71023" y="6565392"/>
            <a:ext cx="12263021" cy="292608"/>
          </a:xfrm>
          <a:prstGeom prst="rect">
            <a:avLst/>
          </a:prstGeom>
          <a:solidFill>
            <a:srgbClr val="14213D"/>
          </a:solidFill>
          <a:ln w="12700">
            <a:solidFill>
              <a:srgbClr val="14213D"/>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09728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mc:Choice xmlns:a14="http://schemas.microsoft.com/office/drawing/2010/main" Requires="a14">
          <p:sp>
            <p:nvSpPr>
              <p:cNvPr id="15" name="Text 13"/>
              <p:cNvSpPr/>
              <p:nvPr/>
            </p:nvSpPr>
            <p:spPr>
              <a:xfrm>
                <a:off x="381000" y="3857244"/>
                <a:ext cx="710198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endParaRPr lang="en-US" sz="1400" dirty="0"/>
              </a:p>
            </p:txBody>
          </p:sp>
        </mc:Choice>
        <mc:Fallback>
          <p:sp>
            <p:nvSpPr>
              <p:cNvPr id="15" name="Text 13"/>
              <p:cNvSpPr>
                <a:spLocks noRot="1" noChangeAspect="1" noMove="1" noResize="1" noEditPoints="1" noAdjustHandles="1" noChangeArrowheads="1" noChangeShapeType="1" noTextEdit="1"/>
              </p:cNvSpPr>
              <p:nvPr/>
            </p:nvSpPr>
            <p:spPr>
              <a:xfrm>
                <a:off x="381000" y="3857244"/>
                <a:ext cx="7101980" cy="1828800"/>
              </a:xfrm>
              <a:prstGeom prst="rect">
                <a:avLst/>
              </a:prstGeom>
              <a:blipFill>
                <a:blip r:embed="rId6"/>
                <a:stretch>
                  <a:fillRect l="-258"/>
                </a:stretch>
              </a:blipFill>
              <a:ln/>
            </p:spPr>
            <p:txBody>
              <a:bodyPr/>
              <a:lstStyle/>
              <a:p>
                <a:r>
                  <a:rPr lang="es-AR">
                    <a:noFill/>
                  </a:rPr>
                  <a:t> </a:t>
                </a:r>
              </a:p>
            </p:txBody>
          </p:sp>
        </mc:Fallback>
      </mc:AlternateContent>
      <p:sp>
        <p:nvSpPr>
          <p:cNvPr id="16" name="Text 12">
            <a:extLst>
              <a:ext uri="{FF2B5EF4-FFF2-40B4-BE49-F238E27FC236}">
                <a16:creationId xmlns:a16="http://schemas.microsoft.com/office/drawing/2014/main" id="{92D774F2-3317-4DE1-86D6-48222FE79DCB}"/>
              </a:ext>
            </a:extLst>
          </p:cNvPr>
          <p:cNvSpPr/>
          <p:nvPr/>
        </p:nvSpPr>
        <p:spPr>
          <a:xfrm>
            <a:off x="7917249" y="3547872"/>
            <a:ext cx="1402919" cy="347472"/>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Perturbaciones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mc:Choice xmlns:a14="http://schemas.microsoft.com/office/drawing/2010/main" Requires="a14">
          <p:sp>
            <p:nvSpPr>
              <p:cNvPr id="17" name="CuadroTexto 16">
                <a:extLst>
                  <a:ext uri="{FF2B5EF4-FFF2-40B4-BE49-F238E27FC236}">
                    <a16:creationId xmlns:a16="http://schemas.microsoft.com/office/drawing/2014/main" id="{689AEFFE-CB0B-4A91-8B50-4F910362E9B2}"/>
                  </a:ext>
                </a:extLst>
              </p:cNvPr>
              <p:cNvSpPr txBox="1"/>
              <p:nvPr/>
            </p:nvSpPr>
            <p:spPr>
              <a:xfrm>
                <a:off x="8120543" y="3942835"/>
                <a:ext cx="3837964" cy="596061"/>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s-AR" sz="1400" i="1" smtClean="0">
                        <a:latin typeface="Cambria Math" panose="02040503050406030204" pitchFamily="18" charset="0"/>
                      </a:rPr>
                      <m:t>𝑔</m:t>
                    </m:r>
                    <m:r>
                      <a:rPr lang="es-AR" sz="1400" i="1" smtClean="0">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s-MX" sz="140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es-AR" sz="1400" i="1" smtClean="0">
                            <a:latin typeface="Cambria Math" panose="02040503050406030204" pitchFamily="18" charset="0"/>
                            <a:ea typeface="Times New Roman" panose="02020603050405020304" pitchFamily="18" charset="0"/>
                            <a:cs typeface="Calibri" panose="020F0502020204030204" pitchFamily="34" charset="0"/>
                          </a:rPr>
                        </m:ctrlPr>
                      </m:sSubPr>
                      <m:e>
                        <m:r>
                          <a:rPr lang="es-AR" sz="1400" i="1">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latin typeface="Cambria Math" panose="02040503050406030204" pitchFamily="18" charset="0"/>
                            <a:ea typeface="Times New Roman" panose="02020603050405020304" pitchFamily="18" charset="0"/>
                            <a:cs typeface="Calibri" panose="020F0502020204030204" pitchFamily="34" charset="0"/>
                          </a:rPr>
                        </m:ctrlPr>
                      </m:dPr>
                      <m:e>
                        <m:r>
                          <a:rPr lang="es-AR" sz="1400" i="1">
                            <a:latin typeface="Cambria Math" panose="02040503050406030204" pitchFamily="18" charset="0"/>
                            <a:ea typeface="Times New Roman" panose="02020603050405020304" pitchFamily="18" charset="0"/>
                            <a:cs typeface="Calibri" panose="020F0502020204030204" pitchFamily="34" charset="0"/>
                          </a:rPr>
                          <m:t>𝑡</m:t>
                        </m:r>
                      </m:e>
                    </m:d>
                    <m:r>
                      <a:rPr lang="es-AR" sz="1400" i="1">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latin typeface="Cambria Math" panose="02040503050406030204" pitchFamily="18" charset="0"/>
                            <a:ea typeface="Times New Roman" panose="02020603050405020304" pitchFamily="18" charset="0"/>
                            <a:cs typeface="Calibri" panose="020F0502020204030204" pitchFamily="34" charset="0"/>
                          </a:rPr>
                        </m:ctrlPr>
                      </m:dPr>
                      <m:e>
                        <m:r>
                          <a:rPr lang="es-AR" sz="1400" i="1">
                            <a:latin typeface="Cambria Math" panose="02040503050406030204" pitchFamily="18" charset="0"/>
                            <a:ea typeface="Times New Roman" panose="02020603050405020304" pitchFamily="18" charset="0"/>
                            <a:cs typeface="Calibri" panose="020F0502020204030204" pitchFamily="34" charset="0"/>
                          </a:rPr>
                          <m:t>0±5.0</m:t>
                        </m:r>
                      </m:e>
                    </m:d>
                    <m:r>
                      <a:rPr lang="es-AR" sz="1400" i="1">
                        <a:latin typeface="Cambria Math" panose="02040503050406030204" pitchFamily="18" charset="0"/>
                        <a:ea typeface="Times New Roman" panose="02020603050405020304" pitchFamily="18" charset="0"/>
                        <a:cs typeface="Calibri" panose="020F0502020204030204" pitchFamily="34" charset="0"/>
                      </a:rPr>
                      <m:t> </m:t>
                    </m:r>
                    <m:r>
                      <a:rPr lang="es-AR" sz="1400" i="1">
                        <a:latin typeface="Cambria Math" panose="02040503050406030204" pitchFamily="18" charset="0"/>
                        <a:ea typeface="Times New Roman" panose="02020603050405020304" pitchFamily="18" charset="0"/>
                        <a:cs typeface="Calibri" panose="020F0502020204030204" pitchFamily="34" charset="0"/>
                      </a:rPr>
                      <m:t>𝑁</m:t>
                    </m:r>
                    <m:r>
                      <a:rPr lang="es-AR" sz="1400" i="1">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ea typeface="Times New Roman" panose="02020603050405020304" pitchFamily="18" charset="0"/>
                        <a:cs typeface="Calibri" panose="020F0502020204030204" pitchFamily="34" charset="0"/>
                      </a:rPr>
                      <m:t>𝑚</m:t>
                    </m:r>
                  </m:oMath>
                </a14:m>
                <a:endParaRPr lang="es-AR" sz="1400" dirty="0"/>
              </a:p>
            </p:txBody>
          </p:sp>
        </mc:Choice>
        <mc:Fallback>
          <p:sp>
            <p:nvSpPr>
              <p:cNvPr id="17" name="CuadroTexto 16">
                <a:extLst>
                  <a:ext uri="{FF2B5EF4-FFF2-40B4-BE49-F238E27FC236}">
                    <a16:creationId xmlns:a16="http://schemas.microsoft.com/office/drawing/2014/main" id="{689AEFFE-CB0B-4A91-8B50-4F910362E9B2}"/>
                  </a:ext>
                </a:extLst>
              </p:cNvPr>
              <p:cNvSpPr txBox="1">
                <a:spLocks noRot="1" noChangeAspect="1" noMove="1" noResize="1" noEditPoints="1" noAdjustHandles="1" noChangeArrowheads="1" noChangeShapeType="1" noTextEdit="1"/>
              </p:cNvSpPr>
              <p:nvPr/>
            </p:nvSpPr>
            <p:spPr>
              <a:xfrm>
                <a:off x="8120543" y="3942835"/>
                <a:ext cx="3837964" cy="596061"/>
              </a:xfrm>
              <a:prstGeom prst="rect">
                <a:avLst/>
              </a:prstGeom>
              <a:blipFill>
                <a:blip r:embed="rId7"/>
                <a:stretch>
                  <a:fillRect l="-159" b="-6122"/>
                </a:stretch>
              </a:blipFill>
            </p:spPr>
            <p:txBody>
              <a:bodyPr/>
              <a:lstStyle/>
              <a:p>
                <a:r>
                  <a:rPr lang="es-AR">
                    <a:noFill/>
                  </a:rPr>
                  <a:t> </a:t>
                </a:r>
              </a:p>
            </p:txBody>
          </p:sp>
        </mc:Fallback>
      </mc:AlternateContent>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0</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m:t>
                    </m:r>
                    <m:r>
                      <a:rPr lang="es-AR" sz="1400" i="1">
                        <a:latin typeface="Cambria Math" panose="02040503050406030204" pitchFamily="18" charset="0"/>
                      </a:rPr>
                      <m:t>45</m:t>
                    </m:r>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122493"/>
            <a:ext cx="5486400" cy="411480"/>
          </a:xfrm>
          <a:prstGeom prst="rect">
            <a:avLst/>
          </a:prstGeom>
          <a:noFill/>
          <a:ln/>
        </p:spPr>
        <p:txBody>
          <a:bodyPr wrap="square" rtlCol="0" anchor="t"/>
          <a:lstStyle/>
          <a:p>
            <a:pPr marL="0" indent="0" algn="l">
              <a:buNone/>
            </a:pPr>
            <a:r>
              <a:rPr lang="es-MX" sz="1400" dirty="0"/>
              <a:t>El subsistema mecánico del motor corresponde al rotor referido al estator estacionario</a:t>
            </a:r>
            <a:r>
              <a:rPr lang="en-US" sz="1400" dirty="0">
                <a:solidFill>
                  <a:srgbClr val="111111"/>
                </a:solidFill>
                <a:latin typeface="Calibri" pitchFamily="34" charset="0"/>
                <a:ea typeface="Calibri" pitchFamily="34" charset="-122"/>
                <a:cs typeface="Calibri" pitchFamily="34" charset="-120"/>
              </a:rPr>
              <a:t>— parámetros concentrados:</a:t>
            </a:r>
            <a:endParaRPr lang="en-US" sz="14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15</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m:t>
                        </m:r>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m:t>
                    </m:r>
                    <m:r>
                      <a:rPr lang="es-AR" sz="1400" i="1">
                        <a:latin typeface="Cambria Math" panose="02040503050406030204" pitchFamily="18" charset="0"/>
                      </a:rPr>
                      <m:t>.</m:t>
                    </m:r>
                    <m:r>
                      <a:rPr lang="es-AR" sz="1400" i="1">
                        <a:latin typeface="Cambria Math" panose="02040503050406030204" pitchFamily="18" charset="0"/>
                      </a:rPr>
                      <m:t>15</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a:solidFill>
                  <a:srgbClr val="FFFFFF"/>
                </a:solidFill>
                <a:latin typeface="Calibri" pitchFamily="34" charset="0"/>
                <a:ea typeface="Calibri" pitchFamily="34" charset="-122"/>
                <a:cs typeface="Calibri" pitchFamily="34" charset="-120"/>
              </a:rPr>
              <a:t>Subsistema</a:t>
            </a:r>
            <a:r>
              <a:rPr lang="en-US" sz="1900" b="1" dirty="0">
                <a:solidFill>
                  <a:srgbClr val="FFFFFF"/>
                </a:solidFill>
                <a:latin typeface="Calibri" pitchFamily="34" charset="0"/>
                <a:ea typeface="Calibri" pitchFamily="34" charset="-122"/>
                <a:cs typeface="Calibri" pitchFamily="34" charset="-120"/>
              </a:rPr>
              <a:t>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1" name="Text 19"/>
          <p:cNvSpPr/>
          <p:nvPr/>
        </p:nvSpPr>
        <p:spPr>
          <a:xfrm>
            <a:off x="177198" y="1882411"/>
            <a:ext cx="11341401"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182880" y="2335739"/>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373473" y="2625559"/>
                <a:ext cx="5178523" cy="59436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600" dirty="0"/>
              </a:p>
            </p:txBody>
          </p:sp>
        </mc:Choice>
        <mc:Fallback xmlns="">
          <p:sp>
            <p:nvSpPr>
              <p:cNvPr id="23" name="Text 21"/>
              <p:cNvSpPr>
                <a:spLocks noRot="1" noChangeAspect="1" noMove="1" noResize="1" noEditPoints="1" noAdjustHandles="1" noChangeArrowheads="1" noChangeShapeType="1" noTextEdit="1"/>
              </p:cNvSpPr>
              <p:nvPr/>
            </p:nvSpPr>
            <p:spPr>
              <a:xfrm>
                <a:off x="-373473" y="2625559"/>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177198" y="715313"/>
            <a:ext cx="11618562"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182879" y="1057709"/>
            <a:ext cx="11244279" cy="791767"/>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28" name="Text 21">
                <a:extLst>
                  <a:ext uri="{FF2B5EF4-FFF2-40B4-BE49-F238E27FC236}">
                    <a16:creationId xmlns:a16="http://schemas.microsoft.com/office/drawing/2014/main" id="{9CB1D5DA-B895-49EC-AF0F-2B5E12F4D128}"/>
                  </a:ext>
                </a:extLst>
              </p:cNvPr>
              <p:cNvSpPr/>
              <p:nvPr/>
            </p:nvSpPr>
            <p:spPr>
              <a:xfrm>
                <a:off x="0" y="1103514"/>
                <a:ext cx="5387571" cy="594360"/>
              </a:xfrm>
              <a:prstGeom prst="rect">
                <a:avLst/>
              </a:prstGeom>
              <a:noFill/>
              <a:ln/>
            </p:spPr>
            <p:txBody>
              <a:bodyPr wrap="square" rtlCol="0" anchor="ctr"/>
              <a:lstStyle/>
              <a:p>
                <a:pPr algn="ctr"/>
                <a14:m>
                  <m:oMath xmlns:m="http://schemas.openxmlformats.org/officeDocument/2006/math">
                    <m:r>
                      <a:rPr lang="es-AR" sz="1600" i="1" smtClean="0">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MX" sz="1600" b="0" i="0" smtClean="0">
                        <a:latin typeface="Cambria Math" panose="02040503050406030204" pitchFamily="18" charset="0"/>
                      </a:rPr>
                      <m:t>       </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MX" sz="1600" b="0" i="0" smtClean="0">
                        <a:latin typeface="Cambria Math" panose="02040503050406030204" pitchFamily="18" charset="0"/>
                      </a:rPr>
                      <m:t>   </m:t>
                    </m:r>
                    <m:r>
                      <a:rPr lang="es-MX" sz="1600" b="0" i="1" smtClean="0">
                        <a:latin typeface="Cambria Math" panose="02040503050406030204" pitchFamily="18" charset="0"/>
                      </a:rPr>
                      <m:t>    </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0" y="1103514"/>
                <a:ext cx="5387571" cy="594360"/>
              </a:xfrm>
              <a:prstGeom prst="rect">
                <a:avLst/>
              </a:prstGeom>
              <a:blipFill>
                <a:blip r:embed="rId3"/>
                <a:stretch>
                  <a:fillRect b="-2041"/>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227179" y="3681280"/>
            <a:ext cx="1129142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Representación matricial en espacio de estados:</a:t>
            </a:r>
            <a:endParaRPr lang="es-AR" sz="1400" dirty="0"/>
          </a:p>
        </p:txBody>
      </p:sp>
      <p:sp>
        <p:nvSpPr>
          <p:cNvPr id="30" name="Shape 20">
            <a:extLst>
              <a:ext uri="{FF2B5EF4-FFF2-40B4-BE49-F238E27FC236}">
                <a16:creationId xmlns:a16="http://schemas.microsoft.com/office/drawing/2014/main" id="{8B4DE1EB-B212-4A92-A0D0-0B0C5C1971DD}"/>
              </a:ext>
            </a:extLst>
          </p:cNvPr>
          <p:cNvSpPr/>
          <p:nvPr/>
        </p:nvSpPr>
        <p:spPr>
          <a:xfrm>
            <a:off x="227179" y="4231196"/>
            <a:ext cx="11158521" cy="121446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91440" y="4558603"/>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eqArr>
                            <m:eqArrPr>
                              <m:ctrlPr>
                                <a:rPr lang="es-AR" sz="1400" i="1">
                                  <a:effectLst/>
                                  <a:latin typeface="Cambria Math" panose="02040503050406030204" pitchFamily="18" charset="0"/>
                                  <a:ea typeface="Times New Roman" panose="02020603050405020304" pitchFamily="18" charset="0"/>
                                </a:rPr>
                              </m:ctrlPr>
                            </m:eqArrPr>
                            <m:e>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b="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400" i="1">
                                      <a:effectLst/>
                                      <a:latin typeface="Cambria Math" panose="02040503050406030204" pitchFamily="18" charset="0"/>
                                      <a:ea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4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91440" y="4558603"/>
                <a:ext cx="5178523" cy="594360"/>
              </a:xfrm>
              <a:prstGeom prst="rect">
                <a:avLst/>
              </a:prstGeom>
              <a:blipFill>
                <a:blip r:embed="rId4"/>
                <a:stretch>
                  <a:fillRect t="-31959" b="-3608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629425"/>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10371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08236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08236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732212"/>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transformación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m:t>
                    </m:r>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732212"/>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782921"/>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782921"/>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776788"/>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776788"/>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316084"/>
            <a:ext cx="2628678"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319191"/>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059050"/>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059050"/>
                <a:ext cx="11430000" cy="731520"/>
              </a:xfrm>
              <a:prstGeom prst="rect">
                <a:avLst/>
              </a:prstGeom>
              <a:blipFill>
                <a:blip r:embed="rId6"/>
                <a:stretch>
                  <a:fillRect l="-160" t="-1667"/>
                </a:stretch>
              </a:blipFill>
              <a:ln/>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C240382E-B464-47CA-9B22-CC7A848DA512}"/>
              </a:ext>
            </a:extLst>
          </p:cNvPr>
          <p:cNvSpPr txBox="1"/>
          <p:nvPr/>
        </p:nvSpPr>
        <p:spPr>
          <a:xfrm>
            <a:off x="274320" y="136634"/>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pic>
        <p:nvPicPr>
          <p:cNvPr id="16" name="Imagen 15">
            <a:extLst>
              <a:ext uri="{FF2B5EF4-FFF2-40B4-BE49-F238E27FC236}">
                <a16:creationId xmlns:a16="http://schemas.microsoft.com/office/drawing/2014/main" id="{B742D08B-8B80-4687-BFC9-2E8529ABFF12}"/>
              </a:ext>
            </a:extLst>
          </p:cNvPr>
          <p:cNvPicPr>
            <a:picLocks noChangeAspect="1"/>
          </p:cNvPicPr>
          <p:nvPr/>
        </p:nvPicPr>
        <p:blipFill>
          <a:blip r:embed="rId7"/>
          <a:stretch>
            <a:fillRect/>
          </a:stretch>
        </p:blipFill>
        <p:spPr>
          <a:xfrm>
            <a:off x="302626" y="4391745"/>
            <a:ext cx="4316699" cy="2092945"/>
          </a:xfrm>
          <a:prstGeom prst="rect">
            <a:avLst/>
          </a:prstGeom>
        </p:spPr>
      </p:pic>
      <p:sp>
        <p:nvSpPr>
          <p:cNvPr id="17" name="Text 10">
            <a:extLst>
              <a:ext uri="{FF2B5EF4-FFF2-40B4-BE49-F238E27FC236}">
                <a16:creationId xmlns:a16="http://schemas.microsoft.com/office/drawing/2014/main" id="{E59DCB59-1367-4BCF-B1D3-ED7C1C0104E2}"/>
              </a:ext>
            </a:extLst>
          </p:cNvPr>
          <p:cNvSpPr/>
          <p:nvPr/>
        </p:nvSpPr>
        <p:spPr>
          <a:xfrm>
            <a:off x="4693351" y="4871272"/>
            <a:ext cx="5282281"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a:t>
            </a:r>
            <a:r>
              <a:rPr lang="en-US" sz="1100" i="1" dirty="0" err="1">
                <a:solidFill>
                  <a:srgbClr val="224488"/>
                </a:solidFill>
                <a:latin typeface="Calibri" pitchFamily="34" charset="0"/>
                <a:ea typeface="Calibri" pitchFamily="34" charset="-122"/>
                <a:cs typeface="Calibri" pitchFamily="34" charset="-120"/>
              </a:rPr>
              <a:t>transformación</a:t>
            </a:r>
            <a:r>
              <a:rPr lang="en-US" sz="1100" i="1" dirty="0">
                <a:solidFill>
                  <a:srgbClr val="224488"/>
                </a:solidFill>
                <a:latin typeface="Calibri" pitchFamily="34" charset="0"/>
                <a:ea typeface="Calibri" pitchFamily="34" charset="-122"/>
                <a:cs typeface="Calibri" pitchFamily="34" charset="-120"/>
              </a:rPr>
              <a:t> de Park directa e inversa</a:t>
            </a:r>
            <a:endParaRPr lang="en-US" sz="1100" dirty="0"/>
          </a:p>
        </p:txBody>
      </p:sp>
    </p:spTree>
    <p:extLst>
      <p:ext uri="{BB962C8B-B14F-4D97-AF65-F5344CB8AC3E}">
        <p14:creationId xmlns:p14="http://schemas.microsoft.com/office/powerpoint/2010/main" val="22295780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573947" y="1582514"/>
                <a:ext cx="5007984" cy="54864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573947" y="1582514"/>
                <a:ext cx="5007984" cy="548640"/>
              </a:xfrm>
              <a:prstGeom prst="rect">
                <a:avLst/>
              </a:prstGeom>
              <a:blipFill>
                <a:blip r:embed="rId2"/>
                <a:stretch>
                  <a:fillRect l="-1946" t="-70000" r="-1217" b="-75556"/>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274320" y="4070657"/>
                <a:ext cx="6155557" cy="54864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MX"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MX"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500" dirty="0"/>
              </a:p>
            </p:txBody>
          </p:sp>
        </mc:Choice>
        <mc:Fallback xmlns="">
          <p:sp>
            <p:nvSpPr>
              <p:cNvPr id="17" name="Text 15"/>
              <p:cNvSpPr>
                <a:spLocks noRot="1" noChangeAspect="1" noMove="1" noResize="1" noEditPoints="1" noAdjustHandles="1" noChangeArrowheads="1" noChangeShapeType="1" noTextEdit="1"/>
              </p:cNvSpPr>
              <p:nvPr/>
            </p:nvSpPr>
            <p:spPr>
              <a:xfrm>
                <a:off x="274320" y="4070657"/>
                <a:ext cx="6155557" cy="548640"/>
              </a:xfrm>
              <a:prstGeom prst="rect">
                <a:avLst/>
              </a:prstGeom>
              <a:blipFill>
                <a:blip r:embed="rId3"/>
                <a:stretch>
                  <a:fillRect t="-82222" b="-86667"/>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smtClean="0">
                            <a:effectLst/>
                            <a:latin typeface="Cambria Math" panose="02040503050406030204" pitchFamily="18" charset="0"/>
                            <a:ea typeface="Times New Roman" panose="020206030504050203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a:t>
            </a:r>
            <a:r>
              <a:rPr lang="en-US" sz="1400" dirty="0" err="1">
                <a:solidFill>
                  <a:srgbClr val="111111"/>
                </a:solidFill>
                <a:latin typeface="Calibri" pitchFamily="34" charset="0"/>
                <a:ea typeface="Calibri" pitchFamily="34" charset="-122"/>
                <a:cs typeface="Calibri" pitchFamily="34" charset="-120"/>
              </a:rPr>
              <a:t>corrientes</a:t>
            </a:r>
            <a:r>
              <a:rPr lang="en-US" sz="1400" dirty="0">
                <a:solidFill>
                  <a:srgbClr val="111111"/>
                </a:solidFill>
                <a:latin typeface="Calibri" pitchFamily="34" charset="0"/>
                <a:ea typeface="Calibri" pitchFamily="34" charset="-122"/>
                <a:cs typeface="Calibri" pitchFamily="34" charset="-120"/>
              </a:rPr>
              <a:t>:</a:t>
            </a:r>
            <a:endParaRPr lang="en-US" sz="1400" dirty="0"/>
          </a:p>
        </p:txBody>
      </p:sp>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59646BFE-5B29-4924-BE61-8E62C94BCF85}"/>
              </a:ext>
            </a:extLst>
          </p:cNvPr>
          <p:cNvSpPr txBox="1"/>
          <p:nvPr/>
        </p:nvSpPr>
        <p:spPr>
          <a:xfrm>
            <a:off x="152696" y="144518"/>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213360" y="1883513"/>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a:t>
            </a:r>
            <a:r>
              <a:rPr lang="en-US" sz="1300" dirty="0" err="1">
                <a:solidFill>
                  <a:srgbClr val="111111"/>
                </a:solidFill>
                <a:latin typeface="Calibri" pitchFamily="34" charset="0"/>
                <a:ea typeface="Calibri" pitchFamily="34" charset="-122"/>
                <a:cs typeface="Calibri" pitchFamily="34" charset="-120"/>
              </a:rPr>
              <a:t>bobinado</a:t>
            </a:r>
            <a:r>
              <a:rPr lang="en-US" sz="1300" dirty="0">
                <a:solidFill>
                  <a:srgbClr val="111111"/>
                </a:solidFill>
                <a:latin typeface="Calibri" pitchFamily="34" charset="0"/>
                <a:ea typeface="Calibri" pitchFamily="34" charset="-122"/>
                <a:cs typeface="Calibri" pitchFamily="34" charset="-120"/>
              </a:rPr>
              <a:t> —</a:t>
            </a:r>
            <a:r>
              <a:rPr lang="en-US" sz="1300" dirty="0" err="1">
                <a:solidFill>
                  <a:srgbClr val="111111"/>
                </a:solidFill>
                <a:latin typeface="Calibri" pitchFamily="34" charset="0"/>
                <a:ea typeface="Calibri" pitchFamily="34" charset="-122"/>
                <a:cs typeface="Calibri" pitchFamily="34" charset="-120"/>
              </a:rPr>
              <a:t>potencia</a:t>
            </a:r>
            <a:r>
              <a:rPr lang="en-US" sz="1300" dirty="0">
                <a:solidFill>
                  <a:srgbClr val="111111"/>
                </a:solidFill>
                <a:latin typeface="Calibri" pitchFamily="34" charset="0"/>
                <a:ea typeface="Calibri" pitchFamily="34" charset="-122"/>
                <a:cs typeface="Calibri" pitchFamily="34" charset="-120"/>
              </a:rPr>
              <a:t> de pérdidas = energía almacenada + energía disipada al ambiente:</a:t>
            </a:r>
            <a:endParaRPr lang="en-US" sz="1300" dirty="0"/>
          </a:p>
        </p:txBody>
      </p:sp>
      <p:sp>
        <p:nvSpPr>
          <p:cNvPr id="12" name="Shape 10"/>
          <p:cNvSpPr/>
          <p:nvPr/>
        </p:nvSpPr>
        <p:spPr>
          <a:xfrm>
            <a:off x="213360" y="406834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213360" y="4076755"/>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f>
                        <m:fPr>
                          <m:ctrlPr>
                            <a:rPr lang="es-AR" sz="1400" i="1" smtClean="0">
                              <a:solidFill>
                                <a:schemeClr val="tx1"/>
                              </a:solidFill>
                              <a:effectLst/>
                              <a:latin typeface="Cambria Math" panose="02040503050406030204" pitchFamily="18" charset="0"/>
                              <a:ea typeface="Times New Roman" panose="02020603050405020304" pitchFamily="18" charset="0"/>
                            </a:rPr>
                          </m:ctrlPr>
                        </m:fPr>
                        <m:num>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solidFill>
                                <a:schemeClr val="tx1"/>
                              </a:solidFill>
                              <a:effectLst/>
                              <a:latin typeface="Cambria Math" panose="02040503050406030204" pitchFamily="18" charset="0"/>
                              <a:ea typeface="Times New Roman" panose="02020603050405020304" pitchFamily="18" charset="0"/>
                            </a:rPr>
                          </m:ctrlPr>
                        </m:fPr>
                        <m:num>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solidFill>
                                    <a:schemeClr val="tx1"/>
                                  </a:solidFill>
                                  <a:effectLst/>
                                  <a:latin typeface="Cambria Math" panose="02040503050406030204" pitchFamily="18" charset="0"/>
                                </a:rPr>
                              </m:ctrlPr>
                            </m:sSub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400" i="1">
                              <a:solidFill>
                                <a:schemeClr val="tx1"/>
                              </a:solidFill>
                              <a:effectLst/>
                              <a:latin typeface="Cambria Math" panose="02040503050406030204" pitchFamily="18" charset="0"/>
                            </a:rPr>
                          </m:ctrlPr>
                        </m:dPr>
                        <m:e>
                          <m:sSub>
                            <m:sSubPr>
                              <m:ctrlPr>
                                <a:rPr lang="es-AR" sz="1400" i="1">
                                  <a:solidFill>
                                    <a:schemeClr val="tx1"/>
                                  </a:solidFill>
                                  <a:effectLst/>
                                  <a:latin typeface="Cambria Math" panose="02040503050406030204" pitchFamily="18" charset="0"/>
                                </a:rPr>
                              </m:ctrlPr>
                            </m:sSubPr>
                            <m:e>
                              <m:f>
                                <m:fPr>
                                  <m:ctrlPr>
                                    <a:rPr lang="es-AR" sz="1400" i="1">
                                      <a:solidFill>
                                        <a:schemeClr val="tx1"/>
                                      </a:solidFill>
                                      <a:effectLst/>
                                      <a:latin typeface="Cambria Math" panose="02040503050406030204" pitchFamily="18" charset="0"/>
                                    </a:rPr>
                                  </m:ctrlPr>
                                </m:fPr>
                                <m:num>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400" i="1">
                                  <a:solidFill>
                                    <a:schemeClr val="tx1"/>
                                  </a:solidFill>
                                  <a:effectLst/>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400" i="1">
                                  <a:solidFill>
                                    <a:schemeClr val="tx1"/>
                                  </a:solidFill>
                                  <a:effectLst/>
                                  <a:latin typeface="Cambria Math" panose="02040503050406030204" pitchFamily="18" charset="0"/>
                                </a:rPr>
                              </m:ctrlPr>
                            </m:dPr>
                            <m:e>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solidFill>
                                    <a:schemeClr val="tx1"/>
                                  </a:solidFill>
                                  <a:effectLst/>
                                  <a:latin typeface="Cambria Math" panose="02040503050406030204" pitchFamily="18" charset="0"/>
                                  <a:ea typeface="Times New Roman" panose="02020603050405020304" pitchFamily="18" charset="0"/>
                                </a:rPr>
                              </m:ctrlPr>
                            </m:fPr>
                            <m:num>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solidFill>
                                        <a:schemeClr val="tx1"/>
                                      </a:solidFill>
                                      <a:effectLst/>
                                      <a:latin typeface="Cambria Math" panose="02040503050406030204" pitchFamily="18" charset="0"/>
                                      <a:ea typeface="Times New Roman" panose="02020603050405020304" pitchFamily="18"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e>
                      </m:d>
                      <m:r>
                        <a:rPr lang="es-MX" sz="1400" b="0"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a:solidFill>
                                <a:schemeClr val="tx1"/>
                              </a:solidFill>
                              <a:latin typeface="Cambria Math" panose="02040503050406030204" pitchFamily="18" charset="0"/>
                            </a:rPr>
                            <m:t>1+</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𝛼</m:t>
                              </m:r>
                            </m:e>
                            <m:sub>
                              <m:r>
                                <a:rPr lang="es-AR" sz="1400" i="1">
                                  <a:solidFill>
                                    <a:schemeClr val="tx1"/>
                                  </a:solidFill>
                                  <a:latin typeface="Cambria Math" panose="02040503050406030204" pitchFamily="18" charset="0"/>
                                </a:rPr>
                                <m:t>𝑐𝑢</m:t>
                              </m:r>
                            </m:sub>
                          </m:sSub>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n-US" sz="1400" dirty="0">
                  <a:solidFill>
                    <a:schemeClr val="tx1"/>
                  </a:solidFill>
                </a:endParaRPr>
              </a:p>
            </p:txBody>
          </p:sp>
        </mc:Choice>
        <mc:Fallback xmlns="">
          <p:sp>
            <p:nvSpPr>
              <p:cNvPr id="13" name="Text 11"/>
              <p:cNvSpPr>
                <a:spLocks noRot="1" noChangeAspect="1" noMove="1" noResize="1" noEditPoints="1" noAdjustHandles="1" noChangeArrowheads="1" noChangeShapeType="1" noTextEdit="1"/>
              </p:cNvSpPr>
              <p:nvPr/>
            </p:nvSpPr>
            <p:spPr>
              <a:xfrm>
                <a:off x="213360" y="4076755"/>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2596952"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a:t>
            </a:r>
            <a:r>
              <a:rPr lang="en-US" sz="1300" b="1" dirty="0" err="1">
                <a:solidFill>
                  <a:srgbClr val="1A386B"/>
                </a:solidFill>
                <a:latin typeface="Calibri" pitchFamily="34" charset="0"/>
                <a:ea typeface="Calibri" pitchFamily="34" charset="-122"/>
                <a:cs typeface="Calibri" pitchFamily="34" charset="-120"/>
              </a:rPr>
              <a:t>modelo</a:t>
            </a:r>
            <a:r>
              <a:rPr lang="en-US" sz="1300" b="1" dirty="0">
                <a:solidFill>
                  <a:srgbClr val="1A386B"/>
                </a:solidFill>
                <a:latin typeface="Calibri" pitchFamily="34" charset="0"/>
                <a:ea typeface="Calibri" pitchFamily="34" charset="-122"/>
                <a:cs typeface="Calibri" pitchFamily="34" charset="-120"/>
              </a:rPr>
              <a:t> </a:t>
            </a:r>
            <a:r>
              <a:rPr lang="en-US" sz="1300" b="1" dirty="0" err="1">
                <a:solidFill>
                  <a:srgbClr val="1A386B"/>
                </a:solidFill>
                <a:latin typeface="Calibri" pitchFamily="34" charset="0"/>
                <a:ea typeface="Calibri" pitchFamily="34" charset="-122"/>
                <a:cs typeface="Calibri" pitchFamily="34" charset="-120"/>
              </a:rPr>
              <a:t>térmico</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mc:Choice xmlns:a14="http://schemas.microsoft.com/office/drawing/2010/main" Requires="a14">
          <p:sp>
            <p:nvSpPr>
              <p:cNvPr id="15" name="Text 13"/>
              <p:cNvSpPr/>
              <p:nvPr/>
            </p:nvSpPr>
            <p:spPr>
              <a:xfrm>
                <a:off x="213360" y="5321808"/>
                <a:ext cx="5348541"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oMath>
                </a14:m>
                <a:endParaRPr lang="en-US" sz="1400" dirty="0"/>
              </a:p>
            </p:txBody>
          </p:sp>
        </mc:Choice>
        <mc:Fallback>
          <p:sp>
            <p:nvSpPr>
              <p:cNvPr id="15" name="Text 13"/>
              <p:cNvSpPr>
                <a:spLocks noRot="1" noChangeAspect="1" noMove="1" noResize="1" noEditPoints="1" noAdjustHandles="1" noChangeArrowheads="1" noChangeShapeType="1" noTextEdit="1"/>
              </p:cNvSpPr>
              <p:nvPr/>
            </p:nvSpPr>
            <p:spPr>
              <a:xfrm>
                <a:off x="213360" y="5321808"/>
                <a:ext cx="5348541" cy="1179576"/>
              </a:xfrm>
              <a:prstGeom prst="rect">
                <a:avLst/>
              </a:prstGeom>
              <a:blipFill>
                <a:blip r:embed="rId4"/>
                <a:stretch>
                  <a:fillRect l="-342" t="-24742" r="-1368"/>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213360" y="2967933"/>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smtClean="0">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mc:Choice xmlns:a14="http://schemas.microsoft.com/office/drawing/2010/main" Requires="a14">
          <p:sp>
            <p:nvSpPr>
              <p:cNvPr id="19" name="CuadroTexto 18">
                <a:extLst>
                  <a:ext uri="{FF2B5EF4-FFF2-40B4-BE49-F238E27FC236}">
                    <a16:creationId xmlns:a16="http://schemas.microsoft.com/office/drawing/2014/main" id="{8C3A5784-700E-40A3-8636-AF4BA4EF4E20}"/>
                  </a:ext>
                </a:extLst>
              </p:cNvPr>
              <p:cNvSpPr txBox="1"/>
              <p:nvPr/>
            </p:nvSpPr>
            <p:spPr>
              <a:xfrm>
                <a:off x="6479100" y="5381567"/>
                <a:ext cx="2677206" cy="307777"/>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s-AR" sz="1400" i="1" smtClean="0">
                        <a:latin typeface="Cambria Math" panose="02040503050406030204" pitchFamily="18" charset="0"/>
                      </a:rPr>
                      <m:t>−15 °</m:t>
                    </m:r>
                    <m:r>
                      <a:rPr lang="es-AR" sz="1400" i="1" smtClean="0">
                        <a:latin typeface="Cambria Math" panose="02040503050406030204" pitchFamily="18" charset="0"/>
                      </a:rPr>
                      <m:t>𝐶</m:t>
                    </m:r>
                    <m:r>
                      <a:rPr lang="es-AR" sz="1400" i="1" smtClean="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s-AR" sz="1400" dirty="0"/>
              </a:p>
            </p:txBody>
          </p:sp>
        </mc:Choice>
        <mc:Fallback>
          <p:sp>
            <p:nvSpPr>
              <p:cNvPr id="19" name="CuadroTexto 18">
                <a:extLst>
                  <a:ext uri="{FF2B5EF4-FFF2-40B4-BE49-F238E27FC236}">
                    <a16:creationId xmlns:a16="http://schemas.microsoft.com/office/drawing/2014/main" id="{8C3A5784-700E-40A3-8636-AF4BA4EF4E20}"/>
                  </a:ext>
                </a:extLst>
              </p:cNvPr>
              <p:cNvSpPr txBox="1">
                <a:spLocks noRot="1" noChangeAspect="1" noMove="1" noResize="1" noEditPoints="1" noAdjustHandles="1" noChangeArrowheads="1" noChangeShapeType="1" noTextEdit="1"/>
              </p:cNvSpPr>
              <p:nvPr/>
            </p:nvSpPr>
            <p:spPr>
              <a:xfrm>
                <a:off x="6479100" y="5381567"/>
                <a:ext cx="2677206" cy="307777"/>
              </a:xfrm>
              <a:prstGeom prst="rect">
                <a:avLst/>
              </a:prstGeom>
              <a:blipFill>
                <a:blip r:embed="rId6"/>
                <a:stretch>
                  <a:fillRect l="-456" b="-14000"/>
                </a:stretch>
              </a:blipFill>
            </p:spPr>
            <p:txBody>
              <a:bodyPr/>
              <a:lstStyle/>
              <a:p>
                <a:r>
                  <a:rPr lang="es-AR">
                    <a:noFill/>
                  </a:rPr>
                  <a:t> </a:t>
                </a:r>
              </a:p>
            </p:txBody>
          </p:sp>
        </mc:Fallback>
      </mc:AlternateContent>
      <p:sp>
        <p:nvSpPr>
          <p:cNvPr id="20" name="Text 12">
            <a:extLst>
              <a:ext uri="{FF2B5EF4-FFF2-40B4-BE49-F238E27FC236}">
                <a16:creationId xmlns:a16="http://schemas.microsoft.com/office/drawing/2014/main" id="{385CF5C3-DAC8-46F5-BB44-14BE420707A7}"/>
              </a:ext>
            </a:extLst>
          </p:cNvPr>
          <p:cNvSpPr/>
          <p:nvPr/>
        </p:nvSpPr>
        <p:spPr>
          <a:xfrm>
            <a:off x="6321943" y="5020139"/>
            <a:ext cx="2596952" cy="384048"/>
          </a:xfrm>
          <a:prstGeom prst="rect">
            <a:avLst/>
          </a:prstGeom>
          <a:noFill/>
          <a:ln/>
        </p:spPr>
        <p:txBody>
          <a:bodyPr wrap="square" rtlCol="0" anchor="t"/>
          <a:lstStyle/>
          <a:p>
            <a:pPr marL="0" indent="0" algn="l">
              <a:buNone/>
            </a:pPr>
            <a:r>
              <a:rPr lang="en-US" sz="1300" b="1" dirty="0" err="1">
                <a:solidFill>
                  <a:srgbClr val="1A386B"/>
                </a:solidFill>
                <a:latin typeface="Calibri" pitchFamily="34" charset="0"/>
                <a:ea typeface="Calibri" pitchFamily="34" charset="-122"/>
                <a:cs typeface="Calibri" pitchFamily="34" charset="-120"/>
              </a:rPr>
              <a:t>Perturbaciones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pic>
        <p:nvPicPr>
          <p:cNvPr id="15" name="Imagen 14">
            <a:extLst>
              <a:ext uri="{FF2B5EF4-FFF2-40B4-BE49-F238E27FC236}">
                <a16:creationId xmlns:a16="http://schemas.microsoft.com/office/drawing/2014/main" id="{EDD9B0C2-A4AE-470B-BD78-B2B38C17C5D3}"/>
              </a:ext>
            </a:extLst>
          </p:cNvPr>
          <p:cNvPicPr>
            <a:picLocks noChangeAspect="1"/>
          </p:cNvPicPr>
          <p:nvPr/>
        </p:nvPicPr>
        <p:blipFill>
          <a:blip r:embed="rId7"/>
          <a:stretch>
            <a:fillRect/>
          </a:stretch>
        </p:blipFill>
        <p:spPr>
          <a:xfrm>
            <a:off x="6905150" y="4047593"/>
            <a:ext cx="4220235" cy="842345"/>
          </a:xfrm>
          <a:prstGeom prst="rect">
            <a:avLst/>
          </a:prstGeom>
        </p:spPr>
      </p:pic>
      <p:sp>
        <p:nvSpPr>
          <p:cNvPr id="17" name="CuadroTexto 16">
            <a:extLst>
              <a:ext uri="{FF2B5EF4-FFF2-40B4-BE49-F238E27FC236}">
                <a16:creationId xmlns:a16="http://schemas.microsoft.com/office/drawing/2014/main" id="{2B47554C-3CFC-4A0C-915A-AF3092AC39BD}"/>
              </a:ext>
            </a:extLst>
          </p:cNvPr>
          <p:cNvSpPr txBox="1"/>
          <p:nvPr/>
        </p:nvSpPr>
        <p:spPr>
          <a:xfrm>
            <a:off x="5539740" y="4917370"/>
            <a:ext cx="6438900" cy="430887"/>
          </a:xfrm>
          <a:prstGeom prst="rect">
            <a:avLst/>
          </a:prstGeom>
          <a:noFill/>
        </p:spPr>
        <p:txBody>
          <a:bodyPr wrap="square">
            <a:spAutoFit/>
          </a:bodyPr>
          <a:lstStyle/>
          <a:p>
            <a:r>
              <a:rPr lang="es-AR" sz="1100" dirty="0"/>
              <a:t>La alta frecuencia del PWM (5kHz) es filtrada naturalmente por la inductancia del motor, permitiéndonos trabajar solo con la componente fundamental que efectivamente controla el movimiento del brazo.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global no lineal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176653"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left"/>
                    </m:oMathParaPr>
                    <m:oMath xmlns:m="http://schemas.openxmlformats.org/officeDocument/2006/math">
                      <m:d>
                        <m:dPr>
                          <m:begChr m:val="{"/>
                          <m:endChr m:val=""/>
                          <m:ctrlPr>
                            <a:rPr lang="es-AR" sz="1500" i="1" smtClean="0">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smtClean="0">
                                            <a:latin typeface="Cambria Math" panose="02040503050406030204" pitchFamily="18" charset="0"/>
                                          </a:rPr>
                                        </m:ctrlPr>
                                      </m:dPr>
                                      <m:e>
                                        <m:sSub>
                                          <m:sSubPr>
                                            <m:ctrlPr>
                                              <a:rPr lang="es-AR" sz="1500" i="1" smtClean="0">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176653"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74320" y="4596542"/>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74320" y="4596542"/>
                <a:ext cx="5486400" cy="1307592"/>
              </a:xfrm>
              <a:prstGeom prst="rect">
                <a:avLst/>
              </a:prstGeom>
              <a:blipFill>
                <a:blip r:embed="rId3"/>
                <a:stretch>
                  <a:fillRect l="-333" b="-45116"/>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7595111-B765-4817-96C6-473C4B8ED581}"/>
                  </a:ext>
                </a:extLst>
              </p:cNvPr>
              <p:cNvSpPr txBox="1"/>
              <p:nvPr/>
            </p:nvSpPr>
            <p:spPr>
              <a:xfrm>
                <a:off x="6241684" y="3938944"/>
                <a:ext cx="6102990" cy="41472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a:solidFill>
                                <a:schemeClr val="tx1"/>
                              </a:solidFill>
                              <a:latin typeface="Cambria Math" panose="02040503050406030204" pitchFamily="18" charset="0"/>
                            </a:rPr>
                            <m:t>1+</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𝛼</m:t>
                              </m:r>
                            </m:e>
                            <m:sub>
                              <m:r>
                                <a:rPr lang="es-AR" sz="1400" i="1">
                                  <a:solidFill>
                                    <a:schemeClr val="tx1"/>
                                  </a:solidFill>
                                  <a:latin typeface="Cambria Math" panose="02040503050406030204" pitchFamily="18" charset="0"/>
                                </a:rPr>
                                <m:t>𝑐𝑢</m:t>
                              </m:r>
                            </m:sub>
                          </m:sSub>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sz="1400" dirty="0"/>
              </a:p>
            </p:txBody>
          </p:sp>
        </mc:Choice>
        <mc:Fallback xmlns="">
          <p:sp>
            <p:nvSpPr>
              <p:cNvPr id="10" name="CuadroTexto 9">
                <a:extLst>
                  <a:ext uri="{FF2B5EF4-FFF2-40B4-BE49-F238E27FC236}">
                    <a16:creationId xmlns:a16="http://schemas.microsoft.com/office/drawing/2014/main" id="{A7595111-B765-4817-96C6-473C4B8ED581}"/>
                  </a:ext>
                </a:extLst>
              </p:cNvPr>
              <p:cNvSpPr txBox="1">
                <a:spLocks noRot="1" noChangeAspect="1" noMove="1" noResize="1" noEditPoints="1" noAdjustHandles="1" noChangeArrowheads="1" noChangeShapeType="1" noTextEdit="1"/>
              </p:cNvSpPr>
              <p:nvPr/>
            </p:nvSpPr>
            <p:spPr>
              <a:xfrm>
                <a:off x="6241684" y="3938944"/>
                <a:ext cx="6102990" cy="414729"/>
              </a:xfrm>
              <a:prstGeom prst="rect">
                <a:avLst/>
              </a:prstGeom>
              <a:blipFill>
                <a:blip r:embed="rId4"/>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err="1">
                <a:solidFill>
                  <a:srgbClr val="FFFFFF"/>
                </a:solidFill>
                <a:latin typeface="Cambria" pitchFamily="34" charset="0"/>
                <a:ea typeface="Cambria" pitchFamily="34" charset="-122"/>
                <a:cs typeface="Cambria" pitchFamily="34" charset="-120"/>
              </a:rPr>
              <a:t>Modelo</a:t>
            </a:r>
            <a:r>
              <a:rPr lang="en-US" sz="3400" b="1" dirty="0">
                <a:solidFill>
                  <a:srgbClr val="FFFFFF"/>
                </a:solidFill>
                <a:latin typeface="Cambria" pitchFamily="34" charset="0"/>
                <a:ea typeface="Cambria" pitchFamily="34" charset="-122"/>
                <a:cs typeface="Cambria" pitchFamily="34" charset="-120"/>
              </a:rPr>
              <a:t> LTI equivalente y análisis</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xmlns="">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19597" y="2469105"/>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19597" y="2469105"/>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b="0" i="1">
                                        <a:latin typeface="Cambria Math" panose="02040503050406030204" pitchFamily="18" charset="0"/>
                                      </a:rPr>
                                      <m:t>𝑥</m:t>
                                    </m:r>
                                  </m:e>
                                </m:acc>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b="0" i="1">
                                            <a:latin typeface="Cambria Math" panose="02040503050406030204" pitchFamily="18" charset="0"/>
                                          </a:rPr>
                                          <m:t>𝑋</m:t>
                                        </m:r>
                                      </m:e>
                                    </m:acc>
                                  </m:e>
                                  <m:sub>
                                    <m:r>
                                      <a:rPr lang="es-AR" sz="1600" b="0" i="1">
                                        <a:latin typeface="Cambria Math" panose="02040503050406030204" pitchFamily="18" charset="0"/>
                                      </a:rPr>
                                      <m:t>0</m:t>
                                    </m:r>
                                  </m:sub>
                                </m:sSub>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r>
                                  <a:rPr lang="es-AR" sz="1600" b="0" i="1">
                                    <a:latin typeface="Cambria Math" panose="02040503050406030204" pitchFamily="18" charset="0"/>
                                  </a:rPr>
                                  <m:t>𝛥</m:t>
                                </m:r>
                                <m:acc>
                                  <m:accPr>
                                    <m:chr m:val="̇"/>
                                    <m:ctrlPr>
                                      <a:rPr lang="es-AR" sz="1600" i="1">
                                        <a:latin typeface="Cambria Math" panose="02040503050406030204" pitchFamily="18" charset="0"/>
                                      </a:rPr>
                                    </m:ctrlPr>
                                  </m:accPr>
                                  <m:e>
                                    <m:r>
                                      <a:rPr lang="es-AR" sz="1600" b="0" i="1">
                                        <a:latin typeface="Cambria Math" panose="02040503050406030204" pitchFamily="18" charset="0"/>
                                      </a:rPr>
                                      <m:t>𝑥</m:t>
                                    </m:r>
                                  </m:e>
                                </m:acc>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r>
                                  <a:rPr lang="es-AR" sz="1600" b="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b="0" i="1">
                                            <a:latin typeface="Cambria Math" panose="02040503050406030204" pitchFamily="18" charset="0"/>
                                          </a:rPr>
                                          <m:t>𝑋</m:t>
                                        </m:r>
                                      </m:e>
                                      <m:sub>
                                        <m:r>
                                          <a:rPr lang="es-AR" sz="1600" b="0" i="1">
                                            <a:latin typeface="Cambria Math" panose="02040503050406030204" pitchFamily="18" charset="0"/>
                                          </a:rPr>
                                          <m:t>0</m:t>
                                        </m:r>
                                      </m:sub>
                                    </m:sSub>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r>
                                      <a:rPr lang="es-AR" sz="1600" b="0" i="1">
                                        <a:latin typeface="Cambria Math" panose="02040503050406030204" pitchFamily="18" charset="0"/>
                                      </a:rPr>
                                      <m:t>𝛥</m:t>
                                    </m:r>
                                    <m:r>
                                      <a:rPr lang="es-AR" sz="1600" b="0" i="1">
                                        <a:latin typeface="Cambria Math" panose="02040503050406030204" pitchFamily="18" charset="0"/>
                                      </a:rPr>
                                      <m:t>𝑥</m:t>
                                    </m:r>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sSub>
                                      <m:sSubPr>
                                        <m:ctrlPr>
                                          <a:rPr lang="es-AR" sz="1600" i="1">
                                            <a:latin typeface="Cambria Math" panose="02040503050406030204" pitchFamily="18" charset="0"/>
                                          </a:rPr>
                                        </m:ctrlPr>
                                      </m:sSubPr>
                                      <m:e>
                                        <m:r>
                                          <a:rPr lang="es-AR" sz="1600" b="0" i="1">
                                            <a:latin typeface="Cambria Math" panose="02040503050406030204" pitchFamily="18" charset="0"/>
                                          </a:rPr>
                                          <m:t> </m:t>
                                        </m:r>
                                        <m:r>
                                          <a:rPr lang="es-AR" sz="1600" b="0" i="1">
                                            <a:latin typeface="Cambria Math" panose="02040503050406030204" pitchFamily="18" charset="0"/>
                                          </a:rPr>
                                          <m:t>𝑈</m:t>
                                        </m:r>
                                      </m:e>
                                      <m:sub>
                                        <m:r>
                                          <a:rPr lang="es-AR" sz="1600" b="0" i="1">
                                            <a:latin typeface="Cambria Math" panose="02040503050406030204" pitchFamily="18" charset="0"/>
                                          </a:rPr>
                                          <m:t>0</m:t>
                                        </m:r>
                                      </m:sub>
                                    </m:sSub>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r>
                                      <a:rPr lang="es-AR" sz="1600" b="0" i="1">
                                        <a:latin typeface="Cambria Math" panose="02040503050406030204" pitchFamily="18" charset="0"/>
                                      </a:rPr>
                                      <m:t>𝛥</m:t>
                                    </m:r>
                                    <m:r>
                                      <a:rPr lang="es-AR" sz="1600" b="0" i="1">
                                        <a:latin typeface="Cambria Math" panose="02040503050406030204" pitchFamily="18" charset="0"/>
                                      </a:rPr>
                                      <m:t>𝑢</m:t>
                                    </m:r>
                                    <m:d>
                                      <m:dPr>
                                        <m:ctrlPr>
                                          <a:rPr lang="es-AR" sz="1600" i="1">
                                            <a:latin typeface="Cambria Math" panose="02040503050406030204" pitchFamily="18" charset="0"/>
                                          </a:rPr>
                                        </m:ctrlPr>
                                      </m:dPr>
                                      <m:e>
                                        <m:r>
                                          <a:rPr lang="es-AR" sz="1600" b="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b="0" i="1">
                                        <a:latin typeface="Cambria Math" panose="02040503050406030204" pitchFamily="18" charset="0"/>
                                      </a:rPr>
                                      <m:t>𝑋</m:t>
                                    </m:r>
                                  </m:e>
                                  <m:sub>
                                    <m:r>
                                      <a:rPr lang="es-AR" sz="1600" b="0" i="1">
                                        <a:latin typeface="Cambria Math" panose="02040503050406030204" pitchFamily="18" charset="0"/>
                                      </a:rPr>
                                      <m:t>0</m:t>
                                    </m:r>
                                  </m:sub>
                                </m:sSub>
                                <m:d>
                                  <m:dPr>
                                    <m:ctrlPr>
                                      <a:rPr lang="es-AR" sz="1600" i="1">
                                        <a:latin typeface="Cambria Math" panose="02040503050406030204" pitchFamily="18" charset="0"/>
                                      </a:rPr>
                                    </m:ctrlPr>
                                  </m:dPr>
                                  <m:e>
                                    <m:r>
                                      <a:rPr lang="es-AR" sz="1600" b="0" i="1">
                                        <a:latin typeface="Cambria Math" panose="02040503050406030204" pitchFamily="18" charset="0"/>
                                      </a:rPr>
                                      <m:t>0</m:t>
                                    </m:r>
                                  </m:e>
                                </m:d>
                                <m:r>
                                  <a:rPr lang="es-AR" sz="1600" b="0" i="1">
                                    <a:latin typeface="Cambria Math" panose="02040503050406030204" pitchFamily="18" charset="0"/>
                                  </a:rPr>
                                  <m:t>+</m:t>
                                </m:r>
                                <m:r>
                                  <a:rPr lang="es-AR" sz="1600" b="0" i="1">
                                    <a:latin typeface="Cambria Math" panose="02040503050406030204" pitchFamily="18" charset="0"/>
                                  </a:rPr>
                                  <m:t>𝛥</m:t>
                                </m:r>
                                <m:r>
                                  <a:rPr lang="es-AR" sz="1600" b="0" i="1">
                                    <a:latin typeface="Cambria Math" panose="02040503050406030204" pitchFamily="18" charset="0"/>
                                  </a:rPr>
                                  <m:t>𝑥</m:t>
                                </m:r>
                                <m:d>
                                  <m:dPr>
                                    <m:ctrlPr>
                                      <a:rPr lang="es-AR" sz="1600" i="1">
                                        <a:latin typeface="Cambria Math" panose="02040503050406030204" pitchFamily="18" charset="0"/>
                                      </a:rPr>
                                    </m:ctrlPr>
                                  </m:dPr>
                                  <m:e>
                                    <m:r>
                                      <a:rPr lang="es-AR" sz="1600" b="0" i="1">
                                        <a:latin typeface="Cambria Math" panose="02040503050406030204" pitchFamily="18" charset="0"/>
                                      </a:rPr>
                                      <m:t>0</m:t>
                                    </m:r>
                                  </m:e>
                                </m:d>
                                <m:r>
                                  <a:rPr lang="es-AR" sz="1600" b="0" i="1">
                                    <a:latin typeface="Cambria Math" panose="02040503050406030204" pitchFamily="18" charset="0"/>
                                  </a:rPr>
                                  <m:t>=</m:t>
                                </m:r>
                                <m:sSub>
                                  <m:sSubPr>
                                    <m:ctrlPr>
                                      <a:rPr lang="es-AR" sz="1600" i="1">
                                        <a:latin typeface="Cambria Math" panose="02040503050406030204" pitchFamily="18" charset="0"/>
                                      </a:rPr>
                                    </m:ctrlPr>
                                  </m:sSubPr>
                                  <m:e>
                                    <m:r>
                                      <a:rPr lang="es-AR" sz="1600" b="0" i="1">
                                        <a:latin typeface="Cambria Math" panose="02040503050406030204" pitchFamily="18" charset="0"/>
                                      </a:rPr>
                                      <m:t>𝑥</m:t>
                                    </m:r>
                                  </m:e>
                                  <m:sub>
                                    <m:r>
                                      <a:rPr lang="es-AR" sz="1600" b="0" i="1">
                                        <a:latin typeface="Cambria Math" panose="02040503050406030204" pitchFamily="18" charset="0"/>
                                      </a:rPr>
                                      <m:t>0</m:t>
                                    </m:r>
                                  </m:sub>
                                </m:sSub>
                                <m:r>
                                  <a:rPr lang="es-AR" sz="1600" b="0" i="1">
                                    <a:latin typeface="Cambria Math" panose="02040503050406030204" pitchFamily="18" charset="0"/>
                                  </a:rPr>
                                  <m:t>⇒</m:t>
                                </m:r>
                                <m:sSub>
                                  <m:sSubPr>
                                    <m:ctrlPr>
                                      <a:rPr lang="es-AR" sz="1600" i="1">
                                        <a:latin typeface="Cambria Math" panose="02040503050406030204" pitchFamily="18" charset="0"/>
                                      </a:rPr>
                                    </m:ctrlPr>
                                  </m:sSubPr>
                                  <m:e>
                                    <m:r>
                                      <a:rPr lang="es-AR" sz="1600" b="0" i="1">
                                        <a:latin typeface="Cambria Math" panose="02040503050406030204" pitchFamily="18" charset="0"/>
                                      </a:rPr>
                                      <m:t>𝑋</m:t>
                                    </m:r>
                                  </m:e>
                                  <m:sub>
                                    <m:r>
                                      <a:rPr lang="es-AR" sz="1600" b="0" i="1">
                                        <a:latin typeface="Cambria Math" panose="02040503050406030204" pitchFamily="18" charset="0"/>
                                      </a:rPr>
                                      <m:t>0</m:t>
                                    </m:r>
                                  </m:sub>
                                </m:sSub>
                                <m:d>
                                  <m:dPr>
                                    <m:ctrlPr>
                                      <a:rPr lang="es-AR" sz="1600" i="1">
                                        <a:latin typeface="Cambria Math" panose="02040503050406030204" pitchFamily="18" charset="0"/>
                                      </a:rPr>
                                    </m:ctrlPr>
                                  </m:dPr>
                                  <m:e>
                                    <m:r>
                                      <a:rPr lang="es-AR" sz="1600" b="0" i="1">
                                        <a:latin typeface="Cambria Math" panose="02040503050406030204" pitchFamily="18" charset="0"/>
                                      </a:rPr>
                                      <m:t>0</m:t>
                                    </m:r>
                                  </m:e>
                                </m:d>
                                <m:r>
                                  <a:rPr lang="es-AR" sz="1600" b="0" i="1">
                                    <a:latin typeface="Cambria Math" panose="02040503050406030204" pitchFamily="18" charset="0"/>
                                  </a:rPr>
                                  <m:t>≡</m:t>
                                </m:r>
                                <m:sSub>
                                  <m:sSubPr>
                                    <m:ctrlPr>
                                      <a:rPr lang="es-AR" sz="1600" i="1">
                                        <a:latin typeface="Cambria Math" panose="02040503050406030204" pitchFamily="18" charset="0"/>
                                      </a:rPr>
                                    </m:ctrlPr>
                                  </m:sSubPr>
                                  <m:e>
                                    <m:r>
                                      <a:rPr lang="es-AR" sz="1600" b="0" i="1">
                                        <a:latin typeface="Cambria Math" panose="02040503050406030204" pitchFamily="18" charset="0"/>
                                      </a:rPr>
                                      <m:t>𝑥</m:t>
                                    </m:r>
                                  </m:e>
                                  <m:sub>
                                    <m:r>
                                      <a:rPr lang="es-AR" sz="1600" b="0" i="1">
                                        <a:latin typeface="Cambria Math" panose="02040503050406030204" pitchFamily="18" charset="0"/>
                                      </a:rPr>
                                      <m:t>0</m:t>
                                    </m:r>
                                  </m:sub>
                                </m:sSub>
                                <m:r>
                                  <a:rPr lang="es-AR" sz="1600" b="0" i="1">
                                    <a:latin typeface="Cambria Math" panose="02040503050406030204" pitchFamily="18" charset="0"/>
                                  </a:rPr>
                                  <m:t>,      </m:t>
                                </m:r>
                                <m:r>
                                  <a:rPr lang="es-AR" sz="1600" b="0" i="1">
                                    <a:latin typeface="Cambria Math" panose="02040503050406030204" pitchFamily="18" charset="0"/>
                                  </a:rPr>
                                  <m:t>𝛥</m:t>
                                </m:r>
                                <m:r>
                                  <a:rPr lang="es-AR" sz="1600" b="0" i="1">
                                    <a:latin typeface="Cambria Math" panose="02040503050406030204" pitchFamily="18" charset="0"/>
                                  </a:rPr>
                                  <m:t>𝑥</m:t>
                                </m:r>
                                <m:d>
                                  <m:dPr>
                                    <m:ctrlPr>
                                      <a:rPr lang="es-AR" sz="1600" i="1">
                                        <a:latin typeface="Cambria Math" panose="02040503050406030204" pitchFamily="18" charset="0"/>
                                      </a:rPr>
                                    </m:ctrlPr>
                                  </m:dPr>
                                  <m:e>
                                    <m:r>
                                      <a:rPr lang="es-AR" sz="1600" b="0" i="1">
                                        <a:latin typeface="Cambria Math" panose="02040503050406030204" pitchFamily="18" charset="0"/>
                                      </a:rPr>
                                      <m:t>0</m:t>
                                    </m:r>
                                  </m:e>
                                </m:d>
                                <m:r>
                                  <a:rPr lang="es-AR" sz="1600" b="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b="0" i="1">
                                        <a:latin typeface="Cambria Math" panose="02040503050406030204" pitchFamily="18" charset="0"/>
                                      </a:rPr>
                                      <m:t>𝑌</m:t>
                                    </m:r>
                                  </m:e>
                                  <m:sub>
                                    <m:r>
                                      <a:rPr lang="es-AR" sz="1600" b="0" i="1">
                                        <a:latin typeface="Cambria Math" panose="02040503050406030204" pitchFamily="18" charset="0"/>
                                      </a:rPr>
                                      <m:t>0</m:t>
                                    </m:r>
                                  </m:sub>
                                </m:sSub>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r>
                                  <a:rPr lang="es-AR" sz="1600" b="0" i="1">
                                    <a:latin typeface="Cambria Math" panose="02040503050406030204" pitchFamily="18" charset="0"/>
                                  </a:rPr>
                                  <m:t>𝛥</m:t>
                                </m:r>
                                <m:r>
                                  <a:rPr lang="es-AR" sz="1600" b="0" i="1">
                                    <a:latin typeface="Cambria Math" panose="02040503050406030204" pitchFamily="18" charset="0"/>
                                  </a:rPr>
                                  <m:t>𝑦</m:t>
                                </m:r>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r>
                                  <a:rPr lang="es-AR" sz="1600" b="0" i="1">
                                    <a:latin typeface="Cambria Math" panose="02040503050406030204" pitchFamily="18" charset="0"/>
                                  </a:rPr>
                                  <m:t>𝐶</m:t>
                                </m:r>
                                <m:r>
                                  <a:rPr lang="es-AR" sz="1600" b="0" i="1">
                                    <a:latin typeface="Cambria Math" panose="02040503050406030204" pitchFamily="18" charset="0"/>
                                  </a:rPr>
                                  <m:t> </m:t>
                                </m:r>
                                <m:sSub>
                                  <m:sSubPr>
                                    <m:ctrlPr>
                                      <a:rPr lang="es-AR" sz="1600" i="1">
                                        <a:latin typeface="Cambria Math" panose="02040503050406030204" pitchFamily="18" charset="0"/>
                                      </a:rPr>
                                    </m:ctrlPr>
                                  </m:sSubPr>
                                  <m:e>
                                    <m:r>
                                      <a:rPr lang="es-AR" sz="1600" b="0" i="1">
                                        <a:latin typeface="Cambria Math" panose="02040503050406030204" pitchFamily="18" charset="0"/>
                                      </a:rPr>
                                      <m:t>𝑋</m:t>
                                    </m:r>
                                  </m:e>
                                  <m:sub>
                                    <m:r>
                                      <a:rPr lang="es-AR" sz="1600" b="0" i="1">
                                        <a:latin typeface="Cambria Math" panose="02040503050406030204" pitchFamily="18" charset="0"/>
                                      </a:rPr>
                                      <m:t>0</m:t>
                                    </m:r>
                                  </m:sub>
                                </m:sSub>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a:latin typeface="Cambria Math" panose="02040503050406030204" pitchFamily="18" charset="0"/>
                                  </a:rPr>
                                  <m:t>+</m:t>
                                </m:r>
                                <m:r>
                                  <a:rPr lang="es-AR" sz="1600" b="0" i="1">
                                    <a:latin typeface="Cambria Math" panose="02040503050406030204" pitchFamily="18" charset="0"/>
                                  </a:rPr>
                                  <m:t>𝐶</m:t>
                                </m:r>
                                <m:r>
                                  <a:rPr lang="es-AR" sz="1600" b="0" i="1">
                                    <a:latin typeface="Cambria Math" panose="02040503050406030204" pitchFamily="18" charset="0"/>
                                  </a:rPr>
                                  <m:t> </m:t>
                                </m:r>
                                <m:r>
                                  <a:rPr lang="es-AR" sz="1600" b="0" i="1">
                                    <a:latin typeface="Cambria Math" panose="02040503050406030204" pitchFamily="18" charset="0"/>
                                  </a:rPr>
                                  <m:t>𝛥</m:t>
                                </m:r>
                                <m:r>
                                  <a:rPr lang="es-AR" sz="1600" b="0" i="1">
                                    <a:latin typeface="Cambria Math" panose="02040503050406030204" pitchFamily="18" charset="0"/>
                                  </a:rPr>
                                  <m:t>𝑥</m:t>
                                </m:r>
                                <m:d>
                                  <m:dPr>
                                    <m:ctrlPr>
                                      <a:rPr lang="es-AR" sz="1600" i="1">
                                        <a:latin typeface="Cambria Math" panose="02040503050406030204" pitchFamily="18" charset="0"/>
                                      </a:rPr>
                                    </m:ctrlPr>
                                  </m:dPr>
                                  <m:e>
                                    <m:r>
                                      <a:rPr lang="es-AR" sz="1600" b="0" i="1">
                                        <a:latin typeface="Cambria Math" panose="02040503050406030204" pitchFamily="18" charset="0"/>
                                      </a:rPr>
                                      <m:t>𝑡</m:t>
                                    </m:r>
                                  </m:e>
                                </m:d>
                                <m:r>
                                  <a:rPr lang="es-AR" sz="1600" b="0" i="1" smtClean="0">
                                    <a:latin typeface="Cambria Math" panose="02040503050406030204" pitchFamily="18" charset="0"/>
                                  </a:rPr>
                                  <m:t>       </m:t>
                                </m:r>
                                <m:r>
                                  <a:rPr lang="es-AR" sz="1600" b="0" i="1">
                                    <a:latin typeface="Cambria Math" panose="02040503050406030204" pitchFamily="18" charset="0"/>
                                  </a:rPr>
                                  <m:t>                                                </m:t>
                                </m:r>
                              </m:e>
                            </m:mr>
                          </m:m>
                        </m:e>
                      </m:d>
                    </m:oMath>
                  </m:oMathPara>
                </a14:m>
                <a:endParaRPr lang="en-US" sz="1100" dirty="0"/>
              </a:p>
            </p:txBody>
          </p:sp>
        </mc:Choice>
        <mc:Fallback>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2" y="1463156"/>
            <a:ext cx="9159535" cy="565823"/>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20" name="Text 7">
                <a:extLst>
                  <a:ext uri="{FF2B5EF4-FFF2-40B4-BE49-F238E27FC236}">
                    <a16:creationId xmlns:a16="http://schemas.microsoft.com/office/drawing/2014/main" id="{DA892EF5-3E87-4AFE-BB7C-31BC1FD0C14A}"/>
                  </a:ext>
                </a:extLst>
              </p:cNvPr>
              <p:cNvSpPr/>
              <p:nvPr/>
            </p:nvSpPr>
            <p:spPr>
              <a:xfrm>
                <a:off x="-319597" y="1457701"/>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𝑥</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𝑡</m:t>
                                    </m:r>
                                  </m:e>
                                  <m:sub>
                                    <m:r>
                                      <a:rPr lang="es-AR" sz="1400" i="1">
                                        <a:latin typeface="Cambria Math" panose="02040503050406030204" pitchFamily="18" charset="0"/>
                                      </a:rPr>
                                      <m:t>0</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e>
                        </m:mr>
                        <m:mr>
                          <m:e>
                            <m:r>
                              <a:rPr lang="es-AR" sz="1400" i="1">
                                <a:latin typeface="Cambria Math" panose="02040503050406030204" pitchFamily="18" charset="0"/>
                              </a:rPr>
                              <m:t>𝑦</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oMath>
                  </m:oMathPara>
                </a14:m>
                <a:endParaRPr lang="en-US" sz="1400" dirty="0"/>
              </a:p>
            </p:txBody>
          </p:sp>
        </mc:Choice>
        <mc:Fallback>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57701"/>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88FB12-F75E-4A29-9959-2F834F8F880C}"/>
              </a:ext>
            </a:extLst>
          </p:cNvPr>
          <p:cNvSpPr>
            <a:spLocks noGrp="1"/>
          </p:cNvSpPr>
          <p:nvPr>
            <p:ph type="ctrTitle"/>
          </p:nvPr>
        </p:nvSpPr>
        <p:spPr/>
        <p:txBody>
          <a:bodyPr/>
          <a:lstStyle/>
          <a:p>
            <a:endParaRPr lang="es-AR"/>
          </a:p>
        </p:txBody>
      </p:sp>
      <p:sp>
        <p:nvSpPr>
          <p:cNvPr id="3" name="Subtítulo 2">
            <a:extLst>
              <a:ext uri="{FF2B5EF4-FFF2-40B4-BE49-F238E27FC236}">
                <a16:creationId xmlns:a16="http://schemas.microsoft.com/office/drawing/2014/main" id="{652584DA-C060-4B7A-938A-0531151C7C52}"/>
              </a:ext>
            </a:extLst>
          </p:cNvPr>
          <p:cNvSpPr>
            <a:spLocks noGrp="1"/>
          </p:cNvSpPr>
          <p:nvPr>
            <p:ph type="subTitle" idx="1"/>
          </p:nvPr>
        </p:nvSpPr>
        <p:spPr/>
        <p:txBody>
          <a:bodyPr/>
          <a:lstStyle/>
          <a:p>
            <a:endParaRPr lang="es-AR"/>
          </a:p>
        </p:txBody>
      </p:sp>
      <p:pic>
        <p:nvPicPr>
          <p:cNvPr id="5" name="Imagen 4">
            <a:extLst>
              <a:ext uri="{FF2B5EF4-FFF2-40B4-BE49-F238E27FC236}">
                <a16:creationId xmlns:a16="http://schemas.microsoft.com/office/drawing/2014/main" id="{3C5F1C77-3B26-4AFF-82A0-865EF7D219C2}"/>
              </a:ext>
            </a:extLst>
          </p:cNvPr>
          <p:cNvPicPr>
            <a:picLocks noChangeAspect="1"/>
          </p:cNvPicPr>
          <p:nvPr/>
        </p:nvPicPr>
        <p:blipFill>
          <a:blip r:embed="rId2"/>
          <a:srcRect/>
          <a:stretch/>
        </p:blipFill>
        <p:spPr>
          <a:xfrm>
            <a:off x="0" y="1866"/>
            <a:ext cx="12286695" cy="6895788"/>
          </a:xfrm>
          <a:prstGeom prst="rect">
            <a:avLst/>
          </a:prstGeom>
        </p:spPr>
      </p:pic>
      <p:sp>
        <p:nvSpPr>
          <p:cNvPr id="7" name="Shape 2">
            <a:extLst>
              <a:ext uri="{FF2B5EF4-FFF2-40B4-BE49-F238E27FC236}">
                <a16:creationId xmlns:a16="http://schemas.microsoft.com/office/drawing/2014/main" id="{07F4DF46-6727-4D7A-9974-4CC2899DCB60}"/>
              </a:ext>
            </a:extLst>
          </p:cNvPr>
          <p:cNvSpPr/>
          <p:nvPr/>
        </p:nvSpPr>
        <p:spPr>
          <a:xfrm>
            <a:off x="-1" y="6565392"/>
            <a:ext cx="12286695"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9BB34DC3-921B-4EFB-A538-4333B0B4DD2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9564"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336920"/>
            <a:ext cx="10343626"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852274"/>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852274"/>
                <a:ext cx="8961120" cy="530352"/>
              </a:xfrm>
              <a:prstGeom prst="rect">
                <a:avLst/>
              </a:prstGeom>
              <a:blipFill>
                <a:blip r:embed="rId3"/>
                <a:stretch>
                  <a:fillRect t="-73563" b="-7816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20" y="3943989"/>
                <a:ext cx="11397563"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20" y="3943989"/>
                <a:ext cx="11397563" cy="296363"/>
              </a:xfrm>
              <a:prstGeom prst="rect">
                <a:avLst/>
              </a:prstGeom>
              <a:blipFill>
                <a:blip r:embed="rId4"/>
                <a:stretch>
                  <a:fillRect l="-53" b="-16327"/>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1816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transformación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18160" y="4773168"/>
                <a:ext cx="11155680" cy="1005840"/>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614036"/>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sSubSup>
                                <m:sSubSupPr>
                                  <m:ctrlPr>
                                    <a:rPr lang="es-AR" sz="1400" i="1">
                                      <a:latin typeface="Cambria Math" panose="02040503050406030204" pitchFamily="18" charset="0"/>
                                    </a:rPr>
                                  </m:ctrlPr>
                                </m:sSubSupPr>
                                <m:e>
                                  <m:r>
                                    <a:rPr lang="es-AR" sz="1400" i="1">
                                      <a:latin typeface="Cambria Math" panose="02040503050406030204" pitchFamily="18" charset="0"/>
                                    </a:rPr>
                                    <m:t>−</m:t>
                                  </m:r>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i="1">
                                      <a:latin typeface="Cambria Math" panose="020405030504060302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614036"/>
                <a:ext cx="6098796" cy="571760"/>
              </a:xfrm>
              <a:prstGeom prst="rect">
                <a:avLst/>
              </a:prstGeom>
              <a:blipFill>
                <a:blip r:embed="rId9"/>
                <a:stretch>
                  <a:fillRect/>
                </a:stretch>
              </a:blipFill>
            </p:spPr>
            <p:txBody>
              <a:bodyPr/>
              <a:lstStyle/>
              <a:p>
                <a:r>
                  <a:rPr lang="es-AR">
                    <a:noFill/>
                  </a:rPr>
                  <a:t> </a:t>
                </a:r>
              </a:p>
            </p:txBody>
          </p:sp>
        </mc:Fallback>
      </mc:AlternateContent>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163483" y="796620"/>
                <a:ext cx="11843789"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163483" y="796620"/>
                <a:ext cx="11843789" cy="1005840"/>
              </a:xfrm>
              <a:prstGeom prst="rect">
                <a:avLst/>
              </a:prstGeom>
              <a:blipFill>
                <a:blip r:embed="rId2"/>
                <a:stretch>
                  <a:fillRect l="-154" t="-1212" r="-154"/>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rcRect/>
          <a:stretch/>
        </p:blipFill>
        <p:spPr>
          <a:xfrm>
            <a:off x="570760" y="658368"/>
            <a:ext cx="10545932" cy="558475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sp>
        <p:nvSpPr>
          <p:cNvPr id="15" name="CuadroTexto 14">
            <a:extLst>
              <a:ext uri="{FF2B5EF4-FFF2-40B4-BE49-F238E27FC236}">
                <a16:creationId xmlns:a16="http://schemas.microsoft.com/office/drawing/2014/main" id="{9A639F6C-1BED-47BA-BB04-A7534BAF33FF}"/>
              </a:ext>
            </a:extLst>
          </p:cNvPr>
          <p:cNvSpPr txBox="1"/>
          <p:nvPr/>
        </p:nvSpPr>
        <p:spPr>
          <a:xfrm>
            <a:off x="2915174" y="6214256"/>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2"/>
          <a:stretch>
            <a:fillRect/>
          </a:stretch>
        </p:blipFill>
        <p:spPr>
          <a:xfrm>
            <a:off x="1097489" y="2027830"/>
            <a:ext cx="9252731" cy="4537562"/>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Ley de control mínima</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m:t>
                    </m:r>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3"/>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4"/>
                <a:stretch>
                  <a:fillRect/>
                </a:stretch>
              </a:blipFill>
              <a:ln/>
            </p:spPr>
            <p:txBody>
              <a:bodyPr/>
              <a:lstStyle/>
              <a:p>
                <a:r>
                  <a:rPr lang="es-AR">
                    <a:noFill/>
                  </a:rPr>
                  <a:t> </a:t>
                </a:r>
              </a:p>
            </p:txBody>
          </p:sp>
        </mc:Fallback>
      </mc:AlternateContent>
      <p:sp>
        <p:nvSpPr>
          <p:cNvPr id="20" name="Text 18"/>
          <p:cNvSpPr/>
          <p:nvPr/>
        </p:nvSpPr>
        <p:spPr>
          <a:xfrm>
            <a:off x="2405237" y="5573047"/>
            <a:ext cx="5177457" cy="364951"/>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5"/>
                <a:stretch>
                  <a:fillRect l="-66" b="-18750"/>
                </a:stretch>
              </a:blipFill>
            </p:spPr>
            <p:txBody>
              <a:bodyPr/>
              <a:lstStyle/>
              <a:p>
                <a:r>
                  <a:rPr lang="es-AR">
                    <a:noFill/>
                  </a:rPr>
                  <a:t> </a:t>
                </a:r>
              </a:p>
            </p:txBody>
          </p:sp>
        </mc:Fallback>
      </mc:AlternateContent>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68453"/>
              </a:xfrm>
              <a:prstGeom prst="rect">
                <a:avLst/>
              </a:prstGeom>
              <a:noFill/>
            </p:spPr>
            <p:txBody>
              <a:bodyPr wrap="square">
                <a:spAutoFit/>
              </a:bodyPr>
              <a:lstStyle/>
              <a:p>
                <a:pPr algn="just">
                  <a:lnSpc>
                    <a:spcPct val="107000"/>
                  </a:lnSpc>
                  <a:spcBef>
                    <a:spcPts val="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Calibri" panose="020F0502020204030204" pitchFamily="34"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68453"/>
              </a:xfrm>
              <a:prstGeom prst="rect">
                <a:avLst/>
              </a:prstGeom>
              <a:blipFill>
                <a:blip r:embed="rId8"/>
                <a:stretch>
                  <a:fillRect l="-157" r="-157" b="-917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9"/>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10"/>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1"/>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3"/>
          <a:srcRect/>
          <a:stretch/>
        </p:blipFill>
        <p:spPr>
          <a:xfrm>
            <a:off x="493611" y="864951"/>
            <a:ext cx="11174298" cy="5493857"/>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10 — Modelo global NL con ley de control mínima en eje d y q</a:t>
            </a:r>
            <a:endParaRPr lang="es-AR" sz="1100" dirty="0"/>
          </a:p>
        </p:txBody>
      </p:sp>
    </p:spTree>
    <p:extLst>
      <p:ext uri="{BB962C8B-B14F-4D97-AF65-F5344CB8AC3E}">
        <p14:creationId xmlns:p14="http://schemas.microsoft.com/office/powerpoint/2010/main" val="33068440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LTI equivalente aumentado</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772111"/>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r>
                                              <a:rPr lang="es-MX" sz="1600" b="0" i="0" smtClean="0">
                                                <a:solidFill>
                                                  <a:schemeClr val="tx1"/>
                                                </a:solidFill>
                                                <a:latin typeface="Cambria Math" panose="02040503050406030204" pitchFamily="18" charset="0"/>
                                              </a:rPr>
                                              <m:t>       </m:t>
                                            </m:r>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smtClean="0">
                                                        <a:solidFill>
                                                          <a:schemeClr val="tx1"/>
                                                        </a:solidFill>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r="-378"/>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LTI equivalente aumentado</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rotWithShape="1">
          <a:blip r:embed="rId2"/>
          <a:srcRect r="-4037"/>
          <a:stretch/>
        </p:blipFill>
        <p:spPr>
          <a:xfrm>
            <a:off x="1834064" y="739997"/>
            <a:ext cx="8283059"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11— Sistema LTI equivalente aumentado</a:t>
            </a:r>
            <a:endParaRPr lang="es-AR" sz="1100" dirty="0"/>
          </a:p>
        </p:txBody>
      </p:sp>
    </p:spTree>
    <p:extLst>
      <p:ext uri="{BB962C8B-B14F-4D97-AF65-F5344CB8AC3E}">
        <p14:creationId xmlns:p14="http://schemas.microsoft.com/office/powerpoint/2010/main" val="38241609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E9AB88BD-473F-457C-BE0D-6B5E7369D8B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035A1F7F-6008-498D-AE98-60FE7149D92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3B6330C9-AE53-465F-8E68-60BE235EA6A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8A5A027C-DD61-4AAD-95E4-31BD96243E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100668" y="1159318"/>
                <a:ext cx="8455189" cy="107965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𝑠</m:t>
                                    </m:r>
                                  </m:e>
                                  <m:sub>
                                    <m:r>
                                      <a:rPr lang="es-AR" sz="1400" i="1">
                                        <a:latin typeface="Cambria Math" panose="02040503050406030204" pitchFamily="18" charset="0"/>
                                      </a:rPr>
                                      <m:t>1</m:t>
                                    </m:r>
                                  </m:sub>
                                </m:sSub>
                                <m:r>
                                  <a:rPr lang="es-AR" sz="1400" i="1">
                                    <a:latin typeface="Cambria Math" panose="02040503050406030204" pitchFamily="18" charset="0"/>
                                  </a:rPr>
                                  <m:t>=0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𝑠</m:t>
                                    </m:r>
                                  </m:e>
                                  <m:sub>
                                    <m:r>
                                      <a:rPr lang="es-AR" sz="1400" i="1">
                                        <a:latin typeface="Cambria Math" panose="02040503050406030204" pitchFamily="18" charset="0"/>
                                      </a:rPr>
                                      <m:t>2,3</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e>
                                    </m:d>
                                    <m:r>
                                      <a:rPr lang="es-AR" sz="1400">
                                        <a:latin typeface="Cambria Math" panose="02040503050406030204" pitchFamily="18" charset="0"/>
                                      </a:rPr>
                                      <m:t>±</m:t>
                                    </m:r>
                                    <m:rad>
                                      <m:radPr>
                                        <m:degHide m:val="on"/>
                                        <m:ctrlPr>
                                          <a:rPr lang="es-AR" sz="1400" i="1">
                                            <a:latin typeface="Cambria Math" panose="02040503050406030204" pitchFamily="18" charset="0"/>
                                          </a:rPr>
                                        </m:ctrlPr>
                                      </m:radPr>
                                      <m:deg/>
                                      <m:e>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e>
                                            </m:d>
                                          </m:e>
                                          <m:sup>
                                            <m:r>
                                              <a:rPr lang="es-AR" sz="1400" i="1">
                                                <a:latin typeface="Cambria Math" panose="02040503050406030204" pitchFamily="18" charset="0"/>
                                              </a:rPr>
                                              <m:t>2</m:t>
                                            </m:r>
                                          </m:sup>
                                        </m:sSup>
                                        <m:r>
                                          <a:rPr lang="es-AR" sz="1400" i="1">
                                            <a:latin typeface="Cambria Math" panose="02040503050406030204" pitchFamily="18" charset="0"/>
                                          </a:rPr>
                                          <m:t>−4</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e>
                                    </m:rad>
                                  </m:num>
                                  <m:den>
                                    <m:r>
                                      <a:rPr lang="es-AR" sz="1400" i="1">
                                        <a:latin typeface="Cambria Math" panose="02040503050406030204" pitchFamily="18" charset="0"/>
                                      </a:rPr>
                                      <m:t>2</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en>
                                </m:f>
                              </m:e>
                            </m:mr>
                          </m:m>
                        </m:e>
                      </m:d>
                    </m:oMath>
                  </m:oMathPara>
                </a14:m>
                <a:endParaRPr lang="es-AR" sz="105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00668" y="1159318"/>
                <a:ext cx="8455189" cy="1079655"/>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𝑠</m:t>
                          </m:r>
                        </m:e>
                        <m:sub>
                          <m:r>
                            <a:rPr lang="es-AR" sz="1600" i="1">
                              <a:solidFill>
                                <a:schemeClr val="tx1"/>
                              </a:solidFill>
                              <a:latin typeface="Cambria Math" panose="02040503050406030204" pitchFamily="18" charset="0"/>
                            </a:rPr>
                            <m:t>𝑧</m:t>
                          </m:r>
                        </m:sub>
                      </m:sSub>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
        <p:nvSpPr>
          <p:cNvPr id="14" name="Shape 2">
            <a:extLst>
              <a:ext uri="{FF2B5EF4-FFF2-40B4-BE49-F238E27FC236}">
                <a16:creationId xmlns:a16="http://schemas.microsoft.com/office/drawing/2014/main" id="{713C4DB4-2557-4CC5-B40B-56F1839661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159E7C06-6CD3-4BE1-8A88-E83C2573745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57779175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C08E497B-ECA8-4D23-BF7F-9E20B033DA4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26B81D0-53DF-485F-BB96-6AED60AE41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52357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2027296961"/>
                  </p:ext>
                </p:extLst>
              </p:nvPr>
            </p:nvGraphicFramePr>
            <p:xfrm>
              <a:off x="3567356" y="5179873"/>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2027296961"/>
                  </p:ext>
                </p:extLst>
              </p:nvPr>
            </p:nvGraphicFramePr>
            <p:xfrm>
              <a:off x="3567356" y="5179873"/>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125" b="-313793"/>
                          </a:stretch>
                        </a:blipFill>
                      </a:tcPr>
                    </a:tc>
                    <a:tc>
                      <a:txBody>
                        <a:bodyPr/>
                        <a:lstStyle/>
                        <a:p>
                          <a:endParaRPr lang="es-AR"/>
                        </a:p>
                      </a:txBody>
                      <a:tcPr marL="68580" marR="68580" marT="0" marB="0">
                        <a:blipFill>
                          <a:blip r:embed="rId5"/>
                          <a:stretch>
                            <a:fillRect l="-220856" t="-84483" r="-433155"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5573" b="-313793"/>
                          </a:stretch>
                        </a:blipFill>
                      </a:tcPr>
                    </a:tc>
                    <a:tc>
                      <a:txBody>
                        <a:bodyPr/>
                        <a:lstStyle/>
                        <a:p>
                          <a:endParaRPr lang="es-AR"/>
                        </a:p>
                      </a:txBody>
                      <a:tcPr marL="68580" marR="68580" marT="0" marB="0">
                        <a:blipFill>
                          <a:blip r:embed="rId5"/>
                          <a:stretch>
                            <a:fillRect l="-1380000" t="-84483" r="-4211"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B235AFBD-3FDD-4ED8-A44F-F79C276D30E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A40EF86F-C0A8-499F-AFDA-E9B2920A42E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92547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301083141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AR" sz="1200" b="0" i="1" smtClean="0">
                                      <a:latin typeface="Cambria Math" panose="02040503050406030204" pitchFamily="18" charset="0"/>
                                    </a:rPr>
                                    <m:t>𝑚</m:t>
                                  </m:r>
                                </m:e>
                                <m:sub>
                                  <m:r>
                                    <a:rPr lang="es-AR"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301083141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569940"/>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569940"/>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C285BC6C-CC9C-4A7F-9DC9-46277DC56D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7F0E2F02-B34A-438E-AA40-05A39917580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BF761FD9-1C08-4F3D-BCBB-17D6D1C0936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99EF442-B346-4B16-A4E1-C99E05B7948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3961982" cy="415498"/>
          </a:xfrm>
          <a:prstGeom prst="rect">
            <a:avLst/>
          </a:prstGeom>
          <a:noFill/>
        </p:spPr>
        <p:txBody>
          <a:bodyPr wrap="none">
            <a:spAutoFit/>
          </a:bodyPr>
          <a:lstStyle/>
          <a:p>
            <a:pPr algn="l"/>
            <a:r>
              <a:rPr lang="es-AR" sz="2100" b="1" dirty="0">
                <a:solidFill>
                  <a:srgbClr val="FFFFFF"/>
                </a:solidFill>
                <a:latin typeface="Cambria"/>
              </a:rPr>
              <a:t>Observabilidad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0470EBB-D6CB-4D7C-A74A-2F6DBF978C5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B9C7D1E3-FF31-4895-B1EC-0865CB5DA00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42039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9232" y="73210"/>
            <a:ext cx="11551615" cy="658368"/>
          </a:xfrm>
          <a:prstGeom prst="rect">
            <a:avLst/>
          </a:prstGeom>
          <a:noFill/>
        </p:spPr>
        <p:txBody>
          <a:bodyPr wrap="none">
            <a:spAutoFit/>
          </a:bodyPr>
          <a:lstStyle/>
          <a:p>
            <a:pPr algn="l"/>
            <a:r>
              <a:rPr sz="2100" b="1" dirty="0" err="1">
                <a:solidFill>
                  <a:srgbClr val="FFFFFF"/>
                </a:solidFill>
                <a:latin typeface="Cambria"/>
              </a:rPr>
              <a:t>Controlabilidad</a:t>
            </a:r>
            <a:r>
              <a:rPr sz="2100" b="1" dirty="0">
                <a:solidFill>
                  <a:srgbClr val="FFFFFF"/>
                </a:solidFill>
                <a:latin typeface="Cambria"/>
              </a:rPr>
              <a:t>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22B6A428-420C-4A3D-898C-D3482F948E4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9B63925-0C75-4087-A3AF-B51B2009572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
        <p:nvSpPr>
          <p:cNvPr id="7" name="Shape 2">
            <a:extLst>
              <a:ext uri="{FF2B5EF4-FFF2-40B4-BE49-F238E27FC236}">
                <a16:creationId xmlns:a16="http://schemas.microsoft.com/office/drawing/2014/main" id="{980706F5-6513-4AE0-B1B9-F15A452A04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1FD6463C-8ECC-4B5E-BE9A-6E2DA717194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65575725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3758605" y="3429000"/>
            <a:ext cx="4674485" cy="353943"/>
          </a:xfrm>
          <a:prstGeom prst="rect">
            <a:avLst/>
          </a:prstGeom>
          <a:noFill/>
        </p:spPr>
        <p:txBody>
          <a:bodyPr wrap="none">
            <a:spAutoFit/>
          </a:bodyPr>
          <a:lstStyle/>
          <a:p>
            <a:pPr algn="ctr"/>
            <a:r>
              <a:rPr lang="es-AR" sz="1700" dirty="0">
                <a:solidFill>
                  <a:srgbClr val="A0C4FF"/>
                </a:solidFill>
                <a:latin typeface="Calibri"/>
              </a:rPr>
              <a:t>Simulación del modelo NL · 4 cuadrantes · LTI vs NL</a:t>
            </a:r>
          </a:p>
        </p:txBody>
      </p:sp>
      <p:sp>
        <p:nvSpPr>
          <p:cNvPr id="5" name="Shape 4">
            <a:extLst>
              <a:ext uri="{FF2B5EF4-FFF2-40B4-BE49-F238E27FC236}">
                <a16:creationId xmlns:a16="http://schemas.microsoft.com/office/drawing/2014/main" id="{3D60419B-BD00-4C61-AA51-52AC809A8D5E}"/>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rotWithShape="1">
          <a:blip r:embed="rId2"/>
          <a:srcRect l="-1634" r="-816"/>
          <a:stretch/>
        </p:blipFill>
        <p:spPr bwMode="auto">
          <a:xfrm>
            <a:off x="1322773" y="2259275"/>
            <a:ext cx="9072978"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9153" y="117547"/>
            <a:ext cx="6599820" cy="415498"/>
          </a:xfrm>
          <a:prstGeom prst="rect">
            <a:avLst/>
          </a:prstGeom>
          <a:noFill/>
        </p:spPr>
        <p:txBody>
          <a:bodyPr wrap="none">
            <a:spAutoFit/>
          </a:bodyPr>
          <a:lstStyle/>
          <a:p>
            <a:pPr algn="l"/>
            <a:r>
              <a:rPr lang="es-AR" sz="2100" b="1" dirty="0">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428342" y="1188720"/>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m:t>
                        </m:r>
                      </m:sub>
                    </m:sSub>
                  </m:oMath>
                </a14:m>
                <a:r>
                  <a:rPr lang="es-AR" sz="1400" dirty="0">
                    <a:solidFill>
                      <a:srgbClr val="1A1A2E"/>
                    </a:solidFill>
                    <a:latin typeface="Calibri"/>
                  </a:rPr>
                  <a:t>: doble pulso ±6.28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428342" y="1188720"/>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
        <p:nvSpPr>
          <p:cNvPr id="10" name="Shape 2">
            <a:extLst>
              <a:ext uri="{FF2B5EF4-FFF2-40B4-BE49-F238E27FC236}">
                <a16:creationId xmlns:a16="http://schemas.microsoft.com/office/drawing/2014/main" id="{4F73D3C3-3B70-4D8D-955E-0DE7B68503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D11588B5-281D-4505-BC79-F69EED3594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E5E0C3D0-923E-47FD-B4FD-91F6262E4A2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500AFDC3-8ADA-460C-9388-E9E2B4E86E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1" name="Shape 2">
            <a:extLst>
              <a:ext uri="{FF2B5EF4-FFF2-40B4-BE49-F238E27FC236}">
                <a16:creationId xmlns:a16="http://schemas.microsoft.com/office/drawing/2014/main" id="{5634863D-8B8E-413B-8641-345DFB627C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87F7CBF-CA10-47E5-ACEA-018937E4693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rcRect/>
          <a:stretch/>
        </p:blipFill>
        <p:spPr>
          <a:xfrm>
            <a:off x="-1" y="681156"/>
            <a:ext cx="5871937" cy="4711475"/>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rcRect/>
          <a:stretch/>
        </p:blipFill>
        <p:spPr>
          <a:xfrm>
            <a:off x="5929473" y="662163"/>
            <a:ext cx="6204990"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
        <p:nvSpPr>
          <p:cNvPr id="14" name="Shape 2">
            <a:extLst>
              <a:ext uri="{FF2B5EF4-FFF2-40B4-BE49-F238E27FC236}">
                <a16:creationId xmlns:a16="http://schemas.microsoft.com/office/drawing/2014/main" id="{4A5B1CD4-E06D-491A-9CC6-8D42A91C3DF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29D29585-3B9D-438F-B508-D97C505F8EC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5863015" cy="415498"/>
          </a:xfrm>
          <a:prstGeom prst="rect">
            <a:avLst/>
          </a:prstGeom>
          <a:noFill/>
        </p:spPr>
        <p:txBody>
          <a:bodyPr wrap="none">
            <a:spAutoFit/>
          </a:bodyPr>
          <a:lstStyle/>
          <a:p>
            <a:pPr algn="l"/>
            <a:r>
              <a:rPr lang="es-AR" sz="2100" b="1" dirty="0">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rcRect/>
          <a:stretch/>
        </p:blipFill>
        <p:spPr>
          <a:xfrm>
            <a:off x="6114116" y="658367"/>
            <a:ext cx="605961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rcRect/>
          <a:stretch/>
        </p:blipFill>
        <p:spPr>
          <a:xfrm>
            <a:off x="105324" y="658368"/>
            <a:ext cx="5884894" cy="4623846"/>
          </a:xfrm>
          <a:prstGeom prst="rect">
            <a:avLst/>
          </a:prstGeom>
        </p:spPr>
      </p:pic>
      <p:sp>
        <p:nvSpPr>
          <p:cNvPr id="9" name="Shape 2">
            <a:extLst>
              <a:ext uri="{FF2B5EF4-FFF2-40B4-BE49-F238E27FC236}">
                <a16:creationId xmlns:a16="http://schemas.microsoft.com/office/drawing/2014/main" id="{7429C8DB-F505-447F-B37B-E8E225B772F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A70B4DE0-D2D3-42E7-B8CA-51A3FB08B53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97162099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81467AAA-8A13-4367-8851-BCC9A15D155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1C33BD35-B93D-4080-AA88-8446AD371BE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8" name="TextBox 23">
                <a:extLst>
                  <a:ext uri="{FF2B5EF4-FFF2-40B4-BE49-F238E27FC236}">
                    <a16:creationId xmlns:a16="http://schemas.microsoft.com/office/drawing/2014/main" id="{05947E8B-63DE-46BB-9C21-E783C1807622}"/>
                  </a:ext>
                </a:extLst>
              </p:cNvPr>
              <p:cNvSpPr txBox="1"/>
              <p:nvPr/>
            </p:nvSpPr>
            <p:spPr>
              <a:xfrm>
                <a:off x="8906257" y="879903"/>
                <a:ext cx="594359" cy="464423"/>
              </a:xfrm>
              <a:prstGeom prst="rect">
                <a:avLst/>
              </a:prstGeom>
              <a:noFill/>
            </p:spPr>
            <p:txBody>
              <a:bodyPr wrap="square">
                <a:spAutoFit/>
              </a:bodyPr>
              <a:lstStyle/>
              <a:p>
                <a:pPr algn="ctr"/>
                <a14:m>
                  <m:oMath xmlns:m="http://schemas.openxmlformats.org/officeDocument/2006/math">
                    <m:sSub>
                      <m:sSubPr>
                        <m:ctrlPr>
                          <a:rPr lang="ar-AE" sz="1400" i="1" smtClean="0">
                            <a:solidFill>
                              <a:schemeClr val="bg1"/>
                            </a:solidFill>
                            <a:latin typeface="Cambria Math" panose="02040503050406030204" pitchFamily="18" charset="0"/>
                            <a:ea typeface="Calibri" pitchFamily="34" charset="-122"/>
                            <a:cs typeface="Calibri" pitchFamily="34" charset="-120"/>
                          </a:rPr>
                        </m:ctrlPr>
                      </m:sSubPr>
                      <m:e>
                        <m:r>
                          <a:rPr lang="ar-AE" sz="1400" i="1">
                            <a:solidFill>
                              <a:schemeClr val="bg1"/>
                            </a:solidFill>
                            <a:latin typeface="Cambria Math" panose="02040503050406030204" pitchFamily="18" charset="0"/>
                            <a:ea typeface="Calibri" pitchFamily="34" charset="-122"/>
                            <a:cs typeface="Calibri" pitchFamily="34" charset="-120"/>
                          </a:rPr>
                          <m:t>𝑇</m:t>
                        </m:r>
                      </m:e>
                      <m:sub>
                        <m:r>
                          <a:rPr lang="ar-AE" sz="1400" b="0" i="1" smtClean="0">
                            <a:solidFill>
                              <a:schemeClr val="bg1"/>
                            </a:solidFill>
                            <a:latin typeface="Cambria Math" panose="02040503050406030204" pitchFamily="18" charset="0"/>
                            <a:ea typeface="Calibri" pitchFamily="34" charset="-122"/>
                            <a:cs typeface="Calibri" pitchFamily="34" charset="-120"/>
                          </a:rPr>
                          <m:t>𝑙</m:t>
                        </m:r>
                        <m:r>
                          <a:rPr lang="es-MX" sz="1400" b="0" i="1" smtClean="0">
                            <a:solidFill>
                              <a:schemeClr val="bg1"/>
                            </a:solidFill>
                            <a:latin typeface="Cambria Math" panose="02040503050406030204" pitchFamily="18" charset="0"/>
                            <a:ea typeface="Calibri" pitchFamily="34" charset="-122"/>
                            <a:cs typeface="Calibri" pitchFamily="34" charset="-120"/>
                          </a:rPr>
                          <m:t>𝑑</m:t>
                        </m:r>
                      </m:sub>
                    </m:sSub>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N·m]</a:t>
                </a:r>
                <a:endParaRPr sz="1050" b="1" dirty="0">
                  <a:solidFill>
                    <a:schemeClr val="bg1"/>
                  </a:solidFill>
                  <a:latin typeface="Calibri"/>
                </a:endParaRPr>
              </a:p>
            </p:txBody>
          </p:sp>
        </mc:Choice>
        <mc:Fallback xmlns="">
          <p:sp>
            <p:nvSpPr>
              <p:cNvPr id="28" name="TextBox 23">
                <a:extLst>
                  <a:ext uri="{FF2B5EF4-FFF2-40B4-BE49-F238E27FC236}">
                    <a16:creationId xmlns:a16="http://schemas.microsoft.com/office/drawing/2014/main" id="{05947E8B-63DE-46BB-9C21-E783C1807622}"/>
                  </a:ext>
                </a:extLst>
              </p:cNvPr>
              <p:cNvSpPr txBox="1">
                <a:spLocks noRot="1" noChangeAspect="1" noMove="1" noResize="1" noEditPoints="1" noAdjustHandles="1" noChangeArrowheads="1" noChangeShapeType="1" noTextEdit="1"/>
              </p:cNvSpPr>
              <p:nvPr/>
            </p:nvSpPr>
            <p:spPr>
              <a:xfrm>
                <a:off x="8906257" y="879903"/>
                <a:ext cx="594359" cy="464423"/>
              </a:xfrm>
              <a:prstGeom prst="rect">
                <a:avLst/>
              </a:prstGeom>
              <a:blipFill>
                <a:blip r:embed="rId4"/>
                <a:stretch>
                  <a:fillRect b="-6494"/>
                </a:stretch>
              </a:blipFill>
            </p:spPr>
            <p:txBody>
              <a:bodyPr/>
              <a:lstStyle/>
              <a:p>
                <a:r>
                  <a:rPr lang="es-AR">
                    <a:noFill/>
                  </a:rPr>
                  <a:t> </a:t>
                </a:r>
              </a:p>
            </p:txBody>
          </p:sp>
        </mc:Fallback>
      </mc:AlternateContent>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0" name="TextBox 25">
                <a:extLst>
                  <a:ext uri="{FF2B5EF4-FFF2-40B4-BE49-F238E27FC236}">
                    <a16:creationId xmlns:a16="http://schemas.microsoft.com/office/drawing/2014/main" id="{F4A45EC6-BB19-4D3F-877D-ACEC3109C603}"/>
                  </a:ext>
                </a:extLst>
              </p:cNvPr>
              <p:cNvSpPr txBox="1"/>
              <p:nvPr/>
            </p:nvSpPr>
            <p:spPr>
              <a:xfrm>
                <a:off x="9546335" y="859764"/>
                <a:ext cx="548641" cy="485967"/>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bg1"/>
                            </a:solidFill>
                            <a:latin typeface="Cambria Math" panose="02040503050406030204" pitchFamily="18" charset="0"/>
                          </a:rPr>
                        </m:ctrlPr>
                      </m:sSubSupPr>
                      <m:e>
                        <m:r>
                          <a:rPr lang="ar-AE" sz="1400">
                            <a:solidFill>
                              <a:schemeClr val="bg1"/>
                            </a:solidFill>
                            <a:latin typeface="Cambria Math" panose="02040503050406030204" pitchFamily="18" charset="0"/>
                          </a:rPr>
                          <m:t>𝑣</m:t>
                        </m:r>
                      </m:e>
                      <m:sub>
                        <m:r>
                          <a:rPr lang="ar-AE" sz="1400">
                            <a:solidFill>
                              <a:schemeClr val="bg1"/>
                            </a:solidFill>
                            <a:latin typeface="Cambria Math" panose="02040503050406030204" pitchFamily="18" charset="0"/>
                          </a:rPr>
                          <m:t>𝑞𝑠</m:t>
                        </m:r>
                      </m:sub>
                      <m:sup>
                        <m:r>
                          <a:rPr lang="ar-AE" sz="1400">
                            <a:solidFill>
                              <a:schemeClr val="bg1"/>
                            </a:solidFill>
                            <a:latin typeface="Cambria Math" panose="02040503050406030204" pitchFamily="18" charset="0"/>
                          </a:rPr>
                          <m:t>𝑟</m:t>
                        </m:r>
                      </m:sup>
                    </m:sSubSup>
                    <m:r>
                      <a:rPr lang="ar-AE" sz="1400" i="1">
                        <a:solidFill>
                          <a:schemeClr val="bg1"/>
                        </a:solidFill>
                        <a:latin typeface="Cambria Math" panose="02040503050406030204" pitchFamily="18" charset="0"/>
                      </a:rPr>
                      <m:t> </m:t>
                    </m:r>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V]</a:t>
                </a:r>
              </a:p>
            </p:txBody>
          </p:sp>
        </mc:Choice>
        <mc:Fallback xmlns="">
          <p:sp>
            <p:nvSpPr>
              <p:cNvPr id="30" name="TextBox 25">
                <a:extLst>
                  <a:ext uri="{FF2B5EF4-FFF2-40B4-BE49-F238E27FC236}">
                    <a16:creationId xmlns:a16="http://schemas.microsoft.com/office/drawing/2014/main" id="{F4A45EC6-BB19-4D3F-877D-ACEC3109C603}"/>
                  </a:ext>
                </a:extLst>
              </p:cNvPr>
              <p:cNvSpPr txBox="1">
                <a:spLocks noRot="1" noChangeAspect="1" noMove="1" noResize="1" noEditPoints="1" noAdjustHandles="1" noChangeArrowheads="1" noChangeShapeType="1" noTextEdit="1"/>
              </p:cNvSpPr>
              <p:nvPr/>
            </p:nvSpPr>
            <p:spPr>
              <a:xfrm>
                <a:off x="9546335" y="859764"/>
                <a:ext cx="548641" cy="485967"/>
              </a:xfrm>
              <a:prstGeom prst="rect">
                <a:avLst/>
              </a:prstGeom>
              <a:blipFill>
                <a:blip r:embed="rId5"/>
                <a:stretch>
                  <a:fillRect b="-6250"/>
                </a:stretch>
              </a:blipFill>
            </p:spPr>
            <p:txBody>
              <a:bodyPr/>
              <a:lstStyle/>
              <a:p>
                <a:r>
                  <a:rPr lang="es-AR">
                    <a:noFill/>
                  </a:rPr>
                  <a:t> </a:t>
                </a:r>
              </a:p>
            </p:txBody>
          </p:sp>
        </mc:Fallback>
      </mc:AlternateContent>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9840" y="859942"/>
                <a:ext cx="630936"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𝜔</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9840" y="859942"/>
                <a:ext cx="630936" cy="464423"/>
              </a:xfrm>
              <a:prstGeom prst="rect">
                <a:avLst/>
              </a:prstGeom>
              <a:blipFill>
                <a:blip r:embed="rId6"/>
                <a:stretch>
                  <a:fillRect b="-7895"/>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888981"/>
                <a:ext cx="585215"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𝑇</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888981"/>
                <a:ext cx="585215" cy="464423"/>
              </a:xfrm>
              <a:prstGeom prst="rect">
                <a:avLst/>
              </a:prstGeom>
              <a:blipFill>
                <a:blip r:embed="rId7"/>
                <a:stretch>
                  <a:fillRect b="-7895"/>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518903" y="1323380"/>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
        <p:nvSpPr>
          <p:cNvPr id="255" name="Shape 2">
            <a:extLst>
              <a:ext uri="{FF2B5EF4-FFF2-40B4-BE49-F238E27FC236}">
                <a16:creationId xmlns:a16="http://schemas.microsoft.com/office/drawing/2014/main" id="{7A162447-8E9E-431F-8149-D9F8735A808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56" name="Text 3">
            <a:extLst>
              <a:ext uri="{FF2B5EF4-FFF2-40B4-BE49-F238E27FC236}">
                <a16:creationId xmlns:a16="http://schemas.microsoft.com/office/drawing/2014/main" id="{2DF6ED85-A63B-4136-9C7B-CE8B790A5C5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457373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p:sp>
        <p:nvSpPr>
          <p:cNvPr id="17" name="Shape 2">
            <a:extLst>
              <a:ext uri="{FF2B5EF4-FFF2-40B4-BE49-F238E27FC236}">
                <a16:creationId xmlns:a16="http://schemas.microsoft.com/office/drawing/2014/main" id="{1CE01814-9600-4AEF-BDF0-744B4D83E99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AC5BD68-9430-46F7-90AE-2D05E2EA6DF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71994" y="130174"/>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a:t>
            </a:r>
            <a:r>
              <a:rPr sz="2100" b="1" dirty="0" err="1">
                <a:solidFill>
                  <a:srgbClr val="FFFFFF"/>
                </a:solidFill>
                <a:latin typeface="Cambria"/>
              </a:rPr>
              <a:t>Valores</a:t>
            </a:r>
            <a:r>
              <a:rPr sz="2100" b="1" dirty="0">
                <a:solidFill>
                  <a:srgbClr val="FFFFFF"/>
                </a:solidFill>
                <a:latin typeface="Cambria"/>
              </a:rPr>
              <a:t> de </a:t>
            </a:r>
            <a:r>
              <a:rPr sz="2100" b="1" dirty="0" err="1">
                <a:solidFill>
                  <a:srgbClr val="FFFFFF"/>
                </a:solidFill>
                <a:latin typeface="Cambria"/>
              </a:rPr>
              <a:t>establecimiento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lang="es-A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357155"/>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357155"/>
              </a:xfrm>
              <a:prstGeom prst="rect">
                <a:avLst/>
              </a:prstGeom>
              <a:blipFill>
                <a:blip r:embed="rId4"/>
                <a:stretch>
                  <a:fillRect l="-642" t="-420" r="-1178" b="-839"/>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0C141F22-F7EB-4D51-9B98-6F1FC6853F8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ADD542E5-309A-4DD4-A463-49CEAD352D9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=±0.5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E4FF14AB-BB78-408D-95E3-BC8E15106AD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7FBEB7B7-F20F-46A1-838A-B4A405BE833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0256994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9596</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5</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BBE4DB17-AF0A-4661-B7DE-830302ECB74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0D9FE4DC-D15D-4403-BF49-65E139591E3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1958247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
        <p:nvSpPr>
          <p:cNvPr id="8" name="Shape 2">
            <a:extLst>
              <a:ext uri="{FF2B5EF4-FFF2-40B4-BE49-F238E27FC236}">
                <a16:creationId xmlns:a16="http://schemas.microsoft.com/office/drawing/2014/main" id="{063FFE7D-A6E3-4CC1-B323-C85423966D0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F90C6B3C-720B-46E6-B974-5CB64BAD75B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0423403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
        <p:nvSpPr>
          <p:cNvPr id="4" name="Shape 4">
            <a:extLst>
              <a:ext uri="{FF2B5EF4-FFF2-40B4-BE49-F238E27FC236}">
                <a16:creationId xmlns:a16="http://schemas.microsoft.com/office/drawing/2014/main" id="{48310B8E-CE7E-4936-AE50-D6846DB98121}"/>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6E2D4AFC-E308-4676-A366-47E0821BF784}"/>
                  </a:ext>
                </a:extLst>
              </p:cNvPr>
              <p:cNvSpPr txBox="1"/>
              <p:nvPr/>
            </p:nvSpPr>
            <p:spPr>
              <a:xfrm>
                <a:off x="365760" y="2689165"/>
                <a:ext cx="11217250" cy="2496133"/>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r>
                  <a:rPr lang="es-AR" sz="1600" dirty="0">
                    <a:latin typeface="Calibri" panose="020F0502020204030204" pitchFamily="34" charset="0"/>
                    <a:ea typeface="Calibri" panose="020F0502020204030204" pitchFamily="34" charset="0"/>
                  </a:rPr>
                  <a:t> Se basa en el modelo dinámico linealizado del sistema expresado en el marco de referencia </a:t>
                </a:r>
                <a14:m>
                  <m:oMath xmlns:m="http://schemas.openxmlformats.org/officeDocument/2006/math">
                    <m:sSup>
                      <m:sSupPr>
                        <m:ctrlPr>
                          <a:rPr lang="es-AR" sz="1600" i="1">
                            <a:latin typeface="Cambria Math" panose="02040503050406030204" pitchFamily="18" charset="0"/>
                            <a:ea typeface="Calibri" panose="020F0502020204030204" pitchFamily="34" charset="0"/>
                          </a:rPr>
                        </m:ctrlPr>
                      </m:sSupPr>
                      <m:e>
                        <m:r>
                          <a:rPr lang="es-AR" sz="1600">
                            <a:latin typeface="Cambria Math" panose="02040503050406030204" pitchFamily="18" charset="0"/>
                            <a:ea typeface="Calibri" panose="020F0502020204030204" pitchFamily="34" charset="0"/>
                          </a:rPr>
                          <m:t>𝑞𝑑</m:t>
                        </m:r>
                        <m:r>
                          <a:rPr lang="es-AR" sz="1600">
                            <a:latin typeface="Cambria Math" panose="02040503050406030204" pitchFamily="18" charset="0"/>
                            <a:ea typeface="Calibri" panose="020F0502020204030204" pitchFamily="34" charset="0"/>
                          </a:rPr>
                          <m:t>0</m:t>
                        </m:r>
                      </m:e>
                      <m:sup>
                        <m:r>
                          <a:rPr lang="es-AR" sz="1600">
                            <a:latin typeface="Cambria Math" panose="02040503050406030204" pitchFamily="18" charset="0"/>
                            <a:ea typeface="Calibri" panose="020F0502020204030204" pitchFamily="34" charset="0"/>
                          </a:rPr>
                          <m:t>𝑟</m:t>
                        </m:r>
                      </m:sup>
                    </m:sSup>
                  </m:oMath>
                </a14:m>
                <a:r>
                  <a:rPr lang="es-AR" sz="16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endParaRPr lang="es-AR" sz="1600" dirty="0">
                  <a:latin typeface="Calibri"/>
                </a:endParaRP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mc:Choice>
        <mc:Fallback xmlns="">
          <p:sp>
            <p:nvSpPr>
              <p:cNvPr id="14" name="CuadroTexto 13">
                <a:extLst>
                  <a:ext uri="{FF2B5EF4-FFF2-40B4-BE49-F238E27FC236}">
                    <a16:creationId xmlns:a16="http://schemas.microsoft.com/office/drawing/2014/main" id="{6E2D4AFC-E308-4676-A366-47E0821BF784}"/>
                  </a:ext>
                </a:extLst>
              </p:cNvPr>
              <p:cNvSpPr txBox="1">
                <a:spLocks noRot="1" noChangeAspect="1" noMove="1" noResize="1" noEditPoints="1" noAdjustHandles="1" noChangeArrowheads="1" noChangeShapeType="1" noTextEdit="1"/>
              </p:cNvSpPr>
              <p:nvPr/>
            </p:nvSpPr>
            <p:spPr>
              <a:xfrm>
                <a:off x="365760" y="2689165"/>
                <a:ext cx="11217250" cy="2496133"/>
              </a:xfrm>
              <a:prstGeom prst="rect">
                <a:avLst/>
              </a:prstGeom>
              <a:blipFill>
                <a:blip r:embed="rId2"/>
                <a:stretch>
                  <a:fillRect l="-272" t="-488" r="-272" b="-2195"/>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2DD9985C-73BA-4B1C-8A2A-B735A3AD1D8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D490DB2B-E035-48A3-983E-EC38E31977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01967" y="3178313"/>
            <a:ext cx="11285737"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1538154"/>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22695"/>
                <a:ext cx="11643055"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transformación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22695"/>
                <a:ext cx="11643055" cy="523220"/>
              </a:xfrm>
              <a:prstGeom prst="rect">
                <a:avLst/>
              </a:prstGeom>
              <a:blipFill>
                <a:blip r:embed="rId2"/>
                <a:stretch>
                  <a:fillRect l="-157" t="-2326" b="-104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115857" y="1591489"/>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115857" y="1591489"/>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14521" y="211664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559291" y="3222044"/>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559291" y="3222044"/>
                <a:ext cx="4714490" cy="1608902"/>
              </a:xfrm>
              <a:prstGeom prst="rect">
                <a:avLst/>
              </a:prstGeom>
              <a:blipFill>
                <a:blip r:embed="rId4"/>
                <a:stretch>
                  <a:fillRect l="-2458" r="-142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201967" y="5107450"/>
                <a:ext cx="11383392" cy="755271"/>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201967" y="5107450"/>
                <a:ext cx="11383392" cy="755271"/>
              </a:xfrm>
              <a:prstGeom prst="rect">
                <a:avLst/>
              </a:prstGeom>
              <a:blipFill>
                <a:blip r:embed="rId5"/>
                <a:stretch>
                  <a:fillRect l="-161" t="-806" r="-161" b="-7258"/>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DE230A35-33E7-4BA4-99FB-96707DE6BE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6CDBB0F7-993D-45C6-B754-6A64CA824A1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49346F34-CB4D-4D3A-96BA-1413BBFB4AE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A0C04DAB-FCE4-4164-803D-01C982FDE5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4978608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
        <p:nvSpPr>
          <p:cNvPr id="9" name="Shape 2">
            <a:extLst>
              <a:ext uri="{FF2B5EF4-FFF2-40B4-BE49-F238E27FC236}">
                <a16:creationId xmlns:a16="http://schemas.microsoft.com/office/drawing/2014/main" id="{6D441CE2-4E83-4CEA-A4BF-9C1453A3FF9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FA3C24C-57DB-4329-91EC-17BB2CB8815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9371837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03902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El </a:t>
                </a:r>
                <a:r>
                  <a:rPr lang="es-AR" sz="1400" dirty="0">
                    <a:effectLst/>
                    <a:latin typeface="Calibri" panose="020F0502020204030204" pitchFamily="34" charset="0"/>
                    <a:ea typeface="Calibri" panose="020F0502020204030204" pitchFamily="34" charset="0"/>
                    <a:cs typeface="Calibri" panose="020F0502020204030204" pitchFamily="34" charset="0"/>
                  </a:rPr>
                  <a:t>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039020"/>
              </a:xfrm>
              <a:prstGeom prst="rect">
                <a:avLst/>
              </a:prstGeom>
              <a:blipFill>
                <a:blip r:embed="rId2"/>
                <a:stretch>
                  <a:fillRect l="-155" t="-29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239A412A-7335-4C00-9E35-B74EB37D557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877AE57F-C662-4235-A070-66572E399BD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a:t>
                </a:r>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29</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33</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4</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
        <p:nvSpPr>
          <p:cNvPr id="10" name="Shape 2">
            <a:extLst>
              <a:ext uri="{FF2B5EF4-FFF2-40B4-BE49-F238E27FC236}">
                <a16:creationId xmlns:a16="http://schemas.microsoft.com/office/drawing/2014/main" id="{F97CCC8C-46F5-4B6B-A362-3233E5198A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1DB57E92-4BC0-48DE-BF51-548C4E5ED4F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1709453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28752" y="4601237"/>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738664"/>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 </a:t>
                </a:r>
                <a:br>
                  <a:rPr lang="es-MX" sz="1400" dirty="0"/>
                </a:br>
                <a:r>
                  <a:rPr lang="es-MX" sz="1400" dirty="0"/>
                  <a:t>Se obtiene la relación entre las consignas de corriente y la consigna de torque deseada:</a:t>
                </a:r>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738664"/>
              </a:xfrm>
              <a:prstGeom prst="rect">
                <a:avLst/>
              </a:prstGeom>
              <a:blipFill>
                <a:blip r:embed="rId2"/>
                <a:stretch>
                  <a:fillRect l="-160" t="-2479" b="-7438"/>
                </a:stretch>
              </a:blipFill>
            </p:spPr>
            <p:txBody>
              <a:bodyPr/>
              <a:lstStyle/>
              <a:p>
                <a:r>
                  <a:rPr lang="es-AR">
                    <a:noFill/>
                  </a:rPr>
                  <a:t> </a:t>
                </a:r>
              </a:p>
            </p:txBody>
          </p:sp>
        </mc:Fallback>
      </mc:AlternateContent>
      <p:sp>
        <p:nvSpPr>
          <p:cNvPr id="8" name="Rectangle 7"/>
          <p:cNvSpPr/>
          <p:nvPr/>
        </p:nvSpPr>
        <p:spPr>
          <a:xfrm>
            <a:off x="213512" y="1513749"/>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526981"/>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526981"/>
                <a:ext cx="3741050" cy="434158"/>
              </a:xfrm>
              <a:prstGeom prst="rect">
                <a:avLst/>
              </a:prstGeom>
              <a:blipFill>
                <a:blip r:embed="rId3"/>
                <a:stretch>
                  <a:fillRect b="-2778"/>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2105544"/>
            <a:ext cx="11876538" cy="1169551"/>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actuando de manera preventiva.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3268265"/>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3268265"/>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3268265"/>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213512" y="4099937"/>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4578958"/>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4578958"/>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dirty="0"/>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
        <p:nvSpPr>
          <p:cNvPr id="16" name="Shape 2">
            <a:extLst>
              <a:ext uri="{FF2B5EF4-FFF2-40B4-BE49-F238E27FC236}">
                <a16:creationId xmlns:a16="http://schemas.microsoft.com/office/drawing/2014/main" id="{AF9F5F0B-188A-4A1A-9E81-8E6C6010F2D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0E200651-F0BE-4087-A7C5-087F729DDA0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3"/>
          <a:srcRect/>
          <a:stretch/>
        </p:blipFill>
        <p:spPr>
          <a:xfrm>
            <a:off x="80652" y="761883"/>
            <a:ext cx="6497701" cy="3312420"/>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143916" y="606869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
        <p:nvSpPr>
          <p:cNvPr id="10" name="Shape 2">
            <a:extLst>
              <a:ext uri="{FF2B5EF4-FFF2-40B4-BE49-F238E27FC236}">
                <a16:creationId xmlns:a16="http://schemas.microsoft.com/office/drawing/2014/main" id="{84CDED2B-BE29-4E13-BA83-1A3F399B5B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2D7F693-9753-4C2B-B4FD-1F65F356A1A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7" name="Imagen 6">
            <a:extLst>
              <a:ext uri="{FF2B5EF4-FFF2-40B4-BE49-F238E27FC236}">
                <a16:creationId xmlns:a16="http://schemas.microsoft.com/office/drawing/2014/main" id="{FF46F6BC-8810-4171-9482-9FC43F26766D}"/>
              </a:ext>
            </a:extLst>
          </p:cNvPr>
          <p:cNvPicPr>
            <a:picLocks noChangeAspect="1"/>
          </p:cNvPicPr>
          <p:nvPr/>
        </p:nvPicPr>
        <p:blipFill>
          <a:blip r:embed="rId4"/>
          <a:stretch>
            <a:fillRect/>
          </a:stretch>
        </p:blipFill>
        <p:spPr>
          <a:xfrm>
            <a:off x="4364576" y="3025517"/>
            <a:ext cx="7746772" cy="3096473"/>
          </a:xfrm>
          <a:prstGeom prst="rect">
            <a:avLst/>
          </a:prstGeom>
        </p:spPr>
      </p:pic>
    </p:spTree>
    <p:extLst>
      <p:ext uri="{BB962C8B-B14F-4D97-AF65-F5344CB8AC3E}">
        <p14:creationId xmlns:p14="http://schemas.microsoft.com/office/powerpoint/2010/main" val="140903057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
        <p:nvSpPr>
          <p:cNvPr id="5" name="Shape 4">
            <a:extLst>
              <a:ext uri="{FF2B5EF4-FFF2-40B4-BE49-F238E27FC236}">
                <a16:creationId xmlns:a16="http://schemas.microsoft.com/office/drawing/2014/main" id="{030235C3-D523-400D-93E4-C8874C5EA4BB}"/>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1606" y="99835"/>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D97017DD-3277-4E25-9730-01F843BBB52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5D1A550-1B2F-4138-A9A2-3F53FE3B4EF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85146" y="113877"/>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DA088553-DDC9-4DF5-824A-8089A3413CC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C0FF2FB2-94B1-4B7C-A589-304E902A5AB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49694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8940"/>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Polos y </a:t>
            </a:r>
            <a:r>
              <a:rPr sz="2100" b="1" dirty="0" err="1">
                <a:solidFill>
                  <a:srgbClr val="FFFFFF"/>
                </a:solidFill>
                <a:latin typeface="Cambria"/>
              </a:rPr>
              <a:t>estabilidad</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
        <p:nvSpPr>
          <p:cNvPr id="17" name="Shape 2">
            <a:extLst>
              <a:ext uri="{FF2B5EF4-FFF2-40B4-BE49-F238E27FC236}">
                <a16:creationId xmlns:a16="http://schemas.microsoft.com/office/drawing/2014/main" id="{F86B6778-6EED-4105-8746-98647D8B90A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B09C948-0EBD-41CA-AA58-1AA2998234F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024"/>
            <a:ext cx="11551615" cy="658368"/>
          </a:xfrm>
          <a:prstGeom prst="rect">
            <a:avLst/>
          </a:prstGeom>
          <a:noFill/>
        </p:spPr>
        <p:txBody>
          <a:bodyPr wrap="none">
            <a:spAutoFit/>
          </a:bodyPr>
          <a:lstStyle/>
          <a:p>
            <a:pPr algn="l"/>
            <a:r>
              <a:rPr sz="2100" b="1" dirty="0">
                <a:solidFill>
                  <a:srgbClr val="FFFFFF"/>
                </a:solidFill>
                <a:latin typeface="Cambria"/>
              </a:rPr>
              <a:t>Set-point de </a:t>
            </a:r>
            <a:r>
              <a:rPr sz="2100" b="1" dirty="0" err="1">
                <a:solidFill>
                  <a:srgbClr val="FFFFFF"/>
                </a:solidFill>
                <a:latin typeface="Cambria"/>
              </a:rPr>
              <a:t>posición</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
        <p:nvSpPr>
          <p:cNvPr id="13" name="Shape 2">
            <a:extLst>
              <a:ext uri="{FF2B5EF4-FFF2-40B4-BE49-F238E27FC236}">
                <a16:creationId xmlns:a16="http://schemas.microsoft.com/office/drawing/2014/main" id="{C218C579-0388-44A7-B884-CE7413FDB5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0C8A6E9C-D87F-4224-904C-59C55FF67E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8225076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
        <p:nvSpPr>
          <p:cNvPr id="5" name="Shape 4">
            <a:extLst>
              <a:ext uri="{FF2B5EF4-FFF2-40B4-BE49-F238E27FC236}">
                <a16:creationId xmlns:a16="http://schemas.microsoft.com/office/drawing/2014/main" id="{48BEC760-AC5E-4178-AEC8-5C091D4CAC7A}"/>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472" y="106511"/>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A7FAA145-2C6F-4207-96A5-CA196531109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3" name="Text 3">
            <a:extLst>
              <a:ext uri="{FF2B5EF4-FFF2-40B4-BE49-F238E27FC236}">
                <a16:creationId xmlns:a16="http://schemas.microsoft.com/office/drawing/2014/main" id="{F22E5FAB-DE83-49F7-BB93-2C8957C78F5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n 25">
            <a:extLst>
              <a:ext uri="{FF2B5EF4-FFF2-40B4-BE49-F238E27FC236}">
                <a16:creationId xmlns:a16="http://schemas.microsoft.com/office/drawing/2014/main" id="{B43C3E9C-51E4-42F8-A725-3C8829DDEFDF}"/>
              </a:ext>
            </a:extLst>
          </p:cNvPr>
          <p:cNvPicPr/>
          <p:nvPr/>
        </p:nvPicPr>
        <p:blipFill>
          <a:blip r:embed="rId2"/>
          <a:srcRect/>
          <a:stretch/>
        </p:blipFill>
        <p:spPr>
          <a:xfrm>
            <a:off x="2210620" y="2847066"/>
            <a:ext cx="7272426" cy="3223654"/>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9830" y="101084"/>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3"/>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5"/>
                <a:stretch>
                  <a:fillRect/>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F554A308-3CE6-43AA-84C1-1C61C1DA4EBB}"/>
              </a:ext>
            </a:extLst>
          </p:cNvPr>
          <p:cNvSpPr txBox="1"/>
          <p:nvPr/>
        </p:nvSpPr>
        <p:spPr>
          <a:xfrm>
            <a:off x="4155255" y="6117863"/>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
        <p:nvSpPr>
          <p:cNvPr id="15" name="Shape 2">
            <a:extLst>
              <a:ext uri="{FF2B5EF4-FFF2-40B4-BE49-F238E27FC236}">
                <a16:creationId xmlns:a16="http://schemas.microsoft.com/office/drawing/2014/main" id="{52BEB054-17D1-43A8-984D-91DB4C8A4E1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630444CC-1A9A-4EBD-9BC9-F18F8FE2C3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7474582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
        <p:nvSpPr>
          <p:cNvPr id="5" name="Shape 4">
            <a:extLst>
              <a:ext uri="{FF2B5EF4-FFF2-40B4-BE49-F238E27FC236}">
                <a16:creationId xmlns:a16="http://schemas.microsoft.com/office/drawing/2014/main" id="{5480A3CE-E5A4-41F1-8EBB-50C4BFC2B1C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167"/>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7"/>
            <a:ext cx="3762357" cy="2678367"/>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rotWithShape="1">
          <a:blip r:embed="rId5"/>
          <a:srcRect l="-3567" r="-1122"/>
          <a:stretch/>
        </p:blipFill>
        <p:spPr bwMode="auto">
          <a:xfrm>
            <a:off x="3829680" y="1380057"/>
            <a:ext cx="3762357" cy="2695323"/>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rotWithShape="1">
          <a:blip r:embed="rId6"/>
          <a:srcRect l="-3191" r="-787"/>
          <a:stretch/>
        </p:blipFill>
        <p:spPr bwMode="auto">
          <a:xfrm>
            <a:off x="7592038" y="1380056"/>
            <a:ext cx="3996738" cy="2750187"/>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58425"/>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097478"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097478" y="4058425"/>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29477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29477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
        <p:nvSpPr>
          <p:cNvPr id="14" name="Shape 2">
            <a:extLst>
              <a:ext uri="{FF2B5EF4-FFF2-40B4-BE49-F238E27FC236}">
                <a16:creationId xmlns:a16="http://schemas.microsoft.com/office/drawing/2014/main" id="{5EBBAB15-9550-4660-B8A5-CB43C9AEAD2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79343C35-30C7-451B-8C3B-BB9C08A197E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6104"/>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rotWithShape="1">
          <a:blip r:embed="rId4"/>
          <a:srcRect l="-2388" r="-823"/>
          <a:stretch/>
        </p:blipFill>
        <p:spPr bwMode="auto">
          <a:xfrm>
            <a:off x="274320" y="1102407"/>
            <a:ext cx="5288992" cy="3247650"/>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rotWithShape="1">
          <a:blip r:embed="rId5"/>
          <a:srcRect l="-3357" r="-6805"/>
          <a:stretch/>
        </p:blipFill>
        <p:spPr bwMode="auto">
          <a:xfrm>
            <a:off x="5947874" y="1102407"/>
            <a:ext cx="5580404" cy="3316069"/>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90894"/>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90894"/>
                <a:ext cx="11787353" cy="1491177"/>
              </a:xfrm>
              <a:prstGeom prst="rect">
                <a:avLst/>
              </a:prstGeom>
              <a:blipFill>
                <a:blip r:embed="rId6"/>
                <a:stretch>
                  <a:fillRect l="-155" t="-408" r="-103" b="-3265"/>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D64C0AE-D2B1-47B1-A136-2460EA20372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E28F1685-7A62-41DF-BF47-4E95EE68416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477262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82159"/>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rotWithShape="1">
          <a:blip r:embed="rId4"/>
          <a:srcRect l="-1150" r="-945" b="-4093"/>
          <a:stretch/>
        </p:blipFill>
        <p:spPr bwMode="auto">
          <a:xfrm>
            <a:off x="-45879" y="759268"/>
            <a:ext cx="4074055" cy="2914420"/>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rotWithShape="1">
          <a:blip r:embed="rId5"/>
          <a:srcRect l="708" r="-1199"/>
          <a:stretch/>
        </p:blipFill>
        <p:spPr bwMode="auto">
          <a:xfrm>
            <a:off x="4028177" y="755967"/>
            <a:ext cx="4074054"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rotWithShape="1">
          <a:blip r:embed="rId6"/>
          <a:srcRect l="-5998" t="-2455" r="-1" b="231"/>
          <a:stretch/>
        </p:blipFill>
        <p:spPr bwMode="auto">
          <a:xfrm>
            <a:off x="7955187" y="709524"/>
            <a:ext cx="423650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rotWithShape="1">
          <a:blip r:embed="rId8"/>
          <a:srcRect l="-4129" r="-3601"/>
          <a:stretch/>
        </p:blipFill>
        <p:spPr bwMode="auto">
          <a:xfrm>
            <a:off x="-45879" y="4007978"/>
            <a:ext cx="3634893" cy="2417912"/>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8" name="Shape 2">
            <a:extLst>
              <a:ext uri="{FF2B5EF4-FFF2-40B4-BE49-F238E27FC236}">
                <a16:creationId xmlns:a16="http://schemas.microsoft.com/office/drawing/2014/main" id="{A3C6A6B6-B076-45DD-A2B4-000DEFD369D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2" name="Text 3">
            <a:extLst>
              <a:ext uri="{FF2B5EF4-FFF2-40B4-BE49-F238E27FC236}">
                <a16:creationId xmlns:a16="http://schemas.microsoft.com/office/drawing/2014/main" id="{D0763BF3-8321-43D6-ABC0-2EC0E2BDD38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03955516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613"/>
            <a:ext cx="11551615" cy="658368"/>
          </a:xfrm>
          <a:prstGeom prst="rect">
            <a:avLst/>
          </a:prstGeom>
          <a:noFill/>
        </p:spPr>
        <p:txBody>
          <a:bodyPr wrap="none">
            <a:spAutoFit/>
          </a:bodyPr>
          <a:lstStyle/>
          <a:p>
            <a:pPr algn="l"/>
            <a:r>
              <a:rPr sz="2100" b="1" dirty="0" err="1">
                <a:solidFill>
                  <a:srgbClr val="FFFFFF"/>
                </a:solidFill>
                <a:latin typeface="Cambria"/>
              </a:rPr>
              <a:t>Rechazo</a:t>
            </a:r>
            <a:r>
              <a:rPr sz="2100" b="1" dirty="0">
                <a:solidFill>
                  <a:srgbClr val="FFFFFF"/>
                </a:solidFill>
                <a:latin typeface="Cambria"/>
              </a:rPr>
              <a:t> a </a:t>
            </a:r>
            <a:r>
              <a:rPr sz="2100" b="1" dirty="0" err="1">
                <a:solidFill>
                  <a:srgbClr val="FFFFFF"/>
                </a:solidFill>
                <a:latin typeface="Cambria"/>
              </a:rPr>
              <a:t>perturbaciones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3"/>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4"/>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5"/>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6"/>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7">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
        <p:nvSpPr>
          <p:cNvPr id="19" name="Shape 2">
            <a:extLst>
              <a:ext uri="{FF2B5EF4-FFF2-40B4-BE49-F238E27FC236}">
                <a16:creationId xmlns:a16="http://schemas.microsoft.com/office/drawing/2014/main" id="{BABB2CB2-FEC1-4A08-9FCE-5033699B1A0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45EAF211-E266-4BF9-B7F9-FDEE7E303BB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
        <p:nvSpPr>
          <p:cNvPr id="5" name="Shape 4">
            <a:extLst>
              <a:ext uri="{FF2B5EF4-FFF2-40B4-BE49-F238E27FC236}">
                <a16:creationId xmlns:a16="http://schemas.microsoft.com/office/drawing/2014/main" id="{F1DC7B78-74F9-482B-ADCD-F312C9F6E530}"/>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2417"/>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2651962099"/>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smtClean="0">
                                    <a:effectLst/>
                                    <a:latin typeface="Cambria Math" panose="02040503050406030204" pitchFamily="18" charset="0"/>
                                  </a:rPr>
                                  <m:t>45</m:t>
                                </m:r>
                                <m:r>
                                  <a:rPr lang="es-AR" sz="1100" smtClean="0">
                                    <a:effectLst/>
                                    <a:latin typeface="Cambria Math" panose="02040503050406030204" pitchFamily="18" charset="0"/>
                                  </a:rPr>
                                  <m:t>.</m:t>
                                </m:r>
                                <m:r>
                                  <a:rPr lang="es-AR" sz="1100" smtClean="0">
                                    <a:effectLst/>
                                    <a:latin typeface="Cambria Math" panose="02040503050406030204" pitchFamily="18" charset="0"/>
                                  </a:rPr>
                                  <m:t>0</m:t>
                                </m:r>
                                <m:r>
                                  <a:rPr lang="es-AR" sz="1100" smtClean="0">
                                    <a:effectLst/>
                                    <a:latin typeface="Cambria Math" panose="02040503050406030204" pitchFamily="18" charset="0"/>
                                  </a:rPr>
                                  <m:t>  </m:t>
                                </m:r>
                                <m:r>
                                  <a:rPr lang="es-AR" sz="1100" smtClean="0">
                                    <a:effectLst/>
                                    <a:latin typeface="Cambria Math" panose="02040503050406030204" pitchFamily="18" charset="0"/>
                                  </a:rPr>
                                  <m:t>𝑁</m:t>
                                </m:r>
                                <m:r>
                                  <a:rPr lang="es-AR" sz="1100" smtClean="0">
                                    <a:effectLst/>
                                    <a:latin typeface="Cambria Math" panose="02040503050406030204" pitchFamily="18" charset="0"/>
                                  </a:rPr>
                                  <m:t>.</m:t>
                                </m:r>
                                <m:r>
                                  <a:rPr lang="es-AR" sz="1100" smtClean="0">
                                    <a:effectLst/>
                                    <a:latin typeface="Cambria Math" panose="02040503050406030204" pitchFamily="18" charset="0"/>
                                  </a:rPr>
                                  <m:t>𝑚</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2651962099"/>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
        <p:nvSpPr>
          <p:cNvPr id="11" name="Shape 2">
            <a:extLst>
              <a:ext uri="{FF2B5EF4-FFF2-40B4-BE49-F238E27FC236}">
                <a16:creationId xmlns:a16="http://schemas.microsoft.com/office/drawing/2014/main" id="{8AA5AC5B-3D5E-4FE3-9E45-B2F0132CE5D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9FD6D717-42EF-4AFA-957E-07CEEDFB8E1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8173"/>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srcRect l="-2360" r="-7860"/>
          <a:stretch/>
        </p:blipFill>
        <p:spPr bwMode="auto">
          <a:xfrm>
            <a:off x="1946246" y="871433"/>
            <a:ext cx="8548381"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
        <p:nvSpPr>
          <p:cNvPr id="8" name="Shape 2">
            <a:extLst>
              <a:ext uri="{FF2B5EF4-FFF2-40B4-BE49-F238E27FC236}">
                <a16:creationId xmlns:a16="http://schemas.microsoft.com/office/drawing/2014/main" id="{240E8FA4-96E7-4138-B987-ED8F154384E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BA817797-FAC4-4B8A-9BFE-85CCBB90805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3941075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590"/>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
        <p:nvSpPr>
          <p:cNvPr id="12" name="Shape 2">
            <a:extLst>
              <a:ext uri="{FF2B5EF4-FFF2-40B4-BE49-F238E27FC236}">
                <a16:creationId xmlns:a16="http://schemas.microsoft.com/office/drawing/2014/main" id="{F84031A5-D1AC-49B4-8D96-CB8A1D5D61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F3174D3-BFEF-4F57-9409-79F07D8D7C1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946784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A8BE010C-9E72-40EC-AB4B-412DDC01C099}"/>
              </a:ext>
            </a:extLst>
          </p:cNvPr>
          <p:cNvPicPr/>
          <p:nvPr/>
        </p:nvPicPr>
        <p:blipFill rotWithShape="1">
          <a:blip r:embed="rId2"/>
          <a:srcRect t="-1216" b="-5395"/>
          <a:stretch/>
        </p:blipFill>
        <p:spPr bwMode="auto">
          <a:xfrm>
            <a:off x="5797157" y="773077"/>
            <a:ext cx="5413525" cy="4283010"/>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7809"/>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683182" y="4787473"/>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683182" y="4787473"/>
                <a:ext cx="4366945" cy="261610"/>
              </a:xfrm>
              <a:prstGeom prst="rect">
                <a:avLst/>
              </a:prstGeom>
              <a:blipFill>
                <a:blip r:embed="rId3"/>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91827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918278"/>
                <a:ext cx="4366945" cy="261610"/>
              </a:xfrm>
              <a:prstGeom prst="rect">
                <a:avLst/>
              </a:prstGeom>
              <a:blipFill>
                <a:blip r:embed="rId4"/>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5"/>
          <a:srcRect/>
          <a:stretch/>
        </p:blipFill>
        <p:spPr>
          <a:xfrm>
            <a:off x="274319" y="796179"/>
            <a:ext cx="5157078" cy="3984290"/>
          </a:xfrm>
          <a:prstGeom prst="rect">
            <a:avLst/>
          </a:prstGeom>
        </p:spPr>
      </p:pic>
      <p:sp>
        <p:nvSpPr>
          <p:cNvPr id="10" name="Shape 2">
            <a:extLst>
              <a:ext uri="{FF2B5EF4-FFF2-40B4-BE49-F238E27FC236}">
                <a16:creationId xmlns:a16="http://schemas.microsoft.com/office/drawing/2014/main" id="{DB89B4B5-5098-427E-985B-DEE4C704E3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212FA254-4F88-44E2-B4DD-AF3DA373DF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638340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8771"/>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938838" y="470158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MX" b="0" i="1" smtClean="0">
                            <a:latin typeface="Cambria Math" panose="02040503050406030204" pitchFamily="18" charset="0"/>
                          </a:rPr>
                          <m:t>𝑣</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938838" y="4701589"/>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srcRect/>
          <a:stretch/>
        </p:blipFill>
        <p:spPr>
          <a:xfrm>
            <a:off x="320038" y="906457"/>
            <a:ext cx="5256025" cy="3716285"/>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a:blip r:embed="rId4"/>
          <a:srcRect t="5203" b="5203"/>
          <a:stretch/>
        </p:blipFill>
        <p:spPr bwMode="auto">
          <a:xfrm>
            <a:off x="5738071" y="866610"/>
            <a:ext cx="5971576"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
        <p:nvSpPr>
          <p:cNvPr id="12" name="Shape 2">
            <a:extLst>
              <a:ext uri="{FF2B5EF4-FFF2-40B4-BE49-F238E27FC236}">
                <a16:creationId xmlns:a16="http://schemas.microsoft.com/office/drawing/2014/main" id="{68A1AD0B-77C9-4BEB-BBB2-F3D9AEF273C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3CDFEB8B-7AB2-4624-B516-3765B6A118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0869962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8" y="113388"/>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3D968CEA-AC52-4252-B94C-60CC9FF2492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3558FD33-D855-40C9-9CD3-5783452C377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0660"/>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376192" cy="3656438"/>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986047" y="4552667"/>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srcRect/>
          <a:stretch/>
        </p:blipFill>
        <p:spPr>
          <a:xfrm>
            <a:off x="7072430" y="853776"/>
            <a:ext cx="5044626" cy="3406661"/>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D7A4C12E-D7AF-4908-88F9-92DDB9C0BDE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3C5A4B8-0450-45AC-BBC1-C3A7C75F244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2259492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5839"/>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srcRect l="-295" r="407"/>
          <a:stretch/>
        </p:blipFill>
        <p:spPr>
          <a:xfrm>
            <a:off x="92279" y="1362865"/>
            <a:ext cx="5872293"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897651"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897651" y="5514755"/>
                <a:ext cx="4547015" cy="430887"/>
              </a:xfrm>
              <a:prstGeom prst="rect">
                <a:avLst/>
              </a:prstGeom>
              <a:blipFill>
                <a:blip r:embed="rId4"/>
                <a:stretch>
                  <a:fillRect/>
                </a:stretch>
              </a:blipFill>
            </p:spPr>
            <p:txBody>
              <a:bodyPr/>
              <a:lstStyle/>
              <a:p>
                <a:r>
                  <a:rPr lang="es-AR">
                    <a:noFill/>
                  </a:rPr>
                  <a:t> </a:t>
                </a:r>
              </a:p>
            </p:txBody>
          </p:sp>
        </mc:Fallback>
      </mc:AlternateContent>
      <p:pic>
        <p:nvPicPr>
          <p:cNvPr id="9" name="Imagen 8">
            <a:extLst>
              <a:ext uri="{FF2B5EF4-FFF2-40B4-BE49-F238E27FC236}">
                <a16:creationId xmlns:a16="http://schemas.microsoft.com/office/drawing/2014/main" id="{48F949A2-41F8-4679-A9FD-2D3252616ECB}"/>
              </a:ext>
            </a:extLst>
          </p:cNvPr>
          <p:cNvPicPr/>
          <p:nvPr/>
        </p:nvPicPr>
        <p:blipFill rotWithShape="1">
          <a:blip r:embed="rId5"/>
          <a:srcRect l="-11064" t="-331" r="1080" b="331"/>
          <a:stretch/>
        </p:blipFill>
        <p:spPr bwMode="auto">
          <a:xfrm>
            <a:off x="5444666" y="1374648"/>
            <a:ext cx="6472709" cy="4132269"/>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63AA3D83-1C35-4420-B8B8-8D779F7F2DB6}"/>
                  </a:ext>
                </a:extLst>
              </p:cNvPr>
              <p:cNvSpPr txBox="1"/>
              <p:nvPr/>
            </p:nvSpPr>
            <p:spPr>
              <a:xfrm>
                <a:off x="6698341" y="5514754"/>
                <a:ext cx="517331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0" name="CuadroTexto 9">
                <a:extLst>
                  <a:ext uri="{FF2B5EF4-FFF2-40B4-BE49-F238E27FC236}">
                    <a16:creationId xmlns:a16="http://schemas.microsoft.com/office/drawing/2014/main" id="{63AA3D83-1C35-4420-B8B8-8D779F7F2DB6}"/>
                  </a:ext>
                </a:extLst>
              </p:cNvPr>
              <p:cNvSpPr txBox="1">
                <a:spLocks noRot="1" noChangeAspect="1" noMove="1" noResize="1" noEditPoints="1" noAdjustHandles="1" noChangeArrowheads="1" noChangeShapeType="1" noTextEdit="1"/>
              </p:cNvSpPr>
              <p:nvPr/>
            </p:nvSpPr>
            <p:spPr>
              <a:xfrm>
                <a:off x="6698341" y="5514754"/>
                <a:ext cx="5173314" cy="430887"/>
              </a:xfrm>
              <a:prstGeom prst="rect">
                <a:avLst/>
              </a:prstGeom>
              <a:blipFill>
                <a:blip r:embed="rId6"/>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BCA25307-751D-4CAF-8E3A-DC1060D8189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C818F10-FEB3-48AC-9B29-B7687051DD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171"/>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2" name="Imagen 21">
            <a:extLst>
              <a:ext uri="{FF2B5EF4-FFF2-40B4-BE49-F238E27FC236}">
                <a16:creationId xmlns:a16="http://schemas.microsoft.com/office/drawing/2014/main" id="{493D2690-153C-456B-A197-5FCDB225506A}"/>
              </a:ext>
            </a:extLst>
          </p:cNvPr>
          <p:cNvPicPr/>
          <p:nvPr/>
        </p:nvPicPr>
        <p:blipFill>
          <a:blip r:embed="rId3"/>
          <a:srcRect/>
          <a:stretch/>
        </p:blipFill>
        <p:spPr>
          <a:xfrm>
            <a:off x="71630" y="935476"/>
            <a:ext cx="5599328" cy="4100151"/>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274320"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sin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274320" y="5175682"/>
                <a:ext cx="5334870" cy="43088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DB771B73-7F0F-413B-ABF6-968A103C3765}"/>
                  </a:ext>
                </a:extLst>
              </p:cNvPr>
              <p:cNvSpPr txBox="1"/>
              <p:nvPr/>
            </p:nvSpPr>
            <p:spPr>
              <a:xfrm>
                <a:off x="6536785"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con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2" name="CuadroTexto 11">
                <a:extLst>
                  <a:ext uri="{FF2B5EF4-FFF2-40B4-BE49-F238E27FC236}">
                    <a16:creationId xmlns:a16="http://schemas.microsoft.com/office/drawing/2014/main" id="{DB771B73-7F0F-413B-ABF6-968A103C3765}"/>
                  </a:ext>
                </a:extLst>
              </p:cNvPr>
              <p:cNvSpPr txBox="1">
                <a:spLocks noRot="1" noChangeAspect="1" noMove="1" noResize="1" noEditPoints="1" noAdjustHandles="1" noChangeArrowheads="1" noChangeShapeType="1" noTextEdit="1"/>
              </p:cNvSpPr>
              <p:nvPr/>
            </p:nvSpPr>
            <p:spPr>
              <a:xfrm>
                <a:off x="6536785" y="5175682"/>
                <a:ext cx="5334870" cy="430887"/>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10D747D1-F355-4EC8-8ACF-3E48A215738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5014411-3702-4184-A058-B6FC4A5458B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8" name="Imagen 7">
            <a:extLst>
              <a:ext uri="{FF2B5EF4-FFF2-40B4-BE49-F238E27FC236}">
                <a16:creationId xmlns:a16="http://schemas.microsoft.com/office/drawing/2014/main" id="{2BA1FFD9-EB70-4AC2-9864-72F2877AC049}"/>
              </a:ext>
            </a:extLst>
          </p:cNvPr>
          <p:cNvPicPr>
            <a:picLocks noChangeAspect="1"/>
          </p:cNvPicPr>
          <p:nvPr/>
        </p:nvPicPr>
        <p:blipFill>
          <a:blip r:embed="rId7"/>
          <a:stretch>
            <a:fillRect/>
          </a:stretch>
        </p:blipFill>
        <p:spPr>
          <a:xfrm>
            <a:off x="6004972" y="1032384"/>
            <a:ext cx="5785682" cy="4032127"/>
          </a:xfrm>
          <a:prstGeom prst="rect">
            <a:avLst/>
          </a:prstGeom>
        </p:spPr>
      </p:pic>
    </p:spTree>
    <p:extLst>
      <p:ext uri="{BB962C8B-B14F-4D97-AF65-F5344CB8AC3E}">
        <p14:creationId xmlns:p14="http://schemas.microsoft.com/office/powerpoint/2010/main" val="24098471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04952" y="9772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24838" y="3411191"/>
            <a:ext cx="11479482"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lang="es-AR" sz="1350" dirty="0">
                    <a:solidFill>
                      <a:srgbClr val="1A1A2E"/>
                    </a:solidFill>
                    <a:latin typeface="Calibri"/>
                  </a:rPr>
                  <a:t>Posición: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6000 rad/s no muestra diferencias apreciables → no se requiere mayor resolución</a:t>
                </a:r>
              </a:p>
              <a:p>
                <a:pPr>
                  <a:spcBef>
                    <a:spcPts val="400"/>
                  </a:spcBef>
                </a:pPr>
                <a:r>
                  <a:rPr lang="es-AR" sz="1350" dirty="0">
                    <a:solidFill>
                      <a:srgbClr val="1A1A2E"/>
                    </a:solidFill>
                    <a:latin typeface="Calibri"/>
                  </a:rPr>
                  <a:t>Corriente: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18000 rad/s ofrece buena respuesta sin necesidad de valores más altos</a:t>
                </a:r>
              </a:p>
              <a:p>
                <a:pPr>
                  <a:spcBef>
                    <a:spcPts val="400"/>
                  </a:spcBef>
                </a:pPr>
                <a:r>
                  <a:rPr lang="es-AR" sz="1350" dirty="0">
                    <a:solidFill>
                      <a:srgbClr val="1A1A2E"/>
                    </a:solidFill>
                    <a:latin typeface="Calibri"/>
                  </a:rPr>
                  <a:t>Temperatura: variable más afectada; τ = 0.05 s necesario para rastrear señal; para detectar máximos τ puede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09751" y="4069492"/>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24838" y="4382142"/>
            <a:ext cx="11479482" cy="73743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96546"/>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96546"/>
                <a:ext cx="4627618" cy="651910"/>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A13DA14F-329A-4BAE-9092-E3E33EFA7F8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7" name="Text 3">
            <a:extLst>
              <a:ext uri="{FF2B5EF4-FFF2-40B4-BE49-F238E27FC236}">
                <a16:creationId xmlns:a16="http://schemas.microsoft.com/office/drawing/2014/main" id="{01DC0182-6FE6-425C-A178-6591D2A845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1995015" y="1000904"/>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4904861" y="4407711"/>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
        <p:nvSpPr>
          <p:cNvPr id="9" name="Shape 2">
            <a:extLst>
              <a:ext uri="{FF2B5EF4-FFF2-40B4-BE49-F238E27FC236}">
                <a16:creationId xmlns:a16="http://schemas.microsoft.com/office/drawing/2014/main" id="{3B1129F7-0672-4BA0-9D9F-9C7BC2EAD1E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7DF94D9-6FB6-458F-A15F-3B82DCC9734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6977142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4"/>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5"/>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6">
            <a:extLst>
              <a:ext uri="{28A0092B-C50C-407E-A947-70E740481C1C}">
                <a14:useLocalDpi xmlns:a14="http://schemas.microsoft.com/office/drawing/2010/main" val="0"/>
              </a:ext>
            </a:extLst>
          </a:blip>
          <a:stretch>
            <a:fillRect/>
          </a:stretch>
        </p:blipFill>
        <p:spPr>
          <a:xfrm>
            <a:off x="2700846" y="3136774"/>
            <a:ext cx="6341816" cy="2023686"/>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613093"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
        <p:nvSpPr>
          <p:cNvPr id="18" name="Shape 2">
            <a:extLst>
              <a:ext uri="{FF2B5EF4-FFF2-40B4-BE49-F238E27FC236}">
                <a16:creationId xmlns:a16="http://schemas.microsoft.com/office/drawing/2014/main" id="{FBA580B0-2C99-4F47-8075-B9ADB5C2243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946DC70-B070-4E6C-B1D9-0A1D5EA371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053470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6054" y="769861"/>
                <a:ext cx="8357730" cy="366575"/>
              </a:xfrm>
              <a:prstGeom prst="rect">
                <a:avLst/>
              </a:prstGeom>
              <a:noFill/>
            </p:spPr>
            <p:txBody>
              <a:bodyPr wrap="square">
                <a:spAutoFit/>
              </a:bodyPr>
              <a:lstStyle/>
              <a:p>
                <a:pPr algn="just">
                  <a:lnSpc>
                    <a:spcPct val="107000"/>
                  </a:lnSpc>
                  <a:spcBef>
                    <a:spcPts val="1800"/>
                  </a:spcBef>
                  <a:spcAft>
                    <a:spcPts val="1800"/>
                  </a:spcAft>
                </a:pPr>
                <a:r>
                  <a:rPr lang="es-MX" sz="1400" b="0" dirty="0">
                    <a:effectLst/>
                    <a:ea typeface="Calibri" panose="020F0502020204030204" pitchFamily="34" charset="0"/>
                    <a:cs typeface="Times New Roman" panose="02020603050405020304" pitchFamily="18" charset="0"/>
                  </a:rPr>
                  <a:t>Para</a:t>
                </a:r>
                <a14:m>
                  <m:oMath xmlns:m="http://schemas.openxmlformats.org/officeDocument/2006/math">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4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6054" y="769861"/>
                <a:ext cx="8357730" cy="366575"/>
              </a:xfrm>
              <a:prstGeom prst="rect">
                <a:avLst/>
              </a:prstGeom>
              <a:blipFill>
                <a:blip r:embed="rId4"/>
                <a:stretch>
                  <a:fillRect l="-219" b="-8333"/>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5"/>
          <a:srcRect/>
          <a:stretch/>
        </p:blipFill>
        <p:spPr>
          <a:xfrm>
            <a:off x="2793890" y="1324706"/>
            <a:ext cx="4721971" cy="3323808"/>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6"/>
          <a:srcRect/>
          <a:stretch/>
        </p:blipFill>
        <p:spPr>
          <a:xfrm>
            <a:off x="7465285" y="1324706"/>
            <a:ext cx="4721971" cy="3323807"/>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311734" y="4836784"/>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311734" y="4836784"/>
                <a:ext cx="4040254" cy="276742"/>
              </a:xfrm>
              <a:prstGeom prst="rect">
                <a:avLst/>
              </a:prstGeom>
              <a:blipFill>
                <a:blip r:embed="rId7"/>
                <a:stretch>
                  <a:fillRect b="-869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147002" y="4854799"/>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147002" y="4854799"/>
                <a:ext cx="4040254" cy="276742"/>
              </a:xfrm>
              <a:prstGeom prst="rect">
                <a:avLst/>
              </a:prstGeom>
              <a:blipFill>
                <a:blip r:embed="rId8"/>
                <a:stretch>
                  <a:fillRect b="-8696"/>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973F290B-C0C6-467C-8EB9-CE00A9CDE38C}"/>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B0AA8044-5B87-40F3-955D-E7E28828787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0008135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srcRect/>
          <a:stretch/>
        </p:blipFill>
        <p:spPr>
          <a:xfrm>
            <a:off x="274320" y="781765"/>
            <a:ext cx="5346304" cy="3853453"/>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srcRect/>
          <a:stretch/>
        </p:blipFill>
        <p:spPr>
          <a:xfrm>
            <a:off x="6096000" y="765842"/>
            <a:ext cx="5478636" cy="385345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60A39584-7769-4FBA-9E21-F0365D4083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D37AEF7-A22D-40F4-BB5C-7304EBB9794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7844849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325C8D78-021C-487A-99CA-523FDE6349B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EF997396-FF3F-415B-BA53-32C7ACB9895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92204503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6960040" y="4554092"/>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6960040" y="4554092"/>
                <a:ext cx="4040254" cy="276742"/>
              </a:xfrm>
              <a:prstGeom prst="rect">
                <a:avLst/>
              </a:prstGeom>
              <a:blipFill>
                <a:blip r:embed="rId3"/>
                <a:stretch>
                  <a:fillRect b="-11111"/>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69480" y="5364017"/>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srcRect/>
          <a:stretch/>
        </p:blipFill>
        <p:spPr>
          <a:xfrm>
            <a:off x="261043" y="849634"/>
            <a:ext cx="5259420" cy="3704458"/>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srcRect/>
          <a:stretch/>
        </p:blipFill>
        <p:spPr>
          <a:xfrm>
            <a:off x="6095847" y="849634"/>
            <a:ext cx="5371903" cy="3704458"/>
          </a:xfrm>
          <a:prstGeom prst="rect">
            <a:avLst/>
          </a:prstGeom>
        </p:spPr>
      </p:pic>
      <p:sp>
        <p:nvSpPr>
          <p:cNvPr id="11" name="Shape 2">
            <a:extLst>
              <a:ext uri="{FF2B5EF4-FFF2-40B4-BE49-F238E27FC236}">
                <a16:creationId xmlns:a16="http://schemas.microsoft.com/office/drawing/2014/main" id="{A85E4BF2-DEB9-47DA-9AC5-03C2089386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4AEE53A0-3336-41F5-8A04-6DD03ED73B6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7247330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43596"/>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43596"/>
                <a:ext cx="12022317" cy="1887183"/>
              </a:xfrm>
              <a:prstGeom prst="rect">
                <a:avLst/>
              </a:prstGeom>
              <a:blipFill>
                <a:blip r:embed="rId3"/>
                <a:stretch>
                  <a:fillRect l="-152" t="-324"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srcRect/>
          <a:stretch/>
        </p:blipFill>
        <p:spPr>
          <a:xfrm>
            <a:off x="0" y="813001"/>
            <a:ext cx="3989498" cy="3165997"/>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srcRect/>
          <a:stretch/>
        </p:blipFill>
        <p:spPr>
          <a:xfrm>
            <a:off x="3989498" y="792870"/>
            <a:ext cx="4014876" cy="318612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srcRect/>
          <a:stretch/>
        </p:blipFill>
        <p:spPr>
          <a:xfrm>
            <a:off x="8004374" y="792870"/>
            <a:ext cx="4161943" cy="3186128"/>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
        <p:nvSpPr>
          <p:cNvPr id="17" name="Shape 2">
            <a:extLst>
              <a:ext uri="{FF2B5EF4-FFF2-40B4-BE49-F238E27FC236}">
                <a16:creationId xmlns:a16="http://schemas.microsoft.com/office/drawing/2014/main" id="{1CC8509D-1A86-43E7-8D86-976EBF31EC5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46C00EB-FCA4-4A07-9F4E-966D6A24650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84409133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480186"/>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480186"/>
                <a:ext cx="4554874" cy="267253"/>
              </a:xfrm>
              <a:prstGeom prst="rect">
                <a:avLst/>
              </a:prstGeom>
              <a:blipFill>
                <a:blip r:embed="rId2"/>
                <a:stretch>
                  <a:fillRect b="-13636"/>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019256"/>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406683" y="4480187"/>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406683" y="4480187"/>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srcRect/>
          <a:stretch/>
        </p:blipFill>
        <p:spPr>
          <a:xfrm>
            <a:off x="274320" y="820554"/>
            <a:ext cx="5005236" cy="3574107"/>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srcRect/>
          <a:stretch/>
        </p:blipFill>
        <p:spPr>
          <a:xfrm>
            <a:off x="5907764" y="849332"/>
            <a:ext cx="5192312" cy="3574106"/>
          </a:xfrm>
          <a:prstGeom prst="rect">
            <a:avLst/>
          </a:prstGeom>
        </p:spPr>
      </p:pic>
      <p:sp>
        <p:nvSpPr>
          <p:cNvPr id="11" name="Shape 2">
            <a:extLst>
              <a:ext uri="{FF2B5EF4-FFF2-40B4-BE49-F238E27FC236}">
                <a16:creationId xmlns:a16="http://schemas.microsoft.com/office/drawing/2014/main" id="{50E7B2D0-E5D1-4833-AB58-377488E1066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6F3B043-FEC4-434B-8EA4-1E7E66A1F51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8699250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0722" y="116036"/>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
        <p:nvSpPr>
          <p:cNvPr id="12" name="Shape 2">
            <a:extLst>
              <a:ext uri="{FF2B5EF4-FFF2-40B4-BE49-F238E27FC236}">
                <a16:creationId xmlns:a16="http://schemas.microsoft.com/office/drawing/2014/main" id="{9CD9A43E-425E-44CA-9898-70312589551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599C1D2D-E224-4B6A-ACA2-9565EA94229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0805"/>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srcRect/>
          <a:stretch/>
        </p:blipFill>
        <p:spPr>
          <a:xfrm>
            <a:off x="183177" y="919978"/>
            <a:ext cx="5554744" cy="407524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srcRect/>
          <a:stretch/>
        </p:blipFill>
        <p:spPr>
          <a:xfrm>
            <a:off x="6249798" y="919978"/>
            <a:ext cx="5621856" cy="407524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95220"/>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95220"/>
                <a:ext cx="4554874" cy="267253"/>
              </a:xfrm>
              <a:prstGeom prst="rect">
                <a:avLst/>
              </a:prstGeom>
              <a:blipFill>
                <a:blip r:embed="rId4"/>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CC3B270-7FB9-41C0-8F26-B6E27D8CF48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70F81246-E218-43E2-B959-73110BCD28A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413870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25188"/>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srcRect/>
          <a:stretch/>
        </p:blipFill>
        <p:spPr>
          <a:xfrm>
            <a:off x="391840" y="908744"/>
            <a:ext cx="5391776" cy="3971102"/>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srcRect/>
          <a:stretch/>
        </p:blipFill>
        <p:spPr>
          <a:xfrm>
            <a:off x="6408385" y="893128"/>
            <a:ext cx="5391776" cy="3971102"/>
          </a:xfrm>
          <a:prstGeom prst="rect">
            <a:avLst/>
          </a:prstGeom>
        </p:spPr>
      </p:pic>
      <p:sp>
        <p:nvSpPr>
          <p:cNvPr id="12" name="Shape 2">
            <a:extLst>
              <a:ext uri="{FF2B5EF4-FFF2-40B4-BE49-F238E27FC236}">
                <a16:creationId xmlns:a16="http://schemas.microsoft.com/office/drawing/2014/main" id="{03F873A4-2695-4F27-9435-8C89E6399DC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04B0837-F3DD-4019-A95E-07E441F9485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3721197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54687"/>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srcRect/>
          <a:stretch/>
        </p:blipFill>
        <p:spPr>
          <a:xfrm>
            <a:off x="274320" y="880844"/>
            <a:ext cx="5170135" cy="3736487"/>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srcRect/>
          <a:stretch/>
        </p:blipFill>
        <p:spPr>
          <a:xfrm>
            <a:off x="6607450" y="995143"/>
            <a:ext cx="5028534" cy="3622188"/>
          </a:xfrm>
          <a:prstGeom prst="rect">
            <a:avLst/>
          </a:prstGeom>
        </p:spPr>
      </p:pic>
      <p:sp>
        <p:nvSpPr>
          <p:cNvPr id="11" name="Shape 2">
            <a:extLst>
              <a:ext uri="{FF2B5EF4-FFF2-40B4-BE49-F238E27FC236}">
                <a16:creationId xmlns:a16="http://schemas.microsoft.com/office/drawing/2014/main" id="{1DDBC64F-DC1B-4F09-BB50-4286848ECAF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7ACFD22-4DCB-49C8-9CB9-18B18129296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83761626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06641"/>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43032"/>
            <a:ext cx="5028534" cy="3556544"/>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srcRect/>
          <a:stretch/>
        </p:blipFill>
        <p:spPr>
          <a:xfrm>
            <a:off x="320040" y="1053233"/>
            <a:ext cx="5028534" cy="3546343"/>
          </a:xfrm>
          <a:prstGeom prst="rect">
            <a:avLst/>
          </a:prstGeom>
        </p:spPr>
      </p:pic>
      <p:sp>
        <p:nvSpPr>
          <p:cNvPr id="12" name="Shape 2">
            <a:extLst>
              <a:ext uri="{FF2B5EF4-FFF2-40B4-BE49-F238E27FC236}">
                <a16:creationId xmlns:a16="http://schemas.microsoft.com/office/drawing/2014/main" id="{F3A8D687-6101-4B62-B00D-5E521EAFA2E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802A1B3-E2DE-48B5-BCFA-A72B89EF8A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0791785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97178" y="91479"/>
            <a:ext cx="4901150" cy="415498"/>
          </a:xfrm>
          <a:prstGeom prst="rect">
            <a:avLst/>
          </a:prstGeom>
          <a:noFill/>
        </p:spPr>
        <p:txBody>
          <a:bodyPr wrap="none">
            <a:spAutoFit/>
          </a:bodyPr>
          <a:lstStyle/>
          <a:p>
            <a:pPr algn="l"/>
            <a:r>
              <a:rPr lang="es-AR" sz="2100" b="1" dirty="0">
                <a:solidFill>
                  <a:srgbClr val="FFFFFF"/>
                </a:solidFill>
                <a:latin typeface="Cambria"/>
              </a:rPr>
              <a:t>Sistema completo en tiempo continuo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8" name="Shape 2">
            <a:extLst>
              <a:ext uri="{FF2B5EF4-FFF2-40B4-BE49-F238E27FC236}">
                <a16:creationId xmlns:a16="http://schemas.microsoft.com/office/drawing/2014/main" id="{B20DBDDD-CAF2-4802-AD89-F2BF028F931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01D5CA00-3EB7-4B9F-A894-03874397A09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7" name="Imagen 6">
            <a:extLst>
              <a:ext uri="{FF2B5EF4-FFF2-40B4-BE49-F238E27FC236}">
                <a16:creationId xmlns:a16="http://schemas.microsoft.com/office/drawing/2014/main" id="{AFFDE968-0806-47A4-8194-2B1824A938C1}"/>
              </a:ext>
            </a:extLst>
          </p:cNvPr>
          <p:cNvPicPr>
            <a:picLocks noChangeAspect="1"/>
          </p:cNvPicPr>
          <p:nvPr/>
        </p:nvPicPr>
        <p:blipFill>
          <a:blip r:embed="rId2"/>
          <a:stretch>
            <a:fillRect/>
          </a:stretch>
        </p:blipFill>
        <p:spPr>
          <a:xfrm>
            <a:off x="0" y="1267721"/>
            <a:ext cx="12192000" cy="3002274"/>
          </a:xfrm>
          <a:prstGeom prst="rect">
            <a:avLst/>
          </a:prstGeom>
        </p:spPr>
      </p:pic>
      <p:sp>
        <p:nvSpPr>
          <p:cNvPr id="13" name="CuadroTexto 12">
            <a:extLst>
              <a:ext uri="{FF2B5EF4-FFF2-40B4-BE49-F238E27FC236}">
                <a16:creationId xmlns:a16="http://schemas.microsoft.com/office/drawing/2014/main" id="{7C61CE62-4B26-47F9-8BB0-E82E9732DCE3}"/>
              </a:ext>
            </a:extLst>
          </p:cNvPr>
          <p:cNvSpPr txBox="1"/>
          <p:nvPr/>
        </p:nvSpPr>
        <p:spPr>
          <a:xfrm>
            <a:off x="4254626" y="4269995"/>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88— Sistema completo continuo</a:t>
            </a:r>
          </a:p>
          <a:p>
            <a:endParaRPr lang="es-AR" dirty="0"/>
          </a:p>
          <a:p>
            <a:endParaRPr lang="es-AR" dirty="0"/>
          </a:p>
        </p:txBody>
      </p:sp>
    </p:spTree>
    <p:extLst>
      <p:ext uri="{BB962C8B-B14F-4D97-AF65-F5344CB8AC3E}">
        <p14:creationId xmlns:p14="http://schemas.microsoft.com/office/powerpoint/2010/main" val="273928461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
        <p:nvSpPr>
          <p:cNvPr id="5" name="Shape 4">
            <a:extLst>
              <a:ext uri="{FF2B5EF4-FFF2-40B4-BE49-F238E27FC236}">
                <a16:creationId xmlns:a16="http://schemas.microsoft.com/office/drawing/2014/main" id="{1F9414B9-10F4-4036-B821-DE35287CE68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218"/>
            <a:ext cx="8232125" cy="415498"/>
          </a:xfrm>
          <a:prstGeom prst="rect">
            <a:avLst/>
          </a:prstGeom>
          <a:noFill/>
        </p:spPr>
        <p:txBody>
          <a:bodyPr wrap="none">
            <a:spAutoFit/>
          </a:bodyPr>
          <a:lstStyle/>
          <a:p>
            <a:pPr algn="l"/>
            <a:r>
              <a:rPr lang="es-AR" sz="2100" b="1" dirty="0">
                <a:solidFill>
                  <a:srgbClr val="FFFFFF"/>
                </a:solidFill>
                <a:latin typeface="Cambria"/>
              </a:rPr>
              <a:t>Sistema continuo completo — Parámetros finales del controlador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y lazos de corriente.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
        <p:nvSpPr>
          <p:cNvPr id="9" name="Shape 2">
            <a:extLst>
              <a:ext uri="{FF2B5EF4-FFF2-40B4-BE49-F238E27FC236}">
                <a16:creationId xmlns:a16="http://schemas.microsoft.com/office/drawing/2014/main" id="{F1A018D6-6668-4EB9-851C-AB2AB998A90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A29213D-9EFF-4B15-A8B4-277241B7DB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193"/>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
        <p:nvSpPr>
          <p:cNvPr id="18" name="Shape 2">
            <a:extLst>
              <a:ext uri="{FF2B5EF4-FFF2-40B4-BE49-F238E27FC236}">
                <a16:creationId xmlns:a16="http://schemas.microsoft.com/office/drawing/2014/main" id="{0088565B-890C-47A8-A875-90A6D3DA455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44A63500-EE49-4377-AAE3-2B1BBA674E7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srcRect l="242" r="1227"/>
          <a:stretch/>
        </p:blipFill>
        <p:spPr bwMode="auto">
          <a:xfrm>
            <a:off x="5273148" y="4004476"/>
            <a:ext cx="6793905" cy="1975490"/>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97883"/>
            <a:ext cx="11551615" cy="658368"/>
          </a:xfrm>
          <a:prstGeom prst="rect">
            <a:avLst/>
          </a:prstGeom>
          <a:noFill/>
        </p:spPr>
        <p:txBody>
          <a:bodyPr wrap="none">
            <a:spAutoFit/>
          </a:bodyPr>
          <a:lstStyle/>
          <a:p>
            <a:pPr algn="l"/>
            <a:r>
              <a:rPr sz="2100" b="1" dirty="0" err="1">
                <a:solidFill>
                  <a:srgbClr val="FFFFFF"/>
                </a:solidFill>
                <a:latin typeface="Cambria"/>
              </a:rPr>
              <a:t>Discretización</a:t>
            </a:r>
            <a:r>
              <a:rPr sz="2100" b="1" dirty="0">
                <a:solidFill>
                  <a:srgbClr val="FFFFFF"/>
                </a:solidFill>
                <a:latin typeface="Cambria"/>
              </a:rPr>
              <a:t> — </a:t>
            </a:r>
            <a:r>
              <a:rPr sz="2100" b="1" dirty="0" err="1">
                <a:solidFill>
                  <a:srgbClr val="FFFFFF"/>
                </a:solidFill>
                <a:latin typeface="Cambria"/>
              </a:rPr>
              <a:t>Método</a:t>
            </a:r>
            <a:r>
              <a:rPr sz="2100" b="1" dirty="0">
                <a:solidFill>
                  <a:srgbClr val="FFFFFF"/>
                </a:solidFill>
                <a:latin typeface="Cambria"/>
              </a:rPr>
              <a:t> de Tustin y </a:t>
            </a:r>
            <a:r>
              <a:rPr sz="2100" b="1" dirty="0" err="1">
                <a:solidFill>
                  <a:srgbClr val="FFFFFF"/>
                </a:solidFill>
                <a:latin typeface="Cambria"/>
              </a:rPr>
              <a:t>período</a:t>
            </a:r>
            <a:r>
              <a:rPr sz="2100" b="1" dirty="0">
                <a:solidFill>
                  <a:srgbClr val="FFFFFF"/>
                </a:solidFill>
                <a:latin typeface="Cambria"/>
              </a:rPr>
              <a:t> de </a:t>
            </a:r>
            <a:r>
              <a:rPr sz="2100" b="1" dirty="0" err="1">
                <a:solidFill>
                  <a:srgbClr val="FFFFFF"/>
                </a:solidFill>
                <a:latin typeface="Cambria"/>
              </a:rPr>
              <a:t>muestreo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srcRect/>
          <a:stretch/>
        </p:blipFill>
        <p:spPr>
          <a:xfrm>
            <a:off x="5784616" y="1009937"/>
            <a:ext cx="5998890" cy="2342423"/>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385556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
        <p:nvSpPr>
          <p:cNvPr id="18" name="Shape 2">
            <a:extLst>
              <a:ext uri="{FF2B5EF4-FFF2-40B4-BE49-F238E27FC236}">
                <a16:creationId xmlns:a16="http://schemas.microsoft.com/office/drawing/2014/main" id="{85ED1E0F-A9C6-4E87-BDAF-DC82C07BBA2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0739E89-9090-4B51-943B-8C8CF4B6F0D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9637572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4998"/>
            <a:ext cx="11551615" cy="658368"/>
          </a:xfrm>
          <a:prstGeom prst="rect">
            <a:avLst/>
          </a:prstGeom>
          <a:noFill/>
        </p:spPr>
        <p:txBody>
          <a:bodyPr wrap="none">
            <a:spAutoFit/>
          </a:bodyPr>
          <a:lstStyle/>
          <a:p>
            <a:pPr algn="l"/>
            <a:r>
              <a:rPr sz="2100" b="1" dirty="0" err="1">
                <a:solidFill>
                  <a:srgbClr val="FFFFFF"/>
                </a:solidFill>
                <a:latin typeface="Cambria"/>
              </a:rPr>
              <a:t>Discretización</a:t>
            </a:r>
            <a:r>
              <a:rPr sz="2100" b="1" dirty="0">
                <a:solidFill>
                  <a:srgbClr val="FFFFFF"/>
                </a:solidFill>
                <a:latin typeface="Cambria"/>
              </a:rPr>
              <a:t> — </a:t>
            </a:r>
            <a:r>
              <a:rPr sz="2100" b="1" dirty="0" err="1">
                <a:solidFill>
                  <a:srgbClr val="FFFFFF"/>
                </a:solidFill>
                <a:latin typeface="Cambria"/>
              </a:rPr>
              <a:t>Método</a:t>
            </a:r>
            <a:r>
              <a:rPr sz="2100" b="1" dirty="0">
                <a:solidFill>
                  <a:srgbClr val="FFFFFF"/>
                </a:solidFill>
                <a:latin typeface="Cambria"/>
              </a:rPr>
              <a:t> de Tustin y </a:t>
            </a:r>
            <a:r>
              <a:rPr sz="2100" b="1" dirty="0" err="1">
                <a:solidFill>
                  <a:srgbClr val="FFFFFF"/>
                </a:solidFill>
                <a:latin typeface="Cambria"/>
              </a:rPr>
              <a:t>período</a:t>
            </a:r>
            <a:r>
              <a:rPr sz="2100" b="1" dirty="0">
                <a:solidFill>
                  <a:srgbClr val="FFFFFF"/>
                </a:solidFill>
                <a:latin typeface="Cambria"/>
              </a:rPr>
              <a:t> de </a:t>
            </a:r>
            <a:r>
              <a:rPr sz="2100" b="1" dirty="0" err="1">
                <a:solidFill>
                  <a:srgbClr val="FFFFFF"/>
                </a:solidFill>
                <a:latin typeface="Cambria"/>
              </a:rPr>
              <a:t>muestreo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dirty="0">
                <a:effectLst/>
                <a:latin typeface="Calibri" panose="020F0502020204030204" pitchFamily="34" charset="0"/>
                <a:ea typeface="Calibri" panose="020F0502020204030204" pitchFamily="34" charset="0"/>
                <a:cs typeface="Times New Roman" panose="02020603050405020304" pitchFamily="18" charset="0"/>
              </a:rPr>
              <a:t>Observador,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srcRect/>
          <a:stretch/>
        </p:blipFill>
        <p:spPr>
          <a:xfrm>
            <a:off x="1785769" y="2802928"/>
            <a:ext cx="8079683" cy="2822881"/>
          </a:xfrm>
          <a:prstGeom prst="rect">
            <a:avLst/>
          </a:prstGeom>
        </p:spPr>
      </p:pic>
      <p:sp>
        <p:nvSpPr>
          <p:cNvPr id="13" name="Shape 2">
            <a:extLst>
              <a:ext uri="{FF2B5EF4-FFF2-40B4-BE49-F238E27FC236}">
                <a16:creationId xmlns:a16="http://schemas.microsoft.com/office/drawing/2014/main" id="{42B3901B-0064-48A3-A656-95C27C5ABF0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106A1CFA-ED65-4F74-AD27-F01362250D65}"/>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2281053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7321"/>
            <a:ext cx="7336688" cy="415498"/>
          </a:xfrm>
          <a:prstGeom prst="rect">
            <a:avLst/>
          </a:prstGeom>
          <a:noFill/>
        </p:spPr>
        <p:txBody>
          <a:bodyPr wrap="none">
            <a:spAutoFit/>
          </a:bodyPr>
          <a:lstStyle/>
          <a:p>
            <a:pPr algn="l"/>
            <a:r>
              <a:rPr lang="es-AR" sz="2100" b="1" dirty="0">
                <a:solidFill>
                  <a:srgbClr val="FFFFFF"/>
                </a:solidFill>
                <a:latin typeface="Cambria"/>
              </a:rPr>
              <a:t>Discretización — Método de Tustin y período de muestreo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
        <p:nvSpPr>
          <p:cNvPr id="9" name="Shape 2">
            <a:extLst>
              <a:ext uri="{FF2B5EF4-FFF2-40B4-BE49-F238E27FC236}">
                <a16:creationId xmlns:a16="http://schemas.microsoft.com/office/drawing/2014/main" id="{E48B6EC8-A82B-4093-AAAA-64BCD54E5F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52D28B1D-53B3-4502-8332-33196D41246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500408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65899"/>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a:srcRect/>
          <a:stretch/>
        </p:blipFill>
        <p:spPr>
          <a:xfrm>
            <a:off x="0" y="1409350"/>
            <a:ext cx="12191695" cy="3110292"/>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
        <p:nvSpPr>
          <p:cNvPr id="9" name="Shape 2">
            <a:extLst>
              <a:ext uri="{FF2B5EF4-FFF2-40B4-BE49-F238E27FC236}">
                <a16:creationId xmlns:a16="http://schemas.microsoft.com/office/drawing/2014/main" id="{3FF759CE-C7C8-49A1-9280-9BCA1000D24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A001E546-08C0-4B59-B0D7-BF89E62E174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730186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7021"/>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5"/>
          <a:srcRect/>
          <a:stretch/>
        </p:blipFill>
        <p:spPr>
          <a:xfrm>
            <a:off x="35951" y="720296"/>
            <a:ext cx="6033621"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6"/>
          <a:srcRect/>
          <a:stretch/>
        </p:blipFill>
        <p:spPr>
          <a:xfrm>
            <a:off x="6095999" y="724154"/>
            <a:ext cx="6060049"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rotWithShape="1">
          <a:blip r:embed="rId7"/>
          <a:srcRect b="-914"/>
          <a:stretch/>
        </p:blipFill>
        <p:spPr>
          <a:xfrm>
            <a:off x="35952" y="3651000"/>
            <a:ext cx="5993372" cy="2729583"/>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8"/>
          <a:srcRect/>
          <a:stretch/>
        </p:blipFill>
        <p:spPr>
          <a:xfrm>
            <a:off x="6095999" y="3693921"/>
            <a:ext cx="6060049"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9"/>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10"/>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11"/>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12"/>
                <a:stretch>
                  <a:fillRect/>
                </a:stretch>
              </a:blipFill>
            </p:spPr>
            <p:txBody>
              <a:bodyPr/>
              <a:lstStyle/>
              <a:p>
                <a:r>
                  <a:rPr lang="es-AR">
                    <a:noFill/>
                  </a:rPr>
                  <a:t> </a:t>
                </a:r>
              </a:p>
            </p:txBody>
          </p:sp>
        </mc:Fallback>
      </mc:AlternateContent>
      <p:sp>
        <p:nvSpPr>
          <p:cNvPr id="30" name="Shape 2">
            <a:extLst>
              <a:ext uri="{FF2B5EF4-FFF2-40B4-BE49-F238E27FC236}">
                <a16:creationId xmlns:a16="http://schemas.microsoft.com/office/drawing/2014/main" id="{DF209EEB-6677-4C00-8073-05612CF599E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31" name="Text 3">
            <a:extLst>
              <a:ext uri="{FF2B5EF4-FFF2-40B4-BE49-F238E27FC236}">
                <a16:creationId xmlns:a16="http://schemas.microsoft.com/office/drawing/2014/main" id="{6701EE98-416F-4147-BA2D-1E709D39E77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59968152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568"/>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srcRect/>
          <a:stretch/>
        </p:blipFill>
        <p:spPr>
          <a:xfrm>
            <a:off x="2737016" y="847586"/>
            <a:ext cx="647195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D3311189-B744-4EFD-BA00-1A74FEE392C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81E208C3-6D93-4665-9F14-981A6731BF0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17351032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45930"/>
            <a:ext cx="3069943" cy="415498"/>
          </a:xfrm>
          <a:prstGeom prst="rect">
            <a:avLst/>
          </a:prstGeom>
          <a:noFill/>
        </p:spPr>
        <p:txBody>
          <a:bodyPr wrap="none">
            <a:spAutoFit/>
          </a:bodyPr>
          <a:lstStyle/>
          <a:p>
            <a:pPr algn="l"/>
            <a:r>
              <a:rPr lang="es-AR" sz="2100" b="1" dirty="0">
                <a:solidFill>
                  <a:srgbClr val="FFFFFF"/>
                </a:solidFill>
                <a:latin typeface="Cambria"/>
              </a:rPr>
              <a:t>Modelo final codificado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604265"/>
            <a:ext cx="12192000" cy="3356554"/>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2DA11B25-2160-468C-9C12-C5728FF05D1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61CC0F0E-27FA-482A-AE85-DC199926C92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22469880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4348"/>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
        <p:nvSpPr>
          <p:cNvPr id="15" name="Shape 2">
            <a:extLst>
              <a:ext uri="{FF2B5EF4-FFF2-40B4-BE49-F238E27FC236}">
                <a16:creationId xmlns:a16="http://schemas.microsoft.com/office/drawing/2014/main" id="{699C05DC-E197-46D4-9BC0-57D72EFDD4B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3DD8B458-E2F3-40D8-A839-9BD9531390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469907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2016"/>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94367"/>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srcRect/>
          <a:stretch/>
        </p:blipFill>
        <p:spPr>
          <a:xfrm>
            <a:off x="320040" y="1245180"/>
            <a:ext cx="4621411"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srcRect/>
          <a:stretch/>
        </p:blipFill>
        <p:spPr>
          <a:xfrm>
            <a:off x="6901986" y="1245180"/>
            <a:ext cx="4721734"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srcRect/>
          <a:stretch/>
        </p:blipFill>
        <p:spPr>
          <a:xfrm>
            <a:off x="3592814" y="3935575"/>
            <a:ext cx="4725369"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841F5B3E-D2AC-42F7-990D-5ABFDFC9D1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36D5DDB2-3C29-455E-85B7-C5FB179F250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4318010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05"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TextBox 2"/>
          <p:cNvSpPr txBox="1"/>
          <p:nvPr/>
        </p:nvSpPr>
        <p:spPr>
          <a:xfrm>
            <a:off x="4106334" y="1342850"/>
            <a:ext cx="4116059" cy="707886"/>
          </a:xfrm>
          <a:prstGeom prst="rect">
            <a:avLst/>
          </a:prstGeom>
          <a:noFill/>
        </p:spPr>
        <p:txBody>
          <a:bodyPr wrap="square">
            <a:spAutoFit/>
          </a:bodyPr>
          <a:lstStyle/>
          <a:p>
            <a:pPr algn="ctr"/>
            <a:r>
              <a:rPr lang="es-MX" sz="4000" b="1" dirty="0">
                <a:solidFill>
                  <a:srgbClr val="FFFFFF"/>
                </a:solidFill>
                <a:latin typeface="Cambria"/>
              </a:rPr>
              <a:t>¡Muchas gracias! </a:t>
            </a:r>
            <a:endParaRPr sz="4000" b="1" dirty="0">
              <a:solidFill>
                <a:srgbClr val="FFFFFF"/>
              </a:solidFill>
              <a:latin typeface="Cambria"/>
            </a:endParaRPr>
          </a:p>
        </p:txBody>
      </p:sp>
      <p:sp>
        <p:nvSpPr>
          <p:cNvPr id="5" name="Shape 4">
            <a:extLst>
              <a:ext uri="{FF2B5EF4-FFF2-40B4-BE49-F238E27FC236}">
                <a16:creationId xmlns:a16="http://schemas.microsoft.com/office/drawing/2014/main" id="{1F9414B9-10F4-4036-B821-DE35287CE689}"/>
              </a:ext>
            </a:extLst>
          </p:cNvPr>
          <p:cNvSpPr/>
          <p:nvPr/>
        </p:nvSpPr>
        <p:spPr>
          <a:xfrm>
            <a:off x="0" y="6565392"/>
            <a:ext cx="12192000" cy="292608"/>
          </a:xfrm>
          <a:prstGeom prst="rect">
            <a:avLst/>
          </a:prstGeom>
          <a:solidFill>
            <a:srgbClr val="14213D"/>
          </a:solidFill>
          <a:ln w="12700">
            <a:solidFill>
              <a:srgbClr val="14213D"/>
            </a:solidFill>
            <a:prstDash val="solid"/>
          </a:ln>
        </p:spPr>
      </p:sp>
      <p:sp>
        <p:nvSpPr>
          <p:cNvPr id="7" name="CuadroTexto 6">
            <a:extLst>
              <a:ext uri="{FF2B5EF4-FFF2-40B4-BE49-F238E27FC236}">
                <a16:creationId xmlns:a16="http://schemas.microsoft.com/office/drawing/2014/main" id="{EB1FF342-1C3A-46D8-B35F-E64E4D5393ED}"/>
              </a:ext>
            </a:extLst>
          </p:cNvPr>
          <p:cNvSpPr txBox="1"/>
          <p:nvPr/>
        </p:nvSpPr>
        <p:spPr>
          <a:xfrm>
            <a:off x="4496428" y="2942603"/>
            <a:ext cx="3657599" cy="461665"/>
          </a:xfrm>
          <a:prstGeom prst="rect">
            <a:avLst/>
          </a:prstGeom>
          <a:noFill/>
        </p:spPr>
        <p:txBody>
          <a:bodyPr wrap="square">
            <a:spAutoFit/>
          </a:bodyPr>
          <a:lstStyle/>
          <a:p>
            <a:r>
              <a:rPr lang="es-AR" sz="2400" b="1" dirty="0"/>
              <a:t>¿Preguntas o comentarios?</a:t>
            </a:r>
          </a:p>
        </p:txBody>
      </p:sp>
      <p:sp>
        <p:nvSpPr>
          <p:cNvPr id="8" name="Text 8">
            <a:extLst>
              <a:ext uri="{FF2B5EF4-FFF2-40B4-BE49-F238E27FC236}">
                <a16:creationId xmlns:a16="http://schemas.microsoft.com/office/drawing/2014/main" id="{7E439D0E-6122-48CA-93A6-46BA06E0D1AB}"/>
              </a:ext>
            </a:extLst>
          </p:cNvPr>
          <p:cNvSpPr/>
          <p:nvPr/>
        </p:nvSpPr>
        <p:spPr>
          <a:xfrm>
            <a:off x="5030611" y="5971915"/>
            <a:ext cx="7326608" cy="502920"/>
          </a:xfrm>
          <a:prstGeom prst="rect">
            <a:avLst/>
          </a:prstGeom>
          <a:noFill/>
          <a:ln/>
        </p:spPr>
        <p:txBody>
          <a:bodyPr wrap="square" rtlCol="0" anchor="ctr"/>
          <a:lstStyle/>
          <a:p>
            <a:pPr marL="0" indent="0" algn="ctr">
              <a:buNone/>
            </a:pPr>
            <a:r>
              <a:rPr lang="en-US" sz="1600" dirty="0">
                <a:solidFill>
                  <a:schemeClr val="bg1"/>
                </a:solidFill>
                <a:latin typeface="Calibri" pitchFamily="34" charset="0"/>
                <a:ea typeface="Calibri" pitchFamily="34" charset="-122"/>
                <a:cs typeface="Calibri" pitchFamily="34" charset="-120"/>
              </a:rPr>
              <a:t>Juan Stella  —  </a:t>
            </a:r>
            <a:r>
              <a:rPr lang="en-US" sz="1600" dirty="0" err="1">
                <a:solidFill>
                  <a:schemeClr val="bg1"/>
                </a:solidFill>
                <a:latin typeface="Calibri" pitchFamily="34" charset="0"/>
                <a:ea typeface="Calibri" pitchFamily="34" charset="-122"/>
                <a:cs typeface="Calibri" pitchFamily="34" charset="-120"/>
              </a:rPr>
              <a:t>Legajo</a:t>
            </a:r>
            <a:r>
              <a:rPr lang="en-US" sz="1600" dirty="0">
                <a:solidFill>
                  <a:schemeClr val="bg1"/>
                </a:solidFill>
                <a:latin typeface="Calibri" pitchFamily="34" charset="0"/>
                <a:ea typeface="Calibri" pitchFamily="34" charset="-122"/>
                <a:cs typeface="Calibri" pitchFamily="34" charset="-120"/>
              </a:rPr>
              <a:t>: 12552        Juan Francisco Huertas  —  </a:t>
            </a:r>
            <a:r>
              <a:rPr lang="en-US" sz="1600" dirty="0" err="1">
                <a:solidFill>
                  <a:schemeClr val="bg1"/>
                </a:solidFill>
                <a:latin typeface="Calibri" pitchFamily="34" charset="0"/>
                <a:ea typeface="Calibri" pitchFamily="34" charset="-122"/>
                <a:cs typeface="Calibri" pitchFamily="34" charset="-120"/>
              </a:rPr>
              <a:t>Legajo</a:t>
            </a:r>
            <a:r>
              <a:rPr lang="en-US" sz="1600" dirty="0">
                <a:solidFill>
                  <a:schemeClr val="bg1"/>
                </a:solidFill>
                <a:latin typeface="Calibri" pitchFamily="34" charset="0"/>
                <a:ea typeface="Calibri" pitchFamily="34" charset="-122"/>
                <a:cs typeface="Calibri" pitchFamily="34" charset="-120"/>
              </a:rPr>
              <a:t>: 12620</a:t>
            </a:r>
            <a:endParaRPr lang="en-US" sz="1600" dirty="0">
              <a:solidFill>
                <a:schemeClr val="bg1"/>
              </a:solidFill>
            </a:endParaRPr>
          </a:p>
        </p:txBody>
      </p:sp>
    </p:spTree>
    <p:extLst>
      <p:ext uri="{BB962C8B-B14F-4D97-AF65-F5344CB8AC3E}">
        <p14:creationId xmlns:p14="http://schemas.microsoft.com/office/powerpoint/2010/main" val="35853734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9225</TotalTime>
  <Words>12750</Words>
  <Application>Microsoft Office PowerPoint</Application>
  <PresentationFormat>Panorámica</PresentationFormat>
  <Paragraphs>1282</Paragraphs>
  <Slides>112</Slides>
  <Notes>14</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112</vt:i4>
      </vt:variant>
    </vt:vector>
  </HeadingPairs>
  <TitlesOfParts>
    <vt:vector size="119"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Juan</dc:creator>
  <cp:keywords/>
  <dc:description>generated using python-pptx</dc:description>
  <cp:lastModifiedBy>juan stella</cp:lastModifiedBy>
  <cp:revision>319</cp:revision>
  <dcterms:created xsi:type="dcterms:W3CDTF">2013-01-27T09:14:16Z</dcterms:created>
  <dcterms:modified xsi:type="dcterms:W3CDTF">2026-05-18T21:32:23Z</dcterms:modified>
  <cp:category/>
</cp:coreProperties>
</file>