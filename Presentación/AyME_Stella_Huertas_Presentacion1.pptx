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02" autoAdjust="0"/>
    <p:restoredTop sz="94477" autoAdjust="0"/>
  </p:normalViewPr>
  <p:slideViewPr>
    <p:cSldViewPr snapToGrid="0" snapToObjects="1">
      <p:cViewPr varScale="1">
        <p:scale>
          <a:sx n="108" d="100"/>
          <a:sy n="108" d="100"/>
        </p:scale>
        <p:origin x="76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27/4/2026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7.xml"/><Relationship Id="rId5" Type="http://schemas.openxmlformats.org/officeDocument/2006/relationships/image" Target="../media/image371.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50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6.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6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8.png"/></Relationships>
</file>

<file path=ppt/slides/_rels/slide6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7.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74.png"/><Relationship Id="rId5" Type="http://schemas.openxmlformats.org/officeDocument/2006/relationships/image" Target="../media/image157.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7.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3.png"/><Relationship Id="rId3" Type="http://schemas.openxmlformats.org/officeDocument/2006/relationships/image" Target="../media/image187.png"/><Relationship Id="rId7" Type="http://schemas.openxmlformats.org/officeDocument/2006/relationships/image" Target="../media/image19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9.png"/><Relationship Id="rId5" Type="http://schemas.openxmlformats.org/officeDocument/2006/relationships/image" Target="../media/image188.png"/><Relationship Id="rId4" Type="http://schemas.openxmlformats.org/officeDocument/2006/relationships/image" Target="../media/image186.png"/><Relationship Id="rId9" Type="http://schemas.openxmlformats.org/officeDocument/2006/relationships/image" Target="../media/image194.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1.png"/><Relationship Id="rId4" Type="http://schemas.openxmlformats.org/officeDocument/2006/relationships/image" Target="../media/image190.png"/></Relationships>
</file>

<file path=ppt/slides/_rels/slide79.xml.rels><?xml version="1.0" encoding="UTF-8" standalone="yes"?>
<Relationships xmlns="http://schemas.openxmlformats.org/package/2006/relationships"><Relationship Id="rId8" Type="http://schemas.openxmlformats.org/officeDocument/2006/relationships/image" Target="../media/image203.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202.png"/><Relationship Id="rId5" Type="http://schemas.openxmlformats.org/officeDocument/2006/relationships/image" Target="../media/image198.png"/><Relationship Id="rId4" Type="http://schemas.openxmlformats.org/officeDocument/2006/relationships/image" Target="../media/image197.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6.png"/><Relationship Id="rId5" Type="http://schemas.openxmlformats.org/officeDocument/2006/relationships/image" Target="../media/image210.png"/><Relationship Id="rId4" Type="http://schemas.openxmlformats.org/officeDocument/2006/relationships/image" Target="../media/image20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image" Target="../media/image214.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7.png"/><Relationship Id="rId4" Type="http://schemas.openxmlformats.org/officeDocument/2006/relationships/image" Target="../media/image216.png"/></Relationships>
</file>

<file path=ppt/slides/_rels/slide86.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1.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24.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33.png"/><Relationship Id="rId2" Type="http://schemas.openxmlformats.org/officeDocument/2006/relationships/image" Target="../media/image232.png"/><Relationship Id="rId1" Type="http://schemas.openxmlformats.org/officeDocument/2006/relationships/slideLayout" Target="../slideLayouts/slideLayout7.xml"/><Relationship Id="rId4" Type="http://schemas.openxmlformats.org/officeDocument/2006/relationships/image" Target="../media/image237.png"/></Relationships>
</file>

<file path=ppt/slides/_rels/slide90.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image" Target="../media/image235.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43.png"/><Relationship Id="rId5" Type="http://schemas.openxmlformats.org/officeDocument/2006/relationships/image" Target="../media/image239.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8.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9.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2.png"/><Relationship Id="rId4" Type="http://schemas.openxmlformats.org/officeDocument/2006/relationships/image" Target="../media/image251.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2 / 67</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3 / 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4 / 67</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5 / 67</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6 / 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7 / 67</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1</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m:t>
                    </m:r>
                    <m:r>
                      <a:rPr lang="es-AR" sz="1400" i="1">
                        <a:latin typeface="Cambria Math" panose="02040503050406030204" pitchFamily="18" charset="0"/>
                      </a:rPr>
                      <m:t>1</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80665</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0208</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50</m:t>
                    </m:r>
                    <m:r>
                      <a:rPr lang="es-AR" sz="1400" i="1">
                        <a:latin typeface="Cambria Math" panose="02040503050406030204" pitchFamily="18" charset="0"/>
                      </a:rPr>
                      <m:t>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0833</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1" name="Text 19"/>
          <p:cNvSpPr/>
          <p:nvPr/>
        </p:nvSpPr>
        <p:spPr>
          <a:xfrm>
            <a:off x="0" y="696941"/>
            <a:ext cx="1143000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91440" y="1146995"/>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444495" y="1444331"/>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444495" y="1444331"/>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0" y="2440915"/>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91440" y="2759301"/>
            <a:ext cx="11247120" cy="791767"/>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8" name="Text 21">
                <a:extLst>
                  <a:ext uri="{FF2B5EF4-FFF2-40B4-BE49-F238E27FC236}">
                    <a16:creationId xmlns:a16="http://schemas.microsoft.com/office/drawing/2014/main" id="{9CB1D5DA-B895-49EC-AF0F-2B5E12F4D128}"/>
                  </a:ext>
                </a:extLst>
              </p:cNvPr>
              <p:cNvSpPr/>
              <p:nvPr/>
            </p:nvSpPr>
            <p:spPr>
              <a:xfrm>
                <a:off x="180039" y="285850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180039" y="2858502"/>
                <a:ext cx="4209081" cy="594360"/>
              </a:xfrm>
              <a:prstGeom prst="rect">
                <a:avLst/>
              </a:prstGeom>
              <a:blipFill>
                <a:blip r:embed="rId3"/>
                <a:stretch>
                  <a:fillRect b="-3093"/>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0" y="3738869"/>
            <a:ext cx="11430000" cy="411480"/>
          </a:xfrm>
          <a:prstGeom prst="rect">
            <a:avLst/>
          </a:prstGeom>
          <a:noFill/>
          <a:ln/>
        </p:spPr>
        <p:txBody>
          <a:bodyPr wrap="square" rtlCol="0" anchor="t"/>
          <a:lstStyle/>
          <a:p>
            <a:pPr marL="0" indent="0" algn="l">
              <a:buNone/>
            </a:pPr>
            <a:r>
              <a:rPr lang="es-AR" sz="1600" b="1" dirty="0">
                <a:solidFill>
                  <a:srgbClr val="1A386B"/>
                </a:solidFill>
                <a:latin typeface="Calibri" pitchFamily="34" charset="0"/>
                <a:ea typeface="Calibri" pitchFamily="34" charset="-122"/>
                <a:cs typeface="Calibri" pitchFamily="34" charset="-120"/>
              </a:rPr>
              <a:t>Representación matricial en espacio de estados:</a:t>
            </a:r>
            <a:endParaRPr lang="es-AR" sz="1600" dirty="0"/>
          </a:p>
        </p:txBody>
      </p:sp>
      <p:sp>
        <p:nvSpPr>
          <p:cNvPr id="30" name="Shape 20">
            <a:extLst>
              <a:ext uri="{FF2B5EF4-FFF2-40B4-BE49-F238E27FC236}">
                <a16:creationId xmlns:a16="http://schemas.microsoft.com/office/drawing/2014/main" id="{8B4DE1EB-B212-4A92-A0D0-0B0C5C1971DD}"/>
              </a:ext>
            </a:extLst>
          </p:cNvPr>
          <p:cNvSpPr/>
          <p:nvPr/>
        </p:nvSpPr>
        <p:spPr>
          <a:xfrm>
            <a:off x="91440" y="4231196"/>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0" y="4541249"/>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0" y="4541249"/>
                <a:ext cx="5178523" cy="594360"/>
              </a:xfrm>
              <a:prstGeom prst="rect">
                <a:avLst/>
              </a:prstGeom>
              <a:blipFill>
                <a:blip r:embed="rId4"/>
                <a:stretch>
                  <a:fillRect t="-31959" b="-3505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10 / 67</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13 / 67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mc:AlternateContent xmlns:mc="http://schemas.openxmlformats.org/markup-compatibility/2006">
        <mc:Choice xmlns:a14="http://schemas.microsoft.com/office/drawing/2010/main"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m:ctrlPr>
                        </m:mPr>
                        <m:mr>
                          <m:e>
                            <m:acc>
                              <m:accPr>
                                <m:chr m:val="̇"/>
                                <m:ctrlPr>
                                  <a:rPr lang="es-AR" sz="1400" i="1"/>
                                </m:ctrlPr>
                              </m:accPr>
                              <m:e>
                                <m:r>
                                  <a:rPr lang="es-AR" sz="1400" i="1"/>
                                  <m:t>𝑥</m:t>
                                </m:r>
                              </m:e>
                            </m:acc>
                            <m:d>
                              <m:dPr>
                                <m:ctrlPr>
                                  <a:rPr lang="es-AR" sz="1400" i="1"/>
                                </m:ctrlPr>
                              </m:dPr>
                              <m:e>
                                <m:r>
                                  <a:rPr lang="es-AR" sz="1400" i="1"/>
                                  <m:t>𝑡</m:t>
                                </m:r>
                              </m:e>
                            </m:d>
                            <m:r>
                              <a:rPr lang="es-AR" sz="1400" i="1"/>
                              <m:t>=</m:t>
                            </m:r>
                            <m:r>
                              <a:rPr lang="es-AR" sz="1400" i="1"/>
                              <m:t>𝑓</m:t>
                            </m:r>
                            <m:d>
                              <m:dPr>
                                <m:ctrlPr>
                                  <a:rPr lang="es-AR" sz="1400" i="1"/>
                                </m:ctrlPr>
                              </m:dPr>
                              <m:e>
                                <m:r>
                                  <a:rPr lang="es-AR" sz="1400" i="1"/>
                                  <m:t>𝑥</m:t>
                                </m:r>
                                <m:d>
                                  <m:dPr>
                                    <m:ctrlPr>
                                      <a:rPr lang="es-AR" sz="1400" i="1"/>
                                    </m:ctrlPr>
                                  </m:dPr>
                                  <m:e>
                                    <m:r>
                                      <a:rPr lang="es-AR" sz="1400" i="1"/>
                                      <m:t>𝑡</m:t>
                                    </m:r>
                                  </m:e>
                                </m:d>
                                <m:r>
                                  <a:rPr lang="es-AR" sz="1400" i="1"/>
                                  <m:t>,</m:t>
                                </m:r>
                                <m:r>
                                  <a:rPr lang="es-AR" sz="1400" i="1"/>
                                  <m:t>𝑢</m:t>
                                </m:r>
                                <m:d>
                                  <m:dPr>
                                    <m:ctrlPr>
                                      <a:rPr lang="es-AR" sz="1400" i="1"/>
                                    </m:ctrlPr>
                                  </m:dPr>
                                  <m:e>
                                    <m:r>
                                      <a:rPr lang="es-AR" sz="1400" i="1"/>
                                      <m:t>𝑡</m:t>
                                    </m:r>
                                  </m:e>
                                </m:d>
                              </m:e>
                            </m:d>
                            <m:r>
                              <a:rPr lang="es-AR" sz="1400" i="1"/>
                              <m:t>,</m:t>
                            </m:r>
                            <m:r>
                              <a:rPr lang="es-AR" sz="1400"/>
                              <m:t> </m:t>
                            </m:r>
                            <m:r>
                              <a:rPr lang="es-AR" sz="1400" i="1"/>
                              <m:t>𝑥</m:t>
                            </m:r>
                            <m:d>
                              <m:dPr>
                                <m:ctrlPr>
                                  <a:rPr lang="es-AR" sz="1400" i="1"/>
                                </m:ctrlPr>
                              </m:dPr>
                              <m:e>
                                <m:sSub>
                                  <m:sSubPr>
                                    <m:ctrlPr>
                                      <a:rPr lang="es-AR" sz="1400" i="1"/>
                                    </m:ctrlPr>
                                  </m:sSubPr>
                                  <m:e>
                                    <m:r>
                                      <a:rPr lang="es-AR" sz="1400" i="1"/>
                                      <m:t>𝑡</m:t>
                                    </m:r>
                                  </m:e>
                                  <m:sub>
                                    <m:r>
                                      <a:rPr lang="es-AR" sz="1400" i="1"/>
                                      <m:t>0</m:t>
                                    </m:r>
                                  </m:sub>
                                </m:sSub>
                              </m:e>
                            </m:d>
                            <m:r>
                              <a:rPr lang="es-AR" sz="1400" i="1"/>
                              <m:t>=</m:t>
                            </m:r>
                            <m:sSub>
                              <m:sSubPr>
                                <m:ctrlPr>
                                  <a:rPr lang="es-AR" sz="1400" i="1"/>
                                </m:ctrlPr>
                              </m:sSubPr>
                              <m:e>
                                <m:r>
                                  <a:rPr lang="es-AR" sz="1400" i="1"/>
                                  <m:t>𝑥</m:t>
                                </m:r>
                              </m:e>
                              <m:sub>
                                <m:r>
                                  <a:rPr lang="es-AR" sz="1400" i="1"/>
                                  <m:t>0</m:t>
                                </m:r>
                              </m:sub>
                            </m:sSub>
                          </m:e>
                        </m:mr>
                        <m:mr>
                          <m:e>
                            <m:r>
                              <a:rPr lang="es-AR" sz="1400" i="1"/>
                              <m:t>𝑦</m:t>
                            </m:r>
                            <m:d>
                              <m:dPr>
                                <m:ctrlPr>
                                  <a:rPr lang="es-AR" sz="1400" i="1"/>
                                </m:ctrlPr>
                              </m:dPr>
                              <m:e>
                                <m:r>
                                  <a:rPr lang="es-AR" sz="1400" i="1"/>
                                  <m:t>𝑡</m:t>
                                </m:r>
                              </m:e>
                            </m:d>
                            <m:r>
                              <a:rPr lang="es-AR" sz="1400" i="1"/>
                              <m:t>=</m:t>
                            </m:r>
                            <m:r>
                              <a:rPr lang="es-AR" sz="1400" i="1"/>
                              <m:t>𝐶𝑥</m:t>
                            </m:r>
                            <m:d>
                              <m:dPr>
                                <m:ctrlPr>
                                  <a:rPr lang="es-AR" sz="1400" i="1"/>
                                </m:ctrlPr>
                              </m:dPr>
                              <m:e>
                                <m:r>
                                  <a:rPr lang="es-AR" sz="1400" i="1"/>
                                  <m:t>𝑡</m:t>
                                </m:r>
                              </m:e>
                            </m:d>
                            <m:r>
                              <a:rPr lang="es-AR" sz="1400" i="1"/>
                              <m:t>                                        </m:t>
                            </m:r>
                          </m:e>
                        </m:mr>
                      </m:m>
                    </m:oMath>
                  </m:oMathPara>
                </a14:m>
                <a:endParaRPr lang="en-US" sz="1400" dirty="0"/>
              </a:p>
            </p:txBody>
          </p:sp>
        </mc:Choice>
        <mc:Fallback>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a:t>
                </a:r>
                <a:r>
                  <a:rPr lang="es-AR" sz="1400" dirty="0" err="1"/>
                  <a:t>homopolaral</a:t>
                </a:r>
                <a:r>
                  <a:rPr lang="es-AR" sz="1400" dirty="0"/>
                  <a:t>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dirty="0" err="1">
                <a:solidFill>
                  <a:srgbClr val="A0C4FF"/>
                </a:solidFill>
                <a:latin typeface="Calibri"/>
              </a:rPr>
              <a:t>Simulación</a:t>
            </a:r>
            <a:r>
              <a:rPr sz="1700" dirty="0">
                <a:solidFill>
                  <a:srgbClr val="A0C4FF"/>
                </a:solidFill>
                <a:latin typeface="Calibri"/>
              </a:rPr>
              <a:t> del </a:t>
            </a:r>
            <a:r>
              <a:rPr sz="1700" dirty="0" err="1">
                <a:solidFill>
                  <a:srgbClr val="A0C4FF"/>
                </a:solidFill>
                <a:latin typeface="Calibri"/>
              </a:rPr>
              <a:t>modelo</a:t>
            </a:r>
            <a:r>
              <a:rPr sz="1700" dirty="0">
                <a:solidFill>
                  <a:srgbClr val="A0C4FF"/>
                </a:solidFill>
                <a:latin typeface="Calibri"/>
              </a:rPr>
              <a:t> NL · 4 </a:t>
            </a:r>
            <a:r>
              <a:rPr sz="1700" dirty="0" err="1">
                <a:solidFill>
                  <a:srgbClr val="A0C4FF"/>
                </a:solidFill>
                <a:latin typeface="Calibri"/>
              </a:rPr>
              <a:t>cuadrantes</a:t>
            </a:r>
            <a:r>
              <a:rPr sz="1700" dirty="0">
                <a:solidFill>
                  <a:srgbClr val="A0C4FF"/>
                </a:solidFill>
                <a:latin typeface="Calibri"/>
              </a:rPr>
              <a:t> · LTI vs NL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a:blip r:embed="rId2">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transformadas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269532"/>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269532"/>
              </a:xfrm>
              <a:prstGeom prst="rect">
                <a:avLst/>
              </a:prstGeom>
              <a:blipFill>
                <a:blip r:embed="rId2"/>
                <a:stretch>
                  <a:fillRect l="-155" t="-26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332526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3987080"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3987080" y="5514755"/>
                <a:ext cx="4547015" cy="430887"/>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1" name="Imagen 20">
            <a:extLst>
              <a:ext uri="{FF2B5EF4-FFF2-40B4-BE49-F238E27FC236}">
                <a16:creationId xmlns:a16="http://schemas.microsoft.com/office/drawing/2014/main" id="{6305DE5A-871E-4904-9FBE-88C3110618ED}"/>
              </a:ext>
            </a:extLst>
          </p:cNvPr>
          <p:cNvPicPr/>
          <p:nvPr/>
        </p:nvPicPr>
        <p:blipFill rotWithShape="1">
          <a:blip r:embed="rId2">
            <a:extLst>
              <a:ext uri="{28A0092B-C50C-407E-A947-70E740481C1C}">
                <a14:useLocalDpi xmlns:a14="http://schemas.microsoft.com/office/drawing/2010/main" val="0"/>
              </a:ext>
            </a:extLst>
          </a:blip>
          <a:srcRect l="798"/>
          <a:stretch/>
        </p:blipFill>
        <p:spPr bwMode="auto">
          <a:xfrm>
            <a:off x="133732" y="803213"/>
            <a:ext cx="5628402" cy="4466371"/>
          </a:xfrm>
          <a:prstGeom prst="rect">
            <a:avLst/>
          </a:prstGeom>
          <a:ln>
            <a:noFill/>
          </a:ln>
          <a:extLst>
            <a:ext uri="{53640926-AAD7-44D8-BBD7-CCE9431645EC}">
              <a14:shadowObscured xmlns:a14="http://schemas.microsoft.com/office/drawing/2010/main"/>
            </a:ext>
          </a:extLst>
        </p:spPr>
      </p:pic>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5837311" y="774800"/>
            <a:ext cx="5765680" cy="4494784"/>
          </a:xfrm>
          <a:prstGeom prst="rect">
            <a:avLst/>
          </a:prstGeom>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7129B19-80DF-4CAF-B21C-6358FC302665}"/>
                  </a:ext>
                </a:extLst>
              </p:cNvPr>
              <p:cNvSpPr txBox="1"/>
              <p:nvPr/>
            </p:nvSpPr>
            <p:spPr>
              <a:xfrm>
                <a:off x="589009" y="5311437"/>
                <a:ext cx="509690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3" name="CuadroTexto 12">
                <a:extLst>
                  <a:ext uri="{FF2B5EF4-FFF2-40B4-BE49-F238E27FC236}">
                    <a16:creationId xmlns:a16="http://schemas.microsoft.com/office/drawing/2014/main" id="{27129B19-80DF-4CAF-B21C-6358FC302665}"/>
                  </a:ext>
                </a:extLst>
              </p:cNvPr>
              <p:cNvSpPr txBox="1">
                <a:spLocks noRot="1" noChangeAspect="1" noMove="1" noResize="1" noEditPoints="1" noAdjustHandles="1" noChangeArrowheads="1" noChangeShapeType="1" noTextEdit="1"/>
              </p:cNvSpPr>
              <p:nvPr/>
            </p:nvSpPr>
            <p:spPr>
              <a:xfrm>
                <a:off x="589009" y="5311437"/>
                <a:ext cx="5096905"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7055976" y="5339314"/>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a:t>
                </a:r>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7055976" y="5339314"/>
                <a:ext cx="4547015"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3077766"/>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600" dirty="0"/>
          </a:p>
          <a:p>
            <a:pPr marL="285750" indent="-285750">
              <a:buFont typeface="Arial" panose="020B0604020202020204" pitchFamily="34" charset="0"/>
              <a:buChar char="•"/>
            </a:pPr>
            <a:r>
              <a:rPr lang="es-MX" sz="1600" dirty="0"/>
              <a:t>Limitar o evitar perturbaciones de carga sostenidas</a:t>
            </a:r>
          </a:p>
          <a:p>
            <a:pPr marL="285750" indent="-285750">
              <a:buFont typeface="Arial" panose="020B0604020202020204" pitchFamily="34" charset="0"/>
              <a:buChar char="•"/>
            </a:pPr>
            <a:r>
              <a:rPr lang="es-AR" dirty="0">
                <a:latin typeface="Calibri" panose="020F0502020204030204" pitchFamily="34" charset="0"/>
                <a:ea typeface="Calibri" panose="020F0502020204030204" pitchFamily="34" charset="0"/>
                <a:cs typeface="Times New Roman" panose="02020603050405020304" pitchFamily="18" charset="0"/>
              </a:rPr>
              <a:t>M</a:t>
            </a:r>
            <a:r>
              <a:rPr lang="es-AR" sz="18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6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1610" y="639742"/>
                <a:ext cx="8357730" cy="657552"/>
              </a:xfrm>
              <a:prstGeom prst="rect">
                <a:avLst/>
              </a:prstGeom>
              <a:noFill/>
            </p:spPr>
            <p:txBody>
              <a:bodyPr wrap="square">
                <a:spAutoFit/>
              </a:bodyPr>
              <a:lstStyle/>
              <a:p>
                <a:pPr algn="just">
                  <a:lnSpc>
                    <a:spcPct val="107000"/>
                  </a:lnSpc>
                  <a:spcBef>
                    <a:spcPts val="1800"/>
                  </a:spcBef>
                  <a:spcAft>
                    <a:spcPts val="1800"/>
                  </a:spcAft>
                </a:pPr>
                <a:r>
                  <a:rPr lang="es-MX" sz="1600" b="0" dirty="0">
                    <a:effectLst/>
                    <a:ea typeface="Calibri" panose="020F0502020204030204" pitchFamily="34" charset="0"/>
                    <a:cs typeface="Times New Roman" panose="02020603050405020304" pitchFamily="18" charset="0"/>
                  </a:rPr>
                  <a:t>Para</a:t>
                </a:r>
                <a14:m>
                  <m:oMath xmlns:m="http://schemas.openxmlformats.org/officeDocument/2006/math">
                    <m:r>
                      <a:rPr lang="es-MX" sz="16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6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=2000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=6000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6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600" i="1">
                        <a:effectLst/>
                        <a:latin typeface="Cambria Math" panose="02040503050406030204" pitchFamily="18" charset="0"/>
                        <a:ea typeface="Calibri" panose="020F0502020204030204" pitchFamily="34" charset="0"/>
                        <a:cs typeface="Times New Roman" panose="02020603050405020304" pitchFamily="18" charset="0"/>
                      </a:rPr>
                      <m:t>=20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6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1610" y="639742"/>
                <a:ext cx="8357730" cy="657552"/>
              </a:xfrm>
              <a:prstGeom prst="rect">
                <a:avLst/>
              </a:prstGeom>
              <a:blipFill>
                <a:blip r:embed="rId3"/>
                <a:stretch>
                  <a:fillRect l="-438" r="-365" b="-11111"/>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54091"/>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54091"/>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74320" y="5513633"/>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651564"/>
          </a:xfrm>
          <a:prstGeom prst="rect">
            <a:avLst/>
          </a:prstGeom>
        </p:spPr>
      </p:pic>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58368"/>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4847481"/>
          </a:xfrm>
          <a:prstGeom prst="rect">
            <a:avLst/>
          </a:prstGeom>
          <a:noFill/>
        </p:spPr>
        <p:txBody>
          <a:bodyPr wrap="square">
            <a:spAutoFit/>
          </a:bodyPr>
          <a:lstStyle/>
          <a:p>
            <a:r>
              <a:rPr sz="2400" dirty="0">
                <a:solidFill>
                  <a:srgbClr val="1A1A2E"/>
                </a:solidFill>
                <a:latin typeface="Calibri"/>
              </a:rPr>
              <a:t>[1] G. Julián. Proyecto Global </a:t>
            </a:r>
            <a:r>
              <a:rPr sz="2400" dirty="0" err="1">
                <a:solidFill>
                  <a:srgbClr val="1A1A2E"/>
                </a:solidFill>
                <a:latin typeface="Calibri"/>
              </a:rPr>
              <a:t>Integrador</a:t>
            </a:r>
            <a:r>
              <a:rPr sz="2400" dirty="0">
                <a:solidFill>
                  <a:srgbClr val="1A1A2E"/>
                </a:solidFill>
                <a:latin typeface="Calibri"/>
              </a:rPr>
              <a:t>: Control de </a:t>
            </a:r>
            <a:r>
              <a:rPr sz="2400" dirty="0" err="1">
                <a:solidFill>
                  <a:srgbClr val="1A1A2E"/>
                </a:solidFill>
                <a:latin typeface="Calibri"/>
              </a:rPr>
              <a:t>Accionamiento</a:t>
            </a:r>
            <a:r>
              <a:rPr sz="2400" dirty="0">
                <a:solidFill>
                  <a:srgbClr val="1A1A2E"/>
                </a:solidFill>
                <a:latin typeface="Calibri"/>
              </a:rPr>
              <a:t> de CA con Motor </a:t>
            </a:r>
            <a:r>
              <a:rPr sz="2400" dirty="0" err="1">
                <a:solidFill>
                  <a:srgbClr val="1A1A2E"/>
                </a:solidFill>
                <a:latin typeface="Calibri"/>
              </a:rPr>
              <a:t>Síncrono</a:t>
            </a:r>
            <a:r>
              <a:rPr sz="2400" dirty="0">
                <a:solidFill>
                  <a:srgbClr val="1A1A2E"/>
                </a:solidFill>
                <a:latin typeface="Calibri"/>
              </a:rPr>
              <a:t> de </a:t>
            </a:r>
            <a:r>
              <a:rPr sz="2400" dirty="0" err="1">
                <a:solidFill>
                  <a:srgbClr val="1A1A2E"/>
                </a:solidFill>
                <a:latin typeface="Calibri"/>
              </a:rPr>
              <a:t>Imanes</a:t>
            </a:r>
            <a:r>
              <a:rPr sz="2400" dirty="0">
                <a:solidFill>
                  <a:srgbClr val="1A1A2E"/>
                </a:solidFill>
                <a:latin typeface="Calibri"/>
              </a:rPr>
              <a:t> </a:t>
            </a:r>
            <a:r>
              <a:rPr sz="2400" dirty="0" err="1">
                <a:solidFill>
                  <a:srgbClr val="1A1A2E"/>
                </a:solidFill>
                <a:latin typeface="Calibri"/>
              </a:rPr>
              <a:t>Permanentes</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Ing. </a:t>
            </a:r>
            <a:r>
              <a:rPr sz="2400" dirty="0" err="1">
                <a:solidFill>
                  <a:srgbClr val="1A1A2E"/>
                </a:solidFill>
                <a:latin typeface="Calibri"/>
              </a:rPr>
              <a:t>en</a:t>
            </a:r>
            <a:r>
              <a:rPr sz="2400" dirty="0">
                <a:solidFill>
                  <a:srgbClr val="1A1A2E"/>
                </a:solidFill>
                <a:latin typeface="Calibri"/>
              </a:rPr>
              <a:t> </a:t>
            </a:r>
            <a:r>
              <a:rPr sz="2400" dirty="0" err="1">
                <a:solidFill>
                  <a:srgbClr val="1A1A2E"/>
                </a:solidFill>
                <a:latin typeface="Calibri"/>
              </a:rPr>
              <a:t>Mecatrónica</a:t>
            </a:r>
            <a:r>
              <a:rPr sz="2400" dirty="0">
                <a:solidFill>
                  <a:srgbClr val="1A1A2E"/>
                </a:solidFill>
                <a:latin typeface="Calibri"/>
              </a:rPr>
              <a:t>, 2024.</a:t>
            </a:r>
          </a:p>
          <a:p>
            <a:pPr>
              <a:spcBef>
                <a:spcPts val="900"/>
              </a:spcBef>
            </a:pPr>
            <a:r>
              <a:rPr sz="2400" dirty="0">
                <a:solidFill>
                  <a:srgbClr val="1A1A2E"/>
                </a:solidFill>
                <a:latin typeface="Calibri"/>
              </a:rPr>
              <a:t>[2] G. Julián. </a:t>
            </a:r>
            <a:r>
              <a:rPr sz="2400" dirty="0" err="1">
                <a:solidFill>
                  <a:srgbClr val="1A1A2E"/>
                </a:solidFill>
                <a:latin typeface="Calibri"/>
              </a:rPr>
              <a:t>Guía</a:t>
            </a:r>
            <a:r>
              <a:rPr sz="2400" dirty="0">
                <a:solidFill>
                  <a:srgbClr val="1A1A2E"/>
                </a:solidFill>
                <a:latin typeface="Calibri"/>
              </a:rPr>
              <a:t> de </a:t>
            </a:r>
            <a:r>
              <a:rPr sz="2400" dirty="0" err="1">
                <a:solidFill>
                  <a:srgbClr val="1A1A2E"/>
                </a:solidFill>
                <a:latin typeface="Calibri"/>
              </a:rPr>
              <a:t>trabajo</a:t>
            </a:r>
            <a:r>
              <a:rPr sz="2400" dirty="0">
                <a:solidFill>
                  <a:srgbClr val="1A1A2E"/>
                </a:solidFill>
                <a:latin typeface="Calibri"/>
              </a:rPr>
              <a:t> — Proyecto Global </a:t>
            </a:r>
            <a:r>
              <a:rPr sz="2400" dirty="0" err="1">
                <a:solidFill>
                  <a:srgbClr val="1A1A2E"/>
                </a:solidFill>
                <a:latin typeface="Calibri"/>
              </a:rPr>
              <a:t>Integrador</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2024.</a:t>
            </a:r>
          </a:p>
          <a:p>
            <a:pPr>
              <a:spcBef>
                <a:spcPts val="900"/>
              </a:spcBef>
            </a:pPr>
            <a:r>
              <a:rPr sz="2400" dirty="0">
                <a:solidFill>
                  <a:srgbClr val="1A1A2E"/>
                </a:solidFill>
                <a:latin typeface="Calibri"/>
              </a:rPr>
              <a:t>[3] P. Krause, O. </a:t>
            </a:r>
            <a:r>
              <a:rPr sz="2400" dirty="0" err="1">
                <a:solidFill>
                  <a:srgbClr val="1A1A2E"/>
                </a:solidFill>
                <a:latin typeface="Calibri"/>
              </a:rPr>
              <a:t>Wasynczuk</a:t>
            </a:r>
            <a:r>
              <a:rPr sz="2400" dirty="0">
                <a:solidFill>
                  <a:srgbClr val="1A1A2E"/>
                </a:solidFill>
                <a:latin typeface="Calibri"/>
              </a:rPr>
              <a:t>, S. D. </a:t>
            </a:r>
            <a:r>
              <a:rPr sz="2400" dirty="0" err="1">
                <a:solidFill>
                  <a:srgbClr val="1A1A2E"/>
                </a:solidFill>
                <a:latin typeface="Calibri"/>
              </a:rPr>
              <a:t>Sudhoff</a:t>
            </a:r>
            <a:r>
              <a:rPr sz="2400" dirty="0">
                <a:solidFill>
                  <a:srgbClr val="1A1A2E"/>
                </a:solidFill>
                <a:latin typeface="Calibri"/>
              </a:rPr>
              <a:t>, S. </a:t>
            </a:r>
            <a:r>
              <a:rPr sz="2400" dirty="0" err="1">
                <a:solidFill>
                  <a:srgbClr val="1A1A2E"/>
                </a:solidFill>
                <a:latin typeface="Calibri"/>
              </a:rPr>
              <a:t>Pekarek</a:t>
            </a:r>
            <a:r>
              <a:rPr sz="2400" dirty="0">
                <a:solidFill>
                  <a:srgbClr val="1A1A2E"/>
                </a:solidFill>
                <a:latin typeface="Calibri"/>
              </a:rPr>
              <a:t>. Analysis of Electric Machinery and Drive Systems. 3ª ed. Wiley-IEEE Press, 2013.</a:t>
            </a:r>
          </a:p>
          <a:p>
            <a:pPr>
              <a:spcBef>
                <a:spcPts val="900"/>
              </a:spcBef>
            </a:pPr>
            <a:r>
              <a:rPr sz="2400" dirty="0">
                <a:solidFill>
                  <a:srgbClr val="1A1A2E"/>
                </a:solidFill>
                <a:latin typeface="Calibri"/>
              </a:rPr>
              <a:t>[4] G. F. Franklin, J. D. Powell, A. </a:t>
            </a:r>
            <a:r>
              <a:rPr sz="2400" dirty="0" err="1">
                <a:solidFill>
                  <a:srgbClr val="1A1A2E"/>
                </a:solidFill>
                <a:latin typeface="Calibri"/>
              </a:rPr>
              <a:t>Emami-Naeni</a:t>
            </a:r>
            <a:r>
              <a:rPr sz="2400" dirty="0">
                <a:solidFill>
                  <a:srgbClr val="1A1A2E"/>
                </a:solidFill>
                <a:latin typeface="Calibri"/>
              </a:rPr>
              <a:t>. Feedback Control of Dynamic Systems. 7ª ed. Pearson, 2015.</a:t>
            </a:r>
          </a:p>
          <a:p>
            <a:pPr>
              <a:spcBef>
                <a:spcPts val="900"/>
              </a:spcBef>
            </a:pPr>
            <a:r>
              <a:rPr sz="2400" dirty="0">
                <a:solidFill>
                  <a:srgbClr val="1A1A2E"/>
                </a:solidFill>
                <a:latin typeface="Calibri"/>
              </a:rPr>
              <a:t>[5] K. Ogata. </a:t>
            </a:r>
            <a:r>
              <a:rPr sz="2400" dirty="0" err="1">
                <a:solidFill>
                  <a:srgbClr val="1A1A2E"/>
                </a:solidFill>
                <a:latin typeface="Calibri"/>
              </a:rPr>
              <a:t>Ingeniería</a:t>
            </a:r>
            <a:r>
              <a:rPr sz="2400" dirty="0">
                <a:solidFill>
                  <a:srgbClr val="1A1A2E"/>
                </a:solidFill>
                <a:latin typeface="Calibri"/>
              </a:rPr>
              <a:t> de Control Moderna. 5ª ed. Prentice Hall, 2010.</a:t>
            </a:r>
          </a:p>
          <a:p>
            <a:pPr>
              <a:spcBef>
                <a:spcPts val="900"/>
              </a:spcBef>
            </a:pPr>
            <a:r>
              <a:rPr sz="2400" dirty="0">
                <a:solidFill>
                  <a:srgbClr val="1A1A2E"/>
                </a:solidFill>
                <a:latin typeface="Calibri"/>
              </a:rPr>
              <a:t>[6] K. M. Lynch, F. C. Park. Modern Robotics: Mechanics, Planning, and Control. Cambridge University Press, 2017.</a:t>
            </a:r>
          </a:p>
          <a:p>
            <a:pPr>
              <a:spcBef>
                <a:spcPts val="900"/>
              </a:spcBef>
            </a:pPr>
            <a:r>
              <a:rPr sz="2400" dirty="0">
                <a:solidFill>
                  <a:srgbClr val="1A1A2E"/>
                </a:solidFill>
                <a:latin typeface="Calibri"/>
              </a:rPr>
              <a:t>[7] MathWorks. MATLAB/Simulink R2024b Documentation. www.mathworks.com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4742</TotalTime>
  <Words>13806</Words>
  <Application>Microsoft Office PowerPoint</Application>
  <PresentationFormat>Panorámica</PresentationFormat>
  <Paragraphs>1363</Paragraphs>
  <Slides>119</Slides>
  <Notes>8</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202</cp:revision>
  <dcterms:created xsi:type="dcterms:W3CDTF">2013-01-27T09:14:16Z</dcterms:created>
  <dcterms:modified xsi:type="dcterms:W3CDTF">2026-04-27T19:27:02Z</dcterms:modified>
  <cp:category/>
</cp:coreProperties>
</file>