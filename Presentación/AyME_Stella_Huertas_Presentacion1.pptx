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4" r:id="rId29"/>
    <p:sldId id="285" r:id="rId30"/>
    <p:sldId id="286" r:id="rId31"/>
    <p:sldId id="287" r:id="rId32"/>
    <p:sldId id="328" r:id="rId33"/>
    <p:sldId id="329" r:id="rId34"/>
    <p:sldId id="330" r:id="rId35"/>
    <p:sldId id="288" r:id="rId36"/>
    <p:sldId id="290" r:id="rId37"/>
    <p:sldId id="331" r:id="rId38"/>
    <p:sldId id="291" r:id="rId39"/>
    <p:sldId id="332" r:id="rId40"/>
    <p:sldId id="292" r:id="rId41"/>
    <p:sldId id="293" r:id="rId42"/>
    <p:sldId id="294" r:id="rId43"/>
    <p:sldId id="333" r:id="rId44"/>
    <p:sldId id="295" r:id="rId45"/>
    <p:sldId id="334" r:id="rId46"/>
    <p:sldId id="297" r:id="rId47"/>
    <p:sldId id="337" r:id="rId48"/>
    <p:sldId id="336" r:id="rId49"/>
    <p:sldId id="296" r:id="rId50"/>
    <p:sldId id="338" r:id="rId51"/>
    <p:sldId id="299" r:id="rId52"/>
    <p:sldId id="298" r:id="rId53"/>
    <p:sldId id="339" r:id="rId54"/>
    <p:sldId id="340" r:id="rId55"/>
    <p:sldId id="341" r:id="rId56"/>
    <p:sldId id="300" r:id="rId57"/>
    <p:sldId id="301" r:id="rId58"/>
    <p:sldId id="302" r:id="rId59"/>
    <p:sldId id="343" r:id="rId60"/>
    <p:sldId id="344" r:id="rId61"/>
    <p:sldId id="303" r:id="rId62"/>
    <p:sldId id="345" r:id="rId63"/>
    <p:sldId id="342" r:id="rId64"/>
    <p:sldId id="304" r:id="rId65"/>
    <p:sldId id="305" r:id="rId66"/>
    <p:sldId id="306" r:id="rId67"/>
    <p:sldId id="307" r:id="rId68"/>
    <p:sldId id="308" r:id="rId69"/>
    <p:sldId id="309" r:id="rId70"/>
    <p:sldId id="310" r:id="rId71"/>
    <p:sldId id="311" r:id="rId72"/>
    <p:sldId id="312" r:id="rId73"/>
    <p:sldId id="313" r:id="rId74"/>
    <p:sldId id="314" r:id="rId75"/>
    <p:sldId id="315" r:id="rId76"/>
    <p:sldId id="316" r:id="rId77"/>
    <p:sldId id="317" r:id="rId78"/>
    <p:sldId id="318" r:id="rId79"/>
    <p:sldId id="319" r:id="rId80"/>
    <p:sldId id="320" r:id="rId81"/>
    <p:sldId id="321" r:id="rId82"/>
    <p:sldId id="322" r:id="rId83"/>
    <p:sldId id="323" r:id="rId84"/>
    <p:sldId id="324" r:id="rId85"/>
    <p:sldId id="325" r:id="rId86"/>
    <p:sldId id="326" r:id="rId87"/>
    <p:sldId id="327" r:id="rId8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8" d="100"/>
          <a:sy n="108" d="100"/>
        </p:scale>
        <p:origin x="67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16/4/2026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54</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55</a:t>
            </a:fld>
            <a:endParaRPr lang="es-AR"/>
          </a:p>
        </p:txBody>
      </p:sp>
    </p:spTree>
    <p:extLst>
      <p:ext uri="{BB962C8B-B14F-4D97-AF65-F5344CB8AC3E}">
        <p14:creationId xmlns:p14="http://schemas.microsoft.com/office/powerpoint/2010/main" val="164273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7.png"/><Relationship Id="rId9"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7" Type="http://schemas.openxmlformats.org/officeDocument/2006/relationships/image" Target="../media/image9.png"/><Relationship Id="rId2"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2.png"/><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image" Target="../media/image36.png"/></Relationships>
</file>

<file path=ppt/slides/_rels/slide2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 Id="rId5" Type="http://schemas.openxmlformats.org/officeDocument/2006/relationships/image" Target="../media/image190.png"/><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52.png"/></Relationships>
</file>

<file path=ppt/slides/_rels/slide26.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60.png"/><Relationship Id="rId1" Type="http://schemas.openxmlformats.org/officeDocument/2006/relationships/slideLayout" Target="../slideLayouts/slideLayout7.xml"/><Relationship Id="rId6" Type="http://schemas.openxmlformats.org/officeDocument/2006/relationships/image" Target="../media/image57.png"/></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7.png"/><Relationship Id="rId1" Type="http://schemas.openxmlformats.org/officeDocument/2006/relationships/slideLayout" Target="../slideLayouts/slideLayout7.xml"/><Relationship Id="rId5" Type="http://schemas.openxmlformats.org/officeDocument/2006/relationships/image" Target="../media/image50.png"/><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 Id="rId4" Type="http://schemas.openxmlformats.org/officeDocument/2006/relationships/image" Target="../media/image58.png"/></Relationships>
</file>

<file path=ppt/slides/_rels/slide3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70.png"/></Relationships>
</file>

<file path=ppt/slides/_rels/slide3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7.xml"/><Relationship Id="rId5" Type="http://schemas.openxmlformats.org/officeDocument/2006/relationships/image" Target="../media/image76.png"/><Relationship Id="rId4" Type="http://schemas.openxmlformats.org/officeDocument/2006/relationships/image" Target="../media/image75.png"/></Relationships>
</file>

<file path=ppt/slides/_rels/slide3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3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3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3.png"/></Relationships>
</file>

<file path=ppt/slides/_rels/slide43.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98.png"/></Relationships>
</file>

<file path=ppt/slides/_rels/slide45.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png"/><Relationship Id="rId7" Type="http://schemas.openxmlformats.org/officeDocument/2006/relationships/image" Target="../media/image115.png"/><Relationship Id="rId2" Type="http://schemas.openxmlformats.org/officeDocument/2006/relationships/image" Target="../media/image110.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2.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3.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3.png"/><Relationship Id="rId4" Type="http://schemas.openxmlformats.org/officeDocument/2006/relationships/image" Target="../media/image122.png"/></Relationships>
</file>

<file path=ppt/slides/_rels/slide54.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125.png"/><Relationship Id="rId7" Type="http://schemas.openxmlformats.org/officeDocument/2006/relationships/image" Target="../media/image129.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7.png"/><Relationship Id="rId4" Type="http://schemas.openxmlformats.org/officeDocument/2006/relationships/image" Target="../media/image126.png"/></Relationships>
</file>

<file path=ppt/slides/_rels/slide55.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59.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0.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43.png"/><Relationship Id="rId7" Type="http://schemas.openxmlformats.org/officeDocument/2006/relationships/image" Target="../media/image147.png"/><Relationship Id="rId2" Type="http://schemas.openxmlformats.org/officeDocument/2006/relationships/image" Target="../media/image142.png"/><Relationship Id="rId1" Type="http://schemas.openxmlformats.org/officeDocument/2006/relationships/slideLayout" Target="../slideLayouts/slideLayout7.xml"/><Relationship Id="rId6" Type="http://schemas.openxmlformats.org/officeDocument/2006/relationships/image" Target="../media/image146.png"/><Relationship Id="rId5" Type="http://schemas.openxmlformats.org/officeDocument/2006/relationships/image" Target="../media/image145.png"/><Relationship Id="rId4" Type="http://schemas.openxmlformats.org/officeDocument/2006/relationships/image" Target="../media/image144.png"/></Relationships>
</file>

<file path=ppt/slides/_rels/slide62.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8.png"/><Relationship Id="rId1" Type="http://schemas.openxmlformats.org/officeDocument/2006/relationships/slideLayout" Target="../slideLayouts/slideLayout7.xml"/><Relationship Id="rId5" Type="http://schemas.openxmlformats.org/officeDocument/2006/relationships/image" Target="../media/image150.png"/><Relationship Id="rId4" Type="http://schemas.openxmlformats.org/officeDocument/2006/relationships/image" Target="../media/image14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61520" cy="1737360"/>
          </a:xfrm>
          <a:prstGeom prst="rect">
            <a:avLst/>
          </a:prstGeom>
          <a:solidFill>
            <a:srgbClr val="1A386B"/>
          </a:solidFill>
          <a:ln w="12700">
            <a:solidFill>
              <a:srgbClr val="1A386B"/>
            </a:solidFill>
            <a:prstDash val="solid"/>
          </a:ln>
        </p:spPr>
      </p:sp>
      <p:sp>
        <p:nvSpPr>
          <p:cNvPr id="3" name="Shape 1"/>
          <p:cNvSpPr/>
          <p:nvPr/>
        </p:nvSpPr>
        <p:spPr>
          <a:xfrm>
            <a:off x="0" y="1737360"/>
            <a:ext cx="12161520" cy="73152"/>
          </a:xfrm>
          <a:prstGeom prst="rect">
            <a:avLst/>
          </a:prstGeom>
          <a:solidFill>
            <a:srgbClr val="C0392B"/>
          </a:solidFill>
          <a:ln w="12700">
            <a:solidFill>
              <a:srgbClr val="C0392B"/>
            </a:solidFill>
            <a:prstDash val="solid"/>
          </a:ln>
        </p:spPr>
      </p:sp>
      <p:sp>
        <p:nvSpPr>
          <p:cNvPr id="4" name="Shape 2"/>
          <p:cNvSpPr/>
          <p:nvPr/>
        </p:nvSpPr>
        <p:spPr>
          <a:xfrm>
            <a:off x="0" y="5852160"/>
            <a:ext cx="1216152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9" name="Text 7"/>
          <p:cNvSpPr/>
          <p:nvPr/>
        </p:nvSpPr>
        <p:spPr>
          <a:xfrm>
            <a:off x="914400" y="3931920"/>
            <a:ext cx="10332720" cy="548640"/>
          </a:xfrm>
          <a:prstGeom prst="rect">
            <a:avLst/>
          </a:prstGeom>
          <a:noFill/>
          <a:ln/>
        </p:spPr>
        <p:txBody>
          <a:bodyPr wrap="square" rtlCol="0" anchor="ctr"/>
          <a:lstStyle/>
          <a:p>
            <a:pPr marL="0" indent="0" algn="ctr">
              <a:buNone/>
            </a:pPr>
            <a:r>
              <a:rPr lang="en-US" sz="1500" i="1" dirty="0">
                <a:solidFill>
                  <a:srgbClr val="555555"/>
                </a:solidFill>
                <a:latin typeface="Calibri" pitchFamily="34" charset="0"/>
                <a:ea typeface="Calibri" pitchFamily="34" charset="-122"/>
                <a:cs typeface="Calibri" pitchFamily="34" charset="-120"/>
              </a:rPr>
              <a:t>Control vectorial de movimiento — Manipulador robótico de 1 GDL</a:t>
            </a:r>
            <a:endParaRPr lang="en-US" sz="1500" dirty="0"/>
          </a:p>
        </p:txBody>
      </p:sp>
      <p:sp>
        <p:nvSpPr>
          <p:cNvPr id="10" name="Text 8"/>
          <p:cNvSpPr/>
          <p:nvPr/>
        </p:nvSpPr>
        <p:spPr>
          <a:xfrm>
            <a:off x="1371600" y="461772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Leg. 12552        Juan Francisco Huertas  —  Leg.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0" name="Text 8"/>
          <p:cNvSpPr/>
          <p:nvPr/>
        </p:nvSpPr>
        <p:spPr>
          <a:xfrm>
            <a:off x="868680" y="117957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PMSM, caja reductora, carga mecánica, inversor, sensores</a:t>
            </a:r>
            <a:endParaRPr lang="en-US" sz="95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4" name="Text 12"/>
          <p:cNvSpPr/>
          <p:nvPr/>
        </p:nvSpPr>
        <p:spPr>
          <a:xfrm>
            <a:off x="868680" y="188366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Carga + transmisión + motor → modelo equivalente referido al eje motor</a:t>
            </a:r>
            <a:endParaRPr lang="en-US" sz="95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8" name="Text 16"/>
          <p:cNvSpPr/>
          <p:nvPr/>
        </p:nvSpPr>
        <p:spPr>
          <a:xfrm>
            <a:off x="868680" y="2587752"/>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Transformada de Park, ecuaciones en coordenadas qd0r</a:t>
            </a:r>
            <a:endParaRPr lang="en-US" sz="95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2" name="Text 20"/>
          <p:cNvSpPr/>
          <p:nvPr/>
        </p:nvSpPr>
        <p:spPr>
          <a:xfrm>
            <a:off x="868680" y="3291840"/>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Pérdidas Joule, balance energético, ecuación diferencial de Ts</a:t>
            </a:r>
            <a:endParaRPr lang="en-US" sz="95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6" name="Text 24"/>
          <p:cNvSpPr/>
          <p:nvPr/>
        </p:nvSpPr>
        <p:spPr>
          <a:xfrm>
            <a:off x="868680" y="3995928"/>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Linealización, restricciones, ley de control mínima</a:t>
            </a:r>
            <a:endParaRPr lang="en-US" sz="95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0" name="Text 28"/>
          <p:cNvSpPr/>
          <p:nvPr/>
        </p:nvSpPr>
        <p:spPr>
          <a:xfrm>
            <a:off x="868680" y="470001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Estabilidad, observabilidad, controlabilidad, FdT</a:t>
            </a:r>
            <a:endParaRPr lang="en-US" sz="95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4" name="Text 32"/>
          <p:cNvSpPr/>
          <p:nvPr/>
        </p:nvSpPr>
        <p:spPr>
          <a:xfrm>
            <a:off x="868680" y="540410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Simulación temporal, torque-velocidad, 4 cuadrantes</a:t>
            </a:r>
            <a:endParaRPr lang="en-US" sz="95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8" name="Text 36"/>
          <p:cNvSpPr/>
          <p:nvPr/>
        </p:nvSpPr>
        <p:spPr>
          <a:xfrm>
            <a:off x="6858000" y="117957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Desacople, lazos PI de corriente, consigna de torque</a:t>
            </a:r>
            <a:endParaRPr lang="en-US" sz="95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2" name="Text 40"/>
          <p:cNvSpPr/>
          <p:nvPr/>
        </p:nvSpPr>
        <p:spPr>
          <a:xfrm>
            <a:off x="6858000" y="188366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Diseño por asignación de polos, set-point trapezoidal</a:t>
            </a:r>
            <a:endParaRPr lang="en-US" sz="95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6" name="Text 44"/>
          <p:cNvSpPr/>
          <p:nvPr/>
        </p:nvSpPr>
        <p:spPr>
          <a:xfrm>
            <a:off x="6858000" y="2587752"/>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Seguimiento de consigna, rechazo a perturbaciones</a:t>
            </a:r>
            <a:endParaRPr lang="en-US" sz="95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0" name="Text 48"/>
          <p:cNvSpPr/>
          <p:nvPr/>
        </p:nvSpPr>
        <p:spPr>
          <a:xfrm>
            <a:off x="6858000" y="3291840"/>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Obs. integral, análisis térmico, sensores y modulador no ideales</a:t>
            </a:r>
            <a:endParaRPr lang="en-US" sz="95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4" name="Text 52"/>
          <p:cNvSpPr/>
          <p:nvPr/>
        </p:nvSpPr>
        <p:spPr>
          <a:xfrm>
            <a:off x="6858000" y="3995928"/>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Período de muestreo, ecuaciones en diferencias, validación</a:t>
            </a:r>
            <a:endParaRPr lang="en-US" sz="95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PMSM · Caja reductora · Carga mecánica · Inversor · Sensores</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365760" y="242316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p:sp>
        <p:nvSpPr>
          <p:cNvPr id="10" name="Text 8"/>
          <p:cNvSpPr/>
          <p:nvPr/>
        </p:nvSpPr>
        <p:spPr>
          <a:xfrm>
            <a:off x="365760" y="2816352"/>
            <a:ext cx="5303520"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ml ∈ [0, 1.5] kg</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Posición q(t) ≡ θl(t) medida desde vertical, positivo en sentido horario</a:t>
            </a:r>
            <a:endParaRPr lang="en-US" sz="1300" dirty="0"/>
          </a:p>
        </p:txBody>
      </p:sp>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242316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p:sp>
        <p:nvSpPr>
          <p:cNvPr id="14" name="Text 12"/>
          <p:cNvSpPr/>
          <p:nvPr/>
        </p:nvSpPr>
        <p:spPr>
          <a:xfrm>
            <a:off x="6400800" y="2816352"/>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Modelo promediado: modulador ideal de tensión trifásica vectorial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Parámetros ajustables: módulo Vsl(t) y frecuencia ωe(t)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Vsl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fe ∈ [-330, +330] Hz (determina sentido de giro)</a:t>
            </a:r>
            <a:endParaRPr lang="en-US" sz="1300" dirty="0"/>
          </a:p>
        </p:txBody>
      </p:sp>
      <p:sp>
        <p:nvSpPr>
          <p:cNvPr id="15" name="Text 13"/>
          <p:cNvSpPr/>
          <p:nvPr/>
        </p:nvSpPr>
        <p:spPr>
          <a:xfrm>
            <a:off x="6400800" y="4800600"/>
            <a:ext cx="5394960" cy="4572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Sensores (inicialmente ideales): posición θm, corrientes iabc, temperatura 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Pp</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λ'm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Lq</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Ld</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Lls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αcu</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Jm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bm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Is,nom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Is,max</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Vsl,nom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383280"/>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749040"/>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1</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m:t>
                    </m:r>
                    <m:r>
                      <a:rPr lang="es-AR" sz="1400" i="1">
                        <a:latin typeface="Cambria Math" panose="02040503050406030204" pitchFamily="18" charset="0"/>
                      </a:rPr>
                      <m:t>1</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80665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0208</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50</m:t>
                    </m:r>
                    <m:r>
                      <a:rPr lang="es-AR" sz="1400" i="1">
                        <a:latin typeface="Cambria Math" panose="02040503050406030204" pitchFamily="18" charset="0"/>
                      </a:rPr>
                      <m:t>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0833</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749040"/>
                <a:ext cx="11430000" cy="1828800"/>
              </a:xfrm>
              <a:prstGeom prst="rect">
                <a:avLst/>
              </a:prstGeom>
              <a:blipFill>
                <a:blip r:embed="rId3"/>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0</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m:t>
                    </m:r>
                    <m:r>
                      <a:rPr lang="es-AR" sz="1400" i="1">
                        <a:latin typeface="Cambria Math" panose="02040503050406030204" pitchFamily="18" charset="0"/>
                      </a:rPr>
                      <m:t>45</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6"/>
                <a:stretch>
                  <a:fillRect l="-222" t="-1563"/>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583680" y="1691640"/>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583680" y="1691640"/>
                <a:ext cx="5120640" cy="530352"/>
              </a:xfrm>
              <a:prstGeom prst="rect">
                <a:avLst/>
              </a:prstGeom>
              <a:blipFill>
                <a:blip r:embed="rId6"/>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m:t>
                        </m:r>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m:t>
                    </m:r>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p:sp>
        <p:nvSpPr>
          <p:cNvPr id="21" name="Text 19"/>
          <p:cNvSpPr/>
          <p:nvPr/>
        </p:nvSpPr>
        <p:spPr>
          <a:xfrm>
            <a:off x="365760" y="3794760"/>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Modelo mecánico equivalente completo (referido al eje del motor):</a:t>
            </a:r>
            <a:endParaRPr lang="en-US" sz="1400" dirty="0"/>
          </a:p>
        </p:txBody>
      </p:sp>
      <p:sp>
        <p:nvSpPr>
          <p:cNvPr id="22" name="Shape 20"/>
          <p:cNvSpPr/>
          <p:nvPr/>
        </p:nvSpPr>
        <p:spPr>
          <a:xfrm>
            <a:off x="457200" y="4279392"/>
            <a:ext cx="11247120" cy="14356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239086" y="4679295"/>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239086" y="4679295"/>
                <a:ext cx="5178523" cy="594360"/>
              </a:xfrm>
              <a:prstGeom prst="rect">
                <a:avLst/>
              </a:prstGeom>
              <a:blipFill>
                <a:blip r:embed="rId9"/>
                <a:stretch>
                  <a:fillRect t="-37113" b="-443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 21">
                <a:extLst>
                  <a:ext uri="{FF2B5EF4-FFF2-40B4-BE49-F238E27FC236}">
                    <a16:creationId xmlns:a16="http://schemas.microsoft.com/office/drawing/2014/main" id="{3E8A8B98-568D-4FF1-9C7B-B91B6DBA189B}"/>
                  </a:ext>
                </a:extLst>
              </p:cNvPr>
              <p:cNvSpPr/>
              <p:nvPr/>
            </p:nvSpPr>
            <p:spPr>
              <a:xfrm>
                <a:off x="5417609" y="4658868"/>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26" name="Text 21">
                <a:extLst>
                  <a:ext uri="{FF2B5EF4-FFF2-40B4-BE49-F238E27FC236}">
                    <a16:creationId xmlns:a16="http://schemas.microsoft.com/office/drawing/2014/main" id="{3E8A8B98-568D-4FF1-9C7B-B91B6DBA189B}"/>
                  </a:ext>
                </a:extLst>
              </p:cNvPr>
              <p:cNvSpPr>
                <a:spLocks noRot="1" noChangeAspect="1" noMove="1" noResize="1" noEditPoints="1" noAdjustHandles="1" noChangeArrowheads="1" noChangeShapeType="1" noTextEdit="1"/>
              </p:cNvSpPr>
              <p:nvPr/>
            </p:nvSpPr>
            <p:spPr>
              <a:xfrm>
                <a:off x="5417609" y="4658868"/>
                <a:ext cx="5178523" cy="594360"/>
              </a:xfrm>
              <a:prstGeom prst="rect">
                <a:avLst/>
              </a:prstGeom>
              <a:blipFill>
                <a:blip r:embed="rId7"/>
                <a:stretch>
                  <a:fillRect t="-30612" b="-33673"/>
                </a:stretch>
              </a:blipFill>
              <a:ln/>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36" name="Imagen 35">
            <a:extLst>
              <a:ext uri="{FF2B5EF4-FFF2-40B4-BE49-F238E27FC236}">
                <a16:creationId xmlns:a16="http://schemas.microsoft.com/office/drawing/2014/main" id="{0310985F-59F1-408A-8ED6-D492666590C2}"/>
              </a:ext>
            </a:extLst>
          </p:cNvPr>
          <p:cNvPicPr>
            <a:picLocks noChangeAspect="1"/>
          </p:cNvPicPr>
          <p:nvPr/>
        </p:nvPicPr>
        <p:blipFill>
          <a:blip r:embed="rId2"/>
          <a:stretch>
            <a:fillRect/>
          </a:stretch>
        </p:blipFill>
        <p:spPr>
          <a:xfrm>
            <a:off x="883425" y="1557547"/>
            <a:ext cx="10184450" cy="358909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p:sp>
        <p:nvSpPr>
          <p:cNvPr id="10" name="Text 8"/>
          <p:cNvSpPr/>
          <p:nvPr/>
        </p:nvSpPr>
        <p:spPr>
          <a:xfrm>
            <a:off x="365760" y="2000334"/>
            <a:ext cx="11430000" cy="7315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La Transformada de Park convierte el sistema trifásico estacionario abc a un sistema rotante qd0r. Las señales sinusoidales en abc se transforman en variables aproximadamente constantes en régimen permanente, facilitando el diseño del control.</a:t>
            </a:r>
            <a:endParaRPr lang="en-US" sz="1300" dirty="0"/>
          </a:p>
        </p:txBody>
      </p:sp>
      <p:sp>
        <p:nvSpPr>
          <p:cNvPr id="12" name="Text 10"/>
          <p:cNvSpPr/>
          <p:nvPr/>
        </p:nvSpPr>
        <p:spPr>
          <a:xfrm>
            <a:off x="472440" y="5216652"/>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transformada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3"/>
          <a:stretch>
            <a:fillRect/>
          </a:stretch>
        </p:blipFill>
        <p:spPr>
          <a:xfrm>
            <a:off x="3410992" y="2641945"/>
            <a:ext cx="5065215" cy="2455862"/>
          </a:xfrm>
          <a:prstGeom prst="rect">
            <a:avLst/>
          </a:prstGeom>
        </p:spPr>
      </p:pic>
    </p:spTree>
    <p:extLst>
      <p:ext uri="{BB962C8B-B14F-4D97-AF65-F5344CB8AC3E}">
        <p14:creationId xmlns:p14="http://schemas.microsoft.com/office/powerpoint/2010/main" val="2229578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365760" y="774467"/>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79465"/>
            <a:ext cx="11430000" cy="1607901"/>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151002" y="1704134"/>
                <a:ext cx="744942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151002" y="1704134"/>
                <a:ext cx="7449424" cy="548640"/>
              </a:xfrm>
              <a:prstGeom prst="rect">
                <a:avLst/>
              </a:prstGeom>
              <a:blipFill>
                <a:blip r:embed="rId2"/>
                <a:stretch>
                  <a:fillRect t="-67778" b="-68889"/>
                </a:stretch>
              </a:blipFill>
              <a:ln/>
            </p:spPr>
            <p:txBody>
              <a:bodyPr/>
              <a:lstStyle/>
              <a:p>
                <a:r>
                  <a:rPr lang="es-AR">
                    <a:noFill/>
                  </a:rPr>
                  <a:t> </a:t>
                </a:r>
              </a:p>
            </p:txBody>
          </p:sp>
        </mc:Fallback>
      </mc:AlternateContent>
      <p:sp>
        <p:nvSpPr>
          <p:cNvPr id="16" name="Shape 14"/>
          <p:cNvSpPr/>
          <p:nvPr/>
        </p:nvSpPr>
        <p:spPr>
          <a:xfrm>
            <a:off x="381000" y="3545033"/>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234891" y="4178697"/>
                <a:ext cx="814822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234891" y="4178697"/>
                <a:ext cx="8148227" cy="548640"/>
              </a:xfrm>
              <a:prstGeom prst="rect">
                <a:avLst/>
              </a:prstGeom>
              <a:blipFill>
                <a:blip r:embed="rId6"/>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879952"/>
                <a:ext cx="11430000" cy="457200"/>
              </a:xfrm>
              <a:prstGeom prst="rect">
                <a:avLst/>
              </a:prstGeom>
              <a:noFill/>
              <a:ln/>
            </p:spPr>
            <p:txBody>
              <a:bodyPr wrap="square" rtlCol="0" anchor="t"/>
              <a:lstStyle/>
              <a:p>
                <a:pPr marL="0" indent="0" algn="l">
                  <a:buNone/>
                </a:pPr>
                <a:r>
                  <a:rPr lang="en-US" sz="1200" i="1" dirty="0">
                    <a:latin typeface="Calibri" pitchFamily="34" charset="0"/>
                    <a:ea typeface="Calibri" pitchFamily="34" charset="-122"/>
                    <a:cs typeface="Calibri" pitchFamily="34" charset="-120"/>
                  </a:rPr>
                  <a:t>Nótese el acoplamiento cruzado entre ejes q y d a través de ωm(t). La resistencia Rs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879952"/>
                <a:ext cx="11430000" cy="457200"/>
              </a:xfrm>
              <a:prstGeom prst="rect">
                <a:avLst/>
              </a:prstGeom>
              <a:blipFill>
                <a:blip r:embed="rId5"/>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20040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200400"/>
                <a:ext cx="11430000" cy="457200"/>
              </a:xfrm>
              <a:prstGeom prst="rect">
                <a:avLst/>
              </a:prstGeom>
              <a:blipFill>
                <a:blip r:embed="rId6"/>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365760" y="5377783"/>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p:sp>
        <p:nvSpPr>
          <p:cNvPr id="26" name="Text 13">
            <a:extLst>
              <a:ext uri="{FF2B5EF4-FFF2-40B4-BE49-F238E27FC236}">
                <a16:creationId xmlns:a16="http://schemas.microsoft.com/office/drawing/2014/main" id="{12E79842-49C7-463E-B87B-0AD84247764F}"/>
              </a:ext>
            </a:extLst>
          </p:cNvPr>
          <p:cNvSpPr/>
          <p:nvPr/>
        </p:nvSpPr>
        <p:spPr>
          <a:xfrm>
            <a:off x="365760" y="5652534"/>
            <a:ext cx="11430000" cy="594360"/>
          </a:xfrm>
          <a:prstGeom prst="rect">
            <a:avLst/>
          </a:prstGeom>
          <a:noFill/>
          <a:ln/>
        </p:spPr>
        <p:txBody>
          <a:bodyPr wrap="square" rtlCol="0" anchor="t"/>
          <a:lstStyle/>
          <a:p>
            <a:pPr marL="0" indent="0" algn="l">
              <a:buNone/>
            </a:pPr>
            <a:r>
              <a:rPr lang="en-US" sz="1400" dirty="0">
                <a:solidFill>
                  <a:srgbClr val="111111"/>
                </a:solidFill>
                <a:latin typeface="Calibri" pitchFamily="34" charset="0"/>
                <a:cs typeface="Calibri" pitchFamily="34" charset="-120"/>
              </a:rPr>
              <a:t>Para el PMSM con Ld ≈ Lq, el torque depende principalmente de iqs^r (torque de imanes). El término (Ld−Lq)·ids^r es el torque de </a:t>
            </a:r>
            <a:r>
              <a:rPr lang="en-US" sz="1400" dirty="0" err="1">
                <a:solidFill>
                  <a:srgbClr val="111111"/>
                </a:solidFill>
                <a:latin typeface="Calibri" pitchFamily="34" charset="0"/>
                <a:cs typeface="Calibri" pitchFamily="34" charset="-120"/>
              </a:rPr>
              <a:t>reluctancia</a:t>
            </a:r>
            <a:r>
              <a:rPr lang="en-US" sz="1400" dirty="0">
                <a:solidFill>
                  <a:srgbClr val="111111"/>
                </a:solidFill>
                <a:latin typeface="Calibri" pitchFamily="34" charset="0"/>
                <a:cs typeface="Calibri" pitchFamily="34" charset="-120"/>
              </a:rPr>
              <a:t>.</a:t>
            </a:r>
          </a:p>
        </p:txBody>
      </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4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electromagnético</a:t>
            </a:r>
            <a:endParaRPr lang="en-US" sz="1100" dirty="0"/>
          </a:p>
        </p:txBody>
      </p:sp>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77824"/>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365760" y="163677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2121408"/>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63040" y="2121408"/>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1463040" y="2121408"/>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365760" y="2788920"/>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81000" y="3264408"/>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57200" y="3329171"/>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57200" y="3329171"/>
                <a:ext cx="11247120" cy="621792"/>
              </a:xfrm>
              <a:prstGeom prst="rect">
                <a:avLst/>
              </a:prstGeom>
              <a:blipFill>
                <a:blip r:embed="rId4"/>
                <a:stretch>
                  <a:fillRect/>
                </a:stretch>
              </a:blipFill>
              <a:ln/>
            </p:spPr>
            <p:txBody>
              <a:bodyPr/>
              <a:lstStyle/>
              <a:p>
                <a:r>
                  <a:rPr lang="es-AR">
                    <a:noFill/>
                  </a:rPr>
                  <a:t> </a:t>
                </a:r>
              </a:p>
            </p:txBody>
          </p:sp>
        </mc:Fallback>
      </mc:AlternateContent>
      <p:sp>
        <p:nvSpPr>
          <p:cNvPr id="14" name="Text 12"/>
          <p:cNvSpPr/>
          <p:nvPr/>
        </p:nvSpPr>
        <p:spPr>
          <a:xfrm>
            <a:off x="365760" y="420103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65760" y="4585087"/>
                <a:ext cx="11430000" cy="141732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818</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7</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m:t>
                    </m:r>
                    <m:r>
                      <a:rPr lang="es-AR" sz="1400" i="1">
                        <a:latin typeface="Cambria Math" panose="02040503050406030204" pitchFamily="18" charset="0"/>
                      </a:rPr>
                      <m:t>40</m:t>
                    </m:r>
                    <m:r>
                      <a:rPr lang="es-AR" sz="1400" i="1">
                        <a:latin typeface="Cambria Math" panose="02040503050406030204" pitchFamily="18" charset="0"/>
                      </a:rPr>
                      <m:t>°</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65760" y="4585087"/>
                <a:ext cx="11430000" cy="1417320"/>
              </a:xfrm>
              <a:prstGeom prst="rect">
                <a:avLst/>
              </a:prstGeom>
              <a:blipFill>
                <a:blip r:embed="rId3"/>
                <a:stretch>
                  <a:fillRect l="-160" t="-20601"/>
                </a:stretch>
              </a:blipFill>
              <a:ln/>
            </p:spPr>
            <p:txBody>
              <a:bodyPr/>
              <a:lstStyle/>
              <a:p>
                <a:r>
                  <a:rPr lang="es-AR">
                    <a:noFill/>
                  </a:rPr>
                  <a:t> </a:t>
                </a:r>
              </a:p>
            </p:txBody>
          </p:sp>
        </mc:Fallback>
      </mc:AlternateContent>
    </p:spTree>
    <p:extLst>
      <p:ext uri="{BB962C8B-B14F-4D97-AF65-F5344CB8AC3E}">
        <p14:creationId xmlns:p14="http://schemas.microsoft.com/office/powerpoint/2010/main" val="305834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365760" y="804672"/>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Inversor trifásico (modelo promediado):</a:t>
            </a:r>
            <a:endParaRPr lang="en-US" sz="1300" dirty="0"/>
          </a:p>
        </p:txBody>
      </p:sp>
      <mc:AlternateContent xmlns:mc="http://schemas.openxmlformats.org/markup-compatibility/2006" xmlns:a14="http://schemas.microsoft.com/office/drawing/2010/main">
        <mc:Choice Requires="a14">
          <p:sp>
            <p:nvSpPr>
              <p:cNvPr id="8" name="Text 6"/>
              <p:cNvSpPr/>
              <p:nvPr/>
            </p:nvSpPr>
            <p:spPr>
              <a:xfrm>
                <a:off x="365760" y="1207008"/>
                <a:ext cx="548640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365760" y="1207008"/>
                <a:ext cx="5486400" cy="777240"/>
              </a:xfrm>
              <a:prstGeom prst="rect">
                <a:avLst/>
              </a:prstGeom>
              <a:blipFill>
                <a:blip r:embed="rId2"/>
                <a:stretch>
                  <a:fillRect/>
                </a:stretch>
              </a:blipFill>
              <a:ln/>
            </p:spPr>
            <p:txBody>
              <a:bodyPr/>
              <a:lstStyle/>
              <a:p>
                <a:r>
                  <a:rPr lang="es-AR">
                    <a:noFill/>
                  </a:rPr>
                  <a:t> </a:t>
                </a:r>
              </a:p>
            </p:txBody>
          </p:sp>
        </mc:Fallback>
      </mc:AlternateContent>
      <p:sp>
        <p:nvSpPr>
          <p:cNvPr id="9" name="Text 7"/>
          <p:cNvSpPr/>
          <p:nvPr/>
        </p:nvSpPr>
        <p:spPr>
          <a:xfrm>
            <a:off x="365760" y="2057400"/>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Sensores (inicialmente ideales):</a:t>
            </a:r>
            <a:endParaRPr lang="en-US" sz="1300" dirty="0"/>
          </a:p>
        </p:txBody>
      </p:sp>
      <mc:AlternateContent xmlns:mc="http://schemas.openxmlformats.org/markup-compatibility/2006" xmlns:a14="http://schemas.microsoft.com/office/drawing/2010/main">
        <mc:Choice Requires="a14">
          <p:sp>
            <p:nvSpPr>
              <p:cNvPr id="10" name="Text 8"/>
              <p:cNvSpPr/>
              <p:nvPr/>
            </p:nvSpPr>
            <p:spPr>
              <a:xfrm>
                <a:off x="365760" y="2468880"/>
                <a:ext cx="5486400" cy="1554480"/>
              </a:xfrm>
              <a:prstGeom prst="rect">
                <a:avLst/>
              </a:prstGeom>
              <a:noFill/>
              <a:ln/>
            </p:spPr>
            <p:txBody>
              <a:bodyPr wrap="square" rtlCol="0" anchor="t"/>
              <a:lstStyle/>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200" i="1" smtClean="0">
                            <a:effectLst/>
                            <a:latin typeface="Cambria Math" panose="02040503050406030204" pitchFamily="18" charset="0"/>
                            <a:cs typeface="Calibri" panose="020F0502020204030204" pitchFamily="34" charset="0"/>
                          </a:rPr>
                        </m:ctrlPr>
                      </m:sSubPr>
                      <m:e>
                        <m:r>
                          <a:rPr lang="es-AR" sz="12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2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200" i="1">
                            <a:effectLst/>
                            <a:latin typeface="Cambria Math" panose="02040503050406030204" pitchFamily="18" charset="0"/>
                            <a:cs typeface="Calibri" panose="020F0502020204030204" pitchFamily="34" charset="0"/>
                          </a:rPr>
                        </m:ctrlPr>
                      </m:dPr>
                      <m:e>
                        <m:r>
                          <a:rPr lang="es-AR" sz="12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 absoluta, multi-vuelta</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200" i="1" smtClean="0">
                            <a:effectLst/>
                            <a:latin typeface="Cambria Math" panose="02040503050406030204" pitchFamily="18" charset="0"/>
                            <a:cs typeface="Calibri" panose="020F0502020204030204" pitchFamily="34" charset="0"/>
                          </a:rPr>
                        </m:ctrlPr>
                      </m:sSubPr>
                      <m:e>
                        <m:r>
                          <a:rPr lang="es-AR" sz="12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200" i="1">
                            <a:effectLst/>
                            <a:latin typeface="Cambria Math" panose="02040503050406030204" pitchFamily="18" charset="0"/>
                            <a:cs typeface="Calibri" panose="020F0502020204030204" pitchFamily="34" charset="0"/>
                          </a:rPr>
                        </m:ctrlPr>
                      </m:dPr>
                      <m:e>
                        <m:r>
                          <a:rPr lang="es-AR" sz="12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 en salida del inversor</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2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2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embebido en bobinado</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200" dirty="0">
                    <a:solidFill>
                      <a:srgbClr val="111111"/>
                    </a:solidFill>
                    <a:latin typeface="Calibri" pitchFamily="34" charset="0"/>
                    <a:ea typeface="Calibri" pitchFamily="34" charset="-122"/>
                    <a:cs typeface="Calibri" pitchFamily="34" charset="-120"/>
                  </a:rPr>
                  <a:t>(ganancia unitaria, BW infinito)</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365760" y="2468880"/>
                <a:ext cx="5486400" cy="1554480"/>
              </a:xfrm>
              <a:prstGeom prst="rect">
                <a:avLst/>
              </a:prstGeom>
              <a:blipFill>
                <a:blip r:embed="rId5"/>
                <a:stretch>
                  <a:fillRect l="-111" t="-784"/>
                </a:stretch>
              </a:blipFill>
              <a:ln/>
            </p:spPr>
            <p:txBody>
              <a:bodyPr/>
              <a:lstStyle/>
              <a:p>
                <a:r>
                  <a:rPr lang="es-AR">
                    <a:noFill/>
                  </a:rPr>
                  <a:t> </a:t>
                </a:r>
              </a:p>
            </p:txBody>
          </p:sp>
        </mc:Fallback>
      </mc:AlternateContent>
      <p:sp>
        <p:nvSpPr>
          <p:cNvPr id="11" name="Text 9"/>
          <p:cNvSpPr/>
          <p:nvPr/>
        </p:nvSpPr>
        <p:spPr>
          <a:xfrm>
            <a:off x="6400800" y="804672"/>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Modelo global no lineal — orden 5+1:</a:t>
            </a:r>
            <a:endParaRPr lang="en-US" sz="1300" dirty="0"/>
          </a:p>
        </p:txBody>
      </p:sp>
      <mc:AlternateContent xmlns:mc="http://schemas.openxmlformats.org/markup-compatibility/2006" xmlns:a14="http://schemas.microsoft.com/office/drawing/2010/main">
        <mc:Choice Requires="a14">
          <p:sp>
            <p:nvSpPr>
              <p:cNvPr id="12" name="Text 10"/>
              <p:cNvSpPr/>
              <p:nvPr/>
            </p:nvSpPr>
            <p:spPr>
              <a:xfrm>
                <a:off x="6400800" y="1207008"/>
                <a:ext cx="5486400" cy="1307592"/>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200" i="1">
                            <a:effectLst/>
                            <a:latin typeface="Cambria Math" panose="02040503050406030204" pitchFamily="18" charset="0"/>
                          </a:rPr>
                        </m:ctrlPr>
                      </m:sSupPr>
                      <m:e>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2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2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200" i="1">
                                <a:effectLst/>
                                <a:latin typeface="Cambria Math" panose="02040503050406030204" pitchFamily="18" charset="0"/>
                                <a:ea typeface="Times New Roman" panose="020206030504050203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200" i="1">
                            <a:effectLst/>
                            <a:latin typeface="Cambria Math" panose="02040503050406030204" pitchFamily="18" charset="0"/>
                          </a:rPr>
                        </m:ctrlPr>
                      </m:sSupPr>
                      <m:e>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200" i="1">
                                          <a:effectLst/>
                                          <a:latin typeface="Cambria Math" panose="02040503050406030204" pitchFamily="18" charset="0"/>
                                          <a:ea typeface="Times New Roman" panose="020206030504050203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200" dirty="0"/>
              </a:p>
            </p:txBody>
          </p:sp>
        </mc:Choice>
        <mc:Fallback xmlns="">
          <p:sp>
            <p:nvSpPr>
              <p:cNvPr id="12" name="Text 10"/>
              <p:cNvSpPr>
                <a:spLocks noRot="1" noChangeAspect="1" noMove="1" noResize="1" noEditPoints="1" noAdjustHandles="1" noChangeArrowheads="1" noChangeShapeType="1" noTextEdit="1"/>
              </p:cNvSpPr>
              <p:nvPr/>
            </p:nvSpPr>
            <p:spPr>
              <a:xfrm>
                <a:off x="6400800" y="1207008"/>
                <a:ext cx="5486400" cy="1307592"/>
              </a:xfrm>
              <a:prstGeom prst="rect">
                <a:avLst/>
              </a:prstGeom>
              <a:blipFill>
                <a:blip r:embed="rId5"/>
                <a:stretch>
                  <a:fillRect b="-25116"/>
                </a:stretch>
              </a:blipFill>
              <a:ln/>
            </p:spPr>
            <p:txBody>
              <a:bodyPr/>
              <a:lstStyle/>
              <a:p>
                <a:r>
                  <a:rPr lang="es-AR">
                    <a:noFill/>
                  </a:rPr>
                  <a:t> </a:t>
                </a:r>
              </a:p>
            </p:txBody>
          </p:sp>
        </mc:Fallback>
      </mc:AlternateContent>
      <p:sp>
        <p:nvSpPr>
          <p:cNvPr id="13" name="Text 11"/>
          <p:cNvSpPr/>
          <p:nvPr/>
        </p:nvSpPr>
        <p:spPr>
          <a:xfrm>
            <a:off x="6400800" y="2848356"/>
            <a:ext cx="54864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El modelo es no lineal por: (1) productos entre variables en el torque electromagnético, (2) acoplamiento ωm en las ecuaciones eléctricas, (3) sin(θl) en la carga gravitatoria.</a:t>
            </a:r>
            <a:endParaRPr lang="en-US" sz="1200" dirty="0"/>
          </a:p>
        </p:txBody>
      </p:sp>
      <p:sp>
        <p:nvSpPr>
          <p:cNvPr id="17" name="Text 6">
            <a:extLst>
              <a:ext uri="{FF2B5EF4-FFF2-40B4-BE49-F238E27FC236}">
                <a16:creationId xmlns:a16="http://schemas.microsoft.com/office/drawing/2014/main" id="{6CA994F5-5B76-4FE5-ADD8-755E0BDF1F61}"/>
              </a:ext>
            </a:extLst>
          </p:cNvPr>
          <p:cNvSpPr/>
          <p:nvPr/>
        </p:nvSpPr>
        <p:spPr>
          <a:xfrm>
            <a:off x="343109" y="3835572"/>
            <a:ext cx="11018101" cy="777240"/>
          </a:xfrm>
          <a:prstGeom prst="rect">
            <a:avLst/>
          </a:prstGeom>
          <a:noFill/>
          <a:ln/>
        </p:spPr>
        <p:txBody>
          <a:bodyPr wrap="square" rtlCol="0" anchor="t"/>
          <a:lstStyle/>
          <a:p>
            <a:r>
              <a:rPr lang="es-MX" sz="1200" dirty="0">
                <a:solidFill>
                  <a:srgbClr val="111111"/>
                </a:solidFill>
                <a:latin typeface="Calibri" pitchFamily="34" charset="0"/>
                <a:ea typeface="Calibri" pitchFamily="34" charset="-122"/>
                <a:cs typeface="Calibri" pitchFamily="34" charset="-120"/>
              </a:rPr>
              <a:t>Reemplazando la expresión del torque electromagnético en las ecuaciones del sistema mecánico:</a:t>
            </a:r>
          </a:p>
          <a:p>
            <a:endParaRPr lang="en-US" sz="1200" dirty="0"/>
          </a:p>
        </p:txBody>
      </p:sp>
      <mc:AlternateContent xmlns:mc="http://schemas.openxmlformats.org/markup-compatibility/2006" xmlns:a14="http://schemas.microsoft.com/office/drawing/2010/main">
        <mc:Choice Requires="a14">
          <p:sp>
            <p:nvSpPr>
              <p:cNvPr id="18" name="Shape 7">
                <a:extLst>
                  <a:ext uri="{FF2B5EF4-FFF2-40B4-BE49-F238E27FC236}">
                    <a16:creationId xmlns:a16="http://schemas.microsoft.com/office/drawing/2014/main" id="{52FCF1F0-8786-4B71-9288-844B59F154A1}"/>
                  </a:ext>
                </a:extLst>
              </p:cNvPr>
              <p:cNvSpPr/>
              <p:nvPr/>
            </p:nvSpPr>
            <p:spPr>
              <a:xfrm>
                <a:off x="381000" y="4288200"/>
                <a:ext cx="11430000" cy="685800"/>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acc>
                            <m:accPr>
                              <m:chr m:val="̇"/>
                              <m:ctrlPr>
                                <a:rPr lang="es-AR" sz="160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acc>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d>
                        <m:dPr>
                          <m:begChr m:val="["/>
                          <m:endChr m:val="]"/>
                          <m:ctrlPr>
                            <a:rPr lang="es-AR" sz="1600" i="1">
                              <a:effectLst/>
                              <a:latin typeface="Cambria Math" panose="02040503050406030204" pitchFamily="18" charset="0"/>
                              <a:ea typeface="Times New Roman" panose="02020603050405020304" pitchFamily="18" charset="0"/>
                            </a:rPr>
                          </m:ctrlPr>
                        </m:dPr>
                        <m:e>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3</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2</m:t>
                              </m:r>
                            </m:den>
                          </m:f>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d>
                            <m:dPr>
                              <m:ctrlPr>
                                <a:rPr lang="es-AR" sz="1600" i="1">
                                  <a:effectLst/>
                                  <a:latin typeface="Cambria Math" panose="02040503050406030204" pitchFamily="18" charset="0"/>
                                  <a:ea typeface="Times New Roman" panose="02020603050405020304" pitchFamily="18" charset="0"/>
                                </a:rPr>
                              </m:ctrlPr>
                            </m:dPr>
                            <m:e>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600" i="1">
                                      <a:effectLst/>
                                      <a:latin typeface="Cambria Math" panose="02040503050406030204" pitchFamily="18" charset="0"/>
                                      <a:ea typeface="Times New Roman" panose="02020603050405020304" pitchFamily="18" charset="0"/>
                                    </a:rPr>
                                  </m:ctrlPr>
                                </m:dPr>
                                <m:e>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e>
                              </m:d>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rPr>
                              </m:ctrlPr>
                            </m:sSubPr>
                            <m:e>
                              <m:r>
                                <m:rPr>
                                  <m:sty m:val="p"/>
                                </m:rPr>
                                <a:rPr lang="es-AR" sz="1600">
                                  <a:effectLst/>
                                  <a:latin typeface="Cambria Math" panose="02040503050406030204" pitchFamily="18" charset="0"/>
                                  <a:ea typeface="Times New Roman" panose="02020603050405020304" pitchFamily="18" charset="0"/>
                                  <a:cs typeface="Times New Roman" panose="02020603050405020304" pitchFamily="18" charset="0"/>
                                </a:rPr>
                                <m:t>ω</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oMath>
                  </m:oMathPara>
                </a14:m>
                <a:endParaRPr lang="es-AR" dirty="0"/>
              </a:p>
            </p:txBody>
          </p:sp>
        </mc:Choice>
        <mc:Fallback xmlns="">
          <p:sp>
            <p:nvSpPr>
              <p:cNvPr id="18" name="Shape 7">
                <a:extLst>
                  <a:ext uri="{FF2B5EF4-FFF2-40B4-BE49-F238E27FC236}">
                    <a16:creationId xmlns:a16="http://schemas.microsoft.com/office/drawing/2014/main" id="{52FCF1F0-8786-4B71-9288-844B59F154A1}"/>
                  </a:ext>
                </a:extLst>
              </p:cNvPr>
              <p:cNvSpPr>
                <a:spLocks noRot="1" noChangeAspect="1" noMove="1" noResize="1" noEditPoints="1" noAdjustHandles="1" noChangeArrowheads="1" noChangeShapeType="1" noTextEdit="1"/>
              </p:cNvSpPr>
              <p:nvPr/>
            </p:nvSpPr>
            <p:spPr>
              <a:xfrm>
                <a:off x="381000" y="4288200"/>
                <a:ext cx="11430000" cy="685800"/>
              </a:xfrm>
              <a:prstGeom prst="rect">
                <a:avLst/>
              </a:prstGeom>
              <a:blipFill>
                <a:blip r:embed="rId3"/>
                <a:stretch>
                  <a:fillRect/>
                </a:stretch>
              </a:blipFill>
              <a:ln w="19050">
                <a:solidFill>
                  <a:srgbClr val="DDAA00"/>
                </a:solidFill>
                <a:prstDash val="solid"/>
              </a:ln>
            </p:spPr>
            <p:txBody>
              <a:bodyPr/>
              <a:lstStyle/>
              <a:p>
                <a:r>
                  <a:rPr lang="es-AR">
                    <a:noFill/>
                  </a:rPr>
                  <a:t> </a:t>
                </a:r>
              </a:p>
            </p:txBody>
          </p:sp>
        </mc:Fallback>
      </mc:AlternateContent>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1075594"/>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782595"/>
                <a:ext cx="11018101" cy="3421242"/>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𝑔</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𝑘</m:t>
                                            </m:r>
                                          </m:e>
                                          <m:sub>
                                            <m:r>
                                              <a:rPr lang="es-AR" sz="1600" i="1">
                                                <a:latin typeface="Cambria Math" panose="02040503050406030204" pitchFamily="18" charset="0"/>
                                              </a:rPr>
                                              <m:t>𝑙</m:t>
                                            </m:r>
                                          </m:sub>
                                        </m:sSub>
                                        <m:func>
                                          <m:funcPr>
                                            <m:ctrlPr>
                                              <a:rPr lang="es-AR" sz="1600" i="1">
                                                <a:latin typeface="Cambria Math" panose="02040503050406030204" pitchFamily="18" charset="0"/>
                                              </a:rPr>
                                            </m:ctrlPr>
                                          </m:funcPr>
                                          <m:fName>
                                            <m:r>
                                              <a:rPr lang="es-AR" sz="1600" i="1">
                                                <a:latin typeface="Cambria Math" panose="02040503050406030204" pitchFamily="18" charset="0"/>
                                              </a:rPr>
                                              <m:t>𝑠𝑖𝑛</m:t>
                                            </m:r>
                                          </m:fName>
                                          <m:e>
                                            <m:d>
                                              <m:dPr>
                                                <m:ctrlPr>
                                                  <a:rPr lang="es-AR" sz="1600" i="1">
                                                    <a:latin typeface="Cambria Math" panose="02040503050406030204" pitchFamily="18" charset="0"/>
                                                  </a:rPr>
                                                </m:ctrlPr>
                                              </m:dPr>
                                              <m:e>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𝑟</m:t>
                                                    </m:r>
                                                  </m:den>
                                                </m:f>
                                              </m:e>
                                            </m:d>
                                          </m:e>
                                        </m:func>
                                      </m:e>
                                    </m:d>
                                  </m:e>
                                </m:d>
                                <m:r>
                                  <a:rPr lang="es-AR" sz="1600" i="1">
                                    <a:latin typeface="Cambria Math" panose="02040503050406030204" pitchFamily="18" charset="0"/>
                                  </a:rPr>
                                  <m:t>          </m:t>
                                </m:r>
                              </m:e>
                            </m:mr>
                            <m:mr>
                              <m:e>
                                <m:m>
                                  <m:mPr>
                                    <m:mcs>
                                      <m:mc>
                                        <m:mcPr>
                                          <m:count m:val="1"/>
                                          <m:mcJc m:val="center"/>
                                        </m:mcPr>
                                      </m:mc>
                                    </m:mcs>
                                    <m:ctrlPr>
                                      <a:rPr lang="es-AR" sz="1600" i="1">
                                        <a:latin typeface="Cambria Math" panose="02040503050406030204" pitchFamily="18" charset="0"/>
                                      </a:rPr>
                                    </m:ctrlPr>
                                  </m:mP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m>
                                        <m:mPr>
                                          <m:mcs>
                                            <m:mc>
                                              <m:mcPr>
                                                <m:count m:val="1"/>
                                                <m:mcJc m:val="center"/>
                                              </m:mcPr>
                                            </m:mc>
                                          </m:mcs>
                                          <m:ctrlPr>
                                            <a:rPr lang="es-AR" sz="1600" i="1">
                                              <a:latin typeface="Cambria Math" panose="02040503050406030204" pitchFamily="18" charset="0"/>
                                            </a:rPr>
                                          </m:ctrlPr>
                                        </m:mP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𝑙𝑠</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d>
                                                  <m:dPr>
                                                    <m:ctrlPr>
                                                      <a:rPr lang="es-AR" sz="1600" i="1">
                                                        <a:latin typeface="Cambria Math" panose="02040503050406030204" pitchFamily="18" charset="0"/>
                                                      </a:rPr>
                                                    </m:ctrlPr>
                                                  </m:dPr>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r>
                                                      <a:rPr lang="es-AR" sz="1600" i="1">
                                                        <a:latin typeface="Cambria Math" panose="02040503050406030204" pitchFamily="18" charset="0"/>
                                                      </a:rPr>
                                                      <m:t>+</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r>
                                                      <a:rPr lang="es-AR" sz="1600" i="1">
                                                        <a:latin typeface="Cambria Math" panose="02040503050406030204" pitchFamily="18" charset="0"/>
                                                      </a:rPr>
                                                      <m:t>+2</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e>
                                            </m:d>
                                            <m:r>
                                              <a:rPr lang="es-AR" sz="1600" i="1">
                                                <a:latin typeface="Cambria Math" panose="02040503050406030204" pitchFamily="18" charset="0"/>
                                              </a:rPr>
                                              <m:t>                               </m:t>
                                            </m:r>
                                          </m:e>
                                        </m:mr>
                                      </m:m>
                                    </m:e>
                                  </m:mr>
                                </m:m>
                              </m:e>
                            </m:mr>
                          </m:m>
                        </m:e>
                      </m:d>
                    </m:oMath>
                  </m:oMathPara>
                </a14:m>
                <a:endParaRPr lang="es-AR"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782595"/>
                <a:ext cx="11018101" cy="3421242"/>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961185"/>
            <a:ext cx="10007065" cy="4651050"/>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7" name="Text 5"/>
          <p:cNvSpPr/>
          <p:nvPr/>
        </p:nvSpPr>
        <p:spPr>
          <a:xfrm>
            <a:off x="365760" y="777240"/>
            <a:ext cx="11430000" cy="6858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El sistema es no lineal por acoplamientos entre variables de estado y entre ejes d-q. Para usar herramientas de control lineal, se descompone cada variable en un punto de operación cuasi-estacionario y una perturbación de pequeña magnitud:</a:t>
            </a:r>
            <a:endParaRPr lang="en-US" sz="1300" dirty="0"/>
          </a:p>
        </p:txBody>
      </p:sp>
      <p:sp>
        <p:nvSpPr>
          <p:cNvPr id="8" name="Shape 6"/>
          <p:cNvSpPr/>
          <p:nvPr/>
        </p:nvSpPr>
        <p:spPr>
          <a:xfrm>
            <a:off x="1371600" y="1401968"/>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401968"/>
                <a:ext cx="896112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401968"/>
                <a:ext cx="8961120" cy="530352"/>
              </a:xfrm>
              <a:prstGeom prst="rect">
                <a:avLst/>
              </a:prstGeom>
              <a:blipFill>
                <a:blip r:embed="rId2"/>
                <a:stretch>
                  <a:fillRect/>
                </a:stretch>
              </a:blipFill>
              <a:ln/>
            </p:spPr>
            <p:txBody>
              <a:bodyPr/>
              <a:lstStyle/>
              <a:p>
                <a:r>
                  <a:rPr lang="es-AR">
                    <a:noFill/>
                  </a:rPr>
                  <a:t> </a:t>
                </a:r>
              </a:p>
            </p:txBody>
          </p:sp>
        </mc:Fallback>
      </mc:AlternateContent>
      <p:sp>
        <p:nvSpPr>
          <p:cNvPr id="10" name="Text 8"/>
          <p:cNvSpPr/>
          <p:nvPr/>
        </p:nvSpPr>
        <p:spPr>
          <a:xfrm>
            <a:off x="365760" y="2148840"/>
            <a:ext cx="11430000" cy="38404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Entonces, el sistema no lineal queda expresado como: </a:t>
            </a:r>
            <a:endParaRPr lang="es-AR" sz="1300" dirty="0"/>
          </a:p>
        </p:txBody>
      </p:sp>
      <p:sp>
        <p:nvSpPr>
          <p:cNvPr id="18" name="Shape 6">
            <a:extLst>
              <a:ext uri="{FF2B5EF4-FFF2-40B4-BE49-F238E27FC236}">
                <a16:creationId xmlns:a16="http://schemas.microsoft.com/office/drawing/2014/main" id="{BBAC01EC-E856-4860-B292-FF94F5A2DFFA}"/>
              </a:ext>
            </a:extLst>
          </p:cNvPr>
          <p:cNvSpPr/>
          <p:nvPr/>
        </p:nvSpPr>
        <p:spPr>
          <a:xfrm>
            <a:off x="1371600" y="2575421"/>
            <a:ext cx="9144000" cy="119962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1463040" y="2892021"/>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0</m:t>
                                </m:r>
                                <m:r>
                                  <a:rPr lang="es-AR" sz="1600" i="1">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1463040" y="2892021"/>
                <a:ext cx="8961120" cy="530352"/>
              </a:xfrm>
              <a:prstGeom prst="rect">
                <a:avLst/>
              </a:prstGeom>
              <a:blipFill>
                <a:blip r:embed="rId4"/>
                <a:stretch>
                  <a:fillRect t="-27586" b="-36782"/>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462233" y="4034041"/>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371600" y="448924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1463040" y="456279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1463040" y="4562799"/>
                <a:ext cx="8961120" cy="530352"/>
              </a:xfrm>
              <a:prstGeom prst="rect">
                <a:avLst/>
              </a:prstGeom>
              <a:blipFill>
                <a:blip r:embed="rId3"/>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462233" y="5660774"/>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sub>
                                                    </m:sSub>
                                                    <m:r>
                                                      <a:rPr lang="es-AR" sz="1200" i="1">
                                                        <a:latin typeface="Cambria Math" panose="02040503050406030204" pitchFamily="18" charset="0"/>
                                                      </a:rPr>
                                                      <m:t>0</m:t>
                                                    </m:r>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1264" b="-175862"/>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600" y="4454260"/>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600" y="4758402"/>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600" y="4758402"/>
                <a:ext cx="8961120" cy="530352"/>
              </a:xfrm>
              <a:prstGeom prst="rect">
                <a:avLst/>
              </a:prstGeom>
              <a:blipFill>
                <a:blip r:embed="rId5"/>
                <a:stretch>
                  <a:fillRect t="-42529" b="-81609"/>
                </a:stretch>
              </a:blipFill>
              <a:ln/>
            </p:spPr>
            <p:txBody>
              <a:bodyPr/>
              <a:lstStyle/>
              <a:p>
                <a:r>
                  <a:rPr lang="es-AR">
                    <a:noFill/>
                  </a:rPr>
                  <a:t> </a:t>
                </a:r>
              </a:p>
            </p:txBody>
          </p:sp>
        </mc:Fallback>
      </mc:AlternateContent>
      <p:sp>
        <p:nvSpPr>
          <p:cNvPr id="17" name="Text 15"/>
          <p:cNvSpPr/>
          <p:nvPr/>
        </p:nvSpPr>
        <p:spPr>
          <a:xfrm>
            <a:off x="365760" y="5858621"/>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05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42328"/>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r>
                              <a:rPr lang="es-AR" sz="1300" i="1">
                                <a:effectLst/>
                                <a:latin typeface="Cambria Math" panose="02040503050406030204" pitchFamily="18" charset="0"/>
                                <a:ea typeface="Times New Roman" panose="02020603050405020304" pitchFamily="18" charset="0"/>
                                <a:cs typeface="Calibri" panose="020F0502020204030204" pitchFamily="34" charset="0"/>
                              </a:rPr>
                              <m:t>,</m:t>
                            </m:r>
                            <m:r>
                              <a:rPr lang="es-AR" sz="1300" i="1">
                                <a:effectLst/>
                                <a:latin typeface="Cambria Math" panose="02040503050406030204" pitchFamily="18" charset="0"/>
                                <a:ea typeface="Times New Roman" panose="02020603050405020304" pitchFamily="18" charset="0"/>
                                <a:cs typeface="Calibri" panose="020F0502020204030204" pitchFamily="34" charset="0"/>
                              </a:rPr>
                              <m:t>𝑜𝑝</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42328"/>
              </a:xfrm>
              <a:prstGeom prst="rect">
                <a:avLst/>
              </a:prstGeom>
              <a:blipFill>
                <a:blip r:embed="rId3"/>
                <a:stretch>
                  <a:fillRect l="-53" r="-53" b="-8989"/>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sp>
        <p:nvSpPr>
          <p:cNvPr id="13" name="Text 11"/>
          <p:cNvSpPr/>
          <p:nvPr/>
        </p:nvSpPr>
        <p:spPr>
          <a:xfrm>
            <a:off x="502920" y="326440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Se desprecia la variación de Rs con Ts dentro del modelo eléctrico. El subsistema térmico se modela como independiente (sin realimentación hacia las ecuaciones eléctricas).</a:t>
            </a:r>
            <a:endParaRPr lang="en-US" sz="1200" dirty="0"/>
          </a:p>
        </p:txBody>
      </p:sp>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56531" y="1929467"/>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79325" y="2408648"/>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79325" y="2408648"/>
                <a:ext cx="4544034" cy="530352"/>
              </a:xfrm>
              <a:prstGeom prst="rect">
                <a:avLst/>
              </a:prstGeom>
              <a:blipFill>
                <a:blip r:embed="rId4"/>
                <a:stretch>
                  <a:fillRect t="-66667" b="-105747"/>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76421" y="2526010"/>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76421" y="2526010"/>
                <a:ext cx="6512659" cy="530352"/>
              </a:xfrm>
              <a:prstGeom prst="rect">
                <a:avLst/>
              </a:prstGeom>
              <a:blipFill>
                <a:blip r:embed="rId5"/>
                <a:stretch>
                  <a:fillRect t="-44828"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3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t="-1111"/>
                </a:stretch>
              </a:blipFill>
              <a:ln/>
            </p:spPr>
            <p:txBody>
              <a:bodyPr/>
              <a:lstStyle/>
              <a:p>
                <a:r>
                  <a:rPr lang="es-AR">
                    <a:noFill/>
                  </a:rPr>
                  <a:t> </a:t>
                </a:r>
              </a:p>
            </p:txBody>
          </p:sp>
        </mc:Fallback>
      </mc:AlternateContent>
      <p:sp>
        <p:nvSpPr>
          <p:cNvPr id="8" name="Shape 6"/>
          <p:cNvSpPr/>
          <p:nvPr/>
        </p:nvSpPr>
        <p:spPr>
          <a:xfrm>
            <a:off x="457200" y="1138428"/>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5"/>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28385"/>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28385"/>
                <a:ext cx="9256412" cy="296363"/>
              </a:xfrm>
              <a:prstGeom prst="rect">
                <a:avLst/>
              </a:prstGeom>
              <a:blipFill>
                <a:blip r:embed="rId5"/>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6"/>
          <a:stretch>
            <a:fillRect/>
          </a:stretch>
        </p:blipFill>
        <p:spPr>
          <a:xfrm>
            <a:off x="1292797" y="1980175"/>
            <a:ext cx="8361673" cy="410058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m:t>
                    </m:r>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oMath>
                </a14:m>
                <a:endParaRPr lang="es-AR" sz="1300" dirty="0"/>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3"/>
                <a:stretch>
                  <a:fillRect l="-53" t="-1111"/>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Esto es una ecuación a un sistema lineal 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6098796" cy="307841"/>
              </a:xfrm>
              <a:prstGeom prst="rect">
                <a:avLst/>
              </a:prstGeom>
              <a:noFill/>
            </p:spPr>
            <p:txBody>
              <a:bodyPr wrap="square">
                <a:spAutoFit/>
              </a:bodyPr>
              <a:lstStyle/>
              <a:p>
                <a:r>
                  <a:rPr lang="es-AR" sz="13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300" dirty="0"/>
                  <a:t>, podemos despejar </a:t>
                </a:r>
                <a14:m>
                  <m:oMath xmlns:m="http://schemas.openxmlformats.org/officeDocument/2006/math">
                    <m:sSubSup>
                      <m:sSubSupPr>
                        <m:ctrlPr>
                          <a:rPr lang="es-AR" sz="1300" i="1">
                            <a:latin typeface="Cambria Math" panose="02040503050406030204" pitchFamily="18" charset="0"/>
                          </a:rPr>
                        </m:ctrlPr>
                      </m:sSubSupPr>
                      <m:e>
                        <m:r>
                          <a:rPr lang="es-AR" sz="1300" i="1">
                            <a:latin typeface="Cambria Math" panose="02040503050406030204" pitchFamily="18" charset="0"/>
                          </a:rPr>
                          <m:t>𝑣</m:t>
                        </m:r>
                      </m:e>
                      <m:sub>
                        <m:r>
                          <a:rPr lang="es-AR" sz="1300" i="1">
                            <a:latin typeface="Cambria Math" panose="02040503050406030204" pitchFamily="18" charset="0"/>
                          </a:rPr>
                          <m:t>𝑞𝑠</m:t>
                        </m:r>
                      </m:sub>
                      <m:sup>
                        <m:r>
                          <a:rPr lang="es-AR" sz="1300" i="1">
                            <a:latin typeface="Cambria Math" panose="02040503050406030204" pitchFamily="18" charset="0"/>
                          </a:rPr>
                          <m:t>𝑟</m:t>
                        </m:r>
                      </m:sup>
                    </m:sSubSup>
                    <m:d>
                      <m:dPr>
                        <m:ctrlPr>
                          <a:rPr lang="es-AR" sz="1300" i="1">
                            <a:latin typeface="Cambria Math" panose="02040503050406030204" pitchFamily="18" charset="0"/>
                          </a:rPr>
                        </m:ctrlPr>
                      </m:dPr>
                      <m:e>
                        <m:r>
                          <a:rPr lang="es-AR" sz="1300" i="1">
                            <a:latin typeface="Cambria Math" panose="02040503050406030204" pitchFamily="18" charset="0"/>
                          </a:rPr>
                          <m:t>𝑡</m:t>
                        </m:r>
                      </m:e>
                    </m:d>
                  </m:oMath>
                </a14:m>
                <a:r>
                  <a:rPr lang="es-AR" sz="13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6098796" cy="307841"/>
              </a:xfrm>
              <a:prstGeom prst="rect">
                <a:avLst/>
              </a:prstGeom>
              <a:blipFill>
                <a:blip r:embed="rId7"/>
                <a:stretch>
                  <a:fillRect l="-100" b="-11765"/>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3967668"/>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000561"/>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000561"/>
                <a:ext cx="7589520" cy="502920"/>
              </a:xfrm>
              <a:prstGeom prst="rect">
                <a:avLst/>
              </a:prstGeom>
              <a:blipFill>
                <a:blip r:embed="rId2"/>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4774998"/>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4807891"/>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4807891"/>
                <a:ext cx="7589520" cy="502920"/>
              </a:xfrm>
              <a:prstGeom prst="rect">
                <a:avLst/>
              </a:prstGeom>
              <a:blipFill>
                <a:blip r:embed="rId8"/>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pic>
        <p:nvPicPr>
          <p:cNvPr id="22" name="Imagen 21">
            <a:extLst>
              <a:ext uri="{FF2B5EF4-FFF2-40B4-BE49-F238E27FC236}">
                <a16:creationId xmlns:a16="http://schemas.microsoft.com/office/drawing/2014/main" id="{3EB8B67E-5ABF-4E7B-A6B2-5D9359B2751E}"/>
              </a:ext>
            </a:extLst>
          </p:cNvPr>
          <p:cNvPicPr>
            <a:picLocks noChangeAspect="1"/>
          </p:cNvPicPr>
          <p:nvPr/>
        </p:nvPicPr>
        <p:blipFill>
          <a:blip r:embed="rId2"/>
          <a:stretch>
            <a:fillRect/>
          </a:stretch>
        </p:blipFill>
        <p:spPr>
          <a:xfrm>
            <a:off x="1126503" y="810142"/>
            <a:ext cx="10341247" cy="5084286"/>
          </a:xfrm>
          <a:prstGeom prst="rect">
            <a:avLst/>
          </a:prstGeom>
        </p:spPr>
      </p:pic>
    </p:spTree>
    <p:extLst>
      <p:ext uri="{BB962C8B-B14F-4D97-AF65-F5344CB8AC3E}">
        <p14:creationId xmlns:p14="http://schemas.microsoft.com/office/powerpoint/2010/main" val="3306844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p:sp>
        <p:nvSpPr>
          <p:cNvPr id="9" name="TextBox 8"/>
          <p:cNvSpPr txBox="1"/>
          <p:nvPr/>
        </p:nvSpPr>
        <p:spPr>
          <a:xfrm>
            <a:off x="365760" y="1965960"/>
            <a:ext cx="5486400" cy="2011680"/>
          </a:xfrm>
          <a:prstGeom prst="rect">
            <a:avLst/>
          </a:prstGeom>
          <a:noFill/>
        </p:spPr>
        <p:txBody>
          <a:bodyPr wrap="square">
            <a:spAutoFit/>
          </a:bodyPr>
          <a:lstStyle/>
          <a:p>
            <a:r>
              <a:rPr sz="1350">
                <a:solidFill>
                  <a:srgbClr val="1A1A2E"/>
                </a:solidFill>
                <a:latin typeface="Calibri"/>
              </a:rPr>
              <a:t>Conserva los acoplamientos y no linealidades del sistema real</a:t>
            </a:r>
          </a:p>
          <a:p>
            <a:pPr>
              <a:spcBef>
                <a:spcPts val="400"/>
              </a:spcBef>
            </a:pPr>
            <a:r>
              <a:rPr sz="1350">
                <a:solidFill>
                  <a:srgbClr val="1A1A2E"/>
                </a:solidFill>
                <a:latin typeface="Calibri"/>
              </a:rPr>
              <a:t>Mayor validez para distintos regímenes de operación (no solo ids ≈ 0)</a:t>
            </a:r>
          </a:p>
          <a:p>
            <a:pPr>
              <a:spcBef>
                <a:spcPts val="400"/>
              </a:spcBef>
            </a:pPr>
            <a:r>
              <a:rPr sz="1350">
                <a:solidFill>
                  <a:srgbClr val="1A1A2E"/>
                </a:solidFill>
                <a:latin typeface="Calibri"/>
              </a:rPr>
              <a:t>Permite simular el efecto del campo magnético en el torque para ids ≠ 0</a:t>
            </a:r>
          </a:p>
        </p:txBody>
      </p:sp>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3"/>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5"/>
                <a:stretch>
                  <a:fillRect t="-1460" b="-4380"/>
                </a:stretch>
              </a:blipFill>
            </p:spPr>
            <p:txBody>
              <a:bodyPr/>
              <a:lstStyle/>
              <a:p>
                <a:r>
                  <a:rPr lang="es-AR">
                    <a:noFill/>
                  </a:rPr>
                  <a:t> </a:t>
                </a:r>
              </a:p>
            </p:txBody>
          </p:sp>
        </mc:Fallback>
      </mc:AlternateContent>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374639" y="2754421"/>
                <a:ext cx="11368735" cy="674608"/>
              </a:xfrm>
              <a:prstGeom prst="rect">
                <a:avLst/>
              </a:prstGeom>
              <a:noFill/>
            </p:spPr>
            <p:txBody>
              <a:bodyPr wrap="square">
                <a:spAutoFit/>
              </a:bodyPr>
              <a:lstStyle/>
              <a:p>
                <a:pPr algn="ctr"/>
                <a14:m>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𝐺</m:t>
                        </m:r>
                      </m:e>
                      <m: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𝑉</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𝛩</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num>
                      <m:den>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𝑉</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den>
                    </m:f>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3</m:t>
                            </m:r>
                          </m:sup>
                        </m:sSup>
                        <m:r>
                          <a:rPr lang="es-AR" sz="1600" i="1">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up>
                            <m:r>
                              <a:rPr lang="es-AR" sz="1600" i="1">
                                <a:solidFill>
                                  <a:schemeClr val="tx1"/>
                                </a:solidFill>
                                <a:latin typeface="Cambria Math" panose="02040503050406030204" pitchFamily="18" charset="0"/>
                              </a:rPr>
                              <m:t>2</m:t>
                            </m:r>
                          </m:sup>
                        </m:sSubSup>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e>
                            </m:d>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𝑠</m:t>
                        </m:r>
                      </m:den>
                    </m:f>
                  </m:oMath>
                </a14:m>
                <a:r>
                  <a:rPr lang="es-AR" sz="1600" b="1" dirty="0">
                    <a:solidFill>
                      <a:schemeClr val="tx1"/>
                    </a:solidFill>
                    <a:latin typeface="Calibri"/>
                  </a:rPr>
                  <a:t>;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𝐺</m:t>
                        </m:r>
                      </m:e>
                      <m: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𝛩</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den>
                    </m:f>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e>
                        </m:box>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3</m:t>
                            </m:r>
                          </m:sup>
                        </m:sSup>
                        <m:r>
                          <a:rPr lang="es-AR" sz="1600" i="1">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up>
                            <m:r>
                              <a:rPr lang="es-AR" sz="1600" i="1">
                                <a:solidFill>
                                  <a:schemeClr val="tx1"/>
                                </a:solidFill>
                                <a:latin typeface="Cambria Math" panose="02040503050406030204" pitchFamily="18" charset="0"/>
                              </a:rPr>
                              <m:t>2</m:t>
                            </m:r>
                          </m:sup>
                        </m:sSubSup>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e>
                            </m:d>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𝑠</m:t>
                        </m:r>
                      </m:den>
                    </m:f>
                  </m:oMath>
                </a14:m>
                <a:endParaRPr lang="es-AR" sz="16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374639" y="2754421"/>
                <a:ext cx="11368735" cy="674608"/>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7510191"/>
                  </p:ext>
                </p:extLst>
              </p:nvPr>
            </p:nvGraphicFramePr>
            <p:xfrm>
              <a:off x="843663" y="4315420"/>
              <a:ext cx="10246832" cy="1804988"/>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100" i="1">
                                        <a:effectLst/>
                                        <a:latin typeface="Cambria Math" panose="02040503050406030204" pitchFamily="18" charset="0"/>
                                      </a:rPr>
                                    </m:ctrlPr>
                                  </m:sSubPr>
                                  <m:e>
                                    <m:r>
                                      <a:rPr lang="es-AR" sz="1100">
                                        <a:effectLst/>
                                        <a:latin typeface="Cambria Math" panose="02040503050406030204" pitchFamily="18" charset="0"/>
                                      </a:rPr>
                                      <m:t>𝑹</m:t>
                                    </m:r>
                                  </m:e>
                                  <m:sub>
                                    <m:r>
                                      <a:rPr lang="es-AR" sz="1100">
                                        <a:effectLst/>
                                        <a:latin typeface="Cambria Math" panose="02040503050406030204" pitchFamily="18" charset="0"/>
                                      </a:rPr>
                                      <m:t>𝒔</m:t>
                                    </m:r>
                                  </m:sub>
                                </m:sSub>
                                <m:d>
                                  <m:dPr>
                                    <m:begChr m:val="["/>
                                    <m:endChr m:val="]"/>
                                    <m:ctrlPr>
                                      <a:rPr lang="es-AR" sz="1100" i="1">
                                        <a:effectLst/>
                                        <a:latin typeface="Cambria Math" panose="02040503050406030204" pitchFamily="18" charset="0"/>
                                      </a:rPr>
                                    </m:ctrlPr>
                                  </m:dPr>
                                  <m:e>
                                    <m:r>
                                      <a:rPr lang="es-AR" sz="1100">
                                        <a:effectLst/>
                                        <a:latin typeface="Cambria Math" panose="02040503050406030204" pitchFamily="18" charset="0"/>
                                      </a:rPr>
                                      <m:t>𝜴</m:t>
                                    </m:r>
                                  </m:e>
                                </m:d>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P3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Ceros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100" i="1">
                                        <a:effectLst/>
                                        <a:latin typeface="Cambria Math" panose="02040503050406030204" pitchFamily="18" charset="0"/>
                                      </a:rPr>
                                    </m:ctrlPr>
                                  </m:sSubPr>
                                  <m:e>
                                    <m:r>
                                      <a:rPr lang="es-AR" sz="1100">
                                        <a:effectLst/>
                                        <a:latin typeface="Cambria Math" panose="02040503050406030204" pitchFamily="18" charset="0"/>
                                      </a:rPr>
                                      <m:t>⍵</m:t>
                                    </m:r>
                                  </m:e>
                                  <m:sub>
                                    <m:r>
                                      <a:rPr lang="es-AR" sz="1100">
                                        <a:effectLst/>
                                        <a:latin typeface="Cambria Math" panose="02040503050406030204" pitchFamily="18" charset="0"/>
                                      </a:rPr>
                                      <m:t>𝒏</m:t>
                                    </m:r>
                                  </m:sub>
                                </m:sSub>
                                <m:d>
                                  <m:dPr>
                                    <m:begChr m:val="["/>
                                    <m:endChr m:val="]"/>
                                    <m:ctrlPr>
                                      <a:rPr lang="es-AR" sz="1100" i="1">
                                        <a:effectLst/>
                                        <a:latin typeface="Cambria Math" panose="02040503050406030204" pitchFamily="18" charset="0"/>
                                      </a:rPr>
                                    </m:ctrlPr>
                                  </m:dPr>
                                  <m:e>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𝒓𝒂𝒅</m:t>
                                        </m:r>
                                      </m:num>
                                      <m:den>
                                        <m:r>
                                          <a:rPr lang="es-AR" sz="1100">
                                            <a:effectLst/>
                                            <a:latin typeface="Cambria Math" panose="02040503050406030204" pitchFamily="18" charset="0"/>
                                          </a:rPr>
                                          <m:t>𝒔</m:t>
                                        </m:r>
                                      </m:den>
                                    </m:f>
                                  </m:e>
                                </m:d>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𝛇</m:t>
                                </m:r>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100">
                              <a:effectLst/>
                            </a:rPr>
                            <a:t>1.0996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-95.34+145.73i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-95.34+145.73i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-189.5793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174.1481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0.5475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100">
                              <a:effectLst/>
                            </a:rPr>
                            <a:t>1.1393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-98.77+143.45i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-98.77+143.45i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-196.4379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0.5671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100">
                              <a:effectLst/>
                            </a:rPr>
                            <a:t>1.1791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-102.20+141.06i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-102.20+141.06i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-203.2966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174.1918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0.5867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100">
                              <a:effectLst/>
                            </a:rPr>
                            <a:t>1.2189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-105.63+138.54i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-105.63+138.54i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-210.1552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174.2136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0.6063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100">
                              <a:effectLst/>
                            </a:rPr>
                            <a:t>1.2587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-109.06+135.88i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-109.06+135.88i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-217.0138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174.2354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0.6260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100">
                              <a:effectLst/>
                            </a:rPr>
                            <a:t>1.2985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-112.49+133.08i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-112.49+133.08i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-223.8724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174.257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0.6455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100">
                              <a:effectLst/>
                            </a:rPr>
                            <a:t>1.3382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-230.731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0.6651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100">
                              <a:effectLst/>
                            </a:rPr>
                            <a:t>1.3780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-237.5897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174.3009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0.6847</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7510191"/>
                  </p:ext>
                </p:extLst>
              </p:nvPr>
            </p:nvGraphicFramePr>
            <p:xfrm>
              <a:off x="843663" y="4315420"/>
              <a:ext cx="10246832" cy="1804988"/>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80988">
                    <a:tc>
                      <a:txBody>
                        <a:bodyPr/>
                        <a:lstStyle/>
                        <a:p>
                          <a:endParaRPr lang="es-AR"/>
                        </a:p>
                      </a:txBody>
                      <a:tcPr marL="44450" marR="44450" marT="0" marB="0" anchor="b">
                        <a:blipFill>
                          <a:blip r:embed="rId6"/>
                          <a:stretch>
                            <a:fillRect l="-617" t="-97826" r="-940741" b="-576087"/>
                          </a:stretch>
                        </a:blipFill>
                      </a:tcPr>
                    </a:tc>
                    <a:tc>
                      <a:txBody>
                        <a:bodyPr/>
                        <a:lstStyle/>
                        <a:p>
                          <a:pPr algn="ctr">
                            <a:lnSpc>
                              <a:spcPct val="107000"/>
                            </a:lnSpc>
                            <a:spcAft>
                              <a:spcPts val="800"/>
                            </a:spcAft>
                          </a:pPr>
                          <a:r>
                            <a:rPr lang="es-AR" sz="1100">
                              <a:effectLst/>
                            </a:rPr>
                            <a:t>P1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P3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Ceros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97826" r="-103782" b="-576087"/>
                          </a:stretch>
                        </a:blipFill>
                      </a:tcPr>
                    </a:tc>
                    <a:tc>
                      <a:txBody>
                        <a:bodyPr/>
                        <a:lstStyle/>
                        <a:p>
                          <a:endParaRPr lang="es-AR"/>
                        </a:p>
                      </a:txBody>
                      <a:tcPr marL="44450" marR="44450" marT="0" marB="0" anchor="b">
                        <a:blipFill>
                          <a:blip r:embed="rId6"/>
                          <a:stretch>
                            <a:fillRect l="-592593" t="-97826" r="-1646" b="-57608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100">
                              <a:effectLst/>
                            </a:rPr>
                            <a:t>1.0996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-95.34+145.73i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-95.34+145.73i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-189.5793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174.1481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0.5475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100">
                              <a:effectLst/>
                            </a:rPr>
                            <a:t>1.1393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-98.77+143.45i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-98.77+143.45i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-196.4379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0.5671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100">
                              <a:effectLst/>
                            </a:rPr>
                            <a:t>1.1791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-102.20+141.06i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-102.20+141.06i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-203.2966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174.1918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0.5867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100">
                              <a:effectLst/>
                            </a:rPr>
                            <a:t>1.2189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-105.63+138.54i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-105.63+138.54i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-210.1552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174.2136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0.6063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100">
                              <a:effectLst/>
                            </a:rPr>
                            <a:t>1.2587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-109.06+135.88i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-109.06+135.88i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-217.0138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174.2354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0.6260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100">
                              <a:effectLst/>
                            </a:rPr>
                            <a:t>1.2985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-112.49+133.08i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-112.49+133.08i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-223.8724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174.257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0.6455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100">
                              <a:effectLst/>
                            </a:rPr>
                            <a:t>1.3382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-230.731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0.6651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100">
                              <a:effectLst/>
                            </a:rPr>
                            <a:t>1.3780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-237.5897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174.3009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0.6847</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953580" y="5217152"/>
                <a:ext cx="7705288" cy="446020"/>
              </a:xfrm>
              <a:prstGeom prst="rect">
                <a:avLst/>
              </a:prstGeom>
              <a:noFill/>
            </p:spPr>
            <p:txBody>
              <a:bodyPr wrap="square">
                <a:spAutoFit/>
              </a:bodyPr>
              <a:lstStyle/>
              <a:p>
                <a:pPr algn="ct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953580" y="5217152"/>
                <a:ext cx="7705288" cy="446020"/>
              </a:xfrm>
              <a:prstGeom prst="rect">
                <a:avLst/>
              </a:prstGeom>
              <a:blipFill>
                <a:blip r:embed="rId2"/>
                <a:stretch>
                  <a:fillRect/>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3"/>
          <a:srcRect/>
          <a:stretch/>
        </p:blipFill>
        <p:spPr>
          <a:xfrm>
            <a:off x="114700" y="835467"/>
            <a:ext cx="5568729" cy="4350255"/>
          </a:xfrm>
          <a:prstGeom prst="rect">
            <a:avLst/>
          </a:prstGeom>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1864140864"/>
                  </p:ext>
                </p:extLst>
              </p:nvPr>
            </p:nvGraphicFramePr>
            <p:xfrm>
              <a:off x="4789283" y="4855253"/>
              <a:ext cx="7402412" cy="1707246"/>
            </p:xfrm>
            <a:graphic>
              <a:graphicData uri="http://schemas.openxmlformats.org/drawingml/2006/table">
                <a:tbl>
                  <a:tblPr firstRow="1" firstCol="1" bandRow="1">
                    <a:tableStyleId>{5C22544A-7EE6-4342-B048-85BDC9FD1C3A}</a:tableStyleId>
                  </a:tblPr>
                  <a:tblGrid>
                    <a:gridCol w="814884">
                      <a:extLst>
                        <a:ext uri="{9D8B030D-6E8A-4147-A177-3AD203B41FA5}">
                          <a16:colId xmlns:a16="http://schemas.microsoft.com/office/drawing/2014/main" val="2802378481"/>
                        </a:ext>
                      </a:extLst>
                    </a:gridCol>
                    <a:gridCol w="798165">
                      <a:extLst>
                        <a:ext uri="{9D8B030D-6E8A-4147-A177-3AD203B41FA5}">
                          <a16:colId xmlns:a16="http://schemas.microsoft.com/office/drawing/2014/main" val="2036341126"/>
                        </a:ext>
                      </a:extLst>
                    </a:gridCol>
                    <a:gridCol w="1151516">
                      <a:extLst>
                        <a:ext uri="{9D8B030D-6E8A-4147-A177-3AD203B41FA5}">
                          <a16:colId xmlns:a16="http://schemas.microsoft.com/office/drawing/2014/main" val="2330340701"/>
                        </a:ext>
                      </a:extLst>
                    </a:gridCol>
                    <a:gridCol w="294667">
                      <a:extLst>
                        <a:ext uri="{9D8B030D-6E8A-4147-A177-3AD203B41FA5}">
                          <a16:colId xmlns:a16="http://schemas.microsoft.com/office/drawing/2014/main" val="2013461180"/>
                        </a:ext>
                      </a:extLst>
                    </a:gridCol>
                    <a:gridCol w="1056256">
                      <a:extLst>
                        <a:ext uri="{9D8B030D-6E8A-4147-A177-3AD203B41FA5}">
                          <a16:colId xmlns:a16="http://schemas.microsoft.com/office/drawing/2014/main" val="33408804"/>
                        </a:ext>
                      </a:extLst>
                    </a:gridCol>
                    <a:gridCol w="1044154">
                      <a:extLst>
                        <a:ext uri="{9D8B030D-6E8A-4147-A177-3AD203B41FA5}">
                          <a16:colId xmlns:a16="http://schemas.microsoft.com/office/drawing/2014/main" val="4158169869"/>
                        </a:ext>
                      </a:extLst>
                    </a:gridCol>
                    <a:gridCol w="844267">
                      <a:extLst>
                        <a:ext uri="{9D8B030D-6E8A-4147-A177-3AD203B41FA5}">
                          <a16:colId xmlns:a16="http://schemas.microsoft.com/office/drawing/2014/main" val="4111785009"/>
                        </a:ext>
                      </a:extLst>
                    </a:gridCol>
                    <a:gridCol w="815780">
                      <a:extLst>
                        <a:ext uri="{9D8B030D-6E8A-4147-A177-3AD203B41FA5}">
                          <a16:colId xmlns:a16="http://schemas.microsoft.com/office/drawing/2014/main" val="2146592862"/>
                        </a:ext>
                      </a:extLst>
                    </a:gridCol>
                    <a:gridCol w="582723">
                      <a:extLst>
                        <a:ext uri="{9D8B030D-6E8A-4147-A177-3AD203B41FA5}">
                          <a16:colId xmlns:a16="http://schemas.microsoft.com/office/drawing/2014/main" val="457280126"/>
                        </a:ext>
                      </a:extLst>
                    </a:gridCol>
                  </a:tblGrid>
                  <a:tr h="329260">
                    <a:tc>
                      <a:txBody>
                        <a:bodyPr/>
                        <a:lstStyle/>
                        <a:p>
                          <a:pPr algn="ctr">
                            <a:lnSpc>
                              <a:spcPct val="107000"/>
                            </a:lnSpc>
                            <a:spcAft>
                              <a:spcPts val="800"/>
                            </a:spcAft>
                          </a:pPr>
                          <a:r>
                            <a:rPr lang="es-AR" sz="1200">
                              <a:effectLst/>
                            </a:rPr>
                            <a:t>Condición</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Cero</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497604">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497604">
                    <a:tc>
                      <a:txBody>
                        <a:bodyPr/>
                        <a:lstStyle/>
                        <a:p>
                          <a:pPr algn="ctr">
                            <a:lnSpc>
                              <a:spcPct val="107000"/>
                            </a:lnSpc>
                            <a:spcAft>
                              <a:spcPts val="800"/>
                            </a:spcAft>
                          </a:pPr>
                          <a:r>
                            <a:rPr lang="es-AR" sz="1200">
                              <a:effectLst/>
                            </a:rPr>
                            <a:t>Mínimos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29260">
                    <a:tc>
                      <a:txBody>
                        <a:bodyPr/>
                        <a:lstStyle/>
                        <a:p>
                          <a:pPr algn="ctr">
                            <a:lnSpc>
                              <a:spcPct val="107000"/>
                            </a:lnSpc>
                            <a:spcAft>
                              <a:spcPts val="800"/>
                            </a:spcAft>
                          </a:pPr>
                          <a:r>
                            <a:rPr lang="es-AR" sz="1200">
                              <a:effectLst/>
                            </a:rPr>
                            <a:t>Máximos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1864140864"/>
                  </p:ext>
                </p:extLst>
              </p:nvPr>
            </p:nvGraphicFramePr>
            <p:xfrm>
              <a:off x="4789283" y="4855253"/>
              <a:ext cx="7402412" cy="1707246"/>
            </p:xfrm>
            <a:graphic>
              <a:graphicData uri="http://schemas.openxmlformats.org/drawingml/2006/table">
                <a:tbl>
                  <a:tblPr firstRow="1" firstCol="1" bandRow="1">
                    <a:tableStyleId>{5C22544A-7EE6-4342-B048-85BDC9FD1C3A}</a:tableStyleId>
                  </a:tblPr>
                  <a:tblGrid>
                    <a:gridCol w="814884">
                      <a:extLst>
                        <a:ext uri="{9D8B030D-6E8A-4147-A177-3AD203B41FA5}">
                          <a16:colId xmlns:a16="http://schemas.microsoft.com/office/drawing/2014/main" val="2802378481"/>
                        </a:ext>
                      </a:extLst>
                    </a:gridCol>
                    <a:gridCol w="798165">
                      <a:extLst>
                        <a:ext uri="{9D8B030D-6E8A-4147-A177-3AD203B41FA5}">
                          <a16:colId xmlns:a16="http://schemas.microsoft.com/office/drawing/2014/main" val="2036341126"/>
                        </a:ext>
                      </a:extLst>
                    </a:gridCol>
                    <a:gridCol w="1151516">
                      <a:extLst>
                        <a:ext uri="{9D8B030D-6E8A-4147-A177-3AD203B41FA5}">
                          <a16:colId xmlns:a16="http://schemas.microsoft.com/office/drawing/2014/main" val="2330340701"/>
                        </a:ext>
                      </a:extLst>
                    </a:gridCol>
                    <a:gridCol w="294667">
                      <a:extLst>
                        <a:ext uri="{9D8B030D-6E8A-4147-A177-3AD203B41FA5}">
                          <a16:colId xmlns:a16="http://schemas.microsoft.com/office/drawing/2014/main" val="2013461180"/>
                        </a:ext>
                      </a:extLst>
                    </a:gridCol>
                    <a:gridCol w="1056256">
                      <a:extLst>
                        <a:ext uri="{9D8B030D-6E8A-4147-A177-3AD203B41FA5}">
                          <a16:colId xmlns:a16="http://schemas.microsoft.com/office/drawing/2014/main" val="33408804"/>
                        </a:ext>
                      </a:extLst>
                    </a:gridCol>
                    <a:gridCol w="1044154">
                      <a:extLst>
                        <a:ext uri="{9D8B030D-6E8A-4147-A177-3AD203B41FA5}">
                          <a16:colId xmlns:a16="http://schemas.microsoft.com/office/drawing/2014/main" val="4158169869"/>
                        </a:ext>
                      </a:extLst>
                    </a:gridCol>
                    <a:gridCol w="844267">
                      <a:extLst>
                        <a:ext uri="{9D8B030D-6E8A-4147-A177-3AD203B41FA5}">
                          <a16:colId xmlns:a16="http://schemas.microsoft.com/office/drawing/2014/main" val="4111785009"/>
                        </a:ext>
                      </a:extLst>
                    </a:gridCol>
                    <a:gridCol w="815780">
                      <a:extLst>
                        <a:ext uri="{9D8B030D-6E8A-4147-A177-3AD203B41FA5}">
                          <a16:colId xmlns:a16="http://schemas.microsoft.com/office/drawing/2014/main" val="2146592862"/>
                        </a:ext>
                      </a:extLst>
                    </a:gridCol>
                    <a:gridCol w="582723">
                      <a:extLst>
                        <a:ext uri="{9D8B030D-6E8A-4147-A177-3AD203B41FA5}">
                          <a16:colId xmlns:a16="http://schemas.microsoft.com/office/drawing/2014/main" val="457280126"/>
                        </a:ext>
                      </a:extLst>
                    </a:gridCol>
                  </a:tblGrid>
                  <a:tr h="382778">
                    <a:tc>
                      <a:txBody>
                        <a:bodyPr/>
                        <a:lstStyle/>
                        <a:p>
                          <a:pPr algn="ctr">
                            <a:lnSpc>
                              <a:spcPct val="107000"/>
                            </a:lnSpc>
                            <a:spcAft>
                              <a:spcPts val="800"/>
                            </a:spcAft>
                          </a:pPr>
                          <a:r>
                            <a:rPr lang="es-AR" sz="1200">
                              <a:effectLst/>
                            </a:rPr>
                            <a:t>Condición</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03053" t="-77778" r="-729008" b="-369841"/>
                          </a:stretch>
                        </a:blipFill>
                      </a:tcPr>
                    </a:tc>
                    <a:tc>
                      <a:txBody>
                        <a:bodyPr/>
                        <a:lstStyle/>
                        <a:p>
                          <a:endParaRPr lang="es-AR"/>
                        </a:p>
                      </a:txBody>
                      <a:tcPr marL="68580" marR="68580" marT="0" marB="0">
                        <a:blipFill>
                          <a:blip r:embed="rId5"/>
                          <a:stretch>
                            <a:fillRect l="-140741" t="-77778" r="-405291" b="-369841"/>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Cero</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735821" t="-77778" r="-75373" b="-369841"/>
                          </a:stretch>
                        </a:blipFill>
                      </a:tcPr>
                    </a:tc>
                    <a:tc>
                      <a:txBody>
                        <a:bodyPr/>
                        <a:lstStyle/>
                        <a:p>
                          <a:endParaRPr lang="es-AR"/>
                        </a:p>
                      </a:txBody>
                      <a:tcPr marL="68580" marR="68580" marT="0" marB="0">
                        <a:blipFill>
                          <a:blip r:embed="rId5"/>
                          <a:stretch>
                            <a:fillRect l="-1166667" t="-77778" r="-5208" b="-369841"/>
                          </a:stretch>
                        </a:blipFill>
                      </a:tcPr>
                    </a:tc>
                    <a:extLst>
                      <a:ext uri="{0D108BD9-81ED-4DB2-BD59-A6C34878D82A}">
                        <a16:rowId xmlns:a16="http://schemas.microsoft.com/office/drawing/2014/main" val="3338585090"/>
                      </a:ext>
                    </a:extLst>
                  </a:tr>
                  <a:tr h="497604">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497604">
                    <a:tc>
                      <a:txBody>
                        <a:bodyPr/>
                        <a:lstStyle/>
                        <a:p>
                          <a:pPr algn="ctr">
                            <a:lnSpc>
                              <a:spcPct val="107000"/>
                            </a:lnSpc>
                            <a:spcAft>
                              <a:spcPts val="800"/>
                            </a:spcAft>
                          </a:pPr>
                          <a:r>
                            <a:rPr lang="es-AR" sz="1200">
                              <a:effectLst/>
                            </a:rPr>
                            <a:t>Mínimos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29260">
                    <a:tc>
                      <a:txBody>
                        <a:bodyPr/>
                        <a:lstStyle/>
                        <a:p>
                          <a:pPr algn="ctr">
                            <a:lnSpc>
                              <a:spcPct val="107000"/>
                            </a:lnSpc>
                            <a:spcAft>
                              <a:spcPts val="800"/>
                            </a:spcAft>
                          </a:pPr>
                          <a:r>
                            <a:rPr lang="es-AR" sz="1200">
                              <a:effectLst/>
                            </a:rPr>
                            <a:t>Máximos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65760" y="1352223"/>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Estabilidad — Frecuencia natural y amortiguamiento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p:sp>
        <p:nvSpPr>
          <p:cNvPr id="7" name="TextBox 6"/>
          <p:cNvSpPr txBox="1"/>
          <p:nvPr/>
        </p:nvSpPr>
        <p:spPr>
          <a:xfrm>
            <a:off x="365760" y="777240"/>
            <a:ext cx="11430000" cy="523220"/>
          </a:xfrm>
          <a:prstGeom prst="rect">
            <a:avLst/>
          </a:prstGeom>
          <a:noFill/>
        </p:spPr>
        <p:txBody>
          <a:bodyPr wrap="square">
            <a:spAutoFit/>
          </a:bodyPr>
          <a:lstStyle/>
          <a:p>
            <a:pPr algn="l"/>
            <a:r>
              <a:rPr lang="es-AR" sz="1400" b="0" i="0" dirty="0">
                <a:solidFill>
                  <a:srgbClr val="1A1A2E"/>
                </a:solidFill>
                <a:latin typeface="Calibri"/>
              </a:rPr>
              <a:t>Comparando el polinomio característico de s₂,₃ con la forma canónica de segundo orden s²+2ζωn·s+ωn²=0, se obtienen </a:t>
            </a:r>
            <a:r>
              <a:rPr lang="es-AR" sz="1400" b="0" i="0" dirty="0" err="1">
                <a:solidFill>
                  <a:srgbClr val="1A1A2E"/>
                </a:solidFill>
                <a:latin typeface="Calibri"/>
              </a:rPr>
              <a:t>ωn</a:t>
            </a:r>
            <a:r>
              <a:rPr lang="es-AR" sz="1400" b="0" i="0" dirty="0">
                <a:solidFill>
                  <a:srgbClr val="1A1A2E"/>
                </a:solidFill>
                <a:latin typeface="Calibri"/>
              </a:rPr>
              <a:t> y ζ en función de los parámetros del sistema:</a:t>
            </a:r>
          </a:p>
        </p:txBody>
      </p:sp>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4019102968"/>
                  </p:ext>
                </p:extLst>
              </p:nvPr>
            </p:nvGraphicFramePr>
            <p:xfrm>
              <a:off x="365760" y="2473653"/>
              <a:ext cx="11429999" cy="2651760"/>
            </p:xfrm>
            <a:graphic>
              <a:graphicData uri="http://schemas.openxmlformats.org/drawingml/2006/table">
                <a:tbl>
                  <a:tblPr firstRow="1" bandRow="1">
                    <a:tableStyleId>{5C22544A-7EE6-4342-B048-85BDC9FD1C3A}</a:tableStyleId>
                  </a:tblPr>
                  <a:tblGrid>
                    <a:gridCol w="4996353">
                      <a:extLst>
                        <a:ext uri="{9D8B030D-6E8A-4147-A177-3AD203B41FA5}">
                          <a16:colId xmlns:a16="http://schemas.microsoft.com/office/drawing/2014/main" val="20000"/>
                        </a:ext>
                      </a:extLst>
                    </a:gridCol>
                    <a:gridCol w="2956264">
                      <a:extLst>
                        <a:ext uri="{9D8B030D-6E8A-4147-A177-3AD203B41FA5}">
                          <a16:colId xmlns:a16="http://schemas.microsoft.com/office/drawing/2014/main" val="20001"/>
                        </a:ext>
                      </a:extLst>
                    </a:gridCol>
                    <a:gridCol w="3477382">
                      <a:extLst>
                        <a:ext uri="{9D8B030D-6E8A-4147-A177-3AD203B41FA5}">
                          <a16:colId xmlns:a16="http://schemas.microsoft.com/office/drawing/2014/main" val="20002"/>
                        </a:ext>
                      </a:extLst>
                    </a:gridCol>
                  </a:tblGrid>
                  <a:tr h="441960">
                    <a:tc>
                      <a:txBody>
                        <a:bodyPr/>
                        <a:lstStyle/>
                        <a:p>
                          <a:r>
                            <a:rPr sz="1200" b="1">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441960">
                    <a:tc>
                      <a:txBody>
                        <a:bodyPr/>
                        <a:lstStyle/>
                        <a:p>
                          <a:r>
                            <a:rPr lang="es-AR" sz="1200" noProof="0">
                              <a:latin typeface="Calibri"/>
                            </a:rPr>
                            <a:t>Rs = 1.10 Ω (40°C), </a:t>
                          </a:r>
                          <a:r>
                            <a:rPr lang="es-AR" sz="1200" noProof="0">
                              <a:latin typeface="+mn-lt"/>
                            </a:rPr>
                            <a:t>parámetros</a:t>
                          </a:r>
                          <a:r>
                            <a:rPr lang="es-AR" sz="1200" noProof="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441960">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ml=1.5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4019102968"/>
                  </p:ext>
                </p:extLst>
              </p:nvPr>
            </p:nvGraphicFramePr>
            <p:xfrm>
              <a:off x="365760" y="2473653"/>
              <a:ext cx="11429999" cy="2651760"/>
            </p:xfrm>
            <a:graphic>
              <a:graphicData uri="http://schemas.openxmlformats.org/drawingml/2006/table">
                <a:tbl>
                  <a:tblPr firstRow="1" bandRow="1">
                    <a:tableStyleId>{5C22544A-7EE6-4342-B048-85BDC9FD1C3A}</a:tableStyleId>
                  </a:tblPr>
                  <a:tblGrid>
                    <a:gridCol w="4996353">
                      <a:extLst>
                        <a:ext uri="{9D8B030D-6E8A-4147-A177-3AD203B41FA5}">
                          <a16:colId xmlns:a16="http://schemas.microsoft.com/office/drawing/2014/main" val="20000"/>
                        </a:ext>
                      </a:extLst>
                    </a:gridCol>
                    <a:gridCol w="2956264">
                      <a:extLst>
                        <a:ext uri="{9D8B030D-6E8A-4147-A177-3AD203B41FA5}">
                          <a16:colId xmlns:a16="http://schemas.microsoft.com/office/drawing/2014/main" val="20001"/>
                        </a:ext>
                      </a:extLst>
                    </a:gridCol>
                    <a:gridCol w="3477382">
                      <a:extLst>
                        <a:ext uri="{9D8B030D-6E8A-4147-A177-3AD203B41FA5}">
                          <a16:colId xmlns:a16="http://schemas.microsoft.com/office/drawing/2014/main" val="20002"/>
                        </a:ext>
                      </a:extLst>
                    </a:gridCol>
                  </a:tblGrid>
                  <a:tr h="441960">
                    <a:tc>
                      <a:txBody>
                        <a:bodyPr/>
                        <a:lstStyle/>
                        <a:p>
                          <a:r>
                            <a:rPr sz="1200" b="1">
                              <a:solidFill>
                                <a:srgbClr val="FFFFFF"/>
                              </a:solidFill>
                              <a:latin typeface="Calibri"/>
                            </a:rPr>
                            <a:t>Condición</a:t>
                          </a:r>
                        </a:p>
                      </a:txBody>
                      <a:tcPr>
                        <a:solidFill>
                          <a:srgbClr val="1A3A6B"/>
                        </a:solidFill>
                      </a:tcPr>
                    </a:tc>
                    <a:tc>
                      <a:txBody>
                        <a:bodyPr/>
                        <a:lstStyle/>
                        <a:p>
                          <a:endParaRPr lang="es-AR"/>
                        </a:p>
                      </a:txBody>
                      <a:tcPr>
                        <a:blipFill>
                          <a:blip r:embed="rId2"/>
                          <a:stretch>
                            <a:fillRect l="-169485" t="-1370" r="-118557" b="-500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441960">
                    <a:tc>
                      <a:txBody>
                        <a:bodyPr/>
                        <a:lstStyle/>
                        <a:p>
                          <a:r>
                            <a:rPr lang="es-AR" sz="1200" noProof="0">
                              <a:latin typeface="Calibri"/>
                            </a:rPr>
                            <a:t>Rs = 1.10 Ω (40°C), </a:t>
                          </a:r>
                          <a:r>
                            <a:rPr lang="es-AR" sz="1200" noProof="0">
                              <a:latin typeface="+mn-lt"/>
                            </a:rPr>
                            <a:t>parámetros</a:t>
                          </a:r>
                          <a:r>
                            <a:rPr lang="es-AR" sz="1200" noProof="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441960">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441960">
                    <a:tc>
                      <a:txBody>
                        <a:bodyPr/>
                        <a:lstStyle/>
                        <a:p>
                          <a:endParaRPr lang="es-AR"/>
                        </a:p>
                      </a:txBody>
                      <a:tcPr>
                        <a:blipFill>
                          <a:blip r:embed="rId2"/>
                          <a:stretch>
                            <a:fillRect l="-244" t="-300000" r="-129268" b="-201370"/>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441960">
                    <a:tc>
                      <a:txBody>
                        <a:bodyPr/>
                        <a:lstStyle/>
                        <a:p>
                          <a:endParaRPr lang="es-AR"/>
                        </a:p>
                      </a:txBody>
                      <a:tcPr>
                        <a:blipFill>
                          <a:blip r:embed="rId2"/>
                          <a:stretch>
                            <a:fillRect l="-244" t="-405556" r="-129268" b="-104167"/>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441960">
                    <a:tc>
                      <a:txBody>
                        <a:bodyPr/>
                        <a:lstStyle/>
                        <a:p>
                          <a:endParaRPr lang="es-AR"/>
                        </a:p>
                      </a:txBody>
                      <a:tcPr>
                        <a:blipFill>
                          <a:blip r:embed="rId2"/>
                          <a:stretch>
                            <a:fillRect l="-244" t="-498630" r="-129268" b="-2740"/>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441655" y="5310157"/>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a:t>
                </a:r>
                <a:r>
                  <a:rPr lang="es-AR" sz="1300" dirty="0" err="1">
                    <a:solidFill>
                      <a:srgbClr val="1A1A2E"/>
                    </a:solidFill>
                    <a:latin typeface="Calibri"/>
                  </a:rPr>
                  <a:t>sobreamortiguado</a:t>
                </a:r>
                <a:r>
                  <a:rPr lang="es-AR" sz="1300" dirty="0">
                    <a:solidFill>
                      <a:srgbClr val="1A1A2E"/>
                    </a:solidFill>
                    <a:latin typeface="Calibri"/>
                  </a:rPr>
                  <a:t>)</a:t>
                </a:r>
              </a:p>
            </p:txBody>
          </p:sp>
        </mc:Choice>
        <mc:Fallback xmlns="">
          <p:sp>
            <p:nvSpPr>
              <p:cNvPr id="13" name="TextBox 12"/>
              <p:cNvSpPr txBox="1">
                <a:spLocks noRot="1" noChangeAspect="1" noMove="1" noResize="1" noEditPoints="1" noAdjustHandles="1" noChangeArrowheads="1" noChangeShapeType="1" noTextEdit="1"/>
              </p:cNvSpPr>
              <p:nvPr/>
            </p:nvSpPr>
            <p:spPr>
              <a:xfrm>
                <a:off x="441655" y="5310157"/>
                <a:ext cx="11430000" cy="812915"/>
              </a:xfrm>
              <a:prstGeom prst="rect">
                <a:avLst/>
              </a:prstGeom>
              <a:blipFill>
                <a:blip r:embed="rId3"/>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58283" y="1338975"/>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58283" y="1338975"/>
                <a:ext cx="6143346" cy="93051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63593" y="1557479"/>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f>
                        <m:fPr>
                          <m:ctrlPr>
                            <a:rPr lang="es-AR" sz="1400" i="1">
                              <a:solidFill>
                                <a:srgbClr val="836967"/>
                              </a:solidFill>
                              <a:latin typeface="Cambria Math" panose="02040503050406030204" pitchFamily="18" charset="0"/>
                            </a:rPr>
                          </m:ctrlPr>
                        </m:fPr>
                        <m:num>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L</m:t>
                              </m:r>
                            </m:e>
                            <m:sub>
                              <m:r>
                                <m:rPr>
                                  <m:sty m:val="p"/>
                                </m:rPr>
                                <a:rPr lang="es-AR" sz="1400" i="0">
                                  <a:latin typeface="Cambria Math" panose="02040503050406030204" pitchFamily="18" charset="0"/>
                                </a:rPr>
                                <m:t>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b</m:t>
                              </m:r>
                            </m:e>
                            <m:sub>
                              <m:r>
                                <m:rPr>
                                  <m:sty m:val="p"/>
                                </m:rPr>
                                <a:rPr lang="es-AR" sz="1400" i="0">
                                  <a:latin typeface="Cambria Math" panose="02040503050406030204" pitchFamily="18" charset="0"/>
                                </a:rPr>
                                <m:t>eq</m:t>
                              </m:r>
                            </m:sub>
                          </m:sSub>
                          <m:r>
                            <a:rPr lang="es-AR" sz="1400" i="0">
                              <a:latin typeface="Cambria Math" panose="02040503050406030204" pitchFamily="18" charset="0"/>
                            </a:rPr>
                            <m:t>+</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R</m:t>
                              </m:r>
                            </m:e>
                            <m:sub>
                              <m:r>
                                <m:rPr>
                                  <m:sty m:val="p"/>
                                </m:rPr>
                                <a:rPr lang="es-AR" sz="1400" i="0">
                                  <a:latin typeface="Cambria Math" panose="02040503050406030204" pitchFamily="18" charset="0"/>
                                </a:rPr>
                                <m:t>s</m:t>
                              </m:r>
                            </m:sub>
                          </m:sSub>
                          <m:d>
                            <m:dPr>
                              <m:ctrlPr>
                                <a:rPr lang="es-AR" sz="1400" i="1">
                                  <a:solidFill>
                                    <a:srgbClr val="836967"/>
                                  </a:solidFill>
                                  <a:latin typeface="Cambria Math" panose="02040503050406030204" pitchFamily="18" charset="0"/>
                                </a:rPr>
                              </m:ctrlPr>
                            </m:dPr>
                            <m:e>
                              <m:sSubSup>
                                <m:sSubSupPr>
                                  <m:ctrlPr>
                                    <a:rPr lang="es-AR" sz="1400" i="1">
                                      <a:solidFill>
                                        <a:srgbClr val="836967"/>
                                      </a:solidFill>
                                      <a:latin typeface="Cambria Math" panose="02040503050406030204" pitchFamily="18" charset="0"/>
                                    </a:rPr>
                                  </m:ctrlPr>
                                </m:sSubSupPr>
                                <m:e>
                                  <m:r>
                                    <m:rPr>
                                      <m:sty m:val="p"/>
                                    </m:rPr>
                                    <a:rPr lang="es-AR" sz="1400" i="0">
                                      <a:latin typeface="Cambria Math" panose="02040503050406030204" pitchFamily="18" charset="0"/>
                                    </a:rPr>
                                    <m:t>T</m:t>
                                  </m:r>
                                </m:e>
                                <m:sub>
                                  <m:r>
                                    <m:rPr>
                                      <m:sty m:val="p"/>
                                    </m:rPr>
                                    <a:rPr lang="es-AR" sz="1400" i="0">
                                      <a:latin typeface="Cambria Math" panose="02040503050406030204" pitchFamily="18" charset="0"/>
                                    </a:rPr>
                                    <m:t>s</m:t>
                                  </m:r>
                                </m:sub>
                                <m:sup>
                                  <m:r>
                                    <a:rPr lang="es-AR" sz="1400" i="0">
                                      <a:latin typeface="Cambria Math" panose="02040503050406030204" pitchFamily="18" charset="0"/>
                                    </a:rPr>
                                    <m:t>∘</m:t>
                                  </m:r>
                                </m:sup>
                              </m:sSubSup>
                            </m:e>
                          </m:d>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J</m:t>
                              </m:r>
                            </m:e>
                            <m:sub>
                              <m:r>
                                <m:rPr>
                                  <m:sty m:val="p"/>
                                </m:rPr>
                                <a:rPr lang="es-AR" sz="1400" i="0">
                                  <a:latin typeface="Cambria Math" panose="02040503050406030204" pitchFamily="18" charset="0"/>
                                </a:rPr>
                                <m:t>eq</m:t>
                              </m:r>
                            </m:sub>
                          </m:sSub>
                        </m:num>
                        <m:den>
                          <m:r>
                            <a:rPr lang="es-AR" sz="1400" i="0">
                              <a:latin typeface="Cambria Math" panose="02040503050406030204" pitchFamily="18" charset="0"/>
                            </a:rPr>
                            <m:t>2 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J</m:t>
                              </m:r>
                            </m:e>
                            <m:sub>
                              <m:r>
                                <m:rPr>
                                  <m:sty m:val="p"/>
                                </m:rPr>
                                <a:rPr lang="es-AR" sz="1400" i="0">
                                  <a:latin typeface="Cambria Math" panose="02040503050406030204" pitchFamily="18" charset="0"/>
                                </a:rPr>
                                <m:t>eq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L</m:t>
                              </m:r>
                            </m:e>
                            <m:sub>
                              <m:r>
                                <m:rPr>
                                  <m:sty m:val="p"/>
                                </m:rPr>
                                <a:rPr lang="es-AR" sz="1400" i="0">
                                  <a:latin typeface="Cambria Math" panose="02040503050406030204" pitchFamily="18" charset="0"/>
                                </a:rPr>
                                <m:t>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ω</m:t>
                              </m:r>
                            </m:e>
                            <m:sub>
                              <m:r>
                                <m:rPr>
                                  <m:sty m:val="p"/>
                                </m:rPr>
                                <a:rPr lang="es-AR" sz="1400" i="0">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63593" y="1557479"/>
                <a:ext cx="6143346" cy="581057"/>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35126" y="1347892"/>
                <a:ext cx="6829153"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num>
                                      <m:den>
                                        <m:r>
                                          <a:rPr lang="es-AR" sz="1400" i="1">
                                            <a:latin typeface="Cambria Math" panose="02040503050406030204" pitchFamily="18" charset="0"/>
                                          </a:rPr>
                                          <m:t>𝑟</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35126" y="1347892"/>
                <a:ext cx="6829153"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4942883"/>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11481" y="5017554"/>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11481" y="5017554"/>
                <a:ext cx="11155680" cy="492443"/>
              </a:xfrm>
              <a:prstGeom prst="rect">
                <a:avLst/>
              </a:prstGeom>
              <a:blipFill>
                <a:blip r:embed="rId3"/>
                <a:stretch>
                  <a:fillRect l="-109"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145364"/>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145364"/>
                <a:ext cx="11430000" cy="523861"/>
              </a:xfrm>
              <a:prstGeom prst="rect">
                <a:avLst/>
              </a:prstGeom>
              <a:blipFill>
                <a:blip r:embed="rId4"/>
                <a:stretch>
                  <a:fillRect l="-160" t="-2326" b="-10465"/>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691194"/>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320484" y="3698220"/>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320484" y="3698220"/>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59775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621792"/>
          </a:xfrm>
          <a:prstGeom prst="rect">
            <a:avLst/>
          </a:prstGeom>
          <a:noFill/>
        </p:spPr>
        <p:txBody>
          <a:bodyPr wrap="square">
            <a:spAutoFit/>
          </a:bodyPr>
          <a:lstStyle/>
          <a:p>
            <a:pPr algn="l"/>
            <a:r>
              <a:rPr sz="1400" b="0" i="0" dirty="0" err="1">
                <a:solidFill>
                  <a:srgbClr val="1A1A2E"/>
                </a:solidFill>
                <a:latin typeface="Calibri"/>
              </a:rPr>
              <a:t>Criterio</a:t>
            </a:r>
            <a:r>
              <a:rPr sz="1400" b="0" i="0" dirty="0">
                <a:solidFill>
                  <a:srgbClr val="1A1A2E"/>
                </a:solidFill>
                <a:latin typeface="Calibri"/>
              </a:rPr>
              <a:t> de Kalman: un </a:t>
            </a:r>
            <a:r>
              <a:rPr sz="1400" b="0" i="0" dirty="0" err="1">
                <a:solidFill>
                  <a:srgbClr val="1A1A2E"/>
                </a:solidFill>
                <a:latin typeface="Calibri"/>
              </a:rPr>
              <a:t>sistema</a:t>
            </a:r>
            <a:r>
              <a:rPr sz="1400" b="0" i="0" dirty="0">
                <a:solidFill>
                  <a:srgbClr val="1A1A2E"/>
                </a:solidFill>
                <a:latin typeface="Calibri"/>
              </a:rPr>
              <a:t> LTI de </a:t>
            </a:r>
            <a:r>
              <a:rPr sz="1400" b="0" i="0" dirty="0" err="1">
                <a:solidFill>
                  <a:srgbClr val="1A1A2E"/>
                </a:solidFill>
                <a:latin typeface="Calibri"/>
              </a:rPr>
              <a:t>orden</a:t>
            </a:r>
            <a:r>
              <a:rPr sz="1400" b="0" i="0" dirty="0">
                <a:solidFill>
                  <a:srgbClr val="1A1A2E"/>
                </a:solidFill>
                <a:latin typeface="Calibri"/>
              </a:rPr>
              <a:t> n con p entradas es </a:t>
            </a:r>
            <a:r>
              <a:rPr sz="1400" b="0" i="0" dirty="0" err="1">
                <a:solidFill>
                  <a:srgbClr val="1A1A2E"/>
                </a:solidFill>
                <a:latin typeface="Calibri"/>
              </a:rPr>
              <a:t>completamente</a:t>
            </a:r>
            <a:r>
              <a:rPr sz="1400" b="0" i="0" dirty="0">
                <a:solidFill>
                  <a:srgbClr val="1A1A2E"/>
                </a:solidFill>
                <a:latin typeface="Calibri"/>
              </a:rPr>
              <a:t> </a:t>
            </a:r>
            <a:r>
              <a:rPr sz="1400" b="0" i="0" dirty="0" err="1">
                <a:solidFill>
                  <a:srgbClr val="1A1A2E"/>
                </a:solidFill>
                <a:latin typeface="Calibri"/>
              </a:rPr>
              <a:t>controlable</a:t>
            </a:r>
            <a:r>
              <a:rPr sz="1400" b="0" i="0" dirty="0">
                <a:solidFill>
                  <a:srgbClr val="1A1A2E"/>
                </a:solidFill>
                <a:latin typeface="Calibri"/>
              </a:rPr>
              <a:t> </a:t>
            </a:r>
            <a:r>
              <a:rPr sz="1400" b="0" i="0" dirty="0" err="1">
                <a:solidFill>
                  <a:srgbClr val="1A1A2E"/>
                </a:solidFill>
                <a:latin typeface="Calibri"/>
              </a:rPr>
              <a:t>si</a:t>
            </a:r>
            <a:r>
              <a:rPr sz="1400" b="0" i="0" dirty="0">
                <a:solidFill>
                  <a:srgbClr val="1A1A2E"/>
                </a:solidFill>
                <a:latin typeface="Calibri"/>
              </a:rPr>
              <a:t> </a:t>
            </a:r>
            <a:r>
              <a:rPr sz="1400" b="0" i="0" dirty="0" err="1">
                <a:solidFill>
                  <a:srgbClr val="1A1A2E"/>
                </a:solidFill>
                <a:latin typeface="Calibri"/>
              </a:rPr>
              <a:t>el</a:t>
            </a:r>
            <a:r>
              <a:rPr sz="1400" b="0" i="0" dirty="0">
                <a:solidFill>
                  <a:srgbClr val="1A1A2E"/>
                </a:solidFill>
                <a:latin typeface="Calibri"/>
              </a:rPr>
              <a:t> </a:t>
            </a:r>
            <a:r>
              <a:rPr sz="1400" b="0" i="0" dirty="0" err="1">
                <a:solidFill>
                  <a:srgbClr val="1A1A2E"/>
                </a:solidFill>
                <a:latin typeface="Calibri"/>
              </a:rPr>
              <a:t>rango</a:t>
            </a:r>
            <a:r>
              <a:rPr sz="1400" b="0" i="0" dirty="0">
                <a:solidFill>
                  <a:srgbClr val="1A1A2E"/>
                </a:solidFill>
                <a:latin typeface="Calibri"/>
              </a:rPr>
              <a:t> de la </a:t>
            </a:r>
            <a:r>
              <a:rPr sz="1400" b="0" i="0" dirty="0" err="1">
                <a:solidFill>
                  <a:srgbClr val="1A1A2E"/>
                </a:solidFill>
                <a:latin typeface="Calibri"/>
              </a:rPr>
              <a:t>matriz</a:t>
            </a:r>
            <a:r>
              <a:rPr sz="1400" b="0" i="0" dirty="0">
                <a:solidFill>
                  <a:srgbClr val="1A1A2E"/>
                </a:solidFill>
                <a:latin typeface="Calibri"/>
              </a:rPr>
              <a:t> de </a:t>
            </a:r>
            <a:r>
              <a:rPr sz="1400" b="0" i="0" dirty="0" err="1">
                <a:solidFill>
                  <a:srgbClr val="1A1A2E"/>
                </a:solidFill>
                <a:latin typeface="Calibri"/>
              </a:rPr>
              <a:t>controlabilidad</a:t>
            </a:r>
            <a:r>
              <a:rPr sz="1400" b="0" i="0" dirty="0">
                <a:solidFill>
                  <a:srgbClr val="1A1A2E"/>
                </a:solidFill>
                <a:latin typeface="Calibri"/>
              </a:rPr>
              <a:t>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320040" y="1195976"/>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num>
                                      <m:den>
                                        <m:r>
                                          <a:rPr lang="es-AR" sz="1400" i="1">
                                            <a:latin typeface="Cambria Math" panose="02040503050406030204" pitchFamily="18" charset="0"/>
                                          </a:rPr>
                                          <m:t>𝑟</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320040" y="1195976"/>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29212"/>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29212"/>
                <a:ext cx="11672359" cy="560346"/>
              </a:xfrm>
              <a:prstGeom prst="rect">
                <a:avLst/>
              </a:prstGeom>
              <a:blipFill>
                <a:blip r:embed="rId3"/>
                <a:stretch>
                  <a:fillRect l="-157" r="-157" b="-978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1068310" y="3609548"/>
                <a:ext cx="7496270" cy="17593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1068310" y="3609548"/>
                <a:ext cx="7496270" cy="175939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473371"/>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473371"/>
                <a:ext cx="11672360" cy="790858"/>
              </a:xfrm>
              <a:prstGeom prst="rect">
                <a:avLst/>
              </a:prstGeom>
              <a:blipFill>
                <a:blip r:embed="rId5"/>
                <a:stretch>
                  <a:fillRect l="-157" r="-157" b="-6923"/>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759521"/>
              </a:xfrm>
              <a:prstGeom prst="rect">
                <a:avLst/>
              </a:prstGeom>
              <a:noFill/>
            </p:spPr>
            <p:txBody>
              <a:bodyPr wrap="square">
                <a:spAutoFit/>
              </a:bodyPr>
              <a:lstStyle/>
              <a:p>
                <a:pPr algn="just">
                  <a:spcBef>
                    <a:spcPts val="400"/>
                  </a:spcBef>
                  <a:spcAft>
                    <a:spcPts val="400"/>
                  </a:spcAft>
                </a:pPr>
                <a:r>
                  <a:rPr lang="es-AR" b="1" dirty="0">
                    <a:effectLst/>
                    <a:latin typeface="Calibri" panose="020F0502020204030204" pitchFamily="34" charset="0"/>
                    <a:ea typeface="Times New Roman" panose="02020603050405020304" pitchFamily="18" charset="0"/>
                  </a:rPr>
                  <a:t>Interpretación física:</a:t>
                </a:r>
                <a:endParaRPr lang="es-AR"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𝑣</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(Ec. 16). Para controlarla se necesita actuar sobre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𝑣</m:t>
                        </m:r>
                      </m:e>
                      <m:sub>
                        <m:r>
                          <a:rPr lang="es-AR" i="1">
                            <a:solidFill>
                              <a:schemeClr val="tx1"/>
                            </a:solidFill>
                            <a:effectLst/>
                            <a:latin typeface="Cambria Math" panose="02040503050406030204" pitchFamily="18" charset="0"/>
                            <a:ea typeface="Times New Roman" panose="02020603050405020304" pitchFamily="18" charset="0"/>
                          </a:rPr>
                          <m:t>𝑑𝑠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  </a:t>
                </a:r>
                <a:endParaRPr lang="es-AR"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𝑇</m:t>
                        </m:r>
                      </m:e>
                      <m:sub>
                        <m:r>
                          <a:rPr lang="es-AR" i="1">
                            <a:solidFill>
                              <a:schemeClr val="tx1"/>
                            </a:solidFill>
                            <a:effectLst/>
                            <a:latin typeface="Cambria Math" panose="02040503050406030204" pitchFamily="18" charset="0"/>
                            <a:ea typeface="Times New Roman" panose="02020603050405020304" pitchFamily="18" charset="0"/>
                          </a:rPr>
                          <m:t>𝑠</m:t>
                        </m:r>
                      </m:sub>
                      <m:sup>
                        <m:r>
                          <a:rPr lang="es-AR" i="1">
                            <a:solidFill>
                              <a:schemeClr val="tx1"/>
                            </a:solidFill>
                            <a:effectLst/>
                            <a:latin typeface="Cambria Math" panose="02040503050406030204" pitchFamily="18" charset="0"/>
                            <a:ea typeface="Times New Roman" panose="02020603050405020304" pitchFamily="18" charset="0"/>
                          </a:rPr>
                          <m:t>∘</m:t>
                        </m:r>
                      </m:sup>
                    </m:sSubSup>
                  </m:oMath>
                </a14:m>
                <a:r>
                  <a:rPr lang="es-AR"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𝑖</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r>
                          <a:rPr lang="es-AR" i="1">
                            <a:solidFill>
                              <a:schemeClr val="tx1"/>
                            </a:solidFill>
                            <a:effectLst/>
                            <a:latin typeface="Cambria Math" panose="02040503050406030204" pitchFamily="18" charset="0"/>
                            <a:ea typeface="Times New Roman" panose="02020603050405020304" pitchFamily="18" charset="0"/>
                          </a:rPr>
                          <m:t> </m:t>
                        </m:r>
                        <m:r>
                          <a:rPr lang="es-AR" i="1">
                            <a:solidFill>
                              <a:schemeClr val="tx1"/>
                            </a:solidFill>
                            <a:effectLst/>
                            <a:latin typeface="Cambria Math" panose="02040503050406030204" pitchFamily="18" charset="0"/>
                            <a:ea typeface="Times New Roman" panose="02020603050405020304" pitchFamily="18" charset="0"/>
                          </a:rPr>
                          <m:t>2</m:t>
                        </m:r>
                      </m:sup>
                    </m:sSubSup>
                    <m:r>
                      <a:rPr lang="es-AR" i="1">
                        <a:solidFill>
                          <a:schemeClr val="tx1"/>
                        </a:solidFill>
                        <a:effectLst/>
                        <a:latin typeface="Cambria Math" panose="02040503050406030204" pitchFamily="18" charset="0"/>
                        <a:ea typeface="Times New Roman" panose="02020603050405020304" pitchFamily="18" charset="0"/>
                      </a:rPr>
                      <m:t>+</m:t>
                    </m:r>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𝑖</m:t>
                        </m:r>
                      </m:e>
                      <m:sub>
                        <m:r>
                          <a:rPr lang="es-AR" i="1">
                            <a:solidFill>
                              <a:schemeClr val="tx1"/>
                            </a:solidFill>
                            <a:effectLst/>
                            <a:latin typeface="Cambria Math" panose="02040503050406030204" pitchFamily="18" charset="0"/>
                            <a:ea typeface="Times New Roman" panose="02020603050405020304" pitchFamily="18" charset="0"/>
                          </a:rPr>
                          <m:t>𝑑𝑠</m:t>
                        </m:r>
                      </m:sub>
                      <m:sup>
                        <m:r>
                          <a:rPr lang="es-AR" i="1">
                            <a:solidFill>
                              <a:schemeClr val="tx1"/>
                            </a:solidFill>
                            <a:effectLst/>
                            <a:latin typeface="Cambria Math" panose="02040503050406030204" pitchFamily="18" charset="0"/>
                            <a:ea typeface="Times New Roman" panose="02020603050405020304" pitchFamily="18" charset="0"/>
                          </a:rPr>
                          <m:t>𝑟</m:t>
                        </m:r>
                        <m:r>
                          <a:rPr lang="es-AR" i="1">
                            <a:solidFill>
                              <a:schemeClr val="tx1"/>
                            </a:solidFill>
                            <a:effectLst/>
                            <a:latin typeface="Cambria Math" panose="02040503050406030204" pitchFamily="18" charset="0"/>
                            <a:ea typeface="Times New Roman" panose="02020603050405020304" pitchFamily="18" charset="0"/>
                          </a:rPr>
                          <m:t> </m:t>
                        </m:r>
                        <m:r>
                          <a:rPr lang="es-AR" i="1">
                            <a:solidFill>
                              <a:schemeClr val="tx1"/>
                            </a:solidFill>
                            <a:effectLst/>
                            <a:latin typeface="Cambria Math" panose="02040503050406030204" pitchFamily="18" charset="0"/>
                            <a:ea typeface="Times New Roman" panose="02020603050405020304" pitchFamily="18" charset="0"/>
                          </a:rPr>
                          <m:t>2</m:t>
                        </m:r>
                      </m:sup>
                    </m:sSubSup>
                  </m:oMath>
                </a14:m>
                <a:r>
                  <a:rPr lang="es-AR" dirty="0">
                    <a:solidFill>
                      <a:schemeClr val="tx1"/>
                    </a:solidFill>
                    <a:effectLst/>
                    <a:latin typeface="Calibri" panose="020F0502020204030204" pitchFamily="34" charset="0"/>
                    <a:ea typeface="Times New Roman" panose="02020603050405020304" pitchFamily="18" charset="0"/>
                  </a:rPr>
                  <a:t> (Ec. 19). Aunque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𝑣</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𝑇</m:t>
                        </m:r>
                      </m:e>
                      <m:sub>
                        <m:r>
                          <a:rPr lang="es-AR" i="1">
                            <a:solidFill>
                              <a:schemeClr val="tx1"/>
                            </a:solidFill>
                            <a:effectLst/>
                            <a:latin typeface="Cambria Math" panose="02040503050406030204" pitchFamily="18" charset="0"/>
                            <a:ea typeface="Times New Roman" panose="02020603050405020304" pitchFamily="18" charset="0"/>
                          </a:rPr>
                          <m:t>𝑠</m:t>
                        </m:r>
                      </m:sub>
                      <m:sup>
                        <m:r>
                          <a:rPr lang="es-AR" i="1">
                            <a:solidFill>
                              <a:schemeClr val="tx1"/>
                            </a:solidFill>
                            <a:effectLst/>
                            <a:latin typeface="Cambria Math" panose="02040503050406030204" pitchFamily="18" charset="0"/>
                            <a:ea typeface="Times New Roman" panose="02020603050405020304" pitchFamily="18" charset="0"/>
                          </a:rPr>
                          <m:t>∘</m:t>
                        </m:r>
                      </m:sup>
                    </m:sSubSup>
                  </m:oMath>
                </a14:m>
                <a:r>
                  <a:rPr lang="es-AR"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𝑖</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a:t>
                </a:r>
                <a:r>
                  <a:rPr lang="es-AR"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𝑇</m:t>
                        </m:r>
                      </m:e>
                      <m:sub>
                        <m:r>
                          <a:rPr lang="es-AR" i="1">
                            <a:solidFill>
                              <a:schemeClr val="tx1"/>
                            </a:solidFill>
                            <a:effectLst/>
                            <a:latin typeface="Cambria Math" panose="02040503050406030204" pitchFamily="18" charset="0"/>
                            <a:ea typeface="Times New Roman" panose="02020603050405020304" pitchFamily="18" charset="0"/>
                          </a:rPr>
                          <m:t>𝑠</m:t>
                        </m:r>
                      </m:sub>
                      <m:sup>
                        <m:r>
                          <a:rPr lang="es-AR" i="1">
                            <a:solidFill>
                              <a:schemeClr val="tx1"/>
                            </a:solidFill>
                            <a:effectLst/>
                            <a:latin typeface="Cambria Math" panose="02040503050406030204" pitchFamily="18" charset="0"/>
                            <a:ea typeface="Times New Roman" panose="02020603050405020304" pitchFamily="18" charset="0"/>
                          </a:rPr>
                          <m:t>∘</m:t>
                        </m:r>
                      </m:sup>
                    </m:sSubSup>
                  </m:oMath>
                </a14:m>
                <a:r>
                  <a:rPr lang="es-AR" dirty="0">
                    <a:solidFill>
                      <a:schemeClr val="tx1"/>
                    </a:solidFill>
                    <a:effectLst/>
                    <a:latin typeface="Calibri" panose="020F0502020204030204" pitchFamily="34" charset="0"/>
                    <a:ea typeface="Times New Roman" panose="02020603050405020304" pitchFamily="18" charset="0"/>
                  </a:rPr>
                  <a:t>​</a:t>
                </a:r>
                <a:r>
                  <a:rPr lang="es-AR" b="1" dirty="0">
                    <a:solidFill>
                      <a:schemeClr val="tx1"/>
                    </a:solidFill>
                    <a:effectLst/>
                    <a:latin typeface="Calibri" panose="020F0502020204030204" pitchFamily="34" charset="0"/>
                    <a:ea typeface="Times New Roman" panose="02020603050405020304" pitchFamily="18" charset="0"/>
                  </a:rPr>
                  <a:t> a un valor arbitrario </a:t>
                </a:r>
                <a:r>
                  <a:rPr lang="es-AR"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759521"/>
              </a:xfrm>
              <a:prstGeom prst="rect">
                <a:avLst/>
              </a:prstGeom>
              <a:blipFill>
                <a:blip r:embed="rId2"/>
                <a:stretch>
                  <a:fillRect l="-503" t="-2083" r="-447" b="-4861"/>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Simulación del modelo NL · 4 cuadrantes · LTI vs NL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2"/>
                <a:stretch>
                  <a:fillRect l="-161" t="-694" b="-4167"/>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C4E0C6ED-563E-49AB-8131-0DE0A9CB5BCD}"/>
              </a:ext>
            </a:extLst>
          </p:cNvPr>
          <p:cNvPicPr/>
          <p:nvPr/>
        </p:nvPicPr>
        <p:blipFill>
          <a:blip r:embed="rId3">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7" name="Rectangle 6"/>
          <p:cNvSpPr/>
          <p:nvPr/>
        </p:nvSpPr>
        <p:spPr>
          <a:xfrm>
            <a:off x="3657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783080"/>
            <a:ext cx="3474720" cy="548640"/>
          </a:xfrm>
          <a:prstGeom prst="rect">
            <a:avLst/>
          </a:prstGeom>
          <a:noFill/>
        </p:spPr>
        <p:txBody>
          <a:bodyPr wrap="square">
            <a:spAutoFit/>
          </a:bodyPr>
          <a:lstStyle/>
          <a:p>
            <a:pPr algn="ctr"/>
            <a:r>
              <a:rPr sz="1100" b="1">
                <a:solidFill>
                  <a:srgbClr val="C35A00"/>
                </a:solidFill>
                <a:latin typeface="Calibri"/>
              </a:rPr>
              <a:t>🖼  FIGURA: Figuras 16-17 — Tensiones vqd0^r y vabc(t)</a:t>
            </a:r>
          </a:p>
        </p:txBody>
      </p:sp>
      <p:sp>
        <p:nvSpPr>
          <p:cNvPr id="9" name="TextBox 8"/>
          <p:cNvSpPr txBox="1"/>
          <p:nvPr/>
        </p:nvSpPr>
        <p:spPr>
          <a:xfrm>
            <a:off x="4572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42519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1783080"/>
            <a:ext cx="3474720" cy="548640"/>
          </a:xfrm>
          <a:prstGeom prst="rect">
            <a:avLst/>
          </a:prstGeom>
          <a:noFill/>
        </p:spPr>
        <p:txBody>
          <a:bodyPr wrap="square">
            <a:spAutoFit/>
          </a:bodyPr>
          <a:lstStyle/>
          <a:p>
            <a:pPr algn="ctr"/>
            <a:r>
              <a:rPr sz="1100" b="1" dirty="0">
                <a:solidFill>
                  <a:srgbClr val="C35A00"/>
                </a:solidFill>
                <a:latin typeface="Calibri"/>
              </a:rPr>
              <a:t>🖼  FIGURA: </a:t>
            </a:r>
            <a:r>
              <a:rPr sz="1100" b="1" dirty="0" err="1">
                <a:solidFill>
                  <a:srgbClr val="C35A00"/>
                </a:solidFill>
                <a:latin typeface="Calibri"/>
              </a:rPr>
              <a:t>Figuras</a:t>
            </a:r>
            <a:r>
              <a:rPr sz="1100" b="1" dirty="0">
                <a:solidFill>
                  <a:srgbClr val="C35A00"/>
                </a:solidFill>
                <a:latin typeface="Calibri"/>
              </a:rPr>
              <a:t> 18-19 — Corrientes iqd0^r e </a:t>
            </a:r>
            <a:r>
              <a:rPr sz="1100" b="1" dirty="0" err="1">
                <a:solidFill>
                  <a:srgbClr val="C35A00"/>
                </a:solidFill>
                <a:latin typeface="Calibri"/>
              </a:rPr>
              <a:t>iabc</a:t>
            </a:r>
            <a:r>
              <a:rPr sz="1100" b="1" dirty="0">
                <a:solidFill>
                  <a:srgbClr val="C35A00"/>
                </a:solidFill>
                <a:latin typeface="Calibri"/>
              </a:rPr>
              <a:t>(t)</a:t>
            </a:r>
          </a:p>
        </p:txBody>
      </p:sp>
      <p:sp>
        <p:nvSpPr>
          <p:cNvPr id="12" name="TextBox 11"/>
          <p:cNvSpPr txBox="1"/>
          <p:nvPr/>
        </p:nvSpPr>
        <p:spPr>
          <a:xfrm>
            <a:off x="43434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Rectangle 12"/>
          <p:cNvSpPr/>
          <p:nvPr/>
        </p:nvSpPr>
        <p:spPr>
          <a:xfrm>
            <a:off x="81381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783080"/>
            <a:ext cx="3474720" cy="548640"/>
          </a:xfrm>
          <a:prstGeom prst="rect">
            <a:avLst/>
          </a:prstGeom>
          <a:noFill/>
        </p:spPr>
        <p:txBody>
          <a:bodyPr wrap="square">
            <a:spAutoFit/>
          </a:bodyPr>
          <a:lstStyle/>
          <a:p>
            <a:pPr algn="ctr"/>
            <a:r>
              <a:rPr sz="1100" b="1">
                <a:solidFill>
                  <a:srgbClr val="C35A00"/>
                </a:solidFill>
                <a:latin typeface="Calibri"/>
              </a:rPr>
              <a:t>🖼  FIGURA: Figura 20 — Temperatura Ts°(t)</a:t>
            </a:r>
          </a:p>
        </p:txBody>
      </p:sp>
      <p:sp>
        <p:nvSpPr>
          <p:cNvPr id="15" name="TextBox 14"/>
          <p:cNvSpPr txBox="1"/>
          <p:nvPr/>
        </p:nvSpPr>
        <p:spPr>
          <a:xfrm>
            <a:off x="82296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2"/>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3"/>
          <a:stretch>
            <a:fillRect/>
          </a:stretch>
        </p:blipFill>
        <p:spPr>
          <a:xfrm>
            <a:off x="4209973" y="692533"/>
            <a:ext cx="3742379" cy="2759327"/>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5"/>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6"/>
          <a:srcRect r="4768" b="9471"/>
          <a:stretch/>
        </p:blipFill>
        <p:spPr>
          <a:xfrm>
            <a:off x="4209973" y="3517623"/>
            <a:ext cx="4060741" cy="284360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pic>
        <p:nvPicPr>
          <p:cNvPr id="15" name="Imagen 14">
            <a:extLst>
              <a:ext uri="{FF2B5EF4-FFF2-40B4-BE49-F238E27FC236}">
                <a16:creationId xmlns:a16="http://schemas.microsoft.com/office/drawing/2014/main" id="{0A4402D5-71DC-4F8E-8186-C69EECD7BEBD}"/>
              </a:ext>
            </a:extLst>
          </p:cNvPr>
          <p:cNvPicPr>
            <a:picLocks noChangeAspect="1"/>
          </p:cNvPicPr>
          <p:nvPr/>
        </p:nvPicPr>
        <p:blipFill>
          <a:blip r:embed="rId2"/>
          <a:stretch>
            <a:fillRect/>
          </a:stretch>
        </p:blipFill>
        <p:spPr>
          <a:xfrm>
            <a:off x="-1" y="658368"/>
            <a:ext cx="6312023" cy="4757054"/>
          </a:xfrm>
          <a:prstGeom prst="rect">
            <a:avLst/>
          </a:prstGeom>
        </p:spPr>
      </p:pic>
      <p:pic>
        <p:nvPicPr>
          <p:cNvPr id="17" name="Imagen 16">
            <a:extLst>
              <a:ext uri="{FF2B5EF4-FFF2-40B4-BE49-F238E27FC236}">
                <a16:creationId xmlns:a16="http://schemas.microsoft.com/office/drawing/2014/main" id="{FEC60C37-66A5-4CF6-A1EB-4E49A908F589}"/>
              </a:ext>
            </a:extLst>
          </p:cNvPr>
          <p:cNvPicPr>
            <a:picLocks noChangeAspect="1"/>
          </p:cNvPicPr>
          <p:nvPr/>
        </p:nvPicPr>
        <p:blipFill>
          <a:blip r:embed="rId3"/>
          <a:stretch>
            <a:fillRect/>
          </a:stretch>
        </p:blipFill>
        <p:spPr>
          <a:xfrm>
            <a:off x="5872243" y="658367"/>
            <a:ext cx="6319758" cy="4757054"/>
          </a:xfrm>
          <a:prstGeom prst="rect">
            <a:avLst/>
          </a:prstGeom>
        </p:spPr>
      </p:pic>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pic>
        <p:nvPicPr>
          <p:cNvPr id="9" name="Imagen 8">
            <a:extLst>
              <a:ext uri="{FF2B5EF4-FFF2-40B4-BE49-F238E27FC236}">
                <a16:creationId xmlns:a16="http://schemas.microsoft.com/office/drawing/2014/main" id="{5A9CC299-DB2E-4EA5-AC56-56D9FFCA2E37}"/>
              </a:ext>
            </a:extLst>
          </p:cNvPr>
          <p:cNvPicPr>
            <a:picLocks noChangeAspect="1"/>
          </p:cNvPicPr>
          <p:nvPr/>
        </p:nvPicPr>
        <p:blipFill>
          <a:blip r:embed="rId2"/>
          <a:stretch>
            <a:fillRect/>
          </a:stretch>
        </p:blipFill>
        <p:spPr>
          <a:xfrm>
            <a:off x="-1" y="658368"/>
            <a:ext cx="6070222" cy="4623846"/>
          </a:xfrm>
          <a:prstGeom prst="rect">
            <a:avLst/>
          </a:prstGeom>
        </p:spPr>
      </p:pic>
      <p:pic>
        <p:nvPicPr>
          <p:cNvPr id="8" name="Imagen 7">
            <a:extLst>
              <a:ext uri="{FF2B5EF4-FFF2-40B4-BE49-F238E27FC236}">
                <a16:creationId xmlns:a16="http://schemas.microsoft.com/office/drawing/2014/main" id="{38CDA7E1-D4C3-407A-BBAA-BC621CE06E1E}"/>
              </a:ext>
            </a:extLst>
          </p:cNvPr>
          <p:cNvPicPr>
            <a:picLocks noChangeAspect="1"/>
          </p:cNvPicPr>
          <p:nvPr/>
        </p:nvPicPr>
        <p:blipFill>
          <a:blip r:embed="rId3"/>
          <a:stretch>
            <a:fillRect/>
          </a:stretch>
        </p:blipFill>
        <p:spPr>
          <a:xfrm>
            <a:off x="6048903" y="658367"/>
            <a:ext cx="6142792" cy="4623847"/>
          </a:xfrm>
          <a:prstGeom prst="rect">
            <a:avLst/>
          </a:prstGeom>
        </p:spPr>
      </p:pic>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spTree>
    <p:extLst>
      <p:ext uri="{BB962C8B-B14F-4D97-AF65-F5344CB8AC3E}">
        <p14:creationId xmlns:p14="http://schemas.microsoft.com/office/powerpoint/2010/main" val="97162099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110799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En régimen permanente el modelo LTI es una buena aproximación</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27140"/>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27140"/>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11430000" cy="104355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38527"/>
          </a:xfrm>
          <a:prstGeom prst="rect">
            <a:avLst/>
          </a:prstGeom>
          <a:noFill/>
        </p:spPr>
        <p:txBody>
          <a:bodyPr wrap="square">
            <a:spAutoFit/>
          </a:bodyPr>
          <a:lstStyle/>
          <a:p>
            <a:pPr algn="ctr"/>
            <a:r>
              <a:rPr sz="9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38527"/>
          </a:xfrm>
          <a:prstGeom prst="rect">
            <a:avLst/>
          </a:prstGeom>
          <a:noFill/>
        </p:spPr>
        <p:txBody>
          <a:bodyPr wrap="square">
            <a:spAutoFit/>
          </a:bodyPr>
          <a:lstStyle/>
          <a:p>
            <a:pPr algn="ctr"/>
            <a:r>
              <a:rPr sz="9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mc:AlternateContent xmlns:mc="http://schemas.openxmlformats.org/markup-compatibility/2006">
        <mc:Choice xmlns:a14="http://schemas.microsoft.com/office/drawing/2010/main"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27699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200" i="1" smtClean="0">
                              <a:solidFill>
                                <a:schemeClr val="bg1"/>
                              </a:solidFill>
                              <a:latin typeface="Cambria Math" panose="02040503050406030204" pitchFamily="18" charset="0"/>
                              <a:ea typeface="Calibri" pitchFamily="34" charset="-122"/>
                              <a:cs typeface="Calibri" pitchFamily="34" charset="-120"/>
                            </a:rPr>
                          </m:ctrlPr>
                        </m:sSubPr>
                        <m:e>
                          <m:r>
                            <a:rPr lang="es-AR" sz="1200" i="1">
                              <a:solidFill>
                                <a:schemeClr val="bg1"/>
                              </a:solidFill>
                              <a:latin typeface="Cambria Math" panose="02040503050406030204" pitchFamily="18" charset="0"/>
                              <a:ea typeface="Calibri" pitchFamily="34" charset="-122"/>
                              <a:cs typeface="Calibri" pitchFamily="34" charset="-120"/>
                            </a:rPr>
                            <m:t>𝜔</m:t>
                          </m:r>
                        </m:e>
                        <m:sub>
                          <m:r>
                            <a:rPr lang="es-AR" sz="1200" i="1">
                              <a:solidFill>
                                <a:schemeClr val="bg1"/>
                              </a:solidFill>
                              <a:latin typeface="Cambria Math" panose="02040503050406030204" pitchFamily="18" charset="0"/>
                              <a:ea typeface="Calibri" pitchFamily="34" charset="-122"/>
                              <a:cs typeface="Calibri" pitchFamily="34" charset="-120"/>
                            </a:rPr>
                            <m:t>𝑚</m:t>
                          </m:r>
                        </m:sub>
                      </m:sSub>
                    </m:oMath>
                  </m:oMathPara>
                </a14:m>
                <a:endParaRPr sz="950" b="1" dirty="0">
                  <a:solidFill>
                    <a:schemeClr val="bg1"/>
                  </a:solidFill>
                  <a:latin typeface="Calibri"/>
                </a:endParaRPr>
              </a:p>
            </p:txBody>
          </p:sp>
        </mc:Choice>
        <mc:Fallback>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276999"/>
              </a:xfrm>
              <a:prstGeom prst="rect">
                <a:avLst/>
              </a:prstGeom>
              <a:blipFill>
                <a:blip r:embed="rId2"/>
                <a:stretch>
                  <a:fillRect/>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mc:AlternateContent xmlns:mc="http://schemas.openxmlformats.org/markup-compatibility/2006">
        <mc:Choice xmlns:a14="http://schemas.microsoft.com/office/drawing/2010/main"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27699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200" i="1" smtClean="0">
                              <a:solidFill>
                                <a:schemeClr val="bg1"/>
                              </a:solidFill>
                              <a:latin typeface="Cambria Math" panose="02040503050406030204" pitchFamily="18" charset="0"/>
                              <a:ea typeface="Calibri" pitchFamily="34" charset="-122"/>
                              <a:cs typeface="Calibri" pitchFamily="34" charset="-120"/>
                            </a:rPr>
                          </m:ctrlPr>
                        </m:sSubPr>
                        <m:e>
                          <m:r>
                            <a:rPr lang="es-AR" sz="1200" i="1">
                              <a:solidFill>
                                <a:schemeClr val="bg1"/>
                              </a:solidFill>
                              <a:latin typeface="Cambria Math" panose="02040503050406030204" pitchFamily="18" charset="0"/>
                              <a:ea typeface="Calibri" pitchFamily="34" charset="-122"/>
                              <a:cs typeface="Calibri" pitchFamily="34" charset="-120"/>
                            </a:rPr>
                            <m:t>𝑇</m:t>
                          </m:r>
                        </m:e>
                        <m:sub>
                          <m:r>
                            <a:rPr lang="es-AR" sz="1200" i="1">
                              <a:solidFill>
                                <a:schemeClr val="bg1"/>
                              </a:solidFill>
                              <a:latin typeface="Cambria Math" panose="02040503050406030204" pitchFamily="18" charset="0"/>
                              <a:ea typeface="Calibri" pitchFamily="34" charset="-122"/>
                              <a:cs typeface="Calibri" pitchFamily="34" charset="-120"/>
                            </a:rPr>
                            <m:t>𝑚</m:t>
                          </m:r>
                        </m:sub>
                      </m:sSub>
                    </m:oMath>
                  </m:oMathPara>
                </a14:m>
                <a:endParaRPr sz="950" b="1" dirty="0">
                  <a:solidFill>
                    <a:schemeClr val="bg1"/>
                  </a:solidFill>
                  <a:latin typeface="Calibri"/>
                </a:endParaRPr>
              </a:p>
            </p:txBody>
          </p:sp>
        </mc:Choice>
        <mc:Fallback>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276999"/>
              </a:xfrm>
              <a:prstGeom prst="rect">
                <a:avLst/>
              </a:prstGeom>
              <a:blipFill>
                <a:blip r:embed="rId3"/>
                <a:stretch>
                  <a:fillRect/>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38527"/>
          </a:xfrm>
          <a:prstGeom prst="rect">
            <a:avLst/>
          </a:prstGeom>
          <a:noFill/>
        </p:spPr>
        <p:txBody>
          <a:bodyPr wrap="square">
            <a:spAutoFit/>
          </a:bodyPr>
          <a:lstStyle/>
          <a:p>
            <a:pPr algn="ctr"/>
            <a:r>
              <a:rPr sz="9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38527"/>
          </a:xfrm>
          <a:prstGeom prst="rect">
            <a:avLst/>
          </a:prstGeom>
          <a:noFill/>
        </p:spPr>
        <p:txBody>
          <a:bodyPr wrap="square">
            <a:spAutoFit/>
          </a:bodyPr>
          <a:lstStyle/>
          <a:p>
            <a:pPr algn="ctr"/>
            <a:r>
              <a:rPr sz="9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384721"/>
          </a:xfrm>
          <a:prstGeom prst="rect">
            <a:avLst/>
          </a:prstGeom>
          <a:noFill/>
        </p:spPr>
        <p:txBody>
          <a:bodyPr wrap="square">
            <a:spAutoFit/>
          </a:bodyPr>
          <a:lstStyle/>
          <a:p>
            <a:pPr algn="ctr"/>
            <a:r>
              <a:rPr sz="9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384721"/>
          </a:xfrm>
          <a:prstGeom prst="rect">
            <a:avLst/>
          </a:prstGeom>
          <a:noFill/>
        </p:spPr>
        <p:txBody>
          <a:bodyPr wrap="square">
            <a:spAutoFit/>
          </a:bodyPr>
          <a:lstStyle/>
          <a:p>
            <a:pPr algn="ctr"/>
            <a:r>
              <a:rPr sz="9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384721"/>
          </a:xfrm>
          <a:prstGeom prst="rect">
            <a:avLst/>
          </a:prstGeom>
          <a:noFill/>
        </p:spPr>
        <p:txBody>
          <a:bodyPr wrap="square">
            <a:spAutoFit/>
          </a:bodyPr>
          <a:lstStyle/>
          <a:p>
            <a:pPr algn="ctr"/>
            <a:r>
              <a:rPr sz="950" b="1">
                <a:solidFill>
                  <a:schemeClr val="bg1"/>
                </a:solidFill>
                <a:latin typeface="Calibri"/>
              </a:rPr>
              <a:t>ωm
[rad/s]</a:t>
            </a:r>
          </a:p>
        </p:txBody>
      </p:sp>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384721"/>
          </a:xfrm>
          <a:prstGeom prst="rect">
            <a:avLst/>
          </a:prstGeom>
          <a:noFill/>
        </p:spPr>
        <p:txBody>
          <a:bodyPr wrap="square">
            <a:spAutoFit/>
          </a:bodyPr>
          <a:lstStyle/>
          <a:p>
            <a:pPr algn="ctr"/>
            <a:r>
              <a:rPr sz="950" b="1">
                <a:solidFill>
                  <a:schemeClr val="bg1"/>
                </a:solidFill>
                <a:latin typeface="Calibri"/>
              </a:rPr>
              <a:t>Tm
[N·m]</a:t>
            </a:r>
          </a:p>
        </p:txBody>
      </p:sp>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38527"/>
          </a:xfrm>
          <a:prstGeom prst="rect">
            <a:avLst/>
          </a:prstGeom>
          <a:noFill/>
        </p:spPr>
        <p:txBody>
          <a:bodyPr wrap="square">
            <a:spAutoFit/>
          </a:bodyPr>
          <a:lstStyle/>
          <a:p>
            <a:pPr algn="ctr"/>
            <a:r>
              <a:rPr sz="9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38527"/>
          </a:xfrm>
          <a:prstGeom prst="rect">
            <a:avLst/>
          </a:prstGeom>
          <a:noFill/>
        </p:spPr>
        <p:txBody>
          <a:bodyPr wrap="square">
            <a:spAutoFit/>
          </a:bodyPr>
          <a:lstStyle/>
          <a:p>
            <a:pPr algn="ctr"/>
            <a:r>
              <a:rPr sz="9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38527"/>
          </a:xfrm>
          <a:prstGeom prst="rect">
            <a:avLst/>
          </a:prstGeom>
          <a:noFill/>
        </p:spPr>
        <p:txBody>
          <a:bodyPr wrap="square">
            <a:spAutoFit/>
          </a:bodyPr>
          <a:lstStyle/>
          <a:p>
            <a:pPr algn="ctr"/>
            <a:r>
              <a:rPr sz="9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38527"/>
          </a:xfrm>
          <a:prstGeom prst="rect">
            <a:avLst/>
          </a:prstGeom>
          <a:noFill/>
        </p:spPr>
        <p:txBody>
          <a:bodyPr wrap="square">
            <a:spAutoFit/>
          </a:bodyPr>
          <a:lstStyle/>
          <a:p>
            <a:pPr algn="ctr"/>
            <a:r>
              <a:rPr sz="9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38527"/>
          </a:xfrm>
          <a:prstGeom prst="rect">
            <a:avLst/>
          </a:prstGeom>
          <a:noFill/>
        </p:spPr>
        <p:txBody>
          <a:bodyPr wrap="square">
            <a:spAutoFit/>
          </a:bodyPr>
          <a:lstStyle/>
          <a:p>
            <a:pPr algn="ctr"/>
            <a:r>
              <a:rPr sz="9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30832"/>
          </a:xfrm>
          <a:prstGeom prst="rect">
            <a:avLst/>
          </a:prstGeom>
          <a:noFill/>
        </p:spPr>
        <p:txBody>
          <a:bodyPr wrap="square">
            <a:spAutoFit/>
          </a:bodyPr>
          <a:lstStyle/>
          <a:p>
            <a:pPr algn="ctr"/>
            <a:r>
              <a:rPr sz="90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38527"/>
          </a:xfrm>
          <a:prstGeom prst="rect">
            <a:avLst/>
          </a:prstGeom>
          <a:noFill/>
        </p:spPr>
        <p:txBody>
          <a:bodyPr wrap="square">
            <a:spAutoFit/>
          </a:bodyPr>
          <a:lstStyle/>
          <a:p>
            <a:pPr algn="ctr"/>
            <a:r>
              <a:rPr sz="9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38527"/>
          </a:xfrm>
          <a:prstGeom prst="rect">
            <a:avLst/>
          </a:prstGeom>
          <a:noFill/>
        </p:spPr>
        <p:txBody>
          <a:bodyPr wrap="square">
            <a:spAutoFit/>
          </a:bodyPr>
          <a:lstStyle/>
          <a:p>
            <a:pPr algn="ctr"/>
            <a:r>
              <a:rPr sz="9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38527"/>
          </a:xfrm>
          <a:prstGeom prst="rect">
            <a:avLst/>
          </a:prstGeom>
          <a:noFill/>
        </p:spPr>
        <p:txBody>
          <a:bodyPr wrap="square">
            <a:spAutoFit/>
          </a:bodyPr>
          <a:lstStyle/>
          <a:p>
            <a:pPr algn="ctr"/>
            <a:r>
              <a:rPr sz="9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38527"/>
          </a:xfrm>
          <a:prstGeom prst="rect">
            <a:avLst/>
          </a:prstGeom>
          <a:noFill/>
        </p:spPr>
        <p:txBody>
          <a:bodyPr wrap="square">
            <a:spAutoFit/>
          </a:bodyPr>
          <a:lstStyle/>
          <a:p>
            <a:pPr algn="ctr"/>
            <a:r>
              <a:rPr sz="950" b="0">
                <a:latin typeface="Calibri"/>
              </a:rPr>
              <a:t>—</a:t>
            </a:r>
          </a:p>
        </p:txBody>
      </p:sp>
      <p:sp>
        <p:nvSpPr>
          <p:cNvPr id="55" name="Rectangle 50">
            <a:extLst>
              <a:ext uri="{FF2B5EF4-FFF2-40B4-BE49-F238E27FC236}">
                <a16:creationId xmlns:a16="http://schemas.microsoft.com/office/drawing/2014/main" id="{DDDC1051-58C6-4ECC-89A9-757DB69A8976}"/>
              </a:ext>
            </a:extLst>
          </p:cNvPr>
          <p:cNvSpPr/>
          <p:nvPr/>
        </p:nvSpPr>
        <p:spPr>
          <a:xfrm>
            <a:off x="4645152" y="178113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6" name="TextBox 51">
            <a:extLst>
              <a:ext uri="{FF2B5EF4-FFF2-40B4-BE49-F238E27FC236}">
                <a16:creationId xmlns:a16="http://schemas.microsoft.com/office/drawing/2014/main" id="{09226CA6-1B1E-4F89-942D-926A89916AF7}"/>
              </a:ext>
            </a:extLst>
          </p:cNvPr>
          <p:cNvSpPr txBox="1"/>
          <p:nvPr/>
        </p:nvSpPr>
        <p:spPr>
          <a:xfrm>
            <a:off x="4672584" y="1799422"/>
            <a:ext cx="329184" cy="238527"/>
          </a:xfrm>
          <a:prstGeom prst="rect">
            <a:avLst/>
          </a:prstGeom>
          <a:noFill/>
        </p:spPr>
        <p:txBody>
          <a:bodyPr wrap="square">
            <a:spAutoFit/>
          </a:bodyPr>
          <a:lstStyle/>
          <a:p>
            <a:pPr algn="ctr"/>
            <a:r>
              <a:rPr sz="950" b="0">
                <a:latin typeface="Calibri"/>
              </a:rPr>
              <a:t>1</a:t>
            </a:r>
          </a:p>
        </p:txBody>
      </p:sp>
      <p:sp>
        <p:nvSpPr>
          <p:cNvPr id="57" name="Rectangle 52">
            <a:extLst>
              <a:ext uri="{FF2B5EF4-FFF2-40B4-BE49-F238E27FC236}">
                <a16:creationId xmlns:a16="http://schemas.microsoft.com/office/drawing/2014/main" id="{6F94B535-F7C5-4062-A5B1-2E750D458518}"/>
              </a:ext>
            </a:extLst>
          </p:cNvPr>
          <p:cNvSpPr/>
          <p:nvPr/>
        </p:nvSpPr>
        <p:spPr>
          <a:xfrm>
            <a:off x="5029200" y="178113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58" name="TextBox 53">
            <a:extLst>
              <a:ext uri="{FF2B5EF4-FFF2-40B4-BE49-F238E27FC236}">
                <a16:creationId xmlns:a16="http://schemas.microsoft.com/office/drawing/2014/main" id="{0E7C2503-457C-423C-BE1A-1C3EE7B8AD6C}"/>
              </a:ext>
            </a:extLst>
          </p:cNvPr>
          <p:cNvSpPr txBox="1"/>
          <p:nvPr/>
        </p:nvSpPr>
        <p:spPr>
          <a:xfrm>
            <a:off x="5056632" y="1799422"/>
            <a:ext cx="512064" cy="238527"/>
          </a:xfrm>
          <a:prstGeom prst="rect">
            <a:avLst/>
          </a:prstGeom>
          <a:noFill/>
        </p:spPr>
        <p:txBody>
          <a:bodyPr wrap="square">
            <a:spAutoFit/>
          </a:bodyPr>
          <a:lstStyle/>
          <a:p>
            <a:pPr algn="ctr"/>
            <a:r>
              <a:rPr sz="950" b="0">
                <a:latin typeface="Calibri"/>
              </a:rPr>
              <a:t>t=0.1</a:t>
            </a:r>
          </a:p>
        </p:txBody>
      </p:sp>
      <p:sp>
        <p:nvSpPr>
          <p:cNvPr id="59" name="Rectangle 54">
            <a:extLst>
              <a:ext uri="{FF2B5EF4-FFF2-40B4-BE49-F238E27FC236}">
                <a16:creationId xmlns:a16="http://schemas.microsoft.com/office/drawing/2014/main" id="{46A834A0-D248-494D-B707-A5A69437CEF6}"/>
              </a:ext>
            </a:extLst>
          </p:cNvPr>
          <p:cNvSpPr/>
          <p:nvPr/>
        </p:nvSpPr>
        <p:spPr>
          <a:xfrm>
            <a:off x="5596128" y="178113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0" name="TextBox 55">
            <a:extLst>
              <a:ext uri="{FF2B5EF4-FFF2-40B4-BE49-F238E27FC236}">
                <a16:creationId xmlns:a16="http://schemas.microsoft.com/office/drawing/2014/main" id="{0583AC92-8B0D-4602-B1DD-24867F1870A4}"/>
              </a:ext>
            </a:extLst>
          </p:cNvPr>
          <p:cNvSpPr txBox="1"/>
          <p:nvPr/>
        </p:nvSpPr>
        <p:spPr>
          <a:xfrm>
            <a:off x="5623560" y="1799422"/>
            <a:ext cx="402336" cy="238527"/>
          </a:xfrm>
          <a:prstGeom prst="rect">
            <a:avLst/>
          </a:prstGeom>
          <a:noFill/>
        </p:spPr>
        <p:txBody>
          <a:bodyPr wrap="square">
            <a:spAutoFit/>
          </a:bodyPr>
          <a:lstStyle/>
          <a:p>
            <a:pPr algn="ctr"/>
            <a:r>
              <a:rPr sz="950" b="1">
                <a:latin typeface="Calibri"/>
              </a:rPr>
              <a:t>&gt;0</a:t>
            </a:r>
          </a:p>
        </p:txBody>
      </p:sp>
      <p:sp>
        <p:nvSpPr>
          <p:cNvPr id="61" name="Rectangle 56">
            <a:extLst>
              <a:ext uri="{FF2B5EF4-FFF2-40B4-BE49-F238E27FC236}">
                <a16:creationId xmlns:a16="http://schemas.microsoft.com/office/drawing/2014/main" id="{4A07B0C7-EAB6-429D-B735-5030A3EA01B7}"/>
              </a:ext>
            </a:extLst>
          </p:cNvPr>
          <p:cNvSpPr/>
          <p:nvPr/>
        </p:nvSpPr>
        <p:spPr>
          <a:xfrm>
            <a:off x="6053328" y="178113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2" name="TextBox 57">
            <a:extLst>
              <a:ext uri="{FF2B5EF4-FFF2-40B4-BE49-F238E27FC236}">
                <a16:creationId xmlns:a16="http://schemas.microsoft.com/office/drawing/2014/main" id="{11F82071-21D3-4013-AD23-7F7B05177822}"/>
              </a:ext>
            </a:extLst>
          </p:cNvPr>
          <p:cNvSpPr txBox="1"/>
          <p:nvPr/>
        </p:nvSpPr>
        <p:spPr>
          <a:xfrm>
            <a:off x="6080760" y="1799422"/>
            <a:ext cx="402336" cy="238527"/>
          </a:xfrm>
          <a:prstGeom prst="rect">
            <a:avLst/>
          </a:prstGeom>
          <a:noFill/>
        </p:spPr>
        <p:txBody>
          <a:bodyPr wrap="square">
            <a:spAutoFit/>
          </a:bodyPr>
          <a:lstStyle/>
          <a:p>
            <a:pPr algn="ctr"/>
            <a:r>
              <a:rPr sz="950" b="1">
                <a:latin typeface="Calibri"/>
              </a:rPr>
              <a:t>&gt;0</a:t>
            </a:r>
          </a:p>
        </p:txBody>
      </p:sp>
      <p:sp>
        <p:nvSpPr>
          <p:cNvPr id="63" name="Rectangle 58">
            <a:extLst>
              <a:ext uri="{FF2B5EF4-FFF2-40B4-BE49-F238E27FC236}">
                <a16:creationId xmlns:a16="http://schemas.microsoft.com/office/drawing/2014/main" id="{F6EFC604-33DB-4697-AB58-424CF4E7AC7D}"/>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4" name="TextBox 59">
            <a:extLst>
              <a:ext uri="{FF2B5EF4-FFF2-40B4-BE49-F238E27FC236}">
                <a16:creationId xmlns:a16="http://schemas.microsoft.com/office/drawing/2014/main" id="{53E15754-156B-4B84-934F-0DE3F2B0D400}"/>
              </a:ext>
            </a:extLst>
          </p:cNvPr>
          <p:cNvSpPr txBox="1"/>
          <p:nvPr/>
        </p:nvSpPr>
        <p:spPr>
          <a:xfrm>
            <a:off x="6537960" y="1799422"/>
            <a:ext cx="384048" cy="238527"/>
          </a:xfrm>
          <a:prstGeom prst="rect">
            <a:avLst/>
          </a:prstGeom>
          <a:noFill/>
        </p:spPr>
        <p:txBody>
          <a:bodyPr wrap="square">
            <a:spAutoFit/>
          </a:bodyPr>
          <a:lstStyle/>
          <a:p>
            <a:pPr algn="ctr"/>
            <a:r>
              <a:rPr sz="950" b="1">
                <a:latin typeface="Calibri"/>
              </a:rPr>
              <a:t>1°</a:t>
            </a:r>
          </a:p>
        </p:txBody>
      </p:sp>
      <p:sp>
        <p:nvSpPr>
          <p:cNvPr id="65" name="Rectangle 60">
            <a:extLst>
              <a:ext uri="{FF2B5EF4-FFF2-40B4-BE49-F238E27FC236}">
                <a16:creationId xmlns:a16="http://schemas.microsoft.com/office/drawing/2014/main" id="{E643D5DE-ED17-47F6-82AA-06F4602FA4BB}"/>
              </a:ext>
            </a:extLst>
          </p:cNvPr>
          <p:cNvSpPr/>
          <p:nvPr/>
        </p:nvSpPr>
        <p:spPr>
          <a:xfrm>
            <a:off x="6949440" y="178113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6" name="TextBox 61">
            <a:extLst>
              <a:ext uri="{FF2B5EF4-FFF2-40B4-BE49-F238E27FC236}">
                <a16:creationId xmlns:a16="http://schemas.microsoft.com/office/drawing/2014/main" id="{FE2B67C2-96BE-4326-A3BF-42435E65A217}"/>
              </a:ext>
            </a:extLst>
          </p:cNvPr>
          <p:cNvSpPr txBox="1"/>
          <p:nvPr/>
        </p:nvSpPr>
        <p:spPr>
          <a:xfrm>
            <a:off x="6976871" y="1799422"/>
            <a:ext cx="1938528" cy="230832"/>
          </a:xfrm>
          <a:prstGeom prst="rect">
            <a:avLst/>
          </a:prstGeom>
          <a:noFill/>
        </p:spPr>
        <p:txBody>
          <a:bodyPr wrap="square">
            <a:spAutoFit/>
          </a:bodyPr>
          <a:lstStyle/>
          <a:p>
            <a:pPr algn="ctr"/>
            <a:r>
              <a:rPr sz="900" b="0">
                <a:latin typeface="Calibri"/>
              </a:rPr>
              <a:t>Motorización directa</a:t>
            </a:r>
          </a:p>
        </p:txBody>
      </p:sp>
      <p:sp>
        <p:nvSpPr>
          <p:cNvPr id="67" name="Rectangle 62">
            <a:extLst>
              <a:ext uri="{FF2B5EF4-FFF2-40B4-BE49-F238E27FC236}">
                <a16:creationId xmlns:a16="http://schemas.microsoft.com/office/drawing/2014/main" id="{015C1441-CC9F-4D24-97D8-B730ADB332E9}"/>
              </a:ext>
            </a:extLst>
          </p:cNvPr>
          <p:cNvSpPr/>
          <p:nvPr/>
        </p:nvSpPr>
        <p:spPr>
          <a:xfrm>
            <a:off x="8942832" y="178113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8" name="TextBox 63">
            <a:extLst>
              <a:ext uri="{FF2B5EF4-FFF2-40B4-BE49-F238E27FC236}">
                <a16:creationId xmlns:a16="http://schemas.microsoft.com/office/drawing/2014/main" id="{7211E053-EBAF-42DC-BA10-0925B3BC9241}"/>
              </a:ext>
            </a:extLst>
          </p:cNvPr>
          <p:cNvSpPr txBox="1"/>
          <p:nvPr/>
        </p:nvSpPr>
        <p:spPr>
          <a:xfrm>
            <a:off x="8970263" y="1799422"/>
            <a:ext cx="493776" cy="238527"/>
          </a:xfrm>
          <a:prstGeom prst="rect">
            <a:avLst/>
          </a:prstGeom>
          <a:noFill/>
        </p:spPr>
        <p:txBody>
          <a:bodyPr wrap="square">
            <a:spAutoFit/>
          </a:bodyPr>
          <a:lstStyle/>
          <a:p>
            <a:pPr algn="ctr"/>
            <a:r>
              <a:rPr sz="950" b="0">
                <a:latin typeface="Calibri"/>
              </a:rPr>
              <a:t>0</a:t>
            </a:r>
          </a:p>
        </p:txBody>
      </p:sp>
      <p:sp>
        <p:nvSpPr>
          <p:cNvPr id="69" name="Rectangle 64">
            <a:extLst>
              <a:ext uri="{FF2B5EF4-FFF2-40B4-BE49-F238E27FC236}">
                <a16:creationId xmlns:a16="http://schemas.microsoft.com/office/drawing/2014/main" id="{4D8E7CC1-56DF-48E0-BEA6-1412F9057BCF}"/>
              </a:ext>
            </a:extLst>
          </p:cNvPr>
          <p:cNvSpPr/>
          <p:nvPr/>
        </p:nvSpPr>
        <p:spPr>
          <a:xfrm>
            <a:off x="9491471" y="178113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0" name="TextBox 65">
            <a:extLst>
              <a:ext uri="{FF2B5EF4-FFF2-40B4-BE49-F238E27FC236}">
                <a16:creationId xmlns:a16="http://schemas.microsoft.com/office/drawing/2014/main" id="{5263B8CB-2060-4A98-9F73-DEB74F90BCCE}"/>
              </a:ext>
            </a:extLst>
          </p:cNvPr>
          <p:cNvSpPr txBox="1"/>
          <p:nvPr/>
        </p:nvSpPr>
        <p:spPr>
          <a:xfrm>
            <a:off x="9518903" y="1799422"/>
            <a:ext cx="566928" cy="238527"/>
          </a:xfrm>
          <a:prstGeom prst="rect">
            <a:avLst/>
          </a:prstGeom>
          <a:noFill/>
        </p:spPr>
        <p:txBody>
          <a:bodyPr wrap="square">
            <a:spAutoFit/>
          </a:bodyPr>
          <a:lstStyle/>
          <a:p>
            <a:pPr algn="ctr"/>
            <a:r>
              <a:rPr sz="950" b="0">
                <a:latin typeface="Calibri"/>
              </a:rPr>
              <a:t>+19.56</a:t>
            </a:r>
          </a:p>
        </p:txBody>
      </p:sp>
      <p:sp>
        <p:nvSpPr>
          <p:cNvPr id="71" name="Rectangle 66">
            <a:extLst>
              <a:ext uri="{FF2B5EF4-FFF2-40B4-BE49-F238E27FC236}">
                <a16:creationId xmlns:a16="http://schemas.microsoft.com/office/drawing/2014/main" id="{F9A88BF7-B587-42C3-9DD1-2E566CC9905B}"/>
              </a:ext>
            </a:extLst>
          </p:cNvPr>
          <p:cNvSpPr/>
          <p:nvPr/>
        </p:nvSpPr>
        <p:spPr>
          <a:xfrm>
            <a:off x="10113263" y="178113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2" name="TextBox 67">
            <a:extLst>
              <a:ext uri="{FF2B5EF4-FFF2-40B4-BE49-F238E27FC236}">
                <a16:creationId xmlns:a16="http://schemas.microsoft.com/office/drawing/2014/main" id="{E5BF452F-6EDE-4567-9C40-A1F3696FA615}"/>
              </a:ext>
            </a:extLst>
          </p:cNvPr>
          <p:cNvSpPr txBox="1"/>
          <p:nvPr/>
        </p:nvSpPr>
        <p:spPr>
          <a:xfrm>
            <a:off x="10140695" y="1799422"/>
            <a:ext cx="630936" cy="238527"/>
          </a:xfrm>
          <a:prstGeom prst="rect">
            <a:avLst/>
          </a:prstGeom>
          <a:noFill/>
        </p:spPr>
        <p:txBody>
          <a:bodyPr wrap="square">
            <a:spAutoFit/>
          </a:bodyPr>
          <a:lstStyle/>
          <a:p>
            <a:pPr algn="ctr"/>
            <a:r>
              <a:rPr sz="950" b="0">
                <a:latin typeface="Calibri"/>
              </a:rPr>
              <a:t>→ acel.</a:t>
            </a:r>
          </a:p>
        </p:txBody>
      </p:sp>
      <p:sp>
        <p:nvSpPr>
          <p:cNvPr id="73" name="Rectangle 68">
            <a:extLst>
              <a:ext uri="{FF2B5EF4-FFF2-40B4-BE49-F238E27FC236}">
                <a16:creationId xmlns:a16="http://schemas.microsoft.com/office/drawing/2014/main" id="{2D2F1C66-BB38-470D-B873-5B64125B00EE}"/>
              </a:ext>
            </a:extLst>
          </p:cNvPr>
          <p:cNvSpPr/>
          <p:nvPr/>
        </p:nvSpPr>
        <p:spPr>
          <a:xfrm>
            <a:off x="10799063" y="178113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4" name="TextBox 69">
            <a:extLst>
              <a:ext uri="{FF2B5EF4-FFF2-40B4-BE49-F238E27FC236}">
                <a16:creationId xmlns:a16="http://schemas.microsoft.com/office/drawing/2014/main" id="{74316535-02BE-42BD-8ADD-28460A574682}"/>
              </a:ext>
            </a:extLst>
          </p:cNvPr>
          <p:cNvSpPr txBox="1"/>
          <p:nvPr/>
        </p:nvSpPr>
        <p:spPr>
          <a:xfrm>
            <a:off x="10826495" y="1799422"/>
            <a:ext cx="585215" cy="238527"/>
          </a:xfrm>
          <a:prstGeom prst="rect">
            <a:avLst/>
          </a:prstGeom>
          <a:noFill/>
        </p:spPr>
        <p:txBody>
          <a:bodyPr wrap="square">
            <a:spAutoFit/>
          </a:bodyPr>
          <a:lstStyle/>
          <a:p>
            <a:pPr algn="ctr"/>
            <a:r>
              <a:rPr sz="9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222690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2245192"/>
            <a:ext cx="329184" cy="238527"/>
          </a:xfrm>
          <a:prstGeom prst="rect">
            <a:avLst/>
          </a:prstGeom>
          <a:noFill/>
        </p:spPr>
        <p:txBody>
          <a:bodyPr wrap="square">
            <a:spAutoFit/>
          </a:bodyPr>
          <a:lstStyle/>
          <a:p>
            <a:pPr algn="ctr"/>
            <a:r>
              <a:rPr sz="950" b="0">
                <a:latin typeface="Calibri"/>
              </a:rPr>
              <a:t>2</a:t>
            </a:r>
          </a:p>
        </p:txBody>
      </p:sp>
      <p:sp>
        <p:nvSpPr>
          <p:cNvPr id="77" name="Rectangle 72">
            <a:extLst>
              <a:ext uri="{FF2B5EF4-FFF2-40B4-BE49-F238E27FC236}">
                <a16:creationId xmlns:a16="http://schemas.microsoft.com/office/drawing/2014/main" id="{25CBEB9A-83B4-4EB7-9EB2-97CCE78BA6FC}"/>
              </a:ext>
            </a:extLst>
          </p:cNvPr>
          <p:cNvSpPr/>
          <p:nvPr/>
        </p:nvSpPr>
        <p:spPr>
          <a:xfrm>
            <a:off x="5029200" y="222690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2245192"/>
            <a:ext cx="512064" cy="238527"/>
          </a:xfrm>
          <a:prstGeom prst="rect">
            <a:avLst/>
          </a:prstGeom>
          <a:noFill/>
        </p:spPr>
        <p:txBody>
          <a:bodyPr wrap="square">
            <a:spAutoFit/>
          </a:bodyPr>
          <a:lstStyle/>
          <a:p>
            <a:pPr algn="ctr"/>
            <a:r>
              <a:rPr sz="9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222690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2245192"/>
            <a:ext cx="402336" cy="238527"/>
          </a:xfrm>
          <a:prstGeom prst="rect">
            <a:avLst/>
          </a:prstGeom>
          <a:noFill/>
        </p:spPr>
        <p:txBody>
          <a:bodyPr wrap="square">
            <a:spAutoFit/>
          </a:bodyPr>
          <a:lstStyle/>
          <a:p>
            <a:pPr algn="ctr"/>
            <a:r>
              <a:rPr sz="9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222690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2245192"/>
            <a:ext cx="402336" cy="238527"/>
          </a:xfrm>
          <a:prstGeom prst="rect">
            <a:avLst/>
          </a:prstGeom>
          <a:noFill/>
        </p:spPr>
        <p:txBody>
          <a:bodyPr wrap="square">
            <a:spAutoFit/>
          </a:bodyPr>
          <a:lstStyle/>
          <a:p>
            <a:pPr algn="ctr"/>
            <a:r>
              <a:rPr sz="9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2245192"/>
            <a:ext cx="384048" cy="238527"/>
          </a:xfrm>
          <a:prstGeom prst="rect">
            <a:avLst/>
          </a:prstGeom>
          <a:noFill/>
        </p:spPr>
        <p:txBody>
          <a:bodyPr wrap="square">
            <a:spAutoFit/>
          </a:bodyPr>
          <a:lstStyle/>
          <a:p>
            <a:pPr algn="ctr"/>
            <a:r>
              <a:rPr sz="9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222690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2245192"/>
            <a:ext cx="1938528" cy="230832"/>
          </a:xfrm>
          <a:prstGeom prst="rect">
            <a:avLst/>
          </a:prstGeom>
          <a:noFill/>
        </p:spPr>
        <p:txBody>
          <a:bodyPr wrap="square">
            <a:spAutoFit/>
          </a:bodyPr>
          <a:lstStyle/>
          <a:p>
            <a:pPr algn="ctr"/>
            <a:r>
              <a:rPr sz="90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222690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2245192"/>
            <a:ext cx="493776" cy="238527"/>
          </a:xfrm>
          <a:prstGeom prst="rect">
            <a:avLst/>
          </a:prstGeom>
          <a:noFill/>
        </p:spPr>
        <p:txBody>
          <a:bodyPr wrap="square">
            <a:spAutoFit/>
          </a:bodyPr>
          <a:lstStyle/>
          <a:p>
            <a:pPr algn="ctr"/>
            <a:r>
              <a:rPr sz="9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222690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2245192"/>
            <a:ext cx="566928" cy="238527"/>
          </a:xfrm>
          <a:prstGeom prst="rect">
            <a:avLst/>
          </a:prstGeom>
          <a:noFill/>
        </p:spPr>
        <p:txBody>
          <a:bodyPr wrap="square">
            <a:spAutoFit/>
          </a:bodyPr>
          <a:lstStyle/>
          <a:p>
            <a:pPr algn="ctr"/>
            <a:r>
              <a:rPr sz="9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222690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2245192"/>
            <a:ext cx="630936" cy="238527"/>
          </a:xfrm>
          <a:prstGeom prst="rect">
            <a:avLst/>
          </a:prstGeom>
          <a:noFill/>
        </p:spPr>
        <p:txBody>
          <a:bodyPr wrap="square">
            <a:spAutoFit/>
          </a:bodyPr>
          <a:lstStyle/>
          <a:p>
            <a:pPr algn="ctr"/>
            <a:r>
              <a:rPr sz="9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222690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2245192"/>
            <a:ext cx="585215" cy="238527"/>
          </a:xfrm>
          <a:prstGeom prst="rect">
            <a:avLst/>
          </a:prstGeom>
          <a:noFill/>
        </p:spPr>
        <p:txBody>
          <a:bodyPr wrap="square">
            <a:spAutoFit/>
          </a:bodyPr>
          <a:lstStyle/>
          <a:p>
            <a:pPr algn="ctr"/>
            <a:r>
              <a:rPr sz="9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67267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690962"/>
            <a:ext cx="329184" cy="238527"/>
          </a:xfrm>
          <a:prstGeom prst="rect">
            <a:avLst/>
          </a:prstGeom>
          <a:noFill/>
        </p:spPr>
        <p:txBody>
          <a:bodyPr wrap="square">
            <a:spAutoFit/>
          </a:bodyPr>
          <a:lstStyle/>
          <a:p>
            <a:pPr algn="ctr"/>
            <a:r>
              <a:rPr sz="950" b="0">
                <a:latin typeface="Calibri"/>
              </a:rPr>
              <a:t>3</a:t>
            </a: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67267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690962"/>
            <a:ext cx="512064" cy="238527"/>
          </a:xfrm>
          <a:prstGeom prst="rect">
            <a:avLst/>
          </a:prstGeom>
          <a:noFill/>
        </p:spPr>
        <p:txBody>
          <a:bodyPr wrap="square">
            <a:spAutoFit/>
          </a:bodyPr>
          <a:lstStyle/>
          <a:p>
            <a:pPr algn="ctr"/>
            <a:r>
              <a:rPr sz="9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67267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690962"/>
            <a:ext cx="402336" cy="238527"/>
          </a:xfrm>
          <a:prstGeom prst="rect">
            <a:avLst/>
          </a:prstGeom>
          <a:noFill/>
        </p:spPr>
        <p:txBody>
          <a:bodyPr wrap="square">
            <a:spAutoFit/>
          </a:bodyPr>
          <a:lstStyle/>
          <a:p>
            <a:pPr algn="ctr"/>
            <a:r>
              <a:rPr sz="9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67267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690962"/>
            <a:ext cx="402336" cy="238527"/>
          </a:xfrm>
          <a:prstGeom prst="rect">
            <a:avLst/>
          </a:prstGeom>
          <a:noFill/>
        </p:spPr>
        <p:txBody>
          <a:bodyPr wrap="square">
            <a:spAutoFit/>
          </a:bodyPr>
          <a:lstStyle/>
          <a:p>
            <a:pPr algn="ctr"/>
            <a:r>
              <a:rPr sz="9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67267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690962"/>
            <a:ext cx="384048" cy="238527"/>
          </a:xfrm>
          <a:prstGeom prst="rect">
            <a:avLst/>
          </a:prstGeom>
          <a:noFill/>
        </p:spPr>
        <p:txBody>
          <a:bodyPr wrap="square">
            <a:spAutoFit/>
          </a:bodyPr>
          <a:lstStyle/>
          <a:p>
            <a:pPr algn="ctr"/>
            <a:r>
              <a:rPr sz="9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67267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690962"/>
            <a:ext cx="1938528" cy="230832"/>
          </a:xfrm>
          <a:prstGeom prst="rect">
            <a:avLst/>
          </a:prstGeom>
          <a:noFill/>
        </p:spPr>
        <p:txBody>
          <a:bodyPr wrap="square">
            <a:spAutoFit/>
          </a:bodyPr>
          <a:lstStyle/>
          <a:p>
            <a:pPr algn="ctr"/>
            <a:r>
              <a:rPr sz="900" b="0" dirty="0">
                <a:latin typeface="Calibri"/>
              </a:rPr>
              <a:t>Motor. </a:t>
            </a:r>
            <a:r>
              <a:rPr sz="900" b="0" dirty="0" err="1">
                <a:latin typeface="Calibri"/>
              </a:rPr>
              <a:t>directa</a:t>
            </a:r>
            <a:endParaRPr sz="90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67267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690962"/>
            <a:ext cx="493776" cy="238527"/>
          </a:xfrm>
          <a:prstGeom prst="rect">
            <a:avLst/>
          </a:prstGeom>
          <a:noFill/>
        </p:spPr>
        <p:txBody>
          <a:bodyPr wrap="square">
            <a:spAutoFit/>
          </a:bodyPr>
          <a:lstStyle/>
          <a:p>
            <a:pPr algn="ctr"/>
            <a:r>
              <a:rPr sz="9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67267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690962"/>
            <a:ext cx="566928" cy="238527"/>
          </a:xfrm>
          <a:prstGeom prst="rect">
            <a:avLst/>
          </a:prstGeom>
          <a:noFill/>
        </p:spPr>
        <p:txBody>
          <a:bodyPr wrap="square">
            <a:spAutoFit/>
          </a:bodyPr>
          <a:lstStyle/>
          <a:p>
            <a:pPr algn="ctr"/>
            <a:r>
              <a:rPr sz="9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67267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690962"/>
            <a:ext cx="630936" cy="238527"/>
          </a:xfrm>
          <a:prstGeom prst="rect">
            <a:avLst/>
          </a:prstGeom>
          <a:noFill/>
        </p:spPr>
        <p:txBody>
          <a:bodyPr wrap="square">
            <a:spAutoFit/>
          </a:bodyPr>
          <a:lstStyle/>
          <a:p>
            <a:pPr algn="ctr"/>
            <a:r>
              <a:rPr sz="9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67267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690962"/>
            <a:ext cx="585215" cy="238527"/>
          </a:xfrm>
          <a:prstGeom prst="rect">
            <a:avLst/>
          </a:prstGeom>
          <a:noFill/>
        </p:spPr>
        <p:txBody>
          <a:bodyPr wrap="square">
            <a:spAutoFit/>
          </a:bodyPr>
          <a:lstStyle/>
          <a:p>
            <a:pPr algn="ctr"/>
            <a:r>
              <a:rPr sz="9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311844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3136732"/>
            <a:ext cx="329184" cy="238527"/>
          </a:xfrm>
          <a:prstGeom prst="rect">
            <a:avLst/>
          </a:prstGeom>
          <a:noFill/>
        </p:spPr>
        <p:txBody>
          <a:bodyPr wrap="square">
            <a:spAutoFit/>
          </a:bodyPr>
          <a:lstStyle/>
          <a:p>
            <a:pPr algn="ctr"/>
            <a:r>
              <a:rPr sz="950" b="0">
                <a:latin typeface="Calibri"/>
              </a:rPr>
              <a:t>4</a:t>
            </a: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311844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3136732"/>
            <a:ext cx="512064" cy="238527"/>
          </a:xfrm>
          <a:prstGeom prst="rect">
            <a:avLst/>
          </a:prstGeom>
          <a:noFill/>
        </p:spPr>
        <p:txBody>
          <a:bodyPr wrap="square">
            <a:spAutoFit/>
          </a:bodyPr>
          <a:lstStyle/>
          <a:p>
            <a:pPr algn="ctr"/>
            <a:r>
              <a:rPr sz="9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311844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3136732"/>
            <a:ext cx="402336" cy="238527"/>
          </a:xfrm>
          <a:prstGeom prst="rect">
            <a:avLst/>
          </a:prstGeom>
          <a:noFill/>
        </p:spPr>
        <p:txBody>
          <a:bodyPr wrap="square">
            <a:spAutoFit/>
          </a:bodyPr>
          <a:lstStyle/>
          <a:p>
            <a:pPr algn="ctr"/>
            <a:r>
              <a:rPr sz="9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311844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3136732"/>
            <a:ext cx="402336" cy="238527"/>
          </a:xfrm>
          <a:prstGeom prst="rect">
            <a:avLst/>
          </a:prstGeom>
          <a:noFill/>
        </p:spPr>
        <p:txBody>
          <a:bodyPr wrap="square">
            <a:spAutoFit/>
          </a:bodyPr>
          <a:lstStyle/>
          <a:p>
            <a:pPr algn="ctr"/>
            <a:r>
              <a:rPr sz="9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3136732"/>
            <a:ext cx="384048" cy="238527"/>
          </a:xfrm>
          <a:prstGeom prst="rect">
            <a:avLst/>
          </a:prstGeom>
          <a:noFill/>
        </p:spPr>
        <p:txBody>
          <a:bodyPr wrap="square">
            <a:spAutoFit/>
          </a:bodyPr>
          <a:lstStyle/>
          <a:p>
            <a:pPr algn="ctr"/>
            <a:r>
              <a:rPr sz="9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311844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3136732"/>
            <a:ext cx="1938528" cy="230832"/>
          </a:xfrm>
          <a:prstGeom prst="rect">
            <a:avLst/>
          </a:prstGeom>
          <a:noFill/>
        </p:spPr>
        <p:txBody>
          <a:bodyPr wrap="square">
            <a:spAutoFit/>
          </a:bodyPr>
          <a:lstStyle/>
          <a:p>
            <a:pPr algn="ctr"/>
            <a:r>
              <a:rPr sz="90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311844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3136732"/>
            <a:ext cx="493776" cy="238527"/>
          </a:xfrm>
          <a:prstGeom prst="rect">
            <a:avLst/>
          </a:prstGeom>
          <a:noFill/>
        </p:spPr>
        <p:txBody>
          <a:bodyPr wrap="square">
            <a:spAutoFit/>
          </a:bodyPr>
          <a:lstStyle/>
          <a:p>
            <a:pPr algn="ctr"/>
            <a:r>
              <a:rPr sz="9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311844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3136732"/>
            <a:ext cx="566928" cy="238527"/>
          </a:xfrm>
          <a:prstGeom prst="rect">
            <a:avLst/>
          </a:prstGeom>
          <a:noFill/>
        </p:spPr>
        <p:txBody>
          <a:bodyPr wrap="square">
            <a:spAutoFit/>
          </a:bodyPr>
          <a:lstStyle/>
          <a:p>
            <a:pPr algn="ctr"/>
            <a:r>
              <a:rPr sz="9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311844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3136732"/>
            <a:ext cx="630936" cy="238527"/>
          </a:xfrm>
          <a:prstGeom prst="rect">
            <a:avLst/>
          </a:prstGeom>
          <a:noFill/>
        </p:spPr>
        <p:txBody>
          <a:bodyPr wrap="square">
            <a:spAutoFit/>
          </a:bodyPr>
          <a:lstStyle/>
          <a:p>
            <a:pPr algn="ctr"/>
            <a:r>
              <a:rPr sz="9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311844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3136732"/>
            <a:ext cx="585215" cy="238527"/>
          </a:xfrm>
          <a:prstGeom prst="rect">
            <a:avLst/>
          </a:prstGeom>
          <a:noFill/>
        </p:spPr>
        <p:txBody>
          <a:bodyPr wrap="square">
            <a:spAutoFit/>
          </a:bodyPr>
          <a:lstStyle/>
          <a:p>
            <a:pPr algn="ctr"/>
            <a:r>
              <a:rPr sz="9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56421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582501"/>
            <a:ext cx="329184" cy="238527"/>
          </a:xfrm>
          <a:prstGeom prst="rect">
            <a:avLst/>
          </a:prstGeom>
          <a:noFill/>
        </p:spPr>
        <p:txBody>
          <a:bodyPr wrap="square">
            <a:spAutoFit/>
          </a:bodyPr>
          <a:lstStyle/>
          <a:p>
            <a:pPr algn="ctr"/>
            <a:r>
              <a:rPr sz="950" b="0">
                <a:latin typeface="Calibri"/>
              </a:rPr>
              <a:t>5</a:t>
            </a: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56421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582501"/>
            <a:ext cx="512064" cy="238527"/>
          </a:xfrm>
          <a:prstGeom prst="rect">
            <a:avLst/>
          </a:prstGeom>
          <a:noFill/>
        </p:spPr>
        <p:txBody>
          <a:bodyPr wrap="square">
            <a:spAutoFit/>
          </a:bodyPr>
          <a:lstStyle/>
          <a:p>
            <a:pPr algn="ctr"/>
            <a:r>
              <a:rPr sz="9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56421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582501"/>
            <a:ext cx="402336" cy="238527"/>
          </a:xfrm>
          <a:prstGeom prst="rect">
            <a:avLst/>
          </a:prstGeom>
          <a:noFill/>
        </p:spPr>
        <p:txBody>
          <a:bodyPr wrap="square">
            <a:spAutoFit/>
          </a:bodyPr>
          <a:lstStyle/>
          <a:p>
            <a:pPr algn="ctr"/>
            <a:r>
              <a:rPr sz="9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56421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582501"/>
            <a:ext cx="402336" cy="238527"/>
          </a:xfrm>
          <a:prstGeom prst="rect">
            <a:avLst/>
          </a:prstGeom>
          <a:noFill/>
        </p:spPr>
        <p:txBody>
          <a:bodyPr wrap="square">
            <a:spAutoFit/>
          </a:bodyPr>
          <a:lstStyle/>
          <a:p>
            <a:pPr algn="ctr"/>
            <a:r>
              <a:rPr sz="9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56421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582501"/>
            <a:ext cx="384048" cy="238527"/>
          </a:xfrm>
          <a:prstGeom prst="rect">
            <a:avLst/>
          </a:prstGeom>
          <a:noFill/>
        </p:spPr>
        <p:txBody>
          <a:bodyPr wrap="square">
            <a:spAutoFit/>
          </a:bodyPr>
          <a:lstStyle/>
          <a:p>
            <a:pPr algn="ctr"/>
            <a:r>
              <a:rPr sz="9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56421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582501"/>
            <a:ext cx="1938528" cy="230832"/>
          </a:xfrm>
          <a:prstGeom prst="rect">
            <a:avLst/>
          </a:prstGeom>
          <a:noFill/>
        </p:spPr>
        <p:txBody>
          <a:bodyPr wrap="square">
            <a:spAutoFit/>
          </a:bodyPr>
          <a:lstStyle/>
          <a:p>
            <a:pPr algn="ctr"/>
            <a:r>
              <a:rPr sz="900" b="0">
                <a:latin typeface="Calibri"/>
              </a:rPr>
              <a:t>Fren. regen. dir. (reposo)</a:t>
            </a: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56421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582501"/>
            <a:ext cx="493776" cy="238527"/>
          </a:xfrm>
          <a:prstGeom prst="rect">
            <a:avLst/>
          </a:prstGeom>
          <a:noFill/>
        </p:spPr>
        <p:txBody>
          <a:bodyPr wrap="square">
            <a:spAutoFit/>
          </a:bodyPr>
          <a:lstStyle/>
          <a:p>
            <a:pPr algn="ctr"/>
            <a:r>
              <a:rPr sz="9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56421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582501"/>
            <a:ext cx="566928" cy="238527"/>
          </a:xfrm>
          <a:prstGeom prst="rect">
            <a:avLst/>
          </a:prstGeom>
          <a:noFill/>
        </p:spPr>
        <p:txBody>
          <a:bodyPr wrap="square">
            <a:spAutoFit/>
          </a:bodyPr>
          <a:lstStyle/>
          <a:p>
            <a:pPr algn="ctr"/>
            <a:r>
              <a:rPr sz="9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56421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582501"/>
            <a:ext cx="630936" cy="238527"/>
          </a:xfrm>
          <a:prstGeom prst="rect">
            <a:avLst/>
          </a:prstGeom>
          <a:noFill/>
        </p:spPr>
        <p:txBody>
          <a:bodyPr wrap="square">
            <a:spAutoFit/>
          </a:bodyPr>
          <a:lstStyle/>
          <a:p>
            <a:pPr algn="ctr"/>
            <a:r>
              <a:rPr sz="9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56421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582501"/>
            <a:ext cx="585215" cy="238527"/>
          </a:xfrm>
          <a:prstGeom prst="rect">
            <a:avLst/>
          </a:prstGeom>
          <a:noFill/>
        </p:spPr>
        <p:txBody>
          <a:bodyPr wrap="square">
            <a:spAutoFit/>
          </a:bodyPr>
          <a:lstStyle/>
          <a:p>
            <a:pPr algn="ctr"/>
            <a:r>
              <a:rPr sz="9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400998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4028272"/>
            <a:ext cx="329184" cy="238527"/>
          </a:xfrm>
          <a:prstGeom prst="rect">
            <a:avLst/>
          </a:prstGeom>
          <a:noFill/>
        </p:spPr>
        <p:txBody>
          <a:bodyPr wrap="square">
            <a:spAutoFit/>
          </a:bodyPr>
          <a:lstStyle/>
          <a:p>
            <a:pPr algn="ctr"/>
            <a:r>
              <a:rPr sz="950" b="0">
                <a:latin typeface="Calibri"/>
              </a:rPr>
              <a:t>6</a:t>
            </a: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400998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4028272"/>
            <a:ext cx="512064" cy="238527"/>
          </a:xfrm>
          <a:prstGeom prst="rect">
            <a:avLst/>
          </a:prstGeom>
          <a:noFill/>
        </p:spPr>
        <p:txBody>
          <a:bodyPr wrap="square">
            <a:spAutoFit/>
          </a:bodyPr>
          <a:lstStyle/>
          <a:p>
            <a:pPr algn="ctr"/>
            <a:r>
              <a:rPr sz="9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400998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4028272"/>
            <a:ext cx="402336" cy="238527"/>
          </a:xfrm>
          <a:prstGeom prst="rect">
            <a:avLst/>
          </a:prstGeom>
          <a:noFill/>
        </p:spPr>
        <p:txBody>
          <a:bodyPr wrap="square">
            <a:spAutoFit/>
          </a:bodyPr>
          <a:lstStyle/>
          <a:p>
            <a:pPr algn="ctr"/>
            <a:r>
              <a:rPr sz="9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400998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4028272"/>
            <a:ext cx="402336" cy="238527"/>
          </a:xfrm>
          <a:prstGeom prst="rect">
            <a:avLst/>
          </a:prstGeom>
          <a:noFill/>
        </p:spPr>
        <p:txBody>
          <a:bodyPr wrap="square">
            <a:spAutoFit/>
          </a:bodyPr>
          <a:lstStyle/>
          <a:p>
            <a:pPr algn="ctr"/>
            <a:r>
              <a:rPr sz="9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4028272"/>
            <a:ext cx="384048" cy="238527"/>
          </a:xfrm>
          <a:prstGeom prst="rect">
            <a:avLst/>
          </a:prstGeom>
          <a:noFill/>
        </p:spPr>
        <p:txBody>
          <a:bodyPr wrap="square">
            <a:spAutoFit/>
          </a:bodyPr>
          <a:lstStyle/>
          <a:p>
            <a:pPr algn="ctr"/>
            <a:r>
              <a:rPr sz="9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400998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4028272"/>
            <a:ext cx="1938528" cy="230832"/>
          </a:xfrm>
          <a:prstGeom prst="rect">
            <a:avLst/>
          </a:prstGeom>
          <a:noFill/>
        </p:spPr>
        <p:txBody>
          <a:bodyPr wrap="square">
            <a:spAutoFit/>
          </a:bodyPr>
          <a:lstStyle/>
          <a:p>
            <a:pPr algn="ctr"/>
            <a:r>
              <a:rPr sz="90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400998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4028272"/>
            <a:ext cx="493776" cy="238527"/>
          </a:xfrm>
          <a:prstGeom prst="rect">
            <a:avLst/>
          </a:prstGeom>
          <a:noFill/>
        </p:spPr>
        <p:txBody>
          <a:bodyPr wrap="square">
            <a:spAutoFit/>
          </a:bodyPr>
          <a:lstStyle/>
          <a:p>
            <a:pPr algn="ctr"/>
            <a:r>
              <a:rPr sz="9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400998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4028272"/>
            <a:ext cx="566928" cy="238527"/>
          </a:xfrm>
          <a:prstGeom prst="rect">
            <a:avLst/>
          </a:prstGeom>
          <a:noFill/>
        </p:spPr>
        <p:txBody>
          <a:bodyPr wrap="square">
            <a:spAutoFit/>
          </a:bodyPr>
          <a:lstStyle/>
          <a:p>
            <a:pPr algn="ctr"/>
            <a:r>
              <a:rPr sz="9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400998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4028272"/>
            <a:ext cx="630936" cy="238527"/>
          </a:xfrm>
          <a:prstGeom prst="rect">
            <a:avLst/>
          </a:prstGeom>
          <a:noFill/>
        </p:spPr>
        <p:txBody>
          <a:bodyPr wrap="square">
            <a:spAutoFit/>
          </a:bodyPr>
          <a:lstStyle/>
          <a:p>
            <a:pPr algn="ctr"/>
            <a:r>
              <a:rPr sz="9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400998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4028272"/>
            <a:ext cx="585215" cy="238527"/>
          </a:xfrm>
          <a:prstGeom prst="rect">
            <a:avLst/>
          </a:prstGeom>
          <a:noFill/>
        </p:spPr>
        <p:txBody>
          <a:bodyPr wrap="square">
            <a:spAutoFit/>
          </a:bodyPr>
          <a:lstStyle/>
          <a:p>
            <a:pPr algn="ctr"/>
            <a:r>
              <a:rPr sz="9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45575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474041"/>
            <a:ext cx="329184" cy="238527"/>
          </a:xfrm>
          <a:prstGeom prst="rect">
            <a:avLst/>
          </a:prstGeom>
          <a:noFill/>
        </p:spPr>
        <p:txBody>
          <a:bodyPr wrap="square">
            <a:spAutoFit/>
          </a:bodyPr>
          <a:lstStyle/>
          <a:p>
            <a:pPr algn="ctr"/>
            <a:r>
              <a:rPr sz="950" b="0">
                <a:latin typeface="Calibri"/>
              </a:rPr>
              <a:t>7</a:t>
            </a: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45575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474041"/>
            <a:ext cx="512064" cy="238527"/>
          </a:xfrm>
          <a:prstGeom prst="rect">
            <a:avLst/>
          </a:prstGeom>
          <a:noFill/>
        </p:spPr>
        <p:txBody>
          <a:bodyPr wrap="square">
            <a:spAutoFit/>
          </a:bodyPr>
          <a:lstStyle/>
          <a:p>
            <a:pPr algn="ctr"/>
            <a:r>
              <a:rPr sz="9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45575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474041"/>
            <a:ext cx="402336" cy="238527"/>
          </a:xfrm>
          <a:prstGeom prst="rect">
            <a:avLst/>
          </a:prstGeom>
          <a:noFill/>
        </p:spPr>
        <p:txBody>
          <a:bodyPr wrap="square">
            <a:spAutoFit/>
          </a:bodyPr>
          <a:lstStyle/>
          <a:p>
            <a:pPr algn="ctr"/>
            <a:r>
              <a:rPr sz="9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45575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474041"/>
            <a:ext cx="402336" cy="238527"/>
          </a:xfrm>
          <a:prstGeom prst="rect">
            <a:avLst/>
          </a:prstGeom>
          <a:noFill/>
        </p:spPr>
        <p:txBody>
          <a:bodyPr wrap="square">
            <a:spAutoFit/>
          </a:bodyPr>
          <a:lstStyle/>
          <a:p>
            <a:pPr algn="ctr"/>
            <a:r>
              <a:rPr sz="9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474041"/>
            <a:ext cx="384048" cy="238527"/>
          </a:xfrm>
          <a:prstGeom prst="rect">
            <a:avLst/>
          </a:prstGeom>
          <a:noFill/>
        </p:spPr>
        <p:txBody>
          <a:bodyPr wrap="square">
            <a:spAutoFit/>
          </a:bodyPr>
          <a:lstStyle/>
          <a:p>
            <a:pPr algn="ctr"/>
            <a:r>
              <a:rPr sz="9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45575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474041"/>
            <a:ext cx="1938528" cy="230832"/>
          </a:xfrm>
          <a:prstGeom prst="rect">
            <a:avLst/>
          </a:prstGeom>
          <a:noFill/>
        </p:spPr>
        <p:txBody>
          <a:bodyPr wrap="square">
            <a:spAutoFit/>
          </a:bodyPr>
          <a:lstStyle/>
          <a:p>
            <a:pPr algn="ctr"/>
            <a:r>
              <a:rPr sz="90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45575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474041"/>
            <a:ext cx="493776" cy="238527"/>
          </a:xfrm>
          <a:prstGeom prst="rect">
            <a:avLst/>
          </a:prstGeom>
          <a:noFill/>
        </p:spPr>
        <p:txBody>
          <a:bodyPr wrap="square">
            <a:spAutoFit/>
          </a:bodyPr>
          <a:lstStyle/>
          <a:p>
            <a:pPr algn="ctr"/>
            <a:r>
              <a:rPr sz="9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45575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474041"/>
            <a:ext cx="566928" cy="238527"/>
          </a:xfrm>
          <a:prstGeom prst="rect">
            <a:avLst/>
          </a:prstGeom>
          <a:noFill/>
        </p:spPr>
        <p:txBody>
          <a:bodyPr wrap="square">
            <a:spAutoFit/>
          </a:bodyPr>
          <a:lstStyle/>
          <a:p>
            <a:pPr algn="ctr"/>
            <a:r>
              <a:rPr sz="9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45575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474041"/>
            <a:ext cx="630936" cy="238527"/>
          </a:xfrm>
          <a:prstGeom prst="rect">
            <a:avLst/>
          </a:prstGeom>
          <a:noFill/>
        </p:spPr>
        <p:txBody>
          <a:bodyPr wrap="square">
            <a:spAutoFit/>
          </a:bodyPr>
          <a:lstStyle/>
          <a:p>
            <a:pPr algn="ctr"/>
            <a:r>
              <a:rPr sz="9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45575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474041"/>
            <a:ext cx="585215" cy="238527"/>
          </a:xfrm>
          <a:prstGeom prst="rect">
            <a:avLst/>
          </a:prstGeom>
          <a:noFill/>
        </p:spPr>
        <p:txBody>
          <a:bodyPr wrap="square">
            <a:spAutoFit/>
          </a:bodyPr>
          <a:lstStyle/>
          <a:p>
            <a:pPr algn="ctr"/>
            <a:r>
              <a:rPr sz="9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90152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919812"/>
            <a:ext cx="329184" cy="238527"/>
          </a:xfrm>
          <a:prstGeom prst="rect">
            <a:avLst/>
          </a:prstGeom>
          <a:noFill/>
        </p:spPr>
        <p:txBody>
          <a:bodyPr wrap="square">
            <a:spAutoFit/>
          </a:bodyPr>
          <a:lstStyle/>
          <a:p>
            <a:pPr algn="ctr"/>
            <a:r>
              <a:rPr sz="950" b="0">
                <a:latin typeface="Calibri"/>
              </a:rPr>
              <a:t>8</a:t>
            </a: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90152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919812"/>
            <a:ext cx="512064" cy="238527"/>
          </a:xfrm>
          <a:prstGeom prst="rect">
            <a:avLst/>
          </a:prstGeom>
          <a:noFill/>
        </p:spPr>
        <p:txBody>
          <a:bodyPr wrap="square">
            <a:spAutoFit/>
          </a:bodyPr>
          <a:lstStyle/>
          <a:p>
            <a:pPr algn="ctr"/>
            <a:r>
              <a:rPr sz="9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90152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919812"/>
            <a:ext cx="402336" cy="238527"/>
          </a:xfrm>
          <a:prstGeom prst="rect">
            <a:avLst/>
          </a:prstGeom>
          <a:noFill/>
        </p:spPr>
        <p:txBody>
          <a:bodyPr wrap="square">
            <a:spAutoFit/>
          </a:bodyPr>
          <a:lstStyle/>
          <a:p>
            <a:pPr algn="ctr"/>
            <a:r>
              <a:rPr sz="9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90152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919812"/>
            <a:ext cx="402336" cy="238527"/>
          </a:xfrm>
          <a:prstGeom prst="rect">
            <a:avLst/>
          </a:prstGeom>
          <a:noFill/>
        </p:spPr>
        <p:txBody>
          <a:bodyPr wrap="square">
            <a:spAutoFit/>
          </a:bodyPr>
          <a:lstStyle/>
          <a:p>
            <a:pPr algn="ctr"/>
            <a:r>
              <a:rPr sz="9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90152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919812"/>
            <a:ext cx="384048" cy="238527"/>
          </a:xfrm>
          <a:prstGeom prst="rect">
            <a:avLst/>
          </a:prstGeom>
          <a:noFill/>
        </p:spPr>
        <p:txBody>
          <a:bodyPr wrap="square">
            <a:spAutoFit/>
          </a:bodyPr>
          <a:lstStyle/>
          <a:p>
            <a:pPr algn="ctr"/>
            <a:r>
              <a:rPr sz="9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90152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919812"/>
            <a:ext cx="1938528" cy="230832"/>
          </a:xfrm>
          <a:prstGeom prst="rect">
            <a:avLst/>
          </a:prstGeom>
          <a:noFill/>
        </p:spPr>
        <p:txBody>
          <a:bodyPr wrap="square">
            <a:spAutoFit/>
          </a:bodyPr>
          <a:lstStyle/>
          <a:p>
            <a:pPr algn="ctr"/>
            <a:r>
              <a:rPr sz="90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90152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919812"/>
            <a:ext cx="493776" cy="238527"/>
          </a:xfrm>
          <a:prstGeom prst="rect">
            <a:avLst/>
          </a:prstGeom>
          <a:noFill/>
        </p:spPr>
        <p:txBody>
          <a:bodyPr wrap="square">
            <a:spAutoFit/>
          </a:bodyPr>
          <a:lstStyle/>
          <a:p>
            <a:pPr algn="ctr"/>
            <a:r>
              <a:rPr sz="9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90152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919812"/>
            <a:ext cx="566928" cy="238527"/>
          </a:xfrm>
          <a:prstGeom prst="rect">
            <a:avLst/>
          </a:prstGeom>
          <a:noFill/>
        </p:spPr>
        <p:txBody>
          <a:bodyPr wrap="square">
            <a:spAutoFit/>
          </a:bodyPr>
          <a:lstStyle/>
          <a:p>
            <a:pPr algn="ctr"/>
            <a:r>
              <a:rPr sz="9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90152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919812"/>
            <a:ext cx="630936" cy="238527"/>
          </a:xfrm>
          <a:prstGeom prst="rect">
            <a:avLst/>
          </a:prstGeom>
          <a:noFill/>
        </p:spPr>
        <p:txBody>
          <a:bodyPr wrap="square">
            <a:spAutoFit/>
          </a:bodyPr>
          <a:lstStyle/>
          <a:p>
            <a:pPr algn="ctr"/>
            <a:r>
              <a:rPr sz="9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90152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919812"/>
            <a:ext cx="585215" cy="238527"/>
          </a:xfrm>
          <a:prstGeom prst="rect">
            <a:avLst/>
          </a:prstGeom>
          <a:noFill/>
        </p:spPr>
        <p:txBody>
          <a:bodyPr wrap="square">
            <a:spAutoFit/>
          </a:bodyPr>
          <a:lstStyle/>
          <a:p>
            <a:pPr algn="ctr"/>
            <a:r>
              <a:rPr sz="9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534729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5365582"/>
            <a:ext cx="329184" cy="238527"/>
          </a:xfrm>
          <a:prstGeom prst="rect">
            <a:avLst/>
          </a:prstGeom>
          <a:noFill/>
        </p:spPr>
        <p:txBody>
          <a:bodyPr wrap="square">
            <a:spAutoFit/>
          </a:bodyPr>
          <a:lstStyle/>
          <a:p>
            <a:pPr algn="ctr"/>
            <a:r>
              <a:rPr sz="950" b="0">
                <a:latin typeface="Calibri"/>
              </a:rPr>
              <a:t>9</a:t>
            </a: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534729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5365582"/>
            <a:ext cx="512064" cy="238527"/>
          </a:xfrm>
          <a:prstGeom prst="rect">
            <a:avLst/>
          </a:prstGeom>
          <a:noFill/>
        </p:spPr>
        <p:txBody>
          <a:bodyPr wrap="square">
            <a:spAutoFit/>
          </a:bodyPr>
          <a:lstStyle/>
          <a:p>
            <a:pPr algn="ctr"/>
            <a:r>
              <a:rPr sz="9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534729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5365582"/>
            <a:ext cx="402336" cy="238527"/>
          </a:xfrm>
          <a:prstGeom prst="rect">
            <a:avLst/>
          </a:prstGeom>
          <a:noFill/>
        </p:spPr>
        <p:txBody>
          <a:bodyPr wrap="square">
            <a:spAutoFit/>
          </a:bodyPr>
          <a:lstStyle/>
          <a:p>
            <a:pPr algn="ctr"/>
            <a:r>
              <a:rPr sz="9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534729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5365582"/>
            <a:ext cx="402336" cy="238527"/>
          </a:xfrm>
          <a:prstGeom prst="rect">
            <a:avLst/>
          </a:prstGeom>
          <a:noFill/>
        </p:spPr>
        <p:txBody>
          <a:bodyPr wrap="square">
            <a:spAutoFit/>
          </a:bodyPr>
          <a:lstStyle/>
          <a:p>
            <a:pPr algn="ctr"/>
            <a:r>
              <a:rPr sz="9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534729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5365582"/>
            <a:ext cx="384048" cy="238527"/>
          </a:xfrm>
          <a:prstGeom prst="rect">
            <a:avLst/>
          </a:prstGeom>
          <a:noFill/>
        </p:spPr>
        <p:txBody>
          <a:bodyPr wrap="square">
            <a:spAutoFit/>
          </a:bodyPr>
          <a:lstStyle/>
          <a:p>
            <a:pPr algn="ctr"/>
            <a:r>
              <a:rPr sz="9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534729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5365582"/>
            <a:ext cx="1938528" cy="230832"/>
          </a:xfrm>
          <a:prstGeom prst="rect">
            <a:avLst/>
          </a:prstGeom>
          <a:noFill/>
        </p:spPr>
        <p:txBody>
          <a:bodyPr wrap="square">
            <a:spAutoFit/>
          </a:bodyPr>
          <a:lstStyle/>
          <a:p>
            <a:pPr algn="ctr"/>
            <a:r>
              <a:rPr sz="90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534729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5365582"/>
            <a:ext cx="493776" cy="238527"/>
          </a:xfrm>
          <a:prstGeom prst="rect">
            <a:avLst/>
          </a:prstGeom>
          <a:noFill/>
        </p:spPr>
        <p:txBody>
          <a:bodyPr wrap="square">
            <a:spAutoFit/>
          </a:bodyPr>
          <a:lstStyle/>
          <a:p>
            <a:pPr algn="ctr"/>
            <a:r>
              <a:rPr sz="9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534729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5365582"/>
            <a:ext cx="566928" cy="238527"/>
          </a:xfrm>
          <a:prstGeom prst="rect">
            <a:avLst/>
          </a:prstGeom>
          <a:noFill/>
        </p:spPr>
        <p:txBody>
          <a:bodyPr wrap="square">
            <a:spAutoFit/>
          </a:bodyPr>
          <a:lstStyle/>
          <a:p>
            <a:pPr algn="ctr"/>
            <a:r>
              <a:rPr sz="9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534729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5365582"/>
            <a:ext cx="630936" cy="238527"/>
          </a:xfrm>
          <a:prstGeom prst="rect">
            <a:avLst/>
          </a:prstGeom>
          <a:noFill/>
        </p:spPr>
        <p:txBody>
          <a:bodyPr wrap="square">
            <a:spAutoFit/>
          </a:bodyPr>
          <a:lstStyle/>
          <a:p>
            <a:pPr algn="ctr"/>
            <a:r>
              <a:rPr sz="9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534729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5365582"/>
            <a:ext cx="585215" cy="238527"/>
          </a:xfrm>
          <a:prstGeom prst="rect">
            <a:avLst/>
          </a:prstGeom>
          <a:noFill/>
        </p:spPr>
        <p:txBody>
          <a:bodyPr wrap="square">
            <a:spAutoFit/>
          </a:bodyPr>
          <a:lstStyle/>
          <a:p>
            <a:pPr algn="ctr"/>
            <a:r>
              <a:rPr sz="9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7930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811352"/>
            <a:ext cx="329184" cy="238527"/>
          </a:xfrm>
          <a:prstGeom prst="rect">
            <a:avLst/>
          </a:prstGeom>
          <a:noFill/>
        </p:spPr>
        <p:txBody>
          <a:bodyPr wrap="square">
            <a:spAutoFit/>
          </a:bodyPr>
          <a:lstStyle/>
          <a:p>
            <a:pPr algn="ctr"/>
            <a:r>
              <a:rPr sz="950" b="0">
                <a:latin typeface="Calibri"/>
              </a:rPr>
              <a:t>10</a:t>
            </a: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7930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811352"/>
            <a:ext cx="512064" cy="238527"/>
          </a:xfrm>
          <a:prstGeom prst="rect">
            <a:avLst/>
          </a:prstGeom>
          <a:noFill/>
        </p:spPr>
        <p:txBody>
          <a:bodyPr wrap="square">
            <a:spAutoFit/>
          </a:bodyPr>
          <a:lstStyle/>
          <a:p>
            <a:pPr algn="ctr"/>
            <a:r>
              <a:rPr sz="9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7930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811352"/>
            <a:ext cx="402336" cy="238527"/>
          </a:xfrm>
          <a:prstGeom prst="rect">
            <a:avLst/>
          </a:prstGeom>
          <a:noFill/>
        </p:spPr>
        <p:txBody>
          <a:bodyPr wrap="square">
            <a:spAutoFit/>
          </a:bodyPr>
          <a:lstStyle/>
          <a:p>
            <a:pPr algn="ctr"/>
            <a:r>
              <a:rPr sz="9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7930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811352"/>
            <a:ext cx="402336" cy="238527"/>
          </a:xfrm>
          <a:prstGeom prst="rect">
            <a:avLst/>
          </a:prstGeom>
          <a:noFill/>
        </p:spPr>
        <p:txBody>
          <a:bodyPr wrap="square">
            <a:spAutoFit/>
          </a:bodyPr>
          <a:lstStyle/>
          <a:p>
            <a:pPr algn="ctr"/>
            <a:r>
              <a:rPr sz="9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79306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811352"/>
            <a:ext cx="384048" cy="238527"/>
          </a:xfrm>
          <a:prstGeom prst="rect">
            <a:avLst/>
          </a:prstGeom>
          <a:noFill/>
        </p:spPr>
        <p:txBody>
          <a:bodyPr wrap="square">
            <a:spAutoFit/>
          </a:bodyPr>
          <a:lstStyle/>
          <a:p>
            <a:pPr algn="ctr"/>
            <a:r>
              <a:rPr sz="9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7930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811352"/>
            <a:ext cx="1938528" cy="230832"/>
          </a:xfrm>
          <a:prstGeom prst="rect">
            <a:avLst/>
          </a:prstGeom>
          <a:noFill/>
        </p:spPr>
        <p:txBody>
          <a:bodyPr wrap="square">
            <a:spAutoFit/>
          </a:bodyPr>
          <a:lstStyle/>
          <a:p>
            <a:pPr algn="ctr"/>
            <a:r>
              <a:rPr sz="90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7930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811352"/>
            <a:ext cx="493776" cy="238527"/>
          </a:xfrm>
          <a:prstGeom prst="rect">
            <a:avLst/>
          </a:prstGeom>
          <a:noFill/>
        </p:spPr>
        <p:txBody>
          <a:bodyPr wrap="square">
            <a:spAutoFit/>
          </a:bodyPr>
          <a:lstStyle/>
          <a:p>
            <a:pPr algn="ctr"/>
            <a:r>
              <a:rPr sz="9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7930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811352"/>
            <a:ext cx="566928" cy="238527"/>
          </a:xfrm>
          <a:prstGeom prst="rect">
            <a:avLst/>
          </a:prstGeom>
          <a:noFill/>
        </p:spPr>
        <p:txBody>
          <a:bodyPr wrap="square">
            <a:spAutoFit/>
          </a:bodyPr>
          <a:lstStyle/>
          <a:p>
            <a:pPr algn="ctr"/>
            <a:r>
              <a:rPr sz="9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7930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811352"/>
            <a:ext cx="630936" cy="238527"/>
          </a:xfrm>
          <a:prstGeom prst="rect">
            <a:avLst/>
          </a:prstGeom>
          <a:noFill/>
        </p:spPr>
        <p:txBody>
          <a:bodyPr wrap="square">
            <a:spAutoFit/>
          </a:bodyPr>
          <a:lstStyle/>
          <a:p>
            <a:pPr algn="ctr"/>
            <a:r>
              <a:rPr sz="9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7930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811352"/>
            <a:ext cx="585215" cy="238527"/>
          </a:xfrm>
          <a:prstGeom prst="rect">
            <a:avLst/>
          </a:prstGeom>
          <a:noFill/>
        </p:spPr>
        <p:txBody>
          <a:bodyPr wrap="square">
            <a:spAutoFit/>
          </a:bodyPr>
          <a:lstStyle/>
          <a:p>
            <a:pPr algn="ctr"/>
            <a:r>
              <a:rPr sz="9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mc:Choice xmlns:a14="http://schemas.microsoft.com/office/drawing/2010/main"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m:ctrlPr>
                      </m:sSubPr>
                      <m:e>
                        <m:r>
                          <a:rPr lang="es-AR" sz="1400" i="1"/>
                          <m:t>𝜃</m:t>
                        </m:r>
                      </m:e>
                      <m:sub>
                        <m:r>
                          <a:rPr lang="es-AR" sz="1400" i="1"/>
                          <m:t>𝑟</m:t>
                        </m:r>
                      </m:sub>
                    </m:sSub>
                    <m:d>
                      <m:dPr>
                        <m:ctrlPr>
                          <a:rPr lang="es-AR" sz="1400" i="1"/>
                        </m:ctrlPr>
                      </m:dPr>
                      <m:e>
                        <m:r>
                          <a:rPr lang="es-AR" sz="1400" i="1"/>
                          <m:t>𝑡</m:t>
                        </m:r>
                      </m:e>
                    </m:d>
                    <m:r>
                      <a:rPr lang="es-AR" sz="1400" i="1"/>
                      <m:t> </m:t>
                    </m:r>
                  </m:oMath>
                </a14:m>
                <a:r>
                  <a:rPr lang="es-AR" sz="1400" b="0" i="0" dirty="0">
                    <a:solidFill>
                      <a:srgbClr val="1A1A2E"/>
                    </a:solidFill>
                    <a:latin typeface="Calibri"/>
                  </a:rPr>
                  <a:t>:</a:t>
                </a:r>
              </a:p>
            </p:txBody>
          </p:sp>
        </mc:Choice>
        <mc:Fallback>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mc:Choice xmlns:a14="http://schemas.microsoft.com/office/drawing/2010/main"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libri"/>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libri"/>
                      </a:rPr>
                      <m:t>𝛼𝛽</m:t>
                    </m:r>
                  </m:oMath>
                </a14:m>
                <a:r>
                  <a:rPr lang="es-AR" sz="1400" dirty="0">
                    <a:solidFill>
                      <a:srgbClr val="1A1A2E"/>
                    </a:solidFill>
                    <a:latin typeface="Calibri"/>
                  </a:rPr>
                  <a:t>, para luego calcular </a:t>
                </a:r>
                <a14:m>
                  <m:oMath xmlns:m="http://schemas.openxmlformats.org/officeDocument/2006/math">
                    <m:sSub>
                      <m:sSubPr>
                        <m:ctrlPr>
                          <a:rPr lang="es-AR" sz="1400">
                            <a:solidFill>
                              <a:srgbClr val="1A1A2E"/>
                            </a:solidFill>
                            <a:latin typeface="Calibri"/>
                          </a:rPr>
                        </m:ctrlPr>
                      </m:sSubPr>
                      <m:e>
                        <m:r>
                          <a:rPr lang="es-AR" sz="1400">
                            <a:solidFill>
                              <a:srgbClr val="1A1A2E"/>
                            </a:solidFill>
                            <a:latin typeface="Calibri"/>
                          </a:rPr>
                          <m:t>𝜃</m:t>
                        </m:r>
                      </m:e>
                      <m:sub>
                        <m:r>
                          <a:rPr lang="es-AR" sz="1400">
                            <a:solidFill>
                              <a:srgbClr val="1A1A2E"/>
                            </a:solidFill>
                            <a:latin typeface="Calibri"/>
                          </a:rPr>
                          <m:t>𝑒𝑣</m:t>
                        </m:r>
                      </m:sub>
                    </m:sSub>
                    <m:d>
                      <m:dPr>
                        <m:ctrlPr>
                          <a:rPr lang="es-AR" sz="1400">
                            <a:solidFill>
                              <a:srgbClr val="1A1A2E"/>
                            </a:solidFill>
                            <a:latin typeface="Calibri"/>
                          </a:rPr>
                        </m:ctrlPr>
                      </m:dPr>
                      <m:e>
                        <m:r>
                          <a:rPr lang="es-AR" sz="1400">
                            <a:solidFill>
                              <a:srgbClr val="1A1A2E"/>
                            </a:solidFill>
                            <a:latin typeface="Calibri"/>
                          </a:rPr>
                          <m:t>𝑡</m:t>
                        </m:r>
                      </m:e>
                    </m:d>
                  </m:oMath>
                </a14:m>
                <a:r>
                  <a:rPr lang="es-AR" sz="1400" dirty="0">
                    <a:solidFill>
                      <a:srgbClr val="1A1A2E"/>
                    </a:solidFill>
                    <a:latin typeface="Calibri"/>
                  </a:rPr>
                  <a:t> </a:t>
                </a:r>
              </a:p>
            </p:txBody>
          </p:sp>
        </mc:Choice>
        <mc:Fallback>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rPr>
                          </m:ctrlPr>
                        </m:sSubPr>
                        <m:e>
                          <m:r>
                            <a:rPr lang="es-MX" sz="1400" b="0" i="1" smtClean="0">
                              <a:solidFill>
                                <a:schemeClr val="tx1"/>
                              </a:solidFill>
                              <a:latin typeface="Cambria Math" panose="02040503050406030204" pitchFamily="18" charset="0"/>
                            </a:rPr>
                            <m:t>          </m:t>
                          </m:r>
                          <m:r>
                            <a:rPr lang="es-AR" sz="1400" i="1">
                              <a:solidFill>
                                <a:schemeClr val="tx1"/>
                              </a:solidFill>
                            </a:rPr>
                            <m:t>𝜃</m:t>
                          </m:r>
                        </m:e>
                        <m:sub>
                          <m:r>
                            <a:rPr lang="es-AR" sz="1400" i="1">
                              <a:solidFill>
                                <a:schemeClr val="tx1"/>
                              </a:solidFill>
                            </a:rPr>
                            <m:t>𝑒𝑣</m:t>
                          </m:r>
                        </m:sub>
                      </m:sSub>
                      <m:d>
                        <m:dPr>
                          <m:ctrlPr>
                            <a:rPr lang="es-AR" sz="1400" i="1">
                              <a:solidFill>
                                <a:schemeClr val="tx1"/>
                              </a:solidFill>
                            </a:rPr>
                          </m:ctrlPr>
                        </m:dPr>
                        <m:e>
                          <m:r>
                            <a:rPr lang="es-AR" sz="1400" i="1">
                              <a:solidFill>
                                <a:schemeClr val="tx1"/>
                              </a:solidFill>
                            </a:rPr>
                            <m:t>𝑡</m:t>
                          </m:r>
                        </m:e>
                      </m:d>
                      <m:r>
                        <a:rPr lang="es-AR" sz="1400" i="1">
                          <a:solidFill>
                            <a:schemeClr val="tx1"/>
                          </a:solidFill>
                        </a:rPr>
                        <m:t>=</m:t>
                      </m:r>
                      <m:r>
                        <a:rPr lang="es-AR" sz="1400" i="1">
                          <a:solidFill>
                            <a:schemeClr val="tx1"/>
                          </a:solidFill>
                        </a:rPr>
                        <m:t>𝑎𝑡𝑎𝑛</m:t>
                      </m:r>
                      <m:r>
                        <a:rPr lang="es-AR" sz="1400" i="1">
                          <a:solidFill>
                            <a:schemeClr val="tx1"/>
                          </a:solidFill>
                        </a:rPr>
                        <m:t>2</m:t>
                      </m:r>
                      <m:d>
                        <m:dPr>
                          <m:ctrlPr>
                            <a:rPr lang="es-AR" sz="1400" i="1">
                              <a:solidFill>
                                <a:schemeClr val="tx1"/>
                              </a:solidFill>
                            </a:rPr>
                          </m:ctrlPr>
                        </m:dPr>
                        <m:e>
                          <m:sSub>
                            <m:sSubPr>
                              <m:ctrlPr>
                                <a:rPr lang="es-AR" sz="1400" i="1">
                                  <a:solidFill>
                                    <a:schemeClr val="tx1"/>
                                  </a:solidFill>
                                </a:rPr>
                              </m:ctrlPr>
                            </m:sSubPr>
                            <m:e>
                              <m:r>
                                <a:rPr lang="es-AR" sz="1400" i="1">
                                  <a:solidFill>
                                    <a:schemeClr val="tx1"/>
                                  </a:solidFill>
                                </a:rPr>
                                <m:t>𝑣</m:t>
                              </m:r>
                            </m:e>
                            <m:sub>
                              <m:r>
                                <a:rPr lang="es-AR" sz="1400" i="1">
                                  <a:solidFill>
                                    <a:schemeClr val="tx1"/>
                                  </a:solidFill>
                                </a:rPr>
                                <m:t>𝛽</m:t>
                              </m:r>
                            </m:sub>
                          </m:sSub>
                          <m:r>
                            <a:rPr lang="es-AR" sz="1400" i="1">
                              <a:solidFill>
                                <a:schemeClr val="tx1"/>
                              </a:solidFill>
                            </a:rPr>
                            <m:t>,</m:t>
                          </m:r>
                          <m:sSub>
                            <m:sSubPr>
                              <m:ctrlPr>
                                <a:rPr lang="es-AR" sz="1400" i="1">
                                  <a:solidFill>
                                    <a:schemeClr val="tx1"/>
                                  </a:solidFill>
                                </a:rPr>
                              </m:ctrlPr>
                            </m:sSubPr>
                            <m:e>
                              <m:r>
                                <a:rPr lang="es-AR" sz="1400" i="1">
                                  <a:solidFill>
                                    <a:schemeClr val="tx1"/>
                                  </a:solidFill>
                                </a:rPr>
                                <m:t>𝑣</m:t>
                              </m:r>
                            </m:e>
                            <m:sub>
                              <m:r>
                                <a:rPr lang="es-AR" sz="1400" i="1">
                                  <a:solidFill>
                                    <a:schemeClr val="tx1"/>
                                  </a:solidFill>
                                </a:rPr>
                                <m:t>𝛼</m:t>
                              </m:r>
                            </m:sub>
                          </m:sSub>
                        </m:e>
                      </m:d>
                    </m:oMath>
                  </m:oMathPara>
                </a14:m>
                <a:endParaRPr lang="es-AR" sz="1400" dirty="0">
                  <a:solidFill>
                    <a:schemeClr val="tx1"/>
                  </a:solidFill>
                </a:endParaRPr>
              </a:p>
            </p:txBody>
          </p:sp>
        </mc:Choice>
        <mc:Fallback>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mc:Choice xmlns:a14="http://schemas.microsoft.com/office/drawing/2010/main"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mc:Choice xmlns:a14="http://schemas.microsoft.com/office/drawing/2010/main"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a:solidFill>
                              <a:srgbClr val="1A3A6B"/>
                            </a:solidFill>
                            <a:latin typeface="Calibri"/>
                          </a:rPr>
                        </m:ctrlPr>
                      </m:sSubPr>
                      <m:e>
                        <m:r>
                          <a:rPr lang="es-AR" sz="1400" b="1" i="1">
                            <a:solidFill>
                              <a:srgbClr val="1A3A6B"/>
                            </a:solidFill>
                            <a:latin typeface="Calibri"/>
                          </a:rPr>
                          <m:t>𝝎</m:t>
                        </m:r>
                      </m:e>
                      <m:sub>
                        <m:r>
                          <a:rPr lang="es-AR" sz="1400" b="1" i="1">
                            <a:solidFill>
                              <a:srgbClr val="1A3A6B"/>
                            </a:solidFill>
                            <a:latin typeface="Calibri"/>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a:solidFill>
                              <a:srgbClr val="1A3A6B"/>
                            </a:solidFill>
                            <a:latin typeface="Calibri"/>
                          </a:rPr>
                        </m:ctrlPr>
                      </m:sSubSupPr>
                      <m:e>
                        <m:r>
                          <a:rPr lang="es-AR" sz="1400" b="1" i="1">
                            <a:solidFill>
                              <a:srgbClr val="1A3A6B"/>
                            </a:solidFill>
                            <a:latin typeface="Calibri"/>
                          </a:rPr>
                          <m:t>𝒊</m:t>
                        </m:r>
                      </m:e>
                      <m:sub>
                        <m:r>
                          <a:rPr lang="es-AR" sz="1400" b="1" i="1">
                            <a:solidFill>
                              <a:srgbClr val="1A3A6B"/>
                            </a:solidFill>
                            <a:latin typeface="Calibri"/>
                          </a:rPr>
                          <m:t>𝒒𝒔</m:t>
                        </m:r>
                      </m:sub>
                      <m:sup>
                        <m:r>
                          <a:rPr lang="es-AR" sz="1400" b="1" i="1">
                            <a:solidFill>
                              <a:srgbClr val="1A3A6B"/>
                            </a:solidFill>
                            <a:latin typeface="Calibri"/>
                          </a:rPr>
                          <m:t>𝒓</m:t>
                        </m:r>
                      </m:sup>
                    </m:sSubSup>
                    <m:d>
                      <m:dPr>
                        <m:ctrlPr>
                          <a:rPr lang="es-AR" sz="1400" b="1">
                            <a:solidFill>
                              <a:srgbClr val="1A3A6B"/>
                            </a:solidFill>
                            <a:latin typeface="Calibri"/>
                          </a:rPr>
                        </m:ctrlPr>
                      </m:dPr>
                      <m:e>
                        <m:r>
                          <a:rPr lang="es-AR" sz="1400" b="1" i="1">
                            <a:solidFill>
                              <a:srgbClr val="1A3A6B"/>
                            </a:solidFill>
                            <a:latin typeface="Calibri"/>
                          </a:rPr>
                          <m:t>𝒕</m:t>
                        </m:r>
                      </m:e>
                    </m:d>
                  </m:oMath>
                </a14:m>
                <a:r>
                  <a:rPr sz="1400" b="1" dirty="0">
                    <a:solidFill>
                      <a:srgbClr val="1A3A6B"/>
                    </a:solidFill>
                    <a:latin typeface="Calibri"/>
                  </a:rPr>
                  <a:t>:</a:t>
                </a:r>
              </a:p>
            </p:txBody>
          </p:sp>
        </mc:Choice>
        <mc:Fallback>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mc:Choice xmlns:a14="http://schemas.microsoft.com/office/drawing/2010/main"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mc:Choice xmlns:a14="http://schemas.microsoft.com/office/drawing/2010/main"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m:ctrlPr>
                      </m:sSubSupPr>
                      <m:e>
                        <m:r>
                          <a:rPr lang="es-AR"/>
                          <m:t>𝑖</m:t>
                        </m:r>
                      </m:e>
                      <m:sub>
                        <m:r>
                          <a:rPr lang="es-AR"/>
                          <m:t>𝑑𝑠</m:t>
                        </m:r>
                      </m:sub>
                      <m:sup>
                        <m:r>
                          <a:rPr lang="es-AR"/>
                          <m:t>𝑟</m:t>
                        </m:r>
                      </m:sup>
                    </m:sSubSup>
                    <m:d>
                      <m:dPr>
                        <m:ctrlPr>
                          <a:rPr lang="es-AR"/>
                        </m:ctrlPr>
                      </m:dPr>
                      <m:e>
                        <m:r>
                          <a:rPr lang="es-AR"/>
                          <m:t>𝑡</m:t>
                        </m:r>
                      </m:e>
                    </m:d>
                    <m:r>
                      <a:rPr lang="es-AR"/>
                      <m:t>=+</m:t>
                    </m:r>
                    <m:r>
                      <a:rPr lang="es-AR"/>
                      <m:t>0</m:t>
                    </m:r>
                    <m:r>
                      <a:rPr lang="es-AR"/>
                      <m:t>.</m:t>
                    </m:r>
                    <m:r>
                      <a:rPr lang="es-AR"/>
                      <m:t>5</m:t>
                    </m:r>
                    <m:r>
                      <a:rPr lang="es-AR"/>
                      <m:t> </m:t>
                    </m:r>
                    <m:r>
                      <a:rPr lang="es-AR"/>
                      <m:t>𝐴</m:t>
                    </m:r>
                  </m:oMath>
                </a14:m>
                <a:endParaRPr lang="es-AR" dirty="0"/>
              </a:p>
            </p:txBody>
          </p:sp>
        </mc:Choice>
        <mc:Fallback>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mc:Choice xmlns:a14="http://schemas.microsoft.com/office/drawing/2010/main"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mc:Choice xmlns:a14="http://schemas.microsoft.com/office/drawing/2010/main"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m:ctrlPr>
                      </m:sSubSupPr>
                      <m:e>
                        <m:r>
                          <a:rPr lang="es-AR" sz="1400" i="1"/>
                          <m:t>𝑣</m:t>
                        </m:r>
                      </m:e>
                      <m:sub>
                        <m:r>
                          <a:rPr lang="es-AR" sz="1400" i="1"/>
                          <m:t>𝑑𝑠</m:t>
                        </m:r>
                      </m:sub>
                      <m:sup>
                        <m:r>
                          <a:rPr lang="es-AR" sz="1400" i="1"/>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9" name="CuadroTexto 18">
                <a:extLst>
                  <a:ext uri="{FF2B5EF4-FFF2-40B4-BE49-F238E27FC236}">
                    <a16:creationId xmlns:a16="http://schemas.microsoft.com/office/drawing/2014/main" id="{83B7EEBF-4549-4755-BFA4-FFFE198121EB}"/>
                  </a:ext>
                </a:extLst>
              </p:cNvPr>
              <p:cNvSpPr txBox="1"/>
              <p:nvPr/>
            </p:nvSpPr>
            <p:spPr>
              <a:xfrm>
                <a:off x="1990078" y="383515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m:ctrlPr>
                      </m:sSubSupPr>
                      <m:e>
                        <m:r>
                          <a:rPr lang="es-AR"/>
                          <m:t>𝑣</m:t>
                        </m:r>
                      </m:e>
                      <m:sub>
                        <m:r>
                          <a:rPr lang="es-AR"/>
                          <m:t>𝑑𝑠</m:t>
                        </m:r>
                      </m:sub>
                      <m:sup>
                        <m:r>
                          <a:rPr lang="es-AR"/>
                          <m:t>𝑟</m:t>
                        </m:r>
                      </m:sup>
                    </m:sSubSup>
                  </m:oMath>
                </a14:m>
                <a:r>
                  <a:rPr lang="es-AR" dirty="0"/>
                  <a:t> en </a:t>
                </a:r>
                <a14:m>
                  <m:oMath xmlns:m="http://schemas.openxmlformats.org/officeDocument/2006/math">
                    <m:sSub>
                      <m:sSubPr>
                        <m:ctrlPr>
                          <a:rPr lang="es-AR"/>
                        </m:ctrlPr>
                      </m:sSubPr>
                      <m:e>
                        <m:r>
                          <a:rPr lang="es-AR"/>
                          <m:t>𝜔</m:t>
                        </m:r>
                      </m:e>
                      <m:sub>
                        <m:r>
                          <a:rPr lang="es-AR"/>
                          <m:t>𝑚</m:t>
                        </m:r>
                      </m:sub>
                    </m:sSub>
                  </m:oMath>
                </a14:m>
                <a:endParaRPr lang="es-AR" dirty="0"/>
              </a:p>
            </p:txBody>
          </p:sp>
        </mc:Choice>
        <mc:Fallback>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1990078" y="3835153"/>
                <a:ext cx="3613212" cy="262059"/>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m:ctrlPr>
                      </m:sSubSupPr>
                      <m:e>
                        <m:r>
                          <a:rPr lang="es-AR"/>
                          <m:t>𝑣</m:t>
                        </m:r>
                      </m:e>
                      <m:sub>
                        <m:r>
                          <a:rPr lang="es-AR"/>
                          <m:t>𝑑𝑠</m:t>
                        </m:r>
                      </m:sub>
                      <m:sup>
                        <m:r>
                          <a:rPr lang="es-AR"/>
                          <m:t>𝑟</m:t>
                        </m:r>
                      </m:sup>
                    </m:sSubSup>
                  </m:oMath>
                </a14:m>
                <a:r>
                  <a:rPr lang="es-AR" dirty="0"/>
                  <a:t> en </a:t>
                </a:r>
                <a14:m>
                  <m:oMath xmlns:m="http://schemas.openxmlformats.org/officeDocument/2006/math">
                    <m:sSub>
                      <m:sSubPr>
                        <m:ctrlPr>
                          <a:rPr lang="es-AR"/>
                        </m:ctrlPr>
                      </m:sSubPr>
                      <m:e>
                        <m:r>
                          <a:rPr lang="es-AR"/>
                          <m:t>𝑇</m:t>
                        </m:r>
                      </m:e>
                      <m:sub>
                        <m:r>
                          <a:rPr lang="es-AR"/>
                          <m:t>𝑚</m:t>
                        </m:r>
                      </m:sub>
                    </m:sSub>
                  </m:oMath>
                </a14:m>
                <a:endParaRPr lang="es-AR" dirty="0"/>
              </a:p>
            </p:txBody>
          </p:sp>
        </mc:Choice>
        <mc:Fallback>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5"/>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8370" y="1486499"/>
            <a:ext cx="7356628" cy="2348654"/>
          </a:xfrm>
          <a:prstGeom prst="rect">
            <a:avLst/>
          </a:prstGeom>
          <a:noFill/>
          <a:ln>
            <a:noFill/>
          </a:ln>
        </p:spPr>
      </p:pic>
      <p:pic>
        <p:nvPicPr>
          <p:cNvPr id="12" name="Imagen 11">
            <a:extLst>
              <a:ext uri="{FF2B5EF4-FFF2-40B4-BE49-F238E27FC236}">
                <a16:creationId xmlns:a16="http://schemas.microsoft.com/office/drawing/2014/main" id="{8F9EA927-07BE-4441-976A-0DA54EBF50EA}"/>
              </a:ext>
            </a:extLst>
          </p:cNvPr>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554245" y="3925209"/>
            <a:ext cx="7519385" cy="2318361"/>
          </a:xfrm>
          <a:prstGeom prst="rect">
            <a:avLst/>
          </a:prstGeom>
          <a:noFill/>
          <a:ln>
            <a:noFill/>
          </a:ln>
        </p:spPr>
      </p:pic>
      <mc:AlternateContent xmlns:mc="http://schemas.openxmlformats.org/markup-compatibility/2006">
        <mc:Choice xmlns:a14="http://schemas.microsoft.com/office/drawing/2010/main" Requires="a14">
          <p:sp>
            <p:nvSpPr>
              <p:cNvPr id="13" name="CuadroTexto 12">
                <a:extLst>
                  <a:ext uri="{FF2B5EF4-FFF2-40B4-BE49-F238E27FC236}">
                    <a16:creationId xmlns:a16="http://schemas.microsoft.com/office/drawing/2014/main" id="{E069B695-941F-4C10-9C30-81414F32F5C7}"/>
                  </a:ext>
                </a:extLst>
              </p:cNvPr>
              <p:cNvSpPr txBox="1"/>
              <p:nvPr/>
            </p:nvSpPr>
            <p:spPr>
              <a:xfrm>
                <a:off x="7749318" y="1855894"/>
                <a:ext cx="4442377" cy="523220"/>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rPr>
                      <m:t>𝑡</m:t>
                    </m:r>
                    <m:r>
                      <a:rPr lang="es-AR" sz="1400" i="1">
                        <a:solidFill>
                          <a:schemeClr val="tx1"/>
                        </a:solidFill>
                      </a:rPr>
                      <m:t>=</m:t>
                    </m:r>
                    <m:r>
                      <a:rPr lang="es-AR" sz="1400" i="1">
                        <a:solidFill>
                          <a:schemeClr val="tx1"/>
                        </a:solidFill>
                      </a:rPr>
                      <m:t>0</m:t>
                    </m:r>
                    <m:r>
                      <a:rPr lang="es-AR" sz="1400" i="1">
                        <a:solidFill>
                          <a:schemeClr val="tx1"/>
                        </a:solidFill>
                      </a:rPr>
                      <m:t>.</m:t>
                    </m:r>
                    <m:r>
                      <a:rPr lang="es-AR" sz="1400" i="1">
                        <a:solidFill>
                          <a:schemeClr val="tx1"/>
                        </a:solidFill>
                      </a:rPr>
                      <m:t>5</m:t>
                    </m:r>
                    <m:r>
                      <a:rPr lang="es-AR" sz="1400" i="1">
                        <a:solidFill>
                          <a:schemeClr val="tx1"/>
                        </a:solidFill>
                      </a:rPr>
                      <m:t> </m:t>
                    </m:r>
                    <m:r>
                      <a:rPr lang="es-AR" sz="1400" i="1">
                        <a:solidFill>
                          <a:schemeClr val="tx1"/>
                        </a:solidFill>
                      </a:rPr>
                      <m:t>𝑠</m:t>
                    </m:r>
                  </m:oMath>
                </a14:m>
                <a:endParaRPr lang="es-AR" sz="1400" dirty="0">
                  <a:solidFill>
                    <a:schemeClr val="tx1"/>
                  </a:solidFill>
                </a:endParaRPr>
              </a:p>
            </p:txBody>
          </p:sp>
        </mc:Choice>
        <mc:Fallback>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7749318" y="1855894"/>
                <a:ext cx="4442377" cy="523220"/>
              </a:xfrm>
              <a:prstGeom prst="rect">
                <a:avLst/>
              </a:prstGeom>
              <a:blipFill>
                <a:blip r:embed="rId8"/>
                <a:stretch>
                  <a:fillRect l="-412" t="-1163" b="-11628"/>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mc:Choice xmlns:a14="http://schemas.microsoft.com/office/drawing/2010/main"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b="0" i="1">
                            <a:latin typeface="Cambria Math" panose="02040503050406030204" pitchFamily="18" charset="0"/>
                            <a:ea typeface="Calibri" panose="020F0502020204030204" pitchFamily="34" charset="0"/>
                            <a:cs typeface="Times New Roman" panose="02020603050405020304" pitchFamily="18" charset="0"/>
                          </a:rPr>
                          <m:t>𝜔</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MX" sz="1600" dirty="0"/>
                  <a:t> en régimen; picos de Tm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65760" y="777240"/>
            <a:ext cx="11430000" cy="338554"/>
          </a:xfrm>
          <a:prstGeom prst="rect">
            <a:avLst/>
          </a:prstGeom>
          <a:noFill/>
        </p:spPr>
        <p:txBody>
          <a:bodyPr wrap="square">
            <a:spAutoFit/>
          </a:bodyPr>
          <a:lstStyle/>
          <a:p>
            <a:pPr algn="l"/>
            <a:r>
              <a:rPr lang="es-AR" sz="1600" b="0" i="0"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genera consignas de torque para seguir la referencia de posición/velocidad. Genera las consignas de torque necesarias para seguir la referencia deseada, las cuales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genera las consignas de torque necesarias para que el sistema siga un perfil de posición o velocidad especificado.</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a:latin typeface="Calibri" panose="020F0502020204030204" pitchFamily="34" charset="0"/>
                            <a:ea typeface="Calibri" panose="020F0502020204030204" pitchFamily="34" charset="0"/>
                          </a:rPr>
                        </m:ctrlPr>
                      </m:sSupPr>
                      <m:e>
                        <m:r>
                          <a:rPr lang="es-AR" sz="1400">
                            <a:latin typeface="Calibri" panose="020F0502020204030204" pitchFamily="34" charset="0"/>
                            <a:ea typeface="Calibri" panose="020F0502020204030204" pitchFamily="34" charset="0"/>
                          </a:rPr>
                          <m:t>𝑞𝑑</m:t>
                        </m:r>
                        <m:r>
                          <a:rPr lang="es-AR" sz="1400">
                            <a:latin typeface="Calibri" panose="020F0502020204030204" pitchFamily="34" charset="0"/>
                            <a:ea typeface="Calibri" panose="020F0502020204030204" pitchFamily="34" charset="0"/>
                          </a:rPr>
                          <m:t>0</m:t>
                        </m:r>
                      </m:e>
                      <m:sup>
                        <m:r>
                          <a:rPr lang="es-AR" sz="1400">
                            <a:latin typeface="Calibri" panose="020F0502020204030204" pitchFamily="34"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a:latin typeface="Calibri" panose="020F0502020204030204" pitchFamily="34" charset="0"/>
                            <a:ea typeface="Calibri" panose="020F0502020204030204" pitchFamily="34" charset="0"/>
                          </a:rPr>
                        </m:ctrlPr>
                      </m:sSubSupPr>
                      <m:e>
                        <m:r>
                          <a:rPr lang="es-AR" sz="1400">
                            <a:latin typeface="Calibri" panose="020F0502020204030204" pitchFamily="34" charset="0"/>
                            <a:ea typeface="Calibri" panose="020F0502020204030204" pitchFamily="34" charset="0"/>
                          </a:rPr>
                          <m:t>𝑣</m:t>
                        </m:r>
                      </m:e>
                      <m:sub>
                        <m:r>
                          <a:rPr lang="es-AR" sz="1400">
                            <a:latin typeface="Calibri" panose="020F0502020204030204" pitchFamily="34" charset="0"/>
                            <a:ea typeface="Calibri" panose="020F0502020204030204" pitchFamily="34" charset="0"/>
                          </a:rPr>
                          <m:t>𝑎𝑏𝑐</m:t>
                        </m:r>
                      </m:sub>
                      <m:sup>
                        <m:r>
                          <a:rPr lang="es-AR" sz="1400">
                            <a:latin typeface="Calibri" panose="020F0502020204030204" pitchFamily="34" charset="0"/>
                            <a:ea typeface="Calibri" panose="020F0502020204030204" pitchFamily="34" charset="0"/>
                          </a:rPr>
                          <m:t>∗</m:t>
                        </m:r>
                      </m:sup>
                    </m:sSubSup>
                    <m:d>
                      <m:dPr>
                        <m:ctrlPr>
                          <a:rPr lang="es-AR" sz="1400">
                            <a:latin typeface="Calibri" panose="020F0502020204030204" pitchFamily="34" charset="0"/>
                            <a:ea typeface="Calibri" panose="020F0502020204030204" pitchFamily="34" charset="0"/>
                          </a:rPr>
                        </m:ctrlPr>
                      </m:dPr>
                      <m:e>
                        <m:r>
                          <a:rPr lang="es-AR" sz="1400">
                            <a:latin typeface="Calibri" panose="020F0502020204030204" pitchFamily="34"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a:latin typeface="Calibri" panose="020F0502020204030204" pitchFamily="34" charset="0"/>
                            <a:ea typeface="Calibri" panose="020F0502020204030204" pitchFamily="34" charset="0"/>
                          </a:rPr>
                        </m:ctrlPr>
                      </m:sSubPr>
                      <m:e>
                        <m:r>
                          <a:rPr lang="es-AR" sz="1400">
                            <a:latin typeface="Calibri" panose="020F0502020204030204" pitchFamily="34" charset="0"/>
                            <a:ea typeface="Calibri" panose="020F0502020204030204" pitchFamily="34" charset="0"/>
                          </a:rPr>
                          <m:t>𝑣</m:t>
                        </m:r>
                      </m:e>
                      <m:sub>
                        <m:r>
                          <a:rPr lang="es-AR" sz="1400">
                            <a:latin typeface="Calibri" panose="020F0502020204030204" pitchFamily="34" charset="0"/>
                            <a:ea typeface="Calibri" panose="020F0502020204030204" pitchFamily="34" charset="0"/>
                          </a:rPr>
                          <m:t>𝑎𝑏𝑐</m:t>
                        </m:r>
                      </m:sub>
                    </m:sSub>
                    <m:d>
                      <m:dPr>
                        <m:ctrlPr>
                          <a:rPr lang="es-AR" sz="1400">
                            <a:latin typeface="Calibri" panose="020F0502020204030204" pitchFamily="34" charset="0"/>
                            <a:ea typeface="Calibri" panose="020F0502020204030204" pitchFamily="34" charset="0"/>
                          </a:rPr>
                        </m:ctrlPr>
                      </m:dPr>
                      <m:e>
                        <m:r>
                          <a:rPr lang="es-AR" sz="1400">
                            <a:latin typeface="Calibri" panose="020F0502020204030204" pitchFamily="34"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transformadas de Park:</a:t>
                </a:r>
              </a:p>
            </p:txBody>
          </p:sp>
        </mc:Choice>
        <mc:Fallback>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m:ctrlPr>
                            </m:sSubSupPr>
                            <m:e>
                              <m:r>
                                <a:rPr lang="es-AR" sz="1600" i="1"/>
                                <m:t>𝑣</m:t>
                              </m:r>
                            </m:e>
                            <m:sub>
                              <m:r>
                                <a:rPr lang="es-AR" sz="1600" i="1"/>
                                <m:t>𝑎𝑏𝑐</m:t>
                              </m:r>
                            </m:sub>
                            <m:sup>
                              <m:r>
                                <a:rPr lang="es-AR" sz="1600" i="1"/>
                                <m:t>∗</m:t>
                              </m:r>
                            </m:sup>
                          </m:sSubSup>
                          <m:d>
                            <m:dPr>
                              <m:ctrlPr>
                                <a:rPr lang="es-AR" sz="1600" i="1"/>
                              </m:ctrlPr>
                            </m:dPr>
                            <m:e>
                              <m:r>
                                <a:rPr lang="es-AR" sz="1600" i="1"/>
                                <m:t>𝑡</m:t>
                              </m:r>
                            </m:e>
                          </m:d>
                          <m:r>
                            <a:rPr lang="es-AR" sz="1600"/>
                            <m:t>≈</m:t>
                          </m:r>
                          <m:sSub>
                            <m:sSubPr>
                              <m:ctrlPr>
                                <a:rPr lang="es-AR" sz="1600" i="1"/>
                              </m:ctrlPr>
                            </m:sSubPr>
                            <m:e>
                              <m:r>
                                <a:rPr lang="es-AR" sz="1600" i="1"/>
                                <m:t>𝑣</m:t>
                              </m:r>
                            </m:e>
                            <m:sub>
                              <m:r>
                                <a:rPr lang="es-AR" sz="1600" i="1"/>
                                <m:t>𝑎𝑏𝑐</m:t>
                              </m:r>
                            </m:sub>
                          </m:sSub>
                          <m:d>
                            <m:dPr>
                              <m:ctrlPr>
                                <a:rPr lang="es-AR" sz="1600" i="1"/>
                              </m:ctrlPr>
                            </m:dPr>
                            <m:e>
                              <m:r>
                                <a:rPr lang="es-AR" sz="1600" i="1"/>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mc:Choice xmlns:a14="http://schemas.microsoft.com/office/drawing/2010/main"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m:ctrlPr>
                        </m:dPr>
                        <m:e>
                          <m:m>
                            <m:mPr>
                              <m:mcs>
                                <m:mc>
                                  <m:mcPr>
                                    <m:count m:val="1"/>
                                    <m:mcJc m:val="center"/>
                                  </m:mcPr>
                                </m:mc>
                              </m:mcs>
                              <m:ctrlPr>
                                <a:rPr lang="es-AR" sz="1400" i="1"/>
                              </m:ctrlPr>
                            </m:mPr>
                            <m:mr>
                              <m:e>
                                <m:f>
                                  <m:fPr>
                                    <m:ctrlPr>
                                      <a:rPr lang="es-AR" sz="1400" i="1"/>
                                    </m:ctrlPr>
                                  </m:fPr>
                                  <m:num>
                                    <m:r>
                                      <a:rPr lang="es-AR" sz="1400" i="1"/>
                                      <m:t>𝑑</m:t>
                                    </m:r>
                                    <m:sSubSup>
                                      <m:sSubSupPr>
                                        <m:ctrlPr>
                                          <a:rPr lang="es-AR" sz="1400" i="1"/>
                                        </m:ctrlPr>
                                      </m:sSubSupPr>
                                      <m:e>
                                        <m:r>
                                          <a:rPr lang="es-AR" sz="1400" i="1"/>
                                          <m:t>𝑖</m:t>
                                        </m:r>
                                      </m:e>
                                      <m:sub>
                                        <m:r>
                                          <a:rPr lang="es-AR" sz="1400" i="1"/>
                                          <m:t>𝑞𝑠</m:t>
                                        </m:r>
                                      </m:sub>
                                      <m:sup>
                                        <m:r>
                                          <a:rPr lang="es-AR" sz="1400" i="1"/>
                                          <m:t>𝑟</m:t>
                                        </m:r>
                                      </m:sup>
                                    </m:sSubSup>
                                    <m:d>
                                      <m:dPr>
                                        <m:ctrlPr>
                                          <a:rPr lang="es-AR" sz="1400" i="1"/>
                                        </m:ctrlPr>
                                      </m:dPr>
                                      <m:e>
                                        <m:r>
                                          <a:rPr lang="es-AR" sz="1400" i="1"/>
                                          <m:t>𝑡</m:t>
                                        </m:r>
                                      </m:e>
                                    </m:d>
                                  </m:num>
                                  <m:den>
                                    <m:r>
                                      <a:rPr lang="es-AR" sz="1400" i="1"/>
                                      <m:t>𝑑𝑡</m:t>
                                    </m:r>
                                  </m:den>
                                </m:f>
                                <m:r>
                                  <a:rPr lang="es-AR" sz="1400" i="1"/>
                                  <m:t>=</m:t>
                                </m:r>
                                <m:f>
                                  <m:fPr>
                                    <m:ctrlPr>
                                      <a:rPr lang="es-AR" sz="1400" i="1"/>
                                    </m:ctrlPr>
                                  </m:fPr>
                                  <m:num>
                                    <m:r>
                                      <a:rPr lang="es-AR" sz="1400" i="1"/>
                                      <m:t>1</m:t>
                                    </m:r>
                                  </m:num>
                                  <m:den>
                                    <m:sSub>
                                      <m:sSubPr>
                                        <m:ctrlPr>
                                          <a:rPr lang="es-AR" sz="1400" i="1"/>
                                        </m:ctrlPr>
                                      </m:sSubPr>
                                      <m:e>
                                        <m:r>
                                          <a:rPr lang="es-AR" sz="1400" i="1"/>
                                          <m:t>𝐿</m:t>
                                        </m:r>
                                      </m:e>
                                      <m:sub>
                                        <m:r>
                                          <a:rPr lang="es-AR" sz="1400" i="1"/>
                                          <m:t>𝑞</m:t>
                                        </m:r>
                                      </m:sub>
                                    </m:sSub>
                                  </m:den>
                                </m:f>
                                <m:d>
                                  <m:dPr>
                                    <m:ctrlPr>
                                      <a:rPr lang="es-AR" sz="1400" i="1"/>
                                    </m:ctrlPr>
                                  </m:dPr>
                                  <m:e>
                                    <m:sSubSup>
                                      <m:sSubSupPr>
                                        <m:ctrlPr>
                                          <a:rPr lang="es-AR" sz="1400" i="1"/>
                                        </m:ctrlPr>
                                      </m:sSubSupPr>
                                      <m:e>
                                        <m:r>
                                          <a:rPr lang="es-AR" sz="1400" i="1"/>
                                          <m:t>𝑣</m:t>
                                        </m:r>
                                      </m:e>
                                      <m:sub>
                                        <m:r>
                                          <a:rPr lang="es-AR" sz="1400" i="1"/>
                                          <m:t>𝑞𝑠</m:t>
                                        </m:r>
                                      </m:sub>
                                      <m:sup>
                                        <m:r>
                                          <a:rPr lang="es-AR" sz="1400" i="1"/>
                                          <m:t>𝑟</m:t>
                                        </m:r>
                                      </m:sup>
                                    </m:sSubSup>
                                    <m:d>
                                      <m:dPr>
                                        <m:ctrlPr>
                                          <a:rPr lang="es-AR" sz="1400" i="1"/>
                                        </m:ctrlPr>
                                      </m:dPr>
                                      <m:e>
                                        <m:r>
                                          <a:rPr lang="es-AR" sz="1400" i="1"/>
                                          <m:t>𝑡</m:t>
                                        </m:r>
                                      </m:e>
                                    </m:d>
                                    <m:r>
                                      <a:rPr lang="es-AR" sz="1400" i="1"/>
                                      <m:t>−</m:t>
                                    </m:r>
                                    <m:sSub>
                                      <m:sSubPr>
                                        <m:ctrlPr>
                                          <a:rPr lang="es-AR" sz="1400" i="1"/>
                                        </m:ctrlPr>
                                      </m:sSubPr>
                                      <m:e>
                                        <m:r>
                                          <a:rPr lang="es-AR" sz="1400" i="1"/>
                                          <m:t>𝑅</m:t>
                                        </m:r>
                                      </m:e>
                                      <m:sub>
                                        <m:r>
                                          <a:rPr lang="es-AR" sz="1400" i="1"/>
                                          <m:t>𝑠</m:t>
                                        </m:r>
                                      </m:sub>
                                    </m:sSub>
                                    <m:d>
                                      <m:dPr>
                                        <m:ctrlPr>
                                          <a:rPr lang="es-AR" sz="1400" i="1"/>
                                        </m:ctrlPr>
                                      </m:dPr>
                                      <m:e>
                                        <m:sSubSup>
                                          <m:sSubSupPr>
                                            <m:ctrlPr>
                                              <a:rPr lang="es-AR" sz="1400" i="1"/>
                                            </m:ctrlPr>
                                          </m:sSubSupPr>
                                          <m:e>
                                            <m:r>
                                              <a:rPr lang="es-AR" sz="1400" i="1"/>
                                              <m:t>𝑇</m:t>
                                            </m:r>
                                          </m:e>
                                          <m:sub>
                                            <m:r>
                                              <a:rPr lang="es-AR" sz="1400" i="1"/>
                                              <m:t>𝑠</m:t>
                                            </m:r>
                                          </m:sub>
                                          <m:sup>
                                            <m:r>
                                              <a:rPr lang="es-AR" sz="1400" i="1"/>
                                              <m:t>∘</m:t>
                                            </m:r>
                                          </m:sup>
                                        </m:sSubSup>
                                      </m:e>
                                    </m:d>
                                    <m:sSubSup>
                                      <m:sSubSupPr>
                                        <m:ctrlPr>
                                          <a:rPr lang="es-AR" sz="1400" i="1"/>
                                        </m:ctrlPr>
                                      </m:sSubSupPr>
                                      <m:e>
                                        <m:r>
                                          <a:rPr lang="es-AR" sz="1400" i="1"/>
                                          <m:t>𝑖</m:t>
                                        </m:r>
                                      </m:e>
                                      <m:sub>
                                        <m:r>
                                          <a:rPr lang="es-AR" sz="1400" i="1"/>
                                          <m:t>𝑞𝑠</m:t>
                                        </m:r>
                                      </m:sub>
                                      <m:sup>
                                        <m:r>
                                          <a:rPr lang="es-AR" sz="1400" i="1"/>
                                          <m:t>𝑟</m:t>
                                        </m:r>
                                      </m:sup>
                                    </m:sSubSup>
                                    <m:d>
                                      <m:dPr>
                                        <m:ctrlPr>
                                          <a:rPr lang="es-AR" sz="1400" i="1"/>
                                        </m:ctrlPr>
                                      </m:dPr>
                                      <m:e>
                                        <m:r>
                                          <a:rPr lang="es-AR" sz="1400" i="1"/>
                                          <m:t>𝑡</m:t>
                                        </m:r>
                                      </m:e>
                                    </m:d>
                                    <m:r>
                                      <a:rPr lang="es-AR" sz="1400" i="1"/>
                                      <m:t>−</m:t>
                                    </m:r>
                                    <m:sSub>
                                      <m:sSubPr>
                                        <m:ctrlPr>
                                          <a:rPr lang="es-AR" sz="1400" i="1"/>
                                        </m:ctrlPr>
                                      </m:sSubPr>
                                      <m:e>
                                        <m:r>
                                          <a:rPr lang="es-AR" sz="1400" i="1"/>
                                          <m:t>𝑃</m:t>
                                        </m:r>
                                      </m:e>
                                      <m:sub>
                                        <m:r>
                                          <a:rPr lang="es-AR" sz="1400" i="1"/>
                                          <m:t>𝑝</m:t>
                                        </m:r>
                                      </m:sub>
                                    </m:sSub>
                                    <m:sSub>
                                      <m:sSubPr>
                                        <m:ctrlPr>
                                          <a:rPr lang="es-AR" sz="1400" i="1"/>
                                        </m:ctrlPr>
                                      </m:sSubPr>
                                      <m:e>
                                        <m:r>
                                          <a:rPr lang="es-AR" sz="1400" i="1"/>
                                          <m:t>𝜔</m:t>
                                        </m:r>
                                      </m:e>
                                      <m:sub>
                                        <m:r>
                                          <a:rPr lang="es-AR" sz="1400" i="1"/>
                                          <m:t>𝑚</m:t>
                                        </m:r>
                                      </m:sub>
                                    </m:sSub>
                                    <m:d>
                                      <m:dPr>
                                        <m:ctrlPr>
                                          <a:rPr lang="es-AR" sz="1400" i="1"/>
                                        </m:ctrlPr>
                                      </m:dPr>
                                      <m:e>
                                        <m:r>
                                          <a:rPr lang="es-AR" sz="1400" i="1"/>
                                          <m:t>𝑡</m:t>
                                        </m:r>
                                      </m:e>
                                    </m:d>
                                    <m:d>
                                      <m:dPr>
                                        <m:begChr m:val="["/>
                                        <m:endChr m:val="]"/>
                                        <m:ctrlPr>
                                          <a:rPr lang="es-AR" sz="1400" i="1"/>
                                        </m:ctrlPr>
                                      </m:dPr>
                                      <m:e>
                                        <m:sSubSup>
                                          <m:sSubSupPr>
                                            <m:ctrlPr>
                                              <a:rPr lang="es-AR" sz="1400" i="1"/>
                                            </m:ctrlPr>
                                          </m:sSubSupPr>
                                          <m:e>
                                            <m:r>
                                              <a:rPr lang="es-AR" sz="1400" i="1"/>
                                              <m:t>𝜆</m:t>
                                            </m:r>
                                          </m:e>
                                          <m:sub>
                                            <m:r>
                                              <a:rPr lang="es-AR" sz="1400" i="1"/>
                                              <m:t>𝑚</m:t>
                                            </m:r>
                                          </m:sub>
                                          <m:sup>
                                            <m:r>
                                              <a:rPr lang="es-AR" sz="1400" i="1"/>
                                              <m:t>′</m:t>
                                            </m:r>
                                            <m:r>
                                              <a:rPr lang="es-AR" sz="1400" i="1"/>
                                              <m:t>𝑟</m:t>
                                            </m:r>
                                          </m:sup>
                                        </m:sSubSup>
                                        <m:r>
                                          <a:rPr lang="es-AR" sz="1400" i="1"/>
                                          <m:t>+</m:t>
                                        </m:r>
                                        <m:sSub>
                                          <m:sSubPr>
                                            <m:ctrlPr>
                                              <a:rPr lang="es-AR" sz="1400" i="1"/>
                                            </m:ctrlPr>
                                          </m:sSubPr>
                                          <m:e>
                                            <m:r>
                                              <a:rPr lang="es-AR" sz="1400" i="1"/>
                                              <m:t>𝐿</m:t>
                                            </m:r>
                                          </m:e>
                                          <m:sub>
                                            <m:r>
                                              <a:rPr lang="es-AR" sz="1400" i="1"/>
                                              <m:t>𝑑</m:t>
                                            </m:r>
                                          </m:sub>
                                        </m:sSub>
                                        <m:sSubSup>
                                          <m:sSubSupPr>
                                            <m:ctrlPr>
                                              <a:rPr lang="es-AR" sz="1400" i="1"/>
                                            </m:ctrlPr>
                                          </m:sSubSupPr>
                                          <m:e>
                                            <m:r>
                                              <a:rPr lang="es-AR" sz="1400" i="1"/>
                                              <m:t>𝑖</m:t>
                                            </m:r>
                                          </m:e>
                                          <m:sub>
                                            <m:r>
                                              <a:rPr lang="es-AR" sz="1400" i="1"/>
                                              <m:t>𝑑𝑠</m:t>
                                            </m:r>
                                          </m:sub>
                                          <m:sup>
                                            <m:r>
                                              <a:rPr lang="es-AR" sz="1400" i="1"/>
                                              <m:t>𝑟</m:t>
                                            </m:r>
                                          </m:sup>
                                        </m:sSubSup>
                                        <m:d>
                                          <m:dPr>
                                            <m:ctrlPr>
                                              <a:rPr lang="es-AR" sz="1400" i="1"/>
                                            </m:ctrlPr>
                                          </m:dPr>
                                          <m:e>
                                            <m:r>
                                              <a:rPr lang="es-AR" sz="1400" i="1"/>
                                              <m:t>𝑡</m:t>
                                            </m:r>
                                          </m:e>
                                        </m:d>
                                      </m:e>
                                    </m:d>
                                  </m:e>
                                </m:d>
                              </m:e>
                            </m:mr>
                            <m:mr>
                              <m:e>
                                <m:f>
                                  <m:fPr>
                                    <m:ctrlPr>
                                      <a:rPr lang="es-AR" sz="1400" i="1"/>
                                    </m:ctrlPr>
                                  </m:fPr>
                                  <m:num>
                                    <m:r>
                                      <a:rPr lang="es-AR" sz="1400" i="1"/>
                                      <m:t>𝑑</m:t>
                                    </m:r>
                                    <m:sSubSup>
                                      <m:sSubSupPr>
                                        <m:ctrlPr>
                                          <a:rPr lang="es-AR" sz="1400" i="1"/>
                                        </m:ctrlPr>
                                      </m:sSubSupPr>
                                      <m:e>
                                        <m:r>
                                          <a:rPr lang="es-AR" sz="1400" i="1"/>
                                          <m:t>𝑖</m:t>
                                        </m:r>
                                      </m:e>
                                      <m:sub>
                                        <m:r>
                                          <a:rPr lang="es-AR" sz="1400" i="1"/>
                                          <m:t>𝑑𝑠</m:t>
                                        </m:r>
                                      </m:sub>
                                      <m:sup>
                                        <m:r>
                                          <a:rPr lang="es-AR" sz="1400" i="1"/>
                                          <m:t>𝑟</m:t>
                                        </m:r>
                                      </m:sup>
                                    </m:sSubSup>
                                    <m:d>
                                      <m:dPr>
                                        <m:ctrlPr>
                                          <a:rPr lang="es-AR" sz="1400" i="1"/>
                                        </m:ctrlPr>
                                      </m:dPr>
                                      <m:e>
                                        <m:r>
                                          <a:rPr lang="es-AR" sz="1400" i="1"/>
                                          <m:t>𝑡</m:t>
                                        </m:r>
                                      </m:e>
                                    </m:d>
                                  </m:num>
                                  <m:den>
                                    <m:r>
                                      <a:rPr lang="es-AR" sz="1400" i="1"/>
                                      <m:t>𝑑𝑡</m:t>
                                    </m:r>
                                  </m:den>
                                </m:f>
                                <m:r>
                                  <a:rPr lang="es-AR" sz="1400" i="1"/>
                                  <m:t>=</m:t>
                                </m:r>
                                <m:f>
                                  <m:fPr>
                                    <m:ctrlPr>
                                      <a:rPr lang="es-AR" sz="1400" i="1"/>
                                    </m:ctrlPr>
                                  </m:fPr>
                                  <m:num>
                                    <m:r>
                                      <a:rPr lang="es-AR" sz="1400" i="1"/>
                                      <m:t>1</m:t>
                                    </m:r>
                                  </m:num>
                                  <m:den>
                                    <m:sSub>
                                      <m:sSubPr>
                                        <m:ctrlPr>
                                          <a:rPr lang="es-AR" sz="1400" i="1"/>
                                        </m:ctrlPr>
                                      </m:sSubPr>
                                      <m:e>
                                        <m:r>
                                          <a:rPr lang="es-AR" sz="1400" i="1"/>
                                          <m:t>𝐿</m:t>
                                        </m:r>
                                      </m:e>
                                      <m:sub>
                                        <m:r>
                                          <a:rPr lang="es-AR" sz="1400" i="1"/>
                                          <m:t>𝑑</m:t>
                                        </m:r>
                                      </m:sub>
                                    </m:sSub>
                                  </m:den>
                                </m:f>
                                <m:d>
                                  <m:dPr>
                                    <m:ctrlPr>
                                      <a:rPr lang="es-AR" sz="1400" i="1"/>
                                    </m:ctrlPr>
                                  </m:dPr>
                                  <m:e>
                                    <m:sSubSup>
                                      <m:sSubSupPr>
                                        <m:ctrlPr>
                                          <a:rPr lang="es-AR" sz="1400" i="1"/>
                                        </m:ctrlPr>
                                      </m:sSubSupPr>
                                      <m:e>
                                        <m:r>
                                          <a:rPr lang="es-AR" sz="1400" i="1"/>
                                          <m:t>𝑣</m:t>
                                        </m:r>
                                      </m:e>
                                      <m:sub>
                                        <m:r>
                                          <a:rPr lang="es-AR" sz="1400" i="1"/>
                                          <m:t>𝑑𝑠</m:t>
                                        </m:r>
                                      </m:sub>
                                      <m:sup>
                                        <m:r>
                                          <a:rPr lang="es-AR" sz="1400" i="1"/>
                                          <m:t>𝑟</m:t>
                                        </m:r>
                                      </m:sup>
                                    </m:sSubSup>
                                    <m:d>
                                      <m:dPr>
                                        <m:ctrlPr>
                                          <a:rPr lang="es-AR" sz="1400" i="1"/>
                                        </m:ctrlPr>
                                      </m:dPr>
                                      <m:e>
                                        <m:r>
                                          <a:rPr lang="es-AR" sz="1400" i="1"/>
                                          <m:t>𝑡</m:t>
                                        </m:r>
                                      </m:e>
                                    </m:d>
                                    <m:r>
                                      <a:rPr lang="es-AR" sz="1400" i="1"/>
                                      <m:t>−</m:t>
                                    </m:r>
                                    <m:sSub>
                                      <m:sSubPr>
                                        <m:ctrlPr>
                                          <a:rPr lang="es-AR" sz="1400" i="1"/>
                                        </m:ctrlPr>
                                      </m:sSubPr>
                                      <m:e>
                                        <m:r>
                                          <a:rPr lang="es-AR" sz="1400" i="1"/>
                                          <m:t>𝑅</m:t>
                                        </m:r>
                                      </m:e>
                                      <m:sub>
                                        <m:r>
                                          <a:rPr lang="es-AR" sz="1400" i="1"/>
                                          <m:t>𝑠</m:t>
                                        </m:r>
                                      </m:sub>
                                    </m:sSub>
                                    <m:d>
                                      <m:dPr>
                                        <m:ctrlPr>
                                          <a:rPr lang="es-AR" sz="1400" i="1"/>
                                        </m:ctrlPr>
                                      </m:dPr>
                                      <m:e>
                                        <m:sSubSup>
                                          <m:sSubSupPr>
                                            <m:ctrlPr>
                                              <a:rPr lang="es-AR" sz="1400" i="1"/>
                                            </m:ctrlPr>
                                          </m:sSubSupPr>
                                          <m:e>
                                            <m:r>
                                              <a:rPr lang="es-AR" sz="1400" i="1"/>
                                              <m:t>𝑇</m:t>
                                            </m:r>
                                          </m:e>
                                          <m:sub>
                                            <m:r>
                                              <a:rPr lang="es-AR" sz="1400" i="1"/>
                                              <m:t>𝑠</m:t>
                                            </m:r>
                                          </m:sub>
                                          <m:sup>
                                            <m:r>
                                              <a:rPr lang="es-AR" sz="1400" i="1"/>
                                              <m:t>∘</m:t>
                                            </m:r>
                                          </m:sup>
                                        </m:sSubSup>
                                      </m:e>
                                    </m:d>
                                    <m:sSubSup>
                                      <m:sSubSupPr>
                                        <m:ctrlPr>
                                          <a:rPr lang="es-AR" sz="1400" i="1"/>
                                        </m:ctrlPr>
                                      </m:sSubSupPr>
                                      <m:e>
                                        <m:r>
                                          <a:rPr lang="es-AR" sz="1400" i="1"/>
                                          <m:t>𝑖</m:t>
                                        </m:r>
                                      </m:e>
                                      <m:sub>
                                        <m:r>
                                          <a:rPr lang="es-AR" sz="1400" i="1"/>
                                          <m:t>𝑑𝑠</m:t>
                                        </m:r>
                                      </m:sub>
                                      <m:sup>
                                        <m:r>
                                          <a:rPr lang="es-AR" sz="1400" i="1"/>
                                          <m:t>𝑟</m:t>
                                        </m:r>
                                      </m:sup>
                                    </m:sSubSup>
                                    <m:d>
                                      <m:dPr>
                                        <m:ctrlPr>
                                          <a:rPr lang="es-AR" sz="1400" i="1"/>
                                        </m:ctrlPr>
                                      </m:dPr>
                                      <m:e>
                                        <m:r>
                                          <a:rPr lang="es-AR" sz="1400" i="1"/>
                                          <m:t>𝑡</m:t>
                                        </m:r>
                                      </m:e>
                                    </m:d>
                                    <m:r>
                                      <a:rPr lang="es-AR" sz="1400" i="1"/>
                                      <m:t>+</m:t>
                                    </m:r>
                                    <m:sSub>
                                      <m:sSubPr>
                                        <m:ctrlPr>
                                          <a:rPr lang="es-AR" sz="1400" i="1"/>
                                        </m:ctrlPr>
                                      </m:sSubPr>
                                      <m:e>
                                        <m:r>
                                          <a:rPr lang="es-AR" sz="1400" i="1"/>
                                          <m:t>𝑃</m:t>
                                        </m:r>
                                      </m:e>
                                      <m:sub>
                                        <m:r>
                                          <a:rPr lang="es-AR" sz="1400" i="1"/>
                                          <m:t>𝑝</m:t>
                                        </m:r>
                                      </m:sub>
                                    </m:sSub>
                                    <m:sSub>
                                      <m:sSubPr>
                                        <m:ctrlPr>
                                          <a:rPr lang="es-AR" sz="1400" i="1"/>
                                        </m:ctrlPr>
                                      </m:sSubPr>
                                      <m:e>
                                        <m:r>
                                          <a:rPr lang="es-AR" sz="1400" i="1"/>
                                          <m:t>𝜔</m:t>
                                        </m:r>
                                      </m:e>
                                      <m:sub>
                                        <m:r>
                                          <a:rPr lang="es-AR" sz="1400" i="1"/>
                                          <m:t>𝑚</m:t>
                                        </m:r>
                                      </m:sub>
                                    </m:sSub>
                                    <m:d>
                                      <m:dPr>
                                        <m:ctrlPr>
                                          <a:rPr lang="es-AR" sz="1400" i="1"/>
                                        </m:ctrlPr>
                                      </m:dPr>
                                      <m:e>
                                        <m:r>
                                          <a:rPr lang="es-AR" sz="1400" i="1"/>
                                          <m:t>𝑡</m:t>
                                        </m:r>
                                      </m:e>
                                    </m:d>
                                    <m:sSub>
                                      <m:sSubPr>
                                        <m:ctrlPr>
                                          <a:rPr lang="es-AR" sz="1400" i="1"/>
                                        </m:ctrlPr>
                                      </m:sSubPr>
                                      <m:e>
                                        <m:r>
                                          <a:rPr lang="es-AR" sz="1400" i="1"/>
                                          <m:t>𝐿</m:t>
                                        </m:r>
                                      </m:e>
                                      <m:sub>
                                        <m:r>
                                          <a:rPr lang="es-AR" sz="1400" i="1"/>
                                          <m:t>𝑞</m:t>
                                        </m:r>
                                      </m:sub>
                                    </m:sSub>
                                    <m:sSubSup>
                                      <m:sSubSupPr>
                                        <m:ctrlPr>
                                          <a:rPr lang="es-AR" sz="1400" i="1"/>
                                        </m:ctrlPr>
                                      </m:sSubSupPr>
                                      <m:e>
                                        <m:r>
                                          <a:rPr lang="es-AR" sz="1400" i="1"/>
                                          <m:t>𝑖</m:t>
                                        </m:r>
                                      </m:e>
                                      <m:sub>
                                        <m:r>
                                          <a:rPr lang="es-AR" sz="1400" i="1"/>
                                          <m:t>𝑞𝑠</m:t>
                                        </m:r>
                                      </m:sub>
                                      <m:sup>
                                        <m:r>
                                          <a:rPr lang="es-AR" sz="1400" i="1"/>
                                          <m:t>𝑟</m:t>
                                        </m:r>
                                      </m:sup>
                                    </m:sSubSup>
                                    <m:d>
                                      <m:dPr>
                                        <m:ctrlPr>
                                          <a:rPr lang="es-AR" sz="1400" i="1"/>
                                        </m:ctrlPr>
                                      </m:dPr>
                                      <m:e>
                                        <m:r>
                                          <a:rPr lang="es-AR" sz="1400" i="1"/>
                                          <m:t>𝑡</m:t>
                                        </m:r>
                                      </m:e>
                                    </m:d>
                                  </m:e>
                                </m:d>
                                <m:r>
                                  <a:rPr lang="es-AR" sz="1400" i="1"/>
                                  <m:t>             </m:t>
                                </m:r>
                              </m:e>
                            </m:mr>
                            <m:mr>
                              <m:e>
                                <m:f>
                                  <m:fPr>
                                    <m:ctrlPr>
                                      <a:rPr lang="es-AR" sz="1400" i="1"/>
                                    </m:ctrlPr>
                                  </m:fPr>
                                  <m:num>
                                    <m:r>
                                      <a:rPr lang="es-AR" sz="1400" i="1"/>
                                      <m:t>𝑑</m:t>
                                    </m:r>
                                    <m:sSub>
                                      <m:sSubPr>
                                        <m:ctrlPr>
                                          <a:rPr lang="es-AR" sz="1400" i="1"/>
                                        </m:ctrlPr>
                                      </m:sSubPr>
                                      <m:e>
                                        <m:r>
                                          <a:rPr lang="es-AR" sz="1400" i="1"/>
                                          <m:t>𝑖</m:t>
                                        </m:r>
                                      </m:e>
                                      <m:sub>
                                        <m:r>
                                          <a:rPr lang="es-AR" sz="1400" i="1"/>
                                          <m:t>0</m:t>
                                        </m:r>
                                        <m:r>
                                          <a:rPr lang="es-AR" sz="1400" i="1"/>
                                          <m:t>𝑠</m:t>
                                        </m:r>
                                      </m:sub>
                                    </m:sSub>
                                    <m:d>
                                      <m:dPr>
                                        <m:ctrlPr>
                                          <a:rPr lang="es-AR" sz="1400" i="1"/>
                                        </m:ctrlPr>
                                      </m:dPr>
                                      <m:e>
                                        <m:r>
                                          <a:rPr lang="es-AR" sz="1400" i="1"/>
                                          <m:t>𝑡</m:t>
                                        </m:r>
                                      </m:e>
                                    </m:d>
                                  </m:num>
                                  <m:den>
                                    <m:r>
                                      <a:rPr lang="es-AR" sz="1400" i="1"/>
                                      <m:t>𝑑𝑡</m:t>
                                    </m:r>
                                  </m:den>
                                </m:f>
                                <m:r>
                                  <a:rPr lang="es-AR" sz="1400" i="1"/>
                                  <m:t>=</m:t>
                                </m:r>
                                <m:f>
                                  <m:fPr>
                                    <m:ctrlPr>
                                      <a:rPr lang="es-AR" sz="1400" i="1"/>
                                    </m:ctrlPr>
                                  </m:fPr>
                                  <m:num>
                                    <m:r>
                                      <a:rPr lang="es-AR" sz="1400" i="1"/>
                                      <m:t>1</m:t>
                                    </m:r>
                                  </m:num>
                                  <m:den>
                                    <m:sSub>
                                      <m:sSubPr>
                                        <m:ctrlPr>
                                          <a:rPr lang="es-AR" sz="1400" i="1"/>
                                        </m:ctrlPr>
                                      </m:sSubPr>
                                      <m:e>
                                        <m:r>
                                          <a:rPr lang="es-AR" sz="1400" i="1"/>
                                          <m:t>𝐿</m:t>
                                        </m:r>
                                      </m:e>
                                      <m:sub>
                                        <m:r>
                                          <a:rPr lang="es-AR" sz="1400" i="1"/>
                                          <m:t>𝑙𝑠</m:t>
                                        </m:r>
                                      </m:sub>
                                    </m:sSub>
                                  </m:den>
                                </m:f>
                                <m:d>
                                  <m:dPr>
                                    <m:ctrlPr>
                                      <a:rPr lang="es-AR" sz="1400" i="1"/>
                                    </m:ctrlPr>
                                  </m:dPr>
                                  <m:e>
                                    <m:sSub>
                                      <m:sSubPr>
                                        <m:ctrlPr>
                                          <a:rPr lang="es-AR" sz="1400" i="1"/>
                                        </m:ctrlPr>
                                      </m:sSubPr>
                                      <m:e>
                                        <m:r>
                                          <a:rPr lang="es-AR" sz="1400" i="1"/>
                                          <m:t>𝑣</m:t>
                                        </m:r>
                                      </m:e>
                                      <m:sub>
                                        <m:r>
                                          <a:rPr lang="es-AR" sz="1400" i="1"/>
                                          <m:t>0</m:t>
                                        </m:r>
                                        <m:r>
                                          <a:rPr lang="es-AR" sz="1400" i="1"/>
                                          <m:t>𝑠</m:t>
                                        </m:r>
                                      </m:sub>
                                    </m:sSub>
                                    <m:d>
                                      <m:dPr>
                                        <m:ctrlPr>
                                          <a:rPr lang="es-AR" sz="1400" i="1"/>
                                        </m:ctrlPr>
                                      </m:dPr>
                                      <m:e>
                                        <m:r>
                                          <a:rPr lang="es-AR" sz="1400" i="1"/>
                                          <m:t>𝑡</m:t>
                                        </m:r>
                                      </m:e>
                                    </m:d>
                                    <m:r>
                                      <a:rPr lang="es-AR" sz="1400" i="1"/>
                                      <m:t>−</m:t>
                                    </m:r>
                                    <m:sSub>
                                      <m:sSubPr>
                                        <m:ctrlPr>
                                          <a:rPr lang="es-AR" sz="1400" i="1"/>
                                        </m:ctrlPr>
                                      </m:sSubPr>
                                      <m:e>
                                        <m:r>
                                          <a:rPr lang="es-AR" sz="1400" i="1"/>
                                          <m:t>𝑅</m:t>
                                        </m:r>
                                      </m:e>
                                      <m:sub>
                                        <m:r>
                                          <a:rPr lang="es-AR" sz="1400" i="1"/>
                                          <m:t>𝑠</m:t>
                                        </m:r>
                                      </m:sub>
                                    </m:sSub>
                                    <m:d>
                                      <m:dPr>
                                        <m:ctrlPr>
                                          <a:rPr lang="es-AR" sz="1400" i="1"/>
                                        </m:ctrlPr>
                                      </m:dPr>
                                      <m:e>
                                        <m:sSubSup>
                                          <m:sSubSupPr>
                                            <m:ctrlPr>
                                              <a:rPr lang="es-AR" sz="1400" i="1"/>
                                            </m:ctrlPr>
                                          </m:sSubSupPr>
                                          <m:e>
                                            <m:r>
                                              <a:rPr lang="es-AR" sz="1400" i="1"/>
                                              <m:t>𝑇</m:t>
                                            </m:r>
                                          </m:e>
                                          <m:sub>
                                            <m:r>
                                              <a:rPr lang="es-AR" sz="1400" i="1"/>
                                              <m:t>𝑠</m:t>
                                            </m:r>
                                          </m:sub>
                                          <m:sup>
                                            <m:r>
                                              <a:rPr lang="es-AR" sz="1400" i="1"/>
                                              <m:t>∘</m:t>
                                            </m:r>
                                          </m:sup>
                                        </m:sSubSup>
                                      </m:e>
                                    </m:d>
                                    <m:sSub>
                                      <m:sSubPr>
                                        <m:ctrlPr>
                                          <a:rPr lang="es-AR" sz="1400" i="1"/>
                                        </m:ctrlPr>
                                      </m:sSubPr>
                                      <m:e>
                                        <m:r>
                                          <a:rPr lang="es-AR" sz="1400" i="1"/>
                                          <m:t>𝑖</m:t>
                                        </m:r>
                                      </m:e>
                                      <m:sub>
                                        <m:r>
                                          <a:rPr lang="es-AR" sz="1400" i="1"/>
                                          <m:t>0</m:t>
                                        </m:r>
                                        <m:r>
                                          <a:rPr lang="es-AR" sz="1400" i="1"/>
                                          <m:t>𝑠</m:t>
                                        </m:r>
                                      </m:sub>
                                    </m:sSub>
                                    <m:d>
                                      <m:dPr>
                                        <m:ctrlPr>
                                          <a:rPr lang="es-AR" sz="1400" i="1"/>
                                        </m:ctrlPr>
                                      </m:dPr>
                                      <m:e>
                                        <m:r>
                                          <a:rPr lang="es-AR" sz="1400" i="1"/>
                                          <m:t>𝑡</m:t>
                                        </m:r>
                                      </m:e>
                                    </m:d>
                                  </m:e>
                                </m:d>
                                <m:r>
                                  <a:rPr lang="es-AR" sz="1400" i="1"/>
                                  <m:t>                                                   </m:t>
                                </m:r>
                              </m:e>
                            </m:mr>
                          </m:m>
                        </m:e>
                      </m:d>
                    </m:oMath>
                  </m:oMathPara>
                </a14:m>
                <a:endParaRPr sz="1600" b="1" dirty="0">
                  <a:solidFill>
                    <a:srgbClr val="C35A00"/>
                  </a:solidFill>
                  <a:latin typeface="Calibri"/>
                </a:endParaRPr>
              </a:p>
            </p:txBody>
          </p:sp>
        </mc:Choice>
        <mc:Fallback>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m:ctrlPr>
                        </m:dPr>
                        <m:e>
                          <m:m>
                            <m:mPr>
                              <m:mcs>
                                <m:mc>
                                  <m:mcPr>
                                    <m:count m:val="1"/>
                                    <m:mcJc m:val="center"/>
                                  </m:mcPr>
                                </m:mc>
                              </m:mcs>
                              <m:ctrlPr>
                                <a:rPr lang="es-AR" sz="1400" i="1"/>
                              </m:ctrlPr>
                            </m:mPr>
                            <m:mr>
                              <m:e>
                                <m:sSubSup>
                                  <m:sSubSupPr>
                                    <m:ctrlPr>
                                      <a:rPr lang="es-AR" sz="1400" i="1"/>
                                    </m:ctrlPr>
                                  </m:sSubSupPr>
                                  <m:e>
                                    <m:r>
                                      <a:rPr lang="es-AR" sz="1400" i="1"/>
                                      <m:t>𝑣</m:t>
                                    </m:r>
                                  </m:e>
                                  <m:sub>
                                    <m:r>
                                      <a:rPr lang="es-AR" sz="1400" i="1"/>
                                      <m:t>𝑞𝑠</m:t>
                                    </m:r>
                                  </m:sub>
                                  <m:sup>
                                    <m:r>
                                      <a:rPr lang="es-AR" sz="1400" i="1"/>
                                      <m:t>𝑟</m:t>
                                    </m:r>
                                    <m:r>
                                      <a:rPr lang="es-AR" sz="1400" i="1"/>
                                      <m:t>∗</m:t>
                                    </m:r>
                                  </m:sup>
                                </m:sSubSup>
                                <m:d>
                                  <m:dPr>
                                    <m:ctrlPr>
                                      <a:rPr lang="es-AR" sz="1400" i="1"/>
                                    </m:ctrlPr>
                                  </m:dPr>
                                  <m:e>
                                    <m:r>
                                      <a:rPr lang="es-AR" sz="1400" i="1"/>
                                      <m:t>𝑡</m:t>
                                    </m:r>
                                  </m:e>
                                </m:d>
                                <m:r>
                                  <a:rPr lang="es-AR" sz="1400" i="1"/>
                                  <m:t>=</m:t>
                                </m:r>
                                <m:sSubSup>
                                  <m:sSubSupPr>
                                    <m:ctrlPr>
                                      <a:rPr lang="es-AR" sz="1400" i="1"/>
                                    </m:ctrlPr>
                                  </m:sSubSupPr>
                                  <m:e>
                                    <m:r>
                                      <a:rPr lang="es-AR" sz="1400" i="1"/>
                                      <m:t>𝑣</m:t>
                                    </m:r>
                                  </m:e>
                                  <m:sub>
                                    <m:r>
                                      <a:rPr lang="es-AR" sz="1400" i="1"/>
                                      <m:t>𝑞𝑠</m:t>
                                    </m:r>
                                  </m:sub>
                                  <m:sup>
                                    <m:sSup>
                                      <m:sSupPr>
                                        <m:ctrlPr>
                                          <a:rPr lang="es-AR" sz="1400" i="1"/>
                                        </m:ctrlPr>
                                      </m:sSupPr>
                                      <m:e>
                                        <m:r>
                                          <a:rPr lang="es-AR" sz="1400" i="1"/>
                                          <m:t>𝑟</m:t>
                                        </m:r>
                                      </m:e>
                                      <m:sup>
                                        <m:r>
                                          <a:rPr lang="es-AR" sz="1400" i="1"/>
                                          <m:t>′</m:t>
                                        </m:r>
                                      </m:sup>
                                    </m:sSup>
                                    <m:r>
                                      <a:rPr lang="es-AR" sz="1400" i="1"/>
                                      <m:t>∗</m:t>
                                    </m:r>
                                  </m:sup>
                                </m:sSubSup>
                                <m:d>
                                  <m:dPr>
                                    <m:ctrlPr>
                                      <a:rPr lang="es-AR" sz="1400" i="1"/>
                                    </m:ctrlPr>
                                  </m:dPr>
                                  <m:e>
                                    <m:r>
                                      <a:rPr lang="es-AR" sz="1400" i="1"/>
                                      <m:t>𝑡</m:t>
                                    </m:r>
                                  </m:e>
                                </m:d>
                                <m:r>
                                  <a:rPr lang="es-AR" sz="1400" i="1"/>
                                  <m:t>+</m:t>
                                </m:r>
                                <m:sSub>
                                  <m:sSubPr>
                                    <m:ctrlPr>
                                      <a:rPr lang="es-AR" sz="1400" i="1"/>
                                    </m:ctrlPr>
                                  </m:sSubPr>
                                  <m:e>
                                    <m:r>
                                      <a:rPr lang="es-AR" sz="1400" i="1"/>
                                      <m:t>𝑅</m:t>
                                    </m:r>
                                  </m:e>
                                  <m:sub>
                                    <m:r>
                                      <a:rPr lang="es-AR" sz="1400" i="1"/>
                                      <m:t>𝑠</m:t>
                                    </m:r>
                                  </m:sub>
                                </m:sSub>
                                <m:d>
                                  <m:dPr>
                                    <m:ctrlPr>
                                      <a:rPr lang="es-AR" sz="1400" i="1"/>
                                    </m:ctrlPr>
                                  </m:dPr>
                                  <m:e>
                                    <m:sSubSup>
                                      <m:sSubSupPr>
                                        <m:ctrlPr>
                                          <a:rPr lang="es-AR" sz="1400" i="1"/>
                                        </m:ctrlPr>
                                      </m:sSubSupPr>
                                      <m:e>
                                        <m:r>
                                          <a:rPr lang="es-AR" sz="1400" i="1"/>
                                          <m:t>𝑇</m:t>
                                        </m:r>
                                      </m:e>
                                      <m:sub>
                                        <m:r>
                                          <a:rPr lang="es-AR" sz="1400" i="1"/>
                                          <m:t>𝑠</m:t>
                                        </m:r>
                                      </m:sub>
                                      <m:sup>
                                        <m:r>
                                          <a:rPr lang="es-AR" sz="1400" i="1"/>
                                          <m:t>∘</m:t>
                                        </m:r>
                                      </m:sup>
                                    </m:sSubSup>
                                  </m:e>
                                </m:d>
                                <m:sSubSup>
                                  <m:sSubSupPr>
                                    <m:ctrlPr>
                                      <a:rPr lang="es-AR" sz="1400" i="1"/>
                                    </m:ctrlPr>
                                  </m:sSubSupPr>
                                  <m:e>
                                    <m:r>
                                      <a:rPr lang="es-AR" sz="1400" i="1"/>
                                      <m:t>𝑖</m:t>
                                    </m:r>
                                  </m:e>
                                  <m:sub>
                                    <m:r>
                                      <a:rPr lang="es-AR" sz="1400" i="1"/>
                                      <m:t>𝑞𝑠</m:t>
                                    </m:r>
                                  </m:sub>
                                  <m:sup>
                                    <m:r>
                                      <a:rPr lang="es-AR" sz="1400" i="1"/>
                                      <m:t>𝑟</m:t>
                                    </m:r>
                                  </m:sup>
                                </m:sSubSup>
                                <m:d>
                                  <m:dPr>
                                    <m:ctrlPr>
                                      <a:rPr lang="es-AR" sz="1400" i="1"/>
                                    </m:ctrlPr>
                                  </m:dPr>
                                  <m:e>
                                    <m:r>
                                      <a:rPr lang="es-AR" sz="1400" i="1"/>
                                      <m:t>𝑡</m:t>
                                    </m:r>
                                  </m:e>
                                </m:d>
                                <m:r>
                                  <a:rPr lang="es-AR" sz="1400" i="1"/>
                                  <m:t>+</m:t>
                                </m:r>
                                <m:sSub>
                                  <m:sSubPr>
                                    <m:ctrlPr>
                                      <a:rPr lang="es-AR" sz="1400" i="1"/>
                                    </m:ctrlPr>
                                  </m:sSubPr>
                                  <m:e>
                                    <m:r>
                                      <a:rPr lang="es-AR" sz="1400" i="1"/>
                                      <m:t>𝑃</m:t>
                                    </m:r>
                                  </m:e>
                                  <m:sub>
                                    <m:r>
                                      <a:rPr lang="es-AR" sz="1400" i="1"/>
                                      <m:t>𝑝</m:t>
                                    </m:r>
                                  </m:sub>
                                </m:sSub>
                                <m:sSub>
                                  <m:sSubPr>
                                    <m:ctrlPr>
                                      <a:rPr lang="es-AR" sz="1400" i="1"/>
                                    </m:ctrlPr>
                                  </m:sSubPr>
                                  <m:e>
                                    <m:r>
                                      <a:rPr lang="es-AR" sz="1400" i="1"/>
                                      <m:t>𝜔</m:t>
                                    </m:r>
                                  </m:e>
                                  <m:sub>
                                    <m:r>
                                      <a:rPr lang="es-AR" sz="1400" i="1"/>
                                      <m:t>𝑚</m:t>
                                    </m:r>
                                  </m:sub>
                                </m:sSub>
                                <m:d>
                                  <m:dPr>
                                    <m:ctrlPr>
                                      <a:rPr lang="es-AR" sz="1400" i="1"/>
                                    </m:ctrlPr>
                                  </m:dPr>
                                  <m:e>
                                    <m:r>
                                      <a:rPr lang="es-AR" sz="1400" i="1"/>
                                      <m:t>𝑡</m:t>
                                    </m:r>
                                  </m:e>
                                </m:d>
                                <m:d>
                                  <m:dPr>
                                    <m:begChr m:val="["/>
                                    <m:endChr m:val="]"/>
                                    <m:ctrlPr>
                                      <a:rPr lang="es-AR" sz="1400" i="1"/>
                                    </m:ctrlPr>
                                  </m:dPr>
                                  <m:e>
                                    <m:sSubSup>
                                      <m:sSubSupPr>
                                        <m:ctrlPr>
                                          <a:rPr lang="es-AR" sz="1400" i="1"/>
                                        </m:ctrlPr>
                                      </m:sSubSupPr>
                                      <m:e>
                                        <m:r>
                                          <a:rPr lang="es-AR" sz="1400" i="1"/>
                                          <m:t>𝜆</m:t>
                                        </m:r>
                                      </m:e>
                                      <m:sub>
                                        <m:r>
                                          <a:rPr lang="es-AR" sz="1400" i="1"/>
                                          <m:t>𝑚</m:t>
                                        </m:r>
                                      </m:sub>
                                      <m:sup>
                                        <m:r>
                                          <a:rPr lang="es-AR" sz="1400" i="1"/>
                                          <m:t>′</m:t>
                                        </m:r>
                                        <m:r>
                                          <a:rPr lang="es-AR" sz="1400" i="1"/>
                                          <m:t>𝑟</m:t>
                                        </m:r>
                                      </m:sup>
                                    </m:sSubSup>
                                    <m:r>
                                      <a:rPr lang="es-AR" sz="1400" i="1"/>
                                      <m:t>+</m:t>
                                    </m:r>
                                    <m:sSub>
                                      <m:sSubPr>
                                        <m:ctrlPr>
                                          <a:rPr lang="es-AR" sz="1400" i="1"/>
                                        </m:ctrlPr>
                                      </m:sSubPr>
                                      <m:e>
                                        <m:r>
                                          <a:rPr lang="es-AR" sz="1400" i="1"/>
                                          <m:t>𝐿</m:t>
                                        </m:r>
                                      </m:e>
                                      <m:sub>
                                        <m:r>
                                          <a:rPr lang="es-AR" sz="1400" i="1"/>
                                          <m:t>𝑑</m:t>
                                        </m:r>
                                      </m:sub>
                                    </m:sSub>
                                    <m:sSubSup>
                                      <m:sSubSupPr>
                                        <m:ctrlPr>
                                          <a:rPr lang="es-AR" sz="1400" i="1"/>
                                        </m:ctrlPr>
                                      </m:sSubSupPr>
                                      <m:e>
                                        <m:r>
                                          <a:rPr lang="es-AR" sz="1400" i="1"/>
                                          <m:t>𝑖</m:t>
                                        </m:r>
                                      </m:e>
                                      <m:sub>
                                        <m:r>
                                          <a:rPr lang="es-AR" sz="1400" i="1"/>
                                          <m:t>𝑑𝑠</m:t>
                                        </m:r>
                                      </m:sub>
                                      <m:sup>
                                        <m:r>
                                          <a:rPr lang="es-AR" sz="1400" i="1"/>
                                          <m:t>𝑟</m:t>
                                        </m:r>
                                      </m:sup>
                                    </m:sSubSup>
                                    <m:d>
                                      <m:dPr>
                                        <m:ctrlPr>
                                          <a:rPr lang="es-AR" sz="1400" i="1"/>
                                        </m:ctrlPr>
                                      </m:dPr>
                                      <m:e>
                                        <m:r>
                                          <a:rPr lang="es-AR" sz="1400" i="1"/>
                                          <m:t>𝑡</m:t>
                                        </m:r>
                                      </m:e>
                                    </m:d>
                                  </m:e>
                                </m:d>
                              </m:e>
                            </m:mr>
                            <m:mr>
                              <m:e>
                                <m:sSubSup>
                                  <m:sSubSupPr>
                                    <m:ctrlPr>
                                      <a:rPr lang="es-AR" sz="1400" i="1"/>
                                    </m:ctrlPr>
                                  </m:sSubSupPr>
                                  <m:e>
                                    <m:r>
                                      <a:rPr lang="es-AR" sz="1400" i="1"/>
                                      <m:t>𝑣</m:t>
                                    </m:r>
                                  </m:e>
                                  <m:sub>
                                    <m:r>
                                      <a:rPr lang="es-AR" sz="1400" i="1"/>
                                      <m:t>𝑑𝑠</m:t>
                                    </m:r>
                                  </m:sub>
                                  <m:sup>
                                    <m:r>
                                      <a:rPr lang="es-AR" sz="1400" i="1"/>
                                      <m:t>𝑟</m:t>
                                    </m:r>
                                    <m:r>
                                      <a:rPr lang="es-AR" sz="1400" i="1"/>
                                      <m:t>∗</m:t>
                                    </m:r>
                                  </m:sup>
                                </m:sSubSup>
                                <m:d>
                                  <m:dPr>
                                    <m:ctrlPr>
                                      <a:rPr lang="es-AR" sz="1400" i="1"/>
                                    </m:ctrlPr>
                                  </m:dPr>
                                  <m:e>
                                    <m:r>
                                      <a:rPr lang="es-AR" sz="1400" i="1"/>
                                      <m:t>𝑡</m:t>
                                    </m:r>
                                  </m:e>
                                </m:d>
                                <m:r>
                                  <a:rPr lang="es-AR" sz="1400" i="1"/>
                                  <m:t>=</m:t>
                                </m:r>
                                <m:sSubSup>
                                  <m:sSubSupPr>
                                    <m:ctrlPr>
                                      <a:rPr lang="es-AR" sz="1400" i="1"/>
                                    </m:ctrlPr>
                                  </m:sSubSupPr>
                                  <m:e>
                                    <m:r>
                                      <a:rPr lang="es-AR" sz="1400" i="1"/>
                                      <m:t>𝑣</m:t>
                                    </m:r>
                                  </m:e>
                                  <m:sub>
                                    <m:r>
                                      <a:rPr lang="es-AR" sz="1400" i="1"/>
                                      <m:t>𝑑𝑠</m:t>
                                    </m:r>
                                  </m:sub>
                                  <m:sup>
                                    <m:sSup>
                                      <m:sSupPr>
                                        <m:ctrlPr>
                                          <a:rPr lang="es-AR" sz="1400" i="1"/>
                                        </m:ctrlPr>
                                      </m:sSupPr>
                                      <m:e>
                                        <m:r>
                                          <a:rPr lang="es-AR" sz="1400" i="1"/>
                                          <m:t>𝑟</m:t>
                                        </m:r>
                                      </m:e>
                                      <m:sup>
                                        <m:r>
                                          <a:rPr lang="es-AR" sz="1400" i="1"/>
                                          <m:t>′</m:t>
                                        </m:r>
                                      </m:sup>
                                    </m:sSup>
                                    <m:r>
                                      <a:rPr lang="es-AR" sz="1400" i="1"/>
                                      <m:t>∗</m:t>
                                    </m:r>
                                  </m:sup>
                                </m:sSubSup>
                                <m:d>
                                  <m:dPr>
                                    <m:ctrlPr>
                                      <a:rPr lang="es-AR" sz="1400" i="1"/>
                                    </m:ctrlPr>
                                  </m:dPr>
                                  <m:e>
                                    <m:r>
                                      <a:rPr lang="es-AR" sz="1400" i="1"/>
                                      <m:t>𝑡</m:t>
                                    </m:r>
                                  </m:e>
                                </m:d>
                                <m:r>
                                  <a:rPr lang="es-AR" sz="1400" i="1"/>
                                  <m:t>+</m:t>
                                </m:r>
                                <m:sSub>
                                  <m:sSubPr>
                                    <m:ctrlPr>
                                      <a:rPr lang="es-AR" sz="1400" i="1"/>
                                    </m:ctrlPr>
                                  </m:sSubPr>
                                  <m:e>
                                    <m:r>
                                      <a:rPr lang="es-AR" sz="1400" i="1"/>
                                      <m:t>𝑅</m:t>
                                    </m:r>
                                  </m:e>
                                  <m:sub>
                                    <m:r>
                                      <a:rPr lang="es-AR" sz="1400" i="1"/>
                                      <m:t>𝑠</m:t>
                                    </m:r>
                                  </m:sub>
                                </m:sSub>
                                <m:d>
                                  <m:dPr>
                                    <m:ctrlPr>
                                      <a:rPr lang="es-AR" sz="1400" i="1"/>
                                    </m:ctrlPr>
                                  </m:dPr>
                                  <m:e>
                                    <m:sSubSup>
                                      <m:sSubSupPr>
                                        <m:ctrlPr>
                                          <a:rPr lang="es-AR" sz="1400" i="1"/>
                                        </m:ctrlPr>
                                      </m:sSubSupPr>
                                      <m:e>
                                        <m:r>
                                          <a:rPr lang="es-AR" sz="1400" i="1"/>
                                          <m:t>𝑇</m:t>
                                        </m:r>
                                      </m:e>
                                      <m:sub>
                                        <m:r>
                                          <a:rPr lang="es-AR" sz="1400" i="1"/>
                                          <m:t>𝑠</m:t>
                                        </m:r>
                                      </m:sub>
                                      <m:sup>
                                        <m:r>
                                          <a:rPr lang="es-AR" sz="1400" i="1"/>
                                          <m:t>∘</m:t>
                                        </m:r>
                                      </m:sup>
                                    </m:sSubSup>
                                  </m:e>
                                </m:d>
                                <m:sSubSup>
                                  <m:sSubSupPr>
                                    <m:ctrlPr>
                                      <a:rPr lang="es-AR" sz="1400" i="1"/>
                                    </m:ctrlPr>
                                  </m:sSubSupPr>
                                  <m:e>
                                    <m:r>
                                      <a:rPr lang="es-AR" sz="1400" i="1"/>
                                      <m:t>𝑖</m:t>
                                    </m:r>
                                  </m:e>
                                  <m:sub>
                                    <m:r>
                                      <a:rPr lang="es-AR" sz="1400" i="1"/>
                                      <m:t>𝑑𝑠</m:t>
                                    </m:r>
                                  </m:sub>
                                  <m:sup>
                                    <m:r>
                                      <a:rPr lang="es-AR" sz="1400" i="1"/>
                                      <m:t>𝑟</m:t>
                                    </m:r>
                                  </m:sup>
                                </m:sSubSup>
                                <m:d>
                                  <m:dPr>
                                    <m:ctrlPr>
                                      <a:rPr lang="es-AR" sz="1400" i="1"/>
                                    </m:ctrlPr>
                                  </m:dPr>
                                  <m:e>
                                    <m:r>
                                      <a:rPr lang="es-AR" sz="1400" i="1"/>
                                      <m:t>𝑡</m:t>
                                    </m:r>
                                  </m:e>
                                </m:d>
                                <m:r>
                                  <a:rPr lang="es-AR" sz="1400" i="1"/>
                                  <m:t>−</m:t>
                                </m:r>
                                <m:sSub>
                                  <m:sSubPr>
                                    <m:ctrlPr>
                                      <a:rPr lang="es-AR" sz="1400" i="1"/>
                                    </m:ctrlPr>
                                  </m:sSubPr>
                                  <m:e>
                                    <m:r>
                                      <a:rPr lang="es-AR" sz="1400" i="1"/>
                                      <m:t>𝑃</m:t>
                                    </m:r>
                                  </m:e>
                                  <m:sub>
                                    <m:r>
                                      <a:rPr lang="es-AR" sz="1400" i="1"/>
                                      <m:t>𝑝</m:t>
                                    </m:r>
                                  </m:sub>
                                </m:sSub>
                                <m:sSub>
                                  <m:sSubPr>
                                    <m:ctrlPr>
                                      <a:rPr lang="es-AR" sz="1400" i="1"/>
                                    </m:ctrlPr>
                                  </m:sSubPr>
                                  <m:e>
                                    <m:r>
                                      <a:rPr lang="es-AR" sz="1400" i="1"/>
                                      <m:t>𝜔</m:t>
                                    </m:r>
                                  </m:e>
                                  <m:sub>
                                    <m:r>
                                      <a:rPr lang="es-AR" sz="1400" i="1"/>
                                      <m:t>𝑚</m:t>
                                    </m:r>
                                  </m:sub>
                                </m:sSub>
                                <m:d>
                                  <m:dPr>
                                    <m:ctrlPr>
                                      <a:rPr lang="es-AR" sz="1400" i="1"/>
                                    </m:ctrlPr>
                                  </m:dPr>
                                  <m:e>
                                    <m:r>
                                      <a:rPr lang="es-AR" sz="1400" i="1"/>
                                      <m:t>𝑡</m:t>
                                    </m:r>
                                  </m:e>
                                </m:d>
                                <m:sSub>
                                  <m:sSubPr>
                                    <m:ctrlPr>
                                      <a:rPr lang="es-AR" sz="1400" i="1"/>
                                    </m:ctrlPr>
                                  </m:sSubPr>
                                  <m:e>
                                    <m:r>
                                      <a:rPr lang="es-AR" sz="1400" i="1"/>
                                      <m:t>𝐿</m:t>
                                    </m:r>
                                  </m:e>
                                  <m:sub>
                                    <m:r>
                                      <a:rPr lang="es-AR" sz="1400" i="1"/>
                                      <m:t>𝑞</m:t>
                                    </m:r>
                                  </m:sub>
                                </m:sSub>
                                <m:sSubSup>
                                  <m:sSubSupPr>
                                    <m:ctrlPr>
                                      <a:rPr lang="es-AR" sz="1400" i="1"/>
                                    </m:ctrlPr>
                                  </m:sSubSupPr>
                                  <m:e>
                                    <m:r>
                                      <a:rPr lang="es-AR" sz="1400" i="1"/>
                                      <m:t>𝑖</m:t>
                                    </m:r>
                                  </m:e>
                                  <m:sub>
                                    <m:r>
                                      <a:rPr lang="es-AR" sz="1400" i="1"/>
                                      <m:t>𝑞𝑠</m:t>
                                    </m:r>
                                  </m:sub>
                                  <m:sup>
                                    <m:r>
                                      <a:rPr lang="es-AR" sz="1400" i="1"/>
                                      <m:t>𝑟</m:t>
                                    </m:r>
                                  </m:sup>
                                </m:sSubSup>
                                <m:d>
                                  <m:dPr>
                                    <m:ctrlPr>
                                      <a:rPr lang="es-AR" sz="1400" i="1"/>
                                    </m:ctrlPr>
                                  </m:dPr>
                                  <m:e>
                                    <m:r>
                                      <a:rPr lang="es-AR" sz="1400" i="1"/>
                                      <m:t>𝑡</m:t>
                                    </m:r>
                                  </m:e>
                                </m:d>
                                <m:r>
                                  <a:rPr lang="es-AR" sz="1400" i="1"/>
                                  <m:t>              </m:t>
                                </m:r>
                              </m:e>
                            </m:mr>
                            <m:mr>
                              <m:e>
                                <m:sSubSup>
                                  <m:sSubSupPr>
                                    <m:ctrlPr>
                                      <a:rPr lang="es-AR" sz="1400" i="1"/>
                                    </m:ctrlPr>
                                  </m:sSubSupPr>
                                  <m:e>
                                    <m:r>
                                      <a:rPr lang="es-AR" sz="1400" i="1"/>
                                      <m:t>𝑣</m:t>
                                    </m:r>
                                  </m:e>
                                  <m:sub>
                                    <m:r>
                                      <a:rPr lang="es-AR" sz="1400" i="1"/>
                                      <m:t>0</m:t>
                                    </m:r>
                                    <m:r>
                                      <a:rPr lang="es-AR" sz="1400" i="1"/>
                                      <m:t>𝑠</m:t>
                                    </m:r>
                                  </m:sub>
                                  <m:sup>
                                    <m:r>
                                      <a:rPr lang="es-AR" sz="1400" i="1"/>
                                      <m:t>∗</m:t>
                                    </m:r>
                                  </m:sup>
                                </m:sSubSup>
                                <m:d>
                                  <m:dPr>
                                    <m:ctrlPr>
                                      <a:rPr lang="es-AR" sz="1400" i="1"/>
                                    </m:ctrlPr>
                                  </m:dPr>
                                  <m:e>
                                    <m:r>
                                      <a:rPr lang="es-AR" sz="1400" i="1"/>
                                      <m:t>𝑡</m:t>
                                    </m:r>
                                  </m:e>
                                </m:d>
                                <m:r>
                                  <a:rPr lang="es-AR" sz="1400" i="1"/>
                                  <m:t>=</m:t>
                                </m:r>
                                <m:sSubSup>
                                  <m:sSubSupPr>
                                    <m:ctrlPr>
                                      <a:rPr lang="es-AR" sz="1400" i="1"/>
                                    </m:ctrlPr>
                                  </m:sSubSupPr>
                                  <m:e>
                                    <m:r>
                                      <a:rPr lang="es-AR" sz="1400" i="1"/>
                                      <m:t>𝑣</m:t>
                                    </m:r>
                                  </m:e>
                                  <m:sub>
                                    <m:r>
                                      <a:rPr lang="es-AR" sz="1400" i="1"/>
                                      <m:t>0</m:t>
                                    </m:r>
                                    <m:r>
                                      <a:rPr lang="es-AR" sz="1400" i="1"/>
                                      <m:t>𝑠</m:t>
                                    </m:r>
                                  </m:sub>
                                  <m:sup>
                                    <m:r>
                                      <a:rPr lang="es-AR" sz="1400" i="1"/>
                                      <m:t>′</m:t>
                                    </m:r>
                                    <m:r>
                                      <a:rPr lang="es-AR" sz="1400" i="1"/>
                                      <m:t>∗</m:t>
                                    </m:r>
                                  </m:sup>
                                </m:sSubSup>
                                <m:d>
                                  <m:dPr>
                                    <m:ctrlPr>
                                      <a:rPr lang="es-AR" sz="1400" i="1"/>
                                    </m:ctrlPr>
                                  </m:dPr>
                                  <m:e>
                                    <m:r>
                                      <a:rPr lang="es-AR" sz="1400" i="1"/>
                                      <m:t>𝑡</m:t>
                                    </m:r>
                                  </m:e>
                                </m:d>
                                <m:r>
                                  <a:rPr lang="es-AR" sz="1400" i="1"/>
                                  <m:t>+</m:t>
                                </m:r>
                                <m:sSub>
                                  <m:sSubPr>
                                    <m:ctrlPr>
                                      <a:rPr lang="es-AR" sz="1400" i="1"/>
                                    </m:ctrlPr>
                                  </m:sSubPr>
                                  <m:e>
                                    <m:r>
                                      <a:rPr lang="es-AR" sz="1400" i="1"/>
                                      <m:t>𝑅</m:t>
                                    </m:r>
                                  </m:e>
                                  <m:sub>
                                    <m:r>
                                      <a:rPr lang="es-AR" sz="1400" i="1"/>
                                      <m:t>𝑠</m:t>
                                    </m:r>
                                  </m:sub>
                                </m:sSub>
                                <m:d>
                                  <m:dPr>
                                    <m:ctrlPr>
                                      <a:rPr lang="es-AR" sz="1400" i="1"/>
                                    </m:ctrlPr>
                                  </m:dPr>
                                  <m:e>
                                    <m:sSubSup>
                                      <m:sSubSupPr>
                                        <m:ctrlPr>
                                          <a:rPr lang="es-AR" sz="1400" i="1"/>
                                        </m:ctrlPr>
                                      </m:sSubSupPr>
                                      <m:e>
                                        <m:r>
                                          <a:rPr lang="es-AR" sz="1400" i="1"/>
                                          <m:t>𝑇</m:t>
                                        </m:r>
                                      </m:e>
                                      <m:sub>
                                        <m:r>
                                          <a:rPr lang="es-AR" sz="1400" i="1"/>
                                          <m:t>𝑠</m:t>
                                        </m:r>
                                      </m:sub>
                                      <m:sup>
                                        <m:r>
                                          <a:rPr lang="es-AR" sz="1400" i="1"/>
                                          <m:t>∘</m:t>
                                        </m:r>
                                      </m:sup>
                                    </m:sSubSup>
                                  </m:e>
                                </m:d>
                                <m:sSub>
                                  <m:sSubPr>
                                    <m:ctrlPr>
                                      <a:rPr lang="es-AR" sz="1400" i="1"/>
                                    </m:ctrlPr>
                                  </m:sSubPr>
                                  <m:e>
                                    <m:r>
                                      <a:rPr lang="es-AR" sz="1400" i="1"/>
                                      <m:t>𝑖</m:t>
                                    </m:r>
                                  </m:e>
                                  <m:sub>
                                    <m:r>
                                      <a:rPr lang="es-AR" sz="1400" i="1"/>
                                      <m:t>0</m:t>
                                    </m:r>
                                    <m:r>
                                      <a:rPr lang="es-AR" sz="1400" i="1"/>
                                      <m:t>𝑠</m:t>
                                    </m:r>
                                  </m:sub>
                                </m:sSub>
                                <m:d>
                                  <m:dPr>
                                    <m:ctrlPr>
                                      <a:rPr lang="es-AR" sz="1400" i="1"/>
                                    </m:ctrlPr>
                                  </m:dPr>
                                  <m:e>
                                    <m:r>
                                      <a:rPr lang="es-AR" sz="1400" i="1"/>
                                      <m:t>𝑡</m:t>
                                    </m:r>
                                  </m:e>
                                </m:d>
                                <m:r>
                                  <a:rPr lang="es-AR" sz="1400" i="1"/>
                                  <m:t>                                                    </m:t>
                                </m:r>
                              </m:e>
                            </m:mr>
                          </m:m>
                        </m:e>
                      </m:d>
                    </m:oMath>
                  </m:oMathPara>
                </a14:m>
                <a:endParaRPr sz="1600" b="1" dirty="0">
                  <a:solidFill>
                    <a:srgbClr val="C35A00"/>
                  </a:solidFill>
                  <a:latin typeface="Calibri"/>
                </a:endParaRPr>
              </a:p>
            </p:txBody>
          </p:sp>
        </mc:Choice>
        <mc:Fallback>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mc:Choice xmlns:a14="http://schemas.microsoft.com/office/drawing/2010/main"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m:ctrlPr>
                        </m:dPr>
                        <m:e>
                          <m:m>
                            <m:mPr>
                              <m:mcs>
                                <m:mc>
                                  <m:mcPr>
                                    <m:count m:val="1"/>
                                    <m:mcJc m:val="center"/>
                                  </m:mcPr>
                                </m:mc>
                              </m:mcs>
                              <m:ctrlPr>
                                <a:rPr lang="es-AR" sz="1400" i="1"/>
                              </m:ctrlPr>
                            </m:mPr>
                            <m:mr>
                              <m:e>
                                <m:sSubSup>
                                  <m:sSubSupPr>
                                    <m:ctrlPr>
                                      <a:rPr lang="es-AR" sz="1400" i="1"/>
                                    </m:ctrlPr>
                                  </m:sSubSupPr>
                                  <m:e>
                                    <m:r>
                                      <a:rPr lang="es-AR" sz="1400" i="1"/>
                                      <m:t>𝑣</m:t>
                                    </m:r>
                                  </m:e>
                                  <m:sub>
                                    <m:r>
                                      <a:rPr lang="es-AR" sz="1400" i="1"/>
                                      <m:t>𝑞𝑠</m:t>
                                    </m:r>
                                  </m:sub>
                                  <m:sup>
                                    <m:sSup>
                                      <m:sSupPr>
                                        <m:ctrlPr>
                                          <a:rPr lang="es-AR" sz="1400" i="1"/>
                                        </m:ctrlPr>
                                      </m:sSupPr>
                                      <m:e>
                                        <m:r>
                                          <a:rPr lang="es-AR" sz="1400" i="1"/>
                                          <m:t>𝑟</m:t>
                                        </m:r>
                                      </m:e>
                                      <m:sup>
                                        <m:r>
                                          <a:rPr lang="es-AR" sz="1400" i="1"/>
                                          <m:t>′</m:t>
                                        </m:r>
                                      </m:sup>
                                    </m:sSup>
                                    <m:r>
                                      <a:rPr lang="es-AR" sz="1400" i="1"/>
                                      <m:t>∗</m:t>
                                    </m:r>
                                  </m:sup>
                                </m:sSubSup>
                                <m:d>
                                  <m:dPr>
                                    <m:ctrlPr>
                                      <a:rPr lang="es-AR" sz="1400" i="1"/>
                                    </m:ctrlPr>
                                  </m:dPr>
                                  <m:e>
                                    <m:r>
                                      <a:rPr lang="es-AR" sz="1400" i="1"/>
                                      <m:t>𝑡</m:t>
                                    </m:r>
                                  </m:e>
                                </m:d>
                                <m:r>
                                  <a:rPr lang="es-AR" sz="1400"/>
                                  <m:t>≈</m:t>
                                </m:r>
                                <m:sSub>
                                  <m:sSubPr>
                                    <m:ctrlPr>
                                      <a:rPr lang="es-AR" sz="1400" i="1"/>
                                    </m:ctrlPr>
                                  </m:sSubPr>
                                  <m:e>
                                    <m:r>
                                      <a:rPr lang="es-AR" sz="1400" i="1"/>
                                      <m:t>𝐿</m:t>
                                    </m:r>
                                  </m:e>
                                  <m:sub>
                                    <m:r>
                                      <a:rPr lang="es-AR" sz="1400" i="1"/>
                                      <m:t>𝑑</m:t>
                                    </m:r>
                                  </m:sub>
                                </m:sSub>
                                <m:f>
                                  <m:fPr>
                                    <m:ctrlPr>
                                      <a:rPr lang="es-AR" sz="1400" i="1"/>
                                    </m:ctrlPr>
                                  </m:fPr>
                                  <m:num>
                                    <m:r>
                                      <a:rPr lang="es-AR" sz="1400" i="1"/>
                                      <m:t>𝑑</m:t>
                                    </m:r>
                                    <m:sSubSup>
                                      <m:sSubSupPr>
                                        <m:ctrlPr>
                                          <a:rPr lang="es-AR" sz="1400" i="1"/>
                                        </m:ctrlPr>
                                      </m:sSubSupPr>
                                      <m:e>
                                        <m:r>
                                          <a:rPr lang="es-AR" sz="1400" i="1"/>
                                          <m:t>𝑖</m:t>
                                        </m:r>
                                      </m:e>
                                      <m:sub>
                                        <m:r>
                                          <a:rPr lang="es-AR" sz="1400" i="1"/>
                                          <m:t>𝑑𝑠</m:t>
                                        </m:r>
                                      </m:sub>
                                      <m:sup>
                                        <m:r>
                                          <a:rPr lang="es-AR" sz="1400" i="1"/>
                                          <m:t>𝑟</m:t>
                                        </m:r>
                                      </m:sup>
                                    </m:sSubSup>
                                    <m:d>
                                      <m:dPr>
                                        <m:ctrlPr>
                                          <a:rPr lang="es-AR" sz="1400" i="1"/>
                                        </m:ctrlPr>
                                      </m:dPr>
                                      <m:e>
                                        <m:r>
                                          <a:rPr lang="es-AR" sz="1400" i="1"/>
                                          <m:t>𝑡</m:t>
                                        </m:r>
                                      </m:e>
                                    </m:d>
                                  </m:num>
                                  <m:den>
                                    <m:r>
                                      <a:rPr lang="es-AR" sz="1400" i="1"/>
                                      <m:t>𝑑𝑡</m:t>
                                    </m:r>
                                  </m:den>
                                </m:f>
                              </m:e>
                            </m:mr>
                            <m:mr>
                              <m:e>
                                <m:sSubSup>
                                  <m:sSubSupPr>
                                    <m:ctrlPr>
                                      <a:rPr lang="es-AR" sz="1400" i="1"/>
                                    </m:ctrlPr>
                                  </m:sSubSupPr>
                                  <m:e>
                                    <m:r>
                                      <a:rPr lang="es-AR" sz="1400" i="1"/>
                                      <m:t>𝑣</m:t>
                                    </m:r>
                                  </m:e>
                                  <m:sub>
                                    <m:r>
                                      <a:rPr lang="es-AR" sz="1400" i="1"/>
                                      <m:t>𝑑𝑠</m:t>
                                    </m:r>
                                  </m:sub>
                                  <m:sup>
                                    <m:sSup>
                                      <m:sSupPr>
                                        <m:ctrlPr>
                                          <a:rPr lang="es-AR" sz="1400" i="1"/>
                                        </m:ctrlPr>
                                      </m:sSupPr>
                                      <m:e>
                                        <m:r>
                                          <a:rPr lang="es-AR" sz="1400" i="1"/>
                                          <m:t>𝑟</m:t>
                                        </m:r>
                                      </m:e>
                                      <m:sup>
                                        <m:r>
                                          <a:rPr lang="es-AR" sz="1400" i="1"/>
                                          <m:t>′</m:t>
                                        </m:r>
                                      </m:sup>
                                    </m:sSup>
                                    <m:r>
                                      <a:rPr lang="es-AR" sz="1400" i="1"/>
                                      <m:t>∗</m:t>
                                    </m:r>
                                  </m:sup>
                                </m:sSubSup>
                                <m:d>
                                  <m:dPr>
                                    <m:ctrlPr>
                                      <a:rPr lang="es-AR" sz="1400" i="1"/>
                                    </m:ctrlPr>
                                  </m:dPr>
                                  <m:e>
                                    <m:r>
                                      <a:rPr lang="es-AR" sz="1400" i="1"/>
                                      <m:t>𝑡</m:t>
                                    </m:r>
                                  </m:e>
                                </m:d>
                                <m:r>
                                  <a:rPr lang="es-AR" sz="1400"/>
                                  <m:t>≈</m:t>
                                </m:r>
                                <m:sSub>
                                  <m:sSubPr>
                                    <m:ctrlPr>
                                      <a:rPr lang="es-AR" sz="1400" i="1"/>
                                    </m:ctrlPr>
                                  </m:sSubPr>
                                  <m:e>
                                    <m:r>
                                      <a:rPr lang="es-AR" sz="1400" i="1"/>
                                      <m:t>𝐿</m:t>
                                    </m:r>
                                  </m:e>
                                  <m:sub>
                                    <m:r>
                                      <a:rPr lang="es-AR" sz="1400" i="1"/>
                                      <m:t>𝑑</m:t>
                                    </m:r>
                                  </m:sub>
                                </m:sSub>
                                <m:f>
                                  <m:fPr>
                                    <m:ctrlPr>
                                      <a:rPr lang="es-AR" sz="1400" i="1"/>
                                    </m:ctrlPr>
                                  </m:fPr>
                                  <m:num>
                                    <m:r>
                                      <a:rPr lang="es-AR" sz="1400" i="1"/>
                                      <m:t>𝑑</m:t>
                                    </m:r>
                                    <m:sSubSup>
                                      <m:sSubSupPr>
                                        <m:ctrlPr>
                                          <a:rPr lang="es-AR" sz="1400" i="1"/>
                                        </m:ctrlPr>
                                      </m:sSubSupPr>
                                      <m:e>
                                        <m:r>
                                          <a:rPr lang="es-AR" sz="1400" i="1"/>
                                          <m:t>𝑖</m:t>
                                        </m:r>
                                      </m:e>
                                      <m:sub>
                                        <m:r>
                                          <a:rPr lang="es-AR" sz="1400" i="1"/>
                                          <m:t>𝑑𝑠</m:t>
                                        </m:r>
                                      </m:sub>
                                      <m:sup>
                                        <m:r>
                                          <a:rPr lang="es-AR" sz="1400" i="1"/>
                                          <m:t>𝑟</m:t>
                                        </m:r>
                                      </m:sup>
                                    </m:sSubSup>
                                    <m:d>
                                      <m:dPr>
                                        <m:ctrlPr>
                                          <a:rPr lang="es-AR" sz="1400" i="1"/>
                                        </m:ctrlPr>
                                      </m:dPr>
                                      <m:e>
                                        <m:r>
                                          <a:rPr lang="es-AR" sz="1400" i="1"/>
                                          <m:t>𝑡</m:t>
                                        </m:r>
                                      </m:e>
                                    </m:d>
                                  </m:num>
                                  <m:den>
                                    <m:r>
                                      <a:rPr lang="es-AR" sz="1400" i="1"/>
                                      <m:t>𝑑𝑡</m:t>
                                    </m:r>
                                  </m:den>
                                </m:f>
                              </m:e>
                            </m:mr>
                            <m:mr>
                              <m:e>
                                <m:sSubSup>
                                  <m:sSubSupPr>
                                    <m:ctrlPr>
                                      <a:rPr lang="es-AR" sz="1400" i="1"/>
                                    </m:ctrlPr>
                                  </m:sSubSupPr>
                                  <m:e>
                                    <m:r>
                                      <a:rPr lang="es-AR" sz="1400" i="1"/>
                                      <m:t>𝑣</m:t>
                                    </m:r>
                                  </m:e>
                                  <m:sub>
                                    <m:r>
                                      <a:rPr lang="es-AR" sz="1400" i="1"/>
                                      <m:t>0</m:t>
                                    </m:r>
                                    <m:r>
                                      <a:rPr lang="es-AR" sz="1400" i="1"/>
                                      <m:t>𝑠</m:t>
                                    </m:r>
                                  </m:sub>
                                  <m:sup>
                                    <m:r>
                                      <a:rPr lang="es-AR" sz="1400" i="1"/>
                                      <m:t>′</m:t>
                                    </m:r>
                                    <m:r>
                                      <a:rPr lang="es-AR" sz="1400" i="1"/>
                                      <m:t>∗</m:t>
                                    </m:r>
                                  </m:sup>
                                </m:sSubSup>
                                <m:d>
                                  <m:dPr>
                                    <m:ctrlPr>
                                      <a:rPr lang="es-AR" sz="1400" i="1"/>
                                    </m:ctrlPr>
                                  </m:dPr>
                                  <m:e>
                                    <m:r>
                                      <a:rPr lang="es-AR" sz="1400" i="1"/>
                                      <m:t>𝑡</m:t>
                                    </m:r>
                                  </m:e>
                                </m:d>
                                <m:r>
                                  <a:rPr lang="es-AR" sz="1400"/>
                                  <m:t>≈</m:t>
                                </m:r>
                                <m:sSub>
                                  <m:sSubPr>
                                    <m:ctrlPr>
                                      <a:rPr lang="es-AR" sz="1400" i="1"/>
                                    </m:ctrlPr>
                                  </m:sSubPr>
                                  <m:e>
                                    <m:r>
                                      <a:rPr lang="es-AR" sz="1400" i="1"/>
                                      <m:t>𝐿</m:t>
                                    </m:r>
                                  </m:e>
                                  <m:sub>
                                    <m:r>
                                      <a:rPr lang="es-AR" sz="1400" i="1"/>
                                      <m:t>𝑙𝑠</m:t>
                                    </m:r>
                                  </m:sub>
                                </m:sSub>
                                <m:f>
                                  <m:fPr>
                                    <m:ctrlPr>
                                      <a:rPr lang="es-AR" sz="1400" i="1"/>
                                    </m:ctrlPr>
                                  </m:fPr>
                                  <m:num>
                                    <m:r>
                                      <a:rPr lang="es-AR" sz="1400" i="1"/>
                                      <m:t>𝑑</m:t>
                                    </m:r>
                                    <m:sSub>
                                      <m:sSubPr>
                                        <m:ctrlPr>
                                          <a:rPr lang="es-AR" sz="1400" i="1"/>
                                        </m:ctrlPr>
                                      </m:sSubPr>
                                      <m:e>
                                        <m:r>
                                          <a:rPr lang="es-AR" sz="1400" i="1"/>
                                          <m:t>𝑖</m:t>
                                        </m:r>
                                      </m:e>
                                      <m:sub>
                                        <m:r>
                                          <a:rPr lang="es-AR" sz="1400" i="1"/>
                                          <m:t>0</m:t>
                                        </m:r>
                                        <m:r>
                                          <a:rPr lang="es-AR" sz="1400" i="1"/>
                                          <m:t>𝑠</m:t>
                                        </m:r>
                                      </m:sub>
                                    </m:sSub>
                                    <m:d>
                                      <m:dPr>
                                        <m:ctrlPr>
                                          <a:rPr lang="es-AR" sz="1400" i="1"/>
                                        </m:ctrlPr>
                                      </m:dPr>
                                      <m:e>
                                        <m:r>
                                          <a:rPr lang="es-AR" sz="1400" i="1"/>
                                          <m:t>𝑡</m:t>
                                        </m:r>
                                      </m:e>
                                    </m:d>
                                  </m:num>
                                  <m:den>
                                    <m:r>
                                      <a:rPr lang="es-AR" sz="1400" i="1"/>
                                      <m:t>𝑑𝑡</m:t>
                                    </m:r>
                                  </m:den>
                                </m:f>
                              </m:e>
                            </m:mr>
                          </m:m>
                        </m:e>
                      </m:d>
                    </m:oMath>
                  </m:oMathPara>
                </a14:m>
                <a:endParaRPr sz="1600" b="1" dirty="0">
                  <a:solidFill>
                    <a:srgbClr val="C35A00"/>
                  </a:solidFill>
                  <a:latin typeface="Calibri"/>
                </a:endParaRPr>
              </a:p>
            </p:txBody>
          </p:sp>
        </mc:Choice>
        <mc:Fallback>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mc:Choice xmlns:a14="http://schemas.microsoft.com/office/drawing/2010/main"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m:ctrlPr>
                      </m:sSubSupPr>
                      <m:e>
                        <m:r>
                          <a:rPr lang="es-AR" sz="1400" i="1"/>
                          <m:t>𝑣</m:t>
                        </m:r>
                      </m:e>
                      <m:sub>
                        <m:r>
                          <a:rPr lang="es-AR" sz="1400" i="1"/>
                          <m:t>𝑞𝑠</m:t>
                        </m:r>
                      </m:sub>
                      <m:sup>
                        <m:r>
                          <a:rPr lang="es-AR" sz="1400" i="1"/>
                          <m:t>𝑟</m:t>
                        </m:r>
                      </m:sup>
                    </m:sSubSup>
                    <m:d>
                      <m:dPr>
                        <m:ctrlPr>
                          <a:rPr lang="es-AR" sz="1400" i="1"/>
                        </m:ctrlPr>
                      </m:dPr>
                      <m:e>
                        <m:r>
                          <a:rPr lang="es-AR" sz="1400" i="1"/>
                          <m:t>𝑡</m:t>
                        </m:r>
                      </m:e>
                    </m:d>
                  </m:oMath>
                </a14:m>
                <a:r>
                  <a:rPr lang="es-AR" sz="1400" dirty="0"/>
                  <a:t>​ y </a:t>
                </a:r>
                <a14:m>
                  <m:oMath xmlns:m="http://schemas.openxmlformats.org/officeDocument/2006/math">
                    <m:sSubSup>
                      <m:sSubSupPr>
                        <m:ctrlPr>
                          <a:rPr lang="es-AR" sz="1400" i="1"/>
                        </m:ctrlPr>
                      </m:sSubSupPr>
                      <m:e>
                        <m:r>
                          <a:rPr lang="es-AR" sz="1400" i="1"/>
                          <m:t>𝑣</m:t>
                        </m:r>
                      </m:e>
                      <m:sub>
                        <m:r>
                          <a:rPr lang="es-AR" sz="1400" i="1"/>
                          <m:t>𝑑𝑠</m:t>
                        </m:r>
                      </m:sub>
                      <m:sup>
                        <m:r>
                          <a:rPr lang="es-AR" sz="1400" i="1"/>
                          <m:t>𝑟</m:t>
                        </m:r>
                      </m:sup>
                    </m:sSubSup>
                    <m:d>
                      <m:dPr>
                        <m:ctrlPr>
                          <a:rPr lang="es-AR" sz="1400" i="1"/>
                        </m:ctrlPr>
                      </m:dPr>
                      <m:e>
                        <m:r>
                          <a:rPr lang="es-AR" sz="1400" i="1"/>
                          <m:t>𝑡</m:t>
                        </m:r>
                      </m:e>
                    </m:d>
                  </m:oMath>
                </a14:m>
                <a:r>
                  <a:rPr lang="es-AR" sz="1400" dirty="0"/>
                  <a:t>, con el objetivo de compensar los acoplamientos entre ejes y forzar </a:t>
                </a:r>
                <a14:m>
                  <m:oMath xmlns:m="http://schemas.openxmlformats.org/officeDocument/2006/math">
                    <m:sSubSup>
                      <m:sSubSupPr>
                        <m:ctrlPr>
                          <a:rPr lang="es-AR" sz="1400" i="1"/>
                        </m:ctrlPr>
                      </m:sSubSupPr>
                      <m:e>
                        <m:r>
                          <a:rPr lang="es-AR" sz="1400" i="1"/>
                          <m:t>𝑖</m:t>
                        </m:r>
                      </m:e>
                      <m:sub>
                        <m:r>
                          <a:rPr lang="es-AR" sz="1400" i="1"/>
                          <m:t>𝑑𝑠</m:t>
                        </m:r>
                      </m:sub>
                      <m:sup>
                        <m:r>
                          <a:rPr lang="es-AR" sz="1400" i="1"/>
                          <m:t>𝑟</m:t>
                        </m:r>
                      </m:sup>
                    </m:sSubSup>
                    <m:d>
                      <m:dPr>
                        <m:ctrlPr>
                          <a:rPr lang="es-AR" sz="1400" i="1"/>
                        </m:ctrlPr>
                      </m:dPr>
                      <m:e>
                        <m:r>
                          <a:rPr lang="es-AR" sz="1400" i="1"/>
                          <m:t>𝑡</m:t>
                        </m:r>
                      </m:e>
                    </m:d>
                    <m:r>
                      <a:rPr lang="es-AR" sz="1400" i="1"/>
                      <m:t>=</m:t>
                    </m:r>
                    <m:r>
                      <a:rPr lang="es-AR" sz="1400" i="1"/>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m:ctrlPr>
                      </m:sSubPr>
                      <m:e>
                        <m:r>
                          <a:rPr lang="es-AR" sz="1400" i="1"/>
                          <m:t>𝑅</m:t>
                        </m:r>
                      </m:e>
                      <m:sub>
                        <m:r>
                          <a:rPr lang="es-AR" sz="1400" i="1"/>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m:ctrlPr>
                      </m:sSubSupPr>
                      <m:e>
                        <m:r>
                          <a:rPr lang="es-AR" sz="1400" i="1"/>
                          <m:t>𝑖</m:t>
                        </m:r>
                      </m:e>
                      <m:sub>
                        <m:r>
                          <a:rPr lang="es-AR" sz="1400" i="1"/>
                          <m:t>𝑑𝑠</m:t>
                        </m:r>
                      </m:sub>
                      <m:sup>
                        <m:r>
                          <a:rPr lang="es-AR" sz="1400" i="1"/>
                          <m:t>𝑟</m:t>
                        </m:r>
                      </m:sup>
                    </m:sSubSup>
                    <m:d>
                      <m:dPr>
                        <m:ctrlPr>
                          <a:rPr lang="es-AR" sz="1400" i="1"/>
                        </m:ctrlPr>
                      </m:dPr>
                      <m:e>
                        <m:r>
                          <a:rPr lang="es-AR" sz="1400" i="1"/>
                          <m:t>𝑡</m:t>
                        </m:r>
                      </m:e>
                    </m:d>
                    <m:r>
                      <a:rPr lang="es-AR" sz="1400" i="1"/>
                      <m:t>=</m:t>
                    </m:r>
                    <m:r>
                      <a:rPr lang="es-AR" sz="1400" i="1"/>
                      <m:t>0</m:t>
                    </m:r>
                  </m:oMath>
                </a14:m>
                <a:r>
                  <a:rPr lang="es-AR" sz="1400" dirty="0"/>
                  <a:t>, lo que permite contemplar estrategias de operación más generales. </a:t>
                </a:r>
              </a:p>
            </p:txBody>
          </p:sp>
        </mc:Choice>
        <mc:Fallback>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mc:Choice xmlns:a14="http://schemas.microsoft.com/office/drawing/2010/main" Requires="a14">
          <p:sp>
            <p:nvSpPr>
              <p:cNvPr id="7" name="TextBox 6"/>
              <p:cNvSpPr txBox="1"/>
              <p:nvPr/>
            </p:nvSpPr>
            <p:spPr>
              <a:xfrm>
                <a:off x="213360" y="724870"/>
                <a:ext cx="11765280" cy="1688154"/>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p:sp>
            <p:nvSpPr>
              <p:cNvPr id="7" name="TextBox 6"/>
              <p:cNvSpPr txBox="1">
                <a:spLocks noRot="1" noChangeAspect="1" noMove="1" noResize="1" noEditPoints="1" noAdjustHandles="1" noChangeArrowheads="1" noChangeShapeType="1" noTextEdit="1"/>
              </p:cNvSpPr>
              <p:nvPr/>
            </p:nvSpPr>
            <p:spPr>
              <a:xfrm>
                <a:off x="213360" y="724870"/>
                <a:ext cx="11765280" cy="1688154"/>
              </a:xfrm>
              <a:prstGeom prst="rect">
                <a:avLst/>
              </a:prstGeom>
              <a:blipFill>
                <a:blip r:embed="rId2"/>
                <a:stretch>
                  <a:fillRect l="-155" t="-361" r="-155"/>
                </a:stretch>
              </a:blipFill>
            </p:spPr>
            <p:txBody>
              <a:bodyPr/>
              <a:lstStyle/>
              <a:p>
                <a:r>
                  <a:rPr lang="es-AR">
                    <a:noFill/>
                  </a:rPr>
                  <a:t> </a:t>
                </a:r>
              </a:p>
            </p:txBody>
          </p:sp>
        </mc:Fallback>
      </mc:AlternateContent>
      <p:sp>
        <p:nvSpPr>
          <p:cNvPr id="11" name="Rectangle 10"/>
          <p:cNvSpPr/>
          <p:nvPr/>
        </p:nvSpPr>
        <p:spPr>
          <a:xfrm>
            <a:off x="274320" y="2064145"/>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12" name="TextBox 11"/>
              <p:cNvSpPr txBox="1"/>
              <p:nvPr/>
            </p:nvSpPr>
            <p:spPr>
              <a:xfrm>
                <a:off x="365760" y="223025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p:sp>
            <p:nvSpPr>
              <p:cNvPr id="12" name="TextBox 11"/>
              <p:cNvSpPr txBox="1">
                <a:spLocks noRot="1" noChangeAspect="1" noMove="1" noResize="1" noEditPoints="1" noAdjustHandles="1" noChangeArrowheads="1" noChangeShapeType="1" noTextEdit="1"/>
              </p:cNvSpPr>
              <p:nvPr/>
            </p:nvSpPr>
            <p:spPr>
              <a:xfrm>
                <a:off x="365760" y="223025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030997"/>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m:ctrlPr>
                        </m:mPr>
                        <m:mr>
                          <m:e>
                            <m:sSub>
                              <m:sSubPr>
                                <m:ctrlPr>
                                  <a:rPr lang="es-AR" sz="1400" i="1"/>
                                </m:ctrlPr>
                              </m:sSubPr>
                              <m:e>
                                <m:r>
                                  <a:rPr lang="es-AR" sz="1400" i="1"/>
                                  <m:t>𝐿</m:t>
                                </m:r>
                              </m:e>
                              <m:sub>
                                <m:r>
                                  <a:rPr lang="es-AR" sz="1400" i="1"/>
                                  <m:t>𝑞</m:t>
                                </m:r>
                              </m:sub>
                            </m:sSub>
                            <m:r>
                              <a:rPr lang="es-AR" sz="1400"/>
                              <m:t>⋅</m:t>
                            </m:r>
                            <m:f>
                              <m:fPr>
                                <m:ctrlPr>
                                  <a:rPr lang="es-AR" sz="1400" i="1"/>
                                </m:ctrlPr>
                              </m:fPr>
                              <m:num>
                                <m:r>
                                  <a:rPr lang="es-AR" sz="1400" i="1"/>
                                  <m:t>𝑑</m:t>
                                </m:r>
                                <m:sSubSup>
                                  <m:sSubSupPr>
                                    <m:ctrlPr>
                                      <a:rPr lang="es-AR" sz="1400" i="1"/>
                                    </m:ctrlPr>
                                  </m:sSubSupPr>
                                  <m:e>
                                    <m:r>
                                      <a:rPr lang="es-AR" sz="1400" i="1"/>
                                      <m:t>𝑖</m:t>
                                    </m:r>
                                  </m:e>
                                  <m:sub>
                                    <m:r>
                                      <a:rPr lang="es-AR" sz="1400" i="1"/>
                                      <m:t>𝑞𝑠</m:t>
                                    </m:r>
                                  </m:sub>
                                  <m:sup>
                                    <m:r>
                                      <a:rPr lang="es-AR" sz="1400" i="1"/>
                                      <m:t>𝑟</m:t>
                                    </m:r>
                                  </m:sup>
                                </m:sSubSup>
                              </m:num>
                              <m:den>
                                <m:r>
                                  <a:rPr lang="es-AR" sz="1400" i="1"/>
                                  <m:t>𝑑𝑡</m:t>
                                </m:r>
                              </m:den>
                            </m:f>
                            <m:r>
                              <a:rPr lang="es-AR" sz="1400" i="1"/>
                              <m:t>=</m:t>
                            </m:r>
                            <m:sSubSup>
                              <m:sSubSupPr>
                                <m:ctrlPr>
                                  <a:rPr lang="es-AR" sz="1400" i="1"/>
                                </m:ctrlPr>
                              </m:sSubSupPr>
                              <m:e>
                                <m:r>
                                  <a:rPr lang="es-AR" sz="1400" i="1"/>
                                  <m:t>𝑅</m:t>
                                </m:r>
                              </m:e>
                              <m:sub>
                                <m:r>
                                  <a:rPr lang="es-AR" sz="1400" i="1"/>
                                  <m:t>𝑞</m:t>
                                </m:r>
                              </m:sub>
                              <m:sup>
                                <m:r>
                                  <a:rPr lang="es-AR" sz="1400" i="1"/>
                                  <m:t>′</m:t>
                                </m:r>
                              </m:sup>
                            </m:sSubSup>
                            <m:r>
                              <a:rPr lang="es-AR" sz="1400"/>
                              <m:t>⋅</m:t>
                            </m:r>
                            <m:d>
                              <m:dPr>
                                <m:begChr m:val="["/>
                                <m:endChr m:val="]"/>
                                <m:ctrlPr>
                                  <a:rPr lang="es-AR" sz="1400" i="1"/>
                                </m:ctrlPr>
                              </m:dPr>
                              <m:e>
                                <m:sSubSup>
                                  <m:sSubSupPr>
                                    <m:ctrlPr>
                                      <a:rPr lang="es-AR" sz="1400" i="1"/>
                                    </m:ctrlPr>
                                  </m:sSubSupPr>
                                  <m:e>
                                    <m:r>
                                      <a:rPr lang="es-AR" sz="1400" i="1"/>
                                      <m:t>𝑖</m:t>
                                    </m:r>
                                  </m:e>
                                  <m:sub>
                                    <m:r>
                                      <a:rPr lang="es-AR" sz="1400" i="1"/>
                                      <m:t>𝑞𝑠</m:t>
                                    </m:r>
                                  </m:sub>
                                  <m:sup>
                                    <m:r>
                                      <a:rPr lang="es-AR" sz="1400" i="1"/>
                                      <m:t>𝑟</m:t>
                                    </m:r>
                                    <m:r>
                                      <a:rPr lang="es-AR" sz="1400" i="1"/>
                                      <m:t>∗</m:t>
                                    </m:r>
                                  </m:sup>
                                </m:sSubSup>
                                <m:r>
                                  <a:rPr lang="es-AR" sz="1400" i="1"/>
                                  <m:t>−</m:t>
                                </m:r>
                                <m:sSubSup>
                                  <m:sSubSupPr>
                                    <m:ctrlPr>
                                      <a:rPr lang="es-AR" sz="1400" i="1"/>
                                    </m:ctrlPr>
                                  </m:sSubSupPr>
                                  <m:e>
                                    <m:r>
                                      <a:rPr lang="es-AR" sz="1400" i="1"/>
                                      <m:t>𝑖</m:t>
                                    </m:r>
                                  </m:e>
                                  <m:sub>
                                    <m:r>
                                      <a:rPr lang="es-AR" sz="1400" i="1"/>
                                      <m:t>𝑞𝑠</m:t>
                                    </m:r>
                                  </m:sub>
                                  <m:sup>
                                    <m:r>
                                      <a:rPr lang="es-AR" sz="1400" i="1"/>
                                      <m:t>𝑟</m:t>
                                    </m:r>
                                  </m:sup>
                                </m:sSubSup>
                              </m:e>
                            </m:d>
                          </m:e>
                        </m:mr>
                        <m:mr>
                          <m:e>
                            <m:sSub>
                              <m:sSubPr>
                                <m:ctrlPr>
                                  <a:rPr lang="es-AR" sz="1400" i="1"/>
                                </m:ctrlPr>
                              </m:sSubPr>
                              <m:e>
                                <m:r>
                                  <a:rPr lang="es-AR" sz="1400" i="1"/>
                                  <m:t>𝐿</m:t>
                                </m:r>
                              </m:e>
                              <m:sub>
                                <m:r>
                                  <a:rPr lang="es-AR" sz="1400" i="1"/>
                                  <m:t>𝑑</m:t>
                                </m:r>
                              </m:sub>
                            </m:sSub>
                            <m:r>
                              <a:rPr lang="es-AR" sz="1400"/>
                              <m:t>⋅</m:t>
                            </m:r>
                            <m:f>
                              <m:fPr>
                                <m:ctrlPr>
                                  <a:rPr lang="es-AR" sz="1400" i="1"/>
                                </m:ctrlPr>
                              </m:fPr>
                              <m:num>
                                <m:r>
                                  <a:rPr lang="es-AR" sz="1400" i="1"/>
                                  <m:t>𝑑</m:t>
                                </m:r>
                                <m:sSubSup>
                                  <m:sSubSupPr>
                                    <m:ctrlPr>
                                      <a:rPr lang="es-AR" sz="1400" i="1"/>
                                    </m:ctrlPr>
                                  </m:sSubSupPr>
                                  <m:e>
                                    <m:r>
                                      <a:rPr lang="es-AR" sz="1400" i="1"/>
                                      <m:t>𝑖</m:t>
                                    </m:r>
                                  </m:e>
                                  <m:sub>
                                    <m:r>
                                      <a:rPr lang="es-AR" sz="1400" i="1"/>
                                      <m:t>𝑑𝑠</m:t>
                                    </m:r>
                                  </m:sub>
                                  <m:sup>
                                    <m:r>
                                      <a:rPr lang="es-AR" sz="1400" i="1"/>
                                      <m:t>𝑟</m:t>
                                    </m:r>
                                  </m:sup>
                                </m:sSubSup>
                              </m:num>
                              <m:den>
                                <m:r>
                                  <a:rPr lang="es-AR" sz="1400" i="1"/>
                                  <m:t>𝑑𝑡</m:t>
                                </m:r>
                              </m:den>
                            </m:f>
                            <m:r>
                              <a:rPr lang="es-AR" sz="1400" i="1"/>
                              <m:t>=</m:t>
                            </m:r>
                            <m:sSubSup>
                              <m:sSubSupPr>
                                <m:ctrlPr>
                                  <a:rPr lang="es-AR" sz="1400" i="1"/>
                                </m:ctrlPr>
                              </m:sSubSupPr>
                              <m:e>
                                <m:r>
                                  <a:rPr lang="es-AR" sz="1400" i="1"/>
                                  <m:t>𝑅</m:t>
                                </m:r>
                              </m:e>
                              <m:sub>
                                <m:r>
                                  <a:rPr lang="es-AR" sz="1400" i="1"/>
                                  <m:t>𝑑</m:t>
                                </m:r>
                              </m:sub>
                              <m:sup>
                                <m:r>
                                  <a:rPr lang="es-AR" sz="1400" i="1"/>
                                  <m:t>′</m:t>
                                </m:r>
                              </m:sup>
                            </m:sSubSup>
                            <m:r>
                              <a:rPr lang="es-AR" sz="1400"/>
                              <m:t>⋅</m:t>
                            </m:r>
                            <m:d>
                              <m:dPr>
                                <m:begChr m:val="["/>
                                <m:endChr m:val="]"/>
                                <m:ctrlPr>
                                  <a:rPr lang="es-AR" sz="1400" i="1"/>
                                </m:ctrlPr>
                              </m:dPr>
                              <m:e>
                                <m:sSubSup>
                                  <m:sSubSupPr>
                                    <m:ctrlPr>
                                      <a:rPr lang="es-AR" sz="1400" i="1"/>
                                    </m:ctrlPr>
                                  </m:sSubSupPr>
                                  <m:e>
                                    <m:r>
                                      <a:rPr lang="es-AR" sz="1400" i="1"/>
                                      <m:t>𝑖</m:t>
                                    </m:r>
                                  </m:e>
                                  <m:sub>
                                    <m:r>
                                      <a:rPr lang="es-AR" sz="1400" i="1"/>
                                      <m:t>𝑑𝑠</m:t>
                                    </m:r>
                                  </m:sub>
                                  <m:sup>
                                    <m:r>
                                      <a:rPr lang="es-AR" sz="1400" i="1"/>
                                      <m:t>𝑟</m:t>
                                    </m:r>
                                    <m:r>
                                      <a:rPr lang="es-AR" sz="1400" i="1"/>
                                      <m:t>∗</m:t>
                                    </m:r>
                                  </m:sup>
                                </m:sSubSup>
                                <m:r>
                                  <a:rPr lang="es-AR" sz="1400" i="1"/>
                                  <m:t>−</m:t>
                                </m:r>
                                <m:sSubSup>
                                  <m:sSubSupPr>
                                    <m:ctrlPr>
                                      <a:rPr lang="es-AR" sz="1400" i="1"/>
                                    </m:ctrlPr>
                                  </m:sSubSupPr>
                                  <m:e>
                                    <m:r>
                                      <a:rPr lang="es-AR" sz="1400" i="1"/>
                                      <m:t>𝑖</m:t>
                                    </m:r>
                                  </m:e>
                                  <m:sub>
                                    <m:r>
                                      <a:rPr lang="es-AR" sz="1400" i="1"/>
                                      <m:t>𝑑𝑠</m:t>
                                    </m:r>
                                  </m:sub>
                                  <m:sup>
                                    <m:r>
                                      <a:rPr lang="es-AR" sz="1400" i="1"/>
                                      <m:t>𝑟</m:t>
                                    </m:r>
                                  </m:sup>
                                </m:sSubSup>
                              </m:e>
                            </m:d>
                          </m:e>
                        </m:mr>
                        <m:mr>
                          <m:e>
                            <m:sSub>
                              <m:sSubPr>
                                <m:ctrlPr>
                                  <a:rPr lang="es-AR" sz="1400" i="1"/>
                                </m:ctrlPr>
                              </m:sSubPr>
                              <m:e>
                                <m:r>
                                  <a:rPr lang="es-AR" sz="1400" i="1"/>
                                  <m:t>𝐿</m:t>
                                </m:r>
                              </m:e>
                              <m:sub>
                                <m:r>
                                  <a:rPr lang="es-AR" sz="1400" i="1"/>
                                  <m:t>𝑙𝑠</m:t>
                                </m:r>
                              </m:sub>
                            </m:sSub>
                            <m:r>
                              <a:rPr lang="es-AR" sz="1400"/>
                              <m:t>⋅</m:t>
                            </m:r>
                            <m:f>
                              <m:fPr>
                                <m:ctrlPr>
                                  <a:rPr lang="es-AR" sz="1400" i="1"/>
                                </m:ctrlPr>
                              </m:fPr>
                              <m:num>
                                <m:r>
                                  <a:rPr lang="es-AR" sz="1400" i="1"/>
                                  <m:t>𝑑</m:t>
                                </m:r>
                                <m:sSub>
                                  <m:sSubPr>
                                    <m:ctrlPr>
                                      <a:rPr lang="es-AR" sz="1400" i="1"/>
                                    </m:ctrlPr>
                                  </m:sSubPr>
                                  <m:e>
                                    <m:r>
                                      <a:rPr lang="es-AR" sz="1400" i="1"/>
                                      <m:t>𝑖</m:t>
                                    </m:r>
                                  </m:e>
                                  <m:sub>
                                    <m:r>
                                      <a:rPr lang="es-AR" sz="1400" i="1"/>
                                      <m:t>0</m:t>
                                    </m:r>
                                    <m:r>
                                      <a:rPr lang="es-AR" sz="1400" i="1"/>
                                      <m:t>𝑠</m:t>
                                    </m:r>
                                  </m:sub>
                                </m:sSub>
                              </m:num>
                              <m:den>
                                <m:r>
                                  <a:rPr lang="es-AR" sz="1400" i="1"/>
                                  <m:t>𝑑𝑡</m:t>
                                </m:r>
                              </m:den>
                            </m:f>
                            <m:r>
                              <a:rPr lang="es-AR" sz="1400" i="1"/>
                              <m:t>=</m:t>
                            </m:r>
                            <m:sSubSup>
                              <m:sSubSupPr>
                                <m:ctrlPr>
                                  <a:rPr lang="es-AR" sz="1400" i="1"/>
                                </m:ctrlPr>
                              </m:sSubSupPr>
                              <m:e>
                                <m:r>
                                  <a:rPr lang="es-AR" sz="1400" i="1"/>
                                  <m:t>𝑅</m:t>
                                </m:r>
                              </m:e>
                              <m:sub>
                                <m:r>
                                  <a:rPr lang="es-AR" sz="1400" i="1"/>
                                  <m:t>0</m:t>
                                </m:r>
                              </m:sub>
                              <m:sup>
                                <m:r>
                                  <a:rPr lang="es-AR" sz="1400" i="1"/>
                                  <m:t>′</m:t>
                                </m:r>
                              </m:sup>
                            </m:sSubSup>
                            <m:r>
                              <a:rPr lang="es-AR" sz="1400"/>
                              <m:t>⋅</m:t>
                            </m:r>
                            <m:d>
                              <m:dPr>
                                <m:begChr m:val="["/>
                                <m:endChr m:val="]"/>
                                <m:ctrlPr>
                                  <a:rPr lang="es-AR" sz="1400" i="1"/>
                                </m:ctrlPr>
                              </m:dPr>
                              <m:e>
                                <m:sSubSup>
                                  <m:sSubSupPr>
                                    <m:ctrlPr>
                                      <a:rPr lang="es-AR" sz="1400" i="1"/>
                                    </m:ctrlPr>
                                  </m:sSubSupPr>
                                  <m:e>
                                    <m:r>
                                      <a:rPr lang="es-AR" sz="1400" i="1"/>
                                      <m:t>𝑖</m:t>
                                    </m:r>
                                  </m:e>
                                  <m:sub>
                                    <m:r>
                                      <a:rPr lang="es-AR" sz="1400" i="1"/>
                                      <m:t>0</m:t>
                                    </m:r>
                                    <m:r>
                                      <a:rPr lang="es-AR" sz="1400" i="1"/>
                                      <m:t>𝑠</m:t>
                                    </m:r>
                                  </m:sub>
                                  <m:sup>
                                    <m:r>
                                      <a:rPr lang="es-AR" sz="1400" i="1"/>
                                      <m:t>∗</m:t>
                                    </m:r>
                                  </m:sup>
                                </m:sSubSup>
                                <m:r>
                                  <a:rPr lang="es-AR" sz="1400" i="1"/>
                                  <m:t>−</m:t>
                                </m:r>
                                <m:sSub>
                                  <m:sSubPr>
                                    <m:ctrlPr>
                                      <a:rPr lang="es-AR" sz="1400" i="1"/>
                                    </m:ctrlPr>
                                  </m:sSubPr>
                                  <m:e>
                                    <m:r>
                                      <a:rPr lang="es-AR" sz="1400" i="1"/>
                                      <m:t>𝑖</m:t>
                                    </m:r>
                                  </m:e>
                                  <m:sub>
                                    <m:r>
                                      <a:rPr lang="es-AR" sz="1400" i="1"/>
                                      <m:t>0</m:t>
                                    </m:r>
                                    <m:r>
                                      <a:rPr lang="es-AR" sz="1400" i="1"/>
                                      <m:t>𝑠</m:t>
                                    </m:r>
                                  </m:sub>
                                </m:sSub>
                              </m:e>
                            </m:d>
                          </m:e>
                        </m:mr>
                      </m:m>
                    </m:oMath>
                  </m:oMathPara>
                </a14:m>
                <a:endParaRPr sz="1400" b="1" dirty="0">
                  <a:solidFill>
                    <a:srgbClr val="1B6B2A"/>
                  </a:solidFill>
                  <a:latin typeface="Calibri"/>
                </a:endParaRPr>
              </a:p>
            </p:txBody>
          </p:sp>
        </mc:Choice>
        <mc:Fallback>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030997"/>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3" name="TextBox 6">
                <a:extLst>
                  <a:ext uri="{FF2B5EF4-FFF2-40B4-BE49-F238E27FC236}">
                    <a16:creationId xmlns:a16="http://schemas.microsoft.com/office/drawing/2014/main" id="{42EC5B2C-1CAB-4F7A-B782-6A10E19B1257}"/>
                  </a:ext>
                </a:extLst>
              </p:cNvPr>
              <p:cNvSpPr txBox="1"/>
              <p:nvPr/>
            </p:nvSpPr>
            <p:spPr>
              <a:xfrm>
                <a:off x="231727" y="3571397"/>
                <a:ext cx="11765280" cy="743537"/>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m:t>𝑞</m:t>
                    </m:r>
                  </m:oMath>
                </a14:m>
                <a:r>
                  <a:rPr lang="es-AR" sz="1400" dirty="0"/>
                  <a:t>, y luego reagrupando términos se obtiene la función de transferencia del lazo de corriente de dicho eje:</a:t>
                </a: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231727" y="3571397"/>
                <a:ext cx="11765280" cy="743537"/>
              </a:xfrm>
              <a:prstGeom prst="rect">
                <a:avLst/>
              </a:prstGeom>
              <a:blipFill>
                <a:blip r:embed="rId5"/>
                <a:stretch>
                  <a:fillRect l="-155" t="-1639"/>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143382"/>
            <a:ext cx="11222677" cy="2365341"/>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187520"/>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m:ctrlPr>
                        </m:dPr>
                        <m:e>
                          <m:eqArr>
                            <m:eqArrPr>
                              <m:ctrlPr>
                                <a:rPr lang="es-AR" sz="1400" i="1"/>
                              </m:ctrlPr>
                            </m:eqArrPr>
                            <m:e>
                              <m:eqArr>
                                <m:eqArrPr>
                                  <m:ctrlPr>
                                    <a:rPr lang="es-AR" sz="1400" i="1">
                                      <a:latin typeface="Cambria Math" panose="02040503050406030204" pitchFamily="18" charset="0"/>
                                    </a:rPr>
                                  </m:ctrlPr>
                                </m:eqArrPr>
                                <m:e>
                                  <m:sSub>
                                    <m:sSubPr>
                                      <m:ctrlPr>
                                        <a:rPr lang="es-AR" sz="1400" i="1"/>
                                      </m:ctrlPr>
                                    </m:sSubPr>
                                    <m:e>
                                      <m:r>
                                        <a:rPr lang="es-AR" sz="1400" i="1"/>
                                        <m:t>𝐺</m:t>
                                      </m:r>
                                    </m:e>
                                    <m:sub>
                                      <m:sSub>
                                        <m:sSubPr>
                                          <m:ctrlPr>
                                            <a:rPr lang="es-AR" sz="1400" i="1"/>
                                          </m:ctrlPr>
                                        </m:sSubPr>
                                        <m:e>
                                          <m:r>
                                            <a:rPr lang="es-AR" sz="1400" i="1"/>
                                            <m:t>𝑖</m:t>
                                          </m:r>
                                        </m:e>
                                        <m:sub>
                                          <m:r>
                                            <a:rPr lang="es-AR" sz="1400" i="1"/>
                                            <m:t>𝑞</m:t>
                                          </m:r>
                                        </m:sub>
                                      </m:sSub>
                                    </m:sub>
                                  </m:sSub>
                                  <m:d>
                                    <m:dPr>
                                      <m:ctrlPr>
                                        <a:rPr lang="es-AR" sz="1400" i="1"/>
                                      </m:ctrlPr>
                                    </m:dPr>
                                    <m:e>
                                      <m:r>
                                        <a:rPr lang="es-AR" sz="1400" i="1"/>
                                        <m:t>𝑠</m:t>
                                      </m:r>
                                    </m:e>
                                  </m:d>
                                  <m:r>
                                    <a:rPr lang="es-AR" sz="1400" i="1"/>
                                    <m:t>=</m:t>
                                  </m:r>
                                  <m:f>
                                    <m:fPr>
                                      <m:ctrlPr>
                                        <a:rPr lang="es-AR" sz="1400" i="1"/>
                                      </m:ctrlPr>
                                    </m:fPr>
                                    <m:num>
                                      <m:sSubSup>
                                        <m:sSubSupPr>
                                          <m:ctrlPr>
                                            <a:rPr lang="es-AR" sz="1400" i="1"/>
                                          </m:ctrlPr>
                                        </m:sSubSupPr>
                                        <m:e>
                                          <m:r>
                                            <a:rPr lang="es-AR" sz="1400" i="1"/>
                                            <m:t>𝐼</m:t>
                                          </m:r>
                                        </m:e>
                                        <m:sub>
                                          <m:r>
                                            <a:rPr lang="es-AR" sz="1400" i="1"/>
                                            <m:t>𝑞𝑠</m:t>
                                          </m:r>
                                        </m:sub>
                                        <m:sup>
                                          <m:r>
                                            <a:rPr lang="es-AR" sz="1400" i="1"/>
                                            <m:t>𝑟</m:t>
                                          </m:r>
                                        </m:sup>
                                      </m:sSubSup>
                                      <m:d>
                                        <m:dPr>
                                          <m:ctrlPr>
                                            <a:rPr lang="es-AR" sz="1400" i="1"/>
                                          </m:ctrlPr>
                                        </m:dPr>
                                        <m:e>
                                          <m:r>
                                            <a:rPr lang="es-AR" sz="1400" i="1"/>
                                            <m:t>𝑠</m:t>
                                          </m:r>
                                        </m:e>
                                      </m:d>
                                    </m:num>
                                    <m:den>
                                      <m:sSubSup>
                                        <m:sSubSupPr>
                                          <m:ctrlPr>
                                            <a:rPr lang="es-AR" sz="1400" i="1"/>
                                          </m:ctrlPr>
                                        </m:sSubSupPr>
                                        <m:e>
                                          <m:r>
                                            <a:rPr lang="es-AR" sz="1400" i="1"/>
                                            <m:t>𝐼</m:t>
                                          </m:r>
                                        </m:e>
                                        <m:sub>
                                          <m:r>
                                            <a:rPr lang="es-AR" sz="1400" i="1"/>
                                            <m:t>𝑞𝑠</m:t>
                                          </m:r>
                                        </m:sub>
                                        <m:sup>
                                          <m:r>
                                            <a:rPr lang="es-AR" sz="1400" i="1"/>
                                            <m:t>𝑟</m:t>
                                          </m:r>
                                          <m:r>
                                            <a:rPr lang="es-AR" sz="1400" i="1"/>
                                            <m:t>∗</m:t>
                                          </m:r>
                                        </m:sup>
                                      </m:sSubSup>
                                      <m:d>
                                        <m:dPr>
                                          <m:ctrlPr>
                                            <a:rPr lang="es-AR" sz="1400" i="1"/>
                                          </m:ctrlPr>
                                        </m:dPr>
                                        <m:e>
                                          <m:r>
                                            <a:rPr lang="es-AR" sz="1400" i="1"/>
                                            <m:t>𝑠</m:t>
                                          </m:r>
                                        </m:e>
                                      </m:d>
                                    </m:den>
                                  </m:f>
                                  <m:r>
                                    <a:rPr lang="es-AR" sz="1400" i="1"/>
                                    <m:t>=</m:t>
                                  </m:r>
                                  <m:f>
                                    <m:fPr>
                                      <m:ctrlPr>
                                        <a:rPr lang="es-AR" sz="1400" i="1"/>
                                      </m:ctrlPr>
                                    </m:fPr>
                                    <m:num>
                                      <m:sSubSup>
                                        <m:sSubSupPr>
                                          <m:ctrlPr>
                                            <a:rPr lang="es-AR" sz="1400" i="1"/>
                                          </m:ctrlPr>
                                        </m:sSubSupPr>
                                        <m:e>
                                          <m:r>
                                            <a:rPr lang="es-AR" sz="1400" i="1"/>
                                            <m:t>𝑅</m:t>
                                          </m:r>
                                        </m:e>
                                        <m:sub>
                                          <m:r>
                                            <a:rPr lang="es-AR" sz="1400" i="1"/>
                                            <m:t>𝑞</m:t>
                                          </m:r>
                                        </m:sub>
                                        <m:sup>
                                          <m:r>
                                            <a:rPr lang="es-AR" sz="1400" i="1"/>
                                            <m:t>′</m:t>
                                          </m:r>
                                        </m:sup>
                                      </m:sSubSup>
                                    </m:num>
                                    <m:den>
                                      <m:sSub>
                                        <m:sSubPr>
                                          <m:ctrlPr>
                                            <a:rPr lang="es-AR" sz="1400" i="1"/>
                                          </m:ctrlPr>
                                        </m:sSubPr>
                                        <m:e>
                                          <m:r>
                                            <a:rPr lang="es-AR" sz="1400" i="1"/>
                                            <m:t>𝐿</m:t>
                                          </m:r>
                                        </m:e>
                                        <m:sub>
                                          <m:r>
                                            <a:rPr lang="es-AR" sz="1400" i="1"/>
                                            <m:t>𝑞</m:t>
                                          </m:r>
                                        </m:sub>
                                      </m:sSub>
                                      <m:r>
                                        <a:rPr lang="es-AR" sz="1400"/>
                                        <m:t>⋅</m:t>
                                      </m:r>
                                      <m:r>
                                        <a:rPr lang="es-AR" sz="1400" i="1"/>
                                        <m:t>𝑠</m:t>
                                      </m:r>
                                      <m:r>
                                        <a:rPr lang="es-AR" sz="1400" i="1"/>
                                        <m:t>+</m:t>
                                      </m:r>
                                      <m:sSubSup>
                                        <m:sSubSupPr>
                                          <m:ctrlPr>
                                            <a:rPr lang="es-AR" sz="1400" i="1"/>
                                          </m:ctrlPr>
                                        </m:sSubSupPr>
                                        <m:e>
                                          <m:r>
                                            <a:rPr lang="es-AR" sz="1400" i="1"/>
                                            <m:t>𝑅</m:t>
                                          </m:r>
                                        </m:e>
                                        <m:sub>
                                          <m:r>
                                            <a:rPr lang="es-AR" sz="1400" i="1"/>
                                            <m:t>𝑞</m:t>
                                          </m:r>
                                        </m:sub>
                                        <m:sup>
                                          <m:r>
                                            <a:rPr lang="es-AR" sz="1400" i="1"/>
                                            <m:t>′</m:t>
                                          </m:r>
                                        </m:sup>
                                      </m:sSubSup>
                                    </m:den>
                                  </m:f>
                                  <m:r>
                                    <a:rPr lang="es-AR" sz="1400" i="1"/>
                                    <m:t>=</m:t>
                                  </m:r>
                                  <m:f>
                                    <m:fPr>
                                      <m:ctrlPr>
                                        <a:rPr lang="es-AR" sz="1400" i="1"/>
                                      </m:ctrlPr>
                                    </m:fPr>
                                    <m:num>
                                      <m:r>
                                        <a:rPr lang="es-AR" sz="1400" i="1"/>
                                        <m:t>1</m:t>
                                      </m:r>
                                    </m:num>
                                    <m:den>
                                      <m:f>
                                        <m:fPr>
                                          <m:ctrlPr>
                                            <a:rPr lang="es-AR" sz="1400" i="1"/>
                                          </m:ctrlPr>
                                        </m:fPr>
                                        <m:num>
                                          <m:sSub>
                                            <m:sSubPr>
                                              <m:ctrlPr>
                                                <a:rPr lang="es-AR" sz="1400" i="1"/>
                                              </m:ctrlPr>
                                            </m:sSubPr>
                                            <m:e>
                                              <m:r>
                                                <a:rPr lang="es-AR" sz="1400" i="1"/>
                                                <m:t>𝐿</m:t>
                                              </m:r>
                                            </m:e>
                                            <m:sub>
                                              <m:r>
                                                <a:rPr lang="es-AR" sz="1400" i="1"/>
                                                <m:t>𝑞</m:t>
                                              </m:r>
                                            </m:sub>
                                          </m:sSub>
                                        </m:num>
                                        <m:den>
                                          <m:sSubSup>
                                            <m:sSubSupPr>
                                              <m:ctrlPr>
                                                <a:rPr lang="es-AR" sz="1400" i="1"/>
                                              </m:ctrlPr>
                                            </m:sSubSupPr>
                                            <m:e>
                                              <m:r>
                                                <a:rPr lang="es-AR" sz="1400" i="1"/>
                                                <m:t>𝑅</m:t>
                                              </m:r>
                                            </m:e>
                                            <m:sub>
                                              <m:r>
                                                <a:rPr lang="es-AR" sz="1400" i="1"/>
                                                <m:t>𝑞</m:t>
                                              </m:r>
                                            </m:sub>
                                            <m:sup>
                                              <m:r>
                                                <a:rPr lang="es-AR" sz="1400" i="1"/>
                                                <m:t>′</m:t>
                                              </m:r>
                                            </m:sup>
                                          </m:sSubSup>
                                        </m:den>
                                      </m:f>
                                      <m:r>
                                        <a:rPr lang="es-AR" sz="1400"/>
                                        <m:t>⋅</m:t>
                                      </m:r>
                                      <m:r>
                                        <a:rPr lang="es-AR" sz="1400" i="1"/>
                                        <m:t>𝑠</m:t>
                                      </m:r>
                                      <m:r>
                                        <a:rPr lang="es-AR" sz="1400" i="1"/>
                                        <m:t>+</m:t>
                                      </m:r>
                                      <m:r>
                                        <a:rPr lang="es-AR" sz="1400" i="1"/>
                                        <m:t>1</m:t>
                                      </m:r>
                                    </m:den>
                                  </m:f>
                                </m:e>
                                <m:e>
                                  <m:sSub>
                                    <m:sSubPr>
                                      <m:ctrlPr>
                                        <a:rPr lang="es-AR" sz="1400" i="1"/>
                                      </m:ctrlPr>
                                    </m:sSubPr>
                                    <m:e>
                                      <m:r>
                                        <a:rPr lang="es-AR" sz="1400" i="1"/>
                                        <m:t>𝐺</m:t>
                                      </m:r>
                                    </m:e>
                                    <m:sub>
                                      <m:sSub>
                                        <m:sSubPr>
                                          <m:ctrlPr>
                                            <a:rPr lang="es-AR" sz="1400" i="1"/>
                                          </m:ctrlPr>
                                        </m:sSubPr>
                                        <m:e>
                                          <m:r>
                                            <a:rPr lang="es-AR" sz="1400" i="1"/>
                                            <m:t>𝑖</m:t>
                                          </m:r>
                                        </m:e>
                                        <m:sub>
                                          <m:r>
                                            <a:rPr lang="es-AR" sz="1400" i="1"/>
                                            <m:t>𝑑</m:t>
                                          </m:r>
                                        </m:sub>
                                      </m:sSub>
                                    </m:sub>
                                  </m:sSub>
                                  <m:d>
                                    <m:dPr>
                                      <m:ctrlPr>
                                        <a:rPr lang="es-AR" sz="1400" i="1"/>
                                      </m:ctrlPr>
                                    </m:dPr>
                                    <m:e>
                                      <m:r>
                                        <a:rPr lang="es-AR" sz="1400" i="1"/>
                                        <m:t>𝑠</m:t>
                                      </m:r>
                                    </m:e>
                                  </m:d>
                                  <m:r>
                                    <a:rPr lang="es-AR" sz="1400" i="1"/>
                                    <m:t>=</m:t>
                                  </m:r>
                                  <m:f>
                                    <m:fPr>
                                      <m:ctrlPr>
                                        <a:rPr lang="es-AR" sz="1400" i="1"/>
                                      </m:ctrlPr>
                                    </m:fPr>
                                    <m:num>
                                      <m:sSubSup>
                                        <m:sSubSupPr>
                                          <m:ctrlPr>
                                            <a:rPr lang="es-AR" sz="1400" i="1"/>
                                          </m:ctrlPr>
                                        </m:sSubSupPr>
                                        <m:e>
                                          <m:r>
                                            <a:rPr lang="es-AR" sz="1400" i="1"/>
                                            <m:t>𝐼</m:t>
                                          </m:r>
                                        </m:e>
                                        <m:sub>
                                          <m:r>
                                            <a:rPr lang="es-AR" sz="1400" i="1"/>
                                            <m:t>𝑑𝑠</m:t>
                                          </m:r>
                                        </m:sub>
                                        <m:sup>
                                          <m:r>
                                            <a:rPr lang="es-AR" sz="1400" i="1"/>
                                            <m:t>𝑟</m:t>
                                          </m:r>
                                        </m:sup>
                                      </m:sSubSup>
                                      <m:d>
                                        <m:dPr>
                                          <m:ctrlPr>
                                            <a:rPr lang="es-AR" sz="1400" i="1"/>
                                          </m:ctrlPr>
                                        </m:dPr>
                                        <m:e>
                                          <m:r>
                                            <a:rPr lang="es-AR" sz="1400" i="1"/>
                                            <m:t>𝑠</m:t>
                                          </m:r>
                                        </m:e>
                                      </m:d>
                                    </m:num>
                                    <m:den>
                                      <m:sSubSup>
                                        <m:sSubSupPr>
                                          <m:ctrlPr>
                                            <a:rPr lang="es-AR" sz="1400" i="1"/>
                                          </m:ctrlPr>
                                        </m:sSubSupPr>
                                        <m:e>
                                          <m:r>
                                            <a:rPr lang="es-AR" sz="1400" i="1"/>
                                            <m:t>𝐼</m:t>
                                          </m:r>
                                        </m:e>
                                        <m:sub>
                                          <m:r>
                                            <a:rPr lang="es-AR" sz="1400" i="1"/>
                                            <m:t>𝑑𝑠</m:t>
                                          </m:r>
                                        </m:sub>
                                        <m:sup>
                                          <m:r>
                                            <a:rPr lang="es-AR" sz="1400" i="1"/>
                                            <m:t>𝑟</m:t>
                                          </m:r>
                                          <m:r>
                                            <a:rPr lang="es-AR" sz="1400" i="1"/>
                                            <m:t>∗</m:t>
                                          </m:r>
                                        </m:sup>
                                      </m:sSubSup>
                                      <m:d>
                                        <m:dPr>
                                          <m:ctrlPr>
                                            <a:rPr lang="es-AR" sz="1400" i="1"/>
                                          </m:ctrlPr>
                                        </m:dPr>
                                        <m:e>
                                          <m:r>
                                            <a:rPr lang="es-AR" sz="1400" i="1"/>
                                            <m:t>𝑠</m:t>
                                          </m:r>
                                        </m:e>
                                      </m:d>
                                    </m:den>
                                  </m:f>
                                  <m:r>
                                    <a:rPr lang="es-AR" sz="1400" i="1"/>
                                    <m:t>=</m:t>
                                  </m:r>
                                  <m:f>
                                    <m:fPr>
                                      <m:ctrlPr>
                                        <a:rPr lang="es-AR" sz="1400" i="1"/>
                                      </m:ctrlPr>
                                    </m:fPr>
                                    <m:num>
                                      <m:r>
                                        <a:rPr lang="es-AR" sz="1400" i="1"/>
                                        <m:t>1</m:t>
                                      </m:r>
                                    </m:num>
                                    <m:den>
                                      <m:f>
                                        <m:fPr>
                                          <m:ctrlPr>
                                            <a:rPr lang="es-AR" sz="1400" i="1"/>
                                          </m:ctrlPr>
                                        </m:fPr>
                                        <m:num>
                                          <m:sSub>
                                            <m:sSubPr>
                                              <m:ctrlPr>
                                                <a:rPr lang="es-AR" sz="1400" i="1"/>
                                              </m:ctrlPr>
                                            </m:sSubPr>
                                            <m:e>
                                              <m:r>
                                                <a:rPr lang="es-AR" sz="1400" i="1"/>
                                                <m:t>𝐿</m:t>
                                              </m:r>
                                            </m:e>
                                            <m:sub>
                                              <m:r>
                                                <a:rPr lang="es-AR" sz="1400" i="1"/>
                                                <m:t>𝑑</m:t>
                                              </m:r>
                                            </m:sub>
                                          </m:sSub>
                                        </m:num>
                                        <m:den>
                                          <m:sSubSup>
                                            <m:sSubSupPr>
                                              <m:ctrlPr>
                                                <a:rPr lang="es-AR" sz="1400" i="1"/>
                                              </m:ctrlPr>
                                            </m:sSubSupPr>
                                            <m:e>
                                              <m:r>
                                                <a:rPr lang="es-AR" sz="1400" i="1"/>
                                                <m:t>𝑅</m:t>
                                              </m:r>
                                            </m:e>
                                            <m:sub>
                                              <m:r>
                                                <a:rPr lang="es-AR" sz="1400" i="1"/>
                                                <m:t>𝑑</m:t>
                                              </m:r>
                                            </m:sub>
                                            <m:sup>
                                              <m:r>
                                                <a:rPr lang="es-AR" sz="1400" i="1"/>
                                                <m:t>′</m:t>
                                              </m:r>
                                            </m:sup>
                                          </m:sSubSup>
                                        </m:den>
                                      </m:f>
                                      <m:r>
                                        <a:rPr lang="es-AR" sz="1400"/>
                                        <m:t>⋅</m:t>
                                      </m:r>
                                      <m:r>
                                        <a:rPr lang="es-AR" sz="1400" i="1"/>
                                        <m:t>𝑠</m:t>
                                      </m:r>
                                      <m:r>
                                        <a:rPr lang="es-AR" sz="1400" i="1"/>
                                        <m:t>+</m:t>
                                      </m:r>
                                      <m:r>
                                        <a:rPr lang="es-AR" sz="1400" i="1"/>
                                        <m:t>1</m:t>
                                      </m:r>
                                    </m:den>
                                  </m:f>
                                  <m:r>
                                    <a:rPr lang="es-MX" sz="1400" b="0" i="1" smtClean="0">
                                      <a:latin typeface="Cambria Math" panose="02040503050406030204" pitchFamily="18" charset="0"/>
                                    </a:rPr>
                                    <m:t>                         </m:t>
                                  </m:r>
                                </m:e>
                              </m:eqArr>
                            </m:e>
                            <m:e>
                              <m:sSub>
                                <m:sSubPr>
                                  <m:ctrlPr>
                                    <a:rPr lang="es-AR" sz="1400" i="1"/>
                                  </m:ctrlPr>
                                </m:sSubPr>
                                <m:e>
                                  <m:r>
                                    <a:rPr lang="es-AR" sz="1400" i="1"/>
                                    <m:t>𝐺</m:t>
                                  </m:r>
                                </m:e>
                                <m:sub>
                                  <m:sSub>
                                    <m:sSubPr>
                                      <m:ctrlPr>
                                        <a:rPr lang="es-AR" sz="1400" i="1"/>
                                      </m:ctrlPr>
                                    </m:sSubPr>
                                    <m:e>
                                      <m:r>
                                        <a:rPr lang="es-AR" sz="1400" i="1"/>
                                        <m:t>𝑖</m:t>
                                      </m:r>
                                    </m:e>
                                    <m:sub>
                                      <m:r>
                                        <a:rPr lang="es-AR" sz="1400" i="1"/>
                                        <m:t>0</m:t>
                                      </m:r>
                                    </m:sub>
                                  </m:sSub>
                                </m:sub>
                              </m:sSub>
                              <m:d>
                                <m:dPr>
                                  <m:ctrlPr>
                                    <a:rPr lang="es-AR" sz="1400" i="1"/>
                                  </m:ctrlPr>
                                </m:dPr>
                                <m:e>
                                  <m:r>
                                    <a:rPr lang="es-AR" sz="1400" i="1"/>
                                    <m:t>𝑠</m:t>
                                  </m:r>
                                </m:e>
                              </m:d>
                              <m:r>
                                <a:rPr lang="es-AR" sz="1400" i="1"/>
                                <m:t>=</m:t>
                              </m:r>
                              <m:f>
                                <m:fPr>
                                  <m:ctrlPr>
                                    <a:rPr lang="es-AR" sz="1400" i="1"/>
                                  </m:ctrlPr>
                                </m:fPr>
                                <m:num>
                                  <m:sSub>
                                    <m:sSubPr>
                                      <m:ctrlPr>
                                        <a:rPr lang="es-AR" sz="1400" i="1"/>
                                      </m:ctrlPr>
                                    </m:sSubPr>
                                    <m:e>
                                      <m:r>
                                        <a:rPr lang="es-AR" sz="1400" i="1"/>
                                        <m:t>𝐼</m:t>
                                      </m:r>
                                    </m:e>
                                    <m:sub>
                                      <m:r>
                                        <a:rPr lang="es-AR" sz="1400" i="1"/>
                                        <m:t>0</m:t>
                                      </m:r>
                                      <m:r>
                                        <a:rPr lang="es-AR" sz="1400" i="1"/>
                                        <m:t>𝑠</m:t>
                                      </m:r>
                                    </m:sub>
                                  </m:sSub>
                                  <m:d>
                                    <m:dPr>
                                      <m:ctrlPr>
                                        <a:rPr lang="es-AR" sz="1400" i="1"/>
                                      </m:ctrlPr>
                                    </m:dPr>
                                    <m:e>
                                      <m:r>
                                        <a:rPr lang="es-AR" sz="1400" i="1"/>
                                        <m:t>𝑠</m:t>
                                      </m:r>
                                    </m:e>
                                  </m:d>
                                </m:num>
                                <m:den>
                                  <m:sSubSup>
                                    <m:sSubSupPr>
                                      <m:ctrlPr>
                                        <a:rPr lang="es-AR" sz="1400" i="1"/>
                                      </m:ctrlPr>
                                    </m:sSubSupPr>
                                    <m:e>
                                      <m:r>
                                        <a:rPr lang="es-AR" sz="1400" i="1"/>
                                        <m:t>𝐼</m:t>
                                      </m:r>
                                    </m:e>
                                    <m:sub>
                                      <m:r>
                                        <a:rPr lang="es-AR" sz="1400" i="1"/>
                                        <m:t>0</m:t>
                                      </m:r>
                                      <m:r>
                                        <a:rPr lang="es-AR" sz="1400" i="1"/>
                                        <m:t>𝑠</m:t>
                                      </m:r>
                                    </m:sub>
                                    <m:sup>
                                      <m:r>
                                        <a:rPr lang="es-AR" sz="1400" i="1"/>
                                        <m:t>∗</m:t>
                                      </m:r>
                                    </m:sup>
                                  </m:sSubSup>
                                  <m:d>
                                    <m:dPr>
                                      <m:ctrlPr>
                                        <a:rPr lang="es-AR" sz="1400" i="1"/>
                                      </m:ctrlPr>
                                    </m:dPr>
                                    <m:e>
                                      <m:r>
                                        <a:rPr lang="es-AR" sz="1400" i="1"/>
                                        <m:t>𝑠</m:t>
                                      </m:r>
                                    </m:e>
                                  </m:d>
                                </m:den>
                              </m:f>
                              <m:r>
                                <a:rPr lang="es-AR" sz="1400" i="1"/>
                                <m:t>=</m:t>
                              </m:r>
                              <m:f>
                                <m:fPr>
                                  <m:ctrlPr>
                                    <a:rPr lang="es-AR" sz="1400" i="1"/>
                                  </m:ctrlPr>
                                </m:fPr>
                                <m:num>
                                  <m:r>
                                    <a:rPr lang="es-AR" sz="1400" i="1"/>
                                    <m:t>1</m:t>
                                  </m:r>
                                </m:num>
                                <m:den>
                                  <m:f>
                                    <m:fPr>
                                      <m:ctrlPr>
                                        <a:rPr lang="es-AR" sz="1400" i="1"/>
                                      </m:ctrlPr>
                                    </m:fPr>
                                    <m:num>
                                      <m:sSub>
                                        <m:sSubPr>
                                          <m:ctrlPr>
                                            <a:rPr lang="es-AR" sz="1400" i="1"/>
                                          </m:ctrlPr>
                                        </m:sSubPr>
                                        <m:e>
                                          <m:r>
                                            <a:rPr lang="es-AR" sz="1400" i="1"/>
                                            <m:t>𝐿</m:t>
                                          </m:r>
                                        </m:e>
                                        <m:sub>
                                          <m:r>
                                            <a:rPr lang="es-AR" sz="1400" i="1"/>
                                            <m:t>𝑙𝑠</m:t>
                                          </m:r>
                                        </m:sub>
                                      </m:sSub>
                                    </m:num>
                                    <m:den>
                                      <m:sSubSup>
                                        <m:sSubSupPr>
                                          <m:ctrlPr>
                                            <a:rPr lang="es-AR" sz="1400" i="1"/>
                                          </m:ctrlPr>
                                        </m:sSubSupPr>
                                        <m:e>
                                          <m:r>
                                            <a:rPr lang="es-AR" sz="1400" i="1"/>
                                            <m:t>𝑅</m:t>
                                          </m:r>
                                        </m:e>
                                        <m:sub>
                                          <m:r>
                                            <a:rPr lang="es-AR" sz="1400" i="1"/>
                                            <m:t>0</m:t>
                                          </m:r>
                                        </m:sub>
                                        <m:sup>
                                          <m:r>
                                            <a:rPr lang="es-AR" sz="1400" i="1"/>
                                            <m:t>′</m:t>
                                          </m:r>
                                        </m:sup>
                                      </m:sSubSup>
                                    </m:den>
                                  </m:f>
                                  <m:r>
                                    <a:rPr lang="es-AR" sz="1400"/>
                                    <m:t>⋅</m:t>
                                  </m:r>
                                  <m:r>
                                    <a:rPr lang="es-AR" sz="1400" i="1"/>
                                    <m:t>𝑠</m:t>
                                  </m:r>
                                  <m:r>
                                    <a:rPr lang="es-AR" sz="1400" i="1"/>
                                    <m:t>+</m:t>
                                  </m:r>
                                  <m:r>
                                    <a:rPr lang="es-AR" sz="1400" i="1"/>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187520"/>
                <a:ext cx="2798083" cy="2330766"/>
              </a:xfrm>
              <a:prstGeom prst="rect">
                <a:avLst/>
              </a:prstGeom>
              <a:blipFill>
                <a:blip r:embed="rId6"/>
                <a:stretch>
                  <a:fillRect l="-8061" r="-7190"/>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64322"/>
              </a:xfrm>
              <a:prstGeom prst="rect">
                <a:avLst/>
              </a:prstGeom>
              <a:noFill/>
            </p:spPr>
            <p:txBody>
              <a:bodyPr wrap="square">
                <a:spAutoFit/>
              </a:bodyPr>
              <a:lstStyle/>
              <a:p>
                <a:pPr algn="ctr"/>
                <a14:m>
                  <m:oMath xmlns:m="http://schemas.openxmlformats.org/officeDocument/2006/math">
                    <m:r>
                      <a:rPr lang="ar-AE" sz="1600" i="1" smtClean="0">
                        <a:solidFill>
                          <a:schemeClr val="tx1"/>
                        </a:solidFill>
                      </a:rPr>
                      <m:t>𝐺</m:t>
                    </m:r>
                    <m:d>
                      <m:dPr>
                        <m:ctrlPr>
                          <a:rPr lang="ar-AE" sz="1600" i="1">
                            <a:solidFill>
                              <a:schemeClr val="tx1"/>
                            </a:solidFill>
                          </a:rPr>
                        </m:ctrlPr>
                      </m:dPr>
                      <m:e>
                        <m:r>
                          <a:rPr lang="ar-AE" sz="1600" i="1">
                            <a:solidFill>
                              <a:schemeClr val="tx1"/>
                            </a:solidFill>
                          </a:rPr>
                          <m:t>𝑠</m:t>
                        </m:r>
                      </m:e>
                    </m:d>
                    <m:r>
                      <a:rPr lang="ar-AE" sz="1600" i="1">
                        <a:solidFill>
                          <a:schemeClr val="tx1"/>
                        </a:solidFill>
                      </a:rPr>
                      <m:t>=</m:t>
                    </m:r>
                    <m:f>
                      <m:fPr>
                        <m:ctrlPr>
                          <a:rPr lang="ar-AE" sz="1600" i="1">
                            <a:solidFill>
                              <a:schemeClr val="tx1"/>
                            </a:solidFill>
                          </a:rPr>
                        </m:ctrlPr>
                      </m:fPr>
                      <m:num>
                        <m:r>
                          <a:rPr lang="ar-AE" sz="1600" i="1">
                            <a:solidFill>
                              <a:schemeClr val="tx1"/>
                            </a:solidFill>
                          </a:rPr>
                          <m:t>1</m:t>
                        </m:r>
                      </m:num>
                      <m:den>
                        <m:r>
                          <a:rPr lang="ar-AE" sz="1600" i="1">
                            <a:solidFill>
                              <a:schemeClr val="tx1"/>
                            </a:solidFill>
                          </a:rPr>
                          <m:t>𝜏</m:t>
                        </m:r>
                        <m:r>
                          <a:rPr lang="ar-AE" sz="1600" i="1">
                            <a:solidFill>
                              <a:schemeClr val="tx1"/>
                            </a:solidFill>
                          </a:rPr>
                          <m:t>⋅</m:t>
                        </m:r>
                        <m:r>
                          <a:rPr lang="ar-AE" sz="1600" i="1">
                            <a:solidFill>
                              <a:schemeClr val="tx1"/>
                            </a:solidFill>
                          </a:rPr>
                          <m:t>𝑠</m:t>
                        </m:r>
                        <m:r>
                          <a:rPr lang="ar-AE" sz="1600" i="1">
                            <a:solidFill>
                              <a:schemeClr val="tx1"/>
                            </a:solidFill>
                          </a:rPr>
                          <m:t>+</m:t>
                        </m:r>
                        <m:r>
                          <a:rPr lang="ar-AE" sz="1600" i="1">
                            <a:solidFill>
                              <a:schemeClr val="tx1"/>
                            </a:solidFill>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rPr>
                      <m:t>𝜏</m:t>
                    </m:r>
                    <m:r>
                      <a:rPr lang="ar-AE" sz="1600" i="1">
                        <a:solidFill>
                          <a:schemeClr val="tx1"/>
                        </a:solidFill>
                      </a:rPr>
                      <m:t>=</m:t>
                    </m:r>
                    <m:f>
                      <m:fPr>
                        <m:ctrlPr>
                          <a:rPr lang="ar-AE" sz="1600" i="1">
                            <a:solidFill>
                              <a:schemeClr val="tx1"/>
                            </a:solidFill>
                          </a:rPr>
                        </m:ctrlPr>
                      </m:fPr>
                      <m:num>
                        <m:sSub>
                          <m:sSubPr>
                            <m:ctrlPr>
                              <a:rPr lang="ar-AE" sz="1600" i="1">
                                <a:solidFill>
                                  <a:schemeClr val="tx1"/>
                                </a:solidFill>
                              </a:rPr>
                            </m:ctrlPr>
                          </m:sSubPr>
                          <m:e>
                            <m:r>
                              <a:rPr lang="ar-AE" sz="1600" i="1">
                                <a:solidFill>
                                  <a:schemeClr val="tx1"/>
                                </a:solidFill>
                              </a:rPr>
                              <m:t>𝐿</m:t>
                            </m:r>
                          </m:e>
                          <m:sub>
                            <m:r>
                              <a:rPr lang="ar-AE" sz="1600" i="1">
                                <a:solidFill>
                                  <a:schemeClr val="tx1"/>
                                </a:solidFill>
                              </a:rPr>
                              <m:t>𝑖</m:t>
                            </m:r>
                          </m:sub>
                        </m:sSub>
                      </m:num>
                      <m:den>
                        <m:sSubSup>
                          <m:sSubSupPr>
                            <m:ctrlPr>
                              <a:rPr lang="ar-AE" sz="1600" i="1">
                                <a:solidFill>
                                  <a:schemeClr val="tx1"/>
                                </a:solidFill>
                              </a:rPr>
                            </m:ctrlPr>
                          </m:sSubSupPr>
                          <m:e>
                            <m:r>
                              <a:rPr lang="ar-AE" sz="1600" i="1">
                                <a:solidFill>
                                  <a:schemeClr val="tx1"/>
                                </a:solidFill>
                              </a:rPr>
                              <m:t>𝑅</m:t>
                            </m:r>
                          </m:e>
                          <m:sub>
                            <m:r>
                              <a:rPr lang="ar-AE" sz="1600" i="1">
                                <a:solidFill>
                                  <a:schemeClr val="tx1"/>
                                </a:solidFill>
                              </a:rPr>
                              <m:t>𝑖</m:t>
                            </m:r>
                          </m:sub>
                          <m:sup>
                            <m:r>
                              <a:rPr lang="ar-AE" sz="1600" i="1">
                                <a:solidFill>
                                  <a:schemeClr val="tx1"/>
                                </a:solidFill>
                              </a:rPr>
                              <m:t>′</m:t>
                            </m:r>
                          </m:sup>
                        </m:sSubSup>
                      </m:den>
                    </m:f>
                    <m:r>
                      <a:rPr lang="ar-AE" sz="1600" i="1">
                        <a:solidFill>
                          <a:schemeClr val="tx1"/>
                        </a:solidFill>
                      </a:rPr>
                      <m:t>       </m:t>
                    </m:r>
                    <m:r>
                      <a:rPr lang="ar-AE" sz="1600" i="1">
                        <a:solidFill>
                          <a:schemeClr val="tx1"/>
                        </a:solidFill>
                      </a:rPr>
                      <m:t>𝑝</m:t>
                    </m:r>
                    <m:r>
                      <a:rPr lang="ar-AE" sz="1600" i="1">
                        <a:solidFill>
                          <a:schemeClr val="tx1"/>
                        </a:solidFill>
                      </a:rPr>
                      <m:t>=−</m:t>
                    </m:r>
                    <m:f>
                      <m:fPr>
                        <m:ctrlPr>
                          <a:rPr lang="ar-AE" sz="1600" i="1">
                            <a:solidFill>
                              <a:schemeClr val="tx1"/>
                            </a:solidFill>
                          </a:rPr>
                        </m:ctrlPr>
                      </m:fPr>
                      <m:num>
                        <m:r>
                          <a:rPr lang="ar-AE" sz="1600" i="1">
                            <a:solidFill>
                              <a:schemeClr val="tx1"/>
                            </a:solidFill>
                          </a:rPr>
                          <m:t>1</m:t>
                        </m:r>
                      </m:num>
                      <m:den>
                        <m:r>
                          <a:rPr lang="ar-AE" sz="1600" i="1">
                            <a:solidFill>
                              <a:schemeClr val="tx1"/>
                            </a:solidFill>
                          </a:rPr>
                          <m:t>𝜏</m:t>
                        </m:r>
                        <m:r>
                          <a:rPr lang="ar-AE" sz="1600">
                            <a:solidFill>
                              <a:schemeClr val="tx1"/>
                            </a:solidFill>
                          </a:rPr>
                          <m:t> </m:t>
                        </m:r>
                      </m:den>
                    </m:f>
                    <m:r>
                      <a:rPr lang="ar-AE" sz="1600" i="1">
                        <a:solidFill>
                          <a:schemeClr val="tx1"/>
                        </a:solidFill>
                      </a:rPr>
                      <m:t>=</m:t>
                    </m:r>
                    <m:f>
                      <m:fPr>
                        <m:ctrlPr>
                          <a:rPr lang="ar-AE" sz="1600" i="1">
                            <a:solidFill>
                              <a:schemeClr val="tx1"/>
                            </a:solidFill>
                          </a:rPr>
                        </m:ctrlPr>
                      </m:fPr>
                      <m:num>
                        <m:sSubSup>
                          <m:sSubSupPr>
                            <m:ctrlPr>
                              <a:rPr lang="ar-AE" sz="1600" i="1">
                                <a:solidFill>
                                  <a:schemeClr val="tx1"/>
                                </a:solidFill>
                              </a:rPr>
                            </m:ctrlPr>
                          </m:sSubSupPr>
                          <m:e>
                            <m:r>
                              <a:rPr lang="ar-AE" sz="1600" i="1">
                                <a:solidFill>
                                  <a:schemeClr val="tx1"/>
                                </a:solidFill>
                              </a:rPr>
                              <m:t>𝑅</m:t>
                            </m:r>
                          </m:e>
                          <m:sub>
                            <m:r>
                              <a:rPr lang="ar-AE" sz="1600" i="1">
                                <a:solidFill>
                                  <a:schemeClr val="tx1"/>
                                </a:solidFill>
                              </a:rPr>
                              <m:t>𝑖</m:t>
                            </m:r>
                          </m:sub>
                          <m:sup>
                            <m:r>
                              <a:rPr lang="ar-AE" sz="1600" i="1">
                                <a:solidFill>
                                  <a:schemeClr val="tx1"/>
                                </a:solidFill>
                              </a:rPr>
                              <m:t>′</m:t>
                            </m:r>
                          </m:sup>
                        </m:sSubSup>
                      </m:num>
                      <m:den>
                        <m:sSub>
                          <m:sSubPr>
                            <m:ctrlPr>
                              <a:rPr lang="ar-AE" sz="1600" i="1">
                                <a:solidFill>
                                  <a:schemeClr val="tx1"/>
                                </a:solidFill>
                              </a:rPr>
                            </m:ctrlPr>
                          </m:sSubPr>
                          <m:e>
                            <m:r>
                              <a:rPr lang="ar-AE" sz="1600" i="1">
                                <a:solidFill>
                                  <a:schemeClr val="tx1"/>
                                </a:solidFill>
                              </a:rPr>
                              <m:t>𝐿</m:t>
                            </m:r>
                          </m:e>
                          <m:sub>
                            <m:r>
                              <a:rPr lang="ar-AE" sz="1600" i="1">
                                <a:solidFill>
                                  <a:schemeClr val="tx1"/>
                                </a:solidFill>
                              </a:rPr>
                              <m:t>𝑖</m:t>
                            </m:r>
                          </m:sub>
                        </m:sSub>
                      </m:den>
                    </m:f>
                    <m:r>
                      <a:rPr lang="ar-AE" sz="1600" i="1">
                        <a:solidFill>
                          <a:schemeClr val="tx1"/>
                        </a:solidFill>
                      </a:rPr>
                      <m:t> </m:t>
                    </m:r>
                  </m:oMath>
                </a14:m>
                <a:endParaRPr lang="ar-AE" sz="1600" b="1" dirty="0">
                  <a:solidFill>
                    <a:schemeClr val="tx1"/>
                  </a:solidFill>
                  <a:latin typeface="Calibri"/>
                </a:endParaRPr>
              </a:p>
            </p:txBody>
          </p:sp>
        </mc:Choice>
        <mc:Fallback>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64322"/>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mc:Choice xmlns:a14="http://schemas.microsoft.com/office/drawing/2010/main" Requires="a14">
          <p:sp>
            <p:nvSpPr>
              <p:cNvPr id="7" name="TextBox 6"/>
              <p:cNvSpPr txBox="1"/>
              <p:nvPr/>
            </p:nvSpPr>
            <p:spPr>
              <a:xfrm>
                <a:off x="213360" y="724870"/>
                <a:ext cx="11765280" cy="1818318"/>
              </a:xfrm>
              <a:prstGeom prst="rect">
                <a:avLst/>
              </a:prstGeom>
              <a:noFill/>
            </p:spPr>
            <p:txBody>
              <a:bodyPr wrap="square">
                <a:spAutoFit/>
              </a:bodyPr>
              <a:lstStyle/>
              <a:p>
                <a:r>
                  <a:rPr lang="es-AR" b="1" dirty="0"/>
                  <a:t>Características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 </a:t>
                </a:r>
                <a14:m>
                  <m:oMath xmlns:m="http://schemas.openxmlformats.org/officeDocument/2006/math">
                    <m:r>
                      <a:rPr lang="es-AR" sz="1400" b="0" i="1" smtClean="0">
                        <a:latin typeface="Cambria Math" panose="02040503050406030204" pitchFamily="18" charset="0"/>
                      </a:rPr>
                      <m:t>𝑖</m:t>
                    </m:r>
                    <m:d>
                      <m:dPr>
                        <m:ctrlPr>
                          <a:rPr lang="es-AR" sz="1400" i="1"/>
                        </m:ctrlPr>
                      </m:dPr>
                      <m:e>
                        <m:r>
                          <a:rPr lang="es-AR" sz="1400" b="0" i="1" smtClean="0">
                            <a:latin typeface="Cambria Math" panose="02040503050406030204" pitchFamily="18" charset="0"/>
                          </a:rPr>
                          <m:t>𝑡</m:t>
                        </m:r>
                      </m:e>
                    </m:d>
                    <m:r>
                      <a:rPr lang="es-AR" sz="1400" b="0" i="1" smtClean="0">
                        <a:latin typeface="Cambria Math" panose="02040503050406030204" pitchFamily="18" charset="0"/>
                      </a:rPr>
                      <m:t>=</m:t>
                    </m:r>
                    <m:r>
                      <a:rPr lang="es-AR" sz="1400" b="0" i="1" smtClean="0">
                        <a:latin typeface="Cambria Math" panose="02040503050406030204" pitchFamily="18" charset="0"/>
                      </a:rPr>
                      <m:t>𝑖</m:t>
                    </m:r>
                    <m:r>
                      <a:rPr lang="es-AR" sz="1400" b="0" i="1" smtClean="0">
                        <a:latin typeface="Cambria Math" panose="02040503050406030204" pitchFamily="18" charset="0"/>
                      </a:rPr>
                      <m:t>∗</m:t>
                    </m:r>
                    <m:d>
                      <m:dPr>
                        <m:ctrlPr>
                          <a:rPr lang="es-AR" sz="1400" i="1"/>
                        </m:ctrlPr>
                      </m:dPr>
                      <m:e>
                        <m:r>
                          <a:rPr lang="es-AR" sz="1400" b="0" i="1" smtClean="0">
                            <a:latin typeface="Cambria Math" panose="02040503050406030204" pitchFamily="18" charset="0"/>
                          </a:rPr>
                          <m:t>𝑡</m:t>
                        </m:r>
                      </m:e>
                    </m:d>
                  </m:oMath>
                </a14:m>
                <a:endParaRPr lang="es-AR" sz="1400"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415" t="-2013"/>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3" name="TextBox 6">
                <a:extLst>
                  <a:ext uri="{FF2B5EF4-FFF2-40B4-BE49-F238E27FC236}">
                    <a16:creationId xmlns:a16="http://schemas.microsoft.com/office/drawing/2014/main" id="{42EC5B2C-1CAB-4F7A-B782-6A10E19B1257}"/>
                  </a:ext>
                </a:extLst>
              </p:cNvPr>
              <p:cNvSpPr txBox="1"/>
              <p:nvPr/>
            </p:nvSpPr>
            <p:spPr>
              <a:xfrm>
                <a:off x="231727" y="3571397"/>
                <a:ext cx="11765280" cy="743537"/>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a:t>
                </a: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231727" y="3571397"/>
                <a:ext cx="11765280" cy="743537"/>
              </a:xfrm>
              <a:prstGeom prst="rect">
                <a:avLst/>
              </a:prstGeom>
              <a:blipFill>
                <a:blip r:embed="rId3"/>
                <a:stretch>
                  <a:fillRect l="-155" t="-1639"/>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143382"/>
            <a:ext cx="11222677" cy="2365341"/>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187520"/>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187520"/>
                <a:ext cx="2798083" cy="2330766"/>
              </a:xfrm>
              <a:prstGeom prst="rect">
                <a:avLst/>
              </a:prstGeom>
              <a:blipFill>
                <a:blip r:embed="rId4"/>
                <a:stretch>
                  <a:fillRect l="-8932" r="-7843"/>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64322"/>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64322"/>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6170945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de torque — </a:t>
            </a:r>
            <a:r>
              <a:rPr sz="2100" b="1" dirty="0" err="1">
                <a:solidFill>
                  <a:srgbClr val="FFFFFF"/>
                </a:solidFill>
                <a:latin typeface="Cambria"/>
              </a:rPr>
              <a:t>Desacople</a:t>
            </a:r>
            <a:r>
              <a:rPr sz="2100" b="1" dirty="0">
                <a:solidFill>
                  <a:srgbClr val="FFFFFF"/>
                </a:solidFill>
                <a:latin typeface="Cambria"/>
              </a:rPr>
              <a:t> </a:t>
            </a:r>
            <a:r>
              <a:rPr sz="2100" b="1" dirty="0" err="1">
                <a:solidFill>
                  <a:srgbClr val="FFFFFF"/>
                </a:solidFill>
                <a:latin typeface="Cambria"/>
              </a:rPr>
              <a:t>electromagnético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7" name="TextBox 6"/>
          <p:cNvSpPr txBox="1"/>
          <p:nvPr/>
        </p:nvSpPr>
        <p:spPr>
          <a:xfrm>
            <a:off x="365760" y="777240"/>
            <a:ext cx="11430000" cy="713232"/>
          </a:xfrm>
          <a:prstGeom prst="rect">
            <a:avLst/>
          </a:prstGeom>
          <a:noFill/>
        </p:spPr>
        <p:txBody>
          <a:bodyPr wrap="square">
            <a:spAutoFit/>
          </a:bodyPr>
          <a:lstStyle/>
          <a:p>
            <a:pPr algn="l"/>
            <a:r>
              <a:rPr sz="1400" b="0" i="0">
                <a:solidFill>
                  <a:srgbClr val="1A1A2E"/>
                </a:solidFill>
                <a:latin typeface="Calibri"/>
              </a:rPr>
              <a:t>El modelo del subsistema electromagnético presenta retroalimentaciones físicas naturales: caídas resistivas y acoplamientos cruzados entre ejes q y d a través de ωm. Se compensan sumando feedforward a las consignas de tensión:</a:t>
            </a:r>
          </a:p>
        </p:txBody>
      </p:sp>
      <p:sp>
        <p:nvSpPr>
          <p:cNvPr id="8" name="Rectangle 7"/>
          <p:cNvSpPr/>
          <p:nvPr/>
        </p:nvSpPr>
        <p:spPr>
          <a:xfrm>
            <a:off x="365760" y="155448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54480"/>
            <a:ext cx="11247120" cy="475488"/>
          </a:xfrm>
          <a:prstGeom prst="rect">
            <a:avLst/>
          </a:prstGeom>
          <a:noFill/>
        </p:spPr>
        <p:txBody>
          <a:bodyPr wrap="square">
            <a:spAutoFit/>
          </a:bodyPr>
          <a:lstStyle/>
          <a:p>
            <a:pPr algn="ctr"/>
            <a:r>
              <a:rPr sz="1100" b="1">
                <a:solidFill>
                  <a:srgbClr val="1B6B2A"/>
                </a:solidFill>
                <a:latin typeface="Calibri"/>
              </a:rPr>
              <a:t>📐  ECUACIÓN: vqs^r(t) = v*qs^r(t) + Rs(Ts)·iqs^r + [λ'm + Ld·ids^r]·Pp·ωm(t)     [compensación eje q]</a:t>
            </a:r>
          </a:p>
        </p:txBody>
      </p:sp>
      <p:sp>
        <p:nvSpPr>
          <p:cNvPr id="10" name="Rectangle 9"/>
          <p:cNvSpPr/>
          <p:nvPr/>
        </p:nvSpPr>
        <p:spPr>
          <a:xfrm>
            <a:off x="365760" y="209397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93976"/>
            <a:ext cx="11247120" cy="475488"/>
          </a:xfrm>
          <a:prstGeom prst="rect">
            <a:avLst/>
          </a:prstGeom>
          <a:noFill/>
        </p:spPr>
        <p:txBody>
          <a:bodyPr wrap="square">
            <a:spAutoFit/>
          </a:bodyPr>
          <a:lstStyle/>
          <a:p>
            <a:pPr algn="ctr"/>
            <a:r>
              <a:rPr sz="1100" b="1">
                <a:solidFill>
                  <a:srgbClr val="1B6B2A"/>
                </a:solidFill>
                <a:latin typeface="Calibri"/>
              </a:rPr>
              <a:t>📐  ECUACIÓN: vds^r(t) = v*ds^r(t) + Rs(Ts)·ids^r − Lq·iqs^r·Pp·ωm(t)                    [compensación eje d]</a:t>
            </a:r>
          </a:p>
        </p:txBody>
      </p:sp>
      <p:sp>
        <p:nvSpPr>
          <p:cNvPr id="12" name="TextBox 11"/>
          <p:cNvSpPr txBox="1"/>
          <p:nvPr/>
        </p:nvSpPr>
        <p:spPr>
          <a:xfrm>
            <a:off x="365760" y="2697480"/>
            <a:ext cx="11430000" cy="365760"/>
          </a:xfrm>
          <a:prstGeom prst="rect">
            <a:avLst/>
          </a:prstGeom>
          <a:noFill/>
        </p:spPr>
        <p:txBody>
          <a:bodyPr wrap="square">
            <a:spAutoFit/>
          </a:bodyPr>
          <a:lstStyle/>
          <a:p>
            <a:pPr algn="l"/>
            <a:r>
              <a:rPr sz="1400" b="1" i="0">
                <a:solidFill>
                  <a:srgbClr val="1A3A6B"/>
                </a:solidFill>
                <a:latin typeface="Calibri"/>
              </a:rPr>
              <a:t>Resultado del desacople:</a:t>
            </a:r>
          </a:p>
        </p:txBody>
      </p:sp>
      <p:sp>
        <p:nvSpPr>
          <p:cNvPr id="13" name="Rectangle 12"/>
          <p:cNvSpPr/>
          <p:nvPr/>
        </p:nvSpPr>
        <p:spPr>
          <a:xfrm>
            <a:off x="365760" y="3127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127248"/>
            <a:ext cx="7589520" cy="475488"/>
          </a:xfrm>
          <a:prstGeom prst="rect">
            <a:avLst/>
          </a:prstGeom>
          <a:noFill/>
        </p:spPr>
        <p:txBody>
          <a:bodyPr wrap="square">
            <a:spAutoFit/>
          </a:bodyPr>
          <a:lstStyle/>
          <a:p>
            <a:pPr algn="ctr"/>
            <a:r>
              <a:rPr sz="1100" b="1">
                <a:solidFill>
                  <a:srgbClr val="1B6B2A"/>
                </a:solidFill>
                <a:latin typeface="Calibri"/>
              </a:rPr>
              <a:t>📐  ECUACIÓN: diqs^r/dt = (1/Lq)·v*qs^r(t)     |     dids^r/dt = (1/Ld)·v*ds^r(t)     [Ec. 57]</a:t>
            </a:r>
          </a:p>
        </p:txBody>
      </p:sp>
      <p:sp>
        <p:nvSpPr>
          <p:cNvPr id="15" name="TextBox 14"/>
          <p:cNvSpPr txBox="1"/>
          <p:nvPr/>
        </p:nvSpPr>
        <p:spPr>
          <a:xfrm>
            <a:off x="365760" y="3703320"/>
            <a:ext cx="7772400" cy="621792"/>
          </a:xfrm>
          <a:prstGeom prst="rect">
            <a:avLst/>
          </a:prstGeom>
          <a:noFill/>
        </p:spPr>
        <p:txBody>
          <a:bodyPr wrap="square">
            <a:spAutoFit/>
          </a:bodyPr>
          <a:lstStyle/>
          <a:p>
            <a:pPr algn="l"/>
            <a:r>
              <a:rPr sz="1300" b="0" i="0">
                <a:solidFill>
                  <a:srgbClr val="1A1A2E"/>
                </a:solidFill>
                <a:latin typeface="Calibri"/>
              </a:rPr>
              <a:t>Cada tensión virtual v* actúa directamente sobre la derivada de su corriente correspondiente. El sistema queda desacoplado: se pueden diseñar controladores independientes para cada eje.</a:t>
            </a:r>
          </a:p>
        </p:txBody>
      </p:sp>
      <p:sp>
        <p:nvSpPr>
          <p:cNvPr id="16" name="Rectangle 15"/>
          <p:cNvSpPr/>
          <p:nvPr/>
        </p:nvSpPr>
        <p:spPr>
          <a:xfrm>
            <a:off x="8412480" y="2697480"/>
            <a:ext cx="3566160" cy="30175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03919" y="3931920"/>
            <a:ext cx="3383279" cy="548640"/>
          </a:xfrm>
          <a:prstGeom prst="rect">
            <a:avLst/>
          </a:prstGeom>
          <a:noFill/>
        </p:spPr>
        <p:txBody>
          <a:bodyPr wrap="square">
            <a:spAutoFit/>
          </a:bodyPr>
          <a:lstStyle/>
          <a:p>
            <a:pPr algn="ctr"/>
            <a:r>
              <a:rPr sz="1100" b="1" dirty="0">
                <a:solidFill>
                  <a:srgbClr val="C35A00"/>
                </a:solidFill>
                <a:latin typeface="Calibri"/>
              </a:rPr>
              <a:t>🖼  FIGURA: </a:t>
            </a:r>
            <a:r>
              <a:rPr sz="1100" b="1" dirty="0" err="1">
                <a:solidFill>
                  <a:srgbClr val="C35A00"/>
                </a:solidFill>
                <a:latin typeface="Calibri"/>
              </a:rPr>
              <a:t>Figura</a:t>
            </a:r>
            <a:r>
              <a:rPr sz="1100" b="1" dirty="0">
                <a:solidFill>
                  <a:srgbClr val="C35A00"/>
                </a:solidFill>
                <a:latin typeface="Calibri"/>
              </a:rPr>
              <a:t> 34 — </a:t>
            </a:r>
            <a:r>
              <a:rPr sz="1100" b="1" dirty="0" err="1">
                <a:solidFill>
                  <a:srgbClr val="C35A00"/>
                </a:solidFill>
                <a:latin typeface="Calibri"/>
              </a:rPr>
              <a:t>Diagrama</a:t>
            </a:r>
            <a:r>
              <a:rPr sz="1100" b="1" dirty="0">
                <a:solidFill>
                  <a:srgbClr val="C35A00"/>
                </a:solidFill>
                <a:latin typeface="Calibri"/>
              </a:rPr>
              <a:t> de </a:t>
            </a:r>
            <a:r>
              <a:rPr sz="1100" b="1" dirty="0" err="1">
                <a:solidFill>
                  <a:srgbClr val="C35A00"/>
                </a:solidFill>
                <a:latin typeface="Calibri"/>
              </a:rPr>
              <a:t>bloques</a:t>
            </a:r>
            <a:r>
              <a:rPr sz="1100" b="1" dirty="0">
                <a:solidFill>
                  <a:srgbClr val="C35A00"/>
                </a:solidFill>
                <a:latin typeface="Calibri"/>
              </a:rPr>
              <a:t> Simulink del </a:t>
            </a:r>
            <a:r>
              <a:rPr sz="1100" b="1" dirty="0" err="1">
                <a:solidFill>
                  <a:srgbClr val="C35A00"/>
                </a:solidFill>
                <a:latin typeface="Calibri"/>
              </a:rPr>
              <a:t>modulador</a:t>
            </a:r>
            <a:r>
              <a:rPr sz="1100" b="1" dirty="0">
                <a:solidFill>
                  <a:srgbClr val="C35A00"/>
                </a:solidFill>
                <a:latin typeface="Calibri"/>
              </a:rPr>
              <a:t> de </a:t>
            </a:r>
            <a:r>
              <a:rPr sz="1100" b="1" dirty="0" err="1">
                <a:solidFill>
                  <a:srgbClr val="C35A00"/>
                </a:solidFill>
                <a:latin typeface="Calibri"/>
              </a:rPr>
              <a:t>corriente</a:t>
            </a:r>
            <a:r>
              <a:rPr sz="1100" b="1" dirty="0">
                <a:solidFill>
                  <a:srgbClr val="C35A00"/>
                </a:solidFill>
                <a:latin typeface="Calibri"/>
              </a:rPr>
              <a:t>
(feedforward + </a:t>
            </a:r>
            <a:r>
              <a:rPr sz="1100" b="1" dirty="0" err="1">
                <a:solidFill>
                  <a:srgbClr val="C35A00"/>
                </a:solidFill>
                <a:latin typeface="Calibri"/>
              </a:rPr>
              <a:t>controlador</a:t>
            </a:r>
            <a:r>
              <a:rPr sz="1100" b="1" dirty="0">
                <a:solidFill>
                  <a:srgbClr val="C35A00"/>
                </a:solidFill>
                <a:latin typeface="Calibri"/>
              </a:rPr>
              <a:t> P por </a:t>
            </a:r>
            <a:r>
              <a:rPr sz="1100" b="1" dirty="0" err="1">
                <a:solidFill>
                  <a:srgbClr val="C35A00"/>
                </a:solidFill>
                <a:latin typeface="Calibri"/>
              </a:rPr>
              <a:t>eje</a:t>
            </a:r>
            <a:r>
              <a:rPr sz="1100" b="1" dirty="0">
                <a:solidFill>
                  <a:srgbClr val="C35A00"/>
                </a:solidFill>
                <a:latin typeface="Calibri"/>
              </a:rPr>
              <a:t>)</a:t>
            </a:r>
          </a:p>
        </p:txBody>
      </p:sp>
      <p:sp>
        <p:nvSpPr>
          <p:cNvPr id="18" name="TextBox 17"/>
          <p:cNvSpPr txBox="1"/>
          <p:nvPr/>
        </p:nvSpPr>
        <p:spPr>
          <a:xfrm>
            <a:off x="8503919" y="43159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Rectangle 18"/>
          <p:cNvSpPr/>
          <p:nvPr/>
        </p:nvSpPr>
        <p:spPr>
          <a:xfrm>
            <a:off x="365760" y="4434840"/>
            <a:ext cx="7772400" cy="68580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434840"/>
            <a:ext cx="7589520" cy="685800"/>
          </a:xfrm>
          <a:prstGeom prst="rect">
            <a:avLst/>
          </a:prstGeom>
          <a:noFill/>
        </p:spPr>
        <p:txBody>
          <a:bodyPr wrap="square">
            <a:spAutoFit/>
          </a:bodyPr>
          <a:lstStyle/>
          <a:p>
            <a:pPr algn="ctr"/>
            <a:r>
              <a:rPr sz="1100" b="1">
                <a:solidFill>
                  <a:srgbClr val="1B6B2A"/>
                </a:solidFill>
                <a:latin typeface="Calibri"/>
              </a:rPr>
              <a:t>📐  ECUACIÓN: R'q = 5000·Lq = 29 Ω   |   R'd = 5000·Ld = 33 Ω   |   R'0 = 5000·Lls = 4 Ω
Polo en p = −5000 rad/s   →   τcc ≈ 0.2 ms   (≈20× más rápido que la dinámica mecánica)</a:t>
            </a:r>
          </a:p>
        </p:txBody>
      </p:sp>
    </p:spTree>
    <p:extLst>
      <p:ext uri="{BB962C8B-B14F-4D97-AF65-F5344CB8AC3E}">
        <p14:creationId xmlns:p14="http://schemas.microsoft.com/office/powerpoint/2010/main" val="6920524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sp>
        <p:nvSpPr>
          <p:cNvPr id="7" name="TextBox 6"/>
          <p:cNvSpPr txBox="1"/>
          <p:nvPr/>
        </p:nvSpPr>
        <p:spPr>
          <a:xfrm>
            <a:off x="365760" y="777240"/>
            <a:ext cx="11430000" cy="658368"/>
          </a:xfrm>
          <a:prstGeom prst="rect">
            <a:avLst/>
          </a:prstGeom>
          <a:noFill/>
        </p:spPr>
        <p:txBody>
          <a:bodyPr wrap="square">
            <a:spAutoFit/>
          </a:bodyPr>
          <a:lstStyle/>
          <a:p>
            <a:pPr algn="l"/>
            <a:r>
              <a:rPr sz="1400" b="0" i="0">
                <a:solidFill>
                  <a:srgbClr val="1A1A2E"/>
                </a:solidFill>
                <a:latin typeface="Calibri"/>
              </a:rPr>
              <a:t>La etapa final del modulador convierte la consigna de torque T*m(t) en la referencia de corriente i*qs^r. Se incorpora compensación de fricción viscosa y del torque gravitatorio (feedforward):</a:t>
            </a:r>
          </a:p>
        </p:txBody>
      </p:sp>
      <p:sp>
        <p:nvSpPr>
          <p:cNvPr id="8" name="Rectangle 7"/>
          <p:cNvSpPr/>
          <p:nvPr/>
        </p:nvSpPr>
        <p:spPr>
          <a:xfrm>
            <a:off x="365760" y="150876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11247120" cy="475488"/>
          </a:xfrm>
          <a:prstGeom prst="rect">
            <a:avLst/>
          </a:prstGeom>
          <a:noFill/>
        </p:spPr>
        <p:txBody>
          <a:bodyPr wrap="square">
            <a:spAutoFit/>
          </a:bodyPr>
          <a:lstStyle/>
          <a:p>
            <a:pPr algn="ctr"/>
            <a:r>
              <a:rPr sz="1100" b="1">
                <a:solidFill>
                  <a:srgbClr val="1B6B2A"/>
                </a:solidFill>
                <a:latin typeface="Calibri"/>
              </a:rPr>
              <a:t>📐  ECUACIÓN: T*m(t) = T*'m(t) + beq·ωm(t) + (kl·g/r)·sin(θm(t)/r)     [Ec. 6]</a:t>
            </a:r>
          </a:p>
        </p:txBody>
      </p:sp>
      <p:sp>
        <p:nvSpPr>
          <p:cNvPr id="10" name="Rectangle 9"/>
          <p:cNvSpPr/>
          <p:nvPr/>
        </p:nvSpPr>
        <p:spPr>
          <a:xfrm>
            <a:off x="365760" y="204825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48256"/>
            <a:ext cx="11247120" cy="475488"/>
          </a:xfrm>
          <a:prstGeom prst="rect">
            <a:avLst/>
          </a:prstGeom>
          <a:noFill/>
        </p:spPr>
        <p:txBody>
          <a:bodyPr wrap="square">
            <a:spAutoFit/>
          </a:bodyPr>
          <a:lstStyle/>
          <a:p>
            <a:pPr algn="ctr"/>
            <a:r>
              <a:rPr sz="1100" b="1">
                <a:solidFill>
                  <a:srgbClr val="1B6B2A"/>
                </a:solidFill>
                <a:latin typeface="Calibri"/>
              </a:rPr>
              <a:t>📐  ECUACIÓN: i*qs^r(t) = T*m(t) / [(3/2)·Pp·(λ'm + (Ld−Lq)·ids^r(t))]     [Ec. torque electromagnético invertido]</a:t>
            </a:r>
          </a:p>
        </p:txBody>
      </p:sp>
      <p:sp>
        <p:nvSpPr>
          <p:cNvPr id="12" name="TextBox 11"/>
          <p:cNvSpPr txBox="1"/>
          <p:nvPr/>
        </p:nvSpPr>
        <p:spPr>
          <a:xfrm>
            <a:off x="365760" y="2651760"/>
            <a:ext cx="5943600" cy="365760"/>
          </a:xfrm>
          <a:prstGeom prst="rect">
            <a:avLst/>
          </a:prstGeom>
          <a:noFill/>
        </p:spPr>
        <p:txBody>
          <a:bodyPr wrap="square">
            <a:spAutoFit/>
          </a:bodyPr>
          <a:lstStyle/>
          <a:p>
            <a:pPr algn="l"/>
            <a:r>
              <a:rPr sz="1400" b="1" i="0">
                <a:solidFill>
                  <a:srgbClr val="1A3A6B"/>
                </a:solidFill>
                <a:latin typeface="Calibri"/>
              </a:rPr>
              <a:t>Ley de control mínima  i*ds^r = 0:</a:t>
            </a:r>
          </a:p>
        </p:txBody>
      </p:sp>
      <p:sp>
        <p:nvSpPr>
          <p:cNvPr id="13" name="TextBox 12"/>
          <p:cNvSpPr txBox="1"/>
          <p:nvPr/>
        </p:nvSpPr>
        <p:spPr>
          <a:xfrm>
            <a:off x="365760" y="3090672"/>
            <a:ext cx="5943600" cy="2194560"/>
          </a:xfrm>
          <a:prstGeom prst="rect">
            <a:avLst/>
          </a:prstGeom>
          <a:noFill/>
        </p:spPr>
        <p:txBody>
          <a:bodyPr wrap="square">
            <a:spAutoFit/>
          </a:bodyPr>
          <a:lstStyle/>
          <a:p>
            <a:r>
              <a:rPr sz="1350">
                <a:solidFill>
                  <a:srgbClr val="1A1A2E"/>
                </a:solidFill>
                <a:latin typeface="Calibri"/>
              </a:rPr>
              <a:t>Con ids^r = 0: Tm = (3/2)·Pp·λ'm·iqs^r  →  torque proporcional solo a iqs^r</a:t>
            </a:r>
          </a:p>
          <a:p>
            <a:pPr>
              <a:spcBef>
                <a:spcPts val="400"/>
              </a:spcBef>
            </a:pPr>
            <a:r>
              <a:rPr sz="1350">
                <a:solidFill>
                  <a:srgbClr val="1A1A2E"/>
                </a:solidFill>
                <a:latin typeface="Calibri"/>
              </a:rPr>
              <a:t>Máximo torque por unidad de corriente (eficiencia óptima en motores con Ld ≈ Lq)</a:t>
            </a:r>
          </a:p>
          <a:p>
            <a:pPr>
              <a:spcBef>
                <a:spcPts val="400"/>
              </a:spcBef>
            </a:pPr>
            <a:r>
              <a:rPr sz="1350">
                <a:solidFill>
                  <a:srgbClr val="1A1A2E"/>
                </a:solidFill>
                <a:latin typeface="Calibri"/>
              </a:rPr>
              <a:t>El torque reluctante (Ld−Lq)·ids·iqs es despreciable para este motor (Ld ≈ Lq)</a:t>
            </a:r>
          </a:p>
        </p:txBody>
      </p:sp>
      <p:sp>
        <p:nvSpPr>
          <p:cNvPr id="14" name="TextBox 13"/>
          <p:cNvSpPr txBox="1"/>
          <p:nvPr/>
        </p:nvSpPr>
        <p:spPr>
          <a:xfrm>
            <a:off x="6583680" y="2651760"/>
            <a:ext cx="5029200" cy="365760"/>
          </a:xfrm>
          <a:prstGeom prst="rect">
            <a:avLst/>
          </a:prstGeom>
          <a:noFill/>
        </p:spPr>
        <p:txBody>
          <a:bodyPr wrap="square">
            <a:spAutoFit/>
          </a:bodyPr>
          <a:lstStyle/>
          <a:p>
            <a:pPr algn="l"/>
            <a:r>
              <a:rPr sz="1400" b="1" i="0">
                <a:solidFill>
                  <a:srgbClr val="1A3A6B"/>
                </a:solidFill>
                <a:latin typeface="Calibri"/>
              </a:rPr>
              <a:t>Feedforward gravitacional:</a:t>
            </a:r>
          </a:p>
        </p:txBody>
      </p:sp>
      <p:sp>
        <p:nvSpPr>
          <p:cNvPr id="15" name="TextBox 14"/>
          <p:cNvSpPr txBox="1"/>
          <p:nvPr/>
        </p:nvSpPr>
        <p:spPr>
          <a:xfrm>
            <a:off x="6583680" y="3090672"/>
            <a:ext cx="5029200" cy="2194560"/>
          </a:xfrm>
          <a:prstGeom prst="rect">
            <a:avLst/>
          </a:prstGeom>
          <a:noFill/>
        </p:spPr>
        <p:txBody>
          <a:bodyPr wrap="square">
            <a:spAutoFit/>
          </a:bodyPr>
          <a:lstStyle/>
          <a:p>
            <a:r>
              <a:rPr sz="1350">
                <a:solidFill>
                  <a:srgbClr val="1A1A2E"/>
                </a:solidFill>
                <a:latin typeface="Calibri"/>
              </a:rPr>
              <a:t>El término (kl·g/r)·sin(θm/r) estima el torque de gravedad y lo compensa directamente</a:t>
            </a:r>
          </a:p>
          <a:p>
            <a:pPr>
              <a:spcBef>
                <a:spcPts val="400"/>
              </a:spcBef>
            </a:pPr>
            <a:r>
              <a:rPr sz="1350">
                <a:solidFill>
                  <a:srgbClr val="1A1A2E"/>
                </a:solidFill>
                <a:latin typeface="Calibri"/>
              </a:rPr>
              <a:t>El controlador no necesita generar este torque como respuesta al error → mejora la respuesta dinámica</a:t>
            </a:r>
          </a:p>
          <a:p>
            <a:pPr>
              <a:spcBef>
                <a:spcPts val="400"/>
              </a:spcBef>
            </a:pPr>
            <a:r>
              <a:rPr sz="1350">
                <a:solidFill>
                  <a:srgbClr val="1A1A2E"/>
                </a:solidFill>
                <a:latin typeface="Calibri"/>
              </a:rPr>
              <a:t>Reduce el esfuerzo del lazo externo PID ante variaciones de posición articular</a:t>
            </a:r>
          </a:p>
          <a:p>
            <a:pPr>
              <a:spcBef>
                <a:spcPts val="400"/>
              </a:spcBef>
            </a:pPr>
            <a:r>
              <a:rPr sz="1350">
                <a:solidFill>
                  <a:srgbClr val="1A1A2E"/>
                </a:solidFill>
                <a:latin typeface="Calibri"/>
              </a:rPr>
              <a:t>kl = m·lcm + ml·ll varía con la carga útil ml</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7" name="TextBox 6"/>
          <p:cNvSpPr txBox="1"/>
          <p:nvPr/>
        </p:nvSpPr>
        <p:spPr>
          <a:xfrm>
            <a:off x="365760" y="777240"/>
            <a:ext cx="7772400" cy="621792"/>
          </a:xfrm>
          <a:prstGeom prst="rect">
            <a:avLst/>
          </a:prstGeom>
          <a:noFill/>
        </p:spPr>
        <p:txBody>
          <a:bodyPr wrap="square">
            <a:spAutoFit/>
          </a:bodyPr>
          <a:lstStyle/>
          <a:p>
            <a:pPr algn="l"/>
            <a:r>
              <a:rPr sz="1400" b="0" i="0">
                <a:solidFill>
                  <a:srgbClr val="1A1A2E"/>
                </a:solidFill>
                <a:latin typeface="Calibri"/>
              </a:rPr>
              <a:t>Lazo externo de posición y velocidad. Para evitar amplificar ruido con el derivador, se realimenta ωm(t) directamente. La salida es la consigna de torque T*'m(t):</a:t>
            </a:r>
          </a:p>
        </p:txBody>
      </p:sp>
      <p:sp>
        <p:nvSpPr>
          <p:cNvPr id="8" name="Rectangle 7"/>
          <p:cNvSpPr/>
          <p:nvPr/>
        </p:nvSpPr>
        <p:spPr>
          <a:xfrm>
            <a:off x="365760" y="146304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63040"/>
            <a:ext cx="7589520" cy="475488"/>
          </a:xfrm>
          <a:prstGeom prst="rect">
            <a:avLst/>
          </a:prstGeom>
          <a:noFill/>
        </p:spPr>
        <p:txBody>
          <a:bodyPr wrap="square">
            <a:spAutoFit/>
          </a:bodyPr>
          <a:lstStyle/>
          <a:p>
            <a:pPr algn="ctr"/>
            <a:r>
              <a:rPr sz="1100" b="1">
                <a:solidFill>
                  <a:srgbClr val="1B6B2A"/>
                </a:solidFill>
                <a:latin typeface="Calibri"/>
              </a:rPr>
              <a:t>📐  ECUACIÓN: T*'m(t) = eω(t)·ba + eθ(t)·Ksa + Ksia·∫eθ(t)dt     [Ec. 60]</a:t>
            </a:r>
          </a:p>
        </p:txBody>
      </p:sp>
      <p:sp>
        <p:nvSpPr>
          <p:cNvPr id="10" name="Rectangle 9"/>
          <p:cNvSpPr/>
          <p:nvPr/>
        </p:nvSpPr>
        <p:spPr>
          <a:xfrm>
            <a:off x="365760" y="2002536"/>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02536"/>
            <a:ext cx="7589520" cy="475488"/>
          </a:xfrm>
          <a:prstGeom prst="rect">
            <a:avLst/>
          </a:prstGeom>
          <a:noFill/>
        </p:spPr>
        <p:txBody>
          <a:bodyPr wrap="square">
            <a:spAutoFit/>
          </a:bodyPr>
          <a:lstStyle/>
          <a:p>
            <a:pPr algn="ctr"/>
            <a:r>
              <a:rPr sz="1100" b="1">
                <a:solidFill>
                  <a:srgbClr val="1B6B2A"/>
                </a:solidFill>
                <a:latin typeface="Calibri"/>
              </a:rPr>
              <a:t>📐  ECUACIÓN: eθ(s) = Θ*m(s) − Θm(s)     |     eω(s) = s·Eθ(s)     [Ecs. 61, 62]</a:t>
            </a:r>
          </a:p>
        </p:txBody>
      </p:sp>
      <p:sp>
        <p:nvSpPr>
          <p:cNvPr id="12" name="Rectangle 11"/>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38 — Diagrama de bloques del controlador PID externo (Simulink)</a:t>
            </a:r>
          </a:p>
        </p:txBody>
      </p:sp>
      <p:sp>
        <p:nvSpPr>
          <p:cNvPr id="14" name="TextBox 13"/>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TextBox 14"/>
          <p:cNvSpPr txBox="1"/>
          <p:nvPr/>
        </p:nvSpPr>
        <p:spPr>
          <a:xfrm>
            <a:off x="365760" y="2606040"/>
            <a:ext cx="7772400" cy="365760"/>
          </a:xfrm>
          <a:prstGeom prst="rect">
            <a:avLst/>
          </a:prstGeom>
          <a:noFill/>
        </p:spPr>
        <p:txBody>
          <a:bodyPr wrap="square">
            <a:spAutoFit/>
          </a:bodyPr>
          <a:lstStyle/>
          <a:p>
            <a:pPr algn="l"/>
            <a:r>
              <a:rPr sz="1400" b="1" i="0">
                <a:solidFill>
                  <a:srgbClr val="1A3A6B"/>
                </a:solidFill>
                <a:latin typeface="Calibri"/>
              </a:rPr>
              <a:t>Funciones de transferencia de lazo cerrado:</a:t>
            </a:r>
          </a:p>
        </p:txBody>
      </p:sp>
      <p:sp>
        <p:nvSpPr>
          <p:cNvPr id="16" name="Rectangle 15"/>
          <p:cNvSpPr/>
          <p:nvPr/>
        </p:nvSpPr>
        <p:spPr>
          <a:xfrm>
            <a:off x="365760" y="303580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3035808"/>
            <a:ext cx="7589520" cy="475488"/>
          </a:xfrm>
          <a:prstGeom prst="rect">
            <a:avLst/>
          </a:prstGeom>
          <a:noFill/>
        </p:spPr>
        <p:txBody>
          <a:bodyPr wrap="square">
            <a:spAutoFit/>
          </a:bodyPr>
          <a:lstStyle/>
          <a:p>
            <a:pPr algn="ctr"/>
            <a:r>
              <a:rPr sz="1100" b="1">
                <a:solidFill>
                  <a:srgbClr val="1B6B2A"/>
                </a:solidFill>
                <a:latin typeface="Calibri"/>
              </a:rPr>
              <a:t>📐  ECUACIÓN: Gθm(s) = (s²·ba + s·Ksa + Ksia) / (Jeq·s³ + s²·ba + s·Ksa + Ksia)     [Ec. 65]</a:t>
            </a:r>
          </a:p>
        </p:txBody>
      </p:sp>
      <p:sp>
        <p:nvSpPr>
          <p:cNvPr id="18" name="Rectangle 17"/>
          <p:cNvSpPr/>
          <p:nvPr/>
        </p:nvSpPr>
        <p:spPr>
          <a:xfrm>
            <a:off x="365760" y="3575304"/>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3575304"/>
            <a:ext cx="7589520" cy="475488"/>
          </a:xfrm>
          <a:prstGeom prst="rect">
            <a:avLst/>
          </a:prstGeom>
          <a:noFill/>
        </p:spPr>
        <p:txBody>
          <a:bodyPr wrap="square">
            <a:spAutoFit/>
          </a:bodyPr>
          <a:lstStyle/>
          <a:p>
            <a:pPr algn="ctr"/>
            <a:r>
              <a:rPr sz="1100" b="1">
                <a:solidFill>
                  <a:srgbClr val="1B6B2A"/>
                </a:solidFill>
                <a:latin typeface="Calibri"/>
              </a:rPr>
              <a:t>📐  ECUACIÓN: GTld(s) = −s / r·(Jeq·s³ + s²·ba + s·Ksa + Ksia)     [Ec. 66]</a:t>
            </a:r>
          </a:p>
        </p:txBody>
      </p:sp>
      <p:sp>
        <p:nvSpPr>
          <p:cNvPr id="20" name="TextBox 19"/>
          <p:cNvSpPr txBox="1"/>
          <p:nvPr/>
        </p:nvSpPr>
        <p:spPr>
          <a:xfrm>
            <a:off x="365760" y="4169663"/>
            <a:ext cx="7772400" cy="365760"/>
          </a:xfrm>
          <a:prstGeom prst="rect">
            <a:avLst/>
          </a:prstGeom>
          <a:noFill/>
        </p:spPr>
        <p:txBody>
          <a:bodyPr wrap="square">
            <a:spAutoFit/>
          </a:bodyPr>
          <a:lstStyle/>
          <a:p>
            <a:pPr algn="l"/>
            <a:r>
              <a:rPr sz="1400" b="1" i="0">
                <a:solidFill>
                  <a:srgbClr val="1A3A6B"/>
                </a:solidFill>
                <a:latin typeface="Calibri"/>
              </a:rPr>
              <a:t>Diseño por sintonía serie  (ζ=0.75, n=2.5, ωpos=800 rad/s):</a:t>
            </a:r>
          </a:p>
        </p:txBody>
      </p:sp>
      <p:sp>
        <p:nvSpPr>
          <p:cNvPr id="21" name="Rectangle 20"/>
          <p:cNvSpPr/>
          <p:nvPr/>
        </p:nvSpPr>
        <p:spPr>
          <a:xfrm>
            <a:off x="365760" y="4590288"/>
            <a:ext cx="77724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4590288"/>
            <a:ext cx="7589520" cy="502920"/>
          </a:xfrm>
          <a:prstGeom prst="rect">
            <a:avLst/>
          </a:prstGeom>
          <a:noFill/>
        </p:spPr>
        <p:txBody>
          <a:bodyPr wrap="square">
            <a:spAutoFit/>
          </a:bodyPr>
          <a:lstStyle/>
          <a:p>
            <a:pPr algn="ctr"/>
            <a:r>
              <a:rPr sz="1100" b="1">
                <a:solidFill>
                  <a:srgbClr val="1B6B2A"/>
                </a:solidFill>
                <a:latin typeface="Calibri"/>
              </a:rPr>
              <a:t>📐  ECUACIÓN: ba = Jeq·n·ωpos = 0.03957 N·m/(rad/s)   |   Ksa = Jeq·n·ω²pos = 31.656 N·m/rad   |   Ksia = Jeq·ω³pos = 10129.78 N·m/(rad·s)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p:sp>
        <p:nvSpPr>
          <p:cNvPr id="7" name="TextBox 6"/>
          <p:cNvSpPr txBox="1"/>
          <p:nvPr/>
        </p:nvSpPr>
        <p:spPr>
          <a:xfrm>
            <a:off x="365760" y="777240"/>
            <a:ext cx="7772400" cy="594360"/>
          </a:xfrm>
          <a:prstGeom prst="rect">
            <a:avLst/>
          </a:prstGeom>
          <a:noFill/>
        </p:spPr>
        <p:txBody>
          <a:bodyPr wrap="square">
            <a:spAutoFit/>
          </a:bodyPr>
          <a:lstStyle/>
          <a:p>
            <a:pPr algn="l"/>
            <a:r>
              <a:rPr sz="1400" b="0" i="0">
                <a:solidFill>
                  <a:srgbClr val="1A1A2E"/>
                </a:solidFill>
                <a:latin typeface="Calibri"/>
              </a:rPr>
              <a:t>El polinomio característico del sistema en lazo cerrado es de 3° orden. Se analiza el movimiento de los polos cuando Jeq varía con la carga:</a:t>
            </a:r>
          </a:p>
        </p:txBody>
      </p:sp>
      <p:graphicFrame>
        <p:nvGraphicFramePr>
          <p:cNvPr id="8" name="Table 7"/>
          <p:cNvGraphicFramePr>
            <a:graphicFrameLocks noGrp="1"/>
          </p:cNvGraphicFramePr>
          <p:nvPr/>
        </p:nvGraphicFramePr>
        <p:xfrm>
          <a:off x="365760" y="1444752"/>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sz="1200" b="1">
                          <a:solidFill>
                            <a:srgbClr val="FFFFFF"/>
                          </a:solidFill>
                          <a:latin typeface="Calibri"/>
                        </a:rPr>
                        <a:t>Condición Jeq</a:t>
                      </a:r>
                    </a:p>
                  </a:txBody>
                  <a:tcPr>
                    <a:solidFill>
                      <a:srgbClr val="1A3A6B"/>
                    </a:solidFill>
                  </a:tcPr>
                </a:tc>
                <a:tc>
                  <a:txBody>
                    <a:bodyPr/>
                    <a:lstStyle/>
                    <a:p>
                      <a:r>
                        <a:rPr sz="1200" b="1">
                          <a:solidFill>
                            <a:srgbClr val="FFFFFF"/>
                          </a:solidFill>
                          <a:latin typeface="Calibri"/>
                        </a:rPr>
                        <a:t>Jeq [kg·m²]</a:t>
                      </a:r>
                    </a:p>
                  </a:txBody>
                  <a:tcPr>
                    <a:solidFill>
                      <a:srgbClr val="1A3A6B"/>
                    </a:solidFill>
                  </a:tcPr>
                </a:tc>
                <a:tc>
                  <a:txBody>
                    <a:bodyPr/>
                    <a:lstStyle/>
                    <a:p>
                      <a:r>
                        <a:rPr sz="1200" b="1">
                          <a:solidFill>
                            <a:srgbClr val="FFFFFF"/>
                          </a:solidFill>
                          <a:latin typeface="Calibri"/>
                        </a:rPr>
                        <a:t>Polo 1 [rad/s]</a:t>
                      </a:r>
                    </a:p>
                  </a:txBody>
                  <a:tcPr>
                    <a:solidFill>
                      <a:srgbClr val="1A3A6B"/>
                    </a:solidFill>
                  </a:tcPr>
                </a:tc>
                <a:tc>
                  <a:txBody>
                    <a:bodyPr/>
                    <a:lstStyle/>
                    <a:p>
                      <a:r>
                        <a:rPr sz="1200" b="1">
                          <a:solidFill>
                            <a:srgbClr val="FFFFFF"/>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sz="1200">
                          <a:latin typeface="Calibri"/>
                        </a:rPr>
                        <a:t>Mínimo / Nominal  (ml=0)</a:t>
                      </a:r>
                    </a:p>
                  </a:txBody>
                  <a:tcPr/>
                </a:tc>
                <a:tc>
                  <a:txBody>
                    <a:bodyPr/>
                    <a:lstStyle/>
                    <a:p>
                      <a:r>
                        <a:rPr sz="120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a:latin typeface="Calibri"/>
                        </a:rPr>
                        <a:t>Máximo  (ml=1.5 kg)</a:t>
                      </a:r>
                    </a:p>
                  </a:txBody>
                  <a:tcPr>
                    <a:solidFill>
                      <a:srgbClr val="F0F4F8"/>
                    </a:solidFill>
                  </a:tcPr>
                </a:tc>
                <a:tc>
                  <a:txBody>
                    <a:bodyPr/>
                    <a:lstStyle/>
                    <a:p>
                      <a:r>
                        <a:rPr sz="120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p:sp>
        <p:nvSpPr>
          <p:cNvPr id="9" name="Rectangle 8"/>
          <p:cNvSpPr/>
          <p:nvPr/>
        </p:nvSpPr>
        <p:spPr>
          <a:xfrm>
            <a:off x="365760" y="3035808"/>
            <a:ext cx="7772400" cy="30175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4270248"/>
            <a:ext cx="7589520" cy="548640"/>
          </a:xfrm>
          <a:prstGeom prst="rect">
            <a:avLst/>
          </a:prstGeom>
          <a:noFill/>
        </p:spPr>
        <p:txBody>
          <a:bodyPr wrap="square">
            <a:spAutoFit/>
          </a:bodyPr>
          <a:lstStyle/>
          <a:p>
            <a:pPr algn="ctr"/>
            <a:r>
              <a:rPr sz="1100" b="1">
                <a:solidFill>
                  <a:srgbClr val="C35A00"/>
                </a:solidFill>
                <a:latin typeface="Calibri"/>
              </a:rPr>
              <a:t>🖼  FIGURA: Figura 37 — Diagrama de polos: lazo abierto (planta) vs. lazo de corriente vs. controlador PID externo
(obsérvese la separación de escalas de tiempo entre los tres lazos)</a:t>
            </a:r>
          </a:p>
        </p:txBody>
      </p:sp>
      <p:sp>
        <p:nvSpPr>
          <p:cNvPr id="11" name="TextBox 10"/>
          <p:cNvSpPr txBox="1"/>
          <p:nvPr/>
        </p:nvSpPr>
        <p:spPr>
          <a:xfrm>
            <a:off x="457200" y="4654296"/>
            <a:ext cx="7589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2" name="TextBox 11"/>
          <p:cNvSpPr txBox="1"/>
          <p:nvPr/>
        </p:nvSpPr>
        <p:spPr>
          <a:xfrm>
            <a:off x="8412480" y="1444752"/>
            <a:ext cx="3566160" cy="4114800"/>
          </a:xfrm>
          <a:prstGeom prst="rect">
            <a:avLst/>
          </a:prstGeom>
          <a:noFill/>
        </p:spPr>
        <p:txBody>
          <a:bodyPr wrap="square">
            <a:spAutoFit/>
          </a:bodyPr>
          <a:lstStyle/>
          <a:p>
            <a:r>
              <a:rPr sz="1350">
                <a:solidFill>
                  <a:srgbClr val="1A1A2E"/>
                </a:solidFill>
                <a:latin typeface="Calibri"/>
              </a:rPr>
              <a:t>Todos los polos tienen parte real negativa → sistema estable en todo el rango de operación</a:t>
            </a:r>
          </a:p>
          <a:p>
            <a:pPr>
              <a:spcBef>
                <a:spcPts val="400"/>
              </a:spcBef>
            </a:pPr>
            <a:r>
              <a:rPr sz="1350">
                <a:solidFill>
                  <a:srgbClr val="1A1A2E"/>
                </a:solidFill>
                <a:latin typeface="Calibri"/>
              </a:rPr>
              <a:t>Con mayor carga (mayor Jeq): los polos se acercan al eje imaginario → respuesta más lenta y con mayor amortiguamiento</a:t>
            </a:r>
          </a:p>
          <a:p>
            <a:pPr>
              <a:spcBef>
                <a:spcPts val="400"/>
              </a:spcBef>
            </a:pPr>
            <a:r>
              <a:rPr sz="1350">
                <a:solidFill>
                  <a:srgbClr val="1A1A2E"/>
                </a:solidFill>
                <a:latin typeface="Calibri"/>
              </a:rPr>
              <a:t>El lazo de corriente (~5000 rad/s) es ~6× más rápido que el PID (~800 rad/s) → hipótesis de cascada verificada</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365760" y="777240"/>
            <a:ext cx="7772400" cy="685800"/>
          </a:xfrm>
          <a:prstGeom prst="rect">
            <a:avLst/>
          </a:prstGeom>
          <a:noFill/>
        </p:spPr>
        <p:txBody>
          <a:bodyPr wrap="square">
            <a:spAutoFit/>
          </a:bodyPr>
          <a:lstStyle/>
          <a:p>
            <a:pPr algn="l"/>
            <a:r>
              <a:rPr sz="1400" b="0" i="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365760" y="153619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36192"/>
            <a:ext cx="7589520" cy="475488"/>
          </a:xfrm>
          <a:prstGeom prst="rect">
            <a:avLst/>
          </a:prstGeom>
          <a:noFill/>
        </p:spPr>
        <p:txBody>
          <a:bodyPr wrap="square">
            <a:spAutoFit/>
          </a:bodyPr>
          <a:lstStyle/>
          <a:p>
            <a:pPr algn="ctr"/>
            <a:r>
              <a:rPr sz="1100" b="1">
                <a:solidFill>
                  <a:srgbClr val="1B6B2A"/>
                </a:solidFill>
                <a:latin typeface="Calibri"/>
              </a:rPr>
              <a:t>📐  ECUACIÓN: θ*m(t) = r·q*(t)     |     ω*m(t) = r·q̇*(t)     [Ec. 71]</a:t>
            </a:r>
          </a:p>
        </p:txBody>
      </p:sp>
      <p:sp>
        <p:nvSpPr>
          <p:cNvPr id="10" name="TextBox 9"/>
          <p:cNvSpPr txBox="1"/>
          <p:nvPr/>
        </p:nvSpPr>
        <p:spPr>
          <a:xfrm>
            <a:off x="365760" y="2121408"/>
            <a:ext cx="7772400" cy="365760"/>
          </a:xfrm>
          <a:prstGeom prst="rect">
            <a:avLst/>
          </a:prstGeom>
          <a:noFill/>
        </p:spPr>
        <p:txBody>
          <a:bodyPr wrap="square">
            <a:spAutoFit/>
          </a:bodyPr>
          <a:lstStyle/>
          <a:p>
            <a:pPr algn="l"/>
            <a:r>
              <a:rPr sz="1400" b="1" i="0">
                <a:solidFill>
                  <a:srgbClr val="1A3A6B"/>
                </a:solidFill>
                <a:latin typeface="Calibri"/>
              </a:rPr>
              <a:t>Perfil trapezoidal de velocidad (consigna suavizada):</a:t>
            </a:r>
          </a:p>
        </p:txBody>
      </p:sp>
      <p:sp>
        <p:nvSpPr>
          <p:cNvPr id="11" name="TextBox 10"/>
          <p:cNvSpPr txBox="1"/>
          <p:nvPr/>
        </p:nvSpPr>
        <p:spPr>
          <a:xfrm>
            <a:off x="365760" y="2560320"/>
            <a:ext cx="7772400" cy="2560320"/>
          </a:xfrm>
          <a:prstGeom prst="rect">
            <a:avLst/>
          </a:prstGeom>
          <a:noFill/>
        </p:spPr>
        <p:txBody>
          <a:bodyPr wrap="square">
            <a:spAutoFit/>
          </a:bodyPr>
          <a:lstStyle/>
          <a:p>
            <a:r>
              <a:rPr sz="1350">
                <a:solidFill>
                  <a:srgbClr val="1A1A2E"/>
                </a:solidFill>
                <a:latin typeface="Calibri"/>
              </a:rPr>
              <a:t>La derivada de la consigna es interna al bloque de set-point → no amplifica ruido externo</a:t>
            </a:r>
          </a:p>
          <a:p>
            <a:pPr>
              <a:spcBef>
                <a:spcPts val="400"/>
              </a:spcBef>
            </a:pPr>
            <a:r>
              <a:rPr sz="1350">
                <a:solidFill>
                  <a:srgbClr val="1A1A2E"/>
                </a:solidFill>
                <a:latin typeface="Calibri"/>
              </a:rPr>
              <a:t>El perfil trapezoidal impone transiciones suaves de velocidad y aceleración</a:t>
            </a:r>
          </a:p>
          <a:p>
            <a:pPr>
              <a:spcBef>
                <a:spcPts val="400"/>
              </a:spcBef>
            </a:pPr>
            <a:r>
              <a:rPr sz="1350">
                <a:solidFill>
                  <a:srgbClr val="1A1A2E"/>
                </a:solidFill>
                <a:latin typeface="Calibri"/>
              </a:rPr>
              <a:t>Evita las exigencias dinámicas excesivas generadas por la consigna de posición trapezoidal directa</a:t>
            </a:r>
          </a:p>
          <a:p>
            <a:pPr>
              <a:spcBef>
                <a:spcPts val="400"/>
              </a:spcBef>
            </a:pPr>
            <a:r>
              <a:rPr sz="1350">
                <a:solidFill>
                  <a:srgbClr val="1A1A2E"/>
                </a:solidFill>
                <a:latin typeface="Calibri"/>
              </a:rPr>
              <a:t>Permite evaluar el desempeño en condiciones representativas de operación (1 revolución, rampas de 5 s)</a:t>
            </a:r>
          </a:p>
        </p:txBody>
      </p:sp>
      <p:sp>
        <p:nvSpPr>
          <p:cNvPr id="12" name="Rectangle 11"/>
          <p:cNvSpPr/>
          <p:nvPr/>
        </p:nvSpPr>
        <p:spPr>
          <a:xfrm>
            <a:off x="8412480" y="777240"/>
            <a:ext cx="356616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645920"/>
            <a:ext cx="3383279" cy="548640"/>
          </a:xfrm>
          <a:prstGeom prst="rect">
            <a:avLst/>
          </a:prstGeom>
          <a:noFill/>
        </p:spPr>
        <p:txBody>
          <a:bodyPr wrap="square">
            <a:spAutoFit/>
          </a:bodyPr>
          <a:lstStyle/>
          <a:p>
            <a:pPr algn="ctr"/>
            <a:r>
              <a:rPr sz="1100" b="1">
                <a:solidFill>
                  <a:srgbClr val="C35A00"/>
                </a:solidFill>
                <a:latin typeface="Calibri"/>
              </a:rPr>
              <a:t>🖼  FIGURA: Figura 39 — Diagrama de bloques Simulink del set-point de posición/velocidad</a:t>
            </a:r>
          </a:p>
        </p:txBody>
      </p:sp>
      <p:sp>
        <p:nvSpPr>
          <p:cNvPr id="14" name="TextBox 13"/>
          <p:cNvSpPr txBox="1"/>
          <p:nvPr/>
        </p:nvSpPr>
        <p:spPr>
          <a:xfrm>
            <a:off x="8503919" y="20299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Rectangle 14"/>
          <p:cNvSpPr/>
          <p:nvPr/>
        </p:nvSpPr>
        <p:spPr>
          <a:xfrm>
            <a:off x="8412480" y="3154680"/>
            <a:ext cx="3566160" cy="201168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03919" y="3886200"/>
            <a:ext cx="3383279" cy="548640"/>
          </a:xfrm>
          <a:prstGeom prst="rect">
            <a:avLst/>
          </a:prstGeom>
          <a:noFill/>
        </p:spPr>
        <p:txBody>
          <a:bodyPr wrap="square">
            <a:spAutoFit/>
          </a:bodyPr>
          <a:lstStyle/>
          <a:p>
            <a:pPr algn="ctr"/>
            <a:r>
              <a:rPr sz="1100" b="1">
                <a:solidFill>
                  <a:srgbClr val="C35A00"/>
                </a:solidFill>
                <a:latin typeface="Calibri"/>
              </a:rPr>
              <a:t>🖼  FIGURA: Figuras 41-42 — Consignas q*(t) articular y θ*m(t) del eje motor con perfil trapezoidal</a:t>
            </a:r>
          </a:p>
        </p:txBody>
      </p:sp>
      <p:sp>
        <p:nvSpPr>
          <p:cNvPr id="17" name="TextBox 16"/>
          <p:cNvSpPr txBox="1"/>
          <p:nvPr/>
        </p:nvSpPr>
        <p:spPr>
          <a:xfrm>
            <a:off x="8503919" y="427024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p:sp>
        <p:nvSpPr>
          <p:cNvPr id="7" name="TextBox 6"/>
          <p:cNvSpPr txBox="1"/>
          <p:nvPr/>
        </p:nvSpPr>
        <p:spPr>
          <a:xfrm>
            <a:off x="365760" y="777240"/>
            <a:ext cx="11430000" cy="658368"/>
          </a:xfrm>
          <a:prstGeom prst="rect">
            <a:avLst/>
          </a:prstGeom>
          <a:noFill/>
        </p:spPr>
        <p:txBody>
          <a:bodyPr wrap="square">
            <a:spAutoFit/>
          </a:bodyPr>
          <a:lstStyle/>
          <a:p>
            <a:pPr algn="l"/>
            <a:r>
              <a:rPr sz="1400" b="0" i="0">
                <a:solidFill>
                  <a:srgbClr val="1A1A2E"/>
                </a:solidFill>
                <a:latin typeface="Calibri"/>
              </a:rPr>
              <a:t>Solo se dispone del encoder de posición θm. Se diseña un observador asintótico de Luenberger sobre el subsistema mecánico de orden 2 (las corrientes y Ts se miden directamente):</a:t>
            </a:r>
          </a:p>
        </p:txBody>
      </p:sp>
      <p:sp>
        <p:nvSpPr>
          <p:cNvPr id="8" name="Rectangle 7"/>
          <p:cNvSpPr/>
          <p:nvPr/>
        </p:nvSpPr>
        <p:spPr>
          <a:xfrm>
            <a:off x="365760" y="150876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11247120" cy="475488"/>
          </a:xfrm>
          <a:prstGeom prst="rect">
            <a:avLst/>
          </a:prstGeom>
          <a:noFill/>
        </p:spPr>
        <p:txBody>
          <a:bodyPr wrap="square">
            <a:spAutoFit/>
          </a:bodyPr>
          <a:lstStyle/>
          <a:p>
            <a:pPr algn="ctr"/>
            <a:r>
              <a:rPr sz="1100" b="1">
                <a:solidFill>
                  <a:srgbClr val="1B6B2A"/>
                </a:solidFill>
                <a:latin typeface="Calibri"/>
              </a:rPr>
              <a:t>📐  ECUACIÓN: θ̃̇m = ω̃m + kθ·(θm − θ̃m)     [corrección de posición]     [Ec. 73a]</a:t>
            </a:r>
          </a:p>
        </p:txBody>
      </p:sp>
      <p:sp>
        <p:nvSpPr>
          <p:cNvPr id="10" name="Rectangle 9"/>
          <p:cNvSpPr/>
          <p:nvPr/>
        </p:nvSpPr>
        <p:spPr>
          <a:xfrm>
            <a:off x="365760" y="204825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48256"/>
            <a:ext cx="11247120" cy="475488"/>
          </a:xfrm>
          <a:prstGeom prst="rect">
            <a:avLst/>
          </a:prstGeom>
          <a:noFill/>
        </p:spPr>
        <p:txBody>
          <a:bodyPr wrap="square">
            <a:spAutoFit/>
          </a:bodyPr>
          <a:lstStyle/>
          <a:p>
            <a:pPr algn="ctr"/>
            <a:r>
              <a:rPr sz="1100" b="1">
                <a:solidFill>
                  <a:srgbClr val="1B6B2A"/>
                </a:solidFill>
                <a:latin typeface="Calibri"/>
              </a:rPr>
              <a:t>📐  ECUACIÓN: ω̃̇m = T*'m/Jeq + kω·(θm − θ̃m)     [corrección de velocidad]     [Ec. 73b]</a:t>
            </a:r>
          </a:p>
        </p:txBody>
      </p:sp>
      <p:sp>
        <p:nvSpPr>
          <p:cNvPr id="12" name="Rectangle 11"/>
          <p:cNvSpPr/>
          <p:nvPr/>
        </p:nvSpPr>
        <p:spPr>
          <a:xfrm>
            <a:off x="365760" y="2587752"/>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587752"/>
            <a:ext cx="11247120" cy="475488"/>
          </a:xfrm>
          <a:prstGeom prst="rect">
            <a:avLst/>
          </a:prstGeom>
          <a:noFill/>
        </p:spPr>
        <p:txBody>
          <a:bodyPr wrap="square">
            <a:spAutoFit/>
          </a:bodyPr>
          <a:lstStyle/>
          <a:p>
            <a:pPr algn="ctr"/>
            <a:r>
              <a:rPr sz="1100" b="1">
                <a:solidFill>
                  <a:srgbClr val="1B6B2A"/>
                </a:solidFill>
                <a:latin typeface="Calibri"/>
              </a:rPr>
              <a:t>📐  ECUACIÓN: Dinámica del error:  ė(t) = (A − Ke·C)·e(t)     →     A' = [−kθ  1 ; −kω  0]</a:t>
            </a:r>
          </a:p>
        </p:txBody>
      </p:sp>
      <p:sp>
        <p:nvSpPr>
          <p:cNvPr id="14" name="Rectangle 13"/>
          <p:cNvSpPr/>
          <p:nvPr/>
        </p:nvSpPr>
        <p:spPr>
          <a:xfrm>
            <a:off x="365760" y="3127248"/>
            <a:ext cx="114300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127248"/>
            <a:ext cx="11247120" cy="502920"/>
          </a:xfrm>
          <a:prstGeom prst="rect">
            <a:avLst/>
          </a:prstGeom>
          <a:noFill/>
        </p:spPr>
        <p:txBody>
          <a:bodyPr wrap="square">
            <a:spAutoFit/>
          </a:bodyPr>
          <a:lstStyle/>
          <a:p>
            <a:pPr algn="ctr"/>
            <a:r>
              <a:rPr sz="1100" b="1">
                <a:solidFill>
                  <a:srgbClr val="1B6B2A"/>
                </a:solidFill>
                <a:latin typeface="Calibri"/>
              </a:rPr>
              <a:t>📐  ECUACIÓN: p(s) = s² + kθ·s + kω     →     polos deseados p₁,₂ = −3200 rad/s     →     kθ = 6400 rad/s,  kω = 1.024×10⁷ rad²/s²</a:t>
            </a:r>
          </a:p>
        </p:txBody>
      </p:sp>
      <p:sp>
        <p:nvSpPr>
          <p:cNvPr id="16" name="Rectangle 15"/>
          <p:cNvSpPr/>
          <p:nvPr/>
        </p:nvSpPr>
        <p:spPr>
          <a:xfrm>
            <a:off x="365760" y="3749039"/>
            <a:ext cx="5943600" cy="23317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40580"/>
            <a:ext cx="5760720" cy="548640"/>
          </a:xfrm>
          <a:prstGeom prst="rect">
            <a:avLst/>
          </a:prstGeom>
          <a:noFill/>
        </p:spPr>
        <p:txBody>
          <a:bodyPr wrap="square">
            <a:spAutoFit/>
          </a:bodyPr>
          <a:lstStyle/>
          <a:p>
            <a:pPr algn="ctr"/>
            <a:r>
              <a:rPr sz="1100" b="1">
                <a:solidFill>
                  <a:srgbClr val="C35A00"/>
                </a:solidFill>
                <a:latin typeface="Calibri"/>
              </a:rPr>
              <a:t>🖼  FIGURA: Figura 40 — Diagrama de bloques Simulink del observador de estado reducido</a:t>
            </a:r>
          </a:p>
        </p:txBody>
      </p:sp>
      <p:sp>
        <p:nvSpPr>
          <p:cNvPr id="18" name="TextBox 17"/>
          <p:cNvSpPr txBox="1"/>
          <p:nvPr/>
        </p:nvSpPr>
        <p:spPr>
          <a:xfrm>
            <a:off x="457200" y="5024628"/>
            <a:ext cx="5760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TextBox 18"/>
          <p:cNvSpPr txBox="1"/>
          <p:nvPr/>
        </p:nvSpPr>
        <p:spPr>
          <a:xfrm>
            <a:off x="6492240" y="3749039"/>
            <a:ext cx="5212080" cy="2331720"/>
          </a:xfrm>
          <a:prstGeom prst="rect">
            <a:avLst/>
          </a:prstGeom>
          <a:noFill/>
        </p:spPr>
        <p:txBody>
          <a:bodyPr wrap="square">
            <a:spAutoFit/>
          </a:bodyPr>
          <a:lstStyle/>
          <a:p>
            <a:r>
              <a:rPr sz="1350">
                <a:solidFill>
                  <a:srgbClr val="1A1A2E"/>
                </a:solidFill>
                <a:latin typeface="Calibri"/>
              </a:rPr>
              <a:t>Los polos del observador (−3200 rad/s) son 4× más rápidos que el PID (−800 rad/s) → converge antes de que el controlador actúe</a:t>
            </a:r>
          </a:p>
          <a:p>
            <a:pPr>
              <a:spcBef>
                <a:spcPts val="400"/>
              </a:spcBef>
            </a:pPr>
            <a:r>
              <a:rPr sz="1350" b="0">
                <a:solidFill>
                  <a:srgbClr val="C35A00"/>
                </a:solidFill>
                <a:latin typeface="Calibri"/>
              </a:rPr>
              <a:t>Limitación: sin acción integral → error estacionario frente a Tld constante → se corrige con observador aumentado</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Seguimiento de consigna — Posición y velocidad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p:sp>
        <p:nvSpPr>
          <p:cNvPr id="7" name="TextBox 6"/>
          <p:cNvSpPr txBox="1"/>
          <p:nvPr/>
        </p:nvSpPr>
        <p:spPr>
          <a:xfrm>
            <a:off x="365760" y="777240"/>
            <a:ext cx="11430000" cy="384048"/>
          </a:xfrm>
          <a:prstGeom prst="rect">
            <a:avLst/>
          </a:prstGeom>
          <a:noFill/>
        </p:spPr>
        <p:txBody>
          <a:bodyPr wrap="square">
            <a:spAutoFit/>
          </a:bodyPr>
          <a:lstStyle/>
          <a:p>
            <a:pPr algn="l"/>
            <a:r>
              <a:rPr sz="1400" b="1" i="0">
                <a:solidFill>
                  <a:srgbClr val="1A3A6B"/>
                </a:solidFill>
                <a:latin typeface="Calibri"/>
              </a:rPr>
              <a:t>Consigna trapezoidal de posición (1 revolución, rampas de 5 s):</a:t>
            </a:r>
          </a:p>
        </p:txBody>
      </p:sp>
      <p:sp>
        <p:nvSpPr>
          <p:cNvPr id="8" name="Rectangle 7"/>
          <p:cNvSpPr/>
          <p:nvPr/>
        </p:nvSpPr>
        <p:spPr>
          <a:xfrm>
            <a:off x="365760" y="1234440"/>
            <a:ext cx="54864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240280"/>
            <a:ext cx="5303520" cy="548640"/>
          </a:xfrm>
          <a:prstGeom prst="rect">
            <a:avLst/>
          </a:prstGeom>
          <a:noFill/>
        </p:spPr>
        <p:txBody>
          <a:bodyPr wrap="square">
            <a:spAutoFit/>
          </a:bodyPr>
          <a:lstStyle/>
          <a:p>
            <a:pPr algn="ctr"/>
            <a:r>
              <a:rPr sz="1100" b="1">
                <a:solidFill>
                  <a:srgbClr val="C35A00"/>
                </a:solidFill>
                <a:latin typeface="Calibri"/>
              </a:rPr>
              <a:t>🖼  FIGURA: Figuras 43-44 — θm(t): posición real vs. estimada vs. consigna
+ detalle del transitorio en t=5s (sobrepaso + oscilación amortiguada)</a:t>
            </a:r>
          </a:p>
        </p:txBody>
      </p:sp>
      <p:sp>
        <p:nvSpPr>
          <p:cNvPr id="10" name="TextBox 9"/>
          <p:cNvSpPr txBox="1"/>
          <p:nvPr/>
        </p:nvSpPr>
        <p:spPr>
          <a:xfrm>
            <a:off x="457200" y="26243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6126480" y="1234440"/>
            <a:ext cx="54864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2240280"/>
            <a:ext cx="5303520" cy="548640"/>
          </a:xfrm>
          <a:prstGeom prst="rect">
            <a:avLst/>
          </a:prstGeom>
          <a:noFill/>
        </p:spPr>
        <p:txBody>
          <a:bodyPr wrap="square">
            <a:spAutoFit/>
          </a:bodyPr>
          <a:lstStyle/>
          <a:p>
            <a:pPr algn="ctr"/>
            <a:r>
              <a:rPr sz="1100" b="1">
                <a:solidFill>
                  <a:srgbClr val="C35A00"/>
                </a:solidFill>
                <a:latin typeface="Calibri"/>
              </a:rPr>
              <a:t>🖼  FIGURA: Figuras 45-46 — ωm(t): velocidad real vs. estimada vs. consigna
+ detalle transitorio en t=5s (sobrepico negativo + recuperación rápida)</a:t>
            </a:r>
          </a:p>
        </p:txBody>
      </p:sp>
      <p:sp>
        <p:nvSpPr>
          <p:cNvPr id="13" name="TextBox 12"/>
          <p:cNvSpPr txBox="1"/>
          <p:nvPr/>
        </p:nvSpPr>
        <p:spPr>
          <a:xfrm>
            <a:off x="6217920" y="26243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3931920"/>
            <a:ext cx="11430000" cy="2286000"/>
          </a:xfrm>
          <a:prstGeom prst="rect">
            <a:avLst/>
          </a:prstGeom>
          <a:noFill/>
        </p:spPr>
        <p:txBody>
          <a:bodyPr wrap="square">
            <a:spAutoFit/>
          </a:bodyPr>
          <a:lstStyle/>
          <a:p>
            <a:r>
              <a:rPr sz="1350">
                <a:solidFill>
                  <a:srgbClr val="1A1A2E"/>
                </a:solidFill>
                <a:latin typeface="Calibri"/>
              </a:rPr>
              <a:t>Seguimiento de posición muy bueno: error mínimo en régimen permanente</a:t>
            </a:r>
          </a:p>
          <a:p>
            <a:pPr>
              <a:spcBef>
                <a:spcPts val="400"/>
              </a:spcBef>
            </a:pPr>
            <a:r>
              <a:rPr sz="1350">
                <a:solidFill>
                  <a:srgbClr val="1A1A2E"/>
                </a:solidFill>
                <a:latin typeface="Calibri"/>
              </a:rPr>
              <a:t>Velocidad: sobrepico transitorio más pronunciado (derivativa de la posición)</a:t>
            </a:r>
          </a:p>
          <a:p>
            <a:pPr>
              <a:spcBef>
                <a:spcPts val="400"/>
              </a:spcBef>
            </a:pPr>
            <a:r>
              <a:rPr sz="1350">
                <a:solidFill>
                  <a:srgbClr val="1A1A2E"/>
                </a:solidFill>
                <a:latin typeface="Calibri"/>
              </a:rPr>
              <a:t>El observador estima correctamente θm y ωm en ausencia de perturbaciones externas</a:t>
            </a:r>
          </a:p>
          <a:p>
            <a:pPr>
              <a:spcBef>
                <a:spcPts val="400"/>
              </a:spcBef>
            </a:pPr>
            <a:r>
              <a:rPr sz="1350">
                <a:solidFill>
                  <a:srgbClr val="1A1A2E"/>
                </a:solidFill>
                <a:latin typeface="Calibri"/>
              </a:rPr>
              <a:t>La señal estimada es prácticamente coincidente con la real</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Seguimiento de consigna — Variables eléctricas y limitaciones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58 / ~75</a:t>
            </a:r>
          </a:p>
        </p:txBody>
      </p:sp>
      <p:sp>
        <p:nvSpPr>
          <p:cNvPr id="7" name="Rectangle 6"/>
          <p:cNvSpPr/>
          <p:nvPr/>
        </p:nvSpPr>
        <p:spPr>
          <a:xfrm>
            <a:off x="365760" y="777240"/>
            <a:ext cx="114300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645920"/>
            <a:ext cx="11247120" cy="548640"/>
          </a:xfrm>
          <a:prstGeom prst="rect">
            <a:avLst/>
          </a:prstGeom>
          <a:noFill/>
        </p:spPr>
        <p:txBody>
          <a:bodyPr wrap="square">
            <a:spAutoFit/>
          </a:bodyPr>
          <a:lstStyle/>
          <a:p>
            <a:pPr algn="ctr"/>
            <a:r>
              <a:rPr sz="1100" b="1">
                <a:solidFill>
                  <a:srgbClr val="C35A00"/>
                </a:solidFill>
                <a:latin typeface="Calibri"/>
              </a:rPr>
              <a:t>🖼  FIGURA: Figuras 47-50 — Torque Tm(t), corrientes iabc(t), tensiones vabc(t), temperatura Ts°(t)
durante seguimiento de consigna trapezoidal de posición</a:t>
            </a:r>
          </a:p>
        </p:txBody>
      </p:sp>
      <p:sp>
        <p:nvSpPr>
          <p:cNvPr id="9" name="TextBox 8"/>
          <p:cNvSpPr txBox="1"/>
          <p:nvPr/>
        </p:nvSpPr>
        <p:spPr>
          <a:xfrm>
            <a:off x="457200" y="202996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graphicFrame>
        <p:nvGraphicFramePr>
          <p:cNvPr id="10" name="Table 9"/>
          <p:cNvGraphicFramePr>
            <a:graphicFrameLocks noGrp="1"/>
          </p:cNvGraphicFramePr>
          <p:nvPr/>
        </p:nvGraphicFramePr>
        <p:xfrm>
          <a:off x="365760" y="3200400"/>
          <a:ext cx="11430000" cy="260604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3200400">
                  <a:extLst>
                    <a:ext uri="{9D8B030D-6E8A-4147-A177-3AD203B41FA5}">
                      <a16:colId xmlns:a16="http://schemas.microsoft.com/office/drawing/2014/main" val="20004"/>
                    </a:ext>
                  </a:extLst>
                </a:gridCol>
              </a:tblGrid>
              <a:tr h="434340">
                <a:tc>
                  <a:txBody>
                    <a:bodyPr/>
                    <a:lstStyle/>
                    <a:p>
                      <a:r>
                        <a:rPr sz="1200" b="1">
                          <a:solidFill>
                            <a:srgbClr val="FFFFFF"/>
                          </a:solidFill>
                          <a:latin typeface="Calibri"/>
                        </a:rPr>
                        <a:t>Variable</a:t>
                      </a:r>
                    </a:p>
                  </a:txBody>
                  <a:tcPr>
                    <a:solidFill>
                      <a:srgbClr val="1A3A6B"/>
                    </a:solidFill>
                  </a:tcPr>
                </a:tc>
                <a:tc>
                  <a:txBody>
                    <a:bodyPr/>
                    <a:lstStyle/>
                    <a:p>
                      <a:r>
                        <a:rPr sz="1200" b="1">
                          <a:solidFill>
                            <a:srgbClr val="FFFFFF"/>
                          </a:solidFill>
                          <a:latin typeface="Calibri"/>
                        </a:rPr>
                        <a:t>Espec. continuo</a:t>
                      </a:r>
                    </a:p>
                  </a:txBody>
                  <a:tcPr>
                    <a:solidFill>
                      <a:srgbClr val="1A3A6B"/>
                    </a:solidFill>
                  </a:tcPr>
                </a:tc>
                <a:tc>
                  <a:txBody>
                    <a:bodyPr/>
                    <a:lstStyle/>
                    <a:p>
                      <a:r>
                        <a:rPr sz="1200" b="1">
                          <a:solidFill>
                            <a:srgbClr val="FFFFFF"/>
                          </a:solidFill>
                          <a:latin typeface="Calibri"/>
                        </a:rPr>
                        <a:t>Espec. pico</a:t>
                      </a:r>
                    </a:p>
                  </a:txBody>
                  <a:tcPr>
                    <a:solidFill>
                      <a:srgbClr val="1A3A6B"/>
                    </a:solidFill>
                  </a:tcPr>
                </a:tc>
                <a:tc>
                  <a:txBody>
                    <a:bodyPr/>
                    <a:lstStyle/>
                    <a:p>
                      <a:r>
                        <a:rPr sz="1200" b="1">
                          <a:solidFill>
                            <a:srgbClr val="FFFFFF"/>
                          </a:solidFill>
                          <a:latin typeface="Calibri"/>
                        </a:rPr>
                        <a:t>Sim. continuo</a:t>
                      </a:r>
                    </a:p>
                  </a:txBody>
                  <a:tcPr>
                    <a:solidFill>
                      <a:srgbClr val="1A3A6B"/>
                    </a:solidFill>
                  </a:tcPr>
                </a:tc>
                <a:tc>
                  <a:txBody>
                    <a:bodyPr/>
                    <a:lstStyle/>
                    <a:p>
                      <a:r>
                        <a:rPr sz="1200" b="1">
                          <a:solidFill>
                            <a:srgbClr val="FFFFFF"/>
                          </a:solidFill>
                          <a:latin typeface="Calibri"/>
                        </a:rPr>
                        <a:t>Sim. pico</a:t>
                      </a:r>
                    </a:p>
                  </a:txBody>
                  <a:tcPr>
                    <a:solidFill>
                      <a:srgbClr val="1A3A6B"/>
                    </a:solidFill>
                  </a:tcPr>
                </a:tc>
                <a:extLst>
                  <a:ext uri="{0D108BD9-81ED-4DB2-BD59-A6C34878D82A}">
                    <a16:rowId xmlns:a16="http://schemas.microsoft.com/office/drawing/2014/main" val="10000"/>
                  </a:ext>
                </a:extLst>
              </a:tr>
              <a:tr h="434340">
                <a:tc>
                  <a:txBody>
                    <a:bodyPr/>
                    <a:lstStyle/>
                    <a:p>
                      <a:r>
                        <a:rPr sz="1200">
                          <a:latin typeface="Calibri"/>
                        </a:rPr>
                        <a:t>Torque (caja)</a:t>
                      </a:r>
                    </a:p>
                  </a:txBody>
                  <a:tcPr/>
                </a:tc>
                <a:tc>
                  <a:txBody>
                    <a:bodyPr/>
                    <a:lstStyle/>
                    <a:p>
                      <a:r>
                        <a:rPr sz="1200">
                          <a:latin typeface="Calibri"/>
                        </a:rPr>
                        <a:t>17.0 N·m</a:t>
                      </a:r>
                    </a:p>
                  </a:txBody>
                  <a:tcPr/>
                </a:tc>
                <a:tc>
                  <a:txBody>
                    <a:bodyPr/>
                    <a:lstStyle/>
                    <a:p>
                      <a:r>
                        <a:rPr sz="1200">
                          <a:latin typeface="Calibri"/>
                        </a:rPr>
                        <a:t>45.0 N·m</a:t>
                      </a:r>
                    </a:p>
                  </a:txBody>
                  <a:tcPr/>
                </a:tc>
                <a:tc>
                  <a:txBody>
                    <a:bodyPr/>
                    <a:lstStyle/>
                    <a:p>
                      <a:r>
                        <a:rPr sz="1200">
                          <a:latin typeface="Calibri"/>
                        </a:rPr>
                        <a:t>0.039 N·m</a:t>
                      </a:r>
                    </a:p>
                  </a:txBody>
                  <a:tcPr/>
                </a:tc>
                <a:tc>
                  <a:txBody>
                    <a:bodyPr/>
                    <a:lstStyle/>
                    <a:p>
                      <a:r>
                        <a:rPr sz="1200">
                          <a:latin typeface="Calibri"/>
                        </a:rPr>
                        <a:t>5.011 N·m ✓</a:t>
                      </a:r>
                    </a:p>
                  </a:txBody>
                  <a:tcPr/>
                </a:tc>
                <a:extLst>
                  <a:ext uri="{0D108BD9-81ED-4DB2-BD59-A6C34878D82A}">
                    <a16:rowId xmlns:a16="http://schemas.microsoft.com/office/drawing/2014/main" val="10001"/>
                  </a:ext>
                </a:extLst>
              </a:tr>
              <a:tr h="434340">
                <a:tc>
                  <a:txBody>
                    <a:bodyPr/>
                    <a:lstStyle/>
                    <a:p>
                      <a:r>
                        <a:rPr sz="1200">
                          <a:latin typeface="Calibri"/>
                        </a:rPr>
                        <a:t>Vel. angular (caja)</a:t>
                      </a:r>
                    </a:p>
                  </a:txBody>
                  <a:tcPr>
                    <a:solidFill>
                      <a:srgbClr val="F0F4F8"/>
                    </a:solidFill>
                  </a:tcPr>
                </a:tc>
                <a:tc>
                  <a:txBody>
                    <a:bodyPr/>
                    <a:lstStyle/>
                    <a:p>
                      <a:r>
                        <a:rPr sz="1200">
                          <a:latin typeface="Calibri"/>
                        </a:rPr>
                        <a:t>6.28 rad/s</a:t>
                      </a:r>
                    </a:p>
                  </a:txBody>
                  <a:tcPr>
                    <a:solidFill>
                      <a:srgbClr val="F0F4F8"/>
                    </a:solidFill>
                  </a:tcPr>
                </a:tc>
                <a:tc>
                  <a:txBody>
                    <a:bodyPr/>
                    <a:lstStyle/>
                    <a:p>
                      <a:r>
                        <a:rPr sz="1200">
                          <a:latin typeface="Calibri"/>
                        </a:rPr>
                        <a:t>6.28 rad/s</a:t>
                      </a:r>
                    </a:p>
                  </a:txBody>
                  <a:tcPr>
                    <a:solidFill>
                      <a:srgbClr val="F0F4F8"/>
                    </a:solidFill>
                  </a:tcPr>
                </a:tc>
                <a:tc>
                  <a:txBody>
                    <a:bodyPr/>
                    <a:lstStyle/>
                    <a:p>
                      <a:r>
                        <a:rPr sz="1200">
                          <a:latin typeface="Calibri"/>
                        </a:rPr>
                        <a:t>1.00 rad/s</a:t>
                      </a:r>
                    </a:p>
                  </a:txBody>
                  <a:tcPr>
                    <a:solidFill>
                      <a:srgbClr val="F0F4F8"/>
                    </a:solidFill>
                  </a:tcPr>
                </a:tc>
                <a:tc>
                  <a:txBody>
                    <a:bodyPr/>
                    <a:lstStyle/>
                    <a:p>
                      <a:r>
                        <a:rPr sz="1200">
                          <a:latin typeface="Calibri"/>
                        </a:rPr>
                        <a:t>1.595 rad/s ✓</a:t>
                      </a:r>
                    </a:p>
                  </a:txBody>
                  <a:tcPr>
                    <a:solidFill>
                      <a:srgbClr val="F0F4F8"/>
                    </a:solidFill>
                  </a:tcPr>
                </a:tc>
                <a:extLst>
                  <a:ext uri="{0D108BD9-81ED-4DB2-BD59-A6C34878D82A}">
                    <a16:rowId xmlns:a16="http://schemas.microsoft.com/office/drawing/2014/main" val="10002"/>
                  </a:ext>
                </a:extLst>
              </a:tr>
              <a:tr h="434340">
                <a:tc>
                  <a:txBody>
                    <a:bodyPr/>
                    <a:lstStyle/>
                    <a:p>
                      <a:r>
                        <a:rPr sz="1200">
                          <a:latin typeface="Calibri"/>
                        </a:rPr>
                        <a:t>Vel. angular (motor)</a:t>
                      </a:r>
                    </a:p>
                  </a:txBody>
                  <a:tcPr/>
                </a:tc>
                <a:tc>
                  <a:txBody>
                    <a:bodyPr/>
                    <a:lstStyle/>
                    <a:p>
                      <a:r>
                        <a:rPr sz="1200">
                          <a:latin typeface="Calibri"/>
                        </a:rPr>
                        <a:t>691 rad/s</a:t>
                      </a:r>
                    </a:p>
                  </a:txBody>
                  <a:tcPr/>
                </a:tc>
                <a:tc>
                  <a:txBody>
                    <a:bodyPr/>
                    <a:lstStyle/>
                    <a:p>
                      <a:r>
                        <a:rPr sz="1200">
                          <a:latin typeface="Calibri"/>
                        </a:rPr>
                        <a:t>691 rad/s</a:t>
                      </a:r>
                    </a:p>
                  </a:txBody>
                  <a:tcPr/>
                </a:tc>
                <a:tc>
                  <a:txBody>
                    <a:bodyPr/>
                    <a:lstStyle/>
                    <a:p>
                      <a:r>
                        <a:rPr sz="1200">
                          <a:latin typeface="Calibri"/>
                        </a:rPr>
                        <a:t>120 rad/s</a:t>
                      </a:r>
                    </a:p>
                  </a:txBody>
                  <a:tcPr/>
                </a:tc>
                <a:tc>
                  <a:txBody>
                    <a:bodyPr/>
                    <a:lstStyle/>
                    <a:p>
                      <a:r>
                        <a:rPr sz="1200">
                          <a:latin typeface="Calibri"/>
                        </a:rPr>
                        <a:t>191.4 rad/s ✓</a:t>
                      </a:r>
                    </a:p>
                  </a:txBody>
                  <a:tcPr/>
                </a:tc>
                <a:extLst>
                  <a:ext uri="{0D108BD9-81ED-4DB2-BD59-A6C34878D82A}">
                    <a16:rowId xmlns:a16="http://schemas.microsoft.com/office/drawing/2014/main" val="10003"/>
                  </a:ext>
                </a:extLst>
              </a:tr>
              <a:tr h="434340">
                <a:tc>
                  <a:txBody>
                    <a:bodyPr/>
                    <a:lstStyle/>
                    <a:p>
                      <a:r>
                        <a:rPr sz="1200">
                          <a:latin typeface="Calibri"/>
                        </a:rPr>
                        <a:t>Corriente (estator)</a:t>
                      </a:r>
                    </a:p>
                  </a:txBody>
                  <a:tcPr>
                    <a:solidFill>
                      <a:srgbClr val="F0F4F8"/>
                    </a:solidFill>
                  </a:tcPr>
                </a:tc>
                <a:tc>
                  <a:txBody>
                    <a:bodyPr/>
                    <a:lstStyle/>
                    <a:p>
                      <a:r>
                        <a:rPr sz="1200">
                          <a:latin typeface="Calibri"/>
                        </a:rPr>
                        <a:t>0.4 A</a:t>
                      </a:r>
                    </a:p>
                  </a:txBody>
                  <a:tcPr>
                    <a:solidFill>
                      <a:srgbClr val="F0F4F8"/>
                    </a:solidFill>
                  </a:tcPr>
                </a:tc>
                <a:tc>
                  <a:txBody>
                    <a:bodyPr/>
                    <a:lstStyle/>
                    <a:p>
                      <a:r>
                        <a:rPr sz="1200">
                          <a:latin typeface="Calibri"/>
                        </a:rPr>
                        <a:t>2.0 A</a:t>
                      </a:r>
                    </a:p>
                  </a:txBody>
                  <a:tcPr>
                    <a:solidFill>
                      <a:srgbClr val="F0F4F8"/>
                    </a:solidFill>
                  </a:tcPr>
                </a:tc>
                <a:tc>
                  <a:txBody>
                    <a:bodyPr/>
                    <a:lstStyle/>
                    <a:p>
                      <a:r>
                        <a:rPr sz="1200">
                          <a:latin typeface="Calibri"/>
                        </a:rPr>
                        <a:t>0.541 A</a:t>
                      </a:r>
                    </a:p>
                  </a:txBody>
                  <a:tcPr>
                    <a:solidFill>
                      <a:srgbClr val="F0F4F8"/>
                    </a:solidFill>
                  </a:tcPr>
                </a:tc>
                <a:tc>
                  <a:txBody>
                    <a:bodyPr/>
                    <a:lstStyle/>
                    <a:p>
                      <a:r>
                        <a:rPr sz="1200">
                          <a:latin typeface="Calibri"/>
                        </a:rPr>
                        <a:t>72.5 A  ✗</a:t>
                      </a:r>
                    </a:p>
                  </a:txBody>
                  <a:tcPr>
                    <a:solidFill>
                      <a:srgbClr val="F0F4F8"/>
                    </a:solidFill>
                  </a:tcPr>
                </a:tc>
                <a:extLst>
                  <a:ext uri="{0D108BD9-81ED-4DB2-BD59-A6C34878D82A}">
                    <a16:rowId xmlns:a16="http://schemas.microsoft.com/office/drawing/2014/main" val="10004"/>
                  </a:ext>
                </a:extLst>
              </a:tr>
              <a:tr h="434340">
                <a:tc>
                  <a:txBody>
                    <a:bodyPr/>
                    <a:lstStyle/>
                    <a:p>
                      <a:r>
                        <a:rPr sz="1200">
                          <a:latin typeface="Calibri"/>
                        </a:rPr>
                        <a:t>Tensión de fase</a:t>
                      </a:r>
                    </a:p>
                  </a:txBody>
                  <a:tcPr/>
                </a:tc>
                <a:tc>
                  <a:txBody>
                    <a:bodyPr/>
                    <a:lstStyle/>
                    <a:p>
                      <a:r>
                        <a:rPr sz="1200">
                          <a:latin typeface="Calibri"/>
                        </a:rPr>
                        <a:t>30 V</a:t>
                      </a:r>
                    </a:p>
                  </a:txBody>
                  <a:tcPr/>
                </a:tc>
                <a:tc>
                  <a:txBody>
                    <a:bodyPr/>
                    <a:lstStyle/>
                    <a:p>
                      <a:r>
                        <a:rPr sz="1200">
                          <a:latin typeface="Calibri"/>
                        </a:rPr>
                        <a:t>48 V</a:t>
                      </a:r>
                    </a:p>
                  </a:txBody>
                  <a:tcPr/>
                </a:tc>
                <a:tc>
                  <a:txBody>
                    <a:bodyPr/>
                    <a:lstStyle/>
                    <a:p>
                      <a:r>
                        <a:rPr sz="1200">
                          <a:latin typeface="Calibri"/>
                        </a:rPr>
                        <a:t>5.07 V</a:t>
                      </a:r>
                    </a:p>
                  </a:txBody>
                  <a:tcPr/>
                </a:tc>
                <a:tc>
                  <a:txBody>
                    <a:bodyPr/>
                    <a:lstStyle/>
                    <a:p>
                      <a:r>
                        <a:rPr sz="1200">
                          <a:latin typeface="Calibri"/>
                        </a:rPr>
                        <a:t>1972 V  ✗</a:t>
                      </a:r>
                    </a:p>
                  </a:txBody>
                  <a:tcPr/>
                </a:tc>
                <a:extLst>
                  <a:ext uri="{0D108BD9-81ED-4DB2-BD59-A6C34878D82A}">
                    <a16:rowId xmlns:a16="http://schemas.microsoft.com/office/drawing/2014/main" val="10005"/>
                  </a:ext>
                </a:extLst>
              </a:tr>
            </a:tbl>
          </a:graphicData>
        </a:graphic>
      </p:graphicFrame>
      <p:sp>
        <p:nvSpPr>
          <p:cNvPr id="11" name="Rectangle 10"/>
          <p:cNvSpPr/>
          <p:nvPr/>
        </p:nvSpPr>
        <p:spPr>
          <a:xfrm>
            <a:off x="365760" y="5925312"/>
            <a:ext cx="11430000" cy="658368"/>
          </a:xfrm>
          <a:prstGeom prst="rect">
            <a:avLst/>
          </a:prstGeom>
          <a:solidFill>
            <a:srgbClr val="FFF3E0"/>
          </a:solidFill>
          <a:ln w="1270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5971032"/>
            <a:ext cx="11155680" cy="566928"/>
          </a:xfrm>
          <a:prstGeom prst="rect">
            <a:avLst/>
          </a:prstGeom>
          <a:noFill/>
        </p:spPr>
        <p:txBody>
          <a:bodyPr wrap="square">
            <a:spAutoFit/>
          </a:bodyPr>
          <a:lstStyle/>
          <a:p>
            <a:pPr algn="l"/>
            <a:r>
              <a:rPr sz="1300">
                <a:solidFill>
                  <a:srgbClr val="1A3A6B"/>
                </a:solidFill>
                <a:latin typeface="Calibri"/>
              </a:rPr>
              <a:t>⚠  Los valores pico de corriente (72.5 A &gt;&gt; 2.0 A) y tensión (1972 V &gt;&gt; 48 V) superan ampliamente los límites. La consigna trapezoidal de posición brusca no es apta para el sistema real. Solución: usar consigna de velocidad trapezoidal suavizada.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Se aplica un escalón de par resistente Tld = −5 N·m en t=5s y luego +5 N·m en t=10s (cambio de signo — condición más exigente que involucra frenado activo del sistema).</a:t>
            </a:r>
          </a:p>
        </p:txBody>
      </p:sp>
      <p:sp>
        <p:nvSpPr>
          <p:cNvPr id="8" name="Rectangle 7"/>
          <p:cNvSpPr/>
          <p:nvPr/>
        </p:nvSpPr>
        <p:spPr>
          <a:xfrm>
            <a:off x="365760" y="1444752"/>
            <a:ext cx="41148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313432"/>
            <a:ext cx="3931920" cy="548640"/>
          </a:xfrm>
          <a:prstGeom prst="rect">
            <a:avLst/>
          </a:prstGeom>
          <a:noFill/>
        </p:spPr>
        <p:txBody>
          <a:bodyPr wrap="square">
            <a:spAutoFit/>
          </a:bodyPr>
          <a:lstStyle/>
          <a:p>
            <a:pPr algn="ctr"/>
            <a:r>
              <a:rPr sz="1100" b="1">
                <a:solidFill>
                  <a:srgbClr val="C35A00"/>
                </a:solidFill>
                <a:latin typeface="Calibri"/>
              </a:rPr>
              <a:t>🖼  FIGURA: Figura 51 — Perfil de perturbación Tld(t)</a:t>
            </a:r>
          </a:p>
        </p:txBody>
      </p:sp>
      <p:sp>
        <p:nvSpPr>
          <p:cNvPr id="10" name="TextBox 9"/>
          <p:cNvSpPr txBox="1"/>
          <p:nvPr/>
        </p:nvSpPr>
        <p:spPr>
          <a:xfrm>
            <a:off x="457200" y="2697480"/>
            <a:ext cx="39319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4754880" y="1444752"/>
            <a:ext cx="713232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46320" y="2313432"/>
            <a:ext cx="6949440" cy="548640"/>
          </a:xfrm>
          <a:prstGeom prst="rect">
            <a:avLst/>
          </a:prstGeom>
          <a:noFill/>
        </p:spPr>
        <p:txBody>
          <a:bodyPr wrap="square">
            <a:spAutoFit/>
          </a:bodyPr>
          <a:lstStyle/>
          <a:p>
            <a:pPr algn="ctr"/>
            <a:r>
              <a:rPr sz="1100" b="1">
                <a:solidFill>
                  <a:srgbClr val="C35A00"/>
                </a:solidFill>
                <a:latin typeface="Calibri"/>
              </a:rPr>
              <a:t>🖼  FIGURA: Figura 52 — Respuesta de θm(t) con error de estado estacionario frente a Tld</a:t>
            </a:r>
          </a:p>
        </p:txBody>
      </p:sp>
      <p:sp>
        <p:nvSpPr>
          <p:cNvPr id="13" name="TextBox 12"/>
          <p:cNvSpPr txBox="1"/>
          <p:nvPr/>
        </p:nvSpPr>
        <p:spPr>
          <a:xfrm>
            <a:off x="4846320" y="2697480"/>
            <a:ext cx="694944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3858768"/>
            <a:ext cx="11430000" cy="347472"/>
          </a:xfrm>
          <a:prstGeom prst="rect">
            <a:avLst/>
          </a:prstGeom>
          <a:noFill/>
        </p:spPr>
        <p:txBody>
          <a:bodyPr wrap="square">
            <a:spAutoFit/>
          </a:bodyPr>
          <a:lstStyle/>
          <a:p>
            <a:pPr algn="l"/>
            <a:r>
              <a:rPr sz="1400" b="1" i="0">
                <a:solidFill>
                  <a:srgbClr val="1A3A6B"/>
                </a:solidFill>
                <a:latin typeface="Calibri"/>
              </a:rPr>
              <a:t>Análisis de resultados:</a:t>
            </a:r>
          </a:p>
        </p:txBody>
      </p:sp>
      <p:sp>
        <p:nvSpPr>
          <p:cNvPr id="15" name="TextBox 14"/>
          <p:cNvSpPr txBox="1"/>
          <p:nvPr/>
        </p:nvSpPr>
        <p:spPr>
          <a:xfrm>
            <a:off x="365760" y="4270248"/>
            <a:ext cx="11430000" cy="2331720"/>
          </a:xfrm>
          <a:prstGeom prst="rect">
            <a:avLst/>
          </a:prstGeom>
          <a:noFill/>
        </p:spPr>
        <p:txBody>
          <a:bodyPr wrap="square">
            <a:spAutoFit/>
          </a:bodyPr>
          <a:lstStyle/>
          <a:p>
            <a:r>
              <a:rPr sz="1350">
                <a:solidFill>
                  <a:srgbClr val="1A1A2E"/>
                </a:solidFill>
                <a:latin typeface="Calibri"/>
              </a:rPr>
              <a:t>El controlador compensa eficazmente la variación de carga — el error transitorio es acotado y rápidamente amortiguado</a:t>
            </a:r>
          </a:p>
          <a:p>
            <a:pPr>
              <a:spcBef>
                <a:spcPts val="400"/>
              </a:spcBef>
            </a:pPr>
            <a:r>
              <a:rPr sz="1350">
                <a:solidFill>
                  <a:srgbClr val="1A1A2E"/>
                </a:solidFill>
                <a:latin typeface="Calibri"/>
              </a:rPr>
              <a:t>Aparece un error de estado estacionario frente a Tld constante — el observador básico no tiene acción integral</a:t>
            </a:r>
          </a:p>
          <a:p>
            <a:pPr>
              <a:spcBef>
                <a:spcPts val="400"/>
              </a:spcBef>
            </a:pPr>
            <a:r>
              <a:rPr sz="1350">
                <a:solidFill>
                  <a:srgbClr val="1A1A2E"/>
                </a:solidFill>
                <a:latin typeface="Calibri"/>
              </a:rPr>
              <a:t>La señal estimada sigue consistentemente la posición real sin discrepancias significativas</a:t>
            </a:r>
          </a:p>
          <a:p>
            <a:pPr>
              <a:spcBef>
                <a:spcPts val="400"/>
              </a:spcBef>
            </a:pPr>
            <a:r>
              <a:rPr sz="1350">
                <a:solidFill>
                  <a:srgbClr val="1A1A2E"/>
                </a:solidFill>
                <a:latin typeface="Calibri"/>
              </a:rPr>
              <a:t>El instante t=10s (cambio de signo de la carga) genera el transitorio más exigente</a:t>
            </a:r>
          </a:p>
          <a:p>
            <a:pPr>
              <a:spcBef>
                <a:spcPts val="400"/>
              </a:spcBef>
            </a:pPr>
            <a:r>
              <a:rPr sz="1350" b="0">
                <a:solidFill>
                  <a:srgbClr val="C35A00"/>
                </a:solidFill>
                <a:latin typeface="Calibri"/>
              </a:rPr>
              <a:t>→  Solución: incorporar acción integral al observador para eliminar el error estacionario (Sección 4.5.2)</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Reemplazando la consigna de posición trapezoidal brusca por un perfil de velocidad trapezoidal suavizado, se obtienen transitorios compatibles con los límites físicos del sistema:</a:t>
            </a:r>
          </a:p>
        </p:txBody>
      </p:sp>
      <p:sp>
        <p:nvSpPr>
          <p:cNvPr id="8" name="Rectangle 7"/>
          <p:cNvSpPr/>
          <p:nvPr/>
        </p:nvSpPr>
        <p:spPr>
          <a:xfrm>
            <a:off x="365760" y="1444752"/>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313432"/>
            <a:ext cx="5303520" cy="548640"/>
          </a:xfrm>
          <a:prstGeom prst="rect">
            <a:avLst/>
          </a:prstGeom>
          <a:noFill/>
        </p:spPr>
        <p:txBody>
          <a:bodyPr wrap="square">
            <a:spAutoFit/>
          </a:bodyPr>
          <a:lstStyle/>
          <a:p>
            <a:pPr algn="ctr"/>
            <a:r>
              <a:rPr sz="1100" b="1">
                <a:solidFill>
                  <a:srgbClr val="C35A00"/>
                </a:solidFill>
                <a:latin typeface="Calibri"/>
              </a:rPr>
              <a:t>🖼  FIGURA: Figuras 53-54 — Perfil de velocidad ωm*(t) y seguimiento de velocidad angular</a:t>
            </a:r>
          </a:p>
        </p:txBody>
      </p:sp>
      <p:sp>
        <p:nvSpPr>
          <p:cNvPr id="10" name="TextBox 9"/>
          <p:cNvSpPr txBox="1"/>
          <p:nvPr/>
        </p:nvSpPr>
        <p:spPr>
          <a:xfrm>
            <a:off x="457200" y="2697480"/>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6126480" y="1444752"/>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2313432"/>
            <a:ext cx="5303520" cy="548640"/>
          </a:xfrm>
          <a:prstGeom prst="rect">
            <a:avLst/>
          </a:prstGeom>
          <a:noFill/>
        </p:spPr>
        <p:txBody>
          <a:bodyPr wrap="square">
            <a:spAutoFit/>
          </a:bodyPr>
          <a:lstStyle/>
          <a:p>
            <a:pPr algn="ctr"/>
            <a:r>
              <a:rPr sz="1100" b="1">
                <a:solidFill>
                  <a:srgbClr val="C35A00"/>
                </a:solidFill>
                <a:latin typeface="Calibri"/>
              </a:rPr>
              <a:t>🖼  FIGURA: Figuras 55-58 — θm(t), detalle posición, Tm(t), iabc(t)</a:t>
            </a:r>
          </a:p>
        </p:txBody>
      </p:sp>
      <p:sp>
        <p:nvSpPr>
          <p:cNvPr id="13" name="TextBox 12"/>
          <p:cNvSpPr txBox="1"/>
          <p:nvPr/>
        </p:nvSpPr>
        <p:spPr>
          <a:xfrm>
            <a:off x="6217920" y="2697480"/>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Rectangle 13"/>
          <p:cNvSpPr/>
          <p:nvPr/>
        </p:nvSpPr>
        <p:spPr>
          <a:xfrm>
            <a:off x="365760" y="3840480"/>
            <a:ext cx="11430000" cy="219456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663440"/>
            <a:ext cx="11247120" cy="548640"/>
          </a:xfrm>
          <a:prstGeom prst="rect">
            <a:avLst/>
          </a:prstGeom>
          <a:noFill/>
        </p:spPr>
        <p:txBody>
          <a:bodyPr wrap="square">
            <a:spAutoFit/>
          </a:bodyPr>
          <a:lstStyle/>
          <a:p>
            <a:pPr algn="ctr"/>
            <a:r>
              <a:rPr sz="1100" b="1">
                <a:solidFill>
                  <a:srgbClr val="C35A00"/>
                </a:solidFill>
                <a:latin typeface="Calibri"/>
              </a:rPr>
              <a:t>🖼  FIGURA: Figuras 59-60 — Tensiones vabc(t) y temperatura Ts°(t)
Ts &lt; 41°C (fue 56°C con consigna trapezoidal de posición)</a:t>
            </a:r>
          </a:p>
        </p:txBody>
      </p:sp>
      <p:sp>
        <p:nvSpPr>
          <p:cNvPr id="16" name="TextBox 15"/>
          <p:cNvSpPr txBox="1"/>
          <p:nvPr/>
        </p:nvSpPr>
        <p:spPr>
          <a:xfrm>
            <a:off x="457200" y="504748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Para anular el error de estado estacionario ante perturbaciones Tld constantes, se incorpora una variable de estado xI(t) que integra el error de estimación:</a:t>
            </a:r>
          </a:p>
        </p:txBody>
      </p:sp>
      <p:sp>
        <p:nvSpPr>
          <p:cNvPr id="8" name="Rectangle 7"/>
          <p:cNvSpPr/>
          <p:nvPr/>
        </p:nvSpPr>
        <p:spPr>
          <a:xfrm>
            <a:off x="365760" y="144475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7589520" cy="475488"/>
          </a:xfrm>
          <a:prstGeom prst="rect">
            <a:avLst/>
          </a:prstGeom>
          <a:noFill/>
        </p:spPr>
        <p:txBody>
          <a:bodyPr wrap="square">
            <a:spAutoFit/>
          </a:bodyPr>
          <a:lstStyle/>
          <a:p>
            <a:pPr algn="ctr"/>
            <a:r>
              <a:rPr sz="1100" b="1">
                <a:solidFill>
                  <a:srgbClr val="1B6B2A"/>
                </a:solidFill>
                <a:latin typeface="Calibri"/>
              </a:rPr>
              <a:t>📐  ECUACIÓN: ẋI(t) = θm(t) − θ̃m(t)     (integración del error de estimación de posición)</a:t>
            </a:r>
          </a:p>
        </p:txBody>
      </p:sp>
      <p:sp>
        <p:nvSpPr>
          <p:cNvPr id="10" name="Rectangle 9"/>
          <p:cNvSpPr/>
          <p:nvPr/>
        </p:nvSpPr>
        <p:spPr>
          <a:xfrm>
            <a:off x="365760" y="1984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1984248"/>
            <a:ext cx="7589520" cy="475488"/>
          </a:xfrm>
          <a:prstGeom prst="rect">
            <a:avLst/>
          </a:prstGeom>
          <a:noFill/>
        </p:spPr>
        <p:txBody>
          <a:bodyPr wrap="square">
            <a:spAutoFit/>
          </a:bodyPr>
          <a:lstStyle/>
          <a:p>
            <a:pPr algn="ctr"/>
            <a:r>
              <a:rPr sz="1100" b="1">
                <a:solidFill>
                  <a:srgbClr val="1B6B2A"/>
                </a:solidFill>
                <a:latin typeface="Calibri"/>
              </a:rPr>
              <a:t>📐  ECUACIÓN: uI(t) = Jeq·ki·xI(t)     (acción integral sobre la dinámica del observador)</a:t>
            </a:r>
          </a:p>
        </p:txBody>
      </p:sp>
      <p:sp>
        <p:nvSpPr>
          <p:cNvPr id="12" name="Rectangle 11"/>
          <p:cNvSpPr/>
          <p:nvPr/>
        </p:nvSpPr>
        <p:spPr>
          <a:xfrm>
            <a:off x="365760" y="2523744"/>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523744"/>
            <a:ext cx="7589520" cy="475488"/>
          </a:xfrm>
          <a:prstGeom prst="rect">
            <a:avLst/>
          </a:prstGeom>
          <a:noFill/>
        </p:spPr>
        <p:txBody>
          <a:bodyPr wrap="square">
            <a:spAutoFit/>
          </a:bodyPr>
          <a:lstStyle/>
          <a:p>
            <a:pPr algn="ctr"/>
            <a:r>
              <a:rPr sz="1100" b="1">
                <a:solidFill>
                  <a:srgbClr val="1B6B2A"/>
                </a:solidFill>
                <a:latin typeface="Calibri"/>
              </a:rPr>
              <a:t>📐  ECUACIÓN: Polos deseados: p₁,₂,₃ = −3200 rad/s     →     pd(s) = (s+3200)³</a:t>
            </a:r>
          </a:p>
        </p:txBody>
      </p:sp>
      <p:sp>
        <p:nvSpPr>
          <p:cNvPr id="14" name="Rectangle 13"/>
          <p:cNvSpPr/>
          <p:nvPr/>
        </p:nvSpPr>
        <p:spPr>
          <a:xfrm>
            <a:off x="365760" y="306324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063240"/>
            <a:ext cx="7589520" cy="475488"/>
          </a:xfrm>
          <a:prstGeom prst="rect">
            <a:avLst/>
          </a:prstGeom>
          <a:noFill/>
        </p:spPr>
        <p:txBody>
          <a:bodyPr wrap="square">
            <a:spAutoFit/>
          </a:bodyPr>
          <a:lstStyle/>
          <a:p>
            <a:pPr algn="ctr"/>
            <a:r>
              <a:rPr sz="1100" b="1">
                <a:solidFill>
                  <a:srgbClr val="1B6B2A"/>
                </a:solidFill>
                <a:latin typeface="Calibri"/>
              </a:rPr>
              <a:t>📐  ECUACIÓN: kθ = 9600 rad/s   |   kω = 3.072×10⁷ rad²/s²   |   ki = 3.277×10¹⁰ rad³/s³</a:t>
            </a:r>
          </a:p>
        </p:txBody>
      </p:sp>
      <p:sp>
        <p:nvSpPr>
          <p:cNvPr id="16" name="Rectangle 15"/>
          <p:cNvSpPr/>
          <p:nvPr/>
        </p:nvSpPr>
        <p:spPr>
          <a:xfrm>
            <a:off x="8412480" y="777240"/>
            <a:ext cx="3566160" cy="27432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03919" y="1874520"/>
            <a:ext cx="3383279" cy="548640"/>
          </a:xfrm>
          <a:prstGeom prst="rect">
            <a:avLst/>
          </a:prstGeom>
          <a:noFill/>
        </p:spPr>
        <p:txBody>
          <a:bodyPr wrap="square">
            <a:spAutoFit/>
          </a:bodyPr>
          <a:lstStyle/>
          <a:p>
            <a:pPr algn="ctr"/>
            <a:r>
              <a:rPr sz="1100" b="1">
                <a:solidFill>
                  <a:srgbClr val="C35A00"/>
                </a:solidFill>
                <a:latin typeface="Calibri"/>
              </a:rPr>
              <a:t>🖼  FIGURA: Figura 61 — Diagrama de bloques del observador aumentado con acción integral</a:t>
            </a:r>
          </a:p>
        </p:txBody>
      </p:sp>
      <p:sp>
        <p:nvSpPr>
          <p:cNvPr id="18" name="TextBox 17"/>
          <p:cNvSpPr txBox="1"/>
          <p:nvPr/>
        </p:nvSpPr>
        <p:spPr>
          <a:xfrm>
            <a:off x="8503919" y="22585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Rectangle 18"/>
          <p:cNvSpPr/>
          <p:nvPr/>
        </p:nvSpPr>
        <p:spPr>
          <a:xfrm>
            <a:off x="365760" y="3703320"/>
            <a:ext cx="11430000" cy="242316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640580"/>
            <a:ext cx="11247120" cy="548640"/>
          </a:xfrm>
          <a:prstGeom prst="rect">
            <a:avLst/>
          </a:prstGeom>
          <a:noFill/>
        </p:spPr>
        <p:txBody>
          <a:bodyPr wrap="square">
            <a:spAutoFit/>
          </a:bodyPr>
          <a:lstStyle/>
          <a:p>
            <a:pPr algn="ctr"/>
            <a:r>
              <a:rPr sz="1100" b="1">
                <a:solidFill>
                  <a:srgbClr val="C35A00"/>
                </a:solidFill>
                <a:latin typeface="Calibri"/>
              </a:rPr>
              <a:t>🖼  FIGURA: Figura 62 — θm(t) con observador aumentado: error de estado estacionario → 0
(detalle en t=10s con perturbación)</a:t>
            </a:r>
          </a:p>
        </p:txBody>
      </p:sp>
      <p:sp>
        <p:nvSpPr>
          <p:cNvPr id="21" name="TextBox 20"/>
          <p:cNvSpPr txBox="1"/>
          <p:nvPr/>
        </p:nvSpPr>
        <p:spPr>
          <a:xfrm>
            <a:off x="457200" y="502462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Se analiza la evolución de Ts° durante 300–600 s de operación cíclica continua con consigna de velocidad trapezoidal. Temperatura ambiente inicial: 25°C.</a:t>
            </a:r>
          </a:p>
        </p:txBody>
      </p:sp>
      <p:sp>
        <p:nvSpPr>
          <p:cNvPr id="8" name="Rectangle 7"/>
          <p:cNvSpPr/>
          <p:nvPr/>
        </p:nvSpPr>
        <p:spPr>
          <a:xfrm>
            <a:off x="365760" y="1444752"/>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450592"/>
            <a:ext cx="3474720" cy="548640"/>
          </a:xfrm>
          <a:prstGeom prst="rect">
            <a:avLst/>
          </a:prstGeom>
          <a:noFill/>
        </p:spPr>
        <p:txBody>
          <a:bodyPr wrap="square">
            <a:spAutoFit/>
          </a:bodyPr>
          <a:lstStyle/>
          <a:p>
            <a:pPr algn="ctr"/>
            <a:r>
              <a:rPr sz="1100" b="1">
                <a:solidFill>
                  <a:srgbClr val="C35A00"/>
                </a:solidFill>
                <a:latin typeface="Calibri"/>
              </a:rPr>
              <a:t>🖼  FIGURA: Figura 63 — Ts°(t) durante 300 s (≈20 ciclos) SIN perturbación Tld
Ts &lt; 48°C  &lt;&lt;  Ts,max = 115°C  ✓  Operación térmica segura</a:t>
            </a:r>
          </a:p>
        </p:txBody>
      </p:sp>
      <p:sp>
        <p:nvSpPr>
          <p:cNvPr id="10" name="TextBox 9"/>
          <p:cNvSpPr txBox="1"/>
          <p:nvPr/>
        </p:nvSpPr>
        <p:spPr>
          <a:xfrm>
            <a:off x="457200" y="2834640"/>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4251960" y="1444752"/>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43400" y="2450592"/>
            <a:ext cx="3474720" cy="548640"/>
          </a:xfrm>
          <a:prstGeom prst="rect">
            <a:avLst/>
          </a:prstGeom>
          <a:noFill/>
        </p:spPr>
        <p:txBody>
          <a:bodyPr wrap="square">
            <a:spAutoFit/>
          </a:bodyPr>
          <a:lstStyle/>
          <a:p>
            <a:pPr algn="ctr"/>
            <a:r>
              <a:rPr sz="1100" b="1">
                <a:solidFill>
                  <a:srgbClr val="C35A00"/>
                </a:solidFill>
                <a:latin typeface="Calibri"/>
              </a:rPr>
              <a:t>🖼  FIGURA: Figura 64 — Ts°(t) CON perturbación cíclica Tld
Ts sube y se estabiliza ~500 s (30 ciclos) — cerca del límite pero sin superarlo</a:t>
            </a:r>
          </a:p>
        </p:txBody>
      </p:sp>
      <p:sp>
        <p:nvSpPr>
          <p:cNvPr id="13" name="TextBox 12"/>
          <p:cNvSpPr txBox="1"/>
          <p:nvPr/>
        </p:nvSpPr>
        <p:spPr>
          <a:xfrm>
            <a:off x="4343400" y="2834640"/>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Rectangle 13"/>
          <p:cNvSpPr/>
          <p:nvPr/>
        </p:nvSpPr>
        <p:spPr>
          <a:xfrm>
            <a:off x="8503920" y="1444752"/>
            <a:ext cx="347472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0" y="2450592"/>
            <a:ext cx="3291839" cy="548640"/>
          </a:xfrm>
          <a:prstGeom prst="rect">
            <a:avLst/>
          </a:prstGeom>
          <a:noFill/>
        </p:spPr>
        <p:txBody>
          <a:bodyPr wrap="square">
            <a:spAutoFit/>
          </a:bodyPr>
          <a:lstStyle/>
          <a:p>
            <a:pPr algn="ctr"/>
            <a:r>
              <a:rPr sz="1100" b="1">
                <a:solidFill>
                  <a:srgbClr val="C35A00"/>
                </a:solidFill>
                <a:latin typeface="Calibri"/>
              </a:rPr>
              <a:t>🖼  FIGURA: Figura 65 — Ts°(t) con ml=1.5 kg (carga máxima)
Ts SUPERA Ts,max = 115°C  ⚠  Condición de riesgo</a:t>
            </a:r>
          </a:p>
        </p:txBody>
      </p:sp>
      <p:sp>
        <p:nvSpPr>
          <p:cNvPr id="16" name="TextBox 15"/>
          <p:cNvSpPr txBox="1"/>
          <p:nvPr/>
        </p:nvSpPr>
        <p:spPr>
          <a:xfrm>
            <a:off x="8595360" y="2834640"/>
            <a:ext cx="329183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TextBox 16"/>
          <p:cNvSpPr txBox="1"/>
          <p:nvPr/>
        </p:nvSpPr>
        <p:spPr>
          <a:xfrm>
            <a:off x="365760" y="4160520"/>
            <a:ext cx="11430000" cy="347472"/>
          </a:xfrm>
          <a:prstGeom prst="rect">
            <a:avLst/>
          </a:prstGeom>
          <a:noFill/>
        </p:spPr>
        <p:txBody>
          <a:bodyPr wrap="square">
            <a:spAutoFit/>
          </a:bodyPr>
          <a:lstStyle/>
          <a:p>
            <a:pPr algn="l"/>
            <a:r>
              <a:rPr sz="1400" b="1" i="0">
                <a:solidFill>
                  <a:srgbClr val="1A3A6B"/>
                </a:solidFill>
                <a:latin typeface="Calibri"/>
              </a:rPr>
              <a:t>Conclusiones y acciones correctivas:</a:t>
            </a:r>
          </a:p>
        </p:txBody>
      </p:sp>
      <p:sp>
        <p:nvSpPr>
          <p:cNvPr id="18" name="TextBox 17"/>
          <p:cNvSpPr txBox="1"/>
          <p:nvPr/>
        </p:nvSpPr>
        <p:spPr>
          <a:xfrm>
            <a:off x="365760" y="4572000"/>
            <a:ext cx="11430000" cy="1965960"/>
          </a:xfrm>
          <a:prstGeom prst="rect">
            <a:avLst/>
          </a:prstGeom>
          <a:noFill/>
        </p:spPr>
        <p:txBody>
          <a:bodyPr wrap="square">
            <a:spAutoFit/>
          </a:bodyPr>
          <a:lstStyle/>
          <a:p>
            <a:r>
              <a:rPr sz="1350">
                <a:solidFill>
                  <a:srgbClr val="1A1A2E"/>
                </a:solidFill>
                <a:latin typeface="Calibri"/>
              </a:rPr>
              <a:t>Sin carga extra: operación térmica segura en todo el rango analizado</a:t>
            </a:r>
          </a:p>
          <a:p>
            <a:pPr>
              <a:spcBef>
                <a:spcPts val="400"/>
              </a:spcBef>
            </a:pPr>
            <a:r>
              <a:rPr sz="1350">
                <a:solidFill>
                  <a:srgbClr val="1A1A2E"/>
                </a:solidFill>
                <a:latin typeface="Calibri"/>
              </a:rPr>
              <a:t>Con perturbación cíclica Tld: la temperatura llega cerca del límite tras 30 ciclos → monitoreo necesario</a:t>
            </a:r>
          </a:p>
          <a:p>
            <a:pPr>
              <a:spcBef>
                <a:spcPts val="400"/>
              </a:spcBef>
            </a:pPr>
            <a:r>
              <a:rPr sz="1350" b="0">
                <a:solidFill>
                  <a:srgbClr val="C35A00"/>
                </a:solidFill>
                <a:latin typeface="Calibri"/>
              </a:rPr>
              <a:t>Con ml=1.5 kg (carga máxima + perturbación): Ts supera 115°C → necesaria acción correctiva</a:t>
            </a:r>
          </a:p>
          <a:p>
            <a:pPr>
              <a:spcBef>
                <a:spcPts val="400"/>
              </a:spcBef>
            </a:pPr>
            <a:r>
              <a:rPr sz="1350">
                <a:solidFill>
                  <a:srgbClr val="1A1A2E"/>
                </a:solidFill>
                <a:latin typeface="Calibri"/>
              </a:rPr>
              <a:t>Alternativas: reducir la consigna de velocidad, limitar la corriente por protección térmica, o incorporar refrigeración forzada</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365760" y="777240"/>
            <a:ext cx="11430000" cy="411480"/>
          </a:xfrm>
          <a:prstGeom prst="rect">
            <a:avLst/>
          </a:prstGeom>
          <a:noFill/>
        </p:spPr>
        <p:txBody>
          <a:bodyPr wrap="square">
            <a:spAutoFit/>
          </a:bodyPr>
          <a:lstStyle/>
          <a:p>
            <a:pPr algn="l"/>
            <a:r>
              <a:rPr sz="1400" b="0" i="0">
                <a:solidFill>
                  <a:srgbClr val="1A1A2E"/>
                </a:solidFill>
                <a:latin typeface="Calibri"/>
              </a:rPr>
              <a:t>Los sensores reales tienen ancho de banda finito. Se modelan como filtros LP con ganancia unitaria:</a:t>
            </a:r>
          </a:p>
        </p:txBody>
      </p:sp>
      <p:graphicFrame>
        <p:nvGraphicFramePr>
          <p:cNvPr id="8" name="Table 7"/>
          <p:cNvGraphicFramePr>
            <a:graphicFrameLocks noGrp="1"/>
          </p:cNvGraphicFramePr>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sz="1200">
                          <a:latin typeface="Calibri"/>
                        </a:rPr>
                        <a:t>Posición θm</a:t>
                      </a:r>
                    </a:p>
                  </a:txBody>
                  <a:tcPr/>
                </a:tc>
                <a:tc>
                  <a:txBody>
                    <a:bodyPr/>
                    <a:lstStyle/>
                    <a:p>
                      <a:r>
                        <a:rPr sz="1200">
                          <a:latin typeface="Calibri"/>
                        </a:rPr>
                        <a:t>LP 2° orden, ζ=1</a:t>
                      </a:r>
                    </a:p>
                  </a:txBody>
                  <a:tcPr/>
                </a:tc>
                <a:tc>
                  <a:txBody>
                    <a:bodyPr/>
                    <a:lstStyle/>
                    <a:p>
                      <a:r>
                        <a:rPr sz="1200">
                          <a:latin typeface="Calibri"/>
                        </a:rPr>
                        <a:t>ωn = 2000 rad/s</a:t>
                      </a:r>
                    </a:p>
                  </a:txBody>
                  <a:tcPr/>
                </a:tc>
                <a:tc>
                  <a:txBody>
                    <a:bodyPr/>
                    <a:lstStyle/>
                    <a:p>
                      <a:r>
                        <a:rPr sz="1200">
                          <a:latin typeface="Calibri"/>
                        </a:rPr>
                        <a:t>ωn = 6000 rad/s</a:t>
                      </a:r>
                    </a:p>
                  </a:txBody>
                  <a:tcPr/>
                </a:tc>
                <a:extLst>
                  <a:ext uri="{0D108BD9-81ED-4DB2-BD59-A6C34878D82A}">
                    <a16:rowId xmlns:a16="http://schemas.microsoft.com/office/drawing/2014/main" val="10001"/>
                  </a:ext>
                </a:extLst>
              </a:tr>
              <a:tr h="434340">
                <a:tc>
                  <a:txBody>
                    <a:bodyPr/>
                    <a:lstStyle/>
                    <a:p>
                      <a:r>
                        <a:rPr sz="1200">
                          <a:latin typeface="Calibri"/>
                        </a:rPr>
                        <a:t>Corrientes iabc</a:t>
                      </a:r>
                    </a:p>
                  </a:txBody>
                  <a:tcPr>
                    <a:solidFill>
                      <a:srgbClr val="F0F4F8"/>
                    </a:solidFill>
                  </a:tcPr>
                </a:tc>
                <a:tc>
                  <a:txBody>
                    <a:bodyPr/>
                    <a:lstStyle/>
                    <a:p>
                      <a:r>
                        <a:rPr sz="1200">
                          <a:latin typeface="Calibri"/>
                        </a:rPr>
                        <a:t>LP 2° orden, ζ=1</a:t>
                      </a:r>
                    </a:p>
                  </a:txBody>
                  <a:tcPr>
                    <a:solidFill>
                      <a:srgbClr val="F0F4F8"/>
                    </a:solidFill>
                  </a:tcPr>
                </a:tc>
                <a:tc>
                  <a:txBody>
                    <a:bodyPr/>
                    <a:lstStyle/>
                    <a:p>
                      <a:r>
                        <a:rPr sz="1200">
                          <a:latin typeface="Calibri"/>
                        </a:rPr>
                        <a:t>ωn = 6000 rad/s</a:t>
                      </a:r>
                    </a:p>
                  </a:txBody>
                  <a:tcPr>
                    <a:solidFill>
                      <a:srgbClr val="F0F4F8"/>
                    </a:solidFill>
                  </a:tcPr>
                </a:tc>
                <a:tc>
                  <a:txBody>
                    <a:bodyPr/>
                    <a:lstStyle/>
                    <a:p>
                      <a:r>
                        <a:rPr sz="1200">
                          <a:latin typeface="Calibri"/>
                        </a:rPr>
                        <a:t>ωn = 18000 rad/s</a:t>
                      </a:r>
                    </a:p>
                  </a:txBody>
                  <a:tcPr>
                    <a:solidFill>
                      <a:srgbClr val="F0F4F8"/>
                    </a:solidFill>
                  </a:tcPr>
                </a:tc>
                <a:extLst>
                  <a:ext uri="{0D108BD9-81ED-4DB2-BD59-A6C34878D82A}">
                    <a16:rowId xmlns:a16="http://schemas.microsoft.com/office/drawing/2014/main" val="10002"/>
                  </a:ext>
                </a:extLst>
              </a:tr>
              <a:tr h="434340">
                <a:tc>
                  <a:txBody>
                    <a:bodyPr/>
                    <a:lstStyle/>
                    <a:p>
                      <a:r>
                        <a:rPr sz="1200">
                          <a:latin typeface="Calibri"/>
                        </a:rPr>
                        <a:t>Temperatura Ts°</a:t>
                      </a:r>
                    </a:p>
                  </a:txBody>
                  <a:tcPr/>
                </a:tc>
                <a:tc>
                  <a:txBody>
                    <a:bodyPr/>
                    <a:lstStyle/>
                    <a:p>
                      <a:r>
                        <a:rPr sz="1200">
                          <a:latin typeface="Calibri"/>
                        </a:rPr>
                        <a:t>LP 1° orden</a:t>
                      </a:r>
                    </a:p>
                  </a:txBody>
                  <a:tcPr/>
                </a:tc>
                <a:tc>
                  <a:txBody>
                    <a:bodyPr/>
                    <a:lstStyle/>
                    <a:p>
                      <a:r>
                        <a:rPr sz="1200">
                          <a:latin typeface="Calibri"/>
                        </a:rPr>
                        <a:t>τ = 20 s</a:t>
                      </a:r>
                    </a:p>
                  </a:txBody>
                  <a:tcPr/>
                </a:tc>
                <a:tc>
                  <a:txBody>
                    <a:bodyPr/>
                    <a:lstStyle/>
                    <a:p>
                      <a:r>
                        <a:rPr sz="1200">
                          <a:latin typeface="Calibri"/>
                        </a:rPr>
                        <a:t>τ = 0.05 s</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365760" y="3127248"/>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3127248"/>
            <a:ext cx="11247120" cy="475488"/>
          </a:xfrm>
          <a:prstGeom prst="rect">
            <a:avLst/>
          </a:prstGeom>
          <a:noFill/>
        </p:spPr>
        <p:txBody>
          <a:bodyPr wrap="square">
            <a:spAutoFit/>
          </a:bodyPr>
          <a:lstStyle/>
          <a:p>
            <a:pPr algn="ctr"/>
            <a:r>
              <a:rPr sz="1100" b="1">
                <a:solidFill>
                  <a:srgbClr val="1B6B2A"/>
                </a:solidFill>
                <a:latin typeface="Calibri"/>
              </a:rPr>
              <a:t>📐  ECUACIÓN: G_LP2(s) = ωn² / (s² + 2ζωn·s + ωn²)     |     G_LP1(s) = 1/(τs+1)</a:t>
            </a:r>
          </a:p>
        </p:txBody>
      </p:sp>
      <p:sp>
        <p:nvSpPr>
          <p:cNvPr id="11" name="Rectangle 10"/>
          <p:cNvSpPr/>
          <p:nvPr/>
        </p:nvSpPr>
        <p:spPr>
          <a:xfrm>
            <a:off x="365760" y="3703320"/>
            <a:ext cx="11430000" cy="169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4274820"/>
            <a:ext cx="11247120" cy="548640"/>
          </a:xfrm>
          <a:prstGeom prst="rect">
            <a:avLst/>
          </a:prstGeom>
          <a:noFill/>
        </p:spPr>
        <p:txBody>
          <a:bodyPr wrap="square">
            <a:spAutoFit/>
          </a:bodyPr>
          <a:lstStyle/>
          <a:p>
            <a:pPr algn="ctr"/>
            <a:r>
              <a:rPr sz="1100" b="1">
                <a:solidFill>
                  <a:srgbClr val="C35A00"/>
                </a:solidFill>
                <a:latin typeface="Calibri"/>
              </a:rPr>
              <a:t>🖼  FIGURA: Figuras 68-78 — Comparación respuesta con distintos ωn (posición, corriente) y τ (temperatura)
(ωn=2000/4000/6000 para posición; ωn=6000/12000/18000 para corriente; τ=20/5/0.5/0.05 s para temperatura)</a:t>
            </a:r>
          </a:p>
        </p:txBody>
      </p:sp>
      <p:sp>
        <p:nvSpPr>
          <p:cNvPr id="13" name="TextBox 12"/>
          <p:cNvSpPr txBox="1"/>
          <p:nvPr/>
        </p:nvSpPr>
        <p:spPr>
          <a:xfrm>
            <a:off x="457200" y="465886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5532120"/>
            <a:ext cx="11430000" cy="1005840"/>
          </a:xfrm>
          <a:prstGeom prst="rect">
            <a:avLst/>
          </a:prstGeom>
          <a:noFill/>
        </p:spPr>
        <p:txBody>
          <a:bodyPr wrap="square">
            <a:spAutoFit/>
          </a:bodyPr>
          <a:lstStyle/>
          <a:p>
            <a:r>
              <a:rPr sz="1350">
                <a:solidFill>
                  <a:srgbClr val="1A1A2E"/>
                </a:solidFill>
                <a:latin typeface="Calibri"/>
              </a:rPr>
              <a:t>Posición: ωn ≥ 6000 rad/s no muestra diferencias apreciables → no se requiere mayor resolución</a:t>
            </a:r>
          </a:p>
          <a:p>
            <a:pPr>
              <a:spcBef>
                <a:spcPts val="400"/>
              </a:spcBef>
            </a:pPr>
            <a:r>
              <a:rPr sz="1350">
                <a:solidFill>
                  <a:srgbClr val="1A1A2E"/>
                </a:solidFill>
                <a:latin typeface="Calibri"/>
              </a:rPr>
              <a:t>Corriente: ωn = 18000 rad/s ofrece buena respuesta sin necesidad de valores más altos</a:t>
            </a:r>
          </a:p>
          <a:p>
            <a:pPr>
              <a:spcBef>
                <a:spcPts val="400"/>
              </a:spcBef>
            </a:pPr>
            <a:r>
              <a:rPr sz="1350">
                <a:solidFill>
                  <a:srgbClr val="1A1A2E"/>
                </a:solidFill>
                <a:latin typeface="Calibri"/>
              </a:rPr>
              <a:t>Temperatura: variable más afectada; τ = 0.05 s necesario para rastrear señal; para detectar máximos τ puede ser mayor</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El modulador real (inversor PWM) presenta ancho de banda finito y saturación de tensión. Se modela como filtro LP 2° orden + saturación:</a:t>
            </a:r>
          </a:p>
        </p:txBody>
      </p:sp>
      <p:sp>
        <p:nvSpPr>
          <p:cNvPr id="8" name="Rectangle 7"/>
          <p:cNvSpPr/>
          <p:nvPr/>
        </p:nvSpPr>
        <p:spPr>
          <a:xfrm>
            <a:off x="365760" y="144475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7589520" cy="475488"/>
          </a:xfrm>
          <a:prstGeom prst="rect">
            <a:avLst/>
          </a:prstGeom>
          <a:noFill/>
        </p:spPr>
        <p:txBody>
          <a:bodyPr wrap="square">
            <a:spAutoFit/>
          </a:bodyPr>
          <a:lstStyle/>
          <a:p>
            <a:pPr algn="ctr"/>
            <a:r>
              <a:rPr sz="1100" b="1">
                <a:solidFill>
                  <a:srgbClr val="1B6B2A"/>
                </a:solidFill>
                <a:latin typeface="Calibri"/>
              </a:rPr>
              <a:t>📐  ECUACIÓN: Saturación de tensión de fase: |vas|,|vbs|,|vcs| ≤ (√2/√3)·Vsl,max = (√2/√3)·48 ≈ 39.2 V</a:t>
            </a:r>
          </a:p>
        </p:txBody>
      </p:sp>
      <p:sp>
        <p:nvSpPr>
          <p:cNvPr id="10" name="Rectangle 9"/>
          <p:cNvSpPr/>
          <p:nvPr/>
        </p:nvSpPr>
        <p:spPr>
          <a:xfrm>
            <a:off x="365760" y="1984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1984248"/>
            <a:ext cx="7589520" cy="475488"/>
          </a:xfrm>
          <a:prstGeom prst="rect">
            <a:avLst/>
          </a:prstGeom>
          <a:noFill/>
        </p:spPr>
        <p:txBody>
          <a:bodyPr wrap="square">
            <a:spAutoFit/>
          </a:bodyPr>
          <a:lstStyle/>
          <a:p>
            <a:pPr algn="ctr"/>
            <a:r>
              <a:rPr sz="1100" b="1">
                <a:solidFill>
                  <a:srgbClr val="1B6B2A"/>
                </a:solidFill>
                <a:latin typeface="Calibri"/>
              </a:rPr>
              <a:t>📐  ECUACIÓN: Dinámica del modulador: LP 2° orden, ζ=1  (mismo modelo que sensores de corriente)</a:t>
            </a:r>
          </a:p>
        </p:txBody>
      </p:sp>
      <p:sp>
        <p:nvSpPr>
          <p:cNvPr id="12" name="Rectangle 11"/>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81 — Diagrama Simulink del modulador trifásico no ideal (LP + saturación)</a:t>
            </a:r>
          </a:p>
        </p:txBody>
      </p:sp>
      <p:sp>
        <p:nvSpPr>
          <p:cNvPr id="14" name="TextBox 13"/>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Rectangle 14"/>
          <p:cNvSpPr/>
          <p:nvPr/>
        </p:nvSpPr>
        <p:spPr>
          <a:xfrm>
            <a:off x="365760" y="2606040"/>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474720"/>
            <a:ext cx="5303520" cy="548640"/>
          </a:xfrm>
          <a:prstGeom prst="rect">
            <a:avLst/>
          </a:prstGeom>
          <a:noFill/>
        </p:spPr>
        <p:txBody>
          <a:bodyPr wrap="square">
            <a:spAutoFit/>
          </a:bodyPr>
          <a:lstStyle/>
          <a:p>
            <a:pPr algn="ctr"/>
            <a:r>
              <a:rPr sz="1100" b="1">
                <a:solidFill>
                  <a:srgbClr val="C35A00"/>
                </a:solidFill>
                <a:latin typeface="Calibri"/>
              </a:rPr>
              <a:t>🖼  FIGURA: Figs. 82-87 — Con ωn=6000 rad/s: INESTABLE
La dinámica del modulador es insuficiente para las demandas del controlador</a:t>
            </a:r>
          </a:p>
        </p:txBody>
      </p:sp>
      <p:sp>
        <p:nvSpPr>
          <p:cNvPr id="17" name="TextBox 16"/>
          <p:cNvSpPr txBox="1"/>
          <p:nvPr/>
        </p:nvSpPr>
        <p:spPr>
          <a:xfrm>
            <a:off x="457200" y="38587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8" name="Rectangle 17"/>
          <p:cNvSpPr/>
          <p:nvPr/>
        </p:nvSpPr>
        <p:spPr>
          <a:xfrm>
            <a:off x="6126480" y="2606040"/>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3474720"/>
            <a:ext cx="5303520" cy="548640"/>
          </a:xfrm>
          <a:prstGeom prst="rect">
            <a:avLst/>
          </a:prstGeom>
          <a:noFill/>
        </p:spPr>
        <p:txBody>
          <a:bodyPr wrap="square">
            <a:spAutoFit/>
          </a:bodyPr>
          <a:lstStyle/>
          <a:p>
            <a:pPr algn="ctr"/>
            <a:r>
              <a:rPr sz="1100" b="1">
                <a:solidFill>
                  <a:srgbClr val="C35A00"/>
                </a:solidFill>
                <a:latin typeface="Calibri"/>
              </a:rPr>
              <a:t>🖼  FIGURA: Figs. 88-89 — Con ωn=18000 rad/s: ESTABLE
El modulador puede seguir las variaciones de tensión con mayor fidelidad</a:t>
            </a:r>
          </a:p>
        </p:txBody>
      </p:sp>
      <p:sp>
        <p:nvSpPr>
          <p:cNvPr id="20" name="TextBox 19"/>
          <p:cNvSpPr txBox="1"/>
          <p:nvPr/>
        </p:nvSpPr>
        <p:spPr>
          <a:xfrm>
            <a:off x="6217920" y="38587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21" name="TextBox 20"/>
          <p:cNvSpPr txBox="1"/>
          <p:nvPr/>
        </p:nvSpPr>
        <p:spPr>
          <a:xfrm>
            <a:off x="365760" y="5047488"/>
            <a:ext cx="11430000" cy="1463040"/>
          </a:xfrm>
          <a:prstGeom prst="rect">
            <a:avLst/>
          </a:prstGeom>
          <a:noFill/>
        </p:spPr>
        <p:txBody>
          <a:bodyPr wrap="square">
            <a:spAutoFit/>
          </a:bodyPr>
          <a:lstStyle/>
          <a:p>
            <a:r>
              <a:rPr sz="1350">
                <a:solidFill>
                  <a:srgbClr val="1A1A2E"/>
                </a:solidFill>
                <a:latin typeface="Calibri"/>
              </a:rPr>
              <a:t>La dinámica del modulador debe ser considerablemente más rápida que el resto del sistema</a:t>
            </a:r>
          </a:p>
          <a:p>
            <a:pPr>
              <a:spcBef>
                <a:spcPts val="400"/>
              </a:spcBef>
            </a:pPr>
            <a:r>
              <a:rPr sz="1350">
                <a:solidFill>
                  <a:srgbClr val="1A1A2E"/>
                </a:solidFill>
                <a:latin typeface="Calibri"/>
              </a:rPr>
              <a:t>ωn = 18000 rad/s logra desempeño adecuado en estas condiciones</a:t>
            </a:r>
          </a:p>
          <a:p>
            <a:pPr>
              <a:spcBef>
                <a:spcPts val="400"/>
              </a:spcBef>
            </a:pPr>
            <a:r>
              <a:rPr sz="1350">
                <a:solidFill>
                  <a:srgbClr val="1A1A2E"/>
                </a:solidFill>
                <a:latin typeface="Calibri"/>
              </a:rPr>
              <a:t>Con sensores no ideales: el modulador debe operar con frecuencia aún mayor para compensar</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7" name="Rectangle 6"/>
          <p:cNvSpPr/>
          <p:nvPr/>
        </p:nvSpPr>
        <p:spPr>
          <a:xfrm>
            <a:off x="365760" y="777240"/>
            <a:ext cx="114300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11247120" cy="548640"/>
          </a:xfrm>
          <a:prstGeom prst="rect">
            <a:avLst/>
          </a:prstGeom>
          <a:noFill/>
        </p:spPr>
        <p:txBody>
          <a:bodyPr wrap="square">
            <a:spAutoFit/>
          </a:bodyPr>
          <a:lstStyle/>
          <a:p>
            <a:pPr algn="ctr"/>
            <a:r>
              <a:rPr sz="1100" b="1">
                <a:solidFill>
                  <a:srgbClr val="C35A00"/>
                </a:solidFill>
                <a:latin typeface="Calibri"/>
              </a:rPr>
              <a:t>🖼  FIGURA: Figura 90 — Diagrama de bloques Simulink del sistema continuo completo
(todos los bloques integrados: set-point → obs. aumentado → PID → modulador torque → lazos corriente → modulador tensión → planta NL)</a:t>
            </a:r>
          </a:p>
        </p:txBody>
      </p:sp>
      <p:sp>
        <p:nvSpPr>
          <p:cNvPr id="9" name="TextBox 8"/>
          <p:cNvSpPr txBox="1"/>
          <p:nvPr/>
        </p:nvSpPr>
        <p:spPr>
          <a:xfrm>
            <a:off x="457200" y="193852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graphicFrame>
        <p:nvGraphicFramePr>
          <p:cNvPr id="10" name="Table 9"/>
          <p:cNvGraphicFramePr>
            <a:graphicFrameLocks noGrp="1"/>
          </p:cNvGraphicFramePr>
          <p:nvPr/>
        </p:nvGraphicFramePr>
        <p:xfrm>
          <a:off x="365760" y="3035808"/>
          <a:ext cx="11430000" cy="352044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440055">
                <a:tc>
                  <a:txBody>
                    <a:bodyPr/>
                    <a:lstStyle/>
                    <a:p>
                      <a:r>
                        <a:rPr sz="1200" b="1">
                          <a:solidFill>
                            <a:srgbClr val="FFFFFF"/>
                          </a:solidFill>
                          <a:latin typeface="Calibri"/>
                        </a:rPr>
                        <a:t>Bloque</a:t>
                      </a:r>
                    </a:p>
                  </a:txBody>
                  <a:tcPr>
                    <a:solidFill>
                      <a:srgbClr val="1A3A6B"/>
                    </a:solidFill>
                  </a:tcPr>
                </a:tc>
                <a:tc>
                  <a:txBody>
                    <a:bodyPr/>
                    <a:lstStyle/>
                    <a:p>
                      <a:r>
                        <a:rPr sz="1200" b="1">
                          <a:solidFill>
                            <a:srgbClr val="FFFFFF"/>
                          </a:solidFill>
                          <a:latin typeface="Calibri"/>
                        </a:rPr>
                        <a:t>Parámetros finales</a:t>
                      </a:r>
                    </a:p>
                  </a:txBody>
                  <a:tcPr>
                    <a:solidFill>
                      <a:srgbClr val="1A3A6B"/>
                    </a:solidFill>
                  </a:tcPr>
                </a:tc>
                <a:extLst>
                  <a:ext uri="{0D108BD9-81ED-4DB2-BD59-A6C34878D82A}">
                    <a16:rowId xmlns:a16="http://schemas.microsoft.com/office/drawing/2014/main" val="10000"/>
                  </a:ext>
                </a:extLst>
              </a:tr>
              <a:tr h="440055">
                <a:tc>
                  <a:txBody>
                    <a:bodyPr/>
                    <a:lstStyle/>
                    <a:p>
                      <a:r>
                        <a:rPr sz="1200">
                          <a:latin typeface="Calibri"/>
                        </a:rPr>
                        <a:t>PID externo</a:t>
                      </a:r>
                    </a:p>
                  </a:txBody>
                  <a:tcPr/>
                </a:tc>
                <a:tc>
                  <a:txBody>
                    <a:bodyPr/>
                    <a:lstStyle/>
                    <a:p>
                      <a:r>
                        <a:rPr sz="1200">
                          <a:latin typeface="Calibri"/>
                        </a:rPr>
                        <a:t>ba = 0.03957 N·m/(rad/s)   |   Ksa = 31.6556 N·m/rad   |   Ksia = 10129.78 N·m/(rad·s)</a:t>
                      </a:r>
                    </a:p>
                  </a:txBody>
                  <a:tcPr/>
                </a:tc>
                <a:extLst>
                  <a:ext uri="{0D108BD9-81ED-4DB2-BD59-A6C34878D82A}">
                    <a16:rowId xmlns:a16="http://schemas.microsoft.com/office/drawing/2014/main" val="10001"/>
                  </a:ext>
                </a:extLst>
              </a:tr>
              <a:tr h="440055">
                <a:tc>
                  <a:txBody>
                    <a:bodyPr/>
                    <a:lstStyle/>
                    <a:p>
                      <a:r>
                        <a:rPr sz="1200">
                          <a:latin typeface="Calibri"/>
                        </a:rPr>
                        <a:t>Observador aumentado</a:t>
                      </a:r>
                    </a:p>
                  </a:txBody>
                  <a:tcPr>
                    <a:solidFill>
                      <a:srgbClr val="F0F4F8"/>
                    </a:solidFill>
                  </a:tcPr>
                </a:tc>
                <a:tc>
                  <a:txBody>
                    <a:bodyPr/>
                    <a:lstStyle/>
                    <a:p>
                      <a:r>
                        <a:rPr sz="1200">
                          <a:latin typeface="Calibri"/>
                        </a:rPr>
                        <a:t>kθ = 9600 rad/s   |   kω = 3.072×10⁷ rad²/s²   |   ki = 3.277×10¹⁰ rad³/s³</a:t>
                      </a:r>
                    </a:p>
                  </a:txBody>
                  <a:tcPr>
                    <a:solidFill>
                      <a:srgbClr val="F0F4F8"/>
                    </a:solidFill>
                  </a:tcPr>
                </a:tc>
                <a:extLst>
                  <a:ext uri="{0D108BD9-81ED-4DB2-BD59-A6C34878D82A}">
                    <a16:rowId xmlns:a16="http://schemas.microsoft.com/office/drawing/2014/main" val="10002"/>
                  </a:ext>
                </a:extLst>
              </a:tr>
              <a:tr h="440055">
                <a:tc>
                  <a:txBody>
                    <a:bodyPr/>
                    <a:lstStyle/>
                    <a:p>
                      <a:r>
                        <a:rPr sz="1200">
                          <a:latin typeface="Calibri"/>
                        </a:rPr>
                        <a:t>Lazo de corriente</a:t>
                      </a:r>
                    </a:p>
                  </a:txBody>
                  <a:tcPr/>
                </a:tc>
                <a:tc>
                  <a:txBody>
                    <a:bodyPr/>
                    <a:lstStyle/>
                    <a:p>
                      <a:r>
                        <a:rPr sz="1200">
                          <a:latin typeface="Calibri"/>
                        </a:rPr>
                        <a:t>R'q = 29 Ω   |   R'd = 33 Ω   →   polo en p = −5000 rad/s</a:t>
                      </a:r>
                    </a:p>
                  </a:txBody>
                  <a:tcPr/>
                </a:tc>
                <a:extLst>
                  <a:ext uri="{0D108BD9-81ED-4DB2-BD59-A6C34878D82A}">
                    <a16:rowId xmlns:a16="http://schemas.microsoft.com/office/drawing/2014/main" val="10003"/>
                  </a:ext>
                </a:extLst>
              </a:tr>
              <a:tr h="440055">
                <a:tc>
                  <a:txBody>
                    <a:bodyPr/>
                    <a:lstStyle/>
                    <a:p>
                      <a:r>
                        <a:rPr sz="1200">
                          <a:latin typeface="Calibri"/>
                        </a:rPr>
                        <a:t>Sensor de posición</a:t>
                      </a:r>
                    </a:p>
                  </a:txBody>
                  <a:tcPr>
                    <a:solidFill>
                      <a:srgbClr val="F0F4F8"/>
                    </a:solidFill>
                  </a:tcPr>
                </a:tc>
                <a:tc>
                  <a:txBody>
                    <a:bodyPr/>
                    <a:lstStyle/>
                    <a:p>
                      <a:r>
                        <a:rPr sz="1200">
                          <a:latin typeface="Calibri"/>
                        </a:rPr>
                        <a:t>LP 2° orden, ωn = 6000 rad/s, ζ = 1</a:t>
                      </a:r>
                    </a:p>
                  </a:txBody>
                  <a:tcPr>
                    <a:solidFill>
                      <a:srgbClr val="F0F4F8"/>
                    </a:solidFill>
                  </a:tcPr>
                </a:tc>
                <a:extLst>
                  <a:ext uri="{0D108BD9-81ED-4DB2-BD59-A6C34878D82A}">
                    <a16:rowId xmlns:a16="http://schemas.microsoft.com/office/drawing/2014/main" val="10004"/>
                  </a:ext>
                </a:extLst>
              </a:tr>
              <a:tr h="440055">
                <a:tc>
                  <a:txBody>
                    <a:bodyPr/>
                    <a:lstStyle/>
                    <a:p>
                      <a:r>
                        <a:rPr sz="1200">
                          <a:latin typeface="Calibri"/>
                        </a:rPr>
                        <a:t>Sensor de corriente</a:t>
                      </a:r>
                    </a:p>
                  </a:txBody>
                  <a:tcPr/>
                </a:tc>
                <a:tc>
                  <a:txBody>
                    <a:bodyPr/>
                    <a:lstStyle/>
                    <a:p>
                      <a:r>
                        <a:rPr sz="1200">
                          <a:latin typeface="Calibri"/>
                        </a:rPr>
                        <a:t>LP 2° orden, ωn = 18000 rad/s, ζ = 1</a:t>
                      </a:r>
                    </a:p>
                  </a:txBody>
                  <a:tcPr/>
                </a:tc>
                <a:extLst>
                  <a:ext uri="{0D108BD9-81ED-4DB2-BD59-A6C34878D82A}">
                    <a16:rowId xmlns:a16="http://schemas.microsoft.com/office/drawing/2014/main" val="10005"/>
                  </a:ext>
                </a:extLst>
              </a:tr>
              <a:tr h="440055">
                <a:tc>
                  <a:txBody>
                    <a:bodyPr/>
                    <a:lstStyle/>
                    <a:p>
                      <a:r>
                        <a:rPr sz="1200">
                          <a:latin typeface="Calibri"/>
                        </a:rPr>
                        <a:t>Sensor de temperatura</a:t>
                      </a:r>
                    </a:p>
                  </a:txBody>
                  <a:tcPr>
                    <a:solidFill>
                      <a:srgbClr val="F0F4F8"/>
                    </a:solidFill>
                  </a:tcPr>
                </a:tc>
                <a:tc>
                  <a:txBody>
                    <a:bodyPr/>
                    <a:lstStyle/>
                    <a:p>
                      <a:r>
                        <a:rPr sz="1200">
                          <a:latin typeface="Calibri"/>
                        </a:rPr>
                        <a:t>LP 1° orden, τ = 0.05 s</a:t>
                      </a:r>
                    </a:p>
                  </a:txBody>
                  <a:tcPr>
                    <a:solidFill>
                      <a:srgbClr val="F0F4F8"/>
                    </a:solidFill>
                  </a:tcPr>
                </a:tc>
                <a:extLst>
                  <a:ext uri="{0D108BD9-81ED-4DB2-BD59-A6C34878D82A}">
                    <a16:rowId xmlns:a16="http://schemas.microsoft.com/office/drawing/2014/main" val="10006"/>
                  </a:ext>
                </a:extLst>
              </a:tr>
              <a:tr h="440055">
                <a:tc>
                  <a:txBody>
                    <a:bodyPr/>
                    <a:lstStyle/>
                    <a:p>
                      <a:r>
                        <a:rPr sz="1200">
                          <a:latin typeface="Calibri"/>
                        </a:rPr>
                        <a:t>Modulador de tensión</a:t>
                      </a:r>
                    </a:p>
                  </a:txBody>
                  <a:tcPr/>
                </a:tc>
                <a:tc>
                  <a:txBody>
                    <a:bodyPr/>
                    <a:lstStyle/>
                    <a:p>
                      <a:r>
                        <a:rPr sz="1200">
                          <a:latin typeface="Calibri"/>
                        </a:rPr>
                        <a:t>LP 2° orden, ωn = 18000 rad/s, ζ = 1  +  saturación 39.2 V</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365760" y="777240"/>
            <a:ext cx="7772400" cy="658368"/>
          </a:xfrm>
          <a:prstGeom prst="rect">
            <a:avLst/>
          </a:prstGeom>
          <a:noFill/>
        </p:spPr>
        <p:txBody>
          <a:bodyPr wrap="square">
            <a:spAutoFit/>
          </a:bodyPr>
          <a:lstStyle/>
          <a:p>
            <a:pPr algn="l"/>
            <a:r>
              <a:rPr sz="1400" b="0" i="0">
                <a:solidFill>
                  <a:srgbClr val="1A1A2E"/>
                </a:solidFill>
                <a:latin typeface="Calibri"/>
              </a:rPr>
              <a:t>Para implementar el controlador en un sistema digital (microcontrolador/DSP) se aplica el método de emulación con integrador de Tustin (trapecios). Se conservan las ganancias del diseño continuo:</a:t>
            </a:r>
          </a:p>
        </p:txBody>
      </p:sp>
      <p:sp>
        <p:nvSpPr>
          <p:cNvPr id="8" name="Rectangle 7"/>
          <p:cNvSpPr/>
          <p:nvPr/>
        </p:nvSpPr>
        <p:spPr>
          <a:xfrm>
            <a:off x="365760" y="150876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7589520" cy="475488"/>
          </a:xfrm>
          <a:prstGeom prst="rect">
            <a:avLst/>
          </a:prstGeom>
          <a:noFill/>
        </p:spPr>
        <p:txBody>
          <a:bodyPr wrap="square">
            <a:spAutoFit/>
          </a:bodyPr>
          <a:lstStyle/>
          <a:p>
            <a:pPr algn="ctr"/>
            <a:r>
              <a:rPr sz="1100" b="1">
                <a:solidFill>
                  <a:srgbClr val="1B6B2A"/>
                </a:solidFill>
                <a:latin typeface="Calibri"/>
              </a:rPr>
              <a:t>📐  ECUACIÓN: x[k] = x[k−1] + (Ts/2)·(x'[k] + x'[k−1])     ↔     s  →  (2/Ts)·(z−1)/(z+1)     [Ec. 31]</a:t>
            </a:r>
          </a:p>
        </p:txBody>
      </p:sp>
      <p:sp>
        <p:nvSpPr>
          <p:cNvPr id="10" name="TextBox 9"/>
          <p:cNvSpPr txBox="1"/>
          <p:nvPr/>
        </p:nvSpPr>
        <p:spPr>
          <a:xfrm>
            <a:off x="365760" y="2103120"/>
            <a:ext cx="7772400" cy="365760"/>
          </a:xfrm>
          <a:prstGeom prst="rect">
            <a:avLst/>
          </a:prstGeom>
          <a:noFill/>
        </p:spPr>
        <p:txBody>
          <a:bodyPr wrap="square">
            <a:spAutoFit/>
          </a:bodyPr>
          <a:lstStyle/>
          <a:p>
            <a:pPr algn="l"/>
            <a:r>
              <a:rPr sz="1400" b="1" i="0">
                <a:solidFill>
                  <a:srgbClr val="1A3A6B"/>
                </a:solidFill>
                <a:latin typeface="Calibri"/>
              </a:rPr>
              <a:t>Elección del período de muestreo:</a:t>
            </a:r>
          </a:p>
        </p:txBody>
      </p:sp>
      <p:sp>
        <p:nvSpPr>
          <p:cNvPr id="11" name="Rectangle 10"/>
          <p:cNvSpPr/>
          <p:nvPr/>
        </p:nvSpPr>
        <p:spPr>
          <a:xfrm>
            <a:off x="365760" y="2532888"/>
            <a:ext cx="77724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532888"/>
            <a:ext cx="7589520" cy="502920"/>
          </a:xfrm>
          <a:prstGeom prst="rect">
            <a:avLst/>
          </a:prstGeom>
          <a:noFill/>
        </p:spPr>
        <p:txBody>
          <a:bodyPr wrap="square">
            <a:spAutoFit/>
          </a:bodyPr>
          <a:lstStyle/>
          <a:p>
            <a:pPr algn="ctr"/>
            <a:r>
              <a:rPr sz="1100" b="1">
                <a:solidFill>
                  <a:srgbClr val="1B6B2A"/>
                </a:solidFill>
                <a:latin typeface="Calibri"/>
              </a:rPr>
              <a:t>📐  ECUACIÓN: fs ≥ 10·fmax  con  fmax = pcorriente/(2π) = 5000/(2π) ≈ 796 Hz   →   Ts ≈ 1.2566×10⁻⁴ s  (fs ≈ 7958 Hz)</a:t>
            </a:r>
          </a:p>
        </p:txBody>
      </p:sp>
      <p:sp>
        <p:nvSpPr>
          <p:cNvPr id="13" name="TextBox 12"/>
          <p:cNvSpPr txBox="1"/>
          <p:nvPr/>
        </p:nvSpPr>
        <p:spPr>
          <a:xfrm>
            <a:off x="365760" y="3127248"/>
            <a:ext cx="7772400" cy="1828800"/>
          </a:xfrm>
          <a:prstGeom prst="rect">
            <a:avLst/>
          </a:prstGeom>
          <a:noFill/>
        </p:spPr>
        <p:txBody>
          <a:bodyPr wrap="square">
            <a:spAutoFit/>
          </a:bodyPr>
          <a:lstStyle/>
          <a:p>
            <a:r>
              <a:rPr sz="1350">
                <a:solidFill>
                  <a:srgbClr val="1A1A2E"/>
                </a:solidFill>
                <a:latin typeface="Calibri"/>
              </a:rPr>
              <a:t>Criterio de Nyquist × 10: conservador pero estándar en control digital de accionamientos</a:t>
            </a:r>
          </a:p>
          <a:p>
            <a:pPr>
              <a:spcBef>
                <a:spcPts val="400"/>
              </a:spcBef>
            </a:pPr>
            <a:r>
              <a:rPr sz="1350">
                <a:solidFill>
                  <a:srgbClr val="1A1A2E"/>
                </a:solidFill>
                <a:latin typeface="Calibri"/>
              </a:rPr>
              <a:t>Ts es suficientemente pequeño para todos los lazos (lazo de corriente es el más rápido: τcc ≈ 0.2 ms)</a:t>
            </a:r>
          </a:p>
          <a:p>
            <a:pPr>
              <a:spcBef>
                <a:spcPts val="400"/>
              </a:spcBef>
            </a:pPr>
            <a:r>
              <a:rPr sz="1350">
                <a:solidFill>
                  <a:srgbClr val="1A1A2E"/>
                </a:solidFill>
                <a:latin typeface="Calibri"/>
              </a:rPr>
              <a:t>Se añaden retenedores de orden cero (ZOH) en entradas y salidas del controlador</a:t>
            </a:r>
          </a:p>
        </p:txBody>
      </p:sp>
      <p:sp>
        <p:nvSpPr>
          <p:cNvPr id="14" name="Rectangle 13"/>
          <p:cNvSpPr/>
          <p:nvPr/>
        </p:nvSpPr>
        <p:spPr>
          <a:xfrm>
            <a:off x="8412480" y="777240"/>
            <a:ext cx="3566160" cy="27432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03919" y="1874520"/>
            <a:ext cx="3383279" cy="548640"/>
          </a:xfrm>
          <a:prstGeom prst="rect">
            <a:avLst/>
          </a:prstGeom>
          <a:noFill/>
        </p:spPr>
        <p:txBody>
          <a:bodyPr wrap="square">
            <a:spAutoFit/>
          </a:bodyPr>
          <a:lstStyle/>
          <a:p>
            <a:pPr algn="ctr"/>
            <a:r>
              <a:rPr sz="1100" b="1">
                <a:solidFill>
                  <a:srgbClr val="C35A00"/>
                </a:solidFill>
                <a:latin typeface="Calibri"/>
              </a:rPr>
              <a:t>🖼  FIGURA: Figura 91 — Integrador discreto por trapecios (Tustin) en Simulink</a:t>
            </a:r>
          </a:p>
        </p:txBody>
      </p:sp>
      <p:sp>
        <p:nvSpPr>
          <p:cNvPr id="16" name="TextBox 15"/>
          <p:cNvSpPr txBox="1"/>
          <p:nvPr/>
        </p:nvSpPr>
        <p:spPr>
          <a:xfrm>
            <a:off x="8503919" y="22585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Rectangle 16"/>
          <p:cNvSpPr/>
          <p:nvPr/>
        </p:nvSpPr>
        <p:spPr>
          <a:xfrm>
            <a:off x="365760" y="5029200"/>
            <a:ext cx="7772400" cy="105156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5029200"/>
            <a:ext cx="7589520" cy="1051560"/>
          </a:xfrm>
          <a:prstGeom prst="rect">
            <a:avLst/>
          </a:prstGeom>
          <a:noFill/>
        </p:spPr>
        <p:txBody>
          <a:bodyPr wrap="square">
            <a:spAutoFit/>
          </a:bodyPr>
          <a:lstStyle/>
          <a:p>
            <a:pPr algn="ctr"/>
            <a:r>
              <a:rPr sz="1100" b="1">
                <a:solidFill>
                  <a:srgbClr val="1B6B2A"/>
                </a:solidFill>
                <a:latin typeface="Calibri"/>
              </a:rPr>
              <a:t>📐  ECUACIÓN: Ecuaciones en diferencias principales:
Set-point: ω*m[k] = (θ*m[k] − θ*m[k−1]) / Ts
PID: I[k] = I[k−1] + (Ts/2)·(eθ[k]+eθ[k−1])     (ídem para observador)</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Bloques discretizados — Resultados y validación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7" name="Rectangle 6"/>
          <p:cNvSpPr/>
          <p:nvPr/>
        </p:nvSpPr>
        <p:spPr>
          <a:xfrm>
            <a:off x="365760" y="777240"/>
            <a:ext cx="54864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5303520" cy="548640"/>
          </a:xfrm>
          <a:prstGeom prst="rect">
            <a:avLst/>
          </a:prstGeom>
          <a:noFill/>
        </p:spPr>
        <p:txBody>
          <a:bodyPr wrap="square">
            <a:spAutoFit/>
          </a:bodyPr>
          <a:lstStyle/>
          <a:p>
            <a:pPr algn="ctr"/>
            <a:r>
              <a:rPr sz="1100" b="1">
                <a:solidFill>
                  <a:srgbClr val="C35A00"/>
                </a:solidFill>
                <a:latin typeface="Calibri"/>
              </a:rPr>
              <a:t>🖼  FIGURA: Figuras 92-94 — Set-point, PID y observador aumentado discretizados (bloques Simulink)</a:t>
            </a:r>
          </a:p>
        </p:txBody>
      </p:sp>
      <p:sp>
        <p:nvSpPr>
          <p:cNvPr id="9" name="TextBox 8"/>
          <p:cNvSpPr txBox="1"/>
          <p:nvPr/>
        </p:nvSpPr>
        <p:spPr>
          <a:xfrm>
            <a:off x="457200" y="19385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6126480" y="777240"/>
            <a:ext cx="54864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0" y="1554480"/>
            <a:ext cx="5303520" cy="548640"/>
          </a:xfrm>
          <a:prstGeom prst="rect">
            <a:avLst/>
          </a:prstGeom>
          <a:noFill/>
        </p:spPr>
        <p:txBody>
          <a:bodyPr wrap="square">
            <a:spAutoFit/>
          </a:bodyPr>
          <a:lstStyle/>
          <a:p>
            <a:pPr algn="ctr"/>
            <a:r>
              <a:rPr sz="1100" b="1">
                <a:solidFill>
                  <a:srgbClr val="C35A00"/>
                </a:solidFill>
                <a:latin typeface="Calibri"/>
              </a:rPr>
              <a:t>🖼  FIGURA: Figura 95 — Sistema completo discretizado (Simulink)</a:t>
            </a:r>
          </a:p>
        </p:txBody>
      </p:sp>
      <p:sp>
        <p:nvSpPr>
          <p:cNvPr id="12" name="TextBox 11"/>
          <p:cNvSpPr txBox="1"/>
          <p:nvPr/>
        </p:nvSpPr>
        <p:spPr>
          <a:xfrm>
            <a:off x="6217920" y="19385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Rectangle 12"/>
          <p:cNvSpPr/>
          <p:nvPr/>
        </p:nvSpPr>
        <p:spPr>
          <a:xfrm>
            <a:off x="365760" y="3017520"/>
            <a:ext cx="114300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794759"/>
            <a:ext cx="11247120" cy="548640"/>
          </a:xfrm>
          <a:prstGeom prst="rect">
            <a:avLst/>
          </a:prstGeom>
          <a:noFill/>
        </p:spPr>
        <p:txBody>
          <a:bodyPr wrap="square">
            <a:spAutoFit/>
          </a:bodyPr>
          <a:lstStyle/>
          <a:p>
            <a:pPr algn="ctr"/>
            <a:r>
              <a:rPr sz="1100" b="1">
                <a:solidFill>
                  <a:srgbClr val="C35A00"/>
                </a:solidFill>
                <a:latin typeface="Calibri"/>
              </a:rPr>
              <a:t>🖼  FIGURA: Figuras 96-100 — Resultados con controlador discreto: θm, ωm, iabc, vabc, Tm
(concordancia con el sistema continuo)</a:t>
            </a:r>
          </a:p>
        </p:txBody>
      </p:sp>
      <p:sp>
        <p:nvSpPr>
          <p:cNvPr id="15" name="TextBox 14"/>
          <p:cNvSpPr txBox="1"/>
          <p:nvPr/>
        </p:nvSpPr>
        <p:spPr>
          <a:xfrm>
            <a:off x="457200" y="4178807"/>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6" name="Rectangle 15"/>
          <p:cNvSpPr/>
          <p:nvPr/>
        </p:nvSpPr>
        <p:spPr>
          <a:xfrm>
            <a:off x="365760" y="5230368"/>
            <a:ext cx="11430000" cy="9601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5276088"/>
            <a:ext cx="11155680" cy="868680"/>
          </a:xfrm>
          <a:prstGeom prst="rect">
            <a:avLst/>
          </a:prstGeom>
          <a:noFill/>
        </p:spPr>
        <p:txBody>
          <a:bodyPr wrap="square">
            <a:spAutoFit/>
          </a:bodyPr>
          <a:lstStyle/>
          <a:p>
            <a:pPr algn="l"/>
            <a:r>
              <a:rPr sz="1300">
                <a:solidFill>
                  <a:srgbClr val="1A3A6B"/>
                </a:solidFill>
                <a:latin typeface="Calibri"/>
              </a:rPr>
              <a:t>Validación: el controlador discreto se reescribió como bloque MATLAB Function (código embebido secuencial — emula implementación en microcontrolador/DSP). La comparación con el modelo por bloques muestra concordancia prácticamente exacta, confirmando que la reescritura en código preserva fielmente la dinámica del sistema diseñado.</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Conclusiones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70 / ~75</a:t>
            </a:r>
          </a:p>
        </p:txBody>
      </p:sp>
      <p:sp>
        <p:nvSpPr>
          <p:cNvPr id="6" name="TextBox 5"/>
          <p:cNvSpPr txBox="1"/>
          <p:nvPr/>
        </p:nvSpPr>
        <p:spPr>
          <a:xfrm>
            <a:off x="365760" y="777240"/>
            <a:ext cx="11430000" cy="5852160"/>
          </a:xfrm>
          <a:prstGeom prst="rect">
            <a:avLst/>
          </a:prstGeom>
          <a:noFill/>
        </p:spPr>
        <p:txBody>
          <a:bodyPr wrap="square">
            <a:spAutoFit/>
          </a:bodyPr>
          <a:lstStyle/>
          <a:p>
            <a:r>
              <a:rPr sz="1350" b="1">
                <a:solidFill>
                  <a:srgbClr val="1A3A6B"/>
                </a:solidFill>
                <a:latin typeface="Calibri"/>
              </a:rPr>
              <a:t>1.  Modelado completo integrado: </a:t>
            </a:r>
            <a:r>
              <a:rPr sz="1300">
                <a:solidFill>
                  <a:srgbClr val="1A1A2E"/>
                </a:solidFill>
                <a:latin typeface="Calibri"/>
              </a:rPr>
              <a:t>Se desarrolló el modelo dinámico del accionamiento PMSM integrando los subsistemas mecánico, electromagnético y térmico (orden 5), con validación frente al modelo no lineal.</a:t>
            </a:r>
          </a:p>
          <a:p>
            <a:pPr>
              <a:spcBef>
                <a:spcPts val="800"/>
              </a:spcBef>
            </a:pPr>
            <a:r>
              <a:rPr sz="1350" b="1">
                <a:solidFill>
                  <a:srgbClr val="1A3A6B"/>
                </a:solidFill>
                <a:latin typeface="Calibri"/>
              </a:rPr>
              <a:t>2.  Modelo LTI observable y controlable: </a:t>
            </a:r>
            <a:r>
              <a:rPr sz="1300">
                <a:solidFill>
                  <a:srgbClr val="1A1A2E"/>
                </a:solidFill>
                <a:latin typeface="Calibri"/>
              </a:rPr>
              <a:t>La ley de control mínima (ids^r=0) y las hipótesis de linealización producen un modelo LTI de orden 5 completamente observable (desde θm) y controlable (desde vqs^r).</a:t>
            </a:r>
          </a:p>
          <a:p>
            <a:pPr>
              <a:spcBef>
                <a:spcPts val="800"/>
              </a:spcBef>
            </a:pPr>
            <a:r>
              <a:rPr sz="1350" b="1">
                <a:solidFill>
                  <a:srgbClr val="1A3A6B"/>
                </a:solidFill>
                <a:latin typeface="Calibri"/>
              </a:rPr>
              <a:t>3.  Estabilidad confirmada: </a:t>
            </a:r>
            <a:r>
              <a:rPr sz="1300">
                <a:solidFill>
                  <a:srgbClr val="1A1A2E"/>
                </a:solidFill>
                <a:latin typeface="Calibri"/>
              </a:rPr>
              <a:t>Estabilidad BIBO en todo el rango de operación: ωn ≈ 174 rad/s, ζ ∈ [0.55, 1.05] según temperatura y carga. Mayor Jeq → ωn cae; mayor Rs → ζ crece.</a:t>
            </a:r>
          </a:p>
          <a:p>
            <a:pPr>
              <a:spcBef>
                <a:spcPts val="800"/>
              </a:spcBef>
            </a:pPr>
            <a:r>
              <a:rPr sz="1350" b="1">
                <a:solidFill>
                  <a:srgbClr val="1A3A6B"/>
                </a:solidFill>
                <a:latin typeface="Calibri"/>
              </a:rPr>
              <a:t>4.  Control en cascada eficaz: </a:t>
            </a:r>
            <a:r>
              <a:rPr sz="1300">
                <a:solidFill>
                  <a:srgbClr val="1A1A2E"/>
                </a:solidFill>
                <a:latin typeface="Calibri"/>
              </a:rPr>
              <a:t>Modulador de torque + PID externo + observador aumentado con acción integral: seguimiento preciso, rechazo a perturbaciones y eliminación del error estacionario.</a:t>
            </a:r>
          </a:p>
          <a:p>
            <a:pPr>
              <a:spcBef>
                <a:spcPts val="800"/>
              </a:spcBef>
            </a:pPr>
            <a:r>
              <a:rPr sz="1350" b="1">
                <a:solidFill>
                  <a:srgbClr val="1A3A6B"/>
                </a:solidFill>
                <a:latin typeface="Calibri"/>
              </a:rPr>
              <a:t>5.  Comportamiento térmico: </a:t>
            </a:r>
            <a:r>
              <a:rPr sz="1300">
                <a:solidFill>
                  <a:srgbClr val="1A1A2E"/>
                </a:solidFill>
                <a:latin typeface="Calibri"/>
              </a:rPr>
              <a:t>Ts &lt; 115°C en condiciones nominales. Con ml=1.5 kg y carga cíclica prolongada Ts supera el límite → necesaria limitación de corriente o reducción de consigna.</a:t>
            </a:r>
          </a:p>
          <a:p>
            <a:pPr>
              <a:spcBef>
                <a:spcPts val="800"/>
              </a:spcBef>
            </a:pPr>
            <a:r>
              <a:rPr sz="1350" b="1">
                <a:solidFill>
                  <a:srgbClr val="1A3A6B"/>
                </a:solidFill>
                <a:latin typeface="Calibri"/>
              </a:rPr>
              <a:t>6.  Discretización y validación: </a:t>
            </a:r>
            <a:r>
              <a:rPr sz="1300">
                <a:solidFill>
                  <a:srgbClr val="1A1A2E"/>
                </a:solidFill>
                <a:latin typeface="Calibri"/>
              </a:rPr>
              <a:t>Discretización por Tustin con Ts ≈ 1.25×10⁻⁴ s valida el diseño continuo. Concordancia prácticamente exacta entre implementación por bloques y MATLAB Function.</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5760720"/>
          </a:xfrm>
          <a:prstGeom prst="rect">
            <a:avLst/>
          </a:prstGeom>
          <a:noFill/>
        </p:spPr>
        <p:txBody>
          <a:bodyPr wrap="square">
            <a:spAutoFit/>
          </a:bodyPr>
          <a:lstStyle/>
          <a:p>
            <a:r>
              <a:rPr sz="1300">
                <a:solidFill>
                  <a:srgbClr val="1A1A2E"/>
                </a:solidFill>
                <a:latin typeface="Calibri"/>
              </a:rPr>
              <a:t>[1] G. Julián. Proyecto Global Integrador: Control de Accionamiento de CA con Motor Síncrono de Imanes Permanentes. UNCuyo, Ing. en Mecatrónica, 2024.</a:t>
            </a:r>
          </a:p>
          <a:p>
            <a:pPr>
              <a:spcBef>
                <a:spcPts val="900"/>
              </a:spcBef>
            </a:pPr>
            <a:r>
              <a:rPr sz="1300">
                <a:solidFill>
                  <a:srgbClr val="1A1A2E"/>
                </a:solidFill>
                <a:latin typeface="Calibri"/>
              </a:rPr>
              <a:t>[2] G. Julián. Guía de trabajo — Proyecto Global Integrador. UNCuyo, 2024.</a:t>
            </a:r>
          </a:p>
          <a:p>
            <a:pPr>
              <a:spcBef>
                <a:spcPts val="900"/>
              </a:spcBef>
            </a:pPr>
            <a:r>
              <a:rPr sz="1300">
                <a:solidFill>
                  <a:srgbClr val="1A1A2E"/>
                </a:solidFill>
                <a:latin typeface="Calibri"/>
              </a:rPr>
              <a:t>[3] P. Krause, O. Wasynczuk, S. D. Sudhoff, S. Pekarek. Analysis of Electric Machinery and Drive Systems. 3ª ed. Wiley-IEEE Press, 2013.</a:t>
            </a:r>
          </a:p>
          <a:p>
            <a:pPr>
              <a:spcBef>
                <a:spcPts val="900"/>
              </a:spcBef>
            </a:pPr>
            <a:r>
              <a:rPr sz="1300">
                <a:solidFill>
                  <a:srgbClr val="1A1A2E"/>
                </a:solidFill>
                <a:latin typeface="Calibri"/>
              </a:rPr>
              <a:t>[4] G. F. Franklin, J. D. Powell, A. Emami-Naeni. Feedback Control of Dynamic Systems. 7ª ed. Pearson, 2015.</a:t>
            </a:r>
          </a:p>
          <a:p>
            <a:pPr>
              <a:spcBef>
                <a:spcPts val="900"/>
              </a:spcBef>
            </a:pPr>
            <a:r>
              <a:rPr sz="1300">
                <a:solidFill>
                  <a:srgbClr val="1A1A2E"/>
                </a:solidFill>
                <a:latin typeface="Calibri"/>
              </a:rPr>
              <a:t>[5] K. Ogata. Ingeniería de Control Moderna. 5ª ed. Prentice Hall, 2010.</a:t>
            </a:r>
          </a:p>
          <a:p>
            <a:pPr>
              <a:spcBef>
                <a:spcPts val="900"/>
              </a:spcBef>
            </a:pPr>
            <a:r>
              <a:rPr sz="1300">
                <a:solidFill>
                  <a:srgbClr val="1A1A2E"/>
                </a:solidFill>
                <a:latin typeface="Calibri"/>
              </a:rPr>
              <a:t>[6] K. M. Lynch, F. C. Park. Modern Robotics: Mechanics, Planning, and Control. Cambridge University Press, 2017.</a:t>
            </a:r>
          </a:p>
          <a:p>
            <a:pPr>
              <a:spcBef>
                <a:spcPts val="900"/>
              </a:spcBef>
            </a:pPr>
            <a:r>
              <a:rPr sz="1300">
                <a:solidFill>
                  <a:srgbClr val="1A1A2E"/>
                </a:solidFill>
                <a:latin typeface="Calibri"/>
              </a:rPr>
              <a:t>[7] MathWorks. MATLAB/Simulink R2024b Documentation. www.mathworks.com</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486400"/>
            <a:ext cx="12191695" cy="164592"/>
          </a:xfrm>
          <a:prstGeom prst="rect">
            <a:avLst/>
          </a:prstGeom>
          <a:solidFill>
            <a:srgbClr val="C35A00"/>
          </a:solidFill>
          <a:ln>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650992"/>
            <a:ext cx="12191695" cy="1207008"/>
          </a:xfrm>
          <a:prstGeom prst="rect">
            <a:avLst/>
          </a:prstGeom>
          <a:solidFill>
            <a:srgbClr val="0D2241"/>
          </a:solidFill>
          <a:ln>
            <a:solidFill>
              <a:srgbClr val="0D22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828800"/>
            <a:ext cx="12191695" cy="1463040"/>
          </a:xfrm>
          <a:prstGeom prst="rect">
            <a:avLst/>
          </a:prstGeom>
          <a:noFill/>
        </p:spPr>
        <p:txBody>
          <a:bodyPr wrap="none">
            <a:spAutoFit/>
          </a:bodyPr>
          <a:lstStyle/>
          <a:p>
            <a:pPr algn="ctr"/>
            <a:r>
              <a:rPr sz="5200" b="1">
                <a:solidFill>
                  <a:srgbClr val="FFFFFF"/>
                </a:solidFill>
                <a:latin typeface="Cambria"/>
              </a:rPr>
              <a:t>¡Muchas gracias!</a:t>
            </a:r>
          </a:p>
        </p:txBody>
      </p:sp>
      <p:sp>
        <p:nvSpPr>
          <p:cNvPr id="6" name="TextBox 5"/>
          <p:cNvSpPr txBox="1"/>
          <p:nvPr/>
        </p:nvSpPr>
        <p:spPr>
          <a:xfrm>
            <a:off x="914400" y="3474720"/>
            <a:ext cx="10362895" cy="548640"/>
          </a:xfrm>
          <a:prstGeom prst="rect">
            <a:avLst/>
          </a:prstGeom>
          <a:noFill/>
        </p:spPr>
        <p:txBody>
          <a:bodyPr wrap="none">
            <a:spAutoFit/>
          </a:bodyPr>
          <a:lstStyle/>
          <a:p>
            <a:pPr algn="ctr"/>
            <a:r>
              <a:rPr sz="1600">
                <a:solidFill>
                  <a:srgbClr val="B0CBEE"/>
                </a:solidFill>
                <a:latin typeface="Calibri"/>
              </a:rPr>
              <a:t>Juan Stella  ·  Juan Francisco Huertas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675</TotalTime>
  <Words>12100</Words>
  <Application>Microsoft Office PowerPoint</Application>
  <PresentationFormat>Panorámica</PresentationFormat>
  <Paragraphs>1195</Paragraphs>
  <Slides>87</Slides>
  <Notes>3</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87</vt:i4>
      </vt:variant>
    </vt:vector>
  </HeadingPairs>
  <TitlesOfParts>
    <vt:vector size="94"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47</cp:revision>
  <dcterms:created xsi:type="dcterms:W3CDTF">2013-01-27T09:14:16Z</dcterms:created>
  <dcterms:modified xsi:type="dcterms:W3CDTF">2026-04-16T21:16:22Z</dcterms:modified>
  <cp:category/>
</cp:coreProperties>
</file>