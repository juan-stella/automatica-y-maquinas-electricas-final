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4477" autoAdjust="0"/>
  </p:normalViewPr>
  <p:slideViewPr>
    <p:cSldViewPr snapToGrid="0" snapToObjects="1">
      <p:cViewPr varScale="1">
        <p:scale>
          <a:sx n="81" d="100"/>
          <a:sy n="81" d="100"/>
        </p:scale>
        <p:origin x="797"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3/5/2026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1.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1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1.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3.png"/><Relationship Id="rId4" Type="http://schemas.openxmlformats.org/officeDocument/2006/relationships/image" Target="../media/image192.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4.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4.png"/><Relationship Id="rId5" Type="http://schemas.openxmlformats.org/officeDocument/2006/relationships/image" Target="../media/image210.png"/><Relationship Id="rId4" Type="http://schemas.openxmlformats.org/officeDocument/2006/relationships/image" Target="../media/image20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6.png"/></Relationships>
</file>

<file path=ppt/slides/_rels/slide83.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35.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8.png"/><Relationship Id="rId2" Type="http://schemas.openxmlformats.org/officeDocument/2006/relationships/image" Target="../media/image237.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m:t>
                    </m:r>
                    <m:r>
                      <a:rPr lang="es-AR" sz="1400" i="1">
                        <a:latin typeface="Cambria Math" panose="02040503050406030204" pitchFamily="18" charset="0"/>
                      </a:rPr>
                      <m:t>1</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80665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0208</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50</m:t>
                    </m:r>
                    <m:r>
                      <a:rPr lang="es-AR" sz="1400" i="1">
                        <a:latin typeface="Cambria Math" panose="02040503050406030204" pitchFamily="18" charset="0"/>
                      </a:rPr>
                      <m:t>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0833</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274320" y="113582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274320" y="1135822"/>
                <a:ext cx="420908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818</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m:t>
                    </m:r>
                    <m:r>
                      <a:rPr lang="es-AR" sz="1400" i="1">
                        <a:latin typeface="Cambria Math" panose="02040503050406030204" pitchFamily="18" charset="0"/>
                      </a:rPr>
                      <m:t>40</m:t>
                    </m:r>
                    <m:r>
                      <a:rPr lang="es-AR" sz="1400" i="1">
                        <a:latin typeface="Cambria Math" panose="02040503050406030204" pitchFamily="18" charset="0"/>
                      </a:rPr>
                      <m:t>°</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m:t>
                                </m:r>
                                <m:r>
                                  <a:rPr lang="es-AR" sz="1200" i="1">
                                    <a:latin typeface="Cambria Math" panose="02040503050406030204" pitchFamily="18" charset="0"/>
                                  </a:rPr>
                                  <m:t>0</m:t>
                                </m:r>
                                <m:r>
                                  <a:rPr lang="es-AR" sz="1200" i="1">
                                    <a:latin typeface="Cambria Math" panose="02040503050406030204" pitchFamily="18" charset="0"/>
                                  </a:rPr>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r>
                                        <m:rPr>
                                          <m:nor/>
                                        </m:rPr>
                                        <a:rPr lang="es-AR" sz="1200"/>
                                        <m:t>(</m:t>
                                      </m:r>
                                      <m:r>
                                        <m:rPr>
                                          <m:nor/>
                                        </m:rPr>
                                        <a:rPr lang="es-AR" sz="1200"/>
                                        <m:t>31</m:t>
                                      </m:r>
                                      <m:r>
                                        <m:rPr>
                                          <m:nor/>
                                        </m:rPr>
                                        <a:rPr lang="es-AR" sz="1200"/>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m:t>
                                </m:r>
                                <m:r>
                                  <a:rPr lang="es-AR" sz="1600" i="1">
                                    <a:latin typeface="Cambria Math" panose="02040503050406030204" pitchFamily="18" charset="0"/>
                                  </a:rPr>
                                  <m:t>0</m:t>
                                </m:r>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m:t>
                                    </m:r>
                                    <m:r>
                                      <a:rPr lang="es-AR" sz="1600" i="1">
                                        <a:latin typeface="Cambria Math" panose="02040503050406030204" pitchFamily="18" charset="0"/>
                                      </a:rPr>
                                      <m:t>,</m:t>
                                    </m:r>
                                    <m:r>
                                      <a:rPr lang="es-AR" sz="1600" i="1">
                                        <a:latin typeface="Cambria Math" panose="02040503050406030204" pitchFamily="18" charset="0"/>
                                      </a:rPr>
                                      <m:t>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m:t>
                                        </m:r>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r>
                      <a:rPr lang="es-AR" sz="1300" i="1">
                        <a:effectLst/>
                        <a:latin typeface="Cambria Math" panose="02040503050406030204" pitchFamily="18" charset="0"/>
                        <a:ea typeface="Calibri" panose="020F0502020204030204" pitchFamily="34" charset="0"/>
                        <a:cs typeface="Times New Roman" panose="02020603050405020304" pitchFamily="18" charset="0"/>
                      </a:rPr>
                      <m:t>℃</m:t>
                    </m:r>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r>
                      <a:rPr lang="es-AR" sz="1300" i="1">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mc:Choice xmlns:a14="http://schemas.microsoft.com/office/drawing/2010/main"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mc:Choice xmlns:a14="http://schemas.microsoft.com/office/drawing/2010/main"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mc:Choice xmlns:a14="http://schemas.microsoft.com/office/drawing/2010/main"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mc:Choice xmlns:a14="http://schemas.microsoft.com/office/drawing/2010/main"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0" name="CuadroTexto 9">
            <a:extLst>
              <a:ext uri="{FF2B5EF4-FFF2-40B4-BE49-F238E27FC236}">
                <a16:creationId xmlns:a16="http://schemas.microsoft.com/office/drawing/2014/main" id="{35C552CE-30AF-4935-901C-D2CD2EDC2F95}"/>
              </a:ext>
            </a:extLst>
          </p:cNvPr>
          <p:cNvSpPr txBox="1"/>
          <p:nvPr/>
        </p:nvSpPr>
        <p:spPr>
          <a:xfrm>
            <a:off x="213512" y="5399108"/>
            <a:ext cx="11643055" cy="738664"/>
          </a:xfrm>
          <a:prstGeom prst="rect">
            <a:avLst/>
          </a:prstGeom>
          <a:noFill/>
        </p:spPr>
        <p:txBody>
          <a:bodyPr wrap="square">
            <a:spAutoFit/>
          </a:bodyPr>
          <a:lstStyle/>
          <a:p>
            <a:r>
              <a:rPr lang="es-MX" sz="1400" dirty="0"/>
              <a:t>Adicionalmente, se incorpora un observador de estado de orden reducido, cuyo objetivo es estimar variables internas del sistema que no se encuentran disponibles para medición directa. La inclusión de este observador permite mejorar el desempeño del controlador al proporcionar estimaciones necesarias para la implementación del control vectorial. </a:t>
            </a:r>
            <a:endParaRPr lang="es-AR" sz="1400" dirty="0"/>
          </a:p>
        </p:txBody>
      </p:sp>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58932"/>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58932"/>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77969"/>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2">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3"/>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4"/>
          <a:srcRect r="-2126"/>
          <a:stretch/>
        </p:blipFill>
        <p:spPr>
          <a:xfrm>
            <a:off x="6000338" y="935476"/>
            <a:ext cx="5673798" cy="4185439"/>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3"/>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11551615" cy="658368"/>
          </a:xfrm>
          <a:prstGeom prst="rect">
            <a:avLst/>
          </a:prstGeom>
          <a:noFill/>
        </p:spPr>
        <p:txBody>
          <a:bodyPr wrap="none">
            <a:spAutoFit/>
          </a:bodyPr>
          <a:lstStyle/>
          <a:p>
            <a:pPr algn="l"/>
            <a:r>
              <a:rPr sz="2100" b="1" dirty="0">
                <a:solidFill>
                  <a:srgbClr val="FFFFFF"/>
                </a:solidFill>
                <a:latin typeface="Cambria"/>
              </a:rPr>
              <a:t>Sistema continuo </a:t>
            </a:r>
            <a:r>
              <a:rPr sz="2100" b="1" dirty="0" err="1">
                <a:solidFill>
                  <a:srgbClr val="FFFFFF"/>
                </a:solidFill>
                <a:latin typeface="Cambria"/>
              </a:rPr>
              <a:t>completo</a:t>
            </a:r>
            <a:r>
              <a:rPr sz="2100" b="1" dirty="0">
                <a:solidFill>
                  <a:srgbClr val="FFFFFF"/>
                </a:solidFill>
                <a:latin typeface="Cambria"/>
              </a:rPr>
              <a:t> — </a:t>
            </a:r>
            <a:r>
              <a:rPr sz="2100" b="1" dirty="0" err="1">
                <a:solidFill>
                  <a:srgbClr val="FFFFFF"/>
                </a:solidFill>
                <a:latin typeface="Cambria"/>
              </a:rPr>
              <a:t>Parámetros</a:t>
            </a:r>
            <a:r>
              <a:rPr sz="2100" b="1" dirty="0">
                <a:solidFill>
                  <a:srgbClr val="FFFFFF"/>
                </a:solidFill>
                <a:latin typeface="Cambria"/>
              </a:rPr>
              <a:t> finales del </a:t>
            </a:r>
            <a:r>
              <a:rPr sz="2100" b="1" dirty="0" err="1">
                <a:solidFill>
                  <a:srgbClr val="FFFFFF"/>
                </a:solidFill>
                <a:latin typeface="Cambria"/>
              </a:rPr>
              <a:t>controlador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5798</TotalTime>
  <Words>14376</Words>
  <Application>Microsoft Office PowerPoint</Application>
  <PresentationFormat>Panorámica</PresentationFormat>
  <Paragraphs>1405</Paragraphs>
  <Slides>119</Slides>
  <Notes>9</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cp:lastModifiedBy>
  <cp:revision>231</cp:revision>
  <dcterms:created xsi:type="dcterms:W3CDTF">2013-01-27T09:14:16Z</dcterms:created>
  <dcterms:modified xsi:type="dcterms:W3CDTF">2026-05-03T13:54:56Z</dcterms:modified>
  <cp:category/>
</cp:coreProperties>
</file>